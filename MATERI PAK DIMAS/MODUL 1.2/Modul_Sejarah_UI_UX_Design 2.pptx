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3518952" y="1143000"/>
            <a:ext cx="4198203"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01</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185491" cy="685800"/>
          </a:xfrm>
          <a:prstGeom prst="rect">
            <a:avLst/>
          </a:prstGeom>
          <a:solidFill>
            <a:srgbClr val="023161"/>
          </a:solidFill>
          <a:ln/>
        </p:spPr>
      </p:sp>
      <p:sp>
        <p:nvSpPr>
          <p:cNvPr id="10" name="Text 5"/>
          <p:cNvSpPr/>
          <p:nvPr/>
        </p:nvSpPr>
        <p:spPr>
          <a:xfrm>
            <a:off x="1447800" y="3962400"/>
            <a:ext cx="1652091"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2.1</a:t>
            </a:r>
            <a:endParaRPr lang="en-US" sz="2400" dirty="0"/>
          </a:p>
        </p:txBody>
      </p:sp>
      <p:sp>
        <p:nvSpPr>
          <p:cNvPr id="11" name="Text 6"/>
          <p:cNvSpPr/>
          <p:nvPr/>
        </p:nvSpPr>
        <p:spPr>
          <a:xfrm>
            <a:off x="1143000" y="4914900"/>
            <a:ext cx="14716125"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Sejak Kapan Sih</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UI/UX Ini Sebenarnya Ada?</a:t>
            </a:r>
            <a:endParaRPr lang="en-US" sz="7200" dirty="0"/>
          </a:p>
        </p:txBody>
      </p:sp>
      <p:sp>
        <p:nvSpPr>
          <p:cNvPr id="12" name="Text 7"/>
          <p:cNvSpPr/>
          <p:nvPr/>
        </p:nvSpPr>
        <p:spPr>
          <a:xfrm>
            <a:off x="1143000" y="7345561"/>
            <a:ext cx="12573000" cy="54481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Ternyata istilahnya baru, tapi prinsipnya sudah lama dipakai orang.</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232632" y="9661525"/>
            <a:ext cx="341315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01</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762250"/>
            <a:ext cx="16344900" cy="5143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Bai Jamjuree" pitchFamily="34" charset="0"/>
                <a:ea typeface="Bai Jamjuree" pitchFamily="34" charset="-122"/>
                <a:cs typeface="Bai Jamjuree" pitchFamily="34" charset="-120"/>
              </a:rPr>
              <a:t>PERTANYAAN</a:t>
            </a:r>
            <a:endParaRPr lang="en-US" sz="3000" dirty="0"/>
          </a:p>
        </p:txBody>
      </p:sp>
      <p:sp>
        <p:nvSpPr>
          <p:cNvPr id="9" name="Text 4"/>
          <p:cNvSpPr/>
          <p:nvPr/>
        </p:nvSpPr>
        <p:spPr>
          <a:xfrm>
            <a:off x="1143000" y="3581400"/>
            <a:ext cx="15304770" cy="1683941"/>
          </a:xfrm>
          <a:prstGeom prst="rect">
            <a:avLst/>
          </a:prstGeom>
          <a:noFill/>
          <a:ln/>
        </p:spPr>
        <p:txBody>
          <a:bodyPr wrap="square" lIns="25400" tIns="25400" rIns="25400" bIns="25400" rtlCol="0" anchor="t">
            <a:normAutofit/>
          </a:bodyPr>
          <a:lstStyle/>
          <a:p>
            <a:pPr algn="l" indent="0" marL="0">
              <a:lnSpc>
                <a:spcPct val="95294"/>
              </a:lnSpc>
              <a:buNone/>
            </a:pPr>
            <a:r>
              <a:rPr lang="en-US" sz="5400" b="1" dirty="0">
                <a:solidFill>
                  <a:srgbClr val="FFFFFF"/>
                </a:solidFill>
                <a:latin typeface="Plus Jakarta Sans" pitchFamily="34" charset="0"/>
                <a:ea typeface="Plus Jakarta Sans" pitchFamily="34" charset="-122"/>
                <a:cs typeface="Plus Jakarta Sans" pitchFamily="34" charset="-120"/>
              </a:rPr>
              <a:t>Coba Tebak, Siapa yang “Menciptakan” UI/UX?</a:t>
            </a:r>
            <a:endParaRPr lang="en-US" sz="5400" dirty="0"/>
          </a:p>
        </p:txBody>
      </p:sp>
      <p:sp>
        <p:nvSpPr>
          <p:cNvPr id="10" name="Text 5"/>
          <p:cNvSpPr/>
          <p:nvPr/>
        </p:nvSpPr>
        <p:spPr>
          <a:xfrm>
            <a:off x="1143000" y="5570141"/>
            <a:ext cx="13735050" cy="1981200"/>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Kalau ditanya siapa yang menciptakan UI/UX, jawabannya nggak sesederhana itu. Istilah “User Experience” baru resmi ada di tahun 1993. Tapi cara berpikir di baliknya, gimana bikin sesuatu yang nyaman dan mudah dipakai, sudah dipraktikkan orang jauh sebelum komputer ada.</a:t>
            </a:r>
            <a:endParaRPr lang="en-US" sz="2550" dirty="0"/>
          </a:p>
        </p:txBody>
      </p:sp>
      <p:sp>
        <p:nvSpPr>
          <p:cNvPr id="11" name="Text 6"/>
          <p:cNvSpPr/>
          <p:nvPr/>
        </p:nvSpPr>
        <p:spPr>
          <a:xfrm>
            <a:off x="1143000" y="7810500"/>
            <a:ext cx="15716250" cy="598091"/>
          </a:xfrm>
          <a:prstGeom prst="rect">
            <a:avLst/>
          </a:prstGeom>
          <a:noFill/>
          <a:ln/>
        </p:spPr>
        <p:txBody>
          <a:bodyPr wrap="square" lIns="25400" tIns="25400" rIns="25400" bIns="25400" rtlCol="0" anchor="t">
            <a:normAutofit/>
          </a:bodyPr>
          <a:lstStyle/>
          <a:p>
            <a:pPr algn="l" indent="0" marL="0">
              <a:lnSpc>
                <a:spcPct val="111646"/>
              </a:lnSpc>
              <a:buNone/>
            </a:pPr>
            <a:r>
              <a:rPr lang="en-US" sz="3150" b="1" i="1" dirty="0">
                <a:solidFill>
                  <a:srgbClr val="FBBB0B"/>
                </a:solidFill>
                <a:latin typeface="Bai Jamjuree" pitchFamily="34" charset="0"/>
                <a:ea typeface="Bai Jamjuree" pitchFamily="34" charset="-122"/>
                <a:cs typeface="Bai Jamjuree" pitchFamily="34" charset="-120"/>
              </a:rPr>
              <a:t>“Istilahnya baru. Prinsipnya, sudah tua.”</a:t>
            </a:r>
            <a:endParaRPr lang="en-US" sz="315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180939" y="9661525"/>
            <a:ext cx="347001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02</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8829675" cy="1177131"/>
          </a:xfrm>
          <a:prstGeom prst="rect">
            <a:avLst/>
          </a:prstGeom>
          <a:noFill/>
          <a:ln/>
        </p:spPr>
        <p:txBody>
          <a:bodyPr wrap="square" lIns="25400" tIns="25400" rIns="25400" bIns="25400" rtlCol="0" anchor="t">
            <a:normAutofit/>
          </a:bodyPr>
          <a:lstStyle/>
          <a:p>
            <a:pPr algn="l" indent="0" marL="0">
              <a:lnSpc>
                <a:spcPct val="91531"/>
              </a:lnSpc>
              <a:buNone/>
            </a:pPr>
            <a:r>
              <a:rPr lang="en-US" sz="3900" b="1" dirty="0">
                <a:solidFill>
                  <a:srgbClr val="023161"/>
                </a:solidFill>
                <a:latin typeface="Bai Jamjuree" pitchFamily="34" charset="0"/>
                <a:ea typeface="Bai Jamjuree" pitchFamily="34" charset="-122"/>
                <a:cs typeface="Bai Jamjuree" pitchFamily="34" charset="-120"/>
              </a:rPr>
              <a:t>1993: Donald Norman Mencetuskan Istilah “User Experience”</a:t>
            </a:r>
            <a:endParaRPr lang="en-US" sz="3900" dirty="0"/>
          </a:p>
        </p:txBody>
      </p:sp>
      <p:sp>
        <p:nvSpPr>
          <p:cNvPr id="12" name="Shape 7"/>
          <p:cNvSpPr/>
          <p:nvPr/>
        </p:nvSpPr>
        <p:spPr>
          <a:xfrm>
            <a:off x="952500" y="3348831"/>
            <a:ext cx="8572500" cy="1066800"/>
          </a:xfrm>
          <a:custGeom>
            <a:avLst/>
            <a:gdLst/>
            <a:ahLst/>
            <a:cxnLst/>
            <a:rect l="l" t="t" r="r" b="b"/>
            <a:pathLst>
              <a:path w="8572500" h="1066800">
                <a:moveTo>
                  <a:pt x="152400" y="0"/>
                </a:moveTo>
                <a:lnTo>
                  <a:pt x="8420100" y="0"/>
                </a:lnTo>
                <a:arcTo hR="152400" wR="152400" stAng="16200000" swAng="5400000"/>
                <a:lnTo>
                  <a:pt x="8572500" y="1066800"/>
                </a:lnTo>
                <a:lnTo>
                  <a:pt x="0" y="1066800"/>
                </a:lnTo>
                <a:lnTo>
                  <a:pt x="0" y="152400"/>
                </a:lnTo>
                <a:arcTo hR="152400" wR="152400" stAng="10800000" swAng="5400000"/>
                <a:close/>
              </a:path>
            </a:pathLst>
          </a:custGeom>
          <a:solidFill>
            <a:srgbClr val="FCC112"/>
          </a:solidFill>
          <a:ln/>
        </p:spPr>
      </p:sp>
      <p:sp>
        <p:nvSpPr>
          <p:cNvPr id="13" name="Text 8"/>
          <p:cNvSpPr/>
          <p:nvPr/>
        </p:nvSpPr>
        <p:spPr>
          <a:xfrm>
            <a:off x="1295400" y="3501231"/>
            <a:ext cx="8143875" cy="800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00000"/>
                </a:solidFill>
                <a:latin typeface="Bai Jamjuree" pitchFamily="34" charset="0"/>
                <a:ea typeface="Bai Jamjuree" pitchFamily="34" charset="-122"/>
                <a:cs typeface="Bai Jamjuree" pitchFamily="34" charset="-120"/>
              </a:rPr>
              <a:t>“I wanted to cover all aspects of the person’s experience with a system.”</a:t>
            </a:r>
            <a:endParaRPr lang="en-US" sz="2400" dirty="0"/>
          </a:p>
        </p:txBody>
      </p:sp>
      <p:sp>
        <p:nvSpPr>
          <p:cNvPr id="14" name="Shape 9"/>
          <p:cNvSpPr/>
          <p:nvPr/>
        </p:nvSpPr>
        <p:spPr>
          <a:xfrm>
            <a:off x="952500" y="4415631"/>
            <a:ext cx="8572500" cy="2166640"/>
          </a:xfrm>
          <a:custGeom>
            <a:avLst/>
            <a:gdLst/>
            <a:ahLst/>
            <a:cxnLst/>
            <a:rect l="l" t="t" r="r" b="b"/>
            <a:pathLst>
              <a:path w="8572500" h="2166640">
                <a:moveTo>
                  <a:pt x="0" y="0"/>
                </a:moveTo>
                <a:lnTo>
                  <a:pt x="8572500" y="0"/>
                </a:lnTo>
                <a:lnTo>
                  <a:pt x="8572500" y="2014240"/>
                </a:lnTo>
                <a:arcTo hR="152400" wR="152400" stAng="0" swAng="5400000"/>
                <a:lnTo>
                  <a:pt x="152400" y="2166640"/>
                </a:lnTo>
                <a:arcTo hR="152400" wR="152400" stAng="5400000" swAng="5400000"/>
                <a:lnTo>
                  <a:pt x="0" y="0"/>
                </a:lnTo>
                <a:close/>
              </a:path>
            </a:pathLst>
          </a:custGeom>
          <a:solidFill>
            <a:srgbClr val="235F9C"/>
          </a:solidFill>
          <a:ln/>
        </p:spPr>
      </p:sp>
      <p:sp>
        <p:nvSpPr>
          <p:cNvPr id="15" name="Text 10"/>
          <p:cNvSpPr/>
          <p:nvPr/>
        </p:nvSpPr>
        <p:spPr>
          <a:xfrm>
            <a:off x="1333500" y="4663281"/>
            <a:ext cx="8067675" cy="1709440"/>
          </a:xfrm>
          <a:prstGeom prst="rect">
            <a:avLst/>
          </a:prstGeom>
          <a:noFill/>
          <a:ln/>
        </p:spPr>
        <p:txBody>
          <a:bodyPr wrap="square" lIns="25400" tIns="25400" rIns="25400" bIns="25400" rtlCol="0" anchor="t">
            <a:normAutofit/>
          </a:bodyPr>
          <a:lstStyle/>
          <a:p>
            <a:pPr algn="l" indent="0" marL="0">
              <a:lnSpc>
                <a:spcPct val="107449"/>
              </a:lnSpc>
              <a:buNone/>
            </a:pPr>
            <a:r>
              <a:rPr lang="en-US" sz="1950" dirty="0">
                <a:solidFill>
                  <a:srgbClr val="FFFFFF"/>
                </a:solidFill>
                <a:latin typeface="Bai Jamjuree" pitchFamily="34" charset="0"/>
                <a:ea typeface="Bai Jamjuree" pitchFamily="34" charset="-122"/>
                <a:cs typeface="Bai Jamjuree" pitchFamily="34" charset="-120"/>
              </a:rPr>
              <a:t>Donald Norman, psikolog dan ilmuwan kognitif, mencetuskan istilah “user experience” saat bergabung ke Apple Computer sebagai Apple Fellow. Ia membentuk tim bernama User Experience Architect’s Office dan memakai gelar itu sebagai jabatannya sendiri.</a:t>
            </a:r>
            <a:endParaRPr lang="en-US" sz="1950" dirty="0"/>
          </a:p>
        </p:txBody>
      </p:sp>
      <p:sp>
        <p:nvSpPr>
          <p:cNvPr id="16" name="Text 11"/>
          <p:cNvSpPr/>
          <p:nvPr/>
        </p:nvSpPr>
        <p:spPr>
          <a:xfrm>
            <a:off x="952500" y="6791821"/>
            <a:ext cx="8829675" cy="1371600"/>
          </a:xfrm>
          <a:prstGeom prst="rect">
            <a:avLst/>
          </a:prstGeom>
          <a:noFill/>
          <a:ln/>
        </p:spPr>
        <p:txBody>
          <a:bodyPr wrap="square" lIns="25400" tIns="25400" rIns="25400" bIns="25400" rtlCol="0" anchor="t">
            <a:normAutofit/>
          </a:bodyPr>
          <a:lstStyle/>
          <a:p>
            <a:pPr algn="l" indent="0" marL="0">
              <a:lnSpc>
                <a:spcPct val="111702"/>
              </a:lnSpc>
              <a:buNone/>
            </a:pPr>
            <a:r>
              <a:rPr lang="en-US" sz="1875" i="1" dirty="0">
                <a:solidFill>
                  <a:srgbClr val="373737"/>
                </a:solidFill>
                <a:latin typeface="Plus Jakarta Sans" pitchFamily="34" charset="0"/>
                <a:ea typeface="Plus Jakarta Sans" pitchFamily="34" charset="-122"/>
                <a:cs typeface="Plus Jakarta Sans" pitchFamily="34" charset="-120"/>
              </a:rPr>
              <a:t>Norman bilang, istilah “human interface” dan “usability” terasa terlalu sempit. Dia mau mencakup seluruh pengalaman seseorang dengan sebuah sistem: desain industri, grafis, antarmuka, sampai interaksi fisik dan manual penggunanya.</a:t>
            </a:r>
            <a:endParaRPr lang="en-US" sz="1875" dirty="0"/>
          </a:p>
        </p:txBody>
      </p:sp>
      <p:sp>
        <p:nvSpPr>
          <p:cNvPr id="17" name="Shape 12"/>
          <p:cNvSpPr/>
          <p:nvPr/>
        </p:nvSpPr>
        <p:spPr>
          <a:xfrm>
            <a:off x="11563350" y="1809750"/>
            <a:ext cx="5486400" cy="6438900"/>
          </a:xfrm>
          <a:prstGeom prst="roundRect">
            <a:avLst>
              <a:gd name="adj" fmla="val 4167"/>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8" name="Text 13"/>
          <p:cNvSpPr/>
          <p:nvPr/>
        </p:nvSpPr>
        <p:spPr>
          <a:xfrm>
            <a:off x="11182350" y="8210550"/>
            <a:ext cx="58674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Foto: Wikimedia Commons</a:t>
            </a:r>
            <a:endParaRPr lang="en-US" sz="180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1" name="Text 16"/>
          <p:cNvSpPr/>
          <p:nvPr/>
        </p:nvSpPr>
        <p:spPr>
          <a:xfrm>
            <a:off x="14177170" y="9661525"/>
            <a:ext cx="347416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03</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1905000"/>
            <a:ext cx="18021300" cy="695325"/>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Prinsipnya Sudah Ada Jauh Sebelum Namanya Muncul</a:t>
            </a:r>
            <a:endParaRPr lang="en-US" sz="4500" dirty="0"/>
          </a:p>
        </p:txBody>
      </p:sp>
      <p:sp>
        <p:nvSpPr>
          <p:cNvPr id="11" name="Shape 6"/>
          <p:cNvSpPr/>
          <p:nvPr/>
        </p:nvSpPr>
        <p:spPr>
          <a:xfrm>
            <a:off x="952500" y="3238500"/>
            <a:ext cx="8153400" cy="2362200"/>
          </a:xfrm>
          <a:custGeom>
            <a:avLst/>
            <a:gdLst/>
            <a:ahLst/>
            <a:cxnLst/>
            <a:rect l="l" t="t" r="r" b="b"/>
            <a:pathLst>
              <a:path w="8153400" h="2362200">
                <a:moveTo>
                  <a:pt x="228600" y="0"/>
                </a:moveTo>
                <a:lnTo>
                  <a:pt x="7924800" y="0"/>
                </a:lnTo>
                <a:arcTo hR="228600" wR="228600" stAng="16200000" swAng="5400000"/>
                <a:lnTo>
                  <a:pt x="8153400" y="2362200"/>
                </a:lnTo>
                <a:lnTo>
                  <a:pt x="0" y="2362200"/>
                </a:lnTo>
                <a:lnTo>
                  <a:pt x="0" y="228600"/>
                </a:lnTo>
                <a:arcTo hR="228600" wR="228600" stAng="10800000" swAng="5400000"/>
                <a:close/>
              </a:path>
            </a:pathLst>
          </a:custGeom>
          <a:ln/>
          <a:effectLst>
            <a:outerShdw sx="100000" sy="100000" kx="0" ky="0" algn="bl" rotWithShape="0" blurRad="381000" dist="190500" dir="5400000">
              <a:srgbClr val="010834">
                <a:alpha val="18000"/>
              </a:srgbClr>
            </a:outerShdw>
          </a:effectLst>
        </p:spPr>
      </p:sp>
      <p:sp>
        <p:nvSpPr>
          <p:cNvPr id="12" name="Shape 7"/>
          <p:cNvSpPr/>
          <p:nvPr/>
        </p:nvSpPr>
        <p:spPr>
          <a:xfrm>
            <a:off x="952500" y="3238500"/>
            <a:ext cx="8153400" cy="76200"/>
          </a:xfrm>
          <a:prstGeom prst="rect">
            <a:avLst/>
          </a:prstGeom>
          <a:solidFill>
            <a:srgbClr val="FFFFFF"/>
          </a:solidFill>
          <a:ln/>
        </p:spPr>
      </p:sp>
      <p:sp>
        <p:nvSpPr>
          <p:cNvPr id="13" name="Shape 8"/>
          <p:cNvSpPr/>
          <p:nvPr/>
        </p:nvSpPr>
        <p:spPr>
          <a:xfrm>
            <a:off x="952500" y="3238500"/>
            <a:ext cx="76200" cy="2362200"/>
          </a:xfrm>
          <a:prstGeom prst="rect">
            <a:avLst/>
          </a:prstGeom>
          <a:solidFill>
            <a:srgbClr val="FFFFFF"/>
          </a:solidFill>
          <a:ln/>
        </p:spPr>
      </p:sp>
      <p:sp>
        <p:nvSpPr>
          <p:cNvPr id="14" name="Shape 9"/>
          <p:cNvSpPr/>
          <p:nvPr/>
        </p:nvSpPr>
        <p:spPr>
          <a:xfrm>
            <a:off x="9029700" y="3238500"/>
            <a:ext cx="76200" cy="2362200"/>
          </a:xfrm>
          <a:prstGeom prst="rect">
            <a:avLst/>
          </a:prstGeom>
          <a:solidFill>
            <a:srgbClr val="FFFFFF"/>
          </a:solidFill>
          <a:ln/>
        </p:spPr>
      </p:sp>
      <p:sp>
        <p:nvSpPr>
          <p:cNvPr id="15" name="Shape 10"/>
          <p:cNvSpPr/>
          <p:nvPr/>
        </p:nvSpPr>
        <p:spPr>
          <a:xfrm>
            <a:off x="952500" y="5600700"/>
            <a:ext cx="8001000" cy="762000"/>
          </a:xfrm>
          <a:prstGeom prst="rect">
            <a:avLst/>
          </a:prstGeom>
          <a:solidFill>
            <a:srgbClr val="FCC112"/>
          </a:solidFill>
          <a:ln/>
        </p:spPr>
      </p:sp>
      <p:sp>
        <p:nvSpPr>
          <p:cNvPr id="16" name="Text 11"/>
          <p:cNvSpPr/>
          <p:nvPr/>
        </p:nvSpPr>
        <p:spPr>
          <a:xfrm>
            <a:off x="1257300" y="5791200"/>
            <a:ext cx="7631430"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00000"/>
                </a:solidFill>
                <a:latin typeface="Bai Jamjuree" pitchFamily="34" charset="0"/>
                <a:ea typeface="Bai Jamjuree" pitchFamily="34" charset="-122"/>
                <a:cs typeface="Bai Jamjuree" pitchFamily="34" charset="-120"/>
              </a:rPr>
              <a:t>Feng Shui, Tiongkok Kuno (~4000 SM)</a:t>
            </a:r>
            <a:endParaRPr lang="en-US" sz="2400" dirty="0"/>
          </a:p>
        </p:txBody>
      </p:sp>
      <p:sp>
        <p:nvSpPr>
          <p:cNvPr id="17" name="Shape 12"/>
          <p:cNvSpPr/>
          <p:nvPr/>
        </p:nvSpPr>
        <p:spPr>
          <a:xfrm>
            <a:off x="952500" y="6362700"/>
            <a:ext cx="8001000" cy="1828800"/>
          </a:xfrm>
          <a:custGeom>
            <a:avLst/>
            <a:gdLst/>
            <a:ahLst/>
            <a:cxnLst/>
            <a:rect l="l" t="t" r="r" b="b"/>
            <a:pathLst>
              <a:path w="8001000" h="1828800">
                <a:moveTo>
                  <a:pt x="0" y="0"/>
                </a:moveTo>
                <a:lnTo>
                  <a:pt x="8001000" y="0"/>
                </a:lnTo>
                <a:lnTo>
                  <a:pt x="8001000" y="1676400"/>
                </a:lnTo>
                <a:arcTo hR="152400" wR="152400" stAng="0" swAng="5400000"/>
                <a:lnTo>
                  <a:pt x="152400" y="1828800"/>
                </a:lnTo>
                <a:arcTo hR="152400" wR="152400" stAng="5400000" swAng="5400000"/>
                <a:lnTo>
                  <a:pt x="0" y="0"/>
                </a:lnTo>
                <a:close/>
              </a:path>
            </a:pathLst>
          </a:custGeom>
          <a:solidFill>
            <a:srgbClr val="235F9C"/>
          </a:solidFill>
          <a:ln/>
        </p:spPr>
      </p:sp>
      <p:sp>
        <p:nvSpPr>
          <p:cNvPr id="18" name="Text 13"/>
          <p:cNvSpPr/>
          <p:nvPr/>
        </p:nvSpPr>
        <p:spPr>
          <a:xfrm>
            <a:off x="1257300" y="6629400"/>
            <a:ext cx="7631430" cy="1333500"/>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FFFFFF"/>
                </a:solidFill>
                <a:latin typeface="Bai Jamjuree" pitchFamily="34" charset="0"/>
                <a:ea typeface="Bai Jamjuree" pitchFamily="34" charset="-122"/>
                <a:cs typeface="Bai Jamjuree" pitchFamily="34" charset="-120"/>
              </a:rPr>
              <a:t>Mengatur ruang berdasarkan aliran energi supaya harmonis dan nyaman ditinggali.</a:t>
            </a:r>
            <a:endParaRPr lang="en-US" sz="1950" dirty="0"/>
          </a:p>
        </p:txBody>
      </p:sp>
      <p:sp>
        <p:nvSpPr>
          <p:cNvPr id="19" name="Shape 14"/>
          <p:cNvSpPr/>
          <p:nvPr/>
        </p:nvSpPr>
        <p:spPr>
          <a:xfrm>
            <a:off x="9334500" y="3238500"/>
            <a:ext cx="8153400" cy="2362200"/>
          </a:xfrm>
          <a:custGeom>
            <a:avLst/>
            <a:gdLst/>
            <a:ahLst/>
            <a:cxnLst/>
            <a:rect l="l" t="t" r="r" b="b"/>
            <a:pathLst>
              <a:path w="8153400" h="2362200">
                <a:moveTo>
                  <a:pt x="228600" y="0"/>
                </a:moveTo>
                <a:lnTo>
                  <a:pt x="7924800" y="0"/>
                </a:lnTo>
                <a:arcTo hR="228600" wR="228600" stAng="16200000" swAng="5400000"/>
                <a:lnTo>
                  <a:pt x="8153400" y="2362200"/>
                </a:lnTo>
                <a:lnTo>
                  <a:pt x="0" y="2362200"/>
                </a:lnTo>
                <a:lnTo>
                  <a:pt x="0" y="228600"/>
                </a:lnTo>
                <a:arcTo hR="228600" wR="228600" stAng="10800000" swAng="5400000"/>
                <a:close/>
              </a:path>
            </a:pathLst>
          </a:custGeom>
          <a:ln/>
          <a:effectLst>
            <a:outerShdw sx="100000" sy="100000" kx="0" ky="0" algn="bl" rotWithShape="0" blurRad="381000" dist="190500" dir="5400000">
              <a:srgbClr val="010834">
                <a:alpha val="18000"/>
              </a:srgbClr>
            </a:outerShdw>
          </a:effectLst>
        </p:spPr>
      </p:sp>
      <p:sp>
        <p:nvSpPr>
          <p:cNvPr id="20" name="Shape 15"/>
          <p:cNvSpPr/>
          <p:nvPr/>
        </p:nvSpPr>
        <p:spPr>
          <a:xfrm>
            <a:off x="9334500" y="3238500"/>
            <a:ext cx="8153400" cy="76200"/>
          </a:xfrm>
          <a:prstGeom prst="rect">
            <a:avLst/>
          </a:prstGeom>
          <a:solidFill>
            <a:srgbClr val="FFFFFF"/>
          </a:solidFill>
          <a:ln/>
        </p:spPr>
      </p:sp>
      <p:sp>
        <p:nvSpPr>
          <p:cNvPr id="21" name="Shape 16"/>
          <p:cNvSpPr/>
          <p:nvPr/>
        </p:nvSpPr>
        <p:spPr>
          <a:xfrm>
            <a:off x="9334500" y="3238500"/>
            <a:ext cx="76200" cy="2362200"/>
          </a:xfrm>
          <a:prstGeom prst="rect">
            <a:avLst/>
          </a:prstGeom>
          <a:solidFill>
            <a:srgbClr val="FFFFFF"/>
          </a:solidFill>
          <a:ln/>
        </p:spPr>
      </p:sp>
      <p:sp>
        <p:nvSpPr>
          <p:cNvPr id="22" name="Shape 17"/>
          <p:cNvSpPr/>
          <p:nvPr/>
        </p:nvSpPr>
        <p:spPr>
          <a:xfrm>
            <a:off x="17411700" y="3238500"/>
            <a:ext cx="76200" cy="2362200"/>
          </a:xfrm>
          <a:prstGeom prst="rect">
            <a:avLst/>
          </a:prstGeom>
          <a:solidFill>
            <a:srgbClr val="FFFFFF"/>
          </a:solidFill>
          <a:ln/>
        </p:spPr>
      </p:sp>
      <p:sp>
        <p:nvSpPr>
          <p:cNvPr id="23" name="Shape 18"/>
          <p:cNvSpPr/>
          <p:nvPr/>
        </p:nvSpPr>
        <p:spPr>
          <a:xfrm>
            <a:off x="9334500" y="5600700"/>
            <a:ext cx="8001000" cy="762000"/>
          </a:xfrm>
          <a:prstGeom prst="rect">
            <a:avLst/>
          </a:prstGeom>
          <a:solidFill>
            <a:srgbClr val="FCC112"/>
          </a:solidFill>
          <a:ln/>
        </p:spPr>
      </p:sp>
      <p:sp>
        <p:nvSpPr>
          <p:cNvPr id="24" name="Text 19"/>
          <p:cNvSpPr/>
          <p:nvPr/>
        </p:nvSpPr>
        <p:spPr>
          <a:xfrm>
            <a:off x="9639300" y="5791200"/>
            <a:ext cx="7631430"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00000"/>
                </a:solidFill>
                <a:latin typeface="Bai Jamjuree" pitchFamily="34" charset="0"/>
                <a:ea typeface="Bai Jamjuree" pitchFamily="34" charset="-122"/>
                <a:cs typeface="Bai Jamjuree" pitchFamily="34" charset="-120"/>
              </a:rPr>
              <a:t>Ergonomi, Yunani Kuno (~500 SM)</a:t>
            </a:r>
            <a:endParaRPr lang="en-US" sz="2400" dirty="0"/>
          </a:p>
        </p:txBody>
      </p:sp>
      <p:sp>
        <p:nvSpPr>
          <p:cNvPr id="25" name="Shape 20"/>
          <p:cNvSpPr/>
          <p:nvPr/>
        </p:nvSpPr>
        <p:spPr>
          <a:xfrm>
            <a:off x="9334500" y="6362700"/>
            <a:ext cx="8001000" cy="1828800"/>
          </a:xfrm>
          <a:custGeom>
            <a:avLst/>
            <a:gdLst/>
            <a:ahLst/>
            <a:cxnLst/>
            <a:rect l="l" t="t" r="r" b="b"/>
            <a:pathLst>
              <a:path w="8001000" h="1828800">
                <a:moveTo>
                  <a:pt x="0" y="0"/>
                </a:moveTo>
                <a:lnTo>
                  <a:pt x="8001000" y="0"/>
                </a:lnTo>
                <a:lnTo>
                  <a:pt x="8001000" y="1676400"/>
                </a:lnTo>
                <a:arcTo hR="152400" wR="152400" stAng="0" swAng="5400000"/>
                <a:lnTo>
                  <a:pt x="152400" y="1828800"/>
                </a:lnTo>
                <a:arcTo hR="152400" wR="152400" stAng="5400000" swAng="5400000"/>
                <a:lnTo>
                  <a:pt x="0" y="0"/>
                </a:lnTo>
                <a:close/>
              </a:path>
            </a:pathLst>
          </a:custGeom>
          <a:solidFill>
            <a:srgbClr val="235F9C"/>
          </a:solidFill>
          <a:ln/>
        </p:spPr>
      </p:sp>
      <p:sp>
        <p:nvSpPr>
          <p:cNvPr id="26" name="Text 21"/>
          <p:cNvSpPr/>
          <p:nvPr/>
        </p:nvSpPr>
        <p:spPr>
          <a:xfrm>
            <a:off x="9639300" y="6629400"/>
            <a:ext cx="7631430" cy="1333500"/>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FFFFFF"/>
                </a:solidFill>
                <a:latin typeface="Bai Jamjuree" pitchFamily="34" charset="0"/>
                <a:ea typeface="Bai Jamjuree" pitchFamily="34" charset="-122"/>
                <a:cs typeface="Bai Jamjuree" pitchFamily="34" charset="-120"/>
              </a:rPr>
              <a:t>Hippocrates mencatat bagaimana alat bedah harus ditata supaya mudah dijangkau dan tidak menghalangi kerja dokter.</a:t>
            </a:r>
            <a:endParaRPr lang="en-US" sz="1950" dirty="0"/>
          </a:p>
        </p:txBody>
      </p:sp>
      <p:sp>
        <p:nvSpPr>
          <p:cNvPr id="27" name="Text 22"/>
          <p:cNvSpPr/>
          <p:nvPr/>
        </p:nvSpPr>
        <p:spPr>
          <a:xfrm>
            <a:off x="952500" y="8572500"/>
            <a:ext cx="16874490" cy="752475"/>
          </a:xfrm>
          <a:prstGeom prst="rect">
            <a:avLst/>
          </a:prstGeom>
          <a:noFill/>
          <a:ln/>
        </p:spPr>
        <p:txBody>
          <a:bodyPr wrap="square" lIns="25400" tIns="25400" rIns="25400" bIns="25400" rtlCol="0" anchor="t">
            <a:normAutofit/>
          </a:bodyPr>
          <a:lstStyle/>
          <a:p>
            <a:pPr algn="l" indent="0" marL="0">
              <a:lnSpc>
                <a:spcPct val="119681"/>
              </a:lnSpc>
              <a:buNone/>
            </a:pPr>
            <a:r>
              <a:rPr lang="en-US" sz="1875" i="1" dirty="0">
                <a:solidFill>
                  <a:srgbClr val="373737"/>
                </a:solidFill>
                <a:latin typeface="Plus Jakarta Sans" pitchFamily="34" charset="0"/>
                <a:ea typeface="Plus Jakarta Sans" pitchFamily="34" charset="-122"/>
                <a:cs typeface="Plus Jakarta Sans" pitchFamily="34" charset="-120"/>
              </a:rPr>
              <a:t>Dua contoh ini analogi populer yang sering dipakai buat menjelaskan “akar” UX secara naratif. Bukan bagian dari sejarah akademis UX yang formal, tapi cara yang enak buat memahami bahwa manusia sudah lama mikirin kenyamanan pengguna, jauh sebelum ada istilahnya.</a:t>
            </a:r>
            <a:endParaRPr lang="en-US" sz="1875" dirty="0"/>
          </a:p>
        </p:txBody>
      </p:sp>
      <p:sp>
        <p:nvSpPr>
          <p:cNvPr id="28" name="Shape 23"/>
          <p:cNvSpPr/>
          <p:nvPr/>
        </p:nvSpPr>
        <p:spPr>
          <a:xfrm>
            <a:off x="0" y="9372600"/>
            <a:ext cx="18288000" cy="914400"/>
          </a:xfrm>
          <a:prstGeom prst="rect">
            <a:avLst/>
          </a:prstGeom>
          <a:solidFill>
            <a:srgbClr val="BBDDFF"/>
          </a:solidFill>
          <a:ln/>
        </p:spPr>
      </p:sp>
      <p:sp>
        <p:nvSpPr>
          <p:cNvPr id="29" name="Text 24"/>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30" name="Text 25"/>
          <p:cNvSpPr/>
          <p:nvPr/>
        </p:nvSpPr>
        <p:spPr>
          <a:xfrm>
            <a:off x="14165660" y="9661525"/>
            <a:ext cx="348682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04</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95500"/>
            <a:ext cx="9429750" cy="651470"/>
          </a:xfrm>
          <a:prstGeom prst="rect">
            <a:avLst/>
          </a:prstGeom>
          <a:noFill/>
          <a:ln/>
        </p:spPr>
        <p:txBody>
          <a:bodyPr wrap="square" lIns="25400" tIns="25400" rIns="25400" bIns="25400" rtlCol="0" anchor="t">
            <a:normAutofit/>
          </a:bodyPr>
          <a:lstStyle/>
          <a:p>
            <a:pPr algn="l" indent="0" marL="0">
              <a:lnSpc>
                <a:spcPct val="92000"/>
              </a:lnSpc>
              <a:buNone/>
            </a:pPr>
            <a:r>
              <a:rPr lang="en-US" sz="4200" b="1" dirty="0">
                <a:solidFill>
                  <a:srgbClr val="023161"/>
                </a:solidFill>
                <a:latin typeface="Bai Jamjuree" pitchFamily="34" charset="0"/>
                <a:ea typeface="Bai Jamjuree" pitchFamily="34" charset="-122"/>
                <a:cs typeface="Bai Jamjuree" pitchFamily="34" charset="-120"/>
              </a:rPr>
              <a:t>Efisiensi Kerja Jadi Titik Balik</a:t>
            </a:r>
            <a:endParaRPr lang="en-US" sz="4200" dirty="0"/>
          </a:p>
        </p:txBody>
      </p:sp>
      <p:sp>
        <p:nvSpPr>
          <p:cNvPr id="12" name="Shape 7"/>
          <p:cNvSpPr/>
          <p:nvPr/>
        </p:nvSpPr>
        <p:spPr>
          <a:xfrm>
            <a:off x="952500" y="2956520"/>
            <a:ext cx="8572500" cy="2476401"/>
          </a:xfrm>
          <a:prstGeom prst="roundRect">
            <a:avLst>
              <a:gd name="adj" fmla="val 6154"/>
            </a:avLst>
          </a:prstGeom>
          <a:solidFill>
            <a:srgbClr val="235F9C"/>
          </a:solidFill>
          <a:ln/>
        </p:spPr>
      </p:sp>
      <p:sp>
        <p:nvSpPr>
          <p:cNvPr id="13" name="Text 8"/>
          <p:cNvSpPr/>
          <p:nvPr/>
        </p:nvSpPr>
        <p:spPr>
          <a:xfrm>
            <a:off x="1314450" y="3261320"/>
            <a:ext cx="8105775" cy="1904901"/>
          </a:xfrm>
          <a:prstGeom prst="rect">
            <a:avLst/>
          </a:prstGeom>
          <a:noFill/>
          <a:ln/>
        </p:spPr>
        <p:txBody>
          <a:bodyPr wrap="square" lIns="25400" tIns="25400" rIns="25400" bIns="25400" rtlCol="0" anchor="t">
            <a:normAutofit/>
          </a:bodyPr>
          <a:lstStyle/>
          <a:p>
            <a:pPr algn="l" indent="0" marL="0">
              <a:lnSpc>
                <a:spcPct val="110943"/>
              </a:lnSpc>
              <a:buNone/>
            </a:pPr>
            <a:r>
              <a:rPr lang="en-US" sz="2100" dirty="0">
                <a:solidFill>
                  <a:srgbClr val="FFFFFF"/>
                </a:solidFill>
                <a:latin typeface="Bai Jamjuree" pitchFamily="34" charset="0"/>
                <a:ea typeface="Bai Jamjuree" pitchFamily="34" charset="-122"/>
                <a:cs typeface="Bai Jamjuree" pitchFamily="34" charset="-120"/>
              </a:rPr>
              <a:t>Tahun 1911, Frederick Winslow Taylor menulis “The Principles of Scientific Management”, yang membahas cara ilmiah untuk menyelesaikan pekerjaan lebih efisien. Tahun 1940-an, Toyota mengembangkan sistem produksi yang melibatkan masukan pekerja secara langsung di lini produksi.</a:t>
            </a:r>
            <a:endParaRPr lang="en-US" sz="2100" dirty="0"/>
          </a:p>
        </p:txBody>
      </p:sp>
      <p:sp>
        <p:nvSpPr>
          <p:cNvPr id="14" name="Shape 9"/>
          <p:cNvSpPr/>
          <p:nvPr/>
        </p:nvSpPr>
        <p:spPr>
          <a:xfrm>
            <a:off x="952500" y="5680571"/>
            <a:ext cx="8572500" cy="1575197"/>
          </a:xfrm>
          <a:prstGeom prst="roundRect">
            <a:avLst>
              <a:gd name="adj" fmla="val 9675"/>
            </a:avLst>
          </a:prstGeom>
          <a:solidFill>
            <a:srgbClr val="FCC112"/>
          </a:solidFill>
          <a:ln/>
        </p:spPr>
      </p:sp>
      <p:sp>
        <p:nvSpPr>
          <p:cNvPr id="15" name="Text 10"/>
          <p:cNvSpPr/>
          <p:nvPr/>
        </p:nvSpPr>
        <p:spPr>
          <a:xfrm>
            <a:off x="1295400" y="5928221"/>
            <a:ext cx="8143875" cy="1117997"/>
          </a:xfrm>
          <a:prstGeom prst="rect">
            <a:avLst/>
          </a:prstGeom>
          <a:noFill/>
          <a:ln/>
        </p:spPr>
        <p:txBody>
          <a:bodyPr wrap="square" lIns="25400" tIns="25400" rIns="25400" bIns="25400" rtlCol="0" anchor="t">
            <a:normAutofit/>
          </a:bodyPr>
          <a:lstStyle/>
          <a:p>
            <a:pPr algn="l" indent="0" marL="0">
              <a:lnSpc>
                <a:spcPct val="106981"/>
              </a:lnSpc>
              <a:buNone/>
            </a:pPr>
            <a:r>
              <a:rPr lang="en-US" sz="2100" b="1" dirty="0">
                <a:solidFill>
                  <a:srgbClr val="000000"/>
                </a:solidFill>
                <a:latin typeface="Bai Jamjuree" pitchFamily="34" charset="0"/>
                <a:ea typeface="Bai Jamjuree" pitchFamily="34" charset="-122"/>
                <a:cs typeface="Bai Jamjuree" pitchFamily="34" charset="-120"/>
              </a:rPr>
              <a:t>Dua hal ini kelihatan jauh dari dunia digital, tapi cara berpikirnya sama persis dengan UX modern: kurangi hambatan, dengarkan penggunanya.</a:t>
            </a:r>
            <a:endParaRPr lang="en-US" sz="2100"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176078" y="9661525"/>
            <a:ext cx="347536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05</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9418320"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1999: Prinsip Ini Akhirnya Punya Aturan Resmi</a:t>
            </a:r>
            <a:endParaRPr lang="en-US" sz="4500" dirty="0"/>
          </a:p>
        </p:txBody>
      </p:sp>
      <p:sp>
        <p:nvSpPr>
          <p:cNvPr id="12" name="Shape 7"/>
          <p:cNvSpPr/>
          <p:nvPr/>
        </p:nvSpPr>
        <p:spPr>
          <a:xfrm>
            <a:off x="952500" y="3924300"/>
            <a:ext cx="9144000" cy="3586163"/>
          </a:xfrm>
          <a:prstGeom prst="roundRect">
            <a:avLst>
              <a:gd name="adj" fmla="val 4250"/>
            </a:avLst>
          </a:prstGeom>
          <a:solidFill>
            <a:srgbClr val="235F9C"/>
          </a:solidFill>
          <a:ln/>
        </p:spPr>
      </p:sp>
      <p:sp>
        <p:nvSpPr>
          <p:cNvPr id="13" name="Text 8"/>
          <p:cNvSpPr/>
          <p:nvPr/>
        </p:nvSpPr>
        <p:spPr>
          <a:xfrm>
            <a:off x="1333500" y="4267200"/>
            <a:ext cx="8656320" cy="2938463"/>
          </a:xfrm>
          <a:prstGeom prst="rect">
            <a:avLst/>
          </a:prstGeom>
          <a:noFill/>
          <a:ln/>
        </p:spPr>
        <p:txBody>
          <a:bodyPr wrap="square" lIns="25400" tIns="25400" rIns="25400" bIns="25400" rtlCol="0" anchor="t">
            <a:normAutofit/>
          </a:bodyPr>
          <a:lstStyle/>
          <a:p>
            <a:pPr algn="l" indent="0" marL="0">
              <a:lnSpc>
                <a:spcPct val="118636"/>
              </a:lnSpc>
              <a:buNone/>
            </a:pPr>
            <a:r>
              <a:rPr lang="en-US" sz="2175" dirty="0">
                <a:solidFill>
                  <a:srgbClr val="FFFFFF"/>
                </a:solidFill>
                <a:latin typeface="Bai Jamjuree" pitchFamily="34" charset="0"/>
                <a:ea typeface="Bai Jamjuree" pitchFamily="34" charset="-122"/>
                <a:cs typeface="Bai Jamjuree" pitchFamily="34" charset="-120"/>
              </a:rPr>
              <a:t>Tahun 1999, badan standar internasional ISO menerbitkan standar bernama ISO 13407, yang sekarang dikenal sebagai ISO 9241-210 setelah direvisi tahun 2010 dan diperbarui lagi 2019. Standar ini mendefinisikan human-centered design secara resmi: proses merancang sistem dengan memahami penggunanya, melibatkan pengguna sepanjang proses desain, dan terus diuji ulang lewat evaluasi berbasis pengguna.</a:t>
            </a:r>
            <a:endParaRPr lang="en-US" sz="2175" dirty="0"/>
          </a:p>
        </p:txBody>
      </p:sp>
      <p:sp>
        <p:nvSpPr>
          <p:cNvPr id="14" name="Shape 9"/>
          <p:cNvSpPr/>
          <p:nvPr/>
        </p:nvSpPr>
        <p:spPr>
          <a:xfrm>
            <a:off x="952500" y="7853362"/>
            <a:ext cx="9144000" cy="1771650"/>
          </a:xfrm>
          <a:prstGeom prst="roundRect">
            <a:avLst>
              <a:gd name="adj" fmla="val 8602"/>
            </a:avLst>
          </a:prstGeom>
          <a:solidFill>
            <a:srgbClr val="FCC112"/>
          </a:solidFill>
          <a:ln/>
        </p:spPr>
      </p:sp>
      <p:sp>
        <p:nvSpPr>
          <p:cNvPr id="15" name="Text 10"/>
          <p:cNvSpPr/>
          <p:nvPr/>
        </p:nvSpPr>
        <p:spPr>
          <a:xfrm>
            <a:off x="1314450" y="8139112"/>
            <a:ext cx="8694420" cy="123825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000000"/>
                </a:solidFill>
                <a:latin typeface="Bai Jamjuree" pitchFamily="34" charset="0"/>
                <a:ea typeface="Bai Jamjuree" pitchFamily="34" charset="-122"/>
                <a:cs typeface="Bai Jamjuree" pitchFamily="34" charset="-120"/>
              </a:rPr>
              <a:t>Ini bukti bahwa “dengarkan penggunamu” bukan sekadar jargon. Itu sudah jadi aturan baku yang dipakai industri di seluruh dunia sampai sekarang.</a:t>
            </a:r>
            <a:endParaRPr lang="en-US" sz="2250" dirty="0"/>
          </a:p>
        </p:txBody>
      </p:sp>
      <p:sp>
        <p:nvSpPr>
          <p:cNvPr id="16" name="Shape 11"/>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179551" y="9661525"/>
            <a:ext cx="347154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06</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2.1</a:t>
            </a:r>
            <a:endParaRPr lang="en-US" sz="2700" dirty="0"/>
          </a:p>
        </p:txBody>
      </p:sp>
      <p:sp>
        <p:nvSpPr>
          <p:cNvPr id="9" name="Text 4"/>
          <p:cNvSpPr/>
          <p:nvPr/>
        </p:nvSpPr>
        <p:spPr>
          <a:xfrm>
            <a:off x="1143000" y="3917950"/>
            <a:ext cx="16344900" cy="815280"/>
          </a:xfrm>
          <a:prstGeom prst="rect">
            <a:avLst/>
          </a:prstGeom>
          <a:noFill/>
          <a:ln/>
        </p:spPr>
        <p:txBody>
          <a:bodyPr wrap="square" lIns="25400" tIns="25400" rIns="25400" bIns="25400" rtlCol="0" anchor="t">
            <a:normAutofit/>
          </a:bodyPr>
          <a:lstStyle/>
          <a:p>
            <a:pPr algn="l" indent="0" marL="0">
              <a:lnSpc>
                <a:spcPct val="94884"/>
              </a:lnSpc>
              <a:buNone/>
            </a:pPr>
            <a:r>
              <a:rPr lang="en-US" sz="5100" b="1" dirty="0">
                <a:solidFill>
                  <a:srgbClr val="FFFFFF"/>
                </a:solidFill>
                <a:latin typeface="Plus Jakarta Sans" pitchFamily="34" charset="0"/>
                <a:ea typeface="Plus Jakarta Sans" pitchFamily="34" charset="-122"/>
                <a:cs typeface="Plus Jakarta Sans" pitchFamily="34" charset="-120"/>
              </a:rPr>
              <a:t>Dari Filosofi Kerja ke Ilmu yang Terstruktur</a:t>
            </a:r>
            <a:endParaRPr lang="en-US" sz="5100" dirty="0"/>
          </a:p>
        </p:txBody>
      </p:sp>
      <p:sp>
        <p:nvSpPr>
          <p:cNvPr id="10" name="Text 5"/>
          <p:cNvSpPr/>
          <p:nvPr/>
        </p:nvSpPr>
        <p:spPr>
          <a:xfrm>
            <a:off x="1143000" y="5038031"/>
            <a:ext cx="13735050"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Dari Feng Shui sampai ISO 9241-210, latar belakang ini nunjukin satu hal: UI/UX bukan tren baru. Ini rangkuman panjang dari usaha manusia bikin sesuatu lebih gampang dipakai, sampai akhirnya usaha itu dibakukan jadi aturan resmi.</a:t>
            </a:r>
            <a:endParaRPr lang="en-US" sz="2550" dirty="0"/>
          </a:p>
        </p:txBody>
      </p:sp>
      <p:sp>
        <p:nvSpPr>
          <p:cNvPr id="11" name="Text 6"/>
          <p:cNvSpPr/>
          <p:nvPr/>
        </p:nvSpPr>
        <p:spPr>
          <a:xfrm>
            <a:off x="1143000" y="7620000"/>
            <a:ext cx="14716125" cy="1066800"/>
          </a:xfrm>
          <a:prstGeom prst="rect">
            <a:avLst/>
          </a:prstGeom>
          <a:noFill/>
          <a:ln/>
        </p:spPr>
        <p:txBody>
          <a:bodyPr wrap="square" lIns="25400" tIns="25400" rIns="25400" bIns="25400" rtlCol="0" anchor="t">
            <a:normAutofit/>
          </a:bodyPr>
          <a:lstStyle/>
          <a:p>
            <a:pPr algn="l" indent="0" marL="0">
              <a:lnSpc>
                <a:spcPct val="119118"/>
              </a:lnSpc>
              <a:buNone/>
            </a:pPr>
            <a:r>
              <a:rPr lang="en-US" sz="2700" b="1" i="1" dirty="0">
                <a:solidFill>
                  <a:srgbClr val="FBBB0B"/>
                </a:solidFill>
                <a:latin typeface="Bai Jamjuree" pitchFamily="34" charset="0"/>
                <a:ea typeface="Bai Jamjuree" pitchFamily="34" charset="-122"/>
                <a:cs typeface="Bai Jamjuree" pitchFamily="34" charset="-120"/>
              </a:rPr>
              <a:t>Tapi usaha itu baru benar-benar terstruktur jadi bidang ilmu ketika dunia komputer mulai berkembang. Yuk lihat gimana ilmu itu terbentuk →</a:t>
            </a:r>
            <a:endParaRPr lang="en-US" sz="270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191059" y="9661525"/>
            <a:ext cx="345888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07</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2891492" y="1143000"/>
            <a:ext cx="4888409"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02</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2882" cy="685800"/>
          </a:xfrm>
          <a:prstGeom prst="rect">
            <a:avLst/>
          </a:prstGeom>
          <a:solidFill>
            <a:srgbClr val="023161"/>
          </a:solidFill>
          <a:ln/>
        </p:spPr>
      </p:sp>
      <p:sp>
        <p:nvSpPr>
          <p:cNvPr id="10" name="Text 5"/>
          <p:cNvSpPr/>
          <p:nvPr/>
        </p:nvSpPr>
        <p:spPr>
          <a:xfrm>
            <a:off x="1447800" y="3962400"/>
            <a:ext cx="1729482"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2.2</a:t>
            </a:r>
            <a:endParaRPr lang="en-US" sz="2400" dirty="0"/>
          </a:p>
        </p:txBody>
      </p:sp>
      <p:sp>
        <p:nvSpPr>
          <p:cNvPr id="11" name="Text 6"/>
          <p:cNvSpPr/>
          <p:nvPr/>
        </p:nvSpPr>
        <p:spPr>
          <a:xfrm>
            <a:off x="1143000" y="4914900"/>
            <a:ext cx="14716125"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Gimana Ilmu HCI</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Ini Terbentuk?</a:t>
            </a:r>
            <a:endParaRPr lang="en-US" sz="7200" dirty="0"/>
          </a:p>
        </p:txBody>
      </p:sp>
      <p:sp>
        <p:nvSpPr>
          <p:cNvPr id="12" name="Text 7"/>
          <p:cNvSpPr/>
          <p:nvPr/>
        </p:nvSpPr>
        <p:spPr>
          <a:xfrm>
            <a:off x="1143000" y="7345561"/>
            <a:ext cx="12573000" cy="54481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Dari ide di atas kertas sampai jadi bidang ilmu tersendiri.</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171613" y="9661525"/>
            <a:ext cx="3480276"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08</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238500"/>
            <a:ext cx="16344900" cy="5143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Bai Jamjuree" pitchFamily="34" charset="0"/>
                <a:ea typeface="Bai Jamjuree" pitchFamily="34" charset="-122"/>
                <a:cs typeface="Bai Jamjuree" pitchFamily="34" charset="-120"/>
              </a:rPr>
              <a:t>DEFINISI</a:t>
            </a:r>
            <a:endParaRPr lang="en-US" sz="3000" dirty="0"/>
          </a:p>
        </p:txBody>
      </p:sp>
      <p:sp>
        <p:nvSpPr>
          <p:cNvPr id="9" name="Text 4"/>
          <p:cNvSpPr/>
          <p:nvPr/>
        </p:nvSpPr>
        <p:spPr>
          <a:xfrm>
            <a:off x="1143000" y="4057650"/>
            <a:ext cx="15304770" cy="1683941"/>
          </a:xfrm>
          <a:prstGeom prst="rect">
            <a:avLst/>
          </a:prstGeom>
          <a:noFill/>
          <a:ln/>
        </p:spPr>
        <p:txBody>
          <a:bodyPr wrap="square" lIns="25400" tIns="25400" rIns="25400" bIns="25400" rtlCol="0" anchor="t">
            <a:normAutofit/>
          </a:bodyPr>
          <a:lstStyle/>
          <a:p>
            <a:pPr algn="l" indent="0" marL="0">
              <a:lnSpc>
                <a:spcPct val="95294"/>
              </a:lnSpc>
              <a:buNone/>
            </a:pPr>
            <a:r>
              <a:rPr lang="en-US" sz="5400" b="1" dirty="0">
                <a:solidFill>
                  <a:srgbClr val="FFFFFF"/>
                </a:solidFill>
                <a:latin typeface="Plus Jakarta Sans" pitchFamily="34" charset="0"/>
                <a:ea typeface="Plus Jakarta Sans" pitchFamily="34" charset="-122"/>
                <a:cs typeface="Plus Jakarta Sans" pitchFamily="34" charset="-120"/>
              </a:rPr>
              <a:t>HCI Bukan Cuma soal Komputer, Tapi soal Manusia</a:t>
            </a:r>
            <a:endParaRPr lang="en-US" sz="5400" dirty="0"/>
          </a:p>
        </p:txBody>
      </p:sp>
      <p:sp>
        <p:nvSpPr>
          <p:cNvPr id="10" name="Text 5"/>
          <p:cNvSpPr/>
          <p:nvPr/>
        </p:nvSpPr>
        <p:spPr>
          <a:xfrm>
            <a:off x="1143000" y="6046391"/>
            <a:ext cx="14225588"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Human Computer Interaction (HCI) adalah bidang yang mempelajari bagaimana manusia berinteraksi dengan sistem komputer, dan bagaimana sistem itu dirancang supaya mudah dipakai. Fokusnya bukan mesinnya, tapi orang yang memakainya.</a:t>
            </a:r>
            <a:endParaRPr lang="en-US" sz="2550" dirty="0"/>
          </a:p>
        </p:txBody>
      </p:sp>
      <p:sp>
        <p:nvSpPr>
          <p:cNvPr id="11" name="Text 6"/>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2" name="Text 7"/>
          <p:cNvSpPr/>
          <p:nvPr/>
        </p:nvSpPr>
        <p:spPr>
          <a:xfrm>
            <a:off x="14179551" y="9661525"/>
            <a:ext cx="347154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09</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571500" y="7239000"/>
            <a:ext cx="2286000" cy="2476500"/>
          </a:xfrm>
          <a:prstGeom prst="roundRect">
            <a:avLst>
              <a:gd name="adj" fmla="val 25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8829675" cy="1220986"/>
          </a:xfrm>
          <a:prstGeom prst="rect">
            <a:avLst/>
          </a:prstGeom>
          <a:noFill/>
          <a:ln/>
        </p:spPr>
        <p:txBody>
          <a:bodyPr wrap="square" lIns="25400" tIns="25400" rIns="25400" bIns="25400" rtlCol="0" anchor="t">
            <a:normAutofit/>
          </a:bodyPr>
          <a:lstStyle/>
          <a:p>
            <a:pPr algn="l" indent="0" marL="0">
              <a:lnSpc>
                <a:spcPct val="92228"/>
              </a:lnSpc>
              <a:buNone/>
            </a:pPr>
            <a:r>
              <a:rPr lang="en-US" sz="4050" b="1" dirty="0">
                <a:solidFill>
                  <a:srgbClr val="023161"/>
                </a:solidFill>
                <a:latin typeface="Bai Jamjuree" pitchFamily="34" charset="0"/>
                <a:ea typeface="Bai Jamjuree" pitchFamily="34" charset="-122"/>
                <a:cs typeface="Bai Jamjuree" pitchFamily="34" charset="-120"/>
              </a:rPr>
              <a:t>1945: Membayangkan Mesin yang Belum Ada</a:t>
            </a:r>
            <a:endParaRPr lang="en-US" sz="4050" dirty="0"/>
          </a:p>
        </p:txBody>
      </p:sp>
      <p:sp>
        <p:nvSpPr>
          <p:cNvPr id="12" name="Shape 7"/>
          <p:cNvSpPr/>
          <p:nvPr/>
        </p:nvSpPr>
        <p:spPr>
          <a:xfrm>
            <a:off x="952500" y="3411736"/>
            <a:ext cx="8572500" cy="2539008"/>
          </a:xfrm>
          <a:prstGeom prst="roundRect">
            <a:avLst>
              <a:gd name="adj" fmla="val 6002"/>
            </a:avLst>
          </a:prstGeom>
          <a:solidFill>
            <a:srgbClr val="235F9C"/>
          </a:solidFill>
          <a:ln/>
        </p:spPr>
      </p:sp>
      <p:sp>
        <p:nvSpPr>
          <p:cNvPr id="13" name="Text 8"/>
          <p:cNvSpPr/>
          <p:nvPr/>
        </p:nvSpPr>
        <p:spPr>
          <a:xfrm>
            <a:off x="1295400" y="3678436"/>
            <a:ext cx="8143875" cy="2043708"/>
          </a:xfrm>
          <a:prstGeom prst="rect">
            <a:avLst/>
          </a:prstGeom>
          <a:noFill/>
          <a:ln/>
        </p:spPr>
        <p:txBody>
          <a:bodyPr wrap="square" lIns="25400" tIns="25400" rIns="25400" bIns="25400" rtlCol="0" anchor="t">
            <a:normAutofit/>
          </a:bodyPr>
          <a:lstStyle/>
          <a:p>
            <a:pPr algn="l" indent="0" marL="0">
              <a:lnSpc>
                <a:spcPct val="107449"/>
              </a:lnSpc>
              <a:buNone/>
            </a:pPr>
            <a:r>
              <a:rPr lang="en-US" sz="1950" dirty="0">
                <a:solidFill>
                  <a:srgbClr val="FFFFFF"/>
                </a:solidFill>
                <a:latin typeface="Bai Jamjuree" pitchFamily="34" charset="0"/>
                <a:ea typeface="Bai Jamjuree" pitchFamily="34" charset="-122"/>
                <a:cs typeface="Bai Jamjuree" pitchFamily="34" charset="-120"/>
              </a:rPr>
              <a:t>Sebelum komputer modern ada, insinyur Vannevar Bush sudah membayangkannya. Dalam esai “As We May Think” tahun 1945, Bush menggambarkan mesin bernama Memex: alat meja yang bisa menyimpan dan menghubungkan dokumen lewat “jalur asosiasi”, mirip konsep hyperlink yang baru benar-benar terwujud puluhan tahun kemudian.</a:t>
            </a:r>
            <a:endParaRPr lang="en-US" sz="1950" dirty="0"/>
          </a:p>
        </p:txBody>
      </p:sp>
      <p:sp>
        <p:nvSpPr>
          <p:cNvPr id="14" name="Shape 9"/>
          <p:cNvSpPr/>
          <p:nvPr/>
        </p:nvSpPr>
        <p:spPr>
          <a:xfrm>
            <a:off x="952500" y="6179344"/>
            <a:ext cx="8572500" cy="1695450"/>
          </a:xfrm>
          <a:prstGeom prst="roundRect">
            <a:avLst>
              <a:gd name="adj" fmla="val 8989"/>
            </a:avLst>
          </a:prstGeom>
          <a:solidFill>
            <a:srgbClr val="FCC112"/>
          </a:solidFill>
          <a:ln/>
        </p:spPr>
      </p:sp>
      <p:sp>
        <p:nvSpPr>
          <p:cNvPr id="15" name="Text 10"/>
          <p:cNvSpPr/>
          <p:nvPr/>
        </p:nvSpPr>
        <p:spPr>
          <a:xfrm>
            <a:off x="1257300" y="6407944"/>
            <a:ext cx="8220075" cy="1276350"/>
          </a:xfrm>
          <a:prstGeom prst="rect">
            <a:avLst/>
          </a:prstGeom>
          <a:noFill/>
          <a:ln/>
        </p:spPr>
        <p:txBody>
          <a:bodyPr wrap="square" lIns="25400" tIns="25400" rIns="25400" bIns="25400" rtlCol="0" anchor="t">
            <a:normAutofit/>
          </a:bodyPr>
          <a:lstStyle/>
          <a:p>
            <a:pPr algn="l" indent="0" marL="0">
              <a:lnSpc>
                <a:spcPct val="103723"/>
              </a:lnSpc>
              <a:buNone/>
            </a:pPr>
            <a:r>
              <a:rPr lang="en-US" sz="1875" b="1" dirty="0">
                <a:solidFill>
                  <a:srgbClr val="000000"/>
                </a:solidFill>
                <a:latin typeface="Bai Jamjuree" pitchFamily="34" charset="0"/>
                <a:ea typeface="Bai Jamjuree" pitchFamily="34" charset="-122"/>
                <a:cs typeface="Bai Jamjuree" pitchFamily="34" charset="-120"/>
              </a:rPr>
              <a:t>Bush nggak pernah membangun mesinnya. Tapi idenya soal menghubungkan informasi jadi cikal bakal cara kita berpikir tentang navigasi digital hari ini, termasuk cara kamu berpindah antar halaman di internet.</a:t>
            </a:r>
            <a:endParaRPr lang="en-US" sz="1875"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232632" y="9661525"/>
            <a:ext cx="341315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10</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1960: J.C.R. Licklider dan Ide “Simbiosis”</a:t>
            </a:r>
            <a:endParaRPr lang="en-US" sz="4500" dirty="0"/>
          </a:p>
        </p:txBody>
      </p:sp>
      <p:sp>
        <p:nvSpPr>
          <p:cNvPr id="12" name="Shape 7"/>
          <p:cNvSpPr/>
          <p:nvPr/>
        </p:nvSpPr>
        <p:spPr>
          <a:xfrm>
            <a:off x="952500" y="3924300"/>
            <a:ext cx="8572500" cy="3686175"/>
          </a:xfrm>
          <a:prstGeom prst="roundRect">
            <a:avLst>
              <a:gd name="adj" fmla="val 4134"/>
            </a:avLst>
          </a:prstGeom>
          <a:solidFill>
            <a:srgbClr val="235F9C"/>
          </a:solidFill>
          <a:ln/>
        </p:spPr>
      </p:sp>
      <p:sp>
        <p:nvSpPr>
          <p:cNvPr id="13" name="Text 8"/>
          <p:cNvSpPr/>
          <p:nvPr/>
        </p:nvSpPr>
        <p:spPr>
          <a:xfrm>
            <a:off x="1352550" y="4267200"/>
            <a:ext cx="8029575" cy="3038475"/>
          </a:xfrm>
          <a:prstGeom prst="rect">
            <a:avLst/>
          </a:prstGeom>
          <a:noFill/>
          <a:ln/>
        </p:spPr>
        <p:txBody>
          <a:bodyPr wrap="square" lIns="25400" tIns="25400" rIns="25400" bIns="25400" rtlCol="0" anchor="t">
            <a:normAutofit/>
          </a:bodyPr>
          <a:lstStyle/>
          <a:p>
            <a:pPr algn="l" indent="0" marL="0">
              <a:lnSpc>
                <a:spcPct val="120536"/>
              </a:lnSpc>
              <a:buNone/>
            </a:pPr>
            <a:r>
              <a:rPr lang="en-US" sz="2250" dirty="0">
                <a:solidFill>
                  <a:srgbClr val="FFFFFF"/>
                </a:solidFill>
                <a:latin typeface="Bai Jamjuree" pitchFamily="34" charset="0"/>
                <a:ea typeface="Bai Jamjuree" pitchFamily="34" charset="-122"/>
                <a:cs typeface="Bai Jamjuree" pitchFamily="34" charset="-120"/>
              </a:rPr>
              <a:t>Lima belas tahun setelah esai Bush, psikolog sekaligus ilmuwan komputer J.C.R. Licklider menulis “Man-Computer Symbiosis”. Ia membayangkan komputer bukan sekadar alat hitung, tapi rekan kerja yang membantu proses berpikir manusia. Ide ini juga mendorong konsep time-sharing, di mana banyak orang bisa memakai satu komputer secara bersamaan.</a:t>
            </a:r>
            <a:endParaRPr lang="en-US" sz="2250" dirty="0"/>
          </a:p>
        </p:txBody>
      </p:sp>
      <p:sp>
        <p:nvSpPr>
          <p:cNvPr id="14" name="Text 9"/>
          <p:cNvSpPr/>
          <p:nvPr/>
        </p:nvSpPr>
        <p:spPr>
          <a:xfrm>
            <a:off x="952500" y="7953375"/>
            <a:ext cx="8829675" cy="781050"/>
          </a:xfrm>
          <a:prstGeom prst="rect">
            <a:avLst/>
          </a:prstGeom>
          <a:noFill/>
          <a:ln/>
        </p:spPr>
        <p:txBody>
          <a:bodyPr wrap="square" lIns="25400" tIns="25400" rIns="25400" bIns="25400" rtlCol="0" anchor="t">
            <a:normAutofit/>
          </a:bodyPr>
          <a:lstStyle/>
          <a:p>
            <a:pPr algn="l" indent="0" marL="0">
              <a:lnSpc>
                <a:spcPct val="119388"/>
              </a:lnSpc>
              <a:buNone/>
            </a:pPr>
            <a:r>
              <a:rPr lang="en-US" sz="1950" i="1" dirty="0">
                <a:solidFill>
                  <a:srgbClr val="373737"/>
                </a:solidFill>
                <a:latin typeface="Plus Jakarta Sans" pitchFamily="34" charset="0"/>
                <a:ea typeface="Plus Jakarta Sans" pitchFamily="34" charset="-122"/>
                <a:cs typeface="Plus Jakarta Sans" pitchFamily="34" charset="-120"/>
              </a:rPr>
              <a:t>Licklider sendiri mengakui idenya melanjutkan visi Bush soal menghubungkan dan mengakses informasi dengan lebih mudah.</a:t>
            </a:r>
            <a:endParaRPr lang="en-US" sz="1950" dirty="0"/>
          </a:p>
        </p:txBody>
      </p:sp>
      <p:sp>
        <p:nvSpPr>
          <p:cNvPr id="15" name="Shape 10"/>
          <p:cNvSpPr/>
          <p:nvPr/>
        </p:nvSpPr>
        <p:spPr>
          <a:xfrm>
            <a:off x="11753850" y="1809750"/>
            <a:ext cx="5105400" cy="6438900"/>
          </a:xfrm>
          <a:prstGeom prst="roundRect">
            <a:avLst>
              <a:gd name="adj" fmla="val 4478"/>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1410950" y="8210550"/>
            <a:ext cx="54483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Foto: Wikimedia Commons</a:t>
            </a:r>
            <a:endParaRPr lang="en-US" sz="180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313991" y="9661525"/>
            <a:ext cx="332365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11</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1963-1968: Dari Ide ke Purwarupa Nyata</a:t>
            </a:r>
            <a:endParaRPr lang="en-US" sz="4500" dirty="0"/>
          </a:p>
        </p:txBody>
      </p:sp>
      <p:sp>
        <p:nvSpPr>
          <p:cNvPr id="11" name="Shape 6"/>
          <p:cNvSpPr/>
          <p:nvPr/>
        </p:nvSpPr>
        <p:spPr>
          <a:xfrm>
            <a:off x="952500" y="3962400"/>
            <a:ext cx="8572500" cy="3586163"/>
          </a:xfrm>
          <a:prstGeom prst="roundRect">
            <a:avLst>
              <a:gd name="adj" fmla="val 4250"/>
            </a:avLst>
          </a:prstGeom>
          <a:solidFill>
            <a:srgbClr val="235F9C"/>
          </a:solidFill>
          <a:ln/>
        </p:spPr>
      </p:sp>
      <p:sp>
        <p:nvSpPr>
          <p:cNvPr id="12" name="Text 7"/>
          <p:cNvSpPr/>
          <p:nvPr/>
        </p:nvSpPr>
        <p:spPr>
          <a:xfrm>
            <a:off x="1352550" y="4305300"/>
            <a:ext cx="8029575" cy="2938463"/>
          </a:xfrm>
          <a:prstGeom prst="rect">
            <a:avLst/>
          </a:prstGeom>
          <a:noFill/>
          <a:ln/>
        </p:spPr>
        <p:txBody>
          <a:bodyPr wrap="square" lIns="25400" tIns="25400" rIns="25400" bIns="25400" rtlCol="0" anchor="t">
            <a:normAutofit/>
          </a:bodyPr>
          <a:lstStyle/>
          <a:p>
            <a:pPr algn="l" indent="0" marL="0">
              <a:lnSpc>
                <a:spcPct val="118636"/>
              </a:lnSpc>
              <a:buNone/>
            </a:pPr>
            <a:r>
              <a:rPr lang="en-US" sz="2175" dirty="0">
                <a:solidFill>
                  <a:srgbClr val="FFFFFF"/>
                </a:solidFill>
                <a:latin typeface="Bai Jamjuree" pitchFamily="34" charset="0"/>
                <a:ea typeface="Bai Jamjuree" pitchFamily="34" charset="-122"/>
                <a:cs typeface="Bai Jamjuree" pitchFamily="34" charset="-120"/>
              </a:rPr>
              <a:t>Tahun 1963, Ivan Sutherland menciptakan Sketchpad, sistem yang memungkinkan orang menggambar dan mengubah objek langsung di layar pakai light pen, wujud nyata pertama dari ide-ide Bush dan Licklider. Lima tahun kemudian, Douglas Engelbart mendemonstrasikan mouse dan sistem hyperlink dalam presentasi yang sekarang dikenal sebagai “The Mother of All Demos”.</a:t>
            </a:r>
            <a:endParaRPr lang="en-US" sz="2175" dirty="0"/>
          </a:p>
        </p:txBody>
      </p:sp>
      <p:sp>
        <p:nvSpPr>
          <p:cNvPr id="13" name="Shape 8"/>
          <p:cNvSpPr/>
          <p:nvPr/>
        </p:nvSpPr>
        <p:spPr>
          <a:xfrm>
            <a:off x="952500" y="7929563"/>
            <a:ext cx="8572500" cy="1371600"/>
          </a:xfrm>
          <a:prstGeom prst="roundRect">
            <a:avLst>
              <a:gd name="adj" fmla="val 11111"/>
            </a:avLst>
          </a:prstGeom>
          <a:solidFill>
            <a:srgbClr val="FCC112"/>
          </a:solidFill>
          <a:ln/>
        </p:spPr>
      </p:sp>
      <p:sp>
        <p:nvSpPr>
          <p:cNvPr id="14" name="Text 9"/>
          <p:cNvSpPr/>
          <p:nvPr/>
        </p:nvSpPr>
        <p:spPr>
          <a:xfrm>
            <a:off x="1314450" y="8215313"/>
            <a:ext cx="8105775" cy="83820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000000"/>
                </a:solidFill>
                <a:latin typeface="Bai Jamjuree" pitchFamily="34" charset="0"/>
                <a:ea typeface="Bai Jamjuree" pitchFamily="34" charset="-122"/>
                <a:cs typeface="Bai Jamjuree" pitchFamily="34" charset="-120"/>
              </a:rPr>
              <a:t>Dua penemuan ini jadi fondasi cara kita berinteraksi dengan komputer sampai hari ini.</a:t>
            </a:r>
            <a:endParaRPr lang="en-US" sz="2250" dirty="0"/>
          </a:p>
        </p:txBody>
      </p:sp>
      <p:sp>
        <p:nvSpPr>
          <p:cNvPr id="15" name="Shape 10"/>
          <p:cNvSpPr/>
          <p:nvPr/>
        </p:nvSpPr>
        <p:spPr>
          <a:xfrm>
            <a:off x="10896600" y="2190750"/>
            <a:ext cx="6248400" cy="5962650"/>
          </a:xfrm>
          <a:prstGeom prst="roundRect">
            <a:avLst>
              <a:gd name="adj" fmla="val 3834"/>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0866120" y="8115300"/>
            <a:ext cx="6278880" cy="60960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Purwarupa mouse pertama, 1964 · Foto: Wikimedia Commons</a:t>
            </a:r>
            <a:endParaRPr lang="en-US" sz="180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262299" y="9661525"/>
            <a:ext cx="338052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12</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381000"/>
            <a:ext cx="1524000" cy="1524000"/>
          </a:xfrm>
          <a:prstGeom prst="roundRect">
            <a:avLst>
              <a:gd name="adj" fmla="val 3750"/>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1973: Xerox PARC Melahirkan GUI Pertama</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Xerox PARC mengembangkan Alto, komputer pertama dengan bitmapped screen dan desktop metaphor, dioperasikan pakai mouse. Tahun 1979, Steve Jobs mengunjungi PARC dan terinspirasi dari GUI yang mereka kembangkan.</a:t>
            </a:r>
            <a:endParaRPr lang="en-US" sz="2400" dirty="0"/>
          </a:p>
        </p:txBody>
      </p:sp>
      <p:sp>
        <p:nvSpPr>
          <p:cNvPr id="14" name="Shape 9"/>
          <p:cNvSpPr/>
          <p:nvPr/>
        </p:nvSpPr>
        <p:spPr>
          <a:xfrm>
            <a:off x="10991850" y="2095500"/>
            <a:ext cx="5867400" cy="6057900"/>
          </a:xfrm>
          <a:prstGeom prst="roundRect">
            <a:avLst>
              <a:gd name="adj" fmla="val 3896"/>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Text 10"/>
          <p:cNvSpPr/>
          <p:nvPr/>
        </p:nvSpPr>
        <p:spPr>
          <a:xfrm>
            <a:off x="10572750" y="8115300"/>
            <a:ext cx="628650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Xerox Alto, 1973 · Foto: Wikimedia Commons</a:t>
            </a:r>
            <a:endParaRPr lang="en-US" sz="1800" dirty="0"/>
          </a:p>
        </p:txBody>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258529" y="9661525"/>
            <a:ext cx="338466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13</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95500"/>
            <a:ext cx="10595610" cy="1264841"/>
          </a:xfrm>
          <a:prstGeom prst="rect">
            <a:avLst/>
          </a:prstGeom>
          <a:noFill/>
          <a:ln/>
        </p:spPr>
        <p:txBody>
          <a:bodyPr wrap="square" lIns="25400" tIns="25400" rIns="25400" bIns="25400" rtlCol="0" anchor="t">
            <a:normAutofit/>
          </a:bodyPr>
          <a:lstStyle/>
          <a:p>
            <a:pPr algn="l" indent="0" marL="0">
              <a:lnSpc>
                <a:spcPct val="92000"/>
              </a:lnSpc>
              <a:buNone/>
            </a:pPr>
            <a:r>
              <a:rPr lang="en-US" sz="4200" b="1" dirty="0">
                <a:solidFill>
                  <a:srgbClr val="023161"/>
                </a:solidFill>
                <a:latin typeface="Bai Jamjuree" pitchFamily="34" charset="0"/>
                <a:ea typeface="Bai Jamjuree" pitchFamily="34" charset="-122"/>
                <a:cs typeface="Bai Jamjuree" pitchFamily="34" charset="-120"/>
              </a:rPr>
              <a:t>1982-1984: Tiga Tahun yang Menandai Lahirnya HCI</a:t>
            </a:r>
            <a:endParaRPr lang="en-US" sz="4200" dirty="0"/>
          </a:p>
        </p:txBody>
      </p:sp>
      <p:sp>
        <p:nvSpPr>
          <p:cNvPr id="11" name="Shape 6"/>
          <p:cNvSpPr/>
          <p:nvPr/>
        </p:nvSpPr>
        <p:spPr>
          <a:xfrm>
            <a:off x="952500" y="3627041"/>
            <a:ext cx="10287000" cy="2924175"/>
          </a:xfrm>
          <a:prstGeom prst="roundRect">
            <a:avLst>
              <a:gd name="adj" fmla="val 5212"/>
            </a:avLst>
          </a:prstGeom>
          <a:solidFill>
            <a:srgbClr val="235F9C"/>
          </a:solidFill>
          <a:ln/>
        </p:spPr>
      </p:sp>
      <p:sp>
        <p:nvSpPr>
          <p:cNvPr id="12" name="Text 7"/>
          <p:cNvSpPr/>
          <p:nvPr/>
        </p:nvSpPr>
        <p:spPr>
          <a:xfrm>
            <a:off x="1295400" y="3931841"/>
            <a:ext cx="9909810" cy="2352675"/>
          </a:xfrm>
          <a:prstGeom prst="rect">
            <a:avLst/>
          </a:prstGeom>
          <a:noFill/>
          <a:ln/>
        </p:spPr>
        <p:txBody>
          <a:bodyPr wrap="square" lIns="25400" tIns="25400" rIns="25400" bIns="25400" rtlCol="0" anchor="t">
            <a:normAutofit/>
          </a:bodyPr>
          <a:lstStyle/>
          <a:p>
            <a:pPr algn="l" indent="0" marL="0">
              <a:lnSpc>
                <a:spcPct val="119118"/>
              </a:lnSpc>
              <a:buNone/>
            </a:pPr>
            <a:r>
              <a:rPr lang="en-US" sz="2025" dirty="0">
                <a:solidFill>
                  <a:srgbClr val="FFFFFF"/>
                </a:solidFill>
                <a:latin typeface="Bai Jamjuree" pitchFamily="34" charset="0"/>
                <a:ea typeface="Bai Jamjuree" pitchFamily="34" charset="-122"/>
                <a:cs typeface="Bai Jamjuree" pitchFamily="34" charset="-120"/>
              </a:rPr>
              <a:t>Tahun 1982, komunitas peneliti membentuk ACM SIGCHI, berakar dari kelompok riset SIGSOC yang sudah ada sejak 1969. Setahun kemudian, Stuart Card, Thomas Moran, dan Allen Newell menerbitkan “The Psychology of Human-Computer Interaction”, buku yang jadi rujukan akademis pertama bidang ini. Tahun 1984, Apple merilis Macintosh sebagai PC massal pertama dengan GUI dan mouse bawaan.</a:t>
            </a:r>
            <a:endParaRPr lang="en-US" sz="2025" dirty="0"/>
          </a:p>
        </p:txBody>
      </p:sp>
      <p:sp>
        <p:nvSpPr>
          <p:cNvPr id="13" name="Shape 8"/>
          <p:cNvSpPr/>
          <p:nvPr/>
        </p:nvSpPr>
        <p:spPr>
          <a:xfrm>
            <a:off x="952500" y="6856016"/>
            <a:ext cx="10287000" cy="1215231"/>
          </a:xfrm>
          <a:prstGeom prst="roundRect">
            <a:avLst>
              <a:gd name="adj" fmla="val 12541"/>
            </a:avLst>
          </a:prstGeom>
          <a:solidFill>
            <a:srgbClr val="FCC112"/>
          </a:solidFill>
          <a:ln/>
        </p:spPr>
      </p:sp>
      <p:sp>
        <p:nvSpPr>
          <p:cNvPr id="14" name="Text 9"/>
          <p:cNvSpPr/>
          <p:nvPr/>
        </p:nvSpPr>
        <p:spPr>
          <a:xfrm>
            <a:off x="1276350" y="7103666"/>
            <a:ext cx="9947910" cy="758031"/>
          </a:xfrm>
          <a:prstGeom prst="rect">
            <a:avLst/>
          </a:prstGeom>
          <a:noFill/>
          <a:ln/>
        </p:spPr>
        <p:txBody>
          <a:bodyPr wrap="square" lIns="25400" tIns="25400" rIns="25400" bIns="25400" rtlCol="0" anchor="t">
            <a:normAutofit/>
          </a:bodyPr>
          <a:lstStyle/>
          <a:p>
            <a:pPr algn="l" indent="0" marL="0">
              <a:lnSpc>
                <a:spcPct val="111176"/>
              </a:lnSpc>
              <a:buNone/>
            </a:pPr>
            <a:r>
              <a:rPr lang="en-US" sz="2025" b="1" dirty="0">
                <a:solidFill>
                  <a:srgbClr val="000000"/>
                </a:solidFill>
                <a:latin typeface="Bai Jamjuree" pitchFamily="34" charset="0"/>
                <a:ea typeface="Bai Jamjuree" pitchFamily="34" charset="-122"/>
                <a:cs typeface="Bai Jamjuree" pitchFamily="34" charset="-120"/>
              </a:rPr>
              <a:t>Tiga hal ini terjadi berdekatan dan menandai HCI resmi jadi bidang ilmu, bukan sekadar eksperimen di laboratorium.</a:t>
            </a:r>
            <a:endParaRPr lang="en-US" sz="2025" dirty="0"/>
          </a:p>
        </p:txBody>
      </p:sp>
      <p:sp>
        <p:nvSpPr>
          <p:cNvPr id="15" name="Shape 10"/>
          <p:cNvSpPr/>
          <p:nvPr/>
        </p:nvSpPr>
        <p:spPr>
          <a:xfrm>
            <a:off x="12992100" y="1809750"/>
            <a:ext cx="4152900" cy="3390900"/>
          </a:xfrm>
          <a:prstGeom prst="roundRect">
            <a:avLst>
              <a:gd name="adj" fmla="val 6742"/>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6" name="Text 11"/>
          <p:cNvSpPr/>
          <p:nvPr/>
        </p:nvSpPr>
        <p:spPr>
          <a:xfrm>
            <a:off x="12744450" y="5143500"/>
            <a:ext cx="440055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Card, Moran &amp; Newell, 1983</a:t>
            </a:r>
            <a:endParaRPr lang="en-US" sz="1800" dirty="0"/>
          </a:p>
        </p:txBody>
      </p:sp>
      <p:sp>
        <p:nvSpPr>
          <p:cNvPr id="17" name="Shape 12"/>
          <p:cNvSpPr/>
          <p:nvPr/>
        </p:nvSpPr>
        <p:spPr>
          <a:xfrm>
            <a:off x="12992100" y="5810250"/>
            <a:ext cx="4152900" cy="2819400"/>
          </a:xfrm>
          <a:prstGeom prst="roundRect">
            <a:avLst>
              <a:gd name="adj" fmla="val 8108"/>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8" name="Text 13"/>
          <p:cNvSpPr/>
          <p:nvPr/>
        </p:nvSpPr>
        <p:spPr>
          <a:xfrm>
            <a:off x="12744450" y="8572500"/>
            <a:ext cx="4400550" cy="323850"/>
          </a:xfrm>
          <a:prstGeom prst="rect">
            <a:avLst/>
          </a:prstGeom>
          <a:noFill/>
          <a:ln/>
        </p:spPr>
        <p:txBody>
          <a:bodyPr wrap="square" lIns="25400" tIns="25400" rIns="25400" bIns="25400" rtlCol="0" anchor="t">
            <a:normAutofit/>
          </a:bodyPr>
          <a:lstStyle/>
          <a:p>
            <a:pPr algn="r" indent="0" marL="0">
              <a:buNone/>
            </a:pPr>
            <a:r>
              <a:rPr lang="en-US" sz="1800" dirty="0">
                <a:solidFill>
                  <a:srgbClr val="373737"/>
                </a:solidFill>
                <a:latin typeface="Plus Jakarta Sans" pitchFamily="34" charset="0"/>
                <a:ea typeface="Plus Jakarta Sans" pitchFamily="34" charset="-122"/>
                <a:cs typeface="Plus Jakarta Sans" pitchFamily="34" charset="-120"/>
              </a:rPr>
              <a:t>Apple Macintosh, 1984</a:t>
            </a:r>
            <a:endParaRPr lang="en-US" sz="180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1" name="Text 16"/>
          <p:cNvSpPr/>
          <p:nvPr/>
        </p:nvSpPr>
        <p:spPr>
          <a:xfrm>
            <a:off x="14247019" y="9661525"/>
            <a:ext cx="339732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14</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8617635" cy="695325"/>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Timeline: Perkembangan HCI</a:t>
            </a:r>
            <a:endParaRPr lang="en-US" sz="4500" dirty="0"/>
          </a:p>
        </p:txBody>
      </p:sp>
      <p:sp>
        <p:nvSpPr>
          <p:cNvPr id="12" name="Shape 7"/>
          <p:cNvSpPr/>
          <p:nvPr/>
        </p:nvSpPr>
        <p:spPr>
          <a:xfrm>
            <a:off x="952500" y="3000375"/>
            <a:ext cx="16383000" cy="5194300"/>
          </a:xfrm>
          <a:prstGeom prst="roundRect">
            <a:avLst>
              <a:gd name="adj" fmla="val 3667"/>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000375"/>
            <a:ext cx="2857500" cy="622300"/>
          </a:xfrm>
          <a:prstGeom prst="rect">
            <a:avLst/>
          </a:prstGeom>
          <a:solidFill>
            <a:srgbClr val="023161"/>
          </a:solidFill>
          <a:ln/>
        </p:spPr>
      </p:sp>
      <p:sp>
        <p:nvSpPr>
          <p:cNvPr id="14" name="Text 9"/>
          <p:cNvSpPr/>
          <p:nvPr/>
        </p:nvSpPr>
        <p:spPr>
          <a:xfrm>
            <a:off x="1333500" y="3133725"/>
            <a:ext cx="2181225" cy="3937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Bai Jamjuree" pitchFamily="34" charset="0"/>
                <a:ea typeface="Bai Jamjuree" pitchFamily="34" charset="-122"/>
                <a:cs typeface="Bai Jamjuree" pitchFamily="34" charset="-120"/>
              </a:rPr>
              <a:t>Tahun</a:t>
            </a:r>
            <a:endParaRPr lang="en-US" sz="2250" dirty="0"/>
          </a:p>
        </p:txBody>
      </p:sp>
      <p:sp>
        <p:nvSpPr>
          <p:cNvPr id="15" name="Shape 10"/>
          <p:cNvSpPr/>
          <p:nvPr/>
        </p:nvSpPr>
        <p:spPr>
          <a:xfrm>
            <a:off x="3810000" y="3000375"/>
            <a:ext cx="13525500" cy="622300"/>
          </a:xfrm>
          <a:prstGeom prst="rect">
            <a:avLst/>
          </a:prstGeom>
          <a:solidFill>
            <a:srgbClr val="235F9C"/>
          </a:solidFill>
          <a:ln/>
        </p:spPr>
      </p:sp>
      <p:sp>
        <p:nvSpPr>
          <p:cNvPr id="16" name="Text 11"/>
          <p:cNvSpPr/>
          <p:nvPr/>
        </p:nvSpPr>
        <p:spPr>
          <a:xfrm>
            <a:off x="4191000" y="3133725"/>
            <a:ext cx="13169265" cy="3937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Bai Jamjuree" pitchFamily="34" charset="0"/>
                <a:ea typeface="Bai Jamjuree" pitchFamily="34" charset="-122"/>
                <a:cs typeface="Bai Jamjuree" pitchFamily="34" charset="-120"/>
              </a:rPr>
              <a:t>Peristiwa</a:t>
            </a:r>
            <a:endParaRPr lang="en-US" sz="2250" dirty="0"/>
          </a:p>
        </p:txBody>
      </p:sp>
      <p:sp>
        <p:nvSpPr>
          <p:cNvPr id="17" name="Shape 12"/>
          <p:cNvSpPr/>
          <p:nvPr/>
        </p:nvSpPr>
        <p:spPr>
          <a:xfrm>
            <a:off x="952500" y="3622675"/>
            <a:ext cx="2857500" cy="508000"/>
          </a:xfrm>
          <a:prstGeom prst="rect">
            <a:avLst/>
          </a:prstGeom>
          <a:solidFill>
            <a:srgbClr val="EDF6FF"/>
          </a:solidFill>
          <a:ln/>
        </p:spPr>
      </p:sp>
      <p:sp>
        <p:nvSpPr>
          <p:cNvPr id="18" name="Shape 13"/>
          <p:cNvSpPr/>
          <p:nvPr/>
        </p:nvSpPr>
        <p:spPr>
          <a:xfrm>
            <a:off x="952500" y="3622675"/>
            <a:ext cx="2857500" cy="19050"/>
          </a:xfrm>
          <a:prstGeom prst="rect">
            <a:avLst/>
          </a:prstGeom>
          <a:solidFill>
            <a:srgbClr val="EDF6FF"/>
          </a:solidFill>
          <a:ln/>
        </p:spPr>
      </p:sp>
      <p:sp>
        <p:nvSpPr>
          <p:cNvPr id="19" name="Text 14"/>
          <p:cNvSpPr/>
          <p:nvPr/>
        </p:nvSpPr>
        <p:spPr>
          <a:xfrm>
            <a:off x="1333500" y="3736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1945</a:t>
            </a:r>
            <a:endParaRPr lang="en-US" sz="1875" dirty="0"/>
          </a:p>
        </p:txBody>
      </p:sp>
      <p:sp>
        <p:nvSpPr>
          <p:cNvPr id="20" name="Shape 15"/>
          <p:cNvSpPr/>
          <p:nvPr/>
        </p:nvSpPr>
        <p:spPr>
          <a:xfrm>
            <a:off x="3810000" y="3622675"/>
            <a:ext cx="13525500" cy="508000"/>
          </a:xfrm>
          <a:prstGeom prst="rect">
            <a:avLst/>
          </a:prstGeom>
          <a:solidFill>
            <a:srgbClr val="FFFFFF"/>
          </a:solidFill>
          <a:ln/>
        </p:spPr>
      </p:sp>
      <p:sp>
        <p:nvSpPr>
          <p:cNvPr id="21" name="Shape 16"/>
          <p:cNvSpPr/>
          <p:nvPr/>
        </p:nvSpPr>
        <p:spPr>
          <a:xfrm>
            <a:off x="3810000" y="3622675"/>
            <a:ext cx="13525500" cy="19050"/>
          </a:xfrm>
          <a:prstGeom prst="rect">
            <a:avLst/>
          </a:prstGeom>
          <a:solidFill>
            <a:srgbClr val="EDF6FF"/>
          </a:solidFill>
          <a:ln/>
        </p:spPr>
      </p:sp>
      <p:sp>
        <p:nvSpPr>
          <p:cNvPr id="22" name="Text 17"/>
          <p:cNvSpPr/>
          <p:nvPr/>
        </p:nvSpPr>
        <p:spPr>
          <a:xfrm>
            <a:off x="4191000" y="3736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Esai “As We May Think” &amp; konsep Memex oleh Vannevar Bush</a:t>
            </a:r>
            <a:endParaRPr lang="en-US" sz="1875" dirty="0"/>
          </a:p>
        </p:txBody>
      </p:sp>
      <p:sp>
        <p:nvSpPr>
          <p:cNvPr id="23" name="Shape 18"/>
          <p:cNvSpPr/>
          <p:nvPr/>
        </p:nvSpPr>
        <p:spPr>
          <a:xfrm>
            <a:off x="952500" y="4130675"/>
            <a:ext cx="2857500" cy="508000"/>
          </a:xfrm>
          <a:prstGeom prst="rect">
            <a:avLst/>
          </a:prstGeom>
          <a:solidFill>
            <a:srgbClr val="EDF6FF"/>
          </a:solidFill>
          <a:ln/>
        </p:spPr>
      </p:sp>
      <p:sp>
        <p:nvSpPr>
          <p:cNvPr id="24" name="Shape 19"/>
          <p:cNvSpPr/>
          <p:nvPr/>
        </p:nvSpPr>
        <p:spPr>
          <a:xfrm>
            <a:off x="952500" y="4130675"/>
            <a:ext cx="2857500" cy="19050"/>
          </a:xfrm>
          <a:prstGeom prst="rect">
            <a:avLst/>
          </a:prstGeom>
          <a:solidFill>
            <a:srgbClr val="EDF6FF"/>
          </a:solidFill>
          <a:ln/>
        </p:spPr>
      </p:sp>
      <p:sp>
        <p:nvSpPr>
          <p:cNvPr id="25" name="Text 20"/>
          <p:cNvSpPr/>
          <p:nvPr/>
        </p:nvSpPr>
        <p:spPr>
          <a:xfrm>
            <a:off x="1333500" y="4244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1960</a:t>
            </a:r>
            <a:endParaRPr lang="en-US" sz="1875" dirty="0"/>
          </a:p>
        </p:txBody>
      </p:sp>
      <p:sp>
        <p:nvSpPr>
          <p:cNvPr id="26" name="Shape 21"/>
          <p:cNvSpPr/>
          <p:nvPr/>
        </p:nvSpPr>
        <p:spPr>
          <a:xfrm>
            <a:off x="3810000" y="4130675"/>
            <a:ext cx="13525500" cy="508000"/>
          </a:xfrm>
          <a:prstGeom prst="rect">
            <a:avLst/>
          </a:prstGeom>
          <a:solidFill>
            <a:srgbClr val="FFFFFF"/>
          </a:solidFill>
          <a:ln/>
        </p:spPr>
      </p:sp>
      <p:sp>
        <p:nvSpPr>
          <p:cNvPr id="27" name="Shape 22"/>
          <p:cNvSpPr/>
          <p:nvPr/>
        </p:nvSpPr>
        <p:spPr>
          <a:xfrm>
            <a:off x="3810000" y="4130675"/>
            <a:ext cx="13525500" cy="19050"/>
          </a:xfrm>
          <a:prstGeom prst="rect">
            <a:avLst/>
          </a:prstGeom>
          <a:solidFill>
            <a:srgbClr val="EDF6FF"/>
          </a:solidFill>
          <a:ln/>
        </p:spPr>
      </p:sp>
      <p:sp>
        <p:nvSpPr>
          <p:cNvPr id="28" name="Text 23"/>
          <p:cNvSpPr/>
          <p:nvPr/>
        </p:nvSpPr>
        <p:spPr>
          <a:xfrm>
            <a:off x="4191000" y="4244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“Man-Computer Symbiosis” oleh J.C.R. Licklider</a:t>
            </a:r>
            <a:endParaRPr lang="en-US" sz="1875" dirty="0"/>
          </a:p>
        </p:txBody>
      </p:sp>
      <p:sp>
        <p:nvSpPr>
          <p:cNvPr id="29" name="Shape 24"/>
          <p:cNvSpPr/>
          <p:nvPr/>
        </p:nvSpPr>
        <p:spPr>
          <a:xfrm>
            <a:off x="952500" y="4638675"/>
            <a:ext cx="2857500" cy="508000"/>
          </a:xfrm>
          <a:prstGeom prst="rect">
            <a:avLst/>
          </a:prstGeom>
          <a:solidFill>
            <a:srgbClr val="EDF6FF"/>
          </a:solidFill>
          <a:ln/>
        </p:spPr>
      </p:sp>
      <p:sp>
        <p:nvSpPr>
          <p:cNvPr id="30" name="Shape 25"/>
          <p:cNvSpPr/>
          <p:nvPr/>
        </p:nvSpPr>
        <p:spPr>
          <a:xfrm>
            <a:off x="952500" y="4638675"/>
            <a:ext cx="2857500" cy="19050"/>
          </a:xfrm>
          <a:prstGeom prst="rect">
            <a:avLst/>
          </a:prstGeom>
          <a:solidFill>
            <a:srgbClr val="EDF6FF"/>
          </a:solidFill>
          <a:ln/>
        </p:spPr>
      </p:sp>
      <p:sp>
        <p:nvSpPr>
          <p:cNvPr id="31" name="Text 26"/>
          <p:cNvSpPr/>
          <p:nvPr/>
        </p:nvSpPr>
        <p:spPr>
          <a:xfrm>
            <a:off x="1333500" y="4752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1963</a:t>
            </a:r>
            <a:endParaRPr lang="en-US" sz="1875" dirty="0"/>
          </a:p>
        </p:txBody>
      </p:sp>
      <p:sp>
        <p:nvSpPr>
          <p:cNvPr id="32" name="Shape 27"/>
          <p:cNvSpPr/>
          <p:nvPr/>
        </p:nvSpPr>
        <p:spPr>
          <a:xfrm>
            <a:off x="3810000" y="4638675"/>
            <a:ext cx="13525500" cy="508000"/>
          </a:xfrm>
          <a:prstGeom prst="rect">
            <a:avLst/>
          </a:prstGeom>
          <a:solidFill>
            <a:srgbClr val="FFFFFF"/>
          </a:solidFill>
          <a:ln/>
        </p:spPr>
      </p:sp>
      <p:sp>
        <p:nvSpPr>
          <p:cNvPr id="33" name="Shape 28"/>
          <p:cNvSpPr/>
          <p:nvPr/>
        </p:nvSpPr>
        <p:spPr>
          <a:xfrm>
            <a:off x="3810000" y="4638675"/>
            <a:ext cx="13525500" cy="19050"/>
          </a:xfrm>
          <a:prstGeom prst="rect">
            <a:avLst/>
          </a:prstGeom>
          <a:solidFill>
            <a:srgbClr val="EDF6FF"/>
          </a:solidFill>
          <a:ln/>
        </p:spPr>
      </p:sp>
      <p:sp>
        <p:nvSpPr>
          <p:cNvPr id="34" name="Text 29"/>
          <p:cNvSpPr/>
          <p:nvPr/>
        </p:nvSpPr>
        <p:spPr>
          <a:xfrm>
            <a:off x="4191000" y="4752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Sketchpad oleh Ivan Sutherland</a:t>
            </a:r>
            <a:endParaRPr lang="en-US" sz="1875" dirty="0"/>
          </a:p>
        </p:txBody>
      </p:sp>
      <p:sp>
        <p:nvSpPr>
          <p:cNvPr id="35" name="Shape 30"/>
          <p:cNvSpPr/>
          <p:nvPr/>
        </p:nvSpPr>
        <p:spPr>
          <a:xfrm>
            <a:off x="952500" y="5146675"/>
            <a:ext cx="2857500" cy="508000"/>
          </a:xfrm>
          <a:prstGeom prst="rect">
            <a:avLst/>
          </a:prstGeom>
          <a:solidFill>
            <a:srgbClr val="EDF6FF"/>
          </a:solidFill>
          <a:ln/>
        </p:spPr>
      </p:sp>
      <p:sp>
        <p:nvSpPr>
          <p:cNvPr id="36" name="Shape 31"/>
          <p:cNvSpPr/>
          <p:nvPr/>
        </p:nvSpPr>
        <p:spPr>
          <a:xfrm>
            <a:off x="952500" y="5146675"/>
            <a:ext cx="2857500" cy="19050"/>
          </a:xfrm>
          <a:prstGeom prst="rect">
            <a:avLst/>
          </a:prstGeom>
          <a:solidFill>
            <a:srgbClr val="EDF6FF"/>
          </a:solidFill>
          <a:ln/>
        </p:spPr>
      </p:sp>
      <p:sp>
        <p:nvSpPr>
          <p:cNvPr id="37" name="Text 32"/>
          <p:cNvSpPr/>
          <p:nvPr/>
        </p:nvSpPr>
        <p:spPr>
          <a:xfrm>
            <a:off x="1333500" y="5260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1968</a:t>
            </a:r>
            <a:endParaRPr lang="en-US" sz="1875" dirty="0"/>
          </a:p>
        </p:txBody>
      </p:sp>
      <p:sp>
        <p:nvSpPr>
          <p:cNvPr id="38" name="Shape 33"/>
          <p:cNvSpPr/>
          <p:nvPr/>
        </p:nvSpPr>
        <p:spPr>
          <a:xfrm>
            <a:off x="3810000" y="5146675"/>
            <a:ext cx="13525500" cy="508000"/>
          </a:xfrm>
          <a:prstGeom prst="rect">
            <a:avLst/>
          </a:prstGeom>
          <a:solidFill>
            <a:srgbClr val="FFFFFF"/>
          </a:solidFill>
          <a:ln/>
        </p:spPr>
      </p:sp>
      <p:sp>
        <p:nvSpPr>
          <p:cNvPr id="39" name="Shape 34"/>
          <p:cNvSpPr/>
          <p:nvPr/>
        </p:nvSpPr>
        <p:spPr>
          <a:xfrm>
            <a:off x="3810000" y="5146675"/>
            <a:ext cx="13525500" cy="19050"/>
          </a:xfrm>
          <a:prstGeom prst="rect">
            <a:avLst/>
          </a:prstGeom>
          <a:solidFill>
            <a:srgbClr val="EDF6FF"/>
          </a:solidFill>
          <a:ln/>
        </p:spPr>
      </p:sp>
      <p:sp>
        <p:nvSpPr>
          <p:cNvPr id="40" name="Text 35"/>
          <p:cNvSpPr/>
          <p:nvPr/>
        </p:nvSpPr>
        <p:spPr>
          <a:xfrm>
            <a:off x="4191000" y="5260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Mouse &amp; “Mother of All Demos” oleh Douglas Engelbart</a:t>
            </a:r>
            <a:endParaRPr lang="en-US" sz="1875" dirty="0"/>
          </a:p>
        </p:txBody>
      </p:sp>
      <p:sp>
        <p:nvSpPr>
          <p:cNvPr id="41" name="Shape 36"/>
          <p:cNvSpPr/>
          <p:nvPr/>
        </p:nvSpPr>
        <p:spPr>
          <a:xfrm>
            <a:off x="952500" y="5654675"/>
            <a:ext cx="2857500" cy="508000"/>
          </a:xfrm>
          <a:prstGeom prst="rect">
            <a:avLst/>
          </a:prstGeom>
          <a:solidFill>
            <a:srgbClr val="EDF6FF"/>
          </a:solidFill>
          <a:ln/>
        </p:spPr>
      </p:sp>
      <p:sp>
        <p:nvSpPr>
          <p:cNvPr id="42" name="Shape 37"/>
          <p:cNvSpPr/>
          <p:nvPr/>
        </p:nvSpPr>
        <p:spPr>
          <a:xfrm>
            <a:off x="952500" y="5654675"/>
            <a:ext cx="2857500" cy="19050"/>
          </a:xfrm>
          <a:prstGeom prst="rect">
            <a:avLst/>
          </a:prstGeom>
          <a:solidFill>
            <a:srgbClr val="EDF6FF"/>
          </a:solidFill>
          <a:ln/>
        </p:spPr>
      </p:sp>
      <p:sp>
        <p:nvSpPr>
          <p:cNvPr id="43" name="Text 38"/>
          <p:cNvSpPr/>
          <p:nvPr/>
        </p:nvSpPr>
        <p:spPr>
          <a:xfrm>
            <a:off x="1333500" y="5768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1973</a:t>
            </a:r>
            <a:endParaRPr lang="en-US" sz="1875" dirty="0"/>
          </a:p>
        </p:txBody>
      </p:sp>
      <p:sp>
        <p:nvSpPr>
          <p:cNvPr id="44" name="Shape 39"/>
          <p:cNvSpPr/>
          <p:nvPr/>
        </p:nvSpPr>
        <p:spPr>
          <a:xfrm>
            <a:off x="3810000" y="5654675"/>
            <a:ext cx="13525500" cy="508000"/>
          </a:xfrm>
          <a:prstGeom prst="rect">
            <a:avLst/>
          </a:prstGeom>
          <a:solidFill>
            <a:srgbClr val="FFFFFF"/>
          </a:solidFill>
          <a:ln/>
        </p:spPr>
      </p:sp>
      <p:sp>
        <p:nvSpPr>
          <p:cNvPr id="45" name="Shape 40"/>
          <p:cNvSpPr/>
          <p:nvPr/>
        </p:nvSpPr>
        <p:spPr>
          <a:xfrm>
            <a:off x="3810000" y="5654675"/>
            <a:ext cx="13525500" cy="19050"/>
          </a:xfrm>
          <a:prstGeom prst="rect">
            <a:avLst/>
          </a:prstGeom>
          <a:solidFill>
            <a:srgbClr val="EDF6FF"/>
          </a:solidFill>
          <a:ln/>
        </p:spPr>
      </p:sp>
      <p:sp>
        <p:nvSpPr>
          <p:cNvPr id="46" name="Text 41"/>
          <p:cNvSpPr/>
          <p:nvPr/>
        </p:nvSpPr>
        <p:spPr>
          <a:xfrm>
            <a:off x="4191000" y="5768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Xerox Alto, GUI pertama</a:t>
            </a:r>
            <a:endParaRPr lang="en-US" sz="1875" dirty="0"/>
          </a:p>
        </p:txBody>
      </p:sp>
      <p:sp>
        <p:nvSpPr>
          <p:cNvPr id="47" name="Shape 42"/>
          <p:cNvSpPr/>
          <p:nvPr/>
        </p:nvSpPr>
        <p:spPr>
          <a:xfrm>
            <a:off x="952500" y="6162675"/>
            <a:ext cx="2857500" cy="508000"/>
          </a:xfrm>
          <a:prstGeom prst="rect">
            <a:avLst/>
          </a:prstGeom>
          <a:solidFill>
            <a:srgbClr val="EDF6FF"/>
          </a:solidFill>
          <a:ln/>
        </p:spPr>
      </p:sp>
      <p:sp>
        <p:nvSpPr>
          <p:cNvPr id="48" name="Shape 43"/>
          <p:cNvSpPr/>
          <p:nvPr/>
        </p:nvSpPr>
        <p:spPr>
          <a:xfrm>
            <a:off x="952500" y="6162675"/>
            <a:ext cx="2857500" cy="19050"/>
          </a:xfrm>
          <a:prstGeom prst="rect">
            <a:avLst/>
          </a:prstGeom>
          <a:solidFill>
            <a:srgbClr val="EDF6FF"/>
          </a:solidFill>
          <a:ln/>
        </p:spPr>
      </p:sp>
      <p:sp>
        <p:nvSpPr>
          <p:cNvPr id="49" name="Text 44"/>
          <p:cNvSpPr/>
          <p:nvPr/>
        </p:nvSpPr>
        <p:spPr>
          <a:xfrm>
            <a:off x="1333500" y="6276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1982</a:t>
            </a:r>
            <a:endParaRPr lang="en-US" sz="1875" dirty="0"/>
          </a:p>
        </p:txBody>
      </p:sp>
      <p:sp>
        <p:nvSpPr>
          <p:cNvPr id="50" name="Shape 45"/>
          <p:cNvSpPr/>
          <p:nvPr/>
        </p:nvSpPr>
        <p:spPr>
          <a:xfrm>
            <a:off x="3810000" y="6162675"/>
            <a:ext cx="13525500" cy="508000"/>
          </a:xfrm>
          <a:prstGeom prst="rect">
            <a:avLst/>
          </a:prstGeom>
          <a:solidFill>
            <a:srgbClr val="FFFFFF"/>
          </a:solidFill>
          <a:ln/>
        </p:spPr>
      </p:sp>
      <p:sp>
        <p:nvSpPr>
          <p:cNvPr id="51" name="Shape 46"/>
          <p:cNvSpPr/>
          <p:nvPr/>
        </p:nvSpPr>
        <p:spPr>
          <a:xfrm>
            <a:off x="3810000" y="6162675"/>
            <a:ext cx="13525500" cy="19050"/>
          </a:xfrm>
          <a:prstGeom prst="rect">
            <a:avLst/>
          </a:prstGeom>
          <a:solidFill>
            <a:srgbClr val="EDF6FF"/>
          </a:solidFill>
          <a:ln/>
        </p:spPr>
      </p:sp>
      <p:sp>
        <p:nvSpPr>
          <p:cNvPr id="52" name="Text 47"/>
          <p:cNvSpPr/>
          <p:nvPr/>
        </p:nvSpPr>
        <p:spPr>
          <a:xfrm>
            <a:off x="4191000" y="6276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ACM SIGCHI terbentuk</a:t>
            </a:r>
            <a:endParaRPr lang="en-US" sz="1875" dirty="0"/>
          </a:p>
        </p:txBody>
      </p:sp>
      <p:sp>
        <p:nvSpPr>
          <p:cNvPr id="53" name="Shape 48"/>
          <p:cNvSpPr/>
          <p:nvPr/>
        </p:nvSpPr>
        <p:spPr>
          <a:xfrm>
            <a:off x="952500" y="6670675"/>
            <a:ext cx="2857500" cy="508000"/>
          </a:xfrm>
          <a:prstGeom prst="rect">
            <a:avLst/>
          </a:prstGeom>
          <a:solidFill>
            <a:srgbClr val="EDF6FF"/>
          </a:solidFill>
          <a:ln/>
        </p:spPr>
      </p:sp>
      <p:sp>
        <p:nvSpPr>
          <p:cNvPr id="54" name="Shape 49"/>
          <p:cNvSpPr/>
          <p:nvPr/>
        </p:nvSpPr>
        <p:spPr>
          <a:xfrm>
            <a:off x="952500" y="6670675"/>
            <a:ext cx="2857500" cy="19050"/>
          </a:xfrm>
          <a:prstGeom prst="rect">
            <a:avLst/>
          </a:prstGeom>
          <a:solidFill>
            <a:srgbClr val="EDF6FF"/>
          </a:solidFill>
          <a:ln/>
        </p:spPr>
      </p:sp>
      <p:sp>
        <p:nvSpPr>
          <p:cNvPr id="55" name="Text 50"/>
          <p:cNvSpPr/>
          <p:nvPr/>
        </p:nvSpPr>
        <p:spPr>
          <a:xfrm>
            <a:off x="1333500" y="6784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1983</a:t>
            </a:r>
            <a:endParaRPr lang="en-US" sz="1875" dirty="0"/>
          </a:p>
        </p:txBody>
      </p:sp>
      <p:sp>
        <p:nvSpPr>
          <p:cNvPr id="56" name="Shape 51"/>
          <p:cNvSpPr/>
          <p:nvPr/>
        </p:nvSpPr>
        <p:spPr>
          <a:xfrm>
            <a:off x="3810000" y="6670675"/>
            <a:ext cx="13525500" cy="508000"/>
          </a:xfrm>
          <a:prstGeom prst="rect">
            <a:avLst/>
          </a:prstGeom>
          <a:solidFill>
            <a:srgbClr val="FFFFFF"/>
          </a:solidFill>
          <a:ln/>
        </p:spPr>
      </p:sp>
      <p:sp>
        <p:nvSpPr>
          <p:cNvPr id="57" name="Shape 52"/>
          <p:cNvSpPr/>
          <p:nvPr/>
        </p:nvSpPr>
        <p:spPr>
          <a:xfrm>
            <a:off x="3810000" y="6670675"/>
            <a:ext cx="13525500" cy="19050"/>
          </a:xfrm>
          <a:prstGeom prst="rect">
            <a:avLst/>
          </a:prstGeom>
          <a:solidFill>
            <a:srgbClr val="EDF6FF"/>
          </a:solidFill>
          <a:ln/>
        </p:spPr>
      </p:sp>
      <p:sp>
        <p:nvSpPr>
          <p:cNvPr id="58" name="Text 53"/>
          <p:cNvSpPr/>
          <p:nvPr/>
        </p:nvSpPr>
        <p:spPr>
          <a:xfrm>
            <a:off x="4191000" y="6784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Buku “The Psychology of Human-Computer Interaction” terbit</a:t>
            </a:r>
            <a:endParaRPr lang="en-US" sz="1875" dirty="0"/>
          </a:p>
        </p:txBody>
      </p:sp>
      <p:sp>
        <p:nvSpPr>
          <p:cNvPr id="59" name="Shape 54"/>
          <p:cNvSpPr/>
          <p:nvPr/>
        </p:nvSpPr>
        <p:spPr>
          <a:xfrm>
            <a:off x="952500" y="7178675"/>
            <a:ext cx="2857500" cy="508000"/>
          </a:xfrm>
          <a:prstGeom prst="rect">
            <a:avLst/>
          </a:prstGeom>
          <a:solidFill>
            <a:srgbClr val="EDF6FF"/>
          </a:solidFill>
          <a:ln/>
        </p:spPr>
      </p:sp>
      <p:sp>
        <p:nvSpPr>
          <p:cNvPr id="60" name="Shape 55"/>
          <p:cNvSpPr/>
          <p:nvPr/>
        </p:nvSpPr>
        <p:spPr>
          <a:xfrm>
            <a:off x="952500" y="7178675"/>
            <a:ext cx="2857500" cy="19050"/>
          </a:xfrm>
          <a:prstGeom prst="rect">
            <a:avLst/>
          </a:prstGeom>
          <a:solidFill>
            <a:srgbClr val="EDF6FF"/>
          </a:solidFill>
          <a:ln/>
        </p:spPr>
      </p:sp>
      <p:sp>
        <p:nvSpPr>
          <p:cNvPr id="61" name="Text 56"/>
          <p:cNvSpPr/>
          <p:nvPr/>
        </p:nvSpPr>
        <p:spPr>
          <a:xfrm>
            <a:off x="1333500" y="7292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1984</a:t>
            </a:r>
            <a:endParaRPr lang="en-US" sz="1875" dirty="0"/>
          </a:p>
        </p:txBody>
      </p:sp>
      <p:sp>
        <p:nvSpPr>
          <p:cNvPr id="62" name="Shape 57"/>
          <p:cNvSpPr/>
          <p:nvPr/>
        </p:nvSpPr>
        <p:spPr>
          <a:xfrm>
            <a:off x="3810000" y="7178675"/>
            <a:ext cx="13525500" cy="508000"/>
          </a:xfrm>
          <a:prstGeom prst="rect">
            <a:avLst/>
          </a:prstGeom>
          <a:solidFill>
            <a:srgbClr val="FFFFFF"/>
          </a:solidFill>
          <a:ln/>
        </p:spPr>
      </p:sp>
      <p:sp>
        <p:nvSpPr>
          <p:cNvPr id="63" name="Shape 58"/>
          <p:cNvSpPr/>
          <p:nvPr/>
        </p:nvSpPr>
        <p:spPr>
          <a:xfrm>
            <a:off x="3810000" y="7178675"/>
            <a:ext cx="13525500" cy="19050"/>
          </a:xfrm>
          <a:prstGeom prst="rect">
            <a:avLst/>
          </a:prstGeom>
          <a:solidFill>
            <a:srgbClr val="EDF6FF"/>
          </a:solidFill>
          <a:ln/>
        </p:spPr>
      </p:sp>
      <p:sp>
        <p:nvSpPr>
          <p:cNvPr id="64" name="Text 59"/>
          <p:cNvSpPr/>
          <p:nvPr/>
        </p:nvSpPr>
        <p:spPr>
          <a:xfrm>
            <a:off x="4191000" y="7292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Apple Macintosh dirilis</a:t>
            </a:r>
            <a:endParaRPr lang="en-US" sz="1875" dirty="0"/>
          </a:p>
        </p:txBody>
      </p:sp>
      <p:sp>
        <p:nvSpPr>
          <p:cNvPr id="65" name="Shape 60"/>
          <p:cNvSpPr/>
          <p:nvPr/>
        </p:nvSpPr>
        <p:spPr>
          <a:xfrm>
            <a:off x="952500" y="7686675"/>
            <a:ext cx="2857500" cy="508000"/>
          </a:xfrm>
          <a:prstGeom prst="rect">
            <a:avLst/>
          </a:prstGeom>
          <a:solidFill>
            <a:srgbClr val="FCC112"/>
          </a:solidFill>
          <a:ln/>
        </p:spPr>
      </p:sp>
      <p:sp>
        <p:nvSpPr>
          <p:cNvPr id="66" name="Shape 61"/>
          <p:cNvSpPr/>
          <p:nvPr/>
        </p:nvSpPr>
        <p:spPr>
          <a:xfrm>
            <a:off x="952500" y="7686675"/>
            <a:ext cx="2857500" cy="19050"/>
          </a:xfrm>
          <a:prstGeom prst="rect">
            <a:avLst/>
          </a:prstGeom>
          <a:solidFill>
            <a:srgbClr val="EDF6FF"/>
          </a:solidFill>
          <a:ln/>
        </p:spPr>
      </p:sp>
      <p:sp>
        <p:nvSpPr>
          <p:cNvPr id="67" name="Text 62"/>
          <p:cNvSpPr/>
          <p:nvPr/>
        </p:nvSpPr>
        <p:spPr>
          <a:xfrm>
            <a:off x="1333500" y="7800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00000"/>
                </a:solidFill>
                <a:latin typeface="Bai Jamjuree" pitchFamily="34" charset="0"/>
                <a:ea typeface="Bai Jamjuree" pitchFamily="34" charset="-122"/>
                <a:cs typeface="Bai Jamjuree" pitchFamily="34" charset="-120"/>
              </a:rPr>
              <a:t>1993</a:t>
            </a:r>
            <a:endParaRPr lang="en-US" sz="1875" dirty="0"/>
          </a:p>
        </p:txBody>
      </p:sp>
      <p:sp>
        <p:nvSpPr>
          <p:cNvPr id="68" name="Shape 63"/>
          <p:cNvSpPr/>
          <p:nvPr/>
        </p:nvSpPr>
        <p:spPr>
          <a:xfrm>
            <a:off x="3810000" y="7686675"/>
            <a:ext cx="13525500" cy="508000"/>
          </a:xfrm>
          <a:prstGeom prst="rect">
            <a:avLst/>
          </a:prstGeom>
          <a:solidFill>
            <a:srgbClr val="FFFFFF"/>
          </a:solidFill>
          <a:ln/>
        </p:spPr>
      </p:sp>
      <p:sp>
        <p:nvSpPr>
          <p:cNvPr id="69" name="Shape 64"/>
          <p:cNvSpPr/>
          <p:nvPr/>
        </p:nvSpPr>
        <p:spPr>
          <a:xfrm>
            <a:off x="3810000" y="7686675"/>
            <a:ext cx="13525500" cy="19050"/>
          </a:xfrm>
          <a:prstGeom prst="rect">
            <a:avLst/>
          </a:prstGeom>
          <a:solidFill>
            <a:srgbClr val="EDF6FF"/>
          </a:solidFill>
          <a:ln/>
        </p:spPr>
      </p:sp>
      <p:sp>
        <p:nvSpPr>
          <p:cNvPr id="70" name="Text 65"/>
          <p:cNvSpPr/>
          <p:nvPr/>
        </p:nvSpPr>
        <p:spPr>
          <a:xfrm>
            <a:off x="4191000" y="7800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b="1" dirty="0">
                <a:solidFill>
                  <a:srgbClr val="000000"/>
                </a:solidFill>
                <a:latin typeface="Bai Jamjuree" pitchFamily="34" charset="0"/>
                <a:ea typeface="Bai Jamjuree" pitchFamily="34" charset="-122"/>
                <a:cs typeface="Bai Jamjuree" pitchFamily="34" charset="-120"/>
              </a:rPr>
              <a:t>Istilah “User Experience” dicetuskan Donald Norman</a:t>
            </a:r>
            <a:endParaRPr lang="en-US" sz="1875" dirty="0"/>
          </a:p>
        </p:txBody>
      </p:sp>
      <p:sp>
        <p:nvSpPr>
          <p:cNvPr id="71" name="Shape 66"/>
          <p:cNvSpPr/>
          <p:nvPr/>
        </p:nvSpPr>
        <p:spPr>
          <a:xfrm>
            <a:off x="0" y="9372600"/>
            <a:ext cx="18288000" cy="914400"/>
          </a:xfrm>
          <a:prstGeom prst="rect">
            <a:avLst/>
          </a:prstGeom>
          <a:solidFill>
            <a:srgbClr val="BBDDFF"/>
          </a:solidFill>
          <a:ln/>
        </p:spPr>
      </p:sp>
      <p:sp>
        <p:nvSpPr>
          <p:cNvPr id="72" name="Text 6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73" name="Text 68"/>
          <p:cNvSpPr/>
          <p:nvPr/>
        </p:nvSpPr>
        <p:spPr>
          <a:xfrm>
            <a:off x="14257437" y="9661525"/>
            <a:ext cx="338587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15</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2.2</a:t>
            </a:r>
            <a:endParaRPr lang="en-US" sz="2700" dirty="0"/>
          </a:p>
        </p:txBody>
      </p:sp>
      <p:sp>
        <p:nvSpPr>
          <p:cNvPr id="9" name="Text 4"/>
          <p:cNvSpPr/>
          <p:nvPr/>
        </p:nvSpPr>
        <p:spPr>
          <a:xfrm>
            <a:off x="1143000" y="3917950"/>
            <a:ext cx="16344900" cy="815280"/>
          </a:xfrm>
          <a:prstGeom prst="rect">
            <a:avLst/>
          </a:prstGeom>
          <a:noFill/>
          <a:ln/>
        </p:spPr>
        <p:txBody>
          <a:bodyPr wrap="square" lIns="25400" tIns="25400" rIns="25400" bIns="25400" rtlCol="0" anchor="t">
            <a:normAutofit/>
          </a:bodyPr>
          <a:lstStyle/>
          <a:p>
            <a:pPr algn="l" indent="0" marL="0">
              <a:lnSpc>
                <a:spcPct val="94884"/>
              </a:lnSpc>
              <a:buNone/>
            </a:pPr>
            <a:r>
              <a:rPr lang="en-US" sz="5100" b="1" dirty="0">
                <a:solidFill>
                  <a:srgbClr val="FFFFFF"/>
                </a:solidFill>
                <a:latin typeface="Plus Jakarta Sans" pitchFamily="34" charset="0"/>
                <a:ea typeface="Plus Jakarta Sans" pitchFamily="34" charset="-122"/>
                <a:cs typeface="Plus Jakarta Sans" pitchFamily="34" charset="-120"/>
              </a:rPr>
              <a:t>Dari Kertas Konsep ke Genggaman Tangan</a:t>
            </a:r>
            <a:endParaRPr lang="en-US" sz="5100" dirty="0"/>
          </a:p>
        </p:txBody>
      </p:sp>
      <p:sp>
        <p:nvSpPr>
          <p:cNvPr id="10" name="Text 5"/>
          <p:cNvSpPr/>
          <p:nvPr/>
        </p:nvSpPr>
        <p:spPr>
          <a:xfrm>
            <a:off x="1143000" y="5038031"/>
            <a:ext cx="14225588"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HCI dimulai dari ide di atas kertas, jadi purwarupa laboratorium, lalu resmi jadi bidang ilmu. Setelah itu, perkembangannya nggak berhenti. Dari komputer meja yang besar, sekarang semuanya muat di genggaman tangan.</a:t>
            </a:r>
            <a:endParaRPr lang="en-US" sz="2550" dirty="0"/>
          </a:p>
        </p:txBody>
      </p:sp>
      <p:sp>
        <p:nvSpPr>
          <p:cNvPr id="11" name="Text 6"/>
          <p:cNvSpPr/>
          <p:nvPr/>
        </p:nvSpPr>
        <p:spPr>
          <a:xfrm>
            <a:off x="1143000" y="7620000"/>
            <a:ext cx="15716250" cy="552450"/>
          </a:xfrm>
          <a:prstGeom prst="rect">
            <a:avLst/>
          </a:prstGeom>
          <a:noFill/>
          <a:ln/>
        </p:spPr>
        <p:txBody>
          <a:bodyPr wrap="square" lIns="25400" tIns="25400" rIns="25400" bIns="25400" rtlCol="0" anchor="t">
            <a:normAutofit/>
          </a:bodyPr>
          <a:lstStyle/>
          <a:p>
            <a:pPr algn="l" indent="0" marL="0">
              <a:lnSpc>
                <a:spcPct val="119118"/>
              </a:lnSpc>
              <a:buNone/>
            </a:pPr>
            <a:r>
              <a:rPr lang="en-US" sz="2700" b="1" i="1" dirty="0">
                <a:solidFill>
                  <a:srgbClr val="FBBB0B"/>
                </a:solidFill>
                <a:latin typeface="Bai Jamjuree" pitchFamily="34" charset="0"/>
                <a:ea typeface="Bai Jamjuree" pitchFamily="34" charset="-122"/>
                <a:cs typeface="Bai Jamjuree" pitchFamily="34" charset="-120"/>
              </a:rPr>
              <a:t>Yuk lihat gimana desain digital terus berubah sampai sekarang →</a:t>
            </a:r>
            <a:endParaRPr lang="en-US" sz="270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263589" y="9661525"/>
            <a:ext cx="337910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16</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2836625" y="1143000"/>
            <a:ext cx="4948764"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03</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8339" cy="685800"/>
          </a:xfrm>
          <a:prstGeom prst="rect">
            <a:avLst/>
          </a:prstGeom>
          <a:solidFill>
            <a:srgbClr val="023161"/>
          </a:solidFill>
          <a:ln/>
        </p:spPr>
      </p:sp>
      <p:sp>
        <p:nvSpPr>
          <p:cNvPr id="10" name="Text 5"/>
          <p:cNvSpPr/>
          <p:nvPr/>
        </p:nvSpPr>
        <p:spPr>
          <a:xfrm>
            <a:off x="1447800" y="3962400"/>
            <a:ext cx="1734939"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2.3</a:t>
            </a:r>
            <a:endParaRPr lang="en-US" sz="2400" dirty="0"/>
          </a:p>
        </p:txBody>
      </p:sp>
      <p:sp>
        <p:nvSpPr>
          <p:cNvPr id="11" name="Text 6"/>
          <p:cNvSpPr/>
          <p:nvPr/>
        </p:nvSpPr>
        <p:spPr>
          <a:xfrm>
            <a:off x="1143000" y="4914900"/>
            <a:ext cx="14716125" cy="1881981"/>
          </a:xfrm>
          <a:prstGeom prst="rect">
            <a:avLst/>
          </a:prstGeom>
          <a:noFill/>
          <a:ln/>
        </p:spPr>
        <p:txBody>
          <a:bodyPr wrap="square" lIns="25400" tIns="25400" rIns="25400" bIns="25400" rtlCol="0" anchor="t">
            <a:normAutofit/>
          </a:bodyPr>
          <a:lstStyle/>
          <a:p>
            <a:pPr algn="l" indent="0" marL="0">
              <a:lnSpc>
                <a:spcPct val="88000"/>
              </a:lnSpc>
              <a:buNone/>
            </a:pPr>
            <a:r>
              <a:rPr lang="en-US" sz="6600" b="1" dirty="0">
                <a:solidFill>
                  <a:srgbClr val="FBBB0B"/>
                </a:solidFill>
                <a:latin typeface="Bai Jamjuree" pitchFamily="34" charset="0"/>
                <a:ea typeface="Bai Jamjuree" pitchFamily="34" charset="-122"/>
                <a:cs typeface="Bai Jamjuree" pitchFamily="34" charset="-120"/>
              </a:rPr>
              <a:t>Dari Xerox Sampai AI:</a:t>
            </a:r>
            <a:endParaRPr lang="en-US" sz="6600" dirty="0"/>
          </a:p>
          <a:p>
            <a:pPr algn="l" indent="0" marL="0">
              <a:lnSpc>
                <a:spcPct val="88000"/>
              </a:lnSpc>
              <a:buNone/>
            </a:pPr>
            <a:r>
              <a:rPr lang="en-US" sz="6600" b="1" dirty="0">
                <a:solidFill>
                  <a:srgbClr val="FBBB0B"/>
                </a:solidFill>
                <a:latin typeface="Bai Jamjuree" pitchFamily="34" charset="0"/>
                <a:ea typeface="Bai Jamjuree" pitchFamily="34" charset="-122"/>
                <a:cs typeface="Bai Jamjuree" pitchFamily="34" charset="-120"/>
              </a:rPr>
              <a:t>Gimana Desain Digital Berubah?</a:t>
            </a:r>
            <a:endParaRPr lang="en-US" sz="6600" dirty="0"/>
          </a:p>
        </p:txBody>
      </p:sp>
      <p:sp>
        <p:nvSpPr>
          <p:cNvPr id="12" name="Text 7"/>
          <p:cNvSpPr/>
          <p:nvPr/>
        </p:nvSpPr>
        <p:spPr>
          <a:xfrm>
            <a:off x="1143000" y="7177882"/>
            <a:ext cx="12753975" cy="105152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Gaya visualnya datang dan pergi, tapi caranya tim desain bekerja juga ikut berubah.</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272420" y="9661525"/>
            <a:ext cx="336938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17</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Dari Komputer Meja ke Smartphone</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Pertengahan 1990-an, muncul perangkat genggam seperti PalmPilot dengan stylus dan layar sentuh. Tahun 2007, Apple merilis iPhone. Tahun 2010, iPad menyusul. Sejak itu, interaksi sentuh jadi standar baru di hampir semua perangkat.</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7" name="Text 12"/>
          <p:cNvSpPr/>
          <p:nvPr/>
        </p:nvSpPr>
        <p:spPr>
          <a:xfrm>
            <a:off x="14252873" y="9661525"/>
            <a:ext cx="339089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18</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Ketika Suara Jadi Cara Berinteraksi</a:t>
            </a:r>
            <a:endParaRPr lang="en-US" sz="4800" dirty="0"/>
          </a:p>
        </p:txBody>
      </p:sp>
      <p:sp>
        <p:nvSpPr>
          <p:cNvPr id="12" name="Shape 7"/>
          <p:cNvSpPr/>
          <p:nvPr/>
        </p:nvSpPr>
        <p:spPr>
          <a:xfrm>
            <a:off x="952500" y="4049911"/>
            <a:ext cx="8572500" cy="3505200"/>
          </a:xfrm>
          <a:prstGeom prst="roundRect">
            <a:avLst>
              <a:gd name="adj" fmla="val 4348"/>
            </a:avLst>
          </a:prstGeom>
          <a:solidFill>
            <a:srgbClr val="235F9C"/>
          </a:solidFill>
          <a:ln/>
        </p:spPr>
      </p:sp>
      <p:sp>
        <p:nvSpPr>
          <p:cNvPr id="13" name="Text 8"/>
          <p:cNvSpPr/>
          <p:nvPr/>
        </p:nvSpPr>
        <p:spPr>
          <a:xfrm>
            <a:off x="1371600" y="4430911"/>
            <a:ext cx="7991475" cy="27813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Teknologi pengenalan suara komersial sebenarnya sudah ada sejak 1997, lewat Dragon NaturallySpeaking. Butuh lebih dari satu dekade sampai teknologi ini populer lewat asisten suara: Siri (2011), Google Assistant (2012), dan Amazon Alexa (2014).</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7" name="Text 12"/>
          <p:cNvSpPr/>
          <p:nvPr/>
        </p:nvSpPr>
        <p:spPr>
          <a:xfrm>
            <a:off x="14260910" y="9661525"/>
            <a:ext cx="338205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19</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Gaya Visual Itu Datang dan Pergi</a:t>
            </a:r>
            <a:endParaRPr lang="en-US" sz="4800" dirty="0"/>
          </a:p>
        </p:txBody>
      </p:sp>
      <p:sp>
        <p:nvSpPr>
          <p:cNvPr id="12" name="Shape 7"/>
          <p:cNvSpPr/>
          <p:nvPr/>
        </p:nvSpPr>
        <p:spPr>
          <a:xfrm>
            <a:off x="952500" y="4049911"/>
            <a:ext cx="8572500" cy="2133600"/>
          </a:xfrm>
          <a:prstGeom prst="roundRect">
            <a:avLst>
              <a:gd name="adj" fmla="val 7143"/>
            </a:avLst>
          </a:prstGeom>
          <a:solidFill>
            <a:srgbClr val="235F9C"/>
          </a:solidFill>
          <a:ln/>
        </p:spPr>
      </p:sp>
      <p:sp>
        <p:nvSpPr>
          <p:cNvPr id="13" name="Text 8"/>
          <p:cNvSpPr/>
          <p:nvPr/>
        </p:nvSpPr>
        <p:spPr>
          <a:xfrm>
            <a:off x="1371600" y="4430911"/>
            <a:ext cx="7991475" cy="14097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Dari flat design ke neumorphism yang populer sekitar 2020 (memadukan tekstur dan bayangan lembut), gaya visual UI terus berganti tiap beberapa tahun.</a:t>
            </a:r>
            <a:endParaRPr lang="en-US" sz="2400" dirty="0"/>
          </a:p>
        </p:txBody>
      </p:sp>
      <p:sp>
        <p:nvSpPr>
          <p:cNvPr id="14" name="Text 9"/>
          <p:cNvSpPr/>
          <p:nvPr/>
        </p:nvSpPr>
        <p:spPr>
          <a:xfrm>
            <a:off x="952500" y="6564511"/>
            <a:ext cx="8829675" cy="809625"/>
          </a:xfrm>
          <a:prstGeom prst="rect">
            <a:avLst/>
          </a:prstGeom>
          <a:noFill/>
          <a:ln/>
        </p:spPr>
        <p:txBody>
          <a:bodyPr wrap="square" lIns="25400" tIns="25400" rIns="25400" bIns="25400" rtlCol="0" anchor="t">
            <a:normAutofit/>
          </a:bodyPr>
          <a:lstStyle/>
          <a:p>
            <a:pPr algn="l" indent="0" marL="0">
              <a:lnSpc>
                <a:spcPct val="119118"/>
              </a:lnSpc>
              <a:buNone/>
            </a:pPr>
            <a:r>
              <a:rPr lang="en-US" sz="2025" i="1" dirty="0">
                <a:solidFill>
                  <a:srgbClr val="373737"/>
                </a:solidFill>
                <a:latin typeface="Plus Jakarta Sans" pitchFamily="34" charset="0"/>
                <a:ea typeface="Plus Jakarta Sans" pitchFamily="34" charset="-122"/>
                <a:cs typeface="Plus Jakarta Sans" pitchFamily="34" charset="-120"/>
              </a:rPr>
              <a:t>Jangan terlalu terpaku sama satu gaya yang sedang tren. Yang penting, desainnya tetap fungsional buat penggunanya.</a:t>
            </a:r>
            <a:endParaRPr lang="en-US" sz="2025" dirty="0"/>
          </a:p>
        </p:txBody>
      </p:sp>
      <p:sp>
        <p:nvSpPr>
          <p:cNvPr id="15" name="Shape 10"/>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180939" y="9661525"/>
            <a:ext cx="347001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20</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1905000"/>
            <a:ext cx="9418320" cy="1135261"/>
          </a:xfrm>
          <a:prstGeom prst="rect">
            <a:avLst/>
          </a:prstGeom>
          <a:noFill/>
          <a:ln/>
        </p:spPr>
        <p:txBody>
          <a:bodyPr wrap="square" lIns="25400" tIns="25400" rIns="25400" bIns="25400" rtlCol="0" anchor="t">
            <a:normAutofit/>
          </a:bodyPr>
          <a:lstStyle/>
          <a:p>
            <a:pPr algn="l" indent="0" marL="0">
              <a:lnSpc>
                <a:spcPct val="96000"/>
              </a:lnSpc>
              <a:buNone/>
            </a:pPr>
            <a:r>
              <a:rPr lang="en-US" sz="3600" b="1" dirty="0">
                <a:solidFill>
                  <a:srgbClr val="023161"/>
                </a:solidFill>
                <a:latin typeface="Bai Jamjuree" pitchFamily="34" charset="0"/>
                <a:ea typeface="Bai Jamjuree" pitchFamily="34" charset="-122"/>
                <a:cs typeface="Bai Jamjuree" pitchFamily="34" charset="-120"/>
              </a:rPr>
              <a:t>Desain Nggak Cuma Berubah di Tampilan, Tapi Juga di Cara Kerjanya</a:t>
            </a:r>
            <a:endParaRPr lang="en-US" sz="3600" dirty="0"/>
          </a:p>
        </p:txBody>
      </p:sp>
      <p:sp>
        <p:nvSpPr>
          <p:cNvPr id="11" name="Shape 6"/>
          <p:cNvSpPr/>
          <p:nvPr/>
        </p:nvSpPr>
        <p:spPr>
          <a:xfrm>
            <a:off x="952500" y="3211711"/>
            <a:ext cx="9144000" cy="2424113"/>
          </a:xfrm>
          <a:prstGeom prst="roundRect">
            <a:avLst>
              <a:gd name="adj" fmla="val 6287"/>
            </a:avLst>
          </a:prstGeom>
          <a:solidFill>
            <a:srgbClr val="235F9C"/>
          </a:solidFill>
          <a:ln/>
        </p:spPr>
      </p:sp>
      <p:sp>
        <p:nvSpPr>
          <p:cNvPr id="12" name="Text 7"/>
          <p:cNvSpPr/>
          <p:nvPr/>
        </p:nvSpPr>
        <p:spPr>
          <a:xfrm>
            <a:off x="1276350" y="3459361"/>
            <a:ext cx="8770620" cy="1966912"/>
          </a:xfrm>
          <a:prstGeom prst="rect">
            <a:avLst/>
          </a:prstGeom>
          <a:noFill/>
          <a:ln/>
        </p:spPr>
        <p:txBody>
          <a:bodyPr wrap="square" lIns="25400" tIns="25400" rIns="25400" bIns="25400" rtlCol="0" anchor="t">
            <a:normAutofit/>
          </a:bodyPr>
          <a:lstStyle/>
          <a:p>
            <a:pPr algn="l" indent="0" marL="0">
              <a:lnSpc>
                <a:spcPct val="107713"/>
              </a:lnSpc>
              <a:buNone/>
            </a:pPr>
            <a:r>
              <a:rPr lang="en-US" sz="1875" dirty="0">
                <a:solidFill>
                  <a:srgbClr val="FFFFFF"/>
                </a:solidFill>
                <a:latin typeface="Bai Jamjuree" pitchFamily="34" charset="0"/>
                <a:ea typeface="Bai Jamjuree" pitchFamily="34" charset="-122"/>
                <a:cs typeface="Bai Jamjuree" pitchFamily="34" charset="-120"/>
              </a:rPr>
              <a:t>Sejak Apple menerbitkan panduan desainnya untuk Apple II di tahun 1977, yang belakangan berkembang jadi Human Interface Guidelines, perusahaan besar mulai sadar mereka butuh aturan desain yang konsisten. Tahun 2014, Google merilis Material Design dan menyebutnya sendiri sebagai “design language”, salah satu yang pertama diformalkan seperti itu dan dipakai lintas platform.</a:t>
            </a:r>
            <a:endParaRPr lang="en-US" sz="1875" dirty="0"/>
          </a:p>
        </p:txBody>
      </p:sp>
      <p:sp>
        <p:nvSpPr>
          <p:cNvPr id="13" name="Shape 8"/>
          <p:cNvSpPr/>
          <p:nvPr/>
        </p:nvSpPr>
        <p:spPr>
          <a:xfrm>
            <a:off x="952500" y="5845373"/>
            <a:ext cx="9144000" cy="1607741"/>
          </a:xfrm>
          <a:prstGeom prst="roundRect">
            <a:avLst>
              <a:gd name="adj" fmla="val 9479"/>
            </a:avLst>
          </a:prstGeom>
          <a:solidFill>
            <a:srgbClr val="FCC112"/>
          </a:solidFill>
          <a:ln/>
        </p:spPr>
      </p:sp>
      <p:sp>
        <p:nvSpPr>
          <p:cNvPr id="14" name="Text 9"/>
          <p:cNvSpPr/>
          <p:nvPr/>
        </p:nvSpPr>
        <p:spPr>
          <a:xfrm>
            <a:off x="1257300" y="6054923"/>
            <a:ext cx="8808720" cy="1226741"/>
          </a:xfrm>
          <a:prstGeom prst="rect">
            <a:avLst/>
          </a:prstGeom>
          <a:noFill/>
          <a:ln/>
        </p:spPr>
        <p:txBody>
          <a:bodyPr wrap="square" lIns="25400" tIns="25400" rIns="25400" bIns="25400" rtlCol="0" anchor="t">
            <a:normAutofit/>
          </a:bodyPr>
          <a:lstStyle/>
          <a:p>
            <a:pPr algn="l" indent="0" marL="0">
              <a:lnSpc>
                <a:spcPct val="104000"/>
              </a:lnSpc>
              <a:buNone/>
            </a:pPr>
            <a:r>
              <a:rPr lang="en-US" sz="1800" b="1" dirty="0">
                <a:solidFill>
                  <a:srgbClr val="000000"/>
                </a:solidFill>
                <a:latin typeface="Bai Jamjuree" pitchFamily="34" charset="0"/>
                <a:ea typeface="Bai Jamjuree" pitchFamily="34" charset="-122"/>
                <a:cs typeface="Bai Jamjuree" pitchFamily="34" charset="-120"/>
              </a:rPr>
              <a:t>Belakangan, tools kolaborasi desain ikut mengubah cara tim bekerja: dari file yang dikirim bolak-balik lewat email, jadi satu file yang bisa dikerjakan bareng secara real-time. Modul yang lagi kamu susun ini pun contoh langsungnya.</a:t>
            </a:r>
            <a:endParaRPr lang="en-US" sz="1800" dirty="0"/>
          </a:p>
        </p:txBody>
      </p:sp>
      <p:sp>
        <p:nvSpPr>
          <p:cNvPr id="15" name="Shape 10"/>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262299" y="9661525"/>
            <a:ext cx="338052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21</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00250"/>
            <a:ext cx="8829675" cy="1318220"/>
          </a:xfrm>
          <a:prstGeom prst="rect">
            <a:avLst/>
          </a:prstGeom>
          <a:noFill/>
          <a:ln/>
        </p:spPr>
        <p:txBody>
          <a:bodyPr wrap="square" lIns="25400" tIns="25400" rIns="25400" bIns="25400" rtlCol="0" anchor="t">
            <a:normAutofit/>
          </a:bodyPr>
          <a:lstStyle/>
          <a:p>
            <a:pPr algn="l" indent="0" marL="0">
              <a:lnSpc>
                <a:spcPct val="96000"/>
              </a:lnSpc>
              <a:buNone/>
            </a:pPr>
            <a:r>
              <a:rPr lang="en-US" sz="4200" b="1" dirty="0">
                <a:solidFill>
                  <a:srgbClr val="023161"/>
                </a:solidFill>
                <a:latin typeface="Bai Jamjuree" pitchFamily="34" charset="0"/>
                <a:ea typeface="Bai Jamjuree" pitchFamily="34" charset="-122"/>
                <a:cs typeface="Bai Jamjuree" pitchFamily="34" charset="-120"/>
              </a:rPr>
              <a:t>Gimana Desain Digital Sekarang, di 2026?</a:t>
            </a:r>
            <a:endParaRPr lang="en-US" sz="4200" dirty="0"/>
          </a:p>
        </p:txBody>
      </p:sp>
      <p:sp>
        <p:nvSpPr>
          <p:cNvPr id="11" name="Shape 6"/>
          <p:cNvSpPr/>
          <p:nvPr/>
        </p:nvSpPr>
        <p:spPr>
          <a:xfrm>
            <a:off x="952500" y="3886200"/>
            <a:ext cx="228600" cy="228600"/>
          </a:xfrm>
          <a:prstGeom prst="ellipse">
            <a:avLst/>
          </a:prstGeom>
          <a:solidFill>
            <a:srgbClr val="FCC112"/>
          </a:solidFill>
          <a:ln/>
        </p:spPr>
      </p:sp>
      <p:sp>
        <p:nvSpPr>
          <p:cNvPr id="12" name="Text 7"/>
          <p:cNvSpPr/>
          <p:nvPr/>
        </p:nvSpPr>
        <p:spPr>
          <a:xfrm>
            <a:off x="1390650" y="3810000"/>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AI sebagai partner, bukan otomatis penuh.</a:t>
            </a:r>
            <a:endParaRPr lang="en-US" sz="2400" dirty="0"/>
          </a:p>
        </p:txBody>
      </p:sp>
      <p:sp>
        <p:nvSpPr>
          <p:cNvPr id="13" name="Text 8"/>
          <p:cNvSpPr/>
          <p:nvPr/>
        </p:nvSpPr>
        <p:spPr>
          <a:xfrm>
            <a:off x="1390650" y="4229100"/>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AI hadir sebagai lapisan bantu yang muncul saat dibutuhkan, bukan tombol besar yang mendominasi tampilan.</a:t>
            </a:r>
            <a:endParaRPr lang="en-US" sz="1950" dirty="0"/>
          </a:p>
        </p:txBody>
      </p:sp>
      <p:sp>
        <p:nvSpPr>
          <p:cNvPr id="14" name="Shape 9"/>
          <p:cNvSpPr/>
          <p:nvPr/>
        </p:nvSpPr>
        <p:spPr>
          <a:xfrm>
            <a:off x="952500" y="5284391"/>
            <a:ext cx="228600" cy="228600"/>
          </a:xfrm>
          <a:prstGeom prst="ellipse">
            <a:avLst/>
          </a:prstGeom>
          <a:solidFill>
            <a:srgbClr val="FCC112"/>
          </a:solidFill>
          <a:ln/>
        </p:spPr>
      </p:sp>
      <p:sp>
        <p:nvSpPr>
          <p:cNvPr id="15" name="Text 10"/>
          <p:cNvSpPr/>
          <p:nvPr/>
        </p:nvSpPr>
        <p:spPr>
          <a:xfrm>
            <a:off x="1390650" y="5208191"/>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Interface makin tenang.</a:t>
            </a:r>
            <a:endParaRPr lang="en-US" sz="2400" dirty="0"/>
          </a:p>
        </p:txBody>
      </p:sp>
      <p:sp>
        <p:nvSpPr>
          <p:cNvPr id="16" name="Text 11"/>
          <p:cNvSpPr/>
          <p:nvPr/>
        </p:nvSpPr>
        <p:spPr>
          <a:xfrm>
            <a:off x="1390650" y="5627291"/>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Fokusnya sekarang mengurangi beban berpikir pengguna, bukan menumpuk elemen visual.</a:t>
            </a:r>
            <a:endParaRPr lang="en-US" sz="1950" dirty="0"/>
          </a:p>
        </p:txBody>
      </p:sp>
      <p:sp>
        <p:nvSpPr>
          <p:cNvPr id="17" name="Shape 12"/>
          <p:cNvSpPr/>
          <p:nvPr/>
        </p:nvSpPr>
        <p:spPr>
          <a:xfrm>
            <a:off x="952500" y="6682582"/>
            <a:ext cx="228600" cy="228600"/>
          </a:xfrm>
          <a:prstGeom prst="ellipse">
            <a:avLst/>
          </a:prstGeom>
          <a:solidFill>
            <a:srgbClr val="FCC112"/>
          </a:solidFill>
          <a:ln/>
        </p:spPr>
      </p:sp>
      <p:sp>
        <p:nvSpPr>
          <p:cNvPr id="18" name="Text 13"/>
          <p:cNvSpPr/>
          <p:nvPr/>
        </p:nvSpPr>
        <p:spPr>
          <a:xfrm>
            <a:off x="1390650" y="6606382"/>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Motion design yang punya alasan.</a:t>
            </a:r>
            <a:endParaRPr lang="en-US" sz="2400" dirty="0"/>
          </a:p>
        </p:txBody>
      </p:sp>
      <p:sp>
        <p:nvSpPr>
          <p:cNvPr id="19" name="Text 14"/>
          <p:cNvSpPr/>
          <p:nvPr/>
        </p:nvSpPr>
        <p:spPr>
          <a:xfrm>
            <a:off x="1390650" y="7025482"/>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Animasi dipakai buat memandu pengguna paham alurnya, bukan sekadar mempercantik tampilan.</a:t>
            </a:r>
            <a:endParaRPr lang="en-US" sz="1950" dirty="0"/>
          </a:p>
        </p:txBody>
      </p:sp>
      <p:sp>
        <p:nvSpPr>
          <p:cNvPr id="20" name="Shape 15"/>
          <p:cNvSpPr/>
          <p:nvPr/>
        </p:nvSpPr>
        <p:spPr>
          <a:xfrm>
            <a:off x="952500" y="8080772"/>
            <a:ext cx="228600" cy="228600"/>
          </a:xfrm>
          <a:prstGeom prst="ellipse">
            <a:avLst/>
          </a:prstGeom>
          <a:solidFill>
            <a:srgbClr val="FCC112"/>
          </a:solidFill>
          <a:ln/>
        </p:spPr>
      </p:sp>
      <p:sp>
        <p:nvSpPr>
          <p:cNvPr id="21" name="Text 16"/>
          <p:cNvSpPr/>
          <p:nvPr/>
        </p:nvSpPr>
        <p:spPr>
          <a:xfrm>
            <a:off x="1390650" y="8004572"/>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Aksesibilitas jadi standar.</a:t>
            </a:r>
            <a:endParaRPr lang="en-US" sz="2400" dirty="0"/>
          </a:p>
        </p:txBody>
      </p:sp>
      <p:sp>
        <p:nvSpPr>
          <p:cNvPr id="22" name="Text 17"/>
          <p:cNvSpPr/>
          <p:nvPr/>
        </p:nvSpPr>
        <p:spPr>
          <a:xfrm>
            <a:off x="1390650" y="8423672"/>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Kontras warna, dukungan pembaca layar, dan navigasi suara sekarang jadi kewajiban, bukan nilai tambah.</a:t>
            </a:r>
            <a:endParaRPr lang="en-US" sz="1950" dirty="0"/>
          </a:p>
        </p:txBody>
      </p:sp>
      <p:sp>
        <p:nvSpPr>
          <p:cNvPr id="23" name="Shape 18"/>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24" name="Shape 19"/>
          <p:cNvSpPr/>
          <p:nvPr/>
        </p:nvSpPr>
        <p:spPr>
          <a:xfrm>
            <a:off x="0" y="9372600"/>
            <a:ext cx="18288000" cy="914400"/>
          </a:xfrm>
          <a:prstGeom prst="rect">
            <a:avLst/>
          </a:prstGeom>
          <a:solidFill>
            <a:srgbClr val="BBDDFF"/>
          </a:solidFill>
          <a:ln/>
        </p:spPr>
      </p:sp>
      <p:sp>
        <p:nvSpPr>
          <p:cNvPr id="25" name="Text 20"/>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6" name="Text 21"/>
          <p:cNvSpPr/>
          <p:nvPr/>
        </p:nvSpPr>
        <p:spPr>
          <a:xfrm>
            <a:off x="14210507" y="9661525"/>
            <a:ext cx="34374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22</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952750"/>
            <a:ext cx="1655445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2.3</a:t>
            </a:r>
            <a:endParaRPr lang="en-US" sz="2700" dirty="0"/>
          </a:p>
        </p:txBody>
      </p:sp>
      <p:sp>
        <p:nvSpPr>
          <p:cNvPr id="9" name="Text 4"/>
          <p:cNvSpPr/>
          <p:nvPr/>
        </p:nvSpPr>
        <p:spPr>
          <a:xfrm>
            <a:off x="1143000" y="3727450"/>
            <a:ext cx="16554450" cy="769541"/>
          </a:xfrm>
          <a:prstGeom prst="rect">
            <a:avLst/>
          </a:prstGeom>
          <a:noFill/>
          <a:ln/>
        </p:spPr>
        <p:txBody>
          <a:bodyPr wrap="square" lIns="25400" tIns="25400" rIns="25400" bIns="25400" rtlCol="0" anchor="t">
            <a:normAutofit/>
          </a:bodyPr>
          <a:lstStyle/>
          <a:p>
            <a:pPr algn="l" indent="0" marL="0">
              <a:lnSpc>
                <a:spcPct val="95207"/>
              </a:lnSpc>
              <a:buNone/>
            </a:pPr>
            <a:r>
              <a:rPr lang="en-US" sz="4800" b="1" dirty="0">
                <a:solidFill>
                  <a:srgbClr val="FFFFFF"/>
                </a:solidFill>
                <a:latin typeface="Plus Jakarta Sans" pitchFamily="34" charset="0"/>
                <a:ea typeface="Plus Jakarta Sans" pitchFamily="34" charset="-122"/>
                <a:cs typeface="Plus Jakarta Sans" pitchFamily="34" charset="-120"/>
              </a:rPr>
              <a:t>Satu Benang Merah yang Nggak Berubah</a:t>
            </a:r>
            <a:endParaRPr lang="en-US" sz="4800" dirty="0"/>
          </a:p>
        </p:txBody>
      </p:sp>
      <p:sp>
        <p:nvSpPr>
          <p:cNvPr id="10" name="Text 5"/>
          <p:cNvSpPr/>
          <p:nvPr/>
        </p:nvSpPr>
        <p:spPr>
          <a:xfrm>
            <a:off x="1143000" y="4801791"/>
            <a:ext cx="14519910" cy="1499592"/>
          </a:xfrm>
          <a:prstGeom prst="rect">
            <a:avLst/>
          </a:prstGeom>
          <a:noFill/>
          <a:ln/>
        </p:spPr>
        <p:txBody>
          <a:bodyPr wrap="square" lIns="25400" tIns="25400" rIns="25400" bIns="25400" rtlCol="0" anchor="t">
            <a:normAutofit/>
          </a:bodyPr>
          <a:lstStyle/>
          <a:p>
            <a:pPr algn="l" indent="0" marL="0">
              <a:lnSpc>
                <a:spcPct val="123750"/>
              </a:lnSpc>
              <a:buNone/>
            </a:pPr>
            <a:r>
              <a:rPr lang="en-US" sz="2475" dirty="0">
                <a:solidFill>
                  <a:srgbClr val="FFFFFF">
                    <a:alpha val="85000"/>
                  </a:srgbClr>
                </a:solidFill>
                <a:latin typeface="Bai Jamjuree" pitchFamily="34" charset="0"/>
                <a:ea typeface="Bai Jamjuree" pitchFamily="34" charset="-122"/>
                <a:cs typeface="Bai Jamjuree" pitchFamily="34" charset="-120"/>
              </a:rPr>
              <a:t>Dari Feng Shui ribuan tahun lalu, konsep Memex yang nggak pernah dibangun, sampai AI yang jadi partner desain hari ini, satu hal yang tetap sama: teknologinya berubah terus, tapi tujuannya selalu bikin hidup manusia lebih mudah.</a:t>
            </a:r>
            <a:endParaRPr lang="en-US" sz="2475" dirty="0"/>
          </a:p>
        </p:txBody>
      </p:sp>
      <p:sp>
        <p:nvSpPr>
          <p:cNvPr id="11" name="Text 6"/>
          <p:cNvSpPr/>
          <p:nvPr/>
        </p:nvSpPr>
        <p:spPr>
          <a:xfrm>
            <a:off x="1143000" y="7810500"/>
            <a:ext cx="15500985" cy="1009650"/>
          </a:xfrm>
          <a:prstGeom prst="rect">
            <a:avLst/>
          </a:prstGeom>
          <a:noFill/>
          <a:ln/>
        </p:spPr>
        <p:txBody>
          <a:bodyPr wrap="square" lIns="25400" tIns="25400" rIns="25400" bIns="25400" rtlCol="0" anchor="t">
            <a:normAutofit/>
          </a:bodyPr>
          <a:lstStyle/>
          <a:p>
            <a:pPr algn="l" indent="0" marL="0">
              <a:lnSpc>
                <a:spcPct val="119531"/>
              </a:lnSpc>
              <a:buNone/>
            </a:pPr>
            <a:r>
              <a:rPr lang="en-US" sz="2550" b="1" i="1" dirty="0">
                <a:solidFill>
                  <a:srgbClr val="FBBB0B"/>
                </a:solidFill>
                <a:latin typeface="Bai Jamjuree" pitchFamily="34" charset="0"/>
                <a:ea typeface="Bai Jamjuree" pitchFamily="34" charset="-122"/>
                <a:cs typeface="Bai Jamjuree" pitchFamily="34" charset="-120"/>
              </a:rPr>
              <a:t>Sekarang saatnya bahas kenapa ini semua benar-benar berdampak, baik buat bisnis maupun penggunanya. Lanjut ke poin berikutnya →</a:t>
            </a:r>
            <a:endParaRPr lang="en-US" sz="255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206736" y="9661525"/>
            <a:ext cx="3441641"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23</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2026-07-31T14:58:11Z</dcterms:created>
  <dcterms:modified xsi:type="dcterms:W3CDTF">2026-07-31T14:58:11Z</dcterms:modified>
</cp:coreProperties>
</file>