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</p:sldIdLst>
  <p:sldSz cy="5143500" cx="9144000"/>
  <p:notesSz cx="6858000" cy="9144000"/>
  <p:embeddedFontLst>
    <p:embeddedFont>
      <p:font typeface="Raleway"/>
      <p:regular r:id="rId74"/>
      <p:bold r:id="rId75"/>
      <p:italic r:id="rId76"/>
      <p:boldItalic r:id="rId77"/>
    </p:embeddedFont>
    <p:embeddedFont>
      <p:font typeface="Montserrat"/>
      <p:regular r:id="rId78"/>
      <p:bold r:id="rId79"/>
      <p:italic r:id="rId80"/>
      <p:boldItalic r:id="rId81"/>
    </p:embeddedFont>
    <p:embeddedFont>
      <p:font typeface="Montserrat Medium"/>
      <p:regular r:id="rId82"/>
      <p:bold r:id="rId83"/>
      <p:italic r:id="rId84"/>
      <p:boldItalic r:id="rId85"/>
    </p:embeddedFont>
    <p:embeddedFont>
      <p:font typeface="Lato Black"/>
      <p:bold r:id="rId86"/>
      <p:boldItalic r:id="rId87"/>
    </p:embeddedFont>
    <p:embeddedFont>
      <p:font typeface="Raleway Medium"/>
      <p:regular r:id="rId88"/>
      <p:bold r:id="rId89"/>
      <p:italic r:id="rId90"/>
      <p:boldItalic r:id="rId91"/>
    </p:embeddedFont>
    <p:embeddedFont>
      <p:font typeface="Montserrat ExtraBold"/>
      <p:bold r:id="rId92"/>
      <p:boldItalic r:id="rId9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MontserratMedium-italic.fntdata"/><Relationship Id="rId83" Type="http://schemas.openxmlformats.org/officeDocument/2006/relationships/font" Target="fonts/MontserratMedium-bold.fntdata"/><Relationship Id="rId42" Type="http://schemas.openxmlformats.org/officeDocument/2006/relationships/slide" Target="slides/slide37.xml"/><Relationship Id="rId86" Type="http://schemas.openxmlformats.org/officeDocument/2006/relationships/font" Target="fonts/LatoBlack-bold.fntdata"/><Relationship Id="rId41" Type="http://schemas.openxmlformats.org/officeDocument/2006/relationships/slide" Target="slides/slide36.xml"/><Relationship Id="rId85" Type="http://schemas.openxmlformats.org/officeDocument/2006/relationships/font" Target="fonts/MontserratMedium-boldItalic.fntdata"/><Relationship Id="rId44" Type="http://schemas.openxmlformats.org/officeDocument/2006/relationships/slide" Target="slides/slide39.xml"/><Relationship Id="rId88" Type="http://schemas.openxmlformats.org/officeDocument/2006/relationships/font" Target="fonts/RalewayMedium-regular.fntdata"/><Relationship Id="rId43" Type="http://schemas.openxmlformats.org/officeDocument/2006/relationships/slide" Target="slides/slide38.xml"/><Relationship Id="rId87" Type="http://schemas.openxmlformats.org/officeDocument/2006/relationships/font" Target="fonts/LatoBlack-boldItalic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RalewayMedium-bold.fntdata"/><Relationship Id="rId80" Type="http://schemas.openxmlformats.org/officeDocument/2006/relationships/font" Target="fonts/Montserrat-italic.fntdata"/><Relationship Id="rId82" Type="http://schemas.openxmlformats.org/officeDocument/2006/relationships/font" Target="fonts/MontserratMedium-regular.fntdata"/><Relationship Id="rId81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font" Target="fonts/Raleway-bold.fntdata"/><Relationship Id="rId30" Type="http://schemas.openxmlformats.org/officeDocument/2006/relationships/slide" Target="slides/slide25.xml"/><Relationship Id="rId74" Type="http://schemas.openxmlformats.org/officeDocument/2006/relationships/font" Target="fonts/Raleway-regular.fntdata"/><Relationship Id="rId33" Type="http://schemas.openxmlformats.org/officeDocument/2006/relationships/slide" Target="slides/slide28.xml"/><Relationship Id="rId77" Type="http://schemas.openxmlformats.org/officeDocument/2006/relationships/font" Target="fonts/Raleway-boldItalic.fntdata"/><Relationship Id="rId32" Type="http://schemas.openxmlformats.org/officeDocument/2006/relationships/slide" Target="slides/slide27.xml"/><Relationship Id="rId76" Type="http://schemas.openxmlformats.org/officeDocument/2006/relationships/font" Target="fonts/Raleway-italic.fntdata"/><Relationship Id="rId35" Type="http://schemas.openxmlformats.org/officeDocument/2006/relationships/slide" Target="slides/slide30.xml"/><Relationship Id="rId79" Type="http://schemas.openxmlformats.org/officeDocument/2006/relationships/font" Target="fonts/Montserrat-bold.fntdata"/><Relationship Id="rId34" Type="http://schemas.openxmlformats.org/officeDocument/2006/relationships/slide" Target="slides/slide29.xml"/><Relationship Id="rId78" Type="http://schemas.openxmlformats.org/officeDocument/2006/relationships/font" Target="fonts/Montserrat-regular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RalewayMedium-boldItalic.fntdata"/><Relationship Id="rId90" Type="http://schemas.openxmlformats.org/officeDocument/2006/relationships/font" Target="fonts/RalewayMedium-italic.fntdata"/><Relationship Id="rId93" Type="http://schemas.openxmlformats.org/officeDocument/2006/relationships/font" Target="fonts/MontserratExtraBold-boldItalic.fntdata"/><Relationship Id="rId92" Type="http://schemas.openxmlformats.org/officeDocument/2006/relationships/font" Target="fonts/MontserratExtraBold-bold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visualdesign_inspiration?utm_source=unsplash&amp;utm_medium=referral&amp;utm_content=creditCopyText" TargetMode="External"/><Relationship Id="rId3" Type="http://schemas.openxmlformats.org/officeDocument/2006/relationships/hyperlink" Target="https://unsplash.com/@visualdesign_inspiration?utm_source=unsplash&amp;utm_medium=referral&amp;utm_content=creditCopyText" TargetMode="External"/><Relationship Id="rId4" Type="http://schemas.openxmlformats.org/officeDocument/2006/relationships/hyperlink" Target="https://unsplash.com/s/photos/wireframes?utm_source=unsplash&amp;utm_medium=referral&amp;utm_content=creditCopyText" TargetMode="External"/><Relationship Id="rId5" Type="http://schemas.openxmlformats.org/officeDocument/2006/relationships/hyperlink" Target="https://unsplash.com/s/photos/wireframes?utm_source=unsplash&amp;utm_medium=referral&amp;utm_content=creditCopyText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kellysikkema?utm_source=unsplash&amp;utm_medium=referral&amp;utm_content=creditCopyText" TargetMode="External"/><Relationship Id="rId3" Type="http://schemas.openxmlformats.org/officeDocument/2006/relationships/hyperlink" Target="https://unsplash.com/@kellysikkema?utm_source=unsplash&amp;utm_medium=referral&amp;utm_content=creditCopyText" TargetMode="External"/><Relationship Id="rId4" Type="http://schemas.openxmlformats.org/officeDocument/2006/relationships/hyperlink" Target="https://unsplash.com/s/photos/wireframes-paper?utm_source=unsplash&amp;utm_medium=referral&amp;utm_content=creditCopyText" TargetMode="External"/><Relationship Id="rId5" Type="http://schemas.openxmlformats.org/officeDocument/2006/relationships/hyperlink" Target="https://unsplash.com/s/photos/wireframes-paper?utm_source=unsplash&amp;utm_medium=referral&amp;utm_content=creditCopyText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kellysikkema?utm_source=unsplash&amp;utm_medium=referral&amp;utm_content=creditCopyText" TargetMode="External"/><Relationship Id="rId3" Type="http://schemas.openxmlformats.org/officeDocument/2006/relationships/hyperlink" Target="https://unsplash.com/@kellysikkema?utm_source=unsplash&amp;utm_medium=referral&amp;utm_content=creditCopyText" TargetMode="External"/><Relationship Id="rId4" Type="http://schemas.openxmlformats.org/officeDocument/2006/relationships/hyperlink" Target="https://unsplash.com/s/photos/wireframes-paper?utm_source=unsplash&amp;utm_medium=referral&amp;utm_content=creditCopyText" TargetMode="External"/><Relationship Id="rId5" Type="http://schemas.openxmlformats.org/officeDocument/2006/relationships/hyperlink" Target="https://unsplash.com/s/photos/wireframes-paper?utm_source=unsplash&amp;utm_medium=referral&amp;utm_content=creditCopyText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kellysikkema?utm_source=unsplash&amp;utm_medium=referral&amp;utm_content=creditCopyText" TargetMode="External"/><Relationship Id="rId3" Type="http://schemas.openxmlformats.org/officeDocument/2006/relationships/hyperlink" Target="https://unsplash.com/@kellysikkema?utm_source=unsplash&amp;utm_medium=referral&amp;utm_content=creditCopyText" TargetMode="External"/><Relationship Id="rId4" Type="http://schemas.openxmlformats.org/officeDocument/2006/relationships/hyperlink" Target="https://unsplash.com/s/photos/wireframes-paper?utm_source=unsplash&amp;utm_medium=referral&amp;utm_content=creditCopyText" TargetMode="External"/><Relationship Id="rId5" Type="http://schemas.openxmlformats.org/officeDocument/2006/relationships/hyperlink" Target="https://unsplash.com/s/photos/wireframes-paper?utm_source=unsplash&amp;utm_medium=referral&amp;utm_content=creditCopyText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visualdesign_inspiration?utm_source=unsplash&amp;utm_medium=referral&amp;utm_content=creditCopyText" TargetMode="External"/><Relationship Id="rId3" Type="http://schemas.openxmlformats.org/officeDocument/2006/relationships/hyperlink" Target="https://unsplash.com/@visualdesign_inspiration?utm_source=unsplash&amp;utm_medium=referral&amp;utm_content=creditCopyText" TargetMode="External"/><Relationship Id="rId4" Type="http://schemas.openxmlformats.org/officeDocument/2006/relationships/hyperlink" Target="https://unsplash.com/s/photos/wireframes?utm_source=unsplash&amp;utm_medium=referral&amp;utm_content=creditCopyText" TargetMode="External"/><Relationship Id="rId5" Type="http://schemas.openxmlformats.org/officeDocument/2006/relationships/hyperlink" Target="https://unsplash.com/s/photos/wireframes?utm_source=unsplash&amp;utm_medium=referral&amp;utm_content=creditCopyText" TargetMode="Externa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visualdesign_inspiration?utm_source=unsplash&amp;utm_medium=referral&amp;utm_content=creditCopyText" TargetMode="External"/><Relationship Id="rId3" Type="http://schemas.openxmlformats.org/officeDocument/2006/relationships/hyperlink" Target="https://unsplash.com/@visualdesign_inspiration?utm_source=unsplash&amp;utm_medium=referral&amp;utm_content=creditCopyText" TargetMode="External"/><Relationship Id="rId4" Type="http://schemas.openxmlformats.org/officeDocument/2006/relationships/hyperlink" Target="https://unsplash.com/s/photos/wireframes?utm_source=unsplash&amp;utm_medium=referral&amp;utm_content=creditCopyText" TargetMode="External"/><Relationship Id="rId5" Type="http://schemas.openxmlformats.org/officeDocument/2006/relationships/hyperlink" Target="https://unsplash.com/s/photos/wireframes?utm_source=unsplash&amp;utm_medium=referral&amp;utm_content=creditCopyText" TargetMode="Externa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1888d5d60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1888d5d60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1888d5d602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11888d5d60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1888d5d602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1888d5d602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1888d5d602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1888d5d602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1888d5d602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11888d5d602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113d6c8b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113d6c8b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Visual Design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1174bdd19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1174bdd19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https://xd.adobe.com/ideas/process/wireframing/wireframe-examples-websites-mobile-apps/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1888d5d602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1888d5d602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https://xd.adobe.com/ideas/process/wireframing/wireframe-examples-websites-mobile-apps/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1888d5d602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1888d5d602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https://xd.adobe.com/ideas/process/wireframing/wireframe-examples-websites-mobile-apps/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1888d5d602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1888d5d602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https://xd.adobe.com/ideas/process/wireframing/wireframe-examples-websites-mobile-apps/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1888d5d602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1888d5d602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https://xd.adobe.com/ideas/process/wireframing/wireframe-examples-websites-mobile-apps/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1888d5d602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1888d5d602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https://xd.adobe.com/ideas/process/wireframing/wireframe-examples-websites-mobile-apps/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1888d5d602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1888d5d602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https://xd.adobe.com/ideas/process/wireframing/wireframe-examples-websites-mobile-apps/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1174bdd19f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1174bdd19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https://uxplanet.org/getting-started-with-wireframing-8bf5eedd2d30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1174bdd19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1174bdd19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https://blog.prototypr.io/how-paper-wireframing-will-make-you-a-better-designer-5a57db8dca13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1174bdd19f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1174bdd19f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https://balsamiq.com/learn/articles/what-are-wireframes/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1174bdd19f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1174bdd19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https://www.nngroup.com/articles/draw-wireframe-even-if-you-cant-draw/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1174bdd19f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1174bdd19f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https://www.justinmind.com/wireframe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1888d5d602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11888d5d602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11421c87e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11421c87e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1174bdd19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1174bdd19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Kelly Sikkema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1888d5d602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1888d5d602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Kelly Sikkema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1888d5d602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11888d5d602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1174bdd19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1174bdd19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Kelly Sikkema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1174bdd19f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1174bdd19f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1888d5d602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1888d5d602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1888d5d602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1888d5d602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1422848974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1422848974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142284897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1142284897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168355756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168355756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168355756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168355756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168355756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168355756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168355756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168355756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168355756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1168355756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168355756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168355756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168355756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1168355756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168355756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168355756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16835575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16835575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Visual Design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1174bdd19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1174bdd19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Visual Design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1174bdd19f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1174bdd19f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168355756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168355756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168355756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168355756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1683557567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1683557567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1683557567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1683557567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168355756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1168355756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1683557567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1683557567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1174bdd19f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1174bdd19f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1174bdd19f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11174bdd19f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1174bdd19f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1174bdd19f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Images from https://app.uxcel.com/courses/designing-wireframes/what-are-wireflows-804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1174bdd19f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1174bdd19f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https://www.nngroup.com/articles/draw-wireframe-even-if-you-cant-draw/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1174bdd19f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1174bdd19f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https://www.behance.net/gallery/38181179/UI-Wireflows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1174bdd19f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11174bdd19f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https://www.nngroup.com/articles/wireflows/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11174bdd19f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11174bdd19f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</a:t>
            </a:r>
            <a:r>
              <a:rPr lang="en">
                <a:solidFill>
                  <a:schemeClr val="dk1"/>
                </a:solidFill>
              </a:rPr>
              <a:t> https://www.nngroup.com/articles/wireflows/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11174bdd19f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11174bdd19f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https://www.grahamtodman.co.uk/blog/category/wireflow/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118b5eff9a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118b5eff9a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1174bdd19f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1174bdd19f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1174bdd19f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11174bdd19f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1174bdd19f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1174bdd19f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11174bdd19f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11174bdd19f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11174bdd19f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11174bdd19f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1174bdd19f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11174bdd19f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112ce3ad86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112ce3ad86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112ce3ad86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112ce3ad86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11174bdd19f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11174bdd19f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118e5894c3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118e5894c3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112ce3ad8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112ce3ad8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118e5894c3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g118e5894c3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18e5894c31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118e5894c3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6" name="Google Shape;7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1" name="Google Shape;81;p16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" name="Google Shape;87;p16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88" name="Google Shape;88;p16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" name="Google Shape;9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hyperlink" Target="https://medium.com/fbdevclagos/4-reasons-why-wire-frame-is-important-during-website-or-mobile-app-development-46fabdf47190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hyperlink" Target="https://www.nngroup.com/articles/draw-wireframe-even-if-you-cant-draw/" TargetMode="External"/><Relationship Id="rId5" Type="http://schemas.openxmlformats.org/officeDocument/2006/relationships/image" Target="../media/image2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hyperlink" Target="https://www.nngroup.com/articles/draw-wireframe-even-if-you-cant-draw/" TargetMode="External"/><Relationship Id="rId5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hyperlink" Target="https://www.nngroup.com/articles/draw-wireframe-even-if-you-cant-draw/" TargetMode="External"/><Relationship Id="rId5" Type="http://schemas.openxmlformats.org/officeDocument/2006/relationships/image" Target="../media/image2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hyperlink" Target="https://www.nngroup.com/articles/draw-wireframe-even-if-you-cant-draw/" TargetMode="External"/><Relationship Id="rId5" Type="http://schemas.openxmlformats.org/officeDocument/2006/relationships/image" Target="../media/image2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hyperlink" Target="https://www.nngroup.com/articles/draw-wireframe-even-if-you-cant-draw/" TargetMode="External"/><Relationship Id="rId5" Type="http://schemas.openxmlformats.org/officeDocument/2006/relationships/image" Target="../media/image2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hyperlink" Target="https://www.nngroup.com/articles/draw-wireframe-even-if-you-cant-draw/" TargetMode="External"/><Relationship Id="rId5" Type="http://schemas.openxmlformats.org/officeDocument/2006/relationships/image" Target="../media/image3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uxplanet.org/getting-started-with-wireframing-8bf5eedd2d30" TargetMode="External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blog.prototypr.io/how-paper-wireframing-will-make-you-a-better-designer-5a57db8dca13" TargetMode="External"/><Relationship Id="rId4" Type="http://schemas.openxmlformats.org/officeDocument/2006/relationships/image" Target="../media/image5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balsamiq.com/learn/articles/what-are-wireframes/" TargetMode="External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nngroup.com/articles/draw-wireframe-even-if-you-cant-draw/" TargetMode="External"/><Relationship Id="rId4" Type="http://schemas.openxmlformats.org/officeDocument/2006/relationships/image" Target="../media/image3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justinmind.com/wireframe" TargetMode="External"/><Relationship Id="rId4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31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files.design/blog/figma-plugins-overview" TargetMode="External"/><Relationship Id="rId4" Type="http://schemas.openxmlformats.org/officeDocument/2006/relationships/image" Target="../media/image29.png"/><Relationship Id="rId5" Type="http://schemas.openxmlformats.org/officeDocument/2006/relationships/hyperlink" Target="https://files.design/blog/figma-plugins-overview" TargetMode="External"/><Relationship Id="rId6" Type="http://schemas.openxmlformats.org/officeDocument/2006/relationships/hyperlink" Target="https://files.design/blog/figma-plugins-overview" TargetMode="External"/><Relationship Id="rId7" Type="http://schemas.openxmlformats.org/officeDocument/2006/relationships/image" Target="../media/image35.png"/><Relationship Id="rId8" Type="http://schemas.openxmlformats.org/officeDocument/2006/relationships/hyperlink" Target="https://files.design/blog/figma-plugins-overview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hyperlink" Target="https://medium.com/fbdevclagos/4-reasons-why-wire-frame-is-important-during-website-or-mobile-app-development-46fabdf47190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3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1.png"/><Relationship Id="rId4" Type="http://schemas.openxmlformats.org/officeDocument/2006/relationships/image" Target="../media/image5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5.png"/><Relationship Id="rId4" Type="http://schemas.openxmlformats.org/officeDocument/2006/relationships/image" Target="../media/image4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9.png"/><Relationship Id="rId4" Type="http://schemas.openxmlformats.org/officeDocument/2006/relationships/image" Target="../media/image4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0.png"/><Relationship Id="rId4" Type="http://schemas.openxmlformats.org/officeDocument/2006/relationships/image" Target="../media/image7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www.nngroup.com/articles/draw-wireframe-even-if-you-cant-draw/" TargetMode="External"/><Relationship Id="rId4" Type="http://schemas.openxmlformats.org/officeDocument/2006/relationships/image" Target="../media/image6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www.behance.net/gallery/38181179/UI-Wireflows" TargetMode="External"/><Relationship Id="rId4" Type="http://schemas.openxmlformats.org/officeDocument/2006/relationships/image" Target="../media/image5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www.nngroup.com/articles/wireflows/" TargetMode="External"/><Relationship Id="rId4" Type="http://schemas.openxmlformats.org/officeDocument/2006/relationships/image" Target="../media/image6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www.nngroup.com/articles/wireflows/" TargetMode="External"/><Relationship Id="rId4" Type="http://schemas.openxmlformats.org/officeDocument/2006/relationships/image" Target="../media/image7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www.grahamtodman.co.uk/blog/category/wireflow/" TargetMode="External"/><Relationship Id="rId4" Type="http://schemas.openxmlformats.org/officeDocument/2006/relationships/image" Target="../media/image6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4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.png"/><Relationship Id="rId4" Type="http://schemas.openxmlformats.org/officeDocument/2006/relationships/hyperlink" Target="https://www.interaction-design.org/literature/topics/design-thinking" TargetMode="External"/><Relationship Id="rId9" Type="http://schemas.openxmlformats.org/officeDocument/2006/relationships/hyperlink" Target="https://app.uxcel.com/courses/designing-wireframes/what-are-wireflows-804" TargetMode="External"/><Relationship Id="rId5" Type="http://schemas.openxmlformats.org/officeDocument/2006/relationships/hyperlink" Target="https://www.interaction-design.org/literature/article/5-stages-in-the-design-thinking-process" TargetMode="External"/><Relationship Id="rId6" Type="http://schemas.openxmlformats.org/officeDocument/2006/relationships/hyperlink" Target="https://www.interaction-design.org/literature/topics/ideation" TargetMode="External"/><Relationship Id="rId7" Type="http://schemas.openxmlformats.org/officeDocument/2006/relationships/hyperlink" Target="https://www.nngroup.com/articles/draw-wireframe-even-if-you-cant-draw/" TargetMode="External"/><Relationship Id="rId8" Type="http://schemas.openxmlformats.org/officeDocument/2006/relationships/hyperlink" Target="https://uxplanet.org/getting-started-with-wireframing-8bf5eedd2d30" TargetMode="Externa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png"/><Relationship Id="rId4" Type="http://schemas.openxmlformats.org/officeDocument/2006/relationships/image" Target="../media/image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4.png"/><Relationship Id="rId4" Type="http://schemas.openxmlformats.org/officeDocument/2006/relationships/image" Target="../media/image67.png"/><Relationship Id="rId5" Type="http://schemas.openxmlformats.org/officeDocument/2006/relationships/image" Target="../media/image75.png"/><Relationship Id="rId6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52F67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/>
        </p:nvSpPr>
        <p:spPr>
          <a:xfrm>
            <a:off x="2349675" y="27058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 Thinking: Ideate </a:t>
            </a:r>
            <a:r>
              <a:rPr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(Part 2)</a:t>
            </a:r>
            <a:endParaRPr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Silver 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 Chapter 3 - Topic 5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" name="Google Shape;99;p17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52F67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/>
        </p:nvSpPr>
        <p:spPr>
          <a:xfrm>
            <a:off x="1746750" y="685025"/>
            <a:ext cx="56505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Selamat datang di </a:t>
            </a:r>
            <a:r>
              <a:rPr b="1" i="0" lang="en" sz="1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Chapter </a:t>
            </a: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3 Topik 5 </a:t>
            </a:r>
            <a:r>
              <a:rPr b="1" i="0" lang="en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online course 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UI/UX Research/Design</a:t>
            </a:r>
            <a:r>
              <a:rPr b="1" i="0" lang="en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dari Binar Academy!</a:t>
            </a:r>
            <a:endParaRPr b="1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0288" y="1807025"/>
            <a:ext cx="3823424" cy="29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Pengantar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685800" y="1797150"/>
            <a:ext cx="4185000" cy="15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Pada topik keempat, kita udah mengenal peralatan-peralatan dalam UI/UX Design.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Pada topik kelima ini, kita bakal lanjut ngebahas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penggunaan peralatan-peralatan tersebut dan ini masih nyambung sama materi ideate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yang kita bahas di topik ketiga, gengs!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Penasaran kayak gimana? Cus langsung aja~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425" y="942900"/>
            <a:ext cx="2885476" cy="363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Pengantar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671975" y="1160733"/>
            <a:ext cx="41148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512252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Detailnya, kita bakal bahas hal-hal berikut ini: </a:t>
            </a:r>
            <a:endParaRPr b="1" sz="1600">
              <a:solidFill>
                <a:srgbClr val="512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831025" y="2350350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23" name="Google Shape;123;p20"/>
          <p:cNvSpPr/>
          <p:nvPr/>
        </p:nvSpPr>
        <p:spPr>
          <a:xfrm>
            <a:off x="831025" y="2885363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24" name="Google Shape;124;p20"/>
          <p:cNvSpPr/>
          <p:nvPr/>
        </p:nvSpPr>
        <p:spPr>
          <a:xfrm>
            <a:off x="831025" y="3420400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1324925" y="2117700"/>
            <a:ext cx="32472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Menyusun wireframes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1324925" y="2652725"/>
            <a:ext cx="30282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Peralatan wireframing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1324925" y="3187750"/>
            <a:ext cx="30282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Flowchart, wireframes, dan wireflows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796" y="1097113"/>
            <a:ext cx="2743199" cy="3511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52F67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625525" y="99825"/>
            <a:ext cx="63816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Menyusun wireframes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574800" y="1422288"/>
            <a:ext cx="4062300" cy="22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Pertama, coba kita lihat gimana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langkah menyusun wireframes.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2875" y="914400"/>
            <a:ext cx="21378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wireframes</a:t>
            </a: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685800" y="151085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Wireframing dan wireframe.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Wireframing adalah proses pembuatan wireframe, yang pada umumnya dilakukan sebelum pembuatan produk.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Wireframe itu sendiri merupakan sebuah kerangka untuk menata suatu item di laman website atau aplikasi.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Nah,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 menyusun wireframes ini, ada empat langkah.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Simak satu-persatu di halaman selanjutnya yaa~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2850" y="1450376"/>
            <a:ext cx="2873749" cy="21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7262" y="2172169"/>
            <a:ext cx="1867988" cy="1232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4400" y="2149325"/>
            <a:ext cx="2081725" cy="265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wireframes</a:t>
            </a:r>
            <a:endParaRPr/>
          </a:p>
        </p:txBody>
      </p:sp>
      <p:sp>
        <p:nvSpPr>
          <p:cNvPr id="161" name="Google Shape;161;p23"/>
          <p:cNvSpPr txBox="1"/>
          <p:nvPr/>
        </p:nvSpPr>
        <p:spPr>
          <a:xfrm>
            <a:off x="685800" y="14478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Langkah 1: </a:t>
            </a:r>
            <a:r>
              <a:rPr b="1" lang="en" sz="1000">
                <a:solidFill>
                  <a:schemeClr val="accent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Identifikasi aspect ratio jendela browser atau perangkat.</a:t>
            </a:r>
            <a:endParaRPr b="1" sz="1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Rasio ini tidak harus tepat, terutama jika kita membuat sketsa menggunakan tangan.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 wireframes dengan fidelitas yang lebih tinggi, berikut beberapa dimensi awal: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 web, dimensi yang umum adalah 1024x768 piksel dan 1920x1080 piksel.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 seluler, dimensi akan berkisar sesuai perangkat tertentu. Misal, dimensi untuk ponsel akan berbeda dengan tablet. Jadi, mulailah dengan mencari tahu perangkat apa yang digunakan.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244730"/>
            <a:ext cx="3892200" cy="3289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59766"/>
            <a:ext cx="3220024" cy="335220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2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wireframes</a:t>
            </a:r>
            <a:endParaRPr/>
          </a:p>
        </p:txBody>
      </p:sp>
      <p:sp>
        <p:nvSpPr>
          <p:cNvPr id="170" name="Google Shape;170;p24"/>
          <p:cNvSpPr txBox="1"/>
          <p:nvPr/>
        </p:nvSpPr>
        <p:spPr>
          <a:xfrm>
            <a:off x="685800" y="14478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Langkah 2.1: </a:t>
            </a:r>
            <a:r>
              <a:rPr b="1" lang="en" sz="1000">
                <a:solidFill>
                  <a:schemeClr val="accent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Identifikasi navigasi.</a:t>
            </a:r>
            <a:endParaRPr b="1" sz="1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Navigasi dan pencarian menambahkan konteks pada wireframes. Untuk itu, kita harus mengidentifikasi navigasi sejak awal.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Tunjukkan bilah navigasi (baik horizontal atau pun vertikal) dengan menggambar persegi panjang di posisi yang sesuai pada halaman.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Jika kita ingin menunjukkan bahwa kita berada di tautan navigasi tertentu, garisbawahi atau letakkan kotak di sekitar tautan tersebut.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" name="Google Shape;171;p2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5100" y="1404825"/>
            <a:ext cx="3017526" cy="3072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2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wireframes</a:t>
            </a:r>
            <a:endParaRPr/>
          </a:p>
        </p:txBody>
      </p:sp>
      <p:pic>
        <p:nvPicPr>
          <p:cNvPr id="178" name="Google Shape;1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399" y="1159773"/>
            <a:ext cx="3220024" cy="220659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 txBox="1"/>
          <p:nvPr/>
        </p:nvSpPr>
        <p:spPr>
          <a:xfrm>
            <a:off x="685800" y="14478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Langkah 2.2: </a:t>
            </a:r>
            <a:r>
              <a:rPr b="1" lang="en" sz="1000">
                <a:solidFill>
                  <a:schemeClr val="accent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Identifikasi navigasi.</a:t>
            </a:r>
            <a:endParaRPr b="1" sz="1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Fitur pencarian dapat direpresentasikan melalui ikon pencarian dan kotak pencarian, seperti pada contoh di samping.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Jika perlu, kita dapat menampilkan saran pencarian dalam persegi panjang di bawah kotak pencarian.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0" name="Google Shape;180;p2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5100" y="1447798"/>
            <a:ext cx="3017523" cy="1445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wireframes</a:t>
            </a:r>
            <a:endParaRPr/>
          </a:p>
        </p:txBody>
      </p:sp>
      <p:pic>
        <p:nvPicPr>
          <p:cNvPr id="187" name="Google Shape;1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399" y="1159773"/>
            <a:ext cx="3220024" cy="220659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 txBox="1"/>
          <p:nvPr/>
        </p:nvSpPr>
        <p:spPr>
          <a:xfrm>
            <a:off x="685800" y="14478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Langkah 3: </a:t>
            </a:r>
            <a:r>
              <a:rPr b="1" lang="en" sz="1000">
                <a:solidFill>
                  <a:schemeClr val="accent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Identifikasi dan gambar elemen terbesar dalam desain.</a:t>
            </a:r>
            <a:endParaRPr b="1" sz="1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Selanjutnya, fokuslah untuk menggambar bagian utama dari ide. Misalnya, header, spanduk besar, dan gambar, atau bahkan bagian besar dari body copy.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Berikut adalah beberapa konversi wireframing secara umum: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Header diilustrasikan menggunakan garis yang tebal.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Teks isi dibuat sketsa menggunakan garis yang tipis.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Sebuah gambar direpresentasikan sebagai persegi panjang dengan x melaluinya.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9" name="Google Shape;189;p26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3682" l="0" r="0" t="4472"/>
          <a:stretch/>
        </p:blipFill>
        <p:spPr>
          <a:xfrm>
            <a:off x="4815100" y="1447800"/>
            <a:ext cx="3017523" cy="179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2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wireframes</a:t>
            </a:r>
            <a:endParaRPr/>
          </a:p>
        </p:txBody>
      </p:sp>
      <p:sp>
        <p:nvSpPr>
          <p:cNvPr id="196" name="Google Shape;196;p27"/>
          <p:cNvSpPr txBox="1"/>
          <p:nvPr/>
        </p:nvSpPr>
        <p:spPr>
          <a:xfrm>
            <a:off x="685800" y="14478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Langkah 4.1: </a:t>
            </a:r>
            <a:r>
              <a:rPr b="1" lang="en" sz="1000">
                <a:solidFill>
                  <a:schemeClr val="accent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Menambahkan rincian atau detail.</a:t>
            </a:r>
            <a:endParaRPr b="1" sz="1000">
              <a:solidFill>
                <a:schemeClr val="accent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Berikutnya adalah menambah rincian atau detail. Umumnya, detail ini adalah komponen kecil seperti tombol, dropdown, kotak centang, tombol rasio, atau bidang teks.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Ohiya, jangan lupa untuk menambahkan CTA atau </a:t>
            </a:r>
            <a:r>
              <a:rPr i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call-to-actions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dan menampilkan pilihan. Karena, detail ini akan membantu orang lain untuk memahami ide desain kita.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7" name="Google Shape;19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399" y="1159773"/>
            <a:ext cx="3220024" cy="220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7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53373" l="0" r="0" t="0"/>
          <a:stretch/>
        </p:blipFill>
        <p:spPr>
          <a:xfrm>
            <a:off x="4825650" y="1447801"/>
            <a:ext cx="3017523" cy="1773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wireframes</a:t>
            </a:r>
            <a:endParaRPr/>
          </a:p>
        </p:txBody>
      </p:sp>
      <p:sp>
        <p:nvSpPr>
          <p:cNvPr id="205" name="Google Shape;205;p28"/>
          <p:cNvSpPr txBox="1"/>
          <p:nvPr/>
        </p:nvSpPr>
        <p:spPr>
          <a:xfrm>
            <a:off x="685800" y="14478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Langkah 4.2: </a:t>
            </a:r>
            <a:r>
              <a:rPr b="1" lang="en" sz="1000">
                <a:solidFill>
                  <a:schemeClr val="accent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Detail kotak centang dan tombol.</a:t>
            </a:r>
            <a:endParaRPr b="1" sz="1000">
              <a:solidFill>
                <a:schemeClr val="accent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Dropdown terbuat dari persegi panjang dan caret.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Kotak centang dan tombol radio masing-masing memiliki kotak atau lingkaran, dan garis untuk mewakili teks. Untuk menampilkan pilihan, kotak centang harus memiliki tanda centang dan tombol radio harus diisi.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Tombol dapat direpresentasikan dalam berbagai cara. Umumnya, direpresentasikan dengan persegi panjang dasar dengan garis atau panah untuk menunjukkan bahwa elemen tersebut membawa pengguna ke tempat lain.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6" name="Google Shape;20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59779"/>
            <a:ext cx="3220024" cy="266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8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43104"/>
          <a:stretch/>
        </p:blipFill>
        <p:spPr>
          <a:xfrm>
            <a:off x="4825650" y="1489817"/>
            <a:ext cx="3017523" cy="216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3" name="Google Shape;21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59779"/>
            <a:ext cx="3220024" cy="266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wireframes</a:t>
            </a:r>
            <a:endParaRPr/>
          </a:p>
        </p:txBody>
      </p:sp>
      <p:sp>
        <p:nvSpPr>
          <p:cNvPr id="215" name="Google Shape;215;p29"/>
          <p:cNvSpPr txBox="1"/>
          <p:nvPr/>
        </p:nvSpPr>
        <p:spPr>
          <a:xfrm>
            <a:off x="685800" y="14478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Langkah 4.3: </a:t>
            </a:r>
            <a:r>
              <a:rPr b="1" lang="en" sz="1000">
                <a:solidFill>
                  <a:schemeClr val="accent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Header, dialog, dan progress bar.</a:t>
            </a:r>
            <a:endParaRPr b="1" sz="1000">
              <a:solidFill>
                <a:schemeClr val="accent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Header memiliki satu atau dua baris teks, dengan tombol terkait.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Dialog berisi header, 1-2 baris teks, 1-2 tombol, dan ikon batal.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Indikator kemajuan (progress bars/progress indicator) adalah persegi panjang bulat yang sebagian terisi untuk menggambarkan waktu tunggu yang tersisa.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-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Ikon dapat direpresentasikan dengan cara yang sama seperti gambar (dengan X).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6" name="Google Shape;216;p29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6034" l="0" r="0" t="7257"/>
          <a:stretch/>
        </p:blipFill>
        <p:spPr>
          <a:xfrm>
            <a:off x="4825650" y="1499900"/>
            <a:ext cx="3017523" cy="214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3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wireframes</a:t>
            </a:r>
            <a:endParaRPr/>
          </a:p>
        </p:txBody>
      </p:sp>
      <p:sp>
        <p:nvSpPr>
          <p:cNvPr id="223" name="Google Shape;223;p30"/>
          <p:cNvSpPr txBox="1"/>
          <p:nvPr/>
        </p:nvSpPr>
        <p:spPr>
          <a:xfrm>
            <a:off x="685800" y="1185675"/>
            <a:ext cx="2215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Contoh 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wireframe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#1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4" name="Google Shape;224;p3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1025" y="734775"/>
            <a:ext cx="3502600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5990" y="968325"/>
            <a:ext cx="5001763" cy="372454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" name="Google Shape;231;p3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wireframes</a:t>
            </a:r>
            <a:endParaRPr/>
          </a:p>
        </p:txBody>
      </p:sp>
      <p:sp>
        <p:nvSpPr>
          <p:cNvPr id="232" name="Google Shape;232;p31"/>
          <p:cNvSpPr txBox="1"/>
          <p:nvPr/>
        </p:nvSpPr>
        <p:spPr>
          <a:xfrm>
            <a:off x="685800" y="1185675"/>
            <a:ext cx="2215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Contoh 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wireframe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#2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932" l="6006" r="-4151" t="922"/>
          <a:stretch/>
        </p:blipFill>
        <p:spPr>
          <a:xfrm>
            <a:off x="2377440" y="914399"/>
            <a:ext cx="6358676" cy="394132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wireframes</a:t>
            </a:r>
            <a:endParaRPr/>
          </a:p>
        </p:txBody>
      </p:sp>
      <p:sp>
        <p:nvSpPr>
          <p:cNvPr id="240" name="Google Shape;240;p32"/>
          <p:cNvSpPr txBox="1"/>
          <p:nvPr/>
        </p:nvSpPr>
        <p:spPr>
          <a:xfrm>
            <a:off x="685800" y="1185675"/>
            <a:ext cx="2215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Contoh 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wireframe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#3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445" r="455" t="0"/>
          <a:stretch/>
        </p:blipFill>
        <p:spPr>
          <a:xfrm>
            <a:off x="2377440" y="1185675"/>
            <a:ext cx="5630275" cy="348983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3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wireframes</a:t>
            </a:r>
            <a:endParaRPr/>
          </a:p>
        </p:txBody>
      </p:sp>
      <p:sp>
        <p:nvSpPr>
          <p:cNvPr id="248" name="Google Shape;248;p33"/>
          <p:cNvSpPr txBox="1"/>
          <p:nvPr/>
        </p:nvSpPr>
        <p:spPr>
          <a:xfrm>
            <a:off x="685800" y="1185675"/>
            <a:ext cx="2215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Contoh 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wireframe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#4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6985" r="6985" t="0"/>
          <a:stretch/>
        </p:blipFill>
        <p:spPr>
          <a:xfrm>
            <a:off x="2367051" y="914400"/>
            <a:ext cx="5310922" cy="395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3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wireframes</a:t>
            </a:r>
            <a:endParaRPr/>
          </a:p>
        </p:txBody>
      </p:sp>
      <p:sp>
        <p:nvSpPr>
          <p:cNvPr id="256" name="Google Shape;256;p34"/>
          <p:cNvSpPr txBox="1"/>
          <p:nvPr/>
        </p:nvSpPr>
        <p:spPr>
          <a:xfrm>
            <a:off x="685800" y="1185675"/>
            <a:ext cx="2215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Contoh 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wireframe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#5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52F67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5"/>
          <p:cNvSpPr txBox="1"/>
          <p:nvPr/>
        </p:nvSpPr>
        <p:spPr>
          <a:xfrm>
            <a:off x="625525" y="99825"/>
            <a:ext cx="63816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Peralatan wireframing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35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5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5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5"/>
          <p:cNvSpPr txBox="1"/>
          <p:nvPr/>
        </p:nvSpPr>
        <p:spPr>
          <a:xfrm>
            <a:off x="574800" y="1422300"/>
            <a:ext cx="4257000" cy="22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Nah, kalo udah tahu langkah-langkahnya, sekarang kita bahas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apa aja peralatannya~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2" name="Google Shape;27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9525" y="914400"/>
            <a:ext cx="2831374" cy="3882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36"/>
          <p:cNvGrpSpPr/>
          <p:nvPr/>
        </p:nvGrpSpPr>
        <p:grpSpPr>
          <a:xfrm>
            <a:off x="4724400" y="1252999"/>
            <a:ext cx="3657600" cy="3547601"/>
            <a:chOff x="4724400" y="1252999"/>
            <a:chExt cx="3657600" cy="3547601"/>
          </a:xfrm>
        </p:grpSpPr>
        <p:pic>
          <p:nvPicPr>
            <p:cNvPr id="278" name="Google Shape;278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4400" y="1252999"/>
              <a:ext cx="3657600" cy="35476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9" name="Google Shape;279;p36"/>
            <p:cNvGrpSpPr/>
            <p:nvPr/>
          </p:nvGrpSpPr>
          <p:grpSpPr>
            <a:xfrm>
              <a:off x="5090200" y="1848600"/>
              <a:ext cx="1298500" cy="1236900"/>
              <a:chOff x="5090200" y="1848600"/>
              <a:chExt cx="1298500" cy="1236900"/>
            </a:xfrm>
          </p:grpSpPr>
          <p:pic>
            <p:nvPicPr>
              <p:cNvPr id="280" name="Google Shape;280;p36"/>
              <p:cNvPicPr preferRelativeResize="0"/>
              <p:nvPr/>
            </p:nvPicPr>
            <p:blipFill rotWithShape="1">
              <a:blip r:embed="rId4">
                <a:alphaModFix/>
              </a:blip>
              <a:srcRect b="39759" l="27382" r="23561" t="11184"/>
              <a:stretch/>
            </p:blipFill>
            <p:spPr>
              <a:xfrm>
                <a:off x="5090200" y="2502807"/>
                <a:ext cx="585452" cy="582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1" name="Google Shape;281;p3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090200" y="1848600"/>
                <a:ext cx="585452" cy="582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2" name="Google Shape;282;p3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803248" y="1848605"/>
                <a:ext cx="585452" cy="582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3" name="Google Shape;283;p36"/>
              <p:cNvPicPr preferRelativeResize="0"/>
              <p:nvPr/>
            </p:nvPicPr>
            <p:blipFill rotWithShape="1">
              <a:blip r:embed="rId7">
                <a:alphaModFix/>
              </a:blip>
              <a:srcRect b="0" l="17936" r="17936" t="0"/>
              <a:stretch/>
            </p:blipFill>
            <p:spPr>
              <a:xfrm>
                <a:off x="5803248" y="2514235"/>
                <a:ext cx="585452" cy="5598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84" name="Google Shape;284;p3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3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eralatan wireframing</a:t>
            </a:r>
            <a:endParaRPr/>
          </a:p>
        </p:txBody>
      </p:sp>
      <p:sp>
        <p:nvSpPr>
          <p:cNvPr id="286" name="Google Shape;286;p36"/>
          <p:cNvSpPr txBox="1"/>
          <p:nvPr/>
        </p:nvSpPr>
        <p:spPr>
          <a:xfrm>
            <a:off x="685800" y="14478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Masih ingat kan apa aja peralatan wireframing?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Kayak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yang udah kita bahas sebelumnya, ada beberapa peralatan yang biasa digunakan untuk membuat wireframes, yaitu: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Balsamiq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MockPlus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UXPin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Justinmind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3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Peralatan wireframing</a:t>
            </a:r>
            <a:endParaRPr/>
          </a:p>
        </p:txBody>
      </p:sp>
      <p:sp>
        <p:nvSpPr>
          <p:cNvPr id="293" name="Google Shape;293;p37"/>
          <p:cNvSpPr txBox="1"/>
          <p:nvPr/>
        </p:nvSpPr>
        <p:spPr>
          <a:xfrm>
            <a:off x="685800" y="149975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Selain empat peralatan itu, ada yang lainnya juga nih!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="1" lang="en" sz="1000">
                <a:solidFill>
                  <a:schemeClr val="accent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ireframing dengan kertas</a:t>
            </a:r>
            <a:endParaRPr b="1" sz="1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Kita juga dapat membuat wireframes sederhana hanya dengan pensil dan kertas. Menggambar di kertas memungkinkan kita untuk mengumpulkan banyak ide dan membuat sketsa dengan lebih fleksibel.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4" name="Google Shape;29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665" y="914400"/>
            <a:ext cx="2111361" cy="387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3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Peralatan wireframing</a:t>
            </a:r>
            <a:endParaRPr/>
          </a:p>
        </p:txBody>
      </p:sp>
      <p:sp>
        <p:nvSpPr>
          <p:cNvPr id="301" name="Google Shape;301;p38"/>
          <p:cNvSpPr txBox="1"/>
          <p:nvPr/>
        </p:nvSpPr>
        <p:spPr>
          <a:xfrm>
            <a:off x="685800" y="1686825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Wireframing dengan plugins</a:t>
            </a:r>
            <a:endParaRPr b="1" sz="1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Kita bisa menggunakan plug-ins pada Figma atau Adobe XD untuk membuat proses wireframing menjadi lebih cepat, diantaranya adalah Wireframer dan QuickMockup.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02" name="Google Shape;302;p38"/>
          <p:cNvGrpSpPr/>
          <p:nvPr/>
        </p:nvGrpSpPr>
        <p:grpSpPr>
          <a:xfrm>
            <a:off x="4724399" y="1429450"/>
            <a:ext cx="3892200" cy="2795045"/>
            <a:chOff x="4724399" y="1429450"/>
            <a:chExt cx="3892200" cy="2795045"/>
          </a:xfrm>
        </p:grpSpPr>
        <p:pic>
          <p:nvPicPr>
            <p:cNvPr id="303" name="Google Shape;303;p38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4399" y="1429450"/>
              <a:ext cx="3892200" cy="279504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4" name="Google Shape;304;p38"/>
            <p:cNvGrpSpPr/>
            <p:nvPr/>
          </p:nvGrpSpPr>
          <p:grpSpPr>
            <a:xfrm>
              <a:off x="4733250" y="1652000"/>
              <a:ext cx="3840125" cy="2526650"/>
              <a:chOff x="4733250" y="1418525"/>
              <a:chExt cx="3840125" cy="2526650"/>
            </a:xfrm>
          </p:grpSpPr>
          <p:sp>
            <p:nvSpPr>
              <p:cNvPr id="305" name="Google Shape;305;p38">
                <a:hlinkClick r:id="rId5"/>
              </p:cNvPr>
              <p:cNvSpPr/>
              <p:nvPr/>
            </p:nvSpPr>
            <p:spPr>
              <a:xfrm>
                <a:off x="8258675" y="1418525"/>
                <a:ext cx="314700" cy="111300"/>
              </a:xfrm>
              <a:prstGeom prst="rect">
                <a:avLst/>
              </a:prstGeom>
              <a:solidFill>
                <a:srgbClr val="2C2C2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06" name="Google Shape;306;p38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b="12261" l="16507" r="3824" t="15311"/>
              <a:stretch/>
            </p:blipFill>
            <p:spPr>
              <a:xfrm>
                <a:off x="4788075" y="1418525"/>
                <a:ext cx="3705426" cy="25266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7" name="Google Shape;307;p38">
                <a:hlinkClick r:id="rId8"/>
              </p:cNvPr>
              <p:cNvSpPr/>
              <p:nvPr/>
            </p:nvSpPr>
            <p:spPr>
              <a:xfrm>
                <a:off x="4733250" y="1418525"/>
                <a:ext cx="314700" cy="111300"/>
              </a:xfrm>
              <a:prstGeom prst="rect">
                <a:avLst/>
              </a:prstGeom>
              <a:solidFill>
                <a:srgbClr val="2C2C2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52F67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9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9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9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9"/>
          <p:cNvSpPr txBox="1"/>
          <p:nvPr/>
        </p:nvSpPr>
        <p:spPr>
          <a:xfrm>
            <a:off x="625525" y="99825"/>
            <a:ext cx="63816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39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9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9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9"/>
          <p:cNvSpPr txBox="1"/>
          <p:nvPr/>
        </p:nvSpPr>
        <p:spPr>
          <a:xfrm>
            <a:off x="574800" y="1422300"/>
            <a:ext cx="4257000" cy="22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Kita udah sering menyebut istilah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flowchart, wireframes, 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dan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wireflows. 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Tapi tahu nggak sih apa arti dan perbedaan ketiganya?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3" name="Google Shape;32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751" y="914400"/>
            <a:ext cx="2670988" cy="3886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9" name="Google Shape;32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4125" y="1534262"/>
            <a:ext cx="2822474" cy="20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0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0762" y="1784722"/>
            <a:ext cx="2601420" cy="171694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685800" y="16002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Flowcharts, wireframes, dan wireflows.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Seperti yang udah kita bahas sebelumnya, wireframes adalah rangka dari desain atau ide yang telah dikumpulkan.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Kalo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wireframes digabungkan dengan flowcharts, maka akan terbentuklah wireflows.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3" name="Google Shape;33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4400" y="1669700"/>
            <a:ext cx="2209026" cy="313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9" name="Google Shape;339;p4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41"/>
          <p:cNvSpPr txBox="1"/>
          <p:nvPr/>
        </p:nvSpPr>
        <p:spPr>
          <a:xfrm>
            <a:off x="685800" y="1552395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Pertama, coba kita lihat apa itu flowchart.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Kalo kita coba pahami arti katanya,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flow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bisa diartikan sebagai alur, dan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chart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adalah bagan atau diagram.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Sehingga,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flowchart secara harfiah adalah diagram alur.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Secara sederhana, flowchart bisa kita pahami sebagai diagram yang menggambarkan alur dari suatu proses tertentu.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1" name="Google Shape;34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9125" y="1285525"/>
            <a:ext cx="3572557" cy="3235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7" name="Google Shape;347;p4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42"/>
          <p:cNvSpPr txBox="1"/>
          <p:nvPr/>
        </p:nvSpPr>
        <p:spPr>
          <a:xfrm>
            <a:off x="685800" y="1552395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Umumnya,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flowchart terdiri dari beragam simbol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yang berguna untuk menjelaskan urutan aktivitas secara lengkap.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Selain itu, simbol-simbol ini juga berguna untuk menghubungkan penjelasan antara satu tahap ke tahap yang lain.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Belum kebayang? Tenang, nanti kita lihat contohnya~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9" name="Google Shape;34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9125" y="1285525"/>
            <a:ext cx="3572557" cy="3235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5" name="Google Shape;355;p4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43"/>
          <p:cNvSpPr txBox="1"/>
          <p:nvPr/>
        </p:nvSpPr>
        <p:spPr>
          <a:xfrm>
            <a:off x="685800" y="1105595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52F67"/>
                </a:solidFill>
                <a:latin typeface="Montserrat"/>
                <a:ea typeface="Montserrat"/>
                <a:cs typeface="Montserrat"/>
                <a:sym typeface="Montserrat"/>
              </a:rPr>
              <a:t>Kenapa sih kita harus membuat flowchart?</a:t>
            </a:r>
            <a:endParaRPr b="1" sz="1600">
              <a:solidFill>
                <a:srgbClr val="652F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Melalui flowchart, kita bisa </a:t>
            </a: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mengevaluasi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apakah rangkaian proses yang kita rencanakan nantinya dapat dilalui dengan mudah dan efisien.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Dengan menggunakan flowchart, setiap anggota bisa </a:t>
            </a: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memiliki pemahaman yang sama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akan bagaimana sebuah sistem bekerja, atau bagaimana alur proses yang harus dilalui user ketika menggunakan produk kita.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Sehingga, setiap anggota tim bisa punya </a:t>
            </a: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mindset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dan gambaran alur produk yang sama!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7" name="Google Shape;35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800" y="1462545"/>
            <a:ext cx="3358800" cy="2539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3" name="Google Shape;363;p4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44"/>
          <p:cNvSpPr txBox="1"/>
          <p:nvPr/>
        </p:nvSpPr>
        <p:spPr>
          <a:xfrm>
            <a:off x="685800" y="14478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52F6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Masih ingat kan sama jenis-jenis riset di topic 1? </a:t>
            </a:r>
            <a:endParaRPr b="1" sz="1600">
              <a:solidFill>
                <a:srgbClr val="652F67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652F67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Dalam proses pembuatan UX Flowchart ini, kita juga membutuhkan riset, terutama untuk memahami user sebagai calon pengguna produk.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52F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52F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5" name="Google Shape;365;p44"/>
          <p:cNvPicPr preferRelativeResize="0"/>
          <p:nvPr/>
        </p:nvPicPr>
        <p:blipFill rotWithShape="1">
          <a:blip r:embed="rId3">
            <a:alphaModFix/>
          </a:blip>
          <a:srcRect b="0" l="7170" r="7161" t="0"/>
          <a:stretch/>
        </p:blipFill>
        <p:spPr>
          <a:xfrm>
            <a:off x="4995350" y="914400"/>
            <a:ext cx="2726474" cy="376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4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45"/>
          <p:cNvSpPr txBox="1"/>
          <p:nvPr/>
        </p:nvSpPr>
        <p:spPr>
          <a:xfrm>
            <a:off x="685800" y="11056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52F67"/>
                </a:solidFill>
                <a:latin typeface="Montserrat"/>
                <a:ea typeface="Montserrat"/>
                <a:cs typeface="Montserrat"/>
                <a:sym typeface="Montserrat"/>
              </a:rPr>
              <a:t>Lakukan riset terlebih dahulu untuk memahami user 🔍</a:t>
            </a:r>
            <a:endParaRPr b="1" sz="1600">
              <a:solidFill>
                <a:srgbClr val="652F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Untuk membuat sebuah UX Flowchart yang baik, kita bisa mulai dengan memahami 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siapa dan seperti apa user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yang akan menggunakan produk kita.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Terus, gimana caranya buat tahu karakteristik user? Yap~ kita harus melakukan 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riset.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Untuk UX flowchart, kita bisa menggunakan riset kualitatif atau riset kuantitatif sesuai dengan kebutuhan.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52F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3" name="Google Shape;37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925" y="922376"/>
            <a:ext cx="2745697" cy="387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4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46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Di awal proses UX Design, umumnya kita akan melakukan 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riset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dalam bentuk 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User Interview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dan kemudian membuat 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User Persona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Dengan dua metode itu, kita bisa mendapatkan gambaran awal mengenai user ideal yang nantinya akan menggunakan produk.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381" name="Google Shape;38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800" y="1546273"/>
            <a:ext cx="3369424" cy="2485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47"/>
          <p:cNvSpPr txBox="1"/>
          <p:nvPr/>
        </p:nvSpPr>
        <p:spPr>
          <a:xfrm>
            <a:off x="685800" y="1188725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52F6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Setelah punya gambaran tentang user, lalu apa langkah selanjutnya?</a:t>
            </a:r>
            <a:endParaRPr b="1" sz="1600">
              <a:solidFill>
                <a:srgbClr val="652F67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Selanjutnya, kita harus memikirkan: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“Bagaimana kira-kira user akan mengakses atau menggunakan produk kita?”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389" name="Google Shape;38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800" y="914400"/>
            <a:ext cx="2185516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5" name="Google Shape;395;p4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48"/>
          <p:cNvSpPr txBox="1"/>
          <p:nvPr/>
        </p:nvSpPr>
        <p:spPr>
          <a:xfrm>
            <a:off x="685800" y="108585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52F6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Pada tahap inilah flowchart memiliki peran penting!</a:t>
            </a:r>
            <a:endParaRPr b="1" sz="1600">
              <a:solidFill>
                <a:srgbClr val="652F67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Untuk menjawab pertanyaan tadi, kita perlu melakukan pemetaan menggunakan 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flowchart.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Pemetaan ini dibuat 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dari awal interaksi (entry point)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hingga proses interaksi atau 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tercapainya sebuah goal (end point).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397" name="Google Shape;3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982936"/>
            <a:ext cx="3892199" cy="3743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49"/>
          <p:cNvSpPr txBox="1"/>
          <p:nvPr/>
        </p:nvSpPr>
        <p:spPr>
          <a:xfrm>
            <a:off x="685800" y="1261475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Ohiya, dalam flowchart, 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ada beberapa jenis-jenis simbol yang paling sering dipakai.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Sebagai UX Designer, kita harus paham sama simbol-simbol ini!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Apa aja tuh simbolnya?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5" name="Google Shape;40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202425" y="1134000"/>
            <a:ext cx="2333050" cy="3455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1" name="Google Shape;411;p5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2" name="Google Shape;412;p50"/>
          <p:cNvSpPr txBox="1"/>
          <p:nvPr/>
        </p:nvSpPr>
        <p:spPr>
          <a:xfrm>
            <a:off x="685800" y="124067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Simbol Terminator (Start/End Point)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Simbol ini digunakan untuk menandakan dimulainya sebuah proses (Start Point) hingga proses tersebut selesai (End Point).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Simbol Process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Simbol ini menunjukkan sebuah proses dari kegiatan atau aktivitas tertentu yang dilakukan oleh user.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Simbol Flow (Arus)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Simbol tanda panah ini digunakan sebagai penghubung simbol satu ke simbol lainnya. Juga sebagai penanda alur prosesnya.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Simbol Decision (Keputusan)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Simbol ini digunakan ketika ada proses yang membutuhkan keputusan sesuai dengan kondisi yang dialami user.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413" name="Google Shape;41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4500" y="1405737"/>
            <a:ext cx="1237450" cy="276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9" name="Google Shape;419;p5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51"/>
          <p:cNvSpPr txBox="1"/>
          <p:nvPr/>
        </p:nvSpPr>
        <p:spPr>
          <a:xfrm>
            <a:off x="685800" y="1315333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Biar lebih mudah memahami penggunaan simbol dalam flowchart, coba perhatikan gambar di samping!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Ini adalah contoh flowchart yang kita buat untuk aplikasi 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BeliAja.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421" name="Google Shape;42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6400" y="1115550"/>
            <a:ext cx="1977375" cy="359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7" name="Google Shape;427;p5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52"/>
          <p:cNvSpPr txBox="1"/>
          <p:nvPr/>
        </p:nvSpPr>
        <p:spPr>
          <a:xfrm>
            <a:off x="685800" y="133417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Dari flowchart ini, kita bisa melihat tahap-tahap yang dilalui oleh user. Mulai dari masuk ke aplikasi 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(entry point)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hingga ke tahap akhir 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(end point)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, yaitu pembayaran.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429" name="Google Shape;42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800" y="1130500"/>
            <a:ext cx="3643725" cy="331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5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/>
          </a:p>
        </p:txBody>
      </p:sp>
      <p:sp>
        <p:nvSpPr>
          <p:cNvPr id="436" name="Google Shape;436;p53"/>
          <p:cNvSpPr txBox="1"/>
          <p:nvPr/>
        </p:nvSpPr>
        <p:spPr>
          <a:xfrm>
            <a:off x="685800" y="1447795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Task flows, user flows, dan flowcharts: tiga istilah yang perlu kita tahu!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Tiga istilah ini menjelaskan diagram yang digunakan para desainer untuk mendokumentasikan interaksi pengguna dan menunjukkan alur terarah dan logika berbasis keputusan.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Hal yang membedakan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task flows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dari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flowcharts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adalah tingkat detail dan proses yang disertakan. Sementara istilah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user flows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sering digunakan secara bergantian dengan alur tugas dan bagan alur.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7" name="Google Shape;437;p53"/>
          <p:cNvPicPr preferRelativeResize="0"/>
          <p:nvPr/>
        </p:nvPicPr>
        <p:blipFill rotWithShape="1">
          <a:blip r:embed="rId3">
            <a:alphaModFix/>
          </a:blip>
          <a:srcRect b="-264298" l="0" r="0" t="0"/>
          <a:stretch/>
        </p:blipFill>
        <p:spPr>
          <a:xfrm>
            <a:off x="5486400" y="1280150"/>
            <a:ext cx="3017523" cy="274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53"/>
          <p:cNvPicPr preferRelativeResize="0"/>
          <p:nvPr/>
        </p:nvPicPr>
        <p:blipFill rotWithShape="1">
          <a:blip r:embed="rId4">
            <a:alphaModFix/>
          </a:blip>
          <a:srcRect b="3034" l="0" r="0" t="0"/>
          <a:stretch/>
        </p:blipFill>
        <p:spPr>
          <a:xfrm>
            <a:off x="5486400" y="2286000"/>
            <a:ext cx="3017524" cy="1809601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3"/>
          <p:cNvSpPr txBox="1"/>
          <p:nvPr/>
        </p:nvSpPr>
        <p:spPr>
          <a:xfrm>
            <a:off x="5531181" y="1980500"/>
            <a:ext cx="113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Task flows</a:t>
            </a:r>
            <a:endParaRPr b="1" sz="1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0" name="Google Shape;440;p53"/>
          <p:cNvSpPr txBox="1"/>
          <p:nvPr/>
        </p:nvSpPr>
        <p:spPr>
          <a:xfrm>
            <a:off x="5531181" y="4095600"/>
            <a:ext cx="113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Flowcharts</a:t>
            </a:r>
            <a:endParaRPr b="1" sz="1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6" name="Google Shape;446;p5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/>
          </a:p>
        </p:txBody>
      </p:sp>
      <p:sp>
        <p:nvSpPr>
          <p:cNvPr id="447" name="Google Shape;447;p54"/>
          <p:cNvSpPr txBox="1"/>
          <p:nvPr/>
        </p:nvSpPr>
        <p:spPr>
          <a:xfrm>
            <a:off x="685800" y="1495025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52F67"/>
                </a:solidFill>
                <a:latin typeface="Montserrat"/>
                <a:ea typeface="Montserrat"/>
                <a:cs typeface="Montserrat"/>
                <a:sym typeface="Montserrat"/>
              </a:rPr>
              <a:t>Kalo tadi kita udah bahas flowchart, sekarang saatnya kita bahas w</a:t>
            </a:r>
            <a:r>
              <a:rPr b="1" lang="en" sz="1600">
                <a:solidFill>
                  <a:srgbClr val="652F67"/>
                </a:solidFill>
                <a:latin typeface="Montserrat"/>
                <a:ea typeface="Montserrat"/>
                <a:cs typeface="Montserrat"/>
                <a:sym typeface="Montserrat"/>
              </a:rPr>
              <a:t>ireframe.</a:t>
            </a:r>
            <a:endParaRPr b="1" sz="1600">
              <a:solidFill>
                <a:srgbClr val="652F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652F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Wireframe adalah rancangan sederhana (blueprint) dari sebuah produk.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Dengan membuat wireframe, kita bisa memastikan apakah konten dan fungsi dari sebuah halaman sudah diposisikan dengan benar berdasarkan kebutuhan user dan bisnis.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Kalau buat aplikasi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BeliAja,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kita bisa bikin wireframenya kayak contoh di samping!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448" name="Google Shape;44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800" y="914400"/>
            <a:ext cx="2233419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4" name="Google Shape;454;p5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wireframes, dan wireflows</a:t>
            </a:r>
            <a:endParaRPr/>
          </a:p>
        </p:txBody>
      </p:sp>
      <p:sp>
        <p:nvSpPr>
          <p:cNvPr id="455" name="Google Shape;455;p55"/>
          <p:cNvSpPr txBox="1"/>
          <p:nvPr/>
        </p:nvSpPr>
        <p:spPr>
          <a:xfrm>
            <a:off x="685800" y="1552425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Gimana cara membuat wireframe?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Perlu kita ingat bahwa wireframe hanya fokus pada bentuk rancangan secara struktural saja.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Maksudnya, bentuk visual dari wireframe hanya sebatas bagian-bagian utama dari layout, seperti contoh di samping~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Selain itu, umumnya wireframe masih menggunakan warna monochrome (hitam putih).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6" name="Google Shape;45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793" y="914400"/>
            <a:ext cx="3394730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2" name="Google Shape;462;p5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wirefrimes, dan wireflows</a:t>
            </a:r>
            <a:endParaRPr b="0"/>
          </a:p>
        </p:txBody>
      </p:sp>
      <p:sp>
        <p:nvSpPr>
          <p:cNvPr id="463" name="Google Shape;463;p56"/>
          <p:cNvSpPr txBox="1"/>
          <p:nvPr/>
        </p:nvSpPr>
        <p:spPr>
          <a:xfrm>
            <a:off x="685800" y="133005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Selesai wireframe, selanjutnya adalah wireflow.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Istilah 'wireflow' berasal dari kombinasi kata 'wireframe' dan 'flowchart', yang diciptakan oleh Nielsen Norman Group. Seperti namanya,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wireflows menggabungkan manfaat dari wireframes dan flowcharts.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Wireflow adalah bentuk presentasi dari kumpulan wireframe yang sudah ditambahkan dengan flow atau alur penggunaan dan perpindahan screen.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Dalam pembuatannya, wireflow merupakan gabungan dari wireframe dan flowchart. Contohnya seperti gambar di samping~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4" name="Google Shape;46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372663"/>
            <a:ext cx="4038600" cy="2846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0" name="Google Shape;470;p5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wirefrimes, dan wireflows</a:t>
            </a:r>
            <a:endParaRPr/>
          </a:p>
        </p:txBody>
      </p:sp>
      <p:sp>
        <p:nvSpPr>
          <p:cNvPr id="471" name="Google Shape;471;p57"/>
          <p:cNvSpPr txBox="1"/>
          <p:nvPr/>
        </p:nvSpPr>
        <p:spPr>
          <a:xfrm>
            <a:off x="685800" y="1447795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Wireflows menunjukkan perubahan UI visual saat pengguna berinteraksi dengan aplikasi atau situs web.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Wireflows juga dapat berisi anotasi untuk menunjukkan apa yang terjadi di back-end pada waktu tersebut.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2" name="Google Shape;472;p57"/>
          <p:cNvPicPr preferRelativeResize="0"/>
          <p:nvPr/>
        </p:nvPicPr>
        <p:blipFill rotWithShape="1">
          <a:blip r:embed="rId3">
            <a:alphaModFix/>
          </a:blip>
          <a:srcRect b="-49120" l="-1480" r="1479" t="0"/>
          <a:stretch/>
        </p:blipFill>
        <p:spPr>
          <a:xfrm>
            <a:off x="5434425" y="1623075"/>
            <a:ext cx="3017521" cy="274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8" name="Google Shape;478;p5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wirefrimes, dan wireflows</a:t>
            </a:r>
            <a:endParaRPr/>
          </a:p>
        </p:txBody>
      </p:sp>
      <p:sp>
        <p:nvSpPr>
          <p:cNvPr id="479" name="Google Shape;479;p58"/>
          <p:cNvSpPr txBox="1"/>
          <p:nvPr/>
        </p:nvSpPr>
        <p:spPr>
          <a:xfrm>
            <a:off x="685800" y="16002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Bedanya apa sih sama wireframe?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Kalo sederhananya sih, wireflow adalah gabungan antara wireframe dengan flowchart.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Kumpulan wireframe yang sudah kita rancang tadi kita satukan dan dihubungkan dalam bentuk alur, seperti halnya waktu kita membuat flowchart.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0" name="Google Shape;480;p58"/>
          <p:cNvPicPr preferRelativeResize="0"/>
          <p:nvPr/>
        </p:nvPicPr>
        <p:blipFill rotWithShape="1">
          <a:blip r:embed="rId3">
            <a:alphaModFix/>
          </a:blip>
          <a:srcRect b="0" l="53522" r="0" t="0"/>
          <a:stretch/>
        </p:blipFill>
        <p:spPr>
          <a:xfrm>
            <a:off x="7138650" y="1326975"/>
            <a:ext cx="179205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914400"/>
            <a:ext cx="2233419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5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wirefrimes, dan wireflows</a:t>
            </a:r>
            <a:endParaRPr/>
          </a:p>
        </p:txBody>
      </p:sp>
      <p:sp>
        <p:nvSpPr>
          <p:cNvPr id="488" name="Google Shape;488;p59"/>
          <p:cNvSpPr txBox="1"/>
          <p:nvPr/>
        </p:nvSpPr>
        <p:spPr>
          <a:xfrm>
            <a:off x="685800" y="1447795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Bedanya, kali ini kita sudah tidak menggunakan simbol-simbol untuk mewakili setiap tahapan!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Sebagai gantinya, kita langsung menggunakan wireframe sebagai contoh tampilan layar aplikasi pada setiap tahapan.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9" name="Google Shape;48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9775" y="864875"/>
            <a:ext cx="2788863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5" name="Google Shape;495;p6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wirefrimes, dan wireflows</a:t>
            </a:r>
            <a:endParaRPr/>
          </a:p>
        </p:txBody>
      </p:sp>
      <p:sp>
        <p:nvSpPr>
          <p:cNvPr id="496" name="Google Shape;496;p60"/>
          <p:cNvSpPr txBox="1"/>
          <p:nvPr/>
        </p:nvSpPr>
        <p:spPr>
          <a:xfrm>
            <a:off x="685800" y="13238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Contohnya seperti gambar di samping!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Kalo buat kasusnya aplikasi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BeliAja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tadi, wireflow yang kita buat akan jadi seperti itu~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7" name="Google Shape;49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1" y="1284902"/>
            <a:ext cx="3892198" cy="3067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3" name="Google Shape;503;p6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wirefrimes, dan wireflows</a:t>
            </a:r>
            <a:endParaRPr/>
          </a:p>
        </p:txBody>
      </p:sp>
      <p:sp>
        <p:nvSpPr>
          <p:cNvPr id="504" name="Google Shape;504;p61"/>
          <p:cNvSpPr txBox="1"/>
          <p:nvPr/>
        </p:nvSpPr>
        <p:spPr>
          <a:xfrm>
            <a:off x="685800" y="971545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52F67"/>
                </a:solidFill>
                <a:latin typeface="Montserrat"/>
                <a:ea typeface="Montserrat"/>
                <a:cs typeface="Montserrat"/>
                <a:sym typeface="Montserrat"/>
              </a:rPr>
              <a:t>Terus, kenapa sih kita harus membuat wireframe dan wireflow?</a:t>
            </a:r>
            <a:endParaRPr b="1" sz="1600">
              <a:solidFill>
                <a:srgbClr val="652F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rgbClr val="652F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Dengan menggunakan wireframe dan wireflow, rancangan kita akan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lebih mudah dipelajari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oleh tim development dan membantu proses persetujuan dari stakeholders.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 itu, pastikan penyusunannya sudah sesuai dengan rencana yaa! Terutama pada detail struktur alur yang dirancang di awal.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505" name="Google Shape;50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7250" y="958650"/>
            <a:ext cx="2644100" cy="366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11" name="Google Shape;51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5850" y="914400"/>
            <a:ext cx="2233419" cy="3886198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6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wirefrimes, dan wireflows</a:t>
            </a:r>
            <a:endParaRPr/>
          </a:p>
        </p:txBody>
      </p:sp>
      <p:sp>
        <p:nvSpPr>
          <p:cNvPr id="513" name="Google Shape;513;p62"/>
          <p:cNvSpPr txBox="1"/>
          <p:nvPr/>
        </p:nvSpPr>
        <p:spPr>
          <a:xfrm>
            <a:off x="685800" y="14478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Selain itu, wireframe dan wireflow juga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membantu proses analisa fitur dan layout konten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pada sebuah produk.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Dengan begitu, proses review bisa dilakukan lebih efisien sebelum masuk ke tahapan selanjutnya!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4" name="Google Shape;514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7100" y="1345275"/>
            <a:ext cx="2333050" cy="3455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0" name="Google Shape;520;p6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wirefrimes, dan wireflows</a:t>
            </a:r>
            <a:endParaRPr/>
          </a:p>
        </p:txBody>
      </p:sp>
      <p:sp>
        <p:nvSpPr>
          <p:cNvPr id="521" name="Google Shape;521;p63"/>
          <p:cNvSpPr txBox="1"/>
          <p:nvPr/>
        </p:nvSpPr>
        <p:spPr>
          <a:xfrm>
            <a:off x="685800" y="1600195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Nah, gimana cara kita menyusun wireflow?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Ada empat langkah sederhana untuk menyusun sebuah wireflow yang baik.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Cek di halaman selanjutnya yaa~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22" name="Google Shape;522;p63"/>
          <p:cNvPicPr preferRelativeResize="0"/>
          <p:nvPr/>
        </p:nvPicPr>
        <p:blipFill rotWithShape="1">
          <a:blip r:embed="rId3">
            <a:alphaModFix/>
          </a:blip>
          <a:srcRect b="-47754" l="0" r="0" t="0"/>
          <a:stretch/>
        </p:blipFill>
        <p:spPr>
          <a:xfrm>
            <a:off x="5257800" y="1659550"/>
            <a:ext cx="3380274" cy="320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6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wirefrimes, dan wireflows</a:t>
            </a:r>
            <a:endParaRPr/>
          </a:p>
        </p:txBody>
      </p:sp>
      <p:pic>
        <p:nvPicPr>
          <p:cNvPr id="529" name="Google Shape;52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550" y="1398075"/>
            <a:ext cx="8628900" cy="28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5" name="Google Shape;535;p6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wirefrimes, dan wireflows</a:t>
            </a:r>
            <a:endParaRPr/>
          </a:p>
        </p:txBody>
      </p:sp>
      <p:pic>
        <p:nvPicPr>
          <p:cNvPr id="536" name="Google Shape;53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2951" y="804500"/>
            <a:ext cx="6175876" cy="207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2950" y="2818585"/>
            <a:ext cx="6175876" cy="2148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6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-16151" l="0" r="0" t="-1744"/>
          <a:stretch/>
        </p:blipFill>
        <p:spPr>
          <a:xfrm>
            <a:off x="2377451" y="1185675"/>
            <a:ext cx="6407798" cy="34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6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4" name="Google Shape;544;p6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wirefrimes, dan wireflows</a:t>
            </a:r>
            <a:endParaRPr/>
          </a:p>
        </p:txBody>
      </p:sp>
      <p:sp>
        <p:nvSpPr>
          <p:cNvPr id="545" name="Google Shape;545;p66"/>
          <p:cNvSpPr txBox="1"/>
          <p:nvPr/>
        </p:nvSpPr>
        <p:spPr>
          <a:xfrm>
            <a:off x="685800" y="1185675"/>
            <a:ext cx="2215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Contoh 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wireflow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#1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6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16577" l="0" r="0" t="6747"/>
          <a:stretch/>
        </p:blipFill>
        <p:spPr>
          <a:xfrm>
            <a:off x="2208800" y="842775"/>
            <a:ext cx="6407802" cy="3957826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6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6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wirefrimes, dan wireflows</a:t>
            </a:r>
            <a:endParaRPr/>
          </a:p>
        </p:txBody>
      </p:sp>
      <p:sp>
        <p:nvSpPr>
          <p:cNvPr id="553" name="Google Shape;553;p67"/>
          <p:cNvSpPr txBox="1"/>
          <p:nvPr/>
        </p:nvSpPr>
        <p:spPr>
          <a:xfrm>
            <a:off x="685800" y="1185675"/>
            <a:ext cx="2215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Contoh 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wireflow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#2</a:t>
            </a:r>
            <a:endParaRPr b="1" sz="1800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6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2830" l="0" r="0" t="7014"/>
          <a:stretch/>
        </p:blipFill>
        <p:spPr>
          <a:xfrm>
            <a:off x="2377450" y="823750"/>
            <a:ext cx="6407800" cy="4167349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6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0" name="Google Shape;560;p6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wirefrimes, dan wireflows</a:t>
            </a:r>
            <a:endParaRPr/>
          </a:p>
        </p:txBody>
      </p:sp>
      <p:sp>
        <p:nvSpPr>
          <p:cNvPr id="561" name="Google Shape;561;p68"/>
          <p:cNvSpPr txBox="1"/>
          <p:nvPr/>
        </p:nvSpPr>
        <p:spPr>
          <a:xfrm>
            <a:off x="685800" y="1185675"/>
            <a:ext cx="2215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Contoh 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wireflow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#3</a:t>
            </a:r>
            <a:endParaRPr b="1" sz="1800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6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-50082" t="0"/>
          <a:stretch/>
        </p:blipFill>
        <p:spPr>
          <a:xfrm>
            <a:off x="2149925" y="851550"/>
            <a:ext cx="6949576" cy="3949051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6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6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wirefrimes, dan wireflows</a:t>
            </a:r>
            <a:endParaRPr/>
          </a:p>
        </p:txBody>
      </p:sp>
      <p:sp>
        <p:nvSpPr>
          <p:cNvPr id="569" name="Google Shape;569;p69"/>
          <p:cNvSpPr txBox="1"/>
          <p:nvPr/>
        </p:nvSpPr>
        <p:spPr>
          <a:xfrm>
            <a:off x="685800" y="1185675"/>
            <a:ext cx="2215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Contoh 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wireflow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#4</a:t>
            </a:r>
            <a:endParaRPr b="1" sz="1800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7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13593" l="0" r="0" t="13600"/>
          <a:stretch/>
        </p:blipFill>
        <p:spPr>
          <a:xfrm>
            <a:off x="2377451" y="1185675"/>
            <a:ext cx="6407798" cy="3489827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7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7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Flowchart, wirefrimes, dan wireflows</a:t>
            </a:r>
            <a:endParaRPr/>
          </a:p>
        </p:txBody>
      </p:sp>
      <p:sp>
        <p:nvSpPr>
          <p:cNvPr id="577" name="Google Shape;577;p70"/>
          <p:cNvSpPr txBox="1"/>
          <p:nvPr/>
        </p:nvSpPr>
        <p:spPr>
          <a:xfrm>
            <a:off x="685800" y="1185675"/>
            <a:ext cx="2215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Contoh 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wireflow</a:t>
            </a:r>
            <a:b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#5</a:t>
            </a:r>
            <a:endParaRPr b="1" sz="1800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1"/>
          <p:cNvSpPr txBox="1"/>
          <p:nvPr/>
        </p:nvSpPr>
        <p:spPr>
          <a:xfrm>
            <a:off x="914400" y="1013550"/>
            <a:ext cx="7315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Saatnya kita 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AB40"/>
                </a:solidFill>
                <a:latin typeface="Montserrat"/>
                <a:ea typeface="Montserrat"/>
                <a:cs typeface="Montserrat"/>
                <a:sym typeface="Montserrat"/>
              </a:rPr>
              <a:t>Quiz!</a:t>
            </a:r>
            <a:endParaRPr b="1" sz="3000">
              <a:solidFill>
                <a:srgbClr val="FFAB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3" name="Google Shape;583;p71"/>
          <p:cNvPicPr preferRelativeResize="0"/>
          <p:nvPr/>
        </p:nvPicPr>
        <p:blipFill rotWithShape="1">
          <a:blip r:embed="rId3">
            <a:alphaModFix/>
          </a:blip>
          <a:srcRect b="35463" l="16341" r="18912" t="0"/>
          <a:stretch/>
        </p:blipFill>
        <p:spPr>
          <a:xfrm>
            <a:off x="2421325" y="2177750"/>
            <a:ext cx="3903698" cy="2965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72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Berikut adalah langkah-langkah untuk menyusun sebuah wireframe, kecuali…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Identifikasi aspect ratio jendela browser atau perangkat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Identifikasi dan gambar elemen terbesar dalam desain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Masukkan gambar aktual pada halaman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Isi rincian yang tersisa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Pembahasan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595" name="Google Shape;595;p73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Berikut adalah langkah-langkah untuk menyusun sebuah wireframe, kecuali…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Identifikasi aspect ratio jendela browser atau perangkat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Identifikasi dan gambar elemen terbesar dalam desain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lphaUcPeriod"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Masukkan gambar aktual pada halaman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Isi rincian yang tersisa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6" name="Google Shape;596;p73"/>
          <p:cNvSpPr/>
          <p:nvPr/>
        </p:nvSpPr>
        <p:spPr>
          <a:xfrm>
            <a:off x="685800" y="3605475"/>
            <a:ext cx="7772400" cy="7173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Tidak perlu memasukkan gambar pada saat membuat wireframe. Gambar-gambar dapat direpresentasikan oleh sebuah bentuk atau coretan x.</a:t>
            </a:r>
            <a:endParaRPr b="1" sz="1200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602" name="Google Shape;602;p74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Berikut adalah yang termasuk peralatan wireframing, kecuali...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Balsamiq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MockPlus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Zeplin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UXPin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Pembahasan Quiz</a:t>
            </a:r>
            <a:endParaRPr/>
          </a:p>
        </p:txBody>
      </p:sp>
      <p:sp>
        <p:nvSpPr>
          <p:cNvPr id="608" name="Google Shape;608;p75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Berikut adalah yang termasuk peralatan wireframing, kecuali...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Balsamiq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MockPlus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lphaUcPeriod"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Zeplin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UXPin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09" name="Google Shape;609;p75"/>
          <p:cNvSpPr/>
          <p:nvPr/>
        </p:nvSpPr>
        <p:spPr>
          <a:xfrm>
            <a:off x="685800" y="3383799"/>
            <a:ext cx="7772400" cy="5952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Zeplin adalah peralatan handoff.</a:t>
            </a:r>
            <a:endParaRPr b="1" sz="1200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615" name="Google Shape;615;p76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lang="en" sz="1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Hal </a:t>
            </a: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yang membedakan task flows dari flowcharts adalah ….. dan proses yang disertakan.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Tingkat gambar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Kemampuan gambar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Tingkat detail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Peralatan peralatan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Pembahasan Quiz</a:t>
            </a:r>
            <a:endParaRPr/>
          </a:p>
        </p:txBody>
      </p:sp>
      <p:sp>
        <p:nvSpPr>
          <p:cNvPr id="621" name="Google Shape;621;p77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Hal yang membedakan task flows dari flowcharts adalah ….. dan proses yang disertakan.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Tingkat gambar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Kemampuan gambar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lphaUcPeriod"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Tingkat detail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Peralatan peralatan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22" name="Google Shape;622;p77"/>
          <p:cNvSpPr/>
          <p:nvPr/>
        </p:nvSpPr>
        <p:spPr>
          <a:xfrm>
            <a:off x="685800" y="3543150"/>
            <a:ext cx="7772400" cy="706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Hal yang membedakan task flows dari flowcharts adalah tingkat detail dan proses yang disertakan.</a:t>
            </a:r>
            <a:endParaRPr b="1" sz="1200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628" name="Google Shape;628;p78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Di bawah ini, cara untuk memulai menyusun wireflows adalah…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Menghubungkan layar dengan panah.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Menyertakan</a:t>
            </a: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poin-poin keputusan.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</a:t>
            </a: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enjelaskan kebutuhan dan masalah dalam cerita pengguna. 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Identifikasi layar-layar kunci pada antarmuka. 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Pembahasan Quiz</a:t>
            </a:r>
            <a:endParaRPr/>
          </a:p>
        </p:txBody>
      </p:sp>
      <p:sp>
        <p:nvSpPr>
          <p:cNvPr id="634" name="Google Shape;634;p79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4.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Di bawah ini, cara untuk memulai menyusun wireflows adalah…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Menghubungkan layar dengan panah.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Menyertakan poin-poin keputusan.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lphaUcPeriod"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Menjelaskan kebutuhan dan masalah dalam cerita pengguna. 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Identifikasi layar-layar kunci pada antarmuka. 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35" name="Google Shape;635;p79"/>
          <p:cNvSpPr/>
          <p:nvPr/>
        </p:nvSpPr>
        <p:spPr>
          <a:xfrm>
            <a:off x="685800" y="3311049"/>
            <a:ext cx="7772400" cy="5952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Langkah pertama dari penyusunan wireflows adalah menjelaskan kebutuhan dan masalah pengguna.</a:t>
            </a:r>
            <a:endParaRPr b="1" sz="1200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8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641" name="Google Shape;641;p80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Diskusikan gambar berikut, apa yang membuat wireflow A lebih baik dari wireflow B?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42" name="Google Shape;64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2326" y="2222050"/>
            <a:ext cx="6175876" cy="207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80"/>
          <p:cNvSpPr txBox="1"/>
          <p:nvPr/>
        </p:nvSpPr>
        <p:spPr>
          <a:xfrm>
            <a:off x="3564075" y="1806550"/>
            <a:ext cx="42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15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4" name="Google Shape;644;p80"/>
          <p:cNvSpPr txBox="1"/>
          <p:nvPr/>
        </p:nvSpPr>
        <p:spPr>
          <a:xfrm>
            <a:off x="5379025" y="18065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b="1" sz="15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650" name="Google Shape;650;p81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Diskusikan gambar berikut, apa yang membuat wireflow A lebih baik dari wireflow B?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1" name="Google Shape;651;p81"/>
          <p:cNvSpPr txBox="1"/>
          <p:nvPr/>
        </p:nvSpPr>
        <p:spPr>
          <a:xfrm>
            <a:off x="3564075" y="1806550"/>
            <a:ext cx="42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15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2" name="Google Shape;652;p81"/>
          <p:cNvSpPr txBox="1"/>
          <p:nvPr/>
        </p:nvSpPr>
        <p:spPr>
          <a:xfrm>
            <a:off x="5379025" y="18065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b="1" sz="15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53" name="Google Shape;65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2325" y="2263610"/>
            <a:ext cx="6175876" cy="2148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8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9" name="Google Shape;659;p8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Referensi dan bacaan lebih lanjut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0" name="Google Shape;660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796" y="1097113"/>
            <a:ext cx="2743199" cy="3511629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82"/>
          <p:cNvSpPr txBox="1"/>
          <p:nvPr/>
        </p:nvSpPr>
        <p:spPr>
          <a:xfrm>
            <a:off x="685800" y="1384203"/>
            <a:ext cx="4114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Referensi dan bacaan lebih lanjut~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1) </a:t>
            </a: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Design Thinking by Interaction Design Foundation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1450" lvl="0" marL="17145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2) </a:t>
            </a: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 Stages in The Design Thinking Process by Interaction Design Foundation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3) </a:t>
            </a: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Ideation by Interaction Design Foundation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1450" lvl="0" marL="17145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4) </a:t>
            </a: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Draw a Wireframe (Even if You Can’t Draw) by Nielsen Norman Group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5) </a:t>
            </a: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Getting started with wireframing on medium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6) </a:t>
            </a: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are Wireflows? by uxcel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3673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3"/>
          <p:cNvSpPr txBox="1"/>
          <p:nvPr/>
        </p:nvSpPr>
        <p:spPr>
          <a:xfrm>
            <a:off x="618375" y="1630075"/>
            <a:ext cx="4018800" cy="24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Nah, selesai sudah pembahasan kita di Chapter 3 Topic 5 ini. Pembahasan ini sekaligus menutup chapter 3, lho!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Sampai ketemu di chapter selanjutnya yaa~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7" name="Google Shape;66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431" y="676725"/>
            <a:ext cx="5687844" cy="4338199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83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83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83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83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83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83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4" name="Google Shape;674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83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83"/>
          <p:cNvSpPr txBox="1"/>
          <p:nvPr/>
        </p:nvSpPr>
        <p:spPr>
          <a:xfrm>
            <a:off x="618377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Penutup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4"/>
          <p:cNvSpPr/>
          <p:nvPr/>
        </p:nvSpPr>
        <p:spPr>
          <a:xfrm>
            <a:off x="0" y="3825400"/>
            <a:ext cx="9144000" cy="1389600"/>
          </a:xfrm>
          <a:prstGeom prst="rect">
            <a:avLst/>
          </a:prstGeom>
          <a:solidFill>
            <a:srgbClr val="F4B71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2" name="Google Shape;682;p84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7987325" y="4075701"/>
            <a:ext cx="709350" cy="8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3550" y="914410"/>
            <a:ext cx="1991475" cy="68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225" y="4140630"/>
            <a:ext cx="1991475" cy="68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4050" y="469336"/>
            <a:ext cx="5675902" cy="4204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