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Lst>
  <p:sldSz cy="5143500" cx="9144000"/>
  <p:notesSz cx="6858000" cy="9144000"/>
  <p:embeddedFontLst>
    <p:embeddedFont>
      <p:font typeface="Raleway"/>
      <p:regular r:id="rId60"/>
      <p:bold r:id="rId61"/>
      <p:italic r:id="rId62"/>
      <p:boldItalic r:id="rId63"/>
    </p:embeddedFont>
    <p:embeddedFont>
      <p:font typeface="Montserrat"/>
      <p:regular r:id="rId64"/>
      <p:bold r:id="rId65"/>
      <p:italic r:id="rId66"/>
      <p:boldItalic r:id="rId67"/>
    </p:embeddedFont>
    <p:embeddedFont>
      <p:font typeface="Montserrat Medium"/>
      <p:regular r:id="rId68"/>
      <p:bold r:id="rId69"/>
      <p:italic r:id="rId70"/>
      <p:boldItalic r:id="rId71"/>
    </p:embeddedFont>
    <p:embeddedFont>
      <p:font typeface="Lato Black"/>
      <p:bold r:id="rId72"/>
      <p:boldItalic r:id="rId73"/>
    </p:embeddedFont>
    <p:embeddedFont>
      <p:font typeface="Raleway Medium"/>
      <p:regular r:id="rId74"/>
      <p:bold r:id="rId75"/>
      <p:italic r:id="rId76"/>
      <p:boldItalic r:id="rId77"/>
    </p:embeddedFont>
    <p:embeddedFont>
      <p:font typeface="Montserrat ExtraBold"/>
      <p:bold r:id="rId78"/>
      <p:boldItalic r:id="rId7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font" Target="fonts/LatoBlack-boldItalic.fntdata"/><Relationship Id="rId72" Type="http://schemas.openxmlformats.org/officeDocument/2006/relationships/font" Target="fonts/LatoBlack-bold.fntdata"/><Relationship Id="rId31" Type="http://schemas.openxmlformats.org/officeDocument/2006/relationships/slide" Target="slides/slide26.xml"/><Relationship Id="rId75" Type="http://schemas.openxmlformats.org/officeDocument/2006/relationships/font" Target="fonts/RalewayMedium-bold.fntdata"/><Relationship Id="rId30" Type="http://schemas.openxmlformats.org/officeDocument/2006/relationships/slide" Target="slides/slide25.xml"/><Relationship Id="rId74" Type="http://schemas.openxmlformats.org/officeDocument/2006/relationships/font" Target="fonts/RalewayMedium-regular.fntdata"/><Relationship Id="rId33" Type="http://schemas.openxmlformats.org/officeDocument/2006/relationships/slide" Target="slides/slide28.xml"/><Relationship Id="rId77" Type="http://schemas.openxmlformats.org/officeDocument/2006/relationships/font" Target="fonts/RalewayMedium-boldItalic.fntdata"/><Relationship Id="rId32" Type="http://schemas.openxmlformats.org/officeDocument/2006/relationships/slide" Target="slides/slide27.xml"/><Relationship Id="rId76" Type="http://schemas.openxmlformats.org/officeDocument/2006/relationships/font" Target="fonts/RalewayMedium-italic.fntdata"/><Relationship Id="rId35" Type="http://schemas.openxmlformats.org/officeDocument/2006/relationships/slide" Target="slides/slide30.xml"/><Relationship Id="rId79" Type="http://schemas.openxmlformats.org/officeDocument/2006/relationships/font" Target="fonts/MontserratExtraBold-boldItalic.fntdata"/><Relationship Id="rId34" Type="http://schemas.openxmlformats.org/officeDocument/2006/relationships/slide" Target="slides/slide29.xml"/><Relationship Id="rId78" Type="http://schemas.openxmlformats.org/officeDocument/2006/relationships/font" Target="fonts/MontserratExtraBold-bold.fntdata"/><Relationship Id="rId71" Type="http://schemas.openxmlformats.org/officeDocument/2006/relationships/font" Target="fonts/MontserratMedium-boldItalic.fntdata"/><Relationship Id="rId70" Type="http://schemas.openxmlformats.org/officeDocument/2006/relationships/font" Target="fonts/MontserratMedium-italic.fntdata"/><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Raleway-italic.fntdata"/><Relationship Id="rId61" Type="http://schemas.openxmlformats.org/officeDocument/2006/relationships/font" Target="fonts/Raleway-bold.fntdata"/><Relationship Id="rId20" Type="http://schemas.openxmlformats.org/officeDocument/2006/relationships/slide" Target="slides/slide15.xml"/><Relationship Id="rId64" Type="http://schemas.openxmlformats.org/officeDocument/2006/relationships/font" Target="fonts/Montserrat-regular.fntdata"/><Relationship Id="rId63" Type="http://schemas.openxmlformats.org/officeDocument/2006/relationships/font" Target="fonts/Raleway-boldItalic.fntdata"/><Relationship Id="rId22" Type="http://schemas.openxmlformats.org/officeDocument/2006/relationships/slide" Target="slides/slide17.xml"/><Relationship Id="rId66" Type="http://schemas.openxmlformats.org/officeDocument/2006/relationships/font" Target="fonts/Montserrat-italic.fntdata"/><Relationship Id="rId21" Type="http://schemas.openxmlformats.org/officeDocument/2006/relationships/slide" Target="slides/slide16.xml"/><Relationship Id="rId65" Type="http://schemas.openxmlformats.org/officeDocument/2006/relationships/font" Target="fonts/Montserrat-bold.fntdata"/><Relationship Id="rId24" Type="http://schemas.openxmlformats.org/officeDocument/2006/relationships/slide" Target="slides/slide19.xml"/><Relationship Id="rId68" Type="http://schemas.openxmlformats.org/officeDocument/2006/relationships/font" Target="fonts/MontserratMedium-regular.fntdata"/><Relationship Id="rId23" Type="http://schemas.openxmlformats.org/officeDocument/2006/relationships/slide" Target="slides/slide18.xml"/><Relationship Id="rId67" Type="http://schemas.openxmlformats.org/officeDocument/2006/relationships/font" Target="fonts/Montserrat-boldItalic.fntdata"/><Relationship Id="rId60" Type="http://schemas.openxmlformats.org/officeDocument/2006/relationships/font" Target="fonts/Raleway-regular.fntdata"/><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font" Target="fonts/MontserratMedium-bold.fntdata"/><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ustindistel?utm_source=unsplash&amp;utm_medium=referral&amp;utm_content=creditCopyText" TargetMode="External"/><Relationship Id="rId3" Type="http://schemas.openxmlformats.org/officeDocument/2006/relationships/hyperlink" Target="https://unsplash.com/@austindistel?utm_source=unsplash&amp;utm_medium=referral&amp;utm_content=creditCopyText" TargetMode="External"/><Relationship Id="rId4" Type="http://schemas.openxmlformats.org/officeDocument/2006/relationships/hyperlink" Target="https://unsplash.com/?utm_source=unsplash&amp;utm_medium=referral&amp;utm_content=creditCopyText" TargetMode="External"/><Relationship Id="rId5" Type="http://schemas.openxmlformats.org/officeDocument/2006/relationships/hyperlink" Target="https://unsplash.com/?utm_source=unsplash&amp;utm_medium=referral&amp;utm_content=creditCopyText"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visualdesign_inspiration?utm_source=unsplash&amp;utm_medium=referral&amp;utm_content=creditCopyText" TargetMode="External"/><Relationship Id="rId3" Type="http://schemas.openxmlformats.org/officeDocument/2006/relationships/hyperlink" Target="https://medium.com/fbdevclagos/4-reasons-why-wire-frame-is-important-during-website-or-mobile-app-development-46fabdf47190"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visualdesign_inspiration?utm_source=unsplash&amp;utm_medium=referral&amp;utm_content=creditCopyText" TargetMode="External"/><Relationship Id="rId3" Type="http://schemas.openxmlformats.org/officeDocument/2006/relationships/hyperlink" Target="https://unsplash.com/@visualdesign_inspiration?utm_source=unsplash&amp;utm_medium=referral&amp;utm_content=creditCopyText" TargetMode="External"/><Relationship Id="rId4" Type="http://schemas.openxmlformats.org/officeDocument/2006/relationships/hyperlink" Target="https://unsplash.com/s/photos/wireframes?utm_source=unsplash&amp;utm_medium=referral&amp;utm_content=creditCopyText" TargetMode="External"/><Relationship Id="rId5" Type="http://schemas.openxmlformats.org/officeDocument/2006/relationships/hyperlink" Target="https://unsplash.com/s/photos/wireframes?utm_source=unsplash&amp;utm_medium=referral&amp;utm_content=creditCopyText"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visualdesign_inspiration?utm_source=unsplash&amp;utm_medium=referral&amp;utm_content=creditCopyText" TargetMode="External"/><Relationship Id="rId3" Type="http://schemas.openxmlformats.org/officeDocument/2006/relationships/hyperlink" Target="https://unsplash.com/@visualdesign_inspiration?utm_source=unsplash&amp;utm_medium=referral&amp;utm_content=creditCopyText" TargetMode="External"/><Relationship Id="rId4" Type="http://schemas.openxmlformats.org/officeDocument/2006/relationships/hyperlink" Target="https://unsplash.com/s/photos/wireframes?utm_source=unsplash&amp;utm_medium=referral&amp;utm_content=creditCopyText" TargetMode="External"/><Relationship Id="rId5" Type="http://schemas.openxmlformats.org/officeDocument/2006/relationships/hyperlink" Target="https://unsplash.com/s/photos/wireframes?utm_source=unsplash&amp;utm_medium=referral&amp;utm_content=creditCopyText"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mayli?utm_source=unsplash&amp;utm_medium=referral&amp;utm_content=creditCopyText" TargetMode="External"/><Relationship Id="rId3" Type="http://schemas.openxmlformats.org/officeDocument/2006/relationships/hyperlink" Target="https://unsplash.com/@amayli?utm_source=unsplash&amp;utm_medium=referral&amp;utm_content=creditCopyText" TargetMode="External"/><Relationship Id="rId4" Type="http://schemas.openxmlformats.org/officeDocument/2006/relationships/hyperlink" Target="https://unsplash.com/s/photos/prototypes-ux?utm_source=unsplash&amp;utm_medium=referral&amp;utm_content=creditCopyText" TargetMode="External"/><Relationship Id="rId5" Type="http://schemas.openxmlformats.org/officeDocument/2006/relationships/hyperlink" Target="https://unsplash.com/s/photos/prototypes-ux?utm_source=unsplash&amp;utm_medium=referral&amp;utm_content=creditCopyText"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songoodman_youxventures?utm_source=unsplash&amp;utm_medium=referral&amp;utm_content=creditCopyText" TargetMode="External"/><Relationship Id="rId3" Type="http://schemas.openxmlformats.org/officeDocument/2006/relationships/hyperlink" Target="https://unsplash.com/@jasongoodman_youxventures?utm_source=unsplash&amp;utm_medium=referral&amp;utm_content=creditCopyText" TargetMode="External"/><Relationship Id="rId4" Type="http://schemas.openxmlformats.org/officeDocument/2006/relationships/hyperlink" Target="https://unsplash.com/s/photos/collaboration?utm_source=unsplash&amp;utm_medium=referral&amp;utm_content=creditCopyText" TargetMode="External"/><Relationship Id="rId5" Type="http://schemas.openxmlformats.org/officeDocument/2006/relationships/hyperlink" Target="https://unsplash.com/s/photos/collaboration?utm_source=unsplash&amp;utm_medium=referral&amp;utm_content=creditCopyText"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songoodman_youxventures?utm_source=unsplash&amp;utm_medium=referral&amp;utm_content=creditCopyText" TargetMode="External"/><Relationship Id="rId3" Type="http://schemas.openxmlformats.org/officeDocument/2006/relationships/hyperlink" Target="https://unsplash.com/@jasongoodman_youxventures?utm_source=unsplash&amp;utm_medium=referral&amp;utm_content=creditCopyText" TargetMode="External"/><Relationship Id="rId4" Type="http://schemas.openxmlformats.org/officeDocument/2006/relationships/hyperlink" Target="https://unsplash.com/s/photos/collaboration?utm_source=unsplash&amp;utm_medium=referral&amp;utm_content=creditCopyText" TargetMode="External"/><Relationship Id="rId5" Type="http://schemas.openxmlformats.org/officeDocument/2006/relationships/hyperlink" Target="https://unsplash.com/s/photos/collaboration?utm_source=unsplash&amp;utm_medium=referral&amp;utm_content=creditCopyText"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cksondavid?utm_source=unsplash&amp;utm_medium=referral&amp;utm_content=creditCopyText" TargetMode="External"/><Relationship Id="rId3" Type="http://schemas.openxmlformats.org/officeDocument/2006/relationships/hyperlink" Target="https://unsplash.com/@jacksondavid?utm_source=unsplash&amp;utm_medium=referral&amp;utm_content=creditCopyText" TargetMode="External"/><Relationship Id="rId4" Type="http://schemas.openxmlformats.org/officeDocument/2006/relationships/hyperlink" Target="https://unsplash.com/s/photos/giving?utm_source=unsplash&amp;utm_medium=referral&amp;utm_content=creditCopyText" TargetMode="External"/><Relationship Id="rId5" Type="http://schemas.openxmlformats.org/officeDocument/2006/relationships/hyperlink" Target="https://unsplash.com/s/photos/giving?utm_source=unsplash&amp;utm_medium=referral&amp;utm_content=creditCopyText" TargetMode="Externa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cksondavid?utm_source=unsplash&amp;utm_medium=referral&amp;utm_content=creditCopyText" TargetMode="External"/><Relationship Id="rId3" Type="http://schemas.openxmlformats.org/officeDocument/2006/relationships/hyperlink" Target="https://unsplash.com/@jacksondavid?utm_source=unsplash&amp;utm_medium=referral&amp;utm_content=creditCopyText" TargetMode="External"/><Relationship Id="rId4" Type="http://schemas.openxmlformats.org/officeDocument/2006/relationships/hyperlink" Target="https://unsplash.com/s/photos/giving?utm_source=unsplash&amp;utm_medium=referral&amp;utm_content=creditCopyText" TargetMode="External"/><Relationship Id="rId5" Type="http://schemas.openxmlformats.org/officeDocument/2006/relationships/hyperlink" Target="https://unsplash.com/s/photos/giving?utm_source=unsplash&amp;utm_medium=referral&amp;utm_content=creditCopyText"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jacksondavid?utm_source=unsplash&amp;utm_medium=referral&amp;utm_content=creditCopyText" TargetMode="External"/><Relationship Id="rId3" Type="http://schemas.openxmlformats.org/officeDocument/2006/relationships/hyperlink" Target="https://unsplash.com/@jacksondavid?utm_source=unsplash&amp;utm_medium=referral&amp;utm_content=creditCopyText" TargetMode="External"/><Relationship Id="rId4" Type="http://schemas.openxmlformats.org/officeDocument/2006/relationships/hyperlink" Target="https://unsplash.com/s/photos/giving?utm_source=unsplash&amp;utm_medium=referral&amp;utm_content=creditCopyText" TargetMode="External"/><Relationship Id="rId5" Type="http://schemas.openxmlformats.org/officeDocument/2006/relationships/hyperlink" Target="https://unsplash.com/s/photos/giving?utm_source=unsplash&amp;utm_medium=referral&amp;utm_content=creditCopyText" TargetMode="Externa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18c57339f2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18c57339f2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118c57339f2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g118c57339f2_0_1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d200a8fe87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d200a8fe87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d200a8fe87_1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d200a8fe87_1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d200a8fe87_1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gd200a8fe87_1_2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1113d6c8b2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1113d6c8b2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Austin Distel</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111421c87e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111421c87e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d200a8fe87_1_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gd200a8fe87_1_3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111421c87ef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111421c87ef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source</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https://medium.com/fbdevclagos/4-reasons-why-wire-frame-is-important-during-website-or-mobile-app-development-46fabdf47190</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111421c87ef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111421c87ef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117b7bcf68e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117b7bcf68e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Visual Design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17b7bcf68e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117b7bcf68e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Visual Design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1187dc574c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g1187dc574c6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111421c87ef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111421c87ef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Amélie Mourichon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111421c87ef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111421c87ef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111421c87ef_0_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8" name="Google Shape;278;g111421c87ef_0_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1187dc574c6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0" name="Google Shape;290;g1187dc574c6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111421c87ef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111421c87ef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Jason Goodman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111421c87ef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111421c87ef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Jason Goodman</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111421c87ef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111421c87ef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1187dc574c6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1187dc574c6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1187dc574c6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1187dc574c6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1187dc574c6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1187dc574c6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1187dc574c6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1187dc574c6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1187dc574c6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1187dc574c6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1187dc574c6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1187dc574c6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1187dc574c6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1187dc574c6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1187dc574c6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1187dc574c6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https://www.mockplus.com/blog/post/project-collaboration-software</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1187dc574c6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5" name="Google Shape;395;g1187dc574c6_0_1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111421c87ef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111421c87ef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Jackson David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117b7bcf68e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9" name="Google Shape;419;g117b7bcf68e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Jackson David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117b7bcf68e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117b7bcf68e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Jackson David</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111421c87ef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111421c87ef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https://blog.bitsrc.io/15-designer-and-developer-collaboration-tools-for-2021-8fae54ac2298</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1187dc574c6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7" name="Google Shape;447;g1187dc574c6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https://blog.bitsrc.io/15-designer-and-developer-collaboration-tools-for-2021-8fae54ac2298</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1187dc574c6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1187dc574c6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https://blog.bitsrc.io/15-designer-and-developer-collaboration-tools-for-2021-8fae54ac2298</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1187dc574c6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3" name="Google Shape;463;g1187dc574c6_0_1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111421c87ef_0_2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111421c87ef_0_2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Image from https://files.design/blog/figma-plugins-overview</a:t>
            </a:r>
            <a:endParaRPr>
              <a:solidFill>
                <a:schemeClr val="dk1"/>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111421c87ef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111421c87ef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1187dc574c6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1187dc574c6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g1115741799d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6" name="Google Shape;506;g1115741799d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1115741799d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1115741799d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1115741799d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1115741799d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1115741799d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1115741799d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1115741799d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1115741799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6" name="Shape 566"/>
        <p:cNvGrpSpPr/>
        <p:nvPr/>
      </p:nvGrpSpPr>
      <p:grpSpPr>
        <a:xfrm>
          <a:off x="0" y="0"/>
          <a:ext cx="0" cy="0"/>
          <a:chOff x="0" y="0"/>
          <a:chExt cx="0" cy="0"/>
        </a:xfrm>
      </p:grpSpPr>
      <p:sp>
        <p:nvSpPr>
          <p:cNvPr id="567" name="Google Shape;567;g1115741799d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8" name="Google Shape;568;g1115741799d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g1115741799d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5" name="Google Shape;575;g1115741799d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gd1e1db147b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1" name="Google Shape;581;gd1e1db147b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d1e1db147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d1e1db147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1187dc574c6_0_2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1187dc574c6_0_2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1187dc574c6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1187dc574c6_0_2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g1187dc574c6_0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8" name="Google Shape;608;g1187dc574c6_0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d1e1db147b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6" name="Google Shape;616;gd1e1db147b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1187dc574c6_0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4" name="Google Shape;624;g1187dc574c6_0_3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7" name="Shape 637"/>
        <p:cNvGrpSpPr/>
        <p:nvPr/>
      </p:nvGrpSpPr>
      <p:grpSpPr>
        <a:xfrm>
          <a:off x="0" y="0"/>
          <a:ext cx="0" cy="0"/>
          <a:chOff x="0" y="0"/>
          <a:chExt cx="0" cy="0"/>
        </a:xfrm>
      </p:grpSpPr>
      <p:sp>
        <p:nvSpPr>
          <p:cNvPr id="638" name="Google Shape;638;g1187dc574c6_0_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9" name="Google Shape;639;g1187dc574c6_0_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78" name="Shape 78"/>
        <p:cNvGrpSpPr/>
        <p:nvPr/>
      </p:nvGrpSpPr>
      <p:grpSpPr>
        <a:xfrm>
          <a:off x="0" y="0"/>
          <a:ext cx="0" cy="0"/>
          <a:chOff x="0" y="0"/>
          <a:chExt cx="0" cy="0"/>
        </a:xfrm>
      </p:grpSpPr>
      <p:sp>
        <p:nvSpPr>
          <p:cNvPr id="79" name="Google Shape;79;p16"/>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80" name="Google Shape;80;p16"/>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81" name="Google Shape;81;p16"/>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82" name="Google Shape;82;p16"/>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83" name="Google Shape;83;p16"/>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84" name="Google Shape;84;p16"/>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85" name="Google Shape;85;p16"/>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86" name="Google Shape;86;p16"/>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87" name="Google Shape;87;p16"/>
          <p:cNvGrpSpPr/>
          <p:nvPr/>
        </p:nvGrpSpPr>
        <p:grpSpPr>
          <a:xfrm>
            <a:off x="283668" y="259895"/>
            <a:ext cx="226001" cy="222980"/>
            <a:chOff x="283668" y="251687"/>
            <a:chExt cx="226001" cy="222980"/>
          </a:xfrm>
        </p:grpSpPr>
        <p:sp>
          <p:nvSpPr>
            <p:cNvPr id="88" name="Google Shape;88;p16"/>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89" name="Google Shape;89;p16"/>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90" name="Google Shape;90;p16"/>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91" name="Google Shape;91;p1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92" name="Google Shape;92;p1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93" name="Google Shape;93;p16"/>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4.jpg"/><Relationship Id="rId4" Type="http://schemas.openxmlformats.org/officeDocument/2006/relationships/image" Target="../media/image44.jpg"/><Relationship Id="rId5" Type="http://schemas.openxmlformats.org/officeDocument/2006/relationships/image" Target="../media/image19.png"/><Relationship Id="rId6" Type="http://schemas.openxmlformats.org/officeDocument/2006/relationships/image" Target="../media/image1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medium.com/fbdevclagos/4-reasons-why-wire-frame-is-important-during-website-or-mobile-app-development-46fabdf47190" TargetMode="External"/><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6.png"/><Relationship Id="rId5" Type="http://schemas.openxmlformats.org/officeDocument/2006/relationships/image" Target="../media/image13.png"/><Relationship Id="rId6" Type="http://schemas.openxmlformats.org/officeDocument/2006/relationships/image" Target="../media/image16.png"/></Relationships>
</file>

<file path=ppt/slides/_rels/slide11.xml.rels><?xml version="1.0" encoding="UTF-8" standalone="yes"?><Relationships xmlns="http://schemas.openxmlformats.org/package/2006/relationships"><Relationship Id="rId10" Type="http://schemas.openxmlformats.org/officeDocument/2006/relationships/image" Target="../media/image25.png"/><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www.sketch.com/" TargetMode="External"/><Relationship Id="rId4" Type="http://schemas.openxmlformats.org/officeDocument/2006/relationships/hyperlink" Target="https://www.sketch.com/" TargetMode="External"/><Relationship Id="rId9" Type="http://schemas.openxmlformats.org/officeDocument/2006/relationships/image" Target="../media/image18.png"/><Relationship Id="rId5" Type="http://schemas.openxmlformats.org/officeDocument/2006/relationships/hyperlink" Target="https://www.adobe.com/sea/products/xd.html" TargetMode="External"/><Relationship Id="rId6" Type="http://schemas.openxmlformats.org/officeDocument/2006/relationships/hyperlink" Target="https://www.figma.com/" TargetMode="External"/><Relationship Id="rId7" Type="http://schemas.openxmlformats.org/officeDocument/2006/relationships/hyperlink" Target="https://www.invisionapp.com/studio" TargetMode="External"/><Relationship Id="rId8" Type="http://schemas.openxmlformats.org/officeDocument/2006/relationships/hyperlink" Target="https://www.invisionapp.com/studio"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www.adobe.com/sea/products/photoshop.html?sdid=12B9DXDJ&amp;mv=search&amp;ef_id=CjwKCAjwk6-LBhBZEiwAOUUDp3J6T56IQCPTtKdEqRDeVjOn_YNvbGZDA7ksIwB3CsqUh2nTuFLJnhoCZq8QAvD_BwE:G:s&amp;s_kwcid=AL!3085!3!424783730141!e!!g!!adobe%20photoshop!703952628!38400836578&amp;gclid=CjwKCAjwk6-LBhBZEiwAOUUDp3J6T56IQCPTtKdEqRDeVjOn_YNvbGZDA7ksIwB3CsqUh2nTuFLJnhoCZq8QAvD_BwE" TargetMode="External"/><Relationship Id="rId4" Type="http://schemas.openxmlformats.org/officeDocument/2006/relationships/hyperlink" Target="https://www.adobe.com/sea/products/illustrator.html" TargetMode="External"/><Relationship Id="rId5" Type="http://schemas.openxmlformats.org/officeDocument/2006/relationships/image" Target="../media/image18.png"/><Relationship Id="rId6"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0.png"/><Relationship Id="rId4" Type="http://schemas.openxmlformats.org/officeDocument/2006/relationships/hyperlink" Target="https://medium.com/fbdevclagos/4-reasons-why-wire-frame-is-important-during-website-or-mobile-app-development-46fabdf47190" TargetMode="External"/><Relationship Id="rId5" Type="http://schemas.openxmlformats.org/officeDocument/2006/relationships/image" Target="../media/image11.png"/><Relationship Id="rId6"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1.png"/><Relationship Id="rId4" Type="http://schemas.openxmlformats.org/officeDocument/2006/relationships/image" Target="../media/image26.png"/><Relationship Id="rId5" Type="http://schemas.openxmlformats.org/officeDocument/2006/relationships/image" Target="../media/image30.png"/><Relationship Id="rId6"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2.png"/><Relationship Id="rId4" Type="http://schemas.openxmlformats.org/officeDocument/2006/relationships/image" Target="../media/image48.jpg"/><Relationship Id="rId5" Type="http://schemas.openxmlformats.org/officeDocument/2006/relationships/image" Target="../media/image2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31.png"/><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www.mockplus.com/blog/post/project-collaboration-software" TargetMode="External"/><Relationship Id="rId4" Type="http://schemas.openxmlformats.org/officeDocument/2006/relationships/image" Target="../media/image38.jpg"/><Relationship Id="rId5" Type="http://schemas.openxmlformats.org/officeDocument/2006/relationships/hyperlink" Target="https://slack.com/"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www.microsoft.com/id-id/microsoft-365/yammer/yammer-overview" TargetMode="External"/><Relationship Id="rId4" Type="http://schemas.openxmlformats.org/officeDocument/2006/relationships/hyperlink" Target="https://www.mockplus.com/blog/post/project-collaboration-software" TargetMode="External"/><Relationship Id="rId5" Type="http://schemas.openxmlformats.org/officeDocument/2006/relationships/image" Target="../media/image3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s://hangouts.google.com/" TargetMode="External"/><Relationship Id="rId4" Type="http://schemas.openxmlformats.org/officeDocument/2006/relationships/hyperlink" Target="https://www.mockplus.com/blog/post/project-collaboration-software" TargetMode="External"/><Relationship Id="rId5" Type="http://schemas.openxmlformats.org/officeDocument/2006/relationships/image" Target="../media/image35.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trello.com/" TargetMode="External"/><Relationship Id="rId4" Type="http://schemas.openxmlformats.org/officeDocument/2006/relationships/image" Target="../media/image37.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s://asana.com/id" TargetMode="External"/><Relationship Id="rId4" Type="http://schemas.openxmlformats.org/officeDocument/2006/relationships/image" Target="../media/image33.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monday.com/" TargetMode="External"/><Relationship Id="rId4" Type="http://schemas.openxmlformats.org/officeDocument/2006/relationships/image" Target="../media/image5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s://www.mockplus.com/blog/post/project-collaboration-software" TargetMode="External"/><Relationship Id="rId4" Type="http://schemas.openxmlformats.org/officeDocument/2006/relationships/image" Target="../media/image45.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www.mockplus.com/blog/post/project-collaboration-software" TargetMode="External"/><Relationship Id="rId4" Type="http://schemas.openxmlformats.org/officeDocument/2006/relationships/image" Target="../media/image40.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hyperlink" Target="https://medium.com/gigaom/dropbox-spaces-and-dropbox-paper-not-totally-integrated-yet-a37d3c0f5d90" TargetMode="External"/><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 Id="rId3" Type="http://schemas.openxmlformats.org/officeDocument/2006/relationships/image" Target="../media/image2.png"/><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4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4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20.png"/><Relationship Id="rId4" Type="http://schemas.openxmlformats.org/officeDocument/2006/relationships/image" Target="../media/image23.png"/><Relationship Id="rId5" Type="http://schemas.openxmlformats.org/officeDocument/2006/relationships/image" Target="../media/image46.png"/><Relationship Id="rId6" Type="http://schemas.openxmlformats.org/officeDocument/2006/relationships/image" Target="../media/image4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s://blog.bitsrc.io/15-designer-and-developer-collaboration-tools-for-2021-8fae54ac2298" TargetMode="External"/><Relationship Id="rId4" Type="http://schemas.openxmlformats.org/officeDocument/2006/relationships/image" Target="../media/image56.gif"/><Relationship Id="rId5" Type="http://schemas.openxmlformats.org/officeDocument/2006/relationships/hyperlink" Target="https://www.figma.com/"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hyperlink" Target="https://blog.bitsrc.io/15-designer-and-developer-collaboration-tools-for-2021-8fae54ac2298" TargetMode="External"/><Relationship Id="rId4" Type="http://schemas.openxmlformats.org/officeDocument/2006/relationships/image" Target="../media/image4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s://blog.bitsrc.io/15-designer-and-developer-collaboration-tools-for-2021-8fae54ac2298" TargetMode="External"/><Relationship Id="rId4" Type="http://schemas.openxmlformats.org/officeDocument/2006/relationships/image" Target="../media/image57.gi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 Id="rId3" Type="http://schemas.openxmlformats.org/officeDocument/2006/relationships/image" Target="../media/image2.png"/><Relationship Id="rId4" Type="http://schemas.openxmlformats.org/officeDocument/2006/relationships/image" Target="../media/image3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hyperlink" Target="https://files.design/blog/figma-plugins-overview" TargetMode="External"/><Relationship Id="rId4" Type="http://schemas.openxmlformats.org/officeDocument/2006/relationships/image" Target="../media/image51.png"/><Relationship Id="rId5" Type="http://schemas.openxmlformats.org/officeDocument/2006/relationships/hyperlink" Target="https://files.design/blog/figma-plugins-overview" TargetMode="External"/><Relationship Id="rId6" Type="http://schemas.openxmlformats.org/officeDocument/2006/relationships/hyperlink" Target="https://files.design/blog/figma-plugins-overview" TargetMode="External"/><Relationship Id="rId7" Type="http://schemas.openxmlformats.org/officeDocument/2006/relationships/image" Target="../media/image47.png"/><Relationship Id="rId8" Type="http://schemas.openxmlformats.org/officeDocument/2006/relationships/hyperlink" Target="https://files.design/blog/figma-plugins-overview"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hyperlink" Target="https://youtu.be/uuWoxom0IGw" TargetMode="External"/><Relationship Id="rId4" Type="http://schemas.openxmlformats.org/officeDocument/2006/relationships/hyperlink" Target="https://youtu.be/nXMNkw6QW_4" TargetMode="External"/><Relationship Id="rId5" Type="http://schemas.openxmlformats.org/officeDocument/2006/relationships/image" Target="../media/image5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5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21.png"/><Relationship Id="rId4" Type="http://schemas.openxmlformats.org/officeDocument/2006/relationships/image" Target="../media/image44.jpg"/><Relationship Id="rId5" Type="http://schemas.openxmlformats.org/officeDocument/2006/relationships/image" Target="../media/image19.png"/><Relationship Id="rId6" Type="http://schemas.openxmlformats.org/officeDocument/2006/relationships/image" Target="../media/image17.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21.png"/><Relationship Id="rId4" Type="http://schemas.openxmlformats.org/officeDocument/2006/relationships/image" Target="../media/image44.jpg"/><Relationship Id="rId5" Type="http://schemas.openxmlformats.org/officeDocument/2006/relationships/image" Target="../media/image19.png"/><Relationship Id="rId6" Type="http://schemas.openxmlformats.org/officeDocument/2006/relationships/image" Target="../media/image17.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16.png"/><Relationship Id="rId4" Type="http://schemas.openxmlformats.org/officeDocument/2006/relationships/image" Target="../media/image6.png"/><Relationship Id="rId5" Type="http://schemas.openxmlformats.org/officeDocument/2006/relationships/image" Target="../media/image12.png"/><Relationship Id="rId6" Type="http://schemas.openxmlformats.org/officeDocument/2006/relationships/image" Target="../media/image5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 Id="rId3" Type="http://schemas.openxmlformats.org/officeDocument/2006/relationships/image" Target="../media/image16.png"/><Relationship Id="rId4" Type="http://schemas.openxmlformats.org/officeDocument/2006/relationships/image" Target="../media/image6.png"/><Relationship Id="rId5" Type="http://schemas.openxmlformats.org/officeDocument/2006/relationships/image" Target="../media/image12.png"/><Relationship Id="rId6" Type="http://schemas.openxmlformats.org/officeDocument/2006/relationships/image" Target="../media/image5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7.png"/><Relationship Id="rId4" Type="http://schemas.openxmlformats.org/officeDocument/2006/relationships/hyperlink" Target="https://www.mockplus.com/blog/post/project-collaboration-software" TargetMode="External"/><Relationship Id="rId5" Type="http://schemas.openxmlformats.org/officeDocument/2006/relationships/hyperlink" Target="https://files.design/blog/figma-plugins-overview" TargetMode="External"/><Relationship Id="rId6" Type="http://schemas.openxmlformats.org/officeDocument/2006/relationships/hyperlink" Target="https://blog.bitsrc.io/15-designer-and-developer-collaboration-tools-for-2021-8fae54ac2298"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 Id="rId3" Type="http://schemas.openxmlformats.org/officeDocument/2006/relationships/image" Target="../media/image61.png"/><Relationship Id="rId4"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 Id="rId3" Type="http://schemas.openxmlformats.org/officeDocument/2006/relationships/image" Target="../media/image60.png"/><Relationship Id="rId4" Type="http://schemas.openxmlformats.org/officeDocument/2006/relationships/image" Target="../media/image59.png"/><Relationship Id="rId5" Type="http://schemas.openxmlformats.org/officeDocument/2006/relationships/image" Target="../media/image52.png"/><Relationship Id="rId6" Type="http://schemas.openxmlformats.org/officeDocument/2006/relationships/image" Target="../media/image6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52F67"/>
        </a:solidFill>
      </p:bgPr>
    </p:bg>
    <p:spTree>
      <p:nvGrpSpPr>
        <p:cNvPr id="97" name="Shape 97"/>
        <p:cNvGrpSpPr/>
        <p:nvPr/>
      </p:nvGrpSpPr>
      <p:grpSpPr>
        <a:xfrm>
          <a:off x="0" y="0"/>
          <a:ext cx="0" cy="0"/>
          <a:chOff x="0" y="0"/>
          <a:chExt cx="0" cy="0"/>
        </a:xfrm>
      </p:grpSpPr>
      <p:sp>
        <p:nvSpPr>
          <p:cNvPr id="98" name="Google Shape;98;p17"/>
          <p:cNvSpPr txBox="1"/>
          <p:nvPr/>
        </p:nvSpPr>
        <p:spPr>
          <a:xfrm>
            <a:off x="2349675" y="27058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b="1" sz="27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b="1" lang="en" sz="2700">
                <a:solidFill>
                  <a:schemeClr val="lt1"/>
                </a:solidFill>
                <a:latin typeface="Montserrat"/>
                <a:ea typeface="Montserrat"/>
                <a:cs typeface="Montserrat"/>
                <a:sym typeface="Montserrat"/>
              </a:rPr>
              <a:t>Peralatan UI/UX Design</a:t>
            </a:r>
            <a:endParaRPr sz="2700">
              <a:solidFill>
                <a:schemeClr val="lt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rPr lang="en">
                <a:solidFill>
                  <a:schemeClr val="lt1"/>
                </a:solidFill>
                <a:latin typeface="Montserrat ExtraBold"/>
                <a:ea typeface="Montserrat ExtraBold"/>
                <a:cs typeface="Montserrat ExtraBold"/>
                <a:sym typeface="Montserrat ExtraBold"/>
              </a:rPr>
              <a:t>Silver </a:t>
            </a:r>
            <a:r>
              <a:rPr lang="en">
                <a:solidFill>
                  <a:schemeClr val="lt1"/>
                </a:solidFill>
                <a:latin typeface="Montserrat"/>
                <a:ea typeface="Montserrat"/>
                <a:cs typeface="Montserrat"/>
                <a:sym typeface="Montserrat"/>
              </a:rPr>
              <a:t>- Chapter 3 - Topic 4</a:t>
            </a:r>
            <a:endParaRPr>
              <a:solidFill>
                <a:schemeClr val="lt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b="1" sz="2400">
              <a:solidFill>
                <a:schemeClr val="lt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b="1" sz="2700">
              <a:solidFill>
                <a:schemeClr val="lt1"/>
              </a:solidFill>
              <a:latin typeface="Montserrat"/>
              <a:ea typeface="Montserrat"/>
              <a:cs typeface="Montserrat"/>
              <a:sym typeface="Montserrat"/>
            </a:endParaRPr>
          </a:p>
        </p:txBody>
      </p:sp>
      <p:cxnSp>
        <p:nvCxnSpPr>
          <p:cNvPr id="99" name="Google Shape;99;p17"/>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100" name="Google Shape;100;p17"/>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52F67"/>
        </a:solidFill>
      </p:bgPr>
    </p:bg>
    <p:spTree>
      <p:nvGrpSpPr>
        <p:cNvPr id="104" name="Shape 104"/>
        <p:cNvGrpSpPr/>
        <p:nvPr/>
      </p:nvGrpSpPr>
      <p:grpSpPr>
        <a:xfrm>
          <a:off x="0" y="0"/>
          <a:ext cx="0" cy="0"/>
          <a:chOff x="0" y="0"/>
          <a:chExt cx="0" cy="0"/>
        </a:xfrm>
      </p:grpSpPr>
      <p:sp>
        <p:nvSpPr>
          <p:cNvPr id="105" name="Google Shape;105;p18"/>
          <p:cNvSpPr txBox="1"/>
          <p:nvPr/>
        </p:nvSpPr>
        <p:spPr>
          <a:xfrm>
            <a:off x="1746750" y="685025"/>
            <a:ext cx="5650500" cy="607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 sz="1600" u="none" cap="none" strike="noStrike">
                <a:solidFill>
                  <a:schemeClr val="lt1"/>
                </a:solidFill>
                <a:latin typeface="Montserrat"/>
                <a:ea typeface="Montserrat"/>
                <a:cs typeface="Montserrat"/>
                <a:sym typeface="Montserrat"/>
              </a:rPr>
              <a:t>Selamat datang di </a:t>
            </a:r>
            <a:r>
              <a:rPr b="1" i="0" lang="en" sz="1600" u="none" cap="none" strike="noStrike">
                <a:solidFill>
                  <a:schemeClr val="accent1"/>
                </a:solidFill>
                <a:latin typeface="Montserrat"/>
                <a:ea typeface="Montserrat"/>
                <a:cs typeface="Montserrat"/>
                <a:sym typeface="Montserrat"/>
              </a:rPr>
              <a:t>Chapter </a:t>
            </a:r>
            <a:r>
              <a:rPr b="1" lang="en" sz="1600">
                <a:solidFill>
                  <a:schemeClr val="accent1"/>
                </a:solidFill>
                <a:latin typeface="Montserrat"/>
                <a:ea typeface="Montserrat"/>
                <a:cs typeface="Montserrat"/>
                <a:sym typeface="Montserrat"/>
              </a:rPr>
              <a:t>3 Topik 4 </a:t>
            </a:r>
            <a:r>
              <a:rPr b="1" i="0" lang="en" sz="1600" u="none" cap="none" strike="noStrike">
                <a:solidFill>
                  <a:schemeClr val="lt1"/>
                </a:solidFill>
                <a:latin typeface="Montserrat"/>
                <a:ea typeface="Montserrat"/>
                <a:cs typeface="Montserrat"/>
                <a:sym typeface="Montserrat"/>
              </a:rPr>
              <a:t>online course </a:t>
            </a:r>
            <a:endParaRPr b="1" i="0" sz="1600" u="none" cap="none" strike="noStrike">
              <a:solidFill>
                <a:schemeClr val="lt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800"/>
              <a:buFont typeface="Arial"/>
              <a:buNone/>
            </a:pPr>
            <a:r>
              <a:rPr b="1" lang="en" sz="1600">
                <a:solidFill>
                  <a:schemeClr val="accent1"/>
                </a:solidFill>
                <a:latin typeface="Montserrat"/>
                <a:ea typeface="Montserrat"/>
                <a:cs typeface="Montserrat"/>
                <a:sym typeface="Montserrat"/>
              </a:rPr>
              <a:t>UI/UX Research/Design</a:t>
            </a:r>
            <a:r>
              <a:rPr b="1" i="0" lang="en" sz="1600" u="none" cap="none" strike="noStrike">
                <a:solidFill>
                  <a:schemeClr val="lt1"/>
                </a:solidFill>
                <a:latin typeface="Montserrat"/>
                <a:ea typeface="Montserrat"/>
                <a:cs typeface="Montserrat"/>
                <a:sym typeface="Montserrat"/>
              </a:rPr>
              <a:t> dari Binar Academy!</a:t>
            </a:r>
            <a:endParaRPr b="1" i="0" sz="1600" u="none" cap="none" strike="noStrike">
              <a:solidFill>
                <a:srgbClr val="FFFFFF"/>
              </a:solidFill>
              <a:latin typeface="Montserrat"/>
              <a:ea typeface="Montserrat"/>
              <a:cs typeface="Montserrat"/>
              <a:sym typeface="Montserrat"/>
            </a:endParaRPr>
          </a:p>
        </p:txBody>
      </p:sp>
      <p:pic>
        <p:nvPicPr>
          <p:cNvPr id="106" name="Google Shape;106;p18"/>
          <p:cNvPicPr preferRelativeResize="0"/>
          <p:nvPr/>
        </p:nvPicPr>
        <p:blipFill rotWithShape="1">
          <a:blip r:embed="rId3">
            <a:alphaModFix/>
          </a:blip>
          <a:srcRect b="0" l="0" r="0" t="0"/>
          <a:stretch/>
        </p:blipFill>
        <p:spPr>
          <a:xfrm>
            <a:off x="2660288" y="1807025"/>
            <a:ext cx="3823424" cy="2916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2" name="Google Shape;112;p1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113" name="Google Shape;113;p19"/>
          <p:cNvSpPr txBox="1"/>
          <p:nvPr/>
        </p:nvSpPr>
        <p:spPr>
          <a:xfrm>
            <a:off x="685800" y="1797150"/>
            <a:ext cx="4185000" cy="1549200"/>
          </a:xfrm>
          <a:prstGeom prst="rect">
            <a:avLst/>
          </a:prstGeom>
          <a:noFill/>
          <a:ln>
            <a:noFill/>
          </a:ln>
        </p:spPr>
        <p:txBody>
          <a:bodyPr anchorCtr="0" anchor="ctr" bIns="0" lIns="0" spcFirstLastPara="1" rIns="0" wrap="square" tIns="0">
            <a:noAutofit/>
          </a:bodyPr>
          <a:lstStyle/>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Pada topik ketiga, kita udah belajar tentang fase ideate part 1. </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1000"/>
              </a:spcAft>
              <a:buNone/>
            </a:pPr>
            <a:r>
              <a:rPr lang="en" sz="1000">
                <a:solidFill>
                  <a:schemeClr val="dk1"/>
                </a:solidFill>
                <a:latin typeface="Montserrat"/>
                <a:ea typeface="Montserrat"/>
                <a:cs typeface="Montserrat"/>
                <a:sym typeface="Montserrat"/>
              </a:rPr>
              <a:t>Nah, sebelum lanjut ngebahas fase ideate part 2, kita bakalan bahas terlebih dahulu tentang </a:t>
            </a:r>
            <a:r>
              <a:rPr b="1" lang="en" sz="1000">
                <a:solidFill>
                  <a:schemeClr val="dk1"/>
                </a:solidFill>
                <a:latin typeface="Montserrat"/>
                <a:ea typeface="Montserrat"/>
                <a:cs typeface="Montserrat"/>
                <a:sym typeface="Montserrat"/>
              </a:rPr>
              <a:t>peralatan UI/UX Design </a:t>
            </a:r>
            <a:r>
              <a:rPr lang="en" sz="1000">
                <a:solidFill>
                  <a:schemeClr val="dk1"/>
                </a:solidFill>
                <a:latin typeface="Montserrat"/>
                <a:ea typeface="Montserrat"/>
                <a:cs typeface="Montserrat"/>
                <a:sym typeface="Montserrat"/>
              </a:rPr>
              <a:t>pada topik keempat ini. Penasaran kayak gimana? Cus langsung aja~</a:t>
            </a:r>
            <a:endParaRPr sz="1000">
              <a:solidFill>
                <a:schemeClr val="dk1"/>
              </a:solidFill>
              <a:latin typeface="Montserrat"/>
              <a:ea typeface="Montserrat"/>
              <a:cs typeface="Montserrat"/>
              <a:sym typeface="Montserrat"/>
            </a:endParaRPr>
          </a:p>
        </p:txBody>
      </p:sp>
      <p:pic>
        <p:nvPicPr>
          <p:cNvPr id="114" name="Google Shape;114;p19"/>
          <p:cNvPicPr preferRelativeResize="0"/>
          <p:nvPr/>
        </p:nvPicPr>
        <p:blipFill>
          <a:blip r:embed="rId3">
            <a:alphaModFix/>
          </a:blip>
          <a:stretch>
            <a:fillRect/>
          </a:stretch>
        </p:blipFill>
        <p:spPr>
          <a:xfrm>
            <a:off x="5409425" y="942900"/>
            <a:ext cx="2885476" cy="36301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0" name="Google Shape;120;p2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121" name="Google Shape;121;p20"/>
          <p:cNvSpPr txBox="1"/>
          <p:nvPr/>
        </p:nvSpPr>
        <p:spPr>
          <a:xfrm>
            <a:off x="671975" y="942983"/>
            <a:ext cx="4114800" cy="967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b="1" lang="en" sz="1600">
                <a:solidFill>
                  <a:srgbClr val="512252"/>
                </a:solidFill>
                <a:highlight>
                  <a:schemeClr val="lt1"/>
                </a:highlight>
                <a:latin typeface="Montserrat"/>
                <a:ea typeface="Montserrat"/>
                <a:cs typeface="Montserrat"/>
                <a:sym typeface="Montserrat"/>
              </a:rPr>
              <a:t>Detailnya, kita bakal bahas hal-hal berikut ini: </a:t>
            </a:r>
            <a:endParaRPr b="1" sz="1600">
              <a:solidFill>
                <a:srgbClr val="512252"/>
              </a:solidFill>
              <a:latin typeface="Montserrat"/>
              <a:ea typeface="Montserrat"/>
              <a:cs typeface="Montserrat"/>
              <a:sym typeface="Montserrat"/>
            </a:endParaRPr>
          </a:p>
        </p:txBody>
      </p:sp>
      <p:sp>
        <p:nvSpPr>
          <p:cNvPr id="122" name="Google Shape;122;p20"/>
          <p:cNvSpPr/>
          <p:nvPr/>
        </p:nvSpPr>
        <p:spPr>
          <a:xfrm>
            <a:off x="831025" y="205362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3" name="Google Shape;123;p20"/>
          <p:cNvSpPr/>
          <p:nvPr/>
        </p:nvSpPr>
        <p:spPr>
          <a:xfrm>
            <a:off x="831025" y="2452963"/>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24" name="Google Shape;124;p20"/>
          <p:cNvSpPr/>
          <p:nvPr/>
        </p:nvSpPr>
        <p:spPr>
          <a:xfrm>
            <a:off x="831025" y="285232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0"/>
          <p:cNvSpPr txBox="1"/>
          <p:nvPr/>
        </p:nvSpPr>
        <p:spPr>
          <a:xfrm>
            <a:off x="1324925" y="1820975"/>
            <a:ext cx="3247200" cy="721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Montserrat Medium"/>
                <a:ea typeface="Montserrat Medium"/>
                <a:cs typeface="Montserrat Medium"/>
                <a:sym typeface="Montserrat Medium"/>
              </a:rPr>
              <a:t>Peralatan brainstorming</a:t>
            </a:r>
            <a:endParaRPr sz="1200">
              <a:solidFill>
                <a:schemeClr val="dk1"/>
              </a:solidFill>
              <a:latin typeface="Montserrat Medium"/>
              <a:ea typeface="Montserrat Medium"/>
              <a:cs typeface="Montserrat Medium"/>
              <a:sym typeface="Montserrat Medium"/>
            </a:endParaRPr>
          </a:p>
        </p:txBody>
      </p:sp>
      <p:sp>
        <p:nvSpPr>
          <p:cNvPr id="126" name="Google Shape;126;p20"/>
          <p:cNvSpPr txBox="1"/>
          <p:nvPr/>
        </p:nvSpPr>
        <p:spPr>
          <a:xfrm>
            <a:off x="1324925" y="2211138"/>
            <a:ext cx="3028200" cy="721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Montserrat Medium"/>
                <a:ea typeface="Montserrat Medium"/>
                <a:cs typeface="Montserrat Medium"/>
                <a:sym typeface="Montserrat Medium"/>
              </a:rPr>
              <a:t>Peralatan wireframing</a:t>
            </a:r>
            <a:endParaRPr sz="1200">
              <a:solidFill>
                <a:schemeClr val="dk1"/>
              </a:solidFill>
              <a:latin typeface="Montserrat Medium"/>
              <a:ea typeface="Montserrat Medium"/>
              <a:cs typeface="Montserrat Medium"/>
              <a:sym typeface="Montserrat Medium"/>
            </a:endParaRPr>
          </a:p>
        </p:txBody>
      </p:sp>
      <p:sp>
        <p:nvSpPr>
          <p:cNvPr id="127" name="Google Shape;127;p20"/>
          <p:cNvSpPr txBox="1"/>
          <p:nvPr/>
        </p:nvSpPr>
        <p:spPr>
          <a:xfrm>
            <a:off x="1324925" y="2606250"/>
            <a:ext cx="3028200" cy="721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Montserrat Medium"/>
                <a:ea typeface="Montserrat Medium"/>
                <a:cs typeface="Montserrat Medium"/>
                <a:sym typeface="Montserrat Medium"/>
              </a:rPr>
              <a:t>Peralatan prototyping</a:t>
            </a:r>
            <a:endParaRPr sz="1200">
              <a:solidFill>
                <a:schemeClr val="dk1"/>
              </a:solidFill>
              <a:latin typeface="Montserrat Medium"/>
              <a:ea typeface="Montserrat Medium"/>
              <a:cs typeface="Montserrat Medium"/>
              <a:sym typeface="Montserrat Medium"/>
            </a:endParaRPr>
          </a:p>
        </p:txBody>
      </p:sp>
      <p:pic>
        <p:nvPicPr>
          <p:cNvPr id="128" name="Google Shape;128;p20"/>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129" name="Google Shape;129;p20"/>
          <p:cNvSpPr/>
          <p:nvPr/>
        </p:nvSpPr>
        <p:spPr>
          <a:xfrm>
            <a:off x="831025" y="325167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0"/>
          <p:cNvSpPr txBox="1"/>
          <p:nvPr/>
        </p:nvSpPr>
        <p:spPr>
          <a:xfrm>
            <a:off x="1229375" y="3187775"/>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chemeClr val="dk1"/>
                </a:solidFill>
                <a:latin typeface="Montserrat Medium"/>
                <a:ea typeface="Montserrat Medium"/>
                <a:cs typeface="Montserrat Medium"/>
                <a:sym typeface="Montserrat Medium"/>
              </a:rPr>
              <a:t>Peralatan kolaborasi proyek</a:t>
            </a:r>
            <a:endParaRPr sz="1200">
              <a:solidFill>
                <a:schemeClr val="dk1"/>
              </a:solidFill>
              <a:latin typeface="Montserrat Medium"/>
              <a:ea typeface="Montserrat Medium"/>
              <a:cs typeface="Montserrat Medium"/>
              <a:sym typeface="Montserrat Medium"/>
            </a:endParaRPr>
          </a:p>
        </p:txBody>
      </p:sp>
      <p:sp>
        <p:nvSpPr>
          <p:cNvPr id="131" name="Google Shape;131;p20"/>
          <p:cNvSpPr txBox="1"/>
          <p:nvPr/>
        </p:nvSpPr>
        <p:spPr>
          <a:xfrm>
            <a:off x="1229375" y="3632925"/>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chemeClr val="dk1"/>
                </a:solidFill>
                <a:latin typeface="Montserrat Medium"/>
                <a:ea typeface="Montserrat Medium"/>
                <a:cs typeface="Montserrat Medium"/>
                <a:sym typeface="Montserrat Medium"/>
              </a:rPr>
              <a:t>Peralatan handoff</a:t>
            </a:r>
            <a:endParaRPr sz="1200">
              <a:solidFill>
                <a:schemeClr val="dk1"/>
              </a:solidFill>
              <a:latin typeface="Montserrat Medium"/>
              <a:ea typeface="Montserrat Medium"/>
              <a:cs typeface="Montserrat Medium"/>
              <a:sym typeface="Montserrat Medium"/>
            </a:endParaRPr>
          </a:p>
        </p:txBody>
      </p:sp>
      <p:sp>
        <p:nvSpPr>
          <p:cNvPr id="132" name="Google Shape;132;p20"/>
          <p:cNvSpPr txBox="1"/>
          <p:nvPr/>
        </p:nvSpPr>
        <p:spPr>
          <a:xfrm>
            <a:off x="1229375" y="4078075"/>
            <a:ext cx="3000000" cy="369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 sz="1200">
                <a:solidFill>
                  <a:schemeClr val="dk1"/>
                </a:solidFill>
                <a:latin typeface="Montserrat Medium"/>
                <a:ea typeface="Montserrat Medium"/>
                <a:cs typeface="Montserrat Medium"/>
                <a:sym typeface="Montserrat Medium"/>
              </a:rPr>
              <a:t>Mengenal plugin</a:t>
            </a:r>
            <a:endParaRPr sz="1200">
              <a:solidFill>
                <a:schemeClr val="dk1"/>
              </a:solidFill>
              <a:latin typeface="Montserrat Medium"/>
              <a:ea typeface="Montserrat Medium"/>
              <a:cs typeface="Montserrat Medium"/>
              <a:sym typeface="Montserrat Medium"/>
            </a:endParaRPr>
          </a:p>
        </p:txBody>
      </p:sp>
      <p:sp>
        <p:nvSpPr>
          <p:cNvPr id="133" name="Google Shape;133;p20"/>
          <p:cNvSpPr/>
          <p:nvPr/>
        </p:nvSpPr>
        <p:spPr>
          <a:xfrm>
            <a:off x="831025" y="368962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0"/>
          <p:cNvSpPr/>
          <p:nvPr/>
        </p:nvSpPr>
        <p:spPr>
          <a:xfrm>
            <a:off x="831025" y="4127575"/>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52F67"/>
        </a:solidFill>
      </p:bgPr>
    </p:bg>
    <p:spTree>
      <p:nvGrpSpPr>
        <p:cNvPr id="138" name="Shape 138"/>
        <p:cNvGrpSpPr/>
        <p:nvPr/>
      </p:nvGrpSpPr>
      <p:grpSpPr>
        <a:xfrm>
          <a:off x="0" y="0"/>
          <a:ext cx="0" cy="0"/>
          <a:chOff x="0" y="0"/>
          <a:chExt cx="0" cy="0"/>
        </a:xfrm>
      </p:grpSpPr>
      <p:sp>
        <p:nvSpPr>
          <p:cNvPr id="139" name="Google Shape;139;p21"/>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40" name="Google Shape;140;p21"/>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41" name="Google Shape;141;p21"/>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42" name="Google Shape;142;p21"/>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43" name="Google Shape;143;p21"/>
          <p:cNvSpPr txBox="1"/>
          <p:nvPr/>
        </p:nvSpPr>
        <p:spPr>
          <a:xfrm>
            <a:off x="625525" y="99825"/>
            <a:ext cx="6381600" cy="536100"/>
          </a:xfrm>
          <a:prstGeom prst="rect">
            <a:avLst/>
          </a:prstGeom>
          <a:noFill/>
          <a:ln>
            <a:noFill/>
          </a:ln>
        </p:spPr>
        <p:txBody>
          <a:bodyPr anchorCtr="0" anchor="ctr" bIns="34275" lIns="68575" spcFirstLastPara="1" rIns="68575" wrap="square" tIns="34275">
            <a:noAutofit/>
          </a:bodyPr>
          <a:lstStyle/>
          <a:p>
            <a:pPr indent="0" lvl="0" marL="0" rtl="0" algn="l">
              <a:lnSpc>
                <a:spcPct val="115000"/>
              </a:lnSpc>
              <a:spcBef>
                <a:spcPts val="0"/>
              </a:spcBef>
              <a:spcAft>
                <a:spcPts val="0"/>
              </a:spcAft>
              <a:buClr>
                <a:schemeClr val="dk1"/>
              </a:buClr>
              <a:buSzPts val="1100"/>
              <a:buFont typeface="Arial"/>
              <a:buNone/>
            </a:pPr>
            <a:r>
              <a:rPr b="1" lang="en" sz="1200">
                <a:solidFill>
                  <a:schemeClr val="lt1"/>
                </a:solidFill>
                <a:latin typeface="Montserrat"/>
                <a:ea typeface="Montserrat"/>
                <a:cs typeface="Montserrat"/>
                <a:sym typeface="Montserrat"/>
              </a:rPr>
              <a:t>Peralatan brainstorming</a:t>
            </a:r>
            <a:endParaRPr b="1" sz="1200">
              <a:solidFill>
                <a:schemeClr val="lt1"/>
              </a:solidFill>
              <a:latin typeface="Montserrat"/>
              <a:ea typeface="Montserrat"/>
              <a:cs typeface="Montserrat"/>
              <a:sym typeface="Montserrat"/>
            </a:endParaRPr>
          </a:p>
        </p:txBody>
      </p:sp>
      <p:sp>
        <p:nvSpPr>
          <p:cNvPr id="144" name="Google Shape;144;p21"/>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145" name="Google Shape;145;p21"/>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pic>
        <p:nvPicPr>
          <p:cNvPr id="146" name="Google Shape;146;p21"/>
          <p:cNvPicPr preferRelativeResize="0"/>
          <p:nvPr/>
        </p:nvPicPr>
        <p:blipFill rotWithShape="1">
          <a:blip r:embed="rId3">
            <a:alphaModFix/>
          </a:blip>
          <a:srcRect b="0" l="0" r="0" t="0"/>
          <a:stretch/>
        </p:blipFill>
        <p:spPr>
          <a:xfrm>
            <a:off x="8535950" y="105991"/>
            <a:ext cx="463928" cy="463928"/>
          </a:xfrm>
          <a:prstGeom prst="rect">
            <a:avLst/>
          </a:prstGeom>
          <a:noFill/>
          <a:ln>
            <a:noFill/>
          </a:ln>
        </p:spPr>
      </p:pic>
      <p:sp>
        <p:nvSpPr>
          <p:cNvPr id="147" name="Google Shape;147;p21"/>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148" name="Google Shape;148;p21"/>
          <p:cNvSpPr txBox="1"/>
          <p:nvPr/>
        </p:nvSpPr>
        <p:spPr>
          <a:xfrm>
            <a:off x="574800" y="1422288"/>
            <a:ext cx="4062300" cy="2298900"/>
          </a:xfrm>
          <a:prstGeom prst="rect">
            <a:avLst/>
          </a:prstGeom>
          <a:noFill/>
          <a:ln>
            <a:noFill/>
          </a:ln>
        </p:spPr>
        <p:txBody>
          <a:bodyPr anchorCtr="0" anchor="ctr" bIns="91425" lIns="91425" spcFirstLastPara="1" rIns="91425" wrap="square" tIns="91425">
            <a:noAutofit/>
          </a:bodyPr>
          <a:lstStyle/>
          <a:p>
            <a:pPr indent="0" lvl="0" marL="0" rtl="0" algn="just">
              <a:spcBef>
                <a:spcPts val="0"/>
              </a:spcBef>
              <a:spcAft>
                <a:spcPts val="0"/>
              </a:spcAft>
              <a:buClr>
                <a:schemeClr val="dk1"/>
              </a:buClr>
              <a:buSzPts val="3600"/>
              <a:buFont typeface="Arial"/>
              <a:buNone/>
            </a:pPr>
            <a:r>
              <a:rPr b="1" lang="en">
                <a:solidFill>
                  <a:schemeClr val="lt1"/>
                </a:solidFill>
                <a:latin typeface="Montserrat"/>
                <a:ea typeface="Montserrat"/>
                <a:cs typeface="Montserrat"/>
                <a:sym typeface="Montserrat"/>
              </a:rPr>
              <a:t>Pertama, kita bakal bahas</a:t>
            </a:r>
            <a:r>
              <a:rPr b="1" lang="en">
                <a:solidFill>
                  <a:schemeClr val="accent1"/>
                </a:solidFill>
                <a:latin typeface="Montserrat"/>
                <a:ea typeface="Montserrat"/>
                <a:cs typeface="Montserrat"/>
                <a:sym typeface="Montserrat"/>
              </a:rPr>
              <a:t> peralatan brainstorming.</a:t>
            </a:r>
            <a:endParaRPr b="1">
              <a:solidFill>
                <a:schemeClr val="accent1"/>
              </a:solidFill>
              <a:latin typeface="Montserrat"/>
              <a:ea typeface="Montserrat"/>
              <a:cs typeface="Montserrat"/>
              <a:sym typeface="Montserrat"/>
            </a:endParaRPr>
          </a:p>
        </p:txBody>
      </p:sp>
      <p:sp>
        <p:nvSpPr>
          <p:cNvPr id="149" name="Google Shape;149;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50" name="Google Shape;150;p21"/>
          <p:cNvPicPr preferRelativeResize="0"/>
          <p:nvPr/>
        </p:nvPicPr>
        <p:blipFill>
          <a:blip r:embed="rId4">
            <a:alphaModFix/>
          </a:blip>
          <a:stretch>
            <a:fillRect/>
          </a:stretch>
        </p:blipFill>
        <p:spPr>
          <a:xfrm>
            <a:off x="5152875" y="914400"/>
            <a:ext cx="2137800" cy="3886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6" name="Google Shape;156;p2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Peralatan brainstorming</a:t>
            </a:r>
            <a:endParaRPr/>
          </a:p>
        </p:txBody>
      </p:sp>
      <p:sp>
        <p:nvSpPr>
          <p:cNvPr id="157" name="Google Shape;157;p22"/>
          <p:cNvSpPr txBox="1"/>
          <p:nvPr/>
        </p:nvSpPr>
        <p:spPr>
          <a:xfrm>
            <a:off x="685800" y="1600200"/>
            <a:ext cx="39513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Masih ingat kan apa itu brainstorming?</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Pada topik sebelumnya, kita udah bahas kalo b</a:t>
            </a:r>
            <a:r>
              <a:rPr lang="en" sz="1000">
                <a:solidFill>
                  <a:schemeClr val="dk1"/>
                </a:solidFill>
                <a:latin typeface="Montserrat"/>
                <a:ea typeface="Montserrat"/>
                <a:cs typeface="Montserrat"/>
                <a:sym typeface="Montserrat"/>
              </a:rPr>
              <a:t>rainstorming itu metode untuk menemukan ide-ide baru yang didasarkan pada spontanitas dan kreativitas.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sz="1000">
                <a:solidFill>
                  <a:schemeClr val="dk1"/>
                </a:solidFill>
                <a:latin typeface="Montserrat"/>
                <a:ea typeface="Montserrat"/>
                <a:cs typeface="Montserrat"/>
                <a:sym typeface="Montserrat"/>
              </a:rPr>
              <a:t>Konsep dasar dari brainstorming adalah melatih otak manusia </a:t>
            </a:r>
            <a:r>
              <a:rPr lang="en" sz="1000">
                <a:solidFill>
                  <a:schemeClr val="dk1"/>
                </a:solidFill>
                <a:latin typeface="Montserrat"/>
                <a:ea typeface="Montserrat"/>
                <a:cs typeface="Montserrat"/>
                <a:sym typeface="Montserrat"/>
              </a:rPr>
              <a:t>agar muncul ide-ide baru dan kemudian memvisualisasikan ide-ide tersebut pada sebuah gambar, mind map, flowchart, dan lain lain.</a:t>
            </a:r>
            <a:endParaRPr sz="1000">
              <a:solidFill>
                <a:schemeClr val="dk1"/>
              </a:solidFill>
              <a:latin typeface="Montserrat"/>
              <a:ea typeface="Montserrat"/>
              <a:cs typeface="Montserrat"/>
              <a:sym typeface="Montserrat"/>
            </a:endParaRPr>
          </a:p>
        </p:txBody>
      </p:sp>
      <p:pic>
        <p:nvPicPr>
          <p:cNvPr id="158" name="Google Shape;158;p22"/>
          <p:cNvPicPr preferRelativeResize="0"/>
          <p:nvPr/>
        </p:nvPicPr>
        <p:blipFill>
          <a:blip r:embed="rId3">
            <a:alphaModFix/>
          </a:blip>
          <a:stretch>
            <a:fillRect/>
          </a:stretch>
        </p:blipFill>
        <p:spPr>
          <a:xfrm>
            <a:off x="4865900" y="914400"/>
            <a:ext cx="3616740" cy="3886198"/>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4" name="Google Shape;164;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Peralatan brainstorming</a:t>
            </a:r>
            <a:endParaRPr/>
          </a:p>
        </p:txBody>
      </p:sp>
      <p:pic>
        <p:nvPicPr>
          <p:cNvPr id="165" name="Google Shape;165;p23"/>
          <p:cNvPicPr preferRelativeResize="0"/>
          <p:nvPr/>
        </p:nvPicPr>
        <p:blipFill rotWithShape="1">
          <a:blip r:embed="rId3">
            <a:alphaModFix/>
          </a:blip>
          <a:srcRect b="0" l="21854" r="21848" t="0"/>
          <a:stretch/>
        </p:blipFill>
        <p:spPr>
          <a:xfrm>
            <a:off x="1120275" y="2236250"/>
            <a:ext cx="1371599" cy="1371600"/>
          </a:xfrm>
          <a:prstGeom prst="rect">
            <a:avLst/>
          </a:prstGeom>
          <a:noFill/>
          <a:ln>
            <a:noFill/>
          </a:ln>
        </p:spPr>
      </p:pic>
      <p:sp>
        <p:nvSpPr>
          <p:cNvPr id="166" name="Google Shape;166;p23"/>
          <p:cNvSpPr txBox="1"/>
          <p:nvPr/>
        </p:nvSpPr>
        <p:spPr>
          <a:xfrm>
            <a:off x="1374675" y="3734700"/>
            <a:ext cx="8628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solidFill>
                  <a:schemeClr val="dk1"/>
                </a:solidFill>
                <a:latin typeface="Montserrat"/>
                <a:ea typeface="Montserrat"/>
                <a:cs typeface="Montserrat"/>
                <a:sym typeface="Montserrat"/>
              </a:rPr>
              <a:t>Draw.io</a:t>
            </a:r>
            <a:endParaRPr b="1" sz="1000">
              <a:solidFill>
                <a:schemeClr val="dk1"/>
              </a:solidFill>
              <a:latin typeface="Montserrat"/>
              <a:ea typeface="Montserrat"/>
              <a:cs typeface="Montserrat"/>
              <a:sym typeface="Montserrat"/>
            </a:endParaRPr>
          </a:p>
        </p:txBody>
      </p:sp>
      <p:pic>
        <p:nvPicPr>
          <p:cNvPr id="167" name="Google Shape;167;p23"/>
          <p:cNvPicPr preferRelativeResize="0"/>
          <p:nvPr/>
        </p:nvPicPr>
        <p:blipFill rotWithShape="1">
          <a:blip r:embed="rId4">
            <a:alphaModFix/>
          </a:blip>
          <a:srcRect b="0" l="0" r="0" t="0"/>
          <a:stretch/>
        </p:blipFill>
        <p:spPr>
          <a:xfrm>
            <a:off x="2873162" y="2236250"/>
            <a:ext cx="1371600" cy="1371600"/>
          </a:xfrm>
          <a:prstGeom prst="rect">
            <a:avLst/>
          </a:prstGeom>
          <a:noFill/>
          <a:ln>
            <a:noFill/>
          </a:ln>
        </p:spPr>
      </p:pic>
      <p:sp>
        <p:nvSpPr>
          <p:cNvPr id="168" name="Google Shape;168;p23"/>
          <p:cNvSpPr txBox="1"/>
          <p:nvPr/>
        </p:nvSpPr>
        <p:spPr>
          <a:xfrm>
            <a:off x="2962325" y="3734700"/>
            <a:ext cx="105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000">
                <a:latin typeface="Montserrat"/>
                <a:ea typeface="Montserrat"/>
                <a:cs typeface="Montserrat"/>
                <a:sym typeface="Montserrat"/>
              </a:rPr>
              <a:t>LucidChart</a:t>
            </a:r>
            <a:endParaRPr b="1" sz="1000">
              <a:latin typeface="Montserrat"/>
              <a:ea typeface="Montserrat"/>
              <a:cs typeface="Montserrat"/>
              <a:sym typeface="Montserrat"/>
            </a:endParaRPr>
          </a:p>
        </p:txBody>
      </p:sp>
      <p:pic>
        <p:nvPicPr>
          <p:cNvPr id="169" name="Google Shape;169;p23"/>
          <p:cNvPicPr preferRelativeResize="0"/>
          <p:nvPr/>
        </p:nvPicPr>
        <p:blipFill rotWithShape="1">
          <a:blip r:embed="rId5">
            <a:alphaModFix/>
          </a:blip>
          <a:srcRect b="0" l="0" r="0" t="0"/>
          <a:stretch/>
        </p:blipFill>
        <p:spPr>
          <a:xfrm>
            <a:off x="4649913" y="2236250"/>
            <a:ext cx="1371599" cy="1371600"/>
          </a:xfrm>
          <a:prstGeom prst="rect">
            <a:avLst/>
          </a:prstGeom>
          <a:noFill/>
          <a:ln>
            <a:noFill/>
          </a:ln>
        </p:spPr>
      </p:pic>
      <p:sp>
        <p:nvSpPr>
          <p:cNvPr id="170" name="Google Shape;170;p23"/>
          <p:cNvSpPr txBox="1"/>
          <p:nvPr/>
        </p:nvSpPr>
        <p:spPr>
          <a:xfrm>
            <a:off x="4786850" y="3734700"/>
            <a:ext cx="10500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latin typeface="Montserrat"/>
                <a:ea typeface="Montserrat"/>
                <a:cs typeface="Montserrat"/>
                <a:sym typeface="Montserrat"/>
              </a:rPr>
              <a:t>Coggle</a:t>
            </a:r>
            <a:endParaRPr b="1" sz="1000">
              <a:latin typeface="Montserrat"/>
              <a:ea typeface="Montserrat"/>
              <a:cs typeface="Montserrat"/>
              <a:sym typeface="Montserrat"/>
            </a:endParaRPr>
          </a:p>
        </p:txBody>
      </p:sp>
      <p:sp>
        <p:nvSpPr>
          <p:cNvPr id="171" name="Google Shape;171;p23"/>
          <p:cNvSpPr txBox="1"/>
          <p:nvPr/>
        </p:nvSpPr>
        <p:spPr>
          <a:xfrm>
            <a:off x="6398625" y="3734700"/>
            <a:ext cx="16251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latin typeface="Montserrat"/>
                <a:ea typeface="Montserrat"/>
                <a:cs typeface="Montserrat"/>
                <a:sym typeface="Montserrat"/>
              </a:rPr>
              <a:t>Google Docs</a:t>
            </a:r>
            <a:endParaRPr b="1" sz="1000">
              <a:latin typeface="Montserrat"/>
              <a:ea typeface="Montserrat"/>
              <a:cs typeface="Montserrat"/>
              <a:sym typeface="Montserrat"/>
            </a:endParaRPr>
          </a:p>
        </p:txBody>
      </p:sp>
      <p:pic>
        <p:nvPicPr>
          <p:cNvPr id="172" name="Google Shape;172;p23"/>
          <p:cNvPicPr preferRelativeResize="0"/>
          <p:nvPr/>
        </p:nvPicPr>
        <p:blipFill rotWithShape="1">
          <a:blip r:embed="rId6">
            <a:alphaModFix/>
          </a:blip>
          <a:srcRect b="0" l="18112" r="19921" t="0"/>
          <a:stretch/>
        </p:blipFill>
        <p:spPr>
          <a:xfrm>
            <a:off x="6426675" y="2077525"/>
            <a:ext cx="1569001" cy="1689025"/>
          </a:xfrm>
          <a:prstGeom prst="rect">
            <a:avLst/>
          </a:prstGeom>
          <a:noFill/>
          <a:ln>
            <a:noFill/>
          </a:ln>
        </p:spPr>
      </p:pic>
      <p:sp>
        <p:nvSpPr>
          <p:cNvPr id="173" name="Google Shape;173;p23"/>
          <p:cNvSpPr txBox="1"/>
          <p:nvPr/>
        </p:nvSpPr>
        <p:spPr>
          <a:xfrm>
            <a:off x="1405350" y="1215750"/>
            <a:ext cx="6333300" cy="714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Nah, peralatan brainstorming</a:t>
            </a:r>
            <a:r>
              <a:rPr b="1" lang="en" sz="1600">
                <a:solidFill>
                  <a:srgbClr val="743673"/>
                </a:solidFill>
                <a:highlight>
                  <a:schemeClr val="lt1"/>
                </a:highlight>
                <a:latin typeface="Montserrat"/>
                <a:ea typeface="Montserrat"/>
                <a:cs typeface="Montserrat"/>
                <a:sym typeface="Montserrat"/>
              </a:rPr>
              <a:t> yang biasa digunakan adalah sebagai berikut~</a:t>
            </a:r>
            <a:endParaRPr b="1" sz="1600">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52F67"/>
        </a:solidFill>
      </p:bgPr>
    </p:bg>
    <p:spTree>
      <p:nvGrpSpPr>
        <p:cNvPr id="177" name="Shape 177"/>
        <p:cNvGrpSpPr/>
        <p:nvPr/>
      </p:nvGrpSpPr>
      <p:grpSpPr>
        <a:xfrm>
          <a:off x="0" y="0"/>
          <a:ext cx="0" cy="0"/>
          <a:chOff x="0" y="0"/>
          <a:chExt cx="0" cy="0"/>
        </a:xfrm>
      </p:grpSpPr>
      <p:sp>
        <p:nvSpPr>
          <p:cNvPr id="178" name="Google Shape;178;p2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9" name="Google Shape;179;p2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0" name="Google Shape;180;p2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1" name="Google Shape;181;p2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2" name="Google Shape;182;p24"/>
          <p:cNvSpPr txBox="1"/>
          <p:nvPr/>
        </p:nvSpPr>
        <p:spPr>
          <a:xfrm>
            <a:off x="625525" y="99825"/>
            <a:ext cx="6381600" cy="536100"/>
          </a:xfrm>
          <a:prstGeom prst="rect">
            <a:avLst/>
          </a:prstGeom>
          <a:noFill/>
          <a:ln>
            <a:noFill/>
          </a:ln>
        </p:spPr>
        <p:txBody>
          <a:bodyPr anchorCtr="0" anchor="ctr" bIns="34275" lIns="68575" spcFirstLastPara="1" rIns="68575" wrap="square" tIns="34275">
            <a:noAutofit/>
          </a:bodyPr>
          <a:lstStyle/>
          <a:p>
            <a:pPr indent="0" lvl="0" marL="0" rtl="0" algn="l">
              <a:lnSpc>
                <a:spcPct val="115000"/>
              </a:lnSpc>
              <a:spcBef>
                <a:spcPts val="0"/>
              </a:spcBef>
              <a:spcAft>
                <a:spcPts val="0"/>
              </a:spcAft>
              <a:buClr>
                <a:schemeClr val="dk1"/>
              </a:buClr>
              <a:buSzPts val="1100"/>
              <a:buFont typeface="Arial"/>
              <a:buNone/>
            </a:pPr>
            <a:r>
              <a:rPr b="1" lang="en" sz="1200">
                <a:solidFill>
                  <a:schemeClr val="lt1"/>
                </a:solidFill>
                <a:latin typeface="Montserrat"/>
                <a:ea typeface="Montserrat"/>
                <a:cs typeface="Montserrat"/>
                <a:sym typeface="Montserrat"/>
              </a:rPr>
              <a:t>Peralatan wireframing</a:t>
            </a:r>
            <a:endParaRPr b="1" sz="1200">
              <a:solidFill>
                <a:schemeClr val="lt1"/>
              </a:solidFill>
              <a:latin typeface="Montserrat"/>
              <a:ea typeface="Montserrat"/>
              <a:cs typeface="Montserrat"/>
              <a:sym typeface="Montserrat"/>
            </a:endParaRPr>
          </a:p>
        </p:txBody>
      </p:sp>
      <p:sp>
        <p:nvSpPr>
          <p:cNvPr id="183" name="Google Shape;183;p2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184" name="Google Shape;184;p2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pic>
        <p:nvPicPr>
          <p:cNvPr id="185" name="Google Shape;185;p24"/>
          <p:cNvPicPr preferRelativeResize="0"/>
          <p:nvPr/>
        </p:nvPicPr>
        <p:blipFill rotWithShape="1">
          <a:blip r:embed="rId3">
            <a:alphaModFix/>
          </a:blip>
          <a:srcRect b="0" l="0" r="0" t="0"/>
          <a:stretch/>
        </p:blipFill>
        <p:spPr>
          <a:xfrm>
            <a:off x="8535950" y="105991"/>
            <a:ext cx="463928" cy="463928"/>
          </a:xfrm>
          <a:prstGeom prst="rect">
            <a:avLst/>
          </a:prstGeom>
          <a:noFill/>
          <a:ln>
            <a:noFill/>
          </a:ln>
        </p:spPr>
      </p:pic>
      <p:sp>
        <p:nvSpPr>
          <p:cNvPr id="186" name="Google Shape;186;p2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187" name="Google Shape;187;p24"/>
          <p:cNvSpPr txBox="1"/>
          <p:nvPr/>
        </p:nvSpPr>
        <p:spPr>
          <a:xfrm>
            <a:off x="574800" y="1422288"/>
            <a:ext cx="4062300" cy="2298900"/>
          </a:xfrm>
          <a:prstGeom prst="rect">
            <a:avLst/>
          </a:prstGeom>
          <a:noFill/>
          <a:ln>
            <a:noFill/>
          </a:ln>
        </p:spPr>
        <p:txBody>
          <a:bodyPr anchorCtr="0" anchor="ctr" bIns="91425" lIns="91425" spcFirstLastPara="1" rIns="91425" wrap="square" tIns="91425">
            <a:noAutofit/>
          </a:bodyPr>
          <a:lstStyle/>
          <a:p>
            <a:pPr indent="0" lvl="0" marL="0" rtl="0" algn="just">
              <a:spcBef>
                <a:spcPts val="0"/>
              </a:spcBef>
              <a:spcAft>
                <a:spcPts val="0"/>
              </a:spcAft>
              <a:buClr>
                <a:schemeClr val="dk1"/>
              </a:buClr>
              <a:buSzPts val="3600"/>
              <a:buFont typeface="Arial"/>
              <a:buNone/>
            </a:pPr>
            <a:r>
              <a:rPr b="1" lang="en">
                <a:solidFill>
                  <a:schemeClr val="lt1"/>
                </a:solidFill>
                <a:latin typeface="Montserrat"/>
                <a:ea typeface="Montserrat"/>
                <a:cs typeface="Montserrat"/>
                <a:sym typeface="Montserrat"/>
              </a:rPr>
              <a:t>Lanjut</a:t>
            </a:r>
            <a:r>
              <a:rPr b="1" lang="en">
                <a:solidFill>
                  <a:schemeClr val="lt1"/>
                </a:solidFill>
                <a:latin typeface="Montserrat"/>
                <a:ea typeface="Montserrat"/>
                <a:cs typeface="Montserrat"/>
                <a:sym typeface="Montserrat"/>
              </a:rPr>
              <a:t>, kita bahas</a:t>
            </a:r>
            <a:r>
              <a:rPr b="1" lang="en">
                <a:solidFill>
                  <a:schemeClr val="accent1"/>
                </a:solidFill>
                <a:latin typeface="Montserrat"/>
                <a:ea typeface="Montserrat"/>
                <a:cs typeface="Montserrat"/>
                <a:sym typeface="Montserrat"/>
              </a:rPr>
              <a:t> peralatan wireframing.</a:t>
            </a:r>
            <a:endParaRPr b="1">
              <a:solidFill>
                <a:schemeClr val="accent1"/>
              </a:solidFill>
              <a:latin typeface="Montserrat"/>
              <a:ea typeface="Montserrat"/>
              <a:cs typeface="Montserrat"/>
              <a:sym typeface="Montserrat"/>
            </a:endParaRPr>
          </a:p>
        </p:txBody>
      </p:sp>
      <p:sp>
        <p:nvSpPr>
          <p:cNvPr id="188" name="Google Shape;188;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89" name="Google Shape;189;p24"/>
          <p:cNvPicPr preferRelativeResize="0"/>
          <p:nvPr/>
        </p:nvPicPr>
        <p:blipFill>
          <a:blip r:embed="rId4">
            <a:alphaModFix/>
          </a:blip>
          <a:stretch>
            <a:fillRect/>
          </a:stretch>
        </p:blipFill>
        <p:spPr>
          <a:xfrm>
            <a:off x="5037375" y="914400"/>
            <a:ext cx="2467724" cy="3886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5" name="Google Shape;195;p2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Peralatan wireframing</a:t>
            </a:r>
            <a:endParaRPr/>
          </a:p>
        </p:txBody>
      </p:sp>
      <p:sp>
        <p:nvSpPr>
          <p:cNvPr id="196" name="Google Shape;196;p25"/>
          <p:cNvSpPr txBox="1"/>
          <p:nvPr/>
        </p:nvSpPr>
        <p:spPr>
          <a:xfrm>
            <a:off x="685800" y="1600200"/>
            <a:ext cx="39513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Kamu tahu nggak apa itu wireframing?</a:t>
            </a:r>
            <a:endParaRPr b="1" sz="16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sz="1000">
                <a:solidFill>
                  <a:schemeClr val="dk1"/>
                </a:solidFill>
                <a:latin typeface="Montserrat"/>
                <a:ea typeface="Montserrat"/>
                <a:cs typeface="Montserrat"/>
                <a:sym typeface="Montserrat"/>
              </a:rPr>
              <a:t>Wireframing adalah proses pembuatan wireframe,</a:t>
            </a:r>
            <a:r>
              <a:rPr lang="en" sz="1000">
                <a:solidFill>
                  <a:schemeClr val="dk1"/>
                </a:solidFill>
                <a:latin typeface="Montserrat"/>
                <a:ea typeface="Montserrat"/>
                <a:cs typeface="Montserrat"/>
                <a:sym typeface="Montserrat"/>
              </a:rPr>
              <a:t> yang pada umumnya dilakukan sebelum pembuatan produk.</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Wireframe itu sendiri merupakan sebuah kerangka untuk menata suatu item di laman website atau aplikasi. Wireframe ini akan kita pelajari lebih detail pada topik selanjutnya.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197" name="Google Shape;197;p25">
            <a:hlinkClick r:id="rId3"/>
          </p:cNvPr>
          <p:cNvPicPr preferRelativeResize="0"/>
          <p:nvPr/>
        </p:nvPicPr>
        <p:blipFill>
          <a:blip r:embed="rId4">
            <a:alphaModFix/>
          </a:blip>
          <a:stretch>
            <a:fillRect/>
          </a:stretch>
        </p:blipFill>
        <p:spPr>
          <a:xfrm>
            <a:off x="4724400" y="1483712"/>
            <a:ext cx="4154676" cy="27420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3" name="Google Shape;203;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Peralatan wireframing</a:t>
            </a:r>
            <a:endParaRPr/>
          </a:p>
        </p:txBody>
      </p:sp>
      <p:pic>
        <p:nvPicPr>
          <p:cNvPr id="204" name="Google Shape;204;p26"/>
          <p:cNvPicPr preferRelativeResize="0"/>
          <p:nvPr/>
        </p:nvPicPr>
        <p:blipFill rotWithShape="1">
          <a:blip r:embed="rId3">
            <a:alphaModFix/>
          </a:blip>
          <a:srcRect b="39759" l="27382" r="23561" t="11184"/>
          <a:stretch/>
        </p:blipFill>
        <p:spPr>
          <a:xfrm>
            <a:off x="1154575" y="2080625"/>
            <a:ext cx="1528450" cy="1528450"/>
          </a:xfrm>
          <a:prstGeom prst="rect">
            <a:avLst/>
          </a:prstGeom>
          <a:noFill/>
          <a:ln>
            <a:noFill/>
          </a:ln>
        </p:spPr>
      </p:pic>
      <p:sp>
        <p:nvSpPr>
          <p:cNvPr id="205" name="Google Shape;205;p26"/>
          <p:cNvSpPr txBox="1"/>
          <p:nvPr/>
        </p:nvSpPr>
        <p:spPr>
          <a:xfrm>
            <a:off x="1393800" y="3728075"/>
            <a:ext cx="10500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latin typeface="Montserrat"/>
                <a:ea typeface="Montserrat"/>
                <a:cs typeface="Montserrat"/>
                <a:sym typeface="Montserrat"/>
              </a:rPr>
              <a:t>Balsamiq</a:t>
            </a:r>
            <a:endParaRPr b="1" sz="1000">
              <a:latin typeface="Montserrat"/>
              <a:ea typeface="Montserrat"/>
              <a:cs typeface="Montserrat"/>
              <a:sym typeface="Montserrat"/>
            </a:endParaRPr>
          </a:p>
        </p:txBody>
      </p:sp>
      <p:pic>
        <p:nvPicPr>
          <p:cNvPr id="206" name="Google Shape;206;p26"/>
          <p:cNvPicPr preferRelativeResize="0"/>
          <p:nvPr/>
        </p:nvPicPr>
        <p:blipFill rotWithShape="1">
          <a:blip r:embed="rId4">
            <a:alphaModFix/>
          </a:blip>
          <a:srcRect b="0" l="0" r="0" t="0"/>
          <a:stretch/>
        </p:blipFill>
        <p:spPr>
          <a:xfrm>
            <a:off x="2973212" y="2159050"/>
            <a:ext cx="1371599" cy="1371600"/>
          </a:xfrm>
          <a:prstGeom prst="rect">
            <a:avLst/>
          </a:prstGeom>
          <a:noFill/>
          <a:ln>
            <a:noFill/>
          </a:ln>
        </p:spPr>
      </p:pic>
      <p:sp>
        <p:nvSpPr>
          <p:cNvPr id="207" name="Google Shape;207;p26"/>
          <p:cNvSpPr txBox="1"/>
          <p:nvPr/>
        </p:nvSpPr>
        <p:spPr>
          <a:xfrm>
            <a:off x="3127000" y="3728075"/>
            <a:ext cx="10500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latin typeface="Montserrat"/>
                <a:ea typeface="Montserrat"/>
                <a:cs typeface="Montserrat"/>
                <a:sym typeface="Montserrat"/>
              </a:rPr>
              <a:t>MockPlus</a:t>
            </a:r>
            <a:endParaRPr b="1" sz="1000">
              <a:latin typeface="Montserrat"/>
              <a:ea typeface="Montserrat"/>
              <a:cs typeface="Montserrat"/>
              <a:sym typeface="Montserrat"/>
            </a:endParaRPr>
          </a:p>
        </p:txBody>
      </p:sp>
      <p:pic>
        <p:nvPicPr>
          <p:cNvPr id="208" name="Google Shape;208;p26"/>
          <p:cNvPicPr preferRelativeResize="0"/>
          <p:nvPr/>
        </p:nvPicPr>
        <p:blipFill rotWithShape="1">
          <a:blip r:embed="rId5">
            <a:alphaModFix/>
          </a:blip>
          <a:srcRect b="0" l="0" r="0" t="0"/>
          <a:stretch/>
        </p:blipFill>
        <p:spPr>
          <a:xfrm>
            <a:off x="4752800" y="2159050"/>
            <a:ext cx="1371599" cy="1371600"/>
          </a:xfrm>
          <a:prstGeom prst="rect">
            <a:avLst/>
          </a:prstGeom>
          <a:noFill/>
          <a:ln>
            <a:noFill/>
          </a:ln>
        </p:spPr>
      </p:pic>
      <p:sp>
        <p:nvSpPr>
          <p:cNvPr id="209" name="Google Shape;209;p26"/>
          <p:cNvSpPr txBox="1"/>
          <p:nvPr/>
        </p:nvSpPr>
        <p:spPr>
          <a:xfrm>
            <a:off x="4899575" y="3728075"/>
            <a:ext cx="10500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latin typeface="Montserrat"/>
                <a:ea typeface="Montserrat"/>
                <a:cs typeface="Montserrat"/>
                <a:sym typeface="Montserrat"/>
              </a:rPr>
              <a:t>UXPin</a:t>
            </a:r>
            <a:endParaRPr b="1" sz="1000">
              <a:latin typeface="Montserrat"/>
              <a:ea typeface="Montserrat"/>
              <a:cs typeface="Montserrat"/>
              <a:sym typeface="Montserrat"/>
            </a:endParaRPr>
          </a:p>
        </p:txBody>
      </p:sp>
      <p:sp>
        <p:nvSpPr>
          <p:cNvPr id="210" name="Google Shape;210;p26"/>
          <p:cNvSpPr txBox="1"/>
          <p:nvPr/>
        </p:nvSpPr>
        <p:spPr>
          <a:xfrm>
            <a:off x="6567400" y="3728075"/>
            <a:ext cx="13716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latin typeface="Montserrat"/>
                <a:ea typeface="Montserrat"/>
                <a:cs typeface="Montserrat"/>
                <a:sym typeface="Montserrat"/>
              </a:rPr>
              <a:t>Justinmind</a:t>
            </a:r>
            <a:endParaRPr b="1" sz="1000">
              <a:latin typeface="Montserrat"/>
              <a:ea typeface="Montserrat"/>
              <a:cs typeface="Montserrat"/>
              <a:sym typeface="Montserrat"/>
            </a:endParaRPr>
          </a:p>
        </p:txBody>
      </p:sp>
      <p:pic>
        <p:nvPicPr>
          <p:cNvPr id="211" name="Google Shape;211;p26"/>
          <p:cNvPicPr preferRelativeResize="0"/>
          <p:nvPr/>
        </p:nvPicPr>
        <p:blipFill rotWithShape="1">
          <a:blip r:embed="rId6">
            <a:alphaModFix/>
          </a:blip>
          <a:srcRect b="0" l="17936" r="17936" t="0"/>
          <a:stretch/>
        </p:blipFill>
        <p:spPr>
          <a:xfrm>
            <a:off x="6539400" y="2159050"/>
            <a:ext cx="1427596" cy="1371600"/>
          </a:xfrm>
          <a:prstGeom prst="rect">
            <a:avLst/>
          </a:prstGeom>
          <a:noFill/>
          <a:ln>
            <a:noFill/>
          </a:ln>
        </p:spPr>
      </p:pic>
      <p:sp>
        <p:nvSpPr>
          <p:cNvPr id="212" name="Google Shape;212;p26"/>
          <p:cNvSpPr txBox="1"/>
          <p:nvPr/>
        </p:nvSpPr>
        <p:spPr>
          <a:xfrm>
            <a:off x="1919700" y="1186275"/>
            <a:ext cx="5304600" cy="714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Berikut peralatan w</a:t>
            </a:r>
            <a:r>
              <a:rPr b="1" lang="en" sz="1600">
                <a:solidFill>
                  <a:srgbClr val="743673"/>
                </a:solidFill>
                <a:highlight>
                  <a:schemeClr val="lt1"/>
                </a:highlight>
                <a:latin typeface="Montserrat"/>
                <a:ea typeface="Montserrat"/>
                <a:cs typeface="Montserrat"/>
                <a:sym typeface="Montserrat"/>
              </a:rPr>
              <a:t>ireframing </a:t>
            </a:r>
            <a:r>
              <a:rPr b="1" lang="en" sz="1600">
                <a:solidFill>
                  <a:srgbClr val="743673"/>
                </a:solidFill>
                <a:highlight>
                  <a:schemeClr val="lt1"/>
                </a:highlight>
                <a:latin typeface="Montserrat"/>
                <a:ea typeface="Montserrat"/>
                <a:cs typeface="Montserrat"/>
                <a:sym typeface="Montserrat"/>
              </a:rPr>
              <a:t>yang bisa kita gunakan untuk membuat mockup~</a:t>
            </a:r>
            <a:endParaRPr b="1" sz="1600">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8" name="Google Shape;218;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Peralatan wireframing</a:t>
            </a:r>
            <a:endParaRPr/>
          </a:p>
        </p:txBody>
      </p:sp>
      <p:sp>
        <p:nvSpPr>
          <p:cNvPr id="219" name="Google Shape;219;p27"/>
          <p:cNvSpPr txBox="1"/>
          <p:nvPr/>
        </p:nvSpPr>
        <p:spPr>
          <a:xfrm>
            <a:off x="685800" y="1490075"/>
            <a:ext cx="39513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Selain itu, juga ada berbagai peralatan lain yang bisa kita gunakan untuk membuat mockup~</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sz="1000">
                <a:solidFill>
                  <a:schemeClr val="accent1"/>
                </a:solidFill>
                <a:latin typeface="Montserrat"/>
                <a:ea typeface="Montserrat"/>
                <a:cs typeface="Montserrat"/>
                <a:sym typeface="Montserrat"/>
              </a:rPr>
              <a:t>Mockup Apps</a:t>
            </a:r>
            <a:endParaRPr b="1" sz="1000">
              <a:solidFill>
                <a:schemeClr val="accen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700">
              <a:solidFill>
                <a:schemeClr val="accent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Mockup apps adalah tools yang dirancang untuk mempermudah kita dalam mendesain sebuah produk digital.</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Tools yang paling populer digunakan di antaranya adalah</a:t>
            </a:r>
            <a:r>
              <a:rPr lang="en" sz="1000">
                <a:solidFill>
                  <a:schemeClr val="dk1"/>
                </a:solidFill>
                <a:uFill>
                  <a:noFill/>
                </a:uFill>
                <a:latin typeface="Montserrat"/>
                <a:ea typeface="Montserrat"/>
                <a:cs typeface="Montserrat"/>
                <a:sym typeface="Montserrat"/>
                <a:hlinkClick r:id="rId3">
                  <a:extLst>
                    <a:ext uri="{A12FA001-AC4F-418D-AE19-62706E023703}">
                      <ahyp:hlinkClr val="tx"/>
                    </a:ext>
                  </a:extLst>
                </a:hlinkClick>
              </a:rPr>
              <a:t> </a:t>
            </a:r>
            <a:r>
              <a:rPr lang="en" sz="1000" u="sng">
                <a:solidFill>
                  <a:schemeClr val="hlink"/>
                </a:solidFill>
                <a:latin typeface="Montserrat"/>
                <a:ea typeface="Montserrat"/>
                <a:cs typeface="Montserrat"/>
                <a:sym typeface="Montserrat"/>
                <a:hlinkClick r:id="rId4"/>
              </a:rPr>
              <a:t>Sketch</a:t>
            </a:r>
            <a:r>
              <a:rPr lang="en" sz="1000">
                <a:latin typeface="Montserrat"/>
                <a:ea typeface="Montserrat"/>
                <a:cs typeface="Montserrat"/>
                <a:sym typeface="Montserrat"/>
              </a:rPr>
              <a:t>, </a:t>
            </a:r>
            <a:r>
              <a:rPr lang="en" sz="1000" u="sng">
                <a:solidFill>
                  <a:schemeClr val="hlink"/>
                </a:solidFill>
                <a:latin typeface="Montserrat"/>
                <a:ea typeface="Montserrat"/>
                <a:cs typeface="Montserrat"/>
                <a:sym typeface="Montserrat"/>
                <a:hlinkClick r:id="rId5"/>
              </a:rPr>
              <a:t>Adobe XD</a:t>
            </a:r>
            <a:r>
              <a:rPr lang="en" sz="1000">
                <a:latin typeface="Montserrat"/>
                <a:ea typeface="Montserrat"/>
                <a:cs typeface="Montserrat"/>
                <a:sym typeface="Montserrat"/>
              </a:rPr>
              <a:t>, </a:t>
            </a:r>
            <a:r>
              <a:rPr lang="en" sz="1000" u="sng">
                <a:solidFill>
                  <a:schemeClr val="hlink"/>
                </a:solidFill>
                <a:latin typeface="Montserrat"/>
                <a:ea typeface="Montserrat"/>
                <a:cs typeface="Montserrat"/>
                <a:sym typeface="Montserrat"/>
                <a:hlinkClick r:id="rId6"/>
              </a:rPr>
              <a:t>Figma</a:t>
            </a:r>
            <a:r>
              <a:rPr lang="en" sz="1000">
                <a:solidFill>
                  <a:schemeClr val="dk1"/>
                </a:solidFill>
                <a:latin typeface="Montserrat"/>
                <a:ea typeface="Montserrat"/>
                <a:cs typeface="Montserrat"/>
                <a:sym typeface="Montserrat"/>
              </a:rPr>
              <a:t>, dan</a:t>
            </a:r>
            <a:r>
              <a:rPr lang="en" sz="1000">
                <a:solidFill>
                  <a:srgbClr val="FFAB40"/>
                </a:solidFill>
                <a:uFill>
                  <a:noFill/>
                </a:uFill>
                <a:latin typeface="Montserrat"/>
                <a:ea typeface="Montserrat"/>
                <a:cs typeface="Montserrat"/>
                <a:sym typeface="Montserrat"/>
                <a:hlinkClick r:id="rId7">
                  <a:extLst>
                    <a:ext uri="{A12FA001-AC4F-418D-AE19-62706E023703}">
                      <ahyp:hlinkClr val="tx"/>
                    </a:ext>
                  </a:extLst>
                </a:hlinkClick>
              </a:rPr>
              <a:t> </a:t>
            </a:r>
            <a:r>
              <a:rPr lang="en" sz="1000" u="sng">
                <a:solidFill>
                  <a:schemeClr val="hlink"/>
                </a:solidFill>
                <a:latin typeface="Montserrat"/>
                <a:ea typeface="Montserrat"/>
                <a:cs typeface="Montserrat"/>
                <a:sym typeface="Montserrat"/>
                <a:hlinkClick r:id="rId8"/>
              </a:rPr>
              <a:t>Invision Studio.</a:t>
            </a:r>
            <a:endParaRPr sz="1000" u="sng">
              <a:solidFill>
                <a:schemeClr val="hlink"/>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grpSp>
        <p:nvGrpSpPr>
          <p:cNvPr id="220" name="Google Shape;220;p27"/>
          <p:cNvGrpSpPr/>
          <p:nvPr/>
        </p:nvGrpSpPr>
        <p:grpSpPr>
          <a:xfrm>
            <a:off x="5016853" y="1156725"/>
            <a:ext cx="3599750" cy="3491476"/>
            <a:chOff x="4442903" y="1032975"/>
            <a:chExt cx="3599750" cy="3491476"/>
          </a:xfrm>
        </p:grpSpPr>
        <p:pic>
          <p:nvPicPr>
            <p:cNvPr id="221" name="Google Shape;221;p27"/>
            <p:cNvPicPr preferRelativeResize="0"/>
            <p:nvPr/>
          </p:nvPicPr>
          <p:blipFill>
            <a:blip r:embed="rId9">
              <a:alphaModFix/>
            </a:blip>
            <a:stretch>
              <a:fillRect/>
            </a:stretch>
          </p:blipFill>
          <p:spPr>
            <a:xfrm>
              <a:off x="4442903" y="1032975"/>
              <a:ext cx="3599750" cy="3491476"/>
            </a:xfrm>
            <a:prstGeom prst="rect">
              <a:avLst/>
            </a:prstGeom>
            <a:noFill/>
            <a:ln>
              <a:noFill/>
            </a:ln>
          </p:spPr>
        </p:pic>
        <p:pic>
          <p:nvPicPr>
            <p:cNvPr id="222" name="Google Shape;222;p27"/>
            <p:cNvPicPr preferRelativeResize="0"/>
            <p:nvPr/>
          </p:nvPicPr>
          <p:blipFill rotWithShape="1">
            <a:blip r:embed="rId10">
              <a:alphaModFix/>
            </a:blip>
            <a:srcRect b="-7706" l="14869" r="57465" t="45455"/>
            <a:stretch/>
          </p:blipFill>
          <p:spPr>
            <a:xfrm>
              <a:off x="5697800" y="1615925"/>
              <a:ext cx="548700" cy="573075"/>
            </a:xfrm>
            <a:prstGeom prst="rect">
              <a:avLst/>
            </a:prstGeom>
            <a:noFill/>
            <a:ln>
              <a:noFill/>
            </a:ln>
          </p:spPr>
        </p:pic>
        <p:pic>
          <p:nvPicPr>
            <p:cNvPr id="223" name="Google Shape;223;p27"/>
            <p:cNvPicPr preferRelativeResize="0"/>
            <p:nvPr/>
          </p:nvPicPr>
          <p:blipFill rotWithShape="1">
            <a:blip r:embed="rId10">
              <a:alphaModFix/>
            </a:blip>
            <a:srcRect b="53425" l="0" r="42640" t="0"/>
            <a:stretch/>
          </p:blipFill>
          <p:spPr>
            <a:xfrm>
              <a:off x="4515250" y="1615925"/>
              <a:ext cx="1137650" cy="428750"/>
            </a:xfrm>
            <a:prstGeom prst="rect">
              <a:avLst/>
            </a:prstGeom>
            <a:noFill/>
            <a:ln>
              <a:noFill/>
            </a:ln>
          </p:spPr>
        </p:pic>
        <p:pic>
          <p:nvPicPr>
            <p:cNvPr id="224" name="Google Shape;224;p27"/>
            <p:cNvPicPr preferRelativeResize="0"/>
            <p:nvPr/>
          </p:nvPicPr>
          <p:blipFill rotWithShape="1">
            <a:blip r:embed="rId10">
              <a:alphaModFix/>
            </a:blip>
            <a:srcRect b="53425" l="55931" r="0" t="0"/>
            <a:stretch/>
          </p:blipFill>
          <p:spPr>
            <a:xfrm>
              <a:off x="4515250" y="2228907"/>
              <a:ext cx="874050" cy="428750"/>
            </a:xfrm>
            <a:prstGeom prst="rect">
              <a:avLst/>
            </a:prstGeom>
            <a:noFill/>
            <a:ln>
              <a:noFill/>
            </a:ln>
          </p:spPr>
        </p:pic>
        <p:pic>
          <p:nvPicPr>
            <p:cNvPr id="225" name="Google Shape;225;p27"/>
            <p:cNvPicPr preferRelativeResize="0"/>
            <p:nvPr/>
          </p:nvPicPr>
          <p:blipFill rotWithShape="1">
            <a:blip r:embed="rId10">
              <a:alphaModFix/>
            </a:blip>
            <a:srcRect b="0" l="47600" r="6647" t="48875"/>
            <a:stretch/>
          </p:blipFill>
          <p:spPr>
            <a:xfrm>
              <a:off x="5438824" y="2228900"/>
              <a:ext cx="907424" cy="470650"/>
            </a:xfrm>
            <a:prstGeom prst="rect">
              <a:avLst/>
            </a:prstGeom>
            <a:noFill/>
            <a:ln>
              <a:noFill/>
            </a:ln>
          </p:spPr>
        </p:pic>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1" name="Google Shape;231;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Peralatan wireframing</a:t>
            </a:r>
            <a:endParaRPr/>
          </a:p>
        </p:txBody>
      </p:sp>
      <p:sp>
        <p:nvSpPr>
          <p:cNvPr id="232" name="Google Shape;232;p28"/>
          <p:cNvSpPr txBox="1"/>
          <p:nvPr/>
        </p:nvSpPr>
        <p:spPr>
          <a:xfrm>
            <a:off x="685800" y="1822700"/>
            <a:ext cx="39513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000"/>
              </a:spcBef>
              <a:spcAft>
                <a:spcPts val="0"/>
              </a:spcAft>
              <a:buClr>
                <a:schemeClr val="dk1"/>
              </a:buClr>
              <a:buSzPts val="1100"/>
              <a:buFont typeface="Arial"/>
              <a:buNone/>
            </a:pPr>
            <a:r>
              <a:rPr b="1" lang="en" sz="1000">
                <a:solidFill>
                  <a:srgbClr val="FFAB40"/>
                </a:solidFill>
                <a:latin typeface="Montserrat"/>
                <a:ea typeface="Montserrat"/>
                <a:cs typeface="Montserrat"/>
                <a:sym typeface="Montserrat"/>
              </a:rPr>
              <a:t>Graphic Design Software</a:t>
            </a:r>
            <a:endParaRPr b="1" sz="1000">
              <a:solidFill>
                <a:srgbClr val="FFAB40"/>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Selain mockup apps sebelumnya, beberapa desainer lebih memilih untuk membuat mockup menggunakan software desain grafis seperti </a:t>
            </a:r>
            <a:r>
              <a:rPr lang="en" sz="1000" u="sng">
                <a:solidFill>
                  <a:schemeClr val="hlink"/>
                </a:solidFill>
                <a:latin typeface="Montserrat"/>
                <a:ea typeface="Montserrat"/>
                <a:cs typeface="Montserrat"/>
                <a:sym typeface="Montserrat"/>
                <a:hlinkClick r:id="rId3"/>
              </a:rPr>
              <a:t>Adobe Photoshop</a:t>
            </a:r>
            <a:r>
              <a:rPr lang="en" sz="1000">
                <a:latin typeface="Montserrat"/>
                <a:ea typeface="Montserrat"/>
                <a:cs typeface="Montserrat"/>
                <a:sym typeface="Montserrat"/>
              </a:rPr>
              <a:t> dan </a:t>
            </a:r>
            <a:r>
              <a:rPr lang="en" sz="1000" u="sng">
                <a:solidFill>
                  <a:schemeClr val="hlink"/>
                </a:solidFill>
                <a:latin typeface="Montserrat"/>
                <a:ea typeface="Montserrat"/>
                <a:cs typeface="Montserrat"/>
                <a:sym typeface="Montserrat"/>
                <a:hlinkClick r:id="rId4"/>
              </a:rPr>
              <a:t>Adobe Illustrator</a:t>
            </a:r>
            <a:r>
              <a:rPr lang="en" sz="1000">
                <a:solidFill>
                  <a:schemeClr val="dk1"/>
                </a:solidFill>
                <a:latin typeface="Montserrat"/>
                <a:ea typeface="Montserrat"/>
                <a:cs typeface="Montserrat"/>
                <a:sym typeface="Montserrat"/>
              </a:rPr>
              <a:t>.</a:t>
            </a:r>
            <a:endParaRPr sz="1000">
              <a:solidFill>
                <a:schemeClr val="dk1"/>
              </a:solidFill>
              <a:latin typeface="Montserrat"/>
              <a:ea typeface="Montserrat"/>
              <a:cs typeface="Montserrat"/>
              <a:sym typeface="Montserrat"/>
            </a:endParaRPr>
          </a:p>
        </p:txBody>
      </p:sp>
      <p:pic>
        <p:nvPicPr>
          <p:cNvPr id="233" name="Google Shape;233;p28"/>
          <p:cNvPicPr preferRelativeResize="0"/>
          <p:nvPr/>
        </p:nvPicPr>
        <p:blipFill>
          <a:blip r:embed="rId5">
            <a:alphaModFix/>
          </a:blip>
          <a:stretch>
            <a:fillRect/>
          </a:stretch>
        </p:blipFill>
        <p:spPr>
          <a:xfrm>
            <a:off x="5016853" y="1156725"/>
            <a:ext cx="3599750" cy="3491476"/>
          </a:xfrm>
          <a:prstGeom prst="rect">
            <a:avLst/>
          </a:prstGeom>
          <a:noFill/>
          <a:ln>
            <a:noFill/>
          </a:ln>
        </p:spPr>
      </p:pic>
      <p:pic>
        <p:nvPicPr>
          <p:cNvPr id="234" name="Google Shape;234;p28"/>
          <p:cNvPicPr preferRelativeResize="0"/>
          <p:nvPr/>
        </p:nvPicPr>
        <p:blipFill>
          <a:blip r:embed="rId6">
            <a:alphaModFix/>
          </a:blip>
          <a:stretch>
            <a:fillRect/>
          </a:stretch>
        </p:blipFill>
        <p:spPr>
          <a:xfrm>
            <a:off x="5286300" y="1974500"/>
            <a:ext cx="1583500" cy="7508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52F67"/>
        </a:solidFill>
      </p:bgPr>
    </p:bg>
    <p:spTree>
      <p:nvGrpSpPr>
        <p:cNvPr id="238" name="Shape 238"/>
        <p:cNvGrpSpPr/>
        <p:nvPr/>
      </p:nvGrpSpPr>
      <p:grpSpPr>
        <a:xfrm>
          <a:off x="0" y="0"/>
          <a:ext cx="0" cy="0"/>
          <a:chOff x="0" y="0"/>
          <a:chExt cx="0" cy="0"/>
        </a:xfrm>
      </p:grpSpPr>
      <p:sp>
        <p:nvSpPr>
          <p:cNvPr id="239" name="Google Shape;239;p29"/>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40" name="Google Shape;240;p29"/>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41" name="Google Shape;241;p29"/>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42" name="Google Shape;242;p29"/>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43" name="Google Shape;243;p29"/>
          <p:cNvSpPr txBox="1"/>
          <p:nvPr/>
        </p:nvSpPr>
        <p:spPr>
          <a:xfrm>
            <a:off x="625525" y="99825"/>
            <a:ext cx="6381600" cy="536100"/>
          </a:xfrm>
          <a:prstGeom prst="rect">
            <a:avLst/>
          </a:prstGeom>
          <a:noFill/>
          <a:ln>
            <a:noFill/>
          </a:ln>
        </p:spPr>
        <p:txBody>
          <a:bodyPr anchorCtr="0" anchor="ctr" bIns="34275" lIns="68575" spcFirstLastPara="1" rIns="68575" wrap="square" tIns="34275">
            <a:noAutofit/>
          </a:bodyPr>
          <a:lstStyle/>
          <a:p>
            <a:pPr indent="0" lvl="0" marL="0" rtl="0" algn="l">
              <a:lnSpc>
                <a:spcPct val="115000"/>
              </a:lnSpc>
              <a:spcBef>
                <a:spcPts val="0"/>
              </a:spcBef>
              <a:spcAft>
                <a:spcPts val="0"/>
              </a:spcAft>
              <a:buClr>
                <a:schemeClr val="dk1"/>
              </a:buClr>
              <a:buSzPts val="1100"/>
              <a:buFont typeface="Arial"/>
              <a:buNone/>
            </a:pPr>
            <a:r>
              <a:rPr b="1" lang="en" sz="1200">
                <a:solidFill>
                  <a:schemeClr val="lt1"/>
                </a:solidFill>
                <a:latin typeface="Montserrat"/>
                <a:ea typeface="Montserrat"/>
                <a:cs typeface="Montserrat"/>
                <a:sym typeface="Montserrat"/>
              </a:rPr>
              <a:t>Peralatan prototyping</a:t>
            </a:r>
            <a:endParaRPr b="1" sz="1200">
              <a:solidFill>
                <a:schemeClr val="lt1"/>
              </a:solidFill>
              <a:latin typeface="Montserrat"/>
              <a:ea typeface="Montserrat"/>
              <a:cs typeface="Montserrat"/>
              <a:sym typeface="Montserrat"/>
            </a:endParaRPr>
          </a:p>
        </p:txBody>
      </p:sp>
      <p:sp>
        <p:nvSpPr>
          <p:cNvPr id="244" name="Google Shape;244;p29"/>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5" name="Google Shape;245;p29"/>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pic>
        <p:nvPicPr>
          <p:cNvPr id="246" name="Google Shape;246;p29"/>
          <p:cNvPicPr preferRelativeResize="0"/>
          <p:nvPr/>
        </p:nvPicPr>
        <p:blipFill rotWithShape="1">
          <a:blip r:embed="rId3">
            <a:alphaModFix/>
          </a:blip>
          <a:srcRect b="0" l="0" r="0" t="0"/>
          <a:stretch/>
        </p:blipFill>
        <p:spPr>
          <a:xfrm>
            <a:off x="8535950" y="105991"/>
            <a:ext cx="463928" cy="463928"/>
          </a:xfrm>
          <a:prstGeom prst="rect">
            <a:avLst/>
          </a:prstGeom>
          <a:noFill/>
          <a:ln>
            <a:noFill/>
          </a:ln>
        </p:spPr>
      </p:pic>
      <p:sp>
        <p:nvSpPr>
          <p:cNvPr id="247" name="Google Shape;247;p29"/>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8" name="Google Shape;248;p29"/>
          <p:cNvSpPr txBox="1"/>
          <p:nvPr/>
        </p:nvSpPr>
        <p:spPr>
          <a:xfrm>
            <a:off x="574800" y="1422288"/>
            <a:ext cx="4062300" cy="2298900"/>
          </a:xfrm>
          <a:prstGeom prst="rect">
            <a:avLst/>
          </a:prstGeom>
          <a:noFill/>
          <a:ln>
            <a:noFill/>
          </a:ln>
        </p:spPr>
        <p:txBody>
          <a:bodyPr anchorCtr="0" anchor="ctr" bIns="91425" lIns="91425" spcFirstLastPara="1" rIns="91425" wrap="square" tIns="91425">
            <a:noAutofit/>
          </a:bodyPr>
          <a:lstStyle/>
          <a:p>
            <a:pPr indent="0" lvl="0" marL="0" rtl="0" algn="just">
              <a:spcBef>
                <a:spcPts val="0"/>
              </a:spcBef>
              <a:spcAft>
                <a:spcPts val="0"/>
              </a:spcAft>
              <a:buClr>
                <a:schemeClr val="dk1"/>
              </a:buClr>
              <a:buSzPts val="3600"/>
              <a:buFont typeface="Arial"/>
              <a:buNone/>
            </a:pPr>
            <a:r>
              <a:rPr b="1" lang="en">
                <a:solidFill>
                  <a:schemeClr val="lt1"/>
                </a:solidFill>
                <a:latin typeface="Montserrat"/>
                <a:ea typeface="Montserrat"/>
                <a:cs typeface="Montserrat"/>
                <a:sym typeface="Montserrat"/>
              </a:rPr>
              <a:t>Salah satu fase desain adalah </a:t>
            </a:r>
            <a:r>
              <a:rPr b="1" lang="en">
                <a:solidFill>
                  <a:schemeClr val="accent1"/>
                </a:solidFill>
                <a:latin typeface="Montserrat"/>
                <a:ea typeface="Montserrat"/>
                <a:cs typeface="Montserrat"/>
                <a:sym typeface="Montserrat"/>
              </a:rPr>
              <a:t>prototyping. </a:t>
            </a:r>
            <a:endParaRPr b="1">
              <a:solidFill>
                <a:schemeClr val="accent1"/>
              </a:solidFill>
              <a:latin typeface="Montserrat"/>
              <a:ea typeface="Montserrat"/>
              <a:cs typeface="Montserrat"/>
              <a:sym typeface="Montserrat"/>
            </a:endParaRPr>
          </a:p>
          <a:p>
            <a:pPr indent="0" lvl="0" marL="0" rtl="0" algn="just">
              <a:spcBef>
                <a:spcPts val="0"/>
              </a:spcBef>
              <a:spcAft>
                <a:spcPts val="0"/>
              </a:spcAft>
              <a:buClr>
                <a:schemeClr val="dk1"/>
              </a:buClr>
              <a:buSzPts val="3600"/>
              <a:buFont typeface="Arial"/>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Clr>
                <a:schemeClr val="dk1"/>
              </a:buClr>
              <a:buSzPts val="3600"/>
              <a:buFont typeface="Arial"/>
              <a:buNone/>
            </a:pPr>
            <a:r>
              <a:rPr b="1" lang="en">
                <a:solidFill>
                  <a:schemeClr val="lt1"/>
                </a:solidFill>
                <a:latin typeface="Montserrat"/>
                <a:ea typeface="Montserrat"/>
                <a:cs typeface="Montserrat"/>
                <a:sym typeface="Montserrat"/>
              </a:rPr>
              <a:t>Yuk, kita kenalan sama peralatannya~</a:t>
            </a:r>
            <a:endParaRPr b="1">
              <a:solidFill>
                <a:schemeClr val="lt1"/>
              </a:solidFill>
              <a:latin typeface="Montserrat"/>
              <a:ea typeface="Montserrat"/>
              <a:cs typeface="Montserrat"/>
              <a:sym typeface="Montserrat"/>
            </a:endParaRPr>
          </a:p>
        </p:txBody>
      </p:sp>
      <p:sp>
        <p:nvSpPr>
          <p:cNvPr id="249" name="Google Shape;249;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50" name="Google Shape;250;p29"/>
          <p:cNvPicPr preferRelativeResize="0"/>
          <p:nvPr/>
        </p:nvPicPr>
        <p:blipFill>
          <a:blip r:embed="rId4">
            <a:alphaModFix/>
          </a:blip>
          <a:stretch>
            <a:fillRect/>
          </a:stretch>
        </p:blipFill>
        <p:spPr>
          <a:xfrm>
            <a:off x="5149525" y="914400"/>
            <a:ext cx="2831374" cy="388268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6" name="Google Shape;256;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Peralatan prototyping</a:t>
            </a:r>
            <a:endParaRPr/>
          </a:p>
        </p:txBody>
      </p:sp>
      <p:pic>
        <p:nvPicPr>
          <p:cNvPr id="257" name="Google Shape;257;p30"/>
          <p:cNvPicPr preferRelativeResize="0"/>
          <p:nvPr/>
        </p:nvPicPr>
        <p:blipFill>
          <a:blip r:embed="rId3">
            <a:alphaModFix/>
          </a:blip>
          <a:stretch>
            <a:fillRect/>
          </a:stretch>
        </p:blipFill>
        <p:spPr>
          <a:xfrm>
            <a:off x="4724396" y="1375037"/>
            <a:ext cx="2686425" cy="1974962"/>
          </a:xfrm>
          <a:prstGeom prst="rect">
            <a:avLst/>
          </a:prstGeom>
          <a:noFill/>
          <a:ln>
            <a:noFill/>
          </a:ln>
        </p:spPr>
      </p:pic>
      <p:sp>
        <p:nvSpPr>
          <p:cNvPr id="258" name="Google Shape;258;p30"/>
          <p:cNvSpPr txBox="1"/>
          <p:nvPr/>
        </p:nvSpPr>
        <p:spPr>
          <a:xfrm>
            <a:off x="685800" y="1677100"/>
            <a:ext cx="39513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Masih ingat kan apa itu prototyping?</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highlight>
                  <a:schemeClr val="lt1"/>
                </a:highlight>
                <a:latin typeface="Montserrat"/>
                <a:ea typeface="Montserrat"/>
                <a:cs typeface="Montserrat"/>
                <a:sym typeface="Montserrat"/>
              </a:rPr>
              <a:t>Prototyping adalah proses pembuatan prototype berupa sampel awal, model, atau rilis produk yang dibuat untuk menguji konsep</a:t>
            </a:r>
            <a:r>
              <a:rPr lang="en" sz="1000">
                <a:solidFill>
                  <a:schemeClr val="dk1"/>
                </a:solidFill>
                <a:latin typeface="Montserrat"/>
                <a:ea typeface="Montserrat"/>
                <a:cs typeface="Montserrat"/>
                <a:sym typeface="Montserrat"/>
              </a:rPr>
              <a:t> yang telah disusun sebelumnya.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259" name="Google Shape;259;p30">
            <a:hlinkClick r:id="rId4"/>
          </p:cNvPr>
          <p:cNvPicPr preferRelativeResize="0"/>
          <p:nvPr/>
        </p:nvPicPr>
        <p:blipFill>
          <a:blip r:embed="rId5">
            <a:alphaModFix/>
          </a:blip>
          <a:stretch>
            <a:fillRect/>
          </a:stretch>
        </p:blipFill>
        <p:spPr>
          <a:xfrm>
            <a:off x="4816375" y="1613425"/>
            <a:ext cx="2476026" cy="1634189"/>
          </a:xfrm>
          <a:prstGeom prst="rect">
            <a:avLst/>
          </a:prstGeom>
          <a:noFill/>
          <a:ln>
            <a:noFill/>
          </a:ln>
        </p:spPr>
      </p:pic>
      <p:pic>
        <p:nvPicPr>
          <p:cNvPr id="260" name="Google Shape;260;p30"/>
          <p:cNvPicPr preferRelativeResize="0"/>
          <p:nvPr/>
        </p:nvPicPr>
        <p:blipFill>
          <a:blip r:embed="rId6">
            <a:alphaModFix/>
          </a:blip>
          <a:stretch>
            <a:fillRect/>
          </a:stretch>
        </p:blipFill>
        <p:spPr>
          <a:xfrm>
            <a:off x="6140583" y="1156712"/>
            <a:ext cx="2476011" cy="34914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6" name="Google Shape;266;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Peralatan prototyping</a:t>
            </a:r>
            <a:endParaRPr/>
          </a:p>
        </p:txBody>
      </p:sp>
      <p:pic>
        <p:nvPicPr>
          <p:cNvPr id="267" name="Google Shape;267;p31"/>
          <p:cNvPicPr preferRelativeResize="0"/>
          <p:nvPr/>
        </p:nvPicPr>
        <p:blipFill rotWithShape="1">
          <a:blip r:embed="rId3">
            <a:alphaModFix/>
          </a:blip>
          <a:srcRect b="0" l="0" r="0" t="0"/>
          <a:stretch/>
        </p:blipFill>
        <p:spPr>
          <a:xfrm>
            <a:off x="1193625" y="2266360"/>
            <a:ext cx="1371599" cy="1371601"/>
          </a:xfrm>
          <a:prstGeom prst="rect">
            <a:avLst/>
          </a:prstGeom>
          <a:noFill/>
          <a:ln>
            <a:noFill/>
          </a:ln>
        </p:spPr>
      </p:pic>
      <p:sp>
        <p:nvSpPr>
          <p:cNvPr id="268" name="Google Shape;268;p31"/>
          <p:cNvSpPr txBox="1"/>
          <p:nvPr/>
        </p:nvSpPr>
        <p:spPr>
          <a:xfrm>
            <a:off x="1393800" y="3810229"/>
            <a:ext cx="10500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latin typeface="Montserrat"/>
                <a:ea typeface="Montserrat"/>
                <a:cs typeface="Montserrat"/>
                <a:sym typeface="Montserrat"/>
              </a:rPr>
              <a:t>Adobe XD</a:t>
            </a:r>
            <a:endParaRPr b="1" sz="1000">
              <a:latin typeface="Montserrat"/>
              <a:ea typeface="Montserrat"/>
              <a:cs typeface="Montserrat"/>
              <a:sym typeface="Montserrat"/>
            </a:endParaRPr>
          </a:p>
        </p:txBody>
      </p:sp>
      <p:pic>
        <p:nvPicPr>
          <p:cNvPr id="269" name="Google Shape;269;p31"/>
          <p:cNvPicPr preferRelativeResize="0"/>
          <p:nvPr/>
        </p:nvPicPr>
        <p:blipFill rotWithShape="1">
          <a:blip r:embed="rId4">
            <a:alphaModFix/>
          </a:blip>
          <a:srcRect b="-22025" l="-15323" r="-15310" t="-22025"/>
          <a:stretch/>
        </p:blipFill>
        <p:spPr>
          <a:xfrm>
            <a:off x="2872100" y="2165236"/>
            <a:ext cx="1573825" cy="1573825"/>
          </a:xfrm>
          <a:prstGeom prst="rect">
            <a:avLst/>
          </a:prstGeom>
          <a:noFill/>
          <a:ln>
            <a:noFill/>
          </a:ln>
        </p:spPr>
      </p:pic>
      <p:sp>
        <p:nvSpPr>
          <p:cNvPr id="270" name="Google Shape;270;p31"/>
          <p:cNvSpPr txBox="1"/>
          <p:nvPr/>
        </p:nvSpPr>
        <p:spPr>
          <a:xfrm>
            <a:off x="3127000" y="3810235"/>
            <a:ext cx="10500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latin typeface="Montserrat"/>
                <a:ea typeface="Montserrat"/>
                <a:cs typeface="Montserrat"/>
                <a:sym typeface="Montserrat"/>
              </a:rPr>
              <a:t>Sketch</a:t>
            </a:r>
            <a:endParaRPr b="1" sz="1000">
              <a:latin typeface="Montserrat"/>
              <a:ea typeface="Montserrat"/>
              <a:cs typeface="Montserrat"/>
              <a:sym typeface="Montserrat"/>
            </a:endParaRPr>
          </a:p>
        </p:txBody>
      </p:sp>
      <p:pic>
        <p:nvPicPr>
          <p:cNvPr id="271" name="Google Shape;271;p31"/>
          <p:cNvPicPr preferRelativeResize="0"/>
          <p:nvPr/>
        </p:nvPicPr>
        <p:blipFill rotWithShape="1">
          <a:blip r:embed="rId5">
            <a:alphaModFix/>
          </a:blip>
          <a:srcRect b="0" l="22587" r="22587" t="0"/>
          <a:stretch/>
        </p:blipFill>
        <p:spPr>
          <a:xfrm>
            <a:off x="4752800" y="2266360"/>
            <a:ext cx="1371598" cy="1371600"/>
          </a:xfrm>
          <a:prstGeom prst="rect">
            <a:avLst/>
          </a:prstGeom>
          <a:noFill/>
          <a:ln>
            <a:noFill/>
          </a:ln>
        </p:spPr>
      </p:pic>
      <p:sp>
        <p:nvSpPr>
          <p:cNvPr id="272" name="Google Shape;272;p31"/>
          <p:cNvSpPr txBox="1"/>
          <p:nvPr/>
        </p:nvSpPr>
        <p:spPr>
          <a:xfrm>
            <a:off x="4860200" y="3810235"/>
            <a:ext cx="10500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latin typeface="Montserrat"/>
                <a:ea typeface="Montserrat"/>
                <a:cs typeface="Montserrat"/>
                <a:sym typeface="Montserrat"/>
              </a:rPr>
              <a:t>Figma</a:t>
            </a:r>
            <a:endParaRPr b="1" sz="1000">
              <a:latin typeface="Montserrat"/>
              <a:ea typeface="Montserrat"/>
              <a:cs typeface="Montserrat"/>
              <a:sym typeface="Montserrat"/>
            </a:endParaRPr>
          </a:p>
        </p:txBody>
      </p:sp>
      <p:sp>
        <p:nvSpPr>
          <p:cNvPr id="273" name="Google Shape;273;p31"/>
          <p:cNvSpPr txBox="1"/>
          <p:nvPr/>
        </p:nvSpPr>
        <p:spPr>
          <a:xfrm>
            <a:off x="6539400" y="3810235"/>
            <a:ext cx="13716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latin typeface="Montserrat"/>
                <a:ea typeface="Montserrat"/>
                <a:cs typeface="Montserrat"/>
                <a:sym typeface="Montserrat"/>
              </a:rPr>
              <a:t>Google Slides</a:t>
            </a:r>
            <a:endParaRPr b="1" sz="1000">
              <a:latin typeface="Montserrat"/>
              <a:ea typeface="Montserrat"/>
              <a:cs typeface="Montserrat"/>
              <a:sym typeface="Montserrat"/>
            </a:endParaRPr>
          </a:p>
        </p:txBody>
      </p:sp>
      <p:pic>
        <p:nvPicPr>
          <p:cNvPr id="274" name="Google Shape;274;p31"/>
          <p:cNvPicPr preferRelativeResize="0"/>
          <p:nvPr/>
        </p:nvPicPr>
        <p:blipFill rotWithShape="1">
          <a:blip r:embed="rId6">
            <a:alphaModFix/>
          </a:blip>
          <a:srcRect b="1960" l="0" r="0" t="1960"/>
          <a:stretch/>
        </p:blipFill>
        <p:spPr>
          <a:xfrm>
            <a:off x="6431275" y="2165225"/>
            <a:ext cx="1573825" cy="1573825"/>
          </a:xfrm>
          <a:prstGeom prst="rect">
            <a:avLst/>
          </a:prstGeom>
          <a:noFill/>
          <a:ln>
            <a:noFill/>
          </a:ln>
        </p:spPr>
      </p:pic>
      <p:sp>
        <p:nvSpPr>
          <p:cNvPr id="275" name="Google Shape;275;p31"/>
          <p:cNvSpPr txBox="1"/>
          <p:nvPr/>
        </p:nvSpPr>
        <p:spPr>
          <a:xfrm>
            <a:off x="487625" y="1351750"/>
            <a:ext cx="8052900" cy="431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Berikut peralatan prototyping yang bisa digunakan~</a:t>
            </a:r>
            <a:endParaRPr b="1" sz="1600">
              <a:latin typeface="Montserrat"/>
              <a:ea typeface="Montserrat"/>
              <a:cs typeface="Montserrat"/>
              <a:sym typeface="Montserra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1" name="Google Shape;281;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Peralatan prototyping</a:t>
            </a:r>
            <a:endParaRPr/>
          </a:p>
        </p:txBody>
      </p:sp>
      <p:pic>
        <p:nvPicPr>
          <p:cNvPr id="282" name="Google Shape;282;p32"/>
          <p:cNvPicPr preferRelativeResize="0"/>
          <p:nvPr/>
        </p:nvPicPr>
        <p:blipFill rotWithShape="1">
          <a:blip r:embed="rId3">
            <a:alphaModFix/>
          </a:blip>
          <a:srcRect b="0" l="65832" r="0" t="0"/>
          <a:stretch/>
        </p:blipFill>
        <p:spPr>
          <a:xfrm>
            <a:off x="2019013" y="2045435"/>
            <a:ext cx="1371600" cy="1371600"/>
          </a:xfrm>
          <a:prstGeom prst="rect">
            <a:avLst/>
          </a:prstGeom>
          <a:noFill/>
          <a:ln>
            <a:noFill/>
          </a:ln>
        </p:spPr>
      </p:pic>
      <p:sp>
        <p:nvSpPr>
          <p:cNvPr id="283" name="Google Shape;283;p32"/>
          <p:cNvSpPr txBox="1"/>
          <p:nvPr/>
        </p:nvSpPr>
        <p:spPr>
          <a:xfrm>
            <a:off x="2179813" y="3572135"/>
            <a:ext cx="10500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latin typeface="Montserrat"/>
                <a:ea typeface="Montserrat"/>
                <a:cs typeface="Montserrat"/>
                <a:sym typeface="Montserrat"/>
              </a:rPr>
              <a:t>InVision</a:t>
            </a:r>
            <a:endParaRPr b="1" sz="1000">
              <a:latin typeface="Montserrat"/>
              <a:ea typeface="Montserrat"/>
              <a:cs typeface="Montserrat"/>
              <a:sym typeface="Montserrat"/>
            </a:endParaRPr>
          </a:p>
        </p:txBody>
      </p:sp>
      <p:pic>
        <p:nvPicPr>
          <p:cNvPr id="284" name="Google Shape;284;p32"/>
          <p:cNvPicPr preferRelativeResize="0"/>
          <p:nvPr/>
        </p:nvPicPr>
        <p:blipFill rotWithShape="1">
          <a:blip r:embed="rId4">
            <a:alphaModFix/>
          </a:blip>
          <a:srcRect b="18300" l="1672" r="1672" t="0"/>
          <a:stretch/>
        </p:blipFill>
        <p:spPr>
          <a:xfrm>
            <a:off x="3822475" y="1981699"/>
            <a:ext cx="1499050" cy="1499049"/>
          </a:xfrm>
          <a:prstGeom prst="rect">
            <a:avLst/>
          </a:prstGeom>
          <a:noFill/>
          <a:ln>
            <a:noFill/>
          </a:ln>
        </p:spPr>
      </p:pic>
      <p:sp>
        <p:nvSpPr>
          <p:cNvPr id="285" name="Google Shape;285;p32"/>
          <p:cNvSpPr txBox="1"/>
          <p:nvPr/>
        </p:nvSpPr>
        <p:spPr>
          <a:xfrm>
            <a:off x="4047000" y="3572135"/>
            <a:ext cx="10500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latin typeface="Montserrat"/>
                <a:ea typeface="Montserrat"/>
                <a:cs typeface="Montserrat"/>
                <a:sym typeface="Montserrat"/>
              </a:rPr>
              <a:t>Axure</a:t>
            </a:r>
            <a:endParaRPr b="1" sz="1000">
              <a:latin typeface="Montserrat"/>
              <a:ea typeface="Montserrat"/>
              <a:cs typeface="Montserrat"/>
              <a:sym typeface="Montserrat"/>
            </a:endParaRPr>
          </a:p>
        </p:txBody>
      </p:sp>
      <p:pic>
        <p:nvPicPr>
          <p:cNvPr id="286" name="Google Shape;286;p32"/>
          <p:cNvPicPr preferRelativeResize="0"/>
          <p:nvPr/>
        </p:nvPicPr>
        <p:blipFill rotWithShape="1">
          <a:blip r:embed="rId5">
            <a:alphaModFix/>
          </a:blip>
          <a:srcRect b="-19560" l="9002" r="9010" t="-19560"/>
          <a:stretch/>
        </p:blipFill>
        <p:spPr>
          <a:xfrm>
            <a:off x="5541948" y="1914899"/>
            <a:ext cx="1565850" cy="1565850"/>
          </a:xfrm>
          <a:prstGeom prst="rect">
            <a:avLst/>
          </a:prstGeom>
          <a:noFill/>
          <a:ln cap="flat" cmpd="sng" w="9525">
            <a:solidFill>
              <a:srgbClr val="FFFFFF"/>
            </a:solidFill>
            <a:prstDash val="solid"/>
            <a:round/>
            <a:headEnd len="sm" w="sm" type="none"/>
            <a:tailEnd len="sm" w="sm" type="none"/>
          </a:ln>
        </p:spPr>
      </p:pic>
      <p:sp>
        <p:nvSpPr>
          <p:cNvPr id="287" name="Google Shape;287;p32"/>
          <p:cNvSpPr txBox="1"/>
          <p:nvPr/>
        </p:nvSpPr>
        <p:spPr>
          <a:xfrm>
            <a:off x="5799875" y="3556835"/>
            <a:ext cx="10500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000">
                <a:latin typeface="Montserrat"/>
                <a:ea typeface="Montserrat"/>
                <a:cs typeface="Montserrat"/>
                <a:sym typeface="Montserrat"/>
              </a:rPr>
              <a:t>Proto.io</a:t>
            </a:r>
            <a:endParaRPr b="1" sz="1000">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52F67"/>
        </a:solidFill>
      </p:bgPr>
    </p:bg>
    <p:spTree>
      <p:nvGrpSpPr>
        <p:cNvPr id="291" name="Shape 291"/>
        <p:cNvGrpSpPr/>
        <p:nvPr/>
      </p:nvGrpSpPr>
      <p:grpSpPr>
        <a:xfrm>
          <a:off x="0" y="0"/>
          <a:ext cx="0" cy="0"/>
          <a:chOff x="0" y="0"/>
          <a:chExt cx="0" cy="0"/>
        </a:xfrm>
      </p:grpSpPr>
      <p:sp>
        <p:nvSpPr>
          <p:cNvPr id="292" name="Google Shape;292;p33"/>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93" name="Google Shape;293;p33"/>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94" name="Google Shape;294;p33"/>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95" name="Google Shape;295;p33"/>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96" name="Google Shape;296;p33"/>
          <p:cNvSpPr txBox="1"/>
          <p:nvPr/>
        </p:nvSpPr>
        <p:spPr>
          <a:xfrm>
            <a:off x="625525" y="99825"/>
            <a:ext cx="6381600" cy="536100"/>
          </a:xfrm>
          <a:prstGeom prst="rect">
            <a:avLst/>
          </a:prstGeom>
          <a:noFill/>
          <a:ln>
            <a:noFill/>
          </a:ln>
        </p:spPr>
        <p:txBody>
          <a:bodyPr anchorCtr="0" anchor="ctr" bIns="34275" lIns="68575" spcFirstLastPara="1" rIns="68575" wrap="square" tIns="34275">
            <a:noAutofit/>
          </a:bodyPr>
          <a:lstStyle/>
          <a:p>
            <a:pPr indent="0" lvl="0" marL="0" rtl="0" algn="l">
              <a:lnSpc>
                <a:spcPct val="115000"/>
              </a:lnSpc>
              <a:spcBef>
                <a:spcPts val="0"/>
              </a:spcBef>
              <a:spcAft>
                <a:spcPts val="0"/>
              </a:spcAft>
              <a:buClr>
                <a:schemeClr val="dk1"/>
              </a:buClr>
              <a:buSzPts val="1100"/>
              <a:buFont typeface="Arial"/>
              <a:buNone/>
            </a:pPr>
            <a:r>
              <a:rPr b="1" lang="en" sz="1200">
                <a:solidFill>
                  <a:schemeClr val="lt1"/>
                </a:solidFill>
                <a:latin typeface="Montserrat"/>
                <a:ea typeface="Montserrat"/>
                <a:cs typeface="Montserrat"/>
                <a:sym typeface="Montserrat"/>
              </a:rPr>
              <a:t>Peralatan kolaborasi proyek</a:t>
            </a:r>
            <a:endParaRPr b="1" sz="1200">
              <a:solidFill>
                <a:schemeClr val="lt1"/>
              </a:solidFill>
              <a:latin typeface="Montserrat"/>
              <a:ea typeface="Montserrat"/>
              <a:cs typeface="Montserrat"/>
              <a:sym typeface="Montserrat"/>
            </a:endParaRPr>
          </a:p>
        </p:txBody>
      </p:sp>
      <p:sp>
        <p:nvSpPr>
          <p:cNvPr id="297" name="Google Shape;297;p33"/>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98" name="Google Shape;298;p33"/>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pic>
        <p:nvPicPr>
          <p:cNvPr id="299" name="Google Shape;299;p33"/>
          <p:cNvPicPr preferRelativeResize="0"/>
          <p:nvPr/>
        </p:nvPicPr>
        <p:blipFill rotWithShape="1">
          <a:blip r:embed="rId3">
            <a:alphaModFix/>
          </a:blip>
          <a:srcRect b="0" l="0" r="0" t="0"/>
          <a:stretch/>
        </p:blipFill>
        <p:spPr>
          <a:xfrm>
            <a:off x="8535950" y="105991"/>
            <a:ext cx="463928" cy="463928"/>
          </a:xfrm>
          <a:prstGeom prst="rect">
            <a:avLst/>
          </a:prstGeom>
          <a:noFill/>
          <a:ln>
            <a:noFill/>
          </a:ln>
        </p:spPr>
      </p:pic>
      <p:sp>
        <p:nvSpPr>
          <p:cNvPr id="300" name="Google Shape;300;p33"/>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01" name="Google Shape;301;p33"/>
          <p:cNvSpPr txBox="1"/>
          <p:nvPr/>
        </p:nvSpPr>
        <p:spPr>
          <a:xfrm>
            <a:off x="574800" y="1422288"/>
            <a:ext cx="4062300" cy="2298900"/>
          </a:xfrm>
          <a:prstGeom prst="rect">
            <a:avLst/>
          </a:prstGeom>
          <a:noFill/>
          <a:ln>
            <a:noFill/>
          </a:ln>
        </p:spPr>
        <p:txBody>
          <a:bodyPr anchorCtr="0" anchor="ctr" bIns="91425" lIns="91425" spcFirstLastPara="1" rIns="91425" wrap="square" tIns="91425">
            <a:noAutofit/>
          </a:bodyPr>
          <a:lstStyle/>
          <a:p>
            <a:pPr indent="0" lvl="0" marL="0" rtl="0" algn="just">
              <a:spcBef>
                <a:spcPts val="0"/>
              </a:spcBef>
              <a:spcAft>
                <a:spcPts val="0"/>
              </a:spcAft>
              <a:buClr>
                <a:schemeClr val="dk1"/>
              </a:buClr>
              <a:buSzPts val="3600"/>
              <a:buFont typeface="Arial"/>
              <a:buNone/>
            </a:pPr>
            <a:r>
              <a:rPr b="1" lang="en">
                <a:solidFill>
                  <a:schemeClr val="lt1"/>
                </a:solidFill>
                <a:latin typeface="Montserrat"/>
                <a:ea typeface="Montserrat"/>
                <a:cs typeface="Montserrat"/>
                <a:sym typeface="Montserrat"/>
              </a:rPr>
              <a:t>Proses desain itu harus dilakukan secara kolaboratif, gengs!</a:t>
            </a:r>
            <a:endParaRPr b="1">
              <a:solidFill>
                <a:schemeClr val="lt1"/>
              </a:solidFill>
              <a:latin typeface="Montserrat"/>
              <a:ea typeface="Montserrat"/>
              <a:cs typeface="Montserrat"/>
              <a:sym typeface="Montserrat"/>
            </a:endParaRPr>
          </a:p>
          <a:p>
            <a:pPr indent="0" lvl="0" marL="0" rtl="0" algn="just">
              <a:spcBef>
                <a:spcPts val="0"/>
              </a:spcBef>
              <a:spcAft>
                <a:spcPts val="0"/>
              </a:spcAft>
              <a:buClr>
                <a:schemeClr val="dk1"/>
              </a:buClr>
              <a:buSzPts val="3600"/>
              <a:buFont typeface="Arial"/>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Clr>
                <a:schemeClr val="dk1"/>
              </a:buClr>
              <a:buSzPts val="3600"/>
              <a:buFont typeface="Arial"/>
              <a:buNone/>
            </a:pPr>
            <a:r>
              <a:rPr b="1" lang="en">
                <a:solidFill>
                  <a:schemeClr val="lt1"/>
                </a:solidFill>
                <a:latin typeface="Montserrat"/>
                <a:ea typeface="Montserrat"/>
                <a:cs typeface="Montserrat"/>
                <a:sym typeface="Montserrat"/>
              </a:rPr>
              <a:t>Nah, biar kolaborasinya berjalan lancar, </a:t>
            </a:r>
            <a:r>
              <a:rPr b="1" lang="en">
                <a:solidFill>
                  <a:schemeClr val="accent1"/>
                </a:solidFill>
                <a:latin typeface="Montserrat"/>
                <a:ea typeface="Montserrat"/>
                <a:cs typeface="Montserrat"/>
                <a:sym typeface="Montserrat"/>
              </a:rPr>
              <a:t>berikut peralatan yang bisa digunakan!</a:t>
            </a:r>
            <a:endParaRPr b="1">
              <a:solidFill>
                <a:schemeClr val="accent1"/>
              </a:solidFill>
              <a:latin typeface="Montserrat"/>
              <a:ea typeface="Montserrat"/>
              <a:cs typeface="Montserrat"/>
              <a:sym typeface="Montserrat"/>
            </a:endParaRPr>
          </a:p>
        </p:txBody>
      </p:sp>
      <p:sp>
        <p:nvSpPr>
          <p:cNvPr id="302" name="Google Shape;302;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303" name="Google Shape;303;p33"/>
          <p:cNvPicPr preferRelativeResize="0"/>
          <p:nvPr/>
        </p:nvPicPr>
        <p:blipFill>
          <a:blip r:embed="rId4">
            <a:alphaModFix/>
          </a:blip>
          <a:stretch>
            <a:fillRect/>
          </a:stretch>
        </p:blipFill>
        <p:spPr>
          <a:xfrm>
            <a:off x="5152875" y="914400"/>
            <a:ext cx="2137800" cy="38862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9" name="Google Shape;309;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Peralatan kolaborasi proyek</a:t>
            </a:r>
            <a:endParaRPr/>
          </a:p>
        </p:txBody>
      </p:sp>
      <p:sp>
        <p:nvSpPr>
          <p:cNvPr id="310" name="Google Shape;310;p34"/>
          <p:cNvSpPr txBox="1"/>
          <p:nvPr/>
        </p:nvSpPr>
        <p:spPr>
          <a:xfrm>
            <a:off x="685800" y="1447800"/>
            <a:ext cx="39513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Kenapa harus berkolaborasi, sih?</a:t>
            </a:r>
            <a:endParaRPr b="1" sz="16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3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Manajemen kolaborasi proyek </a:t>
            </a:r>
            <a:r>
              <a:rPr lang="en" sz="1000">
                <a:solidFill>
                  <a:schemeClr val="dk1"/>
                </a:solidFill>
                <a:latin typeface="Montserrat"/>
                <a:ea typeface="Montserrat"/>
                <a:cs typeface="Montserrat"/>
                <a:sym typeface="Montserrat"/>
              </a:rPr>
              <a:t>adalah metode yang digunakan untuk merencanakan, mengkoordinasikan, mengontrol, dan memantau proyek yang sedang dijalankan.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Kenapa harus berkolaborasi? </a:t>
            </a:r>
            <a:r>
              <a:rPr b="1" lang="en" sz="1000">
                <a:solidFill>
                  <a:schemeClr val="dk1"/>
                </a:solidFill>
                <a:latin typeface="Montserrat"/>
                <a:ea typeface="Montserrat"/>
                <a:cs typeface="Montserrat"/>
                <a:sym typeface="Montserrat"/>
              </a:rPr>
              <a:t>Biar proyek yang dijalankan bisa maksimal karena melibatkan banyak orang.</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Dengan manajemen kolaborasi ini, memungkinkan lintas departemen, perusahaan, atau bahkan lintas negara, untuk bekerjasama dalam suatu proyek.</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Raleway Medium"/>
              <a:ea typeface="Raleway Medium"/>
              <a:cs typeface="Raleway Medium"/>
              <a:sym typeface="Raleway Medium"/>
            </a:endParaRPr>
          </a:p>
        </p:txBody>
      </p:sp>
      <p:pic>
        <p:nvPicPr>
          <p:cNvPr id="311" name="Google Shape;311;p34"/>
          <p:cNvPicPr preferRelativeResize="0"/>
          <p:nvPr/>
        </p:nvPicPr>
        <p:blipFill>
          <a:blip r:embed="rId3">
            <a:alphaModFix/>
          </a:blip>
          <a:stretch>
            <a:fillRect/>
          </a:stretch>
        </p:blipFill>
        <p:spPr>
          <a:xfrm>
            <a:off x="4837500" y="1360600"/>
            <a:ext cx="1762854" cy="2501952"/>
          </a:xfrm>
          <a:prstGeom prst="rect">
            <a:avLst/>
          </a:prstGeom>
          <a:noFill/>
          <a:ln>
            <a:noFill/>
          </a:ln>
        </p:spPr>
      </p:pic>
      <p:pic>
        <p:nvPicPr>
          <p:cNvPr id="312" name="Google Shape;312;p34"/>
          <p:cNvPicPr preferRelativeResize="0"/>
          <p:nvPr/>
        </p:nvPicPr>
        <p:blipFill>
          <a:blip r:embed="rId4">
            <a:alphaModFix/>
          </a:blip>
          <a:stretch>
            <a:fillRect/>
          </a:stretch>
        </p:blipFill>
        <p:spPr>
          <a:xfrm>
            <a:off x="6666117" y="1464324"/>
            <a:ext cx="1950482" cy="284908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8" name="Google Shape;318;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Peralatan kolaborasi proyek</a:t>
            </a:r>
            <a:endParaRPr/>
          </a:p>
        </p:txBody>
      </p:sp>
      <p:sp>
        <p:nvSpPr>
          <p:cNvPr id="319" name="Google Shape;319;p35"/>
          <p:cNvSpPr txBox="1"/>
          <p:nvPr/>
        </p:nvSpPr>
        <p:spPr>
          <a:xfrm>
            <a:off x="685800" y="1600195"/>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Peralatan kolaborasi proyek yang sering digunakan~</a:t>
            </a:r>
            <a:endParaRPr b="1" sz="16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Untuk kolaborasi proyek, ada tiga jenis peralatan yang digunakan: </a:t>
            </a:r>
            <a:endParaRPr sz="1000">
              <a:solidFill>
                <a:schemeClr val="dk1"/>
              </a:solidFill>
              <a:latin typeface="Montserrat"/>
              <a:ea typeface="Montserrat"/>
              <a:cs typeface="Montserrat"/>
              <a:sym typeface="Montserrat"/>
            </a:endParaRPr>
          </a:p>
          <a:p>
            <a:pPr indent="0" lvl="0" marL="457200" rtl="0" algn="just">
              <a:lnSpc>
                <a:spcPct val="150000"/>
              </a:lnSpc>
              <a:spcBef>
                <a:spcPts val="0"/>
              </a:spcBef>
              <a:spcAft>
                <a:spcPts val="0"/>
              </a:spcAft>
              <a:buNone/>
            </a:pPr>
            <a:r>
              <a:t/>
            </a:r>
            <a:endParaRPr sz="5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Communication tools</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Collaboration and tracking tools</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Document sharing tools</a:t>
            </a:r>
            <a:endParaRPr sz="1000">
              <a:solidFill>
                <a:schemeClr val="dk1"/>
              </a:solidFill>
              <a:latin typeface="Montserrat"/>
              <a:ea typeface="Montserrat"/>
              <a:cs typeface="Montserrat"/>
              <a:sym typeface="Montserrat"/>
            </a:endParaRPr>
          </a:p>
        </p:txBody>
      </p:sp>
      <p:pic>
        <p:nvPicPr>
          <p:cNvPr id="320" name="Google Shape;320;p35"/>
          <p:cNvPicPr preferRelativeResize="0"/>
          <p:nvPr/>
        </p:nvPicPr>
        <p:blipFill>
          <a:blip r:embed="rId3">
            <a:alphaModFix/>
          </a:blip>
          <a:stretch>
            <a:fillRect/>
          </a:stretch>
        </p:blipFill>
        <p:spPr>
          <a:xfrm>
            <a:off x="5532950" y="914400"/>
            <a:ext cx="2116688" cy="388619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pic>
        <p:nvPicPr>
          <p:cNvPr id="325" name="Google Shape;325;p36">
            <a:hlinkClick r:id="rId3"/>
          </p:cNvPr>
          <p:cNvPicPr preferRelativeResize="0"/>
          <p:nvPr/>
        </p:nvPicPr>
        <p:blipFill rotWithShape="1">
          <a:blip r:embed="rId4">
            <a:alphaModFix/>
          </a:blip>
          <a:srcRect b="10288" l="4101" r="3314" t="6467"/>
          <a:stretch/>
        </p:blipFill>
        <p:spPr>
          <a:xfrm>
            <a:off x="4333000" y="1472400"/>
            <a:ext cx="4381500" cy="2628900"/>
          </a:xfrm>
          <a:prstGeom prst="rect">
            <a:avLst/>
          </a:prstGeom>
          <a:noFill/>
          <a:ln>
            <a:noFill/>
          </a:ln>
        </p:spPr>
      </p:pic>
      <p:sp>
        <p:nvSpPr>
          <p:cNvPr id="326" name="Google Shape;326;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27" name="Google Shape;327;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Peralatan kolaborasi proyek</a:t>
            </a:r>
            <a:endParaRPr/>
          </a:p>
        </p:txBody>
      </p:sp>
      <p:sp>
        <p:nvSpPr>
          <p:cNvPr id="328" name="Google Shape;328;p36"/>
          <p:cNvSpPr txBox="1"/>
          <p:nvPr/>
        </p:nvSpPr>
        <p:spPr>
          <a:xfrm>
            <a:off x="685800" y="1472400"/>
            <a:ext cx="3200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000">
                <a:solidFill>
                  <a:schemeClr val="dk1"/>
                </a:solidFill>
                <a:highlight>
                  <a:schemeClr val="lt1"/>
                </a:highlight>
                <a:latin typeface="Montserrat"/>
                <a:ea typeface="Montserrat"/>
                <a:cs typeface="Montserrat"/>
                <a:sym typeface="Montserrat"/>
              </a:rPr>
              <a:t>Communication tool #1: </a:t>
            </a:r>
            <a:r>
              <a:rPr b="1" lang="en" sz="1000">
                <a:solidFill>
                  <a:schemeClr val="accent1"/>
                </a:solidFill>
                <a:highlight>
                  <a:schemeClr val="lt1"/>
                </a:highlight>
                <a:latin typeface="Montserrat"/>
                <a:ea typeface="Montserrat"/>
                <a:cs typeface="Montserrat"/>
                <a:sym typeface="Montserrat"/>
              </a:rPr>
              <a:t>Slack</a:t>
            </a:r>
            <a:endParaRPr b="1" sz="1000">
              <a:solidFill>
                <a:schemeClr val="accen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hlink"/>
                </a:solidFill>
                <a:latin typeface="Montserrat"/>
                <a:ea typeface="Montserrat"/>
                <a:cs typeface="Montserrat"/>
                <a:sym typeface="Montserrat"/>
                <a:hlinkClick r:id="rId5"/>
              </a:rPr>
              <a:t>Slack</a:t>
            </a:r>
            <a:r>
              <a:rPr lang="en" sz="1000">
                <a:solidFill>
                  <a:schemeClr val="dk1"/>
                </a:solidFill>
                <a:latin typeface="Montserrat"/>
                <a:ea typeface="Montserrat"/>
                <a:cs typeface="Montserrat"/>
                <a:sym typeface="Montserrat"/>
              </a:rPr>
              <a:t> adalah alat kolaborasi yang memungkinkan anggota tim untuk berkomunikasi (via chat dan huddle), pembuatan grup/channel, dan fitur pengarsipan. </a:t>
            </a:r>
            <a:endParaRPr sz="1000">
              <a:solidFill>
                <a:schemeClr val="dk1"/>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34" name="Google Shape;334;p3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Peralatan kolaborasi proyek</a:t>
            </a:r>
            <a:endParaRPr/>
          </a:p>
        </p:txBody>
      </p:sp>
      <p:sp>
        <p:nvSpPr>
          <p:cNvPr id="335" name="Google Shape;335;p37"/>
          <p:cNvSpPr txBox="1"/>
          <p:nvPr/>
        </p:nvSpPr>
        <p:spPr>
          <a:xfrm>
            <a:off x="685800" y="1472400"/>
            <a:ext cx="3200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000">
                <a:solidFill>
                  <a:schemeClr val="dk1"/>
                </a:solidFill>
                <a:highlight>
                  <a:schemeClr val="lt1"/>
                </a:highlight>
                <a:latin typeface="Montserrat"/>
                <a:ea typeface="Montserrat"/>
                <a:cs typeface="Montserrat"/>
                <a:sym typeface="Montserrat"/>
              </a:rPr>
              <a:t>Communication tool #2: </a:t>
            </a:r>
            <a:r>
              <a:rPr b="1" lang="en" sz="1000">
                <a:solidFill>
                  <a:schemeClr val="accent1"/>
                </a:solidFill>
                <a:highlight>
                  <a:schemeClr val="lt1"/>
                </a:highlight>
                <a:latin typeface="Montserrat"/>
                <a:ea typeface="Montserrat"/>
                <a:cs typeface="Montserrat"/>
                <a:sym typeface="Montserrat"/>
              </a:rPr>
              <a:t>Yammer</a:t>
            </a:r>
            <a:endParaRPr b="1" sz="1000">
              <a:solidFill>
                <a:schemeClr val="accen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u="sng">
                <a:solidFill>
                  <a:schemeClr val="hlink"/>
                </a:solidFill>
                <a:latin typeface="Montserrat"/>
                <a:ea typeface="Montserrat"/>
                <a:cs typeface="Montserrat"/>
                <a:sym typeface="Montserrat"/>
                <a:hlinkClick r:id="rId3"/>
              </a:rPr>
              <a:t>Yammer</a:t>
            </a:r>
            <a:r>
              <a:rPr lang="en" sz="1000">
                <a:solidFill>
                  <a:schemeClr val="dk1"/>
                </a:solidFill>
                <a:latin typeface="Montserrat"/>
                <a:ea typeface="Montserrat"/>
                <a:cs typeface="Montserrat"/>
                <a:sym typeface="Montserrat"/>
              </a:rPr>
              <a:t> menyatukan tim kecil, menengah, dan besar serta membantu perusahaan meningkatkan kolaborasi. Yang membuat Yammer unik adalah fokus yang kuat pada privasi—hanya orang dari domain yang sama yang dapat mengakses ruang.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Yammer membantu kita membentuk komunitas untuk dapat berinteraksi satu sama lain berdasarkan minat yang sama.</a:t>
            </a:r>
            <a:endParaRPr sz="800">
              <a:solidFill>
                <a:schemeClr val="dk1"/>
              </a:solidFill>
              <a:latin typeface="Montserrat"/>
              <a:ea typeface="Montserrat"/>
              <a:cs typeface="Montserrat"/>
              <a:sym typeface="Montserrat"/>
            </a:endParaRPr>
          </a:p>
        </p:txBody>
      </p:sp>
      <p:pic>
        <p:nvPicPr>
          <p:cNvPr id="336" name="Google Shape;336;p37">
            <a:hlinkClick r:id="rId4"/>
          </p:cNvPr>
          <p:cNvPicPr preferRelativeResize="0"/>
          <p:nvPr/>
        </p:nvPicPr>
        <p:blipFill rotWithShape="1">
          <a:blip r:embed="rId5">
            <a:alphaModFix/>
          </a:blip>
          <a:srcRect b="0" l="219" r="219" t="0"/>
          <a:stretch/>
        </p:blipFill>
        <p:spPr>
          <a:xfrm>
            <a:off x="4291450" y="1472400"/>
            <a:ext cx="4387499" cy="263250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2" name="Google Shape;342;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Peralatan kolaborasi proyek</a:t>
            </a:r>
            <a:endParaRPr/>
          </a:p>
        </p:txBody>
      </p:sp>
      <p:sp>
        <p:nvSpPr>
          <p:cNvPr id="343" name="Google Shape;343;p38"/>
          <p:cNvSpPr txBox="1"/>
          <p:nvPr/>
        </p:nvSpPr>
        <p:spPr>
          <a:xfrm>
            <a:off x="685800" y="1472400"/>
            <a:ext cx="3200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000">
                <a:solidFill>
                  <a:schemeClr val="dk1"/>
                </a:solidFill>
                <a:highlight>
                  <a:schemeClr val="lt1"/>
                </a:highlight>
                <a:latin typeface="Montserrat"/>
                <a:ea typeface="Montserrat"/>
                <a:cs typeface="Montserrat"/>
                <a:sym typeface="Montserrat"/>
              </a:rPr>
              <a:t>Communication tool #3: </a:t>
            </a:r>
            <a:r>
              <a:rPr b="1" lang="en" sz="1000">
                <a:solidFill>
                  <a:schemeClr val="accent1"/>
                </a:solidFill>
                <a:highlight>
                  <a:schemeClr val="lt1"/>
                </a:highlight>
                <a:latin typeface="Montserrat"/>
                <a:ea typeface="Montserrat"/>
                <a:cs typeface="Montserrat"/>
                <a:sym typeface="Montserrat"/>
              </a:rPr>
              <a:t>Google Hangouts</a:t>
            </a:r>
            <a:endParaRPr b="1" sz="1000">
              <a:solidFill>
                <a:schemeClr val="accen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hlink"/>
                </a:solidFill>
                <a:latin typeface="Montserrat"/>
                <a:ea typeface="Montserrat"/>
                <a:cs typeface="Montserrat"/>
                <a:sym typeface="Montserrat"/>
                <a:hlinkClick r:id="rId3"/>
              </a:rPr>
              <a:t>Google Hangouts</a:t>
            </a:r>
            <a:r>
              <a:rPr lang="en" sz="1000">
                <a:solidFill>
                  <a:schemeClr val="dk1"/>
                </a:solidFill>
                <a:latin typeface="Montserrat"/>
                <a:ea typeface="Montserrat"/>
                <a:cs typeface="Montserrat"/>
                <a:sym typeface="Montserrat"/>
              </a:rPr>
              <a:t> adalah aplikasi pesan instan yang memungkinkan kita mengobrol dan berbicara dengan kolega, kapan saja dan dimana saja.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Keuntungan utama dari Hangouts adalah kesederhanaannya. Sehingga, dapat diakses oleh pengguna dengan berbagai keterampilan teknologi.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344" name="Google Shape;344;p38">
            <a:hlinkClick r:id="rId4"/>
          </p:cNvPr>
          <p:cNvPicPr preferRelativeResize="0"/>
          <p:nvPr/>
        </p:nvPicPr>
        <p:blipFill rotWithShape="1">
          <a:blip r:embed="rId5">
            <a:alphaModFix/>
          </a:blip>
          <a:srcRect b="0" l="-10595" r="0" t="0"/>
          <a:stretch/>
        </p:blipFill>
        <p:spPr>
          <a:xfrm>
            <a:off x="3990709" y="1472399"/>
            <a:ext cx="4571989" cy="27432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0" name="Google Shape;350;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Peralatan kolaborasi proyek</a:t>
            </a:r>
            <a:endParaRPr/>
          </a:p>
        </p:txBody>
      </p:sp>
      <p:sp>
        <p:nvSpPr>
          <p:cNvPr id="351" name="Google Shape;351;p39"/>
          <p:cNvSpPr txBox="1"/>
          <p:nvPr/>
        </p:nvSpPr>
        <p:spPr>
          <a:xfrm>
            <a:off x="685800" y="1472400"/>
            <a:ext cx="3200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000">
                <a:solidFill>
                  <a:schemeClr val="dk1"/>
                </a:solidFill>
                <a:highlight>
                  <a:schemeClr val="lt1"/>
                </a:highlight>
                <a:latin typeface="Montserrat"/>
                <a:ea typeface="Montserrat"/>
                <a:cs typeface="Montserrat"/>
                <a:sym typeface="Montserrat"/>
              </a:rPr>
              <a:t>Collaboration and tracking tool #1: </a:t>
            </a:r>
            <a:r>
              <a:rPr b="1" lang="en" sz="1000">
                <a:solidFill>
                  <a:schemeClr val="accent1"/>
                </a:solidFill>
                <a:highlight>
                  <a:schemeClr val="lt1"/>
                </a:highlight>
                <a:latin typeface="Montserrat"/>
                <a:ea typeface="Montserrat"/>
                <a:cs typeface="Montserrat"/>
                <a:sym typeface="Montserrat"/>
              </a:rPr>
              <a:t>Trello</a:t>
            </a:r>
            <a:endParaRPr b="1" sz="1000">
              <a:solidFill>
                <a:schemeClr val="accen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hlink"/>
                </a:solidFill>
                <a:latin typeface="Montserrat"/>
                <a:ea typeface="Montserrat"/>
                <a:cs typeface="Montserrat"/>
                <a:sym typeface="Montserrat"/>
                <a:hlinkClick r:id="rId3"/>
              </a:rPr>
              <a:t>Trello</a:t>
            </a:r>
            <a:r>
              <a:rPr lang="en" sz="1000">
                <a:solidFill>
                  <a:schemeClr val="dk1"/>
                </a:solidFill>
                <a:latin typeface="Montserrat"/>
                <a:ea typeface="Montserrat"/>
                <a:cs typeface="Montserrat"/>
                <a:sym typeface="Montserrat"/>
              </a:rPr>
              <a:t> adalah salah satu aplikasi manajemen kolaborasi yang paling populer. Trello memungkinkan anggota tim untuk membuat dan mendistribusikan proyek, serta mengkategorikan item melalui platform dengan cara yang sangat sederhana. Trello juga memungkinkan kita untuk melacak perkembangan proyek.</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352" name="Google Shape;352;p39"/>
          <p:cNvPicPr preferRelativeResize="0"/>
          <p:nvPr/>
        </p:nvPicPr>
        <p:blipFill rotWithShape="1">
          <a:blip r:embed="rId4">
            <a:alphaModFix/>
          </a:blip>
          <a:srcRect b="0" l="0" r="6402" t="0"/>
          <a:stretch/>
        </p:blipFill>
        <p:spPr>
          <a:xfrm>
            <a:off x="4236800" y="1537850"/>
            <a:ext cx="4462926" cy="26777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8" name="Google Shape;358;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Peralatan kolaborasi proyek</a:t>
            </a:r>
            <a:endParaRPr/>
          </a:p>
        </p:txBody>
      </p:sp>
      <p:sp>
        <p:nvSpPr>
          <p:cNvPr id="359" name="Google Shape;359;p40"/>
          <p:cNvSpPr txBox="1"/>
          <p:nvPr/>
        </p:nvSpPr>
        <p:spPr>
          <a:xfrm>
            <a:off x="685800" y="1472400"/>
            <a:ext cx="3200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000">
                <a:solidFill>
                  <a:schemeClr val="dk1"/>
                </a:solidFill>
                <a:highlight>
                  <a:schemeClr val="lt1"/>
                </a:highlight>
                <a:latin typeface="Montserrat"/>
                <a:ea typeface="Montserrat"/>
                <a:cs typeface="Montserrat"/>
                <a:sym typeface="Montserrat"/>
              </a:rPr>
              <a:t>Collaboration and tracking tool #2: </a:t>
            </a:r>
            <a:r>
              <a:rPr b="1" lang="en" sz="1000">
                <a:solidFill>
                  <a:schemeClr val="accent1"/>
                </a:solidFill>
                <a:highlight>
                  <a:schemeClr val="lt1"/>
                </a:highlight>
                <a:latin typeface="Montserrat"/>
                <a:ea typeface="Montserrat"/>
                <a:cs typeface="Montserrat"/>
                <a:sym typeface="Montserrat"/>
              </a:rPr>
              <a:t>Asana</a:t>
            </a:r>
            <a:endParaRPr b="1" sz="1000">
              <a:solidFill>
                <a:schemeClr val="accen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hlink"/>
                </a:solidFill>
                <a:latin typeface="Montserrat"/>
                <a:ea typeface="Montserrat"/>
                <a:cs typeface="Montserrat"/>
                <a:sym typeface="Montserrat"/>
                <a:hlinkClick r:id="rId3"/>
              </a:rPr>
              <a:t>Asana</a:t>
            </a:r>
            <a:r>
              <a:rPr lang="en" sz="1000">
                <a:solidFill>
                  <a:schemeClr val="dk1"/>
                </a:solidFill>
                <a:latin typeface="Montserrat"/>
                <a:ea typeface="Montserrat"/>
                <a:cs typeface="Montserrat"/>
                <a:sym typeface="Montserrat"/>
              </a:rPr>
              <a:t> adalah salah satu alat manajemen kolaborasi proyek yang sangat populer. Asana adalah platform all-in-one yang memungkinkan untuk tracking proyek, attach dokumen, dan komunikasi.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Di dalam Asana, kita dapat mengatur proyek dalam daftar, membuat tugas secara langsung, dan mengundang anggota tim untuk bergabung dalam proyek. Kita juga dapat mengatur tenggat waktu agar tugas setiap anggota tim berjalan sesuai rencana.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360" name="Google Shape;360;p40"/>
          <p:cNvPicPr preferRelativeResize="0"/>
          <p:nvPr/>
        </p:nvPicPr>
        <p:blipFill rotWithShape="1">
          <a:blip r:embed="rId4">
            <a:alphaModFix/>
          </a:blip>
          <a:srcRect b="11509" l="0" r="0" t="-1567"/>
          <a:stretch/>
        </p:blipFill>
        <p:spPr>
          <a:xfrm>
            <a:off x="4236800" y="1472400"/>
            <a:ext cx="4462926" cy="2677749"/>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6" name="Google Shape;366;p4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Peralatan kolaborasi proyek</a:t>
            </a:r>
            <a:endParaRPr/>
          </a:p>
        </p:txBody>
      </p:sp>
      <p:sp>
        <p:nvSpPr>
          <p:cNvPr id="367" name="Google Shape;367;p41"/>
          <p:cNvSpPr txBox="1"/>
          <p:nvPr/>
        </p:nvSpPr>
        <p:spPr>
          <a:xfrm>
            <a:off x="685800" y="1472400"/>
            <a:ext cx="32109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000">
                <a:solidFill>
                  <a:schemeClr val="dk1"/>
                </a:solidFill>
                <a:highlight>
                  <a:schemeClr val="lt1"/>
                </a:highlight>
                <a:latin typeface="Montserrat"/>
                <a:ea typeface="Montserrat"/>
                <a:cs typeface="Montserrat"/>
                <a:sym typeface="Montserrat"/>
              </a:rPr>
              <a:t>Collaboration and tracking tool #3: </a:t>
            </a:r>
            <a:r>
              <a:rPr b="1" lang="en" sz="1000">
                <a:solidFill>
                  <a:schemeClr val="accent1"/>
                </a:solidFill>
                <a:highlight>
                  <a:schemeClr val="lt1"/>
                </a:highlight>
                <a:latin typeface="Montserrat"/>
                <a:ea typeface="Montserrat"/>
                <a:cs typeface="Montserrat"/>
                <a:sym typeface="Montserrat"/>
              </a:rPr>
              <a:t>monday.com</a:t>
            </a:r>
            <a:endParaRPr b="1" sz="1000">
              <a:solidFill>
                <a:schemeClr val="accen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hlink"/>
                </a:solidFill>
                <a:latin typeface="Montserrat"/>
                <a:ea typeface="Montserrat"/>
                <a:cs typeface="Montserrat"/>
                <a:sym typeface="Montserrat"/>
                <a:hlinkClick r:id="rId3"/>
              </a:rPr>
              <a:t>monday.com</a:t>
            </a:r>
            <a:r>
              <a:rPr lang="en" sz="1000">
                <a:solidFill>
                  <a:schemeClr val="dk1"/>
                </a:solidFill>
                <a:latin typeface="Montserrat"/>
                <a:ea typeface="Montserrat"/>
                <a:cs typeface="Montserrat"/>
                <a:sym typeface="Montserrat"/>
              </a:rPr>
              <a:t> adalah sistem operasi kerja (Work OS) yang mendukung tim untuk menjalankan proyek dan alur kerja secara mandiri.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monday.com adalah OS Kerja yang sederhana dan intuitif, memudahkan tim untuk membentuk alur kerja, menyesuaikan dengan perubahan kebutuhan, menciptakan transparansi, dan dapat terhubung secara kolaboratif.</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368" name="Google Shape;368;p41"/>
          <p:cNvPicPr preferRelativeResize="0"/>
          <p:nvPr/>
        </p:nvPicPr>
        <p:blipFill rotWithShape="1">
          <a:blip r:embed="rId4">
            <a:alphaModFix/>
          </a:blip>
          <a:srcRect b="-6675" l="0" r="0" t="-6664"/>
          <a:stretch/>
        </p:blipFill>
        <p:spPr>
          <a:xfrm>
            <a:off x="4156975" y="1297424"/>
            <a:ext cx="4572002" cy="2743207"/>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4" name="Google Shape;374;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Peralatan kolaborasi proyek</a:t>
            </a:r>
            <a:endParaRPr/>
          </a:p>
        </p:txBody>
      </p:sp>
      <p:sp>
        <p:nvSpPr>
          <p:cNvPr id="375" name="Google Shape;375;p42"/>
          <p:cNvSpPr txBox="1"/>
          <p:nvPr/>
        </p:nvSpPr>
        <p:spPr>
          <a:xfrm>
            <a:off x="685800" y="1472400"/>
            <a:ext cx="32109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000">
                <a:solidFill>
                  <a:schemeClr val="dk1"/>
                </a:solidFill>
                <a:highlight>
                  <a:schemeClr val="lt1"/>
                </a:highlight>
                <a:latin typeface="Montserrat"/>
                <a:ea typeface="Montserrat"/>
                <a:cs typeface="Montserrat"/>
                <a:sym typeface="Montserrat"/>
              </a:rPr>
              <a:t>Document sharing</a:t>
            </a:r>
            <a:r>
              <a:rPr b="1" lang="en" sz="1000">
                <a:solidFill>
                  <a:schemeClr val="dk1"/>
                </a:solidFill>
                <a:highlight>
                  <a:schemeClr val="lt1"/>
                </a:highlight>
                <a:latin typeface="Montserrat"/>
                <a:ea typeface="Montserrat"/>
                <a:cs typeface="Montserrat"/>
                <a:sym typeface="Montserrat"/>
              </a:rPr>
              <a:t> tool #1: </a:t>
            </a:r>
            <a:r>
              <a:rPr b="1" lang="en" sz="1000">
                <a:solidFill>
                  <a:schemeClr val="accent1"/>
                </a:solidFill>
                <a:highlight>
                  <a:schemeClr val="lt1"/>
                </a:highlight>
                <a:latin typeface="Montserrat"/>
                <a:ea typeface="Montserrat"/>
                <a:cs typeface="Montserrat"/>
                <a:sym typeface="Montserrat"/>
              </a:rPr>
              <a:t>Google docs</a:t>
            </a:r>
            <a:endParaRPr b="1" sz="1000">
              <a:solidFill>
                <a:schemeClr val="accen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Google Documents adalah peralatan ketik-mengetik online yang memungkinkan kita untuk membuat, mengedit, dan berkolaborasi pada suatu dokumen.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376" name="Google Shape;376;p42">
            <a:hlinkClick r:id="rId3"/>
          </p:cNvPr>
          <p:cNvPicPr preferRelativeResize="0"/>
          <p:nvPr/>
        </p:nvPicPr>
        <p:blipFill rotWithShape="1">
          <a:blip r:embed="rId4">
            <a:alphaModFix/>
          </a:blip>
          <a:srcRect b="0" l="8826" r="8834" t="0"/>
          <a:stretch/>
        </p:blipFill>
        <p:spPr>
          <a:xfrm>
            <a:off x="4293375" y="1513975"/>
            <a:ext cx="4323224" cy="25939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2" name="Google Shape;382;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Peralatan kolaborasi proyek</a:t>
            </a:r>
            <a:endParaRPr/>
          </a:p>
        </p:txBody>
      </p:sp>
      <p:sp>
        <p:nvSpPr>
          <p:cNvPr id="383" name="Google Shape;383;p43"/>
          <p:cNvSpPr txBox="1"/>
          <p:nvPr/>
        </p:nvSpPr>
        <p:spPr>
          <a:xfrm>
            <a:off x="685800" y="1472400"/>
            <a:ext cx="32109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000">
                <a:solidFill>
                  <a:schemeClr val="dk1"/>
                </a:solidFill>
                <a:highlight>
                  <a:schemeClr val="lt1"/>
                </a:highlight>
                <a:latin typeface="Montserrat"/>
                <a:ea typeface="Montserrat"/>
                <a:cs typeface="Montserrat"/>
                <a:sym typeface="Montserrat"/>
              </a:rPr>
              <a:t>Document sharing tool #2: </a:t>
            </a:r>
            <a:r>
              <a:rPr b="1" lang="en" sz="1000">
                <a:solidFill>
                  <a:schemeClr val="accent1"/>
                </a:solidFill>
                <a:highlight>
                  <a:schemeClr val="lt1"/>
                </a:highlight>
                <a:latin typeface="Montserrat"/>
                <a:ea typeface="Montserrat"/>
                <a:cs typeface="Montserrat"/>
                <a:sym typeface="Montserrat"/>
              </a:rPr>
              <a:t>Quip</a:t>
            </a:r>
            <a:endParaRPr b="1" sz="1000">
              <a:solidFill>
                <a:schemeClr val="accen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Sama seperti Google docs, </a:t>
            </a:r>
            <a:r>
              <a:rPr lang="en" sz="1000">
                <a:solidFill>
                  <a:schemeClr val="dk1"/>
                </a:solidFill>
                <a:latin typeface="Montserrat"/>
                <a:ea typeface="Montserrat"/>
                <a:cs typeface="Montserrat"/>
                <a:sym typeface="Montserrat"/>
              </a:rPr>
              <a:t>Quip merupakan alat pemprosesan dokumen untuk kolaborasi tim yang memungkinkan banyak orang untuk mengedit dokumen secara bersamaan.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Bedanya, Quip mendukung pesan instan. Sehingga, kita bisa langsung berkomunikasi dengan anggota tim lainnya.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384" name="Google Shape;384;p43">
            <a:hlinkClick r:id="rId3"/>
          </p:cNvPr>
          <p:cNvPicPr preferRelativeResize="0"/>
          <p:nvPr/>
        </p:nvPicPr>
        <p:blipFill rotWithShape="1">
          <a:blip r:embed="rId4">
            <a:alphaModFix/>
          </a:blip>
          <a:srcRect b="0" l="9827" r="9819" t="0"/>
          <a:stretch/>
        </p:blipFill>
        <p:spPr>
          <a:xfrm>
            <a:off x="4249875" y="1539450"/>
            <a:ext cx="4460249" cy="26761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0" name="Google Shape;390;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Peralatan kolaborasi proyek</a:t>
            </a:r>
            <a:endParaRPr/>
          </a:p>
        </p:txBody>
      </p:sp>
      <p:sp>
        <p:nvSpPr>
          <p:cNvPr id="391" name="Google Shape;391;p44"/>
          <p:cNvSpPr txBox="1"/>
          <p:nvPr/>
        </p:nvSpPr>
        <p:spPr>
          <a:xfrm>
            <a:off x="685800" y="1472400"/>
            <a:ext cx="32109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000">
                <a:solidFill>
                  <a:schemeClr val="dk1"/>
                </a:solidFill>
                <a:highlight>
                  <a:schemeClr val="lt1"/>
                </a:highlight>
                <a:latin typeface="Montserrat"/>
                <a:ea typeface="Montserrat"/>
                <a:cs typeface="Montserrat"/>
                <a:sym typeface="Montserrat"/>
              </a:rPr>
              <a:t>Document sharing tool #3: </a:t>
            </a:r>
            <a:r>
              <a:rPr b="1" lang="en" sz="1000">
                <a:solidFill>
                  <a:schemeClr val="accent1"/>
                </a:solidFill>
                <a:highlight>
                  <a:schemeClr val="lt1"/>
                </a:highlight>
                <a:latin typeface="Montserrat"/>
                <a:ea typeface="Montserrat"/>
                <a:cs typeface="Montserrat"/>
                <a:sym typeface="Montserrat"/>
              </a:rPr>
              <a:t>Dropbox Paper</a:t>
            </a:r>
            <a:endParaRPr b="1" sz="1000">
              <a:solidFill>
                <a:schemeClr val="accen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Dropbox Paper adalah platform kolaborasi dokumen untuk tim desain yang membantu untuk membuat, mengedit, bertukar pikiran, meninjau desain, dan mengelola tugas. Bahkan, Dropbox Paper dapat digunakan untuk rapat online.</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392" name="Google Shape;392;p44">
            <a:hlinkClick r:id="rId3"/>
          </p:cNvPr>
          <p:cNvPicPr preferRelativeResize="0"/>
          <p:nvPr/>
        </p:nvPicPr>
        <p:blipFill rotWithShape="1">
          <a:blip r:embed="rId4">
            <a:alphaModFix/>
          </a:blip>
          <a:srcRect b="0" l="18473" r="0" t="0"/>
          <a:stretch/>
        </p:blipFill>
        <p:spPr>
          <a:xfrm>
            <a:off x="4218700" y="1410050"/>
            <a:ext cx="4572000" cy="274321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52F67"/>
        </a:solidFill>
      </p:bgPr>
    </p:bg>
    <p:spTree>
      <p:nvGrpSpPr>
        <p:cNvPr id="396" name="Shape 396"/>
        <p:cNvGrpSpPr/>
        <p:nvPr/>
      </p:nvGrpSpPr>
      <p:grpSpPr>
        <a:xfrm>
          <a:off x="0" y="0"/>
          <a:ext cx="0" cy="0"/>
          <a:chOff x="0" y="0"/>
          <a:chExt cx="0" cy="0"/>
        </a:xfrm>
      </p:grpSpPr>
      <p:sp>
        <p:nvSpPr>
          <p:cNvPr id="397" name="Google Shape;397;p4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98" name="Google Shape;398;p4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99" name="Google Shape;399;p4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400" name="Google Shape;400;p4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401" name="Google Shape;401;p45"/>
          <p:cNvSpPr txBox="1"/>
          <p:nvPr/>
        </p:nvSpPr>
        <p:spPr>
          <a:xfrm>
            <a:off x="625525" y="99825"/>
            <a:ext cx="6381600" cy="536100"/>
          </a:xfrm>
          <a:prstGeom prst="rect">
            <a:avLst/>
          </a:prstGeom>
          <a:noFill/>
          <a:ln>
            <a:noFill/>
          </a:ln>
        </p:spPr>
        <p:txBody>
          <a:bodyPr anchorCtr="0" anchor="ctr" bIns="34275" lIns="68575" spcFirstLastPara="1" rIns="68575" wrap="square" tIns="34275">
            <a:noAutofit/>
          </a:bodyPr>
          <a:lstStyle/>
          <a:p>
            <a:pPr indent="0" lvl="0" marL="0" rtl="0" algn="l">
              <a:lnSpc>
                <a:spcPct val="115000"/>
              </a:lnSpc>
              <a:spcBef>
                <a:spcPts val="0"/>
              </a:spcBef>
              <a:spcAft>
                <a:spcPts val="0"/>
              </a:spcAft>
              <a:buClr>
                <a:schemeClr val="dk1"/>
              </a:buClr>
              <a:buSzPts val="1100"/>
              <a:buFont typeface="Arial"/>
              <a:buNone/>
            </a:pPr>
            <a:r>
              <a:rPr b="1" lang="en" sz="1200">
                <a:solidFill>
                  <a:schemeClr val="lt1"/>
                </a:solidFill>
                <a:latin typeface="Montserrat"/>
                <a:ea typeface="Montserrat"/>
                <a:cs typeface="Montserrat"/>
                <a:sym typeface="Montserrat"/>
              </a:rPr>
              <a:t>Peralatan handoff</a:t>
            </a:r>
            <a:endParaRPr b="1" sz="1200">
              <a:solidFill>
                <a:schemeClr val="lt1"/>
              </a:solidFill>
              <a:latin typeface="Montserrat"/>
              <a:ea typeface="Montserrat"/>
              <a:cs typeface="Montserrat"/>
              <a:sym typeface="Montserrat"/>
            </a:endParaRPr>
          </a:p>
        </p:txBody>
      </p:sp>
      <p:sp>
        <p:nvSpPr>
          <p:cNvPr id="402" name="Google Shape;402;p4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03" name="Google Shape;403;p4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pic>
        <p:nvPicPr>
          <p:cNvPr id="404" name="Google Shape;404;p45"/>
          <p:cNvPicPr preferRelativeResize="0"/>
          <p:nvPr/>
        </p:nvPicPr>
        <p:blipFill rotWithShape="1">
          <a:blip r:embed="rId3">
            <a:alphaModFix/>
          </a:blip>
          <a:srcRect b="0" l="0" r="0" t="0"/>
          <a:stretch/>
        </p:blipFill>
        <p:spPr>
          <a:xfrm>
            <a:off x="8535950" y="105991"/>
            <a:ext cx="463928" cy="463928"/>
          </a:xfrm>
          <a:prstGeom prst="rect">
            <a:avLst/>
          </a:prstGeom>
          <a:noFill/>
          <a:ln>
            <a:noFill/>
          </a:ln>
        </p:spPr>
      </p:pic>
      <p:sp>
        <p:nvSpPr>
          <p:cNvPr id="405" name="Google Shape;405;p4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06" name="Google Shape;406;p45"/>
          <p:cNvSpPr txBox="1"/>
          <p:nvPr/>
        </p:nvSpPr>
        <p:spPr>
          <a:xfrm>
            <a:off x="574800" y="1422288"/>
            <a:ext cx="4062300" cy="2298900"/>
          </a:xfrm>
          <a:prstGeom prst="rect">
            <a:avLst/>
          </a:prstGeom>
          <a:noFill/>
          <a:ln>
            <a:noFill/>
          </a:ln>
        </p:spPr>
        <p:txBody>
          <a:bodyPr anchorCtr="0" anchor="ctr" bIns="91425" lIns="91425" spcFirstLastPara="1" rIns="91425" wrap="square" tIns="91425">
            <a:noAutofit/>
          </a:bodyPr>
          <a:lstStyle/>
          <a:p>
            <a:pPr indent="0" lvl="0" marL="0" rtl="0" algn="just">
              <a:spcBef>
                <a:spcPts val="0"/>
              </a:spcBef>
              <a:spcAft>
                <a:spcPts val="0"/>
              </a:spcAft>
              <a:buClr>
                <a:schemeClr val="dk1"/>
              </a:buClr>
              <a:buSzPts val="3600"/>
              <a:buFont typeface="Arial"/>
              <a:buNone/>
            </a:pPr>
            <a:r>
              <a:rPr b="1" lang="en">
                <a:solidFill>
                  <a:schemeClr val="lt1"/>
                </a:solidFill>
                <a:latin typeface="Montserrat"/>
                <a:ea typeface="Montserrat"/>
                <a:cs typeface="Montserrat"/>
                <a:sym typeface="Montserrat"/>
              </a:rPr>
              <a:t>Kita sudah mengenal peralatan kolaborasi. </a:t>
            </a:r>
            <a:endParaRPr b="1">
              <a:solidFill>
                <a:schemeClr val="lt1"/>
              </a:solidFill>
              <a:latin typeface="Montserrat"/>
              <a:ea typeface="Montserrat"/>
              <a:cs typeface="Montserrat"/>
              <a:sym typeface="Montserrat"/>
            </a:endParaRPr>
          </a:p>
          <a:p>
            <a:pPr indent="0" lvl="0" marL="0" rtl="0" algn="just">
              <a:spcBef>
                <a:spcPts val="0"/>
              </a:spcBef>
              <a:spcAft>
                <a:spcPts val="0"/>
              </a:spcAft>
              <a:buClr>
                <a:schemeClr val="dk1"/>
              </a:buClr>
              <a:buSzPts val="3600"/>
              <a:buFont typeface="Arial"/>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Clr>
                <a:schemeClr val="dk1"/>
              </a:buClr>
              <a:buSzPts val="3600"/>
              <a:buFont typeface="Arial"/>
              <a:buNone/>
            </a:pPr>
            <a:r>
              <a:rPr b="1" lang="en">
                <a:solidFill>
                  <a:schemeClr val="lt1"/>
                </a:solidFill>
                <a:latin typeface="Montserrat"/>
                <a:ea typeface="Montserrat"/>
                <a:cs typeface="Montserrat"/>
                <a:sym typeface="Montserrat"/>
              </a:rPr>
              <a:t>Nah, dalam proses kolaborasi itu, ada yang namanya </a:t>
            </a:r>
            <a:r>
              <a:rPr b="1" lang="en">
                <a:solidFill>
                  <a:schemeClr val="accent1"/>
                </a:solidFill>
                <a:latin typeface="Montserrat"/>
                <a:ea typeface="Montserrat"/>
                <a:cs typeface="Montserrat"/>
                <a:sym typeface="Montserrat"/>
              </a:rPr>
              <a:t>handoff. </a:t>
            </a:r>
            <a:endParaRPr b="1">
              <a:solidFill>
                <a:schemeClr val="accent1"/>
              </a:solidFill>
              <a:latin typeface="Montserrat"/>
              <a:ea typeface="Montserrat"/>
              <a:cs typeface="Montserrat"/>
              <a:sym typeface="Montserrat"/>
            </a:endParaRPr>
          </a:p>
          <a:p>
            <a:pPr indent="0" lvl="0" marL="0" rtl="0" algn="just">
              <a:spcBef>
                <a:spcPts val="0"/>
              </a:spcBef>
              <a:spcAft>
                <a:spcPts val="0"/>
              </a:spcAft>
              <a:buClr>
                <a:schemeClr val="dk1"/>
              </a:buClr>
              <a:buSzPts val="3600"/>
              <a:buFont typeface="Arial"/>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Clr>
                <a:schemeClr val="dk1"/>
              </a:buClr>
              <a:buSzPts val="3600"/>
              <a:buFont typeface="Arial"/>
              <a:buNone/>
            </a:pPr>
            <a:r>
              <a:rPr b="1" lang="en">
                <a:solidFill>
                  <a:schemeClr val="accent1"/>
                </a:solidFill>
                <a:latin typeface="Montserrat"/>
                <a:ea typeface="Montserrat"/>
                <a:cs typeface="Montserrat"/>
                <a:sym typeface="Montserrat"/>
              </a:rPr>
              <a:t>Handoff ini juga punya peralatannya,</a:t>
            </a:r>
            <a:r>
              <a:rPr b="1" lang="en">
                <a:solidFill>
                  <a:schemeClr val="lt1"/>
                </a:solidFill>
                <a:latin typeface="Montserrat"/>
                <a:ea typeface="Montserrat"/>
                <a:cs typeface="Montserrat"/>
                <a:sym typeface="Montserrat"/>
              </a:rPr>
              <a:t> gengs!</a:t>
            </a:r>
            <a:endParaRPr b="1">
              <a:solidFill>
                <a:schemeClr val="lt1"/>
              </a:solidFill>
              <a:latin typeface="Montserrat"/>
              <a:ea typeface="Montserrat"/>
              <a:cs typeface="Montserrat"/>
              <a:sym typeface="Montserrat"/>
            </a:endParaRPr>
          </a:p>
        </p:txBody>
      </p:sp>
      <p:sp>
        <p:nvSpPr>
          <p:cNvPr id="407" name="Google Shape;407;p4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408" name="Google Shape;408;p45"/>
          <p:cNvPicPr preferRelativeResize="0"/>
          <p:nvPr/>
        </p:nvPicPr>
        <p:blipFill>
          <a:blip r:embed="rId4">
            <a:alphaModFix/>
          </a:blip>
          <a:stretch>
            <a:fillRect/>
          </a:stretch>
        </p:blipFill>
        <p:spPr>
          <a:xfrm>
            <a:off x="5152875" y="914400"/>
            <a:ext cx="2137800" cy="38862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4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4" name="Google Shape;414;p4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Peralatan handoff</a:t>
            </a:r>
            <a:endParaRPr/>
          </a:p>
        </p:txBody>
      </p:sp>
      <p:sp>
        <p:nvSpPr>
          <p:cNvPr id="415" name="Google Shape;415;p46"/>
          <p:cNvSpPr txBox="1"/>
          <p:nvPr/>
        </p:nvSpPr>
        <p:spPr>
          <a:xfrm>
            <a:off x="685800" y="1354975"/>
            <a:ext cx="39513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Sebelum bahas peralatannya, c</a:t>
            </a:r>
            <a:r>
              <a:rPr b="1" lang="en" sz="1600">
                <a:solidFill>
                  <a:srgbClr val="743673"/>
                </a:solidFill>
                <a:highlight>
                  <a:schemeClr val="lt1"/>
                </a:highlight>
                <a:latin typeface="Montserrat"/>
                <a:ea typeface="Montserrat"/>
                <a:cs typeface="Montserrat"/>
                <a:sym typeface="Montserrat"/>
              </a:rPr>
              <a:t>oba kita bahas definisinya dulu~</a:t>
            </a:r>
            <a:endParaRPr b="1" sz="1600">
              <a:solidFill>
                <a:schemeClr val="dk1"/>
              </a:solidFill>
              <a:latin typeface="Montserrat"/>
              <a:ea typeface="Montserrat"/>
              <a:cs typeface="Montserrat"/>
              <a:sym typeface="Montserrat"/>
            </a:endParaRPr>
          </a:p>
          <a:p>
            <a:pPr indent="0" lvl="0" marL="0" rtl="0" algn="just">
              <a:lnSpc>
                <a:spcPct val="115000"/>
              </a:lnSpc>
              <a:spcBef>
                <a:spcPts val="1600"/>
              </a:spcBef>
              <a:spcAft>
                <a:spcPts val="0"/>
              </a:spcAft>
              <a:buNone/>
            </a:pPr>
            <a:r>
              <a:rPr lang="en" sz="1000">
                <a:solidFill>
                  <a:schemeClr val="dk1"/>
                </a:solidFill>
                <a:latin typeface="Montserrat"/>
                <a:ea typeface="Montserrat"/>
                <a:cs typeface="Montserrat"/>
                <a:sym typeface="Montserrat"/>
              </a:rPr>
              <a:t>Kita bisa memahami arti design handoff dari susunan katanya, yaitu </a:t>
            </a:r>
            <a:r>
              <a:rPr b="1" lang="en" sz="1000">
                <a:solidFill>
                  <a:schemeClr val="dk1"/>
                </a:solidFill>
                <a:latin typeface="Montserrat"/>
                <a:ea typeface="Montserrat"/>
                <a:cs typeface="Montserrat"/>
                <a:sym typeface="Montserrat"/>
              </a:rPr>
              <a:t>design yang berarti rancangan</a:t>
            </a:r>
            <a:r>
              <a:rPr lang="en" sz="1000">
                <a:solidFill>
                  <a:schemeClr val="dk1"/>
                </a:solidFill>
                <a:latin typeface="Montserrat"/>
                <a:ea typeface="Montserrat"/>
                <a:cs typeface="Montserrat"/>
                <a:sym typeface="Montserrat"/>
              </a:rPr>
              <a:t>, dan</a:t>
            </a:r>
            <a:r>
              <a:rPr b="1" lang="en" sz="1000">
                <a:solidFill>
                  <a:schemeClr val="dk1"/>
                </a:solidFill>
                <a:latin typeface="Montserrat"/>
                <a:ea typeface="Montserrat"/>
                <a:cs typeface="Montserrat"/>
                <a:sym typeface="Montserrat"/>
              </a:rPr>
              <a:t> handoff yang bisa diartikan sebagai penyerahan.</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Sederhananya, </a:t>
            </a:r>
            <a:r>
              <a:rPr b="1" lang="en" sz="1000">
                <a:solidFill>
                  <a:schemeClr val="dk1"/>
                </a:solidFill>
                <a:latin typeface="Montserrat"/>
                <a:ea typeface="Montserrat"/>
                <a:cs typeface="Montserrat"/>
                <a:sym typeface="Montserrat"/>
              </a:rPr>
              <a:t>design handoff adalah penyerahan rancangan dari tim UX Design kepada tim developer untuk kemudian diubah menjadi produk.</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Design handoff adalah proses akhir yang harus dijalankan UX Designer saat desain mereka sudah selesai dan diuji.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416" name="Google Shape;416;p46"/>
          <p:cNvPicPr preferRelativeResize="0"/>
          <p:nvPr/>
        </p:nvPicPr>
        <p:blipFill>
          <a:blip r:embed="rId3">
            <a:alphaModFix/>
          </a:blip>
          <a:stretch>
            <a:fillRect/>
          </a:stretch>
        </p:blipFill>
        <p:spPr>
          <a:xfrm>
            <a:off x="5010350" y="1412774"/>
            <a:ext cx="3606251" cy="27523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2" name="Google Shape;422;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Peralatan handoff</a:t>
            </a:r>
            <a:endParaRPr/>
          </a:p>
        </p:txBody>
      </p:sp>
      <p:sp>
        <p:nvSpPr>
          <p:cNvPr id="423" name="Google Shape;423;p47"/>
          <p:cNvSpPr txBox="1"/>
          <p:nvPr/>
        </p:nvSpPr>
        <p:spPr>
          <a:xfrm>
            <a:off x="685800" y="1652150"/>
            <a:ext cx="39513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Pada tahapan handoff ini, UX Designer akan </a:t>
            </a:r>
            <a:r>
              <a:rPr b="1" lang="en" sz="1000">
                <a:solidFill>
                  <a:schemeClr val="dk1"/>
                </a:solidFill>
                <a:latin typeface="Montserrat"/>
                <a:ea typeface="Montserrat"/>
                <a:cs typeface="Montserrat"/>
                <a:sym typeface="Montserrat"/>
              </a:rPr>
              <a:t>menyerahkan dokumentasi desain </a:t>
            </a:r>
            <a:r>
              <a:rPr lang="en" sz="1000">
                <a:solidFill>
                  <a:schemeClr val="dk1"/>
                </a:solidFill>
                <a:latin typeface="Montserrat"/>
                <a:ea typeface="Montserrat"/>
                <a:cs typeface="Montserrat"/>
                <a:sym typeface="Montserrat"/>
              </a:rPr>
              <a:t>dari keseluruhan screen yang sudah dibuat.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Setelah itu, tiba waktunya seorang developer akan memulai proses implementasi desain yang dibuat ke dalam bahasa pemrograman.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424" name="Google Shape;424;p47"/>
          <p:cNvPicPr preferRelativeResize="0"/>
          <p:nvPr/>
        </p:nvPicPr>
        <p:blipFill>
          <a:blip r:embed="rId3">
            <a:alphaModFix/>
          </a:blip>
          <a:stretch>
            <a:fillRect/>
          </a:stretch>
        </p:blipFill>
        <p:spPr>
          <a:xfrm>
            <a:off x="5010350" y="1412774"/>
            <a:ext cx="3606251" cy="27523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pic>
        <p:nvPicPr>
          <p:cNvPr id="429" name="Google Shape;429;p48"/>
          <p:cNvPicPr preferRelativeResize="0"/>
          <p:nvPr/>
        </p:nvPicPr>
        <p:blipFill>
          <a:blip r:embed="rId3">
            <a:alphaModFix/>
          </a:blip>
          <a:stretch>
            <a:fillRect/>
          </a:stretch>
        </p:blipFill>
        <p:spPr>
          <a:xfrm>
            <a:off x="4802225" y="1375026"/>
            <a:ext cx="2546851" cy="1872375"/>
          </a:xfrm>
          <a:prstGeom prst="rect">
            <a:avLst/>
          </a:prstGeom>
          <a:noFill/>
          <a:ln>
            <a:noFill/>
          </a:ln>
        </p:spPr>
      </p:pic>
      <p:pic>
        <p:nvPicPr>
          <p:cNvPr id="430" name="Google Shape;430;p48"/>
          <p:cNvPicPr preferRelativeResize="0"/>
          <p:nvPr/>
        </p:nvPicPr>
        <p:blipFill>
          <a:blip r:embed="rId4">
            <a:alphaModFix/>
          </a:blip>
          <a:stretch>
            <a:fillRect/>
          </a:stretch>
        </p:blipFill>
        <p:spPr>
          <a:xfrm>
            <a:off x="6140583" y="1156712"/>
            <a:ext cx="2476011" cy="3491476"/>
          </a:xfrm>
          <a:prstGeom prst="rect">
            <a:avLst/>
          </a:prstGeom>
          <a:noFill/>
          <a:ln>
            <a:noFill/>
          </a:ln>
        </p:spPr>
      </p:pic>
      <p:sp>
        <p:nvSpPr>
          <p:cNvPr id="431" name="Google Shape;431;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2" name="Google Shape;432;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Peralatan handoff</a:t>
            </a:r>
            <a:endParaRPr/>
          </a:p>
        </p:txBody>
      </p:sp>
      <p:sp>
        <p:nvSpPr>
          <p:cNvPr id="433" name="Google Shape;433;p48"/>
          <p:cNvSpPr txBox="1"/>
          <p:nvPr/>
        </p:nvSpPr>
        <p:spPr>
          <a:xfrm>
            <a:off x="685800" y="1404975"/>
            <a:ext cx="39513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Clr>
                <a:schemeClr val="dk1"/>
              </a:buClr>
              <a:buSzPts val="1100"/>
              <a:buFont typeface="Arial"/>
              <a:buNone/>
            </a:pPr>
            <a:r>
              <a:rPr b="1" lang="en" sz="1500">
                <a:solidFill>
                  <a:srgbClr val="743673"/>
                </a:solidFill>
                <a:highlight>
                  <a:schemeClr val="lt1"/>
                </a:highlight>
                <a:latin typeface="Montserrat"/>
                <a:ea typeface="Montserrat"/>
                <a:cs typeface="Montserrat"/>
                <a:sym typeface="Montserrat"/>
              </a:rPr>
              <a:t>Berikut peralatannya!</a:t>
            </a:r>
            <a:endParaRPr b="1" sz="15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Saat ini, terdapat banyak software yang bisa digunakan untuk memudahkan kita dalam proses design handoff. Yang paling populer adalah </a:t>
            </a:r>
            <a:r>
              <a:rPr b="1" lang="en" sz="1000">
                <a:solidFill>
                  <a:schemeClr val="dk1"/>
                </a:solidFill>
                <a:latin typeface="Montserrat"/>
                <a:ea typeface="Montserrat"/>
                <a:cs typeface="Montserrat"/>
                <a:sym typeface="Montserrat"/>
              </a:rPr>
              <a:t>Figma, Zeplin, </a:t>
            </a:r>
            <a:r>
              <a:rPr lang="en" sz="1000">
                <a:solidFill>
                  <a:schemeClr val="dk1"/>
                </a:solidFill>
                <a:latin typeface="Montserrat"/>
                <a:ea typeface="Montserrat"/>
                <a:cs typeface="Montserrat"/>
                <a:sym typeface="Montserrat"/>
              </a:rPr>
              <a:t>dan</a:t>
            </a:r>
            <a:r>
              <a:rPr b="1" lang="en" sz="1000">
                <a:solidFill>
                  <a:schemeClr val="dk1"/>
                </a:solidFill>
                <a:latin typeface="Montserrat"/>
                <a:ea typeface="Montserrat"/>
                <a:cs typeface="Montserrat"/>
                <a:sym typeface="Montserrat"/>
              </a:rPr>
              <a:t> Bit.</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Melalui software tersebut, design screen yang sudah dibuat bisa di-inspect secara detail. Anatomi yang bisa dilihat dan dipelajari oleh developer meliputi spacing, HEX color, typography, ukuran objek, dan masih banyak lagi.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Sehingga, tim developer lebih mudah untuk menghasilkan tampilan produk seperti desain yang sudah dibuat.</a:t>
            </a:r>
            <a:endParaRPr sz="1000">
              <a:solidFill>
                <a:schemeClr val="dk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434" name="Google Shape;434;p48"/>
          <p:cNvPicPr preferRelativeResize="0"/>
          <p:nvPr/>
        </p:nvPicPr>
        <p:blipFill rotWithShape="1">
          <a:blip r:embed="rId5">
            <a:alphaModFix/>
          </a:blip>
          <a:srcRect b="23346" l="0" r="77612" t="21822"/>
          <a:stretch/>
        </p:blipFill>
        <p:spPr>
          <a:xfrm>
            <a:off x="5061175" y="1598950"/>
            <a:ext cx="620026" cy="879700"/>
          </a:xfrm>
          <a:prstGeom prst="rect">
            <a:avLst/>
          </a:prstGeom>
          <a:noFill/>
          <a:ln>
            <a:noFill/>
          </a:ln>
        </p:spPr>
      </p:pic>
      <p:pic>
        <p:nvPicPr>
          <p:cNvPr id="435" name="Google Shape;435;p48"/>
          <p:cNvPicPr preferRelativeResize="0"/>
          <p:nvPr/>
        </p:nvPicPr>
        <p:blipFill>
          <a:blip r:embed="rId6">
            <a:alphaModFix/>
          </a:blip>
          <a:stretch>
            <a:fillRect/>
          </a:stretch>
        </p:blipFill>
        <p:spPr>
          <a:xfrm>
            <a:off x="5996149" y="1653526"/>
            <a:ext cx="770525" cy="770550"/>
          </a:xfrm>
          <a:prstGeom prst="rect">
            <a:avLst/>
          </a:prstGeom>
          <a:noFill/>
          <a:ln>
            <a:noFill/>
          </a:ln>
        </p:spPr>
      </p:pic>
      <p:pic>
        <p:nvPicPr>
          <p:cNvPr id="436" name="Google Shape;436;p48"/>
          <p:cNvPicPr preferRelativeResize="0"/>
          <p:nvPr/>
        </p:nvPicPr>
        <p:blipFill rotWithShape="1">
          <a:blip r:embed="rId5">
            <a:alphaModFix/>
          </a:blip>
          <a:srcRect b="22589" l="24788" r="31761" t="19053"/>
          <a:stretch/>
        </p:blipFill>
        <p:spPr>
          <a:xfrm>
            <a:off x="5335625" y="2370625"/>
            <a:ext cx="954074" cy="7423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pic>
        <p:nvPicPr>
          <p:cNvPr id="441" name="Google Shape;441;p49">
            <a:hlinkClick r:id="rId3"/>
          </p:cNvPr>
          <p:cNvPicPr preferRelativeResize="0"/>
          <p:nvPr/>
        </p:nvPicPr>
        <p:blipFill rotWithShape="1">
          <a:blip r:embed="rId4">
            <a:alphaModFix/>
          </a:blip>
          <a:srcRect b="3122" l="0" r="0" t="3122"/>
          <a:stretch/>
        </p:blipFill>
        <p:spPr>
          <a:xfrm>
            <a:off x="4277125" y="1447800"/>
            <a:ext cx="4389500" cy="2633700"/>
          </a:xfrm>
          <a:prstGeom prst="rect">
            <a:avLst/>
          </a:prstGeom>
          <a:noFill/>
          <a:ln>
            <a:noFill/>
          </a:ln>
        </p:spPr>
      </p:pic>
      <p:sp>
        <p:nvSpPr>
          <p:cNvPr id="442" name="Google Shape;442;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43" name="Google Shape;443;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Peralatan handoff</a:t>
            </a:r>
            <a:endParaRPr/>
          </a:p>
        </p:txBody>
      </p:sp>
      <p:sp>
        <p:nvSpPr>
          <p:cNvPr id="444" name="Google Shape;444;p49"/>
          <p:cNvSpPr txBox="1"/>
          <p:nvPr/>
        </p:nvSpPr>
        <p:spPr>
          <a:xfrm>
            <a:off x="685800" y="1447795"/>
            <a:ext cx="3200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000">
                <a:solidFill>
                  <a:schemeClr val="accent1"/>
                </a:solidFill>
                <a:highlight>
                  <a:schemeClr val="lt1"/>
                </a:highlight>
                <a:latin typeface="Montserrat"/>
                <a:ea typeface="Montserrat"/>
                <a:cs typeface="Montserrat"/>
                <a:sym typeface="Montserrat"/>
              </a:rPr>
              <a:t>Figma</a:t>
            </a:r>
            <a:endParaRPr b="1" sz="1000">
              <a:solidFill>
                <a:schemeClr val="accen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Dalam banyak hal, </a:t>
            </a:r>
            <a:r>
              <a:rPr lang="en" sz="1000" u="sng">
                <a:solidFill>
                  <a:schemeClr val="hlink"/>
                </a:solidFill>
                <a:latin typeface="Montserrat"/>
                <a:ea typeface="Montserrat"/>
                <a:cs typeface="Montserrat"/>
                <a:sym typeface="Montserrat"/>
                <a:hlinkClick r:id="rId5"/>
              </a:rPr>
              <a:t>Figma</a:t>
            </a:r>
            <a:r>
              <a:rPr lang="en" sz="1000">
                <a:solidFill>
                  <a:schemeClr val="dk1"/>
                </a:solidFill>
                <a:latin typeface="Montserrat"/>
                <a:ea typeface="Montserrat"/>
                <a:cs typeface="Montserrat"/>
                <a:sym typeface="Montserrat"/>
              </a:rPr>
              <a:t> untuk desain UI seperti Bit untuk kode, karena Figma ini adalah cara kolaboratif untuk membuat aplikasi modular dalam tumpukan web modern.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Fitur seperti inspeksi kode, pengukuran tata letak, dan gaya bersama menjadikan Figma sebagai senjata pilihan bagi banyak tim produk yang berorientasi pada kolaborasi.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0" name="Google Shape;450;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Peralatan handoff</a:t>
            </a:r>
            <a:endParaRPr/>
          </a:p>
        </p:txBody>
      </p:sp>
      <p:sp>
        <p:nvSpPr>
          <p:cNvPr id="451" name="Google Shape;451;p50"/>
          <p:cNvSpPr txBox="1"/>
          <p:nvPr/>
        </p:nvSpPr>
        <p:spPr>
          <a:xfrm>
            <a:off x="685800" y="1447795"/>
            <a:ext cx="3200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000">
                <a:solidFill>
                  <a:schemeClr val="accent1"/>
                </a:solidFill>
                <a:highlight>
                  <a:schemeClr val="lt1"/>
                </a:highlight>
                <a:latin typeface="Montserrat"/>
                <a:ea typeface="Montserrat"/>
                <a:cs typeface="Montserrat"/>
                <a:sym typeface="Montserrat"/>
              </a:rPr>
              <a:t>Zeplin</a:t>
            </a:r>
            <a:endParaRPr b="1" sz="1000">
              <a:solidFill>
                <a:schemeClr val="accen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Zeplin memudahkan desainer untuk mengekspor file dalam satu klik menggunakan plugin Sketch, Figma, Adobe XD, Adobe Photoshop CC kami. Zeplin akan menghasilkan sebagian besar spesifikasi, aset, dan cuplikan kode yang disesuaikan untuk pengembang.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Fitur super lainnya dari Zeplin adalah Connected Components yang memungkinkan semua orang untuk mengakses komponen dalam basis kode langsung pada desain.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452" name="Google Shape;452;p50">
            <a:hlinkClick r:id="rId3"/>
          </p:cNvPr>
          <p:cNvPicPr preferRelativeResize="0"/>
          <p:nvPr/>
        </p:nvPicPr>
        <p:blipFill rotWithShape="1">
          <a:blip r:embed="rId4">
            <a:alphaModFix/>
          </a:blip>
          <a:srcRect b="10000" l="0" r="0" t="10000"/>
          <a:stretch/>
        </p:blipFill>
        <p:spPr>
          <a:xfrm>
            <a:off x="4127724" y="1447799"/>
            <a:ext cx="4572001" cy="274320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8" name="Google Shape;458;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Peralatan handoff</a:t>
            </a:r>
            <a:endParaRPr/>
          </a:p>
        </p:txBody>
      </p:sp>
      <p:sp>
        <p:nvSpPr>
          <p:cNvPr id="459" name="Google Shape;459;p51"/>
          <p:cNvSpPr txBox="1"/>
          <p:nvPr/>
        </p:nvSpPr>
        <p:spPr>
          <a:xfrm>
            <a:off x="685800" y="1447795"/>
            <a:ext cx="3200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000">
                <a:solidFill>
                  <a:schemeClr val="accent1"/>
                </a:solidFill>
                <a:highlight>
                  <a:schemeClr val="lt1"/>
                </a:highlight>
                <a:latin typeface="Montserrat"/>
                <a:ea typeface="Montserrat"/>
                <a:cs typeface="Montserrat"/>
                <a:sym typeface="Montserrat"/>
              </a:rPr>
              <a:t>Bit.dev</a:t>
            </a:r>
            <a:endParaRPr b="1" sz="1000">
              <a:solidFill>
                <a:schemeClr val="accen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Sebagian besar peralatan handoff dapat digunakan untuk proses desain, mulai dari tahap awal hingga pengembangan.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Bit.dev ini adalah satu-satunya peralatan handoff yang berbasis </a:t>
            </a:r>
            <a:r>
              <a:rPr b="1" lang="en" sz="1000">
                <a:solidFill>
                  <a:schemeClr val="dk1"/>
                </a:solidFill>
                <a:latin typeface="Montserrat"/>
                <a:ea typeface="Montserrat"/>
                <a:cs typeface="Montserrat"/>
                <a:sym typeface="Montserrat"/>
              </a:rPr>
              <a:t>developer-to-designer. </a:t>
            </a:r>
            <a:r>
              <a:rPr lang="en" sz="1000">
                <a:solidFill>
                  <a:schemeClr val="dk1"/>
                </a:solidFill>
                <a:latin typeface="Montserrat"/>
                <a:ea typeface="Montserrat"/>
                <a:cs typeface="Montserrat"/>
                <a:sym typeface="Montserrat"/>
              </a:rPr>
              <a:t>Sehingga, desainer dapat berkolaborasi dalam proses pengembangan</a:t>
            </a:r>
            <a:r>
              <a:rPr lang="en" sz="1000">
                <a:solidFill>
                  <a:schemeClr val="dk1"/>
                </a:solidFill>
                <a:latin typeface="Montserrat"/>
                <a:ea typeface="Montserrat"/>
                <a:cs typeface="Montserrat"/>
                <a:sym typeface="Montserrat"/>
              </a:rPr>
              <a:t> produk.</a:t>
            </a:r>
            <a:endParaRPr sz="8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460" name="Google Shape;460;p51">
            <a:hlinkClick r:id="rId3"/>
          </p:cNvPr>
          <p:cNvPicPr preferRelativeResize="0"/>
          <p:nvPr/>
        </p:nvPicPr>
        <p:blipFill rotWithShape="1">
          <a:blip r:embed="rId4">
            <a:alphaModFix/>
          </a:blip>
          <a:srcRect b="0" l="6148" r="6139" t="0"/>
          <a:stretch/>
        </p:blipFill>
        <p:spPr>
          <a:xfrm>
            <a:off x="4232175" y="1447800"/>
            <a:ext cx="4491176" cy="2694700"/>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52F67"/>
        </a:solidFill>
      </p:bgPr>
    </p:bg>
    <p:spTree>
      <p:nvGrpSpPr>
        <p:cNvPr id="464" name="Shape 464"/>
        <p:cNvGrpSpPr/>
        <p:nvPr/>
      </p:nvGrpSpPr>
      <p:grpSpPr>
        <a:xfrm>
          <a:off x="0" y="0"/>
          <a:ext cx="0" cy="0"/>
          <a:chOff x="0" y="0"/>
          <a:chExt cx="0" cy="0"/>
        </a:xfrm>
      </p:grpSpPr>
      <p:sp>
        <p:nvSpPr>
          <p:cNvPr id="465" name="Google Shape;465;p52"/>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466" name="Google Shape;466;p52"/>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467" name="Google Shape;467;p52"/>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468" name="Google Shape;468;p52"/>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469" name="Google Shape;469;p52"/>
          <p:cNvSpPr txBox="1"/>
          <p:nvPr/>
        </p:nvSpPr>
        <p:spPr>
          <a:xfrm>
            <a:off x="625525" y="99825"/>
            <a:ext cx="6381600" cy="536100"/>
          </a:xfrm>
          <a:prstGeom prst="rect">
            <a:avLst/>
          </a:prstGeom>
          <a:noFill/>
          <a:ln>
            <a:noFill/>
          </a:ln>
        </p:spPr>
        <p:txBody>
          <a:bodyPr anchorCtr="0" anchor="ctr" bIns="34275" lIns="68575" spcFirstLastPara="1" rIns="68575" wrap="square" tIns="34275">
            <a:noAutofit/>
          </a:bodyPr>
          <a:lstStyle/>
          <a:p>
            <a:pPr indent="0" lvl="0" marL="0" rtl="0" algn="l">
              <a:lnSpc>
                <a:spcPct val="115000"/>
              </a:lnSpc>
              <a:spcBef>
                <a:spcPts val="0"/>
              </a:spcBef>
              <a:spcAft>
                <a:spcPts val="0"/>
              </a:spcAft>
              <a:buClr>
                <a:schemeClr val="dk1"/>
              </a:buClr>
              <a:buSzPts val="1100"/>
              <a:buFont typeface="Arial"/>
              <a:buNone/>
            </a:pPr>
            <a:r>
              <a:rPr b="1" lang="en" sz="1200">
                <a:solidFill>
                  <a:schemeClr val="lt1"/>
                </a:solidFill>
                <a:latin typeface="Montserrat"/>
                <a:ea typeface="Montserrat"/>
                <a:cs typeface="Montserrat"/>
                <a:sym typeface="Montserrat"/>
              </a:rPr>
              <a:t>Mengenal plugin</a:t>
            </a:r>
            <a:endParaRPr b="1" sz="1200">
              <a:solidFill>
                <a:schemeClr val="lt1"/>
              </a:solidFill>
              <a:latin typeface="Montserrat"/>
              <a:ea typeface="Montserrat"/>
              <a:cs typeface="Montserrat"/>
              <a:sym typeface="Montserrat"/>
            </a:endParaRPr>
          </a:p>
        </p:txBody>
      </p:sp>
      <p:sp>
        <p:nvSpPr>
          <p:cNvPr id="470" name="Google Shape;470;p52"/>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71" name="Google Shape;471;p52"/>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pic>
        <p:nvPicPr>
          <p:cNvPr id="472" name="Google Shape;472;p52"/>
          <p:cNvPicPr preferRelativeResize="0"/>
          <p:nvPr/>
        </p:nvPicPr>
        <p:blipFill rotWithShape="1">
          <a:blip r:embed="rId3">
            <a:alphaModFix/>
          </a:blip>
          <a:srcRect b="0" l="0" r="0" t="0"/>
          <a:stretch/>
        </p:blipFill>
        <p:spPr>
          <a:xfrm>
            <a:off x="8535950" y="105991"/>
            <a:ext cx="463928" cy="463928"/>
          </a:xfrm>
          <a:prstGeom prst="rect">
            <a:avLst/>
          </a:prstGeom>
          <a:noFill/>
          <a:ln>
            <a:noFill/>
          </a:ln>
        </p:spPr>
      </p:pic>
      <p:sp>
        <p:nvSpPr>
          <p:cNvPr id="473" name="Google Shape;473;p52"/>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74" name="Google Shape;474;p52"/>
          <p:cNvSpPr txBox="1"/>
          <p:nvPr/>
        </p:nvSpPr>
        <p:spPr>
          <a:xfrm>
            <a:off x="574800" y="1422288"/>
            <a:ext cx="4062300" cy="2298900"/>
          </a:xfrm>
          <a:prstGeom prst="rect">
            <a:avLst/>
          </a:prstGeom>
          <a:noFill/>
          <a:ln>
            <a:noFill/>
          </a:ln>
        </p:spPr>
        <p:txBody>
          <a:bodyPr anchorCtr="0" anchor="ctr" bIns="91425" lIns="91425" spcFirstLastPara="1" rIns="91425" wrap="square" tIns="91425">
            <a:noAutofit/>
          </a:bodyPr>
          <a:lstStyle/>
          <a:p>
            <a:pPr indent="0" lvl="0" marL="0" rtl="0" algn="just">
              <a:spcBef>
                <a:spcPts val="0"/>
              </a:spcBef>
              <a:spcAft>
                <a:spcPts val="0"/>
              </a:spcAft>
              <a:buClr>
                <a:schemeClr val="dk1"/>
              </a:buClr>
              <a:buSzPts val="3600"/>
              <a:buFont typeface="Arial"/>
              <a:buNone/>
            </a:pPr>
            <a:r>
              <a:rPr b="1" lang="en">
                <a:solidFill>
                  <a:schemeClr val="lt1"/>
                </a:solidFill>
                <a:latin typeface="Montserrat"/>
                <a:ea typeface="Montserrat"/>
                <a:cs typeface="Montserrat"/>
                <a:sym typeface="Montserrat"/>
              </a:rPr>
              <a:t>Well, kamu udah mengenal berbagai peralatan dalam UI/UX Design.</a:t>
            </a:r>
            <a:endParaRPr b="1">
              <a:solidFill>
                <a:schemeClr val="lt1"/>
              </a:solidFill>
              <a:latin typeface="Montserrat"/>
              <a:ea typeface="Montserrat"/>
              <a:cs typeface="Montserrat"/>
              <a:sym typeface="Montserrat"/>
            </a:endParaRPr>
          </a:p>
          <a:p>
            <a:pPr indent="0" lvl="0" marL="0" rtl="0" algn="just">
              <a:spcBef>
                <a:spcPts val="0"/>
              </a:spcBef>
              <a:spcAft>
                <a:spcPts val="0"/>
              </a:spcAft>
              <a:buClr>
                <a:schemeClr val="dk1"/>
              </a:buClr>
              <a:buSzPts val="3600"/>
              <a:buFont typeface="Arial"/>
              <a:buNone/>
            </a:pPr>
            <a:r>
              <a:t/>
            </a:r>
            <a:endParaRPr b="1">
              <a:solidFill>
                <a:schemeClr val="lt1"/>
              </a:solidFill>
              <a:latin typeface="Montserrat"/>
              <a:ea typeface="Montserrat"/>
              <a:cs typeface="Montserrat"/>
              <a:sym typeface="Montserrat"/>
            </a:endParaRPr>
          </a:p>
          <a:p>
            <a:pPr indent="0" lvl="0" marL="0" rtl="0" algn="just">
              <a:spcBef>
                <a:spcPts val="0"/>
              </a:spcBef>
              <a:spcAft>
                <a:spcPts val="0"/>
              </a:spcAft>
              <a:buClr>
                <a:schemeClr val="dk1"/>
              </a:buClr>
              <a:buSzPts val="3600"/>
              <a:buFont typeface="Arial"/>
              <a:buNone/>
            </a:pPr>
            <a:r>
              <a:rPr b="1" lang="en">
                <a:solidFill>
                  <a:schemeClr val="lt1"/>
                </a:solidFill>
                <a:latin typeface="Montserrat"/>
                <a:ea typeface="Montserrat"/>
                <a:cs typeface="Montserrat"/>
                <a:sym typeface="Montserrat"/>
              </a:rPr>
              <a:t>Nah, dalam berbagai peralatan itu, ada yang namanya </a:t>
            </a:r>
            <a:r>
              <a:rPr b="1" lang="en">
                <a:solidFill>
                  <a:schemeClr val="accent1"/>
                </a:solidFill>
                <a:latin typeface="Montserrat"/>
                <a:ea typeface="Montserrat"/>
                <a:cs typeface="Montserrat"/>
                <a:sym typeface="Montserrat"/>
              </a:rPr>
              <a:t>plugin.</a:t>
            </a:r>
            <a:endParaRPr b="1">
              <a:solidFill>
                <a:schemeClr val="accent1"/>
              </a:solidFill>
              <a:latin typeface="Montserrat"/>
              <a:ea typeface="Montserrat"/>
              <a:cs typeface="Montserrat"/>
              <a:sym typeface="Montserrat"/>
            </a:endParaRPr>
          </a:p>
        </p:txBody>
      </p:sp>
      <p:sp>
        <p:nvSpPr>
          <p:cNvPr id="475" name="Google Shape;475;p5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476" name="Google Shape;476;p52"/>
          <p:cNvPicPr preferRelativeResize="0"/>
          <p:nvPr/>
        </p:nvPicPr>
        <p:blipFill>
          <a:blip r:embed="rId4">
            <a:alphaModFix/>
          </a:blip>
          <a:stretch>
            <a:fillRect/>
          </a:stretch>
        </p:blipFill>
        <p:spPr>
          <a:xfrm>
            <a:off x="5147575" y="914400"/>
            <a:ext cx="2685062" cy="3886198"/>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2" name="Google Shape;482;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Mengenal plugin</a:t>
            </a:r>
            <a:endParaRPr>
              <a:latin typeface="Montserrat"/>
              <a:ea typeface="Montserrat"/>
              <a:cs typeface="Montserrat"/>
              <a:sym typeface="Montserrat"/>
            </a:endParaRPr>
          </a:p>
        </p:txBody>
      </p:sp>
      <p:sp>
        <p:nvSpPr>
          <p:cNvPr id="483" name="Google Shape;483;p53"/>
          <p:cNvSpPr txBox="1"/>
          <p:nvPr/>
        </p:nvSpPr>
        <p:spPr>
          <a:xfrm>
            <a:off x="685800" y="1530925"/>
            <a:ext cx="39513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Apa sih plugin itu?</a:t>
            </a:r>
            <a:endParaRPr b="1" sz="16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Dalam komputasi, plug-in (atau plugin, add-in, addin, add-on, atau addon) adalah </a:t>
            </a:r>
            <a:r>
              <a:rPr b="1" lang="en" sz="1000">
                <a:solidFill>
                  <a:schemeClr val="dk1"/>
                </a:solidFill>
                <a:latin typeface="Montserrat"/>
                <a:ea typeface="Montserrat"/>
                <a:cs typeface="Montserrat"/>
                <a:sym typeface="Montserrat"/>
              </a:rPr>
              <a:t>komponen perangkat lunak yang menambahkan fitur tertentu ke program komputer yang ada.</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Pada peralatan desain seperti Figma, Adobe XD, Sketch dan banyak lagi, terdapat berbagai macam plugin yang digunakan para desainer untuk melakukan aktivitas desain dengan mudah dan cepat.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grpSp>
        <p:nvGrpSpPr>
          <p:cNvPr id="484" name="Google Shape;484;p53"/>
          <p:cNvGrpSpPr/>
          <p:nvPr/>
        </p:nvGrpSpPr>
        <p:grpSpPr>
          <a:xfrm>
            <a:off x="4724399" y="1429450"/>
            <a:ext cx="3892200" cy="2795045"/>
            <a:chOff x="4724399" y="1429450"/>
            <a:chExt cx="3892200" cy="2795045"/>
          </a:xfrm>
        </p:grpSpPr>
        <p:pic>
          <p:nvPicPr>
            <p:cNvPr id="485" name="Google Shape;485;p53">
              <a:hlinkClick r:id="rId3"/>
            </p:cNvPr>
            <p:cNvPicPr preferRelativeResize="0"/>
            <p:nvPr/>
          </p:nvPicPr>
          <p:blipFill>
            <a:blip r:embed="rId4">
              <a:alphaModFix/>
            </a:blip>
            <a:stretch>
              <a:fillRect/>
            </a:stretch>
          </p:blipFill>
          <p:spPr>
            <a:xfrm>
              <a:off x="4724399" y="1429450"/>
              <a:ext cx="3892200" cy="2795045"/>
            </a:xfrm>
            <a:prstGeom prst="rect">
              <a:avLst/>
            </a:prstGeom>
            <a:noFill/>
            <a:ln>
              <a:noFill/>
            </a:ln>
          </p:spPr>
        </p:pic>
        <p:grpSp>
          <p:nvGrpSpPr>
            <p:cNvPr id="486" name="Google Shape;486;p53"/>
            <p:cNvGrpSpPr/>
            <p:nvPr/>
          </p:nvGrpSpPr>
          <p:grpSpPr>
            <a:xfrm>
              <a:off x="4733250" y="1652000"/>
              <a:ext cx="3840125" cy="2526650"/>
              <a:chOff x="4733250" y="1418525"/>
              <a:chExt cx="3840125" cy="2526650"/>
            </a:xfrm>
          </p:grpSpPr>
          <p:sp>
            <p:nvSpPr>
              <p:cNvPr id="487" name="Google Shape;487;p53">
                <a:hlinkClick r:id="rId5"/>
              </p:cNvPr>
              <p:cNvSpPr/>
              <p:nvPr/>
            </p:nvSpPr>
            <p:spPr>
              <a:xfrm>
                <a:off x="8258675" y="1418525"/>
                <a:ext cx="314700" cy="111300"/>
              </a:xfrm>
              <a:prstGeom prst="rect">
                <a:avLst/>
              </a:prstGeom>
              <a:solidFill>
                <a:srgbClr val="2C2C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88" name="Google Shape;488;p53">
                <a:hlinkClick r:id="rId6"/>
              </p:cNvPr>
              <p:cNvPicPr preferRelativeResize="0"/>
              <p:nvPr/>
            </p:nvPicPr>
            <p:blipFill rotWithShape="1">
              <a:blip r:embed="rId7">
                <a:alphaModFix/>
              </a:blip>
              <a:srcRect b="12261" l="16507" r="3824" t="15311"/>
              <a:stretch/>
            </p:blipFill>
            <p:spPr>
              <a:xfrm>
                <a:off x="4788075" y="1418525"/>
                <a:ext cx="3705426" cy="2526650"/>
              </a:xfrm>
              <a:prstGeom prst="rect">
                <a:avLst/>
              </a:prstGeom>
              <a:noFill/>
              <a:ln>
                <a:noFill/>
              </a:ln>
            </p:spPr>
          </p:pic>
          <p:sp>
            <p:nvSpPr>
              <p:cNvPr id="489" name="Google Shape;489;p53">
                <a:hlinkClick r:id="rId8"/>
              </p:cNvPr>
              <p:cNvSpPr/>
              <p:nvPr/>
            </p:nvSpPr>
            <p:spPr>
              <a:xfrm>
                <a:off x="4733250" y="1418525"/>
                <a:ext cx="314700" cy="111300"/>
              </a:xfrm>
              <a:prstGeom prst="rect">
                <a:avLst/>
              </a:prstGeom>
              <a:solidFill>
                <a:srgbClr val="2C2C2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95" name="Google Shape;495;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Mengenal plugin</a:t>
            </a:r>
            <a:endParaRPr>
              <a:latin typeface="Montserrat"/>
              <a:ea typeface="Montserrat"/>
              <a:cs typeface="Montserrat"/>
              <a:sym typeface="Montserrat"/>
            </a:endParaRPr>
          </a:p>
        </p:txBody>
      </p:sp>
      <p:sp>
        <p:nvSpPr>
          <p:cNvPr id="496" name="Google Shape;496;p54"/>
          <p:cNvSpPr txBox="1"/>
          <p:nvPr/>
        </p:nvSpPr>
        <p:spPr>
          <a:xfrm>
            <a:off x="685800" y="1531620"/>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1600"/>
              </a:spcBef>
              <a:spcAft>
                <a:spcPts val="0"/>
              </a:spcAft>
              <a:buNone/>
            </a:pPr>
            <a:r>
              <a:rPr b="1" lang="en" sz="1600">
                <a:solidFill>
                  <a:srgbClr val="743673"/>
                </a:solidFill>
                <a:highlight>
                  <a:schemeClr val="lt1"/>
                </a:highlight>
                <a:latin typeface="Montserrat"/>
                <a:ea typeface="Montserrat"/>
                <a:cs typeface="Montserrat"/>
                <a:sym typeface="Montserrat"/>
              </a:rPr>
              <a:t>Contoh plugin dalam membuat wireframes.</a:t>
            </a:r>
            <a:endParaRPr b="1" sz="16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A</a:t>
            </a:r>
            <a:r>
              <a:rPr lang="en" sz="1000">
                <a:solidFill>
                  <a:schemeClr val="dk1"/>
                </a:solidFill>
                <a:latin typeface="Montserrat"/>
                <a:ea typeface="Montserrat"/>
                <a:cs typeface="Montserrat"/>
                <a:sym typeface="Montserrat"/>
              </a:rPr>
              <a:t>da beberapa plug-ins pada Adobe XD yang membuat proses wireframing menjadi lebih cepat, yaitu:</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u="sng">
                <a:solidFill>
                  <a:schemeClr val="hlink"/>
                </a:solidFill>
                <a:latin typeface="Montserrat"/>
                <a:ea typeface="Montserrat"/>
                <a:cs typeface="Montserrat"/>
                <a:sym typeface="Montserrat"/>
                <a:hlinkClick r:id="rId3"/>
              </a:rPr>
              <a:t>Wireframer</a:t>
            </a:r>
            <a:r>
              <a:rPr lang="en" sz="1000">
                <a:latin typeface="Montserrat"/>
                <a:ea typeface="Montserrat"/>
                <a:cs typeface="Montserrat"/>
                <a:sym typeface="Montserrat"/>
              </a:rPr>
              <a:t> dan </a:t>
            </a:r>
            <a:r>
              <a:rPr lang="en" sz="1000" u="sng">
                <a:solidFill>
                  <a:schemeClr val="hlink"/>
                </a:solidFill>
                <a:latin typeface="Montserrat"/>
                <a:ea typeface="Montserrat"/>
                <a:cs typeface="Montserrat"/>
                <a:sym typeface="Montserrat"/>
                <a:hlinkClick r:id="rId4"/>
              </a:rPr>
              <a:t>QuickMockup</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Silahkan klik untuk melihat video tentang bagaimana kita bisa membuat wireframes dengan plugin-plugin tersebut.</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p:txBody>
      </p:sp>
      <p:pic>
        <p:nvPicPr>
          <p:cNvPr id="497" name="Google Shape;497;p54"/>
          <p:cNvPicPr preferRelativeResize="0"/>
          <p:nvPr/>
        </p:nvPicPr>
        <p:blipFill rotWithShape="1">
          <a:blip r:embed="rId5">
            <a:alphaModFix/>
          </a:blip>
          <a:srcRect b="0" l="19652" r="19652" t="0"/>
          <a:stretch/>
        </p:blipFill>
        <p:spPr>
          <a:xfrm>
            <a:off x="5476000" y="1404850"/>
            <a:ext cx="3017523" cy="2743199"/>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sp>
        <p:nvSpPr>
          <p:cNvPr id="502" name="Google Shape;502;p55"/>
          <p:cNvSpPr txBox="1"/>
          <p:nvPr/>
        </p:nvSpPr>
        <p:spPr>
          <a:xfrm>
            <a:off x="914400" y="1013550"/>
            <a:ext cx="7315200" cy="72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rgbClr val="FFFFFF"/>
                </a:solidFill>
                <a:latin typeface="Montserrat"/>
                <a:ea typeface="Montserrat"/>
                <a:cs typeface="Montserrat"/>
                <a:sym typeface="Montserrat"/>
              </a:rPr>
              <a:t>Saatnya kita </a:t>
            </a:r>
            <a:endParaRPr b="1" sz="2000">
              <a:solidFill>
                <a:srgbClr val="FFFFFF"/>
              </a:solidFill>
              <a:latin typeface="Montserrat"/>
              <a:ea typeface="Montserrat"/>
              <a:cs typeface="Montserrat"/>
              <a:sym typeface="Montserrat"/>
            </a:endParaRPr>
          </a:p>
          <a:p>
            <a:pPr indent="0" lvl="0" marL="0" rtl="0" algn="ctr">
              <a:spcBef>
                <a:spcPts val="0"/>
              </a:spcBef>
              <a:spcAft>
                <a:spcPts val="0"/>
              </a:spcAft>
              <a:buNone/>
            </a:pPr>
            <a:r>
              <a:rPr b="1" lang="en" sz="3000">
                <a:solidFill>
                  <a:srgbClr val="FFAB40"/>
                </a:solidFill>
                <a:latin typeface="Montserrat"/>
                <a:ea typeface="Montserrat"/>
                <a:cs typeface="Montserrat"/>
                <a:sym typeface="Montserrat"/>
              </a:rPr>
              <a:t>Quiz!</a:t>
            </a:r>
            <a:endParaRPr b="1" sz="3000">
              <a:solidFill>
                <a:srgbClr val="FFAB40"/>
              </a:solidFill>
              <a:latin typeface="Montserrat"/>
              <a:ea typeface="Montserrat"/>
              <a:cs typeface="Montserrat"/>
              <a:sym typeface="Montserrat"/>
            </a:endParaRPr>
          </a:p>
        </p:txBody>
      </p:sp>
      <p:pic>
        <p:nvPicPr>
          <p:cNvPr id="503" name="Google Shape;503;p55"/>
          <p:cNvPicPr preferRelativeResize="0"/>
          <p:nvPr/>
        </p:nvPicPr>
        <p:blipFill rotWithShape="1">
          <a:blip r:embed="rId3">
            <a:alphaModFix/>
          </a:blip>
          <a:srcRect b="35463" l="16341" r="18912" t="0"/>
          <a:stretch/>
        </p:blipFill>
        <p:spPr>
          <a:xfrm>
            <a:off x="2421325" y="2177750"/>
            <a:ext cx="3903698" cy="2965752"/>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5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700">
                <a:solidFill>
                  <a:schemeClr val="accent1"/>
                </a:solidFill>
                <a:latin typeface="Montserrat"/>
                <a:ea typeface="Montserrat"/>
                <a:cs typeface="Montserrat"/>
                <a:sym typeface="Montserrat"/>
              </a:rPr>
              <a:t>1</a:t>
            </a:r>
            <a:r>
              <a:rPr b="1" lang="en" sz="1700">
                <a:solidFill>
                  <a:schemeClr val="accent1"/>
                </a:solidFill>
                <a:latin typeface="Montserrat"/>
                <a:ea typeface="Montserrat"/>
                <a:cs typeface="Montserrat"/>
                <a:sym typeface="Montserrat"/>
              </a:rPr>
              <a:t>.</a:t>
            </a:r>
            <a:r>
              <a:rPr b="1" lang="en" sz="1700">
                <a:solidFill>
                  <a:schemeClr val="lt1"/>
                </a:solidFill>
                <a:latin typeface="Montserrat"/>
                <a:ea typeface="Montserrat"/>
                <a:cs typeface="Montserrat"/>
                <a:sym typeface="Montserrat"/>
              </a:rPr>
              <a:t>  Berikut adalah peralatan yang secara umum digunakan untuk brainstorming, kecuali…</a:t>
            </a:r>
            <a:endParaRPr b="1" sz="1700">
              <a:solidFill>
                <a:schemeClr val="lt1"/>
              </a:solidFill>
              <a:latin typeface="Montserrat"/>
              <a:ea typeface="Montserrat"/>
              <a:cs typeface="Montserrat"/>
              <a:sym typeface="Montserrat"/>
            </a:endParaRPr>
          </a:p>
        </p:txBody>
      </p:sp>
      <p:pic>
        <p:nvPicPr>
          <p:cNvPr id="509" name="Google Shape;509;p56"/>
          <p:cNvPicPr preferRelativeResize="0"/>
          <p:nvPr/>
        </p:nvPicPr>
        <p:blipFill rotWithShape="1">
          <a:blip r:embed="rId3">
            <a:alphaModFix/>
          </a:blip>
          <a:srcRect b="0" l="0" r="0" t="0"/>
          <a:stretch/>
        </p:blipFill>
        <p:spPr>
          <a:xfrm>
            <a:off x="1501275" y="2484125"/>
            <a:ext cx="1244800" cy="1244800"/>
          </a:xfrm>
          <a:prstGeom prst="rect">
            <a:avLst/>
          </a:prstGeom>
          <a:noFill/>
          <a:ln>
            <a:noFill/>
          </a:ln>
        </p:spPr>
      </p:pic>
      <p:sp>
        <p:nvSpPr>
          <p:cNvPr id="510" name="Google Shape;510;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511" name="Google Shape;511;p56"/>
          <p:cNvSpPr txBox="1"/>
          <p:nvPr/>
        </p:nvSpPr>
        <p:spPr>
          <a:xfrm>
            <a:off x="1562350" y="3835550"/>
            <a:ext cx="1183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lt1"/>
                </a:solidFill>
                <a:latin typeface="Montserrat Medium"/>
                <a:ea typeface="Montserrat Medium"/>
                <a:cs typeface="Montserrat Medium"/>
                <a:sym typeface="Montserrat Medium"/>
              </a:rPr>
              <a:t>Adobe XD</a:t>
            </a:r>
            <a:endParaRPr sz="1200">
              <a:solidFill>
                <a:schemeClr val="lt1"/>
              </a:solidFill>
              <a:latin typeface="Montserrat Medium"/>
              <a:ea typeface="Montserrat Medium"/>
              <a:cs typeface="Montserrat Medium"/>
              <a:sym typeface="Montserrat Medium"/>
            </a:endParaRPr>
          </a:p>
        </p:txBody>
      </p:sp>
      <p:pic>
        <p:nvPicPr>
          <p:cNvPr id="512" name="Google Shape;512;p56"/>
          <p:cNvPicPr preferRelativeResize="0"/>
          <p:nvPr/>
        </p:nvPicPr>
        <p:blipFill rotWithShape="1">
          <a:blip r:embed="rId4">
            <a:alphaModFix/>
          </a:blip>
          <a:srcRect b="0" l="0" r="0" t="0"/>
          <a:stretch/>
        </p:blipFill>
        <p:spPr>
          <a:xfrm>
            <a:off x="3074253" y="2489617"/>
            <a:ext cx="1244805" cy="1211338"/>
          </a:xfrm>
          <a:prstGeom prst="rect">
            <a:avLst/>
          </a:prstGeom>
          <a:noFill/>
          <a:ln>
            <a:noFill/>
          </a:ln>
        </p:spPr>
      </p:pic>
      <p:sp>
        <p:nvSpPr>
          <p:cNvPr id="513" name="Google Shape;513;p56"/>
          <p:cNvSpPr txBox="1"/>
          <p:nvPr/>
        </p:nvSpPr>
        <p:spPr>
          <a:xfrm>
            <a:off x="3074250" y="3835550"/>
            <a:ext cx="12447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lt1"/>
                </a:solidFill>
                <a:latin typeface="Montserrat Medium"/>
                <a:ea typeface="Montserrat Medium"/>
                <a:cs typeface="Montserrat Medium"/>
                <a:sym typeface="Montserrat Medium"/>
              </a:rPr>
              <a:t>LucidChart</a:t>
            </a:r>
            <a:endParaRPr sz="1200">
              <a:solidFill>
                <a:schemeClr val="lt1"/>
              </a:solidFill>
              <a:latin typeface="Montserrat Medium"/>
              <a:ea typeface="Montserrat Medium"/>
              <a:cs typeface="Montserrat Medium"/>
              <a:sym typeface="Montserrat Medium"/>
            </a:endParaRPr>
          </a:p>
        </p:txBody>
      </p:sp>
      <p:pic>
        <p:nvPicPr>
          <p:cNvPr id="514" name="Google Shape;514;p56"/>
          <p:cNvPicPr preferRelativeResize="0"/>
          <p:nvPr/>
        </p:nvPicPr>
        <p:blipFill rotWithShape="1">
          <a:blip r:embed="rId5">
            <a:alphaModFix/>
          </a:blip>
          <a:srcRect b="0" l="0" r="0" t="0"/>
          <a:stretch/>
        </p:blipFill>
        <p:spPr>
          <a:xfrm>
            <a:off x="4682966" y="2489617"/>
            <a:ext cx="1244805" cy="1211339"/>
          </a:xfrm>
          <a:prstGeom prst="rect">
            <a:avLst/>
          </a:prstGeom>
          <a:noFill/>
          <a:ln>
            <a:noFill/>
          </a:ln>
        </p:spPr>
      </p:pic>
      <p:sp>
        <p:nvSpPr>
          <p:cNvPr id="515" name="Google Shape;515;p56"/>
          <p:cNvSpPr txBox="1"/>
          <p:nvPr/>
        </p:nvSpPr>
        <p:spPr>
          <a:xfrm>
            <a:off x="4828901" y="3835549"/>
            <a:ext cx="952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lt1"/>
                </a:solidFill>
                <a:latin typeface="Montserrat Medium"/>
                <a:ea typeface="Montserrat Medium"/>
                <a:cs typeface="Montserrat Medium"/>
                <a:sym typeface="Montserrat Medium"/>
              </a:rPr>
              <a:t>Coggle</a:t>
            </a:r>
            <a:endParaRPr sz="1200">
              <a:solidFill>
                <a:schemeClr val="lt1"/>
              </a:solidFill>
              <a:latin typeface="Montserrat Medium"/>
              <a:ea typeface="Montserrat Medium"/>
              <a:cs typeface="Montserrat Medium"/>
              <a:sym typeface="Montserrat Medium"/>
            </a:endParaRPr>
          </a:p>
        </p:txBody>
      </p:sp>
      <p:sp>
        <p:nvSpPr>
          <p:cNvPr id="516" name="Google Shape;516;p56"/>
          <p:cNvSpPr txBox="1"/>
          <p:nvPr/>
        </p:nvSpPr>
        <p:spPr>
          <a:xfrm>
            <a:off x="6291676" y="3835550"/>
            <a:ext cx="12447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lt1"/>
                </a:solidFill>
                <a:latin typeface="Montserrat"/>
                <a:ea typeface="Montserrat"/>
                <a:cs typeface="Montserrat"/>
                <a:sym typeface="Montserrat"/>
              </a:rPr>
              <a:t>Google Docs</a:t>
            </a:r>
            <a:endParaRPr sz="1200">
              <a:solidFill>
                <a:schemeClr val="lt1"/>
              </a:solidFill>
              <a:latin typeface="Montserrat"/>
              <a:ea typeface="Montserrat"/>
              <a:cs typeface="Montserrat"/>
              <a:sym typeface="Montserrat"/>
            </a:endParaRPr>
          </a:p>
        </p:txBody>
      </p:sp>
      <p:pic>
        <p:nvPicPr>
          <p:cNvPr id="517" name="Google Shape;517;p56"/>
          <p:cNvPicPr preferRelativeResize="0"/>
          <p:nvPr/>
        </p:nvPicPr>
        <p:blipFill rotWithShape="1">
          <a:blip r:embed="rId6">
            <a:alphaModFix/>
          </a:blip>
          <a:srcRect b="0" l="18112" r="19921" t="0"/>
          <a:stretch/>
        </p:blipFill>
        <p:spPr>
          <a:xfrm>
            <a:off x="6317125" y="2489625"/>
            <a:ext cx="1183801" cy="1211325"/>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5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700">
                <a:solidFill>
                  <a:schemeClr val="accent1"/>
                </a:solidFill>
                <a:latin typeface="Montserrat"/>
                <a:ea typeface="Montserrat"/>
                <a:cs typeface="Montserrat"/>
                <a:sym typeface="Montserrat"/>
              </a:rPr>
              <a:t>1.</a:t>
            </a:r>
            <a:r>
              <a:rPr b="1" lang="en" sz="1700">
                <a:solidFill>
                  <a:schemeClr val="lt1"/>
                </a:solidFill>
                <a:latin typeface="Montserrat"/>
                <a:ea typeface="Montserrat"/>
                <a:cs typeface="Montserrat"/>
                <a:sym typeface="Montserrat"/>
              </a:rPr>
              <a:t>  Berikut adalah peralatan yang secara umum digunakan untuk brainstorming, kecuali…</a:t>
            </a:r>
            <a:endParaRPr sz="1200">
              <a:solidFill>
                <a:schemeClr val="lt1"/>
              </a:solidFill>
              <a:latin typeface="Raleway Medium"/>
              <a:ea typeface="Raleway Medium"/>
              <a:cs typeface="Raleway Medium"/>
              <a:sym typeface="Raleway Medium"/>
            </a:endParaRPr>
          </a:p>
        </p:txBody>
      </p:sp>
      <p:pic>
        <p:nvPicPr>
          <p:cNvPr id="523" name="Google Shape;523;p57"/>
          <p:cNvPicPr preferRelativeResize="0"/>
          <p:nvPr/>
        </p:nvPicPr>
        <p:blipFill rotWithShape="1">
          <a:blip r:embed="rId3">
            <a:alphaModFix/>
          </a:blip>
          <a:srcRect b="0" l="0" r="0" t="0"/>
          <a:stretch/>
        </p:blipFill>
        <p:spPr>
          <a:xfrm>
            <a:off x="1501275" y="2484125"/>
            <a:ext cx="1244800" cy="1244800"/>
          </a:xfrm>
          <a:prstGeom prst="rect">
            <a:avLst/>
          </a:prstGeom>
          <a:noFill/>
          <a:ln>
            <a:noFill/>
          </a:ln>
        </p:spPr>
      </p:pic>
      <p:sp>
        <p:nvSpPr>
          <p:cNvPr id="524" name="Google Shape;524;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Pembahasan </a:t>
            </a:r>
            <a:r>
              <a:rPr lang="en">
                <a:latin typeface="Montserrat"/>
                <a:ea typeface="Montserrat"/>
                <a:cs typeface="Montserrat"/>
                <a:sym typeface="Montserrat"/>
              </a:rPr>
              <a:t>Quiz</a:t>
            </a:r>
            <a:endParaRPr/>
          </a:p>
        </p:txBody>
      </p:sp>
      <p:sp>
        <p:nvSpPr>
          <p:cNvPr id="525" name="Google Shape;525;p57"/>
          <p:cNvSpPr txBox="1"/>
          <p:nvPr/>
        </p:nvSpPr>
        <p:spPr>
          <a:xfrm>
            <a:off x="1562350" y="3835550"/>
            <a:ext cx="1183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lt1"/>
                </a:solidFill>
                <a:latin typeface="Montserrat"/>
                <a:ea typeface="Montserrat"/>
                <a:cs typeface="Montserrat"/>
                <a:sym typeface="Montserrat"/>
              </a:rPr>
              <a:t>Adobe XD</a:t>
            </a:r>
            <a:endParaRPr b="1" sz="1200">
              <a:solidFill>
                <a:schemeClr val="lt1"/>
              </a:solidFill>
              <a:latin typeface="Montserrat"/>
              <a:ea typeface="Montserrat"/>
              <a:cs typeface="Montserrat"/>
              <a:sym typeface="Montserrat"/>
            </a:endParaRPr>
          </a:p>
        </p:txBody>
      </p:sp>
      <p:pic>
        <p:nvPicPr>
          <p:cNvPr id="526" name="Google Shape;526;p57"/>
          <p:cNvPicPr preferRelativeResize="0"/>
          <p:nvPr/>
        </p:nvPicPr>
        <p:blipFill rotWithShape="1">
          <a:blip r:embed="rId4">
            <a:alphaModFix amt="18000"/>
          </a:blip>
          <a:srcRect b="0" l="0" r="0" t="0"/>
          <a:stretch/>
        </p:blipFill>
        <p:spPr>
          <a:xfrm>
            <a:off x="3074253" y="2489617"/>
            <a:ext cx="1244805" cy="1211338"/>
          </a:xfrm>
          <a:prstGeom prst="rect">
            <a:avLst/>
          </a:prstGeom>
          <a:noFill/>
          <a:ln>
            <a:noFill/>
          </a:ln>
        </p:spPr>
      </p:pic>
      <p:sp>
        <p:nvSpPr>
          <p:cNvPr id="527" name="Google Shape;527;p57"/>
          <p:cNvSpPr txBox="1"/>
          <p:nvPr/>
        </p:nvSpPr>
        <p:spPr>
          <a:xfrm>
            <a:off x="3074250" y="3835550"/>
            <a:ext cx="12447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rgbClr val="A667A5"/>
                </a:solidFill>
                <a:latin typeface="Montserrat Medium"/>
                <a:ea typeface="Montserrat Medium"/>
                <a:cs typeface="Montserrat Medium"/>
                <a:sym typeface="Montserrat Medium"/>
              </a:rPr>
              <a:t>LucidChart</a:t>
            </a:r>
            <a:endParaRPr sz="1200">
              <a:solidFill>
                <a:srgbClr val="A667A5"/>
              </a:solidFill>
              <a:latin typeface="Montserrat Medium"/>
              <a:ea typeface="Montserrat Medium"/>
              <a:cs typeface="Montserrat Medium"/>
              <a:sym typeface="Montserrat Medium"/>
            </a:endParaRPr>
          </a:p>
        </p:txBody>
      </p:sp>
      <p:pic>
        <p:nvPicPr>
          <p:cNvPr id="528" name="Google Shape;528;p57"/>
          <p:cNvPicPr preferRelativeResize="0"/>
          <p:nvPr/>
        </p:nvPicPr>
        <p:blipFill rotWithShape="1">
          <a:blip r:embed="rId5">
            <a:alphaModFix amt="18000"/>
          </a:blip>
          <a:srcRect b="0" l="0" r="0" t="0"/>
          <a:stretch/>
        </p:blipFill>
        <p:spPr>
          <a:xfrm>
            <a:off x="4682966" y="2489617"/>
            <a:ext cx="1244805" cy="1211339"/>
          </a:xfrm>
          <a:prstGeom prst="rect">
            <a:avLst/>
          </a:prstGeom>
          <a:noFill/>
          <a:ln>
            <a:noFill/>
          </a:ln>
        </p:spPr>
      </p:pic>
      <p:sp>
        <p:nvSpPr>
          <p:cNvPr id="529" name="Google Shape;529;p57"/>
          <p:cNvSpPr txBox="1"/>
          <p:nvPr/>
        </p:nvSpPr>
        <p:spPr>
          <a:xfrm>
            <a:off x="4828901" y="3835549"/>
            <a:ext cx="952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rgbClr val="A667A5"/>
                </a:solidFill>
                <a:latin typeface="Montserrat Medium"/>
                <a:ea typeface="Montserrat Medium"/>
                <a:cs typeface="Montserrat Medium"/>
                <a:sym typeface="Montserrat Medium"/>
              </a:rPr>
              <a:t>Coggle</a:t>
            </a:r>
            <a:endParaRPr sz="1200">
              <a:solidFill>
                <a:srgbClr val="A667A5"/>
              </a:solidFill>
              <a:latin typeface="Montserrat Medium"/>
              <a:ea typeface="Montserrat Medium"/>
              <a:cs typeface="Montserrat Medium"/>
              <a:sym typeface="Montserrat Medium"/>
            </a:endParaRPr>
          </a:p>
        </p:txBody>
      </p:sp>
      <p:sp>
        <p:nvSpPr>
          <p:cNvPr id="530" name="Google Shape;530;p57"/>
          <p:cNvSpPr txBox="1"/>
          <p:nvPr/>
        </p:nvSpPr>
        <p:spPr>
          <a:xfrm>
            <a:off x="6291676" y="3835550"/>
            <a:ext cx="12447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rgbClr val="A667A5"/>
                </a:solidFill>
                <a:latin typeface="Montserrat Medium"/>
                <a:ea typeface="Montserrat Medium"/>
                <a:cs typeface="Montserrat Medium"/>
                <a:sym typeface="Montserrat Medium"/>
              </a:rPr>
              <a:t>Google Docs</a:t>
            </a:r>
            <a:endParaRPr sz="1200">
              <a:solidFill>
                <a:srgbClr val="A667A5"/>
              </a:solidFill>
              <a:latin typeface="Montserrat Medium"/>
              <a:ea typeface="Montserrat Medium"/>
              <a:cs typeface="Montserrat Medium"/>
              <a:sym typeface="Montserrat Medium"/>
            </a:endParaRPr>
          </a:p>
        </p:txBody>
      </p:sp>
      <p:pic>
        <p:nvPicPr>
          <p:cNvPr id="531" name="Google Shape;531;p57"/>
          <p:cNvPicPr preferRelativeResize="0"/>
          <p:nvPr/>
        </p:nvPicPr>
        <p:blipFill rotWithShape="1">
          <a:blip r:embed="rId6">
            <a:alphaModFix amt="18000"/>
          </a:blip>
          <a:srcRect b="0" l="18112" r="19921" t="0"/>
          <a:stretch/>
        </p:blipFill>
        <p:spPr>
          <a:xfrm>
            <a:off x="6317125" y="2489625"/>
            <a:ext cx="1183801" cy="12113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pic>
        <p:nvPicPr>
          <p:cNvPr id="536" name="Google Shape;536;p58"/>
          <p:cNvPicPr preferRelativeResize="0"/>
          <p:nvPr/>
        </p:nvPicPr>
        <p:blipFill rotWithShape="1">
          <a:blip r:embed="rId3">
            <a:alphaModFix/>
          </a:blip>
          <a:srcRect b="0" l="17936" r="17936" t="0"/>
          <a:stretch/>
        </p:blipFill>
        <p:spPr>
          <a:xfrm>
            <a:off x="6309275" y="2489625"/>
            <a:ext cx="1244800" cy="1195971"/>
          </a:xfrm>
          <a:prstGeom prst="rect">
            <a:avLst/>
          </a:prstGeom>
          <a:noFill/>
          <a:ln>
            <a:noFill/>
          </a:ln>
        </p:spPr>
      </p:pic>
      <p:pic>
        <p:nvPicPr>
          <p:cNvPr id="537" name="Google Shape;537;p58"/>
          <p:cNvPicPr preferRelativeResize="0"/>
          <p:nvPr/>
        </p:nvPicPr>
        <p:blipFill rotWithShape="1">
          <a:blip r:embed="rId4">
            <a:alphaModFix/>
          </a:blip>
          <a:srcRect b="0" l="0" r="0" t="0"/>
          <a:stretch/>
        </p:blipFill>
        <p:spPr>
          <a:xfrm>
            <a:off x="3056674" y="2484125"/>
            <a:ext cx="1244800" cy="1244823"/>
          </a:xfrm>
          <a:prstGeom prst="rect">
            <a:avLst/>
          </a:prstGeom>
          <a:noFill/>
          <a:ln>
            <a:noFill/>
          </a:ln>
        </p:spPr>
      </p:pic>
      <p:pic>
        <p:nvPicPr>
          <p:cNvPr id="538" name="Google Shape;538;p58"/>
          <p:cNvPicPr preferRelativeResize="0"/>
          <p:nvPr/>
        </p:nvPicPr>
        <p:blipFill rotWithShape="1">
          <a:blip r:embed="rId5">
            <a:alphaModFix/>
          </a:blip>
          <a:srcRect b="39759" l="27382" r="23561" t="11184"/>
          <a:stretch/>
        </p:blipFill>
        <p:spPr>
          <a:xfrm>
            <a:off x="1501275" y="2484125"/>
            <a:ext cx="1244700" cy="1244700"/>
          </a:xfrm>
          <a:prstGeom prst="rect">
            <a:avLst/>
          </a:prstGeom>
          <a:noFill/>
          <a:ln>
            <a:noFill/>
          </a:ln>
        </p:spPr>
      </p:pic>
      <p:sp>
        <p:nvSpPr>
          <p:cNvPr id="539" name="Google Shape;539;p5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700">
                <a:solidFill>
                  <a:schemeClr val="accent1"/>
                </a:solidFill>
                <a:latin typeface="Montserrat"/>
                <a:ea typeface="Montserrat"/>
                <a:cs typeface="Montserrat"/>
                <a:sym typeface="Montserrat"/>
              </a:rPr>
              <a:t>2</a:t>
            </a:r>
            <a:r>
              <a:rPr b="1" lang="en" sz="1700">
                <a:solidFill>
                  <a:schemeClr val="accent1"/>
                </a:solidFill>
                <a:latin typeface="Montserrat"/>
                <a:ea typeface="Montserrat"/>
                <a:cs typeface="Montserrat"/>
                <a:sym typeface="Montserrat"/>
              </a:rPr>
              <a:t>.</a:t>
            </a:r>
            <a:r>
              <a:rPr b="1" lang="en" sz="1700">
                <a:solidFill>
                  <a:schemeClr val="lt1"/>
                </a:solidFill>
                <a:latin typeface="Montserrat"/>
                <a:ea typeface="Montserrat"/>
                <a:cs typeface="Montserrat"/>
                <a:sym typeface="Montserrat"/>
              </a:rPr>
              <a:t>  Berikut adalah peralatan yang secara umum digunakan untuk wireframing, kecuali…</a:t>
            </a:r>
            <a:endParaRPr b="1" sz="1700">
              <a:solidFill>
                <a:schemeClr val="lt1"/>
              </a:solidFill>
              <a:latin typeface="Montserrat"/>
              <a:ea typeface="Montserrat"/>
              <a:cs typeface="Montserrat"/>
              <a:sym typeface="Montserrat"/>
            </a:endParaRPr>
          </a:p>
        </p:txBody>
      </p:sp>
      <p:sp>
        <p:nvSpPr>
          <p:cNvPr id="540" name="Google Shape;540;p5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p>
        </p:txBody>
      </p:sp>
      <p:sp>
        <p:nvSpPr>
          <p:cNvPr id="541" name="Google Shape;541;p58"/>
          <p:cNvSpPr txBox="1"/>
          <p:nvPr/>
        </p:nvSpPr>
        <p:spPr>
          <a:xfrm>
            <a:off x="1562350" y="3835550"/>
            <a:ext cx="1183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lt1"/>
                </a:solidFill>
                <a:latin typeface="Montserrat Medium"/>
                <a:ea typeface="Montserrat Medium"/>
                <a:cs typeface="Montserrat Medium"/>
                <a:sym typeface="Montserrat Medium"/>
              </a:rPr>
              <a:t>Balsamiq</a:t>
            </a:r>
            <a:endParaRPr sz="1200">
              <a:solidFill>
                <a:schemeClr val="lt1"/>
              </a:solidFill>
              <a:latin typeface="Montserrat Medium"/>
              <a:ea typeface="Montserrat Medium"/>
              <a:cs typeface="Montserrat Medium"/>
              <a:sym typeface="Montserrat Medium"/>
            </a:endParaRPr>
          </a:p>
        </p:txBody>
      </p:sp>
      <p:sp>
        <p:nvSpPr>
          <p:cNvPr id="542" name="Google Shape;542;p58"/>
          <p:cNvSpPr txBox="1"/>
          <p:nvPr/>
        </p:nvSpPr>
        <p:spPr>
          <a:xfrm>
            <a:off x="3074250" y="3835550"/>
            <a:ext cx="12447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lt1"/>
                </a:solidFill>
                <a:latin typeface="Montserrat Medium"/>
                <a:ea typeface="Montserrat Medium"/>
                <a:cs typeface="Montserrat Medium"/>
                <a:sym typeface="Montserrat Medium"/>
              </a:rPr>
              <a:t>Mockplus</a:t>
            </a:r>
            <a:endParaRPr sz="1200">
              <a:solidFill>
                <a:schemeClr val="lt1"/>
              </a:solidFill>
              <a:latin typeface="Montserrat Medium"/>
              <a:ea typeface="Montserrat Medium"/>
              <a:cs typeface="Montserrat Medium"/>
              <a:sym typeface="Montserrat Medium"/>
            </a:endParaRPr>
          </a:p>
        </p:txBody>
      </p:sp>
      <p:pic>
        <p:nvPicPr>
          <p:cNvPr id="543" name="Google Shape;543;p58"/>
          <p:cNvPicPr preferRelativeResize="0"/>
          <p:nvPr/>
        </p:nvPicPr>
        <p:blipFill rotWithShape="1">
          <a:blip r:embed="rId6">
            <a:alphaModFix/>
          </a:blip>
          <a:srcRect b="1342" l="0" r="0" t="1342"/>
          <a:stretch/>
        </p:blipFill>
        <p:spPr>
          <a:xfrm>
            <a:off x="4682966" y="2489617"/>
            <a:ext cx="1244805" cy="1211339"/>
          </a:xfrm>
          <a:prstGeom prst="rect">
            <a:avLst/>
          </a:prstGeom>
          <a:noFill/>
          <a:ln>
            <a:noFill/>
          </a:ln>
        </p:spPr>
      </p:pic>
      <p:sp>
        <p:nvSpPr>
          <p:cNvPr id="544" name="Google Shape;544;p58"/>
          <p:cNvSpPr txBox="1"/>
          <p:nvPr/>
        </p:nvSpPr>
        <p:spPr>
          <a:xfrm>
            <a:off x="4828901" y="3835549"/>
            <a:ext cx="952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lt1"/>
                </a:solidFill>
                <a:latin typeface="Montserrat Medium"/>
                <a:ea typeface="Montserrat Medium"/>
                <a:cs typeface="Montserrat Medium"/>
                <a:sym typeface="Montserrat Medium"/>
              </a:rPr>
              <a:t>Zeplin</a:t>
            </a:r>
            <a:endParaRPr sz="1200">
              <a:solidFill>
                <a:schemeClr val="lt1"/>
              </a:solidFill>
              <a:latin typeface="Montserrat Medium"/>
              <a:ea typeface="Montserrat Medium"/>
              <a:cs typeface="Montserrat Medium"/>
              <a:sym typeface="Montserrat Medium"/>
            </a:endParaRPr>
          </a:p>
        </p:txBody>
      </p:sp>
      <p:sp>
        <p:nvSpPr>
          <p:cNvPr id="545" name="Google Shape;545;p58"/>
          <p:cNvSpPr txBox="1"/>
          <p:nvPr/>
        </p:nvSpPr>
        <p:spPr>
          <a:xfrm>
            <a:off x="6291676" y="3835550"/>
            <a:ext cx="12447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chemeClr val="lt1"/>
                </a:solidFill>
                <a:latin typeface="Montserrat Medium"/>
                <a:ea typeface="Montserrat Medium"/>
                <a:cs typeface="Montserrat Medium"/>
                <a:sym typeface="Montserrat Medium"/>
              </a:rPr>
              <a:t>Just in mind</a:t>
            </a:r>
            <a:endParaRPr sz="12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5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700">
                <a:solidFill>
                  <a:schemeClr val="accent1"/>
                </a:solidFill>
                <a:latin typeface="Montserrat"/>
                <a:ea typeface="Montserrat"/>
                <a:cs typeface="Montserrat"/>
                <a:sym typeface="Montserrat"/>
              </a:rPr>
              <a:t>2.</a:t>
            </a:r>
            <a:r>
              <a:rPr b="1" lang="en" sz="1700">
                <a:solidFill>
                  <a:schemeClr val="lt1"/>
                </a:solidFill>
                <a:latin typeface="Montserrat"/>
                <a:ea typeface="Montserrat"/>
                <a:cs typeface="Montserrat"/>
                <a:sym typeface="Montserrat"/>
              </a:rPr>
              <a:t>  Berikut adalah peralatan yang secara umum digunakan untuk wireframing, kecuali…</a:t>
            </a:r>
            <a:endParaRPr sz="1200">
              <a:solidFill>
                <a:schemeClr val="lt1"/>
              </a:solidFill>
              <a:latin typeface="Raleway Medium"/>
              <a:ea typeface="Raleway Medium"/>
              <a:cs typeface="Raleway Medium"/>
              <a:sym typeface="Raleway Medium"/>
            </a:endParaRPr>
          </a:p>
        </p:txBody>
      </p:sp>
      <p:pic>
        <p:nvPicPr>
          <p:cNvPr id="551" name="Google Shape;551;p59"/>
          <p:cNvPicPr preferRelativeResize="0"/>
          <p:nvPr/>
        </p:nvPicPr>
        <p:blipFill rotWithShape="1">
          <a:blip r:embed="rId3">
            <a:alphaModFix amt="22000"/>
          </a:blip>
          <a:srcRect b="0" l="17936" r="17936" t="0"/>
          <a:stretch/>
        </p:blipFill>
        <p:spPr>
          <a:xfrm>
            <a:off x="6309275" y="2489625"/>
            <a:ext cx="1244800" cy="1195971"/>
          </a:xfrm>
          <a:prstGeom prst="rect">
            <a:avLst/>
          </a:prstGeom>
          <a:noFill/>
          <a:ln>
            <a:noFill/>
          </a:ln>
        </p:spPr>
      </p:pic>
      <p:pic>
        <p:nvPicPr>
          <p:cNvPr id="552" name="Google Shape;552;p59"/>
          <p:cNvPicPr preferRelativeResize="0"/>
          <p:nvPr/>
        </p:nvPicPr>
        <p:blipFill rotWithShape="1">
          <a:blip r:embed="rId4">
            <a:alphaModFix amt="22000"/>
          </a:blip>
          <a:srcRect b="0" l="0" r="0" t="0"/>
          <a:stretch/>
        </p:blipFill>
        <p:spPr>
          <a:xfrm>
            <a:off x="3056674" y="2484125"/>
            <a:ext cx="1244800" cy="1244823"/>
          </a:xfrm>
          <a:prstGeom prst="rect">
            <a:avLst/>
          </a:prstGeom>
          <a:noFill/>
          <a:ln>
            <a:noFill/>
          </a:ln>
        </p:spPr>
      </p:pic>
      <p:pic>
        <p:nvPicPr>
          <p:cNvPr id="553" name="Google Shape;553;p59"/>
          <p:cNvPicPr preferRelativeResize="0"/>
          <p:nvPr/>
        </p:nvPicPr>
        <p:blipFill rotWithShape="1">
          <a:blip r:embed="rId5">
            <a:alphaModFix amt="22000"/>
          </a:blip>
          <a:srcRect b="39759" l="27382" r="23561" t="11184"/>
          <a:stretch/>
        </p:blipFill>
        <p:spPr>
          <a:xfrm>
            <a:off x="1501275" y="2484125"/>
            <a:ext cx="1244700" cy="1244700"/>
          </a:xfrm>
          <a:prstGeom prst="rect">
            <a:avLst/>
          </a:prstGeom>
          <a:noFill/>
          <a:ln>
            <a:noFill/>
          </a:ln>
        </p:spPr>
      </p:pic>
      <p:sp>
        <p:nvSpPr>
          <p:cNvPr id="554" name="Google Shape;554;p5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Pembahasan Quiz</a:t>
            </a:r>
            <a:endParaRPr>
              <a:latin typeface="Montserrat"/>
              <a:ea typeface="Montserrat"/>
              <a:cs typeface="Montserrat"/>
              <a:sym typeface="Montserrat"/>
            </a:endParaRPr>
          </a:p>
        </p:txBody>
      </p:sp>
      <p:sp>
        <p:nvSpPr>
          <p:cNvPr id="555" name="Google Shape;555;p59"/>
          <p:cNvSpPr txBox="1"/>
          <p:nvPr/>
        </p:nvSpPr>
        <p:spPr>
          <a:xfrm>
            <a:off x="1562350" y="3835550"/>
            <a:ext cx="1183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rgbClr val="A667A5"/>
                </a:solidFill>
                <a:latin typeface="Montserrat Medium"/>
                <a:ea typeface="Montserrat Medium"/>
                <a:cs typeface="Montserrat Medium"/>
                <a:sym typeface="Montserrat Medium"/>
              </a:rPr>
              <a:t>Balsamiq</a:t>
            </a:r>
            <a:endParaRPr sz="1200">
              <a:solidFill>
                <a:srgbClr val="A667A5"/>
              </a:solidFill>
              <a:latin typeface="Montserrat Medium"/>
              <a:ea typeface="Montserrat Medium"/>
              <a:cs typeface="Montserrat Medium"/>
              <a:sym typeface="Montserrat Medium"/>
            </a:endParaRPr>
          </a:p>
        </p:txBody>
      </p:sp>
      <p:sp>
        <p:nvSpPr>
          <p:cNvPr id="556" name="Google Shape;556;p59"/>
          <p:cNvSpPr txBox="1"/>
          <p:nvPr/>
        </p:nvSpPr>
        <p:spPr>
          <a:xfrm>
            <a:off x="3074250" y="3835550"/>
            <a:ext cx="12447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rgbClr val="A667A5"/>
                </a:solidFill>
                <a:latin typeface="Montserrat Medium"/>
                <a:ea typeface="Montserrat Medium"/>
                <a:cs typeface="Montserrat Medium"/>
                <a:sym typeface="Montserrat Medium"/>
              </a:rPr>
              <a:t>Mockplus</a:t>
            </a:r>
            <a:endParaRPr sz="1200">
              <a:solidFill>
                <a:srgbClr val="A667A5"/>
              </a:solidFill>
              <a:latin typeface="Montserrat Medium"/>
              <a:ea typeface="Montserrat Medium"/>
              <a:cs typeface="Montserrat Medium"/>
              <a:sym typeface="Montserrat Medium"/>
            </a:endParaRPr>
          </a:p>
        </p:txBody>
      </p:sp>
      <p:pic>
        <p:nvPicPr>
          <p:cNvPr id="557" name="Google Shape;557;p59"/>
          <p:cNvPicPr preferRelativeResize="0"/>
          <p:nvPr/>
        </p:nvPicPr>
        <p:blipFill rotWithShape="1">
          <a:blip r:embed="rId6">
            <a:alphaModFix/>
          </a:blip>
          <a:srcRect b="1342" l="0" r="0" t="1342"/>
          <a:stretch/>
        </p:blipFill>
        <p:spPr>
          <a:xfrm>
            <a:off x="4682966" y="2489617"/>
            <a:ext cx="1244805" cy="1211339"/>
          </a:xfrm>
          <a:prstGeom prst="rect">
            <a:avLst/>
          </a:prstGeom>
          <a:noFill/>
          <a:ln>
            <a:noFill/>
          </a:ln>
        </p:spPr>
      </p:pic>
      <p:sp>
        <p:nvSpPr>
          <p:cNvPr id="558" name="Google Shape;558;p59"/>
          <p:cNvSpPr txBox="1"/>
          <p:nvPr/>
        </p:nvSpPr>
        <p:spPr>
          <a:xfrm>
            <a:off x="4828901" y="3835549"/>
            <a:ext cx="9528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chemeClr val="lt1"/>
                </a:solidFill>
                <a:latin typeface="Montserrat"/>
                <a:ea typeface="Montserrat"/>
                <a:cs typeface="Montserrat"/>
                <a:sym typeface="Montserrat"/>
              </a:rPr>
              <a:t>Zeplin</a:t>
            </a:r>
            <a:endParaRPr b="1" sz="1200">
              <a:solidFill>
                <a:schemeClr val="lt1"/>
              </a:solidFill>
              <a:latin typeface="Montserrat"/>
              <a:ea typeface="Montserrat"/>
              <a:cs typeface="Montserrat"/>
              <a:sym typeface="Montserrat"/>
            </a:endParaRPr>
          </a:p>
        </p:txBody>
      </p:sp>
      <p:sp>
        <p:nvSpPr>
          <p:cNvPr id="559" name="Google Shape;559;p59"/>
          <p:cNvSpPr txBox="1"/>
          <p:nvPr/>
        </p:nvSpPr>
        <p:spPr>
          <a:xfrm>
            <a:off x="6291676" y="3835550"/>
            <a:ext cx="12447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rgbClr val="A667A5"/>
                </a:solidFill>
                <a:latin typeface="Montserrat Medium"/>
                <a:ea typeface="Montserrat Medium"/>
                <a:cs typeface="Montserrat Medium"/>
                <a:sym typeface="Montserrat Medium"/>
              </a:rPr>
              <a:t>Just in mind</a:t>
            </a:r>
            <a:endParaRPr sz="1200">
              <a:solidFill>
                <a:srgbClr val="A667A5"/>
              </a:solidFill>
              <a:latin typeface="Montserrat Medium"/>
              <a:ea typeface="Montserrat Medium"/>
              <a:cs typeface="Montserrat Medium"/>
              <a:sym typeface="Montserrat Medium"/>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3" name="Shape 563"/>
        <p:cNvGrpSpPr/>
        <p:nvPr/>
      </p:nvGrpSpPr>
      <p:grpSpPr>
        <a:xfrm>
          <a:off x="0" y="0"/>
          <a:ext cx="0" cy="0"/>
          <a:chOff x="0" y="0"/>
          <a:chExt cx="0" cy="0"/>
        </a:xfrm>
      </p:grpSpPr>
      <p:sp>
        <p:nvSpPr>
          <p:cNvPr id="564" name="Google Shape;564;p6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p>
        </p:txBody>
      </p:sp>
      <p:sp>
        <p:nvSpPr>
          <p:cNvPr id="565" name="Google Shape;565;p6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800">
                <a:solidFill>
                  <a:schemeClr val="accent1"/>
                </a:solidFill>
                <a:latin typeface="Montserrat"/>
                <a:ea typeface="Montserrat"/>
                <a:cs typeface="Montserrat"/>
                <a:sym typeface="Montserrat"/>
              </a:rPr>
              <a:t>3</a:t>
            </a:r>
            <a:r>
              <a:rPr b="1" lang="en" sz="1800">
                <a:solidFill>
                  <a:schemeClr val="accent1"/>
                </a:solidFill>
                <a:latin typeface="Montserrat"/>
                <a:ea typeface="Montserrat"/>
                <a:cs typeface="Montserrat"/>
                <a:sym typeface="Montserrat"/>
              </a:rPr>
              <a:t>.</a:t>
            </a:r>
            <a:r>
              <a:rPr b="1" lang="en" sz="1800">
                <a:solidFill>
                  <a:schemeClr val="lt1"/>
                </a:solidFill>
                <a:latin typeface="Montserrat"/>
                <a:ea typeface="Montserrat"/>
                <a:cs typeface="Montserrat"/>
                <a:sym typeface="Montserrat"/>
              </a:rPr>
              <a:t> Pernyataan yang benar mengenai </a:t>
            </a:r>
            <a:r>
              <a:rPr b="1" lang="en" sz="1800">
                <a:solidFill>
                  <a:schemeClr val="lt1"/>
                </a:solidFill>
                <a:latin typeface="Montserrat"/>
                <a:ea typeface="Montserrat"/>
                <a:cs typeface="Montserrat"/>
                <a:sym typeface="Montserrat"/>
              </a:rPr>
              <a:t>Prototype</a:t>
            </a:r>
            <a:r>
              <a:rPr b="1" lang="en" sz="1800">
                <a:solidFill>
                  <a:schemeClr val="lt1"/>
                </a:solidFill>
                <a:latin typeface="Montserrat"/>
                <a:ea typeface="Montserrat"/>
                <a:cs typeface="Montserrat"/>
                <a:sym typeface="Montserrat"/>
              </a:rPr>
              <a:t> </a:t>
            </a:r>
            <a:r>
              <a:rPr b="1" lang="en" sz="1800">
                <a:solidFill>
                  <a:schemeClr val="lt1"/>
                </a:solidFill>
                <a:latin typeface="Montserrat"/>
                <a:ea typeface="Montserrat"/>
                <a:cs typeface="Montserrat"/>
                <a:sym typeface="Montserrat"/>
              </a:rPr>
              <a:t>adalah…</a:t>
            </a:r>
            <a:endParaRPr b="1" sz="18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S</a:t>
            </a:r>
            <a:r>
              <a:rPr lang="en" sz="1200">
                <a:solidFill>
                  <a:schemeClr val="lt1"/>
                </a:solidFill>
                <a:latin typeface="Montserrat Medium"/>
                <a:ea typeface="Montserrat Medium"/>
                <a:cs typeface="Montserrat Medium"/>
                <a:sym typeface="Montserrat Medium"/>
              </a:rPr>
              <a:t>ampel awal yang dibangun untuk menguji konsep atau proses.</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S</a:t>
            </a:r>
            <a:r>
              <a:rPr lang="en" sz="1200">
                <a:solidFill>
                  <a:schemeClr val="lt1"/>
                </a:solidFill>
                <a:latin typeface="Montserrat Medium"/>
                <a:ea typeface="Montserrat Medium"/>
                <a:cs typeface="Montserrat Medium"/>
                <a:sym typeface="Montserrat Medium"/>
              </a:rPr>
              <a:t>ampel awal yang dibangun untuk keseluruhan desain.</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100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S</a:t>
            </a:r>
            <a:r>
              <a:rPr lang="en" sz="1200">
                <a:solidFill>
                  <a:schemeClr val="lt1"/>
                </a:solidFill>
                <a:latin typeface="Montserrat Medium"/>
                <a:ea typeface="Montserrat Medium"/>
                <a:cs typeface="Montserrat Medium"/>
                <a:sym typeface="Montserrat Medium"/>
              </a:rPr>
              <a:t>ampel awal yang dibangun untuk menemukan ide.</a:t>
            </a:r>
            <a:endParaRPr sz="12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p6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Pembahasan Quiz</a:t>
            </a:r>
            <a:endParaRPr>
              <a:latin typeface="Montserrat"/>
              <a:ea typeface="Montserrat"/>
              <a:cs typeface="Montserrat"/>
              <a:sym typeface="Montserrat"/>
            </a:endParaRPr>
          </a:p>
        </p:txBody>
      </p:sp>
      <p:sp>
        <p:nvSpPr>
          <p:cNvPr id="571" name="Google Shape;571;p6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800">
                <a:solidFill>
                  <a:schemeClr val="accent1"/>
                </a:solidFill>
                <a:latin typeface="Montserrat"/>
                <a:ea typeface="Montserrat"/>
                <a:cs typeface="Montserrat"/>
                <a:sym typeface="Montserrat"/>
              </a:rPr>
              <a:t>3.</a:t>
            </a:r>
            <a:r>
              <a:rPr b="1" lang="en" sz="1800">
                <a:solidFill>
                  <a:schemeClr val="lt1"/>
                </a:solidFill>
                <a:latin typeface="Montserrat"/>
                <a:ea typeface="Montserrat"/>
                <a:cs typeface="Montserrat"/>
                <a:sym typeface="Montserrat"/>
              </a:rPr>
              <a:t> Pernyataan yang benar mengenai Prototype adalah…</a:t>
            </a:r>
            <a:endParaRPr b="1" sz="18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Sampel awal yang dibangun untuk menguji konsep atau proses.</a:t>
            </a:r>
            <a:endParaRPr b="1" sz="1200">
              <a:solidFill>
                <a:schemeClr val="lt1"/>
              </a:solidFill>
              <a:latin typeface="Montserrat"/>
              <a:ea typeface="Montserrat"/>
              <a:cs typeface="Montserrat"/>
              <a:sym typeface="Montserrat"/>
            </a:endParaRPr>
          </a:p>
          <a:p>
            <a:pPr indent="-304800" lvl="0" marL="457200" rtl="0" algn="just">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Sampel awal yang dibangun untuk keseluruhan desain.</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Sampel awal yang dibangun untuk menemukan ide.</a:t>
            </a:r>
            <a:endParaRPr sz="1200">
              <a:solidFill>
                <a:srgbClr val="A667A5"/>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b="1" sz="2800">
              <a:solidFill>
                <a:schemeClr val="accent1"/>
              </a:solidFill>
              <a:latin typeface="Raleway"/>
              <a:ea typeface="Raleway"/>
              <a:cs typeface="Raleway"/>
              <a:sym typeface="Raleway"/>
            </a:endParaRPr>
          </a:p>
        </p:txBody>
      </p:sp>
      <p:sp>
        <p:nvSpPr>
          <p:cNvPr id="572" name="Google Shape;572;p61"/>
          <p:cNvSpPr/>
          <p:nvPr/>
        </p:nvSpPr>
        <p:spPr>
          <a:xfrm>
            <a:off x="685800" y="308247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200">
                <a:solidFill>
                  <a:srgbClr val="733572"/>
                </a:solidFill>
                <a:latin typeface="Montserrat"/>
                <a:ea typeface="Montserrat"/>
                <a:cs typeface="Montserrat"/>
                <a:sym typeface="Montserrat"/>
              </a:rPr>
              <a:t>Prototipe adalah sampel awal yang dibangun untuk menguji konsep atau proses.</a:t>
            </a:r>
            <a:endParaRPr b="1" sz="1200">
              <a:solidFill>
                <a:srgbClr val="733572"/>
              </a:solidFill>
              <a:latin typeface="Montserrat"/>
              <a:ea typeface="Montserrat"/>
              <a:cs typeface="Montserrat"/>
              <a:sym typeface="Montserrat"/>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6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p>
        </p:txBody>
      </p:sp>
      <p:sp>
        <p:nvSpPr>
          <p:cNvPr id="578" name="Google Shape;578;p6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800">
                <a:solidFill>
                  <a:schemeClr val="accent1"/>
                </a:solidFill>
                <a:latin typeface="Montserrat"/>
                <a:ea typeface="Montserrat"/>
                <a:cs typeface="Montserrat"/>
                <a:sym typeface="Montserrat"/>
              </a:rPr>
              <a:t>4</a:t>
            </a:r>
            <a:r>
              <a:rPr b="1" lang="en" sz="1800">
                <a:solidFill>
                  <a:schemeClr val="accent1"/>
                </a:solidFill>
                <a:latin typeface="Montserrat"/>
                <a:ea typeface="Montserrat"/>
                <a:cs typeface="Montserrat"/>
                <a:sym typeface="Montserrat"/>
              </a:rPr>
              <a:t>.</a:t>
            </a:r>
            <a:r>
              <a:rPr b="1" lang="en" sz="1800">
                <a:solidFill>
                  <a:schemeClr val="lt1"/>
                </a:solidFill>
                <a:latin typeface="Montserrat"/>
                <a:ea typeface="Montserrat"/>
                <a:cs typeface="Montserrat"/>
                <a:sym typeface="Montserrat"/>
              </a:rPr>
              <a:t> Berikut pernyataan yang tepat mengenai Handoff adalah…</a:t>
            </a:r>
            <a:endParaRPr b="1" sz="18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Proses pengujian prototipe</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Proses pembuatan prototipe</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Proses penyerahan desain</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Proses pengembangan produk</a:t>
            </a:r>
            <a:endParaRPr sz="1200">
              <a:solidFill>
                <a:schemeClr val="lt1"/>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None/>
            </a:pPr>
            <a:r>
              <a:t/>
            </a:r>
            <a:endParaRPr sz="12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6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Pembahasan Quiz</a:t>
            </a:r>
            <a:endParaRPr/>
          </a:p>
        </p:txBody>
      </p:sp>
      <p:sp>
        <p:nvSpPr>
          <p:cNvPr id="584" name="Google Shape;584;p6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b="1" lang="en" sz="1800">
                <a:solidFill>
                  <a:schemeClr val="accent1"/>
                </a:solidFill>
                <a:latin typeface="Montserrat"/>
                <a:ea typeface="Montserrat"/>
                <a:cs typeface="Montserrat"/>
                <a:sym typeface="Montserrat"/>
              </a:rPr>
              <a:t>4.</a:t>
            </a:r>
            <a:r>
              <a:rPr b="1" lang="en" sz="1800">
                <a:solidFill>
                  <a:schemeClr val="lt1"/>
                </a:solidFill>
                <a:latin typeface="Montserrat"/>
                <a:ea typeface="Montserrat"/>
                <a:cs typeface="Montserrat"/>
                <a:sym typeface="Montserrat"/>
              </a:rPr>
              <a:t> Berikut pernyataan yang tepat mengenai Handoff adalah…</a:t>
            </a:r>
            <a:endParaRPr b="1" sz="18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Proses pengujian prototipe</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Proses pembuatan prototipe</a:t>
            </a:r>
            <a:endParaRPr sz="1200">
              <a:solidFill>
                <a:srgbClr val="A667A5"/>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a:buAutoNum type="alphaUcPeriod"/>
            </a:pPr>
            <a:r>
              <a:rPr b="1" lang="en" sz="1200">
                <a:solidFill>
                  <a:schemeClr val="lt1"/>
                </a:solidFill>
                <a:latin typeface="Montserrat"/>
                <a:ea typeface="Montserrat"/>
                <a:cs typeface="Montserrat"/>
                <a:sym typeface="Montserrat"/>
              </a:rPr>
              <a:t>Proses penyerahan desain</a:t>
            </a:r>
            <a:endParaRPr b="1" sz="1200">
              <a:solidFill>
                <a:schemeClr val="lt1"/>
              </a:solidFill>
              <a:latin typeface="Montserrat"/>
              <a:ea typeface="Montserrat"/>
              <a:cs typeface="Montserrat"/>
              <a:sym typeface="Montserrat"/>
            </a:endParaRPr>
          </a:p>
          <a:p>
            <a:pPr indent="-304800" lvl="0" marL="457200" rtl="0" algn="l">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Proses pengembangan produk</a:t>
            </a:r>
            <a:endParaRPr sz="1200">
              <a:solidFill>
                <a:srgbClr val="A667A5"/>
              </a:solidFill>
              <a:latin typeface="Montserrat Medium"/>
              <a:ea typeface="Montserrat Medium"/>
              <a:cs typeface="Montserrat Medium"/>
              <a:sym typeface="Montserrat Medium"/>
            </a:endParaRPr>
          </a:p>
          <a:p>
            <a:pPr indent="0" lvl="0" marL="0" rtl="0" algn="l">
              <a:lnSpc>
                <a:spcPct val="115000"/>
              </a:lnSpc>
              <a:spcBef>
                <a:spcPts val="1000"/>
              </a:spcBef>
              <a:spcAft>
                <a:spcPts val="0"/>
              </a:spcAft>
              <a:buClr>
                <a:schemeClr val="dk1"/>
              </a:buClr>
              <a:buSzPts val="1100"/>
              <a:buFont typeface="Arial"/>
              <a:buNone/>
            </a:pPr>
            <a:r>
              <a:t/>
            </a:r>
            <a:endParaRPr sz="1200">
              <a:solidFill>
                <a:schemeClr val="lt1"/>
              </a:solidFill>
              <a:latin typeface="Montserrat Medium"/>
              <a:ea typeface="Montserrat Medium"/>
              <a:cs typeface="Montserrat Medium"/>
              <a:sym typeface="Montserrat Medium"/>
            </a:endParaRPr>
          </a:p>
          <a:p>
            <a:pPr indent="0" lvl="0" marL="0" rtl="0" algn="l">
              <a:lnSpc>
                <a:spcPct val="115000"/>
              </a:lnSpc>
              <a:spcBef>
                <a:spcPts val="0"/>
              </a:spcBef>
              <a:spcAft>
                <a:spcPts val="0"/>
              </a:spcAft>
              <a:buNone/>
            </a:pPr>
            <a:r>
              <a:t/>
            </a:r>
            <a:endParaRPr b="1" sz="2800">
              <a:solidFill>
                <a:schemeClr val="accent1"/>
              </a:solidFill>
              <a:latin typeface="Raleway"/>
              <a:ea typeface="Raleway"/>
              <a:cs typeface="Raleway"/>
              <a:sym typeface="Raleway"/>
            </a:endParaRPr>
          </a:p>
          <a:p>
            <a:pPr indent="0" lvl="0" marL="0" rtl="0" algn="l">
              <a:lnSpc>
                <a:spcPct val="115000"/>
              </a:lnSpc>
              <a:spcBef>
                <a:spcPts val="0"/>
              </a:spcBef>
              <a:spcAft>
                <a:spcPts val="0"/>
              </a:spcAft>
              <a:buNone/>
            </a:pPr>
            <a:r>
              <a:t/>
            </a:r>
            <a:endParaRPr sz="1200">
              <a:solidFill>
                <a:schemeClr val="lt1"/>
              </a:solidFill>
              <a:latin typeface="Raleway Medium"/>
              <a:ea typeface="Raleway Medium"/>
              <a:cs typeface="Raleway Medium"/>
              <a:sym typeface="Raleway Medium"/>
            </a:endParaRPr>
          </a:p>
        </p:txBody>
      </p:sp>
      <p:sp>
        <p:nvSpPr>
          <p:cNvPr id="585" name="Google Shape;585;p63"/>
          <p:cNvSpPr/>
          <p:nvPr/>
        </p:nvSpPr>
        <p:spPr>
          <a:xfrm>
            <a:off x="685800" y="3363024"/>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lang="en" sz="1200">
                <a:solidFill>
                  <a:srgbClr val="733572"/>
                </a:solidFill>
                <a:latin typeface="Montserrat"/>
                <a:ea typeface="Montserrat"/>
                <a:cs typeface="Montserrat"/>
                <a:sym typeface="Montserrat"/>
              </a:rPr>
              <a:t>Handoff adalah proses penyerahan desain, umumnya dari desainer kepada developer.</a:t>
            </a:r>
            <a:endParaRPr b="1" sz="1200">
              <a:solidFill>
                <a:srgbClr val="733572"/>
              </a:solidFill>
              <a:latin typeface="Montserrat"/>
              <a:ea typeface="Montserrat"/>
              <a:cs typeface="Montserrat"/>
              <a:sym typeface="Montserrat"/>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6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p>
        </p:txBody>
      </p:sp>
      <p:sp>
        <p:nvSpPr>
          <p:cNvPr id="591" name="Google Shape;591;p6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700">
                <a:solidFill>
                  <a:schemeClr val="accent1"/>
                </a:solidFill>
                <a:latin typeface="Montserrat"/>
                <a:ea typeface="Montserrat"/>
                <a:cs typeface="Montserrat"/>
                <a:sym typeface="Montserrat"/>
              </a:rPr>
              <a:t>5</a:t>
            </a:r>
            <a:r>
              <a:rPr b="1" lang="en" sz="1700">
                <a:solidFill>
                  <a:schemeClr val="accent1"/>
                </a:solidFill>
                <a:latin typeface="Montserrat"/>
                <a:ea typeface="Montserrat"/>
                <a:cs typeface="Montserrat"/>
                <a:sym typeface="Montserrat"/>
              </a:rPr>
              <a:t>.</a:t>
            </a:r>
            <a:r>
              <a:rPr b="1" lang="en" sz="1700">
                <a:solidFill>
                  <a:schemeClr val="lt1"/>
                </a:solidFill>
                <a:latin typeface="Montserrat"/>
                <a:ea typeface="Montserrat"/>
                <a:cs typeface="Montserrat"/>
                <a:sym typeface="Montserrat"/>
              </a:rPr>
              <a:t> Kelompokkan peralatan di bawah ini pada bidang yang tepat!</a:t>
            </a:r>
            <a:endParaRPr b="1" sz="17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Char char="●"/>
            </a:pPr>
            <a:r>
              <a:rPr lang="en" sz="1200">
                <a:solidFill>
                  <a:schemeClr val="lt1"/>
                </a:solidFill>
                <a:latin typeface="Montserrat Medium"/>
                <a:ea typeface="Montserrat Medium"/>
                <a:cs typeface="Montserrat Medium"/>
                <a:sym typeface="Montserrat Medium"/>
              </a:rPr>
              <a:t>Slack</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Char char="●"/>
            </a:pPr>
            <a:r>
              <a:rPr lang="en" sz="1200">
                <a:solidFill>
                  <a:schemeClr val="lt1"/>
                </a:solidFill>
                <a:latin typeface="Montserrat Medium"/>
                <a:ea typeface="Montserrat Medium"/>
                <a:cs typeface="Montserrat Medium"/>
                <a:sym typeface="Montserrat Medium"/>
              </a:rPr>
              <a:t>Trello</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Char char="●"/>
            </a:pPr>
            <a:r>
              <a:rPr lang="en" sz="1200">
                <a:solidFill>
                  <a:schemeClr val="lt1"/>
                </a:solidFill>
                <a:latin typeface="Montserrat Medium"/>
                <a:ea typeface="Montserrat Medium"/>
                <a:cs typeface="Montserrat Medium"/>
                <a:sym typeface="Montserrat Medium"/>
              </a:rPr>
              <a:t>Yammer</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Char char="●"/>
            </a:pPr>
            <a:r>
              <a:rPr lang="en" sz="1200">
                <a:solidFill>
                  <a:schemeClr val="lt1"/>
                </a:solidFill>
                <a:latin typeface="Montserrat Medium"/>
                <a:ea typeface="Montserrat Medium"/>
                <a:cs typeface="Montserrat Medium"/>
                <a:sym typeface="Montserrat Medium"/>
              </a:rPr>
              <a:t>Google Hangouts</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Char char="●"/>
            </a:pPr>
            <a:r>
              <a:rPr lang="en" sz="1200">
                <a:solidFill>
                  <a:schemeClr val="lt1"/>
                </a:solidFill>
                <a:latin typeface="Montserrat Medium"/>
                <a:ea typeface="Montserrat Medium"/>
                <a:cs typeface="Montserrat Medium"/>
                <a:sym typeface="Montserrat Medium"/>
              </a:rPr>
              <a:t>monday.com</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Char char="●"/>
            </a:pPr>
            <a:r>
              <a:rPr lang="en" sz="1200">
                <a:solidFill>
                  <a:schemeClr val="lt1"/>
                </a:solidFill>
                <a:latin typeface="Montserrat Medium"/>
                <a:ea typeface="Montserrat Medium"/>
                <a:cs typeface="Montserrat Medium"/>
                <a:sym typeface="Montserrat Medium"/>
              </a:rPr>
              <a:t>Asana</a:t>
            </a:r>
            <a:endParaRPr sz="1200">
              <a:solidFill>
                <a:schemeClr val="lt1"/>
              </a:solidFill>
              <a:latin typeface="Montserrat Medium"/>
              <a:ea typeface="Montserrat Medium"/>
              <a:cs typeface="Montserrat Medium"/>
              <a:sym typeface="Montserrat Medium"/>
            </a:endParaRPr>
          </a:p>
          <a:p>
            <a:pPr indent="0" lvl="0" marL="0" rtl="0" algn="l">
              <a:lnSpc>
                <a:spcPct val="115000"/>
              </a:lnSpc>
              <a:spcBef>
                <a:spcPts val="1000"/>
              </a:spcBef>
              <a:spcAft>
                <a:spcPts val="1000"/>
              </a:spcAft>
              <a:buNone/>
            </a:pPr>
            <a:r>
              <a:t/>
            </a:r>
            <a:endParaRPr sz="12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6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Pembahasan Quiz</a:t>
            </a:r>
            <a:endParaRPr>
              <a:latin typeface="Montserrat"/>
              <a:ea typeface="Montserrat"/>
              <a:cs typeface="Montserrat"/>
              <a:sym typeface="Montserrat"/>
            </a:endParaRPr>
          </a:p>
        </p:txBody>
      </p:sp>
      <p:sp>
        <p:nvSpPr>
          <p:cNvPr id="597" name="Google Shape;597;p6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700">
                <a:solidFill>
                  <a:schemeClr val="accent1"/>
                </a:solidFill>
                <a:latin typeface="Montserrat"/>
                <a:ea typeface="Montserrat"/>
                <a:cs typeface="Montserrat"/>
                <a:sym typeface="Montserrat"/>
              </a:rPr>
              <a:t>5.</a:t>
            </a:r>
            <a:r>
              <a:rPr b="1" lang="en" sz="1700">
                <a:solidFill>
                  <a:schemeClr val="lt1"/>
                </a:solidFill>
                <a:latin typeface="Montserrat"/>
                <a:ea typeface="Montserrat"/>
                <a:cs typeface="Montserrat"/>
                <a:sym typeface="Montserrat"/>
              </a:rPr>
              <a:t> Kelompokkan peralatan di bawah ini pada bidang yang tepat!</a:t>
            </a:r>
            <a:endParaRPr b="1" sz="17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Char char="●"/>
            </a:pPr>
            <a:r>
              <a:rPr lang="en" sz="1200">
                <a:solidFill>
                  <a:schemeClr val="lt1"/>
                </a:solidFill>
                <a:latin typeface="Montserrat Medium"/>
                <a:ea typeface="Montserrat Medium"/>
                <a:cs typeface="Montserrat Medium"/>
                <a:sym typeface="Montserrat Medium"/>
              </a:rPr>
              <a:t>Slack</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Char char="●"/>
            </a:pPr>
            <a:r>
              <a:rPr lang="en" sz="1200">
                <a:solidFill>
                  <a:schemeClr val="lt1"/>
                </a:solidFill>
                <a:latin typeface="Montserrat Medium"/>
                <a:ea typeface="Montserrat Medium"/>
                <a:cs typeface="Montserrat Medium"/>
                <a:sym typeface="Montserrat Medium"/>
              </a:rPr>
              <a:t>Trello</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Char char="●"/>
            </a:pPr>
            <a:r>
              <a:rPr lang="en" sz="1200">
                <a:solidFill>
                  <a:schemeClr val="lt1"/>
                </a:solidFill>
                <a:latin typeface="Montserrat Medium"/>
                <a:ea typeface="Montserrat Medium"/>
                <a:cs typeface="Montserrat Medium"/>
                <a:sym typeface="Montserrat Medium"/>
              </a:rPr>
              <a:t>Yammer</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Char char="●"/>
            </a:pPr>
            <a:r>
              <a:rPr lang="en" sz="1200">
                <a:solidFill>
                  <a:schemeClr val="lt1"/>
                </a:solidFill>
                <a:latin typeface="Montserrat Medium"/>
                <a:ea typeface="Montserrat Medium"/>
                <a:cs typeface="Montserrat Medium"/>
                <a:sym typeface="Montserrat Medium"/>
              </a:rPr>
              <a:t>Google Hangouts</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Char char="●"/>
            </a:pPr>
            <a:r>
              <a:rPr lang="en" sz="1200">
                <a:solidFill>
                  <a:schemeClr val="lt1"/>
                </a:solidFill>
                <a:latin typeface="Montserrat Medium"/>
                <a:ea typeface="Montserrat Medium"/>
                <a:cs typeface="Montserrat Medium"/>
                <a:sym typeface="Montserrat Medium"/>
              </a:rPr>
              <a:t>monday.com</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Char char="●"/>
            </a:pPr>
            <a:r>
              <a:rPr lang="en" sz="1200">
                <a:solidFill>
                  <a:schemeClr val="lt1"/>
                </a:solidFill>
                <a:latin typeface="Montserrat Medium"/>
                <a:ea typeface="Montserrat Medium"/>
                <a:cs typeface="Montserrat Medium"/>
                <a:sym typeface="Montserrat Medium"/>
              </a:rPr>
              <a:t>Asana</a:t>
            </a:r>
            <a:endParaRPr sz="1200">
              <a:solidFill>
                <a:schemeClr val="lt1"/>
              </a:solidFill>
              <a:latin typeface="Montserrat Medium"/>
              <a:ea typeface="Montserrat Medium"/>
              <a:cs typeface="Montserrat Medium"/>
              <a:sym typeface="Montserrat Medium"/>
            </a:endParaRPr>
          </a:p>
          <a:p>
            <a:pPr indent="0" lvl="0" marL="0" rtl="0" algn="l">
              <a:lnSpc>
                <a:spcPct val="115000"/>
              </a:lnSpc>
              <a:spcBef>
                <a:spcPts val="1000"/>
              </a:spcBef>
              <a:spcAft>
                <a:spcPts val="1000"/>
              </a:spcAft>
              <a:buNone/>
            </a:pPr>
            <a:r>
              <a:t/>
            </a:r>
            <a:endParaRPr sz="1200">
              <a:solidFill>
                <a:schemeClr val="lt1"/>
              </a:solidFill>
              <a:latin typeface="Montserrat Medium"/>
              <a:ea typeface="Montserrat Medium"/>
              <a:cs typeface="Montserrat Medium"/>
              <a:sym typeface="Montserrat Medium"/>
            </a:endParaRPr>
          </a:p>
        </p:txBody>
      </p:sp>
      <p:sp>
        <p:nvSpPr>
          <p:cNvPr id="598" name="Google Shape;598;p65"/>
          <p:cNvSpPr/>
          <p:nvPr/>
        </p:nvSpPr>
        <p:spPr>
          <a:xfrm>
            <a:off x="4178450" y="2074941"/>
            <a:ext cx="4044900" cy="792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just">
              <a:spcBef>
                <a:spcPts val="0"/>
              </a:spcBef>
              <a:spcAft>
                <a:spcPts val="0"/>
              </a:spcAft>
              <a:buNone/>
            </a:pPr>
            <a:r>
              <a:rPr b="1" lang="en" sz="1200">
                <a:solidFill>
                  <a:schemeClr val="dk1"/>
                </a:solidFill>
                <a:latin typeface="Montserrat"/>
                <a:ea typeface="Montserrat"/>
                <a:cs typeface="Montserrat"/>
                <a:sym typeface="Montserrat"/>
              </a:rPr>
              <a:t>Communication Tools: </a:t>
            </a:r>
            <a:r>
              <a:rPr b="1" lang="en" sz="1200">
                <a:solidFill>
                  <a:schemeClr val="lt1"/>
                </a:solidFill>
                <a:latin typeface="Montserrat"/>
                <a:ea typeface="Montserrat"/>
                <a:cs typeface="Montserrat"/>
                <a:sym typeface="Montserrat"/>
              </a:rPr>
              <a:t>Slack, Yammer, Google Hangouts.</a:t>
            </a:r>
            <a:endParaRPr b="1" sz="1200">
              <a:solidFill>
                <a:schemeClr val="lt1"/>
              </a:solidFill>
              <a:latin typeface="Montserrat"/>
              <a:ea typeface="Montserrat"/>
              <a:cs typeface="Montserrat"/>
              <a:sym typeface="Montserrat"/>
            </a:endParaRPr>
          </a:p>
        </p:txBody>
      </p:sp>
      <p:sp>
        <p:nvSpPr>
          <p:cNvPr id="599" name="Google Shape;599;p65"/>
          <p:cNvSpPr/>
          <p:nvPr/>
        </p:nvSpPr>
        <p:spPr>
          <a:xfrm>
            <a:off x="4178450" y="3074775"/>
            <a:ext cx="4044900" cy="792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just">
              <a:spcBef>
                <a:spcPts val="0"/>
              </a:spcBef>
              <a:spcAft>
                <a:spcPts val="0"/>
              </a:spcAft>
              <a:buNone/>
            </a:pPr>
            <a:r>
              <a:rPr b="1" lang="en" sz="1200">
                <a:solidFill>
                  <a:schemeClr val="dk1"/>
                </a:solidFill>
                <a:latin typeface="Montserrat"/>
                <a:ea typeface="Montserrat"/>
                <a:cs typeface="Montserrat"/>
                <a:sym typeface="Montserrat"/>
              </a:rPr>
              <a:t>Collaboration &amp; Tracking Tools: </a:t>
            </a:r>
            <a:r>
              <a:rPr b="1" lang="en" sz="1200">
                <a:solidFill>
                  <a:schemeClr val="lt1"/>
                </a:solidFill>
                <a:latin typeface="Montserrat"/>
                <a:ea typeface="Montserrat"/>
                <a:cs typeface="Montserrat"/>
                <a:sym typeface="Montserrat"/>
              </a:rPr>
              <a:t>Trello, Asana, monday.com.</a:t>
            </a:r>
            <a:endParaRPr b="1">
              <a:solidFill>
                <a:schemeClr val="lt1"/>
              </a:solidFill>
              <a:latin typeface="Montserrat"/>
              <a:ea typeface="Montserrat"/>
              <a:cs typeface="Montserrat"/>
              <a:sym typeface="Montserrat"/>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6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p>
        </p:txBody>
      </p:sp>
      <p:sp>
        <p:nvSpPr>
          <p:cNvPr id="605" name="Google Shape;605;p6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700">
                <a:solidFill>
                  <a:schemeClr val="accent1"/>
                </a:solidFill>
                <a:latin typeface="Montserrat"/>
                <a:ea typeface="Montserrat"/>
                <a:cs typeface="Montserrat"/>
                <a:sym typeface="Montserrat"/>
              </a:rPr>
              <a:t>6</a:t>
            </a:r>
            <a:r>
              <a:rPr b="1" lang="en" sz="1700">
                <a:solidFill>
                  <a:schemeClr val="accent1"/>
                </a:solidFill>
                <a:latin typeface="Montserrat"/>
                <a:ea typeface="Montserrat"/>
                <a:cs typeface="Montserrat"/>
                <a:sym typeface="Montserrat"/>
              </a:rPr>
              <a:t>.</a:t>
            </a:r>
            <a:r>
              <a:rPr b="1" lang="en" sz="1700">
                <a:solidFill>
                  <a:schemeClr val="lt1"/>
                </a:solidFill>
                <a:latin typeface="Montserrat"/>
                <a:ea typeface="Montserrat"/>
                <a:cs typeface="Montserrat"/>
                <a:sym typeface="Montserrat"/>
              </a:rPr>
              <a:t> Kelompokkan peralatan di bawah ini pada bidang yang tepat!</a:t>
            </a:r>
            <a:endParaRPr b="1" sz="17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0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Char char="●"/>
            </a:pPr>
            <a:r>
              <a:rPr lang="en" sz="1200">
                <a:solidFill>
                  <a:schemeClr val="lt1"/>
                </a:solidFill>
                <a:latin typeface="Montserrat Medium"/>
                <a:ea typeface="Montserrat Medium"/>
                <a:cs typeface="Montserrat Medium"/>
                <a:sym typeface="Montserrat Medium"/>
              </a:rPr>
              <a:t>Slack</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Char char="●"/>
            </a:pPr>
            <a:r>
              <a:rPr lang="en" sz="1200">
                <a:solidFill>
                  <a:schemeClr val="lt1"/>
                </a:solidFill>
                <a:latin typeface="Montserrat Medium"/>
                <a:ea typeface="Montserrat Medium"/>
                <a:cs typeface="Montserrat Medium"/>
                <a:sym typeface="Montserrat Medium"/>
              </a:rPr>
              <a:t>Quip</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Char char="●"/>
            </a:pPr>
            <a:r>
              <a:rPr lang="en" sz="1200">
                <a:solidFill>
                  <a:schemeClr val="lt1"/>
                </a:solidFill>
                <a:latin typeface="Montserrat Medium"/>
                <a:ea typeface="Montserrat Medium"/>
                <a:cs typeface="Montserrat Medium"/>
                <a:sym typeface="Montserrat Medium"/>
              </a:rPr>
              <a:t>Yammer</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Char char="●"/>
            </a:pPr>
            <a:r>
              <a:rPr lang="en" sz="1200">
                <a:solidFill>
                  <a:schemeClr val="lt1"/>
                </a:solidFill>
                <a:latin typeface="Montserrat Medium"/>
                <a:ea typeface="Montserrat Medium"/>
                <a:cs typeface="Montserrat Medium"/>
                <a:sym typeface="Montserrat Medium"/>
              </a:rPr>
              <a:t>Google Hangouts</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Char char="●"/>
            </a:pPr>
            <a:r>
              <a:rPr lang="en" sz="1200">
                <a:solidFill>
                  <a:schemeClr val="lt1"/>
                </a:solidFill>
                <a:latin typeface="Montserrat Medium"/>
                <a:ea typeface="Montserrat Medium"/>
                <a:cs typeface="Montserrat Medium"/>
                <a:sym typeface="Montserrat Medium"/>
              </a:rPr>
              <a:t>Dropbox Paper</a:t>
            </a:r>
            <a:endParaRPr sz="1200">
              <a:solidFill>
                <a:schemeClr val="lt1"/>
              </a:solidFill>
              <a:latin typeface="Montserrat Medium"/>
              <a:ea typeface="Montserrat Medium"/>
              <a:cs typeface="Montserrat Medium"/>
              <a:sym typeface="Montserrat Medium"/>
            </a:endParaRPr>
          </a:p>
          <a:p>
            <a:pPr indent="0" lvl="0" marL="0" rtl="0" algn="l">
              <a:lnSpc>
                <a:spcPct val="115000"/>
              </a:lnSpc>
              <a:spcBef>
                <a:spcPts val="1000"/>
              </a:spcBef>
              <a:spcAft>
                <a:spcPts val="1000"/>
              </a:spcAft>
              <a:buNone/>
            </a:pPr>
            <a:r>
              <a:t/>
            </a:r>
            <a:endParaRPr sz="1200">
              <a:solidFill>
                <a:schemeClr val="lt1"/>
              </a:solidFill>
              <a:latin typeface="Montserrat Medium"/>
              <a:ea typeface="Montserrat Medium"/>
              <a:cs typeface="Montserrat Medium"/>
              <a:sym typeface="Montserrat Medium"/>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6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Pembahasan Quiz</a:t>
            </a:r>
            <a:endParaRPr>
              <a:latin typeface="Montserrat"/>
              <a:ea typeface="Montserrat"/>
              <a:cs typeface="Montserrat"/>
              <a:sym typeface="Montserrat"/>
            </a:endParaRPr>
          </a:p>
        </p:txBody>
      </p:sp>
      <p:sp>
        <p:nvSpPr>
          <p:cNvPr id="611" name="Google Shape;611;p6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b="1" lang="en" sz="1700">
                <a:solidFill>
                  <a:schemeClr val="accent1"/>
                </a:solidFill>
                <a:latin typeface="Montserrat"/>
                <a:ea typeface="Montserrat"/>
                <a:cs typeface="Montserrat"/>
                <a:sym typeface="Montserrat"/>
              </a:rPr>
              <a:t>6</a:t>
            </a:r>
            <a:r>
              <a:rPr b="1" lang="en" sz="1700">
                <a:solidFill>
                  <a:schemeClr val="accent1"/>
                </a:solidFill>
                <a:latin typeface="Montserrat"/>
                <a:ea typeface="Montserrat"/>
                <a:cs typeface="Montserrat"/>
                <a:sym typeface="Montserrat"/>
              </a:rPr>
              <a:t>.</a:t>
            </a:r>
            <a:r>
              <a:rPr b="1" lang="en" sz="1700">
                <a:solidFill>
                  <a:schemeClr val="lt1"/>
                </a:solidFill>
                <a:latin typeface="Montserrat"/>
                <a:ea typeface="Montserrat"/>
                <a:cs typeface="Montserrat"/>
                <a:sym typeface="Montserrat"/>
              </a:rPr>
              <a:t> Kelompokkan peralatan di bawah ini pada bidang yang tepat!</a:t>
            </a:r>
            <a:endParaRPr b="1" sz="17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0"/>
              </a:spcBef>
              <a:spcAft>
                <a:spcPts val="0"/>
              </a:spcAft>
              <a:buClr>
                <a:schemeClr val="lt1"/>
              </a:buClr>
              <a:buSzPts val="1200"/>
              <a:buFont typeface="Montserrat Medium"/>
              <a:buChar char="●"/>
            </a:pPr>
            <a:r>
              <a:rPr lang="en" sz="1200">
                <a:solidFill>
                  <a:schemeClr val="lt1"/>
                </a:solidFill>
                <a:latin typeface="Montserrat Medium"/>
                <a:ea typeface="Montserrat Medium"/>
                <a:cs typeface="Montserrat Medium"/>
                <a:sym typeface="Montserrat Medium"/>
              </a:rPr>
              <a:t>Slack</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Char char="●"/>
            </a:pPr>
            <a:r>
              <a:rPr lang="en" sz="1200">
                <a:solidFill>
                  <a:schemeClr val="lt1"/>
                </a:solidFill>
                <a:latin typeface="Montserrat Medium"/>
                <a:ea typeface="Montserrat Medium"/>
                <a:cs typeface="Montserrat Medium"/>
                <a:sym typeface="Montserrat Medium"/>
              </a:rPr>
              <a:t>Quip</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Char char="●"/>
            </a:pPr>
            <a:r>
              <a:rPr lang="en" sz="1200">
                <a:solidFill>
                  <a:schemeClr val="lt1"/>
                </a:solidFill>
                <a:latin typeface="Montserrat Medium"/>
                <a:ea typeface="Montserrat Medium"/>
                <a:cs typeface="Montserrat Medium"/>
                <a:sym typeface="Montserrat Medium"/>
              </a:rPr>
              <a:t>Yammer</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Char char="●"/>
            </a:pPr>
            <a:r>
              <a:rPr lang="en" sz="1200">
                <a:solidFill>
                  <a:schemeClr val="lt1"/>
                </a:solidFill>
                <a:latin typeface="Montserrat Medium"/>
                <a:ea typeface="Montserrat Medium"/>
                <a:cs typeface="Montserrat Medium"/>
                <a:sym typeface="Montserrat Medium"/>
              </a:rPr>
              <a:t>Google Hangouts</a:t>
            </a:r>
            <a:endParaRPr sz="1200">
              <a:solidFill>
                <a:schemeClr val="lt1"/>
              </a:solidFill>
              <a:latin typeface="Montserrat Medium"/>
              <a:ea typeface="Montserrat Medium"/>
              <a:cs typeface="Montserrat Medium"/>
              <a:sym typeface="Montserrat Medium"/>
            </a:endParaRPr>
          </a:p>
          <a:p>
            <a:pPr indent="-304800" lvl="0" marL="457200" rtl="0" algn="l">
              <a:lnSpc>
                <a:spcPct val="115000"/>
              </a:lnSpc>
              <a:spcBef>
                <a:spcPts val="1000"/>
              </a:spcBef>
              <a:spcAft>
                <a:spcPts val="0"/>
              </a:spcAft>
              <a:buClr>
                <a:schemeClr val="lt1"/>
              </a:buClr>
              <a:buSzPts val="1200"/>
              <a:buFont typeface="Montserrat Medium"/>
              <a:buChar char="●"/>
            </a:pPr>
            <a:r>
              <a:rPr lang="en" sz="1200">
                <a:solidFill>
                  <a:schemeClr val="lt1"/>
                </a:solidFill>
                <a:latin typeface="Montserrat Medium"/>
                <a:ea typeface="Montserrat Medium"/>
                <a:cs typeface="Montserrat Medium"/>
                <a:sym typeface="Montserrat Medium"/>
              </a:rPr>
              <a:t>Dropbox Paper</a:t>
            </a:r>
            <a:endParaRPr sz="1200">
              <a:solidFill>
                <a:schemeClr val="lt1"/>
              </a:solidFill>
              <a:latin typeface="Montserrat Medium"/>
              <a:ea typeface="Montserrat Medium"/>
              <a:cs typeface="Montserrat Medium"/>
              <a:sym typeface="Montserrat Medium"/>
            </a:endParaRPr>
          </a:p>
          <a:p>
            <a:pPr indent="0" lvl="0" marL="0" rtl="0" algn="l">
              <a:lnSpc>
                <a:spcPct val="115000"/>
              </a:lnSpc>
              <a:spcBef>
                <a:spcPts val="1000"/>
              </a:spcBef>
              <a:spcAft>
                <a:spcPts val="1000"/>
              </a:spcAft>
              <a:buNone/>
            </a:pPr>
            <a:r>
              <a:t/>
            </a:r>
            <a:endParaRPr sz="1200">
              <a:solidFill>
                <a:schemeClr val="lt1"/>
              </a:solidFill>
              <a:latin typeface="Montserrat Medium"/>
              <a:ea typeface="Montserrat Medium"/>
              <a:cs typeface="Montserrat Medium"/>
              <a:sym typeface="Montserrat Medium"/>
            </a:endParaRPr>
          </a:p>
        </p:txBody>
      </p:sp>
      <p:sp>
        <p:nvSpPr>
          <p:cNvPr id="612" name="Google Shape;612;p67"/>
          <p:cNvSpPr/>
          <p:nvPr/>
        </p:nvSpPr>
        <p:spPr>
          <a:xfrm>
            <a:off x="4178450" y="2074941"/>
            <a:ext cx="4044900" cy="792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just">
              <a:spcBef>
                <a:spcPts val="0"/>
              </a:spcBef>
              <a:spcAft>
                <a:spcPts val="0"/>
              </a:spcAft>
              <a:buNone/>
            </a:pPr>
            <a:r>
              <a:t/>
            </a:r>
            <a:endParaRPr b="1" sz="1200">
              <a:solidFill>
                <a:schemeClr val="dk1"/>
              </a:solidFill>
              <a:latin typeface="Montserrat"/>
              <a:ea typeface="Montserrat"/>
              <a:cs typeface="Montserrat"/>
              <a:sym typeface="Montserrat"/>
            </a:endParaRPr>
          </a:p>
          <a:p>
            <a:pPr indent="0" lvl="0" marL="0" rtl="0" algn="just">
              <a:spcBef>
                <a:spcPts val="0"/>
              </a:spcBef>
              <a:spcAft>
                <a:spcPts val="0"/>
              </a:spcAft>
              <a:buClr>
                <a:schemeClr val="dk1"/>
              </a:buClr>
              <a:buSzPts val="1100"/>
              <a:buFont typeface="Arial"/>
              <a:buNone/>
            </a:pPr>
            <a:r>
              <a:rPr b="1" lang="en" sz="1200">
                <a:solidFill>
                  <a:schemeClr val="dk1"/>
                </a:solidFill>
                <a:latin typeface="Montserrat"/>
                <a:ea typeface="Montserrat"/>
                <a:cs typeface="Montserrat"/>
                <a:sym typeface="Montserrat"/>
              </a:rPr>
              <a:t>Collaboration &amp; Tracking Tools: </a:t>
            </a:r>
            <a:r>
              <a:rPr b="1" lang="en" sz="1200">
                <a:solidFill>
                  <a:schemeClr val="lt1"/>
                </a:solidFill>
                <a:latin typeface="Montserrat"/>
                <a:ea typeface="Montserrat"/>
                <a:cs typeface="Montserrat"/>
                <a:sym typeface="Montserrat"/>
              </a:rPr>
              <a:t>Slack, Yammer, Google Hangouts.</a:t>
            </a:r>
            <a:endParaRPr b="1" sz="1200">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sz="1200">
              <a:solidFill>
                <a:schemeClr val="dk1"/>
              </a:solidFill>
              <a:latin typeface="Montserrat"/>
              <a:ea typeface="Montserrat"/>
              <a:cs typeface="Montserrat"/>
              <a:sym typeface="Montserrat"/>
            </a:endParaRPr>
          </a:p>
        </p:txBody>
      </p:sp>
      <p:sp>
        <p:nvSpPr>
          <p:cNvPr id="613" name="Google Shape;613;p67"/>
          <p:cNvSpPr/>
          <p:nvPr/>
        </p:nvSpPr>
        <p:spPr>
          <a:xfrm>
            <a:off x="4178450" y="3074775"/>
            <a:ext cx="4044900" cy="7920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just">
              <a:spcBef>
                <a:spcPts val="0"/>
              </a:spcBef>
              <a:spcAft>
                <a:spcPts val="0"/>
              </a:spcAft>
              <a:buNone/>
            </a:pPr>
            <a:r>
              <a:t/>
            </a:r>
            <a:endParaRPr b="1" sz="1200">
              <a:solidFill>
                <a:schemeClr val="dk1"/>
              </a:solidFill>
              <a:latin typeface="Montserrat"/>
              <a:ea typeface="Montserrat"/>
              <a:cs typeface="Montserrat"/>
              <a:sym typeface="Montserrat"/>
            </a:endParaRPr>
          </a:p>
          <a:p>
            <a:pPr indent="0" lvl="0" marL="0" rtl="0" algn="just">
              <a:spcBef>
                <a:spcPts val="0"/>
              </a:spcBef>
              <a:spcAft>
                <a:spcPts val="0"/>
              </a:spcAft>
              <a:buClr>
                <a:schemeClr val="dk1"/>
              </a:buClr>
              <a:buSzPts val="1100"/>
              <a:buFont typeface="Arial"/>
              <a:buNone/>
            </a:pPr>
            <a:r>
              <a:rPr b="1" lang="en" sz="1200">
                <a:solidFill>
                  <a:schemeClr val="dk1"/>
                </a:solidFill>
                <a:latin typeface="Montserrat"/>
                <a:ea typeface="Montserrat"/>
                <a:cs typeface="Montserrat"/>
                <a:sym typeface="Montserrat"/>
              </a:rPr>
              <a:t>Document Sharing Tools:</a:t>
            </a:r>
            <a:r>
              <a:rPr b="1" lang="en" sz="1200">
                <a:solidFill>
                  <a:schemeClr val="lt1"/>
                </a:solidFill>
                <a:latin typeface="Montserrat"/>
                <a:ea typeface="Montserrat"/>
                <a:cs typeface="Montserrat"/>
                <a:sym typeface="Montserrat"/>
              </a:rPr>
              <a:t> Quip, Dropbox Paper.</a:t>
            </a:r>
            <a:endParaRPr b="1">
              <a:solidFill>
                <a:schemeClr val="lt1"/>
              </a:solidFill>
              <a:latin typeface="Montserrat"/>
              <a:ea typeface="Montserrat"/>
              <a:cs typeface="Montserrat"/>
              <a:sym typeface="Montserrat"/>
            </a:endParaRPr>
          </a:p>
          <a:p>
            <a:pPr indent="0" lvl="0" marL="0" rtl="0" algn="just">
              <a:spcBef>
                <a:spcPts val="0"/>
              </a:spcBef>
              <a:spcAft>
                <a:spcPts val="0"/>
              </a:spcAft>
              <a:buNone/>
            </a:pPr>
            <a:r>
              <a:t/>
            </a:r>
            <a:endParaRPr b="1" sz="1200">
              <a:solidFill>
                <a:schemeClr val="dk1"/>
              </a:solidFill>
              <a:latin typeface="Montserrat"/>
              <a:ea typeface="Montserrat"/>
              <a:cs typeface="Montserrat"/>
              <a:sym typeface="Montserrat"/>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6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19" name="Google Shape;619;p6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Referensi dan bacaan lebih lanjut</a:t>
            </a:r>
            <a:endParaRPr>
              <a:latin typeface="Montserrat"/>
              <a:ea typeface="Montserrat"/>
              <a:cs typeface="Montserrat"/>
              <a:sym typeface="Montserrat"/>
            </a:endParaRPr>
          </a:p>
        </p:txBody>
      </p:sp>
      <p:pic>
        <p:nvPicPr>
          <p:cNvPr id="620" name="Google Shape;620;p68"/>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621" name="Google Shape;621;p68"/>
          <p:cNvSpPr txBox="1"/>
          <p:nvPr/>
        </p:nvSpPr>
        <p:spPr>
          <a:xfrm>
            <a:off x="685800" y="1585250"/>
            <a:ext cx="3951300" cy="3657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600">
                <a:solidFill>
                  <a:srgbClr val="743673"/>
                </a:solidFill>
                <a:highlight>
                  <a:schemeClr val="lt1"/>
                </a:highlight>
                <a:latin typeface="Montserrat"/>
                <a:ea typeface="Montserrat"/>
                <a:cs typeface="Montserrat"/>
                <a:sym typeface="Montserrat"/>
              </a:rPr>
              <a:t>Referensi dan bacaan lebih lanjut~</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114300" lvl="0" marL="11430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1) </a:t>
            </a:r>
            <a:r>
              <a:rPr lang="en" sz="1000" u="sng">
                <a:solidFill>
                  <a:schemeClr val="dk1"/>
                </a:solidFill>
                <a:latin typeface="Montserrat"/>
                <a:ea typeface="Montserrat"/>
                <a:cs typeface="Montserrat"/>
                <a:sym typeface="Montserrat"/>
                <a:hlinkClick r:id="rId4">
                  <a:extLst>
                    <a:ext uri="{A12FA001-AC4F-418D-AE19-62706E023703}">
                      <ahyp:hlinkClr val="tx"/>
                    </a:ext>
                  </a:extLst>
                </a:hlinkClick>
              </a:rPr>
              <a:t>22 Best Online Collaboration Tools for Design Teams in 2020 by Mockplus</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2) </a:t>
            </a:r>
            <a:r>
              <a:rPr lang="en" sz="1000" u="sng">
                <a:solidFill>
                  <a:schemeClr val="dk1"/>
                </a:solidFill>
                <a:latin typeface="Montserrat"/>
                <a:ea typeface="Montserrat"/>
                <a:cs typeface="Montserrat"/>
                <a:sym typeface="Montserrat"/>
                <a:hlinkClick r:id="rId5">
                  <a:extLst>
                    <a:ext uri="{A12FA001-AC4F-418D-AE19-62706E023703}">
                      <ahyp:hlinkClr val="tx"/>
                    </a:ext>
                  </a:extLst>
                </a:hlinkClick>
              </a:rPr>
              <a:t>What Figma Plugins Can And Can't Do by Design Files</a:t>
            </a:r>
            <a:endParaRPr sz="1000">
              <a:solidFill>
                <a:schemeClr val="dk1"/>
              </a:solidFill>
              <a:latin typeface="Montserrat"/>
              <a:ea typeface="Montserrat"/>
              <a:cs typeface="Montserrat"/>
              <a:sym typeface="Montserrat"/>
            </a:endParaRPr>
          </a:p>
          <a:p>
            <a:pPr indent="-171450" lvl="0" marL="171450" rtl="0" algn="just">
              <a:lnSpc>
                <a:spcPct val="115000"/>
              </a:lnSpc>
              <a:spcBef>
                <a:spcPts val="1000"/>
              </a:spcBef>
              <a:spcAft>
                <a:spcPts val="1000"/>
              </a:spcAft>
              <a:buNone/>
            </a:pPr>
            <a:r>
              <a:rPr lang="en" sz="1000">
                <a:solidFill>
                  <a:schemeClr val="dk1"/>
                </a:solidFill>
                <a:latin typeface="Montserrat"/>
                <a:ea typeface="Montserrat"/>
                <a:cs typeface="Montserrat"/>
                <a:sym typeface="Montserrat"/>
              </a:rPr>
              <a:t>3) </a:t>
            </a:r>
            <a:r>
              <a:rPr lang="en" sz="1000" u="sng">
                <a:solidFill>
                  <a:schemeClr val="dk1"/>
                </a:solidFill>
                <a:latin typeface="Montserrat"/>
                <a:ea typeface="Montserrat"/>
                <a:cs typeface="Montserrat"/>
                <a:sym typeface="Montserrat"/>
                <a:hlinkClick r:id="rId6">
                  <a:extLst>
                    <a:ext uri="{A12FA001-AC4F-418D-AE19-62706E023703}">
                      <ahyp:hlinkClr val="tx"/>
                    </a:ext>
                  </a:extLst>
                </a:hlinkClick>
              </a:rPr>
              <a:t>17 Designer Developer Collaboration and Handoff Tools For 2021 on medium</a:t>
            </a:r>
            <a:endParaRPr sz="1000">
              <a:solidFill>
                <a:schemeClr val="dk1"/>
              </a:solidFill>
              <a:latin typeface="Montserrat"/>
              <a:ea typeface="Montserrat"/>
              <a:cs typeface="Montserrat"/>
              <a:sym typeface="Montserrat"/>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43673"/>
        </a:solidFill>
      </p:bgPr>
    </p:bg>
    <p:spTree>
      <p:nvGrpSpPr>
        <p:cNvPr id="625" name="Shape 625"/>
        <p:cNvGrpSpPr/>
        <p:nvPr/>
      </p:nvGrpSpPr>
      <p:grpSpPr>
        <a:xfrm>
          <a:off x="0" y="0"/>
          <a:ext cx="0" cy="0"/>
          <a:chOff x="0" y="0"/>
          <a:chExt cx="0" cy="0"/>
        </a:xfrm>
      </p:grpSpPr>
      <p:sp>
        <p:nvSpPr>
          <p:cNvPr id="626" name="Google Shape;626;p69"/>
          <p:cNvSpPr txBox="1"/>
          <p:nvPr/>
        </p:nvSpPr>
        <p:spPr>
          <a:xfrm>
            <a:off x="618375" y="1536575"/>
            <a:ext cx="4112700" cy="2431500"/>
          </a:xfrm>
          <a:prstGeom prst="rect">
            <a:avLst/>
          </a:prstGeom>
          <a:no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Clr>
                <a:schemeClr val="dk1"/>
              </a:buClr>
              <a:buSzPts val="4000"/>
              <a:buFont typeface="Arial"/>
              <a:buNone/>
            </a:pPr>
            <a:r>
              <a:rPr b="1" lang="en">
                <a:solidFill>
                  <a:schemeClr val="lt1"/>
                </a:solidFill>
                <a:latin typeface="Montserrat"/>
                <a:ea typeface="Montserrat"/>
                <a:cs typeface="Montserrat"/>
                <a:sym typeface="Montserrat"/>
              </a:rPr>
              <a:t>Nah, selesai sudah pembahasan kita di topik 4 ini tentang peralatan UI/UX Design.</a:t>
            </a:r>
            <a:endParaRPr b="1">
              <a:solidFill>
                <a:schemeClr val="lt1"/>
              </a:solidFill>
              <a:latin typeface="Montserrat"/>
              <a:ea typeface="Montserrat"/>
              <a:cs typeface="Montserrat"/>
              <a:sym typeface="Montserrat"/>
            </a:endParaRPr>
          </a:p>
          <a:p>
            <a:pPr indent="0" lvl="0" marL="0" rtl="0" algn="just">
              <a:lnSpc>
                <a:spcPct val="115000"/>
              </a:lnSpc>
              <a:spcBef>
                <a:spcPts val="1000"/>
              </a:spcBef>
              <a:spcAft>
                <a:spcPts val="0"/>
              </a:spcAft>
              <a:buClr>
                <a:schemeClr val="dk1"/>
              </a:buClr>
              <a:buSzPts val="4000"/>
              <a:buFont typeface="Arial"/>
              <a:buNone/>
            </a:pPr>
            <a:r>
              <a:rPr b="1" lang="en">
                <a:solidFill>
                  <a:schemeClr val="lt1"/>
                </a:solidFill>
                <a:latin typeface="Montserrat"/>
                <a:ea typeface="Montserrat"/>
                <a:cs typeface="Montserrat"/>
                <a:sym typeface="Montserrat"/>
              </a:rPr>
              <a:t>Sesuai janji sebelumnya, setelah ini kita bakal lanjut ngebahas tentang</a:t>
            </a:r>
            <a:r>
              <a:rPr b="1" lang="en">
                <a:solidFill>
                  <a:schemeClr val="accent1"/>
                </a:solidFill>
                <a:latin typeface="Montserrat"/>
                <a:ea typeface="Montserrat"/>
                <a:cs typeface="Montserrat"/>
                <a:sym typeface="Montserrat"/>
              </a:rPr>
              <a:t> ideate.</a:t>
            </a:r>
            <a:endParaRPr b="1">
              <a:solidFill>
                <a:schemeClr val="accent1"/>
              </a:solidFill>
              <a:latin typeface="Montserrat"/>
              <a:ea typeface="Montserrat"/>
              <a:cs typeface="Montserrat"/>
              <a:sym typeface="Montserrat"/>
            </a:endParaRPr>
          </a:p>
          <a:p>
            <a:pPr indent="0" lvl="0" marL="0" rtl="0" algn="just">
              <a:lnSpc>
                <a:spcPct val="115000"/>
              </a:lnSpc>
              <a:spcBef>
                <a:spcPts val="1000"/>
              </a:spcBef>
              <a:spcAft>
                <a:spcPts val="1000"/>
              </a:spcAft>
              <a:buClr>
                <a:schemeClr val="dk1"/>
              </a:buClr>
              <a:buSzPts val="4000"/>
              <a:buFont typeface="Arial"/>
              <a:buNone/>
            </a:pPr>
            <a:r>
              <a:rPr b="1" lang="en">
                <a:solidFill>
                  <a:schemeClr val="lt1"/>
                </a:solidFill>
                <a:latin typeface="Montserrat"/>
                <a:ea typeface="Montserrat"/>
                <a:cs typeface="Montserrat"/>
                <a:sym typeface="Montserrat"/>
              </a:rPr>
              <a:t>Sampai ketemu yaa~ </a:t>
            </a:r>
            <a:endParaRPr b="1">
              <a:solidFill>
                <a:schemeClr val="lt1"/>
              </a:solidFill>
              <a:latin typeface="Montserrat"/>
              <a:ea typeface="Montserrat"/>
              <a:cs typeface="Montserrat"/>
              <a:sym typeface="Montserrat"/>
            </a:endParaRPr>
          </a:p>
        </p:txBody>
      </p:sp>
      <p:pic>
        <p:nvPicPr>
          <p:cNvPr id="627" name="Google Shape;627;p69"/>
          <p:cNvPicPr preferRelativeResize="0"/>
          <p:nvPr/>
        </p:nvPicPr>
        <p:blipFill>
          <a:blip r:embed="rId3">
            <a:alphaModFix/>
          </a:blip>
          <a:stretch>
            <a:fillRect/>
          </a:stretch>
        </p:blipFill>
        <p:spPr>
          <a:xfrm>
            <a:off x="4114431" y="676725"/>
            <a:ext cx="5687844" cy="4338199"/>
          </a:xfrm>
          <a:prstGeom prst="rect">
            <a:avLst/>
          </a:prstGeom>
          <a:noFill/>
          <a:ln>
            <a:noFill/>
          </a:ln>
        </p:spPr>
      </p:pic>
      <p:sp>
        <p:nvSpPr>
          <p:cNvPr id="628" name="Google Shape;628;p69"/>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629" name="Google Shape;629;p69"/>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630" name="Google Shape;630;p69"/>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631" name="Google Shape;631;p69"/>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632" name="Google Shape;632;p69"/>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633" name="Google Shape;633;p69"/>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pic>
        <p:nvPicPr>
          <p:cNvPr id="634" name="Google Shape;634;p69"/>
          <p:cNvPicPr preferRelativeResize="0"/>
          <p:nvPr/>
        </p:nvPicPr>
        <p:blipFill rotWithShape="1">
          <a:blip r:embed="rId4">
            <a:alphaModFix/>
          </a:blip>
          <a:srcRect b="0" l="0" r="0" t="0"/>
          <a:stretch/>
        </p:blipFill>
        <p:spPr>
          <a:xfrm>
            <a:off x="8535950" y="105991"/>
            <a:ext cx="463928" cy="463928"/>
          </a:xfrm>
          <a:prstGeom prst="rect">
            <a:avLst/>
          </a:prstGeom>
          <a:noFill/>
          <a:ln>
            <a:noFill/>
          </a:ln>
        </p:spPr>
      </p:pic>
      <p:sp>
        <p:nvSpPr>
          <p:cNvPr id="635" name="Google Shape;635;p69"/>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636" name="Google Shape;636;p69"/>
          <p:cNvSpPr txBox="1"/>
          <p:nvPr/>
        </p:nvSpPr>
        <p:spPr>
          <a:xfrm>
            <a:off x="618377" y="251687"/>
            <a:ext cx="7296000" cy="2307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Clr>
                <a:schemeClr val="dk1"/>
              </a:buClr>
              <a:buSzPts val="1100"/>
              <a:buFont typeface="Arial"/>
              <a:buNone/>
            </a:pPr>
            <a:r>
              <a:rPr b="1" lang="en" sz="1200">
                <a:solidFill>
                  <a:schemeClr val="lt1"/>
                </a:solidFill>
                <a:latin typeface="Montserrat"/>
                <a:ea typeface="Montserrat"/>
                <a:cs typeface="Montserrat"/>
                <a:sym typeface="Montserrat"/>
              </a:rPr>
              <a:t>Penutup</a:t>
            </a:r>
            <a:endParaRPr b="1" sz="1200">
              <a:solidFill>
                <a:schemeClr val="lt1"/>
              </a:solidFill>
              <a:latin typeface="Montserrat"/>
              <a:ea typeface="Montserrat"/>
              <a:cs typeface="Montserrat"/>
              <a:sym typeface="Montserrat"/>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640" name="Shape 640"/>
        <p:cNvGrpSpPr/>
        <p:nvPr/>
      </p:nvGrpSpPr>
      <p:grpSpPr>
        <a:xfrm>
          <a:off x="0" y="0"/>
          <a:ext cx="0" cy="0"/>
          <a:chOff x="0" y="0"/>
          <a:chExt cx="0" cy="0"/>
        </a:xfrm>
      </p:grpSpPr>
      <p:sp>
        <p:nvSpPr>
          <p:cNvPr id="641" name="Google Shape;641;p70"/>
          <p:cNvSpPr/>
          <p:nvPr/>
        </p:nvSpPr>
        <p:spPr>
          <a:xfrm>
            <a:off x="0" y="3825400"/>
            <a:ext cx="9144000" cy="1389600"/>
          </a:xfrm>
          <a:prstGeom prst="rect">
            <a:avLst/>
          </a:prstGeom>
          <a:solidFill>
            <a:srgbClr val="F4B71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42" name="Google Shape;642;p70"/>
          <p:cNvPicPr preferRelativeResize="0"/>
          <p:nvPr/>
        </p:nvPicPr>
        <p:blipFill>
          <a:blip r:embed="rId3">
            <a:alphaModFix/>
          </a:blip>
          <a:stretch>
            <a:fillRect/>
          </a:stretch>
        </p:blipFill>
        <p:spPr>
          <a:xfrm>
            <a:off x="1734062" y="469363"/>
            <a:ext cx="5675881" cy="4204774"/>
          </a:xfrm>
          <a:prstGeom prst="rect">
            <a:avLst/>
          </a:prstGeom>
          <a:noFill/>
          <a:ln>
            <a:noFill/>
          </a:ln>
        </p:spPr>
      </p:pic>
      <p:pic>
        <p:nvPicPr>
          <p:cNvPr id="643" name="Google Shape;643;p70"/>
          <p:cNvPicPr preferRelativeResize="0"/>
          <p:nvPr/>
        </p:nvPicPr>
        <p:blipFill rotWithShape="1">
          <a:blip r:embed="rId4">
            <a:alphaModFix/>
          </a:blip>
          <a:srcRect b="0" l="0" r="13247" t="0"/>
          <a:stretch/>
        </p:blipFill>
        <p:spPr>
          <a:xfrm>
            <a:off x="7987325" y="4075701"/>
            <a:ext cx="709350" cy="817600"/>
          </a:xfrm>
          <a:prstGeom prst="rect">
            <a:avLst/>
          </a:prstGeom>
          <a:noFill/>
          <a:ln>
            <a:noFill/>
          </a:ln>
        </p:spPr>
      </p:pic>
      <p:pic>
        <p:nvPicPr>
          <p:cNvPr id="644" name="Google Shape;644;p70"/>
          <p:cNvPicPr preferRelativeResize="0"/>
          <p:nvPr/>
        </p:nvPicPr>
        <p:blipFill>
          <a:blip r:embed="rId5">
            <a:alphaModFix/>
          </a:blip>
          <a:stretch>
            <a:fillRect/>
          </a:stretch>
        </p:blipFill>
        <p:spPr>
          <a:xfrm>
            <a:off x="1103225" y="6174213"/>
            <a:ext cx="1991475" cy="689575"/>
          </a:xfrm>
          <a:prstGeom prst="rect">
            <a:avLst/>
          </a:prstGeom>
          <a:noFill/>
          <a:ln>
            <a:noFill/>
          </a:ln>
        </p:spPr>
      </p:pic>
      <p:pic>
        <p:nvPicPr>
          <p:cNvPr id="645" name="Google Shape;645;p70"/>
          <p:cNvPicPr preferRelativeResize="0"/>
          <p:nvPr/>
        </p:nvPicPr>
        <p:blipFill>
          <a:blip r:embed="rId6">
            <a:alphaModFix/>
          </a:blip>
          <a:stretch>
            <a:fillRect/>
          </a:stretch>
        </p:blipFill>
        <p:spPr>
          <a:xfrm>
            <a:off x="487625" y="4141560"/>
            <a:ext cx="1991475" cy="68588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