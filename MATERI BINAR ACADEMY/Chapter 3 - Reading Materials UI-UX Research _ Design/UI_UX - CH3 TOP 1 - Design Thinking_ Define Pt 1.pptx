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Raleway"/>
      <p:regular r:id="rId43"/>
      <p:bold r:id="rId44"/>
      <p:italic r:id="rId45"/>
      <p:boldItalic r:id="rId46"/>
    </p:embeddedFont>
    <p:embeddedFont>
      <p:font typeface="Montserrat"/>
      <p:regular r:id="rId47"/>
      <p:bold r:id="rId48"/>
      <p:italic r:id="rId49"/>
      <p:boldItalic r:id="rId50"/>
    </p:embeddedFont>
    <p:embeddedFont>
      <p:font typeface="Montserrat Black"/>
      <p:bold r:id="rId51"/>
      <p:boldItalic r:id="rId52"/>
    </p:embeddedFont>
    <p:embeddedFont>
      <p:font typeface="Montserrat Medium"/>
      <p:regular r:id="rId53"/>
      <p:bold r:id="rId54"/>
      <p:italic r:id="rId55"/>
      <p:boldItalic r:id="rId56"/>
    </p:embeddedFont>
    <p:embeddedFont>
      <p:font typeface="Lato Black"/>
      <p:bold r:id="rId57"/>
      <p:boldItalic r:id="rId58"/>
    </p:embeddedFont>
    <p:embeddedFont>
      <p:font typeface="Raleway Medium"/>
      <p:regular r:id="rId59"/>
      <p:bold r:id="rId60"/>
      <p:italic r:id="rId61"/>
      <p:boldItalic r:id="rId62"/>
    </p:embeddedFont>
    <p:embeddedFont>
      <p:font typeface="Montserrat ExtraBold"/>
      <p:bold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aleway-bold.fntdata"/><Relationship Id="rId43" Type="http://schemas.openxmlformats.org/officeDocument/2006/relationships/font" Target="fonts/Raleway-regular.fntdata"/><Relationship Id="rId46" Type="http://schemas.openxmlformats.org/officeDocument/2006/relationships/font" Target="fonts/Raleway-boldItalic.fntdata"/><Relationship Id="rId45"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Medium-boldItalic.fntdata"/><Relationship Id="rId61" Type="http://schemas.openxmlformats.org/officeDocument/2006/relationships/font" Target="fonts/RalewayMedium-italic.fntdata"/><Relationship Id="rId20" Type="http://schemas.openxmlformats.org/officeDocument/2006/relationships/slide" Target="slides/slide15.xml"/><Relationship Id="rId64" Type="http://schemas.openxmlformats.org/officeDocument/2006/relationships/font" Target="fonts/MontserratExtraBold-boldItalic.fntdata"/><Relationship Id="rId63" Type="http://schemas.openxmlformats.org/officeDocument/2006/relationships/font" Target="fonts/MontserratExtraBold-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alewayMedium-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Black-bold.fntdata"/><Relationship Id="rId50" Type="http://schemas.openxmlformats.org/officeDocument/2006/relationships/font" Target="fonts/Montserrat-boldItalic.fntdata"/><Relationship Id="rId53" Type="http://schemas.openxmlformats.org/officeDocument/2006/relationships/font" Target="fonts/MontserratMedium-regular.fntdata"/><Relationship Id="rId52" Type="http://schemas.openxmlformats.org/officeDocument/2006/relationships/font" Target="fonts/MontserratBlack-boldItalic.fntdata"/><Relationship Id="rId11" Type="http://schemas.openxmlformats.org/officeDocument/2006/relationships/slide" Target="slides/slide6.xml"/><Relationship Id="rId55" Type="http://schemas.openxmlformats.org/officeDocument/2006/relationships/font" Target="fonts/MontserratMedium-italic.fntdata"/><Relationship Id="rId10" Type="http://schemas.openxmlformats.org/officeDocument/2006/relationships/slide" Target="slides/slide5.xml"/><Relationship Id="rId54" Type="http://schemas.openxmlformats.org/officeDocument/2006/relationships/font" Target="fonts/MontserratMedium-bold.fntdata"/><Relationship Id="rId13" Type="http://schemas.openxmlformats.org/officeDocument/2006/relationships/slide" Target="slides/slide8.xml"/><Relationship Id="rId57" Type="http://schemas.openxmlformats.org/officeDocument/2006/relationships/font" Target="fonts/LatoBlack-bold.fntdata"/><Relationship Id="rId12" Type="http://schemas.openxmlformats.org/officeDocument/2006/relationships/slide" Target="slides/slide7.xml"/><Relationship Id="rId56" Type="http://schemas.openxmlformats.org/officeDocument/2006/relationships/font" Target="fonts/MontserratMedium-boldItalic.fntdata"/><Relationship Id="rId15" Type="http://schemas.openxmlformats.org/officeDocument/2006/relationships/slide" Target="slides/slide10.xml"/><Relationship Id="rId59" Type="http://schemas.openxmlformats.org/officeDocument/2006/relationships/font" Target="fonts/RalewayMedium-regular.fntdata"/><Relationship Id="rId14" Type="http://schemas.openxmlformats.org/officeDocument/2006/relationships/slide" Target="slides/slide9.xml"/><Relationship Id="rId58" Type="http://schemas.openxmlformats.org/officeDocument/2006/relationships/font" Target="fonts/LatoBlack-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loppyperfectionist?utm_source=unsplash&amp;utm_medium=referral&amp;utm_content=creditCopyText" TargetMode="External"/><Relationship Id="rId3" Type="http://schemas.openxmlformats.org/officeDocument/2006/relationships/hyperlink" Target="https://unsplash.com/@sloppyperfectionist?utm_source=unsplash&amp;utm_medium=referral&amp;utm_content=creditCopyText" TargetMode="External"/><Relationship Id="rId4" Type="http://schemas.openxmlformats.org/officeDocument/2006/relationships/hyperlink" Target="https://unsplash.com/s/photos/problem?utm_source=unsplash&amp;utm_medium=referral&amp;utm_content=creditCopyText" TargetMode="External"/><Relationship Id="rId5" Type="http://schemas.openxmlformats.org/officeDocument/2006/relationships/hyperlink" Target="https://unsplash.com/s/photos/problem?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loppyperfectionist?utm_source=unsplash&amp;utm_medium=referral&amp;utm_content=creditCopyText" TargetMode="External"/><Relationship Id="rId3" Type="http://schemas.openxmlformats.org/officeDocument/2006/relationships/hyperlink" Target="https://unsplash.com/@sloppyperfectionist?utm_source=unsplash&amp;utm_medium=referral&amp;utm_content=creditCopyText" TargetMode="External"/><Relationship Id="rId4" Type="http://schemas.openxmlformats.org/officeDocument/2006/relationships/hyperlink" Target="https://unsplash.com/s/photos/problem?utm_source=unsplash&amp;utm_medium=referral&amp;utm_content=creditCopyText" TargetMode="External"/><Relationship Id="rId5" Type="http://schemas.openxmlformats.org/officeDocument/2006/relationships/hyperlink" Target="https://unsplash.com/s/photos/problem?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loppyperfectionist?utm_source=unsplash&amp;utm_medium=referral&amp;utm_content=creditCopyText" TargetMode="External"/><Relationship Id="rId3" Type="http://schemas.openxmlformats.org/officeDocument/2006/relationships/hyperlink" Target="https://unsplash.com/@sloppyperfectionist?utm_source=unsplash&amp;utm_medium=referral&amp;utm_content=creditCopyText" TargetMode="External"/><Relationship Id="rId4" Type="http://schemas.openxmlformats.org/officeDocument/2006/relationships/hyperlink" Target="https://unsplash.com/s/photos/problem?utm_source=unsplash&amp;utm_medium=referral&amp;utm_content=creditCopyText" TargetMode="External"/><Relationship Id="rId5" Type="http://schemas.openxmlformats.org/officeDocument/2006/relationships/hyperlink" Target="https://unsplash.com/s/photos/problem?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galeria?utm_source=unsplash&amp;utm_medium=referral&amp;utm_content=creditCopyText" TargetMode="External"/><Relationship Id="rId3" Type="http://schemas.openxmlformats.org/officeDocument/2006/relationships/hyperlink" Target="https://unsplash.com/@rgaleria?utm_source=unsplash&amp;utm_medium=referral&amp;utm_content=creditCopyText" TargetMode="External"/><Relationship Id="rId4" Type="http://schemas.openxmlformats.org/officeDocument/2006/relationships/hyperlink" Target="https://unsplash.com/s/photos/connect?utm_source=unsplash&amp;utm_medium=referral&amp;utm_content=creditCopyText" TargetMode="External"/><Relationship Id="rId5" Type="http://schemas.openxmlformats.org/officeDocument/2006/relationships/hyperlink" Target="https://unsplash.com/s/photos/connect?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zzl?utm_source=unsplash&amp;utm_medium=referral&amp;utm_content=creditCopyText" TargetMode="External"/><Relationship Id="rId3" Type="http://schemas.openxmlformats.org/officeDocument/2006/relationships/hyperlink" Target="https://unsplash.com/@martzzl?utm_source=unsplash&amp;utm_medium=referral&amp;utm_content=creditCopyText" TargetMode="External"/><Relationship Id="rId4" Type="http://schemas.openxmlformats.org/officeDocument/2006/relationships/hyperlink" Target="https://unsplash.com/s/photos/question?utm_source=unsplash&amp;utm_medium=referral&amp;utm_content=creditCopyText" TargetMode="External"/><Relationship Id="rId5" Type="http://schemas.openxmlformats.org/officeDocument/2006/relationships/hyperlink" Target="https://unsplash.com/s/photos/question?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zzl?utm_source=unsplash&amp;utm_medium=referral&amp;utm_content=creditCopyText" TargetMode="External"/><Relationship Id="rId3" Type="http://schemas.openxmlformats.org/officeDocument/2006/relationships/hyperlink" Target="https://unsplash.com/@martzzl?utm_source=unsplash&amp;utm_medium=referral&amp;utm_content=creditCopyText" TargetMode="External"/><Relationship Id="rId4" Type="http://schemas.openxmlformats.org/officeDocument/2006/relationships/hyperlink" Target="https://unsplash.com/s/photos/question?utm_source=unsplash&amp;utm_medium=referral&amp;utm_content=creditCopyText" TargetMode="External"/><Relationship Id="rId5" Type="http://schemas.openxmlformats.org/officeDocument/2006/relationships/hyperlink" Target="https://unsplash.com/s/photos/question?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ancotheshooter?utm_source=unsplash&amp;utm_medium=referral&amp;utm_content=creditCopyText" TargetMode="External"/><Relationship Id="rId3" Type="http://schemas.openxmlformats.org/officeDocument/2006/relationships/hyperlink" Target="https://unsplash.com/@francotheshooter?utm_source=unsplash&amp;utm_medium=referral&amp;utm_content=creditCopyText" TargetMode="External"/><Relationship Id="rId4" Type="http://schemas.openxmlformats.org/officeDocument/2006/relationships/hyperlink" Target="https://unsplash.com/s/photos/eating-healthy?utm_source=unsplash&amp;utm_medium=referral&amp;utm_content=creditCopyText" TargetMode="External"/><Relationship Id="rId5" Type="http://schemas.openxmlformats.org/officeDocument/2006/relationships/hyperlink" Target="https://unsplash.com/s/photos/eating-healthy?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ancotheshooter?utm_source=unsplash&amp;utm_medium=referral&amp;utm_content=creditCopyText" TargetMode="External"/><Relationship Id="rId3" Type="http://schemas.openxmlformats.org/officeDocument/2006/relationships/hyperlink" Target="https://unsplash.com/@francotheshooter?utm_source=unsplash&amp;utm_medium=referral&amp;utm_content=creditCopyText" TargetMode="External"/><Relationship Id="rId4" Type="http://schemas.openxmlformats.org/officeDocument/2006/relationships/hyperlink" Target="https://unsplash.com/s/photos/eating-healthy?utm_source=unsplash&amp;utm_medium=referral&amp;utm_content=creditCopyText" TargetMode="External"/><Relationship Id="rId5" Type="http://schemas.openxmlformats.org/officeDocument/2006/relationships/hyperlink" Target="https://unsplash.com/s/photos/eating-healthy?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ancotheshooter?utm_source=unsplash&amp;utm_medium=referral&amp;utm_content=creditCopyText" TargetMode="External"/><Relationship Id="rId3" Type="http://schemas.openxmlformats.org/officeDocument/2006/relationships/hyperlink" Target="https://unsplash.com/@francotheshooter?utm_source=unsplash&amp;utm_medium=referral&amp;utm_content=creditCopyText" TargetMode="External"/><Relationship Id="rId4" Type="http://schemas.openxmlformats.org/officeDocument/2006/relationships/hyperlink" Target="https://unsplash.com/s/photos/eating-healthy?utm_source=unsplash&amp;utm_medium=referral&amp;utm_content=creditCopyText" TargetMode="External"/><Relationship Id="rId5" Type="http://schemas.openxmlformats.org/officeDocument/2006/relationships/hyperlink" Target="https://unsplash.com/s/photos/eating-healthy?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ancotheshooter?utm_source=unsplash&amp;utm_medium=referral&amp;utm_content=creditCopyText" TargetMode="External"/><Relationship Id="rId3" Type="http://schemas.openxmlformats.org/officeDocument/2006/relationships/hyperlink" Target="https://unsplash.com/@francotheshooter?utm_source=unsplash&amp;utm_medium=referral&amp;utm_content=creditCopyText" TargetMode="External"/><Relationship Id="rId4" Type="http://schemas.openxmlformats.org/officeDocument/2006/relationships/hyperlink" Target="https://unsplash.com/s/photos/eating-healthy?utm_source=unsplash&amp;utm_medium=referral&amp;utm_content=creditCopyText" TargetMode="External"/><Relationship Id="rId5" Type="http://schemas.openxmlformats.org/officeDocument/2006/relationships/hyperlink" Target="https://unsplash.com/s/photos/eating-healthy?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ancotheshooter?utm_source=unsplash&amp;utm_medium=referral&amp;utm_content=creditCopyText" TargetMode="External"/><Relationship Id="rId3" Type="http://schemas.openxmlformats.org/officeDocument/2006/relationships/hyperlink" Target="https://unsplash.com/@francotheshooter?utm_source=unsplash&amp;utm_medium=referral&amp;utm_content=creditCopyText" TargetMode="External"/><Relationship Id="rId4" Type="http://schemas.openxmlformats.org/officeDocument/2006/relationships/hyperlink" Target="https://unsplash.com/s/photos/eating-healthy?utm_source=unsplash&amp;utm_medium=referral&amp;utm_content=creditCopyText" TargetMode="External"/><Relationship Id="rId5" Type="http://schemas.openxmlformats.org/officeDocument/2006/relationships/hyperlink" Target="https://unsplash.com/s/photos/eating-healthy?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17187b823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17187b823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17187b823b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117187b823b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17187b823b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17187b823b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17187b823b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17187b823b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17187b823b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17187b823b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17187b823b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117187b823b_0_6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17187b823b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17187b823b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7187b823b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7187b823b_0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17287d9dd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17287d9dd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7287d9dd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117287d9ddc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0b12bec43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0b12bec43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Hans-Peter Gauster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7287d9dd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7287d9dd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Hans-Peter Gauster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17287d9dd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17287d9dd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Hans-Peter Gauster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17287d9dd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117287d9ddc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10f670bd1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10f670bd1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Ricardo Gomez Angel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10f670bd1a_1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10f670bd1a_1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10f670bd1a_1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10f670bd1a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Marcel Strauß</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167fb8ec4a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167fb8ec4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Marcel Strauß</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10f670bd1a_1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10f670bd1a_1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10f670bd1a_1_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10f670bd1a_1_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Franco DeBartolo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10f670bd1a_1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10f670bd1a_1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Franco DeBartolo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167fb8ec4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167fb8ec4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Franco DeBartolo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10f670bd1a_1_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10f670bd1a_1_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Franco DeBartolo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167fb8ec4a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167fb8ec4a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Franco DeBartolo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167fb8ec4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167fb8ec4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0e8c3a84c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0e8c3a84c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10f670bd1a_1_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10f670bd1a_1_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10f670bd1a_1_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10f670bd1a_1_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10f670bd1a_1_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10f670bd1a_1_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10f670bd1a_1_10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10f670bd1a_1_10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10f670bd1a_1_10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10f670bd1a_1_1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10f670bd1a_1_1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110f670bd1a_1_1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0f670bd1a_1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0f670bd1a_1_1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10f670bd1a_1_1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110f670bd1a_1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12cd053b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12cd053b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167fb8ec4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g1167fb8ec4a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167fb8ec4a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167fb8ec4a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74" name="Shape 74"/>
        <p:cNvGrpSpPr/>
        <p:nvPr/>
      </p:nvGrpSpPr>
      <p:grpSpPr>
        <a:xfrm>
          <a:off x="0" y="0"/>
          <a:ext cx="0" cy="0"/>
          <a:chOff x="0" y="0"/>
          <a:chExt cx="0" cy="0"/>
        </a:xfrm>
      </p:grpSpPr>
      <p:sp>
        <p:nvSpPr>
          <p:cNvPr id="75" name="Google Shape;75;p15"/>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6" name="Google Shape;76;p15"/>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77" name="Google Shape;77;p1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8" name="Google Shape;78;p1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9" name="Google Shape;79;p1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0" name="Google Shape;80;p1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1" name="Google Shape;81;p1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2" name="Google Shape;82;p1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83" name="Google Shape;83;p15"/>
          <p:cNvGrpSpPr/>
          <p:nvPr/>
        </p:nvGrpSpPr>
        <p:grpSpPr>
          <a:xfrm>
            <a:off x="283668" y="259895"/>
            <a:ext cx="226001" cy="222980"/>
            <a:chOff x="283668" y="251687"/>
            <a:chExt cx="226001" cy="222980"/>
          </a:xfrm>
        </p:grpSpPr>
        <p:sp>
          <p:nvSpPr>
            <p:cNvPr id="84" name="Google Shape;84;p1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5" name="Google Shape;85;p1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6" name="Google Shape;86;p1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87" name="Google Shape;87;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1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89" name="Google Shape;89;p1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90" name="Shape 90"/>
        <p:cNvGrpSpPr/>
        <p:nvPr/>
      </p:nvGrpSpPr>
      <p:grpSpPr>
        <a:xfrm>
          <a:off x="0" y="0"/>
          <a:ext cx="0" cy="0"/>
          <a:chOff x="0" y="0"/>
          <a:chExt cx="0" cy="0"/>
        </a:xfrm>
      </p:grpSpPr>
      <p:sp>
        <p:nvSpPr>
          <p:cNvPr id="91" name="Google Shape;91;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92" name="Google Shape;92;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3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6.png"/><Relationship Id="rId4" Type="http://schemas.openxmlformats.org/officeDocument/2006/relationships/hyperlink" Target="https://www.interaction-design.org/literature/topics/design-thinking" TargetMode="External"/><Relationship Id="rId5" Type="http://schemas.openxmlformats.org/officeDocument/2006/relationships/hyperlink" Target="https://www.interaction-design.org/literature/article/5-stages-in-the-design-thinking-process" TargetMode="External"/><Relationship Id="rId6" Type="http://schemas.openxmlformats.org/officeDocument/2006/relationships/hyperlink" Target="https://www.interaction-design.org/literature/topics/defining-the-problem" TargetMode="External"/><Relationship Id="rId7" Type="http://schemas.openxmlformats.org/officeDocument/2006/relationships/hyperlink" Target="https://careerfoundry.com/en/blog/ux-design/stage-two-design-thinking-define-the-proble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image" Target="../media/image27.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28.png"/><Relationship Id="rId4" Type="http://schemas.openxmlformats.org/officeDocument/2006/relationships/image" Target="../media/image33.png"/><Relationship Id="rId5"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97" name="Shape 97"/>
        <p:cNvGrpSpPr/>
        <p:nvPr/>
      </p:nvGrpSpPr>
      <p:grpSpPr>
        <a:xfrm>
          <a:off x="0" y="0"/>
          <a:ext cx="0" cy="0"/>
          <a:chOff x="0" y="0"/>
          <a:chExt cx="0" cy="0"/>
        </a:xfrm>
      </p:grpSpPr>
      <p:sp>
        <p:nvSpPr>
          <p:cNvPr id="98" name="Google Shape;98;p17"/>
          <p:cNvSpPr txBox="1"/>
          <p:nvPr/>
        </p:nvSpPr>
        <p:spPr>
          <a:xfrm>
            <a:off x="2349675" y="27058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 sz="2700">
                <a:solidFill>
                  <a:schemeClr val="lt1"/>
                </a:solidFill>
                <a:latin typeface="Montserrat"/>
                <a:ea typeface="Montserrat"/>
                <a:cs typeface="Montserrat"/>
                <a:sym typeface="Montserrat"/>
              </a:rPr>
              <a:t>Design Thinking: Define </a:t>
            </a:r>
            <a:r>
              <a:rPr lang="en" sz="2700">
                <a:solidFill>
                  <a:schemeClr val="lt1"/>
                </a:solidFill>
                <a:latin typeface="Montserrat"/>
                <a:ea typeface="Montserrat"/>
                <a:cs typeface="Montserrat"/>
                <a:sym typeface="Montserrat"/>
              </a:rPr>
              <a:t>(Part 1)</a:t>
            </a:r>
            <a:endParaRPr sz="27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a:solidFill>
                  <a:schemeClr val="lt1"/>
                </a:solidFill>
                <a:latin typeface="Montserrat ExtraBold"/>
                <a:ea typeface="Montserrat ExtraBold"/>
                <a:cs typeface="Montserrat ExtraBold"/>
                <a:sym typeface="Montserrat ExtraBold"/>
              </a:rPr>
              <a:t>Silver </a:t>
            </a:r>
            <a:r>
              <a:rPr lang="en">
                <a:solidFill>
                  <a:schemeClr val="lt1"/>
                </a:solidFill>
                <a:latin typeface="Montserrat"/>
                <a:ea typeface="Montserrat"/>
                <a:cs typeface="Montserrat"/>
                <a:sym typeface="Montserrat"/>
              </a:rPr>
              <a:t>- Chapter </a:t>
            </a:r>
            <a:r>
              <a:rPr lang="en">
                <a:solidFill>
                  <a:schemeClr val="lt1"/>
                </a:solidFill>
                <a:latin typeface="Montserrat"/>
                <a:ea typeface="Montserrat"/>
                <a:cs typeface="Montserrat"/>
                <a:sym typeface="Montserrat"/>
              </a:rPr>
              <a:t>3</a:t>
            </a:r>
            <a:r>
              <a:rPr lang="en">
                <a:solidFill>
                  <a:schemeClr val="lt1"/>
                </a:solidFill>
                <a:latin typeface="Montserrat"/>
                <a:ea typeface="Montserrat"/>
                <a:cs typeface="Montserrat"/>
                <a:sym typeface="Montserrat"/>
              </a:rPr>
              <a:t> - Topic 1</a:t>
            </a:r>
            <a:endParaRPr>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4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p:txBody>
      </p:sp>
      <p:cxnSp>
        <p:nvCxnSpPr>
          <p:cNvPr id="99" name="Google Shape;99;p17"/>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17"/>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04" name="Shape 104"/>
        <p:cNvGrpSpPr/>
        <p:nvPr/>
      </p:nvGrpSpPr>
      <p:grpSpPr>
        <a:xfrm>
          <a:off x="0" y="0"/>
          <a:ext cx="0" cy="0"/>
          <a:chOff x="0" y="0"/>
          <a:chExt cx="0" cy="0"/>
        </a:xfrm>
      </p:grpSpPr>
      <p:sp>
        <p:nvSpPr>
          <p:cNvPr id="105" name="Google Shape;105;p18"/>
          <p:cNvSpPr txBox="1"/>
          <p:nvPr/>
        </p:nvSpPr>
        <p:spPr>
          <a:xfrm>
            <a:off x="1746750" y="685025"/>
            <a:ext cx="5650500" cy="60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600" u="none" cap="none" strike="noStrike">
                <a:solidFill>
                  <a:schemeClr val="lt1"/>
                </a:solidFill>
                <a:latin typeface="Montserrat"/>
                <a:ea typeface="Montserrat"/>
                <a:cs typeface="Montserrat"/>
                <a:sym typeface="Montserrat"/>
              </a:rPr>
              <a:t>Selamat datang di </a:t>
            </a:r>
            <a:r>
              <a:rPr b="1" i="0" lang="en" sz="1600" u="none" cap="none" strike="noStrike">
                <a:solidFill>
                  <a:schemeClr val="accent1"/>
                </a:solidFill>
                <a:latin typeface="Montserrat"/>
                <a:ea typeface="Montserrat"/>
                <a:cs typeface="Montserrat"/>
                <a:sym typeface="Montserrat"/>
              </a:rPr>
              <a:t>Chapter </a:t>
            </a: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 Topik 1</a:t>
            </a:r>
            <a:r>
              <a:rPr b="1" i="0" lang="en" sz="1600" u="none" cap="none" strike="noStrike">
                <a:solidFill>
                  <a:schemeClr val="lt1"/>
                </a:solidFill>
                <a:latin typeface="Montserrat"/>
                <a:ea typeface="Montserrat"/>
                <a:cs typeface="Montserrat"/>
                <a:sym typeface="Montserrat"/>
              </a:rPr>
              <a:t> online course </a:t>
            </a:r>
            <a:endParaRPr b="1" i="0" sz="16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1" lang="en" sz="1600">
                <a:solidFill>
                  <a:schemeClr val="accent1"/>
                </a:solidFill>
                <a:latin typeface="Montserrat"/>
                <a:ea typeface="Montserrat"/>
                <a:cs typeface="Montserrat"/>
                <a:sym typeface="Montserrat"/>
              </a:rPr>
              <a:t>UI/UX Research/Design</a:t>
            </a:r>
            <a:r>
              <a:rPr b="1" i="0" lang="en" sz="1600" u="none" cap="none" strike="noStrike">
                <a:solidFill>
                  <a:schemeClr val="lt1"/>
                </a:solidFill>
                <a:latin typeface="Montserrat"/>
                <a:ea typeface="Montserrat"/>
                <a:cs typeface="Montserrat"/>
                <a:sym typeface="Montserrat"/>
              </a:rPr>
              <a:t> dari Binar Academy!</a:t>
            </a:r>
            <a:endParaRPr b="1" i="0" sz="1600" u="none" cap="none" strike="noStrike">
              <a:solidFill>
                <a:srgbClr val="FFFFFF"/>
              </a:solidFill>
              <a:latin typeface="Montserrat"/>
              <a:ea typeface="Montserrat"/>
              <a:cs typeface="Montserrat"/>
              <a:sym typeface="Montserrat"/>
            </a:endParaRPr>
          </a:p>
        </p:txBody>
      </p:sp>
      <p:pic>
        <p:nvPicPr>
          <p:cNvPr id="106" name="Google Shape;106;p18"/>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2" name="Google Shape;112;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3" name="Google Shape;113;p19"/>
          <p:cNvSpPr txBox="1"/>
          <p:nvPr/>
        </p:nvSpPr>
        <p:spPr>
          <a:xfrm>
            <a:off x="606600" y="3579200"/>
            <a:ext cx="7930800" cy="9795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chapter kedua, kita udah belajar tentang penerapan design thinking, yaitu fase empati. Kita udah kenalan sama UX research dan gimana metode-metode dalam UX research.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chapter ketiga ini, kita bakal lanjutin pembahasan tentang penerapan design thinking pada, yaitu fase define dan ideation. </a:t>
            </a:r>
            <a:r>
              <a:rPr b="1" lang="en" sz="1000">
                <a:solidFill>
                  <a:schemeClr val="dk1"/>
                </a:solidFill>
                <a:latin typeface="Montserrat"/>
                <a:ea typeface="Montserrat"/>
                <a:cs typeface="Montserrat"/>
                <a:sym typeface="Montserrat"/>
              </a:rPr>
              <a:t>Pada topik pertama, kita akan mulai dengan fase define. </a:t>
            </a:r>
            <a:r>
              <a:rPr lang="en" sz="1000">
                <a:solidFill>
                  <a:schemeClr val="dk1"/>
                </a:solidFill>
                <a:latin typeface="Montserrat"/>
                <a:ea typeface="Montserrat"/>
                <a:cs typeface="Montserrat"/>
                <a:sym typeface="Montserrat"/>
              </a:rPr>
              <a:t>Chekidott~</a:t>
            </a:r>
            <a:endParaRPr sz="1000">
              <a:solidFill>
                <a:schemeClr val="dk1"/>
              </a:solidFill>
              <a:latin typeface="Montserrat"/>
              <a:ea typeface="Montserrat"/>
              <a:cs typeface="Montserrat"/>
              <a:sym typeface="Montserrat"/>
            </a:endParaRPr>
          </a:p>
        </p:txBody>
      </p:sp>
      <p:pic>
        <p:nvPicPr>
          <p:cNvPr id="114" name="Google Shape;114;p19"/>
          <p:cNvPicPr preferRelativeResize="0"/>
          <p:nvPr/>
        </p:nvPicPr>
        <p:blipFill rotWithShape="1">
          <a:blip r:embed="rId3">
            <a:alphaModFix/>
          </a:blip>
          <a:srcRect b="41386" l="0" r="0" t="0"/>
          <a:stretch/>
        </p:blipFill>
        <p:spPr>
          <a:xfrm>
            <a:off x="1808300" y="601775"/>
            <a:ext cx="5527398" cy="24694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0" name="Google Shape;120;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21" name="Google Shape;121;p20"/>
          <p:cNvSpPr txBox="1"/>
          <p:nvPr/>
        </p:nvSpPr>
        <p:spPr>
          <a:xfrm>
            <a:off x="609600" y="1150508"/>
            <a:ext cx="4114800" cy="967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600">
                <a:solidFill>
                  <a:srgbClr val="512252"/>
                </a:solidFill>
                <a:highlight>
                  <a:schemeClr val="lt1"/>
                </a:highlight>
                <a:latin typeface="Montserrat"/>
                <a:ea typeface="Montserrat"/>
                <a:cs typeface="Montserrat"/>
                <a:sym typeface="Montserrat"/>
              </a:rPr>
              <a:t>Detailnya, kita bakal bahas hal-hal berikut ini: </a:t>
            </a:r>
            <a:endParaRPr b="1" sz="1600">
              <a:solidFill>
                <a:srgbClr val="512252"/>
              </a:solidFill>
              <a:latin typeface="Montserrat"/>
              <a:ea typeface="Montserrat"/>
              <a:cs typeface="Montserrat"/>
              <a:sym typeface="Montserrat"/>
            </a:endParaRPr>
          </a:p>
        </p:txBody>
      </p:sp>
      <p:sp>
        <p:nvSpPr>
          <p:cNvPr id="122" name="Google Shape;122;p20"/>
          <p:cNvSpPr/>
          <p:nvPr/>
        </p:nvSpPr>
        <p:spPr>
          <a:xfrm>
            <a:off x="831025" y="23503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3" name="Google Shape;123;p20"/>
          <p:cNvSpPr/>
          <p:nvPr/>
        </p:nvSpPr>
        <p:spPr>
          <a:xfrm>
            <a:off x="831025" y="2885363"/>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4" name="Google Shape;124;p20"/>
          <p:cNvSpPr/>
          <p:nvPr/>
        </p:nvSpPr>
        <p:spPr>
          <a:xfrm>
            <a:off x="831025" y="34204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0"/>
          <p:cNvSpPr txBox="1"/>
          <p:nvPr/>
        </p:nvSpPr>
        <p:spPr>
          <a:xfrm>
            <a:off x="1324925" y="2117700"/>
            <a:ext cx="3247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Apa itu define?</a:t>
            </a:r>
            <a:endParaRPr sz="1200">
              <a:solidFill>
                <a:schemeClr val="dk1"/>
              </a:solidFill>
              <a:latin typeface="Montserrat Medium"/>
              <a:ea typeface="Montserrat Medium"/>
              <a:cs typeface="Montserrat Medium"/>
              <a:sym typeface="Montserrat Medium"/>
            </a:endParaRPr>
          </a:p>
        </p:txBody>
      </p:sp>
      <p:sp>
        <p:nvSpPr>
          <p:cNvPr id="126" name="Google Shape;126;p20"/>
          <p:cNvSpPr txBox="1"/>
          <p:nvPr/>
        </p:nvSpPr>
        <p:spPr>
          <a:xfrm>
            <a:off x="1324925" y="2652725"/>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Mengapa fase defining penting?</a:t>
            </a:r>
            <a:endParaRPr sz="1200">
              <a:solidFill>
                <a:schemeClr val="dk1"/>
              </a:solidFill>
              <a:latin typeface="Montserrat Medium"/>
              <a:ea typeface="Montserrat Medium"/>
              <a:cs typeface="Montserrat Medium"/>
              <a:sym typeface="Montserrat Medium"/>
            </a:endParaRPr>
          </a:p>
        </p:txBody>
      </p:sp>
      <p:sp>
        <p:nvSpPr>
          <p:cNvPr id="127" name="Google Shape;127;p20"/>
          <p:cNvSpPr txBox="1"/>
          <p:nvPr/>
        </p:nvSpPr>
        <p:spPr>
          <a:xfrm>
            <a:off x="1324925" y="3187750"/>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Montserrat Medium"/>
                <a:ea typeface="Montserrat Medium"/>
                <a:cs typeface="Montserrat Medium"/>
                <a:sym typeface="Montserrat Medium"/>
              </a:rPr>
              <a:t>Kegiatan pada fase defining</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128" name="Google Shape;128;p20"/>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 name="Google Shape;134;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p>
        </p:txBody>
      </p:sp>
      <p:sp>
        <p:nvSpPr>
          <p:cNvPr id="135" name="Google Shape;135;p21"/>
          <p:cNvSpPr txBox="1"/>
          <p:nvPr/>
        </p:nvSpPr>
        <p:spPr>
          <a:xfrm>
            <a:off x="598500" y="1369288"/>
            <a:ext cx="4038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Recap dulu bestie~</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masih ingat kan fase-fase d</a:t>
            </a:r>
            <a:r>
              <a:rPr lang="en" sz="1000">
                <a:solidFill>
                  <a:schemeClr val="dk1"/>
                </a:solidFill>
                <a:latin typeface="Montserrat"/>
                <a:ea typeface="Montserrat"/>
                <a:cs typeface="Montserrat"/>
                <a:sym typeface="Montserrat"/>
              </a:rPr>
              <a:t>esign thinking? </a:t>
            </a:r>
            <a:r>
              <a:rPr lang="en" sz="1000">
                <a:solidFill>
                  <a:schemeClr val="dk1"/>
                </a:solidFill>
                <a:latin typeface="Montserrat"/>
                <a:ea typeface="Montserrat"/>
                <a:cs typeface="Montserrat"/>
                <a:sym typeface="Montserrat"/>
              </a:rPr>
              <a:t>Fase design thinking adalah tahap-tahap yang harus dilalui oleh seorang UI/UX Designer untuk menghasilkan suatu produk yang maksimal.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lima </a:t>
            </a:r>
            <a:r>
              <a:rPr lang="en" sz="1000">
                <a:solidFill>
                  <a:schemeClr val="dk1"/>
                </a:solidFill>
                <a:latin typeface="Montserrat"/>
                <a:ea typeface="Montserrat"/>
                <a:cs typeface="Montserrat"/>
                <a:sym typeface="Montserrat"/>
              </a:rPr>
              <a:t>fase design thinking, yaitu: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Empathize</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Define</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Ideate</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Prototype</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Test</a:t>
            </a:r>
            <a:endParaRPr sz="1000">
              <a:solidFill>
                <a:schemeClr val="dk1"/>
              </a:solidFill>
              <a:latin typeface="Montserrat"/>
              <a:ea typeface="Montserrat"/>
              <a:cs typeface="Montserrat"/>
              <a:sym typeface="Montserrat"/>
            </a:endParaRPr>
          </a:p>
        </p:txBody>
      </p:sp>
      <p:pic>
        <p:nvPicPr>
          <p:cNvPr id="136" name="Google Shape;136;p21"/>
          <p:cNvPicPr preferRelativeResize="0"/>
          <p:nvPr/>
        </p:nvPicPr>
        <p:blipFill>
          <a:blip r:embed="rId3">
            <a:alphaModFix/>
          </a:blip>
          <a:stretch>
            <a:fillRect/>
          </a:stretch>
        </p:blipFill>
        <p:spPr>
          <a:xfrm>
            <a:off x="4637099" y="1600200"/>
            <a:ext cx="3979500" cy="273856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40" name="Shape 140"/>
        <p:cNvGrpSpPr/>
        <p:nvPr/>
      </p:nvGrpSpPr>
      <p:grpSpPr>
        <a:xfrm>
          <a:off x="0" y="0"/>
          <a:ext cx="0" cy="0"/>
          <a:chOff x="0" y="0"/>
          <a:chExt cx="0" cy="0"/>
        </a:xfrm>
      </p:grpSpPr>
      <p:sp>
        <p:nvSpPr>
          <p:cNvPr id="141" name="Google Shape;141;p22"/>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42" name="Google Shape;142;p22"/>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43" name="Google Shape;143;p22"/>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44" name="Google Shape;144;p22"/>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45" name="Google Shape;145;p22"/>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Apa itu define?</a:t>
            </a:r>
            <a:endParaRPr b="1" sz="1200">
              <a:solidFill>
                <a:schemeClr val="lt1"/>
              </a:solidFill>
              <a:latin typeface="Montserrat"/>
              <a:ea typeface="Montserrat"/>
              <a:cs typeface="Montserrat"/>
              <a:sym typeface="Montserrat"/>
            </a:endParaRPr>
          </a:p>
        </p:txBody>
      </p:sp>
      <p:sp>
        <p:nvSpPr>
          <p:cNvPr id="146" name="Google Shape;146;p22"/>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47" name="Google Shape;147;p22"/>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148" name="Google Shape;148;p22"/>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149" name="Google Shape;149;p22"/>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50" name="Google Shape;150;p22"/>
          <p:cNvSpPr txBox="1"/>
          <p:nvPr/>
        </p:nvSpPr>
        <p:spPr>
          <a:xfrm>
            <a:off x="574800" y="1422288"/>
            <a:ext cx="4062300" cy="2298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Kalo di chapter 2 kita udah bahas tentang empathize, kali ini kita akan bahas tentang </a:t>
            </a:r>
            <a:r>
              <a:rPr b="1" lang="en">
                <a:solidFill>
                  <a:schemeClr val="accent1"/>
                </a:solidFill>
                <a:latin typeface="Montserrat"/>
                <a:ea typeface="Montserrat"/>
                <a:cs typeface="Montserrat"/>
                <a:sym typeface="Montserrat"/>
              </a:rPr>
              <a:t>define. </a:t>
            </a:r>
            <a:endParaRPr b="1">
              <a:solidFill>
                <a:schemeClr val="accent1"/>
              </a:solidFill>
              <a:latin typeface="Montserrat"/>
              <a:ea typeface="Montserrat"/>
              <a:cs typeface="Montserrat"/>
              <a:sym typeface="Montserrat"/>
            </a:endParaRPr>
          </a:p>
        </p:txBody>
      </p:sp>
      <p:sp>
        <p:nvSpPr>
          <p:cNvPr id="151" name="Google Shape;15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52" name="Google Shape;152;p22"/>
          <p:cNvPicPr preferRelativeResize="0"/>
          <p:nvPr/>
        </p:nvPicPr>
        <p:blipFill>
          <a:blip r:embed="rId4">
            <a:alphaModFix/>
          </a:blip>
          <a:stretch>
            <a:fillRect/>
          </a:stretch>
        </p:blipFill>
        <p:spPr>
          <a:xfrm>
            <a:off x="5152875" y="914400"/>
            <a:ext cx="2137800" cy="3886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8" name="Google Shape;158;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Apa itu define?</a:t>
            </a:r>
            <a:endParaRPr/>
          </a:p>
        </p:txBody>
      </p:sp>
      <p:sp>
        <p:nvSpPr>
          <p:cNvPr id="159" name="Google Shape;159;p23"/>
          <p:cNvSpPr txBox="1"/>
          <p:nvPr/>
        </p:nvSpPr>
        <p:spPr>
          <a:xfrm>
            <a:off x="685800" y="1600195"/>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define</a:t>
            </a:r>
            <a:r>
              <a:rPr b="1" lang="en" sz="1600">
                <a:solidFill>
                  <a:srgbClr val="743673"/>
                </a:solidFill>
                <a:highlight>
                  <a:schemeClr val="lt1"/>
                </a:highlight>
                <a:latin typeface="Montserrat"/>
                <a:ea typeface="Montserrat"/>
                <a:cs typeface="Montserrat"/>
                <a:sym typeface="Montserrat"/>
              </a:rPr>
              <a:t>?</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fase empathize, kita ngumpulin data mengenai permasalahan user lewat berbagai cara, kayak wawancara mendalam, observasi, studi dokumen, shadowing, dan diary study.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Kalo datanya udah ada, selanjutnya harus diapain ya? Selanjutnya, data harus disortir, dipilah, dan dianalisis untuk dipetakan inti permasalahan. </a:t>
            </a:r>
            <a:r>
              <a:rPr b="1" lang="en" sz="1000">
                <a:solidFill>
                  <a:schemeClr val="dk1"/>
                </a:solidFill>
                <a:latin typeface="Montserrat"/>
                <a:ea typeface="Montserrat"/>
                <a:cs typeface="Montserrat"/>
                <a:sym typeface="Montserrat"/>
              </a:rPr>
              <a:t>Fase penyortiran data inilah yang disebut define.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p:txBody>
      </p:sp>
      <p:pic>
        <p:nvPicPr>
          <p:cNvPr id="160" name="Google Shape;160;p23"/>
          <p:cNvPicPr preferRelativeResize="0"/>
          <p:nvPr/>
        </p:nvPicPr>
        <p:blipFill>
          <a:blip r:embed="rId3">
            <a:alphaModFix/>
          </a:blip>
          <a:stretch>
            <a:fillRect/>
          </a:stretch>
        </p:blipFill>
        <p:spPr>
          <a:xfrm>
            <a:off x="5104650" y="1387025"/>
            <a:ext cx="3511950" cy="29286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6" name="Google Shape;166;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Apa itu define?</a:t>
            </a:r>
            <a:endParaRPr/>
          </a:p>
        </p:txBody>
      </p:sp>
      <p:sp>
        <p:nvSpPr>
          <p:cNvPr id="167" name="Google Shape;167;p24"/>
          <p:cNvSpPr txBox="1"/>
          <p:nvPr/>
        </p:nvSpPr>
        <p:spPr>
          <a:xfrm>
            <a:off x="685800" y="1841395"/>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a:t>
            </a:r>
            <a:r>
              <a:rPr b="1" lang="en" sz="1000">
                <a:solidFill>
                  <a:schemeClr val="dk1"/>
                </a:solidFill>
                <a:latin typeface="Montserrat"/>
                <a:ea typeface="Montserrat"/>
                <a:cs typeface="Montserrat"/>
                <a:sym typeface="Montserrat"/>
              </a:rPr>
              <a:t> inti permasalahan yang berhasil dipetakan itu disebut pernyataan masalah (problem statement).</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Pernyataan masalah jadi hal yang harus dijawab dalam proses desain suatu produk. Artinya, Produk yang nanti dihasilkan harus mampu menjadi solusi dari permasalahan yang udah dinyatakan atau dipetakan pada fase define.</a:t>
            </a:r>
            <a:endParaRPr b="1" sz="1000">
              <a:solidFill>
                <a:schemeClr val="dk1"/>
              </a:solidFill>
              <a:highlight>
                <a:srgbClr val="FFFF00"/>
              </a:highlight>
              <a:latin typeface="Montserrat"/>
              <a:ea typeface="Montserrat"/>
              <a:cs typeface="Montserrat"/>
              <a:sym typeface="Montserrat"/>
            </a:endParaRPr>
          </a:p>
        </p:txBody>
      </p:sp>
      <p:pic>
        <p:nvPicPr>
          <p:cNvPr id="168" name="Google Shape;168;p24"/>
          <p:cNvPicPr preferRelativeResize="0"/>
          <p:nvPr/>
        </p:nvPicPr>
        <p:blipFill>
          <a:blip r:embed="rId3">
            <a:alphaModFix/>
          </a:blip>
          <a:stretch>
            <a:fillRect/>
          </a:stretch>
        </p:blipFill>
        <p:spPr>
          <a:xfrm>
            <a:off x="5141825" y="914401"/>
            <a:ext cx="2626237" cy="38861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4" name="Google Shape;174;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Apa itu define?</a:t>
            </a:r>
            <a:endParaRPr/>
          </a:p>
        </p:txBody>
      </p:sp>
      <p:sp>
        <p:nvSpPr>
          <p:cNvPr id="175" name="Google Shape;175;p25"/>
          <p:cNvSpPr txBox="1"/>
          <p:nvPr/>
        </p:nvSpPr>
        <p:spPr>
          <a:xfrm>
            <a:off x="685800" y="1302825"/>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Contohnya gini~ </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Sabrina adalah seorang yang gemar ke toko buku Grameshe. Tapi, akhir-akhir ini, ia jadi malas ke toko buku tersebut. Tim UX toko buku Grameshe kemudian mewawancara Sabrina dan nanyain: “Why bestie kok sekarang jadi jarang ke toko buku?”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wawancara panjang lebar dan berhasil didapatkan berbagai keterangan dari Sabrina, dipetakan inti permasalahan bahwa </a:t>
            </a:r>
            <a:r>
              <a:rPr b="1" lang="en" sz="1000">
                <a:solidFill>
                  <a:schemeClr val="dk1"/>
                </a:solidFill>
                <a:latin typeface="Montserrat"/>
                <a:ea typeface="Montserrat"/>
                <a:cs typeface="Montserrat"/>
                <a:sym typeface="Montserrat"/>
              </a:rPr>
              <a:t>Sabrina malas ke toko buku Grameshe karena kebingungan mencari buku di rak.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proses desain atau pengembangan produk nantinya harus menjawab permasalahan Sabrina. Misal, </a:t>
            </a:r>
            <a:r>
              <a:rPr lang="en" sz="1000">
                <a:solidFill>
                  <a:schemeClr val="dk1"/>
                </a:solidFill>
                <a:latin typeface="Montserrat"/>
                <a:ea typeface="Montserrat"/>
                <a:cs typeface="Montserrat"/>
                <a:sym typeface="Montserrat"/>
              </a:rPr>
              <a:t>dengan menyusun rapi buku-buku sesuai kategori, dengan mengembangkan mesin pencari buku</a:t>
            </a:r>
            <a:r>
              <a:rPr lang="en" sz="1000">
                <a:solidFill>
                  <a:schemeClr val="dk1"/>
                </a:solidFill>
                <a:latin typeface="Montserrat"/>
                <a:ea typeface="Montserrat"/>
                <a:cs typeface="Montserrat"/>
                <a:sym typeface="Montserrat"/>
              </a:rPr>
              <a:t>, atau menyediakan buku versi e-book yang dapat diakses melalui smartphone.</a:t>
            </a:r>
            <a:endParaRPr b="1" sz="1000">
              <a:solidFill>
                <a:schemeClr val="dk1"/>
              </a:solidFill>
              <a:highlight>
                <a:srgbClr val="FFFF00"/>
              </a:highlight>
              <a:latin typeface="Montserrat"/>
              <a:ea typeface="Montserrat"/>
              <a:cs typeface="Montserrat"/>
              <a:sym typeface="Montserrat"/>
            </a:endParaRPr>
          </a:p>
        </p:txBody>
      </p:sp>
      <p:pic>
        <p:nvPicPr>
          <p:cNvPr id="176" name="Google Shape;176;p25"/>
          <p:cNvPicPr preferRelativeResize="0"/>
          <p:nvPr/>
        </p:nvPicPr>
        <p:blipFill>
          <a:blip r:embed="rId3">
            <a:alphaModFix/>
          </a:blip>
          <a:stretch>
            <a:fillRect/>
          </a:stretch>
        </p:blipFill>
        <p:spPr>
          <a:xfrm>
            <a:off x="6245075" y="1991067"/>
            <a:ext cx="2636099" cy="1936684"/>
          </a:xfrm>
          <a:prstGeom prst="rect">
            <a:avLst/>
          </a:prstGeom>
          <a:noFill/>
          <a:ln>
            <a:noFill/>
          </a:ln>
        </p:spPr>
      </p:pic>
      <p:pic>
        <p:nvPicPr>
          <p:cNvPr id="177" name="Google Shape;177;p25"/>
          <p:cNvPicPr preferRelativeResize="0"/>
          <p:nvPr/>
        </p:nvPicPr>
        <p:blipFill>
          <a:blip r:embed="rId4">
            <a:alphaModFix/>
          </a:blip>
          <a:stretch>
            <a:fillRect/>
          </a:stretch>
        </p:blipFill>
        <p:spPr>
          <a:xfrm>
            <a:off x="4724400" y="2473399"/>
            <a:ext cx="1482901" cy="23271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81" name="Shape 181"/>
        <p:cNvGrpSpPr/>
        <p:nvPr/>
      </p:nvGrpSpPr>
      <p:grpSpPr>
        <a:xfrm>
          <a:off x="0" y="0"/>
          <a:ext cx="0" cy="0"/>
          <a:chOff x="0" y="0"/>
          <a:chExt cx="0" cy="0"/>
        </a:xfrm>
      </p:grpSpPr>
      <p:sp>
        <p:nvSpPr>
          <p:cNvPr id="182" name="Google Shape;182;p26"/>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3" name="Google Shape;183;p26"/>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4" name="Google Shape;184;p2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5" name="Google Shape;185;p2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6" name="Google Shape;186;p26"/>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Mengapa fase defining penting?</a:t>
            </a:r>
            <a:endParaRPr b="1" sz="1200">
              <a:solidFill>
                <a:schemeClr val="lt1"/>
              </a:solidFill>
              <a:latin typeface="Montserrat"/>
              <a:ea typeface="Montserrat"/>
              <a:cs typeface="Montserrat"/>
              <a:sym typeface="Montserrat"/>
            </a:endParaRPr>
          </a:p>
        </p:txBody>
      </p:sp>
      <p:sp>
        <p:nvSpPr>
          <p:cNvPr id="187" name="Google Shape;187;p26"/>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88" name="Google Shape;188;p26"/>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189" name="Google Shape;189;p26"/>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190" name="Google Shape;190;p26"/>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91" name="Google Shape;191;p26"/>
          <p:cNvSpPr txBox="1"/>
          <p:nvPr/>
        </p:nvSpPr>
        <p:spPr>
          <a:xfrm>
            <a:off x="574800" y="1422288"/>
            <a:ext cx="4062300" cy="2298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Pernyataan masalah jadi arah dalam desain suatu produk.</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Makanya, </a:t>
            </a:r>
            <a:r>
              <a:rPr b="1" lang="en">
                <a:solidFill>
                  <a:schemeClr val="accent1"/>
                </a:solidFill>
                <a:latin typeface="Montserrat"/>
                <a:ea typeface="Montserrat"/>
                <a:cs typeface="Montserrat"/>
                <a:sym typeface="Montserrat"/>
              </a:rPr>
              <a:t>fase define itu penting banget.</a:t>
            </a:r>
            <a:r>
              <a:rPr b="1" lang="en">
                <a:solidFill>
                  <a:schemeClr val="lt1"/>
                </a:solidFill>
                <a:latin typeface="Montserrat"/>
                <a:ea typeface="Montserrat"/>
                <a:cs typeface="Montserrat"/>
                <a:sym typeface="Montserrat"/>
              </a:rPr>
              <a:t> Karena, di fase inilah pernyataan masalah itu disusun </a:t>
            </a:r>
            <a:r>
              <a:rPr b="1" lang="en">
                <a:solidFill>
                  <a:schemeClr val="lt1"/>
                </a:solidFill>
                <a:latin typeface="Montserrat"/>
                <a:ea typeface="Montserrat"/>
                <a:cs typeface="Montserrat"/>
                <a:sym typeface="Montserrat"/>
              </a:rPr>
              <a:t>untuk dianalisis, dan kemudian disintesis untuk ditemukan permasalahan inti</a:t>
            </a:r>
            <a:r>
              <a:rPr b="1" lang="en">
                <a:solidFill>
                  <a:schemeClr val="lt1"/>
                </a:solidFill>
                <a:latin typeface="Montserrat"/>
                <a:ea typeface="Montserrat"/>
                <a:cs typeface="Montserrat"/>
                <a:sym typeface="Montserrat"/>
              </a:rPr>
              <a:t>.</a:t>
            </a:r>
            <a:endParaRPr b="1">
              <a:solidFill>
                <a:schemeClr val="accent1"/>
              </a:solidFill>
              <a:latin typeface="Montserrat"/>
              <a:ea typeface="Montserrat"/>
              <a:cs typeface="Montserrat"/>
              <a:sym typeface="Montserrat"/>
            </a:endParaRPr>
          </a:p>
        </p:txBody>
      </p:sp>
      <p:sp>
        <p:nvSpPr>
          <p:cNvPr id="192" name="Google Shape;192;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93" name="Google Shape;193;p26"/>
          <p:cNvPicPr preferRelativeResize="0"/>
          <p:nvPr/>
        </p:nvPicPr>
        <p:blipFill>
          <a:blip r:embed="rId4">
            <a:alphaModFix/>
          </a:blip>
          <a:stretch>
            <a:fillRect/>
          </a:stretch>
        </p:blipFill>
        <p:spPr>
          <a:xfrm>
            <a:off x="4947950" y="917937"/>
            <a:ext cx="3229249" cy="38826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Mengapa fase defining penting?</a:t>
            </a:r>
            <a:endParaRPr/>
          </a:p>
        </p:txBody>
      </p:sp>
      <p:sp>
        <p:nvSpPr>
          <p:cNvPr id="200" name="Google Shape;200;p27"/>
          <p:cNvSpPr txBox="1"/>
          <p:nvPr/>
        </p:nvSpPr>
        <p:spPr>
          <a:xfrm>
            <a:off x="685800" y="1600200"/>
            <a:ext cx="39513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Kalo defining gagal, pernyataan masalah bakalan nggak tepat~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Ibarat kata pepatah: apa yang kita tanam, itu yang akan kita tuai.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Fase define menentukan gimana pernyataan masalah. </a:t>
            </a:r>
            <a:r>
              <a:rPr lang="en" sz="1000">
                <a:solidFill>
                  <a:schemeClr val="dk1"/>
                </a:solidFill>
                <a:latin typeface="Montserrat"/>
                <a:ea typeface="Montserrat"/>
                <a:cs typeface="Montserrat"/>
                <a:sym typeface="Montserrat"/>
              </a:rPr>
              <a:t>Artinya, kalo kita tidak berhasil menyortir, memilah, dan menganalisis data dengan baik, pernyataan masalah yang dihasilkan jadi nggak tepat. </a:t>
            </a:r>
            <a:endParaRPr sz="1000">
              <a:solidFill>
                <a:schemeClr val="dk1"/>
              </a:solidFill>
              <a:latin typeface="Montserrat"/>
              <a:ea typeface="Montserrat"/>
              <a:cs typeface="Montserrat"/>
              <a:sym typeface="Montserrat"/>
            </a:endParaRPr>
          </a:p>
        </p:txBody>
      </p:sp>
      <p:pic>
        <p:nvPicPr>
          <p:cNvPr id="201" name="Google Shape;201;p27"/>
          <p:cNvPicPr preferRelativeResize="0"/>
          <p:nvPr/>
        </p:nvPicPr>
        <p:blipFill>
          <a:blip r:embed="rId3">
            <a:alphaModFix/>
          </a:blip>
          <a:stretch>
            <a:fillRect/>
          </a:stretch>
        </p:blipFill>
        <p:spPr>
          <a:xfrm>
            <a:off x="4724400" y="1393752"/>
            <a:ext cx="3892198" cy="28830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Mengapa fase defining penting?</a:t>
            </a:r>
            <a:endParaRPr/>
          </a:p>
        </p:txBody>
      </p:sp>
      <p:sp>
        <p:nvSpPr>
          <p:cNvPr id="208" name="Google Shape;208;p28"/>
          <p:cNvSpPr txBox="1"/>
          <p:nvPr/>
        </p:nvSpPr>
        <p:spPr>
          <a:xfrm>
            <a:off x="685800" y="1496300"/>
            <a:ext cx="39513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Kalo pernyataan masalah nggak tepat, produk yang dihasilkan bisa ambyar~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Pernyataan masalah adalah artikulasi dari proses desain. Pernyataan masalah akan mengarahkan kita dalam proses desain dan membantu dalam fase selanjutnya, yaitu ideation.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Kalo pernyataan masalah nggak terpetakan dengan baik, maka akan sulit untuk mengetahui </a:t>
            </a:r>
            <a:r>
              <a:rPr lang="en" sz="1000">
                <a:solidFill>
                  <a:schemeClr val="dk1"/>
                </a:solidFill>
                <a:latin typeface="Montserrat"/>
                <a:ea typeface="Montserrat"/>
                <a:cs typeface="Montserrat"/>
                <a:sym typeface="Montserrat"/>
              </a:rPr>
              <a:t>apa yang kita tuju. Apa yang kita kerjakan juga nggak akan ada fokusnya, dan ujung-ujungnya produk yang dihasilkan nggak akan maksimal alias ambyar bestie~ </a:t>
            </a:r>
            <a:endParaRPr sz="1200">
              <a:solidFill>
                <a:schemeClr val="dk1"/>
              </a:solidFill>
              <a:latin typeface="Raleway Medium"/>
              <a:ea typeface="Raleway Medium"/>
              <a:cs typeface="Raleway Medium"/>
              <a:sym typeface="Raleway Medium"/>
            </a:endParaRPr>
          </a:p>
        </p:txBody>
      </p:sp>
      <p:pic>
        <p:nvPicPr>
          <p:cNvPr id="209" name="Google Shape;209;p28"/>
          <p:cNvPicPr preferRelativeResize="0"/>
          <p:nvPr/>
        </p:nvPicPr>
        <p:blipFill>
          <a:blip r:embed="rId3">
            <a:alphaModFix/>
          </a:blip>
          <a:stretch>
            <a:fillRect/>
          </a:stretch>
        </p:blipFill>
        <p:spPr>
          <a:xfrm>
            <a:off x="1669450" y="2053750"/>
            <a:ext cx="255900" cy="255900"/>
          </a:xfrm>
          <a:prstGeom prst="rect">
            <a:avLst/>
          </a:prstGeom>
          <a:noFill/>
          <a:ln>
            <a:noFill/>
          </a:ln>
        </p:spPr>
      </p:pic>
      <p:pic>
        <p:nvPicPr>
          <p:cNvPr id="210" name="Google Shape;210;p28"/>
          <p:cNvPicPr preferRelativeResize="0"/>
          <p:nvPr/>
        </p:nvPicPr>
        <p:blipFill>
          <a:blip r:embed="rId4">
            <a:alphaModFix/>
          </a:blip>
          <a:stretch>
            <a:fillRect/>
          </a:stretch>
        </p:blipFill>
        <p:spPr>
          <a:xfrm>
            <a:off x="5381975" y="914400"/>
            <a:ext cx="1948797" cy="388619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6" name="Google Shape;216;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Mengapa fase defining penting?</a:t>
            </a:r>
            <a:endParaRPr/>
          </a:p>
        </p:txBody>
      </p:sp>
      <p:sp>
        <p:nvSpPr>
          <p:cNvPr id="217" name="Google Shape;217;p29"/>
          <p:cNvSpPr txBox="1"/>
          <p:nvPr/>
        </p:nvSpPr>
        <p:spPr>
          <a:xfrm>
            <a:off x="685800" y="1351925"/>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Kayak contoh permasalahan Sabrina sama toko buku tadi. Dari pernyataan masalah, seharusnya tim desain menjawab permasalahan dengan menghadirkan beberapa alternatif solusi, yaitu menyusun rapi buku-buku sesuai kategori, mengembangkan mesin pencari buku, atau menyediakan buku versi e-book agar dapat </a:t>
            </a:r>
            <a:r>
              <a:rPr lang="en" sz="1000">
                <a:solidFill>
                  <a:schemeClr val="dk1"/>
                </a:solidFill>
                <a:latin typeface="Montserrat"/>
                <a:ea typeface="Montserrat"/>
                <a:cs typeface="Montserrat"/>
                <a:sym typeface="Montserrat"/>
              </a:rPr>
              <a:t>diakses dengan mudah melalui smartphone.</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Coba kalo pernyataan masalahnya nggak tepat? Alternatif solusi itu mungkin nggak akan muncul. </a:t>
            </a:r>
            <a:endParaRPr sz="1000">
              <a:solidFill>
                <a:schemeClr val="dk1"/>
              </a:solidFill>
              <a:latin typeface="Montserrat"/>
              <a:ea typeface="Montserrat"/>
              <a:cs typeface="Montserrat"/>
              <a:sym typeface="Montserrat"/>
            </a:endParaRPr>
          </a:p>
        </p:txBody>
      </p:sp>
      <p:pic>
        <p:nvPicPr>
          <p:cNvPr id="218" name="Google Shape;218;p29"/>
          <p:cNvPicPr preferRelativeResize="0"/>
          <p:nvPr/>
        </p:nvPicPr>
        <p:blipFill>
          <a:blip r:embed="rId3">
            <a:alphaModFix/>
          </a:blip>
          <a:stretch>
            <a:fillRect/>
          </a:stretch>
        </p:blipFill>
        <p:spPr>
          <a:xfrm>
            <a:off x="4724400" y="1298468"/>
            <a:ext cx="3892201" cy="309113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222" name="Shape 222"/>
        <p:cNvGrpSpPr/>
        <p:nvPr/>
      </p:nvGrpSpPr>
      <p:grpSpPr>
        <a:xfrm>
          <a:off x="0" y="0"/>
          <a:ext cx="0" cy="0"/>
          <a:chOff x="0" y="0"/>
          <a:chExt cx="0" cy="0"/>
        </a:xfrm>
      </p:grpSpPr>
      <p:sp>
        <p:nvSpPr>
          <p:cNvPr id="223" name="Google Shape;223;p30"/>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24" name="Google Shape;224;p30"/>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25" name="Google Shape;225;p30"/>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26" name="Google Shape;226;p30"/>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27" name="Google Shape;227;p30"/>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Kegiatan pada fase defining</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lt1"/>
              </a:solidFill>
              <a:latin typeface="Montserrat"/>
              <a:ea typeface="Montserrat"/>
              <a:cs typeface="Montserrat"/>
              <a:sym typeface="Montserrat"/>
            </a:endParaRPr>
          </a:p>
        </p:txBody>
      </p:sp>
      <p:sp>
        <p:nvSpPr>
          <p:cNvPr id="228" name="Google Shape;228;p30"/>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29" name="Google Shape;229;p30"/>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230" name="Google Shape;230;p30"/>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231" name="Google Shape;231;p30"/>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32" name="Google Shape;232;p30"/>
          <p:cNvSpPr txBox="1"/>
          <p:nvPr/>
        </p:nvSpPr>
        <p:spPr>
          <a:xfrm>
            <a:off x="574800" y="1671663"/>
            <a:ext cx="4062300" cy="2298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Jadi, udah jelas kan mengapa fase defining itu penting? </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Karena, defining yang baik akan menghasilkan pernyataan masalah yang tepat. Kalo pernyataan masalah tepat, produk yang dihasilkan juga bakalan tepat.</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Nah, buat nyusun pernyataan masalah yang tepat, ada cara-caranya nih, gengs!</a:t>
            </a:r>
            <a:endParaRPr b="1">
              <a:solidFill>
                <a:schemeClr val="lt1"/>
              </a:solidFill>
              <a:latin typeface="Montserrat"/>
              <a:ea typeface="Montserrat"/>
              <a:cs typeface="Montserrat"/>
              <a:sym typeface="Montserrat"/>
            </a:endParaRPr>
          </a:p>
        </p:txBody>
      </p:sp>
      <p:sp>
        <p:nvSpPr>
          <p:cNvPr id="233" name="Google Shape;233;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34" name="Google Shape;234;p30"/>
          <p:cNvPicPr preferRelativeResize="0"/>
          <p:nvPr/>
        </p:nvPicPr>
        <p:blipFill>
          <a:blip r:embed="rId4">
            <a:alphaModFix/>
          </a:blip>
          <a:stretch>
            <a:fillRect/>
          </a:stretch>
        </p:blipFill>
        <p:spPr>
          <a:xfrm>
            <a:off x="5173738" y="914400"/>
            <a:ext cx="2658889" cy="3886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0" name="Google Shape;240;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
                <a:latin typeface="Montserrat"/>
                <a:ea typeface="Montserrat"/>
                <a:cs typeface="Montserrat"/>
                <a:sym typeface="Montserrat"/>
              </a:rPr>
              <a:t>Kegiatan pada fase defining</a:t>
            </a:r>
            <a:endParaRPr>
              <a:latin typeface="Montserrat"/>
              <a:ea typeface="Montserrat"/>
              <a:cs typeface="Montserrat"/>
              <a:sym typeface="Montserrat"/>
            </a:endParaRPr>
          </a:p>
          <a:p>
            <a:pPr indent="0" lvl="0" marL="0" rtl="0" algn="l">
              <a:spcBef>
                <a:spcPts val="0"/>
              </a:spcBef>
              <a:spcAft>
                <a:spcPts val="0"/>
              </a:spcAft>
              <a:buNone/>
            </a:pPr>
            <a:r>
              <a:t/>
            </a:r>
            <a:endParaRPr/>
          </a:p>
        </p:txBody>
      </p:sp>
      <p:sp>
        <p:nvSpPr>
          <p:cNvPr id="241" name="Google Shape;241;p31"/>
          <p:cNvSpPr txBox="1"/>
          <p:nvPr/>
        </p:nvSpPr>
        <p:spPr>
          <a:xfrm>
            <a:off x="685800" y="152052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Penyusunan pernyataan masalah adalah kegiatan utama pada fase define.</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Pokoknya kamu harus ingat baik-baik ya, kegiatan utama pada fase define adalah menyusun pernyataan masalah.</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b="1" lang="en" sz="1000">
                <a:solidFill>
                  <a:schemeClr val="accent1"/>
                </a:solidFill>
                <a:latin typeface="Montserrat"/>
                <a:ea typeface="Montserrat"/>
                <a:cs typeface="Montserrat"/>
                <a:sym typeface="Montserrat"/>
              </a:rPr>
              <a:t>Terus, gimana sih cara menyusun pernyataan masalah? Simak tips-tips berikut ini ya bestie~</a:t>
            </a:r>
            <a:endParaRPr sz="1000">
              <a:solidFill>
                <a:schemeClr val="dk1"/>
              </a:solidFill>
              <a:latin typeface="Montserrat"/>
              <a:ea typeface="Montserrat"/>
              <a:cs typeface="Montserrat"/>
              <a:sym typeface="Montserrat"/>
            </a:endParaRPr>
          </a:p>
        </p:txBody>
      </p:sp>
      <p:pic>
        <p:nvPicPr>
          <p:cNvPr id="242" name="Google Shape;242;p31"/>
          <p:cNvPicPr preferRelativeResize="0"/>
          <p:nvPr/>
        </p:nvPicPr>
        <p:blipFill>
          <a:blip r:embed="rId3">
            <a:alphaModFix/>
          </a:blip>
          <a:stretch>
            <a:fillRect/>
          </a:stretch>
        </p:blipFill>
        <p:spPr>
          <a:xfrm>
            <a:off x="5062301" y="914400"/>
            <a:ext cx="2960201" cy="388619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8" name="Google Shape;248;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
                <a:latin typeface="Montserrat"/>
                <a:ea typeface="Montserrat"/>
                <a:cs typeface="Montserrat"/>
                <a:sym typeface="Montserrat"/>
              </a:rPr>
              <a:t>Kegiatan pada fase defining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grpSp>
        <p:nvGrpSpPr>
          <p:cNvPr id="249" name="Google Shape;249;p32"/>
          <p:cNvGrpSpPr/>
          <p:nvPr/>
        </p:nvGrpSpPr>
        <p:grpSpPr>
          <a:xfrm>
            <a:off x="3446078" y="1099614"/>
            <a:ext cx="2251847" cy="3393161"/>
            <a:chOff x="3071457" y="2013875"/>
            <a:chExt cx="1944600" cy="1569600"/>
          </a:xfrm>
        </p:grpSpPr>
        <p:sp>
          <p:nvSpPr>
            <p:cNvPr id="250" name="Google Shape;250;p32"/>
            <p:cNvSpPr/>
            <p:nvPr/>
          </p:nvSpPr>
          <p:spPr>
            <a:xfrm flipH="1" rot="10800000">
              <a:off x="3071457" y="2013875"/>
              <a:ext cx="1944600" cy="1569600"/>
            </a:xfrm>
            <a:prstGeom prst="round2DiagRect">
              <a:avLst>
                <a:gd fmla="val 0" name="adj1"/>
                <a:gd fmla="val 17764" name="adj2"/>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251" name="Google Shape;251;p32"/>
            <p:cNvSpPr txBox="1"/>
            <p:nvPr/>
          </p:nvSpPr>
          <p:spPr>
            <a:xfrm>
              <a:off x="3316107" y="2122781"/>
              <a:ext cx="1632000" cy="2562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accent1"/>
                  </a:solidFill>
                  <a:latin typeface="Montserrat"/>
                  <a:ea typeface="Montserrat"/>
                  <a:cs typeface="Montserrat"/>
                  <a:sym typeface="Montserrat"/>
                </a:rPr>
                <a:t>Buatlah pernyataan yang luas</a:t>
              </a:r>
              <a:endParaRPr b="1" sz="1200">
                <a:solidFill>
                  <a:schemeClr val="accent1"/>
                </a:solidFill>
                <a:latin typeface="Montserrat"/>
                <a:ea typeface="Montserrat"/>
                <a:cs typeface="Montserrat"/>
                <a:sym typeface="Montserrat"/>
              </a:endParaRPr>
            </a:p>
          </p:txBody>
        </p:sp>
        <p:sp>
          <p:nvSpPr>
            <p:cNvPr id="252" name="Google Shape;252;p32"/>
            <p:cNvSpPr txBox="1"/>
            <p:nvPr/>
          </p:nvSpPr>
          <p:spPr>
            <a:xfrm>
              <a:off x="3316107" y="2358800"/>
              <a:ext cx="1473000" cy="8118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000">
                  <a:solidFill>
                    <a:srgbClr val="FFFFFF"/>
                  </a:solidFill>
                  <a:latin typeface="Montserrat"/>
                  <a:ea typeface="Montserrat"/>
                  <a:cs typeface="Montserrat"/>
                  <a:sym typeface="Montserrat"/>
                </a:rPr>
                <a:t>Pernyataan masalah yang baik menyisakan ruang untuk inovasi dan kebebasan kreatif. Penting untuk membuatnya cukup luas agar mengundang berbagai ide yang berbeda.</a:t>
              </a:r>
              <a:endParaRPr sz="1000">
                <a:solidFill>
                  <a:srgbClr val="FFFFFF"/>
                </a:solidFill>
                <a:latin typeface="Montserrat"/>
                <a:ea typeface="Montserrat"/>
                <a:cs typeface="Montserrat"/>
                <a:sym typeface="Montserrat"/>
              </a:endParaRPr>
            </a:p>
          </p:txBody>
        </p:sp>
      </p:grpSp>
      <p:grpSp>
        <p:nvGrpSpPr>
          <p:cNvPr id="253" name="Google Shape;253;p32"/>
          <p:cNvGrpSpPr/>
          <p:nvPr/>
        </p:nvGrpSpPr>
        <p:grpSpPr>
          <a:xfrm>
            <a:off x="1055573" y="1099618"/>
            <a:ext cx="2390497" cy="3598685"/>
            <a:chOff x="1126863" y="2013875"/>
            <a:chExt cx="1944600" cy="1664671"/>
          </a:xfrm>
        </p:grpSpPr>
        <p:sp>
          <p:nvSpPr>
            <p:cNvPr id="254" name="Google Shape;254;p32"/>
            <p:cNvSpPr/>
            <p:nvPr/>
          </p:nvSpPr>
          <p:spPr>
            <a:xfrm>
              <a:off x="1126863" y="2013875"/>
              <a:ext cx="1944600" cy="1569600"/>
            </a:xfrm>
            <a:prstGeom prst="round2DiagRect">
              <a:avLst>
                <a:gd fmla="val 0" name="adj1"/>
                <a:gd fmla="val 17764" name="adj2"/>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255" name="Google Shape;255;p32"/>
            <p:cNvSpPr txBox="1"/>
            <p:nvPr/>
          </p:nvSpPr>
          <p:spPr>
            <a:xfrm>
              <a:off x="1351627" y="2124400"/>
              <a:ext cx="1451700" cy="25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accent1"/>
                  </a:solidFill>
                  <a:latin typeface="Montserrat"/>
                  <a:ea typeface="Montserrat"/>
                  <a:cs typeface="Montserrat"/>
                  <a:sym typeface="Montserrat"/>
                </a:rPr>
                <a:t>Fokus pada pengguna</a:t>
              </a:r>
              <a:endParaRPr b="1" sz="1100">
                <a:solidFill>
                  <a:srgbClr val="FFFFFF"/>
                </a:solidFill>
                <a:latin typeface="Raleway"/>
                <a:ea typeface="Raleway"/>
                <a:cs typeface="Raleway"/>
                <a:sym typeface="Raleway"/>
              </a:endParaRPr>
            </a:p>
          </p:txBody>
        </p:sp>
        <p:sp>
          <p:nvSpPr>
            <p:cNvPr id="256" name="Google Shape;256;p32"/>
            <p:cNvSpPr txBox="1"/>
            <p:nvPr/>
          </p:nvSpPr>
          <p:spPr>
            <a:xfrm>
              <a:off x="1351626" y="2358846"/>
              <a:ext cx="1488300" cy="131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lt1"/>
                  </a:solidFill>
                  <a:latin typeface="Montserrat"/>
                  <a:ea typeface="Montserrat"/>
                  <a:cs typeface="Montserrat"/>
                  <a:sym typeface="Montserrat"/>
                </a:rPr>
                <a:t>Pengguna dan kebutuhan mereka harus berada di depan dan di tengah pernyataan masalah. Hindari pernyataan yang dimulai dengan “kita perlu…” atau “produk harus”, Tapi, berkonsentrasilah pada perspektif pengguna, seperti “Pegawai swasta yang bekerja membutuhkan…”</a:t>
              </a:r>
              <a:endParaRPr sz="1000">
                <a:solidFill>
                  <a:schemeClr val="lt1"/>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1050">
                <a:solidFill>
                  <a:srgbClr val="FFFFFF"/>
                </a:solidFill>
                <a:latin typeface="Raleway"/>
                <a:ea typeface="Raleway"/>
                <a:cs typeface="Raleway"/>
                <a:sym typeface="Raleway"/>
              </a:endParaRPr>
            </a:p>
          </p:txBody>
        </p:sp>
      </p:grpSp>
      <p:grpSp>
        <p:nvGrpSpPr>
          <p:cNvPr id="257" name="Google Shape;257;p32"/>
          <p:cNvGrpSpPr/>
          <p:nvPr/>
        </p:nvGrpSpPr>
        <p:grpSpPr>
          <a:xfrm>
            <a:off x="5697926" y="1099614"/>
            <a:ext cx="2390456" cy="3393161"/>
            <a:chOff x="5015938" y="2013875"/>
            <a:chExt cx="3001200" cy="1569600"/>
          </a:xfrm>
        </p:grpSpPr>
        <p:sp>
          <p:nvSpPr>
            <p:cNvPr id="258" name="Google Shape;258;p32"/>
            <p:cNvSpPr/>
            <p:nvPr/>
          </p:nvSpPr>
          <p:spPr>
            <a:xfrm>
              <a:off x="5015938" y="2013875"/>
              <a:ext cx="3001200" cy="1569600"/>
            </a:xfrm>
            <a:prstGeom prst="round2DiagRect">
              <a:avLst>
                <a:gd fmla="val 0" name="adj1"/>
                <a:gd fmla="val 17764" name="adj2"/>
              </a:avLst>
            </a:prstGeom>
            <a:solidFill>
              <a:srgbClr val="5E2B6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p:txBody>
        </p:sp>
        <p:sp>
          <p:nvSpPr>
            <p:cNvPr id="259" name="Google Shape;259;p32"/>
            <p:cNvSpPr txBox="1"/>
            <p:nvPr/>
          </p:nvSpPr>
          <p:spPr>
            <a:xfrm>
              <a:off x="5360226" y="2122782"/>
              <a:ext cx="2417100" cy="25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accent1"/>
                  </a:solidFill>
                  <a:latin typeface="Montserrat"/>
                  <a:ea typeface="Montserrat"/>
                  <a:cs typeface="Montserrat"/>
                  <a:sym typeface="Montserrat"/>
                </a:rPr>
                <a:t>Buatlah pernyataan yang tujuannya jelas</a:t>
              </a:r>
              <a:endParaRPr b="1" sz="1200">
                <a:solidFill>
                  <a:schemeClr val="accent1"/>
                </a:solidFill>
                <a:latin typeface="Montserrat"/>
                <a:ea typeface="Montserrat"/>
                <a:cs typeface="Montserrat"/>
                <a:sym typeface="Montserrat"/>
              </a:endParaRPr>
            </a:p>
          </p:txBody>
        </p:sp>
        <p:sp>
          <p:nvSpPr>
            <p:cNvPr id="260" name="Google Shape;260;p32"/>
            <p:cNvSpPr txBox="1"/>
            <p:nvPr/>
          </p:nvSpPr>
          <p:spPr>
            <a:xfrm>
              <a:off x="5360223" y="2358754"/>
              <a:ext cx="2417100" cy="53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Montserrat"/>
                  <a:ea typeface="Montserrat"/>
                  <a:cs typeface="Montserrat"/>
                  <a:sym typeface="Montserrat"/>
                </a:rPr>
                <a:t>P</a:t>
              </a:r>
              <a:r>
                <a:rPr lang="en" sz="1000">
                  <a:solidFill>
                    <a:srgbClr val="FFFFFF"/>
                  </a:solidFill>
                  <a:latin typeface="Montserrat"/>
                  <a:ea typeface="Montserrat"/>
                  <a:cs typeface="Montserrat"/>
                  <a:sym typeface="Montserrat"/>
                </a:rPr>
                <a:t>ernyataan masalah harus dapat memberikan arahan yang jelas. Kalo terlalu luas, kita akan kesulitan untuk mencapai tujuan. Jadi, jangan menjawab terlalu banyak hal dalam satu pernyataan masalah. Prioritaskan dan bingkai masalah dengan proporsional.</a:t>
              </a:r>
              <a:endParaRPr sz="1000">
                <a:solidFill>
                  <a:srgbClr val="FFFFFF"/>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1000">
                <a:solidFill>
                  <a:srgbClr val="FFFFFF"/>
                </a:solidFill>
                <a:latin typeface="Montserrat"/>
                <a:ea typeface="Montserrat"/>
                <a:cs typeface="Montserrat"/>
                <a:sym typeface="Montserrat"/>
              </a:endParaRPr>
            </a:p>
          </p:txBody>
        </p:sp>
      </p:grpSp>
      <p:grpSp>
        <p:nvGrpSpPr>
          <p:cNvPr id="261" name="Google Shape;261;p32"/>
          <p:cNvGrpSpPr/>
          <p:nvPr/>
        </p:nvGrpSpPr>
        <p:grpSpPr>
          <a:xfrm>
            <a:off x="5196344" y="1845200"/>
            <a:ext cx="261571" cy="282492"/>
            <a:chOff x="4858109" y="2631368"/>
            <a:chExt cx="316442" cy="315000"/>
          </a:xfrm>
        </p:grpSpPr>
        <p:sp>
          <p:nvSpPr>
            <p:cNvPr id="262" name="Google Shape;262;p32"/>
            <p:cNvSpPr/>
            <p:nvPr/>
          </p:nvSpPr>
          <p:spPr>
            <a:xfrm>
              <a:off x="4859551" y="2631368"/>
              <a:ext cx="315000" cy="3150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263" name="Google Shape;263;p32"/>
            <p:cNvSpPr/>
            <p:nvPr/>
          </p:nvSpPr>
          <p:spPr>
            <a:xfrm>
              <a:off x="4858109" y="2739300"/>
              <a:ext cx="239100" cy="99000"/>
            </a:xfrm>
            <a:prstGeom prst="rightArrow">
              <a:avLst>
                <a:gd fmla="val 32020" name="adj1"/>
                <a:gd fmla="val 66970" name="adj2"/>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n">
                  <a:latin typeface="Raleway"/>
                  <a:ea typeface="Raleway"/>
                  <a:cs typeface="Raleway"/>
                  <a:sym typeface="Raleway"/>
                </a:rPr>
              </a:br>
              <a:endParaRPr>
                <a:latin typeface="Raleway"/>
                <a:ea typeface="Raleway"/>
                <a:cs typeface="Raleway"/>
                <a:sym typeface="Raleway"/>
              </a:endParaRPr>
            </a:p>
          </p:txBody>
        </p:sp>
      </p:grpSp>
      <p:grpSp>
        <p:nvGrpSpPr>
          <p:cNvPr id="264" name="Google Shape;264;p32"/>
          <p:cNvGrpSpPr/>
          <p:nvPr/>
        </p:nvGrpSpPr>
        <p:grpSpPr>
          <a:xfrm>
            <a:off x="3024478" y="1845248"/>
            <a:ext cx="260366" cy="282475"/>
            <a:chOff x="3157188" y="909150"/>
            <a:chExt cx="470400" cy="470400"/>
          </a:xfrm>
        </p:grpSpPr>
        <p:sp>
          <p:nvSpPr>
            <p:cNvPr id="265" name="Google Shape;265;p32"/>
            <p:cNvSpPr/>
            <p:nvPr/>
          </p:nvSpPr>
          <p:spPr>
            <a:xfrm>
              <a:off x="3157188" y="909150"/>
              <a:ext cx="470400" cy="4704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266" name="Google Shape;266;p32"/>
            <p:cNvSpPr/>
            <p:nvPr/>
          </p:nvSpPr>
          <p:spPr>
            <a:xfrm>
              <a:off x="3243138" y="995100"/>
              <a:ext cx="298500" cy="298500"/>
            </a:xfrm>
            <a:prstGeom prst="mathPlus">
              <a:avLst>
                <a:gd fmla="val 9900" name="adj1"/>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2" name="Google Shape;272;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
                <a:latin typeface="Montserrat"/>
                <a:ea typeface="Montserrat"/>
                <a:cs typeface="Montserrat"/>
                <a:sym typeface="Montserrat"/>
              </a:rPr>
              <a:t>Kegiatan pada fase defining</a:t>
            </a:r>
            <a:endParaRPr>
              <a:latin typeface="Montserrat"/>
              <a:ea typeface="Montserrat"/>
              <a:cs typeface="Montserrat"/>
              <a:sym typeface="Montserrat"/>
            </a:endParaRPr>
          </a:p>
          <a:p>
            <a:pPr indent="0" lvl="0" marL="0" rtl="0" algn="l">
              <a:spcBef>
                <a:spcPts val="0"/>
              </a:spcBef>
              <a:spcAft>
                <a:spcPts val="0"/>
              </a:spcAft>
              <a:buNone/>
            </a:pPr>
            <a:r>
              <a:t/>
            </a:r>
            <a:endParaRPr/>
          </a:p>
        </p:txBody>
      </p:sp>
      <p:sp>
        <p:nvSpPr>
          <p:cNvPr id="273" name="Google Shape;273;p33"/>
          <p:cNvSpPr txBox="1"/>
          <p:nvPr/>
        </p:nvSpPr>
        <p:spPr>
          <a:xfrm>
            <a:off x="685800" y="13672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Kalo tadi kita udah bahas tipsnya, sekarang kita bahas tekniknya yaa~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Teknik yang digunakan untuk menyusun pernyataan masalah adalah dengan </a:t>
            </a:r>
            <a:r>
              <a:rPr b="1" lang="en" sz="1000">
                <a:solidFill>
                  <a:schemeClr val="dk1"/>
                </a:solidFill>
                <a:latin typeface="Montserrat"/>
                <a:ea typeface="Montserrat"/>
                <a:cs typeface="Montserrat"/>
                <a:sym typeface="Montserrat"/>
              </a:rPr>
              <a:t>mengajukan pertanyaan.</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Mengajukan pertanyaan yang tepat akan membantu kita mencapai pernyataan masalah yang tepat.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Tekniknya ada dua nih, gaes~ Yaitu </a:t>
            </a:r>
            <a:r>
              <a:rPr b="1" lang="en" sz="1000">
                <a:solidFill>
                  <a:schemeClr val="dk1"/>
                </a:solidFill>
                <a:latin typeface="Montserrat"/>
                <a:ea typeface="Montserrat"/>
                <a:cs typeface="Montserrat"/>
                <a:sym typeface="Montserrat"/>
              </a:rPr>
              <a:t>the four W’s </a:t>
            </a:r>
            <a:r>
              <a:rPr lang="en" sz="1000">
                <a:solidFill>
                  <a:schemeClr val="dk1"/>
                </a:solidFill>
                <a:latin typeface="Montserrat"/>
                <a:ea typeface="Montserrat"/>
                <a:cs typeface="Montserrat"/>
                <a:sym typeface="Montserrat"/>
              </a:rPr>
              <a:t>dan </a:t>
            </a:r>
            <a:r>
              <a:rPr b="1" lang="en" sz="1000">
                <a:solidFill>
                  <a:schemeClr val="dk1"/>
                </a:solidFill>
                <a:latin typeface="Montserrat"/>
                <a:ea typeface="Montserrat"/>
                <a:cs typeface="Montserrat"/>
                <a:sym typeface="Montserrat"/>
              </a:rPr>
              <a:t>the five whys.</a:t>
            </a:r>
            <a:endParaRPr b="1" sz="1000">
              <a:solidFill>
                <a:schemeClr val="dk1"/>
              </a:solidFill>
              <a:latin typeface="Montserrat"/>
              <a:ea typeface="Montserrat"/>
              <a:cs typeface="Montserrat"/>
              <a:sym typeface="Montserrat"/>
            </a:endParaRPr>
          </a:p>
        </p:txBody>
      </p:sp>
      <p:pic>
        <p:nvPicPr>
          <p:cNvPr id="274" name="Google Shape;274;p33"/>
          <p:cNvPicPr preferRelativeResize="0"/>
          <p:nvPr/>
        </p:nvPicPr>
        <p:blipFill>
          <a:blip r:embed="rId3">
            <a:alphaModFix/>
          </a:blip>
          <a:stretch>
            <a:fillRect/>
          </a:stretch>
        </p:blipFill>
        <p:spPr>
          <a:xfrm>
            <a:off x="4724400" y="1027544"/>
            <a:ext cx="3892199" cy="362065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t/>
            </a:r>
            <a:endParaRPr>
              <a:latin typeface="Montserrat"/>
              <a:ea typeface="Montserrat"/>
              <a:cs typeface="Montserrat"/>
              <a:sym typeface="Montserrat"/>
            </a:endParaRPr>
          </a:p>
          <a:p>
            <a:pPr indent="0" lvl="0" marL="0" rtl="0" algn="l">
              <a:lnSpc>
                <a:spcPct val="115000"/>
              </a:lnSpc>
              <a:spcBef>
                <a:spcPts val="0"/>
              </a:spcBef>
              <a:spcAft>
                <a:spcPts val="0"/>
              </a:spcAft>
              <a:buNone/>
            </a:pPr>
            <a:r>
              <a:rPr lang="en">
                <a:latin typeface="Montserrat"/>
                <a:ea typeface="Montserrat"/>
                <a:cs typeface="Montserrat"/>
                <a:sym typeface="Montserrat"/>
              </a:rPr>
              <a:t>Kegiatan pada fase defining</a:t>
            </a:r>
            <a:endParaRPr>
              <a:latin typeface="Montserrat"/>
              <a:ea typeface="Montserrat"/>
              <a:cs typeface="Montserrat"/>
              <a:sym typeface="Montserrat"/>
            </a:endParaRPr>
          </a:p>
          <a:p>
            <a:pPr indent="0" lvl="0" marL="0" rtl="0" algn="l">
              <a:spcBef>
                <a:spcPts val="0"/>
              </a:spcBef>
              <a:spcAft>
                <a:spcPts val="0"/>
              </a:spcAft>
              <a:buNone/>
            </a:pPr>
            <a:r>
              <a:t/>
            </a:r>
            <a:endParaRPr/>
          </a:p>
        </p:txBody>
      </p:sp>
      <p:sp>
        <p:nvSpPr>
          <p:cNvPr id="281" name="Google Shape;281;p34"/>
          <p:cNvSpPr txBox="1"/>
          <p:nvPr/>
        </p:nvSpPr>
        <p:spPr>
          <a:xfrm>
            <a:off x="685800" y="14478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Teknik the four W’s.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Teknik ini berfokus pada empat pertanyaan, yaitu </a:t>
            </a:r>
            <a:r>
              <a:rPr b="1" lang="en" sz="1000">
                <a:solidFill>
                  <a:schemeClr val="dk1"/>
                </a:solidFill>
                <a:latin typeface="Montserrat"/>
                <a:ea typeface="Montserrat"/>
                <a:cs typeface="Montserrat"/>
                <a:sym typeface="Montserrat"/>
              </a:rPr>
              <a:t>siapa (Who), apa (What), dimana (Where), </a:t>
            </a:r>
            <a:r>
              <a:rPr lang="en" sz="1000">
                <a:solidFill>
                  <a:schemeClr val="dk1"/>
                </a:solidFill>
                <a:latin typeface="Montserrat"/>
                <a:ea typeface="Montserrat"/>
                <a:cs typeface="Montserrat"/>
                <a:sym typeface="Montserrat"/>
              </a:rPr>
              <a:t>dan </a:t>
            </a:r>
            <a:r>
              <a:rPr b="1" lang="en" sz="1000">
                <a:solidFill>
                  <a:schemeClr val="dk1"/>
                </a:solidFill>
                <a:latin typeface="Montserrat"/>
                <a:ea typeface="Montserrat"/>
                <a:cs typeface="Montserrat"/>
                <a:sym typeface="Montserrat"/>
              </a:rPr>
              <a:t>mengapa (Why).</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Jadi, setelah kita menemukan data-data pada fase empati, selanjutnya kita dapat memilah data-data tersebut berdasarkan empat pertanyaan.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Buat lebih detail, cek di halaman selanjutnya yaa~</a:t>
            </a:r>
            <a:endParaRPr sz="1000">
              <a:solidFill>
                <a:schemeClr val="dk1"/>
              </a:solidFill>
              <a:latin typeface="Montserrat"/>
              <a:ea typeface="Montserrat"/>
              <a:cs typeface="Montserrat"/>
              <a:sym typeface="Montserrat"/>
            </a:endParaRPr>
          </a:p>
        </p:txBody>
      </p:sp>
      <p:pic>
        <p:nvPicPr>
          <p:cNvPr id="282" name="Google Shape;282;p34"/>
          <p:cNvPicPr preferRelativeResize="0"/>
          <p:nvPr/>
        </p:nvPicPr>
        <p:blipFill>
          <a:blip r:embed="rId3">
            <a:alphaModFix/>
          </a:blip>
          <a:stretch>
            <a:fillRect/>
          </a:stretch>
        </p:blipFill>
        <p:spPr>
          <a:xfrm>
            <a:off x="4897550" y="914400"/>
            <a:ext cx="3279014" cy="38861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8" name="Google Shape;288;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
                <a:latin typeface="Montserrat"/>
                <a:ea typeface="Montserrat"/>
                <a:cs typeface="Montserrat"/>
                <a:sym typeface="Montserrat"/>
              </a:rPr>
              <a:t>Kegiatan pada fase defining</a:t>
            </a:r>
            <a:endParaRPr>
              <a:latin typeface="Montserrat"/>
              <a:ea typeface="Montserrat"/>
              <a:cs typeface="Montserrat"/>
              <a:sym typeface="Montserrat"/>
            </a:endParaRPr>
          </a:p>
          <a:p>
            <a:pPr indent="0" lvl="0" marL="0" rtl="0" algn="l">
              <a:spcBef>
                <a:spcPts val="0"/>
              </a:spcBef>
              <a:spcAft>
                <a:spcPts val="0"/>
              </a:spcAft>
              <a:buNone/>
            </a:pPr>
            <a:r>
              <a:t/>
            </a:r>
            <a:endParaRPr/>
          </a:p>
        </p:txBody>
      </p:sp>
      <p:grpSp>
        <p:nvGrpSpPr>
          <p:cNvPr id="289" name="Google Shape;289;p35"/>
          <p:cNvGrpSpPr/>
          <p:nvPr/>
        </p:nvGrpSpPr>
        <p:grpSpPr>
          <a:xfrm>
            <a:off x="1245319" y="1134493"/>
            <a:ext cx="6653363" cy="856319"/>
            <a:chOff x="1894316" y="2322558"/>
            <a:chExt cx="5656659" cy="643510"/>
          </a:xfrm>
        </p:grpSpPr>
        <p:sp>
          <p:nvSpPr>
            <p:cNvPr id="290" name="Google Shape;290;p35"/>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5"/>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5"/>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5"/>
            <p:cNvSpPr/>
            <p:nvPr/>
          </p:nvSpPr>
          <p:spPr>
            <a:xfrm>
              <a:off x="2045375" y="239592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FFFFFF"/>
                  </a:solidFill>
                  <a:latin typeface="Montserrat"/>
                  <a:ea typeface="Montserrat"/>
                  <a:cs typeface="Montserrat"/>
                  <a:sym typeface="Montserrat"/>
                </a:rPr>
                <a:t>Siapa yang mengalami masalah? </a:t>
              </a:r>
              <a:endParaRPr b="1" sz="1000">
                <a:solidFill>
                  <a:srgbClr val="FFFFFF"/>
                </a:solidFill>
                <a:latin typeface="Montserrat"/>
                <a:ea typeface="Montserrat"/>
                <a:cs typeface="Montserrat"/>
                <a:sym typeface="Montserrat"/>
              </a:endParaRPr>
            </a:p>
          </p:txBody>
        </p:sp>
        <p:sp>
          <p:nvSpPr>
            <p:cNvPr id="294" name="Google Shape;294;p35"/>
            <p:cNvSpPr/>
            <p:nvPr/>
          </p:nvSpPr>
          <p:spPr>
            <a:xfrm>
              <a:off x="4121493" y="2323747"/>
              <a:ext cx="3118800" cy="6423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n" sz="1000">
                  <a:solidFill>
                    <a:schemeClr val="lt1"/>
                  </a:solidFill>
                  <a:latin typeface="Montserrat"/>
                  <a:ea typeface="Montserrat"/>
                  <a:cs typeface="Montserrat"/>
                  <a:sym typeface="Montserrat"/>
                </a:rPr>
                <a:t>Dengan kata lain, siapa pengguna target kita; siapa yang akan menjadi fokus pernyataan masalah?</a:t>
              </a:r>
              <a:endParaRPr sz="1000">
                <a:solidFill>
                  <a:srgbClr val="A72A1E"/>
                </a:solidFill>
                <a:latin typeface="Montserrat"/>
                <a:ea typeface="Montserrat"/>
                <a:cs typeface="Montserrat"/>
                <a:sym typeface="Montserrat"/>
              </a:endParaRPr>
            </a:p>
          </p:txBody>
        </p:sp>
      </p:grpSp>
      <p:grpSp>
        <p:nvGrpSpPr>
          <p:cNvPr id="295" name="Google Shape;295;p35"/>
          <p:cNvGrpSpPr/>
          <p:nvPr/>
        </p:nvGrpSpPr>
        <p:grpSpPr>
          <a:xfrm>
            <a:off x="1245319" y="2847120"/>
            <a:ext cx="6653363" cy="856319"/>
            <a:chOff x="1894316" y="2322558"/>
            <a:chExt cx="5656659" cy="643510"/>
          </a:xfrm>
        </p:grpSpPr>
        <p:sp>
          <p:nvSpPr>
            <p:cNvPr id="296" name="Google Shape;296;p35"/>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5"/>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5"/>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5"/>
            <p:cNvSpPr/>
            <p:nvPr/>
          </p:nvSpPr>
          <p:spPr>
            <a:xfrm>
              <a:off x="2045375" y="2396369"/>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FFFFFF"/>
                  </a:solidFill>
                  <a:latin typeface="Montserrat"/>
                  <a:ea typeface="Montserrat"/>
                  <a:cs typeface="Montserrat"/>
                  <a:sym typeface="Montserrat"/>
                </a:rPr>
                <a:t>Dimana masalah muncul?</a:t>
              </a:r>
              <a:endParaRPr b="1" sz="1000">
                <a:solidFill>
                  <a:srgbClr val="FFFFFF"/>
                </a:solidFill>
                <a:latin typeface="Montserrat"/>
                <a:ea typeface="Montserrat"/>
                <a:cs typeface="Montserrat"/>
                <a:sym typeface="Montserrat"/>
              </a:endParaRPr>
            </a:p>
          </p:txBody>
        </p:sp>
        <p:sp>
          <p:nvSpPr>
            <p:cNvPr id="300" name="Google Shape;300;p35"/>
            <p:cNvSpPr/>
            <p:nvPr/>
          </p:nvSpPr>
          <p:spPr>
            <a:xfrm>
              <a:off x="4128720" y="2323745"/>
              <a:ext cx="3129300" cy="6423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n" sz="1000">
                  <a:solidFill>
                    <a:schemeClr val="lt1"/>
                  </a:solidFill>
                  <a:latin typeface="Montserrat"/>
                  <a:ea typeface="Montserrat"/>
                  <a:cs typeface="Montserrat"/>
                  <a:sym typeface="Montserrat"/>
                </a:rPr>
                <a:t>Dalam ruang apa (fisik atau digital), situasi atau konteks pengguna ketika mereka menghadapi masalah? Apakah ada orang lain yang terlibat?</a:t>
              </a:r>
              <a:endParaRPr sz="1000">
                <a:solidFill>
                  <a:srgbClr val="A72A1E"/>
                </a:solidFill>
                <a:latin typeface="Montserrat"/>
                <a:ea typeface="Montserrat"/>
                <a:cs typeface="Montserrat"/>
                <a:sym typeface="Montserrat"/>
              </a:endParaRPr>
            </a:p>
          </p:txBody>
        </p:sp>
      </p:grpSp>
      <p:grpSp>
        <p:nvGrpSpPr>
          <p:cNvPr id="301" name="Google Shape;301;p35"/>
          <p:cNvGrpSpPr/>
          <p:nvPr/>
        </p:nvGrpSpPr>
        <p:grpSpPr>
          <a:xfrm>
            <a:off x="1245319" y="3703459"/>
            <a:ext cx="6653363" cy="856319"/>
            <a:chOff x="1894316" y="2322558"/>
            <a:chExt cx="5656659" cy="643510"/>
          </a:xfrm>
        </p:grpSpPr>
        <p:sp>
          <p:nvSpPr>
            <p:cNvPr id="302" name="Google Shape;302;p35"/>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5"/>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5"/>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5"/>
            <p:cNvSpPr/>
            <p:nvPr/>
          </p:nvSpPr>
          <p:spPr>
            <a:xfrm>
              <a:off x="2045375" y="239592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FFFFFF"/>
                  </a:solidFill>
                  <a:latin typeface="Montserrat"/>
                  <a:ea typeface="Montserrat"/>
                  <a:cs typeface="Montserrat"/>
                  <a:sym typeface="Montserrat"/>
                </a:rPr>
                <a:t>Mengapa masalah </a:t>
              </a:r>
              <a:endParaRPr b="1" sz="100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None/>
              </a:pPr>
              <a:r>
                <a:rPr b="1" lang="en" sz="1000">
                  <a:solidFill>
                    <a:srgbClr val="FFFFFF"/>
                  </a:solidFill>
                  <a:latin typeface="Montserrat"/>
                  <a:ea typeface="Montserrat"/>
                  <a:cs typeface="Montserrat"/>
                  <a:sym typeface="Montserrat"/>
                </a:rPr>
                <a:t>tersebut penting?</a:t>
              </a:r>
              <a:endParaRPr b="1" sz="1000">
                <a:solidFill>
                  <a:srgbClr val="FFFFFF"/>
                </a:solidFill>
                <a:latin typeface="Montserrat"/>
                <a:ea typeface="Montserrat"/>
                <a:cs typeface="Montserrat"/>
                <a:sym typeface="Montserrat"/>
              </a:endParaRPr>
            </a:p>
          </p:txBody>
        </p:sp>
        <p:sp>
          <p:nvSpPr>
            <p:cNvPr id="306" name="Google Shape;306;p35"/>
            <p:cNvSpPr/>
            <p:nvPr/>
          </p:nvSpPr>
          <p:spPr>
            <a:xfrm>
              <a:off x="4128720" y="2323753"/>
              <a:ext cx="3129300" cy="6423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n" sz="1000">
                  <a:solidFill>
                    <a:schemeClr val="lt1"/>
                  </a:solidFill>
                  <a:latin typeface="Montserrat"/>
                  <a:ea typeface="Montserrat"/>
                  <a:cs typeface="Montserrat"/>
                  <a:sym typeface="Montserrat"/>
                </a:rPr>
                <a:t>Mengapa penting untuk menyelesaikan masalah tersebut? Nilai apa yang akan diberikan kepada pengguna, dan seperti apa dampaknya bagi bisnis?</a:t>
              </a:r>
              <a:endParaRPr sz="1000">
                <a:solidFill>
                  <a:srgbClr val="A72A1E"/>
                </a:solidFill>
                <a:latin typeface="Montserrat"/>
                <a:ea typeface="Montserrat"/>
                <a:cs typeface="Montserrat"/>
                <a:sym typeface="Montserrat"/>
              </a:endParaRPr>
            </a:p>
          </p:txBody>
        </p:sp>
      </p:grpSp>
      <p:grpSp>
        <p:nvGrpSpPr>
          <p:cNvPr id="307" name="Google Shape;307;p35"/>
          <p:cNvGrpSpPr/>
          <p:nvPr/>
        </p:nvGrpSpPr>
        <p:grpSpPr>
          <a:xfrm>
            <a:off x="1242519" y="1990809"/>
            <a:ext cx="6653363" cy="856319"/>
            <a:chOff x="1894316" y="2322558"/>
            <a:chExt cx="5656659" cy="643510"/>
          </a:xfrm>
        </p:grpSpPr>
        <p:sp>
          <p:nvSpPr>
            <p:cNvPr id="308" name="Google Shape;308;p35"/>
            <p:cNvSpPr/>
            <p:nvPr/>
          </p:nvSpPr>
          <p:spPr>
            <a:xfrm>
              <a:off x="3728375" y="2322568"/>
              <a:ext cx="3822600" cy="643500"/>
            </a:xfrm>
            <a:prstGeom prst="rect">
              <a:avLst/>
            </a:prstGeom>
            <a:solidFill>
              <a:srgbClr val="512252"/>
            </a:solidFill>
            <a:ln cap="flat" cmpd="sng" w="9525">
              <a:solidFill>
                <a:srgbClr val="5E2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5"/>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5"/>
            <p:cNvSpPr/>
            <p:nvPr/>
          </p:nvSpPr>
          <p:spPr>
            <a:xfrm rot="-5400000">
              <a:off x="3090203"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5"/>
            <p:cNvSpPr/>
            <p:nvPr/>
          </p:nvSpPr>
          <p:spPr>
            <a:xfrm>
              <a:off x="2045375" y="2396360"/>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FFFFFF"/>
                  </a:solidFill>
                  <a:latin typeface="Montserrat"/>
                  <a:ea typeface="Montserrat"/>
                  <a:cs typeface="Montserrat"/>
                  <a:sym typeface="Montserrat"/>
                </a:rPr>
                <a:t>Apa masalahnya?</a:t>
              </a:r>
              <a:endParaRPr b="1" sz="1000">
                <a:solidFill>
                  <a:srgbClr val="FFFFFF"/>
                </a:solidFill>
                <a:latin typeface="Montserrat"/>
                <a:ea typeface="Montserrat"/>
                <a:cs typeface="Montserrat"/>
                <a:sym typeface="Montserrat"/>
              </a:endParaRPr>
            </a:p>
          </p:txBody>
        </p:sp>
        <p:sp>
          <p:nvSpPr>
            <p:cNvPr id="312" name="Google Shape;312;p35"/>
            <p:cNvSpPr/>
            <p:nvPr/>
          </p:nvSpPr>
          <p:spPr>
            <a:xfrm>
              <a:off x="4118624" y="2323753"/>
              <a:ext cx="3141900" cy="6423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n" sz="1000">
                  <a:solidFill>
                    <a:schemeClr val="lt1"/>
                  </a:solidFill>
                  <a:latin typeface="Montserrat"/>
                  <a:ea typeface="Montserrat"/>
                  <a:cs typeface="Montserrat"/>
                  <a:sym typeface="Montserrat"/>
                </a:rPr>
                <a:t>Berdasarkan observasi yang kita lakukan selama fase empati, apa saja masalah dan pain point yang sering muncul? Tugas apa yang coba diselesaikan pengguna, dan apa yang menghalangi mereka?</a:t>
              </a:r>
              <a:endParaRPr sz="1000">
                <a:solidFill>
                  <a:schemeClr val="lt1"/>
                </a:solidFill>
                <a:latin typeface="Montserrat"/>
                <a:ea typeface="Montserrat"/>
                <a:cs typeface="Montserrat"/>
                <a:sym typeface="Montserrat"/>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8" name="Google Shape;318;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
                <a:latin typeface="Montserrat"/>
                <a:ea typeface="Montserrat"/>
                <a:cs typeface="Montserrat"/>
                <a:sym typeface="Montserrat"/>
              </a:rPr>
              <a:t>Kegiatan pada fase defining</a:t>
            </a:r>
            <a:endParaRPr>
              <a:latin typeface="Montserrat"/>
              <a:ea typeface="Montserrat"/>
              <a:cs typeface="Montserrat"/>
              <a:sym typeface="Montserrat"/>
            </a:endParaRPr>
          </a:p>
          <a:p>
            <a:pPr indent="0" lvl="0" marL="0" rtl="0" algn="l">
              <a:spcBef>
                <a:spcPts val="0"/>
              </a:spcBef>
              <a:spcAft>
                <a:spcPts val="0"/>
              </a:spcAft>
              <a:buNone/>
            </a:pPr>
            <a:r>
              <a:t/>
            </a:r>
            <a:endParaRPr/>
          </a:p>
        </p:txBody>
      </p:sp>
      <p:sp>
        <p:nvSpPr>
          <p:cNvPr id="319" name="Google Shape;319;p36"/>
          <p:cNvSpPr txBox="1"/>
          <p:nvPr/>
        </p:nvSpPr>
        <p:spPr>
          <a:xfrm>
            <a:off x="685800" y="13727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Teknik the five whys.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Kalo teknik sebelumnya berfokus pada empat pertanyaan, teknik ini berfokus pada lima pertanyaan.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Teknik ini dapat membantu kita untuk menggali lebih dalam permasalahan user sampai ke akar-akarnya. Kalo udah sampai ke akar, kita akan menemukan data yang lebih komprehensif sehingga gampang untuk ditindaklanjuti.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Ohiya, karena namanya adalah the five whys, jadi </a:t>
            </a:r>
            <a:r>
              <a:rPr b="1" lang="en" sz="1000">
                <a:solidFill>
                  <a:schemeClr val="dk1"/>
                </a:solidFill>
                <a:latin typeface="Montserrat"/>
                <a:ea typeface="Montserrat"/>
                <a:cs typeface="Montserrat"/>
                <a:sym typeface="Montserrat"/>
              </a:rPr>
              <a:t>kelima pertanyaan dalam teknik ini berbentuk “mengapa” </a:t>
            </a:r>
            <a:r>
              <a:rPr lang="en" sz="1000">
                <a:solidFill>
                  <a:schemeClr val="dk1"/>
                </a:solidFill>
                <a:latin typeface="Montserrat"/>
                <a:ea typeface="Montserrat"/>
                <a:cs typeface="Montserrat"/>
                <a:sym typeface="Montserrat"/>
              </a:rPr>
              <a:t>ya gaes~</a:t>
            </a:r>
            <a:endParaRPr sz="1000">
              <a:solidFill>
                <a:schemeClr val="dk1"/>
              </a:solidFill>
              <a:latin typeface="Montserrat"/>
              <a:ea typeface="Montserrat"/>
              <a:cs typeface="Montserrat"/>
              <a:sym typeface="Montserrat"/>
            </a:endParaRPr>
          </a:p>
        </p:txBody>
      </p:sp>
      <p:pic>
        <p:nvPicPr>
          <p:cNvPr id="320" name="Google Shape;320;p36"/>
          <p:cNvPicPr preferRelativeResize="0"/>
          <p:nvPr/>
        </p:nvPicPr>
        <p:blipFill>
          <a:blip r:embed="rId3">
            <a:alphaModFix/>
          </a:blip>
          <a:stretch>
            <a:fillRect/>
          </a:stretch>
        </p:blipFill>
        <p:spPr>
          <a:xfrm>
            <a:off x="5070600" y="914400"/>
            <a:ext cx="3157768" cy="38862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6" name="Google Shape;326;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
                <a:latin typeface="Montserrat"/>
                <a:ea typeface="Montserrat"/>
                <a:cs typeface="Montserrat"/>
                <a:sym typeface="Montserrat"/>
              </a:rPr>
              <a:t>Kegiatan pada fase defining</a:t>
            </a:r>
            <a:endParaRPr>
              <a:latin typeface="Montserrat"/>
              <a:ea typeface="Montserrat"/>
              <a:cs typeface="Montserrat"/>
              <a:sym typeface="Montserrat"/>
            </a:endParaRPr>
          </a:p>
          <a:p>
            <a:pPr indent="0" lvl="0" marL="0" rtl="0" algn="l">
              <a:spcBef>
                <a:spcPts val="0"/>
              </a:spcBef>
              <a:spcAft>
                <a:spcPts val="0"/>
              </a:spcAft>
              <a:buNone/>
            </a:pPr>
            <a:r>
              <a:t/>
            </a:r>
            <a:endParaRPr/>
          </a:p>
        </p:txBody>
      </p:sp>
      <p:sp>
        <p:nvSpPr>
          <p:cNvPr id="327" name="Google Shape;327;p37"/>
          <p:cNvSpPr txBox="1"/>
          <p:nvPr/>
        </p:nvSpPr>
        <p:spPr>
          <a:xfrm>
            <a:off x="685800" y="138224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Biar lebih jelas, coba kita bahas pake contoh~</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Wawancara dan observasi dilakukan pada seorang pekerja muda yang ingin makan sehat, tetapi sulit melakukannya. Untuk menemukan akar permasalahan dan membuat pernyataan masalah, kita dapat menggunakan pertanyaan-pertanyaan berikut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Mengapa dia tidak makan dengan sehat?</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Mengapa dia memesan takeaway setiap hari?</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Mengapa lemari es nya kosong? </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Mengapa dia tidak berbelanja bahan makanan? </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Mengapa dia tidak punya waktu? </a:t>
            </a:r>
            <a:endParaRPr sz="1000">
              <a:solidFill>
                <a:schemeClr val="dk1"/>
              </a:solidFill>
              <a:latin typeface="Montserrat"/>
              <a:ea typeface="Montserrat"/>
              <a:cs typeface="Montserrat"/>
              <a:sym typeface="Montserrat"/>
            </a:endParaRPr>
          </a:p>
        </p:txBody>
      </p:sp>
      <p:pic>
        <p:nvPicPr>
          <p:cNvPr id="328" name="Google Shape;328;p37"/>
          <p:cNvPicPr preferRelativeResize="0"/>
          <p:nvPr/>
        </p:nvPicPr>
        <p:blipFill>
          <a:blip r:embed="rId3">
            <a:alphaModFix/>
          </a:blip>
          <a:stretch>
            <a:fillRect/>
          </a:stretch>
        </p:blipFill>
        <p:spPr>
          <a:xfrm flipH="1">
            <a:off x="5607877" y="914400"/>
            <a:ext cx="1522029" cy="38861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
                <a:latin typeface="Montserrat"/>
                <a:ea typeface="Montserrat"/>
                <a:cs typeface="Montserrat"/>
                <a:sym typeface="Montserrat"/>
              </a:rPr>
              <a:t>Kegiatan pada fase defining</a:t>
            </a:r>
            <a:endParaRPr>
              <a:latin typeface="Montserrat"/>
              <a:ea typeface="Montserrat"/>
              <a:cs typeface="Montserrat"/>
              <a:sym typeface="Montserrat"/>
            </a:endParaRPr>
          </a:p>
          <a:p>
            <a:pPr indent="0" lvl="0" marL="0" rtl="0" algn="l">
              <a:spcBef>
                <a:spcPts val="0"/>
              </a:spcBef>
              <a:spcAft>
                <a:spcPts val="0"/>
              </a:spcAft>
              <a:buNone/>
            </a:pPr>
            <a:r>
              <a:t/>
            </a:r>
            <a:endParaRPr/>
          </a:p>
        </p:txBody>
      </p:sp>
      <p:sp>
        <p:nvSpPr>
          <p:cNvPr id="335" name="Google Shape;335;p3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Dari pertanyaan-pertanyaan tadi, jawabannya kira-kira begini…</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Mengapa dia tidak makan dengan sehat? Dia memesan takeaway setiap hari.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8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Mengapa dia memesan takeaway setiap hari? Kulkasnya kosong.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8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Mengapa lemari es nya kosong? Dia belum berbelanja bahan makanan selama lebih dari seminggu.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8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Mengapa dia tidak berbelanja bahan makanan? Dia tidak punya waktu untuk pergi ke supermarket.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8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Mengapa dia tidak punya waktu?</a:t>
            </a:r>
            <a:r>
              <a:rPr lang="en" sz="1000">
                <a:solidFill>
                  <a:schemeClr val="dk1"/>
                </a:solidFill>
                <a:latin typeface="Montserrat"/>
                <a:ea typeface="Montserrat"/>
                <a:cs typeface="Montserrat"/>
                <a:sym typeface="Montserrat"/>
              </a:rPr>
              <a:t> Dia bekerja berjam-jam dan kelelahan.</a:t>
            </a:r>
            <a:endParaRPr sz="1000">
              <a:solidFill>
                <a:schemeClr val="dk1"/>
              </a:solidFill>
              <a:latin typeface="Montserrat"/>
              <a:ea typeface="Montserrat"/>
              <a:cs typeface="Montserrat"/>
              <a:sym typeface="Montserrat"/>
            </a:endParaRPr>
          </a:p>
        </p:txBody>
      </p:sp>
      <p:pic>
        <p:nvPicPr>
          <p:cNvPr id="336" name="Google Shape;336;p38"/>
          <p:cNvPicPr preferRelativeResize="0"/>
          <p:nvPr/>
        </p:nvPicPr>
        <p:blipFill>
          <a:blip r:embed="rId3">
            <a:alphaModFix/>
          </a:blip>
          <a:stretch>
            <a:fillRect/>
          </a:stretch>
        </p:blipFill>
        <p:spPr>
          <a:xfrm>
            <a:off x="5625111" y="914400"/>
            <a:ext cx="1522025" cy="38861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
                <a:latin typeface="Montserrat"/>
                <a:ea typeface="Montserrat"/>
                <a:cs typeface="Montserrat"/>
                <a:sym typeface="Montserrat"/>
              </a:rPr>
              <a:t>Kegiatan pada fase defining</a:t>
            </a:r>
            <a:endParaRPr>
              <a:latin typeface="Montserrat"/>
              <a:ea typeface="Montserrat"/>
              <a:cs typeface="Montserrat"/>
              <a:sym typeface="Montserrat"/>
            </a:endParaRPr>
          </a:p>
          <a:p>
            <a:pPr indent="0" lvl="0" marL="0" rtl="0" algn="l">
              <a:spcBef>
                <a:spcPts val="0"/>
              </a:spcBef>
              <a:spcAft>
                <a:spcPts val="0"/>
              </a:spcAft>
              <a:buNone/>
            </a:pPr>
            <a:r>
              <a:t/>
            </a:r>
            <a:endParaRPr/>
          </a:p>
        </p:txBody>
      </p:sp>
      <p:sp>
        <p:nvSpPr>
          <p:cNvPr id="343" name="Google Shape;343;p39"/>
          <p:cNvSpPr txBox="1"/>
          <p:nvPr/>
        </p:nvSpPr>
        <p:spPr>
          <a:xfrm>
            <a:off x="685800" y="155172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Nah, dari jawaban-jawaban tadi, kita-kira akar masalahnya apa ya?</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Yap~ </a:t>
            </a:r>
            <a:r>
              <a:rPr b="1" lang="en" sz="1000">
                <a:solidFill>
                  <a:schemeClr val="dk1"/>
                </a:solidFill>
                <a:latin typeface="Montserrat"/>
                <a:ea typeface="Montserrat"/>
                <a:cs typeface="Montserrat"/>
                <a:sym typeface="Montserrat"/>
              </a:rPr>
              <a:t>kurangnya waktu.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Jadi, kita harus berfokus pada solusi soal efisiensi dan kenyamanan. Sehingga, pernyataan masalah kira-kira dapat disusun seperti ini: </a:t>
            </a:r>
            <a:r>
              <a:rPr b="1" lang="en" sz="1000">
                <a:solidFill>
                  <a:schemeClr val="dk1"/>
                </a:solidFill>
                <a:latin typeface="Montserrat"/>
                <a:ea typeface="Montserrat"/>
                <a:cs typeface="Montserrat"/>
                <a:sym typeface="Montserrat"/>
              </a:rPr>
              <a:t>"para pekerja muda membutuhkan solusi cepat dan nyaman untuk makan sehat."</a:t>
            </a:r>
            <a:endParaRPr b="1" sz="1000">
              <a:solidFill>
                <a:schemeClr val="dk1"/>
              </a:solidFill>
              <a:latin typeface="Montserrat"/>
              <a:ea typeface="Montserrat"/>
              <a:cs typeface="Montserrat"/>
              <a:sym typeface="Montserrat"/>
            </a:endParaRPr>
          </a:p>
        </p:txBody>
      </p:sp>
      <p:pic>
        <p:nvPicPr>
          <p:cNvPr id="344" name="Google Shape;344;p39"/>
          <p:cNvPicPr preferRelativeResize="0"/>
          <p:nvPr/>
        </p:nvPicPr>
        <p:blipFill>
          <a:blip r:embed="rId3">
            <a:alphaModFix/>
          </a:blip>
          <a:stretch>
            <a:fillRect/>
          </a:stretch>
        </p:blipFill>
        <p:spPr>
          <a:xfrm>
            <a:off x="5104770" y="914400"/>
            <a:ext cx="3511837" cy="38861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0" name="Google Shape;350;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t/>
            </a:r>
            <a:endParaRPr>
              <a:latin typeface="Montserrat"/>
              <a:ea typeface="Montserrat"/>
              <a:cs typeface="Montserrat"/>
              <a:sym typeface="Montserrat"/>
            </a:endParaRPr>
          </a:p>
          <a:p>
            <a:pPr indent="0" lvl="0" marL="0" rtl="0" algn="l">
              <a:lnSpc>
                <a:spcPct val="115000"/>
              </a:lnSpc>
              <a:spcBef>
                <a:spcPts val="0"/>
              </a:spcBef>
              <a:spcAft>
                <a:spcPts val="0"/>
              </a:spcAft>
              <a:buNone/>
            </a:pPr>
            <a:r>
              <a:rPr lang="en">
                <a:latin typeface="Montserrat"/>
                <a:ea typeface="Montserrat"/>
                <a:cs typeface="Montserrat"/>
                <a:sym typeface="Montserrat"/>
              </a:rPr>
              <a:t>Kegiatan pada fase defining</a:t>
            </a:r>
            <a:endParaRPr>
              <a:latin typeface="Montserrat"/>
              <a:ea typeface="Montserrat"/>
              <a:cs typeface="Montserrat"/>
              <a:sym typeface="Montserrat"/>
            </a:endParaRPr>
          </a:p>
          <a:p>
            <a:pPr indent="0" lvl="0" marL="0" rtl="0" algn="l">
              <a:spcBef>
                <a:spcPts val="0"/>
              </a:spcBef>
              <a:spcAft>
                <a:spcPts val="0"/>
              </a:spcAft>
              <a:buNone/>
            </a:pPr>
            <a:r>
              <a:t/>
            </a:r>
            <a:endParaRPr/>
          </a:p>
        </p:txBody>
      </p:sp>
      <p:sp>
        <p:nvSpPr>
          <p:cNvPr id="351" name="Google Shape;351;p40"/>
          <p:cNvSpPr txBox="1"/>
          <p:nvPr/>
        </p:nvSpPr>
        <p:spPr>
          <a:xfrm>
            <a:off x="685800" y="13726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Penting untuk dicatat nih, gaes~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Saat melalui proses design thinking, kita akan terus-menerus merujuk ke pernyataan masalah untuk memastikan bahwa kita bergerak ke arah yang benar.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Pernyataan masalah mengarahkan kita untuk mencapai tujuan dari proses desain. Makanya, pernyataan masalah pada fase define ini penting banget agar kita bisa beralih ke fase selanjutnya, yaitu ideate.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fase ideate, kita akan mengubah pernyataan masalah menjadi pernyataan </a:t>
            </a:r>
            <a:r>
              <a:rPr b="1" lang="en" sz="1000">
                <a:solidFill>
                  <a:schemeClr val="dk1"/>
                </a:solidFill>
                <a:latin typeface="Montserrat"/>
                <a:ea typeface="Montserrat"/>
                <a:cs typeface="Montserrat"/>
                <a:sym typeface="Montserrat"/>
              </a:rPr>
              <a:t>"bagaimana mungkin kita…” (“how might we…”)</a:t>
            </a:r>
            <a:r>
              <a:rPr lang="en" sz="1000">
                <a:solidFill>
                  <a:schemeClr val="dk1"/>
                </a:solidFill>
                <a:latin typeface="Montserrat"/>
                <a:ea typeface="Montserrat"/>
                <a:cs typeface="Montserrat"/>
                <a:sym typeface="Montserrat"/>
              </a:rPr>
              <a:t> dan menghasilkan solusi potensial sebanyak mungkin.</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52" name="Google Shape;352;p40"/>
          <p:cNvPicPr preferRelativeResize="0"/>
          <p:nvPr/>
        </p:nvPicPr>
        <p:blipFill>
          <a:blip r:embed="rId3">
            <a:alphaModFix/>
          </a:blip>
          <a:stretch>
            <a:fillRect/>
          </a:stretch>
        </p:blipFill>
        <p:spPr>
          <a:xfrm>
            <a:off x="5257800" y="914400"/>
            <a:ext cx="3077483" cy="393180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1"/>
          <p:cNvSpPr txBox="1"/>
          <p:nvPr/>
        </p:nvSpPr>
        <p:spPr>
          <a:xfrm>
            <a:off x="914400" y="10135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 </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358" name="Google Shape;358;p41"/>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364" name="Google Shape;364;p4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700">
                <a:solidFill>
                  <a:schemeClr val="accent1"/>
                </a:solidFill>
                <a:latin typeface="Montserrat"/>
                <a:ea typeface="Montserrat"/>
                <a:cs typeface="Montserrat"/>
                <a:sym typeface="Montserrat"/>
              </a:rPr>
              <a:t>1</a:t>
            </a:r>
            <a:r>
              <a:rPr b="1" lang="en" sz="1700">
                <a:solidFill>
                  <a:schemeClr val="accent1"/>
                </a:solidFill>
                <a:latin typeface="Montserrat"/>
                <a:ea typeface="Montserrat"/>
                <a:cs typeface="Montserrat"/>
                <a:sym typeface="Montserrat"/>
              </a:rPr>
              <a:t>.</a:t>
            </a:r>
            <a:r>
              <a:rPr b="1" lang="en" sz="1700">
                <a:solidFill>
                  <a:schemeClr val="lt1"/>
                </a:solidFill>
                <a:latin typeface="Montserrat"/>
                <a:ea typeface="Montserrat"/>
                <a:cs typeface="Montserrat"/>
                <a:sym typeface="Montserrat"/>
              </a:rPr>
              <a:t> </a:t>
            </a:r>
            <a:r>
              <a:rPr b="1" lang="en" sz="1700">
                <a:solidFill>
                  <a:schemeClr val="lt1"/>
                </a:solidFill>
                <a:latin typeface="Montserrat"/>
                <a:ea typeface="Montserrat"/>
                <a:cs typeface="Montserrat"/>
                <a:sym typeface="Montserrat"/>
              </a:rPr>
              <a:t>Pernyataan masalah yang baik haruslah berpusat pada manusia dan berfokus pada…</a:t>
            </a:r>
            <a:endParaRPr b="1" sz="1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pengguna</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bisnis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perusahaan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kenyataan</a:t>
            </a:r>
            <a:endParaRPr sz="1200">
              <a:solidFill>
                <a:schemeClr val="lt1"/>
              </a:solidFill>
              <a:latin typeface="Montserrat Medium"/>
              <a:ea typeface="Montserrat Medium"/>
              <a:cs typeface="Montserrat Medium"/>
              <a:sym typeface="Montserrat Medium"/>
            </a:endParaRPr>
          </a:p>
        </p:txBody>
      </p:sp>
      <p:sp>
        <p:nvSpPr>
          <p:cNvPr id="365" name="Google Shape;365;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p>
        </p:txBody>
      </p:sp>
      <p:sp>
        <p:nvSpPr>
          <p:cNvPr id="371" name="Google Shape;371;p4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700">
                <a:solidFill>
                  <a:schemeClr val="accent1"/>
                </a:solidFill>
                <a:latin typeface="Montserrat"/>
                <a:ea typeface="Montserrat"/>
                <a:cs typeface="Montserrat"/>
                <a:sym typeface="Montserrat"/>
              </a:rPr>
              <a:t>1.</a:t>
            </a:r>
            <a:r>
              <a:rPr b="1" lang="en" sz="1700">
                <a:solidFill>
                  <a:schemeClr val="lt1"/>
                </a:solidFill>
                <a:latin typeface="Montserrat"/>
                <a:ea typeface="Montserrat"/>
                <a:cs typeface="Montserrat"/>
                <a:sym typeface="Montserrat"/>
              </a:rPr>
              <a:t> Pernyataan masalah yang baik haruslah berpusat pada manusia dan berfokus pada…</a:t>
            </a:r>
            <a:endParaRPr b="1" sz="1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pengguna</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bisnis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perusahaan</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kenyataan</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372" name="Google Shape;372;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3" name="Google Shape;373;p43"/>
          <p:cNvSpPr/>
          <p:nvPr/>
        </p:nvSpPr>
        <p:spPr>
          <a:xfrm>
            <a:off x="664950" y="3740925"/>
            <a:ext cx="7814100" cy="509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Pernyataan masalah yang baik haruslah berpusat pada manusia dan berfokus pada </a:t>
            </a:r>
            <a:r>
              <a:rPr lang="en" sz="1200">
                <a:solidFill>
                  <a:srgbClr val="733572"/>
                </a:solidFill>
                <a:latin typeface="Montserrat Black"/>
                <a:ea typeface="Montserrat Black"/>
                <a:cs typeface="Montserrat Black"/>
                <a:sym typeface="Montserrat Black"/>
              </a:rPr>
              <a:t>pengguna.</a:t>
            </a:r>
            <a:endParaRPr sz="1200">
              <a:solidFill>
                <a:srgbClr val="733572"/>
              </a:solidFill>
              <a:latin typeface="Montserrat Black"/>
              <a:ea typeface="Montserrat Black"/>
              <a:cs typeface="Montserrat Black"/>
              <a:sym typeface="Montserrat Black"/>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379" name="Google Shape;379;p4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500">
                <a:solidFill>
                  <a:schemeClr val="accent1"/>
                </a:solidFill>
                <a:latin typeface="Montserrat"/>
                <a:ea typeface="Montserrat"/>
                <a:cs typeface="Montserrat"/>
                <a:sym typeface="Montserrat"/>
              </a:rPr>
              <a:t>2</a:t>
            </a:r>
            <a:r>
              <a:rPr b="1" lang="en" sz="1500">
                <a:solidFill>
                  <a:schemeClr val="accent1"/>
                </a:solidFill>
                <a:latin typeface="Montserrat"/>
                <a:ea typeface="Montserrat"/>
                <a:cs typeface="Montserrat"/>
                <a:sym typeface="Montserrat"/>
              </a:rPr>
              <a:t>.</a:t>
            </a:r>
            <a:r>
              <a:rPr b="1" lang="en" sz="1500">
                <a:solidFill>
                  <a:schemeClr val="lt1"/>
                </a:solidFill>
                <a:latin typeface="Montserrat"/>
                <a:ea typeface="Montserrat"/>
                <a:cs typeface="Montserrat"/>
                <a:sym typeface="Montserrat"/>
              </a:rPr>
              <a:t> </a:t>
            </a:r>
            <a:r>
              <a:rPr b="1" lang="en" sz="1500">
                <a:solidFill>
                  <a:schemeClr val="lt1"/>
                </a:solidFill>
                <a:latin typeface="Montserrat"/>
                <a:ea typeface="Montserrat"/>
                <a:cs typeface="Montserrat"/>
                <a:sym typeface="Montserrat"/>
              </a:rPr>
              <a:t>Saat melalui proses design thinking, kita akan terus-menerus merujuk kembali ke ….. untuk memastikan bahwa kita bergerak ke arah yang benar. </a:t>
            </a:r>
            <a:endParaRPr b="1" sz="15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pertanyaan masalah</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kenyataan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pernyataan masalah</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empati</a:t>
            </a:r>
            <a:endParaRPr sz="1200">
              <a:solidFill>
                <a:schemeClr val="lt1"/>
              </a:solidFill>
              <a:latin typeface="Montserrat Medium"/>
              <a:ea typeface="Montserrat Medium"/>
              <a:cs typeface="Montserrat Medium"/>
              <a:sym typeface="Montserrat Medium"/>
            </a:endParaRPr>
          </a:p>
        </p:txBody>
      </p:sp>
      <p:sp>
        <p:nvSpPr>
          <p:cNvPr id="380" name="Google Shape;380;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386" name="Google Shape;386;p4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500">
                <a:solidFill>
                  <a:schemeClr val="accent1"/>
                </a:solidFill>
                <a:latin typeface="Montserrat"/>
                <a:ea typeface="Montserrat"/>
                <a:cs typeface="Montserrat"/>
                <a:sym typeface="Montserrat"/>
              </a:rPr>
              <a:t>2.</a:t>
            </a:r>
            <a:r>
              <a:rPr b="1" lang="en" sz="1500">
                <a:solidFill>
                  <a:schemeClr val="lt1"/>
                </a:solidFill>
                <a:latin typeface="Montserrat"/>
                <a:ea typeface="Montserrat"/>
                <a:cs typeface="Montserrat"/>
                <a:sym typeface="Montserrat"/>
              </a:rPr>
              <a:t> Saat melalui proses design thinking, kita akan terus-menerus merujuk kembali ke ….. untuk memastikan bahwa kita bergerak ke arah yang benar. </a:t>
            </a:r>
            <a:endParaRPr b="1" sz="15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pertanyaan masalah</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kenyataan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pernyataan masalah</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empati</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387" name="Google Shape;387;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8" name="Google Shape;388;p45"/>
          <p:cNvSpPr/>
          <p:nvPr/>
        </p:nvSpPr>
        <p:spPr>
          <a:xfrm>
            <a:off x="685800" y="3589025"/>
            <a:ext cx="7772400" cy="7233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Saat melalui proses design thinking, kita akan terus-menerus merujuk kembali ke</a:t>
            </a:r>
            <a:r>
              <a:rPr lang="en" sz="1200">
                <a:solidFill>
                  <a:srgbClr val="733572"/>
                </a:solidFill>
                <a:latin typeface="Montserrat Black"/>
                <a:ea typeface="Montserrat Black"/>
                <a:cs typeface="Montserrat Black"/>
                <a:sym typeface="Montserrat Black"/>
              </a:rPr>
              <a:t> pernyataan masalah </a:t>
            </a:r>
            <a:r>
              <a:rPr b="1" lang="en" sz="1200">
                <a:solidFill>
                  <a:srgbClr val="733572"/>
                </a:solidFill>
                <a:latin typeface="Montserrat"/>
                <a:ea typeface="Montserrat"/>
                <a:cs typeface="Montserrat"/>
                <a:sym typeface="Montserrat"/>
              </a:rPr>
              <a:t>untuk memastikan bahwa kita bergerak ke arah yang benar.</a:t>
            </a:r>
            <a:endParaRPr b="1" sz="1200">
              <a:solidFill>
                <a:srgbClr val="733572"/>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394" name="Google Shape;394;p4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chemeClr val="accent1"/>
                </a:solidFill>
                <a:latin typeface="Montserrat"/>
                <a:ea typeface="Montserrat"/>
                <a:cs typeface="Montserrat"/>
                <a:sym typeface="Montserrat"/>
              </a:rPr>
              <a:t>3</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Secara teori, fase define dilanjutkan oleh fase…</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empathize</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ideate</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test</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prototype</a:t>
            </a:r>
            <a:endParaRPr sz="1200">
              <a:solidFill>
                <a:schemeClr val="lt1"/>
              </a:solidFill>
              <a:latin typeface="Montserrat Medium"/>
              <a:ea typeface="Montserrat Medium"/>
              <a:cs typeface="Montserrat Medium"/>
              <a:sym typeface="Montserrat Medium"/>
            </a:endParaRPr>
          </a:p>
        </p:txBody>
      </p:sp>
      <p:sp>
        <p:nvSpPr>
          <p:cNvPr id="395" name="Google Shape;395;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401" name="Google Shape;401;p4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3.</a:t>
            </a:r>
            <a:r>
              <a:rPr b="1" lang="en" sz="1800">
                <a:solidFill>
                  <a:schemeClr val="lt1"/>
                </a:solidFill>
                <a:latin typeface="Montserrat"/>
                <a:ea typeface="Montserrat"/>
                <a:cs typeface="Montserrat"/>
                <a:sym typeface="Montserrat"/>
              </a:rPr>
              <a:t> Secara teori, fase define dilanjutkan oleh fase…</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empathize</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ideate</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test</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prototype</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rgbClr val="A667A5"/>
              </a:solidFill>
              <a:latin typeface="Raleway"/>
              <a:ea typeface="Raleway"/>
              <a:cs typeface="Raleway"/>
              <a:sym typeface="Raleway"/>
            </a:endParaRPr>
          </a:p>
        </p:txBody>
      </p:sp>
      <p:sp>
        <p:nvSpPr>
          <p:cNvPr id="402" name="Google Shape;402;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47"/>
          <p:cNvSpPr/>
          <p:nvPr/>
        </p:nvSpPr>
        <p:spPr>
          <a:xfrm>
            <a:off x="685800" y="3467325"/>
            <a:ext cx="7772400" cy="7203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Secara teori, terdapat lima fase dalam design thinking, yaitu empathize, define, ideate, prototype, dan test.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409" name="Google Shape;409;p4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Mengajukan ….. yang tepat akan membantu kita mencapai …. masalah yang tepat. </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solusi, pernyataan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penyataan, pertanyaan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masalah, pernyataan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pertanyaan, pernyataan</a:t>
            </a:r>
            <a:endParaRPr sz="1200">
              <a:solidFill>
                <a:schemeClr val="lt1"/>
              </a:solidFill>
              <a:latin typeface="Montserrat Medium"/>
              <a:ea typeface="Montserrat Medium"/>
              <a:cs typeface="Montserrat Medium"/>
              <a:sym typeface="Montserrat Medium"/>
            </a:endParaRPr>
          </a:p>
          <a:p>
            <a:pPr indent="0" lvl="0" marL="457200" rtl="0" algn="just">
              <a:lnSpc>
                <a:spcPct val="115000"/>
              </a:lnSpc>
              <a:spcBef>
                <a:spcPts val="100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410" name="Google Shape;410;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416" name="Google Shape;416;p4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Mengajukan ….. yang tepat akan membantu kita mencapai …. masalah yang tepat. </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solusi, pernyataan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penyataan, pertanyaan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masalah, pernyataan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pertanyaan, pernyataan</a:t>
            </a:r>
            <a:endParaRPr sz="1200">
              <a:solidFill>
                <a:schemeClr val="lt1"/>
              </a:solidFill>
              <a:latin typeface="Montserrat Medium"/>
              <a:ea typeface="Montserrat Medium"/>
              <a:cs typeface="Montserrat Medium"/>
              <a:sym typeface="Montserrat Medium"/>
            </a:endParaRPr>
          </a:p>
          <a:p>
            <a:pPr indent="0" lvl="0" marL="457200" rtl="0" algn="just">
              <a:lnSpc>
                <a:spcPct val="115000"/>
              </a:lnSpc>
              <a:spcBef>
                <a:spcPts val="100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b="1" sz="2800">
              <a:solidFill>
                <a:schemeClr val="accent1"/>
              </a:solidFill>
              <a:latin typeface="Raleway"/>
              <a:ea typeface="Raleway"/>
              <a:cs typeface="Raleway"/>
              <a:sym typeface="Raleway"/>
            </a:endParaRPr>
          </a:p>
          <a:p>
            <a:pPr indent="0" lvl="0" marL="45720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17" name="Google Shape;417;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8" name="Google Shape;418;p49"/>
          <p:cNvSpPr/>
          <p:nvPr/>
        </p:nvSpPr>
        <p:spPr>
          <a:xfrm>
            <a:off x="685800" y="3595250"/>
            <a:ext cx="7772400" cy="748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Mengajukan </a:t>
            </a:r>
            <a:r>
              <a:rPr lang="en" sz="1200">
                <a:solidFill>
                  <a:srgbClr val="733572"/>
                </a:solidFill>
                <a:latin typeface="Montserrat Black"/>
                <a:ea typeface="Montserrat Black"/>
                <a:cs typeface="Montserrat Black"/>
                <a:sym typeface="Montserrat Black"/>
              </a:rPr>
              <a:t>pertanyaan</a:t>
            </a:r>
            <a:r>
              <a:rPr b="1" lang="en" sz="1200">
                <a:solidFill>
                  <a:srgbClr val="733572"/>
                </a:solidFill>
                <a:latin typeface="Montserrat"/>
                <a:ea typeface="Montserrat"/>
                <a:cs typeface="Montserrat"/>
                <a:sym typeface="Montserrat"/>
              </a:rPr>
              <a:t> yang tepat akan membantu kita mencapai </a:t>
            </a:r>
            <a:r>
              <a:rPr lang="en" sz="1200">
                <a:solidFill>
                  <a:srgbClr val="733572"/>
                </a:solidFill>
                <a:latin typeface="Montserrat Black"/>
                <a:ea typeface="Montserrat Black"/>
                <a:cs typeface="Montserrat Black"/>
                <a:sym typeface="Montserrat Black"/>
              </a:rPr>
              <a:t>pernyataan masalah </a:t>
            </a:r>
            <a:r>
              <a:rPr b="1" lang="en" sz="1200">
                <a:solidFill>
                  <a:srgbClr val="733572"/>
                </a:solidFill>
                <a:latin typeface="Montserrat"/>
                <a:ea typeface="Montserrat"/>
                <a:cs typeface="Montserrat"/>
                <a:sym typeface="Montserrat"/>
              </a:rPr>
              <a:t>yang tepat.</a:t>
            </a:r>
            <a:endParaRPr b="1" sz="1200">
              <a:solidFill>
                <a:srgbClr val="733572"/>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424" name="Google Shape;424;p5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Diskusikan gambar di bawah ini, bagaimana kaitannya dengan hubungan fase empathizing dan defining.</a:t>
            </a:r>
            <a:endParaRPr b="1" sz="1600">
              <a:solidFill>
                <a:schemeClr val="lt1"/>
              </a:solidFill>
              <a:latin typeface="Montserrat"/>
              <a:ea typeface="Montserrat"/>
              <a:cs typeface="Montserrat"/>
              <a:sym typeface="Montserrat"/>
            </a:endParaRPr>
          </a:p>
        </p:txBody>
      </p:sp>
      <p:sp>
        <p:nvSpPr>
          <p:cNvPr id="425" name="Google Shape;425;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26" name="Google Shape;426;p50"/>
          <p:cNvPicPr preferRelativeResize="0"/>
          <p:nvPr/>
        </p:nvPicPr>
        <p:blipFill rotWithShape="1">
          <a:blip r:embed="rId3">
            <a:alphaModFix/>
          </a:blip>
          <a:srcRect b="13359" l="0" r="0" t="0"/>
          <a:stretch/>
        </p:blipFill>
        <p:spPr>
          <a:xfrm>
            <a:off x="4517500" y="1973550"/>
            <a:ext cx="3935599" cy="21075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433" name="Google Shape;433;p5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34" name="Google Shape;434;p51"/>
          <p:cNvSpPr txBox="1"/>
          <p:nvPr/>
        </p:nvSpPr>
        <p:spPr>
          <a:xfrm>
            <a:off x="685800" y="1384203"/>
            <a:ext cx="4114800" cy="36576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7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1) </a:t>
            </a: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Design Thinking by Interaction Design Foundation</a:t>
            </a:r>
            <a:endParaRPr sz="1000">
              <a:solidFill>
                <a:schemeClr val="dk1"/>
              </a:solidFill>
              <a:latin typeface="Montserrat"/>
              <a:ea typeface="Montserrat"/>
              <a:cs typeface="Montserrat"/>
              <a:sym typeface="Montserrat"/>
            </a:endParaRPr>
          </a:p>
          <a:p>
            <a:pPr indent="-171450" lvl="0" marL="17145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2) </a:t>
            </a:r>
            <a:r>
              <a:rPr lang="en" sz="1000" u="sng">
                <a:solidFill>
                  <a:schemeClr val="dk1"/>
                </a:solidFill>
                <a:latin typeface="Montserrat"/>
                <a:ea typeface="Montserrat"/>
                <a:cs typeface="Montserrat"/>
                <a:sym typeface="Montserrat"/>
                <a:hlinkClick r:id="rId5">
                  <a:extLst>
                    <a:ext uri="{A12FA001-AC4F-418D-AE19-62706E023703}">
                      <ahyp:hlinkClr val="tx"/>
                    </a:ext>
                  </a:extLst>
                </a:hlinkClick>
              </a:rPr>
              <a:t>5 Stages in The Design Thinking Process by Interaction Design  Foundation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3) </a:t>
            </a:r>
            <a:r>
              <a:rPr lang="en" sz="1000" u="sng">
                <a:solidFill>
                  <a:schemeClr val="dk1"/>
                </a:solidFill>
                <a:latin typeface="Montserrat"/>
                <a:ea typeface="Montserrat"/>
                <a:cs typeface="Montserrat"/>
                <a:sym typeface="Montserrat"/>
                <a:hlinkClick r:id="rId6">
                  <a:extLst>
                    <a:ext uri="{A12FA001-AC4F-418D-AE19-62706E023703}">
                      <ahyp:hlinkClr val="tx"/>
                    </a:ext>
                  </a:extLst>
                </a:hlinkClick>
              </a:rPr>
              <a:t>Defining The Problem  by Interaction Design Foundation</a:t>
            </a:r>
            <a:endParaRPr sz="1000">
              <a:solidFill>
                <a:schemeClr val="dk1"/>
              </a:solidFill>
              <a:latin typeface="Montserrat"/>
              <a:ea typeface="Montserrat"/>
              <a:cs typeface="Montserrat"/>
              <a:sym typeface="Montserrat"/>
            </a:endParaRPr>
          </a:p>
          <a:p>
            <a:pPr indent="-171450" lvl="0" marL="17145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4) </a:t>
            </a:r>
            <a:r>
              <a:rPr lang="en" sz="1000" u="sng">
                <a:solidFill>
                  <a:schemeClr val="dk1"/>
                </a:solidFill>
                <a:latin typeface="Montserrat"/>
                <a:ea typeface="Montserrat"/>
                <a:cs typeface="Montserrat"/>
                <a:sym typeface="Montserrat"/>
                <a:hlinkClick r:id="rId7">
                  <a:extLst>
                    <a:ext uri="{A12FA001-AC4F-418D-AE19-62706E023703}">
                      <ahyp:hlinkClr val="tx"/>
                    </a:ext>
                  </a:extLst>
                </a:hlinkClick>
              </a:rPr>
              <a:t>Stage 2 in the Design Thinking Process: Define the Problem by careerfoundry</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100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43673"/>
        </a:solidFill>
      </p:bgPr>
    </p:bg>
    <p:spTree>
      <p:nvGrpSpPr>
        <p:cNvPr id="438" name="Shape 438"/>
        <p:cNvGrpSpPr/>
        <p:nvPr/>
      </p:nvGrpSpPr>
      <p:grpSpPr>
        <a:xfrm>
          <a:off x="0" y="0"/>
          <a:ext cx="0" cy="0"/>
          <a:chOff x="0" y="0"/>
          <a:chExt cx="0" cy="0"/>
        </a:xfrm>
      </p:grpSpPr>
      <p:sp>
        <p:nvSpPr>
          <p:cNvPr id="439" name="Google Shape;439;p52"/>
          <p:cNvSpPr txBox="1"/>
          <p:nvPr/>
        </p:nvSpPr>
        <p:spPr>
          <a:xfrm>
            <a:off x="618375" y="1536575"/>
            <a:ext cx="4112700" cy="24315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Eits, pembahasan soal fase define belum selesai, lho! Ini baru part 1.</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Kita bakal lanjut ngebahas </a:t>
            </a:r>
            <a:r>
              <a:rPr b="1" lang="en">
                <a:solidFill>
                  <a:schemeClr val="accent1"/>
                </a:solidFill>
                <a:latin typeface="Montserrat"/>
                <a:ea typeface="Montserrat"/>
                <a:cs typeface="Montserrat"/>
                <a:sym typeface="Montserrat"/>
              </a:rPr>
              <a:t>fase define part 2</a:t>
            </a:r>
            <a:r>
              <a:rPr b="1" lang="en">
                <a:solidFill>
                  <a:schemeClr val="lt1"/>
                </a:solidFill>
                <a:latin typeface="Montserrat"/>
                <a:ea typeface="Montserrat"/>
                <a:cs typeface="Montserrat"/>
                <a:sym typeface="Montserrat"/>
              </a:rPr>
              <a:t> setelah ini! </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1000"/>
              </a:spcAft>
              <a:buClr>
                <a:schemeClr val="dk1"/>
              </a:buClr>
              <a:buSzPts val="4000"/>
              <a:buFont typeface="Arial"/>
              <a:buNone/>
            </a:pPr>
            <a:r>
              <a:rPr b="1" lang="en">
                <a:solidFill>
                  <a:schemeClr val="lt1"/>
                </a:solidFill>
                <a:latin typeface="Montserrat"/>
                <a:ea typeface="Montserrat"/>
                <a:cs typeface="Montserrat"/>
                <a:sym typeface="Montserrat"/>
              </a:rPr>
              <a:t>Sampai ketemu di part 2 yaa~</a:t>
            </a:r>
            <a:endParaRPr b="1">
              <a:solidFill>
                <a:srgbClr val="FFFFFF"/>
              </a:solidFill>
              <a:latin typeface="Montserrat"/>
              <a:ea typeface="Montserrat"/>
              <a:cs typeface="Montserrat"/>
              <a:sym typeface="Montserrat"/>
            </a:endParaRPr>
          </a:p>
        </p:txBody>
      </p:sp>
      <p:pic>
        <p:nvPicPr>
          <p:cNvPr id="440" name="Google Shape;440;p52"/>
          <p:cNvPicPr preferRelativeResize="0"/>
          <p:nvPr/>
        </p:nvPicPr>
        <p:blipFill>
          <a:blip r:embed="rId3">
            <a:alphaModFix/>
          </a:blip>
          <a:stretch>
            <a:fillRect/>
          </a:stretch>
        </p:blipFill>
        <p:spPr>
          <a:xfrm>
            <a:off x="4114431" y="676725"/>
            <a:ext cx="5687844" cy="4338199"/>
          </a:xfrm>
          <a:prstGeom prst="rect">
            <a:avLst/>
          </a:prstGeom>
          <a:noFill/>
          <a:ln>
            <a:noFill/>
          </a:ln>
        </p:spPr>
      </p:pic>
      <p:sp>
        <p:nvSpPr>
          <p:cNvPr id="441" name="Google Shape;441;p52"/>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42" name="Google Shape;442;p52"/>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43" name="Google Shape;443;p52"/>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44" name="Google Shape;444;p52"/>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45" name="Google Shape;445;p52"/>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46" name="Google Shape;446;p52"/>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447" name="Google Shape;447;p52"/>
          <p:cNvPicPr preferRelativeResize="0"/>
          <p:nvPr/>
        </p:nvPicPr>
        <p:blipFill rotWithShape="1">
          <a:blip r:embed="rId4">
            <a:alphaModFix/>
          </a:blip>
          <a:srcRect b="0" l="0" r="0" t="0"/>
          <a:stretch/>
        </p:blipFill>
        <p:spPr>
          <a:xfrm>
            <a:off x="8535950" y="105991"/>
            <a:ext cx="463928" cy="463928"/>
          </a:xfrm>
          <a:prstGeom prst="rect">
            <a:avLst/>
          </a:prstGeom>
          <a:noFill/>
          <a:ln>
            <a:noFill/>
          </a:ln>
        </p:spPr>
      </p:pic>
      <p:sp>
        <p:nvSpPr>
          <p:cNvPr id="448" name="Google Shape;448;p52"/>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49" name="Google Shape;449;p52"/>
          <p:cNvSpPr txBox="1"/>
          <p:nvPr/>
        </p:nvSpPr>
        <p:spPr>
          <a:xfrm>
            <a:off x="618377" y="251687"/>
            <a:ext cx="7296000" cy="2307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Penutup</a:t>
            </a:r>
            <a:endParaRPr b="1" sz="1200">
              <a:solidFill>
                <a:schemeClr val="lt1"/>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53" name="Shape 453"/>
        <p:cNvGrpSpPr/>
        <p:nvPr/>
      </p:nvGrpSpPr>
      <p:grpSpPr>
        <a:xfrm>
          <a:off x="0" y="0"/>
          <a:ext cx="0" cy="0"/>
          <a:chOff x="0" y="0"/>
          <a:chExt cx="0" cy="0"/>
        </a:xfrm>
      </p:grpSpPr>
      <p:sp>
        <p:nvSpPr>
          <p:cNvPr id="454" name="Google Shape;454;p53"/>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5" name="Google Shape;455;p53"/>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456" name="Google Shape;456;p53"/>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457" name="Google Shape;457;p53"/>
          <p:cNvPicPr preferRelativeResize="0"/>
          <p:nvPr/>
        </p:nvPicPr>
        <p:blipFill>
          <a:blip r:embed="rId5">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