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embeddedFontLst>
    <p:embeddedFont>
      <p:font typeface="Raleway"/>
      <p:regular r:id="rId54"/>
      <p:bold r:id="rId55"/>
      <p:italic r:id="rId56"/>
      <p:boldItalic r:id="rId57"/>
    </p:embeddedFont>
    <p:embeddedFont>
      <p:font typeface="Montserrat"/>
      <p:regular r:id="rId58"/>
      <p:bold r:id="rId59"/>
      <p:italic r:id="rId60"/>
      <p:boldItalic r:id="rId61"/>
    </p:embeddedFont>
    <p:embeddedFont>
      <p:font typeface="Montserrat Medium"/>
      <p:regular r:id="rId62"/>
      <p:bold r:id="rId63"/>
      <p:italic r:id="rId64"/>
      <p:boldItalic r:id="rId65"/>
    </p:embeddedFont>
    <p:embeddedFont>
      <p:font typeface="Lato Black"/>
      <p:bold r:id="rId66"/>
      <p:boldItalic r:id="rId67"/>
    </p:embeddedFont>
    <p:embeddedFont>
      <p:font typeface="Raleway Medium"/>
      <p:regular r:id="rId68"/>
      <p:bold r:id="rId69"/>
      <p:italic r:id="rId70"/>
      <p:boldItalic r:id="rId71"/>
    </p:embeddedFont>
    <p:embeddedFont>
      <p:font typeface="Montserrat ExtraBold"/>
      <p:bold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MontserratExtraBold-boldItalic.fntdata"/><Relationship Id="rId72" Type="http://schemas.openxmlformats.org/officeDocument/2006/relationships/font" Target="fonts/MontserratExtraBold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alewayMedium-boldItalic.fntdata"/><Relationship Id="rId70" Type="http://schemas.openxmlformats.org/officeDocument/2006/relationships/font" Target="fonts/RalewayMedium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Medium-regular.fntdata"/><Relationship Id="rId61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64" Type="http://schemas.openxmlformats.org/officeDocument/2006/relationships/font" Target="fonts/MontserratMedium-italic.fntdata"/><Relationship Id="rId63" Type="http://schemas.openxmlformats.org/officeDocument/2006/relationships/font" Target="fonts/MontserratMedium-bold.fntdata"/><Relationship Id="rId22" Type="http://schemas.openxmlformats.org/officeDocument/2006/relationships/slide" Target="slides/slide17.xml"/><Relationship Id="rId66" Type="http://schemas.openxmlformats.org/officeDocument/2006/relationships/font" Target="fonts/LatoBlack-bold.fntdata"/><Relationship Id="rId21" Type="http://schemas.openxmlformats.org/officeDocument/2006/relationships/slide" Target="slides/slide16.xml"/><Relationship Id="rId65" Type="http://schemas.openxmlformats.org/officeDocument/2006/relationships/font" Target="fonts/MontserratMedium-boldItalic.fntdata"/><Relationship Id="rId24" Type="http://schemas.openxmlformats.org/officeDocument/2006/relationships/slide" Target="slides/slide19.xml"/><Relationship Id="rId68" Type="http://schemas.openxmlformats.org/officeDocument/2006/relationships/font" Target="fonts/RalewayMedium-regular.fntdata"/><Relationship Id="rId23" Type="http://schemas.openxmlformats.org/officeDocument/2006/relationships/slide" Target="slides/slide18.xml"/><Relationship Id="rId67" Type="http://schemas.openxmlformats.org/officeDocument/2006/relationships/font" Target="fonts/LatoBlack-boldItalic.fntdata"/><Relationship Id="rId60" Type="http://schemas.openxmlformats.org/officeDocument/2006/relationships/font" Target="fonts/Montserrat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alewayMedium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aleway-bold.fntdata"/><Relationship Id="rId10" Type="http://schemas.openxmlformats.org/officeDocument/2006/relationships/slide" Target="slides/slide5.xml"/><Relationship Id="rId54" Type="http://schemas.openxmlformats.org/officeDocument/2006/relationships/font" Target="fonts/Raleway-regular.fntdata"/><Relationship Id="rId13" Type="http://schemas.openxmlformats.org/officeDocument/2006/relationships/slide" Target="slides/slide8.xml"/><Relationship Id="rId57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56" Type="http://schemas.openxmlformats.org/officeDocument/2006/relationships/font" Target="fonts/Raleway-italic.fntdata"/><Relationship Id="rId15" Type="http://schemas.openxmlformats.org/officeDocument/2006/relationships/slide" Target="slides/slide10.xml"/><Relationship Id="rId59" Type="http://schemas.openxmlformats.org/officeDocument/2006/relationships/font" Target="fonts/Montserrat-bold.fntdata"/><Relationship Id="rId14" Type="http://schemas.openxmlformats.org/officeDocument/2006/relationships/slide" Target="slides/slide9.xml"/><Relationship Id="rId58" Type="http://schemas.openxmlformats.org/officeDocument/2006/relationships/font" Target="fonts/Montserrat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ustindistel?utm_source=unsplash&amp;utm_medium=referral&amp;utm_content=creditCopyText" TargetMode="External"/><Relationship Id="rId3" Type="http://schemas.openxmlformats.org/officeDocument/2006/relationships/hyperlink" Target="https://unsplash.com/@austindistel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Relationship Id="rId5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songoodman_youxventures?utm_source=unsplash&amp;utm_medium=referral&amp;utm_content=creditCopyText" TargetMode="External"/><Relationship Id="rId3" Type="http://schemas.openxmlformats.org/officeDocument/2006/relationships/hyperlink" Target="https://unsplash.com/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86d396e9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86d396e9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86d396e9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1186d396e9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186d396e9a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186d396e9a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186d396e9a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186d396e9a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86d396e9a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1186d396e9a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86d396e9a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186d396e9a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86d396e9a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186d396e9a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86d396e9a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1186d396e9a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186d396e9a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186d396e9a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186d396e9a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186d396e9a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186d396e9a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1186d396e9a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186d396e9a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186d396e9a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0f7e77748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0f7e77748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Austin Distel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86d396e9a_0_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186d396e9a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f8956bdba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0f8956bdba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0f8956bdb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0f8956bdb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186d396e9a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1186d396e9a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13d6c8b2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113d6c8b2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17787d02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17787d02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17787d023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17787d023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86d396e9a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86d396e9a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7787d023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17787d023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113d6c8b20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113d6c8b2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113d6c8b20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113d6c8b20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17787d023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17787d023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7787d023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7787d023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17787d023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17787d023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17787d023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17787d023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Photo by </a:t>
            </a:r>
            <a:r>
              <a:rPr lang="en" u="sng">
                <a:solidFill>
                  <a:schemeClr val="hlink"/>
                </a:solidFill>
                <a:hlinkClick r:id="rId2"/>
              </a:rPr>
              <a:t>Jason Goodman</a:t>
            </a:r>
            <a:r>
              <a:rPr lang="en">
                <a:solidFill>
                  <a:schemeClr val="dk1"/>
                </a:solidFill>
              </a:rPr>
              <a:t> on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127d2a467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1127d2a467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https://www.behance.net/queendychan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113d6c8b20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113d6c8b20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https://blogs.library.duke.edu/blog/2013/03/20/information-architecture-plans-for-the-library-website/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113d6c8b20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113d6c8b20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https://www.toptal.com/designers/ia/guide-to-information-architecture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113d6c8b20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113d6c8b20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from </a:t>
            </a:r>
            <a:r>
              <a:rPr lang="en">
                <a:solidFill>
                  <a:schemeClr val="dk1"/>
                </a:solidFill>
              </a:rPr>
              <a:t>https://blog.hubspot.com/website/information-architecture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186d396e9a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186d396e9a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0e8c3a84c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0e8c3a84c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113d6c8b20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113d6c8b20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113d6c8b20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113d6c8b20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113d6c8b20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113d6c8b20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113d6c8b20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113d6c8b20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113d6c8b20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113d6c8b2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113d6c8b20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113d6c8b20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113d6c8b20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113d6c8b20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113d6c8b20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113d6c8b20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113d6c8b20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113d6c8b20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12cd50498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12cd50498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12cd50498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12cd50498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12cd5049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12cd5049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8712bf7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118712bf7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18712bf7b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18712bf7b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1" name="Google Shape;81;p16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16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88" name="Google Shape;88;p16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uxdesign.cc/how-to-create-a-ux-sitemap-a-simple-guideline-8786c16f85c1" TargetMode="External"/><Relationship Id="rId4" Type="http://schemas.openxmlformats.org/officeDocument/2006/relationships/image" Target="../media/image36.png"/><Relationship Id="rId5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behance.net/queendychan" TargetMode="External"/><Relationship Id="rId4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blogs.library.duke.edu/blog/2013/03/20/information-architecture-plans-for-the-library-website/" TargetMode="External"/><Relationship Id="rId4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toptal.com/designers/ia/guide-to-information-architecture" TargetMode="External"/><Relationship Id="rId4" Type="http://schemas.openxmlformats.org/officeDocument/2006/relationships/image" Target="../media/image4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google.com/url?sa=i&amp;url=https%3A%2F%2Fblog.hubspot.com%2Fwebsite%2Finformation-architecture&amp;psig=AOvVaw0AWdjZPW7FCuaW9gtpZ5e8&amp;ust=1643699151263000&amp;source=images&amp;cd=vfe&amp;ved=0CAsQjRxqFwoTCIiQwNK22_UCFQAAAAAdAAAAABAI" TargetMode="External"/><Relationship Id="rId4" Type="http://schemas.openxmlformats.org/officeDocument/2006/relationships/image" Target="../media/image3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Relationship Id="rId4" Type="http://schemas.openxmlformats.org/officeDocument/2006/relationships/hyperlink" Target="https://www.interaction-design.org/literature/topics/design-thinking" TargetMode="External"/><Relationship Id="rId5" Type="http://schemas.openxmlformats.org/officeDocument/2006/relationships/hyperlink" Target="https://www.interaction-design.org/literature/article/5-stages-in-the-design-thinking-process" TargetMode="External"/><Relationship Id="rId6" Type="http://schemas.openxmlformats.org/officeDocument/2006/relationships/hyperlink" Target="https://www.interaction-design.org/literature/topics/ideation" TargetMode="External"/><Relationship Id="rId7" Type="http://schemas.openxmlformats.org/officeDocument/2006/relationships/hyperlink" Target="https://www.altexsoft.com/blog/uxdesign/information-architecture/" TargetMode="External"/><Relationship Id="rId8" Type="http://schemas.openxmlformats.org/officeDocument/2006/relationships/hyperlink" Target="https://xd.adobe.com/ideas/process/information-architecture/information-architecture-examples/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/>
        </p:nvSpPr>
        <p:spPr>
          <a:xfrm>
            <a:off x="2349675" y="27058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 Thinking: Ideate </a:t>
            </a:r>
            <a:r>
              <a:rPr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(Part 1)</a:t>
            </a:r>
            <a:endParaRPr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Silver 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Chapter 3 - Topic 3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" name="Google Shape;99;p17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/>
        </p:nvSpPr>
        <p:spPr>
          <a:xfrm>
            <a:off x="1746750" y="685025"/>
            <a:ext cx="56505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Selamat datang di </a:t>
            </a:r>
            <a:r>
              <a:rPr b="1" i="0" lang="en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Chapter </a:t>
            </a: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 Topik 3 </a:t>
            </a: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online course 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UI/UX Research/Design</a:t>
            </a:r>
            <a:r>
              <a:rPr b="1" i="0" lang="en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dari Binar Academy!</a:t>
            </a:r>
            <a:endParaRPr b="1" i="0" sz="16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288" y="1807025"/>
            <a:ext cx="3823424" cy="29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685800" y="1797150"/>
            <a:ext cx="41850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Pada topik pertama dan kedua, kita udah belajar tentang fase define. Mulai dari definisinya, kegiatan-kegiatan pada fase define, dan gimana proses memahami user.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Pada topik ketiga ini,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bakal masuk pada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fase ideate.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Kira-kira, fase ideate itu apa ya? Kegiatan-kegiatan apa aja yang bakal dilakukan pada fase ideate? Penasaran?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 langsung kita bahas~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425" y="942900"/>
            <a:ext cx="2885476" cy="363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671975" y="1160733"/>
            <a:ext cx="41148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12252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Detailnya, kita bakal bahas hal-hal berikut ini: </a:t>
            </a:r>
            <a:endParaRPr b="1" sz="1600">
              <a:solidFill>
                <a:srgbClr val="51225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831025" y="2350350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3" name="Google Shape;123;p20"/>
          <p:cNvSpPr/>
          <p:nvPr/>
        </p:nvSpPr>
        <p:spPr>
          <a:xfrm>
            <a:off x="831025" y="2885363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4" name="Google Shape;124;p20"/>
          <p:cNvSpPr/>
          <p:nvPr/>
        </p:nvSpPr>
        <p:spPr>
          <a:xfrm>
            <a:off x="831025" y="3420400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1324925" y="2117700"/>
            <a:ext cx="3247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Apa itu ideation?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1324925" y="2652725"/>
            <a:ext cx="3028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Mengapa fase ideation penting?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324925" y="3187750"/>
            <a:ext cx="3028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Kegiatan pada fase ideation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6" y="1097113"/>
            <a:ext cx="2743199" cy="351162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/>
          <p:nvPr/>
        </p:nvSpPr>
        <p:spPr>
          <a:xfrm>
            <a:off x="831025" y="3955425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1229375" y="3898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Information Architecture (IA)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625525" y="99825"/>
            <a:ext cx="6381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Apa itu ideation?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574800" y="1422288"/>
            <a:ext cx="4062300" cy="22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Ideate atau ideation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adalah fase ketiga dalam design thinking.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875" y="914400"/>
            <a:ext cx="21378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Apa itu ideation?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685800" y="166254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Apa sih ideation itu?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Pada fase define, kita menyortir data untuk memetakan inti permasalahan. Setelah mengetahui inti permasalahan, kita siap menciptakan sesuatu untuk menjawab permasalahan tersebut.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Tapi, sebelum itu, kita harus menemukan ide produk seperti apa yang ingin dikembangkan untuk menjawab permasalahan.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Proses menemukan ide inilah yang disebut ideate atau ideation.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500" y="919733"/>
            <a:ext cx="2469126" cy="3880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Apa itu ideation?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685800" y="19431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Aktivitas kunci pada fase ini adalah menghasilkan ide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dan berani berpikir out of the box.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menemukan ide yang out of the box, kita harus melakukan brainstorming dengan tim dan mencari inspirasi sebanyak mungkin.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328885"/>
            <a:ext cx="3892198" cy="3078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625525" y="99825"/>
            <a:ext cx="6381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Mengapa fase ideation penting?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574800" y="1422288"/>
            <a:ext cx="4062300" cy="22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Apa sih pentingnya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fase ideation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ini?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51" y="914399"/>
            <a:ext cx="1534095" cy="38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Mengapa fase ideation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Kalo nggak ada ide, produknya nggak bisa dibuat~ 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Kayak yang udah kita bahas tadi, ideation adalah proses menemukan ide untuk diterapkan dalam pengembangan produk.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Kalo nggak ada ide, yaa gimana produknya mau dibuat? Modelnya bakal seperti apa? Bingung kan~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 fase ideate inilah kita mengeksplorasi berbagai macam hal dan mencari inspirasi sebanyak-banyaknya untuk pengembangan produk kita.</a:t>
            </a:r>
            <a:endParaRPr b="1"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700" y="59002"/>
            <a:ext cx="3951299" cy="47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Mengapa fase ideation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685800" y="16002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Ide kita harus kaya ya!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harus eksplorasi ide sebanyak-banyaknya. Jangan terpaku pada satu ide.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Soalnya, kalo semakin banyak ide, maka kemungkinan menghasilkan produk yang optimal akan semakin tinggi. Sebaliknya, kalo ide kita cuma satu dan monoton, maka kemungkinan menghasilkan produk yang maksimal juga akan rendah. 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-92498"/>
            <a:ext cx="3951299" cy="47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625525" y="99825"/>
            <a:ext cx="6381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Kegiatan pada fase ideation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7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574800" y="1422288"/>
            <a:ext cx="4062300" cy="22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Terus, gimana sih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cara menemukan ide yang kaya? 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Kegiatan apa yang harus dilakukan?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914400"/>
            <a:ext cx="3290369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2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Kegiatan pada fase ideation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685800" y="1600195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Brainstorming~</a:t>
            </a: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Sebenarnya, kegiatan untuk eksplorasi ide itu sangat bervariasi, gengs. Kita bisa memakai teknik apa aja asalkan tujuannya tercapai.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Namun,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kegiatan yang paling umum dilakukan adalah brainstorming.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900" y="914400"/>
            <a:ext cx="3616740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2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Kegiatan pada fase ideation</a:t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685800" y="128015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Brainstorming adalah metode yang digunakan tim desain dalam menghasilkan ide untuk memecahkan masalah desain.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Brainstorming ini biasanya dilakukan dalam tim. Sehingga, ide-ide akan semakin kaya. Kata kunci dalam brainstorming adalah "Bagaimana kita bisa…?" atau “How might we…?”, untuk selanjutnya dijawab oleh anggota tim berupa ide-ide mereka.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Hasil dari proses ideation adalah Ide-ide yang ada kemudian dikumpulkan dan disajikan dalam sebuah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6" name="Google Shape;2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34645"/>
            <a:ext cx="3892199" cy="3491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Kegiatan pada fase ideation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685800" y="16002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Brainstorming ini ada aturannya, lho!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Ketika melakukan brainstorming, terdapat seorang fasilitator yang memandu jalannya proses brainstorming.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itu, terdapat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delapan aturan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yang harus dipatuhi dalam proses brainstorming.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Apa aja aturannya? Cek halaman selanjutnya yaa~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4" name="Google Shape;2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000" y="914400"/>
            <a:ext cx="2785614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3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Kegiatan pada fase ideation</a:t>
            </a:r>
            <a:endParaRPr/>
          </a:p>
        </p:txBody>
      </p:sp>
      <p:pic>
        <p:nvPicPr>
          <p:cNvPr id="241" name="Google Shape;2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50" y="1398075"/>
            <a:ext cx="8628895" cy="2586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Kegiatan pada fase ideation</a:t>
            </a:r>
            <a:endParaRPr/>
          </a:p>
        </p:txBody>
      </p:sp>
      <p:pic>
        <p:nvPicPr>
          <p:cNvPr id="248" name="Google Shape;2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50" y="1398075"/>
            <a:ext cx="8628900" cy="2527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2F67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3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3"/>
          <p:cNvSpPr txBox="1"/>
          <p:nvPr/>
        </p:nvSpPr>
        <p:spPr>
          <a:xfrm>
            <a:off x="625525" y="99825"/>
            <a:ext cx="63816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574800" y="1422288"/>
            <a:ext cx="4062300" cy="22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Kayak yang udah kita bahas, hasil brainstorming disajikan dalam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 (IA).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4" name="Google Shape;26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700" y="914400"/>
            <a:ext cx="3260470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271" name="Google Shape;271;p34"/>
          <p:cNvSpPr txBox="1"/>
          <p:nvPr/>
        </p:nvSpPr>
        <p:spPr>
          <a:xfrm>
            <a:off x="685800" y="14478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Emang apa sih Information Architecture itu?</a:t>
            </a:r>
            <a:endParaRPr b="1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mengatur agar ide-ide yang dihasilkan mudah diakses dan dipahami oleh user, maka kita perlu menata informasi tersebut sedemikian rupa dalam sebuah struktur.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struktur ini biasa dikenal dengan istilah Information Architecture.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72" name="Google Shape;2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475" y="1340338"/>
            <a:ext cx="4038600" cy="3088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279" name="Google Shape;279;p35"/>
          <p:cNvSpPr txBox="1"/>
          <p:nvPr/>
        </p:nvSpPr>
        <p:spPr>
          <a:xfrm>
            <a:off x="685800" y="1489375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Lengkapnya, Information Architecture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adalah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gambaran suatu model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atau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kon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sep informasi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yang digunakan dalam aktivitas-aktivitas yang membutuhkan detail eksplisit dari suatu sistem yang kompleks.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berfokus pada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pengorganisasian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penataan, dan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pelabelan konten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dengan cara yang efektif. Tujuannya adalah untuk membantu pengguna menemukan informasi yang akurat.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0" name="Google Shape;2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914400"/>
            <a:ext cx="2060710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3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287" name="Google Shape;287;p36"/>
          <p:cNvSpPr txBox="1"/>
          <p:nvPr/>
        </p:nvSpPr>
        <p:spPr>
          <a:xfrm>
            <a:off x="685800" y="1620975"/>
            <a:ext cx="4083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Biar enak dipahami, coba kita pakai analogi deh~</a:t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bisa menggunakan analogi penataan barang di minimarket sebagai sebuah Architecture Information.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 diamati, barang-barang di minimarket pasti akan ditata sesuai kategorinya, kan? Misal, rak produk makanan ringan pasti akan dibedakan dengan rak produk mainan anak, dan sebagainya.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88" name="Google Shape;2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725" y="1620976"/>
            <a:ext cx="3700650" cy="22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3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295" name="Google Shape;295;p37"/>
          <p:cNvSpPr txBox="1"/>
          <p:nvPr/>
        </p:nvSpPr>
        <p:spPr>
          <a:xfrm>
            <a:off x="685800" y="1662550"/>
            <a:ext cx="4083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produknya, setiap rak tadi juga pasti akan ditempatkan di lorong yang berbeda-beda sesuai kategori yang lebih umum.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Misalnya, rak makanan, snack, dan minuman, umumnya akan diletakkan berdekatan dan terpisah dengan rak kebutuhan rumah tangga seperti sabun cuci piring atau peralatan mandi.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6" name="Google Shape;29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1133448"/>
            <a:ext cx="3573600" cy="3154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3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303" name="Google Shape;303;p38"/>
          <p:cNvSpPr txBox="1"/>
          <p:nvPr/>
        </p:nvSpPr>
        <p:spPr>
          <a:xfrm>
            <a:off x="685800" y="136815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Dengan adanya struktur, akses jadi lebih mudah dan nggak bikin pusying~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Penataan semacam ini bisa memudahkan konsumen ketika berbelanja. Waktu untuk mencari barang yang dibutuhkan tentunya jadi semakin singkat dan praktis!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Kurang lebih mirip seperti penataan barang di minimarket,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 digunakan untuk mengklasifikasi dan menata informasi dalam aplikasi secara detail, sehingga user lebih mudah dalam mengakses aplikasi.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4" name="Google Shape;3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875" y="1288475"/>
            <a:ext cx="4069000" cy="335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0" name="Google Shape;310;p3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311" name="Google Shape;311;p39"/>
          <p:cNvSpPr txBox="1"/>
          <p:nvPr/>
        </p:nvSpPr>
        <p:spPr>
          <a:xfrm>
            <a:off x="685800" y="1406225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Sekarang, kita bahas cara menyusun sebuah Information Architecture (IA).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IA adalah cetak biru (blueprint) dari struktur desain yang dapat dibuat menjadi gambar rangka dan peta proyek. Desainer UX menggunakannya sebagai bahan dasar sehingga mereka dapat merencanakan sistem navigasi.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 beberapa langkah yang bisa kita tempuh untuk menyusun Information Architecture.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Buat detail langkah-langkahnya, cek halaman selanjutnya yaa~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2" name="Google Shape;3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99" y="1146969"/>
            <a:ext cx="3892200" cy="340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8" name="Google Shape;318;p4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pic>
        <p:nvPicPr>
          <p:cNvPr id="319" name="Google Shape;3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50" y="1398075"/>
            <a:ext cx="8628900" cy="2890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326" name="Google Shape;326;p41"/>
          <p:cNvSpPr txBox="1"/>
          <p:nvPr/>
        </p:nvSpPr>
        <p:spPr>
          <a:xfrm>
            <a:off x="685800" y="1284500"/>
            <a:ext cx="4273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Struktur informasi dalam UX bisa dipetakan dalam peta khusus yang disebut sitemap.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Sitemap adalah kerangka informasi terkait isi atau pilihan yang disediakan dalam produk atau layanan.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Hal ini berfungsi untuk memetakan hierarki dari setiap informasi yang disediakan.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Supaya kita punya visualisasi dari sebuah Information Architecture dalam UX, mari kita lihat sitemap aplikasi JOOX pada halaman selanjutnya~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7" name="Google Shape;3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475" y="1340338"/>
            <a:ext cx="4038600" cy="3088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pic>
        <p:nvPicPr>
          <p:cNvPr id="334" name="Google Shape;3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775" y="705888"/>
            <a:ext cx="5071241" cy="4335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341" name="Google Shape;341;p43"/>
          <p:cNvSpPr txBox="1"/>
          <p:nvPr/>
        </p:nvSpPr>
        <p:spPr>
          <a:xfrm>
            <a:off x="685800" y="1510147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Secara sederhana,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sitemap adalah gambaran alur informasi yang akan dihadapi user ketika mengakses suatu produk atau layanan.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Sitemap menggambarkan urutan atau tingkatan informasi apa saja yang akan ditampilkan dalam setiap tahapan ketika user menggunakan aplikasi.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2" name="Google Shape;34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475" y="1340338"/>
            <a:ext cx="4038600" cy="3088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349" name="Google Shape;349;p44"/>
          <p:cNvSpPr txBox="1"/>
          <p:nvPr/>
        </p:nvSpPr>
        <p:spPr>
          <a:xfrm>
            <a:off x="685800" y="1383100"/>
            <a:ext cx="3951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Misalnya gini…</a:t>
            </a:r>
            <a:endParaRPr b="1"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sewaktu kita tap menu Home pada JOOX, maka akan ada informasi dalam bentuk sub-menu rekomendasi lagu, atau lagu-lagu yang baru saja kita putar sebelumnya.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Ketika kita tap pada sub-menu yang ada, maka kita akan dibawa ke halaman tampilan lain. Alur perjalanan semacam ini yang digambarkan dalam sebuah sitemap.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 detail mengenai sitemap, bisa kamu cek di </a:t>
            </a: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sini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ya!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0" name="Google Shape;35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1316" y="1114688"/>
            <a:ext cx="1803860" cy="346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2975" y="1117926"/>
            <a:ext cx="1803851" cy="346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11676"/>
          <a:stretch/>
        </p:blipFill>
        <p:spPr>
          <a:xfrm>
            <a:off x="842481" y="914400"/>
            <a:ext cx="7971794" cy="3994249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4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359" name="Google Shape;359;p45"/>
          <p:cNvSpPr txBox="1"/>
          <p:nvPr/>
        </p:nvSpPr>
        <p:spPr>
          <a:xfrm>
            <a:off x="685800" y="1185675"/>
            <a:ext cx="2244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Information Architecture menggunakan flowchart #1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4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366" name="Google Shape;366;p46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Information Architecture #2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67" name="Google Shape;367;p4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4085" y="914400"/>
            <a:ext cx="5182514" cy="39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4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374" name="Google Shape;374;p47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Information Architecture #3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5" name="Google Shape;375;p4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2092" r="14443" t="10849"/>
          <a:stretch/>
        </p:blipFill>
        <p:spPr>
          <a:xfrm>
            <a:off x="3160850" y="1157526"/>
            <a:ext cx="5701473" cy="32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4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/>
          </a:p>
        </p:txBody>
      </p:sp>
      <p:sp>
        <p:nvSpPr>
          <p:cNvPr id="382" name="Google Shape;382;p48"/>
          <p:cNvSpPr txBox="1"/>
          <p:nvPr/>
        </p:nvSpPr>
        <p:spPr>
          <a:xfrm>
            <a:off x="685800" y="1185675"/>
            <a:ext cx="2215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Contoh Information Architecture #4</a:t>
            </a:r>
            <a:endParaRPr b="1" sz="1800">
              <a:solidFill>
                <a:srgbClr val="743673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83" name="Google Shape;383;p4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3374" l="0" r="0" t="0"/>
          <a:stretch/>
        </p:blipFill>
        <p:spPr>
          <a:xfrm>
            <a:off x="3167225" y="914400"/>
            <a:ext cx="5701475" cy="37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/>
        </p:nvSpPr>
        <p:spPr>
          <a:xfrm>
            <a:off x="914400" y="1013550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Saatnya kita 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Quiz!</a:t>
            </a:r>
            <a:endParaRPr b="1" sz="3000">
              <a:solidFill>
                <a:srgbClr val="FFAB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9" name="Google Shape;389;p49"/>
          <p:cNvPicPr preferRelativeResize="0"/>
          <p:nvPr/>
        </p:nvPicPr>
        <p:blipFill rotWithShape="1">
          <a:blip r:embed="rId3">
            <a:alphaModFix/>
          </a:blip>
          <a:srcRect b="35463" l="16341" r="18912" t="0"/>
          <a:stretch/>
        </p:blipFill>
        <p:spPr>
          <a:xfrm>
            <a:off x="2421325" y="2177750"/>
            <a:ext cx="3903698" cy="2965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50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Pada fase ideation, kita dapat memulai ….. untuk mengidentifikasi solusi terhadap pernyataan masalah yang telah kita buat.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berpikir dan terbiasa 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</a:t>
            </a: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erpikir di dalam kotak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</a:t>
            </a: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erpikir di dalam kebiasaan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berpikir diluar kebiasaan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6" name="Google Shape;396;p5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02" name="Google Shape;402;p51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Pada fase ideation, kita dapat memulai ….. untuk mengidentifikasi solusi terhadap pernyataan masalah yang telah kita buat.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berpikir dan terbiasa 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berpikir di dalam kotak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berpikir di dalam kebiasaan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berpikir diluar kebiasaan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3" name="Google Shape;403;p5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51"/>
          <p:cNvSpPr/>
          <p:nvPr/>
        </p:nvSpPr>
        <p:spPr>
          <a:xfrm>
            <a:off x="685800" y="3533125"/>
            <a:ext cx="7772400" cy="7479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Pada fase ideation, kita dapat mulai berpikir diluar kebiasaan atau out of the box untuk mengidentifikasi solusi terhadap pernyataan masalah yang telah kita buat.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10" name="Google Shape;410;p52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Pernyataan berikut yang sesuai dengan prinsip design thinking, kecuali…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Kita tidak boleh membatasi diri pada solusi desain tunggal dan membiarkan sebagian besar ruang desain tidak dijelajahi.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Janganlah p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uas dengan ide pertama, atau pada ide yang diberikan oleh manajemen yang lebih tinggi.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Menghabiskan waktu untuk memikirkan beberapa solusi adalah sebuah upaya yang sia-sia.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5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417" name="Google Shape;417;p53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Pernyataan berikut yang sesuai dengan prinsip design thinking, kecuali…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Kita tidak boleh membatasi diri pada solusi desain tunggal dan membiarkan sebagian besar ruang desain tidak dijelajahi.</a:t>
            </a:r>
            <a:endParaRPr sz="1200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Puaslah dengan ide pertama, atau pada ide yang diberikan oleh manajemen yang lebih tinggi.</a:t>
            </a:r>
            <a:endParaRPr sz="1200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Menghabiskan waktu untuk memikirkan beberapa solusi adalah sebuah upaya yang sia-sia.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8" name="Google Shape;418;p5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53"/>
          <p:cNvSpPr/>
          <p:nvPr/>
        </p:nvSpPr>
        <p:spPr>
          <a:xfrm>
            <a:off x="685800" y="3543300"/>
            <a:ext cx="7772400" cy="7377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Menghabiskan waktu untuk memikirkan beberapa solusi bukanlah upaya yang sia-sia. Dari sini, kita bisa memperkaya ide dan solusi untuk pengembangan produk.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25" name="Google Shape;425;p54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Pernyataan berikut sesuai dengan aturan-aturan brainstorming, kecuali…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Berpikir out of the box. Memunculkan ide-ide yang tidak biasa. 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Menghormati satu sama lain dan tidak memotong pembicaraan.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Berorientasi pada kualitas. Karena “K</a:t>
            </a: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ualitas menghasilkan kuantitas”. 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6" name="Google Shape;426;p5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432" name="Google Shape;432;p55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Pernyataan berikut sesuai dengan aturan-aturan brainstorming, kecuali…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Berpikir out of the box. Memunculkan ide-ide yang tidak biasa. 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Menghormati satu sama lain dan tidak memotong pembicaraan.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Berorientasi pada kualitas. Karena “Kualitas menghasilkan kuantitas”. 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3" name="Google Shape;433;p5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55"/>
          <p:cNvSpPr/>
          <p:nvPr/>
        </p:nvSpPr>
        <p:spPr>
          <a:xfrm>
            <a:off x="685800" y="3467300"/>
            <a:ext cx="7772400" cy="5643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Salah satu </a:t>
            </a: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aturan</a:t>
            </a: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 dalam brainstorming adalah berorientasi pada kuantitas, bukan kualitas.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40" name="Google Shape;440;p56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 adalah ….. dari struktur desain yang dapat dibuat menjadi gambar rangka dan peta proyek. 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Blueprint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Road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Phase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1" name="Google Shape;441;p5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447" name="Google Shape;447;p57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4. 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 adalah ….. dari struktur desain yang dapat dibuat menjadi gambar rangka dan peta proyek. 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Blueprint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Road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Phase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Map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8" name="Google Shape;448;p5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57"/>
          <p:cNvSpPr/>
          <p:nvPr/>
        </p:nvSpPr>
        <p:spPr>
          <a:xfrm>
            <a:off x="685800" y="3565075"/>
            <a:ext cx="7772400" cy="876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 adalah cetak biru (blueprint) dari struktur desain yang dapat dibuat menjadi gambar rangka dan peta proyek. Desainer UX menggunakannya sebagai bahan dasar sehingga mereka dapat merencanakan sistem navigasi.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55" name="Google Shape;455;p58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Tahap yang benar untuk menyusun sebuah Information Architecture adalah…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Lakukan riset, perbaharui konten, bangun hierarki, card sorting.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Lakukan riset, perbaharui konten, card sorting, bangun hierarki.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Lakukan riset, card sorting, perbaharui konten, bangun hierarki.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Lakukan riset, bangun hierarki, card sorting, perbaharui konten.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6" name="Google Shape;456;p5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Quiz</a:t>
            </a:r>
            <a:endParaRPr/>
          </a:p>
        </p:txBody>
      </p:sp>
      <p:sp>
        <p:nvSpPr>
          <p:cNvPr id="462" name="Google Shape;462;p59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5. 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Tahap yang benar untuk menyusun sebuah Information Architecture adalah… 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Lakukan riset, perbaharui konten, bangun hierarki, card sorting.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Lakukan riset, perbaharui konten, card sorting, bangun hierarki.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Lakukan riset, card sorting, perbaharui konten, bangun hierarki.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Lakukan riset, bangun hierarki, card sorting, perbaharui konten.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63" name="Google Shape;463;p5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59"/>
          <p:cNvSpPr/>
          <p:nvPr/>
        </p:nvSpPr>
        <p:spPr>
          <a:xfrm>
            <a:off x="685800" y="3540050"/>
            <a:ext cx="7772400" cy="709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Tahap yang benar untuk menyusun sebuah Information Architecture adalah: melakukan riset, memperbaharui konten, melaksanakan card sorting, dan membangun hierarki.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70" name="Google Shape;470;p60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Setiap situs web atau aplikasi membutuhkan sistem…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transportasi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navigasi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sanitasi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separasi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1" name="Google Shape;471;p6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Pembahasan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477" name="Google Shape;477;p61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6. </a:t>
            </a:r>
            <a:r>
              <a:rPr b="1"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Setiap situs web atau aplikasi membutuhkan sistem…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transportasi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navigasi</a:t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sanitasi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Montserrat Medium"/>
              <a:buAutoNum type="alphaUcPeriod"/>
            </a:pPr>
            <a:r>
              <a:rPr lang="en" sz="1200">
                <a:solidFill>
                  <a:srgbClr val="A667A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separasi</a:t>
            </a:r>
            <a:endParaRPr sz="1200">
              <a:solidFill>
                <a:srgbClr val="A667A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478" name="Google Shape;478;p6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61"/>
          <p:cNvSpPr/>
          <p:nvPr/>
        </p:nvSpPr>
        <p:spPr>
          <a:xfrm>
            <a:off x="685800" y="3345875"/>
            <a:ext cx="7772400" cy="8625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Setiap situs web atau aplikasi membutuhkan sistem navigasi. Sistem navigasi pada website adalah sebuah halaman atau dokumen yang memiliki struktur yang jelas dan tersusun dengan teratur.</a:t>
            </a:r>
            <a:endParaRPr b="1" sz="1200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6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Referensi dan bacaan lebih lanjut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6" name="Google Shape;48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6" y="1097113"/>
            <a:ext cx="2743199" cy="3511629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2"/>
          <p:cNvSpPr txBox="1"/>
          <p:nvPr/>
        </p:nvSpPr>
        <p:spPr>
          <a:xfrm>
            <a:off x="685800" y="1384203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Referensi dan bacaan lebih lanjut~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Design Thinking by Interaction Design Foundation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14300" lvl="0" marL="1143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Stages in The Design Thinking Process by Interaction Design Foundation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Ideation by Interaction Design Foundation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1450" lvl="0" marL="17145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Create Information Architecture for Web Design by altexsoft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5) </a:t>
            </a:r>
            <a:r>
              <a:rPr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Examples of Effective Information Architecture by XD Ideas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3673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3"/>
          <p:cNvSpPr txBox="1"/>
          <p:nvPr/>
        </p:nvSpPr>
        <p:spPr>
          <a:xfrm>
            <a:off x="618375" y="1536575"/>
            <a:ext cx="4112700" cy="24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Eits, pembahasan soal fase ideate belum selesai, lho! Ini baru part 1.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Kita bakal lanjut ngebahas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fase ideate part 2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setelah ini! 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Sampai ketemu di part 2 yaa~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3" name="Google Shape;49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431" y="676725"/>
            <a:ext cx="5687844" cy="433819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63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3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63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63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3"/>
          <p:cNvSpPr/>
          <p:nvPr/>
        </p:nvSpPr>
        <p:spPr>
          <a:xfrm>
            <a:off x="283668" y="252225"/>
            <a:ext cx="1620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63"/>
          <p:cNvSpPr/>
          <p:nvPr/>
        </p:nvSpPr>
        <p:spPr>
          <a:xfrm>
            <a:off x="465569" y="251687"/>
            <a:ext cx="44100" cy="1620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5950" y="105991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63"/>
          <p:cNvSpPr/>
          <p:nvPr/>
        </p:nvSpPr>
        <p:spPr>
          <a:xfrm>
            <a:off x="283670" y="433867"/>
            <a:ext cx="225900" cy="408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63"/>
          <p:cNvSpPr txBox="1"/>
          <p:nvPr/>
        </p:nvSpPr>
        <p:spPr>
          <a:xfrm>
            <a:off x="618377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Penutup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4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8" name="Google Shape;50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062" y="469363"/>
            <a:ext cx="5675881" cy="42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64"/>
          <p:cNvPicPr preferRelativeResize="0"/>
          <p:nvPr/>
        </p:nvPicPr>
        <p:blipFill rotWithShape="1">
          <a:blip r:embed="rId4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3225" y="6174213"/>
            <a:ext cx="1991475" cy="68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625" y="4141560"/>
            <a:ext cx="1991475" cy="685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