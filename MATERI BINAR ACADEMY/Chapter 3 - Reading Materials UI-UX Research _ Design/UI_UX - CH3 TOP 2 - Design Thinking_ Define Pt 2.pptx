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y="5143500" cx="9144000"/>
  <p:notesSz cx="6858000" cy="9144000"/>
  <p:embeddedFontLst>
    <p:embeddedFont>
      <p:font typeface="Raleway"/>
      <p:regular r:id="rId97"/>
      <p:bold r:id="rId98"/>
      <p:italic r:id="rId99"/>
      <p:boldItalic r:id="rId100"/>
    </p:embeddedFont>
    <p:embeddedFont>
      <p:font typeface="Montserrat"/>
      <p:regular r:id="rId101"/>
      <p:bold r:id="rId102"/>
      <p:italic r:id="rId103"/>
      <p:boldItalic r:id="rId104"/>
    </p:embeddedFont>
    <p:embeddedFont>
      <p:font typeface="Montserrat Medium"/>
      <p:regular r:id="rId105"/>
      <p:bold r:id="rId106"/>
      <p:italic r:id="rId107"/>
      <p:boldItalic r:id="rId108"/>
    </p:embeddedFont>
    <p:embeddedFont>
      <p:font typeface="Lato Black"/>
      <p:bold r:id="rId109"/>
      <p:boldItalic r:id="rId110"/>
    </p:embeddedFont>
    <p:embeddedFont>
      <p:font typeface="Raleway Medium"/>
      <p:regular r:id="rId111"/>
      <p:bold r:id="rId112"/>
      <p:italic r:id="rId113"/>
      <p:boldItalic r:id="rId114"/>
    </p:embeddedFont>
    <p:embeddedFont>
      <p:font typeface="Montserrat ExtraBold"/>
      <p:bold r:id="rId115"/>
      <p:boldItalic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MontserratMedium-italic.fntdata"/><Relationship Id="rId106" Type="http://schemas.openxmlformats.org/officeDocument/2006/relationships/font" Target="fonts/MontserratMedium-bold.fntdata"/><Relationship Id="rId105" Type="http://schemas.openxmlformats.org/officeDocument/2006/relationships/font" Target="fonts/MontserratMedium-regular.fntdata"/><Relationship Id="rId104" Type="http://schemas.openxmlformats.org/officeDocument/2006/relationships/font" Target="fonts/Montserrat-boldItalic.fntdata"/><Relationship Id="rId109" Type="http://schemas.openxmlformats.org/officeDocument/2006/relationships/font" Target="fonts/LatoBlack-bold.fntdata"/><Relationship Id="rId108" Type="http://schemas.openxmlformats.org/officeDocument/2006/relationships/font" Target="fonts/MontserratMedium-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Montserrat-italic.fntdata"/><Relationship Id="rId102" Type="http://schemas.openxmlformats.org/officeDocument/2006/relationships/font" Target="fonts/Montserrat-bold.fntdata"/><Relationship Id="rId101" Type="http://schemas.openxmlformats.org/officeDocument/2006/relationships/font" Target="fonts/Montserrat-regular.fntdata"/><Relationship Id="rId100" Type="http://schemas.openxmlformats.org/officeDocument/2006/relationships/font" Target="fonts/Raleway-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font" Target="fonts/Raleway-regular.fntdata"/><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Raleway-italic.fntdata"/><Relationship Id="rId10" Type="http://schemas.openxmlformats.org/officeDocument/2006/relationships/slide" Target="slides/slide5.xml"/><Relationship Id="rId98" Type="http://schemas.openxmlformats.org/officeDocument/2006/relationships/font" Target="fonts/Raleway-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6" Type="http://schemas.openxmlformats.org/officeDocument/2006/relationships/font" Target="fonts/MontserratExtraBold-boldItalic.fntdata"/><Relationship Id="rId115" Type="http://schemas.openxmlformats.org/officeDocument/2006/relationships/font" Target="fonts/MontserratExtraBold-bold.fntdata"/><Relationship Id="rId15" Type="http://schemas.openxmlformats.org/officeDocument/2006/relationships/slide" Target="slides/slide10.xml"/><Relationship Id="rId110" Type="http://schemas.openxmlformats.org/officeDocument/2006/relationships/font" Target="fonts/LatoBlack-bol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RalewayMedium-boldItalic.fntdata"/><Relationship Id="rId18" Type="http://schemas.openxmlformats.org/officeDocument/2006/relationships/slide" Target="slides/slide13.xml"/><Relationship Id="rId113" Type="http://schemas.openxmlformats.org/officeDocument/2006/relationships/font" Target="fonts/RalewayMedium-italic.fntdata"/><Relationship Id="rId112" Type="http://schemas.openxmlformats.org/officeDocument/2006/relationships/font" Target="fonts/RalewayMedium-bold.fntdata"/><Relationship Id="rId111" Type="http://schemas.openxmlformats.org/officeDocument/2006/relationships/font" Target="fonts/RalewayMedium-regular.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vement_special?utm_source=unsplash&amp;utm_medium=referral&amp;utm_content=creditCopyText" TargetMode="External"/><Relationship Id="rId3" Type="http://schemas.openxmlformats.org/officeDocument/2006/relationships/hyperlink" Target="https://unsplash.com/@pavement_special?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vement_special?utm_source=unsplash&amp;utm_medium=referral&amp;utm_content=creditCopyText" TargetMode="External"/><Relationship Id="rId3" Type="http://schemas.openxmlformats.org/officeDocument/2006/relationships/hyperlink" Target="https://unsplash.com/@pavement_special?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vement_special?utm_source=unsplash&amp;utm_medium=referral&amp;utm_content=creditCopyText" TargetMode="External"/><Relationship Id="rId3" Type="http://schemas.openxmlformats.org/officeDocument/2006/relationships/hyperlink" Target="https://unsplash.com/@pavement_special?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data-user?utm_source=unsplash&amp;utm_medium=referral&amp;utm_content=creditCopyText" TargetMode="External"/><Relationship Id="rId5" Type="http://schemas.openxmlformats.org/officeDocument/2006/relationships/hyperlink" Target="https://unsplash.com/s/photos/data-user?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adtripwithraj?utm_source=unsplash&amp;utm_medium=referral&amp;utm_content=creditCopyText" TargetMode="External"/><Relationship Id="rId3" Type="http://schemas.openxmlformats.org/officeDocument/2006/relationships/hyperlink" Target="https://unsplash.com/@roadtripwithraj?utm_source=unsplash&amp;utm_medium=referral&amp;utm_content=creditCopyText" TargetMode="External"/><Relationship Id="rId4" Type="http://schemas.openxmlformats.org/officeDocument/2006/relationships/hyperlink" Target="https://unsplash.com/s/photos/pain-points?utm_source=unsplash&amp;utm_medium=referral&amp;utm_content=creditCopyText" TargetMode="External"/><Relationship Id="rId5" Type="http://schemas.openxmlformats.org/officeDocument/2006/relationships/hyperlink" Target="https://unsplash.com/s/photos/pain-points?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hilberndt?utm_source=unsplash&amp;utm_medium=referral&amp;utm_content=creditCopyText" TargetMode="External"/><Relationship Id="rId3" Type="http://schemas.openxmlformats.org/officeDocument/2006/relationships/hyperlink" Target="https://unsplash.com/@philberndt?utm_source=unsplash&amp;utm_medium=referral&amp;utm_content=creditCopyText" TargetMode="External"/><Relationship Id="rId4" Type="http://schemas.openxmlformats.org/officeDocument/2006/relationships/hyperlink" Target="https://unsplash.com/s/photos/room?utm_source=unsplash&amp;utm_medium=referral&amp;utm_content=creditCopyText" TargetMode="External"/><Relationship Id="rId5" Type="http://schemas.openxmlformats.org/officeDocument/2006/relationships/hyperlink" Target="https://unsplash.com/s/photos/room?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abriellefaithhenderson?utm_source=unsplash&amp;utm_medium=referral&amp;utm_content=creditCopyText" TargetMode="External"/><Relationship Id="rId3" Type="http://schemas.openxmlformats.org/officeDocument/2006/relationships/hyperlink" Target="https://unsplash.com/@gabriellefaithhenderson?utm_source=unsplash&amp;utm_medium=referral&amp;utm_content=creditCopyText" TargetMode="External"/><Relationship Id="rId4" Type="http://schemas.openxmlformats.org/officeDocument/2006/relationships/hyperlink" Target="https://unsplash.com/s/photos/college-student?utm_source=unsplash&amp;utm_medium=referral&amp;utm_content=creditCopyText" TargetMode="External"/><Relationship Id="rId5" Type="http://schemas.openxmlformats.org/officeDocument/2006/relationships/hyperlink" Target="https://unsplash.com/s/photos/college-student?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71ee032a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171ee032a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171ee032aa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1171ee032aa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6840e544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6840e544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16840e544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16840e5446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16840e5446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16840e544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6840e5446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116840e5446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0f670bd1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0f670bd1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Riccardo Annandale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6840e5446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6840e5446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Riccardo Annandale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6840e5446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6840e5446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Riccardo Annandale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127d2a4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127d2a4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127d2a4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1127d2a46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6840e5446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6840e5446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6840e5446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16840e5446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127d2a46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127d2a46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177c58310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177c58310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1127d2a46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1127d2a46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77c58310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77c58310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6840e53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16840e53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7ec1b4d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117ec1b4da2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6840e53a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6840e53a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6840e53a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6840e53a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16840e53a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16840e53a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16840e53a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16840e53a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16840e53a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16840e53a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1800a81d4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11800a81d46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127d2a46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127d2a46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https://www.oreilly.com/library/view/hands-on-ux-design/9781788626699/1b429cd1-267d-4664-9602-966a2062b53f.xhtml</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1127d2a46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1127d2a46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https://www.oreilly.com/library/view/hands-on-ux-design/9781788626699/1b429cd1-267d-4664-9602-966a2062b53f.xhtml</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16840e538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16840e538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77c58310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77c58310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https://www.oreilly.com/library/view/hands-on-ux-design/9781788626699/1b429cd1-267d-4664-9602-966a2062b53f.xhtml</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1127d2a46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1127d2a46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127d2a46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127d2a46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127d2a46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1127d2a46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https://xtensio.com/user-persona-template/</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127d2a467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127d2a467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https://riyanthisianturi.com/persona/</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127d2a467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127d2a467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https://www.jeffbullas.com/reduce-facebook-ad-costs/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127d2a46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127d2a46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https://ergomania-ux.medium.com/the-ultimate-guide-to-creating-personas-and-how-to-use-them-to-enhance-your-business-1066b0d1f50b</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127d2a467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127d2a467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https://www.interaction-design.org/discuss/event/creation-of-personas-apr-13th-2019</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1127d2a467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1127d2a467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83b42a6d2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1183b42a6d2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127d2a467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127d2a467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Road Trip with Raj</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127d2a467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127d2a467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https://ecommerce-platforms.com/ecommerce-selling-advice/12-e-commerce-sites-inspirational-checkouts</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1127d2a467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1127d2a467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https://home.bluesnap.com/snap-center/blog/4-payment-page-design-examples-to-copy/</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1127d2a467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1127d2a467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8406d1e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8406d1e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1127d2a467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1127d2a467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https://careerfoundry.com/en/blog/ux-design/personas-vs-jtbd/</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1860f133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1860f13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https://careerfoundry.com/en/blog/ux-design/personas-vs-jtbd/</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1860f133a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11860f133a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https://careerfoundry.com/en/blog/ux-design/personas-vs-jtbd/</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1127d2a467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1127d2a467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Philipp Berndt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1860f133a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1860f133a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1860f133a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11860f133af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860f133a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860f133a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860f133a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860f133a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1860f133a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1860f133a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1127d2a467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1127d2a467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177c58310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177c58310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1860f133a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1860f133a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177ee1c0d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177ee1c0d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1860f133a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1860f133a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177ee1c0d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177ee1c0d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177ee1c0d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177ee1c0d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177ee1c0d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177ee1c0d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1127d2a467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1127d2a467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11127d2a46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1127d2a46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Gabrielle Henderson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1127d2a467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1127d2a467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11860f133a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11860f133a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11860f133a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11860f133a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11860f133a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11860f133a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1127d2a467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1127d2a467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1127d2a467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1127d2a467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d1ea7c62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d1ea7c62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https://digital.gov/2015/08/12/journey-mapping-the-customer-experience-a-usa-gov-case-study/</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11127d2a467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11127d2a467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1127d2a467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1127d2a467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11860f133a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8" name="Google Shape;758;g11860f133af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1127d2a467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11127d2a467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1186a02a3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1186a02a3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1186a02a3e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1186a02a3e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1186a02a3e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1186a02a3e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1186a02a3e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1186a02a3e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186a02a3e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186a02a3e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1127d2a467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11127d2a467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11127d2a467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11127d2a467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11127d2a467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11127d2a467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11127d2a467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11127d2a467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1127d2a467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1127d2a467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11127d2a467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11127d2a467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11127d2a467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11127d2a467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11127d2a467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11127d2a467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112c66a922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112c66a922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112c66a922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112c66a922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112c66a9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112c66a9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183629829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3" name="Google Shape;903;g1183629829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1186a02a3e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1186a02a3e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94" name="Shape 94"/>
        <p:cNvGrpSpPr/>
        <p:nvPr/>
      </p:nvGrpSpPr>
      <p:grpSpPr>
        <a:xfrm>
          <a:off x="0" y="0"/>
          <a:ext cx="0" cy="0"/>
          <a:chOff x="0" y="0"/>
          <a:chExt cx="0" cy="0"/>
        </a:xfrm>
      </p:grpSpPr>
      <p:sp>
        <p:nvSpPr>
          <p:cNvPr id="95" name="Google Shape;95;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6" name="Google Shape;96;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 name="Google Shape;97;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8" name="Shape 98"/>
        <p:cNvGrpSpPr/>
        <p:nvPr/>
      </p:nvGrpSpPr>
      <p:grpSpPr>
        <a:xfrm>
          <a:off x="0" y="0"/>
          <a:ext cx="0" cy="0"/>
          <a:chOff x="0" y="0"/>
          <a:chExt cx="0" cy="0"/>
        </a:xfrm>
      </p:grpSpPr>
      <p:sp>
        <p:nvSpPr>
          <p:cNvPr id="99" name="Google Shape;99;p21"/>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0" name="Google Shape;100;p21"/>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01" name="Google Shape;101;p21"/>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2" name="Google Shape;102;p2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3" name="Google Shape;103;p2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4" name="Google Shape;104;p21"/>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5" name="Google Shape;105;p2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6" name="Google Shape;106;p2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107" name="Google Shape;107;p21"/>
          <p:cNvGrpSpPr/>
          <p:nvPr/>
        </p:nvGrpSpPr>
        <p:grpSpPr>
          <a:xfrm>
            <a:off x="283668" y="259895"/>
            <a:ext cx="226001" cy="222980"/>
            <a:chOff x="283668" y="251687"/>
            <a:chExt cx="226001" cy="222980"/>
          </a:xfrm>
        </p:grpSpPr>
        <p:sp>
          <p:nvSpPr>
            <p:cNvPr id="108" name="Google Shape;108;p21"/>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9" name="Google Shape;109;p21"/>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10" name="Google Shape;110;p21"/>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111" name="Google Shape;111;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3" name="Google Shape;113;p21"/>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30.png"/><Relationship Id="rId5"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xtensio.com/user-persona-template/" TargetMode="External"/><Relationship Id="rId4" Type="http://schemas.openxmlformats.org/officeDocument/2006/relationships/image" Target="../media/image8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ergomania-ux.medium.com/the-ultimate-guide-to-creating-personas-and-how-to-use-them-to-enhance-your-business-1066b0d1f50b" TargetMode="External"/><Relationship Id="rId4" Type="http://schemas.openxmlformats.org/officeDocument/2006/relationships/image" Target="../media/image6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44.png"/><Relationship Id="rId5"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careerfoundry.com/en/blog/ux-design/what-is-a-persona/" TargetMode="External"/><Relationship Id="rId4"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careerfoundry.com/en/blog/ux-design/what-is-a-persona/" TargetMode="External"/><Relationship Id="rId4" Type="http://schemas.openxmlformats.org/officeDocument/2006/relationships/image" Target="../media/image4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careerfoundry.com/en/blog/ux-design/what-is-a-persona/" TargetMode="External"/><Relationship Id="rId4" Type="http://schemas.openxmlformats.org/officeDocument/2006/relationships/image" Target="../media/image4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7.png"/><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www.slideteam.net/customer-journey-mapping-example-improvement-opportunities.html" TargetMode="External"/><Relationship Id="rId4"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4.png"/><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https://unsplash.com/@gabriellefaithhenderson?utm_source=unsplash&amp;utm_medium=referral&amp;utm_content=creditCopyText" TargetMode="External"/><Relationship Id="rId4" Type="http://schemas.openxmlformats.org/officeDocument/2006/relationships/image" Target="../media/image8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6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6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7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7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6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8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8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image" Target="../media/image17.png"/><Relationship Id="rId4" Type="http://schemas.openxmlformats.org/officeDocument/2006/relationships/image" Target="../media/image6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s://media.nngroup.com/media/articles/attachments/JMTemplate.pdf" TargetMode="External"/><Relationship Id="rId4" Type="http://schemas.openxmlformats.org/officeDocument/2006/relationships/image" Target="../media/image7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6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7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7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7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7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71.png"/><Relationship Id="rId4" Type="http://schemas.openxmlformats.org/officeDocument/2006/relationships/hyperlink" Target="https://www.interaction-design.org/literature/topics/design-think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topics/defining-the-problem" TargetMode="External"/><Relationship Id="rId7" Type="http://schemas.openxmlformats.org/officeDocument/2006/relationships/hyperlink" Target="https://www.nngroup.com/articles/journey-mapping-101/" TargetMode="External"/><Relationship Id="rId8" Type="http://schemas.openxmlformats.org/officeDocument/2006/relationships/hyperlink" Target="https://www.nngroup.com/articles/customer-journey-mapping/"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77.png"/><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70.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17" name="Shape 117"/>
        <p:cNvGrpSpPr/>
        <p:nvPr/>
      </p:nvGrpSpPr>
      <p:grpSpPr>
        <a:xfrm>
          <a:off x="0" y="0"/>
          <a:ext cx="0" cy="0"/>
          <a:chOff x="0" y="0"/>
          <a:chExt cx="0" cy="0"/>
        </a:xfrm>
      </p:grpSpPr>
      <p:sp>
        <p:nvSpPr>
          <p:cNvPr id="118" name="Google Shape;118;p22"/>
          <p:cNvSpPr txBox="1"/>
          <p:nvPr/>
        </p:nvSpPr>
        <p:spPr>
          <a:xfrm>
            <a:off x="2349675" y="27058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Design Thinking: Define </a:t>
            </a:r>
            <a:r>
              <a:rPr lang="en" sz="2700">
                <a:solidFill>
                  <a:schemeClr val="lt1"/>
                </a:solidFill>
                <a:latin typeface="Montserrat"/>
                <a:ea typeface="Montserrat"/>
                <a:cs typeface="Montserrat"/>
                <a:sym typeface="Montserrat"/>
              </a:rPr>
              <a:t>(Part 2)</a:t>
            </a:r>
            <a:endParaRPr sz="27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3 - Topic 2</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119" name="Google Shape;119;p22"/>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20" name="Google Shape;120;p22"/>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24" name="Shape 124"/>
        <p:cNvGrpSpPr/>
        <p:nvPr/>
      </p:nvGrpSpPr>
      <p:grpSpPr>
        <a:xfrm>
          <a:off x="0" y="0"/>
          <a:ext cx="0" cy="0"/>
          <a:chOff x="0" y="0"/>
          <a:chExt cx="0" cy="0"/>
        </a:xfrm>
      </p:grpSpPr>
      <p:sp>
        <p:nvSpPr>
          <p:cNvPr id="125" name="Google Shape;125;p23"/>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3 Topik 2</a:t>
            </a:r>
            <a:r>
              <a:rPr b="1" i="0" lang="en" sz="1600" u="none" cap="none" strike="noStrike">
                <a:solidFill>
                  <a:schemeClr val="lt1"/>
                </a:solidFill>
                <a:latin typeface="Montserrat"/>
                <a:ea typeface="Montserrat"/>
                <a:cs typeface="Montserrat"/>
                <a:sym typeface="Montserrat"/>
              </a:rPr>
              <a:t> 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26" name="Google Shape;126;p23"/>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3" name="Google Shape;133;p24"/>
          <p:cNvSpPr txBox="1"/>
          <p:nvPr/>
        </p:nvSpPr>
        <p:spPr>
          <a:xfrm>
            <a:off x="487625" y="1797150"/>
            <a:ext cx="4149600" cy="1549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topik pertama, kita udah belajar tentang fase define. Mulai dari definisinya, mengapa fase define penting, dan kegiatan-kegiatan pada fase define.</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Pada topik kedua ini, </a:t>
            </a:r>
            <a:r>
              <a:rPr b="1" lang="en" sz="1000">
                <a:solidFill>
                  <a:schemeClr val="dk1"/>
                </a:solidFill>
                <a:latin typeface="Montserrat"/>
                <a:ea typeface="Montserrat"/>
                <a:cs typeface="Montserrat"/>
                <a:sym typeface="Montserrat"/>
              </a:rPr>
              <a:t>kita bakal bahas lebih dalam tentang fase define. </a:t>
            </a:r>
            <a:r>
              <a:rPr lang="en" sz="1000">
                <a:solidFill>
                  <a:schemeClr val="dk1"/>
                </a:solidFill>
                <a:latin typeface="Montserrat"/>
                <a:ea typeface="Montserrat"/>
                <a:cs typeface="Montserrat"/>
                <a:sym typeface="Montserrat"/>
              </a:rPr>
              <a:t>Penasaran kayak gimana? Cus langsung aja~</a:t>
            </a:r>
            <a:endParaRPr sz="1000">
              <a:solidFill>
                <a:schemeClr val="dk1"/>
              </a:solidFill>
              <a:latin typeface="Montserrat"/>
              <a:ea typeface="Montserrat"/>
              <a:cs typeface="Montserrat"/>
              <a:sym typeface="Montserrat"/>
            </a:endParaRPr>
          </a:p>
        </p:txBody>
      </p:sp>
      <p:pic>
        <p:nvPicPr>
          <p:cNvPr id="134" name="Google Shape;134;p24"/>
          <p:cNvPicPr preferRelativeResize="0"/>
          <p:nvPr/>
        </p:nvPicPr>
        <p:blipFill>
          <a:blip r:embed="rId3">
            <a:alphaModFix/>
          </a:blip>
          <a:stretch>
            <a:fillRect/>
          </a:stretch>
        </p:blipFill>
        <p:spPr>
          <a:xfrm>
            <a:off x="5257800" y="914400"/>
            <a:ext cx="3088988" cy="3886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41" name="Google Shape;141;p25"/>
          <p:cNvSpPr txBox="1"/>
          <p:nvPr/>
        </p:nvSpPr>
        <p:spPr>
          <a:xfrm>
            <a:off x="609600" y="1013458"/>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42" name="Google Shape;142;p25"/>
          <p:cNvSpPr/>
          <p:nvPr/>
        </p:nvSpPr>
        <p:spPr>
          <a:xfrm>
            <a:off x="831025" y="2154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3" name="Google Shape;143;p25"/>
          <p:cNvSpPr/>
          <p:nvPr/>
        </p:nvSpPr>
        <p:spPr>
          <a:xfrm>
            <a:off x="831025" y="258393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4" name="Google Shape;144;p25"/>
          <p:cNvSpPr/>
          <p:nvPr/>
        </p:nvSpPr>
        <p:spPr>
          <a:xfrm>
            <a:off x="831025" y="30135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txBox="1"/>
          <p:nvPr/>
        </p:nvSpPr>
        <p:spPr>
          <a:xfrm>
            <a:off x="1324925" y="1921700"/>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Memahami user</a:t>
            </a:r>
            <a:endParaRPr sz="1200">
              <a:solidFill>
                <a:schemeClr val="dk1"/>
              </a:solidFill>
              <a:latin typeface="Montserrat Medium"/>
              <a:ea typeface="Montserrat Medium"/>
              <a:cs typeface="Montserrat Medium"/>
              <a:sym typeface="Montserrat Medium"/>
            </a:endParaRPr>
          </a:p>
        </p:txBody>
      </p:sp>
      <p:sp>
        <p:nvSpPr>
          <p:cNvPr id="146" name="Google Shape;146;p25"/>
          <p:cNvSpPr txBox="1"/>
          <p:nvPr/>
        </p:nvSpPr>
        <p:spPr>
          <a:xfrm>
            <a:off x="1324925" y="2350350"/>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Proses memahami user</a:t>
            </a:r>
            <a:endParaRPr sz="1200">
              <a:solidFill>
                <a:schemeClr val="dk1"/>
              </a:solidFill>
              <a:latin typeface="Montserrat Medium"/>
              <a:ea typeface="Montserrat Medium"/>
              <a:cs typeface="Montserrat Medium"/>
              <a:sym typeface="Montserrat Medium"/>
            </a:endParaRPr>
          </a:p>
        </p:txBody>
      </p:sp>
      <p:sp>
        <p:nvSpPr>
          <p:cNvPr id="147" name="Google Shape;147;p25"/>
          <p:cNvSpPr txBox="1"/>
          <p:nvPr/>
        </p:nvSpPr>
        <p:spPr>
          <a:xfrm>
            <a:off x="1324925" y="2767163"/>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User personas</a:t>
            </a:r>
            <a:endParaRPr sz="1200">
              <a:solidFill>
                <a:schemeClr val="dk1"/>
              </a:solidFill>
              <a:latin typeface="Montserrat Medium"/>
              <a:ea typeface="Montserrat Medium"/>
              <a:cs typeface="Montserrat Medium"/>
              <a:sym typeface="Montserrat Medium"/>
            </a:endParaRPr>
          </a:p>
        </p:txBody>
      </p:sp>
      <p:sp>
        <p:nvSpPr>
          <p:cNvPr id="148" name="Google Shape;148;p25"/>
          <p:cNvSpPr txBox="1"/>
          <p:nvPr/>
        </p:nvSpPr>
        <p:spPr>
          <a:xfrm>
            <a:off x="1229350" y="3280250"/>
            <a:ext cx="3000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Pain points dan room for improvements</a:t>
            </a:r>
            <a:endParaRPr sz="1200">
              <a:solidFill>
                <a:schemeClr val="dk1"/>
              </a:solidFill>
              <a:latin typeface="Montserrat Medium"/>
              <a:ea typeface="Montserrat Medium"/>
              <a:cs typeface="Montserrat Medium"/>
              <a:sym typeface="Montserrat Medium"/>
            </a:endParaRPr>
          </a:p>
        </p:txBody>
      </p:sp>
      <p:sp>
        <p:nvSpPr>
          <p:cNvPr id="149" name="Google Shape;149;p25"/>
          <p:cNvSpPr txBox="1"/>
          <p:nvPr/>
        </p:nvSpPr>
        <p:spPr>
          <a:xfrm>
            <a:off x="1229350" y="386195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User journey maps</a:t>
            </a:r>
            <a:endParaRPr sz="1200">
              <a:solidFill>
                <a:schemeClr val="dk1"/>
              </a:solidFill>
              <a:latin typeface="Montserrat Medium"/>
              <a:ea typeface="Montserrat Medium"/>
              <a:cs typeface="Montserrat Medium"/>
              <a:sym typeface="Montserrat Medium"/>
            </a:endParaRPr>
          </a:p>
        </p:txBody>
      </p:sp>
      <p:sp>
        <p:nvSpPr>
          <p:cNvPr id="150" name="Google Shape;150;p25"/>
          <p:cNvSpPr/>
          <p:nvPr/>
        </p:nvSpPr>
        <p:spPr>
          <a:xfrm>
            <a:off x="831025" y="34431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5"/>
          <p:cNvSpPr/>
          <p:nvPr/>
        </p:nvSpPr>
        <p:spPr>
          <a:xfrm>
            <a:off x="831025" y="3918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 name="Google Shape;152;p25"/>
          <p:cNvPicPr preferRelativeResize="0"/>
          <p:nvPr/>
        </p:nvPicPr>
        <p:blipFill rotWithShape="1">
          <a:blip r:embed="rId3">
            <a:alphaModFix/>
          </a:blip>
          <a:srcRect b="0" l="17338" r="23748" t="0"/>
          <a:stretch/>
        </p:blipFill>
        <p:spPr>
          <a:xfrm>
            <a:off x="5287550" y="914400"/>
            <a:ext cx="3028075" cy="39176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Pengantar</a:t>
            </a:r>
            <a:endParaRPr/>
          </a:p>
        </p:txBody>
      </p:sp>
      <p:sp>
        <p:nvSpPr>
          <p:cNvPr id="159" name="Google Shape;159;p26"/>
          <p:cNvSpPr txBox="1"/>
          <p:nvPr/>
        </p:nvSpPr>
        <p:spPr>
          <a:xfrm>
            <a:off x="487625" y="16002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Recap dulu, yuk!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part 1, kita udah bahas kalo </a:t>
            </a:r>
            <a:r>
              <a:rPr b="1" lang="en" sz="1000">
                <a:solidFill>
                  <a:schemeClr val="dk1"/>
                </a:solidFill>
                <a:latin typeface="Montserrat"/>
                <a:ea typeface="Montserrat"/>
                <a:cs typeface="Montserrat"/>
                <a:sym typeface="Montserrat"/>
              </a:rPr>
              <a:t>pernyataan masalah itu harus berpusat pada pengguna.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1600"/>
              </a:spcAft>
              <a:buNone/>
            </a:pPr>
            <a:r>
              <a:rPr lang="en" sz="1000">
                <a:solidFill>
                  <a:schemeClr val="dk1"/>
                </a:solidFill>
                <a:latin typeface="Montserrat"/>
                <a:ea typeface="Montserrat"/>
                <a:cs typeface="Montserrat"/>
                <a:sym typeface="Montserrat"/>
              </a:rPr>
              <a:t>Pengguna dan kebutuhan mereka harus berada di depan dan di tengah pernyataan masalah. Misal, daripada memunculkan pernyataan “kita perlu…” atau “produk harus”, sebaiknya berkonsentrasi pada perspektif pengguna, seperti “Pegawai swasta yang bekerja membutuhkan…”.</a:t>
            </a:r>
            <a:endParaRPr b="1" sz="1000">
              <a:solidFill>
                <a:schemeClr val="dk1"/>
              </a:solidFill>
              <a:latin typeface="Montserrat"/>
              <a:ea typeface="Montserrat"/>
              <a:cs typeface="Montserrat"/>
              <a:sym typeface="Montserrat"/>
            </a:endParaRPr>
          </a:p>
        </p:txBody>
      </p:sp>
      <p:pic>
        <p:nvPicPr>
          <p:cNvPr id="160" name="Google Shape;160;p26"/>
          <p:cNvPicPr preferRelativeResize="0"/>
          <p:nvPr/>
        </p:nvPicPr>
        <p:blipFill>
          <a:blip r:embed="rId3">
            <a:alphaModFix/>
          </a:blip>
          <a:stretch>
            <a:fillRect/>
          </a:stretch>
        </p:blipFill>
        <p:spPr>
          <a:xfrm>
            <a:off x="5063525" y="914400"/>
            <a:ext cx="3389042" cy="3886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64" name="Shape 164"/>
        <p:cNvGrpSpPr/>
        <p:nvPr/>
      </p:nvGrpSpPr>
      <p:grpSpPr>
        <a:xfrm>
          <a:off x="0" y="0"/>
          <a:ext cx="0" cy="0"/>
          <a:chOff x="0" y="0"/>
          <a:chExt cx="0" cy="0"/>
        </a:xfrm>
      </p:grpSpPr>
      <p:sp>
        <p:nvSpPr>
          <p:cNvPr id="165" name="Google Shape;165;p2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6" name="Google Shape;166;p2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7" name="Google Shape;167;p2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8" name="Google Shape;168;p2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69" name="Google Shape;169;p27"/>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Memahami user (pengguna)</a:t>
            </a:r>
            <a:endParaRPr b="1" sz="1200">
              <a:solidFill>
                <a:schemeClr val="lt1"/>
              </a:solidFill>
              <a:latin typeface="Montserrat"/>
              <a:ea typeface="Montserrat"/>
              <a:cs typeface="Montserrat"/>
              <a:sym typeface="Montserrat"/>
            </a:endParaRPr>
          </a:p>
        </p:txBody>
      </p:sp>
      <p:sp>
        <p:nvSpPr>
          <p:cNvPr id="170" name="Google Shape;170;p2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71" name="Google Shape;171;p2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172" name="Google Shape;172;p27"/>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173" name="Google Shape;173;p2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74" name="Google Shape;174;p27"/>
          <p:cNvSpPr txBox="1"/>
          <p:nvPr/>
        </p:nvSpPr>
        <p:spPr>
          <a:xfrm>
            <a:off x="487625" y="1505425"/>
            <a:ext cx="41496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1600"/>
              </a:spcAft>
              <a:buClr>
                <a:schemeClr val="dk1"/>
              </a:buClr>
              <a:buSzPts val="1100"/>
              <a:buFont typeface="Arial"/>
              <a:buNone/>
            </a:pPr>
            <a:r>
              <a:rPr b="1" lang="en">
                <a:solidFill>
                  <a:schemeClr val="lt1"/>
                </a:solidFill>
                <a:latin typeface="Montserrat"/>
                <a:ea typeface="Montserrat"/>
                <a:cs typeface="Montserrat"/>
                <a:sym typeface="Montserrat"/>
              </a:rPr>
              <a:t>Nah, buat bikin pernyataan masalah yang berpusat pada pengguna, </a:t>
            </a:r>
            <a:r>
              <a:rPr b="1" lang="en">
                <a:solidFill>
                  <a:schemeClr val="accent1"/>
                </a:solidFill>
                <a:latin typeface="Montserrat"/>
                <a:ea typeface="Montserrat"/>
                <a:cs typeface="Montserrat"/>
                <a:sym typeface="Montserrat"/>
              </a:rPr>
              <a:t>kita harus pahami dulu si pengguna itu.</a:t>
            </a:r>
            <a:endParaRPr b="1">
              <a:solidFill>
                <a:schemeClr val="accent1"/>
              </a:solidFill>
              <a:latin typeface="Montserrat"/>
              <a:ea typeface="Montserrat"/>
              <a:cs typeface="Montserrat"/>
              <a:sym typeface="Montserrat"/>
            </a:endParaRPr>
          </a:p>
        </p:txBody>
      </p:sp>
      <p:sp>
        <p:nvSpPr>
          <p:cNvPr id="175" name="Google Shape;175;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6" name="Google Shape;176;p27"/>
          <p:cNvPicPr preferRelativeResize="0"/>
          <p:nvPr/>
        </p:nvPicPr>
        <p:blipFill>
          <a:blip r:embed="rId4">
            <a:alphaModFix/>
          </a:blip>
          <a:stretch>
            <a:fillRect/>
          </a:stretch>
        </p:blipFill>
        <p:spPr>
          <a:xfrm>
            <a:off x="5027600" y="914400"/>
            <a:ext cx="2805023" cy="388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183" name="Google Shape;183;p28"/>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Kamu masih ingat, 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engembangan suatu produk bukan sekedar untuk menciptakan inovasi baru, tapi juga untuk memenuhi kebutuhan pengguna.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a:t>
            </a:r>
            <a:r>
              <a:rPr b="1" lang="en" sz="1000">
                <a:solidFill>
                  <a:schemeClr val="dk1"/>
                </a:solidFill>
                <a:latin typeface="Montserrat"/>
                <a:ea typeface="Montserrat"/>
                <a:cs typeface="Montserrat"/>
                <a:sym typeface="Montserrat"/>
              </a:rPr>
              <a:t>ada kebutuhan perusahaan (business needs) dan kebutuhan pengguna (user needs) yang harus dipenuhi.</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Tapi, gimana ya kalo kebutuhan bisnis berbeda dengan kebutuhan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84" name="Google Shape;184;p28"/>
          <p:cNvPicPr preferRelativeResize="0"/>
          <p:nvPr/>
        </p:nvPicPr>
        <p:blipFill>
          <a:blip r:embed="rId3">
            <a:alphaModFix/>
          </a:blip>
          <a:stretch>
            <a:fillRect/>
          </a:stretch>
        </p:blipFill>
        <p:spPr>
          <a:xfrm>
            <a:off x="4724400" y="1388692"/>
            <a:ext cx="3892198" cy="29704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191" name="Google Shape;191;p29"/>
          <p:cNvSpPr txBox="1"/>
          <p:nvPr/>
        </p:nvSpPr>
        <p:spPr>
          <a:xfrm>
            <a:off x="487625" y="1216850"/>
            <a:ext cx="8129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Contohnya gini~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Alkisah, terdapat apartemen dengan satu lift yang lamban. Penghuni pun protes hingga mengancam untuk tidak melanjutkan kontrak mereka.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Ketika ditanyakan solusi yang terbaik, kebanyakan dari penghuni memberikan solusi agar dibuatkan lift yang baru. Solusi tersebut praktis, namun memakan biaya yang besar.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92" name="Google Shape;192;p29"/>
          <p:cNvPicPr preferRelativeResize="0"/>
          <p:nvPr/>
        </p:nvPicPr>
        <p:blipFill>
          <a:blip r:embed="rId3">
            <a:alphaModFix/>
          </a:blip>
          <a:stretch>
            <a:fillRect/>
          </a:stretch>
        </p:blipFill>
        <p:spPr>
          <a:xfrm>
            <a:off x="685800" y="2931637"/>
            <a:ext cx="7696200" cy="13979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199" name="Google Shape;199;p30"/>
          <p:cNvSpPr txBox="1"/>
          <p:nvPr/>
        </p:nvSpPr>
        <p:spPr>
          <a:xfrm>
            <a:off x="487625" y="1206450"/>
            <a:ext cx="8129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Manajer apartemen kemudian </a:t>
            </a:r>
            <a:r>
              <a:rPr lang="en" sz="1000">
                <a:solidFill>
                  <a:schemeClr val="dk1"/>
                </a:solidFill>
                <a:latin typeface="Montserrat"/>
                <a:ea typeface="Montserrat"/>
                <a:cs typeface="Montserrat"/>
                <a:sym typeface="Montserrat"/>
              </a:rPr>
              <a:t>memberikan solusi yang lebih sederhana dan murah. Manajer meminta untuk meletakkan cermin di samping pintu masuk lift. Ide ini terbukti efektif dan berhasil mengurangi komplain dari pengguna. Berkat cermin tersebut, orang jadi lupa berapa lama mereka telah menunggu lift.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00" name="Google Shape;200;p30"/>
          <p:cNvPicPr preferRelativeResize="0"/>
          <p:nvPr/>
        </p:nvPicPr>
        <p:blipFill>
          <a:blip r:embed="rId3">
            <a:alphaModFix/>
          </a:blip>
          <a:stretch>
            <a:fillRect/>
          </a:stretch>
        </p:blipFill>
        <p:spPr>
          <a:xfrm>
            <a:off x="1535425" y="2069800"/>
            <a:ext cx="6073149" cy="2734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207" name="Google Shape;207;p31"/>
          <p:cNvSpPr txBox="1"/>
          <p:nvPr/>
        </p:nvSpPr>
        <p:spPr>
          <a:xfrm>
            <a:off x="487625" y="136762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Kesimpulannya…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yang diminta user tidak selamanya merupakan solusi terbaik. Karena, user tidak selalu memahami masalah yang ia dihadapi.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Belajar dari kasus lift tadi, memahami kebutuhan user tidak cukup dengan hanya mendengarkan apa yang dikatakan user. Tapi, juga harus mengamati dan memaknai apa yang user katakan.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a:t>
            </a:r>
            <a:r>
              <a:rPr b="1" lang="en" sz="1000">
                <a:solidFill>
                  <a:schemeClr val="dk1"/>
                </a:solidFill>
                <a:latin typeface="Montserrat"/>
                <a:ea typeface="Montserrat"/>
                <a:cs typeface="Montserrat"/>
                <a:sym typeface="Montserrat"/>
              </a:rPr>
              <a:t>kita bisa menciptakan keputusan yang lebih efisien bagi user dan bagi perusahaan</a:t>
            </a:r>
            <a:r>
              <a:rPr lang="en" sz="1000">
                <a:solidFill>
                  <a:schemeClr val="dk1"/>
                </a:solidFill>
                <a:latin typeface="Montserrat"/>
                <a:ea typeface="Montserrat"/>
                <a:cs typeface="Montserrat"/>
                <a:sym typeface="Montserrat"/>
              </a:rPr>
              <a:t>. Istilahnya, win win solution.</a:t>
            </a:r>
            <a:endParaRPr sz="1000">
              <a:solidFill>
                <a:schemeClr val="dk1"/>
              </a:solidFill>
              <a:latin typeface="Montserrat"/>
              <a:ea typeface="Montserrat"/>
              <a:cs typeface="Montserrat"/>
              <a:sym typeface="Montserrat"/>
            </a:endParaRPr>
          </a:p>
        </p:txBody>
      </p:sp>
      <p:pic>
        <p:nvPicPr>
          <p:cNvPr id="208" name="Google Shape;208;p31"/>
          <p:cNvPicPr preferRelativeResize="0"/>
          <p:nvPr/>
        </p:nvPicPr>
        <p:blipFill>
          <a:blip r:embed="rId3">
            <a:alphaModFix/>
          </a:blip>
          <a:stretch>
            <a:fillRect/>
          </a:stretch>
        </p:blipFill>
        <p:spPr>
          <a:xfrm>
            <a:off x="5037900" y="1066800"/>
            <a:ext cx="3695073" cy="35814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2"/>
          <p:cNvPicPr preferRelativeResize="0"/>
          <p:nvPr/>
        </p:nvPicPr>
        <p:blipFill>
          <a:blip r:embed="rId3">
            <a:alphaModFix/>
          </a:blip>
          <a:stretch>
            <a:fillRect/>
          </a:stretch>
        </p:blipFill>
        <p:spPr>
          <a:xfrm>
            <a:off x="5069600" y="963776"/>
            <a:ext cx="3769599" cy="3604250"/>
          </a:xfrm>
          <a:prstGeom prst="rect">
            <a:avLst/>
          </a:prstGeom>
          <a:noFill/>
          <a:ln>
            <a:noFill/>
          </a:ln>
        </p:spPr>
      </p:pic>
      <p:sp>
        <p:nvSpPr>
          <p:cNvPr id="214" name="Google Shape;21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216" name="Google Shape;216;p32"/>
          <p:cNvSpPr txBox="1"/>
          <p:nvPr/>
        </p:nvSpPr>
        <p:spPr>
          <a:xfrm>
            <a:off x="487625" y="13103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Tapi, gimana sih caranya biar kebutuhan bisnis dan kebutuhan user sama-sama dapat dipenuhi?</a:t>
            </a:r>
            <a:endParaRPr b="1" sz="1600">
              <a:solidFill>
                <a:srgbClr val="743673"/>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Ada beberapa metode memahami user yang dapat digunakan, yaitu:</a:t>
            </a:r>
            <a:endParaRPr sz="1000">
              <a:solidFill>
                <a:schemeClr val="dk1"/>
              </a:solidFill>
              <a:latin typeface="Montserrat"/>
              <a:ea typeface="Montserrat"/>
              <a:cs typeface="Montserrat"/>
              <a:sym typeface="Montserrat"/>
            </a:endParaRPr>
          </a:p>
          <a:p>
            <a:pPr indent="-292100" lvl="0" marL="457200" rtl="0" algn="just">
              <a:lnSpc>
                <a:spcPct val="150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Interview</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Card sorting</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Focus group</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Survey/kuesioner</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Participatory design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Diary study</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Usability testing.</a:t>
            </a:r>
            <a:endParaRPr sz="1000">
              <a:solidFill>
                <a:schemeClr val="dk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Memahami user (pengguna)</a:t>
            </a:r>
            <a:endParaRPr/>
          </a:p>
        </p:txBody>
      </p:sp>
      <p:sp>
        <p:nvSpPr>
          <p:cNvPr id="223" name="Google Shape;223;p33"/>
          <p:cNvSpPr txBox="1"/>
          <p:nvPr/>
        </p:nvSpPr>
        <p:spPr>
          <a:xfrm>
            <a:off x="487625" y="1185675"/>
            <a:ext cx="4149600" cy="3200400"/>
          </a:xfrm>
          <a:prstGeom prst="rect">
            <a:avLst/>
          </a:prstGeom>
          <a:noFill/>
          <a:ln>
            <a:noFill/>
          </a:ln>
        </p:spPr>
        <p:txBody>
          <a:bodyPr anchorCtr="0" anchor="t" bIns="0" lIns="0" spcFirstLastPara="1" rIns="0" wrap="square" tIns="0">
            <a:noAutofit/>
          </a:bodyPr>
          <a:lstStyle/>
          <a:p>
            <a:pPr indent="0" lvl="0" marL="457200" rtl="0" algn="just">
              <a:lnSpc>
                <a:spcPct val="115000"/>
              </a:lnSpc>
              <a:spcBef>
                <a:spcPts val="0"/>
              </a:spcBef>
              <a:spcAft>
                <a:spcPts val="0"/>
              </a:spcAft>
              <a:buNone/>
            </a:pPr>
            <a:r>
              <a:t/>
            </a:r>
            <a:endParaRPr b="1" sz="1600">
              <a:solidFill>
                <a:srgbClr val="743673"/>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b="1" sz="1600">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Ragam metode tersebut dibutuhkan pada setiap fase design thinking, sejak awal hingga akhir proses desain.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Kita nggak akan bahas detail tentang metodenya ya, soalnya udah kita bahas pada chapter sebelumnya. So, kalo kamu lupa, silahkan cek materi chapter sebelumnya!</a:t>
            </a:r>
            <a:endParaRPr sz="1000">
              <a:solidFill>
                <a:schemeClr val="dk1"/>
              </a:solidFill>
              <a:latin typeface="Montserrat"/>
              <a:ea typeface="Montserrat"/>
              <a:cs typeface="Montserrat"/>
              <a:sym typeface="Montserrat"/>
            </a:endParaRPr>
          </a:p>
        </p:txBody>
      </p:sp>
      <p:pic>
        <p:nvPicPr>
          <p:cNvPr id="224" name="Google Shape;224;p33"/>
          <p:cNvPicPr preferRelativeResize="0"/>
          <p:nvPr/>
        </p:nvPicPr>
        <p:blipFill>
          <a:blip r:embed="rId3">
            <a:alphaModFix/>
          </a:blip>
          <a:stretch>
            <a:fillRect/>
          </a:stretch>
        </p:blipFill>
        <p:spPr>
          <a:xfrm>
            <a:off x="5403125" y="914400"/>
            <a:ext cx="2658868" cy="388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228" name="Shape 228"/>
        <p:cNvGrpSpPr/>
        <p:nvPr/>
      </p:nvGrpSpPr>
      <p:grpSpPr>
        <a:xfrm>
          <a:off x="0" y="0"/>
          <a:ext cx="0" cy="0"/>
          <a:chOff x="0" y="0"/>
          <a:chExt cx="0" cy="0"/>
        </a:xfrm>
      </p:grpSpPr>
      <p:sp>
        <p:nvSpPr>
          <p:cNvPr id="229" name="Google Shape;229;p3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30" name="Google Shape;230;p3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31" name="Google Shape;231;p3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32" name="Google Shape;232;p3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33" name="Google Shape;233;p34"/>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Proses m</a:t>
            </a:r>
            <a:r>
              <a:rPr b="1" lang="en" sz="1200">
                <a:solidFill>
                  <a:schemeClr val="lt1"/>
                </a:solidFill>
                <a:latin typeface="Montserrat"/>
                <a:ea typeface="Montserrat"/>
                <a:cs typeface="Montserrat"/>
                <a:sym typeface="Montserrat"/>
              </a:rPr>
              <a:t>emahami user</a:t>
            </a:r>
            <a:endParaRPr b="1" sz="1200">
              <a:solidFill>
                <a:schemeClr val="lt1"/>
              </a:solidFill>
              <a:latin typeface="Montserrat"/>
              <a:ea typeface="Montserrat"/>
              <a:cs typeface="Montserrat"/>
              <a:sym typeface="Montserrat"/>
            </a:endParaRPr>
          </a:p>
        </p:txBody>
      </p:sp>
      <p:sp>
        <p:nvSpPr>
          <p:cNvPr id="234" name="Google Shape;234;p3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35" name="Google Shape;235;p3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236" name="Google Shape;236;p34"/>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237" name="Google Shape;237;p3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38" name="Google Shape;238;p34"/>
          <p:cNvSpPr txBox="1"/>
          <p:nvPr/>
        </p:nvSpPr>
        <p:spPr>
          <a:xfrm>
            <a:off x="487625" y="1505425"/>
            <a:ext cx="41496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Mengetahui metode aja nggak cukup, lho! </a:t>
            </a:r>
            <a:endParaRPr b="1">
              <a:solidFill>
                <a:schemeClr val="lt1"/>
              </a:solidFill>
              <a:latin typeface="Montserrat"/>
              <a:ea typeface="Montserrat"/>
              <a:cs typeface="Montserrat"/>
              <a:sym typeface="Montserrat"/>
            </a:endParaRPr>
          </a:p>
          <a:p>
            <a:pPr indent="0" lvl="0" marL="0" rtl="0" algn="just">
              <a:lnSpc>
                <a:spcPct val="115000"/>
              </a:lnSpc>
              <a:spcBef>
                <a:spcPts val="1600"/>
              </a:spcBef>
              <a:spcAft>
                <a:spcPts val="1600"/>
              </a:spcAft>
              <a:buClr>
                <a:schemeClr val="dk1"/>
              </a:buClr>
              <a:buSzPts val="1100"/>
              <a:buFont typeface="Arial"/>
              <a:buNone/>
            </a:pPr>
            <a:r>
              <a:rPr b="1" lang="en">
                <a:solidFill>
                  <a:schemeClr val="lt1"/>
                </a:solidFill>
                <a:latin typeface="Montserrat"/>
                <a:ea typeface="Montserrat"/>
                <a:cs typeface="Montserrat"/>
                <a:sym typeface="Montserrat"/>
              </a:rPr>
              <a:t>Kita juga harus tahu gimana </a:t>
            </a:r>
            <a:r>
              <a:rPr b="1" lang="en">
                <a:solidFill>
                  <a:schemeClr val="accent1"/>
                </a:solidFill>
                <a:latin typeface="Montserrat"/>
                <a:ea typeface="Montserrat"/>
                <a:cs typeface="Montserrat"/>
                <a:sym typeface="Montserrat"/>
              </a:rPr>
              <a:t>proses memahami user.</a:t>
            </a:r>
            <a:endParaRPr b="1">
              <a:solidFill>
                <a:schemeClr val="accent1"/>
              </a:solidFill>
              <a:latin typeface="Montserrat"/>
              <a:ea typeface="Montserrat"/>
              <a:cs typeface="Montserrat"/>
              <a:sym typeface="Montserrat"/>
            </a:endParaRPr>
          </a:p>
        </p:txBody>
      </p:sp>
      <p:sp>
        <p:nvSpPr>
          <p:cNvPr id="239" name="Google Shape;239;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240" name="Google Shape;240;p34"/>
          <p:cNvPicPr preferRelativeResize="0"/>
          <p:nvPr/>
        </p:nvPicPr>
        <p:blipFill>
          <a:blip r:embed="rId4">
            <a:alphaModFix/>
          </a:blip>
          <a:stretch>
            <a:fillRect/>
          </a:stretch>
        </p:blipFill>
        <p:spPr>
          <a:xfrm>
            <a:off x="4724399" y="954644"/>
            <a:ext cx="3892201" cy="38105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247" name="Google Shape;247;p35"/>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Awali dengan data.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Data adalah koentji~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setiap proses memahami user, dapat </a:t>
            </a:r>
            <a:r>
              <a:rPr lang="en" sz="1000">
                <a:solidFill>
                  <a:schemeClr val="dk1"/>
                </a:solidFill>
                <a:latin typeface="Montserrat"/>
                <a:ea typeface="Montserrat"/>
                <a:cs typeface="Montserrat"/>
                <a:sym typeface="Montserrat"/>
              </a:rPr>
              <a:t>diawali</a:t>
            </a:r>
            <a:r>
              <a:rPr lang="en" sz="1000">
                <a:solidFill>
                  <a:schemeClr val="dk1"/>
                </a:solidFill>
                <a:latin typeface="Montserrat"/>
                <a:ea typeface="Montserrat"/>
                <a:cs typeface="Montserrat"/>
                <a:sym typeface="Montserrat"/>
              </a:rPr>
              <a:t> dengan pengumpulan data dari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Data dapat dikumpulkan melalui statistik, </a:t>
            </a:r>
            <a:r>
              <a:rPr lang="en" sz="1000">
                <a:solidFill>
                  <a:schemeClr val="dk1"/>
                </a:solidFill>
                <a:latin typeface="Montserrat"/>
                <a:ea typeface="Montserrat"/>
                <a:cs typeface="Montserrat"/>
                <a:sym typeface="Montserrat"/>
              </a:rPr>
              <a:t>shared understanding, riset, atau kombinasi dari ketiganya.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48" name="Google Shape;248;p35"/>
          <p:cNvPicPr preferRelativeResize="0"/>
          <p:nvPr/>
        </p:nvPicPr>
        <p:blipFill>
          <a:blip r:embed="rId3">
            <a:alphaModFix/>
          </a:blip>
          <a:stretch>
            <a:fillRect/>
          </a:stretch>
        </p:blipFill>
        <p:spPr>
          <a:xfrm>
            <a:off x="5693825" y="914400"/>
            <a:ext cx="2436665" cy="3886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255" name="Google Shape;255;p36"/>
          <p:cNvSpPr txBox="1"/>
          <p:nvPr/>
        </p:nvSpPr>
        <p:spPr>
          <a:xfrm>
            <a:off x="487625" y="135192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Buat ngumpulin data, kita bisa pakai pertanyaan panduan berikut ini!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memahami user, pertanyaan-pertanyaan yang harus kita temukan jawabannya antara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Bagaimana kebiasaan (behavior) user?</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 saja yang mereka lakukan?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 yang mereka pikirkan?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Bagaimana perasaannya?</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Apakah ada kendala atau kesulitan tertentu yang mereka alami?</a:t>
            </a:r>
            <a:endParaRPr sz="1000">
              <a:solidFill>
                <a:schemeClr val="dk1"/>
              </a:solidFill>
              <a:latin typeface="Montserrat"/>
              <a:ea typeface="Montserrat"/>
              <a:cs typeface="Montserrat"/>
              <a:sym typeface="Montserrat"/>
            </a:endParaRPr>
          </a:p>
        </p:txBody>
      </p:sp>
      <p:pic>
        <p:nvPicPr>
          <p:cNvPr id="256" name="Google Shape;256;p36"/>
          <p:cNvPicPr preferRelativeResize="0"/>
          <p:nvPr/>
        </p:nvPicPr>
        <p:blipFill>
          <a:blip r:embed="rId3">
            <a:alphaModFix/>
          </a:blip>
          <a:stretch>
            <a:fillRect/>
          </a:stretch>
        </p:blipFill>
        <p:spPr>
          <a:xfrm>
            <a:off x="4943075" y="1469413"/>
            <a:ext cx="4038600" cy="23413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263" name="Google Shape;263;p37"/>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FYI, penting buat menjaga etika ya bestie~  </a:t>
            </a:r>
            <a:r>
              <a:rPr b="1" lang="en" sz="1600">
                <a:solidFill>
                  <a:srgbClr val="743673"/>
                </a:solidFill>
                <a:highlight>
                  <a:schemeClr val="lt1"/>
                </a:highlight>
                <a:latin typeface="Montserrat"/>
                <a:ea typeface="Montserrat"/>
                <a:cs typeface="Montserrat"/>
                <a:sym typeface="Montserrat"/>
              </a:rPr>
              <a:t>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memahami user, aspek etika desain harus dipertimbangkan. Pengaplikasian etika desain bisa dilakukan dengan pertanyaan semacam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7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 isu yang sedang terjadi di lingkungan user ketika kita merancang sebuah produk untuk mereka?</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5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Apakah produk yang dibuat akan memberikan dampak diskriminatif terhadap user atau tidak?</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5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dan lain sebagainya!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64" name="Google Shape;264;p37"/>
          <p:cNvPicPr preferRelativeResize="0"/>
          <p:nvPr/>
        </p:nvPicPr>
        <p:blipFill>
          <a:blip r:embed="rId3">
            <a:alphaModFix/>
          </a:blip>
          <a:stretch>
            <a:fillRect/>
          </a:stretch>
        </p:blipFill>
        <p:spPr>
          <a:xfrm>
            <a:off x="1295250" y="1742450"/>
            <a:ext cx="255900" cy="255900"/>
          </a:xfrm>
          <a:prstGeom prst="rect">
            <a:avLst/>
          </a:prstGeom>
          <a:noFill/>
          <a:ln>
            <a:noFill/>
          </a:ln>
        </p:spPr>
      </p:pic>
      <p:pic>
        <p:nvPicPr>
          <p:cNvPr id="265" name="Google Shape;265;p37"/>
          <p:cNvPicPr preferRelativeResize="0"/>
          <p:nvPr/>
        </p:nvPicPr>
        <p:blipFill>
          <a:blip r:embed="rId4">
            <a:alphaModFix/>
          </a:blip>
          <a:stretch>
            <a:fillRect/>
          </a:stretch>
        </p:blipFill>
        <p:spPr>
          <a:xfrm>
            <a:off x="5544625" y="914400"/>
            <a:ext cx="1588245" cy="38861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272" name="Google Shape;272;p38"/>
          <p:cNvSpPr txBox="1"/>
          <p:nvPr/>
        </p:nvSpPr>
        <p:spPr>
          <a:xfrm>
            <a:off x="487625" y="13934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Kalau datanya udah ada, kita harus tentuin POV.</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Berdasarkan data yang udah ditemukan, kita dapat mengarahkan data tersebut pada suatu POV (Point of View).</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POV adalah </a:t>
            </a:r>
            <a:r>
              <a:rPr b="1" lang="en" sz="1000">
                <a:solidFill>
                  <a:schemeClr val="dk1"/>
                </a:solidFill>
                <a:latin typeface="Montserrat"/>
                <a:ea typeface="Montserrat"/>
                <a:cs typeface="Montserrat"/>
                <a:sym typeface="Montserrat"/>
              </a:rPr>
              <a:t>pandangan yang memberikan panduan untuk berfokus pada karakter spesifik, temuan spesifik, dan kebutuhan user secara spesifik.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POV ini berguna sebagai panduan utama selama proses desain. POV juga bisa membantu kita untuk lebih fokus melakukan ideasi dan menyelesaikan masalah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73" name="Google Shape;273;p38"/>
          <p:cNvPicPr preferRelativeResize="0"/>
          <p:nvPr/>
        </p:nvPicPr>
        <p:blipFill>
          <a:blip r:embed="rId3">
            <a:alphaModFix/>
          </a:blip>
          <a:stretch>
            <a:fillRect/>
          </a:stretch>
        </p:blipFill>
        <p:spPr>
          <a:xfrm>
            <a:off x="4724400" y="1532463"/>
            <a:ext cx="4201974" cy="2644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280" name="Google Shape;280;p39"/>
          <p:cNvSpPr txBox="1"/>
          <p:nvPr/>
        </p:nvSpPr>
        <p:spPr>
          <a:xfrm>
            <a:off x="487625" y="1841400"/>
            <a:ext cx="41496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000">
                <a:solidFill>
                  <a:srgbClr val="F2AB2F"/>
                </a:solidFill>
                <a:latin typeface="Montserrat"/>
                <a:ea typeface="Montserrat"/>
                <a:cs typeface="Montserrat"/>
                <a:sym typeface="Montserrat"/>
              </a:rPr>
              <a:t>Ingat ya, fokus pada user yang spesifik!</a:t>
            </a:r>
            <a:endParaRPr b="1" sz="1000">
              <a:solidFill>
                <a:srgbClr val="F2AB2F"/>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Dengan fokus pada user tertentu, kita tidak direpotkan dengan cakupan data yang begitu luas. Sehingga, kita dapat mengembangkan produk dengan kualitas yang tinggi.</a:t>
            </a:r>
            <a:endParaRPr sz="1000">
              <a:solidFill>
                <a:schemeClr val="dk1"/>
              </a:solidFill>
              <a:latin typeface="Montserrat"/>
              <a:ea typeface="Montserrat"/>
              <a:cs typeface="Montserrat"/>
              <a:sym typeface="Montserrat"/>
            </a:endParaRPr>
          </a:p>
        </p:txBody>
      </p:sp>
      <p:pic>
        <p:nvPicPr>
          <p:cNvPr id="281" name="Google Shape;281;p39"/>
          <p:cNvPicPr preferRelativeResize="0"/>
          <p:nvPr/>
        </p:nvPicPr>
        <p:blipFill>
          <a:blip r:embed="rId3">
            <a:alphaModFix/>
          </a:blip>
          <a:stretch>
            <a:fillRect/>
          </a:stretch>
        </p:blipFill>
        <p:spPr>
          <a:xfrm>
            <a:off x="4724400" y="1439308"/>
            <a:ext cx="3892199" cy="336129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285" name="Shape 285"/>
        <p:cNvGrpSpPr/>
        <p:nvPr/>
      </p:nvGrpSpPr>
      <p:grpSpPr>
        <a:xfrm>
          <a:off x="0" y="0"/>
          <a:ext cx="0" cy="0"/>
          <a:chOff x="0" y="0"/>
          <a:chExt cx="0" cy="0"/>
        </a:xfrm>
      </p:grpSpPr>
      <p:sp>
        <p:nvSpPr>
          <p:cNvPr id="286" name="Google Shape;286;p40"/>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87" name="Google Shape;287;p40"/>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88" name="Google Shape;288;p4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89" name="Google Shape;289;p4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90" name="Google Shape;290;p40"/>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Proses memahami user</a:t>
            </a:r>
            <a:endParaRPr b="1" sz="1200">
              <a:solidFill>
                <a:schemeClr val="lt1"/>
              </a:solidFill>
              <a:latin typeface="Montserrat"/>
              <a:ea typeface="Montserrat"/>
              <a:cs typeface="Montserrat"/>
              <a:sym typeface="Montserrat"/>
            </a:endParaRPr>
          </a:p>
        </p:txBody>
      </p:sp>
      <p:sp>
        <p:nvSpPr>
          <p:cNvPr id="291" name="Google Shape;291;p40"/>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92" name="Google Shape;292;p40"/>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293" name="Google Shape;293;p40"/>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294" name="Google Shape;294;p40"/>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95" name="Google Shape;295;p40"/>
          <p:cNvSpPr txBox="1"/>
          <p:nvPr/>
        </p:nvSpPr>
        <p:spPr>
          <a:xfrm>
            <a:off x="574800" y="1505413"/>
            <a:ext cx="40623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Clr>
                <a:schemeClr val="dk1"/>
              </a:buClr>
              <a:buSzPts val="1100"/>
              <a:buFont typeface="Arial"/>
              <a:buNone/>
            </a:pPr>
            <a:r>
              <a:rPr b="1" lang="en">
                <a:solidFill>
                  <a:schemeClr val="accent1"/>
                </a:solidFill>
                <a:latin typeface="Montserrat"/>
                <a:ea typeface="Montserrat"/>
                <a:cs typeface="Montserrat"/>
                <a:sym typeface="Montserrat"/>
              </a:rPr>
              <a:t>Pengen tahu gimana cara tentuin POV? </a:t>
            </a:r>
            <a:r>
              <a:rPr b="1" lang="en">
                <a:solidFill>
                  <a:schemeClr val="lt1"/>
                </a:solidFill>
                <a:latin typeface="Montserrat"/>
                <a:ea typeface="Montserrat"/>
                <a:cs typeface="Montserrat"/>
                <a:sym typeface="Montserrat"/>
              </a:rPr>
              <a:t> </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Tenang bestie~ kita bakalan bahas kok! Cek halaman selanjutnya yaa~</a:t>
            </a:r>
            <a:endParaRPr b="1">
              <a:solidFill>
                <a:schemeClr val="lt1"/>
              </a:solidFill>
              <a:latin typeface="Montserrat"/>
              <a:ea typeface="Montserrat"/>
              <a:cs typeface="Montserrat"/>
              <a:sym typeface="Montserrat"/>
            </a:endParaRPr>
          </a:p>
        </p:txBody>
      </p:sp>
      <p:sp>
        <p:nvSpPr>
          <p:cNvPr id="296" name="Google Shape;29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97" name="Google Shape;297;p40"/>
          <p:cNvPicPr preferRelativeResize="0"/>
          <p:nvPr/>
        </p:nvPicPr>
        <p:blipFill>
          <a:blip r:embed="rId4">
            <a:alphaModFix/>
          </a:blip>
          <a:stretch>
            <a:fillRect/>
          </a:stretch>
        </p:blipFill>
        <p:spPr>
          <a:xfrm>
            <a:off x="5037375" y="914400"/>
            <a:ext cx="2467724" cy="3886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304" name="Google Shape;304;p41"/>
          <p:cNvSpPr txBox="1"/>
          <p:nvPr/>
        </p:nvSpPr>
        <p:spPr>
          <a:xfrm>
            <a:off x="487625" y="1499750"/>
            <a:ext cx="4368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Pertama, gali informasi tentang user.</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Mulailah dengan data yang tersedia seperti business model canvas, user persona, empathy map, dan sebagainya.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Kedua, tentukan metode pendekatan user.</a:t>
            </a:r>
            <a:endParaRPr b="1" sz="1000">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Tentukan metode pendekatan user yang menurut kamu paling tepat berdasarkan kebutuhan dan kondisi tim maupun user.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Ketiga, rangkum temuan.</a:t>
            </a:r>
            <a:endParaRPr b="1" sz="1000">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Rangkum temuan menjadi informasi yang akan diterapkan sebagai solusi pengembangan produk.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05" name="Google Shape;305;p41"/>
          <p:cNvPicPr preferRelativeResize="0"/>
          <p:nvPr/>
        </p:nvPicPr>
        <p:blipFill>
          <a:blip r:embed="rId3">
            <a:alphaModFix/>
          </a:blip>
          <a:stretch>
            <a:fillRect/>
          </a:stretch>
        </p:blipFill>
        <p:spPr>
          <a:xfrm>
            <a:off x="5289525" y="914400"/>
            <a:ext cx="2658868" cy="3886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312" name="Google Shape;312;p42"/>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Rangkuman temuan bisa dibikin dalam format tabel kaya gini~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Dalam format </a:t>
            </a:r>
            <a:r>
              <a:rPr b="1" lang="en" sz="1000">
                <a:solidFill>
                  <a:schemeClr val="dk1"/>
                </a:solidFill>
                <a:latin typeface="Montserrat"/>
                <a:ea typeface="Montserrat"/>
                <a:cs typeface="Montserrat"/>
                <a:sym typeface="Montserrat"/>
              </a:rPr>
              <a:t>user - need - insight.</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User: </a:t>
            </a:r>
            <a:r>
              <a:rPr lang="en" sz="1000">
                <a:solidFill>
                  <a:schemeClr val="dk1"/>
                </a:solidFill>
                <a:latin typeface="Montserrat"/>
                <a:ea typeface="Montserrat"/>
                <a:cs typeface="Montserrat"/>
                <a:sym typeface="Montserrat"/>
              </a:rPr>
              <a:t>Berisi informasi tentang karakteristik pengguna.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Need: </a:t>
            </a:r>
            <a:r>
              <a:rPr lang="en" sz="1000">
                <a:solidFill>
                  <a:schemeClr val="dk1"/>
                </a:solidFill>
                <a:latin typeface="Montserrat"/>
                <a:ea typeface="Montserrat"/>
                <a:cs typeface="Montserrat"/>
                <a:sym typeface="Montserrat"/>
              </a:rPr>
              <a:t>Berisi informasi kebutuhan utama pengguna yang perlu dipenuhi.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Insight: </a:t>
            </a:r>
            <a:r>
              <a:rPr lang="en" sz="1000">
                <a:solidFill>
                  <a:schemeClr val="dk1"/>
                </a:solidFill>
                <a:latin typeface="Montserrat"/>
                <a:ea typeface="Montserrat"/>
                <a:cs typeface="Montserrat"/>
                <a:sym typeface="Montserrat"/>
              </a:rPr>
              <a:t>Berisi informasi lain seputar pengguna dan situasi atau permasalahan yang dihadapi.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Contohnya kaya gambar di samping yaa~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rgbClr val="652F67"/>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13" name="Google Shape;313;p42"/>
          <p:cNvPicPr preferRelativeResize="0"/>
          <p:nvPr/>
        </p:nvPicPr>
        <p:blipFill>
          <a:blip r:embed="rId3">
            <a:alphaModFix/>
          </a:blip>
          <a:stretch>
            <a:fillRect/>
          </a:stretch>
        </p:blipFill>
        <p:spPr>
          <a:xfrm>
            <a:off x="4830527" y="1655087"/>
            <a:ext cx="3892198" cy="246038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320" name="Google Shape;320;p43"/>
          <p:cNvSpPr txBox="1"/>
          <p:nvPr/>
        </p:nvSpPr>
        <p:spPr>
          <a:xfrm>
            <a:off x="487625" y="1321225"/>
            <a:ext cx="4368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b="1" sz="16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Clr>
                <a:schemeClr val="dk1"/>
              </a:buClr>
              <a:buSzPts val="1100"/>
              <a:buFont typeface="Arial"/>
              <a:buNone/>
            </a:pPr>
            <a:r>
              <a:rPr b="1" lang="en" sz="1600">
                <a:solidFill>
                  <a:srgbClr val="652F67"/>
                </a:solidFill>
                <a:latin typeface="Montserrat"/>
                <a:ea typeface="Montserrat"/>
                <a:cs typeface="Montserrat"/>
                <a:sym typeface="Montserrat"/>
              </a:rPr>
              <a:t>Kalo udah dirangkum dalam tabel, selanjutnya formulasikan dalam bentuk pernyataan.</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b="1" sz="1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Rumuskan pernyataan dalam format kaya gini: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sz="1000">
                <a:solidFill>
                  <a:schemeClr val="accent1"/>
                </a:solidFill>
                <a:latin typeface="Montserrat"/>
                <a:ea typeface="Montserrat"/>
                <a:cs typeface="Montserrat"/>
                <a:sym typeface="Montserrat"/>
              </a:rPr>
              <a:t>[User]</a:t>
            </a:r>
            <a:r>
              <a:rPr b="1" lang="en" sz="1000">
                <a:solidFill>
                  <a:schemeClr val="dk1"/>
                </a:solidFill>
                <a:latin typeface="Montserrat"/>
                <a:ea typeface="Montserrat"/>
                <a:cs typeface="Montserrat"/>
                <a:sym typeface="Montserrat"/>
              </a:rPr>
              <a:t> membutuhkan</a:t>
            </a:r>
            <a:r>
              <a:rPr b="1" lang="en" sz="1000">
                <a:solidFill>
                  <a:schemeClr val="accent1"/>
                </a:solidFill>
                <a:latin typeface="Montserrat"/>
                <a:ea typeface="Montserrat"/>
                <a:cs typeface="Montserrat"/>
                <a:sym typeface="Montserrat"/>
              </a:rPr>
              <a:t> [needs]</a:t>
            </a:r>
            <a:r>
              <a:rPr b="1" lang="en" sz="1000">
                <a:solidFill>
                  <a:schemeClr val="dk1"/>
                </a:solidFill>
                <a:latin typeface="Montserrat"/>
                <a:ea typeface="Montserrat"/>
                <a:cs typeface="Montserrat"/>
                <a:sym typeface="Montserrat"/>
              </a:rPr>
              <a:t> karena </a:t>
            </a:r>
            <a:r>
              <a:rPr b="1" lang="en" sz="1000">
                <a:solidFill>
                  <a:schemeClr val="accent1"/>
                </a:solidFill>
                <a:latin typeface="Montserrat"/>
                <a:ea typeface="Montserrat"/>
                <a:cs typeface="Montserrat"/>
                <a:sym typeface="Montserrat"/>
              </a:rPr>
              <a:t>[insight]</a:t>
            </a:r>
            <a:endParaRPr b="1" sz="10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a:solidFill>
                <a:schemeClr val="dk1"/>
              </a:solidFill>
              <a:latin typeface="Raleway Medium"/>
              <a:ea typeface="Raleway Medium"/>
              <a:cs typeface="Raleway Medium"/>
              <a:sym typeface="Raleway Medium"/>
            </a:endParaRPr>
          </a:p>
        </p:txBody>
      </p:sp>
      <p:pic>
        <p:nvPicPr>
          <p:cNvPr id="321" name="Google Shape;321;p43"/>
          <p:cNvPicPr preferRelativeResize="0"/>
          <p:nvPr/>
        </p:nvPicPr>
        <p:blipFill>
          <a:blip r:embed="rId3">
            <a:alphaModFix/>
          </a:blip>
          <a:stretch>
            <a:fillRect/>
          </a:stretch>
        </p:blipFill>
        <p:spPr>
          <a:xfrm>
            <a:off x="5327274" y="914400"/>
            <a:ext cx="2759637" cy="3886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328" name="Google Shape;328;p44"/>
          <p:cNvSpPr txBox="1"/>
          <p:nvPr/>
        </p:nvSpPr>
        <p:spPr>
          <a:xfrm>
            <a:off x="685800" y="709625"/>
            <a:ext cx="4368300" cy="85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600">
                <a:solidFill>
                  <a:srgbClr val="652F67"/>
                </a:solidFill>
                <a:latin typeface="Montserrat"/>
                <a:ea typeface="Montserrat"/>
                <a:cs typeface="Montserrat"/>
                <a:sym typeface="Montserrat"/>
              </a:rPr>
              <a:t>Contohnya gini~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000"/>
              </a:spcBef>
              <a:spcAft>
                <a:spcPts val="0"/>
              </a:spcAft>
              <a:buNone/>
            </a:pPr>
            <a:r>
              <a:t/>
            </a:r>
            <a:endParaRPr sz="1200">
              <a:solidFill>
                <a:schemeClr val="dk1"/>
              </a:solidFill>
              <a:latin typeface="Raleway Medium"/>
              <a:ea typeface="Raleway Medium"/>
              <a:cs typeface="Raleway Medium"/>
              <a:sym typeface="Raleway Medium"/>
            </a:endParaRPr>
          </a:p>
        </p:txBody>
      </p:sp>
      <p:sp>
        <p:nvSpPr>
          <p:cNvPr id="329" name="Google Shape;329;p44"/>
          <p:cNvSpPr txBox="1"/>
          <p:nvPr/>
        </p:nvSpPr>
        <p:spPr>
          <a:xfrm>
            <a:off x="592275" y="3594713"/>
            <a:ext cx="7680300" cy="1126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Nah, formulasi p</a:t>
            </a:r>
            <a:r>
              <a:rPr b="1" lang="en" sz="1000">
                <a:solidFill>
                  <a:schemeClr val="accent1"/>
                </a:solidFill>
                <a:latin typeface="Montserrat"/>
                <a:ea typeface="Montserrat"/>
                <a:cs typeface="Montserrat"/>
                <a:sym typeface="Montserrat"/>
              </a:rPr>
              <a:t>ernyataannya dapat dibuat seperti ini:</a:t>
            </a:r>
            <a:endParaRPr b="1" sz="1000">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M</a:t>
            </a:r>
            <a:r>
              <a:rPr lang="en" sz="1000">
                <a:solidFill>
                  <a:schemeClr val="dk1"/>
                </a:solidFill>
                <a:latin typeface="Montserrat"/>
                <a:ea typeface="Montserrat"/>
                <a:cs typeface="Montserrat"/>
                <a:sym typeface="Montserrat"/>
              </a:rPr>
              <a:t>ilenial yang tinggal di perumahan </a:t>
            </a:r>
            <a:r>
              <a:rPr b="1" lang="en" sz="1000">
                <a:solidFill>
                  <a:schemeClr val="dk1"/>
                </a:solidFill>
                <a:latin typeface="Montserrat"/>
                <a:ea typeface="Montserrat"/>
                <a:cs typeface="Montserrat"/>
                <a:sym typeface="Montserrat"/>
              </a:rPr>
              <a:t>membutuhkan</a:t>
            </a:r>
            <a:r>
              <a:rPr lang="en" sz="1000">
                <a:solidFill>
                  <a:schemeClr val="dk1"/>
                </a:solidFill>
                <a:latin typeface="Montserrat"/>
                <a:ea typeface="Montserrat"/>
                <a:cs typeface="Montserrat"/>
                <a:sym typeface="Montserrat"/>
              </a:rPr>
              <a:t> akses netflix selama 60-120 menit per hari, </a:t>
            </a:r>
            <a:r>
              <a:rPr b="1" lang="en" sz="1000">
                <a:solidFill>
                  <a:schemeClr val="dk1"/>
                </a:solidFill>
                <a:latin typeface="Montserrat"/>
                <a:ea typeface="Montserrat"/>
                <a:cs typeface="Montserrat"/>
                <a:sym typeface="Montserrat"/>
              </a:rPr>
              <a:t>karena</a:t>
            </a:r>
            <a:r>
              <a:rPr lang="en" sz="1000">
                <a:solidFill>
                  <a:schemeClr val="dk1"/>
                </a:solidFill>
                <a:latin typeface="Montserrat"/>
                <a:ea typeface="Montserrat"/>
                <a:cs typeface="Montserrat"/>
                <a:sym typeface="Montserrat"/>
              </a:rPr>
              <a:t> merasa menonton netflix sangat seru seperti menonton bioskop, terlebih lagi banyak pilihan setiap bulannya.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330" name="Google Shape;330;p44"/>
          <p:cNvPicPr preferRelativeResize="0"/>
          <p:nvPr/>
        </p:nvPicPr>
        <p:blipFill>
          <a:blip r:embed="rId3">
            <a:alphaModFix/>
          </a:blip>
          <a:stretch>
            <a:fillRect/>
          </a:stretch>
        </p:blipFill>
        <p:spPr>
          <a:xfrm>
            <a:off x="729151" y="1680775"/>
            <a:ext cx="7685699" cy="1688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Proses memahami user</a:t>
            </a:r>
            <a:endParaRPr/>
          </a:p>
        </p:txBody>
      </p:sp>
      <p:sp>
        <p:nvSpPr>
          <p:cNvPr id="337" name="Google Shape;337;p45"/>
          <p:cNvSpPr txBox="1"/>
          <p:nvPr/>
        </p:nvSpPr>
        <p:spPr>
          <a:xfrm>
            <a:off x="487625" y="1383575"/>
            <a:ext cx="4368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b="1" lang="en" sz="1600">
                <a:solidFill>
                  <a:srgbClr val="652F67"/>
                </a:solidFill>
                <a:latin typeface="Montserrat"/>
                <a:ea typeface="Montserrat"/>
                <a:cs typeface="Montserrat"/>
                <a:sym typeface="Montserrat"/>
              </a:rPr>
              <a:t>Saat menyusun POV, kita harus perhatikan kriteria berikut!</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00">
              <a:solidFill>
                <a:srgbClr val="652F67"/>
              </a:solidFill>
              <a:latin typeface="Montserrat"/>
              <a:ea typeface="Montserrat"/>
              <a:cs typeface="Montserrat"/>
              <a:sym typeface="Montserrat"/>
            </a:endParaRPr>
          </a:p>
          <a:p>
            <a:pPr indent="-292100" lvl="0" marL="457200" rtl="0" algn="just">
              <a:lnSpc>
                <a:spcPct val="150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Fokus dan spesifik, jangan terlalu luas dan umum.</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Paparkan masalah dalam bentuk pernyataan.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Harus inspiratif bagi tim.</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Dapat memandu inovasi produk.</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Mengandung kriteria dan evaluasi terhadap ide lain.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Menarik perhatian dan unik.</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Valid.</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Dapat ditindaklanjuti pada produk.</a:t>
            </a:r>
            <a:endParaRPr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600">
              <a:solidFill>
                <a:srgbClr val="652F67"/>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8" name="Google Shape;338;p45"/>
          <p:cNvPicPr preferRelativeResize="0"/>
          <p:nvPr/>
        </p:nvPicPr>
        <p:blipFill>
          <a:blip r:embed="rId3">
            <a:alphaModFix/>
          </a:blip>
          <a:stretch>
            <a:fillRect/>
          </a:stretch>
        </p:blipFill>
        <p:spPr>
          <a:xfrm>
            <a:off x="4637100" y="1383570"/>
            <a:ext cx="4080399" cy="31100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342" name="Shape 342"/>
        <p:cNvGrpSpPr/>
        <p:nvPr/>
      </p:nvGrpSpPr>
      <p:grpSpPr>
        <a:xfrm>
          <a:off x="0" y="0"/>
          <a:ext cx="0" cy="0"/>
          <a:chOff x="0" y="0"/>
          <a:chExt cx="0" cy="0"/>
        </a:xfrm>
      </p:grpSpPr>
      <p:sp>
        <p:nvSpPr>
          <p:cNvPr id="343" name="Google Shape;343;p4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44" name="Google Shape;344;p4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45" name="Google Shape;345;p4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46" name="Google Shape;346;p4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47" name="Google Shape;347;p46"/>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User personas</a:t>
            </a:r>
            <a:endParaRPr b="1" sz="1200">
              <a:solidFill>
                <a:schemeClr val="lt1"/>
              </a:solidFill>
              <a:latin typeface="Montserrat"/>
              <a:ea typeface="Montserrat"/>
              <a:cs typeface="Montserrat"/>
              <a:sym typeface="Montserrat"/>
            </a:endParaRPr>
          </a:p>
        </p:txBody>
      </p:sp>
      <p:sp>
        <p:nvSpPr>
          <p:cNvPr id="348" name="Google Shape;348;p4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49" name="Google Shape;349;p4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350" name="Google Shape;350;p46"/>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351" name="Google Shape;351;p4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52" name="Google Shape;352;p46"/>
          <p:cNvSpPr txBox="1"/>
          <p:nvPr/>
        </p:nvSpPr>
        <p:spPr>
          <a:xfrm>
            <a:off x="574800" y="18690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Point of view yang tepat membantu kita untuk memahami user secara tepat.</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Nah, buat mendapatkan point of view yang tepat, ada trik nya nih, bestie!</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Yaitu dengan</a:t>
            </a:r>
            <a:r>
              <a:rPr b="1" lang="en">
                <a:solidFill>
                  <a:schemeClr val="accent1"/>
                </a:solidFill>
                <a:latin typeface="Montserrat"/>
                <a:ea typeface="Montserrat"/>
                <a:cs typeface="Montserrat"/>
                <a:sym typeface="Montserrat"/>
              </a:rPr>
              <a:t> memahami user persona.</a:t>
            </a:r>
            <a:endParaRPr b="1">
              <a:solidFill>
                <a:schemeClr val="accent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b="1">
              <a:solidFill>
                <a:schemeClr val="accent1"/>
              </a:solidFill>
              <a:latin typeface="Montserrat"/>
              <a:ea typeface="Montserrat"/>
              <a:cs typeface="Montserrat"/>
              <a:sym typeface="Montserrat"/>
            </a:endParaRPr>
          </a:p>
        </p:txBody>
      </p:sp>
      <p:sp>
        <p:nvSpPr>
          <p:cNvPr id="353" name="Google Shape;353;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4" name="Google Shape;354;p46"/>
          <p:cNvPicPr preferRelativeResize="0"/>
          <p:nvPr/>
        </p:nvPicPr>
        <p:blipFill>
          <a:blip r:embed="rId4">
            <a:alphaModFix/>
          </a:blip>
          <a:stretch>
            <a:fillRect/>
          </a:stretch>
        </p:blipFill>
        <p:spPr>
          <a:xfrm>
            <a:off x="5540823" y="1269425"/>
            <a:ext cx="3075775" cy="2381250"/>
          </a:xfrm>
          <a:prstGeom prst="rect">
            <a:avLst/>
          </a:prstGeom>
          <a:noFill/>
          <a:ln>
            <a:noFill/>
          </a:ln>
        </p:spPr>
      </p:pic>
      <p:pic>
        <p:nvPicPr>
          <p:cNvPr id="355" name="Google Shape;355;p46"/>
          <p:cNvPicPr preferRelativeResize="0"/>
          <p:nvPr/>
        </p:nvPicPr>
        <p:blipFill>
          <a:blip r:embed="rId5">
            <a:alphaModFix/>
          </a:blip>
          <a:stretch>
            <a:fillRect/>
          </a:stretch>
        </p:blipFill>
        <p:spPr>
          <a:xfrm>
            <a:off x="4902147" y="1570900"/>
            <a:ext cx="1262675" cy="322970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1" name="Google Shape;361;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362" name="Google Shape;362;p47"/>
          <p:cNvSpPr txBox="1"/>
          <p:nvPr/>
        </p:nvSpPr>
        <p:spPr>
          <a:xfrm>
            <a:off x="487625"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Emang apa sih user persona?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User persona </a:t>
            </a:r>
            <a:r>
              <a:rPr lang="en" sz="1000">
                <a:solidFill>
                  <a:schemeClr val="dk1"/>
                </a:solidFill>
                <a:latin typeface="Montserrat"/>
                <a:ea typeface="Montserrat"/>
                <a:cs typeface="Montserrat"/>
                <a:sym typeface="Montserrat"/>
              </a:rPr>
              <a:t>adalah karakter fiksi atau aktual, yang kita buat berdasarkan penelitian untuk mewakili berbagai jenis pengguna yang menggunakan layanan, produk, situs, atau merek.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User Persona akan membantu kita dalam memahami tujuan user menggunakan produk, sekaligus memberikan gambaran bagaimana kemungkinan perilaku user ketika menggunakan suatu produk atau layanan.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63" name="Google Shape;363;p47"/>
          <p:cNvPicPr preferRelativeResize="0"/>
          <p:nvPr/>
        </p:nvPicPr>
        <p:blipFill>
          <a:blip r:embed="rId3">
            <a:alphaModFix/>
          </a:blip>
          <a:stretch>
            <a:fillRect/>
          </a:stretch>
        </p:blipFill>
        <p:spPr>
          <a:xfrm>
            <a:off x="4892100" y="1131350"/>
            <a:ext cx="4038600" cy="314054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370" name="Google Shape;370;p48"/>
          <p:cNvSpPr txBox="1"/>
          <p:nvPr/>
        </p:nvSpPr>
        <p:spPr>
          <a:xfrm>
            <a:off x="487625" y="1447800"/>
            <a:ext cx="4236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Berarti, banyak user yang harus kita teliti dong?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 tidak bestie~ Dalam user persona ini, kita cukup </a:t>
            </a:r>
            <a:r>
              <a:rPr b="1" lang="en" sz="1000">
                <a:solidFill>
                  <a:schemeClr val="dk1"/>
                </a:solidFill>
                <a:latin typeface="Montserrat"/>
                <a:ea typeface="Montserrat"/>
                <a:cs typeface="Montserrat"/>
                <a:sym typeface="Montserrat"/>
              </a:rPr>
              <a:t>melakukan riset </a:t>
            </a:r>
            <a:r>
              <a:rPr lang="en" sz="1000">
                <a:solidFill>
                  <a:schemeClr val="dk1"/>
                </a:solidFill>
                <a:latin typeface="Montserrat"/>
                <a:ea typeface="Montserrat"/>
                <a:cs typeface="Montserrat"/>
                <a:sym typeface="Montserrat"/>
              </a:rPr>
              <a:t>pada user tertentu yang dirasa dapat mewakili keseluruhan pengguna produk secara umum. Istilahnya, potential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cara yang paling sering dilakukan adalah mengumpulkan informasi melalui wawancara kepada setidaknya 10 orang responden. Kesepuluh orang ini yang kita sebut sebagai potential user.</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71" name="Google Shape;371;p48">
            <a:hlinkClick r:id="rId3"/>
          </p:cNvPr>
          <p:cNvPicPr preferRelativeResize="0"/>
          <p:nvPr/>
        </p:nvPicPr>
        <p:blipFill rotWithShape="1">
          <a:blip r:embed="rId4">
            <a:alphaModFix/>
          </a:blip>
          <a:srcRect b="8888" l="-2033" r="53145" t="2222"/>
          <a:stretch/>
        </p:blipFill>
        <p:spPr>
          <a:xfrm>
            <a:off x="5257800" y="1414575"/>
            <a:ext cx="3017525"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75" name="Shape 375"/>
        <p:cNvGrpSpPr/>
        <p:nvPr/>
      </p:nvGrpSpPr>
      <p:grpSpPr>
        <a:xfrm>
          <a:off x="0" y="0"/>
          <a:ext cx="0" cy="0"/>
          <a:chOff x="0" y="0"/>
          <a:chExt cx="0" cy="0"/>
        </a:xfrm>
      </p:grpSpPr>
      <p:sp>
        <p:nvSpPr>
          <p:cNvPr id="376" name="Google Shape;376;p49"/>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77" name="Google Shape;377;p49"/>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78" name="Google Shape;378;p49"/>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79" name="Google Shape;379;p49"/>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80" name="Google Shape;380;p49"/>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81" name="Google Shape;381;p49"/>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382" name="Google Shape;382;p49"/>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383" name="Google Shape;383;p49"/>
          <p:cNvSpPr txBox="1"/>
          <p:nvPr/>
        </p:nvSpPr>
        <p:spPr>
          <a:xfrm>
            <a:off x="487625" y="569925"/>
            <a:ext cx="4471800" cy="4507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600">
                <a:solidFill>
                  <a:srgbClr val="743673"/>
                </a:solidFill>
                <a:latin typeface="Montserrat"/>
                <a:ea typeface="Montserrat"/>
                <a:cs typeface="Montserrat"/>
                <a:sym typeface="Montserrat"/>
              </a:rPr>
              <a:t>User persona punya tiga unsur, nih!</a:t>
            </a:r>
            <a:endParaRPr b="1" sz="1600">
              <a:solidFill>
                <a:srgbClr val="743673"/>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00">
              <a:solidFill>
                <a:srgbClr val="743673"/>
              </a:solidFill>
              <a:latin typeface="Montserrat"/>
              <a:ea typeface="Montserrat"/>
              <a:cs typeface="Montserrat"/>
              <a:sym typeface="Montserrat"/>
            </a:endParaRPr>
          </a:p>
          <a:p>
            <a:pPr indent="-292100" lvl="0" marL="457200" rtl="0" algn="just">
              <a:lnSpc>
                <a:spcPct val="115000"/>
              </a:lnSpc>
              <a:spcBef>
                <a:spcPts val="1000"/>
              </a:spcBef>
              <a:spcAft>
                <a:spcPts val="0"/>
              </a:spcAft>
              <a:buSzPts val="1000"/>
              <a:buFont typeface="Montserrat"/>
              <a:buChar char="●"/>
            </a:pPr>
            <a:r>
              <a:rPr lang="en" sz="1000">
                <a:latin typeface="Montserrat"/>
                <a:ea typeface="Montserrat"/>
                <a:cs typeface="Montserrat"/>
                <a:sym typeface="Montserrat"/>
              </a:rPr>
              <a:t>Persona merupakan </a:t>
            </a:r>
            <a:r>
              <a:rPr b="1" lang="en" sz="1000">
                <a:latin typeface="Montserrat"/>
                <a:ea typeface="Montserrat"/>
                <a:cs typeface="Montserrat"/>
                <a:sym typeface="Montserrat"/>
              </a:rPr>
              <a:t>hipotesis yang bersifat aktual</a:t>
            </a:r>
            <a:r>
              <a:rPr lang="en" sz="1000">
                <a:latin typeface="Montserrat"/>
                <a:ea typeface="Montserrat"/>
                <a:cs typeface="Montserrat"/>
                <a:sym typeface="Montserrat"/>
              </a:rPr>
              <a:t>. Gunanya untuk menggabungkan kebutuhan, keinginan, dan pain points beberapa orang dengan sifat-sifat yang sama. Karakter yang disamakan tergantung pada pencipta persona dan didasarkan pada model perilaku atau mental yang terkait dengan masalah yang diselidiki.</a:t>
            </a:r>
            <a:endParaRPr sz="1000">
              <a:latin typeface="Montserrat"/>
              <a:ea typeface="Montserrat"/>
              <a:cs typeface="Montserrat"/>
              <a:sym typeface="Montserrat"/>
            </a:endParaRPr>
          </a:p>
          <a:p>
            <a:pPr indent="-292100" lvl="0" marL="457200" rtl="0" algn="just">
              <a:lnSpc>
                <a:spcPct val="115000"/>
              </a:lnSpc>
              <a:spcBef>
                <a:spcPts val="1000"/>
              </a:spcBef>
              <a:spcAft>
                <a:spcPts val="0"/>
              </a:spcAft>
              <a:buSzPts val="1000"/>
              <a:buFont typeface="Montserrat"/>
              <a:buChar char="●"/>
            </a:pPr>
            <a:r>
              <a:rPr lang="en" sz="1000">
                <a:latin typeface="Montserrat"/>
                <a:ea typeface="Montserrat"/>
                <a:cs typeface="Montserrat"/>
                <a:sym typeface="Montserrat"/>
              </a:rPr>
              <a:t>Persona adalah imajinasi yang dibentuk dari proses riset user yang teliti, presisi, dan signifikan. </a:t>
            </a:r>
            <a:endParaRPr sz="1000">
              <a:latin typeface="Montserrat"/>
              <a:ea typeface="Montserrat"/>
              <a:cs typeface="Montserrat"/>
              <a:sym typeface="Montserrat"/>
            </a:endParaRPr>
          </a:p>
          <a:p>
            <a:pPr indent="-292100" lvl="0" marL="457200" rtl="0" algn="just">
              <a:lnSpc>
                <a:spcPct val="115000"/>
              </a:lnSpc>
              <a:spcBef>
                <a:spcPts val="1000"/>
              </a:spcBef>
              <a:spcAft>
                <a:spcPts val="1000"/>
              </a:spcAft>
              <a:buSzPts val="1000"/>
              <a:buFont typeface="Montserrat"/>
              <a:buChar char="●"/>
            </a:pPr>
            <a:r>
              <a:rPr lang="en" sz="1000">
                <a:latin typeface="Montserrat"/>
                <a:ea typeface="Montserrat"/>
                <a:cs typeface="Montserrat"/>
                <a:sym typeface="Montserrat"/>
              </a:rPr>
              <a:t>Persona adalah salah satu informasi sampingan yang ditemukan dari riset, bukan sebagai penentu utama strategi pengembangan produk karena sifatnya yang dapat berubah-ubah.</a:t>
            </a:r>
            <a:endParaRPr sz="1000">
              <a:latin typeface="Montserrat"/>
              <a:ea typeface="Montserrat"/>
              <a:cs typeface="Montserrat"/>
              <a:sym typeface="Montserrat"/>
            </a:endParaRPr>
          </a:p>
        </p:txBody>
      </p:sp>
      <p:sp>
        <p:nvSpPr>
          <p:cNvPr id="384" name="Google Shape;384;p49"/>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85" name="Google Shape;385;p49"/>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User personas</a:t>
            </a:r>
            <a:endParaRPr b="1" sz="1200">
              <a:solidFill>
                <a:schemeClr val="lt1"/>
              </a:solidFill>
              <a:latin typeface="Raleway"/>
              <a:ea typeface="Raleway"/>
              <a:cs typeface="Raleway"/>
              <a:sym typeface="Raleway"/>
            </a:endParaRPr>
          </a:p>
          <a:p>
            <a:pPr indent="0" lvl="0" marL="0" rtl="0" algn="l">
              <a:spcBef>
                <a:spcPts val="0"/>
              </a:spcBef>
              <a:spcAft>
                <a:spcPts val="0"/>
              </a:spcAft>
              <a:buClr>
                <a:schemeClr val="lt1"/>
              </a:buClr>
              <a:buSzPts val="1100"/>
              <a:buFont typeface="Montserrat"/>
              <a:buNone/>
            </a:pPr>
            <a:r>
              <a:t/>
            </a:r>
            <a:endParaRPr b="1" sz="1100">
              <a:solidFill>
                <a:schemeClr val="lt1"/>
              </a:solidFill>
              <a:latin typeface="Montserrat"/>
              <a:ea typeface="Montserrat"/>
              <a:cs typeface="Montserrat"/>
              <a:sym typeface="Montserrat"/>
            </a:endParaRPr>
          </a:p>
        </p:txBody>
      </p:sp>
      <p:pic>
        <p:nvPicPr>
          <p:cNvPr id="386" name="Google Shape;386;p49"/>
          <p:cNvPicPr preferRelativeResize="0"/>
          <p:nvPr/>
        </p:nvPicPr>
        <p:blipFill>
          <a:blip r:embed="rId4">
            <a:alphaModFix/>
          </a:blip>
          <a:stretch>
            <a:fillRect/>
          </a:stretch>
        </p:blipFill>
        <p:spPr>
          <a:xfrm>
            <a:off x="5045375" y="1443861"/>
            <a:ext cx="3793825" cy="28916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latin typeface="Montserrat"/>
              <a:ea typeface="Montserrat"/>
              <a:cs typeface="Montserrat"/>
              <a:sym typeface="Montserrat"/>
            </a:endParaRPr>
          </a:p>
        </p:txBody>
      </p:sp>
      <p:sp>
        <p:nvSpPr>
          <p:cNvPr id="393" name="Google Shape;393;p50"/>
          <p:cNvSpPr txBox="1"/>
          <p:nvPr/>
        </p:nvSpPr>
        <p:spPr>
          <a:xfrm>
            <a:off x="487625" y="16001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Langkah-langkah membuat user persona.</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kalo udah tahu apa itu user persona, sekarang coba kita bahas gimana langkah-langkah dalam membuat sebuah user persona yang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Cek di halaman selanjutnya yaa!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94" name="Google Shape;394;p50"/>
          <p:cNvPicPr preferRelativeResize="0"/>
          <p:nvPr/>
        </p:nvPicPr>
        <p:blipFill>
          <a:blip r:embed="rId3">
            <a:alphaModFix/>
          </a:blip>
          <a:stretch>
            <a:fillRect/>
          </a:stretch>
        </p:blipFill>
        <p:spPr>
          <a:xfrm>
            <a:off x="5257800" y="912241"/>
            <a:ext cx="2681338" cy="388836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pic>
        <p:nvPicPr>
          <p:cNvPr id="401" name="Google Shape;401;p51"/>
          <p:cNvPicPr preferRelativeResize="0"/>
          <p:nvPr/>
        </p:nvPicPr>
        <p:blipFill>
          <a:blip r:embed="rId3">
            <a:alphaModFix/>
          </a:blip>
          <a:stretch>
            <a:fillRect/>
          </a:stretch>
        </p:blipFill>
        <p:spPr>
          <a:xfrm>
            <a:off x="2432214" y="3496675"/>
            <a:ext cx="4279572" cy="1303924"/>
          </a:xfrm>
          <a:prstGeom prst="rect">
            <a:avLst/>
          </a:prstGeom>
          <a:noFill/>
          <a:ln>
            <a:noFill/>
          </a:ln>
        </p:spPr>
      </p:pic>
      <p:pic>
        <p:nvPicPr>
          <p:cNvPr id="402" name="Google Shape;402;p51"/>
          <p:cNvPicPr preferRelativeResize="0"/>
          <p:nvPr/>
        </p:nvPicPr>
        <p:blipFill>
          <a:blip r:embed="rId4">
            <a:alphaModFix/>
          </a:blip>
          <a:stretch>
            <a:fillRect/>
          </a:stretch>
        </p:blipFill>
        <p:spPr>
          <a:xfrm>
            <a:off x="152400" y="1405138"/>
            <a:ext cx="8839204" cy="166598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pic>
        <p:nvPicPr>
          <p:cNvPr id="409" name="Google Shape;409;p52"/>
          <p:cNvPicPr preferRelativeResize="0"/>
          <p:nvPr/>
        </p:nvPicPr>
        <p:blipFill>
          <a:blip r:embed="rId3">
            <a:alphaModFix/>
          </a:blip>
          <a:stretch>
            <a:fillRect/>
          </a:stretch>
        </p:blipFill>
        <p:spPr>
          <a:xfrm>
            <a:off x="152400" y="1405150"/>
            <a:ext cx="8785623" cy="1904685"/>
          </a:xfrm>
          <a:prstGeom prst="rect">
            <a:avLst/>
          </a:prstGeom>
          <a:noFill/>
          <a:ln>
            <a:noFill/>
          </a:ln>
        </p:spPr>
      </p:pic>
      <p:grpSp>
        <p:nvGrpSpPr>
          <p:cNvPr id="410" name="Google Shape;410;p52"/>
          <p:cNvGrpSpPr/>
          <p:nvPr/>
        </p:nvGrpSpPr>
        <p:grpSpPr>
          <a:xfrm>
            <a:off x="14477700" y="1040347"/>
            <a:ext cx="2064000" cy="3217850"/>
            <a:chOff x="5195350" y="1189775"/>
            <a:chExt cx="2064000" cy="3217850"/>
          </a:xfrm>
        </p:grpSpPr>
        <p:sp>
          <p:nvSpPr>
            <p:cNvPr id="411" name="Google Shape;411;p52"/>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Langkah 9</a:t>
              </a:r>
              <a:endParaRPr b="1" sz="1000">
                <a:solidFill>
                  <a:srgbClr val="FFFFFF"/>
                </a:solidFill>
                <a:latin typeface="Montserrat"/>
                <a:ea typeface="Montserrat"/>
                <a:cs typeface="Montserrat"/>
                <a:sym typeface="Montserrat"/>
              </a:endParaRPr>
            </a:p>
          </p:txBody>
        </p:sp>
        <p:sp>
          <p:nvSpPr>
            <p:cNvPr id="412" name="Google Shape;412;p52"/>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000000"/>
                  </a:solidFill>
                  <a:latin typeface="Montserrat"/>
                  <a:ea typeface="Montserrat"/>
                  <a:cs typeface="Montserrat"/>
                  <a:sym typeface="Montserrat"/>
                </a:rPr>
                <a:t>Pastikan semua orang mengembangkan skenario</a:t>
              </a:r>
              <a:r>
                <a:rPr lang="en" sz="1000">
                  <a:solidFill>
                    <a:srgbClr val="000000"/>
                  </a:solidFill>
                  <a:latin typeface="Montserrat"/>
                  <a:ea typeface="Montserrat"/>
                  <a:cs typeface="Montserrat"/>
                  <a:sym typeface="Montserrat"/>
                </a:rPr>
                <a:t> – ini harus memaparkan data persona secara optimal </a:t>
              </a:r>
              <a:r>
                <a:rPr lang="en" sz="1000">
                  <a:latin typeface="Montserrat"/>
                  <a:ea typeface="Montserrat"/>
                  <a:cs typeface="Montserrat"/>
                  <a:sym typeface="Montserrat"/>
                </a:rPr>
                <a:t>pada</a:t>
              </a:r>
              <a:r>
                <a:rPr lang="en" sz="1000">
                  <a:solidFill>
                    <a:srgbClr val="000000"/>
                  </a:solidFill>
                  <a:latin typeface="Montserrat"/>
                  <a:ea typeface="Montserrat"/>
                  <a:cs typeface="Montserrat"/>
                  <a:sym typeface="Montserrat"/>
                </a:rPr>
                <a:t> kasus penggunaan</a:t>
              </a:r>
              <a:r>
                <a:rPr lang="en" sz="1000">
                  <a:latin typeface="Montserrat"/>
                  <a:ea typeface="Montserrat"/>
                  <a:cs typeface="Montserrat"/>
                  <a:sym typeface="Montserrat"/>
                </a:rPr>
                <a:t> produk</a:t>
              </a:r>
              <a:r>
                <a:rPr lang="en" sz="1000">
                  <a:solidFill>
                    <a:srgbClr val="000000"/>
                  </a:solidFill>
                  <a:latin typeface="Montserrat"/>
                  <a:ea typeface="Montserrat"/>
                  <a:cs typeface="Montserrat"/>
                  <a:sym typeface="Montserrat"/>
                </a:rPr>
                <a:t> yang potensial.</a:t>
              </a:r>
              <a:endParaRPr sz="1000">
                <a:solidFill>
                  <a:srgbClr val="000000"/>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rgbClr val="000000"/>
                </a:solidFill>
                <a:latin typeface="Montserrat"/>
                <a:ea typeface="Montserrat"/>
                <a:cs typeface="Montserrat"/>
                <a:sym typeface="Montserra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19" name="Google Shape;419;p53"/>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user persona #1</a:t>
            </a:r>
            <a:endParaRPr b="1" sz="1600">
              <a:solidFill>
                <a:schemeClr val="dk1"/>
              </a:solidFill>
              <a:latin typeface="Montserrat"/>
              <a:ea typeface="Montserrat"/>
              <a:cs typeface="Montserrat"/>
              <a:sym typeface="Montserrat"/>
            </a:endParaRPr>
          </a:p>
        </p:txBody>
      </p:sp>
      <p:pic>
        <p:nvPicPr>
          <p:cNvPr id="420" name="Google Shape;420;p53">
            <a:hlinkClick r:id="rId3"/>
          </p:cNvPr>
          <p:cNvPicPr preferRelativeResize="0"/>
          <p:nvPr/>
        </p:nvPicPr>
        <p:blipFill>
          <a:blip r:embed="rId4">
            <a:alphaModFix/>
          </a:blip>
          <a:stretch>
            <a:fillRect/>
          </a:stretch>
        </p:blipFill>
        <p:spPr>
          <a:xfrm>
            <a:off x="2627550" y="773300"/>
            <a:ext cx="6277448" cy="4135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27" name="Google Shape;427;p54"/>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 user persona #2</a:t>
            </a:r>
            <a:endParaRPr b="1" sz="1600">
              <a:solidFill>
                <a:schemeClr val="dk1"/>
              </a:solidFill>
              <a:latin typeface="Montserrat"/>
              <a:ea typeface="Montserrat"/>
              <a:cs typeface="Montserrat"/>
              <a:sym typeface="Montserrat"/>
            </a:endParaRPr>
          </a:p>
          <a:p>
            <a:pPr indent="0" lvl="0" marL="0" rtl="0" algn="l">
              <a:lnSpc>
                <a:spcPct val="100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428" name="Google Shape;428;p54"/>
          <p:cNvPicPr preferRelativeResize="0"/>
          <p:nvPr/>
        </p:nvPicPr>
        <p:blipFill rotWithShape="1">
          <a:blip r:embed="rId3">
            <a:alphaModFix/>
          </a:blip>
          <a:srcRect b="0" l="4026" r="4036" t="0"/>
          <a:stretch/>
        </p:blipFill>
        <p:spPr>
          <a:xfrm>
            <a:off x="2627550" y="773300"/>
            <a:ext cx="6277448" cy="4135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35" name="Google Shape;435;p55"/>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 user persona #3</a:t>
            </a:r>
            <a:endParaRPr b="1" sz="1600">
              <a:solidFill>
                <a:schemeClr val="dk1"/>
              </a:solidFill>
              <a:latin typeface="Montserrat"/>
              <a:ea typeface="Montserrat"/>
              <a:cs typeface="Montserrat"/>
              <a:sym typeface="Montserrat"/>
            </a:endParaRPr>
          </a:p>
          <a:p>
            <a:pPr indent="0" lvl="0" marL="0" rtl="0" algn="l">
              <a:lnSpc>
                <a:spcPct val="100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436" name="Google Shape;436;p55"/>
          <p:cNvPicPr preferRelativeResize="0"/>
          <p:nvPr/>
        </p:nvPicPr>
        <p:blipFill rotWithShape="1">
          <a:blip r:embed="rId3">
            <a:alphaModFix/>
          </a:blip>
          <a:srcRect b="0" l="4026" r="4036" t="0"/>
          <a:stretch/>
        </p:blipFill>
        <p:spPr>
          <a:xfrm>
            <a:off x="2627550" y="773300"/>
            <a:ext cx="6277448" cy="41353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43" name="Google Shape;443;p56"/>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user persona #4</a:t>
            </a:r>
            <a:endParaRPr b="1" sz="1800">
              <a:solidFill>
                <a:srgbClr val="743673"/>
              </a:solidFill>
              <a:highlight>
                <a:schemeClr val="lt1"/>
              </a:highlight>
              <a:latin typeface="Raleway"/>
              <a:ea typeface="Raleway"/>
              <a:cs typeface="Raleway"/>
              <a:sym typeface="Raleway"/>
            </a:endParaRPr>
          </a:p>
        </p:txBody>
      </p:sp>
      <p:pic>
        <p:nvPicPr>
          <p:cNvPr id="444" name="Google Shape;444;p56"/>
          <p:cNvPicPr preferRelativeResize="0"/>
          <p:nvPr/>
        </p:nvPicPr>
        <p:blipFill rotWithShape="1">
          <a:blip r:embed="rId3">
            <a:alphaModFix/>
          </a:blip>
          <a:srcRect b="6823" l="14045" r="14218" t="6144"/>
          <a:stretch/>
        </p:blipFill>
        <p:spPr>
          <a:xfrm>
            <a:off x="3509000" y="1005850"/>
            <a:ext cx="4503426" cy="3642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51" name="Google Shape;451;p57"/>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user persona #5</a:t>
            </a:r>
            <a:endParaRPr b="1" sz="1800">
              <a:solidFill>
                <a:srgbClr val="743673"/>
              </a:solidFill>
              <a:highlight>
                <a:schemeClr val="lt1"/>
              </a:highlight>
              <a:latin typeface="Raleway"/>
              <a:ea typeface="Raleway"/>
              <a:cs typeface="Raleway"/>
              <a:sym typeface="Raleway"/>
            </a:endParaRPr>
          </a:p>
        </p:txBody>
      </p:sp>
      <p:pic>
        <p:nvPicPr>
          <p:cNvPr id="452" name="Google Shape;452;p57">
            <a:hlinkClick r:id="rId3"/>
          </p:cNvPr>
          <p:cNvPicPr preferRelativeResize="0"/>
          <p:nvPr/>
        </p:nvPicPr>
        <p:blipFill rotWithShape="1">
          <a:blip r:embed="rId4">
            <a:alphaModFix/>
          </a:blip>
          <a:srcRect b="3691" l="-4810" r="0" t="-1347"/>
          <a:stretch/>
        </p:blipFill>
        <p:spPr>
          <a:xfrm>
            <a:off x="2627550" y="773300"/>
            <a:ext cx="6277448" cy="4135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personas</a:t>
            </a:r>
            <a:endParaRPr/>
          </a:p>
        </p:txBody>
      </p:sp>
      <p:sp>
        <p:nvSpPr>
          <p:cNvPr id="459" name="Google Shape;459;p58"/>
          <p:cNvSpPr txBox="1"/>
          <p:nvPr/>
        </p:nvSpPr>
        <p:spPr>
          <a:xfrm>
            <a:off x="487625" y="10515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User persona yang efektif kayak gimana sih?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4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highlight>
                  <a:schemeClr val="lt1"/>
                </a:highlight>
                <a:latin typeface="Montserrat"/>
                <a:ea typeface="Montserrat"/>
                <a:cs typeface="Montserrat"/>
                <a:sym typeface="Montserrat"/>
              </a:rPr>
              <a:t>User persona yang efektif memenuhi kriteria berikut ini:</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a:t>
            </a:r>
            <a:r>
              <a:rPr lang="en" sz="1000">
                <a:solidFill>
                  <a:schemeClr val="dk1"/>
                </a:solidFill>
                <a:latin typeface="Montserrat"/>
                <a:ea typeface="Montserrat"/>
                <a:cs typeface="Montserrat"/>
                <a:sym typeface="Montserrat"/>
              </a:rPr>
              <a:t>ewakili grup pengguna utama untuk situs web, produk atau layanan.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Mengekspresikan dan fokus pada kebutuhan dan harapan utama dari kelompok pengguna.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Memberikan gambaran yang jelas tentang harapan pengguna dan kemungkinan mereka menggunakan produk atau layanan.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Membantu mengungkap fitur dan fungsionalitas produk.</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Menjelaskan karakter pengguna, latar belakang, tujuan, dan nilai-nilai mereka.</a:t>
            </a:r>
            <a:endParaRPr sz="1000">
              <a:solidFill>
                <a:schemeClr val="dk1"/>
              </a:solidFill>
              <a:latin typeface="Montserrat"/>
              <a:ea typeface="Montserrat"/>
              <a:cs typeface="Montserrat"/>
              <a:sym typeface="Montserrat"/>
            </a:endParaRPr>
          </a:p>
        </p:txBody>
      </p:sp>
      <p:pic>
        <p:nvPicPr>
          <p:cNvPr id="460" name="Google Shape;460;p58"/>
          <p:cNvPicPr preferRelativeResize="0"/>
          <p:nvPr/>
        </p:nvPicPr>
        <p:blipFill>
          <a:blip r:embed="rId3">
            <a:alphaModFix/>
          </a:blip>
          <a:stretch>
            <a:fillRect/>
          </a:stretch>
        </p:blipFill>
        <p:spPr>
          <a:xfrm>
            <a:off x="4724400" y="1299000"/>
            <a:ext cx="3892201" cy="313804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464" name="Shape 464"/>
        <p:cNvGrpSpPr/>
        <p:nvPr/>
      </p:nvGrpSpPr>
      <p:grpSpPr>
        <a:xfrm>
          <a:off x="0" y="0"/>
          <a:ext cx="0" cy="0"/>
          <a:chOff x="0" y="0"/>
          <a:chExt cx="0" cy="0"/>
        </a:xfrm>
      </p:grpSpPr>
      <p:sp>
        <p:nvSpPr>
          <p:cNvPr id="465" name="Google Shape;465;p59"/>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6" name="Google Shape;466;p59"/>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7" name="Google Shape;467;p59"/>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8" name="Google Shape;468;p59"/>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9" name="Google Shape;469;p59"/>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Pain points dan room for improvements</a:t>
            </a:r>
            <a:endParaRPr b="1" sz="1200">
              <a:solidFill>
                <a:schemeClr val="lt1"/>
              </a:solidFill>
              <a:latin typeface="Montserrat"/>
              <a:ea typeface="Montserrat"/>
              <a:cs typeface="Montserrat"/>
              <a:sym typeface="Montserrat"/>
            </a:endParaRPr>
          </a:p>
        </p:txBody>
      </p:sp>
      <p:sp>
        <p:nvSpPr>
          <p:cNvPr id="470" name="Google Shape;470;p59"/>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1" name="Google Shape;471;p59"/>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72" name="Google Shape;472;p59"/>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473" name="Google Shape;473;p59"/>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4" name="Google Shape;474;p59"/>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Setelah memahami karakter dan latar belakang pengguna melalui user persona, kita harus menggali pain points untuk menentukan room for improvements.</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a:solidFill>
                  <a:schemeClr val="accent1"/>
                </a:solidFill>
                <a:latin typeface="Montserrat"/>
                <a:ea typeface="Montserrat"/>
                <a:cs typeface="Montserrat"/>
                <a:sym typeface="Montserrat"/>
              </a:rPr>
              <a:t>Apa sih pain points dan room for improvement itu? </a:t>
            </a:r>
            <a:endParaRPr b="1">
              <a:solidFill>
                <a:schemeClr val="accent1"/>
              </a:solidFill>
              <a:latin typeface="Montserrat"/>
              <a:ea typeface="Montserrat"/>
              <a:cs typeface="Montserrat"/>
              <a:sym typeface="Montserrat"/>
            </a:endParaRPr>
          </a:p>
        </p:txBody>
      </p:sp>
      <p:sp>
        <p:nvSpPr>
          <p:cNvPr id="475" name="Google Shape;475;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76" name="Google Shape;476;p59"/>
          <p:cNvPicPr preferRelativeResize="0"/>
          <p:nvPr/>
        </p:nvPicPr>
        <p:blipFill>
          <a:blip r:embed="rId4">
            <a:alphaModFix/>
          </a:blip>
          <a:stretch>
            <a:fillRect/>
          </a:stretch>
        </p:blipFill>
        <p:spPr>
          <a:xfrm>
            <a:off x="5256450" y="788324"/>
            <a:ext cx="2905827" cy="420277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483" name="Google Shape;483;p60"/>
          <p:cNvSpPr txBox="1"/>
          <p:nvPr/>
        </p:nvSpPr>
        <p:spPr>
          <a:xfrm>
            <a:off x="487625" y="19431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pain points?</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Pain points mengacu pada masalah yang sangat spesifik yang dialami pelanggan suatu produk atau layanan. Sederhananya, </a:t>
            </a:r>
            <a:r>
              <a:rPr b="1" lang="en" sz="1000">
                <a:solidFill>
                  <a:schemeClr val="dk1"/>
                </a:solidFill>
                <a:latin typeface="Montserrat"/>
                <a:ea typeface="Montserrat"/>
                <a:cs typeface="Montserrat"/>
                <a:sym typeface="Montserrat"/>
              </a:rPr>
              <a:t>pain points merupakan masalah.</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84" name="Google Shape;484;p60"/>
          <p:cNvPicPr preferRelativeResize="0"/>
          <p:nvPr/>
        </p:nvPicPr>
        <p:blipFill>
          <a:blip r:embed="rId3">
            <a:alphaModFix/>
          </a:blip>
          <a:stretch>
            <a:fillRect/>
          </a:stretch>
        </p:blipFill>
        <p:spPr>
          <a:xfrm>
            <a:off x="4890342" y="914401"/>
            <a:ext cx="3238534" cy="38877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491" name="Google Shape;491;p61"/>
          <p:cNvSpPr txBox="1"/>
          <p:nvPr/>
        </p:nvSpPr>
        <p:spPr>
          <a:xfrm>
            <a:off x="487625" y="17271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pain point #1</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a:t>
            </a:r>
            <a:r>
              <a:rPr lang="en" sz="1000">
                <a:solidFill>
                  <a:schemeClr val="dk1"/>
                </a:solidFill>
                <a:latin typeface="Montserrat"/>
                <a:ea typeface="Montserrat"/>
                <a:cs typeface="Montserrat"/>
                <a:sym typeface="Montserrat"/>
              </a:rPr>
              <a:t>pelanggan menggunakan platform e-commerce, lalu proses checkout dan pembayaran agak lama, maka mereka mungkin akan berhenti dan beralih ke layanan e-commerce lain. Kejadian kaya gini adalah contoh paint point. </a:t>
            </a:r>
            <a:endParaRPr sz="1000">
              <a:solidFill>
                <a:schemeClr val="dk1"/>
              </a:solidFill>
              <a:latin typeface="Montserrat"/>
              <a:ea typeface="Montserrat"/>
              <a:cs typeface="Montserrat"/>
              <a:sym typeface="Montserrat"/>
            </a:endParaRPr>
          </a:p>
        </p:txBody>
      </p:sp>
      <p:pic>
        <p:nvPicPr>
          <p:cNvPr id="492" name="Google Shape;492;p61"/>
          <p:cNvPicPr preferRelativeResize="0"/>
          <p:nvPr/>
        </p:nvPicPr>
        <p:blipFill>
          <a:blip r:embed="rId3">
            <a:alphaModFix/>
          </a:blip>
          <a:stretch>
            <a:fillRect/>
          </a:stretch>
        </p:blipFill>
        <p:spPr>
          <a:xfrm>
            <a:off x="4724400" y="1461738"/>
            <a:ext cx="4038599" cy="291963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499" name="Google Shape;499;p62"/>
          <p:cNvSpPr txBox="1"/>
          <p:nvPr/>
        </p:nvSpPr>
        <p:spPr>
          <a:xfrm>
            <a:off x="487625" y="15285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pain point #2</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lain dari pain point UX yang umum adalah masalah pembayaran yang dihadapi pengguna ketika mereka ingin membayar produk atau layanan secara online.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Penelitian membuktikan, hampir 68% pengguna meninggalkan keranjang belanja saat mencoba melakukan pembelian. Alasannya banyak, seperti alur pembelian yang tidak dirancang dengan benar, proses check out yang lama dan rumit, dan lain sebagainya.</a:t>
            </a:r>
            <a:endParaRPr sz="1000">
              <a:solidFill>
                <a:schemeClr val="dk1"/>
              </a:solidFill>
              <a:latin typeface="Montserrat"/>
              <a:ea typeface="Montserrat"/>
              <a:cs typeface="Montserrat"/>
              <a:sym typeface="Montserrat"/>
            </a:endParaRPr>
          </a:p>
        </p:txBody>
      </p:sp>
      <p:pic>
        <p:nvPicPr>
          <p:cNvPr id="500" name="Google Shape;500;p62">
            <a:hlinkClick r:id="rId3"/>
          </p:cNvPr>
          <p:cNvPicPr preferRelativeResize="0"/>
          <p:nvPr/>
        </p:nvPicPr>
        <p:blipFill rotWithShape="1">
          <a:blip r:embed="rId4">
            <a:alphaModFix/>
          </a:blip>
          <a:srcRect b="0" l="4720" r="50539" t="0"/>
          <a:stretch/>
        </p:blipFill>
        <p:spPr>
          <a:xfrm>
            <a:off x="5374875" y="1232925"/>
            <a:ext cx="3069476" cy="2790425"/>
          </a:xfrm>
          <a:prstGeom prst="rect">
            <a:avLst/>
          </a:prstGeom>
          <a:noFill/>
          <a:ln>
            <a:noFill/>
          </a:ln>
        </p:spPr>
      </p:pic>
      <p:pic>
        <p:nvPicPr>
          <p:cNvPr id="501" name="Google Shape;501;p62"/>
          <p:cNvPicPr preferRelativeResize="0"/>
          <p:nvPr/>
        </p:nvPicPr>
        <p:blipFill>
          <a:blip r:embed="rId5">
            <a:alphaModFix/>
          </a:blip>
          <a:stretch>
            <a:fillRect/>
          </a:stretch>
        </p:blipFill>
        <p:spPr>
          <a:xfrm>
            <a:off x="4724398" y="1461750"/>
            <a:ext cx="4038599" cy="291964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08" name="Google Shape;508;p63"/>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Gimana sih cara menemukan pain point?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ambil contoh sebuah perusahaan multinasional yang menjual pakaian, produk rumah tangga, dan makanan melalui situs seperti contoh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deh kamu perhatikan, apa yang aneh dari situsnya? Yap~ </a:t>
            </a:r>
            <a:r>
              <a:rPr b="1" lang="en" sz="1000">
                <a:solidFill>
                  <a:schemeClr val="dk1"/>
                </a:solidFill>
                <a:latin typeface="Montserrat"/>
                <a:ea typeface="Montserrat"/>
                <a:cs typeface="Montserrat"/>
                <a:sym typeface="Montserrat"/>
              </a:rPr>
              <a:t>opsi untuk checkout tidak menonjol. </a:t>
            </a:r>
            <a:r>
              <a:rPr lang="en" sz="1000">
                <a:solidFill>
                  <a:schemeClr val="dk1"/>
                </a:solidFill>
                <a:latin typeface="Montserrat"/>
                <a:ea typeface="Montserrat"/>
                <a:cs typeface="Montserrat"/>
                <a:sym typeface="Montserrat"/>
              </a:rPr>
              <a:t>Sehingga, pengguna akan bersusah payah untuk menemukan tombol checkout. Padahal, tombol checkout ini punya fungsi vital dalam situs e-commerce kayak gini.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09" name="Google Shape;509;p63"/>
          <p:cNvPicPr preferRelativeResize="0"/>
          <p:nvPr/>
        </p:nvPicPr>
        <p:blipFill>
          <a:blip r:embed="rId3">
            <a:alphaModFix/>
          </a:blip>
          <a:stretch>
            <a:fillRect/>
          </a:stretch>
        </p:blipFill>
        <p:spPr>
          <a:xfrm>
            <a:off x="5200763" y="914400"/>
            <a:ext cx="2617689" cy="3886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16" name="Google Shape;516;p64"/>
          <p:cNvSpPr txBox="1"/>
          <p:nvPr/>
        </p:nvSpPr>
        <p:spPr>
          <a:xfrm>
            <a:off x="487625" y="17476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Nah, h</a:t>
            </a:r>
            <a:r>
              <a:rPr lang="en" sz="1000">
                <a:solidFill>
                  <a:schemeClr val="dk1"/>
                </a:solidFill>
                <a:latin typeface="Montserrat"/>
                <a:ea typeface="Montserrat"/>
                <a:cs typeface="Montserrat"/>
                <a:sym typeface="Montserrat"/>
              </a:rPr>
              <a:t>al kaya gitu menjadi </a:t>
            </a:r>
            <a:r>
              <a:rPr lang="en" sz="1000">
                <a:solidFill>
                  <a:schemeClr val="dk1"/>
                </a:solidFill>
                <a:latin typeface="Montserrat"/>
                <a:ea typeface="Montserrat"/>
                <a:cs typeface="Montserrat"/>
                <a:sym typeface="Montserrat"/>
              </a:rPr>
              <a:t>pain point yang dapat menyebabkan pengguna meninggalkan proses checkout.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Padahal kan udah tinggal bayar, eh </a:t>
            </a:r>
            <a:r>
              <a:rPr lang="en" sz="1000">
                <a:solidFill>
                  <a:schemeClr val="dk1"/>
                </a:solidFill>
                <a:latin typeface="Montserrat"/>
                <a:ea typeface="Montserrat"/>
                <a:cs typeface="Montserrat"/>
                <a:sym typeface="Montserrat"/>
              </a:rPr>
              <a:t>karena</a:t>
            </a:r>
            <a:r>
              <a:rPr lang="en" sz="1000">
                <a:solidFill>
                  <a:schemeClr val="dk1"/>
                </a:solidFill>
                <a:latin typeface="Montserrat"/>
                <a:ea typeface="Montserrat"/>
                <a:cs typeface="Montserrat"/>
                <a:sym typeface="Montserrat"/>
              </a:rPr>
              <a:t> tombolnya nggak jelas, pengguna jadi malah kabur~ </a:t>
            </a:r>
            <a:endParaRPr sz="1000">
              <a:solidFill>
                <a:schemeClr val="dk1"/>
              </a:solidFill>
              <a:latin typeface="Montserrat"/>
              <a:ea typeface="Montserrat"/>
              <a:cs typeface="Montserrat"/>
              <a:sym typeface="Montserrat"/>
            </a:endParaRPr>
          </a:p>
        </p:txBody>
      </p:sp>
      <p:pic>
        <p:nvPicPr>
          <p:cNvPr id="517" name="Google Shape;517;p64"/>
          <p:cNvPicPr preferRelativeResize="0"/>
          <p:nvPr/>
        </p:nvPicPr>
        <p:blipFill>
          <a:blip r:embed="rId3">
            <a:alphaModFix/>
          </a:blip>
          <a:stretch>
            <a:fillRect/>
          </a:stretch>
        </p:blipFill>
        <p:spPr>
          <a:xfrm>
            <a:off x="5200763" y="914400"/>
            <a:ext cx="2617689" cy="3886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grpSp>
        <p:nvGrpSpPr>
          <p:cNvPr id="522" name="Google Shape;522;p65"/>
          <p:cNvGrpSpPr/>
          <p:nvPr/>
        </p:nvGrpSpPr>
        <p:grpSpPr>
          <a:xfrm>
            <a:off x="4503659" y="1504531"/>
            <a:ext cx="4427050" cy="2625841"/>
            <a:chOff x="1731963" y="1143000"/>
            <a:chExt cx="5680074" cy="3552274"/>
          </a:xfrm>
        </p:grpSpPr>
        <p:pic>
          <p:nvPicPr>
            <p:cNvPr id="523" name="Google Shape;523;p65">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524" name="Google Shape;524;p65"/>
            <p:cNvSpPr txBox="1"/>
            <p:nvPr/>
          </p:nvSpPr>
          <p:spPr>
            <a:xfrm>
              <a:off x="1804155" y="1759334"/>
              <a:ext cx="895500" cy="5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525" name="Google Shape;52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27" name="Google Shape;527;p65"/>
          <p:cNvSpPr txBox="1"/>
          <p:nvPr/>
        </p:nvSpPr>
        <p:spPr>
          <a:xfrm>
            <a:off x="487625" y="1600200"/>
            <a:ext cx="3721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Pain points itu ada di dalam user persona, lho!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Sebelumnya kan kita udah bahas soal user persona. Nah, salah satu komponen user persona itu adalah keterangan soal pain point seorang user.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Selain pain point, user persona juga berisi </a:t>
            </a:r>
            <a:r>
              <a:rPr lang="en" sz="1000">
                <a:solidFill>
                  <a:schemeClr val="dk1"/>
                </a:solidFill>
                <a:latin typeface="Montserrat"/>
                <a:ea typeface="Montserrat"/>
                <a:cs typeface="Montserrat"/>
                <a:sym typeface="Montserrat"/>
              </a:rPr>
              <a:t>detail tentang pelanggan seperti demografi, kebutuhan dan tujuan, serta motivasi.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grpSp>
        <p:nvGrpSpPr>
          <p:cNvPr id="532" name="Google Shape;532;p66"/>
          <p:cNvGrpSpPr/>
          <p:nvPr/>
        </p:nvGrpSpPr>
        <p:grpSpPr>
          <a:xfrm>
            <a:off x="4503659" y="1546156"/>
            <a:ext cx="4427050" cy="2625841"/>
            <a:chOff x="1731963" y="1143000"/>
            <a:chExt cx="5680074" cy="3552274"/>
          </a:xfrm>
        </p:grpSpPr>
        <p:pic>
          <p:nvPicPr>
            <p:cNvPr id="533" name="Google Shape;533;p66">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534" name="Google Shape;534;p66"/>
            <p:cNvSpPr txBox="1"/>
            <p:nvPr/>
          </p:nvSpPr>
          <p:spPr>
            <a:xfrm>
              <a:off x="1804155" y="1759334"/>
              <a:ext cx="895500" cy="5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535" name="Google Shape;535;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37" name="Google Shape;537;p66"/>
          <p:cNvSpPr txBox="1"/>
          <p:nvPr/>
        </p:nvSpPr>
        <p:spPr>
          <a:xfrm>
            <a:off x="487625" y="1390225"/>
            <a:ext cx="3721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Coba kita lihat pain point user persona di samping yaa~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Contoh di samping adalah user persona seorang perempuan berusia 33 tahun bernama Alex.</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Kalo kita perhatikan pain point nya, kita jadi tahu bahwa Alex adalah orang yang aktif dan metodis. Alex sering memeriksa kondisi cuaca dan keadaan tempat yang ingin ia kunjungi.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Namun, aplikasi yang ia gunakan saat ini tidak menarik (memiliki antarmuka pengguna yang buruk) dan tidak akurat. Sehingga, memberi pengalaman yang buruk bagi Alex.</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grpSp>
        <p:nvGrpSpPr>
          <p:cNvPr id="542" name="Google Shape;542;p67"/>
          <p:cNvGrpSpPr/>
          <p:nvPr/>
        </p:nvGrpSpPr>
        <p:grpSpPr>
          <a:xfrm>
            <a:off x="4503659" y="1504531"/>
            <a:ext cx="4427050" cy="2625841"/>
            <a:chOff x="1731963" y="1143000"/>
            <a:chExt cx="5680074" cy="3552274"/>
          </a:xfrm>
        </p:grpSpPr>
        <p:pic>
          <p:nvPicPr>
            <p:cNvPr id="543" name="Google Shape;543;p67">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544" name="Google Shape;544;p67"/>
            <p:cNvSpPr txBox="1"/>
            <p:nvPr/>
          </p:nvSpPr>
          <p:spPr>
            <a:xfrm>
              <a:off x="1804155" y="1759334"/>
              <a:ext cx="895500" cy="5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545" name="Google Shape;545;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47" name="Google Shape;547;p67"/>
          <p:cNvSpPr txBox="1"/>
          <p:nvPr/>
        </p:nvSpPr>
        <p:spPr>
          <a:xfrm>
            <a:off x="487625" y="1504525"/>
            <a:ext cx="3721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Nah, apa yang bisa dianalisis dari pain point Alex tersebut?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Yap~ ada potensi untuk pengembangan aplikasi cuaca menjadi lebih akurat dengan tampilan antarmuka yang menarik.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Sehingga, orang-orang seperti Alex dapat melakukan aktivitasnya dengan nyaman dan menemukan pengalaman menyenangkan.</a:t>
            </a:r>
            <a:endParaRPr sz="1000">
              <a:solidFill>
                <a:schemeClr val="dk1"/>
              </a:solidFill>
              <a:latin typeface="Montserrat"/>
              <a:ea typeface="Montserrat"/>
              <a:cs typeface="Montserrat"/>
              <a:sym typeface="Montserrat"/>
            </a:endParaRPr>
          </a:p>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54" name="Google Shape;554;p68"/>
          <p:cNvSpPr txBox="1"/>
          <p:nvPr/>
        </p:nvSpPr>
        <p:spPr>
          <a:xfrm>
            <a:off x="487625" y="16002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Sekarang, kita bahas apa itu room for improvements.</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Room for improvements adalah kemungkinan atau harapan bahwa seseorang atau sesuatu akan meningkat (menjadi lebih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Room for improvements ini ditentukan setelah kita </a:t>
            </a:r>
            <a:r>
              <a:rPr lang="en" sz="1000">
                <a:solidFill>
                  <a:schemeClr val="dk1"/>
                </a:solidFill>
                <a:latin typeface="Montserrat"/>
                <a:ea typeface="Montserrat"/>
                <a:cs typeface="Montserrat"/>
                <a:sym typeface="Montserrat"/>
              </a:rPr>
              <a:t>menemukan pain point dari suatu hal.</a:t>
            </a:r>
            <a:endParaRPr sz="1000">
              <a:solidFill>
                <a:schemeClr val="dk1"/>
              </a:solidFill>
              <a:latin typeface="Montserrat"/>
              <a:ea typeface="Montserrat"/>
              <a:cs typeface="Montserrat"/>
              <a:sym typeface="Montserrat"/>
            </a:endParaRPr>
          </a:p>
        </p:txBody>
      </p:sp>
      <p:pic>
        <p:nvPicPr>
          <p:cNvPr id="555" name="Google Shape;555;p68"/>
          <p:cNvPicPr preferRelativeResize="0"/>
          <p:nvPr/>
        </p:nvPicPr>
        <p:blipFill>
          <a:blip r:embed="rId3">
            <a:alphaModFix/>
          </a:blip>
          <a:stretch>
            <a:fillRect/>
          </a:stretch>
        </p:blipFill>
        <p:spPr>
          <a:xfrm>
            <a:off x="4724401" y="1270598"/>
            <a:ext cx="3892201" cy="314065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Pain points dan room for improvements</a:t>
            </a:r>
            <a:endParaRPr/>
          </a:p>
        </p:txBody>
      </p:sp>
      <p:sp>
        <p:nvSpPr>
          <p:cNvPr id="562" name="Google Shape;562;p69"/>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Gimana sih cara menentukan room for improvements?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ambil contoh yang sama seperti pain point di atas. Yaitu sebuah perusahaan multinasional yang menjual pakaian, produk rumah tangga, dan makanan melalui situs seperti contoh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deh kamu perhatikan, </a:t>
            </a:r>
            <a:r>
              <a:rPr lang="en" sz="1000">
                <a:solidFill>
                  <a:schemeClr val="dk1"/>
                </a:solidFill>
                <a:latin typeface="Montserrat"/>
                <a:ea typeface="Montserrat"/>
                <a:cs typeface="Montserrat"/>
                <a:sym typeface="Montserrat"/>
              </a:rPr>
              <a:t>dimana letak room for improvement?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Yap~ kita bisa memperbaiki letak tombol yang ditampilkan pada situs.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63" name="Google Shape;563;p69"/>
          <p:cNvPicPr preferRelativeResize="0"/>
          <p:nvPr/>
        </p:nvPicPr>
        <p:blipFill>
          <a:blip r:embed="rId3">
            <a:alphaModFix/>
          </a:blip>
          <a:stretch>
            <a:fillRect/>
          </a:stretch>
        </p:blipFill>
        <p:spPr>
          <a:xfrm>
            <a:off x="4880051" y="914397"/>
            <a:ext cx="4003347" cy="3886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567" name="Shape 567"/>
        <p:cNvGrpSpPr/>
        <p:nvPr/>
      </p:nvGrpSpPr>
      <p:grpSpPr>
        <a:xfrm>
          <a:off x="0" y="0"/>
          <a:ext cx="0" cy="0"/>
          <a:chOff x="0" y="0"/>
          <a:chExt cx="0" cy="0"/>
        </a:xfrm>
      </p:grpSpPr>
      <p:sp>
        <p:nvSpPr>
          <p:cNvPr id="568" name="Google Shape;568;p70"/>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69" name="Google Shape;569;p70"/>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70" name="Google Shape;570;p7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71" name="Google Shape;571;p7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72" name="Google Shape;572;p70"/>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User journey maps</a:t>
            </a:r>
            <a:endParaRPr b="1" sz="1200">
              <a:solidFill>
                <a:schemeClr val="lt1"/>
              </a:solidFill>
              <a:latin typeface="Montserrat"/>
              <a:ea typeface="Montserrat"/>
              <a:cs typeface="Montserrat"/>
              <a:sym typeface="Montserrat"/>
            </a:endParaRPr>
          </a:p>
        </p:txBody>
      </p:sp>
      <p:sp>
        <p:nvSpPr>
          <p:cNvPr id="573" name="Google Shape;573;p70"/>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74" name="Google Shape;574;p70"/>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575" name="Google Shape;575;p70"/>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576" name="Google Shape;576;p70"/>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77" name="Google Shape;577;p70"/>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Kita juga bisa menggunakan</a:t>
            </a:r>
            <a:r>
              <a:rPr b="1" lang="en">
                <a:solidFill>
                  <a:schemeClr val="accent1"/>
                </a:solidFill>
                <a:latin typeface="Montserrat"/>
                <a:ea typeface="Montserrat"/>
                <a:cs typeface="Montserrat"/>
                <a:sym typeface="Montserrat"/>
              </a:rPr>
              <a:t> user journey maps</a:t>
            </a:r>
            <a:r>
              <a:rPr b="1" lang="en">
                <a:solidFill>
                  <a:schemeClr val="lt1"/>
                </a:solidFill>
                <a:latin typeface="Montserrat"/>
                <a:ea typeface="Montserrat"/>
                <a:cs typeface="Montserrat"/>
                <a:sym typeface="Montserrat"/>
              </a:rPr>
              <a:t> dalam menentukan room for improvements.</a:t>
            </a:r>
            <a:endParaRPr b="1">
              <a:solidFill>
                <a:schemeClr val="lt1"/>
              </a:solidFill>
              <a:latin typeface="Montserrat"/>
              <a:ea typeface="Montserrat"/>
              <a:cs typeface="Montserrat"/>
              <a:sym typeface="Montserrat"/>
            </a:endParaRPr>
          </a:p>
        </p:txBody>
      </p:sp>
      <p:sp>
        <p:nvSpPr>
          <p:cNvPr id="578" name="Google Shape;578;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9" name="Google Shape;579;p70"/>
          <p:cNvPicPr preferRelativeResize="0"/>
          <p:nvPr/>
        </p:nvPicPr>
        <p:blipFill>
          <a:blip r:embed="rId4">
            <a:alphaModFix/>
          </a:blip>
          <a:stretch>
            <a:fillRect/>
          </a:stretch>
        </p:blipFill>
        <p:spPr>
          <a:xfrm>
            <a:off x="4724400" y="1060875"/>
            <a:ext cx="3892200" cy="356697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5" name="Google Shape;585;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latin typeface="Montserrat"/>
              <a:ea typeface="Montserrat"/>
              <a:cs typeface="Montserrat"/>
              <a:sym typeface="Montserrat"/>
            </a:endParaRPr>
          </a:p>
        </p:txBody>
      </p:sp>
      <p:pic>
        <p:nvPicPr>
          <p:cNvPr id="586" name="Google Shape;586;p71">
            <a:hlinkClick r:id="rId3"/>
          </p:cNvPr>
          <p:cNvPicPr preferRelativeResize="0"/>
          <p:nvPr/>
        </p:nvPicPr>
        <p:blipFill rotWithShape="1">
          <a:blip r:embed="rId4">
            <a:alphaModFix/>
          </a:blip>
          <a:srcRect b="8174" l="0" r="0" t="16694"/>
          <a:stretch/>
        </p:blipFill>
        <p:spPr>
          <a:xfrm>
            <a:off x="1050725" y="1245825"/>
            <a:ext cx="7042550" cy="3402374"/>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latin typeface="Montserrat"/>
              <a:ea typeface="Montserrat"/>
              <a:cs typeface="Montserrat"/>
              <a:sym typeface="Montserrat"/>
            </a:endParaRPr>
          </a:p>
        </p:txBody>
      </p:sp>
      <p:sp>
        <p:nvSpPr>
          <p:cNvPr id="593" name="Google Shape;593;p72"/>
          <p:cNvSpPr txBox="1"/>
          <p:nvPr/>
        </p:nvSpPr>
        <p:spPr>
          <a:xfrm>
            <a:off x="685800" y="144780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Apa sih user journey map?</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User journey map adalah gambaran tahap-tahap yang mendeskripsikan interaksi user dengan layanan atau produk tertentu.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Sederhananya, user journey map adalah visualisasi dari </a:t>
            </a:r>
            <a:r>
              <a:rPr lang="en" sz="1000">
                <a:solidFill>
                  <a:schemeClr val="dk1"/>
                </a:solidFill>
                <a:latin typeface="Montserrat"/>
                <a:ea typeface="Montserrat"/>
                <a:cs typeface="Montserrat"/>
                <a:sym typeface="Montserrat"/>
              </a:rPr>
              <a:t>proses yang dilalui seorang user untuk mencapai tujuannya.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Yaa semacam peta perjalanan gitu deh.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594" name="Google Shape;594;p72"/>
          <p:cNvPicPr preferRelativeResize="0"/>
          <p:nvPr/>
        </p:nvPicPr>
        <p:blipFill>
          <a:blip r:embed="rId3">
            <a:alphaModFix/>
          </a:blip>
          <a:stretch>
            <a:fillRect/>
          </a:stretch>
        </p:blipFill>
        <p:spPr>
          <a:xfrm>
            <a:off x="5083175" y="1239475"/>
            <a:ext cx="3754000" cy="2857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latin typeface="Montserrat"/>
              <a:ea typeface="Montserrat"/>
              <a:cs typeface="Montserrat"/>
              <a:sym typeface="Montserrat"/>
            </a:endParaRPr>
          </a:p>
        </p:txBody>
      </p:sp>
      <p:sp>
        <p:nvSpPr>
          <p:cNvPr id="601" name="Google Shape;601;p73"/>
          <p:cNvSpPr txBox="1"/>
          <p:nvPr/>
        </p:nvSpPr>
        <p:spPr>
          <a:xfrm>
            <a:off x="685800" y="139585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Fungsi adanya user journey map ini, apa sih?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Kayak yang udah kita bahas sebelumnya, user journey map adalah visualisasi dari proses yang dilalui seorang user untuk mencapai tujuannya.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Nah, user journey map mempunyai dua </a:t>
            </a:r>
            <a:r>
              <a:rPr lang="en" sz="1000">
                <a:solidFill>
                  <a:schemeClr val="dk1"/>
                </a:solidFill>
                <a:latin typeface="Montserrat"/>
                <a:ea typeface="Montserrat"/>
                <a:cs typeface="Montserrat"/>
                <a:sym typeface="Montserrat"/>
              </a:rPr>
              <a:t>fungsi, y</a:t>
            </a:r>
            <a:r>
              <a:rPr lang="en" sz="1000">
                <a:solidFill>
                  <a:schemeClr val="dk1"/>
                </a:solidFill>
                <a:latin typeface="Montserrat"/>
                <a:ea typeface="Montserrat"/>
                <a:cs typeface="Montserrat"/>
                <a:sym typeface="Montserrat"/>
              </a:rPr>
              <a:t>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a:ea typeface="Montserrat"/>
              <a:cs typeface="Montserrat"/>
              <a:sym typeface="Montserrat"/>
            </a:endParaRPr>
          </a:p>
          <a:p>
            <a:pPr indent="-177800" lvl="0" marL="2286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Mendemonstrasikan cara pengguna berinteraksi dengan produk, website, atau layanan pada saat ini.</a:t>
            </a:r>
            <a:endParaRPr sz="1000">
              <a:solidFill>
                <a:schemeClr val="dk1"/>
              </a:solidFill>
              <a:latin typeface="Montserrat"/>
              <a:ea typeface="Montserrat"/>
              <a:cs typeface="Montserrat"/>
              <a:sym typeface="Montserrat"/>
            </a:endParaRPr>
          </a:p>
          <a:p>
            <a:pPr indent="-177800" lvl="0" marL="2286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Mendemonstrasikan kemungkinan cara pengguna berinteraksi dengan produk, website, atau layanan di masa depan.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02" name="Google Shape;602;p73"/>
          <p:cNvPicPr preferRelativeResize="0"/>
          <p:nvPr/>
        </p:nvPicPr>
        <p:blipFill>
          <a:blip r:embed="rId3">
            <a:alphaModFix/>
          </a:blip>
          <a:stretch>
            <a:fillRect/>
          </a:stretch>
        </p:blipFill>
        <p:spPr>
          <a:xfrm>
            <a:off x="5083175" y="1239475"/>
            <a:ext cx="3754000" cy="2857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8" name="Google Shape;608;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09" name="Google Shape;609;p74"/>
          <p:cNvSpPr txBox="1"/>
          <p:nvPr/>
        </p:nvSpPr>
        <p:spPr>
          <a:xfrm>
            <a:off x="685800" y="13831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Pentingnya sebuah user journey map.</a:t>
            </a:r>
            <a:endParaRPr b="1" sz="16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177800" lvl="0" marL="2286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Menentukan titik kontak perjalanan</a:t>
            </a:r>
            <a:endParaRPr sz="1000">
              <a:solidFill>
                <a:schemeClr val="dk1"/>
              </a:solidFill>
              <a:latin typeface="Montserrat"/>
              <a:ea typeface="Montserrat"/>
              <a:cs typeface="Montserrat"/>
              <a:sym typeface="Montserrat"/>
            </a:endParaRPr>
          </a:p>
          <a:p>
            <a:pPr indent="-177800" lvl="0" marL="2286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Menyatukan pemahaman</a:t>
            </a:r>
            <a:endParaRPr sz="1000">
              <a:solidFill>
                <a:schemeClr val="dk1"/>
              </a:solidFill>
              <a:latin typeface="Montserrat"/>
              <a:ea typeface="Montserrat"/>
              <a:cs typeface="Montserrat"/>
              <a:sym typeface="Montserrat"/>
            </a:endParaRPr>
          </a:p>
          <a:p>
            <a:pPr indent="-177800" lvl="0" marL="2286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Melacak key performance indicator (KPI)*</a:t>
            </a:r>
            <a:endParaRPr sz="1000">
              <a:solidFill>
                <a:schemeClr val="dk1"/>
              </a:solidFill>
              <a:latin typeface="Montserrat"/>
              <a:ea typeface="Montserrat"/>
              <a:cs typeface="Montserrat"/>
              <a:sym typeface="Montserrat"/>
            </a:endParaRPr>
          </a:p>
          <a:p>
            <a:pPr indent="-177800" lvl="0" marL="2286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Menemukan kekurangan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800">
                <a:solidFill>
                  <a:schemeClr val="dk1"/>
                </a:solidFill>
                <a:latin typeface="Montserrat"/>
                <a:ea typeface="Montserrat"/>
                <a:cs typeface="Montserrat"/>
                <a:sym typeface="Montserrat"/>
              </a:rPr>
              <a:t>*Key performance indicator  (KPI) adalah metrik finansial atau non-finansial yang digunakan untuk membantu suatu organisasi dalam menentukan dan mengukur kemajuan dan sasaran organisasi.</a:t>
            </a:r>
            <a:endParaRPr sz="800">
              <a:solidFill>
                <a:schemeClr val="dk1"/>
              </a:solidFill>
              <a:latin typeface="Montserrat"/>
              <a:ea typeface="Montserrat"/>
              <a:cs typeface="Montserrat"/>
              <a:sym typeface="Montserrat"/>
            </a:endParaRPr>
          </a:p>
        </p:txBody>
      </p:sp>
      <p:pic>
        <p:nvPicPr>
          <p:cNvPr id="610" name="Google Shape;610;p74"/>
          <p:cNvPicPr preferRelativeResize="0"/>
          <p:nvPr/>
        </p:nvPicPr>
        <p:blipFill>
          <a:blip r:embed="rId3">
            <a:alphaModFix/>
          </a:blip>
          <a:stretch>
            <a:fillRect/>
          </a:stretch>
        </p:blipFill>
        <p:spPr>
          <a:xfrm>
            <a:off x="4724400" y="1383101"/>
            <a:ext cx="3892201" cy="29696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17" name="Google Shape;617;p75"/>
          <p:cNvSpPr txBox="1"/>
          <p:nvPr/>
        </p:nvSpPr>
        <p:spPr>
          <a:xfrm>
            <a:off x="487625" y="1447800"/>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Biar lebih kebayang soal user journey map, coba kita pakai analogi yaa~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Ceritanya kita lagi di bank.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Setiap orang yang pergi ke bank biasanya punya tujuan yang berbeda-beda.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yang mau membuat rekening atau kartu kredit, pembayaran dan setor tunai ke teller, pembukaan blokir ATM, pencairan dana, dan sebagainya.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18" name="Google Shape;618;p75"/>
          <p:cNvPicPr preferRelativeResize="0"/>
          <p:nvPr/>
        </p:nvPicPr>
        <p:blipFill>
          <a:blip r:embed="rId3">
            <a:alphaModFix/>
          </a:blip>
          <a:stretch>
            <a:fillRect/>
          </a:stretch>
        </p:blipFill>
        <p:spPr>
          <a:xfrm>
            <a:off x="5257800" y="1447803"/>
            <a:ext cx="2985277" cy="1421199"/>
          </a:xfrm>
          <a:prstGeom prst="rect">
            <a:avLst/>
          </a:prstGeom>
          <a:noFill/>
          <a:ln>
            <a:noFill/>
          </a:ln>
        </p:spPr>
      </p:pic>
      <p:pic>
        <p:nvPicPr>
          <p:cNvPr id="619" name="Google Shape;619;p75"/>
          <p:cNvPicPr preferRelativeResize="0"/>
          <p:nvPr/>
        </p:nvPicPr>
        <p:blipFill>
          <a:blip r:embed="rId4">
            <a:alphaModFix/>
          </a:blip>
          <a:stretch>
            <a:fillRect/>
          </a:stretch>
        </p:blipFill>
        <p:spPr>
          <a:xfrm flipH="1">
            <a:off x="7500100" y="2288701"/>
            <a:ext cx="1336849" cy="20979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5" name="Google Shape;625;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26" name="Google Shape;626;p76"/>
          <p:cNvSpPr txBox="1"/>
          <p:nvPr/>
        </p:nvSpPr>
        <p:spPr>
          <a:xfrm>
            <a:off x="487625" y="135427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Nah, setiap tujuan orang ke bank, harus difasilitasi dengan baik! </a:t>
            </a:r>
            <a:endParaRPr b="1" sz="10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 area customer service akan dikunjungi banyak orang yang akan membuat rekening, membuat kartu kredit, dan pembukaan blokir ATM.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Karena kecenderungan ini, area tersebut harus dirancang cukup luas sehingga nasabah bank bisa antre dengan aman dan nyaman.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Di area teller juga demikian. Karena banyaknya nasabah, biasanya antrian akan cenderung lebih panjang. Karena alasan ini, sebaiknya jalur antrian dan ruang tunggu diberi tambahan tempat agar tidak ada nasabah yang menunggu sambil berdiri. Bisa pegal bestie~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p:txBody>
      </p:sp>
      <p:pic>
        <p:nvPicPr>
          <p:cNvPr id="627" name="Google Shape;627;p76"/>
          <p:cNvPicPr preferRelativeResize="0"/>
          <p:nvPr/>
        </p:nvPicPr>
        <p:blipFill>
          <a:blip r:embed="rId3">
            <a:alphaModFix/>
          </a:blip>
          <a:stretch>
            <a:fillRect/>
          </a:stretch>
        </p:blipFill>
        <p:spPr>
          <a:xfrm>
            <a:off x="4803775" y="1020524"/>
            <a:ext cx="4014100" cy="35711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3" name="Google Shape;633;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34" name="Google Shape;634;p77"/>
          <p:cNvSpPr txBox="1"/>
          <p:nvPr/>
        </p:nvSpPr>
        <p:spPr>
          <a:xfrm>
            <a:off x="487625" y="1672925"/>
            <a:ext cx="4149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contoh kasus tadi, bisa kita simpulkan bahwa rancangan bank yang ideal perlu memperhatikan kecenderungan aktivitas para pengunjung yang datang ke bank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t>
            </a:r>
            <a:r>
              <a:rPr b="1" lang="en" sz="1000">
                <a:solidFill>
                  <a:schemeClr val="dk1"/>
                </a:solidFill>
                <a:latin typeface="Montserrat"/>
                <a:ea typeface="Montserrat"/>
                <a:cs typeface="Montserrat"/>
                <a:sym typeface="Montserrat"/>
              </a:rPr>
              <a:t>user journey map dalam UX design juga kayak gitu!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35" name="Google Shape;635;p77"/>
          <p:cNvPicPr preferRelativeResize="0"/>
          <p:nvPr/>
        </p:nvPicPr>
        <p:blipFill>
          <a:blip r:embed="rId3">
            <a:alphaModFix/>
          </a:blip>
          <a:stretch>
            <a:fillRect/>
          </a:stretch>
        </p:blipFill>
        <p:spPr>
          <a:xfrm>
            <a:off x="5257808" y="914400"/>
            <a:ext cx="2359618" cy="391059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1" name="Google Shape;641;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latin typeface="Montserrat"/>
              <a:ea typeface="Montserrat"/>
              <a:cs typeface="Montserrat"/>
              <a:sym typeface="Montserrat"/>
            </a:endParaRPr>
          </a:p>
        </p:txBody>
      </p:sp>
      <p:sp>
        <p:nvSpPr>
          <p:cNvPr id="642" name="Google Shape;642;p78"/>
          <p:cNvSpPr txBox="1"/>
          <p:nvPr/>
        </p:nvSpPr>
        <p:spPr>
          <a:xfrm>
            <a:off x="685800" y="148937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User journey map bikin kita tahu gimana rasanya jadi user~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User journey map membantu kita mengalami gimana rasanya berada di posisi user. Selain itu, user journey map ini juga membantu kita untuk melihat produk dari perspektif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tentu dapat memberikan insight yang baik, sehingga kita bisa menemukan apa yang benar-benar dibutuhkan user untuk diaplikasikan dalam pengembangan produk.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p:txBody>
      </p:sp>
      <p:pic>
        <p:nvPicPr>
          <p:cNvPr id="643" name="Google Shape;643;p78"/>
          <p:cNvPicPr preferRelativeResize="0"/>
          <p:nvPr/>
        </p:nvPicPr>
        <p:blipFill>
          <a:blip r:embed="rId3">
            <a:alphaModFix/>
          </a:blip>
          <a:stretch>
            <a:fillRect/>
          </a:stretch>
        </p:blipFill>
        <p:spPr>
          <a:xfrm>
            <a:off x="4894250" y="1115875"/>
            <a:ext cx="3537777" cy="346005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50" name="Google Shape;650;p79"/>
          <p:cNvSpPr txBox="1"/>
          <p:nvPr/>
        </p:nvSpPr>
        <p:spPr>
          <a:xfrm>
            <a:off x="487625"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Biar paham lebih dalam soal manfaat user journey map, coba simak cerita berikut ini yaa!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Ceritanya, </a:t>
            </a:r>
            <a:r>
              <a:rPr lang="en" sz="1000">
                <a:solidFill>
                  <a:schemeClr val="dk1"/>
                </a:solidFill>
                <a:latin typeface="Montserrat"/>
                <a:ea typeface="Montserrat"/>
                <a:cs typeface="Montserrat"/>
                <a:sym typeface="Montserrat"/>
              </a:rPr>
              <a:t>Sabrina lagi ngerjain proyek pengembangan aplikasi media sosial berbasis video, namanya TickTack. Yaa mirip-mirip TikTok gitu deh~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Karena ingin agar rancangannya bisa bikin user nyaman, Sabrina berencana melakukan user journey map.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51" name="Google Shape;651;p79"/>
          <p:cNvPicPr preferRelativeResize="0"/>
          <p:nvPr/>
        </p:nvPicPr>
        <p:blipFill>
          <a:blip r:embed="rId3">
            <a:alphaModFix/>
          </a:blip>
          <a:stretch>
            <a:fillRect/>
          </a:stretch>
        </p:blipFill>
        <p:spPr>
          <a:xfrm>
            <a:off x="5534650" y="914400"/>
            <a:ext cx="2297963" cy="387578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58" name="Google Shape;658;p80"/>
          <p:cNvSpPr txBox="1"/>
          <p:nvPr/>
        </p:nvSpPr>
        <p:spPr>
          <a:xfrm>
            <a:off x="487625" y="1268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buat bikin user journey map, </a:t>
            </a:r>
            <a:r>
              <a:rPr b="1" lang="en" sz="1000">
                <a:solidFill>
                  <a:schemeClr val="dk1"/>
                </a:solidFill>
                <a:latin typeface="Montserrat"/>
                <a:ea typeface="Montserrat"/>
                <a:cs typeface="Montserrat"/>
                <a:sym typeface="Montserrat"/>
              </a:rPr>
              <a:t>langkah pertama yang Sabrina lakukan adalah membuat pemetaan secara umum </a:t>
            </a:r>
            <a:r>
              <a:rPr lang="en" sz="1000">
                <a:solidFill>
                  <a:schemeClr val="dk1"/>
                </a:solidFill>
                <a:latin typeface="Montserrat"/>
                <a:ea typeface="Montserrat"/>
                <a:cs typeface="Montserrat"/>
                <a:sym typeface="Montserrat"/>
              </a:rPr>
              <a:t>untuk melihat bagaimana pelanggan berinteraksi dengan aplikasi TickTack.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hasil pemetaannya, Sabrina menemukan, ada langkah yang kurang smooth ketika user ingin share video lucu ke orang lain lewat Whatsapp. Karena, buat share videonya, cuma ada fitur copy link.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Atas temuan ini, diputuskan bahwa </a:t>
            </a:r>
            <a:r>
              <a:rPr b="1" lang="en" sz="1000">
                <a:solidFill>
                  <a:schemeClr val="dk1"/>
                </a:solidFill>
                <a:latin typeface="Montserrat"/>
                <a:ea typeface="Montserrat"/>
                <a:cs typeface="Montserrat"/>
                <a:sym typeface="Montserrat"/>
              </a:rPr>
              <a:t>pengembangan bakal fokus ke fitur share di aplikasi TickTack.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59" name="Google Shape;659;p80"/>
          <p:cNvPicPr preferRelativeResize="0"/>
          <p:nvPr/>
        </p:nvPicPr>
        <p:blipFill>
          <a:blip r:embed="rId3">
            <a:alphaModFix/>
          </a:blip>
          <a:stretch>
            <a:fillRect/>
          </a:stretch>
        </p:blipFill>
        <p:spPr>
          <a:xfrm>
            <a:off x="5528475" y="914400"/>
            <a:ext cx="2304145" cy="3886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5" name="Google Shape;665;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66" name="Google Shape;666;p81"/>
          <p:cNvSpPr txBox="1"/>
          <p:nvPr/>
        </p:nvSpPr>
        <p:spPr>
          <a:xfrm>
            <a:off x="487625"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Berkat user journey map, Sabrina bisa mendapat perspektif dari luar tim internal berdasarkan pengalaman user ketika mereka menggunakan aplikasi.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tentunya membantu Sabrina dalam mengembangkan aplikasi berdasarkan apa yang diinginkan user, bukan sekedar apa yang diinginkan tim internal.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Sampai sini, udah kebayang kan manfaat penting dari user journey map? 😉</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667" name="Google Shape;667;p81"/>
          <p:cNvPicPr preferRelativeResize="0"/>
          <p:nvPr/>
        </p:nvPicPr>
        <p:blipFill>
          <a:blip r:embed="rId3">
            <a:alphaModFix/>
          </a:blip>
          <a:stretch>
            <a:fillRect/>
          </a:stretch>
        </p:blipFill>
        <p:spPr>
          <a:xfrm>
            <a:off x="5528474" y="914400"/>
            <a:ext cx="2304151" cy="38862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3" name="Google Shape;673;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74" name="Google Shape;674;p82"/>
          <p:cNvSpPr txBox="1"/>
          <p:nvPr/>
        </p:nvSpPr>
        <p:spPr>
          <a:xfrm>
            <a:off x="487625" y="9715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Sekarang, kita lihat lima komponen dari user journey map.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highlight>
                  <a:schemeClr val="lt1"/>
                </a:highlight>
                <a:latin typeface="Montserrat"/>
                <a:ea typeface="Montserrat"/>
                <a:cs typeface="Montserrat"/>
                <a:sym typeface="Montserrat"/>
              </a:rPr>
              <a:t>User journey map punya lima komponen, yaitu:</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50000"/>
              </a:lnSpc>
              <a:spcBef>
                <a:spcPts val="1600"/>
              </a:spcBef>
              <a:spcAft>
                <a:spcPts val="0"/>
              </a:spcAft>
              <a:buClr>
                <a:schemeClr val="dk1"/>
              </a:buClr>
              <a:buSzPts val="1000"/>
              <a:buFont typeface="Montserrat"/>
              <a:buAutoNum type="arabicPeriod"/>
            </a:pPr>
            <a:r>
              <a:rPr lang="en" sz="1000">
                <a:solidFill>
                  <a:schemeClr val="dk1"/>
                </a:solidFill>
                <a:highlight>
                  <a:schemeClr val="lt1"/>
                </a:highlight>
                <a:latin typeface="Montserrat"/>
                <a:ea typeface="Montserrat"/>
                <a:cs typeface="Montserrat"/>
                <a:sym typeface="Montserrat"/>
              </a:rPr>
              <a:t>Actor</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highlight>
                  <a:schemeClr val="lt1"/>
                </a:highlight>
                <a:latin typeface="Montserrat"/>
                <a:ea typeface="Montserrat"/>
                <a:cs typeface="Montserrat"/>
                <a:sym typeface="Montserrat"/>
              </a:rPr>
              <a:t>Scenarios + expectations</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highlight>
                  <a:schemeClr val="lt1"/>
                </a:highlight>
                <a:latin typeface="Montserrat"/>
                <a:ea typeface="Montserrat"/>
                <a:cs typeface="Montserrat"/>
                <a:sym typeface="Montserrat"/>
              </a:rPr>
              <a:t>Journey phases</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highlight>
                  <a:schemeClr val="lt1"/>
                </a:highlight>
                <a:latin typeface="Montserrat"/>
                <a:ea typeface="Montserrat"/>
                <a:cs typeface="Montserrat"/>
                <a:sym typeface="Montserrat"/>
              </a:rPr>
              <a:t>Actions, mindsets, and emotions.</a:t>
            </a:r>
            <a:endParaRPr sz="1000">
              <a:solidFill>
                <a:schemeClr val="dk1"/>
              </a:solidFill>
              <a:highlight>
                <a:schemeClr val="lt1"/>
              </a:highlight>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AutoNum type="arabicPeriod"/>
            </a:pPr>
            <a:r>
              <a:rPr lang="en" sz="1000">
                <a:solidFill>
                  <a:schemeClr val="dk1"/>
                </a:solidFill>
                <a:highlight>
                  <a:schemeClr val="lt1"/>
                </a:highlight>
                <a:latin typeface="Montserrat"/>
                <a:ea typeface="Montserrat"/>
                <a:cs typeface="Montserrat"/>
                <a:sym typeface="Montserrat"/>
              </a:rPr>
              <a:t>Opportunities</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Biar lebih jelas, kita bahas satu-persatu langsung pake contoh yaa~</a:t>
            </a:r>
            <a:endParaRPr sz="1000">
              <a:solidFill>
                <a:schemeClr val="dk1"/>
              </a:solidFill>
              <a:latin typeface="Montserrat"/>
              <a:ea typeface="Montserrat"/>
              <a:cs typeface="Montserrat"/>
              <a:sym typeface="Montserrat"/>
            </a:endParaRPr>
          </a:p>
        </p:txBody>
      </p:sp>
      <p:pic>
        <p:nvPicPr>
          <p:cNvPr id="675" name="Google Shape;675;p82"/>
          <p:cNvPicPr preferRelativeResize="0"/>
          <p:nvPr/>
        </p:nvPicPr>
        <p:blipFill>
          <a:blip r:embed="rId3">
            <a:alphaModFix/>
          </a:blip>
          <a:stretch>
            <a:fillRect/>
          </a:stretch>
        </p:blipFill>
        <p:spPr>
          <a:xfrm>
            <a:off x="5064975" y="914400"/>
            <a:ext cx="3126122" cy="388619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1" name="Google Shape;681;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82" name="Google Shape;682;p83"/>
          <p:cNvSpPr txBox="1"/>
          <p:nvPr/>
        </p:nvSpPr>
        <p:spPr>
          <a:xfrm>
            <a:off x="685800" y="15413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1. Actor</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Nama:</a:t>
            </a:r>
            <a:r>
              <a:rPr lang="en" sz="1000">
                <a:solidFill>
                  <a:schemeClr val="dk1"/>
                </a:solidFill>
                <a:latin typeface="Montserrat"/>
                <a:ea typeface="Montserrat"/>
                <a:cs typeface="Montserrat"/>
                <a:sym typeface="Montserrat"/>
              </a:rPr>
              <a:t> Jamie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Tentang Jamie:</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Seorang mahasiswi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Berumur 19 tahun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Secara finansial masih bergantung pada orang tua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Orang tua Jamie berada di kelas ekonomi menengah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Jamie sedang menabung untuk membeli webcam baru, untuk keperluan kuliah online.</a:t>
            </a:r>
            <a:endParaRPr sz="1000">
              <a:solidFill>
                <a:schemeClr val="dk1"/>
              </a:solidFill>
              <a:latin typeface="Montserrat"/>
              <a:ea typeface="Montserrat"/>
              <a:cs typeface="Montserrat"/>
              <a:sym typeface="Montserrat"/>
            </a:endParaRPr>
          </a:p>
        </p:txBody>
      </p:sp>
      <p:pic>
        <p:nvPicPr>
          <p:cNvPr id="683" name="Google Shape;683;p83">
            <a:hlinkClick r:id="rId3"/>
          </p:cNvPr>
          <p:cNvPicPr preferRelativeResize="0"/>
          <p:nvPr/>
        </p:nvPicPr>
        <p:blipFill rotWithShape="1">
          <a:blip r:embed="rId4">
            <a:alphaModFix/>
          </a:blip>
          <a:srcRect b="38233" l="0" r="0" t="1175"/>
          <a:stretch/>
        </p:blipFill>
        <p:spPr>
          <a:xfrm>
            <a:off x="5548575" y="1402775"/>
            <a:ext cx="2882624" cy="26205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90" name="Google Shape;690;p84"/>
          <p:cNvSpPr txBox="1"/>
          <p:nvPr/>
        </p:nvSpPr>
        <p:spPr>
          <a:xfrm>
            <a:off x="685800" y="1600200"/>
            <a:ext cx="3605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2.</a:t>
            </a:r>
            <a:r>
              <a:rPr b="1" lang="en" sz="1000">
                <a:solidFill>
                  <a:schemeClr val="accent1"/>
                </a:solidFill>
                <a:highlight>
                  <a:schemeClr val="lt1"/>
                </a:highlight>
                <a:latin typeface="Montserrat"/>
                <a:ea typeface="Montserrat"/>
                <a:cs typeface="Montserrat"/>
                <a:sym typeface="Montserrat"/>
              </a:rPr>
              <a:t> Scenario + Expectations</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Skenarionya adalah: </a:t>
            </a:r>
            <a:r>
              <a:rPr lang="en" sz="1000">
                <a:solidFill>
                  <a:schemeClr val="dk1"/>
                </a:solidFill>
                <a:latin typeface="Montserrat"/>
                <a:ea typeface="Montserrat"/>
                <a:cs typeface="Montserrat"/>
                <a:sym typeface="Montserrat"/>
              </a:rPr>
              <a:t>Jamie ingin beralih pada paket data seluler yang lebih hemat.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Ekspektasinya adalah:</a:t>
            </a:r>
            <a:r>
              <a:rPr lang="en" sz="1000">
                <a:solidFill>
                  <a:schemeClr val="dk1"/>
                </a:solidFill>
                <a:latin typeface="Montserrat"/>
                <a:ea typeface="Montserrat"/>
                <a:cs typeface="Montserrat"/>
                <a:sym typeface="Montserrat"/>
              </a:rPr>
              <a:t> Menemukan informasi paket data seluler mana yang paling hemat. </a:t>
            </a:r>
            <a:endParaRPr sz="1000">
              <a:solidFill>
                <a:schemeClr val="dk1"/>
              </a:solidFill>
              <a:latin typeface="Montserrat"/>
              <a:ea typeface="Montserrat"/>
              <a:cs typeface="Montserrat"/>
              <a:sym typeface="Montserrat"/>
            </a:endParaRPr>
          </a:p>
        </p:txBody>
      </p:sp>
      <p:pic>
        <p:nvPicPr>
          <p:cNvPr id="691" name="Google Shape;691;p84"/>
          <p:cNvPicPr preferRelativeResize="0"/>
          <p:nvPr/>
        </p:nvPicPr>
        <p:blipFill rotWithShape="1">
          <a:blip r:embed="rId3">
            <a:alphaModFix/>
          </a:blip>
          <a:srcRect b="79200" l="0" r="0" t="0"/>
          <a:stretch/>
        </p:blipFill>
        <p:spPr>
          <a:xfrm>
            <a:off x="4637100" y="1694825"/>
            <a:ext cx="4135426" cy="7885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7" name="Google Shape;697;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698" name="Google Shape;698;p85"/>
          <p:cNvSpPr txBox="1"/>
          <p:nvPr/>
        </p:nvSpPr>
        <p:spPr>
          <a:xfrm>
            <a:off x="685800" y="1600200"/>
            <a:ext cx="3605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3. </a:t>
            </a:r>
            <a:r>
              <a:rPr b="1" lang="en" sz="1000">
                <a:solidFill>
                  <a:schemeClr val="accent1"/>
                </a:solidFill>
                <a:highlight>
                  <a:schemeClr val="lt1"/>
                </a:highlight>
                <a:latin typeface="Montserrat"/>
                <a:ea typeface="Montserrat"/>
                <a:cs typeface="Montserrat"/>
                <a:sym typeface="Montserrat"/>
              </a:rPr>
              <a:t>Journey phases</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Journey phases adalah tahapan-tahapan yang akan dilalui Jamie. Mulai dari define, compare, negotiate, hingga select.</a:t>
            </a:r>
            <a:endParaRPr sz="800">
              <a:solidFill>
                <a:schemeClr val="dk1"/>
              </a:solidFill>
              <a:latin typeface="Montserrat"/>
              <a:ea typeface="Montserrat"/>
              <a:cs typeface="Montserrat"/>
              <a:sym typeface="Montserrat"/>
            </a:endParaRPr>
          </a:p>
        </p:txBody>
      </p:sp>
      <p:pic>
        <p:nvPicPr>
          <p:cNvPr id="699" name="Google Shape;699;p85"/>
          <p:cNvPicPr preferRelativeResize="0"/>
          <p:nvPr/>
        </p:nvPicPr>
        <p:blipFill rotWithShape="1">
          <a:blip r:embed="rId3">
            <a:alphaModFix/>
          </a:blip>
          <a:srcRect b="71259" l="0" r="0" t="0"/>
          <a:stretch/>
        </p:blipFill>
        <p:spPr>
          <a:xfrm>
            <a:off x="4637100" y="1811500"/>
            <a:ext cx="4135426" cy="10896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5" name="Google Shape;705;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06" name="Google Shape;706;p86"/>
          <p:cNvSpPr txBox="1"/>
          <p:nvPr/>
        </p:nvSpPr>
        <p:spPr>
          <a:xfrm>
            <a:off x="555000" y="1600200"/>
            <a:ext cx="3605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4. Actions, emotions, and mindset</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Actions</a:t>
            </a:r>
            <a:r>
              <a:rPr lang="en" sz="1000">
                <a:solidFill>
                  <a:schemeClr val="dk1"/>
                </a:solidFill>
                <a:latin typeface="Montserrat"/>
                <a:ea typeface="Montserrat"/>
                <a:cs typeface="Montserrat"/>
                <a:sym typeface="Montserrat"/>
              </a:rPr>
              <a:t> atau tindakan adalah perilaku aktual dan langkah-langkah yang diambil Jamie saat mencari paket data seluler yang lebih hemat.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Mindset </a:t>
            </a:r>
            <a:r>
              <a:rPr lang="en" sz="1000">
                <a:solidFill>
                  <a:schemeClr val="dk1"/>
                </a:solidFill>
                <a:latin typeface="Montserrat"/>
                <a:ea typeface="Montserrat"/>
                <a:cs typeface="Montserrat"/>
                <a:sym typeface="Montserrat"/>
              </a:rPr>
              <a:t>atau pola pikir adalah apa yang dipikirkan, ditanyakan, dan motivasi Jamie dalam setiap actions yang dilakukan.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Emotions</a:t>
            </a:r>
            <a:r>
              <a:rPr lang="en" sz="1000">
                <a:solidFill>
                  <a:schemeClr val="dk1"/>
                </a:solidFill>
                <a:latin typeface="Montserrat"/>
                <a:ea typeface="Montserrat"/>
                <a:cs typeface="Montserrat"/>
                <a:sym typeface="Montserrat"/>
              </a:rPr>
              <a:t> adalah apa yang dirasakan Jamie dalam setiap actions. Emotions ini biasanya naik dan turun (contohnya kayak garis melintang pada gambar di samping).</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707" name="Google Shape;707;p86"/>
          <p:cNvPicPr preferRelativeResize="0"/>
          <p:nvPr/>
        </p:nvPicPr>
        <p:blipFill rotWithShape="1">
          <a:blip r:embed="rId3">
            <a:alphaModFix/>
          </a:blip>
          <a:srcRect b="19406" l="0" r="0" t="0"/>
          <a:stretch/>
        </p:blipFill>
        <p:spPr>
          <a:xfrm>
            <a:off x="4358700" y="914400"/>
            <a:ext cx="4572001" cy="366529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3" name="Google Shape;713;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14" name="Google Shape;714;p87"/>
          <p:cNvSpPr txBox="1"/>
          <p:nvPr/>
        </p:nvSpPr>
        <p:spPr>
          <a:xfrm>
            <a:off x="487625" y="1447800"/>
            <a:ext cx="3605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5</a:t>
            </a:r>
            <a:r>
              <a:rPr b="1" lang="en" sz="1000">
                <a:solidFill>
                  <a:schemeClr val="accent1"/>
                </a:solidFill>
                <a:highlight>
                  <a:schemeClr val="lt1"/>
                </a:highlight>
                <a:latin typeface="Montserrat"/>
                <a:ea typeface="Montserrat"/>
                <a:cs typeface="Montserrat"/>
                <a:sym typeface="Montserrat"/>
              </a:rPr>
              <a:t>. Opportunities</a:t>
            </a:r>
            <a:endParaRPr b="1" sz="10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Opportunities adalah hal yang dapat disimpulkan dari komponen-komponen sebelumnya.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Atau dengan kata lain, hal apa yang dapat dilakukan setelah mengetahui informasi tentang user. Solusi apa yang bisa diberikan untuk memecahkan masalah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715" name="Google Shape;715;p87"/>
          <p:cNvPicPr preferRelativeResize="0"/>
          <p:nvPr/>
        </p:nvPicPr>
        <p:blipFill rotWithShape="1">
          <a:blip r:embed="rId3">
            <a:alphaModFix/>
          </a:blip>
          <a:srcRect b="0" l="0" r="0" t="0"/>
          <a:stretch/>
        </p:blipFill>
        <p:spPr>
          <a:xfrm>
            <a:off x="4358700" y="914400"/>
            <a:ext cx="4572001" cy="379142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1" name="Google Shape;721;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22" name="Google Shape;722;p88"/>
          <p:cNvSpPr txBox="1"/>
          <p:nvPr/>
        </p:nvSpPr>
        <p:spPr>
          <a:xfrm>
            <a:off x="685800" y="1185675"/>
            <a:ext cx="2099100" cy="3200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Contoh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user journey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00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map #1</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disamping adalah user journey map sederhana berdasarkan pengalaman seorang individu.</a:t>
            </a:r>
            <a:endParaRPr sz="1000">
              <a:solidFill>
                <a:srgbClr val="743673"/>
              </a:solidFill>
              <a:highlight>
                <a:schemeClr val="lt1"/>
              </a:highlight>
              <a:latin typeface="Montserrat"/>
              <a:ea typeface="Montserrat"/>
              <a:cs typeface="Montserrat"/>
              <a:sym typeface="Montserrat"/>
            </a:endParaRPr>
          </a:p>
        </p:txBody>
      </p:sp>
      <p:pic>
        <p:nvPicPr>
          <p:cNvPr id="723" name="Google Shape;723;p88"/>
          <p:cNvPicPr preferRelativeResize="0"/>
          <p:nvPr/>
        </p:nvPicPr>
        <p:blipFill rotWithShape="1">
          <a:blip r:embed="rId3">
            <a:alphaModFix/>
          </a:blip>
          <a:srcRect b="4907" l="-4558" r="0" t="359"/>
          <a:stretch/>
        </p:blipFill>
        <p:spPr>
          <a:xfrm>
            <a:off x="2627550" y="773300"/>
            <a:ext cx="6113431" cy="402729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9" name="Google Shape;729;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30" name="Google Shape;730;p89"/>
          <p:cNvSpPr txBox="1"/>
          <p:nvPr/>
        </p:nvSpPr>
        <p:spPr>
          <a:xfrm>
            <a:off x="685800" y="1185675"/>
            <a:ext cx="1735200" cy="32004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user journey </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map #2</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disamping adalah user journey map sederhana berdasarkan pengalaman pengguna yang kesimpulannya ditarik dari pengalaman pengguna tersebut.</a:t>
            </a:r>
            <a:endParaRPr sz="1000">
              <a:solidFill>
                <a:schemeClr val="dk1"/>
              </a:solidFill>
              <a:latin typeface="Montserrat"/>
              <a:ea typeface="Montserrat"/>
              <a:cs typeface="Montserrat"/>
              <a:sym typeface="Montserrat"/>
            </a:endParaRPr>
          </a:p>
        </p:txBody>
      </p:sp>
      <p:pic>
        <p:nvPicPr>
          <p:cNvPr id="731" name="Google Shape;731;p89"/>
          <p:cNvPicPr preferRelativeResize="0"/>
          <p:nvPr/>
        </p:nvPicPr>
        <p:blipFill rotWithShape="1">
          <a:blip r:embed="rId3">
            <a:alphaModFix/>
          </a:blip>
          <a:srcRect b="922" l="0" r="0" t="922"/>
          <a:stretch/>
        </p:blipFill>
        <p:spPr>
          <a:xfrm>
            <a:off x="2627550" y="773300"/>
            <a:ext cx="6113431" cy="40273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7" name="Google Shape;737;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38" name="Google Shape;738;p90"/>
          <p:cNvSpPr txBox="1"/>
          <p:nvPr/>
        </p:nvSpPr>
        <p:spPr>
          <a:xfrm>
            <a:off x="685800" y="1185675"/>
            <a:ext cx="2306700" cy="32004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user journey </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map #3</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disamping juga merupakan user journey map sederhana.</a:t>
            </a:r>
            <a:endParaRPr sz="1200">
              <a:solidFill>
                <a:schemeClr val="dk1"/>
              </a:solidFill>
              <a:latin typeface="Raleway Medium"/>
              <a:ea typeface="Raleway Medium"/>
              <a:cs typeface="Raleway Medium"/>
              <a:sym typeface="Raleway Medium"/>
            </a:endParaRPr>
          </a:p>
        </p:txBody>
      </p:sp>
      <p:pic>
        <p:nvPicPr>
          <p:cNvPr id="739" name="Google Shape;739;p90"/>
          <p:cNvPicPr preferRelativeResize="0"/>
          <p:nvPr/>
        </p:nvPicPr>
        <p:blipFill rotWithShape="1">
          <a:blip r:embed="rId3">
            <a:alphaModFix/>
          </a:blip>
          <a:srcRect b="826" l="0" r="-3809" t="826"/>
          <a:stretch/>
        </p:blipFill>
        <p:spPr>
          <a:xfrm>
            <a:off x="3040325" y="773300"/>
            <a:ext cx="5721750" cy="42685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5" name="Google Shape;745;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46" name="Google Shape;746;p91"/>
          <p:cNvSpPr txBox="1"/>
          <p:nvPr/>
        </p:nvSpPr>
        <p:spPr>
          <a:xfrm>
            <a:off x="685800" y="1185675"/>
            <a:ext cx="2358600" cy="32004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user journey </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map #4</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disamping adalah format user journey map yang digunakan Carnegie Mellon University dalam menggambarkan perjalanan mahasiswa di dalam kampus.</a:t>
            </a:r>
            <a:endParaRPr sz="1000">
              <a:solidFill>
                <a:schemeClr val="dk1"/>
              </a:solidFill>
              <a:latin typeface="Montserrat"/>
              <a:ea typeface="Montserrat"/>
              <a:cs typeface="Montserrat"/>
              <a:sym typeface="Montserrat"/>
            </a:endParaRPr>
          </a:p>
        </p:txBody>
      </p:sp>
      <p:pic>
        <p:nvPicPr>
          <p:cNvPr id="747" name="Google Shape;747;p91"/>
          <p:cNvPicPr preferRelativeResize="0"/>
          <p:nvPr/>
        </p:nvPicPr>
        <p:blipFill rotWithShape="1">
          <a:blip r:embed="rId3">
            <a:alphaModFix/>
          </a:blip>
          <a:srcRect b="0" l="0" r="0" t="0"/>
          <a:stretch/>
        </p:blipFill>
        <p:spPr>
          <a:xfrm>
            <a:off x="3342725" y="758150"/>
            <a:ext cx="5429725" cy="40554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3" name="Google Shape;753;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54" name="Google Shape;754;p92"/>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Contoh</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user journey </a:t>
            </a:r>
            <a:endParaRPr b="1" sz="1600">
              <a:solidFill>
                <a:srgbClr val="743673"/>
              </a:solidFill>
              <a:highlight>
                <a:schemeClr val="lt1"/>
              </a:highlight>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map #5</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disamping adalah format user journey map yang sangat informatif dan padat. Namun, kita harus hati-hati, format seperti ini sangat rumit.</a:t>
            </a:r>
            <a:endParaRPr sz="1000">
              <a:solidFill>
                <a:srgbClr val="743673"/>
              </a:solidFill>
              <a:highlight>
                <a:schemeClr val="lt1"/>
              </a:highlight>
              <a:latin typeface="Montserrat"/>
              <a:ea typeface="Montserrat"/>
              <a:cs typeface="Montserrat"/>
              <a:sym typeface="Montserrat"/>
            </a:endParaRPr>
          </a:p>
        </p:txBody>
      </p:sp>
      <p:pic>
        <p:nvPicPr>
          <p:cNvPr id="755" name="Google Shape;755;p92"/>
          <p:cNvPicPr preferRelativeResize="0"/>
          <p:nvPr/>
        </p:nvPicPr>
        <p:blipFill rotWithShape="1">
          <a:blip r:embed="rId3">
            <a:alphaModFix/>
          </a:blip>
          <a:srcRect b="0" l="0" r="0" t="0"/>
          <a:stretch/>
        </p:blipFill>
        <p:spPr>
          <a:xfrm>
            <a:off x="3135000" y="662800"/>
            <a:ext cx="5481600" cy="431725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759" name="Shape 759"/>
        <p:cNvGrpSpPr/>
        <p:nvPr/>
      </p:nvGrpSpPr>
      <p:grpSpPr>
        <a:xfrm>
          <a:off x="0" y="0"/>
          <a:ext cx="0" cy="0"/>
          <a:chOff x="0" y="0"/>
          <a:chExt cx="0" cy="0"/>
        </a:xfrm>
      </p:grpSpPr>
      <p:sp>
        <p:nvSpPr>
          <p:cNvPr id="760" name="Google Shape;760;p93"/>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1" name="Google Shape;761;p93"/>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2" name="Google Shape;762;p93"/>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3" name="Google Shape;763;p93"/>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4" name="Google Shape;764;p93"/>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User journey maps</a:t>
            </a:r>
            <a:endParaRPr b="1" sz="1200">
              <a:solidFill>
                <a:schemeClr val="lt1"/>
              </a:solidFill>
              <a:latin typeface="Montserrat"/>
              <a:ea typeface="Montserrat"/>
              <a:cs typeface="Montserrat"/>
              <a:sym typeface="Montserrat"/>
            </a:endParaRPr>
          </a:p>
        </p:txBody>
      </p:sp>
      <p:sp>
        <p:nvSpPr>
          <p:cNvPr id="765" name="Google Shape;765;p93"/>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66" name="Google Shape;766;p93"/>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767" name="Google Shape;767;p93"/>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768" name="Google Shape;768;p93"/>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69" name="Google Shape;769;p93"/>
          <p:cNvSpPr txBox="1"/>
          <p:nvPr/>
        </p:nvSpPr>
        <p:spPr>
          <a:xfrm>
            <a:off x="574800" y="1505413"/>
            <a:ext cx="4062300" cy="2298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Kita udah bahas panjang lebar tentang user journey maps.</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Tapi, </a:t>
            </a:r>
            <a:r>
              <a:rPr b="1" lang="en">
                <a:solidFill>
                  <a:schemeClr val="accent1"/>
                </a:solidFill>
                <a:latin typeface="Montserrat"/>
                <a:ea typeface="Montserrat"/>
                <a:cs typeface="Montserrat"/>
                <a:sym typeface="Montserrat"/>
              </a:rPr>
              <a:t>nggak lengkap rasanya kalo kita nggak praktek langsung.</a:t>
            </a:r>
            <a:r>
              <a:rPr b="1" lang="en">
                <a:solidFill>
                  <a:schemeClr val="lt1"/>
                </a:solidFill>
                <a:latin typeface="Montserrat"/>
                <a:ea typeface="Montserrat"/>
                <a:cs typeface="Montserrat"/>
                <a:sym typeface="Montserrat"/>
              </a:rPr>
              <a:t> </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Kuyyy~</a:t>
            </a:r>
            <a:endParaRPr b="1">
              <a:solidFill>
                <a:schemeClr val="lt1"/>
              </a:solidFill>
              <a:latin typeface="Montserrat"/>
              <a:ea typeface="Montserrat"/>
              <a:cs typeface="Montserrat"/>
              <a:sym typeface="Montserrat"/>
            </a:endParaRPr>
          </a:p>
        </p:txBody>
      </p:sp>
      <p:sp>
        <p:nvSpPr>
          <p:cNvPr id="770" name="Google Shape;770;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71" name="Google Shape;771;p93"/>
          <p:cNvPicPr preferRelativeResize="0"/>
          <p:nvPr/>
        </p:nvPicPr>
        <p:blipFill>
          <a:blip r:embed="rId4">
            <a:alphaModFix/>
          </a:blip>
          <a:stretch>
            <a:fillRect/>
          </a:stretch>
        </p:blipFill>
        <p:spPr>
          <a:xfrm>
            <a:off x="5236775" y="914400"/>
            <a:ext cx="2595862" cy="388619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7" name="Google Shape;777;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78" name="Google Shape;778;p94"/>
          <p:cNvSpPr txBox="1"/>
          <p:nvPr/>
        </p:nvSpPr>
        <p:spPr>
          <a:xfrm>
            <a:off x="685800" y="1600197"/>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u="sng">
                <a:solidFill>
                  <a:schemeClr val="hlink"/>
                </a:solidFill>
                <a:highlight>
                  <a:schemeClr val="lt1"/>
                </a:highlight>
                <a:latin typeface="Montserrat"/>
                <a:ea typeface="Montserrat"/>
                <a:cs typeface="Montserrat"/>
                <a:sym typeface="Montserrat"/>
                <a:hlinkClick r:id="rId3"/>
              </a:rPr>
              <a:t>Unduh template disini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Ohiya, template yang kita pakai disini adalah </a:t>
            </a:r>
            <a:r>
              <a:rPr b="1" lang="en" sz="1000">
                <a:solidFill>
                  <a:schemeClr val="dk1"/>
                </a:solidFill>
                <a:latin typeface="Montserrat"/>
                <a:ea typeface="Montserrat"/>
                <a:cs typeface="Montserrat"/>
                <a:sym typeface="Montserrat"/>
              </a:rPr>
              <a:t>template yang sederhana</a:t>
            </a:r>
            <a:r>
              <a:rPr lang="en" sz="1000">
                <a:solidFill>
                  <a:schemeClr val="dk1"/>
                </a:solidFill>
                <a:latin typeface="Montserrat"/>
                <a:ea typeface="Montserrat"/>
                <a:cs typeface="Montserrat"/>
                <a:sym typeface="Montserrat"/>
              </a:rPr>
              <a:t> dengan tiga zona.</a:t>
            </a:r>
            <a:endParaRPr sz="1000">
              <a:solidFill>
                <a:schemeClr val="dk1"/>
              </a:solidFill>
              <a:latin typeface="Montserrat"/>
              <a:ea typeface="Montserrat"/>
              <a:cs typeface="Montserrat"/>
              <a:sym typeface="Montserrat"/>
            </a:endParaRPr>
          </a:p>
        </p:txBody>
      </p:sp>
      <p:pic>
        <p:nvPicPr>
          <p:cNvPr id="779" name="Google Shape;779;p94"/>
          <p:cNvPicPr preferRelativeResize="0"/>
          <p:nvPr/>
        </p:nvPicPr>
        <p:blipFill>
          <a:blip r:embed="rId4">
            <a:alphaModFix/>
          </a:blip>
          <a:stretch>
            <a:fillRect/>
          </a:stretch>
        </p:blipFill>
        <p:spPr>
          <a:xfrm>
            <a:off x="4043525" y="1161413"/>
            <a:ext cx="4953001" cy="343620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5" name="Google Shape;785;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86" name="Google Shape;786;p95"/>
          <p:cNvSpPr txBox="1"/>
          <p:nvPr/>
        </p:nvSpPr>
        <p:spPr>
          <a:xfrm>
            <a:off x="685800" y="1716725"/>
            <a:ext cx="3273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Zona A: </a:t>
            </a:r>
            <a:r>
              <a:rPr lang="en" sz="1000">
                <a:solidFill>
                  <a:schemeClr val="dk1"/>
                </a:solidFill>
                <a:latin typeface="Montserrat"/>
                <a:ea typeface="Montserrat"/>
                <a:cs typeface="Montserrat"/>
                <a:sym typeface="Montserrat"/>
              </a:rPr>
              <a:t>M</a:t>
            </a:r>
            <a:r>
              <a:rPr lang="en" sz="1000">
                <a:solidFill>
                  <a:schemeClr val="dk1"/>
                </a:solidFill>
                <a:latin typeface="Montserrat"/>
                <a:ea typeface="Montserrat"/>
                <a:cs typeface="Montserrat"/>
                <a:sym typeface="Montserrat"/>
              </a:rPr>
              <a:t>enunjukkan fokus dan konteks yang dipetakan.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Zona B: </a:t>
            </a:r>
            <a:r>
              <a:rPr lang="en" sz="1000">
                <a:solidFill>
                  <a:schemeClr val="dk1"/>
                </a:solidFill>
                <a:latin typeface="Montserrat"/>
                <a:ea typeface="Montserrat"/>
                <a:cs typeface="Montserrat"/>
                <a:sym typeface="Montserrat"/>
              </a:rPr>
              <a:t>Menggambarkan pengalaman pengguna.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Zona C: </a:t>
            </a:r>
            <a:r>
              <a:rPr lang="en" sz="1000">
                <a:solidFill>
                  <a:schemeClr val="dk1"/>
                </a:solidFill>
                <a:latin typeface="Montserrat"/>
                <a:ea typeface="Montserrat"/>
                <a:cs typeface="Montserrat"/>
                <a:sym typeface="Montserrat"/>
              </a:rPr>
              <a:t>Menjelaskan wawasan dan kesimpulan yang diperoleh dari analisis perjalanan pengguna.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Kita bahas detailnya satu-persatu, yuk!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highlight>
                <a:schemeClr val="lt1"/>
              </a:highlight>
              <a:latin typeface="Montserrat"/>
              <a:ea typeface="Montserrat"/>
              <a:cs typeface="Montserrat"/>
              <a:sym typeface="Montserrat"/>
            </a:endParaRPr>
          </a:p>
        </p:txBody>
      </p:sp>
      <p:pic>
        <p:nvPicPr>
          <p:cNvPr id="787" name="Google Shape;787;p95"/>
          <p:cNvPicPr preferRelativeResize="0"/>
          <p:nvPr/>
        </p:nvPicPr>
        <p:blipFill>
          <a:blip r:embed="rId3">
            <a:alphaModFix/>
          </a:blip>
          <a:stretch>
            <a:fillRect/>
          </a:stretch>
        </p:blipFill>
        <p:spPr>
          <a:xfrm>
            <a:off x="4145400" y="970700"/>
            <a:ext cx="4785300" cy="38299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3" name="Google Shape;793;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794" name="Google Shape;794;p96"/>
          <p:cNvSpPr txBox="1"/>
          <p:nvPr/>
        </p:nvSpPr>
        <p:spPr>
          <a:xfrm>
            <a:off x="685800" y="1716725"/>
            <a:ext cx="3273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000">
                <a:solidFill>
                  <a:schemeClr val="accent1"/>
                </a:solidFill>
                <a:highlight>
                  <a:schemeClr val="lt1"/>
                </a:highlight>
                <a:latin typeface="Montserrat"/>
                <a:ea typeface="Montserrat"/>
                <a:cs typeface="Montserrat"/>
                <a:sym typeface="Montserrat"/>
              </a:rPr>
              <a:t>Zona A</a:t>
            </a:r>
            <a:endParaRPr b="1" sz="10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Zona A atau zona lensa memberikan batasan dari sebuah user journey map. Zona ini berisi dua hal, yaitu: </a:t>
            </a:r>
            <a:r>
              <a:rPr b="1" lang="en" sz="1000">
                <a:solidFill>
                  <a:schemeClr val="dk1"/>
                </a:solidFill>
                <a:latin typeface="Montserrat"/>
                <a:ea typeface="Montserrat"/>
                <a:cs typeface="Montserrat"/>
                <a:sym typeface="Montserrat"/>
              </a:rPr>
              <a:t>persona </a:t>
            </a:r>
            <a:r>
              <a:rPr lang="en" sz="1000">
                <a:solidFill>
                  <a:schemeClr val="dk1"/>
                </a:solidFill>
                <a:latin typeface="Montserrat"/>
                <a:ea typeface="Montserrat"/>
                <a:cs typeface="Montserrat"/>
                <a:sym typeface="Montserrat"/>
              </a:rPr>
              <a:t>(siapa) dan</a:t>
            </a:r>
            <a:r>
              <a:rPr b="1" lang="en" sz="1000">
                <a:solidFill>
                  <a:schemeClr val="dk1"/>
                </a:solidFill>
                <a:latin typeface="Montserrat"/>
                <a:ea typeface="Montserrat"/>
                <a:cs typeface="Montserrat"/>
                <a:sym typeface="Montserrat"/>
              </a:rPr>
              <a:t> skenario</a:t>
            </a:r>
            <a:r>
              <a:rPr lang="en" sz="1000">
                <a:solidFill>
                  <a:schemeClr val="dk1"/>
                </a:solidFill>
                <a:latin typeface="Montserrat"/>
                <a:ea typeface="Montserrat"/>
                <a:cs typeface="Montserrat"/>
                <a:sym typeface="Montserrat"/>
              </a:rPr>
              <a:t> (apa) yang akan diperiksa.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795" name="Google Shape;795;p96"/>
          <p:cNvPicPr preferRelativeResize="0"/>
          <p:nvPr/>
        </p:nvPicPr>
        <p:blipFill rotWithShape="1">
          <a:blip r:embed="rId3">
            <a:alphaModFix/>
          </a:blip>
          <a:srcRect b="77856" l="0" r="0" t="0"/>
          <a:stretch/>
        </p:blipFill>
        <p:spPr>
          <a:xfrm>
            <a:off x="4191000" y="1899166"/>
            <a:ext cx="4953001" cy="76089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1" name="Google Shape;801;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802" name="Google Shape;802;p97"/>
          <p:cNvSpPr txBox="1"/>
          <p:nvPr/>
        </p:nvSpPr>
        <p:spPr>
          <a:xfrm>
            <a:off x="685800" y="1716725"/>
            <a:ext cx="3273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000">
                <a:solidFill>
                  <a:schemeClr val="accent1"/>
                </a:solidFill>
                <a:highlight>
                  <a:schemeClr val="lt1"/>
                </a:highlight>
                <a:latin typeface="Montserrat"/>
                <a:ea typeface="Montserrat"/>
                <a:cs typeface="Montserrat"/>
                <a:sym typeface="Montserrat"/>
              </a:rPr>
              <a:t>Zona B</a:t>
            </a:r>
            <a:endParaRPr b="1" sz="10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Zona B adalah zona inti dari user journey map. Zona ini berisi empat hal, yaitu: </a:t>
            </a:r>
            <a:r>
              <a:rPr b="1" lang="en" sz="1000">
                <a:solidFill>
                  <a:schemeClr val="dk1"/>
                </a:solidFill>
                <a:latin typeface="Montserrat"/>
                <a:ea typeface="Montserrat"/>
                <a:cs typeface="Montserrat"/>
                <a:sym typeface="Montserrat"/>
              </a:rPr>
              <a:t>Fase-fase perjalanan </a:t>
            </a:r>
            <a:r>
              <a:rPr lang="en" sz="1000">
                <a:solidFill>
                  <a:schemeClr val="dk1"/>
                </a:solidFill>
                <a:latin typeface="Montserrat"/>
                <a:ea typeface="Montserrat"/>
                <a:cs typeface="Montserrat"/>
                <a:sym typeface="Montserrat"/>
              </a:rPr>
              <a:t>user, </a:t>
            </a:r>
            <a:r>
              <a:rPr b="1" lang="en" sz="1000">
                <a:solidFill>
                  <a:schemeClr val="dk1"/>
                </a:solidFill>
                <a:latin typeface="Montserrat"/>
                <a:ea typeface="Montserrat"/>
                <a:cs typeface="Montserrat"/>
                <a:sym typeface="Montserrat"/>
              </a:rPr>
              <a:t>tindakan </a:t>
            </a:r>
            <a:r>
              <a:rPr lang="en" sz="1000">
                <a:solidFill>
                  <a:schemeClr val="dk1"/>
                </a:solidFill>
                <a:latin typeface="Montserrat"/>
                <a:ea typeface="Montserrat"/>
                <a:cs typeface="Montserrat"/>
                <a:sym typeface="Montserrat"/>
              </a:rPr>
              <a:t>(actions), </a:t>
            </a:r>
            <a:r>
              <a:rPr b="1" lang="en" sz="1000">
                <a:solidFill>
                  <a:schemeClr val="dk1"/>
                </a:solidFill>
                <a:latin typeface="Montserrat"/>
                <a:ea typeface="Montserrat"/>
                <a:cs typeface="Montserrat"/>
                <a:sym typeface="Montserrat"/>
              </a:rPr>
              <a:t>pola pikir </a:t>
            </a:r>
            <a:r>
              <a:rPr lang="en" sz="1000">
                <a:solidFill>
                  <a:schemeClr val="dk1"/>
                </a:solidFill>
                <a:latin typeface="Montserrat"/>
                <a:ea typeface="Montserrat"/>
                <a:cs typeface="Montserrat"/>
                <a:sym typeface="Montserrat"/>
              </a:rPr>
              <a:t>(mindsets), dan </a:t>
            </a:r>
            <a:r>
              <a:rPr b="1" lang="en" sz="1000">
                <a:solidFill>
                  <a:schemeClr val="dk1"/>
                </a:solidFill>
                <a:latin typeface="Montserrat"/>
                <a:ea typeface="Montserrat"/>
                <a:cs typeface="Montserrat"/>
                <a:sym typeface="Montserrat"/>
              </a:rPr>
              <a:t>perasaan </a:t>
            </a:r>
            <a:r>
              <a:rPr lang="en" sz="1000">
                <a:solidFill>
                  <a:schemeClr val="dk1"/>
                </a:solidFill>
                <a:latin typeface="Montserrat"/>
                <a:ea typeface="Montserrat"/>
                <a:cs typeface="Montserrat"/>
                <a:sym typeface="Montserrat"/>
              </a:rPr>
              <a:t>(emotions).</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accent1"/>
              </a:solidFill>
              <a:highlight>
                <a:schemeClr val="lt1"/>
              </a:highlight>
              <a:latin typeface="Montserrat"/>
              <a:ea typeface="Montserrat"/>
              <a:cs typeface="Montserrat"/>
              <a:sym typeface="Montserrat"/>
            </a:endParaRPr>
          </a:p>
        </p:txBody>
      </p:sp>
      <p:pic>
        <p:nvPicPr>
          <p:cNvPr id="803" name="Google Shape;803;p97"/>
          <p:cNvPicPr preferRelativeResize="0"/>
          <p:nvPr/>
        </p:nvPicPr>
        <p:blipFill rotWithShape="1">
          <a:blip r:embed="rId3">
            <a:alphaModFix/>
          </a:blip>
          <a:srcRect b="33297" l="0" r="0" t="19419"/>
          <a:stretch/>
        </p:blipFill>
        <p:spPr>
          <a:xfrm>
            <a:off x="4149425" y="1763137"/>
            <a:ext cx="4953001" cy="162472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9" name="Google Shape;809;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User journey maps</a:t>
            </a:r>
            <a:endParaRPr/>
          </a:p>
        </p:txBody>
      </p:sp>
      <p:sp>
        <p:nvSpPr>
          <p:cNvPr id="810" name="Google Shape;810;p98"/>
          <p:cNvSpPr txBox="1"/>
          <p:nvPr/>
        </p:nvSpPr>
        <p:spPr>
          <a:xfrm>
            <a:off x="685800" y="1716725"/>
            <a:ext cx="32730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000">
                <a:solidFill>
                  <a:schemeClr val="accent1"/>
                </a:solidFill>
                <a:highlight>
                  <a:schemeClr val="lt1"/>
                </a:highlight>
                <a:latin typeface="Montserrat"/>
                <a:ea typeface="Montserrat"/>
                <a:cs typeface="Montserrat"/>
                <a:sym typeface="Montserrat"/>
              </a:rPr>
              <a:t>Zona C</a:t>
            </a:r>
            <a:endParaRPr b="1" sz="10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Zona C merupakan output dari sebuah user journey map. Zona ini berisi dua hal, yaitu</a:t>
            </a:r>
            <a:r>
              <a:rPr b="1" lang="en" sz="1000">
                <a:solidFill>
                  <a:schemeClr val="dk1"/>
                </a:solidFill>
                <a:latin typeface="Montserrat"/>
                <a:ea typeface="Montserrat"/>
                <a:cs typeface="Montserrat"/>
                <a:sym typeface="Montserrat"/>
              </a:rPr>
              <a:t> peluang</a:t>
            </a:r>
            <a:r>
              <a:rPr lang="en" sz="1000">
                <a:solidFill>
                  <a:schemeClr val="dk1"/>
                </a:solidFill>
                <a:latin typeface="Montserrat"/>
                <a:ea typeface="Montserrat"/>
                <a:cs typeface="Montserrat"/>
                <a:sym typeface="Montserrat"/>
              </a:rPr>
              <a:t> (opportunities) dan </a:t>
            </a:r>
            <a:r>
              <a:rPr b="1" lang="en" sz="1000">
                <a:solidFill>
                  <a:schemeClr val="dk1"/>
                </a:solidFill>
                <a:latin typeface="Montserrat"/>
                <a:ea typeface="Montserrat"/>
                <a:cs typeface="Montserrat"/>
                <a:sym typeface="Montserrat"/>
              </a:rPr>
              <a:t>kepemilikan internal</a:t>
            </a:r>
            <a:r>
              <a:rPr lang="en" sz="1000">
                <a:solidFill>
                  <a:schemeClr val="dk1"/>
                </a:solidFill>
                <a:latin typeface="Montserrat"/>
                <a:ea typeface="Montserrat"/>
                <a:cs typeface="Montserrat"/>
                <a:sym typeface="Montserrat"/>
              </a:rPr>
              <a:t> (internal ownership) yang dapat membantu praktisi UX untuk menemukan ide-ide pengembangan produk.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highlight>
                <a:schemeClr val="lt1"/>
              </a:highlight>
              <a:latin typeface="Montserrat"/>
              <a:ea typeface="Montserrat"/>
              <a:cs typeface="Montserrat"/>
              <a:sym typeface="Montserrat"/>
            </a:endParaRPr>
          </a:p>
        </p:txBody>
      </p:sp>
      <p:pic>
        <p:nvPicPr>
          <p:cNvPr id="811" name="Google Shape;811;p98"/>
          <p:cNvPicPr preferRelativeResize="0"/>
          <p:nvPr/>
        </p:nvPicPr>
        <p:blipFill rotWithShape="1">
          <a:blip r:embed="rId3">
            <a:alphaModFix/>
          </a:blip>
          <a:srcRect b="0" l="0" r="0" t="65385"/>
          <a:stretch/>
        </p:blipFill>
        <p:spPr>
          <a:xfrm>
            <a:off x="4139050" y="1922319"/>
            <a:ext cx="4953001" cy="118939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99"/>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817" name="Google Shape;817;p99"/>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823" name="Google Shape;823;p10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1</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Berikut adalah pain points seorang pengguna e-commerce,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 mengalami masalah saat checkout.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 </a:t>
            </a:r>
            <a:r>
              <a:rPr lang="en" sz="1200">
                <a:solidFill>
                  <a:schemeClr val="lt1"/>
                </a:solidFill>
                <a:latin typeface="Montserrat Medium"/>
                <a:ea typeface="Montserrat Medium"/>
                <a:cs typeface="Montserrat Medium"/>
                <a:sym typeface="Montserrat Medium"/>
              </a:rPr>
              <a:t>frustasi</a:t>
            </a:r>
            <a:r>
              <a:rPr lang="en" sz="1200">
                <a:solidFill>
                  <a:schemeClr val="lt1"/>
                </a:solidFill>
                <a:latin typeface="Montserrat Medium"/>
                <a:ea typeface="Montserrat Medium"/>
                <a:cs typeface="Montserrat Medium"/>
                <a:sym typeface="Montserrat Medium"/>
              </a:rPr>
              <a:t> karena tidak bisa menghapus barang yang telah ditambahkan ke dalam cart.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 frustasi karena tidak mampu membeli barang yang telah ditambahkan ke dalam cart.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 mengalami loading time yang sangat lama ketika memasukkan alamat.</a:t>
            </a:r>
            <a:endParaRPr sz="1200">
              <a:solidFill>
                <a:schemeClr val="lt1"/>
              </a:solidFill>
              <a:latin typeface="Montserrat Medium"/>
              <a:ea typeface="Montserrat Medium"/>
              <a:cs typeface="Montserrat Medium"/>
              <a:sym typeface="Montserrat Medium"/>
            </a:endParaRPr>
          </a:p>
        </p:txBody>
      </p:sp>
      <p:sp>
        <p:nvSpPr>
          <p:cNvPr id="824" name="Google Shape;824;p10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830" name="Google Shape;830;p10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1.</a:t>
            </a:r>
            <a:r>
              <a:rPr b="1" lang="en" sz="1800">
                <a:solidFill>
                  <a:schemeClr val="lt1"/>
                </a:solidFill>
                <a:latin typeface="Montserrat"/>
                <a:ea typeface="Montserrat"/>
                <a:cs typeface="Montserrat"/>
                <a:sym typeface="Montserrat"/>
              </a:rPr>
              <a:t> Berikut adalah pain points seorang pengguna e-commerce,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Pengguna mengalami masalah saat checkout.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Pengguna frustasi karena tidak bisa menghapus barang yang telah ditambahkan ke dalam cart.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Pengguna frustasi karena tidak mampu membeli barang yang telah ditambahkan ke dalam cart.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Pengguna mengalami loading time yang sangat lama ketika memasukkan alamat.</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831" name="Google Shape;831;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2" name="Google Shape;832;p101"/>
          <p:cNvSpPr/>
          <p:nvPr/>
        </p:nvSpPr>
        <p:spPr>
          <a:xfrm>
            <a:off x="685800" y="40530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Opsi C bukanlah masalah user experience, </a:t>
            </a:r>
            <a:r>
              <a:rPr b="1" lang="en" sz="1200">
                <a:solidFill>
                  <a:srgbClr val="733572"/>
                </a:solidFill>
                <a:latin typeface="Montserrat"/>
                <a:ea typeface="Montserrat"/>
                <a:cs typeface="Montserrat"/>
                <a:sym typeface="Montserrat"/>
              </a:rPr>
              <a:t>melainkan masalah personal si pengguna.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b="0"/>
          </a:p>
        </p:txBody>
      </p:sp>
      <p:sp>
        <p:nvSpPr>
          <p:cNvPr id="838" name="Google Shape;838;p10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2</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Terdapat beberapa komponen inti dari sebuah user journey map, kecuali…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Aktor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Skenario</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Solusi</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Mindset</a:t>
            </a:r>
            <a:endParaRPr sz="1200">
              <a:solidFill>
                <a:schemeClr val="lt1"/>
              </a:solidFill>
              <a:latin typeface="Montserrat Medium"/>
              <a:ea typeface="Montserrat Medium"/>
              <a:cs typeface="Montserrat Medium"/>
              <a:sym typeface="Montserrat Medium"/>
            </a:endParaRPr>
          </a:p>
        </p:txBody>
      </p:sp>
      <p:sp>
        <p:nvSpPr>
          <p:cNvPr id="839" name="Google Shape;839;p10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845" name="Google Shape;845;p10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2.</a:t>
            </a:r>
            <a:r>
              <a:rPr b="1" lang="en" sz="1700">
                <a:solidFill>
                  <a:schemeClr val="lt1"/>
                </a:solidFill>
                <a:latin typeface="Montserrat"/>
                <a:ea typeface="Montserrat"/>
                <a:cs typeface="Montserrat"/>
                <a:sym typeface="Montserrat"/>
              </a:rPr>
              <a:t> Terdapat beberapa komponen inti dari sebuah user journey map, kecuali…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Aktor</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Skenario</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Solusi</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Mindset</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846" name="Google Shape;846;p10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7" name="Google Shape;847;p103"/>
          <p:cNvSpPr/>
          <p:nvPr/>
        </p:nvSpPr>
        <p:spPr>
          <a:xfrm>
            <a:off x="685800" y="35435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Solusi bukanlah bagian dari sebuah user journey map.</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853" name="Google Shape;853;p10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Pentingnya sebuah user journey map adalah sebagai berikut,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titik kontak perjalanan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user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Melacak key performance indicator (KPI)</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Menemukan kekurangan</a:t>
            </a:r>
            <a:endParaRPr sz="1200">
              <a:solidFill>
                <a:schemeClr val="lt1"/>
              </a:solidFill>
              <a:latin typeface="Montserrat Medium"/>
              <a:ea typeface="Montserrat Medium"/>
              <a:cs typeface="Montserrat Medium"/>
              <a:sym typeface="Montserrat Medium"/>
            </a:endParaRPr>
          </a:p>
        </p:txBody>
      </p:sp>
      <p:sp>
        <p:nvSpPr>
          <p:cNvPr id="854" name="Google Shape;854;p10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860" name="Google Shape;860;p10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Pentingnya sebuah user journey map adalah sebagai berikut,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Menentukan titik kontak perjalanan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user</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Melacak key performance indicator (KPI)</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Menemukan kekurangan</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861" name="Google Shape;861;p10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2" name="Google Shape;862;p105"/>
          <p:cNvSpPr/>
          <p:nvPr/>
        </p:nvSpPr>
        <p:spPr>
          <a:xfrm>
            <a:off x="609600" y="37062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User justru harus ditentukan sebelum membuat user journey map.</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868" name="Google Shape;868;p10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4.</a:t>
            </a:r>
            <a:r>
              <a:rPr b="1" lang="en" sz="1800">
                <a:solidFill>
                  <a:schemeClr val="lt1"/>
                </a:solidFill>
                <a:latin typeface="Montserrat"/>
                <a:ea typeface="Montserrat"/>
                <a:cs typeface="Montserrat"/>
                <a:sym typeface="Montserrat"/>
              </a:rPr>
              <a:t> Berikut adalah beberapa zona dalam user journey map format sederhana,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Zona insights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Zona experience</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Zona lens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Zona opportunities</a:t>
            </a:r>
            <a:endParaRPr sz="1200">
              <a:solidFill>
                <a:schemeClr val="lt1"/>
              </a:solidFill>
              <a:latin typeface="Montserrat Medium"/>
              <a:ea typeface="Montserrat Medium"/>
              <a:cs typeface="Montserrat Medium"/>
              <a:sym typeface="Montserrat Medium"/>
            </a:endParaRPr>
          </a:p>
        </p:txBody>
      </p:sp>
      <p:sp>
        <p:nvSpPr>
          <p:cNvPr id="869" name="Google Shape;869;p10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875" name="Google Shape;875;p10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4.</a:t>
            </a:r>
            <a:r>
              <a:rPr b="1" lang="en" sz="1800">
                <a:solidFill>
                  <a:schemeClr val="lt1"/>
                </a:solidFill>
                <a:latin typeface="Montserrat"/>
                <a:ea typeface="Montserrat"/>
                <a:cs typeface="Montserrat"/>
                <a:sym typeface="Montserrat"/>
              </a:rPr>
              <a:t> Berikut adalah beberapa zona dalam user journey map format sederhana,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Zona insights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Zona experience</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Zona lens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Zona opportunities</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876" name="Google Shape;876;p10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7" name="Google Shape;877;p107"/>
          <p:cNvSpPr/>
          <p:nvPr/>
        </p:nvSpPr>
        <p:spPr>
          <a:xfrm>
            <a:off x="685800" y="3668000"/>
            <a:ext cx="7772400" cy="678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Terdapat </a:t>
            </a:r>
            <a:r>
              <a:rPr b="1" lang="en" sz="1200">
                <a:solidFill>
                  <a:srgbClr val="733572"/>
                </a:solidFill>
                <a:latin typeface="Montserrat"/>
                <a:ea typeface="Montserrat"/>
                <a:cs typeface="Montserrat"/>
                <a:sym typeface="Montserrat"/>
              </a:rPr>
              <a:t>tiga zona dalam user journey map format sederhana, yaitu zona lens, zona experience, dan zona insights.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883" name="Google Shape;883;p10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5.</a:t>
            </a:r>
            <a:r>
              <a:rPr b="1" lang="en" sz="1800">
                <a:solidFill>
                  <a:schemeClr val="lt1"/>
                </a:solidFill>
                <a:latin typeface="Montserrat"/>
                <a:ea typeface="Montserrat"/>
                <a:cs typeface="Montserrat"/>
                <a:sym typeface="Montserrat"/>
              </a:rPr>
              <a:t> Berikut adalah beberapa hal yang termasuk dalam zona B sebuah user journey map format sederhana,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fase-fase perjalanan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tindakan (actions)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pola pikir (mindsets)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opportunities (peluang)</a:t>
            </a:r>
            <a:endParaRPr sz="1200">
              <a:solidFill>
                <a:schemeClr val="lt1"/>
              </a:solidFill>
              <a:latin typeface="Montserrat Medium"/>
              <a:ea typeface="Montserrat Medium"/>
              <a:cs typeface="Montserrat Medium"/>
              <a:sym typeface="Montserrat Medium"/>
            </a:endParaRPr>
          </a:p>
        </p:txBody>
      </p:sp>
      <p:sp>
        <p:nvSpPr>
          <p:cNvPr id="884" name="Google Shape;884;p10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0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890" name="Google Shape;890;p10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5.</a:t>
            </a:r>
            <a:r>
              <a:rPr b="1" lang="en" sz="1800">
                <a:solidFill>
                  <a:schemeClr val="lt1"/>
                </a:solidFill>
                <a:latin typeface="Montserrat"/>
                <a:ea typeface="Montserrat"/>
                <a:cs typeface="Montserrat"/>
                <a:sym typeface="Montserrat"/>
              </a:rPr>
              <a:t> Berikut adalah beberapa hal yang termasuk dalam zona B sebuah user journey map format sederhana, kecuali…</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fase-fase perjalanan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tindakan (actions)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pola pikir (mindsets)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opportunities (peluang)</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891" name="Google Shape;891;p10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2" name="Google Shape;892;p109"/>
          <p:cNvSpPr/>
          <p:nvPr/>
        </p:nvSpPr>
        <p:spPr>
          <a:xfrm>
            <a:off x="685800" y="3731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Opportunities terdapat dalam zona C di sebuah user journey map format sederhana.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1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8" name="Google Shape;898;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899" name="Google Shape;899;p11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00" name="Google Shape;900;p110"/>
          <p:cNvSpPr txBox="1"/>
          <p:nvPr/>
        </p:nvSpPr>
        <p:spPr>
          <a:xfrm>
            <a:off x="685800" y="1384203"/>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0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400"/>
              <a:buFont typeface="Arial"/>
              <a:buNone/>
            </a:pPr>
            <a:r>
              <a:t/>
            </a:r>
            <a:endParaRPr b="1" sz="1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Design Thinking by Interaction Design Foundation</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5 Stages in The Design Thinking Process by Interaction Design Foundation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Defining The Problem  by Interaction Design Foundation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4)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Journey Mapping 101 by Nielsen Norman Group</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5) </a:t>
            </a: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When and How to Create Customer Journey Maps by Nielsen Norman Group</a:t>
            </a:r>
            <a:endParaRPr sz="1000">
              <a:solidFill>
                <a:schemeClr val="dk1"/>
              </a:solidFill>
              <a:latin typeface="Montserrat"/>
              <a:ea typeface="Montserrat"/>
              <a:cs typeface="Montserrat"/>
              <a:sym typeface="Montserra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904" name="Shape 904"/>
        <p:cNvGrpSpPr/>
        <p:nvPr/>
      </p:nvGrpSpPr>
      <p:grpSpPr>
        <a:xfrm>
          <a:off x="0" y="0"/>
          <a:ext cx="0" cy="0"/>
          <a:chOff x="0" y="0"/>
          <a:chExt cx="0" cy="0"/>
        </a:xfrm>
      </p:grpSpPr>
      <p:sp>
        <p:nvSpPr>
          <p:cNvPr id="905" name="Google Shape;905;p111"/>
          <p:cNvSpPr txBox="1"/>
          <p:nvPr/>
        </p:nvSpPr>
        <p:spPr>
          <a:xfrm>
            <a:off x="618375" y="16300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dengan selesainya part 2 ini, selesai sudah pembahasan kita tentang fase define di chapter 3.</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Selanjutnya, kita bakal bahas tentang </a:t>
            </a:r>
            <a:r>
              <a:rPr b="1" lang="en">
                <a:solidFill>
                  <a:schemeClr val="accent1"/>
                </a:solidFill>
                <a:latin typeface="Montserrat"/>
                <a:ea typeface="Montserrat"/>
                <a:cs typeface="Montserrat"/>
                <a:sym typeface="Montserrat"/>
              </a:rPr>
              <a:t>fase ideate.</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Penasaran kayak gimana? Cus langsung ke topik selanjutnya~</a:t>
            </a:r>
            <a:endParaRPr b="1" i="1">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rgbClr val="000000"/>
              </a:buClr>
              <a:buSzPts val="4000"/>
              <a:buFont typeface="Arial"/>
              <a:buNone/>
            </a:pPr>
            <a:r>
              <a:t/>
            </a:r>
            <a:endParaRPr b="1">
              <a:solidFill>
                <a:srgbClr val="FFFFFF"/>
              </a:solidFill>
              <a:latin typeface="Montserrat"/>
              <a:ea typeface="Montserrat"/>
              <a:cs typeface="Montserrat"/>
              <a:sym typeface="Montserrat"/>
            </a:endParaRPr>
          </a:p>
        </p:txBody>
      </p:sp>
      <p:pic>
        <p:nvPicPr>
          <p:cNvPr id="906" name="Google Shape;906;p111"/>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907" name="Google Shape;907;p111"/>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08" name="Google Shape;908;p111"/>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09" name="Google Shape;909;p11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10" name="Google Shape;910;p11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11" name="Google Shape;911;p111"/>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912" name="Google Shape;912;p111"/>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913" name="Google Shape;913;p111"/>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914" name="Google Shape;914;p111"/>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915" name="Google Shape;915;p111"/>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19" name="Shape 919"/>
        <p:cNvGrpSpPr/>
        <p:nvPr/>
      </p:nvGrpSpPr>
      <p:grpSpPr>
        <a:xfrm>
          <a:off x="0" y="0"/>
          <a:ext cx="0" cy="0"/>
          <a:chOff x="0" y="0"/>
          <a:chExt cx="0" cy="0"/>
        </a:xfrm>
      </p:grpSpPr>
      <p:sp>
        <p:nvSpPr>
          <p:cNvPr id="920" name="Google Shape;920;p11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1" name="Google Shape;921;p11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922" name="Google Shape;922;p11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923" name="Google Shape;923;p112"/>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924" name="Google Shape;924;p112"/>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