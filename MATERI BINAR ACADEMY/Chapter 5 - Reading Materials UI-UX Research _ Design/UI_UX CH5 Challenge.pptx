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Montserrat Medium"/>
      <p:regular r:id="rId28"/>
      <p:bold r:id="rId29"/>
      <p:italic r:id="rId30"/>
      <p:boldItalic r:id="rId31"/>
    </p:embeddedFont>
    <p:embeddedFont>
      <p:font typeface="Lato Black"/>
      <p:bold r:id="rId32"/>
      <p:boldItalic r:id="rId33"/>
    </p:embeddedFont>
    <p:embeddedFont>
      <p:font typeface="Montserrat ExtraBold"/>
      <p:bold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MontserratMedium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boldItalic.fntdata"/><Relationship Id="rId30" Type="http://schemas.openxmlformats.org/officeDocument/2006/relationships/font" Target="fonts/MontserratMedium-italic.fntdata"/><Relationship Id="rId11" Type="http://schemas.openxmlformats.org/officeDocument/2006/relationships/slide" Target="slides/slide6.xml"/><Relationship Id="rId33" Type="http://schemas.openxmlformats.org/officeDocument/2006/relationships/font" Target="fonts/LatoBlack-boldItalic.fntdata"/><Relationship Id="rId10" Type="http://schemas.openxmlformats.org/officeDocument/2006/relationships/slide" Target="slides/slide5.xml"/><Relationship Id="rId32" Type="http://schemas.openxmlformats.org/officeDocument/2006/relationships/font" Target="fonts/LatoBlack-bold.fntdata"/><Relationship Id="rId13" Type="http://schemas.openxmlformats.org/officeDocument/2006/relationships/slide" Target="slides/slide8.xml"/><Relationship Id="rId35" Type="http://schemas.openxmlformats.org/officeDocument/2006/relationships/font" Target="fonts/MontserratExtraBold-bold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ExtraBold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b9cd5a79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b9cd5a79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11656a099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11656a099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11656a099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11656a099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11656a099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11656a099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11656a099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11656a099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d1b84128e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d1b84128e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17fe0bea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17fe0bea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d1b84128e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d1b84128e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11656a09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11656a09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0e54dbc4a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0e54dbc4a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" name="Google Shape;16;p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3" name="Google Shape;23;p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5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5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2386875" y="2507550"/>
            <a:ext cx="5869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Gold 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 Chapter 5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25" y="1951500"/>
            <a:ext cx="1181925" cy="143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4294967295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Hal-hal yang perlu kamu lewati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8" name="Google Shape;88;p16"/>
          <p:cNvCxnSpPr>
            <a:stCxn id="89" idx="0"/>
            <a:endCxn id="90" idx="1"/>
          </p:cNvCxnSpPr>
          <p:nvPr/>
        </p:nvCxnSpPr>
        <p:spPr>
          <a:xfrm rot="-5400000">
            <a:off x="4856916" y="1350550"/>
            <a:ext cx="189900" cy="929100"/>
          </a:xfrm>
          <a:prstGeom prst="bentConnector2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1" name="Google Shape;91;p16"/>
          <p:cNvSpPr txBox="1"/>
          <p:nvPr/>
        </p:nvSpPr>
        <p:spPr>
          <a:xfrm>
            <a:off x="1306925" y="2749225"/>
            <a:ext cx="1539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ACCEPTANCE CRITERIA</a:t>
            </a:r>
            <a:endParaRPr b="1" i="0" sz="1400" u="none" cap="none" strike="noStrike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Kriteria pengumpulan challenge yang harus kamu penuhi untuk dapat melewati chapter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2" name="Google Shape;92;p16"/>
          <p:cNvCxnSpPr/>
          <p:nvPr/>
        </p:nvCxnSpPr>
        <p:spPr>
          <a:xfrm rot="10800000">
            <a:off x="2823118" y="3621379"/>
            <a:ext cx="8574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0" name="Google Shape;90;p16"/>
          <p:cNvSpPr txBox="1"/>
          <p:nvPr/>
        </p:nvSpPr>
        <p:spPr>
          <a:xfrm>
            <a:off x="5416276" y="1119975"/>
            <a:ext cx="153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SKILL METRICS</a:t>
            </a:r>
            <a:endParaRPr b="1" i="0" sz="1400" u="none" cap="none" strike="noStrike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rgbClr val="74367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Kemampuan teknis yang akan </a:t>
            </a:r>
            <a:br>
              <a:rPr lang="en" sz="10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kamu pelajari</a:t>
            </a:r>
            <a:endParaRPr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6141000" y="3130225"/>
            <a:ext cx="172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DELIVERY</a:t>
            </a:r>
            <a:endParaRPr b="1" i="0" sz="1400" u="none" cap="none" strike="noStrike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Hal yang akan kamu lakukan untuk dapat melewati chapter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4" name="Google Shape;94;p16"/>
          <p:cNvCxnSpPr/>
          <p:nvPr/>
        </p:nvCxnSpPr>
        <p:spPr>
          <a:xfrm>
            <a:off x="5045757" y="3554223"/>
            <a:ext cx="11121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5" name="Google Shape;95;p16"/>
          <p:cNvSpPr/>
          <p:nvPr/>
        </p:nvSpPr>
        <p:spPr>
          <a:xfrm rot="3599998">
            <a:off x="3282759" y="1881863"/>
            <a:ext cx="2398198" cy="2398198"/>
          </a:xfrm>
          <a:prstGeom prst="blockArc">
            <a:avLst>
              <a:gd fmla="val 12622480" name="adj1"/>
              <a:gd fmla="val 19781569" name="adj2"/>
              <a:gd fmla="val 20773" name="adj3"/>
            </a:avLst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 rot="10800000">
            <a:off x="3294359" y="1863407"/>
            <a:ext cx="2398200" cy="2398200"/>
          </a:xfrm>
          <a:prstGeom prst="blockArc">
            <a:avLst>
              <a:gd fmla="val 12622480" name="adj1"/>
              <a:gd fmla="val 19662822" name="adj2"/>
              <a:gd fmla="val 20729" name="adj3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 rot="-3599998">
            <a:off x="3304038" y="1881533"/>
            <a:ext cx="2398198" cy="2398198"/>
          </a:xfrm>
          <a:prstGeom prst="blockArc">
            <a:avLst>
              <a:gd fmla="val 12622480" name="adj1"/>
              <a:gd fmla="val 19703271" name="adj2"/>
              <a:gd fmla="val 20851" name="adj3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 rot="-7200164">
            <a:off x="3427565" y="3301183"/>
            <a:ext cx="505638" cy="506061"/>
            <a:chOff x="1967628" y="812211"/>
            <a:chExt cx="588000" cy="588000"/>
          </a:xfrm>
        </p:grpSpPr>
        <p:sp>
          <p:nvSpPr>
            <p:cNvPr id="99" name="Google Shape;99;p16"/>
            <p:cNvSpPr/>
            <p:nvPr/>
          </p:nvSpPr>
          <p:spPr>
            <a:xfrm rot="39023">
              <a:off x="1970909" y="815492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1C232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 rot="10800000">
              <a:off x="1970875" y="815525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4228368" y="1878239"/>
            <a:ext cx="505621" cy="506092"/>
            <a:chOff x="1970048" y="811613"/>
            <a:chExt cx="588000" cy="588000"/>
          </a:xfrm>
        </p:grpSpPr>
        <p:sp>
          <p:nvSpPr>
            <p:cNvPr id="102" name="Google Shape;102;p16"/>
            <p:cNvSpPr/>
            <p:nvPr/>
          </p:nvSpPr>
          <p:spPr>
            <a:xfrm rot="39023">
              <a:off x="1973329" y="814894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B45F06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 rot="10800000">
              <a:off x="1973295" y="814927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 rot="7200164">
            <a:off x="5063146" y="3282197"/>
            <a:ext cx="505638" cy="506061"/>
            <a:chOff x="1977085" y="811649"/>
            <a:chExt cx="588000" cy="588000"/>
          </a:xfrm>
        </p:grpSpPr>
        <p:sp>
          <p:nvSpPr>
            <p:cNvPr id="105" name="Google Shape;105;p16"/>
            <p:cNvSpPr/>
            <p:nvPr/>
          </p:nvSpPr>
          <p:spPr>
            <a:xfrm rot="39023">
              <a:off x="1980366" y="814930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FAB40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 rot="10800000">
              <a:off x="1980332" y="814963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FA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6"/>
          <p:cNvSpPr txBox="1"/>
          <p:nvPr/>
        </p:nvSpPr>
        <p:spPr>
          <a:xfrm>
            <a:off x="4267266" y="1910050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 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460468" y="3342679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5097031" y="3328107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Hal-hal yang perlu kamu lewati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1097280" y="1645920"/>
            <a:ext cx="65838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menemukan target pengguna dan sampel untuk pengujian.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membuat tugas pengujian.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mengadakan pengujian, mengorganisir temuan dan feedback dan menganalisanya.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membuat kesimpulan dari temuan dan wawasan hasil pengujian. 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menyusun sebuah rencana pengujian secara keseluruhan.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presentasi virtual di depan kelas dengan singkat dan padat.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SKILL METRICS</a:t>
            </a:r>
            <a:endParaRPr i="0" sz="12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Hal hal yang perlu kamu lewati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1097280" y="1645920"/>
            <a:ext cx="65838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Prototype dari challenge sebelumnya.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Proses pengujian (penjelasan atas apa yang diuji, siapa peserta pengujian dan tugas apa yang diberikan pada peserta).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Hasil pengujian (temuan dan wawasan).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Deck (dengan Google Slides) untuk mempresentasikan hal-hal di atas.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Presentasi deck di depan kelas.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DELIVERY</a:t>
            </a:r>
            <a:endParaRPr i="0" sz="12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Hal-hal yang perlu kamu lewati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CRITERIA</a:t>
            </a:r>
            <a:endParaRPr i="0" sz="12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1097280" y="1645920"/>
            <a:ext cx="65838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leway Medium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Melakukan pengujian prototype (10 pts)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leway Medium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Memberikan penjelasan atas proses pengujian prototype (20 pts) 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leway Medium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Menjelaskan cara mengumpulkan dan menganalisa proses pengujian (20 pts)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leway Medium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Memberikan penjelasan atas temuan dan wawasan hasil pengujian (20 pts)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leway Medium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Merancang Deck presentasi untuk mempresentasikan hal-hal di atas (20 pts)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leway Medium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Melakukan presentasi deck di dalam kelas (10 pts)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41" name="Google Shape;141;p2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685800" y="1188725"/>
            <a:ext cx="7930800" cy="18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Kamu perlu mengadakan usability testing dengan prototipe yang telah dibuat pada challenge sebelumnya. Untuk menyelesaikan challenge kali ini kamu perlu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1. Menggunakan prototipe dari kasus yang telah dipilih pada challenge sebelumnya.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2. Memilih sebuah fitur atau bagian dari prototipe yang akan diuji dan menyusun tugas untuk peserta. 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3. Melakukan pengujian, kumpulkan temuan dan </a:t>
            </a:r>
            <a:r>
              <a:rPr i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feedback </a:t>
            </a: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dari peserta pengujian.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4. Membuat sebuah deck (dengan Google Slides) untuk mempresentasikan hasil dari pengujian.</a:t>
            </a:r>
            <a:b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5. Mempresentasikan deck di depan kelas.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Challenge Point 3</a:t>
            </a:r>
            <a:b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Melakukan pengujian, kumpulkan temuan dan feedback dari pengguna.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Peserta pengujian dapat terdiri dari teman sekelas atau pengguna target Anda diluar kelas.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Temuan dan feedback dari pengguna (peserta) dikumpulkan (cari pola, pain points) dan dapat digambarkan oleh diagram, sheet  atau penjelasan berbentuk tulisan.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Contoh data temuan yang sudah dirapikan pada sebuah sheet: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0" name="Google Shape;15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5175" y="2761450"/>
            <a:ext cx="3141399" cy="209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" name="Google Shape;156;p2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Challenge Point 4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Membuat sebuah deck (dengan Google Slides) untuk mempresentasikan hasil dari pengujian.</a:t>
            </a:r>
            <a:b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Jumlah slides bebas, akan tetapi perlu mencantumkan berikut: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Slide 1 berisi judul, nama, dan tanggal.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Design system dan prototype hasil challenge sebelumnya.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Rencana pengujian (target peserta, jumlah peserta, tugas yang diberikan).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Hasil pengujian (temuan-temuan dan feedback).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Kesimpulan dari hasil pengujian yang telah diorganisir dan analisa.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Ucapan terimakasih dan penutup.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2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3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Challenge Point 5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Mempresentasikan hasil di depan kelas.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Setiap siswa mempresentasikan deck di depan kelas.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Maksimal waktu presentasi ditentukan oleh fasilitator.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Awali presentasi dengan mengenalkan diri.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/>
          <p:nvPr/>
        </p:nvSpPr>
        <p:spPr>
          <a:xfrm>
            <a:off x="4031975" y="2179724"/>
            <a:ext cx="2448300" cy="24483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2880172" y="732662"/>
            <a:ext cx="3058800" cy="30588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1580031" y="515479"/>
            <a:ext cx="3493200" cy="34932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4787172" y="1388640"/>
            <a:ext cx="2776800" cy="2776800"/>
          </a:xfrm>
          <a:prstGeom prst="ellipse">
            <a:avLst/>
          </a:prstGeom>
          <a:solidFill>
            <a:srgbClr val="5E2B62">
              <a:alpha val="6078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1752271" y="1608981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TERIMA</a:t>
            </a:r>
            <a:endParaRPr b="1" i="0" sz="3600" u="none" cap="none" strike="noStrike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1684821" y="2179714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KASIH</a:t>
            </a:r>
            <a:endParaRPr sz="1100"/>
          </a:p>
        </p:txBody>
      </p:sp>
      <p:pic>
        <p:nvPicPr>
          <p:cNvPr id="175" name="Google Shape;175;p24"/>
          <p:cNvPicPr preferRelativeResize="0"/>
          <p:nvPr/>
        </p:nvPicPr>
        <p:blipFill rotWithShape="1">
          <a:blip r:embed="rId3">
            <a:alphaModFix/>
          </a:blip>
          <a:srcRect b="0" l="0" r="13247" t="0"/>
          <a:stretch/>
        </p:blipFill>
        <p:spPr>
          <a:xfrm>
            <a:off x="5450801" y="1946964"/>
            <a:ext cx="1440495" cy="166039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4"/>
          <p:cNvSpPr/>
          <p:nvPr/>
        </p:nvSpPr>
        <p:spPr>
          <a:xfrm>
            <a:off x="2000840" y="3114985"/>
            <a:ext cx="1341000" cy="13410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