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5143500" cx="9144000"/>
  <p:notesSz cx="6858000" cy="9144000"/>
  <p:embeddedFontLst>
    <p:embeddedFont>
      <p:font typeface="Raleway"/>
      <p:regular r:id="rId69"/>
      <p:bold r:id="rId70"/>
      <p:italic r:id="rId71"/>
      <p:boldItalic r:id="rId72"/>
    </p:embeddedFont>
    <p:embeddedFont>
      <p:font typeface="Montserrat"/>
      <p:regular r:id="rId73"/>
      <p:bold r:id="rId74"/>
      <p:italic r:id="rId75"/>
      <p:boldItalic r:id="rId76"/>
    </p:embeddedFont>
    <p:embeddedFont>
      <p:font typeface="Montserrat Medium"/>
      <p:regular r:id="rId77"/>
      <p:bold r:id="rId78"/>
      <p:italic r:id="rId79"/>
      <p:boldItalic r:id="rId80"/>
    </p:embeddedFont>
    <p:embeddedFont>
      <p:font typeface="Lato Black"/>
      <p:bold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MontserratMedium-boldItalic.fntdata"/><Relationship Id="rId82" Type="http://schemas.openxmlformats.org/officeDocument/2006/relationships/font" Target="fonts/LatoBlack-boldItalic.fntdata"/><Relationship Id="rId81" Type="http://schemas.openxmlformats.org/officeDocument/2006/relationships/font" Target="fonts/Lato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-regular.fntdata"/><Relationship Id="rId72" Type="http://schemas.openxmlformats.org/officeDocument/2006/relationships/font" Target="fonts/Raleway-boldItalic.fntdata"/><Relationship Id="rId31" Type="http://schemas.openxmlformats.org/officeDocument/2006/relationships/slide" Target="slides/slide26.xml"/><Relationship Id="rId75" Type="http://schemas.openxmlformats.org/officeDocument/2006/relationships/font" Target="fonts/Montserrat-italic.fntdata"/><Relationship Id="rId30" Type="http://schemas.openxmlformats.org/officeDocument/2006/relationships/slide" Target="slides/slide25.xml"/><Relationship Id="rId74" Type="http://schemas.openxmlformats.org/officeDocument/2006/relationships/font" Target="fonts/Montserrat-bold.fntdata"/><Relationship Id="rId33" Type="http://schemas.openxmlformats.org/officeDocument/2006/relationships/slide" Target="slides/slide28.xml"/><Relationship Id="rId77" Type="http://schemas.openxmlformats.org/officeDocument/2006/relationships/font" Target="fonts/MontserratMedium-regular.fntdata"/><Relationship Id="rId32" Type="http://schemas.openxmlformats.org/officeDocument/2006/relationships/slide" Target="slides/slide27.xml"/><Relationship Id="rId76" Type="http://schemas.openxmlformats.org/officeDocument/2006/relationships/font" Target="fonts/Montserrat-boldItalic.fntdata"/><Relationship Id="rId35" Type="http://schemas.openxmlformats.org/officeDocument/2006/relationships/slide" Target="slides/slide30.xml"/><Relationship Id="rId79" Type="http://schemas.openxmlformats.org/officeDocument/2006/relationships/font" Target="fonts/MontserratMedium-italic.fntdata"/><Relationship Id="rId34" Type="http://schemas.openxmlformats.org/officeDocument/2006/relationships/slide" Target="slides/slide29.xml"/><Relationship Id="rId78" Type="http://schemas.openxmlformats.org/officeDocument/2006/relationships/font" Target="fonts/MontserratMedium-bold.fntdata"/><Relationship Id="rId71" Type="http://schemas.openxmlformats.org/officeDocument/2006/relationships/font" Target="fonts/Raleway-italic.fntdata"/><Relationship Id="rId70" Type="http://schemas.openxmlformats.org/officeDocument/2006/relationships/font" Target="fonts/Raleway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aleway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reestocks?utm_source=unsplash&amp;utm_medium=referral&amp;utm_content=creditCopyText" TargetMode="External"/><Relationship Id="rId3" Type="http://schemas.openxmlformats.org/officeDocument/2006/relationships/hyperlink" Target="https://unsplash.com/@freestocks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dtravisphd?utm_source=unsplash&amp;utm_medium=referral&amp;utm_content=creditCopyText" TargetMode="External"/><Relationship Id="rId3" Type="http://schemas.openxmlformats.org/officeDocument/2006/relationships/hyperlink" Target="https://unsplash.com/@dtravisphd?utm_source=unsplash&amp;utm_medium=referral&amp;utm_content=creditCopyText" TargetMode="External"/><Relationship Id="rId4" Type="http://schemas.openxmlformats.org/officeDocument/2006/relationships/hyperlink" Target="https://unsplash.com/s/photos/usability-testing?utm_source=unsplash&amp;utm_medium=referral&amp;utm_content=creditCopyText" TargetMode="External"/><Relationship Id="rId5" Type="http://schemas.openxmlformats.org/officeDocument/2006/relationships/hyperlink" Target="https://unsplash.com/s/photos/usability-testing?utm_source=unsplash&amp;utm_medium=referral&amp;utm_content=creditCopyText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dtravisphd?utm_source=unsplash&amp;utm_medium=referral&amp;utm_content=creditCopyText" TargetMode="External"/><Relationship Id="rId3" Type="http://schemas.openxmlformats.org/officeDocument/2006/relationships/hyperlink" Target="https://unsplash.com/@dtravisphd?utm_source=unsplash&amp;utm_medium=referral&amp;utm_content=creditCopyText" TargetMode="External"/><Relationship Id="rId4" Type="http://schemas.openxmlformats.org/officeDocument/2006/relationships/hyperlink" Target="https://unsplash.com/s/photos/usability-testing?utm_source=unsplash&amp;utm_medium=referral&amp;utm_content=creditCopyText" TargetMode="External"/><Relationship Id="rId5" Type="http://schemas.openxmlformats.org/officeDocument/2006/relationships/hyperlink" Target="https://unsplash.com/s/photos/usability-testing?utm_source=unsplash&amp;utm_medium=referral&amp;utm_content=creditCopyText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dtravisphd?utm_source=unsplash&amp;utm_medium=referral&amp;utm_content=creditCopyText" TargetMode="External"/><Relationship Id="rId3" Type="http://schemas.openxmlformats.org/officeDocument/2006/relationships/hyperlink" Target="https://unsplash.com/@dtravisphd?utm_source=unsplash&amp;utm_medium=referral&amp;utm_content=creditCopyText" TargetMode="External"/><Relationship Id="rId4" Type="http://schemas.openxmlformats.org/officeDocument/2006/relationships/hyperlink" Target="https://unsplash.com/s/photos/usability-testing?utm_source=unsplash&amp;utm_medium=referral&amp;utm_content=creditCopyText" TargetMode="External"/><Relationship Id="rId5" Type="http://schemas.openxmlformats.org/officeDocument/2006/relationships/hyperlink" Target="https://unsplash.com/s/photos/usability-testing?utm_source=unsplash&amp;utm_medium=referral&amp;utm_content=creditCopyText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reestocks?utm_source=unsplash&amp;utm_medium=referral&amp;utm_content=creditCopyText" TargetMode="External"/><Relationship Id="rId3" Type="http://schemas.openxmlformats.org/officeDocument/2006/relationships/hyperlink" Target="https://unsplash.com/@freestocks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reestocks?utm_source=unsplash&amp;utm_medium=referral&amp;utm_content=creditCopyText" TargetMode="External"/><Relationship Id="rId3" Type="http://schemas.openxmlformats.org/officeDocument/2006/relationships/hyperlink" Target="https://unsplash.com/@freestocks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reestocks?utm_source=unsplash&amp;utm_medium=referral&amp;utm_content=creditCopyText" TargetMode="External"/><Relationship Id="rId3" Type="http://schemas.openxmlformats.org/officeDocument/2006/relationships/hyperlink" Target="https://unsplash.com/@freestocks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card-sorting?utm_source=unsplash&amp;utm_medium=referral&amp;utm_content=creditCopyText" TargetMode="External"/><Relationship Id="rId5" Type="http://schemas.openxmlformats.org/officeDocument/2006/relationships/hyperlink" Target="https://unsplash.com/s/photos/card-sorting?utm_source=unsplash&amp;utm_medium=referral&amp;utm_content=creditCopyText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card-sorting?utm_source=unsplash&amp;utm_medium=referral&amp;utm_content=creditCopyText" TargetMode="External"/><Relationship Id="rId5" Type="http://schemas.openxmlformats.org/officeDocument/2006/relationships/hyperlink" Target="https://unsplash.com/s/photos/card-sorting?utm_source=unsplash&amp;utm_medium=referral&amp;utm_content=creditCopyText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indo?utm_source=unsplash&amp;utm_medium=referral&amp;utm_content=creditCopyText" TargetMode="External"/><Relationship Id="rId3" Type="http://schemas.openxmlformats.org/officeDocument/2006/relationships/hyperlink" Target="https://unsplash.com/@uxindo?utm_source=unsplash&amp;utm_medium=referral&amp;utm_content=creditCopyText" TargetMode="External"/><Relationship Id="rId4" Type="http://schemas.openxmlformats.org/officeDocument/2006/relationships/hyperlink" Target="https://unsplash.com/s/photos/card-sorting?utm_source=unsplash&amp;utm_medium=referral&amp;utm_content=creditCopyText" TargetMode="External"/><Relationship Id="rId5" Type="http://schemas.openxmlformats.org/officeDocument/2006/relationships/hyperlink" Target="https://unsplash.com/s/photos/card-sorting?utm_source=unsplash&amp;utm_medium=referral&amp;utm_content=creditCopyText" TargetMode="Externa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reestocks?utm_source=unsplash&amp;utm_medium=referral&amp;utm_content=creditCopyText" TargetMode="External"/><Relationship Id="rId3" Type="http://schemas.openxmlformats.org/officeDocument/2006/relationships/hyperlink" Target="https://unsplash.com/@freestocks?utm_source=unsplash&amp;utm_medium=referral&amp;utm_content=creditCopyText" TargetMode="External"/><Relationship Id="rId4" Type="http://schemas.openxmlformats.org/officeDocument/2006/relationships/hyperlink" Target="https://unsplash.com/s/photos/testing?utm_source=unsplash&amp;utm_medium=referral&amp;utm_content=creditCopyText" TargetMode="External"/><Relationship Id="rId5" Type="http://schemas.openxmlformats.org/officeDocument/2006/relationships/hyperlink" Target="https://unsplash.com/s/photos/testing?utm_source=unsplash&amp;utm_medium=referral&amp;utm_content=creditCopyText" TargetMode="Externa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ed541941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ed541941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208ea32b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208ea32b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b12bec43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0b12bec43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b12bec43e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b12bec43e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5e14e3ba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5e14e3ba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ed541941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ed541941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329d3848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329d384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5e14e3ba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5e14e3ba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f2fdaf5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f2fdaf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5e14e3ba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15e14e3ba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eb8ca8d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1eb8ca8d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329d3848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2329d3848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df2df513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df2df513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freestocks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489605c6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1489605c6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489605c6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489605c6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329d3848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329d3848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206b8854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206b8854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329d3848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329d3848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5e14e3ba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5e14e3ba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329d3848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329d3848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5e14e3ba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5e14e3ba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5e14e3ba8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5e14e3ba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David Travis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329d3848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329d3848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David Travis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15e14e3ba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15e14e3ba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David Travis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15e14e3ba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15e14e3ba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15e14e3ba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15e14e3ba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freestocks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2329d3848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2329d3848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freestocks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15e14e3ba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15e14e3ba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freestocks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5e14e3ba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15e14e3ba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http://www.johnferrigan.com/blog/2014/8/31/squareorderpart1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f2fdaf5d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f2fdaf5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http://www.johnferrigan.com/blog/2014/8/31/squareorderpart1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2329d38483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2329d3848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http://www.johnferrigan.com/blog/2014/8/31/squareorderpart1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3fe96465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13fe96465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http://www.johnferrigan.com/blog/2014/8/31/squareorderpart1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3fe9646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13fe9646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https://www.noldus.com/blog/how-to-build-a-usability-lab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2329d38483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2329d38483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https://www.noldus.com/blog/how-to-build-a-usability-lab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13fe9646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13fe9646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https://www.noldus.com/blog/how-to-build-a-usability-lab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13fe96465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13fe96465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https://exponea.com/blog/email-a-b-testing-the-quickest-method-to-increasing-your-email-performance-and-revenue/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29d38483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29d38483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https://exponea.com/blog/email-a-b-testing-the-quickest-method-to-increasing-your-email-performance-and-revenue/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3fe9646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13fe9646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https://exponea.com/blog/email-a-b-testing-the-quickest-method-to-increasing-your-email-performance-and-revenue/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13fe96465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13fe96465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https://www.crazyegg.com/blog/understanding-using-heatmaps-studies/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2329d38483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2329d3848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https://www.crazyegg.com/blog/understanding-using-heatmaps-studies/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3fe96465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13fe96465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https://www.crazyegg.com/blog/understanding-using-heatmaps-studies/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2329d38483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2329d38483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https://www.crazyegg.com/blog/understanding-using-heatmaps-studies/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13fe96465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13fe96465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2329d38483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2329d38483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13fe96465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13fe96465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Indonesia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13fe96465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13fe96465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https://www.hotjar.com/session-recordings/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2329d38483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2329d38483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https://www.hotjar.com/session-recordings/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13fe96465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13fe96465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https://www.hotjar.com/session-recordings/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f2fdaf5d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f2fdaf5d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https://www.hotjar.com/session-recordings/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13fe9646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13fe9646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https://usabilityhub.com/product/first-click-tests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2329d38483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2329d38483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https://usabilityhub.com/product/first-click-tests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13fe96465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13fe96465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from https://usabilityhub.com/product/first-click-tests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2329d38483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2329d38483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from https://usabilityhub.com/product/first-click-tests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3fe96465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13fe96465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https://www.nngroup.com/articles/tree-testing/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13fe96465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13fe96465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https://medium.com/nyc-design/eye-tracking-and-the-best-ux-practices-in-the-mobile-world-a101f67f20dd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2329d38483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2329d3848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https://medium.com/nyc-design/eye-tracking-and-the-best-ux-practices-in-the-mobile-world-a101f67f20dd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13fe96465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13fe96465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https://blog.prototypr.io/remote-user-testing-a-new-workflow-for-ux-freelancers-fbc13763c621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2329d38483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2329d38483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https://blog.prototypr.io/remote-user-testing-a-new-workflow-for-ux-freelancers-fbc13763c621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13fe9646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13fe9646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freestocks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0df2df513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0df2df513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1ed541941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1ed541941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4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5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6">
  <p:cSld name="TITLE_6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hbr.org/2017/06/a-refresher-on-ab-testing" TargetMode="External"/><Relationship Id="rId4" Type="http://schemas.openxmlformats.org/officeDocument/2006/relationships/hyperlink" Target="https://hbr.org/2017/06/a-refresher-on-ab-testing" TargetMode="External"/><Relationship Id="rId5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crazyegg.com/blog/understanding-using-heatmaps-studies/" TargetMode="External"/><Relationship Id="rId4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crazyegg.com/blog/understanding-using-heatmaps-studies/" TargetMode="External"/><Relationship Id="rId4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crazyegg.com/blog/understanding-using-heatmaps-studies/" TargetMode="External"/><Relationship Id="rId4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www.nngroup.com/articles/tree-testing/" TargetMode="External"/><Relationship Id="rId4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1.png"/></Relationships>
</file>

<file path=ppt/slides/_rels/slide6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hotjar.com/session-recordings/" TargetMode="External"/><Relationship Id="rId10" Type="http://schemas.openxmlformats.org/officeDocument/2006/relationships/hyperlink" Target="https://xd.adobe.com/ideas/process/user-testing/top-7-usability-testing-methods/" TargetMode="External"/><Relationship Id="rId12" Type="http://schemas.openxmlformats.org/officeDocument/2006/relationships/hyperlink" Target="https://usabilityhub.com/guides/first-click-testin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.png"/><Relationship Id="rId4" Type="http://schemas.openxmlformats.org/officeDocument/2006/relationships/hyperlink" Target="https://www.interaction-design.org/literature/topics/design-thinking" TargetMode="External"/><Relationship Id="rId9" Type="http://schemas.openxmlformats.org/officeDocument/2006/relationships/hyperlink" Target="https://build.diligent.com/user-research-usability-testing-e223027e4c2d" TargetMode="External"/><Relationship Id="rId5" Type="http://schemas.openxmlformats.org/officeDocument/2006/relationships/hyperlink" Target="https://trint.com/resources/qvko6rk9/why-is-ux-testing-so-important-and-how-do-i-get-it-right" TargetMode="External"/><Relationship Id="rId6" Type="http://schemas.openxmlformats.org/officeDocument/2006/relationships/hyperlink" Target="https://trint.com/resources/qvko6rk9/why-is-ux-testing-so-important-and-how-do-i-get-it-right" TargetMode="External"/><Relationship Id="rId7" Type="http://schemas.openxmlformats.org/officeDocument/2006/relationships/hyperlink" Target="https://trint.com/resources/qvko6rk9/why-is-ux-testing-so-important-and-how-do-i-get-it-right" TargetMode="External"/><Relationship Id="rId8" Type="http://schemas.openxmlformats.org/officeDocument/2006/relationships/hyperlink" Target="https://build.diligent.com/user-research-usability-testing-e223027e4c2d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Design Thinking: Test </a:t>
            </a:r>
            <a:r>
              <a:rPr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(Part 1)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Gold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Chapter 5 - Topic 3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" name="Google Shape;99;p20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1609500" y="575850"/>
            <a:ext cx="592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Selamat datang di </a:t>
            </a:r>
            <a:r>
              <a:rPr b="1" lang="en" sz="1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Chapter 5 Topic 3</a:t>
            </a:r>
            <a:r>
              <a:rPr b="1"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online course</a:t>
            </a:r>
            <a:br>
              <a:rPr b="1"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UI/UX Research/Design</a:t>
            </a:r>
            <a:r>
              <a:rPr b="1"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dari Binar Academy!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288" y="1807025"/>
            <a:ext cx="3823424" cy="2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862600" y="1469700"/>
            <a:ext cx="38181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Setelah memperkaya diri dengan pengetahuan desain yang baik dan buruk, saatnya memasuki fase terakhir dalam design thinking yaitu </a:t>
            </a:r>
            <a:r>
              <a:rPr b="1"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Let’s go bestie ~</a:t>
            </a:r>
            <a:endParaRPr sz="10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3796" y="1136563"/>
            <a:ext cx="2743199" cy="3511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696" y="113656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685800" y="1527188"/>
            <a:ext cx="4114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Materi kita kali ini meliputi: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685800" y="238452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5" name="Google Shape;125;p23"/>
          <p:cNvSpPr/>
          <p:nvPr/>
        </p:nvSpPr>
        <p:spPr>
          <a:xfrm>
            <a:off x="685800" y="284567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6" name="Google Shape;126;p23"/>
          <p:cNvSpPr/>
          <p:nvPr/>
        </p:nvSpPr>
        <p:spPr>
          <a:xfrm>
            <a:off x="685800" y="330682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7" name="Google Shape;127;p23"/>
          <p:cNvSpPr/>
          <p:nvPr/>
        </p:nvSpPr>
        <p:spPr>
          <a:xfrm>
            <a:off x="685800" y="376797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8" name="Google Shape;128;p23"/>
          <p:cNvSpPr txBox="1"/>
          <p:nvPr/>
        </p:nvSpPr>
        <p:spPr>
          <a:xfrm>
            <a:off x="1182350" y="2315675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1182350" y="2776825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1182350" y="3237975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Research vs testing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1182350" y="3699138"/>
            <a:ext cx="3472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553250" y="1830325"/>
            <a:ext cx="44829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Seperti kita ketahui bersama, testing merupakan fase terakhir dalam proses design thinking.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Tapi, apa sih sebenarnya yang dimaksud dengan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Yuk kita cari tahu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723" y="914400"/>
            <a:ext cx="2888502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487625" y="1726498"/>
            <a:ext cx="4114800" cy="1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Recap dulu yuk!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Masih ingat kan dengan fase prototipe? Ibaratnya gini, kalau prototyping adalah mewujudkan ide ke dalam bentuk, fase testing menjadi arena pengujiannya.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dapat dibagikan dan diuji di dalam tim desain kamu, di departemen lain, atau pada sekelompok kecil orang di luar tim desain.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400" y="1387025"/>
            <a:ext cx="3640201" cy="28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87625" y="1991847"/>
            <a:ext cx="4114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Lantas, apa itu fase testing?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Fase ini adalah tahap percobaan yang tujuannya untuk mengidentifikasi solusi terbaik. Desainer atau evaluator secara ketat menguji produk lengkap menggunakan solusi terbaik yang ditemukan selama fase pembuatan prototipe.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525" y="1377920"/>
            <a:ext cx="3816003" cy="278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487625" y="2060397"/>
            <a:ext cx="41148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Aktivitas kunci pada fase ini adalah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menguji untuk belajar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menyempurnakan ide dengan mengumpulkan umpan balik (feedback) dan bereksperimen ke depan.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Salah satunya, kita akan belajar mengenai usability testing atau pengujian kegunaan.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525" y="1377920"/>
            <a:ext cx="3816003" cy="278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487625" y="1636800"/>
            <a:ext cx="3951300" cy="18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Apa itu usability testing?</a:t>
            </a: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Usability testing atau pengujian kegunaan adalah proses pengujian berbagai bagian situs web atau aplikasi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oleh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Tujuannya,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menemukan cara paling baik dan efektif untuk pengguna dalam menyelesaikan suatu aktivitas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berdasarkan feedback secara langsung dari pengguna dengan berdasarkan pengalaman yang langsung dan nyata.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750" y="1484449"/>
            <a:ext cx="3859250" cy="25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487625" y="1964250"/>
            <a:ext cx="41148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Proses ini juga dikenal sebagai UX testing atau pengujian pengalaman pengguna. Sehingga, ukuran seberapa “berguna” sebuah web atau aplikasi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ditentukan dari percobaan pengguna mengakses produk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Pengguna diminta mengamati dan memakai produk, sekaligus memberikan pendapat mereka selama proses berlangsung.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550" y="1200150"/>
            <a:ext cx="3260449" cy="330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487625" y="1637250"/>
            <a:ext cx="39513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Cara kerja usability testing gimana ya?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Usability testing pada umumnya berjalan seperti ini: 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atau produk yang sudah berfungsi ditampilkan kepada pengguna. Kemudian, mereka diberikan skenario dan diminta untuk melakukan sejumlah aktivitas atau tugas terkait skenario tersebut.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610813"/>
            <a:ext cx="3915302" cy="2361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487625" y="1961550"/>
            <a:ext cx="41148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Cara mereka melakukan tugas yang diberikan, membantu kita mengidentifikasi waktu atau langkah tertentu ketika pengguna mengalami masalah.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Feedback dari pengguna kemudian kita kumpulkan, lalu dianalisis, untuk menemukan berbagai cara meningkatkan produk.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438" y="1352550"/>
            <a:ext cx="3633171" cy="330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487625" y="1882350"/>
            <a:ext cx="41148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bisa dilakukan sepanjang kemajuan proyek. Umumnya, hal ini dilakukan bersamaan dengan proses prototyping atau setelahnya.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Saat melakukan usability testing pada prototipe, kamu bisa memanfaatkan lingkungan yang familiar dengan pengguna, yaitu lingkungan normal di mana pengguna akan menggunakan prototipe kamu.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438" y="1352550"/>
            <a:ext cx="3633171" cy="330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487625" y="2162250"/>
            <a:ext cx="39513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Kalaupun hal tersebut tidak menungkinkan, cobalah untuk membuat pengguna melakukan tugas sambil memainkan peran. Intinya,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buatlah pengguna menggunakan prototipe seakan-akan mereka menggunakannya dalam kehidupan nyata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1" y="1458200"/>
            <a:ext cx="4063773" cy="24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4"/>
          <p:cNvSpPr txBox="1"/>
          <p:nvPr/>
        </p:nvSpPr>
        <p:spPr>
          <a:xfrm>
            <a:off x="593075" y="1592725"/>
            <a:ext cx="4953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Tapi,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Bukannya mencari solusi terbaik itu juga kita lakukan sewaktu prototyping?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Yuk kita temukan jawabannya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550" y="914400"/>
            <a:ext cx="1524591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685800" y="2092800"/>
            <a:ext cx="41148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menggunakan produk atau layanan karena ingin mencapai suatu tujuan.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belanja lewat e-commerce, supaya kegiatan belanja jadi lebih praktis. Kita pakai media sosial, supaya tetap bisa dekat dan tahu kabar teman-teman kita dengan lebih mudah dan cepat.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125" y="914400"/>
            <a:ext cx="2892082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6"/>
          <p:cNvSpPr txBox="1"/>
          <p:nvPr/>
        </p:nvSpPr>
        <p:spPr>
          <a:xfrm>
            <a:off x="487625" y="2019149"/>
            <a:ext cx="4114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Semakin mudah user mencapai tujuan lewat produk kita, maka produk akan semakin disukai!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produk kita benar-benar tepat guna dan tepat sasaran, user bisa jadi pengguna setia dan terus memilih produk kita di lain waktu, atau bahkan merekomendasikannya ke orang lain.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100" y="744750"/>
            <a:ext cx="3979500" cy="39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87625" y="1855500"/>
            <a:ext cx="41148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 maka dari itu, untuk menguji sejauh mana sebuah produk itu mudah digunakan dan disukai oleh user, kita bisa melakukan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pengujian akan memberikan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pemahaman mendalam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tentang pengguna produk kamu, apa yang membuat mereka senang, tidak senang (pain points), dan memberikan ruang untuk perbaikan (room for improvements).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3" name="Google Shape;2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050" y="1112149"/>
            <a:ext cx="3634474" cy="282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487625" y="1929462"/>
            <a:ext cx="41148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 seperti yang disebutkan tadi, membantumu menciptakan pengalaman pengguna yang baik.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pelanggan puas, ada kemungkinan mereka membantu mengembangkan basis pelanggan kamu dengan menyebarkan berita ke teman atau kolega, dan membawa lebih banyak orang untuk menggunakan produk kamu.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050" y="1112149"/>
            <a:ext cx="3634474" cy="282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9"/>
          <p:cNvSpPr txBox="1"/>
          <p:nvPr/>
        </p:nvSpPr>
        <p:spPr>
          <a:xfrm>
            <a:off x="487625" y="1869150"/>
            <a:ext cx="41148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Melalui testing, kita bisa mengetahui bagaimana seseorang menggunakan produk kita, menemukan permasalahan dari perspektif orang lain, hingga mendapatkan insight tentang improvement yang bisa dilakukan.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UX nggak cuma membantu kamu memahami pelanggan yang sudah ada, tapi juga menjadi bagian integral dari proses riset pasar kamu.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9" name="Google Shape;2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125" y="1200075"/>
            <a:ext cx="3674475" cy="2995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testing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742700" y="1807825"/>
            <a:ext cx="36744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produk bisa menjadi aktivitas riset pasar (market research) dan memberimu wawasan tentang siapa target pasar dan bagaimana produk kamu akan digunakan oleh target pasar.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100" y="1439825"/>
            <a:ext cx="3674475" cy="2995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Research vs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41"/>
          <p:cNvSpPr txBox="1"/>
          <p:nvPr/>
        </p:nvSpPr>
        <p:spPr>
          <a:xfrm>
            <a:off x="526650" y="1774300"/>
            <a:ext cx="48903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Jadi, apakah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itu juga termasuk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research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? Atau testing itu sendiri adalah penelitian?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Tenang, jangan bingung dulu, gengs.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Yuk kita simak penjelasannya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5" name="Google Shape;27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663" y="914400"/>
            <a:ext cx="2467616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4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Research vs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42"/>
          <p:cNvSpPr txBox="1"/>
          <p:nvPr/>
        </p:nvSpPr>
        <p:spPr>
          <a:xfrm>
            <a:off x="487625" y="1906050"/>
            <a:ext cx="41148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Mari kita berkenalan dengan user research~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research atau penelitian pengguna bertujuan mengidentifikasi target pengguna, memahami kebutuhan, dan perilaku mereka.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83" name="Google Shape;2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425" y="944800"/>
            <a:ext cx="3462180" cy="385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4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Research vs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43"/>
          <p:cNvSpPr txBox="1"/>
          <p:nvPr/>
        </p:nvSpPr>
        <p:spPr>
          <a:xfrm>
            <a:off x="487625" y="1816350"/>
            <a:ext cx="41148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Berikut adalah beberapa metode pengumpulan data pengguna dalam penelitian, di antaranya: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Wawancara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Survei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Studi lapangan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Focus groups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5) Pengujian kegunaan (usability testing)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91" name="Google Shape;2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425" y="944800"/>
            <a:ext cx="3462180" cy="385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Research vs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685800" y="1378050"/>
            <a:ext cx="4114800" cy="2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Testing dan research, apakah sama atau beda?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(usability testing) mengacu pada metode khusus untuk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mengevaluasi antarmuka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sementara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penelitian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(user research) menggabungkan sekelompok metodologi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mengevaluasi sistem atau antarmuka yang mencakup pengujian pengguna, wawancara, survei, dan lainnya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Singkatnya, pengujian pengguna sebenarnya termasuk salah satu metode penelitian pengguna.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9" name="Google Shape;2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1217825"/>
            <a:ext cx="3078351" cy="307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5"/>
          <p:cNvSpPr txBox="1"/>
          <p:nvPr/>
        </p:nvSpPr>
        <p:spPr>
          <a:xfrm>
            <a:off x="487625" y="1999950"/>
            <a:ext cx="4691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 sekarang kita akan menggali lebih dalam mengenai ragam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metode testing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Ada apa aja?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Let’s go kita temukan jawabannya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7" name="Google Shape;3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723" y="914400"/>
            <a:ext cx="2888502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487625" y="1821150"/>
            <a:ext cx="42288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Tapi, apa yang perlu dilakukan sebelum memulai testing?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Sebelum memilih metode pengujian tertentu, kamu harus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memiliki pemahaman yang jelas tentang target audiens, sumber daya yang tersedia (misalnya waktu dan uang), serta tujuan penelitian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15" name="Google Shape;3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875" y="1218924"/>
            <a:ext cx="3437724" cy="33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487625" y="2212050"/>
            <a:ext cx="4228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Informasi tersebut akan membantu kamu memilih metode pengujian yang tepat, menjadi acuan untuk menyusun pertanyaan, aktivitas, atau tugas untuk peserta pengujian produk kamu.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23" name="Google Shape;3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875" y="1218924"/>
            <a:ext cx="3437724" cy="33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487625" y="1885047"/>
            <a:ext cx="41148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akan menelusuri beberapa metode testing. Perlu diingat bahwa tujuan utama dari pengujian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adalah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menyempurnakan proses desain dengan mempertimbangkan perspektif dan feedback dari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31" name="Google Shape;3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875" y="914400"/>
            <a:ext cx="3450736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9"/>
          <p:cNvSpPr txBox="1"/>
          <p:nvPr/>
        </p:nvSpPr>
        <p:spPr>
          <a:xfrm>
            <a:off x="487625" y="1977000"/>
            <a:ext cx="39513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1) Guerilla Testing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Guerilla testing adalah bentuk pengujian kegunaan paling sederhana dengan biaya cukup rendah. Pada dasarnya,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ini bisa dilakukan di tempat umum dan peserta atau sampel tes dipilih secara acak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90013"/>
            <a:ext cx="4038599" cy="274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5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50"/>
          <p:cNvSpPr txBox="1"/>
          <p:nvPr/>
        </p:nvSpPr>
        <p:spPr>
          <a:xfrm>
            <a:off x="487625" y="1947750"/>
            <a:ext cx="3951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Guerilla testing juga dapat dilakukan untuk mengumpulkan pendapat pribadi dan kesan emosional tentang ide dan konsep dari produk kamu.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Karena sampelnya acak, perlu dicatat bahwa pengujian ini mungkin tidak mewakili target produk kamu secara menyeluruh.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7" name="Google Shape;34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90013"/>
            <a:ext cx="4038599" cy="274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5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51"/>
          <p:cNvSpPr txBox="1"/>
          <p:nvPr/>
        </p:nvSpPr>
        <p:spPr>
          <a:xfrm>
            <a:off x="487625" y="2243400"/>
            <a:ext cx="3951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Contohnya, kamu bisa memilih kedai kopi sebagai tempat dan meminta pelanggan di sana untuk melakukan testing prototipe produkmu. Kamu boleh memberi mereka imbalan atau hadiah kecil sebagai ucapan terima kasih.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90013"/>
            <a:ext cx="4038599" cy="274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52"/>
          <p:cNvSpPr txBox="1"/>
          <p:nvPr/>
        </p:nvSpPr>
        <p:spPr>
          <a:xfrm>
            <a:off x="685800" y="1906047"/>
            <a:ext cx="41148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Kapan g</a:t>
            </a: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uerilla testing dilakukan</a:t>
            </a: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1" sz="1200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ini paling baik dilakukan pada tahap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 proses pengembangan produk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yaitu ketika kamu sudah memiliki kerangka desain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baik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(misalnya wireframe atau prototipe lo-fi) dan ingin mengetahui apakah kamu sedang bergerak ke arah yang benar atau sebaliknya.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3" name="Google Shape;36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367" y="914400"/>
            <a:ext cx="291000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53"/>
          <p:cNvSpPr txBox="1"/>
          <p:nvPr/>
        </p:nvSpPr>
        <p:spPr>
          <a:xfrm>
            <a:off x="487625" y="1628400"/>
            <a:ext cx="3951300" cy="1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Lab Usability Testing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Seperti namanya, lab usability testing adalah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yang dijalankan di lingkungan khusus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misalnya laboratorium, dan diawasi oleh seorang moderator.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Tugas moderator yaitu memfasilitasi peserta, menjawab pertanyaan mereka, dan membalas feedback secara real-time. Di sini, moderator harus seorang profesional karena perannya sentral dalam memoderasi peserta.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1" name="Google Shape;37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57250"/>
            <a:ext cx="4140524" cy="238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54"/>
          <p:cNvSpPr txBox="1"/>
          <p:nvPr/>
        </p:nvSpPr>
        <p:spPr>
          <a:xfrm>
            <a:off x="487625" y="2085300"/>
            <a:ext cx="39513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Kapan lab usability testing dilakukan?</a:t>
            </a:r>
            <a:endParaRPr b="1" sz="1800">
              <a:solidFill>
                <a:srgbClr val="F2AB2F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ini dilakukan ketika kamu perlu memiliki informasi mendalam tentang bagaimana interaksi pengguna dengan produk dan masalah apa yang mereka hadapi.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9" name="Google Shape;37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57250"/>
            <a:ext cx="4140524" cy="238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5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5"/>
          <p:cNvSpPr txBox="1"/>
          <p:nvPr/>
        </p:nvSpPr>
        <p:spPr>
          <a:xfrm>
            <a:off x="487625" y="2000700"/>
            <a:ext cx="39513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Perlu diingat bahwa lab usability cukup mahal untuk dijalankan karena kamu perlu menyewa lab, merekrut peserta, dan moderator. Sehingga sebelum melakukannya,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penting untuk memastikan bahwa semua peserta pengujian mencerminkan basis pelanggan kamu yang sebenarnya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7" name="Google Shape;38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57250"/>
            <a:ext cx="4140524" cy="238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5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6"/>
          <p:cNvSpPr txBox="1"/>
          <p:nvPr/>
        </p:nvSpPr>
        <p:spPr>
          <a:xfrm>
            <a:off x="685800" y="1953150"/>
            <a:ext cx="39513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3) A/B Testing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A/B adalah metode di mana peserta diminta untuk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membandingkan dua versi bagian sebuah situs web atau aplikasi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Hasil pengujian dapat membantu menentukan versi mana yang berperforma lebih baik.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5" name="Google Shape;39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825" y="914400"/>
            <a:ext cx="3042284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5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685800" y="2211900"/>
            <a:ext cx="39513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ini memungkinkan kita untuk membuat perubahan yang cermat pada pengalaman pengguna, membangun hipotesis, dan mempelajari mengapa elemen tertentu dari desain mempengaruhi perilaku pengguna.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3" name="Google Shape;40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825" y="914400"/>
            <a:ext cx="3042284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8"/>
          <p:cNvSpPr txBox="1"/>
          <p:nvPr/>
        </p:nvSpPr>
        <p:spPr>
          <a:xfrm>
            <a:off x="685800" y="1737148"/>
            <a:ext cx="4114800" cy="16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Kapan </a:t>
            </a: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A/B</a:t>
            </a: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 testing dilakukan?</a:t>
            </a:r>
            <a:endParaRPr b="1" sz="1800">
              <a:solidFill>
                <a:srgbClr val="F2AB2F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A/B dilakukan ketika kamu perlu membandingkan dua atau lebih variasi dari desain kamu.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mendalami lebih lanjut terkait pelaksanaan A/B testing, mari kita baca artikel berikut:</a:t>
            </a:r>
            <a:b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br>
              <a:rPr lang="en" sz="10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</a:b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Refresher on A/B Testing dari Harvard Business Review</a:t>
            </a:r>
            <a:b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11" name="Google Shape;41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5367" y="914400"/>
            <a:ext cx="291000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493" r="1503" t="0"/>
          <a:stretch/>
        </p:blipFill>
        <p:spPr>
          <a:xfrm>
            <a:off x="5486400" y="1207587"/>
            <a:ext cx="3017515" cy="274319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59"/>
          <p:cNvSpPr txBox="1"/>
          <p:nvPr/>
        </p:nvSpPr>
        <p:spPr>
          <a:xfrm>
            <a:off x="685800" y="2049450"/>
            <a:ext cx="41148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Heat Mapping 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Ketika kamu sedang mendesain sebuah situs web dan ingin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mengetahui area mana yang paling menarik perhatian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heat maps menjadi pilihan tepat untuk digunakan.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6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493" r="1503" t="0"/>
          <a:stretch/>
        </p:blipFill>
        <p:spPr>
          <a:xfrm>
            <a:off x="5486400" y="1207587"/>
            <a:ext cx="3017515" cy="274319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6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60"/>
          <p:cNvSpPr txBox="1"/>
          <p:nvPr/>
        </p:nvSpPr>
        <p:spPr>
          <a:xfrm>
            <a:off x="685800" y="2075850"/>
            <a:ext cx="41148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Heat maps adalah perangkat lunak untuk melakukan analisis data yang menggunakan warna sebagai alat visualisasi data.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Analisis heat maps memberi gambaran visual tentang di mana pengunjung mengklik halaman, semakin banyak klik maka semakin cerah warna areanya. Hal itu disebut sebagai “hotspot”.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6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61"/>
          <p:cNvSpPr txBox="1"/>
          <p:nvPr/>
        </p:nvSpPr>
        <p:spPr>
          <a:xfrm>
            <a:off x="685800" y="1934699"/>
            <a:ext cx="41148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Kapan </a:t>
            </a: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heat mapping</a:t>
            </a: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 dilakukan?</a:t>
            </a:r>
            <a:endParaRPr b="1" sz="1200">
              <a:solidFill>
                <a:srgbClr val="F2AB2F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ini bisa dilakukan ketika kamu memerlukan informasi bagian mana saja dari halaman buatanmu menarik pengguna.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Jangan sampai halaman tersebut malah menarik pengguna ke bagian yang tidak terlalu penting.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5" name="Google Shape;43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367" y="914400"/>
            <a:ext cx="291000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6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685800" y="2124899"/>
            <a:ext cx="4114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mendalami lebih lanjut terkait pelaksanaan heat mapping, mari kita baca artikel berikut: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a Heat Map, How to Create One, Examples and Case Studies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3" name="Google Shape;44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5367" y="914400"/>
            <a:ext cx="291000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6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63"/>
          <p:cNvSpPr txBox="1"/>
          <p:nvPr/>
        </p:nvSpPr>
        <p:spPr>
          <a:xfrm>
            <a:off x="685800" y="1743150"/>
            <a:ext cx="39513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Card Sorting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Penyortiran kartu adalah metode yang sangat efektif untuk membantu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memprioritaskan konten dan fitur pada antarmuka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Pelaksanaannya cukup sederhana. Kamu perlu menempatkan konsep (misalnya isi, fitur, dan sebagainya) pada kartu.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51" name="Google Shape;45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85113"/>
            <a:ext cx="4038599" cy="314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6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64"/>
          <p:cNvSpPr txBox="1"/>
          <p:nvPr/>
        </p:nvSpPr>
        <p:spPr>
          <a:xfrm>
            <a:off x="685800" y="2059950"/>
            <a:ext cx="39513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Kemudian, mintalah peserta untuk mencocokkan kartu ke dalam kelompok dan kategori.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memungkinkan, moderator bisa meminta peserta menjelaskan logika penyortiran setelah mereka selesai menyortir, agar kita lebih memahami alasan di baliknya.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59" name="Google Shape;45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85113"/>
            <a:ext cx="4038599" cy="314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65"/>
          <p:cNvSpPr txBox="1"/>
          <p:nvPr/>
        </p:nvSpPr>
        <p:spPr>
          <a:xfrm>
            <a:off x="685800" y="1758298"/>
            <a:ext cx="4114800" cy="16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Kapan card sorting dilakukan?</a:t>
            </a:r>
            <a:endParaRPr b="1" sz="1800">
              <a:solidFill>
                <a:srgbClr val="F2AB2F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ini sangat dianjurkan ketika kamu ingin mengoptimalkan arsitektur informasi produk kamu sebelum membuat mock-up lo-fi atau wireframe.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mendapatkan feedback tentang struktur navigasi, kamu akan bisa membuat lebih banyak keputusan terkait arsitektur informasi produk kamu berdasarkan data.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7" name="Google Shape;46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367" y="914400"/>
            <a:ext cx="291000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6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66"/>
          <p:cNvSpPr txBox="1"/>
          <p:nvPr/>
        </p:nvSpPr>
        <p:spPr>
          <a:xfrm>
            <a:off x="685800" y="1892550"/>
            <a:ext cx="41148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Session Recording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Perekaman sesi adalah metode perekaman tindakan yang dilakukan pengguna saat mereka berinteraksi dengan situs web atau aplikasi kamu.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Terkadang, identitas pengguna disamarkan.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75" name="Google Shape;47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650" y="914400"/>
            <a:ext cx="3056977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67"/>
          <p:cNvSpPr txBox="1"/>
          <p:nvPr/>
        </p:nvSpPr>
        <p:spPr>
          <a:xfrm>
            <a:off x="685800" y="2209349"/>
            <a:ext cx="41148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perekaman sesi membantu kamu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memahami konten atau fitur apa yang paling menarik bagi pengguna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(melalui analysis heat map),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serta masalah interaksi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apa yang dihadapi pengguna saat mereka berinteraksi dengan produk kamu.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83" name="Google Shape;48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650" y="914400"/>
            <a:ext cx="3056977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6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8"/>
          <p:cNvSpPr txBox="1"/>
          <p:nvPr/>
        </p:nvSpPr>
        <p:spPr>
          <a:xfrm>
            <a:off x="685788" y="1663198"/>
            <a:ext cx="41148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Kapan session recording dilakukan?</a:t>
            </a:r>
            <a:endParaRPr b="1" sz="1800">
              <a:solidFill>
                <a:srgbClr val="F2AB2F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Perekaman sesi sangatlah membantu kalau kamu perlu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memahami masalah utama yang dihadapi pengguna saat berinteraksi dengan produkmu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melakukan perekaman sesi, kamu perlu menggunakan alat khusus seperti HotJar. Perekaman sesi sangatlah efektif saat dijalankan bersama dengan jenis pengujian lainnya (contoh heat mapping).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1" name="Google Shape;49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367" y="914400"/>
            <a:ext cx="291000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6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69"/>
          <p:cNvSpPr txBox="1"/>
          <p:nvPr/>
        </p:nvSpPr>
        <p:spPr>
          <a:xfrm>
            <a:off x="685800" y="2072100"/>
            <a:ext cx="40467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menganalisis hasil perekaman sesi, kamu bisa membentuk hipotesis tentang masalah apa yang dihadapi pengguna.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Seringkali, kamu perlu melakukan pengujian lain untuk memahami mengapa mereka menghadapi masalah 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9" name="Google Shape;4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1020" y="914400"/>
            <a:ext cx="3054855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7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70"/>
          <p:cNvSpPr txBox="1"/>
          <p:nvPr/>
        </p:nvSpPr>
        <p:spPr>
          <a:xfrm>
            <a:off x="685800" y="1927197"/>
            <a:ext cx="41148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7)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First Click Testing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klik pertama adalah metode untuk mengukur kegunaan situs web, aplikasi, atau desain dengan mencari tahu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seberapa mudah pengguna menyelesaikan tugas yang diberikan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7" name="Google Shape;50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525" y="914388"/>
            <a:ext cx="3638082" cy="3840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7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71"/>
          <p:cNvSpPr txBox="1"/>
          <p:nvPr/>
        </p:nvSpPr>
        <p:spPr>
          <a:xfrm>
            <a:off x="685800" y="1969497"/>
            <a:ext cx="41148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Dalam pengujian klik pertama, peserta diberi sebuah tugas, misalnya, "Di mana Anda akan mengklik untuk membeli produk ini?" Kemudian diperlihatkan gambar antarmuka, di mana mereka perlu mengklik untuk menyelesaikan tugas.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Posisi klik mereka dicatat, bersama dengan berapa lama mereka mengklik.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5" name="Google Shape;51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525" y="914388"/>
            <a:ext cx="3638082" cy="3840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7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72"/>
          <p:cNvSpPr txBox="1"/>
          <p:nvPr/>
        </p:nvSpPr>
        <p:spPr>
          <a:xfrm>
            <a:off x="685800" y="1972050"/>
            <a:ext cx="39513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Feedback l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ebih lanjut dapat dikumpulkan pada akhir tes dengan meminta pengguna untuk menjelaskan mengapa mereka mengklik di area 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klik pertama dapat dijalankan menggunakan sebuah sketsa, gambar rangka, mock-up atau prototipe yang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detail.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3" name="Google Shape;52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27288"/>
            <a:ext cx="4038600" cy="2869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7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73"/>
          <p:cNvSpPr txBox="1"/>
          <p:nvPr/>
        </p:nvSpPr>
        <p:spPr>
          <a:xfrm>
            <a:off x="685800" y="2283600"/>
            <a:ext cx="39513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Maka dari itu, pengujian ini sering dilakukan untuk menguji pada tahap awal dalam proses desain, dan hasilnya dijadikan acuan atas arah desain lanjutan.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1" name="Google Shape;53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27288"/>
            <a:ext cx="4038600" cy="2869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7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-1854" r="-1761" t="0"/>
          <a:stretch/>
        </p:blipFill>
        <p:spPr>
          <a:xfrm>
            <a:off x="5132600" y="1370988"/>
            <a:ext cx="3484000" cy="24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7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74"/>
          <p:cNvSpPr txBox="1"/>
          <p:nvPr/>
        </p:nvSpPr>
        <p:spPr>
          <a:xfrm>
            <a:off x="685800" y="1700098"/>
            <a:ext cx="4114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Tree Testing</a:t>
            </a:r>
            <a:b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Tree testing adalah metode penelitian UX yang memungkinkan kamu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mengevaluasi hierarki dan kemampuan pengguna menemukan topik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pada situs web atau aplikasi kamu. 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Dalam pengujian ini, peserta disajikan hanya sebuah versi teks dari hierarki situs kamu dan diminta untuk menyelesaikan serangkaian tugas.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7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75"/>
          <p:cNvSpPr txBox="1"/>
          <p:nvPr/>
        </p:nvSpPr>
        <p:spPr>
          <a:xfrm>
            <a:off x="685800" y="1938449"/>
            <a:ext cx="4114800" cy="1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Eye Tracking 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Pelacakan mata adalah proses mengukur titik pandang atau gerakan mata relatif terhadap kepala.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alatnya disebut Eye Tracker, karena bisa mengukur posisi dan pergerakan mata.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7" name="Google Shape;5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225" y="914400"/>
            <a:ext cx="2171011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7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76"/>
          <p:cNvSpPr txBox="1"/>
          <p:nvPr/>
        </p:nvSpPr>
        <p:spPr>
          <a:xfrm>
            <a:off x="685800" y="2038799"/>
            <a:ext cx="41148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Pelacakan mata memberi desainer feedback tentang fokus mata dan pola navigasi pengguna terhadap elemen antarmuka apa saja yang terlihat serta menarik perhatian.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ini secara efektif juga mengevaluasi hirarki desain dan konten.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5" name="Google Shape;55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225" y="914400"/>
            <a:ext cx="2171011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7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/>
          </a:p>
        </p:txBody>
      </p:sp>
      <p:sp>
        <p:nvSpPr>
          <p:cNvPr id="562" name="Google Shape;562;p77"/>
          <p:cNvSpPr txBox="1"/>
          <p:nvPr/>
        </p:nvSpPr>
        <p:spPr>
          <a:xfrm>
            <a:off x="685800" y="1986000"/>
            <a:ext cx="39513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Phone atau Remote Interview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Pengujian ini dilakukan secara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jarak jauh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di mana moderator secara lisan menginstruksikan peserta untuk menyelesaikan tugas di perangkat mereka, interaksi pengguna direkam, dan feedback dikumpulkan secara otomatis.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3" name="Google Shape;56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075" y="914401"/>
            <a:ext cx="3779525" cy="390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7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/>
          </a:p>
        </p:txBody>
      </p:sp>
      <p:sp>
        <p:nvSpPr>
          <p:cNvPr id="570" name="Google Shape;570;p78"/>
          <p:cNvSpPr txBox="1"/>
          <p:nvPr/>
        </p:nvSpPr>
        <p:spPr>
          <a:xfrm>
            <a:off x="685800" y="2149650"/>
            <a:ext cx="39513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Wawancara remote terbilang efektif untuk mengatasi jarak ketika sasaran peserta tes tersebar di berbagai belahan dunia.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Syaratnya, kita memerlukan moderator terlatih yang cakap dalam berkomunikasi.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1" name="Google Shape;57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075" y="914401"/>
            <a:ext cx="3779525" cy="390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7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Metode-metode testing</a:t>
            </a:r>
            <a:endParaRPr/>
          </a:p>
        </p:txBody>
      </p:sp>
      <p:sp>
        <p:nvSpPr>
          <p:cNvPr id="578" name="Google Shape;578;p79"/>
          <p:cNvSpPr txBox="1"/>
          <p:nvPr/>
        </p:nvSpPr>
        <p:spPr>
          <a:xfrm>
            <a:off x="685800" y="1631548"/>
            <a:ext cx="41148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Belum nemu metode yang pas? Tenang aja, masih banyak kok ~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Makin banyak jam terbang kamu dalam dunia UI/UX, makin banyak metode riset yang akan kamu temukan.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bisa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menggabungkan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beberapa metode menjadi satu dan menemukan berbagai banyak cara untuk melakukan pengujian dengan cepat dan efektif.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9" name="Google Shape;57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400" y="914400"/>
            <a:ext cx="2861789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5" name="Google Shape;585;p8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6" name="Google Shape;58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80"/>
          <p:cNvSpPr txBox="1"/>
          <p:nvPr/>
        </p:nvSpPr>
        <p:spPr>
          <a:xfrm>
            <a:off x="685800" y="1097114"/>
            <a:ext cx="4114800" cy="20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1)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Thinking by Interaction Design Foundation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2)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Why is UX testing so important and how do i get it right </a:t>
            </a:r>
            <a:b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   by Trint.com</a:t>
            </a:r>
            <a:b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3)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User research vs usability testing by Sarah Lee on  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   Medium </a:t>
            </a:r>
            <a:b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4)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Top 7 Usability Testing Methods by Adobe XD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5)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Session Recordings by HotJar</a:t>
            </a:r>
            <a:b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6)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First Click Testing by Usability Hub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93" name="Google Shape;593;p8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81"/>
          <p:cNvSpPr txBox="1"/>
          <p:nvPr/>
        </p:nvSpPr>
        <p:spPr>
          <a:xfrm>
            <a:off x="685800" y="1725150"/>
            <a:ext cx="4381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Oke, sampai sini dulu pembahasan kita mengenai </a:t>
            </a:r>
            <a:r>
              <a:rPr b="1" lang="en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testing part 1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Kita lanjut </a:t>
            </a:r>
            <a:r>
              <a:rPr b="1" lang="en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testing part 2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 pertemuan selanjutnya ya.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See you tomorrow, bestie 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5" name="Google Shape;59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881" y="720675"/>
            <a:ext cx="5687844" cy="43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2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1" name="Google Shape;60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82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