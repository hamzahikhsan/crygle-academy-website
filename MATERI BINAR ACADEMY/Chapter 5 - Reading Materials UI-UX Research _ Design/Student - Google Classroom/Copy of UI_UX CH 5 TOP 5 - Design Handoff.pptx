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embeddedFontLst>
    <p:embeddedFont>
      <p:font typeface="Raleway"/>
      <p:regular r:id="rId55"/>
      <p:bold r:id="rId56"/>
      <p:italic r:id="rId57"/>
      <p:boldItalic r:id="rId58"/>
    </p:embeddedFont>
    <p:embeddedFont>
      <p:font typeface="Montserrat"/>
      <p:regular r:id="rId59"/>
      <p:bold r:id="rId60"/>
      <p:italic r:id="rId61"/>
      <p:boldItalic r:id="rId62"/>
    </p:embeddedFont>
    <p:embeddedFont>
      <p:font typeface="Montserrat Medium"/>
      <p:regular r:id="rId63"/>
      <p:bold r:id="rId64"/>
      <p:italic r:id="rId65"/>
      <p:boldItalic r:id="rId66"/>
    </p:embeddedFont>
    <p:embeddedFont>
      <p:font typeface="Lato Black"/>
      <p:bold r:id="rId67"/>
      <p:boldItalic r:id="rId68"/>
    </p:embeddedFont>
    <p:embeddedFont>
      <p:font typeface="Raleway Medium"/>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RalewayMedium-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alewayMedium-italic.fntdata"/><Relationship Id="rId70" Type="http://schemas.openxmlformats.org/officeDocument/2006/relationships/font" Target="fonts/RalewayMedium-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Italic.fntdata"/><Relationship Id="rId61" Type="http://schemas.openxmlformats.org/officeDocument/2006/relationships/font" Target="fonts/Montserrat-italic.fntdata"/><Relationship Id="rId20" Type="http://schemas.openxmlformats.org/officeDocument/2006/relationships/slide" Target="slides/slide15.xml"/><Relationship Id="rId64" Type="http://schemas.openxmlformats.org/officeDocument/2006/relationships/font" Target="fonts/MontserratMedium-bold.fntdata"/><Relationship Id="rId63" Type="http://schemas.openxmlformats.org/officeDocument/2006/relationships/font" Target="fonts/MontserratMedium-regular.fntdata"/><Relationship Id="rId22" Type="http://schemas.openxmlformats.org/officeDocument/2006/relationships/slide" Target="slides/slide17.xml"/><Relationship Id="rId66" Type="http://schemas.openxmlformats.org/officeDocument/2006/relationships/font" Target="fonts/MontserratMedium-boldItalic.fntdata"/><Relationship Id="rId21" Type="http://schemas.openxmlformats.org/officeDocument/2006/relationships/slide" Target="slides/slide16.xml"/><Relationship Id="rId65" Type="http://schemas.openxmlformats.org/officeDocument/2006/relationships/font" Target="fonts/MontserratMedium-italic.fntdata"/><Relationship Id="rId24" Type="http://schemas.openxmlformats.org/officeDocument/2006/relationships/slide" Target="slides/slide19.xml"/><Relationship Id="rId68" Type="http://schemas.openxmlformats.org/officeDocument/2006/relationships/font" Target="fonts/LatoBlack-boldItalic.fntdata"/><Relationship Id="rId23" Type="http://schemas.openxmlformats.org/officeDocument/2006/relationships/slide" Target="slides/slide18.xml"/><Relationship Id="rId67" Type="http://schemas.openxmlformats.org/officeDocument/2006/relationships/font" Target="fonts/LatoBlack-bold.fntdata"/><Relationship Id="rId60" Type="http://schemas.openxmlformats.org/officeDocument/2006/relationships/font" Target="fonts/Montserrat-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aleway-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italic.fntdata"/><Relationship Id="rId12" Type="http://schemas.openxmlformats.org/officeDocument/2006/relationships/slide" Target="slides/slide7.xml"/><Relationship Id="rId56" Type="http://schemas.openxmlformats.org/officeDocument/2006/relationships/font" Target="fonts/Raleway-bold.fntdata"/><Relationship Id="rId15" Type="http://schemas.openxmlformats.org/officeDocument/2006/relationships/slide" Target="slides/slide10.xml"/><Relationship Id="rId59" Type="http://schemas.openxmlformats.org/officeDocument/2006/relationships/font" Target="fonts/Montserrat-regular.fntdata"/><Relationship Id="rId14" Type="http://schemas.openxmlformats.org/officeDocument/2006/relationships/slide" Target="slides/slide9.xml"/><Relationship Id="rId58" Type="http://schemas.openxmlformats.org/officeDocument/2006/relationships/font" Target="fonts/Raleway-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speaking?utm_source=unsplash&amp;utm_medium=referral&amp;utm_content=creditCopyText" TargetMode="External"/><Relationship Id="rId5" Type="http://schemas.openxmlformats.org/officeDocument/2006/relationships/hyperlink" Target="https://unsplash.com/s/photos/speak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5558002-First-experience-using-Figma"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f6791d9c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f6791d9c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f6791d9c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f6791d9c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182e602d0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182e602d0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f6791d9c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1f6791d9c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82e602d0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82e602d0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82e602d0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182e602d0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f6791d9c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f6791d9c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82e602d0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82e602d0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82e602d0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182e602d0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158874c4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158874c4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82e602d0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82e602d0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158874c4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158874c4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82e602d03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82e602d0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158874c4d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158874c4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2fc3a7c4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2fc3a7c4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158874c4d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158874c4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f9ecd49b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f9ecd49b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f9ecd49b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f9ecd49b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22fc3a7c4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22fc3a7c4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82e602d0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82e602d0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2158874c4d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2158874c4d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82e602d0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82e602d0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2302945f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2302945f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2158874c4d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2158874c4d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86878e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86878e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82e602d0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82e602d0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f6791d9c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f6791d9c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2158874c4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2158874c4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182e602d0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182e602d0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2158874c4d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2158874c4d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2302945f1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2302945f1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82e602d0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82e602d0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https://dribbble.com/shots/5558002-First-experience-using-Figma</a:t>
            </a:r>
            <a:r>
              <a:rPr lang="en">
                <a:solidFill>
                  <a:schemeClr val="dk1"/>
                </a:solidFill>
              </a:rPr>
              <a:t>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6ada529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6ada529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82e602d0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82e602d0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2158874c4d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2158874c4d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182e602d0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182e602d0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2158874c4d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2158874c4d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82e602d0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82e602d0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2158874c4d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2158874c4d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182e602d0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182e602d0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2158874c4d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2158874c4d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1f9ecd49b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1f9ecd49b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1f6791d9c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1f6791d9c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png"/><Relationship Id="rId4" Type="http://schemas.openxmlformats.org/officeDocument/2006/relationships/hyperlink" Target="https://zeplin.io/"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5.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5.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1.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hyperlink" Target="https://phase.com/magazine/designer-and-developer-handoff-guide/" TargetMode="External"/><Relationship Id="rId5" Type="http://schemas.openxmlformats.org/officeDocument/2006/relationships/hyperlink" Target="https://uxstudioteam.com/ux-blog/design-handoff/" TargetMode="External"/><Relationship Id="rId6" Type="http://schemas.openxmlformats.org/officeDocument/2006/relationships/hyperlink" Target="https://blog.bitsrc.io/15-designer-and-developer-collaboration-tools-for-2021-8fae54ac2298"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Design Handoff</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 </a:t>
            </a:r>
            <a:r>
              <a:rPr lang="en">
                <a:solidFill>
                  <a:schemeClr val="lt1"/>
                </a:solidFill>
                <a:latin typeface="Montserrat"/>
                <a:ea typeface="Montserrat"/>
                <a:cs typeface="Montserrat"/>
                <a:sym typeface="Montserrat"/>
              </a:rPr>
              <a:t>Chapter 5 - Topic 5</a:t>
            </a:r>
            <a:endParaRPr>
              <a:solidFill>
                <a:schemeClr val="lt1"/>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5 </a:t>
            </a:r>
            <a:r>
              <a:rPr b="1" lang="en" sz="1600">
                <a:solidFill>
                  <a:srgbClr val="FFFFFF"/>
                </a:solidFill>
                <a:latin typeface="Montserrat"/>
                <a:ea typeface="Montserrat"/>
                <a:cs typeface="Montserrat"/>
                <a:sym typeface="Montserrat"/>
              </a:rPr>
              <a:t>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1024650" y="3243100"/>
            <a:ext cx="7094700" cy="108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000">
                <a:solidFill>
                  <a:schemeClr val="dk1"/>
                </a:solidFill>
                <a:latin typeface="Montserrat"/>
                <a:ea typeface="Montserrat"/>
                <a:cs typeface="Montserrat"/>
                <a:sym typeface="Montserrat"/>
              </a:rPr>
              <a:t>Feedback user udah oke, revisi udah kelar, waktunya kita eksekusi! </a:t>
            </a:r>
            <a:endParaRPr sz="1000">
              <a:solidFill>
                <a:schemeClr val="dk1"/>
              </a:solidFill>
              <a:latin typeface="Montserrat"/>
              <a:ea typeface="Montserrat"/>
              <a:cs typeface="Montserrat"/>
              <a:sym typeface="Montserrat"/>
            </a:endParaRPr>
          </a:p>
          <a:p>
            <a:pPr indent="0" lvl="0" marL="0" rtl="0" algn="just">
              <a:spcBef>
                <a:spcPts val="1000"/>
              </a:spcBef>
              <a:spcAft>
                <a:spcPts val="0"/>
              </a:spcAft>
              <a:buNone/>
            </a:pPr>
            <a:r>
              <a:rPr lang="en" sz="1000">
                <a:solidFill>
                  <a:schemeClr val="dk1"/>
                </a:solidFill>
                <a:latin typeface="Montserrat"/>
                <a:ea typeface="Montserrat"/>
                <a:cs typeface="Montserrat"/>
                <a:sym typeface="Montserrat"/>
              </a:rPr>
              <a:t>Hasil final desain yang kita buat akan diserahkan pada tim developer untuk dieksekusi menjadi produk.</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000">
                <a:solidFill>
                  <a:schemeClr val="dk1"/>
                </a:solidFill>
                <a:latin typeface="Montserrat"/>
                <a:ea typeface="Montserrat"/>
                <a:cs typeface="Montserrat"/>
                <a:sym typeface="Montserrat"/>
              </a:rPr>
              <a:t>Yup, proses yang nggak kalah penting kali ini adalah </a:t>
            </a:r>
            <a:r>
              <a:rPr b="1" lang="en" sz="1000">
                <a:solidFill>
                  <a:schemeClr val="dk1"/>
                </a:solidFill>
                <a:latin typeface="Montserrat"/>
                <a:ea typeface="Montserrat"/>
                <a:cs typeface="Montserrat"/>
                <a:sym typeface="Montserrat"/>
              </a:rPr>
              <a:t>design</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handoff</a:t>
            </a:r>
            <a:r>
              <a:rPr lang="en" sz="1000">
                <a:solidFill>
                  <a:schemeClr val="dk1"/>
                </a:solidFill>
                <a:latin typeface="Montserrat"/>
                <a:ea typeface="Montserrat"/>
                <a:cs typeface="Montserrat"/>
                <a:sym typeface="Montserrat"/>
              </a:rPr>
              <a:t>. Apa aja yang perlu kita cermati? Yuk langsung kita chekidott ~</a:t>
            </a:r>
            <a:endParaRPr sz="1000">
              <a:solidFill>
                <a:schemeClr val="dk1"/>
              </a:solidFill>
              <a:latin typeface="Montserrat"/>
              <a:ea typeface="Montserrat"/>
              <a:cs typeface="Montserrat"/>
              <a:sym typeface="Montserrat"/>
            </a:endParaRPr>
          </a:p>
        </p:txBody>
      </p:sp>
      <p:pic>
        <p:nvPicPr>
          <p:cNvPr id="115" name="Google Shape;115;p22"/>
          <p:cNvPicPr preferRelativeResize="0"/>
          <p:nvPr/>
        </p:nvPicPr>
        <p:blipFill rotWithShape="1">
          <a:blip r:embed="rId3">
            <a:alphaModFix/>
          </a:blip>
          <a:srcRect b="41386" l="0" r="0" t="0"/>
          <a:stretch/>
        </p:blipFill>
        <p:spPr>
          <a:xfrm>
            <a:off x="1808300" y="725725"/>
            <a:ext cx="5527398" cy="24694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pic>
        <p:nvPicPr>
          <p:cNvPr id="122" name="Google Shape;122;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3" name="Google Shape;123;p23"/>
          <p:cNvSpPr txBox="1"/>
          <p:nvPr/>
        </p:nvSpPr>
        <p:spPr>
          <a:xfrm>
            <a:off x="685800" y="1527188"/>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Detailnya, kita akan membahas:</a:t>
            </a:r>
            <a:endParaRPr sz="1200">
              <a:solidFill>
                <a:srgbClr val="000000"/>
              </a:solidFill>
              <a:latin typeface="Montserrat"/>
              <a:ea typeface="Montserrat"/>
              <a:cs typeface="Montserrat"/>
              <a:sym typeface="Montserrat"/>
            </a:endParaRPr>
          </a:p>
        </p:txBody>
      </p:sp>
      <p:sp>
        <p:nvSpPr>
          <p:cNvPr id="124" name="Google Shape;124;p23"/>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3"/>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Hubungan designers dan developers</a:t>
            </a:r>
            <a:endParaRPr sz="1200">
              <a:solidFill>
                <a:srgbClr val="000000"/>
              </a:solidFill>
              <a:latin typeface="Montserrat"/>
              <a:ea typeface="Montserrat"/>
              <a:cs typeface="Montserrat"/>
              <a:sym typeface="Montserrat"/>
            </a:endParaRPr>
          </a:p>
        </p:txBody>
      </p:sp>
      <p:sp>
        <p:nvSpPr>
          <p:cNvPr id="128" name="Google Shape;128;p23"/>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Proses handoff</a:t>
            </a:r>
            <a:endParaRPr sz="1200">
              <a:solidFill>
                <a:srgbClr val="000000"/>
              </a:solidFill>
              <a:latin typeface="Montserrat"/>
              <a:ea typeface="Montserrat"/>
              <a:cs typeface="Montserrat"/>
              <a:sym typeface="Montserrat"/>
            </a:endParaRPr>
          </a:p>
        </p:txBody>
      </p:sp>
      <p:sp>
        <p:nvSpPr>
          <p:cNvPr id="129" name="Google Shape;129;p23"/>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Menggunakan peralatan handoff</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35" name="Google Shape;13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nvSpPr>
        <p:spPr>
          <a:xfrm>
            <a:off x="487625" y="1725150"/>
            <a:ext cx="41496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Sebelum kita membahas bagaimana proses design handoff dilakukan, ada baiknya mengenali </a:t>
            </a:r>
            <a:r>
              <a:rPr b="1" lang="en">
                <a:solidFill>
                  <a:srgbClr val="F2AB2F"/>
                </a:solidFill>
                <a:latin typeface="Montserrat"/>
                <a:ea typeface="Montserrat"/>
                <a:cs typeface="Montserrat"/>
                <a:sym typeface="Montserrat"/>
              </a:rPr>
              <a:t>hubungan designers dan developers</a:t>
            </a:r>
            <a:r>
              <a:rPr b="1" lang="en">
                <a:solidFill>
                  <a:schemeClr val="lt1"/>
                </a:solidFill>
                <a:latin typeface="Montserrat"/>
                <a:ea typeface="Montserrat"/>
                <a:cs typeface="Montserrat"/>
                <a:sym typeface="Montserrat"/>
              </a:rPr>
              <a:t> terlebih dahulu.</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Mengapa demikian? Yuk temukan jawabannya bareng ~</a:t>
            </a:r>
            <a:endParaRPr b="1">
              <a:solidFill>
                <a:schemeClr val="lt1"/>
              </a:solidFill>
              <a:latin typeface="Montserrat"/>
              <a:ea typeface="Montserrat"/>
              <a:cs typeface="Montserrat"/>
              <a:sym typeface="Montserrat"/>
            </a:endParaRPr>
          </a:p>
        </p:txBody>
      </p:sp>
      <p:pic>
        <p:nvPicPr>
          <p:cNvPr id="137" name="Google Shape;137;p24"/>
          <p:cNvPicPr preferRelativeResize="0"/>
          <p:nvPr/>
        </p:nvPicPr>
        <p:blipFill>
          <a:blip r:embed="rId3">
            <a:alphaModFix/>
          </a:blip>
          <a:stretch>
            <a:fillRect/>
          </a:stretch>
        </p:blipFill>
        <p:spPr>
          <a:xfrm>
            <a:off x="4724400" y="1045200"/>
            <a:ext cx="3892200" cy="364225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44" name="Google Shape;144;p25"/>
          <p:cNvSpPr txBox="1"/>
          <p:nvPr/>
        </p:nvSpPr>
        <p:spPr>
          <a:xfrm>
            <a:off x="487625" y="1599750"/>
            <a:ext cx="4027500" cy="194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Hubungan designers dan developers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startup yang masih muda, raksasa teknologi yang mapan, atau di antara keduanya, hampir tidak ada cara mudah untuk meluncurkan sebuah ide menjadi produk jadi tanpa menavigasi banyak handoff, bolak-balik, dan tanpa akhir.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handoff yang sering mengganggu, bahkan pada tim produk yang paling matang sekalipun, adalah </a:t>
            </a:r>
            <a:r>
              <a:rPr b="1" lang="en" sz="1000">
                <a:solidFill>
                  <a:schemeClr val="dk1"/>
                </a:solidFill>
                <a:latin typeface="Montserrat"/>
                <a:ea typeface="Montserrat"/>
                <a:cs typeface="Montserrat"/>
                <a:sym typeface="Montserrat"/>
              </a:rPr>
              <a:t>tahap handoff desain-ke-pengembang (design-to-dev)</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45" name="Google Shape;145;p25"/>
          <p:cNvPicPr preferRelativeResize="0"/>
          <p:nvPr/>
        </p:nvPicPr>
        <p:blipFill>
          <a:blip r:embed="rId3">
            <a:alphaModFix/>
          </a:blip>
          <a:stretch>
            <a:fillRect/>
          </a:stretch>
        </p:blipFill>
        <p:spPr>
          <a:xfrm>
            <a:off x="4724398" y="1102725"/>
            <a:ext cx="3889850" cy="3545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52" name="Google Shape;152;p26"/>
          <p:cNvSpPr txBox="1"/>
          <p:nvPr/>
        </p:nvSpPr>
        <p:spPr>
          <a:xfrm>
            <a:off x="487625" y="1811100"/>
            <a:ext cx="40275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Sumber utama gesekan dimulai dengan fakta sederhana bahwa desainer dan pengembang secara tradisional </a:t>
            </a:r>
            <a:r>
              <a:rPr b="1" lang="en" sz="1000">
                <a:solidFill>
                  <a:schemeClr val="dk1"/>
                </a:solidFill>
                <a:latin typeface="Montserrat"/>
                <a:ea typeface="Montserrat"/>
                <a:cs typeface="Montserrat"/>
                <a:sym typeface="Montserrat"/>
              </a:rPr>
              <a:t>melakukan tugas yang sangat berbeda saat membuat sebuah produk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intinya, desainer berfokus pada hal-hal seperti fitur antarmuka, pengalaman pengguna, dan estetika visual, sementara developer menangani hal-hal yang membuat produk berfungsi, mengubah visual desainer menjadi realitas digital.</a:t>
            </a:r>
            <a:endParaRPr sz="1000">
              <a:solidFill>
                <a:schemeClr val="dk1"/>
              </a:solidFill>
              <a:latin typeface="Montserrat"/>
              <a:ea typeface="Montserrat"/>
              <a:cs typeface="Montserrat"/>
              <a:sym typeface="Montserrat"/>
            </a:endParaRPr>
          </a:p>
        </p:txBody>
      </p:sp>
      <p:pic>
        <p:nvPicPr>
          <p:cNvPr id="153" name="Google Shape;153;p26"/>
          <p:cNvPicPr preferRelativeResize="0"/>
          <p:nvPr/>
        </p:nvPicPr>
        <p:blipFill>
          <a:blip r:embed="rId3">
            <a:alphaModFix/>
          </a:blip>
          <a:stretch>
            <a:fillRect/>
          </a:stretch>
        </p:blipFill>
        <p:spPr>
          <a:xfrm>
            <a:off x="4886050" y="1394850"/>
            <a:ext cx="3730552" cy="3028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60" name="Google Shape;160;p27"/>
          <p:cNvSpPr txBox="1"/>
          <p:nvPr/>
        </p:nvSpPr>
        <p:spPr>
          <a:xfrm>
            <a:off x="685800" y="215679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Kedua tim sama pentingnya. Meski demikian, tidak jarang terjadi gesekan antara developer dan desainer menyebabkan kegagalan handoff.</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sesi ini kita akan mendalami handoff design-to-dev, menavigasi beberapa perangkat umum, dan membahas beberapa cara untuk membuat handoff berjalan mulus seperti mentega.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61" name="Google Shape;161;p27"/>
          <p:cNvPicPr preferRelativeResize="0"/>
          <p:nvPr/>
        </p:nvPicPr>
        <p:blipFill>
          <a:blip r:embed="rId3">
            <a:alphaModFix/>
          </a:blip>
          <a:stretch>
            <a:fillRect/>
          </a:stretch>
        </p:blipFill>
        <p:spPr>
          <a:xfrm>
            <a:off x="5176050" y="942700"/>
            <a:ext cx="3043236" cy="3886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68" name="Google Shape;168;p28"/>
          <p:cNvSpPr txBox="1"/>
          <p:nvPr/>
        </p:nvSpPr>
        <p:spPr>
          <a:xfrm>
            <a:off x="685800" y="1821300"/>
            <a:ext cx="4114800" cy="1500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desain</a:t>
            </a:r>
            <a:r>
              <a:rPr b="1" lang="en" sz="1600">
                <a:solidFill>
                  <a:srgbClr val="743673"/>
                </a:solidFill>
                <a:highlight>
                  <a:schemeClr val="lt1"/>
                </a:highlight>
                <a:latin typeface="Montserrat"/>
                <a:ea typeface="Montserrat"/>
                <a:cs typeface="Montserrat"/>
                <a:sym typeface="Montserrat"/>
              </a:rPr>
              <a:t> handoff kadang berjalan tidak mulus?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Handoff desain adalah titik dalam proses pengembangan produk di mana pengembang mengimplementasikan desain yang sudah jadi. Agar handoff berhasil, kolaborasi desainer-pengembang yang baik sangatlah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169" name="Google Shape;169;p28"/>
          <p:cNvPicPr preferRelativeResize="0"/>
          <p:nvPr/>
        </p:nvPicPr>
        <p:blipFill>
          <a:blip r:embed="rId3">
            <a:alphaModFix/>
          </a:blip>
          <a:stretch>
            <a:fillRect/>
          </a:stretch>
        </p:blipFill>
        <p:spPr>
          <a:xfrm>
            <a:off x="5615100" y="709550"/>
            <a:ext cx="2568725" cy="4221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76" name="Google Shape;176;p29"/>
          <p:cNvSpPr txBox="1"/>
          <p:nvPr/>
        </p:nvSpPr>
        <p:spPr>
          <a:xfrm>
            <a:off x="685800" y="1964250"/>
            <a:ext cx="3891000" cy="168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sayangnya, proses design handoff nggak semudah yang dibayangkan. Nggak jarang, baik designer maupun developer kurang saling memahami, beda persepsi, dan salah interpretasi.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tentunya dikarenakan designer nggak begitu paham dengan coding, sebagaimana developer juga nggak banyak tahu mengenai proses desain. Akibatnya, waktu banyak terbuang dan kerjaan jadi makin ruwet.</a:t>
            </a:r>
            <a:endParaRPr sz="1000">
              <a:solidFill>
                <a:schemeClr val="dk1"/>
              </a:solidFill>
              <a:latin typeface="Montserrat"/>
              <a:ea typeface="Montserrat"/>
              <a:cs typeface="Montserrat"/>
              <a:sym typeface="Montserrat"/>
            </a:endParaRPr>
          </a:p>
        </p:txBody>
      </p:sp>
      <p:pic>
        <p:nvPicPr>
          <p:cNvPr id="177" name="Google Shape;177;p29"/>
          <p:cNvPicPr preferRelativeResize="0"/>
          <p:nvPr/>
        </p:nvPicPr>
        <p:blipFill>
          <a:blip r:embed="rId3">
            <a:alphaModFix/>
          </a:blip>
          <a:stretch>
            <a:fillRect/>
          </a:stretch>
        </p:blipFill>
        <p:spPr>
          <a:xfrm>
            <a:off x="5349151" y="655350"/>
            <a:ext cx="2614931" cy="42977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&amp; developer</a:t>
            </a:r>
            <a:endParaRPr>
              <a:latin typeface="Montserrat"/>
              <a:ea typeface="Montserrat"/>
              <a:cs typeface="Montserrat"/>
              <a:sym typeface="Montserrat"/>
            </a:endParaRPr>
          </a:p>
        </p:txBody>
      </p:sp>
      <p:sp>
        <p:nvSpPr>
          <p:cNvPr id="183" name="Google Shape;183;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30"/>
          <p:cNvSpPr txBox="1"/>
          <p:nvPr/>
        </p:nvSpPr>
        <p:spPr>
          <a:xfrm>
            <a:off x="487625" y="2048400"/>
            <a:ext cx="46896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bahas tadi, seringkali tahap ini tidak berjalan mulus. Kira-kira kenapa ya? Yuk gengs kita cari tahu alasannya dan bagaimana mencegah kegagalan handoff.</a:t>
            </a:r>
            <a:endParaRPr b="1">
              <a:solidFill>
                <a:schemeClr val="lt1"/>
              </a:solidFill>
              <a:latin typeface="Montserrat"/>
              <a:ea typeface="Montserrat"/>
              <a:cs typeface="Montserrat"/>
              <a:sym typeface="Montserrat"/>
            </a:endParaRPr>
          </a:p>
        </p:txBody>
      </p:sp>
      <p:pic>
        <p:nvPicPr>
          <p:cNvPr id="185" name="Google Shape;185;p30"/>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92" name="Google Shape;192;p31"/>
          <p:cNvSpPr txBox="1"/>
          <p:nvPr/>
        </p:nvSpPr>
        <p:spPr>
          <a:xfrm>
            <a:off x="487625" y="1780806"/>
            <a:ext cx="4212000" cy="1581900"/>
          </a:xfrm>
          <a:prstGeom prst="rect">
            <a:avLst/>
          </a:prstGeom>
          <a:noFill/>
          <a:ln>
            <a:noFill/>
          </a:ln>
        </p:spPr>
        <p:txBody>
          <a:bodyPr anchorCtr="0" anchor="t" bIns="0" lIns="0" spcFirstLastPara="1" rIns="0" wrap="square" tIns="0">
            <a:noAutofit/>
          </a:bodyPr>
          <a:lstStyle/>
          <a:p>
            <a:pPr indent="-330200" lvl="0" marL="457200" rtl="0" algn="just">
              <a:lnSpc>
                <a:spcPct val="115000"/>
              </a:lnSpc>
              <a:spcBef>
                <a:spcPts val="1600"/>
              </a:spcBef>
              <a:spcAft>
                <a:spcPts val="0"/>
              </a:spcAft>
              <a:buClr>
                <a:srgbClr val="743673"/>
              </a:buClr>
              <a:buSzPts val="1600"/>
              <a:buFont typeface="Montserrat"/>
              <a:buAutoNum type="arabicParenR"/>
            </a:pPr>
            <a:r>
              <a:rPr b="1" lang="en" sz="1600">
                <a:solidFill>
                  <a:srgbClr val="743673"/>
                </a:solidFill>
                <a:highlight>
                  <a:schemeClr val="lt1"/>
                </a:highlight>
                <a:latin typeface="Montserrat"/>
                <a:ea typeface="Montserrat"/>
                <a:cs typeface="Montserrat"/>
                <a:sym typeface="Montserrat"/>
              </a:rPr>
              <a:t>Komunikasi </a:t>
            </a:r>
            <a:r>
              <a:rPr b="1" lang="en" sz="1600">
                <a:solidFill>
                  <a:srgbClr val="743673"/>
                </a:solidFill>
                <a:highlight>
                  <a:schemeClr val="lt1"/>
                </a:highlight>
                <a:latin typeface="Montserrat"/>
                <a:ea typeface="Montserrat"/>
                <a:cs typeface="Montserrat"/>
                <a:sym typeface="Montserrat"/>
              </a:rPr>
              <a:t>desainer</a:t>
            </a:r>
            <a:r>
              <a:rPr b="1" lang="en" sz="1600">
                <a:solidFill>
                  <a:srgbClr val="743673"/>
                </a:solidFill>
                <a:highlight>
                  <a:schemeClr val="lt1"/>
                </a:highlight>
                <a:latin typeface="Montserrat"/>
                <a:ea typeface="Montserrat"/>
                <a:cs typeface="Montserrat"/>
                <a:sym typeface="Montserrat"/>
              </a:rPr>
              <a:t>-pengembang yang buruk</a:t>
            </a:r>
            <a:endParaRPr sz="1600">
              <a:solidFill>
                <a:schemeClr val="dk1"/>
              </a:solidFill>
              <a:latin typeface="Montserrat Medium"/>
              <a:ea typeface="Montserrat Medium"/>
              <a:cs typeface="Montserrat Medium"/>
              <a:sym typeface="Montserrat Medium"/>
            </a:endParaRPr>
          </a:p>
          <a:p>
            <a:pPr indent="0" lvl="0" marL="457200" rtl="0" algn="just">
              <a:lnSpc>
                <a:spcPct val="115000"/>
              </a:lnSpc>
              <a:spcBef>
                <a:spcPts val="1600"/>
              </a:spcBef>
              <a:spcAft>
                <a:spcPts val="0"/>
              </a:spcAft>
              <a:buNone/>
            </a:pPr>
            <a:r>
              <a:rPr b="1" lang="en" sz="1000">
                <a:solidFill>
                  <a:schemeClr val="dk1"/>
                </a:solidFill>
                <a:latin typeface="Montserrat"/>
                <a:ea typeface="Montserrat"/>
                <a:cs typeface="Montserrat"/>
                <a:sym typeface="Montserrat"/>
              </a:rPr>
              <a:t>Komunikasi yang baik adalah kunci</a:t>
            </a:r>
            <a:r>
              <a:rPr lang="en" sz="1000">
                <a:solidFill>
                  <a:schemeClr val="dk1"/>
                </a:solidFill>
                <a:latin typeface="Montserrat"/>
                <a:ea typeface="Montserrat"/>
                <a:cs typeface="Montserrat"/>
                <a:sym typeface="Montserrat"/>
              </a:rPr>
              <a:t> dalam hampir semua hubungan. Menjadi masuk akal kalau itulah persyaratan untuk handoff design-to-dev yang lancar.</a:t>
            </a:r>
            <a:endParaRPr sz="1000">
              <a:solidFill>
                <a:schemeClr val="dk1"/>
              </a:solidFill>
              <a:latin typeface="Montserrat"/>
              <a:ea typeface="Montserrat"/>
              <a:cs typeface="Montserrat"/>
              <a:sym typeface="Montserrat"/>
            </a:endParaRPr>
          </a:p>
        </p:txBody>
      </p:sp>
      <p:pic>
        <p:nvPicPr>
          <p:cNvPr id="193" name="Google Shape;193;p31"/>
          <p:cNvPicPr preferRelativeResize="0"/>
          <p:nvPr/>
        </p:nvPicPr>
        <p:blipFill>
          <a:blip r:embed="rId3">
            <a:alphaModFix/>
          </a:blip>
          <a:stretch>
            <a:fillRect/>
          </a:stretch>
        </p:blipFill>
        <p:spPr>
          <a:xfrm>
            <a:off x="5034525" y="1243050"/>
            <a:ext cx="3728475" cy="2854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00" name="Google Shape;200;p32"/>
          <p:cNvSpPr txBox="1"/>
          <p:nvPr/>
        </p:nvSpPr>
        <p:spPr>
          <a:xfrm>
            <a:off x="487625" y="1879200"/>
            <a:ext cx="3891000" cy="138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masalah umum dari komunikasi designer-developer yang buruk di antaranya: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Feedback terlalu banyak dan tidak terlalu penting antara desainer dan pengembang.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Masalah jaminan kualitas yang tidak terduga di mana memakan waktu lebih banyak dari perhitungan awal.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Gagal memanfaatkan alat seperti Zeplin dengan baik.</a:t>
            </a:r>
            <a:endParaRPr sz="1000">
              <a:solidFill>
                <a:schemeClr val="dk1"/>
              </a:solidFill>
              <a:latin typeface="Montserrat"/>
              <a:ea typeface="Montserrat"/>
              <a:cs typeface="Montserrat"/>
              <a:sym typeface="Montserrat"/>
            </a:endParaRPr>
          </a:p>
        </p:txBody>
      </p:sp>
      <p:pic>
        <p:nvPicPr>
          <p:cNvPr id="201" name="Google Shape;201;p32"/>
          <p:cNvPicPr preferRelativeResize="0"/>
          <p:nvPr/>
        </p:nvPicPr>
        <p:blipFill>
          <a:blip r:embed="rId3">
            <a:alphaModFix/>
          </a:blip>
          <a:stretch>
            <a:fillRect/>
          </a:stretch>
        </p:blipFill>
        <p:spPr>
          <a:xfrm>
            <a:off x="4872000" y="1243050"/>
            <a:ext cx="3891000" cy="29787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08" name="Google Shape;208;p33"/>
          <p:cNvSpPr txBox="1"/>
          <p:nvPr/>
        </p:nvSpPr>
        <p:spPr>
          <a:xfrm>
            <a:off x="487625" y="2048999"/>
            <a:ext cx="4114800" cy="1045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Kurangnya design system</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Sistem desain adalah sebuah investasi</a:t>
            </a:r>
            <a:r>
              <a:rPr lang="en" sz="1000">
                <a:solidFill>
                  <a:schemeClr val="dk1"/>
                </a:solidFill>
                <a:latin typeface="Montserrat"/>
                <a:ea typeface="Montserrat"/>
                <a:cs typeface="Montserrat"/>
                <a:sym typeface="Montserrat"/>
              </a:rPr>
              <a:t>. Namun, banyak perusahaan tidak mempekerjakan orang untuk fokus membuatnya.</a:t>
            </a:r>
            <a:endParaRPr sz="1000">
              <a:solidFill>
                <a:schemeClr val="dk1"/>
              </a:solidFill>
              <a:latin typeface="Montserrat"/>
              <a:ea typeface="Montserrat"/>
              <a:cs typeface="Montserrat"/>
              <a:sym typeface="Montserrat"/>
            </a:endParaRPr>
          </a:p>
        </p:txBody>
      </p:sp>
      <p:pic>
        <p:nvPicPr>
          <p:cNvPr id="209" name="Google Shape;209;p33"/>
          <p:cNvPicPr preferRelativeResize="0"/>
          <p:nvPr/>
        </p:nvPicPr>
        <p:blipFill>
          <a:blip r:embed="rId3">
            <a:alphaModFix/>
          </a:blip>
          <a:stretch>
            <a:fillRect/>
          </a:stretch>
        </p:blipFill>
        <p:spPr>
          <a:xfrm>
            <a:off x="5145251" y="1213800"/>
            <a:ext cx="2687375" cy="3020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16" name="Google Shape;216;p34"/>
          <p:cNvSpPr txBox="1"/>
          <p:nvPr/>
        </p:nvSpPr>
        <p:spPr>
          <a:xfrm>
            <a:off x="685800" y="1933949"/>
            <a:ext cx="4114800" cy="127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Tanpa sistem desain yang baik, desainer tidak memiliki parameter terkait batasan pekerjaannya. Mereka mungkin menjadi terlalu kreatif dan menciptakan inkonsistensi, di mana berpotensi membuat pengalaman pengguna buruk dan developer jadi frustasi.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jelas menghambat proses handoff.</a:t>
            </a:r>
            <a:endParaRPr sz="1000">
              <a:solidFill>
                <a:schemeClr val="dk1"/>
              </a:solidFill>
              <a:latin typeface="Montserrat"/>
              <a:ea typeface="Montserrat"/>
              <a:cs typeface="Montserrat"/>
              <a:sym typeface="Montserrat"/>
            </a:endParaRPr>
          </a:p>
        </p:txBody>
      </p:sp>
      <p:pic>
        <p:nvPicPr>
          <p:cNvPr id="217" name="Google Shape;217;p34"/>
          <p:cNvPicPr preferRelativeResize="0"/>
          <p:nvPr/>
        </p:nvPicPr>
        <p:blipFill>
          <a:blip r:embed="rId3">
            <a:alphaModFix/>
          </a:blip>
          <a:stretch>
            <a:fillRect/>
          </a:stretch>
        </p:blipFill>
        <p:spPr>
          <a:xfrm>
            <a:off x="5145251" y="1213800"/>
            <a:ext cx="2687375" cy="3020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24" name="Google Shape;224;p35"/>
          <p:cNvSpPr txBox="1"/>
          <p:nvPr/>
        </p:nvSpPr>
        <p:spPr>
          <a:xfrm>
            <a:off x="685800" y="1306573"/>
            <a:ext cx="4114800" cy="200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Kurangnya rasa hormat antara kedua tim</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umum, desainer dan pengembang memiliki perbedaan latar belakang, keahlian, serta minat. Bahkan, cara memikirkan tantangan yang sama pun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bukan sesuatu yang buruk, mengingat kita membutuhkan berbagai perspektif untuk membantu menghidupkan produk.</a:t>
            </a:r>
            <a:endParaRPr sz="1000">
              <a:solidFill>
                <a:schemeClr val="dk1"/>
              </a:solidFill>
              <a:latin typeface="Montserrat"/>
              <a:ea typeface="Montserrat"/>
              <a:cs typeface="Montserrat"/>
              <a:sym typeface="Montserrat"/>
            </a:endParaRPr>
          </a:p>
        </p:txBody>
      </p:sp>
      <p:pic>
        <p:nvPicPr>
          <p:cNvPr id="225" name="Google Shape;225;p35"/>
          <p:cNvPicPr preferRelativeResize="0"/>
          <p:nvPr/>
        </p:nvPicPr>
        <p:blipFill>
          <a:blip r:embed="rId3">
            <a:alphaModFix/>
          </a:blip>
          <a:stretch>
            <a:fillRect/>
          </a:stretch>
        </p:blipFill>
        <p:spPr>
          <a:xfrm>
            <a:off x="5626553" y="914400"/>
            <a:ext cx="2104925" cy="3647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32" name="Google Shape;232;p36"/>
          <p:cNvSpPr txBox="1"/>
          <p:nvPr/>
        </p:nvSpPr>
        <p:spPr>
          <a:xfrm>
            <a:off x="685800" y="2003400"/>
            <a:ext cx="3951300" cy="113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kalau perbedaan itu tidak dilandasi dengan </a:t>
            </a:r>
            <a:r>
              <a:rPr b="1" lang="en" sz="1000">
                <a:solidFill>
                  <a:schemeClr val="dk1"/>
                </a:solidFill>
                <a:latin typeface="Montserrat"/>
                <a:ea typeface="Montserrat"/>
                <a:cs typeface="Montserrat"/>
                <a:sym typeface="Montserrat"/>
              </a:rPr>
              <a:t>saling menghormati kemampuan masing-masing</a:t>
            </a:r>
            <a:r>
              <a:rPr lang="en" sz="1000">
                <a:solidFill>
                  <a:schemeClr val="dk1"/>
                </a:solidFill>
                <a:latin typeface="Montserrat"/>
                <a:ea typeface="Montserrat"/>
                <a:cs typeface="Montserrat"/>
                <a:sym typeface="Montserrat"/>
              </a:rPr>
              <a:t>, kamu mungkin akan mengalami kesenjangan pengetahuan yang berpotensi menyebabkan gesekan antar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mulailah untuk respect each other, gengs ~</a:t>
            </a:r>
            <a:endParaRPr sz="1000">
              <a:solidFill>
                <a:schemeClr val="dk1"/>
              </a:solidFill>
              <a:latin typeface="Montserrat"/>
              <a:ea typeface="Montserrat"/>
              <a:cs typeface="Montserrat"/>
              <a:sym typeface="Montserrat"/>
            </a:endParaRPr>
          </a:p>
        </p:txBody>
      </p:sp>
      <p:pic>
        <p:nvPicPr>
          <p:cNvPr id="233" name="Google Shape;233;p36"/>
          <p:cNvPicPr preferRelativeResize="0"/>
          <p:nvPr/>
        </p:nvPicPr>
        <p:blipFill>
          <a:blip r:embed="rId3">
            <a:alphaModFix/>
          </a:blip>
          <a:stretch>
            <a:fillRect/>
          </a:stretch>
        </p:blipFill>
        <p:spPr>
          <a:xfrm>
            <a:off x="4830375" y="959988"/>
            <a:ext cx="3786231" cy="384061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39" name="Google Shape;239;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7"/>
          <p:cNvSpPr txBox="1"/>
          <p:nvPr/>
        </p:nvSpPr>
        <p:spPr>
          <a:xfrm>
            <a:off x="487625" y="1833000"/>
            <a:ext cx="4689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Udah tahu kan sekarang kenapa hubungan antara desainer dan developer kadang nggak akur dan gimana mengatasinya?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Kalau udah, sekarang kita membahas </a:t>
            </a:r>
            <a:r>
              <a:rPr b="1" lang="en">
                <a:solidFill>
                  <a:srgbClr val="F2AB2F"/>
                </a:solidFill>
                <a:latin typeface="Montserrat"/>
                <a:ea typeface="Montserrat"/>
                <a:cs typeface="Montserrat"/>
                <a:sym typeface="Montserrat"/>
              </a:rPr>
              <a:t>proses handoff</a:t>
            </a:r>
            <a:r>
              <a:rPr b="1" lang="en">
                <a:solidFill>
                  <a:schemeClr val="lt1"/>
                </a:solidFill>
                <a:latin typeface="Montserrat"/>
                <a:ea typeface="Montserrat"/>
                <a:cs typeface="Montserrat"/>
                <a:sym typeface="Montserrat"/>
              </a:rPr>
              <a:t> yuk ~</a:t>
            </a:r>
            <a:endParaRPr b="1">
              <a:solidFill>
                <a:schemeClr val="lt1"/>
              </a:solidFill>
              <a:latin typeface="Montserrat"/>
              <a:ea typeface="Montserrat"/>
              <a:cs typeface="Montserrat"/>
              <a:sym typeface="Montserrat"/>
            </a:endParaRPr>
          </a:p>
        </p:txBody>
      </p:sp>
      <p:pic>
        <p:nvPicPr>
          <p:cNvPr id="241" name="Google Shape;241;p37"/>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48" name="Google Shape;248;p38"/>
          <p:cNvSpPr txBox="1"/>
          <p:nvPr/>
        </p:nvSpPr>
        <p:spPr>
          <a:xfrm>
            <a:off x="685800" y="2037297"/>
            <a:ext cx="4114800" cy="106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Proses handoff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Kita bisa memahami arti dari </a:t>
            </a:r>
            <a:r>
              <a:rPr b="1" lang="en" sz="1000">
                <a:solidFill>
                  <a:schemeClr val="dk1"/>
                </a:solidFill>
                <a:latin typeface="Montserrat"/>
                <a:ea typeface="Montserrat"/>
                <a:cs typeface="Montserrat"/>
                <a:sym typeface="Montserrat"/>
              </a:rPr>
              <a:t>design handoff</a:t>
            </a:r>
            <a:r>
              <a:rPr lang="en" sz="1000">
                <a:solidFill>
                  <a:schemeClr val="dk1"/>
                </a:solidFill>
                <a:latin typeface="Montserrat"/>
                <a:ea typeface="Montserrat"/>
                <a:cs typeface="Montserrat"/>
                <a:sym typeface="Montserrat"/>
              </a:rPr>
              <a:t> dari susunan katanya, yaitu </a:t>
            </a:r>
            <a:r>
              <a:rPr b="1" lang="en" sz="1000">
                <a:solidFill>
                  <a:schemeClr val="dk1"/>
                </a:solidFill>
                <a:latin typeface="Montserrat"/>
                <a:ea typeface="Montserrat"/>
                <a:cs typeface="Montserrat"/>
                <a:sym typeface="Montserrat"/>
              </a:rPr>
              <a:t>design </a:t>
            </a:r>
            <a:r>
              <a:rPr lang="en" sz="1000">
                <a:solidFill>
                  <a:schemeClr val="dk1"/>
                </a:solidFill>
                <a:latin typeface="Montserrat"/>
                <a:ea typeface="Montserrat"/>
                <a:cs typeface="Montserrat"/>
                <a:sym typeface="Montserrat"/>
              </a:rPr>
              <a:t>yang berarti rancangan, dan </a:t>
            </a:r>
            <a:r>
              <a:rPr b="1" lang="en" sz="1000">
                <a:solidFill>
                  <a:schemeClr val="dk1"/>
                </a:solidFill>
                <a:latin typeface="Montserrat"/>
                <a:ea typeface="Montserrat"/>
                <a:cs typeface="Montserrat"/>
                <a:sym typeface="Montserrat"/>
              </a:rPr>
              <a:t>handoff</a:t>
            </a:r>
            <a:r>
              <a:rPr lang="en" sz="1000">
                <a:solidFill>
                  <a:schemeClr val="dk1"/>
                </a:solidFill>
                <a:latin typeface="Montserrat"/>
                <a:ea typeface="Montserrat"/>
                <a:cs typeface="Montserrat"/>
                <a:sym typeface="Montserrat"/>
              </a:rPr>
              <a:t> yang bisa diartikan sebagai penyerahan.</a:t>
            </a:r>
            <a:endParaRPr sz="1000">
              <a:solidFill>
                <a:schemeClr val="dk1"/>
              </a:solidFill>
              <a:latin typeface="Montserrat"/>
              <a:ea typeface="Montserrat"/>
              <a:cs typeface="Montserrat"/>
              <a:sym typeface="Montserrat"/>
            </a:endParaRPr>
          </a:p>
        </p:txBody>
      </p:sp>
      <p:pic>
        <p:nvPicPr>
          <p:cNvPr id="249" name="Google Shape;249;p38"/>
          <p:cNvPicPr preferRelativeResize="0"/>
          <p:nvPr/>
        </p:nvPicPr>
        <p:blipFill>
          <a:blip r:embed="rId3">
            <a:alphaModFix/>
          </a:blip>
          <a:stretch>
            <a:fillRect/>
          </a:stretch>
        </p:blipFill>
        <p:spPr>
          <a:xfrm>
            <a:off x="5142750" y="1411336"/>
            <a:ext cx="3610041" cy="2755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56" name="Google Shape;256;p39"/>
          <p:cNvSpPr txBox="1"/>
          <p:nvPr/>
        </p:nvSpPr>
        <p:spPr>
          <a:xfrm>
            <a:off x="685800" y="2027397"/>
            <a:ext cx="4114800" cy="108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Sederhananya, </a:t>
            </a:r>
            <a:r>
              <a:rPr b="1" lang="en" sz="1000">
                <a:solidFill>
                  <a:schemeClr val="dk1"/>
                </a:solidFill>
                <a:latin typeface="Montserrat"/>
                <a:ea typeface="Montserrat"/>
                <a:cs typeface="Montserrat"/>
                <a:sym typeface="Montserrat"/>
              </a:rPr>
              <a:t>design handoff </a:t>
            </a:r>
            <a:r>
              <a:rPr lang="en" sz="1000">
                <a:solidFill>
                  <a:schemeClr val="dk1"/>
                </a:solidFill>
                <a:latin typeface="Montserrat"/>
                <a:ea typeface="Montserrat"/>
                <a:cs typeface="Montserrat"/>
                <a:sym typeface="Montserrat"/>
              </a:rPr>
              <a:t>adalah penyerahan rancangan dari tim UX Design kepada tim developer untuk kemudian diubah menjadi produk~</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Design handoff adalah proses akhir yang harus dijalankan UX Designer saat desain mereka sudah selesai dan diuji.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257" name="Google Shape;257;p39"/>
          <p:cNvPicPr preferRelativeResize="0"/>
          <p:nvPr/>
        </p:nvPicPr>
        <p:blipFill>
          <a:blip r:embed="rId3">
            <a:alphaModFix/>
          </a:blip>
          <a:stretch>
            <a:fillRect/>
          </a:stretch>
        </p:blipFill>
        <p:spPr>
          <a:xfrm>
            <a:off x="5142750" y="1411336"/>
            <a:ext cx="3610041" cy="2755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64" name="Google Shape;264;p40"/>
          <p:cNvSpPr txBox="1"/>
          <p:nvPr/>
        </p:nvSpPr>
        <p:spPr>
          <a:xfrm>
            <a:off x="685800" y="2114425"/>
            <a:ext cx="3987300" cy="122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tahapan ini, UX Designer akan </a:t>
            </a:r>
            <a:r>
              <a:rPr b="1" lang="en" sz="1000">
                <a:solidFill>
                  <a:schemeClr val="dk1"/>
                </a:solidFill>
                <a:latin typeface="Montserrat"/>
                <a:ea typeface="Montserrat"/>
                <a:cs typeface="Montserrat"/>
                <a:sym typeface="Montserrat"/>
              </a:rPr>
              <a:t>menyerahkan dokumentasi desain</a:t>
            </a:r>
            <a:r>
              <a:rPr lang="en" sz="1000">
                <a:solidFill>
                  <a:schemeClr val="dk1"/>
                </a:solidFill>
                <a:latin typeface="Montserrat"/>
                <a:ea typeface="Montserrat"/>
                <a:cs typeface="Montserrat"/>
                <a:sym typeface="Montserrat"/>
              </a:rPr>
              <a:t> dari keseluruhan screen yang sudah dibuatnya.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Setelah itu, tiba waktunya seorang developer akan memulai proses implementasi desain yang dibuat ke dalam penulisan bahasa pemrograman.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265" name="Google Shape;265;p40"/>
          <p:cNvPicPr preferRelativeResize="0"/>
          <p:nvPr/>
        </p:nvPicPr>
        <p:blipFill>
          <a:blip r:embed="rId3">
            <a:alphaModFix/>
          </a:blip>
          <a:stretch>
            <a:fillRect/>
          </a:stretch>
        </p:blipFill>
        <p:spPr>
          <a:xfrm>
            <a:off x="4947375" y="1188725"/>
            <a:ext cx="3759550" cy="3072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72" name="Google Shape;272;p41"/>
          <p:cNvSpPr txBox="1"/>
          <p:nvPr/>
        </p:nvSpPr>
        <p:spPr>
          <a:xfrm>
            <a:off x="685800" y="1936350"/>
            <a:ext cx="3951300" cy="127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langkah yang perlu kamu ingat agar proses handoff berjalan lancar. Salah satunya, </a:t>
            </a:r>
            <a:r>
              <a:rPr b="1" lang="en" sz="1000">
                <a:solidFill>
                  <a:schemeClr val="dk1"/>
                </a:solidFill>
                <a:latin typeface="Montserrat"/>
                <a:ea typeface="Montserrat"/>
                <a:cs typeface="Montserrat"/>
                <a:sym typeface="Montserrat"/>
              </a:rPr>
              <a:t>libatkan developer dari awal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Kesalahan umum yang sering dilakukan tim adalah menunggu desainer menyelesaikan pekerjaan, kemudian menyerahkan desain produk ke developer.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73" name="Google Shape;273;p41"/>
          <p:cNvPicPr preferRelativeResize="0"/>
          <p:nvPr/>
        </p:nvPicPr>
        <p:blipFill>
          <a:blip r:embed="rId3">
            <a:alphaModFix/>
          </a:blip>
          <a:stretch>
            <a:fillRect/>
          </a:stretch>
        </p:blipFill>
        <p:spPr>
          <a:xfrm>
            <a:off x="4724400" y="1972514"/>
            <a:ext cx="4161750" cy="1632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79" name="Google Shape;279;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2"/>
          <p:cNvSpPr txBox="1"/>
          <p:nvPr/>
        </p:nvSpPr>
        <p:spPr>
          <a:xfrm>
            <a:off x="487625" y="1833000"/>
            <a:ext cx="46896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Sebagai UX designer, menyerahkan desain ke developer dengan cara yang baik dan benar dapat mengefektifkan waktu dan mencegah kemungkinan terburuk terjadi. Nah, bagaimana caranya?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Dari situ, yuk kita pelajari langkah yang bisa diterapkan pada proses handoff biar nggak nyusahin antar tim ~</a:t>
            </a:r>
            <a:endParaRPr b="1">
              <a:solidFill>
                <a:schemeClr val="lt1"/>
              </a:solidFill>
              <a:latin typeface="Montserrat"/>
              <a:ea typeface="Montserrat"/>
              <a:cs typeface="Montserrat"/>
              <a:sym typeface="Montserrat"/>
            </a:endParaRPr>
          </a:p>
        </p:txBody>
      </p:sp>
      <p:pic>
        <p:nvPicPr>
          <p:cNvPr id="281" name="Google Shape;281;p42"/>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88" name="Google Shape;288;p43"/>
          <p:cNvSpPr txBox="1"/>
          <p:nvPr/>
        </p:nvSpPr>
        <p:spPr>
          <a:xfrm>
            <a:off x="487625" y="2064900"/>
            <a:ext cx="3951300" cy="10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Libatkan developer dari awal</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Melibatkan developer sedari awal akan memudahkan proses handoff. Di slide selanjutnya adalah langkah-langkah yang bisa diterapkan.</a:t>
            </a:r>
            <a:endParaRPr sz="1000">
              <a:solidFill>
                <a:schemeClr val="dk1"/>
              </a:solidFill>
              <a:latin typeface="Montserrat"/>
              <a:ea typeface="Montserrat"/>
              <a:cs typeface="Montserrat"/>
              <a:sym typeface="Montserrat"/>
            </a:endParaRPr>
          </a:p>
        </p:txBody>
      </p:sp>
      <p:pic>
        <p:nvPicPr>
          <p:cNvPr id="289" name="Google Shape;289;p43"/>
          <p:cNvPicPr preferRelativeResize="0"/>
          <p:nvPr/>
        </p:nvPicPr>
        <p:blipFill>
          <a:blip r:embed="rId3">
            <a:alphaModFix/>
          </a:blip>
          <a:stretch>
            <a:fillRect/>
          </a:stretch>
        </p:blipFill>
        <p:spPr>
          <a:xfrm>
            <a:off x="4724402" y="1495624"/>
            <a:ext cx="4114802" cy="26550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96" name="Google Shape;296;p44"/>
          <p:cNvSpPr txBox="1"/>
          <p:nvPr/>
        </p:nvSpPr>
        <p:spPr>
          <a:xfrm>
            <a:off x="487625" y="1869750"/>
            <a:ext cx="3951300" cy="1404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Sertakan developer dalam panggilan konferensi dengan klien.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Cari wawasan dari developer tentang bagaimana elemen desain akan diterjemahkan pada aplikasi.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Diskusikan ide desain awal dengan developer. Sehingga, potensi masalah apa pun dengan kode dapat diidentifikasi terlebih dahulu dan akan lebih mudah melakukan penyesuaian.</a:t>
            </a:r>
            <a:endParaRPr sz="1000">
              <a:solidFill>
                <a:schemeClr val="dk1"/>
              </a:solidFill>
              <a:latin typeface="Montserrat"/>
              <a:ea typeface="Montserrat"/>
              <a:cs typeface="Montserrat"/>
              <a:sym typeface="Montserrat"/>
            </a:endParaRPr>
          </a:p>
        </p:txBody>
      </p:sp>
      <p:pic>
        <p:nvPicPr>
          <p:cNvPr id="297" name="Google Shape;297;p44"/>
          <p:cNvPicPr preferRelativeResize="0"/>
          <p:nvPr/>
        </p:nvPicPr>
        <p:blipFill>
          <a:blip r:embed="rId3">
            <a:alphaModFix/>
          </a:blip>
          <a:stretch>
            <a:fillRect/>
          </a:stretch>
        </p:blipFill>
        <p:spPr>
          <a:xfrm>
            <a:off x="4724402" y="1495624"/>
            <a:ext cx="4114802" cy="26550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04" name="Google Shape;304;p45"/>
          <p:cNvSpPr txBox="1"/>
          <p:nvPr/>
        </p:nvSpPr>
        <p:spPr>
          <a:xfrm>
            <a:off x="487625" y="2164725"/>
            <a:ext cx="41112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Muluskan (streamline) upaya-upaya komunikasi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alasan beberapa pesan terlewat dan anggota tim tidak sengaja keluar dari lingkaran komunikasi disebabkan oleh adanya lebih dari satu saluran komunikasi yang digunakan.</a:t>
            </a:r>
            <a:endParaRPr sz="1000">
              <a:solidFill>
                <a:schemeClr val="dk1"/>
              </a:solidFill>
              <a:latin typeface="Montserrat"/>
              <a:ea typeface="Montserrat"/>
              <a:cs typeface="Montserrat"/>
              <a:sym typeface="Montserrat"/>
            </a:endParaRPr>
          </a:p>
        </p:txBody>
      </p:sp>
      <p:pic>
        <p:nvPicPr>
          <p:cNvPr id="305" name="Google Shape;305;p45"/>
          <p:cNvPicPr preferRelativeResize="0"/>
          <p:nvPr/>
        </p:nvPicPr>
        <p:blipFill>
          <a:blip r:embed="rId3">
            <a:alphaModFix/>
          </a:blip>
          <a:stretch>
            <a:fillRect/>
          </a:stretch>
        </p:blipFill>
        <p:spPr>
          <a:xfrm>
            <a:off x="5069725" y="914400"/>
            <a:ext cx="3182998" cy="388485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12" name="Google Shape;312;p46"/>
          <p:cNvSpPr txBox="1"/>
          <p:nvPr/>
        </p:nvSpPr>
        <p:spPr>
          <a:xfrm>
            <a:off x="487625" y="2219400"/>
            <a:ext cx="3951300" cy="70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Kolaborasi antara designer dan developer memainkan peran yang penting dalam keberlangsungan project. Persiapan handoff sebaiknya dilakukan di awal sebelum keseluruhan proses mendesain dimulai.</a:t>
            </a:r>
            <a:endParaRPr sz="1000">
              <a:solidFill>
                <a:schemeClr val="dk1"/>
              </a:solidFill>
              <a:latin typeface="Montserrat"/>
              <a:ea typeface="Montserrat"/>
              <a:cs typeface="Montserrat"/>
              <a:sym typeface="Montserrat"/>
            </a:endParaRPr>
          </a:p>
        </p:txBody>
      </p:sp>
      <p:pic>
        <p:nvPicPr>
          <p:cNvPr id="313" name="Google Shape;313;p46"/>
          <p:cNvPicPr preferRelativeResize="0"/>
          <p:nvPr/>
        </p:nvPicPr>
        <p:blipFill>
          <a:blip r:embed="rId3">
            <a:alphaModFix/>
          </a:blip>
          <a:stretch>
            <a:fillRect/>
          </a:stretch>
        </p:blipFill>
        <p:spPr>
          <a:xfrm>
            <a:off x="5127050" y="914400"/>
            <a:ext cx="3182998" cy="388485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20" name="Google Shape;320;p47"/>
          <p:cNvSpPr txBox="1"/>
          <p:nvPr/>
        </p:nvSpPr>
        <p:spPr>
          <a:xfrm>
            <a:off x="487625" y="1862400"/>
            <a:ext cx="4111200" cy="141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di sini, </a:t>
            </a:r>
            <a:r>
              <a:rPr b="1" lang="en" sz="1000">
                <a:solidFill>
                  <a:schemeClr val="dk1"/>
                </a:solidFill>
                <a:latin typeface="Montserrat"/>
                <a:ea typeface="Montserrat"/>
                <a:cs typeface="Montserrat"/>
                <a:sym typeface="Montserrat"/>
              </a:rPr>
              <a:t>komunikasi</a:t>
            </a:r>
            <a:r>
              <a:rPr lang="en" sz="1000">
                <a:solidFill>
                  <a:schemeClr val="dk1"/>
                </a:solidFill>
                <a:latin typeface="Montserrat"/>
                <a:ea typeface="Montserrat"/>
                <a:cs typeface="Montserrat"/>
                <a:sym typeface="Montserrat"/>
              </a:rPr>
              <a:t> adalah kuncinya. Sebelum memulai, pastikan baik itu designer dan developer sudah selaras dan seirama.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berdiskusi dengan developer mulai dari membicarakan hal-hal teknis terkait workflow, guidelines, tools yang akan digunakan, pengkategorisasian file, hingga penggunaan istilah pada produk dan penamaan pada screen.</a:t>
            </a:r>
            <a:endParaRPr sz="1000">
              <a:solidFill>
                <a:schemeClr val="dk1"/>
              </a:solidFill>
              <a:latin typeface="Montserrat"/>
              <a:ea typeface="Montserrat"/>
              <a:cs typeface="Montserrat"/>
              <a:sym typeface="Montserrat"/>
            </a:endParaRPr>
          </a:p>
        </p:txBody>
      </p:sp>
      <p:pic>
        <p:nvPicPr>
          <p:cNvPr id="321" name="Google Shape;321;p47"/>
          <p:cNvPicPr preferRelativeResize="0"/>
          <p:nvPr/>
        </p:nvPicPr>
        <p:blipFill>
          <a:blip r:embed="rId3">
            <a:alphaModFix/>
          </a:blip>
          <a:stretch>
            <a:fillRect/>
          </a:stretch>
        </p:blipFill>
        <p:spPr>
          <a:xfrm>
            <a:off x="5069725" y="914400"/>
            <a:ext cx="3182998" cy="388485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1300"/>
              <a:t>Proses handoff</a:t>
            </a:r>
            <a:endParaRPr sz="1300"/>
          </a:p>
        </p:txBody>
      </p:sp>
      <p:sp>
        <p:nvSpPr>
          <p:cNvPr id="328" name="Google Shape;328;p48"/>
          <p:cNvSpPr txBox="1"/>
          <p:nvPr/>
        </p:nvSpPr>
        <p:spPr>
          <a:xfrm>
            <a:off x="487625" y="1753338"/>
            <a:ext cx="3951300" cy="195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Masalah semacam ini dapat dengan mudah dihindari dengan: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Memiliki dedicated channel dan mengundang semua pihak-pihak terkait pada channel tersebut.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Menetapkan pedoman untuk berkomunikasi. Misalnya, pembaruan email harus dibagikan ke semua orang di awal atau akhir setiap hari kerja.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Menggunakan Google Drive, Dropbox, atau alat serupa untuk berbagi info, aset bersama, dan lain-lain.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Menyiapkan pertemuan kelompok yang terjadwalkan dengan semua anggota tim selama proyek.</a:t>
            </a:r>
            <a:endParaRPr sz="1200">
              <a:solidFill>
                <a:schemeClr val="dk1"/>
              </a:solidFill>
              <a:latin typeface="Raleway Medium"/>
              <a:ea typeface="Raleway Medium"/>
              <a:cs typeface="Raleway Medium"/>
              <a:sym typeface="Raleway Medium"/>
            </a:endParaRPr>
          </a:p>
        </p:txBody>
      </p:sp>
      <p:pic>
        <p:nvPicPr>
          <p:cNvPr id="329" name="Google Shape;329;p48"/>
          <p:cNvPicPr preferRelativeResize="0"/>
          <p:nvPr/>
        </p:nvPicPr>
        <p:blipFill>
          <a:blip r:embed="rId3">
            <a:alphaModFix/>
          </a:blip>
          <a:stretch>
            <a:fillRect/>
          </a:stretch>
        </p:blipFill>
        <p:spPr>
          <a:xfrm>
            <a:off x="4937000" y="1385600"/>
            <a:ext cx="3810427" cy="26899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nvSpPr>
        <p:spPr>
          <a:xfrm>
            <a:off x="487625" y="1782000"/>
            <a:ext cx="3951300" cy="157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Komunikasikan sistem desain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Konsistensi adalah sahabat desainer, ya kan? Lagi-lagi nih, konsistensi bisa dicapai dengan adanya sistem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membuat panduan untuk pengembang dalam bentuk sistem desain akan membuat kolaborasi design-to-dev menjadi lebih mudah dan produk kamu akan lebih konsisten.</a:t>
            </a:r>
            <a:endParaRPr sz="1000">
              <a:solidFill>
                <a:schemeClr val="dk1"/>
              </a:solidFill>
              <a:latin typeface="Montserrat"/>
              <a:ea typeface="Montserrat"/>
              <a:cs typeface="Montserrat"/>
              <a:sym typeface="Montserrat"/>
            </a:endParaRPr>
          </a:p>
        </p:txBody>
      </p:sp>
      <p:sp>
        <p:nvSpPr>
          <p:cNvPr id="335" name="Google Shape;335;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37" name="Google Shape;337;p49"/>
          <p:cNvPicPr preferRelativeResize="0"/>
          <p:nvPr/>
        </p:nvPicPr>
        <p:blipFill>
          <a:blip r:embed="rId3">
            <a:alphaModFix/>
          </a:blip>
          <a:stretch>
            <a:fillRect/>
          </a:stretch>
        </p:blipFill>
        <p:spPr>
          <a:xfrm>
            <a:off x="4875425" y="1375000"/>
            <a:ext cx="3741176" cy="2864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0"/>
          <p:cNvSpPr txBox="1"/>
          <p:nvPr/>
        </p:nvSpPr>
        <p:spPr>
          <a:xfrm>
            <a:off x="487625" y="2236200"/>
            <a:ext cx="4185300" cy="67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Lebih baik lagi kalau kamu bisa mengkomunikasikan sistem desain ke developer secara langsung, sembari memperlihatkan interaksi, berbagai pola, dan proses pemikiran kamu dalam membuat sistem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p:txBody>
      </p:sp>
      <p:sp>
        <p:nvSpPr>
          <p:cNvPr id="343" name="Google Shape;34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45" name="Google Shape;345;p50"/>
          <p:cNvPicPr preferRelativeResize="0"/>
          <p:nvPr/>
        </p:nvPicPr>
        <p:blipFill>
          <a:blip r:embed="rId3">
            <a:alphaModFix/>
          </a:blip>
          <a:stretch>
            <a:fillRect/>
          </a:stretch>
        </p:blipFill>
        <p:spPr>
          <a:xfrm>
            <a:off x="4918150" y="1375000"/>
            <a:ext cx="3698449" cy="28313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txBox="1"/>
          <p:nvPr/>
        </p:nvSpPr>
        <p:spPr>
          <a:xfrm>
            <a:off x="487625" y="1816500"/>
            <a:ext cx="4185300" cy="151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Count ourselves lucky karena sekarang sudah banyak tools yang tersedia dan bisa kamu gunakan untuk design handoff, yaitu seperti Figma, Zeplin, Adobe XD, dan sebagainya.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Tools tersebut dapat mempermudah kamu dalam desain handoff. Kamu nggak perlu membuang banyak waktu untuk mengatur spesifikasi, ukuran, dan style guide pada desainmu karena biarkan tools yang bekerja secara otomatis untukmu!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p:txBody>
      </p:sp>
      <p:sp>
        <p:nvSpPr>
          <p:cNvPr id="351" name="Google Shape;351;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53" name="Google Shape;353;p51"/>
          <p:cNvPicPr preferRelativeResize="0"/>
          <p:nvPr/>
        </p:nvPicPr>
        <p:blipFill>
          <a:blip r:embed="rId3">
            <a:alphaModFix/>
          </a:blip>
          <a:stretch>
            <a:fillRect/>
          </a:stretch>
        </p:blipFill>
        <p:spPr>
          <a:xfrm>
            <a:off x="4918150" y="1375000"/>
            <a:ext cx="3698449" cy="28313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nvSpPr>
        <p:spPr>
          <a:xfrm>
            <a:off x="487625" y="1677150"/>
            <a:ext cx="3951300" cy="178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Sediakan</a:t>
            </a:r>
            <a:r>
              <a:rPr b="1" lang="en" sz="1600">
                <a:solidFill>
                  <a:srgbClr val="743673"/>
                </a:solidFill>
                <a:highlight>
                  <a:schemeClr val="lt1"/>
                </a:highlight>
                <a:latin typeface="Montserrat"/>
                <a:ea typeface="Montserrat"/>
                <a:cs typeface="Montserrat"/>
                <a:sym typeface="Montserrat"/>
              </a:rPr>
              <a:t> file desain dan semua aset yang diperlukan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Bagian dari tanggung jawab desainer adalah menyiapkan aset-aset desain yang diperlukan oleh developer.</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Ingat-ingat</a:t>
            </a:r>
            <a:r>
              <a:rPr lang="en" sz="1000">
                <a:solidFill>
                  <a:schemeClr val="dk1"/>
                </a:solidFill>
                <a:latin typeface="Montserrat"/>
                <a:ea typeface="Montserrat"/>
                <a:cs typeface="Montserrat"/>
                <a:sym typeface="Montserrat"/>
              </a:rPr>
              <a:t> rencana komunikasi kamu: apakah kamu dan developer telah menetapkan untuk mentransfer aset  melalui Dropbox, Google Drive, atau alat lain?</a:t>
            </a:r>
            <a:endParaRPr sz="1000">
              <a:solidFill>
                <a:schemeClr val="dk1"/>
              </a:solidFill>
              <a:latin typeface="Montserrat"/>
              <a:ea typeface="Montserrat"/>
              <a:cs typeface="Montserrat"/>
              <a:sym typeface="Montserrat"/>
            </a:endParaRPr>
          </a:p>
        </p:txBody>
      </p:sp>
      <p:sp>
        <p:nvSpPr>
          <p:cNvPr id="360" name="Google Shape;360;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61" name="Google Shape;361;p52"/>
          <p:cNvPicPr preferRelativeResize="0"/>
          <p:nvPr/>
        </p:nvPicPr>
        <p:blipFill>
          <a:blip r:embed="rId3">
            <a:alphaModFix/>
          </a:blip>
          <a:stretch>
            <a:fillRect/>
          </a:stretch>
        </p:blipFill>
        <p:spPr>
          <a:xfrm>
            <a:off x="4876950" y="1379250"/>
            <a:ext cx="3993699" cy="281933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nvSpPr>
        <p:spPr>
          <a:xfrm>
            <a:off x="487625" y="2189525"/>
            <a:ext cx="3951300" cy="119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Komunikasikan di mana aset-aset berada dan jaga jalur komunikasi agar tetap terbuka untuk mengatasi pertanyaan-pertanyaan  atau masalah aset yang hilang.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Jadi, di sini kamu tinggal mengatur aset desainmu, baik itu gambar, icon, dan font dalam satu directory dengan rapi dan tertata. </a:t>
            </a:r>
            <a:endParaRPr sz="1000">
              <a:solidFill>
                <a:schemeClr val="dk1"/>
              </a:solidFill>
              <a:latin typeface="Montserrat"/>
              <a:ea typeface="Montserrat"/>
              <a:cs typeface="Montserrat"/>
              <a:sym typeface="Montserrat"/>
            </a:endParaRPr>
          </a:p>
        </p:txBody>
      </p:sp>
      <p:sp>
        <p:nvSpPr>
          <p:cNvPr id="368" name="Google Shape;368;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69" name="Google Shape;369;p53"/>
          <p:cNvPicPr preferRelativeResize="0"/>
          <p:nvPr/>
        </p:nvPicPr>
        <p:blipFill>
          <a:blip r:embed="rId3">
            <a:alphaModFix/>
          </a:blip>
          <a:stretch>
            <a:fillRect/>
          </a:stretch>
        </p:blipFill>
        <p:spPr>
          <a:xfrm>
            <a:off x="4876950" y="1379250"/>
            <a:ext cx="3993699" cy="28193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4"/>
          <p:cNvSpPr txBox="1"/>
          <p:nvPr/>
        </p:nvSpPr>
        <p:spPr>
          <a:xfrm>
            <a:off x="487625" y="2489975"/>
            <a:ext cx="4185300" cy="74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Adapun ketika kamu menyerahkan spesifikasi ke developer, jangan lupa untuk memberitahu mengenai grid system yang kamu gunakan pada desainmu. Lagi-lagi, hal ini juga akan membantu banget buat developer!</a:t>
            </a:r>
            <a:endParaRPr sz="1300">
              <a:solidFill>
                <a:schemeClr val="dk1"/>
              </a:solidFill>
              <a:latin typeface="Montserrat"/>
              <a:ea typeface="Montserrat"/>
              <a:cs typeface="Montserrat"/>
              <a:sym typeface="Montserrat"/>
            </a:endParaRPr>
          </a:p>
        </p:txBody>
      </p:sp>
      <p:sp>
        <p:nvSpPr>
          <p:cNvPr id="375" name="Google Shape;37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6" name="Google Shape;37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77" name="Google Shape;377;p54"/>
          <p:cNvPicPr preferRelativeResize="0"/>
          <p:nvPr/>
        </p:nvPicPr>
        <p:blipFill>
          <a:blip r:embed="rId3">
            <a:alphaModFix/>
          </a:blip>
          <a:stretch>
            <a:fillRect/>
          </a:stretch>
        </p:blipFill>
        <p:spPr>
          <a:xfrm>
            <a:off x="4724400" y="1374992"/>
            <a:ext cx="3892201" cy="297965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84" name="Google Shape;384;p55"/>
          <p:cNvSpPr txBox="1"/>
          <p:nvPr/>
        </p:nvSpPr>
        <p:spPr>
          <a:xfrm>
            <a:off x="487625" y="1615650"/>
            <a:ext cx="3951300" cy="191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Sediakan</a:t>
            </a:r>
            <a:r>
              <a:rPr b="1" lang="en" sz="1600">
                <a:solidFill>
                  <a:srgbClr val="743673"/>
                </a:solidFill>
                <a:highlight>
                  <a:schemeClr val="lt1"/>
                </a:highlight>
                <a:latin typeface="Montserrat"/>
                <a:ea typeface="Montserrat"/>
                <a:cs typeface="Montserrat"/>
                <a:sym typeface="Montserrat"/>
              </a:rPr>
              <a:t> prototipe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Menyediakan prototipe dapat membantu semua orang dalam tim untuk memahami tujuan bersama dan ke mana arah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prototipe dapat menggambarkan struktur navigasi yang ditujukan, alur pengguna, animasi dan mikro-interaksi, dan tautan internal situs atau aplikasi. Terlebih lagi, jika prototipe tersebut interaktif.</a:t>
            </a:r>
            <a:endParaRPr sz="1000">
              <a:solidFill>
                <a:schemeClr val="dk1"/>
              </a:solidFill>
              <a:latin typeface="Montserrat"/>
              <a:ea typeface="Montserrat"/>
              <a:cs typeface="Montserrat"/>
              <a:sym typeface="Montserrat"/>
            </a:endParaRPr>
          </a:p>
        </p:txBody>
      </p:sp>
      <p:pic>
        <p:nvPicPr>
          <p:cNvPr id="385" name="Google Shape;385;p55"/>
          <p:cNvPicPr preferRelativeResize="0"/>
          <p:nvPr/>
        </p:nvPicPr>
        <p:blipFill>
          <a:blip r:embed="rId3">
            <a:alphaModFix/>
          </a:blip>
          <a:stretch>
            <a:fillRect/>
          </a:stretch>
        </p:blipFill>
        <p:spPr>
          <a:xfrm>
            <a:off x="4724400" y="1382287"/>
            <a:ext cx="3892198" cy="306551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peralatan handoff</a:t>
            </a:r>
            <a:endParaRPr>
              <a:latin typeface="Montserrat"/>
              <a:ea typeface="Montserrat"/>
              <a:cs typeface="Montserrat"/>
              <a:sym typeface="Montserrat"/>
            </a:endParaRPr>
          </a:p>
        </p:txBody>
      </p:sp>
      <p:sp>
        <p:nvSpPr>
          <p:cNvPr id="391" name="Google Shape;39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6"/>
          <p:cNvSpPr txBox="1"/>
          <p:nvPr/>
        </p:nvSpPr>
        <p:spPr>
          <a:xfrm>
            <a:off x="487625" y="1858850"/>
            <a:ext cx="45720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Prosesnya nggak terlalu sulit kan, gengs? Sekali lagi, untuk melancarkan prosesnya, komunikasi yang baik jadi kuncinya.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kita akan mengulik tentang </a:t>
            </a:r>
            <a:r>
              <a:rPr b="1" lang="en">
                <a:solidFill>
                  <a:srgbClr val="F2AB2F"/>
                </a:solidFill>
                <a:latin typeface="Montserrat"/>
                <a:ea typeface="Montserrat"/>
                <a:cs typeface="Montserrat"/>
                <a:sym typeface="Montserrat"/>
              </a:rPr>
              <a:t>peralatan handoff</a:t>
            </a:r>
            <a:r>
              <a:rPr b="1" lang="en">
                <a:solidFill>
                  <a:schemeClr val="lt1"/>
                </a:solidFill>
                <a:latin typeface="Montserrat"/>
                <a:ea typeface="Montserrat"/>
                <a:cs typeface="Montserrat"/>
                <a:sym typeface="Montserrat"/>
              </a:rPr>
              <a:t> yang bisa semakin memudahkan. </a:t>
            </a:r>
            <a:endParaRPr b="1">
              <a:solidFill>
                <a:schemeClr val="lt1"/>
              </a:solidFill>
              <a:latin typeface="Montserrat"/>
              <a:ea typeface="Montserrat"/>
              <a:cs typeface="Montserrat"/>
              <a:sym typeface="Montserrat"/>
            </a:endParaRPr>
          </a:p>
        </p:txBody>
      </p:sp>
      <p:pic>
        <p:nvPicPr>
          <p:cNvPr id="393" name="Google Shape;393;p56"/>
          <p:cNvPicPr preferRelativeResize="0"/>
          <p:nvPr/>
        </p:nvPicPr>
        <p:blipFill>
          <a:blip r:embed="rId3">
            <a:alphaModFix/>
          </a:blip>
          <a:stretch>
            <a:fillRect/>
          </a:stretch>
        </p:blipFill>
        <p:spPr>
          <a:xfrm>
            <a:off x="5567747" y="914399"/>
            <a:ext cx="2442528" cy="3886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9" name="Google Shape;39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a:t>
            </a:r>
            <a:r>
              <a:rPr lang="en">
                <a:latin typeface="Montserrat"/>
                <a:ea typeface="Montserrat"/>
                <a:cs typeface="Montserrat"/>
                <a:sym typeface="Montserrat"/>
              </a:rPr>
              <a:t> handoff</a:t>
            </a:r>
            <a:endParaRPr>
              <a:latin typeface="Montserrat"/>
              <a:ea typeface="Montserrat"/>
              <a:cs typeface="Montserrat"/>
              <a:sym typeface="Montserrat"/>
            </a:endParaRPr>
          </a:p>
        </p:txBody>
      </p:sp>
      <p:sp>
        <p:nvSpPr>
          <p:cNvPr id="400" name="Google Shape;400;p57"/>
          <p:cNvSpPr txBox="1"/>
          <p:nvPr/>
        </p:nvSpPr>
        <p:spPr>
          <a:xfrm>
            <a:off x="487625" y="2117297"/>
            <a:ext cx="4114800" cy="106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Kenalan lagi sama peralatan handoff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ada chapter 3 topic 4, kita </a:t>
            </a:r>
            <a:r>
              <a:rPr lang="en" sz="1000">
                <a:solidFill>
                  <a:schemeClr val="dk1"/>
                </a:solidFill>
                <a:latin typeface="Montserrat"/>
                <a:ea typeface="Montserrat"/>
                <a:cs typeface="Montserrat"/>
                <a:sym typeface="Montserrat"/>
              </a:rPr>
              <a:t>sudah</a:t>
            </a:r>
            <a:r>
              <a:rPr lang="en" sz="1000">
                <a:solidFill>
                  <a:schemeClr val="dk1"/>
                </a:solidFill>
                <a:latin typeface="Montserrat"/>
                <a:ea typeface="Montserrat"/>
                <a:cs typeface="Montserrat"/>
                <a:sym typeface="Montserrat"/>
              </a:rPr>
              <a:t> membahas beberapa alat yang bisa digunakan untuk melancarkan proses handoff design-to-dev. Kamu masih ingat, kan?</a:t>
            </a:r>
            <a:endParaRPr sz="1000">
              <a:solidFill>
                <a:schemeClr val="dk1"/>
              </a:solidFill>
              <a:latin typeface="Montserrat"/>
              <a:ea typeface="Montserrat"/>
              <a:cs typeface="Montserrat"/>
              <a:sym typeface="Montserrat"/>
            </a:endParaRPr>
          </a:p>
        </p:txBody>
      </p:sp>
      <p:pic>
        <p:nvPicPr>
          <p:cNvPr id="401" name="Google Shape;401;p57"/>
          <p:cNvPicPr preferRelativeResize="0"/>
          <p:nvPr/>
        </p:nvPicPr>
        <p:blipFill rotWithShape="1">
          <a:blip r:embed="rId3">
            <a:alphaModFix/>
          </a:blip>
          <a:srcRect b="0" l="13788" r="13795" t="0"/>
          <a:stretch/>
        </p:blipFill>
        <p:spPr>
          <a:xfrm>
            <a:off x="5364475" y="1280150"/>
            <a:ext cx="3017524" cy="27431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08" name="Google Shape;408;p58"/>
          <p:cNvSpPr txBox="1"/>
          <p:nvPr/>
        </p:nvSpPr>
        <p:spPr>
          <a:xfrm>
            <a:off x="487625" y="2022297"/>
            <a:ext cx="4114800" cy="109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ini, ada banyak software yang memudahkan kita dalam proses design handoff bersama dengan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tinjau lagi peralatan tersebut dan mencoba memakainya untuk memindahkan screens yang telah kita desain pada sesi-sesi sebelumnya.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09" name="Google Shape;409;p58"/>
          <p:cNvPicPr preferRelativeResize="0"/>
          <p:nvPr/>
        </p:nvPicPr>
        <p:blipFill rotWithShape="1">
          <a:blip r:embed="rId3">
            <a:alphaModFix/>
          </a:blip>
          <a:srcRect b="0" l="13788" r="13795" t="0"/>
          <a:stretch/>
        </p:blipFill>
        <p:spPr>
          <a:xfrm>
            <a:off x="5364475" y="1280150"/>
            <a:ext cx="3017524" cy="2743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59"/>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415" name="Google Shape;41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17" name="Google Shape;417;p59"/>
          <p:cNvSpPr txBox="1"/>
          <p:nvPr/>
        </p:nvSpPr>
        <p:spPr>
          <a:xfrm>
            <a:off x="487625" y="1803600"/>
            <a:ext cx="3200400" cy="153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u="sng">
                <a:solidFill>
                  <a:srgbClr val="743673"/>
                </a:solidFill>
                <a:highlight>
                  <a:schemeClr val="lt1"/>
                </a:highlight>
                <a:latin typeface="Montserrat"/>
                <a:ea typeface="Montserrat"/>
                <a:cs typeface="Montserrat"/>
                <a:sym typeface="Montserrat"/>
                <a:hlinkClick r:id="rId4">
                  <a:extLst>
                    <a:ext uri="{A12FA001-AC4F-418D-AE19-62706E023703}">
                      <ahyp:hlinkClr val="tx"/>
                    </a:ext>
                  </a:extLst>
                </a:hlinkClick>
              </a:rPr>
              <a:t>Zeplin</a:t>
            </a:r>
            <a:endParaRPr sz="1600">
              <a:solidFill>
                <a:srgbClr val="743673"/>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Zeplin memudahkan desainer untuk mengekspor file dalam satu klik menggunakan plugin Sketch, Figma, Adobe XD, dan Adobe Photoshop CC. Zeplin akan menghasilkan sebagian besar spesifikasi, aset, dan cuplikan kode yang disesuaikan untuk pengembang.</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60"/>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423" name="Google Shape;423;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25" name="Google Shape;425;p60"/>
          <p:cNvSpPr txBox="1"/>
          <p:nvPr/>
        </p:nvSpPr>
        <p:spPr>
          <a:xfrm>
            <a:off x="555700" y="2203949"/>
            <a:ext cx="3200400" cy="7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super lainnya dari Zeplin adalah Connected Components, di mana memungkinkan semua orang mengakses komponen dalam basis kode kamu langsung pada desain.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61"/>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431" name="Google Shape;43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33" name="Google Shape;433;p61"/>
          <p:cNvSpPr txBox="1"/>
          <p:nvPr/>
        </p:nvSpPr>
        <p:spPr>
          <a:xfrm>
            <a:off x="487625" y="1972347"/>
            <a:ext cx="3200400" cy="119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Bit</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Bit merupakan satu-satunya alat handoff design-to-dev dalam bentuk permainan, agar desainer dapat berkolaborasi dengan developer saat pengembangan UI.</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62"/>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439" name="Google Shape;43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41" name="Google Shape;441;p62"/>
          <p:cNvSpPr txBox="1"/>
          <p:nvPr/>
        </p:nvSpPr>
        <p:spPr>
          <a:xfrm>
            <a:off x="487625" y="2223899"/>
            <a:ext cx="3200400" cy="69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alat menangani handoff dari desain hingga pengembangan. Tapi, bagaimana dengan sebaliknya? Bagaimana pun, kode adalah apa yang pengguna dapatkan.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63"/>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447" name="Google Shape;44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49" name="Google Shape;449;p63"/>
          <p:cNvSpPr txBox="1"/>
          <p:nvPr/>
        </p:nvSpPr>
        <p:spPr>
          <a:xfrm>
            <a:off x="487625" y="1957347"/>
            <a:ext cx="3200400" cy="122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Figma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banyak hal, Figma untuk desain UI seperti Bit untuk kode, karena ini adalah cara kolaboratif membuat aplikasi modular dalam tumpukan web modern.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64"/>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455" name="Google Shape;455;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57" name="Google Shape;457;p64"/>
          <p:cNvSpPr txBox="1"/>
          <p:nvPr/>
        </p:nvSpPr>
        <p:spPr>
          <a:xfrm>
            <a:off x="487625" y="2207396"/>
            <a:ext cx="3200400" cy="72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seperti inspeksi kode, pengukuran tata letak, dan gaya bersama menjadikan Figma sebagai senjata pilihan bagi banyak tim produk yang berorientasi pada kolaborasi.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3" name="Google Shape;463;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64" name="Google Shape;464;p65"/>
          <p:cNvSpPr txBox="1"/>
          <p:nvPr/>
        </p:nvSpPr>
        <p:spPr>
          <a:xfrm>
            <a:off x="487625" y="2001300"/>
            <a:ext cx="4295100" cy="1140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Melalui software tersebut, design screen yang kamu buat bisa di-inspect secara detail. Anatomi yang bisa dilihat dan dipelajari oleh developer meliputi spacing, HEX color, typography, ukuran objek, dan masih banyak lagi lainnya.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Dengan tahap ini, tim developer lebih mudah untuk menghasilkan tampilan produk yang mirip dengan desain yang sudah dibuat.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65" name="Google Shape;465;p65"/>
          <p:cNvPicPr preferRelativeResize="0"/>
          <p:nvPr/>
        </p:nvPicPr>
        <p:blipFill>
          <a:blip r:embed="rId3">
            <a:alphaModFix/>
          </a:blip>
          <a:stretch>
            <a:fillRect/>
          </a:stretch>
        </p:blipFill>
        <p:spPr>
          <a:xfrm>
            <a:off x="5422725" y="914400"/>
            <a:ext cx="2409904" cy="388619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1" name="Google Shape;471;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72" name="Google Shape;472;p6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73" name="Google Shape;473;p66"/>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u="sng">
              <a:solidFill>
                <a:schemeClr val="dk2"/>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4">
                  <a:extLst>
                    <a:ext uri="{A12FA001-AC4F-418D-AE19-62706E023703}">
                      <ahyp:hlinkClr val="tx"/>
                    </a:ext>
                  </a:extLst>
                </a:hlinkClick>
              </a:rPr>
              <a:t>A Comprehensive Guide to Executing The Perfect Design-to-Development Handoff by Phase Magazine </a:t>
            </a:r>
            <a:endParaRPr sz="1000" u="sng">
              <a:solidFill>
                <a:schemeClr val="dk2"/>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5">
                  <a:extLst>
                    <a:ext uri="{A12FA001-AC4F-418D-AE19-62706E023703}">
                      <ahyp:hlinkClr val="tx"/>
                    </a:ext>
                  </a:extLst>
                </a:hlinkClick>
              </a:rPr>
              <a:t>Design Handoff Guide: What Makes Good  Designer-Developer Collaboration? by UX Studio</a:t>
            </a:r>
            <a:endParaRPr sz="1000" u="sng">
              <a:solidFill>
                <a:schemeClr val="dk2"/>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6">
                  <a:extLst>
                    <a:ext uri="{A12FA001-AC4F-418D-AE19-62706E023703}">
                      <ahyp:hlinkClr val="tx"/>
                    </a:ext>
                  </a:extLst>
                </a:hlinkClick>
              </a:rPr>
              <a:t>17 Designer Developer Collaboration and Handoff Tools For 2021 by Jonathan Saring on Medium </a:t>
            </a:r>
            <a:endParaRPr sz="1000" u="sng">
              <a:solidFill>
                <a:schemeClr val="dk2"/>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479" name="Google Shape;47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txBox="1"/>
          <p:nvPr/>
        </p:nvSpPr>
        <p:spPr>
          <a:xfrm>
            <a:off x="596600" y="1579700"/>
            <a:ext cx="4572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None/>
            </a:pPr>
            <a:r>
              <a:rPr b="1" lang="en">
                <a:solidFill>
                  <a:srgbClr val="FFFFFF"/>
                </a:solidFill>
                <a:latin typeface="Montserrat"/>
                <a:ea typeface="Montserrat"/>
                <a:cs typeface="Montserrat"/>
                <a:sym typeface="Montserrat"/>
              </a:rPr>
              <a:t>Gimana, UI/UX seru banget kan? </a:t>
            </a:r>
            <a:r>
              <a:rPr lang="en">
                <a:solidFill>
                  <a:srgbClr val="333333"/>
                </a:solidFill>
                <a:latin typeface="Montserrat"/>
                <a:ea typeface="Montserrat"/>
                <a:cs typeface="Montserrat"/>
                <a:sym typeface="Montserrat"/>
              </a:rPr>
              <a:t>🤩</a:t>
            </a:r>
            <a:endParaRPr b="1" sz="10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Selesai sudah pembahasan kita mengenai </a:t>
            </a:r>
            <a:r>
              <a:rPr b="1" lang="en">
                <a:solidFill>
                  <a:srgbClr val="F2AB2F"/>
                </a:solidFill>
                <a:latin typeface="Montserrat"/>
                <a:ea typeface="Montserrat"/>
                <a:cs typeface="Montserrat"/>
                <a:sym typeface="Montserrat"/>
              </a:rPr>
              <a:t>handoff</a:t>
            </a:r>
            <a:r>
              <a:rPr b="1" lang="en">
                <a:solidFill>
                  <a:schemeClr val="lt1"/>
                </a:solidFill>
                <a:latin typeface="Montserrat"/>
                <a:ea typeface="Montserrat"/>
                <a:cs typeface="Montserrat"/>
                <a:sym typeface="Montserrat"/>
              </a:rPr>
              <a:t>. Ini juga menandakan selesainya chapter 5 lho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Sampai ketemu besok di chapter selanjutnya ya, gengs!</a:t>
            </a:r>
            <a:endParaRPr b="1">
              <a:solidFill>
                <a:schemeClr val="lt1"/>
              </a:solidFill>
              <a:latin typeface="Montserrat"/>
              <a:ea typeface="Montserrat"/>
              <a:cs typeface="Montserrat"/>
              <a:sym typeface="Montserrat"/>
            </a:endParaRPr>
          </a:p>
        </p:txBody>
      </p:sp>
      <p:pic>
        <p:nvPicPr>
          <p:cNvPr id="481" name="Google Shape;481;p67"/>
          <p:cNvPicPr preferRelativeResize="0"/>
          <p:nvPr/>
        </p:nvPicPr>
        <p:blipFill>
          <a:blip r:embed="rId3">
            <a:alphaModFix/>
          </a:blip>
          <a:stretch>
            <a:fillRect/>
          </a:stretch>
        </p:blipFill>
        <p:spPr>
          <a:xfrm>
            <a:off x="3974531" y="720675"/>
            <a:ext cx="5687844" cy="43381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85" name="Shape 485"/>
        <p:cNvGrpSpPr/>
        <p:nvPr/>
      </p:nvGrpSpPr>
      <p:grpSpPr>
        <a:xfrm>
          <a:off x="0" y="0"/>
          <a:ext cx="0" cy="0"/>
          <a:chOff x="0" y="0"/>
          <a:chExt cx="0" cy="0"/>
        </a:xfrm>
      </p:grpSpPr>
      <p:sp>
        <p:nvSpPr>
          <p:cNvPr id="486" name="Google Shape;486;p68"/>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 name="Google Shape;487;p68"/>
          <p:cNvPicPr preferRelativeResize="0"/>
          <p:nvPr/>
        </p:nvPicPr>
        <p:blipFill rotWithShape="1">
          <a:blip r:embed="rId3">
            <a:alphaModFix/>
          </a:blip>
          <a:srcRect b="0" l="0" r="13247" t="0"/>
          <a:stretch/>
        </p:blipFill>
        <p:spPr>
          <a:xfrm>
            <a:off x="7987325" y="4075701"/>
            <a:ext cx="709350" cy="817600"/>
          </a:xfrm>
          <a:prstGeom prst="rect">
            <a:avLst/>
          </a:prstGeom>
          <a:noFill/>
          <a:ln>
            <a:noFill/>
          </a:ln>
        </p:spPr>
      </p:pic>
      <p:pic>
        <p:nvPicPr>
          <p:cNvPr id="488" name="Google Shape;488;p68"/>
          <p:cNvPicPr preferRelativeResize="0"/>
          <p:nvPr/>
        </p:nvPicPr>
        <p:blipFill>
          <a:blip r:embed="rId4">
            <a:alphaModFix/>
          </a:blip>
          <a:stretch>
            <a:fillRect/>
          </a:stretch>
        </p:blipFill>
        <p:spPr>
          <a:xfrm>
            <a:off x="10903550" y="914410"/>
            <a:ext cx="1991475" cy="685884"/>
          </a:xfrm>
          <a:prstGeom prst="rect">
            <a:avLst/>
          </a:prstGeom>
          <a:noFill/>
          <a:ln>
            <a:noFill/>
          </a:ln>
        </p:spPr>
      </p:pic>
      <p:pic>
        <p:nvPicPr>
          <p:cNvPr id="489" name="Google Shape;489;p68"/>
          <p:cNvPicPr preferRelativeResize="0"/>
          <p:nvPr/>
        </p:nvPicPr>
        <p:blipFill>
          <a:blip r:embed="rId5">
            <a:alphaModFix/>
          </a:blip>
          <a:stretch>
            <a:fillRect/>
          </a:stretch>
        </p:blipFill>
        <p:spPr>
          <a:xfrm>
            <a:off x="428225" y="4140630"/>
            <a:ext cx="1991475" cy="687732"/>
          </a:xfrm>
          <a:prstGeom prst="rect">
            <a:avLst/>
          </a:prstGeom>
          <a:noFill/>
          <a:ln>
            <a:noFill/>
          </a:ln>
        </p:spPr>
      </p:pic>
      <p:pic>
        <p:nvPicPr>
          <p:cNvPr id="490" name="Google Shape;490;p68"/>
          <p:cNvPicPr preferRelativeResize="0"/>
          <p:nvPr/>
        </p:nvPicPr>
        <p:blipFill>
          <a:blip r:embed="rId6">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