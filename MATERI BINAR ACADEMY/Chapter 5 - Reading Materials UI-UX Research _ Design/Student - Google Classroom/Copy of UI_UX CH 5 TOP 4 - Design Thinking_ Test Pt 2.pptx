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Lst>
  <p:sldSz cy="5143500" cx="9144000"/>
  <p:notesSz cx="6858000" cy="9144000"/>
  <p:embeddedFontLst>
    <p:embeddedFont>
      <p:font typeface="Raleway"/>
      <p:regular r:id="rId89"/>
      <p:bold r:id="rId90"/>
      <p:italic r:id="rId91"/>
      <p:boldItalic r:id="rId92"/>
    </p:embeddedFont>
    <p:embeddedFont>
      <p:font typeface="Montserrat"/>
      <p:regular r:id="rId93"/>
      <p:bold r:id="rId94"/>
      <p:italic r:id="rId95"/>
      <p:boldItalic r:id="rId96"/>
    </p:embeddedFont>
    <p:embeddedFont>
      <p:font typeface="Montserrat Medium"/>
      <p:regular r:id="rId97"/>
      <p:bold r:id="rId98"/>
      <p:italic r:id="rId99"/>
      <p:boldItalic r:id="rId100"/>
    </p:embeddedFont>
    <p:embeddedFont>
      <p:font typeface="Lato Black"/>
      <p:bold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2" Type="http://schemas.openxmlformats.org/officeDocument/2006/relationships/font" Target="fonts/LatoBlack-boldItalic.fntdata"/><Relationship Id="rId101" Type="http://schemas.openxmlformats.org/officeDocument/2006/relationships/font" Target="fonts/LatoBlack-bold.fntdata"/><Relationship Id="rId100" Type="http://schemas.openxmlformats.org/officeDocument/2006/relationships/font" Target="fonts/Montserrat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italic.fntdata"/><Relationship Id="rId94" Type="http://schemas.openxmlformats.org/officeDocument/2006/relationships/font" Target="fonts/Montserrat-bold.fntdata"/><Relationship Id="rId97" Type="http://schemas.openxmlformats.org/officeDocument/2006/relationships/font" Target="fonts/MontserratMedium-regular.fntdata"/><Relationship Id="rId96" Type="http://schemas.openxmlformats.org/officeDocument/2006/relationships/font" Target="fonts/Montserrat-boldItalic.fntdata"/><Relationship Id="rId11" Type="http://schemas.openxmlformats.org/officeDocument/2006/relationships/slide" Target="slides/slide6.xml"/><Relationship Id="rId99" Type="http://schemas.openxmlformats.org/officeDocument/2006/relationships/font" Target="fonts/MontserratMedium-italic.fntdata"/><Relationship Id="rId10" Type="http://schemas.openxmlformats.org/officeDocument/2006/relationships/slide" Target="slides/slide5.xml"/><Relationship Id="rId98" Type="http://schemas.openxmlformats.org/officeDocument/2006/relationships/font" Target="fonts/MontserratMedium-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Raleway-italic.fntdata"/><Relationship Id="rId90" Type="http://schemas.openxmlformats.org/officeDocument/2006/relationships/font" Target="fonts/Raleway-bold.fntdata"/><Relationship Id="rId93" Type="http://schemas.openxmlformats.org/officeDocument/2006/relationships/font" Target="fonts/Montserrat-regular.fntdata"/><Relationship Id="rId92" Type="http://schemas.openxmlformats.org/officeDocument/2006/relationships/font" Target="fonts/Raleway-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font" Target="fonts/Raleway-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team?utm_source=unsplash&amp;utm_medium=referral&amp;utm_content=creditCopyText" TargetMode="External"/><Relationship Id="rId5" Type="http://schemas.openxmlformats.org/officeDocument/2006/relationships/hyperlink" Target="https://unsplash.com/s/photos/design-team?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vaistan?utm_source=unsplash&amp;utm_medium=referral&amp;utm_content=creditCopyText" TargetMode="External"/><Relationship Id="rId3" Type="http://schemas.openxmlformats.org/officeDocument/2006/relationships/hyperlink" Target="https://unsplash.com/@javaistan?utm_source=unsplash&amp;utm_medium=referral&amp;utm_content=creditCopyText" TargetMode="External"/><Relationship Id="rId4" Type="http://schemas.openxmlformats.org/officeDocument/2006/relationships/hyperlink" Target="https://unsplash.com/s/photos/person-wondering?utm_source=unsplash&amp;utm_medium=referral&amp;utm_content=creditCopyText" TargetMode="External"/><Relationship Id="rId5" Type="http://schemas.openxmlformats.org/officeDocument/2006/relationships/hyperlink" Target="https://unsplash.com/s/photos/person-wondering?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vaistan?utm_source=unsplash&amp;utm_medium=referral&amp;utm_content=creditCopyText" TargetMode="External"/><Relationship Id="rId3" Type="http://schemas.openxmlformats.org/officeDocument/2006/relationships/hyperlink" Target="https://unsplash.com/@javaistan?utm_source=unsplash&amp;utm_medium=referral&amp;utm_content=creditCopyText" TargetMode="External"/><Relationship Id="rId4" Type="http://schemas.openxmlformats.org/officeDocument/2006/relationships/hyperlink" Target="https://unsplash.com/s/photos/person-wondering?utm_source=unsplash&amp;utm_medium=referral&amp;utm_content=creditCopyText" TargetMode="External"/><Relationship Id="rId5" Type="http://schemas.openxmlformats.org/officeDocument/2006/relationships/hyperlink" Target="https://unsplash.com/s/photos/person-wondering?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unnarridder?utm_source=unsplash&amp;utm_medium=referral&amp;utm_content=creditCopyText" TargetMode="External"/><Relationship Id="rId3" Type="http://schemas.openxmlformats.org/officeDocument/2006/relationships/hyperlink" Target="https://unsplash.com/@gunnarridder?utm_source=unsplash&amp;utm_medium=referral&amp;utm_content=creditCopyText" TargetMode="External"/><Relationship Id="rId4" Type="http://schemas.openxmlformats.org/officeDocument/2006/relationships/hyperlink" Target="https://unsplash.com/s/photos/ways?utm_source=unsplash&amp;utm_medium=referral&amp;utm_content=creditCopyText" TargetMode="External"/><Relationship Id="rId5" Type="http://schemas.openxmlformats.org/officeDocument/2006/relationships/hyperlink" Target="https://unsplash.com/s/photos/way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s?utm_source=unsplash&amp;utm_medium=referral&amp;utm_content=creditCopyText" TargetMode="External"/><Relationship Id="rId5" Type="http://schemas.openxmlformats.org/officeDocument/2006/relationships/hyperlink" Target="https://unsplash.com/s/photos/questions?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s?utm_source=unsplash&amp;utm_medium=referral&amp;utm_content=creditCopyText" TargetMode="External"/><Relationship Id="rId5" Type="http://schemas.openxmlformats.org/officeDocument/2006/relationships/hyperlink" Target="https://unsplash.com/s/photos/questions?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instruction?utm_source=unsplash&amp;utm_medium=referral&amp;utm_content=creditCopyText" TargetMode="External"/><Relationship Id="rId5" Type="http://schemas.openxmlformats.org/officeDocument/2006/relationships/hyperlink" Target="https://unsplash.com/s/photos/instruction?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instruction?utm_source=unsplash&amp;utm_medium=referral&amp;utm_content=creditCopyText" TargetMode="External"/><Relationship Id="rId5" Type="http://schemas.openxmlformats.org/officeDocument/2006/relationships/hyperlink" Target="https://unsplash.com/s/photos/instruc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ristinhumephoto?utm_source=unsplash&amp;utm_medium=referral&amp;utm_content=creditCopyText" TargetMode="External"/><Relationship Id="rId3" Type="http://schemas.openxmlformats.org/officeDocument/2006/relationships/hyperlink" Target="https://unsplash.com/@christinhumephoto?utm_source=unsplash&amp;utm_medium=referral&amp;utm_content=creditCopyText" TargetMode="External"/><Relationship Id="rId4" Type="http://schemas.openxmlformats.org/officeDocument/2006/relationships/hyperlink" Target="https://unsplash.com/s/photos/user?utm_source=unsplash&amp;utm_medium=referral&amp;utm_content=creditCopyText" TargetMode="External"/><Relationship Id="rId5" Type="http://schemas.openxmlformats.org/officeDocument/2006/relationships/hyperlink" Target="https://unsplash.com/s/photos/user?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southern?utm_source=unsplash&amp;utm_medium=referral&amp;utm_content=creditCopyText" TargetMode="External"/><Relationship Id="rId3" Type="http://schemas.openxmlformats.org/officeDocument/2006/relationships/hyperlink" Target="https://unsplash.com/@lukesouthern?utm_source=unsplash&amp;utm_medium=referral&amp;utm_content=creditCopyText" TargetMode="External"/><Relationship Id="rId4" Type="http://schemas.openxmlformats.org/officeDocument/2006/relationships/hyperlink" Target="https://unsplash.com/s/photos/notes?utm_source=unsplash&amp;utm_medium=referral&amp;utm_content=creditCopyText" TargetMode="External"/><Relationship Id="rId5" Type="http://schemas.openxmlformats.org/officeDocument/2006/relationships/hyperlink" Target="https://unsplash.com/s/photos/notes?utm_source=unsplash&amp;utm_medium=referral&amp;utm_content=creditCopyText"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leidico?utm_source=unsplash&amp;utm_medium=referral&amp;utm_content=creditCopyText" TargetMode="External"/><Relationship Id="rId3" Type="http://schemas.openxmlformats.org/officeDocument/2006/relationships/hyperlink" Target="https://unsplash.com/@kaleidico?utm_source=unsplash&amp;utm_medium=referral&amp;utm_content=creditCopyText" TargetMode="External"/><Relationship Id="rId4" Type="http://schemas.openxmlformats.org/officeDocument/2006/relationships/hyperlink" Target="https://unsplash.com/s/photos/analysis?utm_source=unsplash&amp;utm_medium=referral&amp;utm_content=creditCopyText" TargetMode="External"/><Relationship Id="rId5" Type="http://schemas.openxmlformats.org/officeDocument/2006/relationships/hyperlink" Target="https://unsplash.com/s/photos/analysis?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leidico?utm_source=unsplash&amp;utm_medium=referral&amp;utm_content=creditCopyText" TargetMode="External"/><Relationship Id="rId3" Type="http://schemas.openxmlformats.org/officeDocument/2006/relationships/hyperlink" Target="https://unsplash.com/@kaleidico?utm_source=unsplash&amp;utm_medium=referral&amp;utm_content=creditCopyText" TargetMode="External"/><Relationship Id="rId4" Type="http://schemas.openxmlformats.org/officeDocument/2006/relationships/hyperlink" Target="https://unsplash.com/s/photos/analysis?utm_source=unsplash&amp;utm_medium=referral&amp;utm_content=creditCopyText" TargetMode="External"/><Relationship Id="rId5" Type="http://schemas.openxmlformats.org/officeDocument/2006/relationships/hyperlink" Target="https://unsplash.com/s/photos/analysis?utm_source=unsplash&amp;utm_medium=referral&amp;utm_content=creditCopyText"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haronmccutcheon?utm_source=unsplash&amp;utm_medium=referral&amp;utm_content=creditCopyText" TargetMode="External"/><Relationship Id="rId3" Type="http://schemas.openxmlformats.org/officeDocument/2006/relationships/hyperlink" Target="https://unsplash.com/@sharonmccutcheon?utm_source=unsplash&amp;utm_medium=referral&amp;utm_content=creditCopyText" TargetMode="External"/><Relationship Id="rId4" Type="http://schemas.openxmlformats.org/officeDocument/2006/relationships/hyperlink" Target="https://unsplash.com/s/photos/documents?utm_source=unsplash&amp;utm_medium=referral&amp;utm_content=creditCopyText" TargetMode="External"/><Relationship Id="rId5" Type="http://schemas.openxmlformats.org/officeDocument/2006/relationships/hyperlink" Target="https://unsplash.com/s/photos/documents?utm_source=unsplash&amp;utm_medium=referral&amp;utm_content=creditCopyText"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itlynbaker?utm_source=unsplash&amp;utm_medium=referral&amp;utm_content=creditCopyText" TargetMode="External"/><Relationship Id="rId3" Type="http://schemas.openxmlformats.org/officeDocument/2006/relationships/hyperlink" Target="https://unsplash.com/@kaitlynbaker?utm_source=unsplash&amp;utm_medium=referral&amp;utm_content=creditCopyText" TargetMode="External"/><Relationship Id="rId4" Type="http://schemas.openxmlformats.org/officeDocument/2006/relationships/hyperlink" Target="https://unsplash.com/s/photos/report?utm_source=unsplash&amp;utm_medium=referral&amp;utm_content=creditCopyText" TargetMode="External"/><Relationship Id="rId5" Type="http://schemas.openxmlformats.org/officeDocument/2006/relationships/hyperlink" Target="https://unsplash.com/s/photos/report?utm_source=unsplash&amp;utm_medium=referral&amp;utm_content=creditCopyText" TargetMode="Externa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itlynbaker?utm_source=unsplash&amp;utm_medium=referral&amp;utm_content=creditCopyText" TargetMode="External"/><Relationship Id="rId3" Type="http://schemas.openxmlformats.org/officeDocument/2006/relationships/hyperlink" Target="https://unsplash.com/@kaitlynbaker?utm_source=unsplash&amp;utm_medium=referral&amp;utm_content=creditCopyText" TargetMode="External"/><Relationship Id="rId4" Type="http://schemas.openxmlformats.org/officeDocument/2006/relationships/hyperlink" Target="https://unsplash.com/s/photos/report?utm_source=unsplash&amp;utm_medium=referral&amp;utm_content=creditCopyText" TargetMode="External"/><Relationship Id="rId5" Type="http://schemas.openxmlformats.org/officeDocument/2006/relationships/hyperlink" Target="https://unsplash.com/s/photos/report?utm_source=unsplash&amp;utm_medium=referral&amp;utm_content=creditCopyText"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db5223a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db5223a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db5223aa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db5223aa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780accf1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780accf1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780accf1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780accf1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31738c5d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31738c5d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f958b1c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f958b1c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f958b1c7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f958b1c7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f958b1c7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f958b1c7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7f2d3e0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7f2d3e0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31738c5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31738c5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081705e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081705e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7f2d3e098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7f2d3e098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f958b1c7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f958b1c7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f958b1c7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f958b1c7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1f958b1c7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1f958b1c7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f958b1c7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f958b1c7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1f958b1c7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1f958b1c7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f958b1c7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f958b1c7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1f958b1c7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1f958b1c7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f958b1c7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1f958b1c7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1738c5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1738c5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7f2d3e098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17f2d3e098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85d3493f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85d3493f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f35c684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f35c684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231738c5d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231738c5d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7f2d3e098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7f2d3e098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7f2d3e098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7f2d3e098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7f2d3e098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7f2d3e098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780accf1e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780accf1e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f35c684d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f35c684d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231738c5d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231738c5d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7f2d3e098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7f2d3e098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231738c5d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231738c5d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231738c5d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231738c5d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85d3493f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85d3493f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85d3493f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85d3493f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231738c5d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231738c5d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780accf1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780accf1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f35c684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1f35c684d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Afif Kusuma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7f2d3e098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7f2d3e09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Afif Kusuma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185d3493f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185d3493f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Gunnar Ridderström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85d3493f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85d3493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f35c684d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f35c684d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185d3493f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185d3493f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1f35c684d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1f35c684d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185d3493f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185d3493f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185d3493f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1185d3493f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185d3493f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185d3493f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1f35c684d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1f35c684d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185d3493f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185d3493f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 Hume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185d3493f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185d3493f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1f35c684d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1f35c684d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185d3493f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185d3493f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85d3493f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85d3493f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1f61e284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1f61e284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1231738c5d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1231738c5d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185d3493f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185d3493f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https://www.trymyui.com/blog/2016/06/09/understanding-users-first-impressions-of-website/</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185d3493f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185d3493f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Southern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185d3493f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185d3493f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1780accf1e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1780accf1e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185d3493f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185d3493f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Kaleidico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231738c5d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1231738c5d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Kaleidico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185d3493ff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1185d3493ff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Sharon McCutcheon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1185d3493f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1185d3493f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185d3493f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185d3493f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231738c5d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1231738c5d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185d3493f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1185d3493f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https://www.hotjar.com/usability-testing/evaluation-analysis/</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1f61e2845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11f61e2845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https://www.hotjar.com/usability-testing/evaluation-analysis/</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185d3493f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185d3493f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1231738c5d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1231738c5d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185d3493f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185d3493f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185d3493f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185d3493f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231738c5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1231738c5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185d3493f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185d3493f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1185d3493f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1185d3493f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Kaitlyn Baker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11f61e2845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11f61e2845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Kaitlyn Baker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185d3493f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1185d3493f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11db5223aa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11db5223aa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nngroup.com/articles/why-you-only-need-to-test-with-5-users/" TargetMode="Externa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www.trymyui.com/blog/2016/06/09/understanding-users-first-impressions-of-website/" TargetMode="External"/><Relationship Id="rId4" Type="http://schemas.openxmlformats.org/officeDocument/2006/relationships/hyperlink" Target="https://www.trymyui.com/blog/2016/06/09/understanding-users-first-impressions-of-website/" TargetMode="External"/><Relationship Id="rId5"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4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s://www.nngroup.com/articles/quant-vs-qual/" TargetMode="External"/><Relationship Id="rId4" Type="http://schemas.openxmlformats.org/officeDocument/2006/relationships/image" Target="../media/image5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5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5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20" Type="http://schemas.openxmlformats.org/officeDocument/2006/relationships/hyperlink" Target="https://www.hotjar.com/usability-testing/evaluation-analysis/" TargetMode="External"/><Relationship Id="rId11" Type="http://schemas.openxmlformats.org/officeDocument/2006/relationships/hyperlink" Target="https://www.nngroup.com/articles/why-you-only-need-to-test-with-5-users/" TargetMode="External"/><Relationship Id="rId22" Type="http://schemas.openxmlformats.org/officeDocument/2006/relationships/hyperlink" Target="https://www.nngroup.com/articles/quant-vs-qual/" TargetMode="External"/><Relationship Id="rId10" Type="http://schemas.openxmlformats.org/officeDocument/2006/relationships/hyperlink" Target="https://www.nngroup.com/articles/why-you-only-need-to-test-with-5-users/" TargetMode="External"/><Relationship Id="rId21" Type="http://schemas.openxmlformats.org/officeDocument/2006/relationships/hyperlink" Target="https://www.nngroup.com/articles/quant-vs-qual/" TargetMode="External"/><Relationship Id="rId13" Type="http://schemas.openxmlformats.org/officeDocument/2006/relationships/hyperlink" Target="https://www.trymyui.com/blog/2018/04/24/avoid-bias-in-user-testing/" TargetMode="External"/><Relationship Id="rId12" Type="http://schemas.openxmlformats.org/officeDocument/2006/relationships/hyperlink" Target="https://www.nngroup.com/articles/why-you-only-need-to-test-with-5-users/" TargetMode="External"/><Relationship Id="rId23" Type="http://schemas.openxmlformats.org/officeDocument/2006/relationships/hyperlink" Target="https://www.nngroup.com/articles/quant-vs-qual/" TargetMode="External"/><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xd.adobe.com/ideas/process/user-testing/best-practices-for-usability-testing-in-ux-design/" TargetMode="External"/><Relationship Id="rId15" Type="http://schemas.openxmlformats.org/officeDocument/2006/relationships/hyperlink" Target="https://www.trymyui.com/blog/2017/12/12/how-to-write-tasks-vol-3-prototype-wireframe-usability-testing/" TargetMode="External"/><Relationship Id="rId14" Type="http://schemas.openxmlformats.org/officeDocument/2006/relationships/hyperlink" Target="https://www.trymyui.com/blog/2016/06/09/understanding-users-first-impressions-of-website/" TargetMode="External"/><Relationship Id="rId17" Type="http://schemas.openxmlformats.org/officeDocument/2006/relationships/hyperlink" Target="https://www.trymyui.com/blog/2017/12/12/how-to-write-tasks-vol-3-prototype-wireframe-usability-testing/" TargetMode="External"/><Relationship Id="rId16" Type="http://schemas.openxmlformats.org/officeDocument/2006/relationships/hyperlink" Target="https://www.trymyui.com/blog/2017/12/12/how-to-write-tasks-vol-3-prototype-wireframe-usability-testing/" TargetMode="External"/><Relationship Id="rId5" Type="http://schemas.openxmlformats.org/officeDocument/2006/relationships/hyperlink" Target="https://xd.adobe.com/ideas/process/user-testing/best-practices-for-usability-testing-in-ux-design/" TargetMode="External"/><Relationship Id="rId19" Type="http://schemas.openxmlformats.org/officeDocument/2006/relationships/hyperlink" Target="https://www.hotjar.com/usability-testing/template-checklist/" TargetMode="External"/><Relationship Id="rId6" Type="http://schemas.openxmlformats.org/officeDocument/2006/relationships/hyperlink" Target="https://xd.adobe.com/ideas/process/user-testing/best-practices-for-usability-testing-in-ux-design/" TargetMode="External"/><Relationship Id="rId18" Type="http://schemas.openxmlformats.org/officeDocument/2006/relationships/hyperlink" Target="https://maze.co/guides/usability-testing/results/" TargetMode="External"/><Relationship Id="rId7" Type="http://schemas.openxmlformats.org/officeDocument/2006/relationships/hyperlink" Target="https://xd.adobe.com/ideas/process/user-testing/best-practices-for-usability-testing-in-ux-design/" TargetMode="External"/><Relationship Id="rId8" Type="http://schemas.openxmlformats.org/officeDocument/2006/relationships/hyperlink" Target="https://xd.adobe.com/ideas/process/user-testing/best-practices-for-usability-testing-in-ux-design/"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 Id="rId3" Type="http://schemas.openxmlformats.org/officeDocument/2006/relationships/image" Target="../media/image5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56.png"/><Relationship Id="rId4" Type="http://schemas.openxmlformats.org/officeDocument/2006/relationships/image" Target="../media/image58.png"/><Relationship Id="rId5"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Thinking: Test </a:t>
            </a:r>
            <a:r>
              <a:rPr lang="en" sz="2400">
                <a:solidFill>
                  <a:srgbClr val="FFFFFF"/>
                </a:solidFill>
                <a:latin typeface="Montserrat"/>
                <a:ea typeface="Montserrat"/>
                <a:cs typeface="Montserrat"/>
                <a:sym typeface="Montserrat"/>
              </a:rPr>
              <a:t>(Part 2)</a:t>
            </a:r>
            <a:endParaRPr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 </a:t>
            </a:r>
            <a:r>
              <a:rPr lang="en">
                <a:solidFill>
                  <a:schemeClr val="lt1"/>
                </a:solidFill>
                <a:latin typeface="Montserrat"/>
                <a:ea typeface="Montserrat"/>
                <a:cs typeface="Montserrat"/>
                <a:sym typeface="Montserrat"/>
              </a:rPr>
              <a:t>Chapter 5 - Topic 4</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14" name="Google Shape;114;p2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15" name="Google Shape;115;p22"/>
          <p:cNvSpPr txBox="1"/>
          <p:nvPr/>
        </p:nvSpPr>
        <p:spPr>
          <a:xfrm>
            <a:off x="685800" y="1527188"/>
            <a:ext cx="50025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100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Sampai mana kita kemarin? Pada topik bagian 2 ini, kita akan membahas:</a:t>
            </a:r>
            <a:endParaRPr sz="1200">
              <a:solidFill>
                <a:srgbClr val="000000"/>
              </a:solidFill>
              <a:latin typeface="Montserrat"/>
              <a:ea typeface="Montserrat"/>
              <a:cs typeface="Montserrat"/>
              <a:sym typeface="Montserrat"/>
            </a:endParaRPr>
          </a:p>
        </p:txBody>
      </p:sp>
      <p:sp>
        <p:nvSpPr>
          <p:cNvPr id="116" name="Google Shape;116;p22"/>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7" name="Google Shape;117;p22"/>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8" name="Google Shape;118;p22"/>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9" name="Google Shape;119;p22"/>
          <p:cNvSpPr/>
          <p:nvPr/>
        </p:nvSpPr>
        <p:spPr>
          <a:xfrm>
            <a:off x="685800" y="3767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0" name="Google Shape;120;p22"/>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Usability testing</a:t>
            </a:r>
            <a:endParaRPr sz="1200">
              <a:solidFill>
                <a:srgbClr val="000000"/>
              </a:solidFill>
              <a:latin typeface="Montserrat"/>
              <a:ea typeface="Montserrat"/>
              <a:cs typeface="Montserrat"/>
              <a:sym typeface="Montserrat"/>
            </a:endParaRPr>
          </a:p>
        </p:txBody>
      </p:sp>
      <p:sp>
        <p:nvSpPr>
          <p:cNvPr id="121" name="Google Shape;121;p22"/>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Memilih populasi dan sampel</a:t>
            </a:r>
            <a:endParaRPr sz="1200">
              <a:solidFill>
                <a:srgbClr val="000000"/>
              </a:solidFill>
              <a:latin typeface="Montserrat"/>
              <a:ea typeface="Montserrat"/>
              <a:cs typeface="Montserrat"/>
              <a:sym typeface="Montserrat"/>
            </a:endParaRPr>
          </a:p>
        </p:txBody>
      </p:sp>
      <p:sp>
        <p:nvSpPr>
          <p:cNvPr id="122" name="Google Shape;122;p22"/>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Menghindari bias</a:t>
            </a:r>
            <a:endParaRPr sz="1200">
              <a:solidFill>
                <a:srgbClr val="000000"/>
              </a:solidFill>
              <a:latin typeface="Montserrat"/>
              <a:ea typeface="Montserrat"/>
              <a:cs typeface="Montserrat"/>
              <a:sym typeface="Montserrat"/>
            </a:endParaRPr>
          </a:p>
        </p:txBody>
      </p:sp>
      <p:sp>
        <p:nvSpPr>
          <p:cNvPr id="123" name="Google Shape;123;p22"/>
          <p:cNvSpPr txBox="1"/>
          <p:nvPr/>
        </p:nvSpPr>
        <p:spPr>
          <a:xfrm>
            <a:off x="1182350" y="369913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Menganalisa hasil testing</a:t>
            </a:r>
            <a:endParaRPr sz="1200">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29" name="Google Shape;129;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 name="Google Shape;130;p23"/>
          <p:cNvSpPr txBox="1"/>
          <p:nvPr/>
        </p:nvSpPr>
        <p:spPr>
          <a:xfrm>
            <a:off x="3508175" y="2014200"/>
            <a:ext cx="47634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pada materi kemarin sekilas kita </a:t>
            </a:r>
            <a:r>
              <a:rPr b="1" lang="en">
                <a:solidFill>
                  <a:schemeClr val="lt1"/>
                </a:solidFill>
                <a:latin typeface="Montserrat"/>
                <a:ea typeface="Montserrat"/>
                <a:cs typeface="Montserrat"/>
                <a:sym typeface="Montserrat"/>
              </a:rPr>
              <a:t>sudah</a:t>
            </a:r>
            <a:r>
              <a:rPr b="1" lang="en">
                <a:solidFill>
                  <a:schemeClr val="lt1"/>
                </a:solidFill>
                <a:latin typeface="Montserrat"/>
                <a:ea typeface="Montserrat"/>
                <a:cs typeface="Montserrat"/>
                <a:sym typeface="Montserrat"/>
              </a:rPr>
              <a:t> berkenalan terkait </a:t>
            </a:r>
            <a:r>
              <a:rPr b="1" lang="en">
                <a:solidFill>
                  <a:srgbClr val="F2AB2F"/>
                </a:solidFill>
                <a:latin typeface="Montserrat"/>
                <a:ea typeface="Montserrat"/>
                <a:cs typeface="Montserrat"/>
                <a:sym typeface="Montserrat"/>
              </a:rPr>
              <a:t>usability testing</a:t>
            </a:r>
            <a:r>
              <a:rPr b="1" lang="en">
                <a:solidFill>
                  <a:schemeClr val="lt1"/>
                </a:solidFill>
                <a:latin typeface="Montserrat"/>
                <a:ea typeface="Montserrat"/>
                <a:cs typeface="Montserrat"/>
                <a:sym typeface="Montserrat"/>
              </a:rPr>
              <a:t>. Kali ini, kita akan mempelajari operasionalisasi dari metode tersebut.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langsung aja ~</a:t>
            </a:r>
            <a:endParaRPr b="1">
              <a:solidFill>
                <a:schemeClr val="lt1"/>
              </a:solidFill>
              <a:latin typeface="Montserrat"/>
              <a:ea typeface="Montserrat"/>
              <a:cs typeface="Montserrat"/>
              <a:sym typeface="Montserrat"/>
            </a:endParaRPr>
          </a:p>
        </p:txBody>
      </p:sp>
      <p:pic>
        <p:nvPicPr>
          <p:cNvPr id="131" name="Google Shape;131;p23"/>
          <p:cNvPicPr preferRelativeResize="0"/>
          <p:nvPr/>
        </p:nvPicPr>
        <p:blipFill>
          <a:blip r:embed="rId3">
            <a:alphaModFix/>
          </a:blip>
          <a:stretch>
            <a:fillRect/>
          </a:stretch>
        </p:blipFill>
        <p:spPr>
          <a:xfrm>
            <a:off x="174925" y="1179849"/>
            <a:ext cx="3803453" cy="28990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38" name="Google Shape;138;p24"/>
          <p:cNvSpPr txBox="1"/>
          <p:nvPr/>
        </p:nvSpPr>
        <p:spPr>
          <a:xfrm>
            <a:off x="487625" y="1433675"/>
            <a:ext cx="4457700" cy="194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Kenapa kita perlu melakukan usability testing?</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rgbClr val="151515"/>
                </a:solidFill>
                <a:latin typeface="Montserrat"/>
                <a:ea typeface="Montserrat"/>
                <a:cs typeface="Montserrat"/>
                <a:sym typeface="Montserrat"/>
              </a:rPr>
              <a:t>Sebenarnya, usability testing itu punya tujuan yang berbeda-beda, tergantung tujuan riset yang sedang dilakukan. Nah, berikut adalah 3 tujuan yang paling sering dilakukan:</a:t>
            </a:r>
            <a:endParaRPr sz="1000">
              <a:solidFill>
                <a:srgbClr val="151515"/>
              </a:solidFill>
              <a:latin typeface="Montserrat"/>
              <a:ea typeface="Montserrat"/>
              <a:cs typeface="Montserrat"/>
              <a:sym typeface="Montserrat"/>
            </a:endParaRPr>
          </a:p>
          <a:p>
            <a:pPr indent="-292100" lvl="0" marL="457200" rtl="0" algn="just">
              <a:lnSpc>
                <a:spcPct val="115000"/>
              </a:lnSpc>
              <a:spcBef>
                <a:spcPts val="100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mengidentifikasi masalah dalam UI desain yang telah dirancang</a:t>
            </a:r>
            <a:endParaRPr sz="1000">
              <a:solidFill>
                <a:srgbClr val="151515"/>
              </a:solidFill>
              <a:latin typeface="Montserrat"/>
              <a:ea typeface="Montserrat"/>
              <a:cs typeface="Montserrat"/>
              <a:sym typeface="Montserrat"/>
            </a:endParaRPr>
          </a:p>
          <a:p>
            <a:pPr indent="-292100" lvl="0" marL="457200" rtl="0" algn="just">
              <a:lnSpc>
                <a:spcPct val="115000"/>
              </a:lnSpc>
              <a:spcBef>
                <a:spcPts val="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menemukan peluang dan kesempatan baru yang dapat diterapkan pada pengembangan produk</a:t>
            </a:r>
            <a:endParaRPr sz="1000">
              <a:solidFill>
                <a:srgbClr val="151515"/>
              </a:solidFill>
              <a:latin typeface="Montserrat"/>
              <a:ea typeface="Montserrat"/>
              <a:cs typeface="Montserrat"/>
              <a:sym typeface="Montserrat"/>
            </a:endParaRPr>
          </a:p>
          <a:p>
            <a:pPr indent="-292100" lvl="0" marL="457200" rtl="0" algn="just">
              <a:lnSpc>
                <a:spcPct val="115000"/>
              </a:lnSpc>
              <a:spcBef>
                <a:spcPts val="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memahami lebih dalam bagaimana perilaku dan preferensi user yang menjadi target produk</a:t>
            </a:r>
            <a:endParaRPr sz="1000">
              <a:solidFill>
                <a:srgbClr val="151515"/>
              </a:solidFill>
              <a:latin typeface="Montserrat"/>
              <a:ea typeface="Montserrat"/>
              <a:cs typeface="Montserrat"/>
              <a:sym typeface="Montserrat"/>
            </a:endParaRPr>
          </a:p>
          <a:p>
            <a:pPr indent="0" lvl="0" marL="0" rtl="0" algn="just">
              <a:lnSpc>
                <a:spcPct val="115000"/>
              </a:lnSpc>
              <a:spcBef>
                <a:spcPts val="160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139" name="Google Shape;139;p24"/>
          <p:cNvPicPr preferRelativeResize="0"/>
          <p:nvPr/>
        </p:nvPicPr>
        <p:blipFill>
          <a:blip r:embed="rId3">
            <a:alphaModFix/>
          </a:blip>
          <a:stretch>
            <a:fillRect/>
          </a:stretch>
        </p:blipFill>
        <p:spPr>
          <a:xfrm>
            <a:off x="5430700" y="1129924"/>
            <a:ext cx="3321324" cy="33213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46" name="Google Shape;146;p25"/>
          <p:cNvSpPr txBox="1"/>
          <p:nvPr/>
        </p:nvSpPr>
        <p:spPr>
          <a:xfrm>
            <a:off x="487625" y="1600200"/>
            <a:ext cx="4457700" cy="194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Bagaimana Usability Testing berperan di tengah proses pengembangan produk?</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namanya, </a:t>
            </a:r>
            <a:r>
              <a:rPr b="1" lang="en" sz="1000">
                <a:solidFill>
                  <a:schemeClr val="dk1"/>
                </a:solidFill>
                <a:latin typeface="Montserrat"/>
                <a:ea typeface="Montserrat"/>
                <a:cs typeface="Montserrat"/>
                <a:sym typeface="Montserrat"/>
              </a:rPr>
              <a:t>usability testing</a:t>
            </a:r>
            <a:r>
              <a:rPr lang="en" sz="1000">
                <a:solidFill>
                  <a:schemeClr val="dk1"/>
                </a:solidFill>
                <a:latin typeface="Montserrat"/>
                <a:ea typeface="Montserrat"/>
                <a:cs typeface="Montserrat"/>
                <a:sym typeface="Montserrat"/>
              </a:rPr>
              <a:t> adalah teknik </a:t>
            </a:r>
            <a:r>
              <a:rPr b="1" lang="en" sz="1000">
                <a:solidFill>
                  <a:schemeClr val="dk1"/>
                </a:solidFill>
                <a:latin typeface="Montserrat"/>
                <a:ea typeface="Montserrat"/>
                <a:cs typeface="Montserrat"/>
                <a:sym typeface="Montserrat"/>
              </a:rPr>
              <a:t>uji coba penggunaan produk</a:t>
            </a:r>
            <a:r>
              <a:rPr lang="en" sz="1000">
                <a:solidFill>
                  <a:schemeClr val="dk1"/>
                </a:solidFill>
                <a:latin typeface="Montserrat"/>
                <a:ea typeface="Montserrat"/>
                <a:cs typeface="Montserrat"/>
                <a:sym typeface="Montserrat"/>
              </a:rPr>
              <a:t> yang membantu mengevaluasi rancangan produk dengan meminta </a:t>
            </a:r>
            <a:r>
              <a:rPr b="1" lang="en" sz="1000">
                <a:solidFill>
                  <a:schemeClr val="dk1"/>
                </a:solidFill>
                <a:latin typeface="Montserrat"/>
                <a:ea typeface="Montserrat"/>
                <a:cs typeface="Montserrat"/>
                <a:sym typeface="Montserrat"/>
              </a:rPr>
              <a:t>potential user mencoba produk secara langsung </a:t>
            </a:r>
            <a:r>
              <a:rPr lang="en" sz="1000">
                <a:solidFill>
                  <a:schemeClr val="dk1"/>
                </a:solidFill>
                <a:latin typeface="Montserrat"/>
                <a:ea typeface="Montserrat"/>
                <a:cs typeface="Montserrat"/>
                <a:sym typeface="Montserrat"/>
              </a:rPr>
              <a:t>baik itu website atau aplikasi.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Tujuannya, menemukan cara paling baik dan efektif untuk pengguna dalam menyelesaikan suatu aktivitas.</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147" name="Google Shape;147;p25"/>
          <p:cNvPicPr preferRelativeResize="0"/>
          <p:nvPr/>
        </p:nvPicPr>
        <p:blipFill>
          <a:blip r:embed="rId3">
            <a:alphaModFix/>
          </a:blip>
          <a:stretch>
            <a:fillRect/>
          </a:stretch>
        </p:blipFill>
        <p:spPr>
          <a:xfrm>
            <a:off x="5323500" y="1433673"/>
            <a:ext cx="3488476" cy="2276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54" name="Google Shape;154;p26"/>
          <p:cNvSpPr txBox="1"/>
          <p:nvPr/>
        </p:nvSpPr>
        <p:spPr>
          <a:xfrm>
            <a:off x="487625" y="1948800"/>
            <a:ext cx="4457700" cy="124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ini juga dikenal sebagai </a:t>
            </a:r>
            <a:r>
              <a:rPr b="1" lang="en" sz="1000">
                <a:solidFill>
                  <a:schemeClr val="dk1"/>
                </a:solidFill>
                <a:latin typeface="Montserrat"/>
                <a:ea typeface="Montserrat"/>
                <a:cs typeface="Montserrat"/>
                <a:sym typeface="Montserrat"/>
              </a:rPr>
              <a:t>UX testing</a:t>
            </a:r>
            <a:r>
              <a:rPr lang="en" sz="1000">
                <a:solidFill>
                  <a:schemeClr val="dk1"/>
                </a:solidFill>
                <a:latin typeface="Montserrat"/>
                <a:ea typeface="Montserrat"/>
                <a:cs typeface="Montserrat"/>
                <a:sym typeface="Montserrat"/>
              </a:rPr>
              <a:t> atau pengujian pengalaman pengguna. Sehingga, ukuran seberapa “berguna” sebuah web atau aplikasi ditentukan dari percobaan pengguna mengakses produk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diminta mengamati dan memakai produk, sekaligus memberikan pendapat mereka selama proses berlangsung.</a:t>
            </a:r>
            <a:endParaRPr sz="1000">
              <a:solidFill>
                <a:schemeClr val="dk1"/>
              </a:solidFill>
              <a:latin typeface="Montserrat"/>
              <a:ea typeface="Montserrat"/>
              <a:cs typeface="Montserrat"/>
              <a:sym typeface="Montserrat"/>
            </a:endParaRPr>
          </a:p>
        </p:txBody>
      </p:sp>
      <p:pic>
        <p:nvPicPr>
          <p:cNvPr id="155" name="Google Shape;155;p26"/>
          <p:cNvPicPr preferRelativeResize="0"/>
          <p:nvPr/>
        </p:nvPicPr>
        <p:blipFill>
          <a:blip r:embed="rId3">
            <a:alphaModFix/>
          </a:blip>
          <a:stretch>
            <a:fillRect/>
          </a:stretch>
        </p:blipFill>
        <p:spPr>
          <a:xfrm>
            <a:off x="5383075" y="1170136"/>
            <a:ext cx="3407875" cy="28032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62" name="Google Shape;162;p27"/>
          <p:cNvSpPr txBox="1"/>
          <p:nvPr/>
        </p:nvSpPr>
        <p:spPr>
          <a:xfrm>
            <a:off x="487625" y="2064900"/>
            <a:ext cx="4457700" cy="10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usability testing, desainer bisa melihat </a:t>
            </a:r>
            <a:r>
              <a:rPr b="1" lang="en" sz="1000">
                <a:solidFill>
                  <a:schemeClr val="dk1"/>
                </a:solidFill>
                <a:latin typeface="Montserrat"/>
                <a:ea typeface="Montserrat"/>
                <a:cs typeface="Montserrat"/>
                <a:sym typeface="Montserrat"/>
              </a:rPr>
              <a:t>apakah produk mereka sudah layak</a:t>
            </a:r>
            <a:r>
              <a:rPr lang="en" sz="1000">
                <a:solidFill>
                  <a:schemeClr val="dk1"/>
                </a:solidFill>
                <a:latin typeface="Montserrat"/>
                <a:ea typeface="Montserrat"/>
                <a:cs typeface="Montserrat"/>
                <a:sym typeface="Montserrat"/>
              </a:rPr>
              <a:t> dan mengidentifikasi kendala-kendala yang mungkin muncul dalam produknya.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Usability testing biasanya dilakukan setelah prototype jadi, namun belum masuk ke dalam proses development akhir.</a:t>
            </a:r>
            <a:endParaRPr sz="1000">
              <a:solidFill>
                <a:schemeClr val="dk1"/>
              </a:solidFill>
              <a:latin typeface="Montserrat"/>
              <a:ea typeface="Montserrat"/>
              <a:cs typeface="Montserrat"/>
              <a:sym typeface="Montserrat"/>
            </a:endParaRPr>
          </a:p>
        </p:txBody>
      </p:sp>
      <p:pic>
        <p:nvPicPr>
          <p:cNvPr id="163" name="Google Shape;163;p27"/>
          <p:cNvPicPr preferRelativeResize="0"/>
          <p:nvPr/>
        </p:nvPicPr>
        <p:blipFill>
          <a:blip r:embed="rId3">
            <a:alphaModFix/>
          </a:blip>
          <a:stretch>
            <a:fillRect/>
          </a:stretch>
        </p:blipFill>
        <p:spPr>
          <a:xfrm>
            <a:off x="5339475" y="1170136"/>
            <a:ext cx="3407875" cy="28032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70" name="Google Shape;170;p28"/>
          <p:cNvSpPr txBox="1"/>
          <p:nvPr/>
        </p:nvSpPr>
        <p:spPr>
          <a:xfrm>
            <a:off x="487625" y="1969950"/>
            <a:ext cx="4457700" cy="120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merupakan cara yang baik untuk mencari tahu lebih dalam tentang </a:t>
            </a:r>
            <a:r>
              <a:rPr b="1" lang="en" sz="1000">
                <a:solidFill>
                  <a:schemeClr val="dk1"/>
                </a:solidFill>
                <a:latin typeface="Montserrat"/>
                <a:ea typeface="Montserrat"/>
                <a:cs typeface="Montserrat"/>
                <a:sym typeface="Montserrat"/>
              </a:rPr>
              <a:t>kebutuhan dan preferensi user</a:t>
            </a:r>
            <a:r>
              <a:rPr lang="en" sz="1000">
                <a:solidFill>
                  <a:schemeClr val="dk1"/>
                </a:solidFill>
                <a:latin typeface="Montserrat"/>
                <a:ea typeface="Montserrat"/>
                <a:cs typeface="Montserrat"/>
                <a:sym typeface="Montserrat"/>
              </a:rPr>
              <a:t> dengan melihat reaksi mereka saat mereka menggunakan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informasi yang dikumpulkan dapat digunakan bukan hanya untuk desain UX, tetapi pada tahap pengembangan produk lainnya.</a:t>
            </a:r>
            <a:endParaRPr sz="1000">
              <a:solidFill>
                <a:schemeClr val="dk1"/>
              </a:solidFill>
              <a:latin typeface="Montserrat"/>
              <a:ea typeface="Montserrat"/>
              <a:cs typeface="Montserrat"/>
              <a:sym typeface="Montserrat"/>
            </a:endParaRPr>
          </a:p>
        </p:txBody>
      </p:sp>
      <p:pic>
        <p:nvPicPr>
          <p:cNvPr id="171" name="Google Shape;171;p28"/>
          <p:cNvPicPr preferRelativeResize="0"/>
          <p:nvPr/>
        </p:nvPicPr>
        <p:blipFill>
          <a:blip r:embed="rId3">
            <a:alphaModFix/>
          </a:blip>
          <a:stretch>
            <a:fillRect/>
          </a:stretch>
        </p:blipFill>
        <p:spPr>
          <a:xfrm>
            <a:off x="5383075" y="1200149"/>
            <a:ext cx="3418224"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78" name="Google Shape;178;p29"/>
          <p:cNvSpPr txBox="1"/>
          <p:nvPr/>
        </p:nvSpPr>
        <p:spPr>
          <a:xfrm>
            <a:off x="487625" y="1862400"/>
            <a:ext cx="3951300" cy="141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tahap pelaksanaan pengujiannya dilakukan dengan melibatkan user secara langsung. Biasanya, responden sebagai pengguna akan diminta untuk menyelesaikan suatu proses sambil diamati oleh seorang researcher.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didapatkan permasalahan kegunaan berupa data kualitatif dan kuantitatif, serta menentukan kepuasan pengguna dengan produk tersebut.</a:t>
            </a:r>
            <a:endParaRPr sz="1000">
              <a:solidFill>
                <a:schemeClr val="dk1"/>
              </a:solidFill>
              <a:latin typeface="Montserrat"/>
              <a:ea typeface="Montserrat"/>
              <a:cs typeface="Montserrat"/>
              <a:sym typeface="Montserrat"/>
            </a:endParaRPr>
          </a:p>
        </p:txBody>
      </p:sp>
      <p:pic>
        <p:nvPicPr>
          <p:cNvPr id="179" name="Google Shape;179;p29"/>
          <p:cNvPicPr preferRelativeResize="0"/>
          <p:nvPr/>
        </p:nvPicPr>
        <p:blipFill>
          <a:blip r:embed="rId3">
            <a:alphaModFix/>
          </a:blip>
          <a:stretch>
            <a:fillRect/>
          </a:stretch>
        </p:blipFill>
        <p:spPr>
          <a:xfrm>
            <a:off x="4811700" y="1566050"/>
            <a:ext cx="3951299" cy="24292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86" name="Google Shape;186;p30"/>
          <p:cNvSpPr txBox="1"/>
          <p:nvPr/>
        </p:nvSpPr>
        <p:spPr>
          <a:xfrm>
            <a:off x="487625" y="2237400"/>
            <a:ext cx="3951300" cy="66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Usability testing bisa dilakukan pada prototipe maupun produk yang sudah jadi. Meski demikian, pengujian prototipe dianggap efisien, karena mengubah prototipe lebih murah daripada mengubah produk jadi.</a:t>
            </a:r>
            <a:endParaRPr sz="1000">
              <a:solidFill>
                <a:schemeClr val="dk1"/>
              </a:solidFill>
              <a:latin typeface="Montserrat"/>
              <a:ea typeface="Montserrat"/>
              <a:cs typeface="Montserrat"/>
              <a:sym typeface="Montserrat"/>
            </a:endParaRPr>
          </a:p>
        </p:txBody>
      </p:sp>
      <p:pic>
        <p:nvPicPr>
          <p:cNvPr id="187" name="Google Shape;187;p30"/>
          <p:cNvPicPr preferRelativeResize="0"/>
          <p:nvPr/>
        </p:nvPicPr>
        <p:blipFill>
          <a:blip r:embed="rId3">
            <a:alphaModFix/>
          </a:blip>
          <a:stretch>
            <a:fillRect/>
          </a:stretch>
        </p:blipFill>
        <p:spPr>
          <a:xfrm>
            <a:off x="4811700" y="1566050"/>
            <a:ext cx="3951299" cy="24292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93" name="Google Shape;19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94" name="Google Shape;194;p31"/>
          <p:cNvSpPr txBox="1"/>
          <p:nvPr/>
        </p:nvSpPr>
        <p:spPr>
          <a:xfrm>
            <a:off x="729400" y="1647298"/>
            <a:ext cx="4114800" cy="184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Oiya, ada sejumlah faktor yang dapat membedakan implementasi usability testing lho. Tapi, pada umumnya, proses ini bisa dipecah menjadi beberapa langkah. Apa aja ya kira-kira?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telusuri bersama ~</a:t>
            </a:r>
            <a:endParaRPr b="1">
              <a:solidFill>
                <a:schemeClr val="lt1"/>
              </a:solidFill>
              <a:latin typeface="Montserrat"/>
              <a:ea typeface="Montserrat"/>
              <a:cs typeface="Montserrat"/>
              <a:sym typeface="Montserrat"/>
            </a:endParaRPr>
          </a:p>
        </p:txBody>
      </p:sp>
      <p:pic>
        <p:nvPicPr>
          <p:cNvPr id="195" name="Google Shape;195;p31"/>
          <p:cNvPicPr preferRelativeResize="0"/>
          <p:nvPr/>
        </p:nvPicPr>
        <p:blipFill>
          <a:blip r:embed="rId3">
            <a:alphaModFix/>
          </a:blip>
          <a:stretch>
            <a:fillRect/>
          </a:stretch>
        </p:blipFill>
        <p:spPr>
          <a:xfrm>
            <a:off x="5556835" y="914400"/>
            <a:ext cx="1767491" cy="388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02" name="Google Shape;202;p32"/>
          <p:cNvSpPr txBox="1"/>
          <p:nvPr/>
        </p:nvSpPr>
        <p:spPr>
          <a:xfrm>
            <a:off x="5161775" y="2998113"/>
            <a:ext cx="3187500" cy="692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Contoh-contoh metrik: w</a:t>
            </a:r>
            <a:r>
              <a:rPr b="1" lang="en" sz="1000">
                <a:solidFill>
                  <a:schemeClr val="accent1"/>
                </a:solidFill>
                <a:latin typeface="Montserrat"/>
                <a:ea typeface="Montserrat"/>
                <a:cs typeface="Montserrat"/>
                <a:sym typeface="Montserrat"/>
              </a:rPr>
              <a:t>aktu untuk mengerjakan tugas, tingkat keberhasilan, </a:t>
            </a:r>
            <a:r>
              <a:rPr b="1" i="1" lang="en" sz="1000">
                <a:solidFill>
                  <a:schemeClr val="accent1"/>
                </a:solidFill>
                <a:latin typeface="Montserrat"/>
                <a:ea typeface="Montserrat"/>
                <a:cs typeface="Montserrat"/>
                <a:sym typeface="Montserrat"/>
              </a:rPr>
              <a:t>goal fulfillment</a:t>
            </a:r>
            <a:endParaRPr b="1" i="1" sz="1000">
              <a:solidFill>
                <a:schemeClr val="accent1"/>
              </a:solidFill>
              <a:latin typeface="Montserrat"/>
              <a:ea typeface="Montserrat"/>
              <a:cs typeface="Montserrat"/>
              <a:sym typeface="Montserrat"/>
            </a:endParaRPr>
          </a:p>
        </p:txBody>
      </p:sp>
      <p:sp>
        <p:nvSpPr>
          <p:cNvPr id="203" name="Google Shape;203;p32"/>
          <p:cNvSpPr txBox="1"/>
          <p:nvPr/>
        </p:nvSpPr>
        <p:spPr>
          <a:xfrm>
            <a:off x="5161775" y="3629788"/>
            <a:ext cx="3274800" cy="77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Contoh </a:t>
            </a:r>
            <a:r>
              <a:rPr b="1" lang="en" sz="1000">
                <a:solidFill>
                  <a:schemeClr val="accent1"/>
                </a:solidFill>
                <a:latin typeface="Montserrat"/>
                <a:ea typeface="Montserrat"/>
                <a:cs typeface="Montserrat"/>
                <a:sym typeface="Montserrat"/>
              </a:rPr>
              <a:t>faktor </a:t>
            </a:r>
            <a:r>
              <a:rPr b="1" lang="en" sz="1000">
                <a:solidFill>
                  <a:schemeClr val="accent1"/>
                </a:solidFill>
                <a:latin typeface="Montserrat"/>
                <a:ea typeface="Montserrat"/>
                <a:cs typeface="Montserrat"/>
                <a:sym typeface="Montserrat"/>
              </a:rPr>
              <a:t>demografi pengguna: usia, tempat tinggal, pendapatan. Contoh faktor psikografis: kepribadian, nilai, pendapat, minat, dan gaya hidup</a:t>
            </a:r>
            <a:endParaRPr b="1" i="1" sz="1000">
              <a:solidFill>
                <a:schemeClr val="accent1"/>
              </a:solidFill>
              <a:latin typeface="Montserrat"/>
              <a:ea typeface="Montserrat"/>
              <a:cs typeface="Montserrat"/>
              <a:sym typeface="Montserrat"/>
            </a:endParaRPr>
          </a:p>
        </p:txBody>
      </p:sp>
      <p:pic>
        <p:nvPicPr>
          <p:cNvPr id="204" name="Google Shape;204;p32"/>
          <p:cNvPicPr preferRelativeResize="0"/>
          <p:nvPr/>
        </p:nvPicPr>
        <p:blipFill>
          <a:blip r:embed="rId3">
            <a:alphaModFix/>
          </a:blip>
          <a:stretch>
            <a:fillRect/>
          </a:stretch>
        </p:blipFill>
        <p:spPr>
          <a:xfrm>
            <a:off x="685800" y="1132075"/>
            <a:ext cx="4349123" cy="3115325"/>
          </a:xfrm>
          <a:prstGeom prst="rect">
            <a:avLst/>
          </a:prstGeom>
          <a:noFill/>
          <a:ln>
            <a:noFill/>
          </a:ln>
        </p:spPr>
      </p:pic>
      <p:pic>
        <p:nvPicPr>
          <p:cNvPr id="205" name="Google Shape;205;p32"/>
          <p:cNvPicPr preferRelativeResize="0"/>
          <p:nvPr/>
        </p:nvPicPr>
        <p:blipFill rotWithShape="1">
          <a:blip r:embed="rId4">
            <a:alphaModFix/>
          </a:blip>
          <a:srcRect b="33515" l="0" r="0" t="0"/>
          <a:stretch/>
        </p:blipFill>
        <p:spPr>
          <a:xfrm>
            <a:off x="5765725" y="859900"/>
            <a:ext cx="2066900" cy="20837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pic>
        <p:nvPicPr>
          <p:cNvPr id="212" name="Google Shape;212;p33"/>
          <p:cNvPicPr preferRelativeResize="0"/>
          <p:nvPr/>
        </p:nvPicPr>
        <p:blipFill>
          <a:blip r:embed="rId3">
            <a:alphaModFix/>
          </a:blip>
          <a:stretch>
            <a:fillRect/>
          </a:stretch>
        </p:blipFill>
        <p:spPr>
          <a:xfrm>
            <a:off x="733613" y="1146450"/>
            <a:ext cx="4149473" cy="3422108"/>
          </a:xfrm>
          <a:prstGeom prst="rect">
            <a:avLst/>
          </a:prstGeom>
          <a:noFill/>
          <a:ln>
            <a:noFill/>
          </a:ln>
        </p:spPr>
      </p:pic>
      <p:pic>
        <p:nvPicPr>
          <p:cNvPr id="213" name="Google Shape;213;p33"/>
          <p:cNvPicPr preferRelativeResize="0"/>
          <p:nvPr/>
        </p:nvPicPr>
        <p:blipFill>
          <a:blip r:embed="rId4">
            <a:alphaModFix/>
          </a:blip>
          <a:stretch>
            <a:fillRect/>
          </a:stretch>
        </p:blipFill>
        <p:spPr>
          <a:xfrm>
            <a:off x="5269874" y="914400"/>
            <a:ext cx="2462250" cy="3733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20" name="Google Shape;220;p34"/>
          <p:cNvSpPr txBox="1"/>
          <p:nvPr/>
        </p:nvSpPr>
        <p:spPr>
          <a:xfrm>
            <a:off x="487625" y="1558050"/>
            <a:ext cx="3894300" cy="202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652F67"/>
                </a:solidFill>
                <a:latin typeface="Montserrat"/>
                <a:ea typeface="Montserrat"/>
                <a:cs typeface="Montserrat"/>
                <a:sym typeface="Montserrat"/>
              </a:rPr>
              <a:t>Ada lima aspek usability juga nih yang perlu kita perhatikan:</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Learnability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mudahnya user dapat mencapai tugas saat penggunaan pertama.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Satisfaction</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menyenangkan proses penggunaan produk yang dialami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21" name="Google Shape;221;p34"/>
          <p:cNvPicPr preferRelativeResize="0"/>
          <p:nvPr/>
        </p:nvPicPr>
        <p:blipFill>
          <a:blip r:embed="rId3">
            <a:alphaModFix/>
          </a:blip>
          <a:stretch>
            <a:fillRect/>
          </a:stretch>
        </p:blipFill>
        <p:spPr>
          <a:xfrm>
            <a:off x="5052762" y="914400"/>
            <a:ext cx="2913717" cy="388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28" name="Google Shape;228;p35"/>
          <p:cNvSpPr txBox="1"/>
          <p:nvPr/>
        </p:nvSpPr>
        <p:spPr>
          <a:xfrm>
            <a:off x="487625" y="1531650"/>
            <a:ext cx="3894300" cy="208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Efficiency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cepat dan mudah produk yang dibuat mampu menyelesaikan masalah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a:ea typeface="Montserrat"/>
                <a:cs typeface="Montserrat"/>
                <a:sym typeface="Montserrat"/>
              </a:rPr>
            </a:br>
            <a:r>
              <a:rPr b="1" lang="en" sz="1000">
                <a:solidFill>
                  <a:srgbClr val="F2AB2F"/>
                </a:solidFill>
                <a:latin typeface="Montserrat"/>
                <a:ea typeface="Montserrat"/>
                <a:cs typeface="Montserrat"/>
                <a:sym typeface="Montserrat"/>
              </a:rPr>
              <a:t>Memorability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Waktu yang diperlukan untuk paham cara penggunaan produk setelah tidak digunakan selama beberapa waktu.</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2AB2F"/>
                </a:solidFill>
                <a:latin typeface="Montserrat"/>
                <a:ea typeface="Montserrat"/>
                <a:cs typeface="Montserrat"/>
                <a:sym typeface="Montserrat"/>
              </a:rPr>
              <a:t>Error</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Jumlah kesalahan yang dialami atau dilakukan pengguna di dalam produk dan seberapa mudah mereka dapat belajar dari kesalahan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29" name="Google Shape;229;p35"/>
          <p:cNvPicPr preferRelativeResize="0"/>
          <p:nvPr/>
        </p:nvPicPr>
        <p:blipFill>
          <a:blip r:embed="rId3">
            <a:alphaModFix/>
          </a:blip>
          <a:stretch>
            <a:fillRect/>
          </a:stretch>
        </p:blipFill>
        <p:spPr>
          <a:xfrm>
            <a:off x="5052762" y="914400"/>
            <a:ext cx="2913717" cy="3886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36" name="Google Shape;236;p36"/>
          <p:cNvSpPr txBox="1"/>
          <p:nvPr/>
        </p:nvSpPr>
        <p:spPr>
          <a:xfrm>
            <a:off x="487625" y="2319600"/>
            <a:ext cx="4457700" cy="50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semua faktor tadi dipertimbangkan, produk digital akan mempunyai tingkat usability yang tinggi, yang artinya user bisa dengan mudah dan efektif menggunakannya.</a:t>
            </a:r>
            <a:endParaRPr sz="1000">
              <a:solidFill>
                <a:schemeClr val="dk1"/>
              </a:solidFill>
              <a:latin typeface="Montserrat"/>
              <a:ea typeface="Montserrat"/>
              <a:cs typeface="Montserrat"/>
              <a:sym typeface="Montserrat"/>
            </a:endParaRPr>
          </a:p>
        </p:txBody>
      </p:sp>
      <p:pic>
        <p:nvPicPr>
          <p:cNvPr id="237" name="Google Shape;237;p36"/>
          <p:cNvPicPr preferRelativeResize="0"/>
          <p:nvPr/>
        </p:nvPicPr>
        <p:blipFill>
          <a:blip r:embed="rId3">
            <a:alphaModFix/>
          </a:blip>
          <a:stretch>
            <a:fillRect/>
          </a:stretch>
        </p:blipFill>
        <p:spPr>
          <a:xfrm>
            <a:off x="5406049" y="914400"/>
            <a:ext cx="1986495" cy="3886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44" name="Google Shape;244;p37"/>
          <p:cNvSpPr txBox="1"/>
          <p:nvPr/>
        </p:nvSpPr>
        <p:spPr>
          <a:xfrm>
            <a:off x="487625" y="1811700"/>
            <a:ext cx="4457700" cy="1520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652F67"/>
                </a:solidFill>
                <a:latin typeface="Montserrat"/>
                <a:ea typeface="Montserrat"/>
                <a:cs typeface="Montserrat"/>
                <a:sym typeface="Montserrat"/>
              </a:rPr>
              <a:t>Usability testing ini ada dua jenis!</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FAB40"/>
                </a:solidFill>
                <a:latin typeface="Montserrat"/>
                <a:ea typeface="Montserrat"/>
                <a:cs typeface="Montserrat"/>
                <a:sym typeface="Montserrat"/>
              </a:rPr>
              <a:t>Usability testing kualitatif</a:t>
            </a:r>
            <a:endParaRPr b="1" sz="10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Berfokus pada pengumpulan wawasan, temuan, dan anekdot tentang bagaimana orang menggunakan produk atau layanan.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Usability testing kualitatif adalah yang terbaik untuk menemukan masalah dalam pengalaman pengguna.</a:t>
            </a:r>
            <a:endParaRPr sz="1000">
              <a:solidFill>
                <a:schemeClr val="dk1"/>
              </a:solidFill>
              <a:latin typeface="Montserrat"/>
              <a:ea typeface="Montserrat"/>
              <a:cs typeface="Montserrat"/>
              <a:sym typeface="Montserrat"/>
            </a:endParaRPr>
          </a:p>
        </p:txBody>
      </p:sp>
      <p:pic>
        <p:nvPicPr>
          <p:cNvPr id="245" name="Google Shape;245;p37"/>
          <p:cNvPicPr preferRelativeResize="0"/>
          <p:nvPr/>
        </p:nvPicPr>
        <p:blipFill rotWithShape="1">
          <a:blip r:embed="rId3">
            <a:alphaModFix/>
          </a:blip>
          <a:srcRect b="0" l="0" r="46311" t="0"/>
          <a:stretch/>
        </p:blipFill>
        <p:spPr>
          <a:xfrm>
            <a:off x="5227700" y="1480725"/>
            <a:ext cx="2046388" cy="2884525"/>
          </a:xfrm>
          <a:prstGeom prst="rect">
            <a:avLst/>
          </a:prstGeom>
          <a:noFill/>
          <a:ln>
            <a:noFill/>
          </a:ln>
        </p:spPr>
      </p:pic>
      <p:pic>
        <p:nvPicPr>
          <p:cNvPr id="246" name="Google Shape;246;p37"/>
          <p:cNvPicPr preferRelativeResize="0"/>
          <p:nvPr/>
        </p:nvPicPr>
        <p:blipFill rotWithShape="1">
          <a:blip r:embed="rId3">
            <a:alphaModFix/>
          </a:blip>
          <a:srcRect b="49266" l="53687" r="11091" t="0"/>
          <a:stretch/>
        </p:blipFill>
        <p:spPr>
          <a:xfrm>
            <a:off x="7274089" y="1480725"/>
            <a:ext cx="1342511" cy="14633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53" name="Google Shape;253;p38"/>
          <p:cNvSpPr txBox="1"/>
          <p:nvPr/>
        </p:nvSpPr>
        <p:spPr>
          <a:xfrm>
            <a:off x="487625" y="1622550"/>
            <a:ext cx="4457700" cy="18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Kalau misalnya kita melakukan usability testing kualitatif terhadap aplikasi ticktack, kita bisa mendapatkan data kendala yang dialami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Contohnya: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“Wah, kualitas videonya pada pecah-pecah nih!”</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“Ini volume musiknya nggak bisa lebih keras ya? Gak kedengeran pas mau joget 🙃  “</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 dan lain sebagainya!</a:t>
            </a:r>
            <a:endParaRPr sz="1000">
              <a:solidFill>
                <a:schemeClr val="dk1"/>
              </a:solidFill>
              <a:latin typeface="Montserrat"/>
              <a:ea typeface="Montserrat"/>
              <a:cs typeface="Montserrat"/>
              <a:sym typeface="Montserrat"/>
            </a:endParaRPr>
          </a:p>
        </p:txBody>
      </p:sp>
      <p:pic>
        <p:nvPicPr>
          <p:cNvPr id="254" name="Google Shape;254;p38"/>
          <p:cNvPicPr preferRelativeResize="0"/>
          <p:nvPr/>
        </p:nvPicPr>
        <p:blipFill>
          <a:blip r:embed="rId3">
            <a:alphaModFix/>
          </a:blip>
          <a:stretch>
            <a:fillRect/>
          </a:stretch>
        </p:blipFill>
        <p:spPr>
          <a:xfrm>
            <a:off x="5541351" y="1244537"/>
            <a:ext cx="3075249" cy="32297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61" name="Google Shape;261;p39"/>
          <p:cNvSpPr txBox="1"/>
          <p:nvPr/>
        </p:nvSpPr>
        <p:spPr>
          <a:xfrm>
            <a:off x="487625" y="1391463"/>
            <a:ext cx="4457700" cy="2743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FAB40"/>
                </a:solidFill>
                <a:latin typeface="Montserrat"/>
                <a:ea typeface="Montserrat"/>
                <a:cs typeface="Montserrat"/>
                <a:sym typeface="Montserrat"/>
              </a:rPr>
              <a:t>Usability testing kuantitatif</a:t>
            </a:r>
            <a:endParaRPr b="1" sz="10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Berfokus pada pengumpulan metrik (pengukuran berbasis angka) yang menggambarkan pengalaman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Dua metrik yang paling sering dikumpulkan adalah keberhasilan dalam melakukan sebuah task dan waktu yang dilalui untuk menyelesaikan sebuah task.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62" name="Google Shape;262;p39"/>
          <p:cNvPicPr preferRelativeResize="0"/>
          <p:nvPr/>
        </p:nvPicPr>
        <p:blipFill rotWithShape="1">
          <a:blip r:embed="rId3">
            <a:alphaModFix/>
          </a:blip>
          <a:srcRect b="0" l="0" r="46311" t="0"/>
          <a:stretch/>
        </p:blipFill>
        <p:spPr>
          <a:xfrm>
            <a:off x="5227700" y="1480725"/>
            <a:ext cx="2046388" cy="2884525"/>
          </a:xfrm>
          <a:prstGeom prst="rect">
            <a:avLst/>
          </a:prstGeom>
          <a:noFill/>
          <a:ln>
            <a:noFill/>
          </a:ln>
        </p:spPr>
      </p:pic>
      <p:pic>
        <p:nvPicPr>
          <p:cNvPr id="263" name="Google Shape;263;p39"/>
          <p:cNvPicPr preferRelativeResize="0"/>
          <p:nvPr/>
        </p:nvPicPr>
        <p:blipFill rotWithShape="1">
          <a:blip r:embed="rId3">
            <a:alphaModFix/>
          </a:blip>
          <a:srcRect b="2448" l="53687" r="11091" t="51438"/>
          <a:stretch/>
        </p:blipFill>
        <p:spPr>
          <a:xfrm>
            <a:off x="7274100" y="1528200"/>
            <a:ext cx="1342500" cy="13301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70" name="Google Shape;270;p40"/>
          <p:cNvSpPr txBox="1"/>
          <p:nvPr/>
        </p:nvSpPr>
        <p:spPr>
          <a:xfrm>
            <a:off x="487625" y="1845450"/>
            <a:ext cx="4457700" cy="145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Kalau usability testing kuantitatif, lagi-lagi adalah soal data yang bisa diukur dengan angka.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Misalnya, kita minta user untuk mengedit video yang mau diunggah lewat fitur video editor bawaan aplikasi.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71" name="Google Shape;271;p40"/>
          <p:cNvPicPr preferRelativeResize="0"/>
          <p:nvPr/>
        </p:nvPicPr>
        <p:blipFill>
          <a:blip r:embed="rId3">
            <a:alphaModFix/>
          </a:blip>
          <a:stretch>
            <a:fillRect/>
          </a:stretch>
        </p:blipFill>
        <p:spPr>
          <a:xfrm>
            <a:off x="5051600" y="1422099"/>
            <a:ext cx="3565000" cy="29318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78" name="Google Shape;278;p41"/>
          <p:cNvSpPr txBox="1"/>
          <p:nvPr/>
        </p:nvSpPr>
        <p:spPr>
          <a:xfrm>
            <a:off x="487625" y="2012250"/>
            <a:ext cx="4457700" cy="111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Selama proses itu, kita mengukur </a:t>
            </a:r>
            <a:r>
              <a:rPr b="1" lang="en" sz="1000">
                <a:solidFill>
                  <a:schemeClr val="dk1"/>
                </a:solidFill>
                <a:latin typeface="Montserrat"/>
                <a:ea typeface="Montserrat"/>
                <a:cs typeface="Montserrat"/>
                <a:sym typeface="Montserrat"/>
              </a:rPr>
              <a:t>berapa lama waktu yang mereka butuhkan </a:t>
            </a:r>
            <a:r>
              <a:rPr lang="en" sz="1000">
                <a:solidFill>
                  <a:schemeClr val="dk1"/>
                </a:solidFill>
                <a:latin typeface="Montserrat"/>
                <a:ea typeface="Montserrat"/>
                <a:cs typeface="Montserrat"/>
                <a:sym typeface="Montserrat"/>
              </a:rPr>
              <a:t>dari awal mengedit sampai videonya berhasil diunggah.</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Dari situ, kita bisa menilai apakah fitur video editornya sudah cukup praktis digunakan atau belum oleh pengguna~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Simpel 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79" name="Google Shape;279;p41"/>
          <p:cNvPicPr preferRelativeResize="0"/>
          <p:nvPr/>
        </p:nvPicPr>
        <p:blipFill>
          <a:blip r:embed="rId3">
            <a:alphaModFix/>
          </a:blip>
          <a:stretch>
            <a:fillRect/>
          </a:stretch>
        </p:blipFill>
        <p:spPr>
          <a:xfrm>
            <a:off x="5051600" y="1398765"/>
            <a:ext cx="3787599" cy="29551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86" name="Google Shape;286;p42"/>
          <p:cNvSpPr txBox="1"/>
          <p:nvPr/>
        </p:nvSpPr>
        <p:spPr>
          <a:xfrm>
            <a:off x="487625" y="2365949"/>
            <a:ext cx="4114800" cy="98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Best Practices dalam usability testing</a:t>
            </a:r>
            <a:endParaRPr sz="16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digunakan saat membuat desain, best practices juga diterapkan saat fase testing. Masih ingat kan apa itu best practices?</a:t>
            </a:r>
            <a:endParaRPr sz="1000">
              <a:solidFill>
                <a:schemeClr val="dk1"/>
              </a:solidFill>
              <a:latin typeface="Montserrat"/>
              <a:ea typeface="Montserrat"/>
              <a:cs typeface="Montserrat"/>
              <a:sym typeface="Montserrat"/>
            </a:endParaRPr>
          </a:p>
        </p:txBody>
      </p:sp>
      <p:pic>
        <p:nvPicPr>
          <p:cNvPr id="287" name="Google Shape;287;p42"/>
          <p:cNvPicPr preferRelativeResize="0"/>
          <p:nvPr/>
        </p:nvPicPr>
        <p:blipFill>
          <a:blip r:embed="rId3">
            <a:alphaModFix/>
          </a:blip>
          <a:stretch>
            <a:fillRect/>
          </a:stretch>
        </p:blipFill>
        <p:spPr>
          <a:xfrm>
            <a:off x="5188675" y="914400"/>
            <a:ext cx="2643947" cy="3886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94" name="Google Shape;294;p43"/>
          <p:cNvSpPr txBox="1"/>
          <p:nvPr/>
        </p:nvSpPr>
        <p:spPr>
          <a:xfrm>
            <a:off x="609600" y="2418749"/>
            <a:ext cx="4114800" cy="877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Best practices</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adalah koleksi prosedur dan anjuran yang ditetapkan sebagai yang benar atau paling efektif.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praktik terbaik saat melakukan pengujian kegunaan. </a:t>
            </a:r>
            <a:endParaRPr sz="1000">
              <a:solidFill>
                <a:schemeClr val="dk1"/>
              </a:solidFill>
              <a:latin typeface="Montserrat"/>
              <a:ea typeface="Montserrat"/>
              <a:cs typeface="Montserrat"/>
              <a:sym typeface="Montserrat"/>
            </a:endParaRPr>
          </a:p>
        </p:txBody>
      </p:sp>
      <p:pic>
        <p:nvPicPr>
          <p:cNvPr id="295" name="Google Shape;295;p43"/>
          <p:cNvPicPr preferRelativeResize="0"/>
          <p:nvPr/>
        </p:nvPicPr>
        <p:blipFill>
          <a:blip r:embed="rId3">
            <a:alphaModFix/>
          </a:blip>
          <a:stretch>
            <a:fillRect/>
          </a:stretch>
        </p:blipFill>
        <p:spPr>
          <a:xfrm>
            <a:off x="5188675" y="914400"/>
            <a:ext cx="2643947" cy="3886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02" name="Google Shape;302;p44"/>
          <p:cNvSpPr txBox="1"/>
          <p:nvPr/>
        </p:nvSpPr>
        <p:spPr>
          <a:xfrm>
            <a:off x="685800" y="1694848"/>
            <a:ext cx="41148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Rancang tugas dengan baik</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Buat serangkaian tugas yang perlu dikerjakan oleh peserta tes sejelas dan serealistis mungkin. Tugas harus dibuat berdasarkan skenario nyata interaksi pengguna dengan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untuk situs web e-commerce, kamu bisa menugaskan mereka untuk memasukkan beberapa produk tertentu ke dalam sebuah keranjang belanja.</a:t>
            </a:r>
            <a:endParaRPr sz="1000">
              <a:solidFill>
                <a:schemeClr val="dk1"/>
              </a:solidFill>
              <a:latin typeface="Montserrat"/>
              <a:ea typeface="Montserrat"/>
              <a:cs typeface="Montserrat"/>
              <a:sym typeface="Montserrat"/>
            </a:endParaRPr>
          </a:p>
        </p:txBody>
      </p:sp>
      <p:pic>
        <p:nvPicPr>
          <p:cNvPr id="303" name="Google Shape;303;p44"/>
          <p:cNvPicPr preferRelativeResize="0"/>
          <p:nvPr/>
        </p:nvPicPr>
        <p:blipFill>
          <a:blip r:embed="rId3">
            <a:alphaModFix/>
          </a:blip>
          <a:stretch>
            <a:fillRect/>
          </a:stretch>
        </p:blipFill>
        <p:spPr>
          <a:xfrm>
            <a:off x="4922676" y="1253850"/>
            <a:ext cx="3693924" cy="3037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10" name="Google Shape;310;p45"/>
          <p:cNvSpPr txBox="1"/>
          <p:nvPr/>
        </p:nvSpPr>
        <p:spPr>
          <a:xfrm>
            <a:off x="487625" y="2058900"/>
            <a:ext cx="3951300" cy="102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saat pengujian, kamu ataupun moderator tidak perlu mengarahkan pengguna dan usahakan untuk tidak mempengaruhi perilaku alami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titik inilah kamu mungkin akan melihat kesulitan atau tantangan yang dialami oleh peserta.</a:t>
            </a:r>
            <a:endParaRPr sz="1000">
              <a:solidFill>
                <a:schemeClr val="dk1"/>
              </a:solidFill>
              <a:latin typeface="Montserrat"/>
              <a:ea typeface="Montserrat"/>
              <a:cs typeface="Montserrat"/>
              <a:sym typeface="Montserrat"/>
            </a:endParaRPr>
          </a:p>
        </p:txBody>
      </p:sp>
      <p:pic>
        <p:nvPicPr>
          <p:cNvPr id="311" name="Google Shape;311;p45"/>
          <p:cNvPicPr preferRelativeResize="0"/>
          <p:nvPr/>
        </p:nvPicPr>
        <p:blipFill>
          <a:blip r:embed="rId3">
            <a:alphaModFix/>
          </a:blip>
          <a:stretch>
            <a:fillRect/>
          </a:stretch>
        </p:blipFill>
        <p:spPr>
          <a:xfrm>
            <a:off x="4724400" y="1263613"/>
            <a:ext cx="4038600" cy="300878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18" name="Google Shape;318;p46"/>
          <p:cNvSpPr txBox="1"/>
          <p:nvPr/>
        </p:nvSpPr>
        <p:spPr>
          <a:xfrm>
            <a:off x="487625" y="2231102"/>
            <a:ext cx="4114800" cy="68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Contoh lainnya, saat menguji alur pembelian produk di situs web e-commerce, kamu tidak perlu memberitahu peserta terkait apa yang harus dilakukan untuk menemukan produk tertentu.</a:t>
            </a:r>
            <a:endParaRPr sz="1000">
              <a:solidFill>
                <a:schemeClr val="dk1"/>
              </a:solidFill>
              <a:latin typeface="Montserrat"/>
              <a:ea typeface="Montserrat"/>
              <a:cs typeface="Montserrat"/>
              <a:sym typeface="Montserrat"/>
            </a:endParaRPr>
          </a:p>
        </p:txBody>
      </p:sp>
      <p:pic>
        <p:nvPicPr>
          <p:cNvPr id="319" name="Google Shape;319;p46"/>
          <p:cNvPicPr preferRelativeResize="0"/>
          <p:nvPr/>
        </p:nvPicPr>
        <p:blipFill>
          <a:blip r:embed="rId3">
            <a:alphaModFix/>
          </a:blip>
          <a:stretch>
            <a:fillRect/>
          </a:stretch>
        </p:blipFill>
        <p:spPr>
          <a:xfrm>
            <a:off x="5586250" y="914400"/>
            <a:ext cx="2189788" cy="38862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26" name="Google Shape;326;p47"/>
          <p:cNvSpPr txBox="1"/>
          <p:nvPr/>
        </p:nvSpPr>
        <p:spPr>
          <a:xfrm>
            <a:off x="487625" y="1944451"/>
            <a:ext cx="4114800" cy="116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Selain itu, cobalah rekam proses interaksi pengguna dengan produk menggunakan aplikasi, misalnya HotJar yang mengidentifikasi titik mana saja pengguna menghadapi kesulitan.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kamu bisa meninjau ulang prosesnya setelah pengujian berakhir.</a:t>
            </a:r>
            <a:endParaRPr sz="1000">
              <a:solidFill>
                <a:schemeClr val="dk1"/>
              </a:solidFill>
              <a:latin typeface="Montserrat"/>
              <a:ea typeface="Montserrat"/>
              <a:cs typeface="Montserrat"/>
              <a:sym typeface="Montserrat"/>
            </a:endParaRPr>
          </a:p>
        </p:txBody>
      </p:sp>
      <p:pic>
        <p:nvPicPr>
          <p:cNvPr id="327" name="Google Shape;327;p47"/>
          <p:cNvPicPr preferRelativeResize="0"/>
          <p:nvPr/>
        </p:nvPicPr>
        <p:blipFill>
          <a:blip r:embed="rId3">
            <a:alphaModFix/>
          </a:blip>
          <a:stretch>
            <a:fillRect/>
          </a:stretch>
        </p:blipFill>
        <p:spPr>
          <a:xfrm>
            <a:off x="5586250" y="914400"/>
            <a:ext cx="2189788" cy="388620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34" name="Google Shape;334;p48"/>
          <p:cNvSpPr txBox="1"/>
          <p:nvPr/>
        </p:nvSpPr>
        <p:spPr>
          <a:xfrm>
            <a:off x="487625" y="1477200"/>
            <a:ext cx="3951300" cy="218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Libatkan tim desain saat pengujian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a:t>
            </a:r>
            <a:r>
              <a:rPr lang="en" sz="1000">
                <a:solidFill>
                  <a:schemeClr val="dk1"/>
                </a:solidFill>
                <a:latin typeface="Montserrat"/>
                <a:ea typeface="Montserrat"/>
                <a:cs typeface="Montserrat"/>
                <a:sym typeface="Montserrat"/>
              </a:rPr>
              <a:t>? Dengan melibatkan seluruh atau perwakilan tim desain, mereka bisa berempati dan mengamati secara langsung interaksi pengguna dengan produk, serta masalah apa saja yang dihadapi.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Keterlibatan tim desain akan lebih bermanfaat kedepannya daripada sekadar memberikan mereka laporan tentang masalah kegunaan yang pengguna alami.</a:t>
            </a:r>
            <a:endParaRPr sz="1000">
              <a:solidFill>
                <a:schemeClr val="dk1"/>
              </a:solidFill>
              <a:latin typeface="Montserrat"/>
              <a:ea typeface="Montserrat"/>
              <a:cs typeface="Montserrat"/>
              <a:sym typeface="Montserrat"/>
            </a:endParaRPr>
          </a:p>
        </p:txBody>
      </p:sp>
      <p:pic>
        <p:nvPicPr>
          <p:cNvPr id="335" name="Google Shape;335;p48"/>
          <p:cNvPicPr preferRelativeResize="0"/>
          <p:nvPr/>
        </p:nvPicPr>
        <p:blipFill>
          <a:blip r:embed="rId3">
            <a:alphaModFix/>
          </a:blip>
          <a:stretch>
            <a:fillRect/>
          </a:stretch>
        </p:blipFill>
        <p:spPr>
          <a:xfrm>
            <a:off x="4724400" y="1362663"/>
            <a:ext cx="4038601" cy="286978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42" name="Google Shape;342;p49"/>
          <p:cNvSpPr txBox="1"/>
          <p:nvPr/>
        </p:nvSpPr>
        <p:spPr>
          <a:xfrm>
            <a:off x="541200" y="1552350"/>
            <a:ext cx="4095900" cy="203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Lakukan wawancara singkat setelah sesi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Obrolan singkat dengan peserta tes setelah sesi pengujian terkadang dapat mengungkapkan wawasan-wawasan yang menarik.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Jadwalkan 10-15 menit untuk mengajukan beberapa pertanyaan sederhana tentang produk, tugas yang dilakukan, dan kesan-kesan keseluruhan dari peserta.</a:t>
            </a:r>
            <a:endParaRPr sz="1000">
              <a:solidFill>
                <a:schemeClr val="dk1"/>
              </a:solidFill>
              <a:latin typeface="Montserrat"/>
              <a:ea typeface="Montserrat"/>
              <a:cs typeface="Montserrat"/>
              <a:sym typeface="Montserrat"/>
            </a:endParaRPr>
          </a:p>
        </p:txBody>
      </p:sp>
      <p:pic>
        <p:nvPicPr>
          <p:cNvPr id="343" name="Google Shape;343;p49"/>
          <p:cNvPicPr preferRelativeResize="0"/>
          <p:nvPr/>
        </p:nvPicPr>
        <p:blipFill>
          <a:blip r:embed="rId3">
            <a:alphaModFix/>
          </a:blip>
          <a:stretch>
            <a:fillRect/>
          </a:stretch>
        </p:blipFill>
        <p:spPr>
          <a:xfrm>
            <a:off x="4724400" y="1207025"/>
            <a:ext cx="3892199" cy="310818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50" name="Google Shape;350;p50"/>
          <p:cNvSpPr txBox="1"/>
          <p:nvPr/>
        </p:nvSpPr>
        <p:spPr>
          <a:xfrm>
            <a:off x="487625" y="1742398"/>
            <a:ext cx="4114800" cy="165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 pengujian kegunaan adalah </a:t>
            </a:r>
            <a:r>
              <a:rPr b="1" lang="en" sz="1000">
                <a:solidFill>
                  <a:schemeClr val="dk1"/>
                </a:solidFill>
                <a:latin typeface="Montserrat"/>
                <a:ea typeface="Montserrat"/>
                <a:cs typeface="Montserrat"/>
                <a:sym typeface="Montserrat"/>
              </a:rPr>
              <a:t>memastikan bahwa pengguna dapat menggunakan produk kamu</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Maka dari itu, pengujian kegunaan perlu dilibatkan dalam proses desain sejak awal dan dipertimbangkan sepanjang jalannya proses.</a:t>
            </a:r>
            <a:endParaRPr sz="1000">
              <a:solidFill>
                <a:schemeClr val="dk1"/>
              </a:solidFill>
              <a:latin typeface="Montserrat"/>
              <a:ea typeface="Montserrat"/>
              <a:cs typeface="Montserrat"/>
              <a:sym typeface="Montserrat"/>
            </a:endParaRPr>
          </a:p>
        </p:txBody>
      </p:sp>
      <p:pic>
        <p:nvPicPr>
          <p:cNvPr id="351" name="Google Shape;351;p50"/>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57" name="Google Shape;35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51"/>
          <p:cNvSpPr txBox="1"/>
          <p:nvPr/>
        </p:nvSpPr>
        <p:spPr>
          <a:xfrm>
            <a:off x="658800" y="1617450"/>
            <a:ext cx="4626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Udah mulai paham kan cara mengumpulkan data </a:t>
            </a:r>
            <a:r>
              <a:rPr b="1" lang="en">
                <a:solidFill>
                  <a:srgbClr val="F2AB2F"/>
                </a:solidFill>
                <a:latin typeface="Montserrat"/>
                <a:ea typeface="Montserrat"/>
                <a:cs typeface="Montserrat"/>
                <a:sym typeface="Montserrat"/>
              </a:rPr>
              <a:t>usability testing</a:t>
            </a:r>
            <a:r>
              <a:rPr b="1" lang="en">
                <a:solidFill>
                  <a:schemeClr val="lt1"/>
                </a:solidFill>
                <a:latin typeface="Montserrat"/>
                <a:ea typeface="Montserrat"/>
                <a:cs typeface="Montserrat"/>
                <a:sym typeface="Montserrat"/>
              </a:rPr>
              <a:t>? Tapi, kira-kira memilih peserta pengujian produk yang tepat gimana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Untuk menemukan jawabannya, kita lanjut dulu nih ke bahasan </a:t>
            </a:r>
            <a:r>
              <a:rPr b="1" lang="en">
                <a:solidFill>
                  <a:srgbClr val="F2AB2F"/>
                </a:solidFill>
                <a:latin typeface="Montserrat"/>
                <a:ea typeface="Montserrat"/>
                <a:cs typeface="Montserrat"/>
                <a:sym typeface="Montserrat"/>
              </a:rPr>
              <a:t>memilih populasi dan sampel</a:t>
            </a:r>
            <a:r>
              <a:rPr b="1" lang="en">
                <a:solidFill>
                  <a:schemeClr val="lt1"/>
                </a:solidFill>
                <a:latin typeface="Montserrat"/>
                <a:ea typeface="Montserrat"/>
                <a:cs typeface="Montserrat"/>
                <a:sym typeface="Montserrat"/>
              </a:rPr>
              <a:t>. Let’s go ~</a:t>
            </a:r>
            <a:endParaRPr b="1">
              <a:solidFill>
                <a:schemeClr val="lt1"/>
              </a:solidFill>
              <a:latin typeface="Montserrat"/>
              <a:ea typeface="Montserrat"/>
              <a:cs typeface="Montserrat"/>
              <a:sym typeface="Montserrat"/>
            </a:endParaRPr>
          </a:p>
        </p:txBody>
      </p:sp>
      <p:pic>
        <p:nvPicPr>
          <p:cNvPr id="359" name="Google Shape;359;p51"/>
          <p:cNvPicPr preferRelativeResize="0"/>
          <p:nvPr/>
        </p:nvPicPr>
        <p:blipFill>
          <a:blip r:embed="rId3">
            <a:alphaModFix/>
          </a:blip>
          <a:stretch>
            <a:fillRect/>
          </a:stretch>
        </p:blipFill>
        <p:spPr>
          <a:xfrm>
            <a:off x="5683210" y="914400"/>
            <a:ext cx="2441878" cy="3886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66" name="Google Shape;366;p52"/>
          <p:cNvSpPr txBox="1"/>
          <p:nvPr/>
        </p:nvSpPr>
        <p:spPr>
          <a:xfrm>
            <a:off x="487625" y="2323800"/>
            <a:ext cx="3951300" cy="106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Populasi dan sampel, apa bedanya?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penelitian, subjek menjadi penting dipertimbangkan agar data kamu valid. Nah, salah duanya adalah populasi dan sampel.</a:t>
            </a:r>
            <a:endParaRPr sz="1000">
              <a:solidFill>
                <a:schemeClr val="dk1"/>
              </a:solidFill>
              <a:latin typeface="Montserrat"/>
              <a:ea typeface="Montserrat"/>
              <a:cs typeface="Montserrat"/>
              <a:sym typeface="Montserrat"/>
            </a:endParaRPr>
          </a:p>
        </p:txBody>
      </p:sp>
      <p:pic>
        <p:nvPicPr>
          <p:cNvPr id="367" name="Google Shape;367;p52"/>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74" name="Google Shape;374;p53"/>
          <p:cNvSpPr txBox="1"/>
          <p:nvPr/>
        </p:nvSpPr>
        <p:spPr>
          <a:xfrm>
            <a:off x="487625" y="2344950"/>
            <a:ext cx="3951300" cy="102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Populasi merupakan keseluruhan kelompok yang ingin dijadikan target dari produk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Sedangkan sampel adalah kelompok tertentu yang akan kamu kumpulkan datanya. Ukuran sampel selalu lebih kecil dari ukuran populasi.</a:t>
            </a:r>
            <a:endParaRPr sz="1000">
              <a:solidFill>
                <a:schemeClr val="dk1"/>
              </a:solidFill>
              <a:latin typeface="Montserrat"/>
              <a:ea typeface="Montserrat"/>
              <a:cs typeface="Montserrat"/>
              <a:sym typeface="Montserrat"/>
            </a:endParaRPr>
          </a:p>
        </p:txBody>
      </p:sp>
      <p:pic>
        <p:nvPicPr>
          <p:cNvPr id="375" name="Google Shape;375;p53"/>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82" name="Google Shape;382;p54"/>
          <p:cNvSpPr txBox="1"/>
          <p:nvPr/>
        </p:nvSpPr>
        <p:spPr>
          <a:xfrm>
            <a:off x="487625" y="1842300"/>
            <a:ext cx="3951300" cy="145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Montserrat"/>
                <a:ea typeface="Montserrat"/>
                <a:cs typeface="Montserrat"/>
                <a:sym typeface="Montserrat"/>
              </a:rPr>
              <a:t>Memilih populasi</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 user persona?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Populasi bisa ditarik dari user persona yang kamu buat. Setelah kamu mengetahui persona dari target pengguna, barulah kamu bisa menarik sampel.</a:t>
            </a:r>
            <a:endParaRPr sz="1000">
              <a:solidFill>
                <a:schemeClr val="dk1"/>
              </a:solidFill>
              <a:latin typeface="Montserrat"/>
              <a:ea typeface="Montserrat"/>
              <a:cs typeface="Montserrat"/>
              <a:sym typeface="Montserrat"/>
            </a:endParaRPr>
          </a:p>
        </p:txBody>
      </p:sp>
      <p:pic>
        <p:nvPicPr>
          <p:cNvPr id="383" name="Google Shape;383;p54"/>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90" name="Google Shape;390;p55"/>
          <p:cNvSpPr txBox="1"/>
          <p:nvPr/>
        </p:nvSpPr>
        <p:spPr>
          <a:xfrm>
            <a:off x="487625" y="2053350"/>
            <a:ext cx="3951300" cy="103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Sebuah pengujian bisa benar-benar bermanfaat ketika hasilnya dapat diandalkan mewakili tujuan produk sekaligus bisnismu.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Maka dari itu, pemilihan populasi ataupun sampel perlu benar-benar kamu pertimbangkan.</a:t>
            </a:r>
            <a:endParaRPr b="1" sz="1800">
              <a:solidFill>
                <a:srgbClr val="743673"/>
              </a:solidFill>
              <a:highlight>
                <a:schemeClr val="lt1"/>
              </a:highlight>
              <a:latin typeface="Montserrat"/>
              <a:ea typeface="Montserrat"/>
              <a:cs typeface="Montserrat"/>
              <a:sym typeface="Montserrat"/>
            </a:endParaRPr>
          </a:p>
        </p:txBody>
      </p:sp>
      <p:pic>
        <p:nvPicPr>
          <p:cNvPr id="391" name="Google Shape;391;p55"/>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98" name="Google Shape;398;p56"/>
          <p:cNvSpPr txBox="1"/>
          <p:nvPr/>
        </p:nvSpPr>
        <p:spPr>
          <a:xfrm>
            <a:off x="487625" y="1726500"/>
            <a:ext cx="3951300" cy="1690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Menarik dan memilih sampel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Peserta pengujian yang ideal adalah mereka yang benar-benar akan menggunakan produk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Seringkali, kamu tidak membutuhkan ukuran sampel yang besar saat menguji prototipe. Tiga sampai lima orang pun sudah cukup membantumu memahami masalah dan polanya pada produk.</a:t>
            </a:r>
            <a:endParaRPr sz="1000">
              <a:solidFill>
                <a:schemeClr val="dk1"/>
              </a:solidFill>
              <a:latin typeface="Montserrat"/>
              <a:ea typeface="Montserrat"/>
              <a:cs typeface="Montserrat"/>
              <a:sym typeface="Montserrat"/>
            </a:endParaRPr>
          </a:p>
        </p:txBody>
      </p:sp>
      <p:pic>
        <p:nvPicPr>
          <p:cNvPr id="399" name="Google Shape;399;p56"/>
          <p:cNvPicPr preferRelativeResize="0"/>
          <p:nvPr/>
        </p:nvPicPr>
        <p:blipFill>
          <a:blip r:embed="rId3">
            <a:alphaModFix/>
          </a:blip>
          <a:stretch>
            <a:fillRect/>
          </a:stretch>
        </p:blipFill>
        <p:spPr>
          <a:xfrm>
            <a:off x="4741013" y="914400"/>
            <a:ext cx="3537070" cy="388619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06" name="Google Shape;406;p57"/>
          <p:cNvSpPr txBox="1"/>
          <p:nvPr/>
        </p:nvSpPr>
        <p:spPr>
          <a:xfrm>
            <a:off x="487625" y="2138400"/>
            <a:ext cx="39513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Jakob Nielsen membuktikan hal tersebut tadi dalam artikelnya yang berjudulkan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Mengapa Anda Hanya Perlu Menguji dengan 5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Silakan dibaca ya ~</a:t>
            </a:r>
            <a:endParaRPr sz="1000">
              <a:solidFill>
                <a:schemeClr val="dk1"/>
              </a:solidFill>
              <a:latin typeface="Montserrat"/>
              <a:ea typeface="Montserrat"/>
              <a:cs typeface="Montserrat"/>
              <a:sym typeface="Montserrat"/>
            </a:endParaRPr>
          </a:p>
        </p:txBody>
      </p:sp>
      <p:pic>
        <p:nvPicPr>
          <p:cNvPr id="407" name="Google Shape;407;p57"/>
          <p:cNvPicPr preferRelativeResize="0"/>
          <p:nvPr/>
        </p:nvPicPr>
        <p:blipFill>
          <a:blip r:embed="rId4">
            <a:alphaModFix/>
          </a:blip>
          <a:stretch>
            <a:fillRect/>
          </a:stretch>
        </p:blipFill>
        <p:spPr>
          <a:xfrm>
            <a:off x="4741013" y="914400"/>
            <a:ext cx="3537070" cy="38861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14" name="Google Shape;414;p58"/>
          <p:cNvSpPr txBox="1"/>
          <p:nvPr/>
        </p:nvSpPr>
        <p:spPr>
          <a:xfrm>
            <a:off x="487625" y="2083500"/>
            <a:ext cx="4114800" cy="154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untuk </a:t>
            </a:r>
            <a:r>
              <a:rPr b="1" lang="en" sz="1000">
                <a:solidFill>
                  <a:schemeClr val="dk1"/>
                </a:solidFill>
                <a:latin typeface="Montserrat"/>
                <a:ea typeface="Montserrat"/>
                <a:cs typeface="Montserrat"/>
                <a:sym typeface="Montserrat"/>
              </a:rPr>
              <a:t>melakukan pengujian quality assurance (QA) yang ekstensif sebelum melakukan pengujian kegunaan</a:t>
            </a:r>
            <a:r>
              <a:rPr lang="en" sz="1000">
                <a:solidFill>
                  <a:schemeClr val="dk1"/>
                </a:solidFill>
                <a:latin typeface="Montserrat"/>
                <a:ea typeface="Montserrat"/>
                <a:cs typeface="Montserrat"/>
                <a:sym typeface="Montserrat"/>
              </a:rPr>
              <a:t> apa pun.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tidak, kamu akan membuang waktumu dan banyak orang. Nggak mau buang-buang waktu, kan?</a:t>
            </a:r>
            <a:endParaRPr sz="1200">
              <a:solidFill>
                <a:schemeClr val="dk1"/>
              </a:solidFill>
              <a:latin typeface="Montserrat Medium"/>
              <a:ea typeface="Montserrat Medium"/>
              <a:cs typeface="Montserrat Medium"/>
              <a:sym typeface="Montserrat Medium"/>
            </a:endParaRPr>
          </a:p>
        </p:txBody>
      </p:sp>
      <p:pic>
        <p:nvPicPr>
          <p:cNvPr id="415" name="Google Shape;415;p58"/>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22" name="Google Shape;422;p59"/>
          <p:cNvSpPr txBox="1"/>
          <p:nvPr/>
        </p:nvSpPr>
        <p:spPr>
          <a:xfrm>
            <a:off x="487625" y="2214899"/>
            <a:ext cx="4114800" cy="7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dari itu, k</a:t>
            </a:r>
            <a:r>
              <a:rPr lang="en" sz="1000">
                <a:solidFill>
                  <a:schemeClr val="dk1"/>
                </a:solidFill>
                <a:latin typeface="Montserrat"/>
                <a:ea typeface="Montserrat"/>
                <a:cs typeface="Montserrat"/>
                <a:sym typeface="Montserrat"/>
              </a:rPr>
              <a:t>alau ada bagian dari produkmu belum selesai, jangan membuat tugas pengujian yang memerlukan interaksi dengannya atau jelaskan kepada peserta pengujian bahwa elemen tersebut belum selesai.</a:t>
            </a:r>
            <a:endParaRPr sz="1200">
              <a:solidFill>
                <a:schemeClr val="dk1"/>
              </a:solidFill>
              <a:latin typeface="Montserrat Medium"/>
              <a:ea typeface="Montserrat Medium"/>
              <a:cs typeface="Montserrat Medium"/>
              <a:sym typeface="Montserrat Medium"/>
            </a:endParaRPr>
          </a:p>
        </p:txBody>
      </p:sp>
      <p:pic>
        <p:nvPicPr>
          <p:cNvPr id="423" name="Google Shape;423;p59"/>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29" name="Google Shape;429;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60"/>
          <p:cNvSpPr txBox="1"/>
          <p:nvPr/>
        </p:nvSpPr>
        <p:spPr>
          <a:xfrm>
            <a:off x="632400" y="1725150"/>
            <a:ext cx="4398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Sebelum menganalisis atau menggunakan data yang terkumpul, ada baiknya kita memastikan apakah data bahkan prosesnya bias atau tidak.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Terus cara </a:t>
            </a:r>
            <a:r>
              <a:rPr b="1" lang="en">
                <a:solidFill>
                  <a:srgbClr val="F2AB2F"/>
                </a:solidFill>
                <a:latin typeface="Montserrat"/>
                <a:ea typeface="Montserrat"/>
                <a:cs typeface="Montserrat"/>
                <a:sym typeface="Montserrat"/>
              </a:rPr>
              <a:t>menghindari bias</a:t>
            </a:r>
            <a:r>
              <a:rPr b="1" lang="en">
                <a:solidFill>
                  <a:schemeClr val="lt1"/>
                </a:solidFill>
                <a:latin typeface="Montserrat"/>
                <a:ea typeface="Montserrat"/>
                <a:cs typeface="Montserrat"/>
                <a:sym typeface="Montserrat"/>
              </a:rPr>
              <a:t> gimana dong?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simak jawabannya ~</a:t>
            </a:r>
            <a:endParaRPr b="1">
              <a:solidFill>
                <a:schemeClr val="lt1"/>
              </a:solidFill>
              <a:latin typeface="Montserrat"/>
              <a:ea typeface="Montserrat"/>
              <a:cs typeface="Montserrat"/>
              <a:sym typeface="Montserrat"/>
            </a:endParaRPr>
          </a:p>
        </p:txBody>
      </p:sp>
      <p:pic>
        <p:nvPicPr>
          <p:cNvPr id="431" name="Google Shape;431;p60"/>
          <p:cNvPicPr preferRelativeResize="0"/>
          <p:nvPr/>
        </p:nvPicPr>
        <p:blipFill>
          <a:blip r:embed="rId3">
            <a:alphaModFix/>
          </a:blip>
          <a:stretch>
            <a:fillRect/>
          </a:stretch>
        </p:blipFill>
        <p:spPr>
          <a:xfrm>
            <a:off x="5678939" y="914400"/>
            <a:ext cx="1767486" cy="3886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38" name="Google Shape;438;p61"/>
          <p:cNvSpPr txBox="1"/>
          <p:nvPr/>
        </p:nvSpPr>
        <p:spPr>
          <a:xfrm>
            <a:off x="685800" y="1679100"/>
            <a:ext cx="39513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Ingat dengan bias?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bicarakan tadi, tujuan pengujian pengguna adalah mengumpulkan feedback apa adanya tentang kegunaan sebuah produk. Tantangannya, kita harus membuat sesi pengujian yang familiar dan peserta yang tepat.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kedua tantangan tersebut tidak terpenuhi, maka hasil pengujian berpotensi menjadi bias.</a:t>
            </a:r>
            <a:endParaRPr sz="1000">
              <a:solidFill>
                <a:schemeClr val="dk1"/>
              </a:solidFill>
              <a:latin typeface="Montserrat"/>
              <a:ea typeface="Montserrat"/>
              <a:cs typeface="Montserrat"/>
              <a:sym typeface="Montserrat"/>
            </a:endParaRPr>
          </a:p>
        </p:txBody>
      </p:sp>
      <p:pic>
        <p:nvPicPr>
          <p:cNvPr id="439" name="Google Shape;439;p61"/>
          <p:cNvPicPr preferRelativeResize="0"/>
          <p:nvPr/>
        </p:nvPicPr>
        <p:blipFill>
          <a:blip r:embed="rId3">
            <a:alphaModFix/>
          </a:blip>
          <a:stretch>
            <a:fillRect/>
          </a:stretch>
        </p:blipFill>
        <p:spPr>
          <a:xfrm>
            <a:off x="4724400" y="1207563"/>
            <a:ext cx="4038602" cy="332437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46" name="Google Shape;446;p62"/>
          <p:cNvSpPr txBox="1"/>
          <p:nvPr/>
        </p:nvSpPr>
        <p:spPr>
          <a:xfrm>
            <a:off x="685800" y="2159546"/>
            <a:ext cx="4114800" cy="82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 yang perlu kita hindari di sini adalah </a:t>
            </a:r>
            <a:r>
              <a:rPr lang="en" sz="1000">
                <a:solidFill>
                  <a:schemeClr val="dk1"/>
                </a:solidFill>
                <a:latin typeface="Montserrat"/>
                <a:ea typeface="Montserrat"/>
                <a:cs typeface="Montserrat"/>
                <a:sym typeface="Montserrat"/>
              </a:rPr>
              <a:t>kecenderungan perilaku pengguna saat menggunakan produk yang disebabkan oleh kelalaian kita dalam merencanakan tugas dan sesi pengujian.</a:t>
            </a:r>
            <a:endParaRPr sz="1000">
              <a:solidFill>
                <a:schemeClr val="dk1"/>
              </a:solidFill>
              <a:latin typeface="Montserrat"/>
              <a:ea typeface="Montserrat"/>
              <a:cs typeface="Montserrat"/>
              <a:sym typeface="Montserrat"/>
            </a:endParaRPr>
          </a:p>
        </p:txBody>
      </p:sp>
      <p:pic>
        <p:nvPicPr>
          <p:cNvPr id="447" name="Google Shape;447;p62"/>
          <p:cNvPicPr preferRelativeResize="0"/>
          <p:nvPr/>
        </p:nvPicPr>
        <p:blipFill>
          <a:blip r:embed="rId3">
            <a:alphaModFix/>
          </a:blip>
          <a:stretch>
            <a:fillRect/>
          </a:stretch>
        </p:blipFill>
        <p:spPr>
          <a:xfrm>
            <a:off x="5226025" y="914400"/>
            <a:ext cx="2886174" cy="388619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54" name="Google Shape;454;p63"/>
          <p:cNvSpPr txBox="1"/>
          <p:nvPr/>
        </p:nvSpPr>
        <p:spPr>
          <a:xfrm>
            <a:off x="685800" y="2001150"/>
            <a:ext cx="3951300" cy="114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Bagaimana kita menghindari bias dalam usability testing?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10 langkah yang dapat kita ambil dalam merencanakan pengujian dengan efektif dan menghindari bias.</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55" name="Google Shape;455;p63"/>
          <p:cNvPicPr preferRelativeResize="0"/>
          <p:nvPr/>
        </p:nvPicPr>
        <p:blipFill>
          <a:blip r:embed="rId3">
            <a:alphaModFix/>
          </a:blip>
          <a:stretch>
            <a:fillRect/>
          </a:stretch>
        </p:blipFill>
        <p:spPr>
          <a:xfrm>
            <a:off x="4899325" y="914400"/>
            <a:ext cx="3220439" cy="3886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1" name="Google Shape;461;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62" name="Google Shape;462;p64"/>
          <p:cNvSpPr txBox="1"/>
          <p:nvPr/>
        </p:nvSpPr>
        <p:spPr>
          <a:xfrm>
            <a:off x="685800" y="1429649"/>
            <a:ext cx="4114800" cy="22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Ajukan pertanyaan terbuka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Mengajukan pertanyaan terbuka memungkinkan pengguna untuk merespons dengan cara yang mungkin di luar bayanganmu.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bertanya pada peserta tentang pendapat, preferensi, dan niat mereka, buat pertanyaanmu tetap terbuka daripada menyajikan pilihan ini-atau-itu.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jawaban mereka tidak terpengaruh oleh asumsi kamu.</a:t>
            </a:r>
            <a:endParaRPr sz="1000">
              <a:solidFill>
                <a:schemeClr val="dk1"/>
              </a:solidFill>
              <a:latin typeface="Montserrat"/>
              <a:ea typeface="Montserrat"/>
              <a:cs typeface="Montserrat"/>
              <a:sym typeface="Montserrat"/>
            </a:endParaRPr>
          </a:p>
        </p:txBody>
      </p:sp>
      <p:pic>
        <p:nvPicPr>
          <p:cNvPr id="463" name="Google Shape;463;p64"/>
          <p:cNvPicPr preferRelativeResize="0"/>
          <p:nvPr/>
        </p:nvPicPr>
        <p:blipFill>
          <a:blip r:embed="rId3">
            <a:alphaModFix/>
          </a:blip>
          <a:stretch>
            <a:fillRect/>
          </a:stretch>
        </p:blipFill>
        <p:spPr>
          <a:xfrm>
            <a:off x="5130375" y="914400"/>
            <a:ext cx="3002787" cy="389760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9" name="Google Shape;469;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70" name="Google Shape;470;p65"/>
          <p:cNvSpPr txBox="1"/>
          <p:nvPr/>
        </p:nvSpPr>
        <p:spPr>
          <a:xfrm>
            <a:off x="685800" y="1748405"/>
            <a:ext cx="4114800" cy="164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alih-alih bertanya: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“Apakah Anda akan lebih cenderung menghubungi penjual melalui nomor telepon atau formulir kontak?”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tanyakan: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“Bagaimana Anda akan menghubungi penjualnya?”</a:t>
            </a:r>
            <a:endParaRPr sz="1200">
              <a:solidFill>
                <a:schemeClr val="dk1"/>
              </a:solidFill>
              <a:latin typeface="Montserrat Medium"/>
              <a:ea typeface="Montserrat Medium"/>
              <a:cs typeface="Montserrat Medium"/>
              <a:sym typeface="Montserrat Medium"/>
            </a:endParaRPr>
          </a:p>
        </p:txBody>
      </p:sp>
      <p:pic>
        <p:nvPicPr>
          <p:cNvPr id="471" name="Google Shape;471;p65"/>
          <p:cNvPicPr preferRelativeResize="0"/>
          <p:nvPr/>
        </p:nvPicPr>
        <p:blipFill>
          <a:blip r:embed="rId3">
            <a:alphaModFix/>
          </a:blip>
          <a:stretch>
            <a:fillRect/>
          </a:stretch>
        </p:blipFill>
        <p:spPr>
          <a:xfrm>
            <a:off x="5130375" y="914400"/>
            <a:ext cx="3002787" cy="389760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78" name="Google Shape;478;p66"/>
          <p:cNvSpPr txBox="1"/>
          <p:nvPr/>
        </p:nvSpPr>
        <p:spPr>
          <a:xfrm>
            <a:off x="685800" y="1800450"/>
            <a:ext cx="39513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Buatlah tugas sebagai tujuan, bukan instruksi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Logika aturan ini mirip dengan pertanyaan terbuka. Ketika kamu memberitahu pengguna untuk menyelesaikan tugas, kamu akan kehilangan kesempatan untuk mempelajari apa yang akan mereka lakukan secara alami.</a:t>
            </a:r>
            <a:endParaRPr sz="1000">
              <a:solidFill>
                <a:schemeClr val="dk1"/>
              </a:solidFill>
              <a:latin typeface="Montserrat"/>
              <a:ea typeface="Montserrat"/>
              <a:cs typeface="Montserrat"/>
              <a:sym typeface="Montserrat"/>
            </a:endParaRPr>
          </a:p>
        </p:txBody>
      </p:sp>
      <p:pic>
        <p:nvPicPr>
          <p:cNvPr id="479" name="Google Shape;479;p66"/>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86" name="Google Shape;486;p67"/>
          <p:cNvSpPr txBox="1"/>
          <p:nvPr/>
        </p:nvSpPr>
        <p:spPr>
          <a:xfrm>
            <a:off x="685800" y="1826847"/>
            <a:ext cx="4114800" cy="1489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daripada mengatakan: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“Temukan tautan ke informasi bantuan keuangan pada menu navigasi.”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ucapkan tugas sebagai: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“Pelajari lebih lanjut tentang program bantuan keuangan.”</a:t>
            </a:r>
            <a:endParaRPr sz="1000">
              <a:solidFill>
                <a:schemeClr val="dk1"/>
              </a:solidFill>
              <a:latin typeface="Montserrat"/>
              <a:ea typeface="Montserrat"/>
              <a:cs typeface="Montserrat"/>
              <a:sym typeface="Montserrat"/>
            </a:endParaRPr>
          </a:p>
        </p:txBody>
      </p:sp>
      <p:pic>
        <p:nvPicPr>
          <p:cNvPr id="487" name="Google Shape;487;p67"/>
          <p:cNvPicPr preferRelativeResize="0"/>
          <p:nvPr/>
        </p:nvPicPr>
        <p:blipFill>
          <a:blip r:embed="rId3">
            <a:alphaModFix/>
          </a:blip>
          <a:stretch>
            <a:fillRect/>
          </a:stretch>
        </p:blipFill>
        <p:spPr>
          <a:xfrm>
            <a:off x="5117275" y="958000"/>
            <a:ext cx="3220439" cy="3886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3" name="Google Shape;493;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94" name="Google Shape;494;p68"/>
          <p:cNvSpPr txBox="1"/>
          <p:nvPr/>
        </p:nvSpPr>
        <p:spPr>
          <a:xfrm>
            <a:off x="685800" y="1473150"/>
            <a:ext cx="3951300" cy="2197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Jangan mendorong pengguna ke arah hasil tertentu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Selalu ada godaan untuk mencoba dan mendorong atau membujuk pengguna untuk memberikan feedback</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yang mengkonfirmasi hipotesis kamu sendiri.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Jika kamu mencurigai elemen atau aliran tertentu memiliki masalah kegunaan, jangan memasukkannya ke dalam skrip tugas, atau menekan pengguna untuk mengatakan sesuatu tentangnya.</a:t>
            </a:r>
            <a:endParaRPr sz="1000">
              <a:solidFill>
                <a:schemeClr val="dk1"/>
              </a:solidFill>
              <a:latin typeface="Montserrat"/>
              <a:ea typeface="Montserrat"/>
              <a:cs typeface="Montserrat"/>
              <a:sym typeface="Montserrat"/>
            </a:endParaRPr>
          </a:p>
        </p:txBody>
      </p:sp>
      <p:pic>
        <p:nvPicPr>
          <p:cNvPr id="495" name="Google Shape;495;p68"/>
          <p:cNvPicPr preferRelativeResize="0"/>
          <p:nvPr/>
        </p:nvPicPr>
        <p:blipFill>
          <a:blip r:embed="rId3">
            <a:alphaModFix/>
          </a:blip>
          <a:stretch>
            <a:fillRect/>
          </a:stretch>
        </p:blipFill>
        <p:spPr>
          <a:xfrm>
            <a:off x="5056497" y="914400"/>
            <a:ext cx="3482274" cy="3880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Google Shape;501;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02" name="Google Shape;502;p69"/>
          <p:cNvSpPr txBox="1"/>
          <p:nvPr/>
        </p:nvSpPr>
        <p:spPr>
          <a:xfrm>
            <a:off x="609600" y="2215201"/>
            <a:ext cx="4114800" cy="128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Cobalah untuk menyusun skrip tugas dengan cara yang akan mengarahkan pengguna untuk terlibat dengan elemen yang kamu inginkan </a:t>
            </a:r>
            <a:r>
              <a:rPr b="1" lang="en" sz="1000">
                <a:solidFill>
                  <a:schemeClr val="dk1"/>
                </a:solidFill>
                <a:latin typeface="Montserrat"/>
                <a:ea typeface="Montserrat"/>
                <a:cs typeface="Montserrat"/>
                <a:sym typeface="Montserrat"/>
              </a:rPr>
              <a:t>secara organik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Kemudian, amati pengalaman mereka terhadap elemen tersebut. Jika ada masalah, kemungkinan besar mereka akan mengungkitnya.</a:t>
            </a:r>
            <a:endParaRPr sz="1000">
              <a:solidFill>
                <a:schemeClr val="dk1"/>
              </a:solidFill>
              <a:latin typeface="Montserrat"/>
              <a:ea typeface="Montserrat"/>
              <a:cs typeface="Montserrat"/>
              <a:sym typeface="Montserrat"/>
            </a:endParaRPr>
          </a:p>
        </p:txBody>
      </p:sp>
      <p:pic>
        <p:nvPicPr>
          <p:cNvPr id="503" name="Google Shape;503;p69"/>
          <p:cNvPicPr preferRelativeResize="0"/>
          <p:nvPr/>
        </p:nvPicPr>
        <p:blipFill>
          <a:blip r:embed="rId3">
            <a:alphaModFix/>
          </a:blip>
          <a:stretch>
            <a:fillRect/>
          </a:stretch>
        </p:blipFill>
        <p:spPr>
          <a:xfrm>
            <a:off x="5153511" y="914400"/>
            <a:ext cx="2869614" cy="38862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9" name="Google Shape;509;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10" name="Google Shape;510;p70"/>
          <p:cNvSpPr txBox="1"/>
          <p:nvPr/>
        </p:nvSpPr>
        <p:spPr>
          <a:xfrm>
            <a:off x="685800" y="1568100"/>
            <a:ext cx="3951300" cy="200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Gunakan nada yang netral saat menulis tugas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Gunakanlah pilihan kata yang jelas, sederhana, dan netral. Hal ini akan menjaga relasi peneliti dengan subjek penelitiannya tetap objektif.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Bagaimana pun, kamu membutuhkan feedback yang kritis dari peserta pengujian produkmu. Usahakan untuk tidak menambahkan kepribadianmu ke skrip tugas secara berlebihan.</a:t>
            </a:r>
            <a:endParaRPr sz="1000">
              <a:solidFill>
                <a:schemeClr val="dk1"/>
              </a:solidFill>
              <a:latin typeface="Montserrat"/>
              <a:ea typeface="Montserrat"/>
              <a:cs typeface="Montserrat"/>
              <a:sym typeface="Montserrat"/>
            </a:endParaRPr>
          </a:p>
        </p:txBody>
      </p:sp>
      <p:pic>
        <p:nvPicPr>
          <p:cNvPr id="511" name="Google Shape;511;p70"/>
          <p:cNvPicPr preferRelativeResize="0"/>
          <p:nvPr/>
        </p:nvPicPr>
        <p:blipFill>
          <a:blip r:embed="rId3">
            <a:alphaModFix/>
          </a:blip>
          <a:stretch>
            <a:fillRect/>
          </a:stretch>
        </p:blipFill>
        <p:spPr>
          <a:xfrm>
            <a:off x="4899325" y="914400"/>
            <a:ext cx="3220439" cy="38862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7" name="Google Shape;517;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18" name="Google Shape;518;p71"/>
          <p:cNvSpPr txBox="1"/>
          <p:nvPr/>
        </p:nvSpPr>
        <p:spPr>
          <a:xfrm>
            <a:off x="685800" y="2342650"/>
            <a:ext cx="3951300" cy="100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sisi lain, jangan menggunakan bahasa yang terlalu formal, kaku, atau teknis. Bagi pengguna biasa, hal ini akan sulit dipahami dan berpotensi salah tafsir.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Usahakan untuk tidak memakai istilah-istilah industri atau perusahan.</a:t>
            </a:r>
            <a:endParaRPr sz="1000">
              <a:solidFill>
                <a:schemeClr val="dk1"/>
              </a:solidFill>
              <a:latin typeface="Montserrat"/>
              <a:ea typeface="Montserrat"/>
              <a:cs typeface="Montserrat"/>
              <a:sym typeface="Montserrat"/>
            </a:endParaRPr>
          </a:p>
        </p:txBody>
      </p:sp>
      <p:pic>
        <p:nvPicPr>
          <p:cNvPr id="519" name="Google Shape;519;p71"/>
          <p:cNvPicPr preferRelativeResize="0"/>
          <p:nvPr/>
        </p:nvPicPr>
        <p:blipFill>
          <a:blip r:embed="rId3">
            <a:alphaModFix/>
          </a:blip>
          <a:stretch>
            <a:fillRect/>
          </a:stretch>
        </p:blipFill>
        <p:spPr>
          <a:xfrm>
            <a:off x="4914625" y="1225698"/>
            <a:ext cx="3559349" cy="3238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26" name="Google Shape;526;p72"/>
          <p:cNvSpPr txBox="1"/>
          <p:nvPr/>
        </p:nvSpPr>
        <p:spPr>
          <a:xfrm>
            <a:off x="685800" y="1527975"/>
            <a:ext cx="3951300" cy="2102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Dasarkan alur pengujian dengan data pengguna nyata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menulis skrip tugas, pastikan perkembangan tindakan dan sasaran pengguna konsisten dengan bagaimana sebuah situs atau aplikasi digunakan pada umumnya.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Data dari Google Analytics dan alat pemutaran ulang seperti FullStory, TryMyUI Stream, atau HotJar bisa membantu kamu mengumpulkan wawasan tentang alur pengguna senyatanya.</a:t>
            </a:r>
            <a:endParaRPr sz="1000">
              <a:solidFill>
                <a:schemeClr val="dk1"/>
              </a:solidFill>
              <a:latin typeface="Montserrat"/>
              <a:ea typeface="Montserrat"/>
              <a:cs typeface="Montserrat"/>
              <a:sym typeface="Montserrat"/>
            </a:endParaRPr>
          </a:p>
        </p:txBody>
      </p:sp>
      <p:pic>
        <p:nvPicPr>
          <p:cNvPr id="527" name="Google Shape;527;p72"/>
          <p:cNvPicPr preferRelativeResize="0"/>
          <p:nvPr/>
        </p:nvPicPr>
        <p:blipFill>
          <a:blip r:embed="rId3">
            <a:alphaModFix/>
          </a:blip>
          <a:stretch>
            <a:fillRect/>
          </a:stretch>
        </p:blipFill>
        <p:spPr>
          <a:xfrm>
            <a:off x="4868675" y="914399"/>
            <a:ext cx="3513325" cy="387935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3" name="Google Shape;533;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34" name="Google Shape;534;p73"/>
          <p:cNvSpPr txBox="1"/>
          <p:nvPr/>
        </p:nvSpPr>
        <p:spPr>
          <a:xfrm>
            <a:off x="685800" y="1700098"/>
            <a:ext cx="4114800" cy="174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Uji produk pesaing untuk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Mengetahui apa yang disukai dan tidak disukai pengguna dari platform lain sangatlah berguna untuk mengevaluasi cara meningkatkan UX platform kamu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kamu bisa memiliki pemahaman yang lebih baik tentang fitur dan praktik terpenting bagi pengguna, serta apa yang mereka harapkan dari produk atau perusahaan kamu.</a:t>
            </a:r>
            <a:endParaRPr sz="1000">
              <a:solidFill>
                <a:schemeClr val="dk1"/>
              </a:solidFill>
              <a:latin typeface="Montserrat"/>
              <a:ea typeface="Montserrat"/>
              <a:cs typeface="Montserrat"/>
              <a:sym typeface="Montserrat"/>
            </a:endParaRPr>
          </a:p>
        </p:txBody>
      </p:sp>
      <p:pic>
        <p:nvPicPr>
          <p:cNvPr id="535" name="Google Shape;535;p73"/>
          <p:cNvPicPr preferRelativeResize="0"/>
          <p:nvPr/>
        </p:nvPicPr>
        <p:blipFill>
          <a:blip r:embed="rId3">
            <a:alphaModFix/>
          </a:blip>
          <a:stretch>
            <a:fillRect/>
          </a:stretch>
        </p:blipFill>
        <p:spPr>
          <a:xfrm>
            <a:off x="5143525" y="1175425"/>
            <a:ext cx="2962074" cy="33078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1" name="Google Shape;541;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42" name="Google Shape;542;p74"/>
          <p:cNvSpPr txBox="1"/>
          <p:nvPr/>
        </p:nvSpPr>
        <p:spPr>
          <a:xfrm>
            <a:off x="685800" y="2101500"/>
            <a:ext cx="3951300" cy="94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tidak menguji platform pesaing, tanyakan pada pengguna platform tersebut tentang apa yang biasanya mereka gunakan. Dari situ, kamu bisa memahami dan memperhitungkan prasangka yang mungkin mereka miliki saat mendengarkan feedback mereka.</a:t>
            </a:r>
            <a:endParaRPr sz="1000">
              <a:solidFill>
                <a:schemeClr val="dk1"/>
              </a:solidFill>
              <a:latin typeface="Montserrat"/>
              <a:ea typeface="Montserrat"/>
              <a:cs typeface="Montserrat"/>
              <a:sym typeface="Montserrat"/>
            </a:endParaRPr>
          </a:p>
        </p:txBody>
      </p:sp>
      <p:pic>
        <p:nvPicPr>
          <p:cNvPr id="543" name="Google Shape;543;p74"/>
          <p:cNvPicPr preferRelativeResize="0"/>
          <p:nvPr/>
        </p:nvPicPr>
        <p:blipFill>
          <a:blip r:embed="rId3">
            <a:alphaModFix/>
          </a:blip>
          <a:stretch>
            <a:fillRect/>
          </a:stretch>
        </p:blipFill>
        <p:spPr>
          <a:xfrm>
            <a:off x="4724400" y="1361463"/>
            <a:ext cx="4038600" cy="28797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9" name="Google Shape;549;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50" name="Google Shape;550;p75"/>
          <p:cNvSpPr txBox="1"/>
          <p:nvPr/>
        </p:nvSpPr>
        <p:spPr>
          <a:xfrm>
            <a:off x="685800" y="1409699"/>
            <a:ext cx="4114800" cy="232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Tanyakan kepada pengguna apa yang penting bagi mereka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kamu meminta pengguna membuat penilaian tentang sesuatu, selidiki lebih lanjut dan tanyakan mengapa mereka membuat pilihan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kamu meminta pengguna memilih sweater yang mereka sukai dari daftar produkmu. Pastikan mereka melihat foto dan detail produk, memeriksa warna dan ukuran yang tersedia, dan membandingkannya dengan barang lain sebelum membuat keputusan. </a:t>
            </a:r>
            <a:endParaRPr sz="1000">
              <a:solidFill>
                <a:schemeClr val="dk1"/>
              </a:solidFill>
              <a:latin typeface="Montserrat"/>
              <a:ea typeface="Montserrat"/>
              <a:cs typeface="Montserrat"/>
              <a:sym typeface="Montserrat"/>
            </a:endParaRPr>
          </a:p>
        </p:txBody>
      </p:sp>
      <p:pic>
        <p:nvPicPr>
          <p:cNvPr id="551" name="Google Shape;551;p75"/>
          <p:cNvPicPr preferRelativeResize="0"/>
          <p:nvPr/>
        </p:nvPicPr>
        <p:blipFill rotWithShape="1">
          <a:blip r:embed="rId3">
            <a:alphaModFix/>
          </a:blip>
          <a:srcRect b="0" l="0" r="0" t="0"/>
          <a:stretch/>
        </p:blipFill>
        <p:spPr>
          <a:xfrm>
            <a:off x="5149100" y="1149900"/>
            <a:ext cx="3551800" cy="35518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58" name="Google Shape;558;p76"/>
          <p:cNvSpPr txBox="1"/>
          <p:nvPr/>
        </p:nvSpPr>
        <p:spPr>
          <a:xfrm>
            <a:off x="685800" y="184274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a:t>
            </a:r>
            <a:r>
              <a:rPr lang="en" sz="1000">
                <a:solidFill>
                  <a:schemeClr val="dk1"/>
                </a:solidFill>
                <a:latin typeface="Montserrat"/>
                <a:ea typeface="Montserrat"/>
                <a:cs typeface="Montserrat"/>
                <a:sym typeface="Montserrat"/>
              </a:rPr>
              <a:t> mungkin memiliki beberapa gagasan tentang faktor mana yang paling penting bagi pengguna; tetapi jika kamu bertanya kepada pengguna secara langsung, jawaban mereka mungkin berbeda dari apa yang kamu asumsikan.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bertanya secara langsung, kamu dapat menghindari penarikan kesimpulan yang bias dan mendengar apa yang sebenarnya </a:t>
            </a:r>
            <a:r>
              <a:rPr lang="en" sz="1000">
                <a:solidFill>
                  <a:schemeClr val="dk1"/>
                </a:solidFill>
                <a:latin typeface="Montserrat"/>
                <a:ea typeface="Montserrat"/>
                <a:cs typeface="Montserrat"/>
                <a:sym typeface="Montserrat"/>
              </a:rPr>
              <a:t>terjadi</a:t>
            </a:r>
            <a:r>
              <a:rPr lang="en" sz="1000">
                <a:solidFill>
                  <a:schemeClr val="dk1"/>
                </a:solidFill>
                <a:latin typeface="Montserrat"/>
                <a:ea typeface="Montserrat"/>
                <a:cs typeface="Montserrat"/>
                <a:sym typeface="Montserrat"/>
              </a:rPr>
              <a:t> pada benak pengguna.</a:t>
            </a:r>
            <a:endParaRPr sz="1000">
              <a:solidFill>
                <a:schemeClr val="dk1"/>
              </a:solidFill>
              <a:latin typeface="Montserrat"/>
              <a:ea typeface="Montserrat"/>
              <a:cs typeface="Montserrat"/>
              <a:sym typeface="Montserrat"/>
            </a:endParaRPr>
          </a:p>
        </p:txBody>
      </p:sp>
      <p:pic>
        <p:nvPicPr>
          <p:cNvPr id="559" name="Google Shape;559;p76"/>
          <p:cNvPicPr preferRelativeResize="0"/>
          <p:nvPr/>
        </p:nvPicPr>
        <p:blipFill>
          <a:blip r:embed="rId3">
            <a:alphaModFix/>
          </a:blip>
          <a:stretch>
            <a:fillRect/>
          </a:stretch>
        </p:blipFill>
        <p:spPr>
          <a:xfrm>
            <a:off x="5037500" y="914400"/>
            <a:ext cx="3220439" cy="3886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66" name="Google Shape;566;p77"/>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8) Kumpulkan metrik kuantitatif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cara terbaik untuk memperbaiki bias dan melihat secara objektif hasil pengujian pengguna adalah mengumpulkan data kuantitatif.</a:t>
            </a:r>
            <a:endParaRPr sz="1000">
              <a:solidFill>
                <a:schemeClr val="dk1"/>
              </a:solidFill>
              <a:latin typeface="Montserrat"/>
              <a:ea typeface="Montserrat"/>
              <a:cs typeface="Montserrat"/>
              <a:sym typeface="Montserrat"/>
            </a:endParaRPr>
          </a:p>
        </p:txBody>
      </p:sp>
      <p:pic>
        <p:nvPicPr>
          <p:cNvPr id="567" name="Google Shape;567;p77"/>
          <p:cNvPicPr preferRelativeResize="0"/>
          <p:nvPr/>
        </p:nvPicPr>
        <p:blipFill>
          <a:blip r:embed="rId3">
            <a:alphaModFix/>
          </a:blip>
          <a:stretch>
            <a:fillRect/>
          </a:stretch>
        </p:blipFill>
        <p:spPr>
          <a:xfrm>
            <a:off x="5215605" y="914400"/>
            <a:ext cx="2751383" cy="388620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74" name="Google Shape;574;p78"/>
          <p:cNvSpPr txBox="1"/>
          <p:nvPr/>
        </p:nvSpPr>
        <p:spPr>
          <a:xfrm>
            <a:off x="685800" y="1847997"/>
            <a:ext cx="4114800" cy="1447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pun praduga dan asumsi kamu, metrik numerik memungkinkan untuk membandingkan secara langsung bagian dari pengalaman pengguna, mengevaluasi, dan mengukur dampak perubahan desain pada pengalaman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Metrik numerik diambil dari pengguna saat pengujian seperti kegunaan tugas, tingkat penyelesaian, dan durasi.</a:t>
            </a:r>
            <a:endParaRPr sz="1000">
              <a:solidFill>
                <a:schemeClr val="dk1"/>
              </a:solidFill>
              <a:latin typeface="Montserrat"/>
              <a:ea typeface="Montserrat"/>
              <a:cs typeface="Montserrat"/>
              <a:sym typeface="Montserrat"/>
            </a:endParaRPr>
          </a:p>
        </p:txBody>
      </p:sp>
      <p:pic>
        <p:nvPicPr>
          <p:cNvPr id="575" name="Google Shape;575;p78"/>
          <p:cNvPicPr preferRelativeResize="0"/>
          <p:nvPr/>
        </p:nvPicPr>
        <p:blipFill>
          <a:blip r:embed="rId3">
            <a:alphaModFix/>
          </a:blip>
          <a:stretch>
            <a:fillRect/>
          </a:stretch>
        </p:blipFill>
        <p:spPr>
          <a:xfrm>
            <a:off x="5215605" y="914400"/>
            <a:ext cx="2751383" cy="388620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82" name="Google Shape;582;p79"/>
          <p:cNvSpPr txBox="1"/>
          <p:nvPr/>
        </p:nvSpPr>
        <p:spPr>
          <a:xfrm>
            <a:off x="685800" y="1494148"/>
            <a:ext cx="4114800" cy="215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9</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Tentukan metode untuk menimbang temuan secara objektif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metrik pengujian pengguna yang numerik, kamu bisa menggunakan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word cloud</a:t>
            </a:r>
            <a:r>
              <a:rPr lang="en" sz="1000">
                <a:solidFill>
                  <a:schemeClr val="dk1"/>
                </a:solidFill>
                <a:latin typeface="Montserrat"/>
                <a:ea typeface="Montserrat"/>
                <a:cs typeface="Montserrat"/>
                <a:sym typeface="Montserrat"/>
              </a:rPr>
              <a:t>. Saat menonton ulang video pengujian, tuliskan masalah yang muncul pada sebuah cloud.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Klik kalimat di bawah, sebuah artikel untuk mengerti cara menggunakan word cloud lebih lanjut: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Understanding users first impressions of website</a:t>
            </a:r>
            <a:endParaRPr sz="1000">
              <a:solidFill>
                <a:schemeClr val="dk1"/>
              </a:solidFill>
              <a:latin typeface="Montserrat"/>
              <a:ea typeface="Montserrat"/>
              <a:cs typeface="Montserrat"/>
              <a:sym typeface="Montserrat"/>
            </a:endParaRPr>
          </a:p>
        </p:txBody>
      </p:sp>
      <p:pic>
        <p:nvPicPr>
          <p:cNvPr id="583" name="Google Shape;583;p79"/>
          <p:cNvPicPr preferRelativeResize="0"/>
          <p:nvPr/>
        </p:nvPicPr>
        <p:blipFill>
          <a:blip r:embed="rId5">
            <a:alphaModFix/>
          </a:blip>
          <a:stretch>
            <a:fillRect/>
          </a:stretch>
        </p:blipFill>
        <p:spPr>
          <a:xfrm>
            <a:off x="5054549" y="914400"/>
            <a:ext cx="2978091" cy="38862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90" name="Google Shape;590;p80"/>
          <p:cNvSpPr txBox="1"/>
          <p:nvPr/>
        </p:nvSpPr>
        <p:spPr>
          <a:xfrm>
            <a:off x="685800" y="1546950"/>
            <a:ext cx="39513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10</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Bandingkan catatan dengan rekan kerja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Terakhir, jika memungkinkan, mintalah rekan kerja untuk terlibat atau menonton video pengujian, membuat catatan, dan kesimpulan mereka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kamu menggabungkan perspektif beberapa orang, bias individu akan hilang dan kamu bisa melakukan triangulasi dari semua feedback</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pengguna dengan lebih akurat.</a:t>
            </a:r>
            <a:endParaRPr sz="1000">
              <a:solidFill>
                <a:schemeClr val="dk1"/>
              </a:solidFill>
              <a:latin typeface="Montserrat"/>
              <a:ea typeface="Montserrat"/>
              <a:cs typeface="Montserrat"/>
              <a:sym typeface="Montserrat"/>
            </a:endParaRPr>
          </a:p>
        </p:txBody>
      </p:sp>
      <p:pic>
        <p:nvPicPr>
          <p:cNvPr id="591" name="Google Shape;591;p80"/>
          <p:cNvPicPr preferRelativeResize="0"/>
          <p:nvPr/>
        </p:nvPicPr>
        <p:blipFill>
          <a:blip r:embed="rId3">
            <a:alphaModFix/>
          </a:blip>
          <a:stretch>
            <a:fillRect/>
          </a:stretch>
        </p:blipFill>
        <p:spPr>
          <a:xfrm>
            <a:off x="4724400" y="1220600"/>
            <a:ext cx="3892200" cy="314762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a:t>
            </a:r>
            <a:r>
              <a:rPr lang="en">
                <a:latin typeface="Montserrat"/>
                <a:ea typeface="Montserrat"/>
                <a:cs typeface="Montserrat"/>
                <a:sym typeface="Montserrat"/>
              </a:rPr>
              <a:t> bias</a:t>
            </a:r>
            <a:endParaRPr>
              <a:latin typeface="Montserrat"/>
              <a:ea typeface="Montserrat"/>
              <a:cs typeface="Montserrat"/>
              <a:sym typeface="Montserrat"/>
            </a:endParaRPr>
          </a:p>
        </p:txBody>
      </p:sp>
      <p:sp>
        <p:nvSpPr>
          <p:cNvPr id="598" name="Google Shape;598;p81"/>
          <p:cNvSpPr txBox="1"/>
          <p:nvPr/>
        </p:nvSpPr>
        <p:spPr>
          <a:xfrm>
            <a:off x="685800" y="1700098"/>
            <a:ext cx="4114800" cy="174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 ~</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Tidaklah </a:t>
            </a:r>
            <a:r>
              <a:rPr lang="en" sz="1000">
                <a:solidFill>
                  <a:schemeClr val="dk1"/>
                </a:solidFill>
                <a:latin typeface="Montserrat"/>
                <a:ea typeface="Montserrat"/>
                <a:cs typeface="Montserrat"/>
                <a:sym typeface="Montserrat"/>
              </a:rPr>
              <a:t>mungkin untuk menghilangkan setiap jejak bias dari penelitian kamu.</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Akan tetapi, sadarilah bahwa bias dapat menyusup dan lakukan apa yang kamu bisa untuk memperbaikinya. Bekerjalah  secara kolaboratif dengan rekan satu tim dan teruslah belajar dari setiap pengujian yang kamu jalankan. </a:t>
            </a:r>
            <a:endParaRPr sz="1000">
              <a:solidFill>
                <a:schemeClr val="dk1"/>
              </a:solidFill>
              <a:latin typeface="Montserrat"/>
              <a:ea typeface="Montserrat"/>
              <a:cs typeface="Montserrat"/>
              <a:sym typeface="Montserrat"/>
            </a:endParaRPr>
          </a:p>
        </p:txBody>
      </p:sp>
      <p:pic>
        <p:nvPicPr>
          <p:cNvPr id="599" name="Google Shape;599;p81"/>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05" name="Google Shape;605;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6" name="Google Shape;606;p82"/>
          <p:cNvSpPr txBox="1"/>
          <p:nvPr/>
        </p:nvSpPr>
        <p:spPr>
          <a:xfrm>
            <a:off x="678050" y="2065975"/>
            <a:ext cx="4350300" cy="2005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data dirasa cukup objektif, kita bisa lanjut ke tahap selanjutnya yaitu </a:t>
            </a:r>
            <a:r>
              <a:rPr b="1" lang="en">
                <a:solidFill>
                  <a:srgbClr val="F2AB2F"/>
                </a:solidFill>
                <a:latin typeface="Montserrat"/>
                <a:ea typeface="Montserrat"/>
                <a:cs typeface="Montserrat"/>
                <a:sym typeface="Montserrat"/>
              </a:rPr>
              <a:t>menganalisa hasil testing</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Pada sesi ini, kita akan mempelajari cara mengekstrak data, menganalisisnya, dan mengubahnya menjadi rencana tindakan untuk meningkatkan platform kamu.</a:t>
            </a:r>
            <a:endParaRPr b="1">
              <a:solidFill>
                <a:schemeClr val="lt1"/>
              </a:solidFill>
              <a:latin typeface="Montserrat"/>
              <a:ea typeface="Montserrat"/>
              <a:cs typeface="Montserrat"/>
              <a:sym typeface="Montserrat"/>
            </a:endParaRPr>
          </a:p>
        </p:txBody>
      </p:sp>
      <p:pic>
        <p:nvPicPr>
          <p:cNvPr id="607" name="Google Shape;607;p82"/>
          <p:cNvPicPr preferRelativeResize="0"/>
          <p:nvPr/>
        </p:nvPicPr>
        <p:blipFill>
          <a:blip r:embed="rId3">
            <a:alphaModFix/>
          </a:blip>
          <a:stretch>
            <a:fillRect/>
          </a:stretch>
        </p:blipFill>
        <p:spPr>
          <a:xfrm>
            <a:off x="4987975" y="914400"/>
            <a:ext cx="3497169" cy="38861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14" name="Google Shape;614;p83"/>
          <p:cNvSpPr txBox="1"/>
          <p:nvPr/>
        </p:nvSpPr>
        <p:spPr>
          <a:xfrm>
            <a:off x="685800" y="1699800"/>
            <a:ext cx="4114800" cy="174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Menganalisa hasil pengujian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menjalankan sesi pengujian kegunaan, saatnya untuk mengevaluasi temuan.</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Proses mengubah sejumlah data kualitatif, transkrip, dan pengamatan menjadi sebuah laporan yang dapat ditindaklanjuti tentang masalah kegunaan tampak begitu melelahkan pada awalnya.</a:t>
            </a:r>
            <a:endParaRPr sz="1000">
              <a:solidFill>
                <a:schemeClr val="dk1"/>
              </a:solidFill>
              <a:latin typeface="Montserrat"/>
              <a:ea typeface="Montserrat"/>
              <a:cs typeface="Montserrat"/>
              <a:sym typeface="Montserrat"/>
            </a:endParaRPr>
          </a:p>
        </p:txBody>
      </p:sp>
      <p:pic>
        <p:nvPicPr>
          <p:cNvPr id="615" name="Google Shape;615;p83"/>
          <p:cNvPicPr preferRelativeResize="0"/>
          <p:nvPr/>
        </p:nvPicPr>
        <p:blipFill>
          <a:blip r:embed="rId3">
            <a:alphaModFix/>
          </a:blip>
          <a:stretch>
            <a:fillRect/>
          </a:stretch>
        </p:blipFill>
        <p:spPr>
          <a:xfrm>
            <a:off x="5178500" y="914400"/>
            <a:ext cx="2950476" cy="389847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22" name="Google Shape;622;p84"/>
          <p:cNvSpPr txBox="1"/>
          <p:nvPr/>
        </p:nvSpPr>
        <p:spPr>
          <a:xfrm>
            <a:off x="685800" y="2227800"/>
            <a:ext cx="4114800" cy="68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Tetapi, hal tersebut hanyalah masalah mengatur temuan, mencari pola, dan masalah yang berulang dalam data.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simak caranya biar nggak pusing-pusing amat ~</a:t>
            </a:r>
            <a:endParaRPr sz="1000">
              <a:solidFill>
                <a:schemeClr val="dk1"/>
              </a:solidFill>
              <a:latin typeface="Montserrat"/>
              <a:ea typeface="Montserrat"/>
              <a:cs typeface="Montserrat"/>
              <a:sym typeface="Montserrat"/>
            </a:endParaRPr>
          </a:p>
        </p:txBody>
      </p:sp>
      <p:pic>
        <p:nvPicPr>
          <p:cNvPr id="623" name="Google Shape;623;p84"/>
          <p:cNvPicPr preferRelativeResize="0"/>
          <p:nvPr/>
        </p:nvPicPr>
        <p:blipFill>
          <a:blip r:embed="rId3">
            <a:alphaModFix/>
          </a:blip>
          <a:stretch>
            <a:fillRect/>
          </a:stretch>
        </p:blipFill>
        <p:spPr>
          <a:xfrm>
            <a:off x="5178500" y="914400"/>
            <a:ext cx="2950476" cy="389847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30" name="Google Shape;630;p85"/>
          <p:cNvSpPr txBox="1"/>
          <p:nvPr/>
        </p:nvSpPr>
        <p:spPr>
          <a:xfrm>
            <a:off x="685800" y="1679098"/>
            <a:ext cx="41148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Tentukan apa yang kamu cari</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Sebelum memulai menganalisis hasil, tinjau tujuan awal kamu dalam pengujian. Ingatkan diri kamu tentang area masalah situs web, atau pain point yang ingin kamu evaluasi.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Mengidentifikasi minat atau tujuan utama akan membantu kamu tetap fokus pada feedback yang paling relevan dari banyaknya data pengujian.</a:t>
            </a:r>
            <a:endParaRPr sz="1000">
              <a:solidFill>
                <a:schemeClr val="dk1"/>
              </a:solidFill>
              <a:latin typeface="Montserrat"/>
              <a:ea typeface="Montserrat"/>
              <a:cs typeface="Montserrat"/>
              <a:sym typeface="Montserrat"/>
            </a:endParaRPr>
          </a:p>
        </p:txBody>
      </p:sp>
      <p:pic>
        <p:nvPicPr>
          <p:cNvPr id="631" name="Google Shape;631;p85"/>
          <p:cNvPicPr preferRelativeResize="0"/>
          <p:nvPr/>
        </p:nvPicPr>
        <p:blipFill>
          <a:blip r:embed="rId3">
            <a:alphaModFix/>
          </a:blip>
          <a:stretch>
            <a:fillRect/>
          </a:stretch>
        </p:blipFill>
        <p:spPr>
          <a:xfrm>
            <a:off x="5194790" y="914400"/>
            <a:ext cx="2913711" cy="3886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38" name="Google Shape;638;p86"/>
          <p:cNvSpPr txBox="1"/>
          <p:nvPr/>
        </p:nvSpPr>
        <p:spPr>
          <a:xfrm>
            <a:off x="685800" y="1562848"/>
            <a:ext cx="4114800" cy="2017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Mulai mengorganisir data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Tinjau sesi pengujian kamu satu per satu dengan cara menonton rekamannya, membaca transkripnya, dan periksa catatan secara cermat.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sekian data, carilah: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Masalah yang dihadapi pengguna saat melakukan tugas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Tindakan yang mereka ambil.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Komentar atau pesan (baik positif maupun negatif) yang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mereka berikan.</a:t>
            </a:r>
            <a:endParaRPr sz="1000">
              <a:solidFill>
                <a:schemeClr val="dk1"/>
              </a:solidFill>
              <a:latin typeface="Montserrat"/>
              <a:ea typeface="Montserrat"/>
              <a:cs typeface="Montserrat"/>
              <a:sym typeface="Montserrat"/>
            </a:endParaRPr>
          </a:p>
        </p:txBody>
      </p:sp>
      <p:pic>
        <p:nvPicPr>
          <p:cNvPr id="639" name="Google Shape;639;p86"/>
          <p:cNvPicPr preferRelativeResize="0"/>
          <p:nvPr/>
        </p:nvPicPr>
        <p:blipFill>
          <a:blip r:embed="rId3">
            <a:alphaModFix/>
          </a:blip>
          <a:stretch>
            <a:fillRect/>
          </a:stretch>
        </p:blipFill>
        <p:spPr>
          <a:xfrm>
            <a:off x="4724400" y="1331513"/>
            <a:ext cx="4038599" cy="305761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5" name="Google Shape;645;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46" name="Google Shape;646;p87"/>
          <p:cNvSpPr txBox="1"/>
          <p:nvPr/>
        </p:nvSpPr>
        <p:spPr>
          <a:xfrm>
            <a:off x="685800" y="1874100"/>
            <a:ext cx="3951300" cy="139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setiap masalah yang ditemukan pengguna, atau tindakan tak terduga yang mereka ambil, buat catatan terpisah.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Catat tugas-tugas yang </a:t>
            </a:r>
            <a:r>
              <a:rPr lang="en" sz="1000">
                <a:solidFill>
                  <a:schemeClr val="dk1"/>
                </a:solidFill>
                <a:latin typeface="Montserrat"/>
                <a:ea typeface="Montserrat"/>
                <a:cs typeface="Montserrat"/>
                <a:sym typeface="Montserrat"/>
              </a:rPr>
              <a:t>pengguna </a:t>
            </a:r>
            <a:r>
              <a:rPr lang="en" sz="1000">
                <a:solidFill>
                  <a:schemeClr val="dk1"/>
                </a:solidFill>
                <a:latin typeface="Montserrat"/>
                <a:ea typeface="Montserrat"/>
                <a:cs typeface="Montserrat"/>
                <a:sym typeface="Montserrat"/>
              </a:rPr>
              <a:t>coba selesaikan dan masalah yang mereka temui, lalu tambahkan kategori dan tag tertentu sehingga nantinya kamu bisa memilah dan memfilter.</a:t>
            </a:r>
            <a:endParaRPr sz="1000">
              <a:solidFill>
                <a:schemeClr val="dk1"/>
              </a:solidFill>
              <a:latin typeface="Montserrat"/>
              <a:ea typeface="Montserrat"/>
              <a:cs typeface="Montserrat"/>
              <a:sym typeface="Montserrat"/>
            </a:endParaRPr>
          </a:p>
        </p:txBody>
      </p:sp>
      <p:pic>
        <p:nvPicPr>
          <p:cNvPr id="647" name="Google Shape;647;p87"/>
          <p:cNvPicPr preferRelativeResize="0"/>
          <p:nvPr/>
        </p:nvPicPr>
        <p:blipFill>
          <a:blip r:embed="rId3">
            <a:alphaModFix/>
          </a:blip>
          <a:stretch>
            <a:fillRect/>
          </a:stretch>
        </p:blipFill>
        <p:spPr>
          <a:xfrm>
            <a:off x="4724400" y="1339200"/>
            <a:ext cx="4073300" cy="29335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3" name="Google Shape;653;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54" name="Google Shape;654;p88"/>
          <p:cNvSpPr txBox="1"/>
          <p:nvPr/>
        </p:nvSpPr>
        <p:spPr>
          <a:xfrm>
            <a:off x="685800" y="2374950"/>
            <a:ext cx="3951300" cy="39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sebelumnya kamu membuat persona pengguna atau grup pengujian, dicatat juga ya!</a:t>
            </a:r>
            <a:endParaRPr sz="1000">
              <a:solidFill>
                <a:schemeClr val="dk1"/>
              </a:solidFill>
              <a:latin typeface="Montserrat"/>
              <a:ea typeface="Montserrat"/>
              <a:cs typeface="Montserrat"/>
              <a:sym typeface="Montserrat"/>
            </a:endParaRPr>
          </a:p>
        </p:txBody>
      </p:sp>
      <p:pic>
        <p:nvPicPr>
          <p:cNvPr id="655" name="Google Shape;655;p88"/>
          <p:cNvPicPr preferRelativeResize="0"/>
          <p:nvPr/>
        </p:nvPicPr>
        <p:blipFill>
          <a:blip r:embed="rId3">
            <a:alphaModFix/>
          </a:blip>
          <a:stretch>
            <a:fillRect/>
          </a:stretch>
        </p:blipFill>
        <p:spPr>
          <a:xfrm>
            <a:off x="4724400" y="1339200"/>
            <a:ext cx="4073300" cy="29335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1" name="Google Shape;661;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62" name="Google Shape;662;p89"/>
          <p:cNvSpPr txBox="1"/>
          <p:nvPr/>
        </p:nvSpPr>
        <p:spPr>
          <a:xfrm>
            <a:off x="413375" y="1939200"/>
            <a:ext cx="4087200" cy="126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lakukan organisasi data secara digital, dengan alat seperti Excel, Sheet atau Airtable, supaya kamu bisa memindahkan data, menerapkan tag, dan mengurutkannya berdasarkan kategori dengan mudah.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a:t>
            </a:r>
            <a:r>
              <a:rPr b="1" lang="en" sz="1000">
                <a:solidFill>
                  <a:schemeClr val="dk1"/>
                </a:solidFill>
                <a:latin typeface="Montserrat"/>
                <a:ea typeface="Montserrat"/>
                <a:cs typeface="Montserrat"/>
                <a:sym typeface="Montserrat"/>
              </a:rPr>
              <a:t>pernyataan kamu singkat dan menggambarkan masalah dengan tepat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63" name="Google Shape;663;p89"/>
          <p:cNvPicPr preferRelativeResize="0"/>
          <p:nvPr/>
        </p:nvPicPr>
        <p:blipFill>
          <a:blip r:embed="rId3">
            <a:alphaModFix/>
          </a:blip>
          <a:stretch>
            <a:fillRect/>
          </a:stretch>
        </p:blipFill>
        <p:spPr>
          <a:xfrm>
            <a:off x="4637100" y="1513925"/>
            <a:ext cx="4264626" cy="30084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9" name="Google Shape;669;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70" name="Google Shape;670;p90"/>
          <p:cNvSpPr txBox="1"/>
          <p:nvPr/>
        </p:nvSpPr>
        <p:spPr>
          <a:xfrm>
            <a:off x="389900" y="1784688"/>
            <a:ext cx="3951300" cy="157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buruk: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mengklik tautan yang salah.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bagus: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mengklik tautan untuk Kode Diskon, bukan untuk Info Pembayaran.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selesai, data kamu mungkin terlihat seperti gambar di samping.</a:t>
            </a:r>
            <a:endParaRPr sz="1000">
              <a:solidFill>
                <a:schemeClr val="dk1"/>
              </a:solidFill>
              <a:latin typeface="Montserrat"/>
              <a:ea typeface="Montserrat"/>
              <a:cs typeface="Montserrat"/>
              <a:sym typeface="Montserrat"/>
            </a:endParaRPr>
          </a:p>
        </p:txBody>
      </p:sp>
      <p:pic>
        <p:nvPicPr>
          <p:cNvPr id="671" name="Google Shape;671;p90"/>
          <p:cNvPicPr preferRelativeResize="0"/>
          <p:nvPr/>
        </p:nvPicPr>
        <p:blipFill>
          <a:blip r:embed="rId3">
            <a:alphaModFix/>
          </a:blip>
          <a:stretch>
            <a:fillRect/>
          </a:stretch>
        </p:blipFill>
        <p:spPr>
          <a:xfrm>
            <a:off x="4511100" y="1459426"/>
            <a:ext cx="4419599" cy="293707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7" name="Google Shape;677;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78" name="Google Shape;678;p91"/>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Tarik kesimpulan</a:t>
            </a:r>
            <a:br>
              <a:rPr b="1" lang="en" sz="1800">
                <a:solidFill>
                  <a:srgbClr val="743673"/>
                </a:solidFill>
                <a:highlight>
                  <a:schemeClr val="lt1"/>
                </a:highlight>
                <a:latin typeface="Montserrat"/>
                <a:ea typeface="Montserrat"/>
                <a:cs typeface="Montserrat"/>
                <a:sym typeface="Montserrat"/>
              </a:rPr>
            </a:b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Nilai data kamu dengan ukuran kualitatif dan kuantitatif:</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Analisis kuantitatif akan memberi statistik yang dapat digunakan untuk mengidentifikasi keberadaan dan tingkat keparahan masalah.</a:t>
            </a:r>
            <a:endParaRPr sz="1000">
              <a:solidFill>
                <a:schemeClr val="dk1"/>
              </a:solidFill>
              <a:latin typeface="Montserrat"/>
              <a:ea typeface="Montserrat"/>
              <a:cs typeface="Montserrat"/>
              <a:sym typeface="Montserrat"/>
            </a:endParaRPr>
          </a:p>
        </p:txBody>
      </p:sp>
      <p:pic>
        <p:nvPicPr>
          <p:cNvPr id="679" name="Google Shape;679;p91"/>
          <p:cNvPicPr preferRelativeResize="0"/>
          <p:nvPr/>
        </p:nvPicPr>
        <p:blipFill>
          <a:blip r:embed="rId3">
            <a:alphaModFix/>
          </a:blip>
          <a:stretch>
            <a:fillRect/>
          </a:stretch>
        </p:blipFill>
        <p:spPr>
          <a:xfrm>
            <a:off x="5643600" y="879025"/>
            <a:ext cx="2050621" cy="388619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5" name="Google Shape;685;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86" name="Google Shape;686;p92"/>
          <p:cNvSpPr txBox="1"/>
          <p:nvPr/>
        </p:nvSpPr>
        <p:spPr>
          <a:xfrm>
            <a:off x="685800" y="2027250"/>
            <a:ext cx="4114800" cy="108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Analisis kualitatif akan memberi wawasan tentang mengapa masalah itu ada, dan bagaimana cara memperbaikinya.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Kamu bisa membaca lebih lanjut tentang kedua analisis, metrik-metriknya dan bagaimana mengorganisir data tersebut pada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artikel ini</a:t>
            </a:r>
            <a:r>
              <a:rPr lang="en" sz="1000">
                <a:solidFill>
                  <a:schemeClr val="dk1"/>
                </a:solidFill>
                <a:latin typeface="Montserrat"/>
                <a:ea typeface="Montserrat"/>
                <a:cs typeface="Montserrat"/>
                <a:sym typeface="Montserrat"/>
              </a:rPr>
              <a:t> ya.</a:t>
            </a:r>
            <a:endParaRPr sz="1000">
              <a:solidFill>
                <a:schemeClr val="dk1"/>
              </a:solidFill>
              <a:latin typeface="Montserrat"/>
              <a:ea typeface="Montserrat"/>
              <a:cs typeface="Montserrat"/>
              <a:sym typeface="Montserrat"/>
            </a:endParaRPr>
          </a:p>
        </p:txBody>
      </p:sp>
      <p:pic>
        <p:nvPicPr>
          <p:cNvPr id="687" name="Google Shape;687;p92"/>
          <p:cNvPicPr preferRelativeResize="0"/>
          <p:nvPr/>
        </p:nvPicPr>
        <p:blipFill>
          <a:blip r:embed="rId4">
            <a:alphaModFix/>
          </a:blip>
          <a:stretch>
            <a:fillRect/>
          </a:stretch>
        </p:blipFill>
        <p:spPr>
          <a:xfrm>
            <a:off x="5643600" y="879025"/>
            <a:ext cx="2050621" cy="388619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3" name="Google Shape;693;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94" name="Google Shape;694;p93"/>
          <p:cNvSpPr txBox="1"/>
          <p:nvPr/>
        </p:nvSpPr>
        <p:spPr>
          <a:xfrm>
            <a:off x="685800" y="2019451"/>
            <a:ext cx="4114800" cy="110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sebagian besar studi kegunaan, fokus dan sebagian besar temuan kamu akan bersifat kualitatif.</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Tetapi, menghitung beberapa metrik numerik bisa memberikan kredibilitas pada temuan dan memberikan metrik dasar untuk mengevaluasi iterasi platform kamu di masa mendatang.</a:t>
            </a:r>
            <a:endParaRPr sz="1000">
              <a:solidFill>
                <a:schemeClr val="dk1"/>
              </a:solidFill>
              <a:latin typeface="Montserrat"/>
              <a:ea typeface="Montserrat"/>
              <a:cs typeface="Montserrat"/>
              <a:sym typeface="Montserrat"/>
            </a:endParaRPr>
          </a:p>
        </p:txBody>
      </p:sp>
      <p:pic>
        <p:nvPicPr>
          <p:cNvPr id="695" name="Google Shape;695;p93"/>
          <p:cNvPicPr preferRelativeResize="0"/>
          <p:nvPr/>
        </p:nvPicPr>
        <p:blipFill>
          <a:blip r:embed="rId3">
            <a:alphaModFix/>
          </a:blip>
          <a:stretch>
            <a:fillRect/>
          </a:stretch>
        </p:blipFill>
        <p:spPr>
          <a:xfrm>
            <a:off x="5425280" y="914399"/>
            <a:ext cx="2407344" cy="38997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1" name="Google Shape;701;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02" name="Google Shape;702;p94"/>
          <p:cNvSpPr txBox="1"/>
          <p:nvPr/>
        </p:nvSpPr>
        <p:spPr>
          <a:xfrm>
            <a:off x="685800" y="1747650"/>
            <a:ext cx="3951300" cy="1648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Atur prioritas temuan-temuan</a:t>
            </a:r>
            <a:br>
              <a:rPr b="1" lang="en" sz="1800">
                <a:solidFill>
                  <a:srgbClr val="743673"/>
                </a:solidFill>
                <a:highlight>
                  <a:schemeClr val="lt1"/>
                </a:highlight>
                <a:latin typeface="Montserrat"/>
                <a:ea typeface="Montserrat"/>
                <a:cs typeface="Montserrat"/>
                <a:sym typeface="Montserrat"/>
              </a:rPr>
            </a:b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Setelah kamu memiliki daftar temuan dan masalah, beri peringkat berdasarkan dampaknya jika masalah tersebut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Pertimbangkan seberapa global masalahnya pada keseluruhan platform, dan tingkat keparahannya.</a:t>
            </a:r>
            <a:endParaRPr sz="1000">
              <a:solidFill>
                <a:schemeClr val="dk1"/>
              </a:solidFill>
              <a:latin typeface="Montserrat"/>
              <a:ea typeface="Montserrat"/>
              <a:cs typeface="Montserrat"/>
              <a:sym typeface="Montserrat"/>
            </a:endParaRPr>
          </a:p>
        </p:txBody>
      </p:sp>
      <p:pic>
        <p:nvPicPr>
          <p:cNvPr id="703" name="Google Shape;703;p94"/>
          <p:cNvPicPr preferRelativeResize="0"/>
          <p:nvPr/>
        </p:nvPicPr>
        <p:blipFill>
          <a:blip r:embed="rId3">
            <a:alphaModFix/>
          </a:blip>
          <a:stretch>
            <a:fillRect/>
          </a:stretch>
        </p:blipFill>
        <p:spPr>
          <a:xfrm>
            <a:off x="4956238" y="1091275"/>
            <a:ext cx="3806762" cy="32004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9" name="Google Shape;709;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10" name="Google Shape;710;p95"/>
          <p:cNvSpPr txBox="1"/>
          <p:nvPr/>
        </p:nvSpPr>
        <p:spPr>
          <a:xfrm>
            <a:off x="685800" y="1953600"/>
            <a:ext cx="3951300" cy="1236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Kategorikan masalah menjadi: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Kritis</a:t>
            </a:r>
            <a:r>
              <a:rPr lang="en" sz="1000">
                <a:solidFill>
                  <a:schemeClr val="dk1"/>
                </a:solidFill>
                <a:latin typeface="Montserrat"/>
                <a:ea typeface="Montserrat"/>
                <a:cs typeface="Montserrat"/>
                <a:sym typeface="Montserrat"/>
              </a:rPr>
              <a:t>:	tidak mungkin bagi pengguna untuk menyelesaikan tugas.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Serius</a:t>
            </a:r>
            <a:r>
              <a:rPr lang="en" sz="1000">
                <a:solidFill>
                  <a:schemeClr val="dk1"/>
                </a:solidFill>
                <a:latin typeface="Montserrat"/>
                <a:ea typeface="Montserrat"/>
                <a:cs typeface="Montserrat"/>
                <a:sym typeface="Montserrat"/>
              </a:rPr>
              <a:t>: membuat banyak pengguna frustasi.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Minor</a:t>
            </a:r>
            <a:r>
              <a:rPr lang="en" sz="1000">
                <a:solidFill>
                  <a:schemeClr val="dk1"/>
                </a:solidFill>
                <a:latin typeface="Montserrat"/>
                <a:ea typeface="Montserrat"/>
                <a:cs typeface="Montserrat"/>
                <a:sym typeface="Montserrat"/>
              </a:rPr>
              <a:t>: menjengkelkan, tetapi tidak akan membuat pengguna pergi.</a:t>
            </a:r>
            <a:endParaRPr sz="1000">
              <a:solidFill>
                <a:schemeClr val="dk1"/>
              </a:solidFill>
              <a:latin typeface="Montserrat"/>
              <a:ea typeface="Montserrat"/>
              <a:cs typeface="Montserrat"/>
              <a:sym typeface="Montserrat"/>
            </a:endParaRPr>
          </a:p>
        </p:txBody>
      </p:sp>
      <p:pic>
        <p:nvPicPr>
          <p:cNvPr id="711" name="Google Shape;711;p95"/>
          <p:cNvPicPr preferRelativeResize="0"/>
          <p:nvPr/>
        </p:nvPicPr>
        <p:blipFill>
          <a:blip r:embed="rId3">
            <a:alphaModFix/>
          </a:blip>
          <a:stretch>
            <a:fillRect/>
          </a:stretch>
        </p:blipFill>
        <p:spPr>
          <a:xfrm>
            <a:off x="4956238" y="1091275"/>
            <a:ext cx="3806762" cy="3200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7" name="Google Shape;717;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718" name="Google Shape;718;p96"/>
          <p:cNvSpPr txBox="1"/>
          <p:nvPr/>
        </p:nvSpPr>
        <p:spPr>
          <a:xfrm>
            <a:off x="685800" y="1879350"/>
            <a:ext cx="3951300" cy="1384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Contohnya, </a:t>
            </a:r>
            <a:r>
              <a:rPr lang="en" sz="1000">
                <a:solidFill>
                  <a:schemeClr val="dk1"/>
                </a:solidFill>
                <a:latin typeface="Montserrat"/>
                <a:ea typeface="Montserrat"/>
                <a:cs typeface="Montserrat"/>
                <a:sym typeface="Montserrat"/>
              </a:rPr>
              <a:t>tidak dapat menyelesaikan pembayaran adalah masalah yang lebih mendesak daripada tidak menyukai skema warna situs.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Dalam contoh di atas, kalimat pertama merupakan masalah kritis yang harus segera diperbaiki, sedang kalimat kedua bisa dianggap masalah minor yang dapat dikerjakan beberapa waktu ke depan.</a:t>
            </a:r>
            <a:endParaRPr sz="1000">
              <a:solidFill>
                <a:schemeClr val="dk1"/>
              </a:solidFill>
              <a:latin typeface="Montserrat"/>
              <a:ea typeface="Montserrat"/>
              <a:cs typeface="Montserrat"/>
              <a:sym typeface="Montserrat"/>
            </a:endParaRPr>
          </a:p>
        </p:txBody>
      </p:sp>
      <p:pic>
        <p:nvPicPr>
          <p:cNvPr id="719" name="Google Shape;719;p96"/>
          <p:cNvPicPr preferRelativeResize="0"/>
          <p:nvPr/>
        </p:nvPicPr>
        <p:blipFill>
          <a:blip r:embed="rId3">
            <a:alphaModFix/>
          </a:blip>
          <a:stretch>
            <a:fillRect/>
          </a:stretch>
        </p:blipFill>
        <p:spPr>
          <a:xfrm>
            <a:off x="4892875" y="1091275"/>
            <a:ext cx="3870125" cy="32536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5" name="Google Shape;725;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26" name="Google Shape;726;p97"/>
          <p:cNvSpPr txBox="1"/>
          <p:nvPr/>
        </p:nvSpPr>
        <p:spPr>
          <a:xfrm>
            <a:off x="685800" y="1594498"/>
            <a:ext cx="4114800" cy="195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Buatlah</a:t>
            </a:r>
            <a:r>
              <a:rPr b="1" lang="en" sz="1600">
                <a:solidFill>
                  <a:srgbClr val="743673"/>
                </a:solidFill>
                <a:highlight>
                  <a:schemeClr val="lt1"/>
                </a:highlight>
                <a:latin typeface="Montserrat"/>
                <a:ea typeface="Montserrat"/>
                <a:cs typeface="Montserrat"/>
                <a:sym typeface="Montserrat"/>
              </a:rPr>
              <a:t> laporan hasil</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Setelah mengevaluasi data dan memprioritaskan masalah dari pengujian, pada akhirnya kamu perlu menggunakan hasilnya untuk meningkatkan platform.</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Dalam beberapa kasus, kamu mungkin memiliki kewenangan untuk membuat perubahan pada produk. Di situasi lain, kamu mungkin perlu mengajukan kasus ke atasan di perusahaan kamu.</a:t>
            </a:r>
            <a:endParaRPr sz="1000">
              <a:solidFill>
                <a:schemeClr val="dk1"/>
              </a:solidFill>
              <a:latin typeface="Montserrat"/>
              <a:ea typeface="Montserrat"/>
              <a:cs typeface="Montserrat"/>
              <a:sym typeface="Montserrat"/>
            </a:endParaRPr>
          </a:p>
        </p:txBody>
      </p:sp>
      <p:pic>
        <p:nvPicPr>
          <p:cNvPr id="727" name="Google Shape;727;p97"/>
          <p:cNvPicPr preferRelativeResize="0"/>
          <p:nvPr/>
        </p:nvPicPr>
        <p:blipFill>
          <a:blip r:embed="rId3">
            <a:alphaModFix/>
          </a:blip>
          <a:stretch>
            <a:fillRect/>
          </a:stretch>
        </p:blipFill>
        <p:spPr>
          <a:xfrm>
            <a:off x="5364961" y="914399"/>
            <a:ext cx="2161837" cy="388620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3" name="Google Shape;733;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34" name="Google Shape;734;p98"/>
          <p:cNvSpPr txBox="1"/>
          <p:nvPr/>
        </p:nvSpPr>
        <p:spPr>
          <a:xfrm>
            <a:off x="685800" y="2131198"/>
            <a:ext cx="4114800" cy="88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itu terjadi, kamu perlu membuat draft laporan yang menjelaskan temuan masalah dan usulan solusi kamu.</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Mari kita telusuri beberapa cara untuk membuat sebuah laporan lebih efektif.</a:t>
            </a:r>
            <a:endParaRPr sz="1000">
              <a:solidFill>
                <a:schemeClr val="dk1"/>
              </a:solidFill>
              <a:latin typeface="Montserrat"/>
              <a:ea typeface="Montserrat"/>
              <a:cs typeface="Montserrat"/>
              <a:sym typeface="Montserrat"/>
            </a:endParaRPr>
          </a:p>
        </p:txBody>
      </p:sp>
      <p:pic>
        <p:nvPicPr>
          <p:cNvPr id="735" name="Google Shape;735;p98"/>
          <p:cNvPicPr preferRelativeResize="0"/>
          <p:nvPr/>
        </p:nvPicPr>
        <p:blipFill>
          <a:blip r:embed="rId3">
            <a:alphaModFix/>
          </a:blip>
          <a:stretch>
            <a:fillRect/>
          </a:stretch>
        </p:blipFill>
        <p:spPr>
          <a:xfrm>
            <a:off x="5364961" y="914399"/>
            <a:ext cx="2161837" cy="3886202"/>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9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1" name="Google Shape;741;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grpSp>
        <p:nvGrpSpPr>
          <p:cNvPr id="742" name="Google Shape;742;p99"/>
          <p:cNvGrpSpPr/>
          <p:nvPr/>
        </p:nvGrpSpPr>
        <p:grpSpPr>
          <a:xfrm>
            <a:off x="0" y="1113789"/>
            <a:ext cx="2214600" cy="3217636"/>
            <a:chOff x="0" y="1189989"/>
            <a:chExt cx="2214600" cy="3217636"/>
          </a:xfrm>
        </p:grpSpPr>
        <p:sp>
          <p:nvSpPr>
            <p:cNvPr id="743" name="Google Shape;743;p99"/>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Perlihatkan masalah yang paling kritis</a:t>
              </a:r>
              <a:endParaRPr sz="1100">
                <a:solidFill>
                  <a:srgbClr val="FFFFFF"/>
                </a:solidFill>
                <a:latin typeface="Montserrat Medium"/>
                <a:ea typeface="Montserrat Medium"/>
                <a:cs typeface="Montserrat Medium"/>
                <a:sym typeface="Montserrat Medium"/>
              </a:endParaRPr>
            </a:p>
          </p:txBody>
        </p:sp>
        <p:sp>
          <p:nvSpPr>
            <p:cNvPr id="744" name="Google Shape;744;p99"/>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Jangan hanya menyajikan daftar semua masalah, tetapi fokuslah pada masalah paling mendesak.</a:t>
              </a:r>
              <a:endParaRPr sz="1000">
                <a:latin typeface="Montserrat"/>
                <a:ea typeface="Montserrat"/>
                <a:cs typeface="Montserrat"/>
                <a:sym typeface="Montserrat"/>
              </a:endParaRPr>
            </a:p>
          </p:txBody>
        </p:sp>
      </p:grpSp>
      <p:grpSp>
        <p:nvGrpSpPr>
          <p:cNvPr id="745" name="Google Shape;745;p99"/>
          <p:cNvGrpSpPr/>
          <p:nvPr/>
        </p:nvGrpSpPr>
        <p:grpSpPr>
          <a:xfrm>
            <a:off x="1838325" y="1113575"/>
            <a:ext cx="2064000" cy="3498650"/>
            <a:chOff x="1838325" y="1189775"/>
            <a:chExt cx="2064000" cy="3498650"/>
          </a:xfrm>
        </p:grpSpPr>
        <p:sp>
          <p:nvSpPr>
            <p:cNvPr id="746" name="Google Shape;746;p99"/>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Jelaskan dengan spesifik</a:t>
              </a:r>
              <a:endParaRPr sz="1100">
                <a:solidFill>
                  <a:srgbClr val="FFFFFF"/>
                </a:solidFill>
                <a:latin typeface="Montserrat Medium"/>
                <a:ea typeface="Montserrat Medium"/>
                <a:cs typeface="Montserrat Medium"/>
                <a:sym typeface="Montserrat Medium"/>
              </a:endParaRPr>
            </a:p>
          </p:txBody>
        </p:sp>
        <p:sp>
          <p:nvSpPr>
            <p:cNvPr id="747" name="Google Shape;747;p99"/>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Tidak cukup hanya mengatakan “pengguna mengalami kesulitan memasukkan informasi pembayaran.”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Identifikasi area spesifik dari desain, interaksi, atau aliran yang menyebabkan masalah.</a:t>
              </a:r>
              <a:endParaRPr sz="1000">
                <a:latin typeface="Montserrat"/>
                <a:ea typeface="Montserrat"/>
                <a:cs typeface="Montserrat"/>
                <a:sym typeface="Montserrat"/>
              </a:endParaRPr>
            </a:p>
          </p:txBody>
        </p:sp>
      </p:grpSp>
      <p:grpSp>
        <p:nvGrpSpPr>
          <p:cNvPr id="748" name="Google Shape;748;p99"/>
          <p:cNvGrpSpPr/>
          <p:nvPr/>
        </p:nvGrpSpPr>
        <p:grpSpPr>
          <a:xfrm>
            <a:off x="3516750" y="1113575"/>
            <a:ext cx="2064000" cy="3217850"/>
            <a:chOff x="3516750" y="1189775"/>
            <a:chExt cx="2064000" cy="3217850"/>
          </a:xfrm>
        </p:grpSpPr>
        <p:sp>
          <p:nvSpPr>
            <p:cNvPr id="749" name="Google Shape;749;p99"/>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Berikan bukti</a:t>
              </a:r>
              <a:endParaRPr sz="1100">
                <a:solidFill>
                  <a:srgbClr val="FFFFFF"/>
                </a:solidFill>
                <a:latin typeface="Montserrat Medium"/>
                <a:ea typeface="Montserrat Medium"/>
                <a:cs typeface="Montserrat Medium"/>
                <a:sym typeface="Montserrat Medium"/>
              </a:endParaRPr>
            </a:p>
          </p:txBody>
        </p:sp>
        <p:sp>
          <p:nvSpPr>
            <p:cNvPr id="750" name="Google Shape;750;p99"/>
            <p:cNvSpPr txBox="1"/>
            <p:nvPr/>
          </p:nvSpPr>
          <p:spPr>
            <a:xfrm>
              <a:off x="3663250" y="2057125"/>
              <a:ext cx="17469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Cuplikan video, screenshots, atau transkrip dari pengujian dapat membantu memperjelas maksud kamu.</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Pertimbangkan untuk menyajikan laporan kamu dalam bentuk tayangan slide, bukan sebagai dokumen tertulis.</a:t>
              </a:r>
              <a:endParaRPr sz="1000">
                <a:latin typeface="Montserrat"/>
                <a:ea typeface="Montserrat"/>
                <a:cs typeface="Montserrat"/>
                <a:sym typeface="Montserrat"/>
              </a:endParaRPr>
            </a:p>
          </p:txBody>
        </p:sp>
      </p:grpSp>
      <p:grpSp>
        <p:nvGrpSpPr>
          <p:cNvPr id="751" name="Google Shape;751;p99"/>
          <p:cNvGrpSpPr/>
          <p:nvPr/>
        </p:nvGrpSpPr>
        <p:grpSpPr>
          <a:xfrm>
            <a:off x="6874025" y="1113575"/>
            <a:ext cx="2064000" cy="3790250"/>
            <a:chOff x="6874025" y="1189775"/>
            <a:chExt cx="2064000" cy="3790250"/>
          </a:xfrm>
        </p:grpSpPr>
        <p:sp>
          <p:nvSpPr>
            <p:cNvPr id="752" name="Google Shape;752;p99"/>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Sertakan temuan positif</a:t>
              </a:r>
              <a:endParaRPr sz="1100">
                <a:solidFill>
                  <a:srgbClr val="FFFFFF"/>
                </a:solidFill>
                <a:latin typeface="Montserrat Medium"/>
                <a:ea typeface="Montserrat Medium"/>
                <a:cs typeface="Montserrat Medium"/>
                <a:sym typeface="Montserrat Medium"/>
              </a:endParaRPr>
            </a:p>
          </p:txBody>
        </p:sp>
        <p:sp>
          <p:nvSpPr>
            <p:cNvPr id="753" name="Google Shape;753;p99"/>
            <p:cNvSpPr txBox="1"/>
            <p:nvPr/>
          </p:nvSpPr>
          <p:spPr>
            <a:xfrm>
              <a:off x="71076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Selain masalah yang telah kamu identifikasi, sertakan feedback</a:t>
              </a:r>
              <a:r>
                <a:rPr i="1" lang="en" sz="1000">
                  <a:latin typeface="Montserrat"/>
                  <a:ea typeface="Montserrat"/>
                  <a:cs typeface="Montserrat"/>
                  <a:sym typeface="Montserrat"/>
                </a:rPr>
                <a:t> </a:t>
              </a:r>
              <a:r>
                <a:rPr lang="en" sz="1000">
                  <a:latin typeface="Montserrat"/>
                  <a:ea typeface="Montserrat"/>
                  <a:cs typeface="Montserrat"/>
                  <a:sym typeface="Montserrat"/>
                </a:rPr>
                <a:t>positif yang kamu temukan.</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Ini membantu tim mengetahui apa yang berfungsi dengan baik dan mempertahankan fitur tersebut pada iterasi mendatang.</a:t>
              </a:r>
              <a:endParaRPr sz="1000">
                <a:latin typeface="Montserrat"/>
                <a:ea typeface="Montserrat"/>
                <a:cs typeface="Montserrat"/>
                <a:sym typeface="Montserrat"/>
              </a:endParaRPr>
            </a:p>
          </p:txBody>
        </p:sp>
      </p:grpSp>
      <p:grpSp>
        <p:nvGrpSpPr>
          <p:cNvPr id="754" name="Google Shape;754;p99"/>
          <p:cNvGrpSpPr/>
          <p:nvPr/>
        </p:nvGrpSpPr>
        <p:grpSpPr>
          <a:xfrm>
            <a:off x="5195350" y="1113575"/>
            <a:ext cx="2064000" cy="3217850"/>
            <a:chOff x="5195350" y="1189775"/>
            <a:chExt cx="2064000" cy="3217850"/>
          </a:xfrm>
        </p:grpSpPr>
        <p:sp>
          <p:nvSpPr>
            <p:cNvPr id="755" name="Google Shape;755;p99"/>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Berikan solusi</a:t>
              </a:r>
              <a:endParaRPr sz="1100">
                <a:solidFill>
                  <a:srgbClr val="FFFFFF"/>
                </a:solidFill>
                <a:latin typeface="Montserrat Medium"/>
                <a:ea typeface="Montserrat Medium"/>
                <a:cs typeface="Montserrat Medium"/>
                <a:sym typeface="Montserrat Medium"/>
              </a:endParaRPr>
            </a:p>
          </p:txBody>
        </p:sp>
        <p:sp>
          <p:nvSpPr>
            <p:cNvPr id="756" name="Google Shape;756;p99"/>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Brainstorm solusi untuk masalah dengan prioritas tertinggi.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Jika masalah kamu adalah pengguna tidak memahami opsi pengiriman, solusi bisa ada pada perubahan desain atau copywriting. </a:t>
              </a:r>
              <a:endParaRPr sz="1000">
                <a:latin typeface="Montserrat"/>
                <a:ea typeface="Montserrat"/>
                <a:cs typeface="Montserrat"/>
                <a:sym typeface="Montserrat"/>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2" name="Google Shape;762;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763" name="Google Shape;763;p10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64" name="Google Shape;764;p100"/>
          <p:cNvSpPr txBox="1"/>
          <p:nvPr/>
        </p:nvSpPr>
        <p:spPr>
          <a:xfrm>
            <a:off x="685800" y="1024125"/>
            <a:ext cx="44577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a:t>
            </a:r>
            <a:r>
              <a:rPr lang="en" sz="1000">
                <a:solidFill>
                  <a:schemeClr val="dk1"/>
                </a:solidFill>
                <a:uFill>
                  <a:noFill/>
                </a:uFill>
                <a:latin typeface="Montserrat Medium"/>
                <a:ea typeface="Montserrat Medium"/>
                <a:cs typeface="Montserrat Medium"/>
                <a:sym typeface="Montserrat Medium"/>
                <a:hlinkClick r:id="rId4">
                  <a:extLst>
                    <a:ext uri="{A12FA001-AC4F-418D-AE19-62706E023703}">
                      <ahyp:hlinkClr val="tx"/>
                    </a:ext>
                  </a:extLst>
                </a:hlinkClick>
              </a:rPr>
              <a:t>Design Thinking by Interaction Design Foundation</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2) </a:t>
            </a:r>
            <a:r>
              <a:rPr lang="en" sz="1000">
                <a:solidFill>
                  <a:schemeClr val="dk1"/>
                </a:solidFill>
                <a:uFill>
                  <a:noFill/>
                </a:uFill>
                <a:latin typeface="Montserrat Medium"/>
                <a:ea typeface="Montserrat Medium"/>
                <a:cs typeface="Montserrat Medium"/>
                <a:sym typeface="Montserrat Medium"/>
                <a:hlinkClick r:id="rId5">
                  <a:extLst>
                    <a:ext uri="{A12FA001-AC4F-418D-AE19-62706E023703}">
                      <ahyp:hlinkClr val="tx"/>
                    </a:ext>
                  </a:extLst>
                </a:hlinkClick>
              </a:rPr>
              <a:t>Best practices for </a:t>
            </a:r>
            <a:r>
              <a:rPr lang="en" sz="1000">
                <a:solidFill>
                  <a:schemeClr val="dk1"/>
                </a:solidFill>
                <a:uFill>
                  <a:noFill/>
                </a:uFill>
                <a:latin typeface="Montserrat Medium"/>
                <a:ea typeface="Montserrat Medium"/>
                <a:cs typeface="Montserrat Medium"/>
                <a:sym typeface="Montserrat Medium"/>
                <a:hlinkClick r:id="rId6">
                  <a:extLst>
                    <a:ext uri="{A12FA001-AC4F-418D-AE19-62706E023703}">
                      <ahyp:hlinkClr val="tx"/>
                    </a:ext>
                  </a:extLst>
                </a:hlinkClick>
              </a:rPr>
              <a:t>usability</a:t>
            </a:r>
            <a:r>
              <a:rPr lang="en" sz="1000">
                <a:solidFill>
                  <a:schemeClr val="dk1"/>
                </a:solidFill>
                <a:uFill>
                  <a:noFill/>
                </a:uFill>
                <a:latin typeface="Montserrat Medium"/>
                <a:ea typeface="Montserrat Medium"/>
                <a:cs typeface="Montserrat Medium"/>
                <a:sym typeface="Montserrat Medium"/>
                <a:hlinkClick r:id="rId7">
                  <a:extLst>
                    <a:ext uri="{A12FA001-AC4F-418D-AE19-62706E023703}">
                      <ahyp:hlinkClr val="tx"/>
                    </a:ext>
                  </a:extLst>
                </a:hlinkClick>
              </a:rPr>
              <a:t> testing in UX design</a:t>
            </a:r>
            <a:r>
              <a:rPr lang="en" sz="1000">
                <a:solidFill>
                  <a:schemeClr val="dk1"/>
                </a:solidFill>
                <a:uFill>
                  <a:noFill/>
                </a:uFill>
                <a:latin typeface="Montserrat Medium"/>
                <a:ea typeface="Montserrat Medium"/>
                <a:cs typeface="Montserrat Medium"/>
                <a:sym typeface="Montserrat Medium"/>
                <a:hlinkClick r:id="rId8">
                  <a:extLst>
                    <a:ext uri="{A12FA001-AC4F-418D-AE19-62706E023703}">
                      <ahyp:hlinkClr val="tx"/>
                    </a:ext>
                  </a:extLst>
                </a:hlinkClick>
              </a:rPr>
              <a:t> by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a:solidFill>
                  <a:schemeClr val="dk1"/>
                </a:solidFill>
                <a:uFill>
                  <a:noFill/>
                </a:uFill>
                <a:latin typeface="Montserrat Medium"/>
                <a:ea typeface="Montserrat Medium"/>
                <a:cs typeface="Montserrat Medium"/>
                <a:sym typeface="Montserrat Medium"/>
                <a:hlinkClick r:id="rId9">
                  <a:extLst>
                    <a:ext uri="{A12FA001-AC4F-418D-AE19-62706E023703}">
                      <ahyp:hlinkClr val="tx"/>
                    </a:ext>
                  </a:extLst>
                </a:hlinkClick>
              </a:rPr>
              <a:t>Adobe XD</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3) </a:t>
            </a:r>
            <a:r>
              <a:rPr lang="en" sz="1000">
                <a:solidFill>
                  <a:schemeClr val="dk1"/>
                </a:solidFill>
                <a:uFill>
                  <a:noFill/>
                </a:uFill>
                <a:latin typeface="Montserrat Medium"/>
                <a:ea typeface="Montserrat Medium"/>
                <a:cs typeface="Montserrat Medium"/>
                <a:sym typeface="Montserrat Medium"/>
                <a:hlinkClick r:id="rId10">
                  <a:extLst>
                    <a:ext uri="{A12FA001-AC4F-418D-AE19-62706E023703}">
                      <ahyp:hlinkClr val="tx"/>
                    </a:ext>
                  </a:extLst>
                </a:hlinkClick>
              </a:rPr>
              <a:t>Why you only need to test with 5 users by Nielsen Norman </a:t>
            </a:r>
            <a:br>
              <a:rPr lang="en" sz="1000">
                <a:solidFill>
                  <a:schemeClr val="dk1"/>
                </a:solidFill>
                <a:uFill>
                  <a:noFill/>
                </a:uFill>
                <a:latin typeface="Montserrat Medium"/>
                <a:ea typeface="Montserrat Medium"/>
                <a:cs typeface="Montserrat Medium"/>
                <a:sym typeface="Montserrat Medium"/>
                <a:hlinkClick r:id="rId11">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12">
                  <a:extLst>
                    <a:ext uri="{A12FA001-AC4F-418D-AE19-62706E023703}">
                      <ahyp:hlinkClr val="tx"/>
                    </a:ext>
                  </a:extLst>
                </a:hlinkClick>
              </a:rPr>
              <a:t>    Group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4) </a:t>
            </a:r>
            <a:r>
              <a:rPr lang="en" sz="1000">
                <a:solidFill>
                  <a:schemeClr val="dk1"/>
                </a:solidFill>
                <a:uFill>
                  <a:noFill/>
                </a:uFill>
                <a:latin typeface="Montserrat Medium"/>
                <a:ea typeface="Montserrat Medium"/>
                <a:cs typeface="Montserrat Medium"/>
                <a:sym typeface="Montserrat Medium"/>
                <a:hlinkClick r:id="rId13">
                  <a:extLst>
                    <a:ext uri="{A12FA001-AC4F-418D-AE19-62706E023703}">
                      <ahyp:hlinkClr val="tx"/>
                    </a:ext>
                  </a:extLst>
                </a:hlinkClick>
              </a:rPr>
              <a:t>Avoid bias in user testing by Trymyui </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5) </a:t>
            </a:r>
            <a:r>
              <a:rPr lang="en" sz="1000">
                <a:solidFill>
                  <a:schemeClr val="dk1"/>
                </a:solidFill>
                <a:uFill>
                  <a:noFill/>
                </a:uFill>
                <a:latin typeface="Montserrat Medium"/>
                <a:ea typeface="Montserrat Medium"/>
                <a:cs typeface="Montserrat Medium"/>
                <a:sym typeface="Montserrat Medium"/>
                <a:hlinkClick r:id="rId14">
                  <a:extLst>
                    <a:ext uri="{A12FA001-AC4F-418D-AE19-62706E023703}">
                      <ahyp:hlinkClr val="tx"/>
                    </a:ext>
                  </a:extLst>
                </a:hlinkClick>
              </a:rPr>
              <a:t>Understanding users first impressions of website by Trymyui</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6) </a:t>
            </a:r>
            <a:r>
              <a:rPr lang="en" sz="1000">
                <a:solidFill>
                  <a:schemeClr val="dk1"/>
                </a:solidFill>
                <a:uFill>
                  <a:noFill/>
                </a:uFill>
                <a:latin typeface="Montserrat Medium"/>
                <a:ea typeface="Montserrat Medium"/>
                <a:cs typeface="Montserrat Medium"/>
                <a:sym typeface="Montserrat Medium"/>
                <a:hlinkClick r:id="rId15">
                  <a:extLst>
                    <a:ext uri="{A12FA001-AC4F-418D-AE19-62706E023703}">
                      <ahyp:hlinkClr val="tx"/>
                    </a:ext>
                  </a:extLst>
                </a:hlinkClick>
              </a:rPr>
              <a:t>How to write tasks, Vol. 3: Prototype &amp; wireframe usability </a:t>
            </a:r>
            <a:br>
              <a:rPr lang="en" sz="1000">
                <a:solidFill>
                  <a:schemeClr val="dk1"/>
                </a:solidFill>
                <a:uFill>
                  <a:noFill/>
                </a:uFill>
                <a:latin typeface="Montserrat Medium"/>
                <a:ea typeface="Montserrat Medium"/>
                <a:cs typeface="Montserrat Medium"/>
                <a:sym typeface="Montserrat Medium"/>
                <a:hlinkClick r:id="rId16">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17">
                  <a:extLst>
                    <a:ext uri="{A12FA001-AC4F-418D-AE19-62706E023703}">
                      <ahyp:hlinkClr val="tx"/>
                    </a:ext>
                  </a:extLst>
                </a:hlinkClick>
              </a:rPr>
              <a:t>    testing by Trymyui</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7) </a:t>
            </a:r>
            <a:r>
              <a:rPr lang="en" sz="1000">
                <a:solidFill>
                  <a:schemeClr val="dk1"/>
                </a:solidFill>
                <a:uFill>
                  <a:noFill/>
                </a:uFill>
                <a:latin typeface="Montserrat Medium"/>
                <a:ea typeface="Montserrat Medium"/>
                <a:cs typeface="Montserrat Medium"/>
                <a:sym typeface="Montserrat Medium"/>
                <a:hlinkClick r:id="rId18">
                  <a:extLst>
                    <a:ext uri="{A12FA001-AC4F-418D-AE19-62706E023703}">
                      <ahyp:hlinkClr val="tx"/>
                    </a:ext>
                  </a:extLst>
                </a:hlinkClick>
              </a:rPr>
              <a:t>How to analyze and report usability test results by Maze</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8) </a:t>
            </a:r>
            <a:r>
              <a:rPr lang="en" sz="1000">
                <a:solidFill>
                  <a:schemeClr val="dk1"/>
                </a:solidFill>
                <a:uFill>
                  <a:noFill/>
                </a:uFill>
                <a:latin typeface="Montserrat Medium"/>
                <a:ea typeface="Montserrat Medium"/>
                <a:cs typeface="Montserrat Medium"/>
                <a:sym typeface="Montserrat Medium"/>
                <a:hlinkClick r:id="rId19">
                  <a:extLst>
                    <a:ext uri="{A12FA001-AC4F-418D-AE19-62706E023703}">
                      <ahyp:hlinkClr val="tx"/>
                    </a:ext>
                  </a:extLst>
                </a:hlinkClick>
              </a:rPr>
              <a:t>Usability testing template checklist by Hotjar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9) </a:t>
            </a:r>
            <a:r>
              <a:rPr lang="en" sz="1000">
                <a:solidFill>
                  <a:schemeClr val="dk1"/>
                </a:solidFill>
                <a:uFill>
                  <a:noFill/>
                </a:uFill>
                <a:latin typeface="Montserrat Medium"/>
                <a:ea typeface="Montserrat Medium"/>
                <a:cs typeface="Montserrat Medium"/>
                <a:sym typeface="Montserrat Medium"/>
                <a:hlinkClick r:id="rId20">
                  <a:extLst>
                    <a:ext uri="{A12FA001-AC4F-418D-AE19-62706E023703}">
                      <ahyp:hlinkClr val="tx"/>
                    </a:ext>
                  </a:extLst>
                </a:hlinkClick>
              </a:rPr>
              <a:t>Usability evaluation and analysis by Hotjar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10) </a:t>
            </a:r>
            <a:r>
              <a:rPr lang="en" sz="1000">
                <a:solidFill>
                  <a:schemeClr val="dk1"/>
                </a:solidFill>
                <a:uFill>
                  <a:noFill/>
                </a:uFill>
                <a:latin typeface="Montserrat Medium"/>
                <a:ea typeface="Montserrat Medium"/>
                <a:cs typeface="Montserrat Medium"/>
                <a:sym typeface="Montserrat Medium"/>
                <a:hlinkClick r:id="rId21">
                  <a:extLst>
                    <a:ext uri="{A12FA001-AC4F-418D-AE19-62706E023703}">
                      <ahyp:hlinkClr val="tx"/>
                    </a:ext>
                  </a:extLst>
                </a:hlinkClick>
              </a:rPr>
              <a:t>Quantitative vs. Qualitative Usability Testing by Nielsen </a:t>
            </a:r>
            <a:br>
              <a:rPr lang="en" sz="1000">
                <a:solidFill>
                  <a:schemeClr val="dk1"/>
                </a:solidFill>
                <a:uFill>
                  <a:noFill/>
                </a:uFill>
                <a:latin typeface="Montserrat Medium"/>
                <a:ea typeface="Montserrat Medium"/>
                <a:cs typeface="Montserrat Medium"/>
                <a:sym typeface="Montserrat Medium"/>
                <a:hlinkClick r:id="rId22">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23">
                  <a:extLst>
                    <a:ext uri="{A12FA001-AC4F-418D-AE19-62706E023703}">
                      <ahyp:hlinkClr val="tx"/>
                    </a:ext>
                  </a:extLst>
                </a:hlinkClick>
              </a:rPr>
              <a:t>      Norman Group</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70" name="Google Shape;770;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71" name="Google Shape;771;p101"/>
          <p:cNvSpPr txBox="1"/>
          <p:nvPr/>
        </p:nvSpPr>
        <p:spPr>
          <a:xfrm>
            <a:off x="641550" y="1509750"/>
            <a:ext cx="46605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Nah, selesai sudah pembahasan kita mengenai </a:t>
            </a:r>
            <a:r>
              <a:rPr b="1" lang="en">
                <a:solidFill>
                  <a:srgbClr val="F2AB2F"/>
                </a:solidFill>
                <a:latin typeface="Montserrat"/>
                <a:ea typeface="Montserrat"/>
                <a:cs typeface="Montserrat"/>
                <a:sym typeface="Montserrat"/>
              </a:rPr>
              <a:t>testing</a:t>
            </a:r>
            <a:r>
              <a:rPr b="1" lang="en">
                <a:solidFill>
                  <a:srgbClr val="FFFFFF"/>
                </a:solidFill>
                <a:latin typeface="Montserrat"/>
                <a:ea typeface="Montserrat"/>
                <a:cs typeface="Montserrat"/>
                <a:sym typeface="Montserrat"/>
              </a:rPr>
              <a:t>. Hal ini juga menandakan kalau kita sudah selesai mengulas design thinking lho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Lalu, ada apa setelah design thinking? Kita temukan jawabannya besok dalam bahasan </a:t>
            </a:r>
            <a:r>
              <a:rPr b="1" lang="en">
                <a:solidFill>
                  <a:srgbClr val="F2AB2F"/>
                </a:solidFill>
                <a:latin typeface="Montserrat"/>
                <a:ea typeface="Montserrat"/>
                <a:cs typeface="Montserrat"/>
                <a:sym typeface="Montserrat"/>
              </a:rPr>
              <a:t>design handoff</a:t>
            </a:r>
            <a:r>
              <a:rPr b="1" lang="en">
                <a:solidFill>
                  <a:srgbClr val="FFFFFF"/>
                </a:solidFill>
                <a:latin typeface="Montserrat"/>
                <a:ea typeface="Montserrat"/>
                <a:cs typeface="Montserrat"/>
                <a:sym typeface="Montserrat"/>
              </a:rPr>
              <a:t> ya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Udah nggak sabar kan? See you tomorrow!</a:t>
            </a:r>
            <a:endParaRPr b="1">
              <a:solidFill>
                <a:srgbClr val="FFFFFF"/>
              </a:solidFill>
              <a:latin typeface="Montserrat"/>
              <a:ea typeface="Montserrat"/>
              <a:cs typeface="Montserrat"/>
              <a:sym typeface="Montserrat"/>
            </a:endParaRPr>
          </a:p>
        </p:txBody>
      </p:sp>
      <p:pic>
        <p:nvPicPr>
          <p:cNvPr id="772" name="Google Shape;772;p101"/>
          <p:cNvPicPr preferRelativeResize="0"/>
          <p:nvPr/>
        </p:nvPicPr>
        <p:blipFill>
          <a:blip r:embed="rId3">
            <a:alphaModFix/>
          </a:blip>
          <a:stretch>
            <a:fillRect/>
          </a:stretch>
        </p:blipFill>
        <p:spPr>
          <a:xfrm>
            <a:off x="4101881" y="720675"/>
            <a:ext cx="5687844" cy="4338199"/>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6" name="Shape 776"/>
        <p:cNvGrpSpPr/>
        <p:nvPr/>
      </p:nvGrpSpPr>
      <p:grpSpPr>
        <a:xfrm>
          <a:off x="0" y="0"/>
          <a:ext cx="0" cy="0"/>
          <a:chOff x="0" y="0"/>
          <a:chExt cx="0" cy="0"/>
        </a:xfrm>
      </p:grpSpPr>
      <p:sp>
        <p:nvSpPr>
          <p:cNvPr id="777" name="Google Shape;777;p10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8" name="Google Shape;778;p10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79" name="Google Shape;779;p10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80" name="Google Shape;780;p102"/>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