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Lst>
  <p:sldSz cy="5143500" cx="9144000"/>
  <p:notesSz cx="6858000" cy="9144000"/>
  <p:embeddedFontLst>
    <p:embeddedFont>
      <p:font typeface="Raleway"/>
      <p:regular r:id="rId80"/>
      <p:bold r:id="rId81"/>
      <p:italic r:id="rId82"/>
      <p:boldItalic r:id="rId83"/>
    </p:embeddedFont>
    <p:embeddedFont>
      <p:font typeface="Montserrat"/>
      <p:regular r:id="rId84"/>
      <p:bold r:id="rId85"/>
      <p:italic r:id="rId86"/>
      <p:boldItalic r:id="rId87"/>
    </p:embeddedFont>
    <p:embeddedFont>
      <p:font typeface="Montserrat Medium"/>
      <p:regular r:id="rId88"/>
      <p:bold r:id="rId89"/>
      <p:italic r:id="rId90"/>
      <p:boldItalic r:id="rId91"/>
    </p:embeddedFont>
    <p:embeddedFont>
      <p:font typeface="Lato Black"/>
      <p:bold r:id="rId92"/>
      <p:boldItalic r:id="rId9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Montserrat-regular.fntdata"/><Relationship Id="rId83" Type="http://schemas.openxmlformats.org/officeDocument/2006/relationships/font" Target="fonts/Raleway-boldItalic.fntdata"/><Relationship Id="rId42" Type="http://schemas.openxmlformats.org/officeDocument/2006/relationships/slide" Target="slides/slide37.xml"/><Relationship Id="rId86" Type="http://schemas.openxmlformats.org/officeDocument/2006/relationships/font" Target="fonts/Montserrat-italic.fntdata"/><Relationship Id="rId41" Type="http://schemas.openxmlformats.org/officeDocument/2006/relationships/slide" Target="slides/slide36.xml"/><Relationship Id="rId85" Type="http://schemas.openxmlformats.org/officeDocument/2006/relationships/font" Target="fonts/Montserrat-bold.fntdata"/><Relationship Id="rId44" Type="http://schemas.openxmlformats.org/officeDocument/2006/relationships/slide" Target="slides/slide39.xml"/><Relationship Id="rId88" Type="http://schemas.openxmlformats.org/officeDocument/2006/relationships/font" Target="fonts/MontserratMedium-regular.fntdata"/><Relationship Id="rId43" Type="http://schemas.openxmlformats.org/officeDocument/2006/relationships/slide" Target="slides/slide38.xml"/><Relationship Id="rId87" Type="http://schemas.openxmlformats.org/officeDocument/2006/relationships/font" Target="fonts/Montserrat-bold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MontserratMedium-bold.fntdata"/><Relationship Id="rId80" Type="http://schemas.openxmlformats.org/officeDocument/2006/relationships/font" Target="fonts/Raleway-regular.fntdata"/><Relationship Id="rId82" Type="http://schemas.openxmlformats.org/officeDocument/2006/relationships/font" Target="fonts/Raleway-italic.fntdata"/><Relationship Id="rId81"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MontserratMedium-boldItalic.fntdata"/><Relationship Id="rId90" Type="http://schemas.openxmlformats.org/officeDocument/2006/relationships/font" Target="fonts/MontserratMedium-italic.fntdata"/><Relationship Id="rId93" Type="http://schemas.openxmlformats.org/officeDocument/2006/relationships/font" Target="fonts/LatoBlack-boldItalic.fntdata"/><Relationship Id="rId92" Type="http://schemas.openxmlformats.org/officeDocument/2006/relationships/font" Target="fonts/LatoBlack-bold.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muz.li/basics-of-optical-balance-in-interface-design-ui-4037c033cca2"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muz.li/basics-of-optical-balance-in-interface-design-ui-4037c033cca2"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ketchappsources.com/free-source/3681-radiance-design-system-sketch-freebie-resource.html"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ketchappsources.com/free-source/3681-radiance-design-system-sketch-freebie-resource.html"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pin.com/studio/blog/guide-design-consistency-best-practices-ui-ux-designers/"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pin.com/studio/blog/guide-design-consistency-best-practices-ui-ux-designers/"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isfit.com/2020/09/14/ui-tutorial-6-tips-to-make-better-dark-theme/"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pin.com/studio/blog/guide-design-consistency-best-practices-ui-ux-designers/"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pin.com/studio/blog/guide-design-consistency-best-practices-ui-ux-designers/"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balance/" TargetMode="External"/><Relationship Id="rId3" Type="http://schemas.openxmlformats.org/officeDocument/2006/relationships/hyperlink" Target="https://www.theme-junkie.com/how-to-search-multiple-tags-on-tumblr/"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oltonsturgeon?utm_source=unsplash&amp;utm_medium=referral&amp;utm_content=creditCopyText" TargetMode="External"/><Relationship Id="rId3" Type="http://schemas.openxmlformats.org/officeDocument/2006/relationships/hyperlink" Target="https://unsplash.com/@coltonsturgeon?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oltonsturgeon?utm_source=unsplash&amp;utm_medium=referral&amp;utm_content=creditCopyText" TargetMode="External"/><Relationship Id="rId3" Type="http://schemas.openxmlformats.org/officeDocument/2006/relationships/hyperlink" Target="https://unsplash.com/@coltonsturgeon?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ysupersimi?utm_source=unsplash&amp;utm_medium=referral&amp;utm_content=creditCopyText" TargetMode="External"/><Relationship Id="rId3" Type="http://schemas.openxmlformats.org/officeDocument/2006/relationships/hyperlink" Target="https://unsplash.com/@heysupersimi?utm_source=unsplash&amp;utm_medium=referral&amp;utm_content=creditCopyText" TargetMode="External"/><Relationship Id="rId4" Type="http://schemas.openxmlformats.org/officeDocument/2006/relationships/hyperlink" Target="https://unsplash.com/s/photos/alignment-structure?utm_source=unsplash&amp;utm_medium=referral&amp;utm_content=creditCopyText" TargetMode="External"/><Relationship Id="rId5" Type="http://schemas.openxmlformats.org/officeDocument/2006/relationships/hyperlink" Target="https://unsplash.com/s/photos/alignment-structure?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 Id="rId3" Type="http://schemas.openxmlformats.org/officeDocument/2006/relationships/hyperlink" Target="https://dribbble.com/shots/14345813-Nav-Polish"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ms2cms.com/blog/microinteraction-design-makes-huge-impact-user-experience/"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ms2cms.com/blog/microinteraction-design-makes-huge-impact-user-experience/"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3894493-Contact-form-submit-animation"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3894493-Contact-form-submit-animation"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1708084-Responsive-Design-Animation" TargetMode="Externa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blog.digitecintl.com/bad-ui-ux-how-to-scare-people-away/" TargetMode="External"/><Relationship Id="rId3" Type="http://schemas.openxmlformats.org/officeDocument/2006/relationships/hyperlink" Target="https://careerfoundry.com/en/blog/ui-design/common-ui-design-mistakes/"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1e5edc7d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1e5edc7d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e5edc7d6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e5edc7d6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489605c65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489605c65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https://medium.muz.li/basics-of-optical-balance-in-interface-design-ui-4037c033cca2</a:t>
            </a:r>
            <a:r>
              <a:rPr lang="en">
                <a:solidFill>
                  <a:schemeClr val="dk1"/>
                </a:solidFill>
              </a:rPr>
              <a:t>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215b40ec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215b40ec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https://medium.muz.li/basics-of-optical-balance-in-interface-design-ui-4037c033cca2</a:t>
            </a:r>
            <a:r>
              <a:rPr lang="en">
                <a:solidFill>
                  <a:schemeClr val="dk1"/>
                </a:solidFill>
              </a:rPr>
              <a:t>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215b40ece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215b40ece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https://www.sketchappsources.com/free-source/3681-radiance-design-system-sketch-freebie-resource.html</a:t>
            </a:r>
            <a:r>
              <a:rPr lang="en">
                <a:solidFill>
                  <a:schemeClr val="dk1"/>
                </a:solidFill>
              </a:rPr>
              <a:t>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489605c6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489605c6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https://www.sketchappsources.com/free-source/3681-radiance-design-system-sketch-freebie-resource.html</a:t>
            </a:r>
            <a:r>
              <a:rPr lang="en">
                <a:solidFill>
                  <a:schemeClr val="dk1"/>
                </a:solidFill>
              </a:rPr>
              <a:t>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1489605c6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1489605c6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https://www.uxpin.com/studio/blog/guide-design-consistency-best-practices-ui-ux-designers/</a:t>
            </a:r>
            <a:r>
              <a:rPr lang="en">
                <a:solidFill>
                  <a:schemeClr val="dk1"/>
                </a:solidFill>
              </a:rPr>
              <a:t>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215b40ece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215b40ece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https://www.uxpin.com/studio/blog/guide-design-consistency-best-practices-ui-ux-designers/</a:t>
            </a:r>
            <a:r>
              <a:rPr lang="en">
                <a:solidFill>
                  <a:schemeClr val="dk1"/>
                </a:solidFill>
              </a:rPr>
              <a:t>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1489605c65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1489605c65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https://uxmisfit.com/2020/09/14/ui-tutorial-6-tips-to-make-better-dark-theme/</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489605c65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489605c65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https://www.uxpin.com/studio/blog/guide-design-consistency-best-practices-ui-ux-designers/</a:t>
            </a:r>
            <a:r>
              <a:rPr lang="en">
                <a:solidFill>
                  <a:schemeClr val="dk1"/>
                </a:solidFill>
              </a:rPr>
              <a:t>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215b40ece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215b40ece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https://www.uxpin.com/studio/blog/guide-design-consistency-best-practices-ui-ux-designers/</a:t>
            </a:r>
            <a:r>
              <a:rPr lang="en">
                <a:solidFill>
                  <a:schemeClr val="dk1"/>
                </a:solidFill>
              </a:rPr>
              <a:t>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1489605c6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1489605c6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1489605c6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1489605c6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215b40ece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215b40ece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1489605c65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1489605c6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1489605c6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1489605c6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13daee7b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13daee7b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489605c6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1489605c6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13daee7bd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13daee7bd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13daee7bd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13daee7bd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1489605c6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1489605c6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1489605c6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1489605c6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13daee7bd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13daee7bd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13daee7bd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13daee7bd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215b40ece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215b40ece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13daee7bd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13daee7bd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13daee7bd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13daee7bd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1489605c65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1489605c65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1489605c65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1489605c65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13daee7bd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13daee7bd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1489605c65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1489605c65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13daee7bd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13daee7bd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13daee7bde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13daee7bde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13daee7bde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13daee7bd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13daee7bde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13daee7bde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https://uxengineer.com/principles-of-design/balance/</a:t>
            </a:r>
            <a:r>
              <a:rPr lang="en">
                <a:solidFill>
                  <a:schemeClr val="dk1"/>
                </a:solidFill>
              </a:rPr>
              <a:t> and </a:t>
            </a:r>
            <a:r>
              <a:rPr lang="en" u="sng">
                <a:solidFill>
                  <a:schemeClr val="hlink"/>
                </a:solidFill>
                <a:hlinkClick r:id="rId3"/>
              </a:rPr>
              <a:t>https://www.theme-junkie.com/how-to-search-multiple-tags-on-tumblr/</a:t>
            </a:r>
            <a:r>
              <a:rPr lang="en">
                <a:solidFill>
                  <a:schemeClr val="dk1"/>
                </a:solidFill>
              </a:rPr>
              <a:t>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13daee7bde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13daee7bde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Colton Sturgeon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1e5edc7d6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1e5edc7d6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Colton Sturgeon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1489605c65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1489605c65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1489605c65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1489605c6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Simone Hutsch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13daee7bde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13daee7bde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13daee7bde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13daee7bde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13daee7bde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113daee7bde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and </a:t>
            </a:r>
            <a:r>
              <a:rPr lang="en" u="sng">
                <a:solidFill>
                  <a:schemeClr val="hlink"/>
                </a:solidFill>
                <a:hlinkClick r:id="rId3"/>
              </a:rPr>
              <a:t>https://dribbble.com/shots/14345813-Nav-Polish</a:t>
            </a:r>
            <a:r>
              <a:rPr lang="en">
                <a:solidFill>
                  <a:schemeClr val="dk1"/>
                </a:solidFill>
              </a:rPr>
              <a:t>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13daee7bde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13daee7bde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13daee7bde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13daee7bde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3daee7bde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3daee7bde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215b40ece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215b40ece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113daee7bde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113daee7bde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13daee7bde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113daee7bde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13daee7bde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13daee7bde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13daee7bde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13daee7bde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https://designtaxi.com/news/402553/Fun-Quiz-Determines-If-Your-Designer-s-Eye-For-Composition-Is-In-Perfect-Shape/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13daee7bde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13daee7bde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https://www.supremo.co.uk/designers-eye-christmas/?playagain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13daee7bde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13daee7bde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13daee7bde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13daee7bde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13daee7bde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13daee7bde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1215b40ece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1215b40ece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13daee7bde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13daee7bde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https://cms2cms.com/blog/microinteraction-design-makes-huge-impact-user-experience/</a:t>
            </a:r>
            <a:r>
              <a:rPr lang="en">
                <a:solidFill>
                  <a:schemeClr val="dk1"/>
                </a:solidFill>
              </a:rPr>
              <a:t>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215b40ece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215b40ece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https://cms2cms.com/blog/microinteraction-design-makes-huge-impact-user-experience/</a:t>
            </a:r>
            <a:r>
              <a:rPr lang="en">
                <a:solidFill>
                  <a:schemeClr val="dk1"/>
                </a:solidFill>
              </a:rPr>
              <a:t>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113daee7bde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113daee7bde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https://dribbble.com/shots/3894493-Contact-form-submit-animation</a:t>
            </a:r>
            <a:r>
              <a:rPr lang="en">
                <a:solidFill>
                  <a:schemeClr val="dk1"/>
                </a:solidFill>
              </a:rPr>
              <a:t>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1215b40ece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1215b40ece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https://dribbble.com/shots/3894493-Contact-form-submit-animation</a:t>
            </a:r>
            <a:r>
              <a:rPr lang="en">
                <a:solidFill>
                  <a:schemeClr val="dk1"/>
                </a:solidFill>
              </a:rPr>
              <a:t>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13daee7bde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13daee7bde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https://dribbble.com/shots/1708084-Responsive-Design-Animation</a:t>
            </a:r>
            <a:r>
              <a:rPr lang="en">
                <a:solidFill>
                  <a:schemeClr val="dk1"/>
                </a:solidFill>
              </a:rPr>
              <a:t>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113daee7bde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113daee7bde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https://www.blog.digitecintl.com/bad-ui-ux-how-to-scare-people-away/</a:t>
            </a:r>
            <a:r>
              <a:rPr lang="en">
                <a:solidFill>
                  <a:schemeClr val="dk1"/>
                </a:solidFill>
              </a:rPr>
              <a:t> and </a:t>
            </a:r>
            <a:r>
              <a:rPr lang="en" u="sng">
                <a:solidFill>
                  <a:schemeClr val="hlink"/>
                </a:solidFill>
                <a:hlinkClick r:id="rId3"/>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13daee7bde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13daee7bde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13daee7bde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113daee7bde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113daee7bde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113daee7bde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1215b40ece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1215b40ece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113daee7bde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113daee7bde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11d9dafca9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11d9dafca9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11e5edc7d6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11e5edc7d6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2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2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image" Target="../media/image4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6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5.jpg"/><Relationship Id="rId4" Type="http://schemas.openxmlformats.org/officeDocument/2006/relationships/image" Target="../media/image6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70.png"/><Relationship Id="rId4" Type="http://schemas.openxmlformats.org/officeDocument/2006/relationships/image" Target="../media/image7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unsplash.com/@heysupersimi?utm_source=unsplash&amp;utm_medium=referral&amp;utm_content=creditCopyText" TargetMode="External"/><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1.jpg"/><Relationship Id="rId4" Type="http://schemas.openxmlformats.org/officeDocument/2006/relationships/image" Target="../media/image30.png"/><Relationship Id="rId5" Type="http://schemas.openxmlformats.org/officeDocument/2006/relationships/image" Target="../media/image40.png"/><Relationship Id="rId6"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7.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5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0.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s://www.supremo.co.uk/designers-eye/" TargetMode="External"/><Relationship Id="rId4" Type="http://schemas.openxmlformats.org/officeDocument/2006/relationships/hyperlink" Target="https://www.supremo.co.uk/designers-eye/" TargetMode="External"/><Relationship Id="rId5" Type="http://schemas.openxmlformats.org/officeDocument/2006/relationships/image" Target="../media/image4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www.supremo.co.uk/designers-eye-christmas/?playagain" TargetMode="External"/><Relationship Id="rId4" Type="http://schemas.openxmlformats.org/officeDocument/2006/relationships/hyperlink" Target="https://www.supremo.co.uk/designers-eye-christmas/?playagain" TargetMode="External"/><Relationship Id="rId5" Type="http://schemas.openxmlformats.org/officeDocument/2006/relationships/image" Target="../media/image5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4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6.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6.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9.gi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9.gi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72.gi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72.gi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73.gi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8.jpg"/><Relationship Id="rId4" Type="http://schemas.openxmlformats.org/officeDocument/2006/relationships/image" Target="../media/image5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69.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56.png"/><Relationship Id="rId4" Type="http://schemas.openxmlformats.org/officeDocument/2006/relationships/image" Target="../media/image6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59.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59.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6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57.png"/></Relationships>
</file>

<file path=ppt/slides/_rels/slide72.xml.rels><?xml version="1.0" encoding="UTF-8" standalone="yes"?><Relationships xmlns="http://schemas.openxmlformats.org/package/2006/relationships"><Relationship Id="rId11" Type="http://schemas.openxmlformats.org/officeDocument/2006/relationships/hyperlink" Target="https://www.uxpin.com/studio/blog/guide-design-consistency-best-practices-ui-ux-designers/" TargetMode="External"/><Relationship Id="rId10" Type="http://schemas.openxmlformats.org/officeDocument/2006/relationships/hyperlink" Target="https://www.uxpin.com/studio/blog/guide-design-consistency-best-practices-ui-ux-designers/" TargetMode="External"/><Relationship Id="rId13" Type="http://schemas.openxmlformats.org/officeDocument/2006/relationships/hyperlink" Target="https://uxengineer.com/principles-of-design/alignment/" TargetMode="External"/><Relationship Id="rId12" Type="http://schemas.openxmlformats.org/officeDocument/2006/relationships/hyperlink" Target="https://uxengineer.com/principles-of-design/alignment/" TargetMode="External"/><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4.png"/><Relationship Id="rId4" Type="http://schemas.openxmlformats.org/officeDocument/2006/relationships/hyperlink" Target="https://usabilitygeek.com/10-characteristics-bad-user-experience/" TargetMode="External"/><Relationship Id="rId9" Type="http://schemas.openxmlformats.org/officeDocument/2006/relationships/hyperlink" Target="https://www.uxpin.com/studio/blog/guide-design-consistency-best-practices-ui-ux-designers/" TargetMode="External"/><Relationship Id="rId14" Type="http://schemas.openxmlformats.org/officeDocument/2006/relationships/hyperlink" Target="https://uxengineer.com/principles-of-design/balance/" TargetMode="External"/><Relationship Id="rId5" Type="http://schemas.openxmlformats.org/officeDocument/2006/relationships/hyperlink" Target="https://usabilitygeek.com/10-characteristics-bad-user-experience/" TargetMode="External"/><Relationship Id="rId6" Type="http://schemas.openxmlformats.org/officeDocument/2006/relationships/hyperlink" Target="https://usabilitygeek.com/10-characteristics-bad-user-experience/" TargetMode="External"/><Relationship Id="rId7" Type="http://schemas.openxmlformats.org/officeDocument/2006/relationships/hyperlink" Target="https://careerfoundry.com/en/blog/ui-design/common-ui-design-mistakes/" TargetMode="External"/><Relationship Id="rId8" Type="http://schemas.openxmlformats.org/officeDocument/2006/relationships/hyperlink" Target="https://careerfoundry.com/en/blog/ui-design/common-ui-design-mistakes/"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 Id="rId3" Type="http://schemas.openxmlformats.org/officeDocument/2006/relationships/image" Target="../media/image6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 Id="rId3" Type="http://schemas.openxmlformats.org/officeDocument/2006/relationships/image" Target="../media/image66.png"/><Relationship Id="rId4" Type="http://schemas.openxmlformats.org/officeDocument/2006/relationships/image" Target="../media/image68.png"/><Relationship Id="rId5"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9" name="Shape 89"/>
        <p:cNvGrpSpPr/>
        <p:nvPr/>
      </p:nvGrpSpPr>
      <p:grpSpPr>
        <a:xfrm>
          <a:off x="0" y="0"/>
          <a:ext cx="0" cy="0"/>
          <a:chOff x="0" y="0"/>
          <a:chExt cx="0" cy="0"/>
        </a:xfrm>
      </p:grpSpPr>
      <p:sp>
        <p:nvSpPr>
          <p:cNvPr id="90" name="Google Shape;90;p18"/>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Desain Baik vs Buruk</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5 - Topic 2</a:t>
            </a:r>
            <a:endParaRPr>
              <a:solidFill>
                <a:srgbClr val="FFFFFF"/>
              </a:solidFill>
              <a:latin typeface="Montserrat"/>
              <a:ea typeface="Montserrat"/>
              <a:cs typeface="Montserrat"/>
              <a:sym typeface="Montserrat"/>
            </a:endParaRPr>
          </a:p>
        </p:txBody>
      </p:sp>
      <p:cxnSp>
        <p:nvCxnSpPr>
          <p:cNvPr id="91" name="Google Shape;91;p18"/>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92" name="Google Shape;92;p18"/>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93" name="Google Shape;93;p18"/>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5 Topic 2</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99" name="Google Shape;99;p19"/>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pic>
        <p:nvPicPr>
          <p:cNvPr id="106" name="Google Shape;106;p2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7" name="Google Shape;107;p20"/>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highlight>
                  <a:schemeClr val="lt1"/>
                </a:highlight>
                <a:latin typeface="Montserrat"/>
                <a:ea typeface="Montserrat"/>
                <a:cs typeface="Montserrat"/>
                <a:sym typeface="Montserrat"/>
              </a:rPr>
              <a:t>Di chapter 4, kita sudah mengupas tuntas fase prototyping dan bagaimana design system berperan.</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highlight>
                  <a:schemeClr val="lt1"/>
                </a:highlight>
                <a:latin typeface="Montserrat"/>
                <a:ea typeface="Montserrat"/>
                <a:cs typeface="Montserrat"/>
                <a:sym typeface="Montserrat"/>
              </a:rPr>
              <a:t>Kali ini, kita akan mendekati design thinking fase terakhir yaitu testing. Tapi, sebelum ke sana, kita cari tahu dulu yuk desain yang baik itu seperti apa sih?</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highlight>
                  <a:schemeClr val="lt1"/>
                </a:highlight>
                <a:latin typeface="Montserrat"/>
                <a:ea typeface="Montserrat"/>
                <a:cs typeface="Montserrat"/>
                <a:sym typeface="Montserrat"/>
              </a:rPr>
              <a:t>Let’s go, bestie ~~</a:t>
            </a:r>
            <a:endParaRPr sz="1000">
              <a:solidFill>
                <a:schemeClr val="dk1"/>
              </a:solidFill>
              <a:highlight>
                <a:schemeClr val="lt1"/>
              </a:highlight>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pic>
        <p:nvPicPr>
          <p:cNvPr id="114" name="Google Shape;114;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15" name="Google Shape;115;p21"/>
          <p:cNvSpPr txBox="1"/>
          <p:nvPr/>
        </p:nvSpPr>
        <p:spPr>
          <a:xfrm>
            <a:off x="685800" y="1613138"/>
            <a:ext cx="4114800" cy="5241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Montserrat"/>
                <a:ea typeface="Montserrat"/>
                <a:cs typeface="Montserrat"/>
                <a:sym typeface="Montserrat"/>
              </a:rPr>
              <a:t>Detailnya, kita akan membahas:</a:t>
            </a:r>
            <a:endParaRPr sz="1200">
              <a:solidFill>
                <a:schemeClr val="dk1"/>
              </a:solidFill>
              <a:latin typeface="Montserrat"/>
              <a:ea typeface="Montserrat"/>
              <a:cs typeface="Montserrat"/>
              <a:sym typeface="Montserrat"/>
            </a:endParaRPr>
          </a:p>
        </p:txBody>
      </p:sp>
      <p:sp>
        <p:nvSpPr>
          <p:cNvPr id="116" name="Google Shape;116;p21"/>
          <p:cNvSpPr/>
          <p:nvPr/>
        </p:nvSpPr>
        <p:spPr>
          <a:xfrm>
            <a:off x="685800" y="23845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7" name="Google Shape;117;p21"/>
          <p:cNvSpPr/>
          <p:nvPr/>
        </p:nvSpPr>
        <p:spPr>
          <a:xfrm>
            <a:off x="685800" y="2845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8" name="Google Shape;118;p21"/>
          <p:cNvSpPr/>
          <p:nvPr/>
        </p:nvSpPr>
        <p:spPr>
          <a:xfrm>
            <a:off x="685800" y="33068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9" name="Google Shape;119;p21"/>
          <p:cNvSpPr/>
          <p:nvPr/>
        </p:nvSpPr>
        <p:spPr>
          <a:xfrm>
            <a:off x="685800" y="37679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0" name="Google Shape;120;p21"/>
          <p:cNvSpPr txBox="1"/>
          <p:nvPr/>
        </p:nvSpPr>
        <p:spPr>
          <a:xfrm>
            <a:off x="1182350" y="23156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Best practices dalam UI/UX design</a:t>
            </a:r>
            <a:endParaRPr sz="1200">
              <a:solidFill>
                <a:srgbClr val="000000"/>
              </a:solidFill>
              <a:latin typeface="Montserrat"/>
              <a:ea typeface="Montserrat"/>
              <a:cs typeface="Montserrat"/>
              <a:sym typeface="Montserrat"/>
            </a:endParaRPr>
          </a:p>
        </p:txBody>
      </p:sp>
      <p:sp>
        <p:nvSpPr>
          <p:cNvPr id="121" name="Google Shape;121;p21"/>
          <p:cNvSpPr txBox="1"/>
          <p:nvPr/>
        </p:nvSpPr>
        <p:spPr>
          <a:xfrm>
            <a:off x="1182350" y="277682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Keseimbangan pada desain</a:t>
            </a:r>
            <a:endParaRPr sz="1200">
              <a:solidFill>
                <a:srgbClr val="000000"/>
              </a:solidFill>
              <a:latin typeface="Montserrat"/>
              <a:ea typeface="Montserrat"/>
              <a:cs typeface="Montserrat"/>
              <a:sym typeface="Montserrat"/>
            </a:endParaRPr>
          </a:p>
        </p:txBody>
      </p:sp>
      <p:sp>
        <p:nvSpPr>
          <p:cNvPr id="122" name="Google Shape;122;p21"/>
          <p:cNvSpPr txBox="1"/>
          <p:nvPr/>
        </p:nvSpPr>
        <p:spPr>
          <a:xfrm>
            <a:off x="1182350" y="32379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Penjajaran pada desain</a:t>
            </a:r>
            <a:endParaRPr sz="1200">
              <a:solidFill>
                <a:srgbClr val="000000"/>
              </a:solidFill>
              <a:latin typeface="Montserrat"/>
              <a:ea typeface="Montserrat"/>
              <a:cs typeface="Montserrat"/>
              <a:sym typeface="Montserrat"/>
            </a:endParaRPr>
          </a:p>
        </p:txBody>
      </p:sp>
      <p:sp>
        <p:nvSpPr>
          <p:cNvPr id="123" name="Google Shape;123;p21"/>
          <p:cNvSpPr txBox="1"/>
          <p:nvPr/>
        </p:nvSpPr>
        <p:spPr>
          <a:xfrm>
            <a:off x="1182350" y="3699138"/>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Membedakan desain yang baik dan buruk</a:t>
            </a:r>
            <a:endParaRPr sz="1200">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29" name="Google Shape;129;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0" name="Google Shape;130;p22"/>
          <p:cNvSpPr txBox="1"/>
          <p:nvPr/>
        </p:nvSpPr>
        <p:spPr>
          <a:xfrm>
            <a:off x="350700" y="1752150"/>
            <a:ext cx="4373700" cy="2134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Dalam design system guideline yang kita bahas di chapter 4 kemarin, ada satu acuan yakni best practices. Masih ingat kan, bestie?</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sekarang kita akan memperdalam bahasan </a:t>
            </a:r>
            <a:r>
              <a:rPr b="1" lang="en">
                <a:solidFill>
                  <a:srgbClr val="F2AB2F"/>
                </a:solidFill>
                <a:latin typeface="Montserrat"/>
                <a:ea typeface="Montserrat"/>
                <a:cs typeface="Montserrat"/>
                <a:sym typeface="Montserrat"/>
              </a:rPr>
              <a:t>best practices dalam UI/UX design</a:t>
            </a:r>
            <a:r>
              <a:rPr b="1" lang="en">
                <a:solidFill>
                  <a:schemeClr val="lt1"/>
                </a:solidFill>
                <a:latin typeface="Montserrat"/>
                <a:ea typeface="Montserrat"/>
                <a:cs typeface="Montserrat"/>
                <a:sym typeface="Montserrat"/>
              </a:rPr>
              <a:t>. Yuk let’s go ~</a:t>
            </a:r>
            <a:endParaRPr b="1">
              <a:solidFill>
                <a:schemeClr val="lt1"/>
              </a:solidFill>
              <a:latin typeface="Montserrat"/>
              <a:ea typeface="Montserrat"/>
              <a:cs typeface="Montserrat"/>
              <a:sym typeface="Montserrat"/>
            </a:endParaRPr>
          </a:p>
        </p:txBody>
      </p:sp>
      <p:pic>
        <p:nvPicPr>
          <p:cNvPr id="131" name="Google Shape;131;p22"/>
          <p:cNvPicPr preferRelativeResize="0"/>
          <p:nvPr/>
        </p:nvPicPr>
        <p:blipFill>
          <a:blip r:embed="rId3">
            <a:alphaModFix/>
          </a:blip>
          <a:stretch>
            <a:fillRect/>
          </a:stretch>
        </p:blipFill>
        <p:spPr>
          <a:xfrm>
            <a:off x="5035200" y="1327050"/>
            <a:ext cx="3581400" cy="298499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38" name="Google Shape;138;p23"/>
          <p:cNvSpPr txBox="1"/>
          <p:nvPr/>
        </p:nvSpPr>
        <p:spPr>
          <a:xfrm>
            <a:off x="685800" y="1583998"/>
            <a:ext cx="4114800" cy="1975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best practices?</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Best practices bisa menjadi acuan untuk menentukan apakah desain kita sudah baik atau belum.  Hal ini merupakan </a:t>
            </a:r>
            <a:r>
              <a:rPr b="1" lang="en" sz="1000">
                <a:solidFill>
                  <a:schemeClr val="dk1"/>
                </a:solidFill>
                <a:latin typeface="Montserrat"/>
                <a:ea typeface="Montserrat"/>
                <a:cs typeface="Montserrat"/>
                <a:sym typeface="Montserrat"/>
              </a:rPr>
              <a:t>koleksi prosedur dan anjuran yang ditetapkan sebagai yang benar atau yang paling efektif.</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telusuri beberapa indikator best practices untuk desain antarmuka dan pengalaman pengguna (user interface and experience) berikut ini.</a:t>
            </a:r>
            <a:endParaRPr sz="1000">
              <a:solidFill>
                <a:schemeClr val="dk1"/>
              </a:solidFill>
              <a:latin typeface="Montserrat"/>
              <a:ea typeface="Montserrat"/>
              <a:cs typeface="Montserrat"/>
              <a:sym typeface="Montserrat"/>
            </a:endParaRPr>
          </a:p>
        </p:txBody>
      </p:sp>
      <p:pic>
        <p:nvPicPr>
          <p:cNvPr id="139" name="Google Shape;139;p23"/>
          <p:cNvPicPr preferRelativeResize="0"/>
          <p:nvPr/>
        </p:nvPicPr>
        <p:blipFill>
          <a:blip r:embed="rId3">
            <a:alphaModFix/>
          </a:blip>
          <a:stretch>
            <a:fillRect/>
          </a:stretch>
        </p:blipFill>
        <p:spPr>
          <a:xfrm>
            <a:off x="5257800" y="632200"/>
            <a:ext cx="2404400" cy="4168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46" name="Google Shape;146;p24"/>
          <p:cNvSpPr txBox="1"/>
          <p:nvPr/>
        </p:nvSpPr>
        <p:spPr>
          <a:xfrm>
            <a:off x="685800" y="1944597"/>
            <a:ext cx="4114800" cy="125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Antarmuka desain harus seimbang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Antarmuka (interface) yang kamu desain harus tetap </a:t>
            </a:r>
            <a:r>
              <a:rPr b="1" lang="en" sz="1000">
                <a:solidFill>
                  <a:schemeClr val="dk1"/>
                </a:solidFill>
                <a:latin typeface="Montserrat"/>
                <a:ea typeface="Montserrat"/>
                <a:cs typeface="Montserrat"/>
                <a:sym typeface="Montserrat"/>
              </a:rPr>
              <a:t>sederhana dan seimbang</a:t>
            </a:r>
            <a:r>
              <a:rPr lang="en" sz="1000">
                <a:solidFill>
                  <a:schemeClr val="dk1"/>
                </a:solidFill>
                <a:latin typeface="Montserrat"/>
                <a:ea typeface="Montserrat"/>
                <a:cs typeface="Montserrat"/>
                <a:sym typeface="Montserrat"/>
              </a:rPr>
              <a:t> merupakan hal perlu dilakukan. Untuk lebih lanjutnya, kita akan membincangkan keseimbangan di sub-chapter berikutnya, ya gengs.</a:t>
            </a:r>
            <a:endParaRPr b="1" sz="1800">
              <a:solidFill>
                <a:srgbClr val="743673"/>
              </a:solidFill>
              <a:highlight>
                <a:schemeClr val="lt1"/>
              </a:highlight>
              <a:latin typeface="Montserrat"/>
              <a:ea typeface="Montserrat"/>
              <a:cs typeface="Montserrat"/>
              <a:sym typeface="Montserrat"/>
            </a:endParaRPr>
          </a:p>
        </p:txBody>
      </p:sp>
      <p:pic>
        <p:nvPicPr>
          <p:cNvPr id="147" name="Google Shape;147;p24"/>
          <p:cNvPicPr preferRelativeResize="0"/>
          <p:nvPr/>
        </p:nvPicPr>
        <p:blipFill>
          <a:blip r:embed="rId3">
            <a:alphaModFix/>
          </a:blip>
          <a:stretch>
            <a:fillRect/>
          </a:stretch>
        </p:blipFill>
        <p:spPr>
          <a:xfrm>
            <a:off x="5582318" y="2785749"/>
            <a:ext cx="1471995" cy="1254155"/>
          </a:xfrm>
          <a:prstGeom prst="rect">
            <a:avLst/>
          </a:prstGeom>
          <a:noFill/>
          <a:ln>
            <a:noFill/>
          </a:ln>
        </p:spPr>
      </p:pic>
      <p:pic>
        <p:nvPicPr>
          <p:cNvPr id="148" name="Google Shape;148;p24"/>
          <p:cNvPicPr preferRelativeResize="0"/>
          <p:nvPr/>
        </p:nvPicPr>
        <p:blipFill rotWithShape="1">
          <a:blip r:embed="rId4">
            <a:alphaModFix/>
          </a:blip>
          <a:srcRect b="2745" l="0" r="0" t="4196"/>
          <a:stretch/>
        </p:blipFill>
        <p:spPr>
          <a:xfrm>
            <a:off x="6349976" y="1188725"/>
            <a:ext cx="1391638" cy="1499034"/>
          </a:xfrm>
          <a:prstGeom prst="rect">
            <a:avLst/>
          </a:prstGeom>
          <a:noFill/>
          <a:ln>
            <a:noFill/>
          </a:ln>
        </p:spPr>
      </p:pic>
      <p:pic>
        <p:nvPicPr>
          <p:cNvPr id="149" name="Google Shape;149;p24"/>
          <p:cNvPicPr preferRelativeResize="0"/>
          <p:nvPr/>
        </p:nvPicPr>
        <p:blipFill>
          <a:blip r:embed="rId5">
            <a:alphaModFix/>
          </a:blip>
          <a:stretch>
            <a:fillRect/>
          </a:stretch>
        </p:blipFill>
        <p:spPr>
          <a:xfrm>
            <a:off x="7142761" y="2785748"/>
            <a:ext cx="1391639" cy="125415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56" name="Google Shape;156;p25"/>
          <p:cNvSpPr txBox="1"/>
          <p:nvPr/>
        </p:nvSpPr>
        <p:spPr>
          <a:xfrm>
            <a:off x="685800" y="1885047"/>
            <a:ext cx="4114800" cy="1373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menyederhanakan desain, bisa dilakukan dengan dua cara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Hindari elemen-elemen yang tidak diperlukan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Gunakan bahasa yang jelas pada label buttons, pop-ups dan elemen-elemen lainnya.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mengamati contoh pada gambar di samping ya.</a:t>
            </a:r>
            <a:endParaRPr b="1" sz="1800">
              <a:solidFill>
                <a:srgbClr val="743673"/>
              </a:solidFill>
              <a:highlight>
                <a:schemeClr val="lt1"/>
              </a:highlight>
              <a:latin typeface="Montserrat"/>
              <a:ea typeface="Montserrat"/>
              <a:cs typeface="Montserrat"/>
              <a:sym typeface="Montserrat"/>
            </a:endParaRPr>
          </a:p>
        </p:txBody>
      </p:sp>
      <p:pic>
        <p:nvPicPr>
          <p:cNvPr id="157" name="Google Shape;157;p25"/>
          <p:cNvPicPr preferRelativeResize="0"/>
          <p:nvPr/>
        </p:nvPicPr>
        <p:blipFill>
          <a:blip r:embed="rId3">
            <a:alphaModFix/>
          </a:blip>
          <a:stretch>
            <a:fillRect/>
          </a:stretch>
        </p:blipFill>
        <p:spPr>
          <a:xfrm>
            <a:off x="5582318" y="2785749"/>
            <a:ext cx="1471995" cy="1254155"/>
          </a:xfrm>
          <a:prstGeom prst="rect">
            <a:avLst/>
          </a:prstGeom>
          <a:noFill/>
          <a:ln>
            <a:noFill/>
          </a:ln>
        </p:spPr>
      </p:pic>
      <p:pic>
        <p:nvPicPr>
          <p:cNvPr id="158" name="Google Shape;158;p25"/>
          <p:cNvPicPr preferRelativeResize="0"/>
          <p:nvPr/>
        </p:nvPicPr>
        <p:blipFill rotWithShape="1">
          <a:blip r:embed="rId4">
            <a:alphaModFix/>
          </a:blip>
          <a:srcRect b="2745" l="0" r="0" t="4196"/>
          <a:stretch/>
        </p:blipFill>
        <p:spPr>
          <a:xfrm>
            <a:off x="6349976" y="1188725"/>
            <a:ext cx="1391638" cy="1499034"/>
          </a:xfrm>
          <a:prstGeom prst="rect">
            <a:avLst/>
          </a:prstGeom>
          <a:noFill/>
          <a:ln>
            <a:noFill/>
          </a:ln>
        </p:spPr>
      </p:pic>
      <p:pic>
        <p:nvPicPr>
          <p:cNvPr id="159" name="Google Shape;159;p25"/>
          <p:cNvPicPr preferRelativeResize="0"/>
          <p:nvPr/>
        </p:nvPicPr>
        <p:blipFill>
          <a:blip r:embed="rId5">
            <a:alphaModFix/>
          </a:blip>
          <a:stretch>
            <a:fillRect/>
          </a:stretch>
        </p:blipFill>
        <p:spPr>
          <a:xfrm>
            <a:off x="7142761" y="2785748"/>
            <a:ext cx="1391639" cy="125415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5" name="Google Shape;16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66" name="Google Shape;166;p26"/>
          <p:cNvSpPr txBox="1"/>
          <p:nvPr/>
        </p:nvSpPr>
        <p:spPr>
          <a:xfrm>
            <a:off x="685800" y="1874400"/>
            <a:ext cx="4269600" cy="139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Gunakan elemen-elemen desain secara konsisten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Masih ingat kan mengapa desain kita harus konsisten?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konsisten, pengguna akan merasa lebih nyaman dan  dapat menyelesaikan berbagai hal dengan lebih cepat.</a:t>
            </a:r>
            <a:endParaRPr sz="1000">
              <a:solidFill>
                <a:schemeClr val="dk1"/>
              </a:solidFill>
              <a:latin typeface="Montserrat"/>
              <a:ea typeface="Montserrat"/>
              <a:cs typeface="Montserrat"/>
              <a:sym typeface="Montserrat"/>
            </a:endParaRPr>
          </a:p>
        </p:txBody>
      </p:sp>
      <p:pic>
        <p:nvPicPr>
          <p:cNvPr id="167" name="Google Shape;167;p26"/>
          <p:cNvPicPr preferRelativeResize="0"/>
          <p:nvPr/>
        </p:nvPicPr>
        <p:blipFill>
          <a:blip r:embed="rId3">
            <a:alphaModFix/>
          </a:blip>
          <a:stretch>
            <a:fillRect/>
          </a:stretch>
        </p:blipFill>
        <p:spPr>
          <a:xfrm>
            <a:off x="5229025" y="914400"/>
            <a:ext cx="3202510" cy="38861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3" name="Google Shape;17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74" name="Google Shape;174;p27"/>
          <p:cNvSpPr txBox="1"/>
          <p:nvPr/>
        </p:nvSpPr>
        <p:spPr>
          <a:xfrm>
            <a:off x="685800" y="1932150"/>
            <a:ext cx="4269600" cy="127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a:t>
            </a:r>
            <a:r>
              <a:rPr b="1" lang="en" sz="1000">
                <a:solidFill>
                  <a:schemeClr val="dk1"/>
                </a:solidFill>
                <a:latin typeface="Montserrat"/>
                <a:ea typeface="Montserrat"/>
                <a:cs typeface="Montserrat"/>
                <a:sym typeface="Montserrat"/>
              </a:rPr>
              <a:t>konsistensi dapat dicapai dengan membuat elemen desain seragam, terlihat dan berperilaku dengan cara yang sama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Lagi-lagi nih gengs, kita diingatkan betapa pentingnya design system dalam memudahkan desainer membuat desain. Jika dilakukan dengan benar, berpotensi meningkatkan kepuasaan pengguna.</a:t>
            </a:r>
            <a:endParaRPr sz="1000">
              <a:solidFill>
                <a:schemeClr val="dk1"/>
              </a:solidFill>
              <a:latin typeface="Montserrat"/>
              <a:ea typeface="Montserrat"/>
              <a:cs typeface="Montserrat"/>
              <a:sym typeface="Montserrat"/>
            </a:endParaRPr>
          </a:p>
        </p:txBody>
      </p:sp>
      <p:pic>
        <p:nvPicPr>
          <p:cNvPr id="175" name="Google Shape;175;p27"/>
          <p:cNvPicPr preferRelativeResize="0"/>
          <p:nvPr/>
        </p:nvPicPr>
        <p:blipFill>
          <a:blip r:embed="rId3">
            <a:alphaModFix/>
          </a:blip>
          <a:stretch>
            <a:fillRect/>
          </a:stretch>
        </p:blipFill>
        <p:spPr>
          <a:xfrm>
            <a:off x="5229025" y="914400"/>
            <a:ext cx="3202510" cy="38861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82" name="Google Shape;182;p28"/>
          <p:cNvSpPr txBox="1"/>
          <p:nvPr/>
        </p:nvSpPr>
        <p:spPr>
          <a:xfrm>
            <a:off x="685800" y="1715998"/>
            <a:ext cx="4114800" cy="171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Pertimbangkan tata letak (layout)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 kamu, item apa yang perlu pengguna lihat terlebih dahulu?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Membayangkan jawaban dari pertanyaan tersebut bisa membantu kita mempertimbangkan </a:t>
            </a:r>
            <a:r>
              <a:rPr b="1" lang="en" sz="1000">
                <a:solidFill>
                  <a:schemeClr val="dk1"/>
                </a:solidFill>
                <a:latin typeface="Montserrat"/>
                <a:ea typeface="Montserrat"/>
                <a:cs typeface="Montserrat"/>
                <a:sym typeface="Montserrat"/>
              </a:rPr>
              <a:t>hubungan spasial antara item pada halaman dan struktur halaman berdasarkan prioritas atau kepentingan pengguna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83" name="Google Shape;183;p28"/>
          <p:cNvPicPr preferRelativeResize="0"/>
          <p:nvPr/>
        </p:nvPicPr>
        <p:blipFill rotWithShape="1">
          <a:blip r:embed="rId3">
            <a:alphaModFix/>
          </a:blip>
          <a:srcRect b="-29735" l="0" r="0" t="0"/>
          <a:stretch/>
        </p:blipFill>
        <p:spPr>
          <a:xfrm>
            <a:off x="5486400" y="1207587"/>
            <a:ext cx="3017519" cy="27431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9" name="Google Shape;189;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90" name="Google Shape;190;p29"/>
          <p:cNvSpPr txBox="1"/>
          <p:nvPr/>
        </p:nvSpPr>
        <p:spPr>
          <a:xfrm>
            <a:off x="685800" y="2296946"/>
            <a:ext cx="4114800" cy="54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Penempatan item yang cermat dapat membantu menarik perhatian dan memudahkan pengguna memindai informasi yang paling penting.</a:t>
            </a:r>
            <a:endParaRPr sz="1000">
              <a:solidFill>
                <a:schemeClr val="dk1"/>
              </a:solidFill>
              <a:latin typeface="Montserrat"/>
              <a:ea typeface="Montserrat"/>
              <a:cs typeface="Montserrat"/>
              <a:sym typeface="Montserrat"/>
            </a:endParaRPr>
          </a:p>
        </p:txBody>
      </p:sp>
      <p:pic>
        <p:nvPicPr>
          <p:cNvPr id="191" name="Google Shape;191;p29"/>
          <p:cNvPicPr preferRelativeResize="0"/>
          <p:nvPr/>
        </p:nvPicPr>
        <p:blipFill rotWithShape="1">
          <a:blip r:embed="rId3">
            <a:alphaModFix/>
          </a:blip>
          <a:srcRect b="-29735" l="0" r="0" t="0"/>
          <a:stretch/>
        </p:blipFill>
        <p:spPr>
          <a:xfrm>
            <a:off x="5486400" y="1207587"/>
            <a:ext cx="3017519" cy="27431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7" name="Google Shape;197;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98" name="Google Shape;198;p30"/>
          <p:cNvSpPr txBox="1"/>
          <p:nvPr/>
        </p:nvSpPr>
        <p:spPr>
          <a:xfrm>
            <a:off x="685800" y="1811097"/>
            <a:ext cx="4114800" cy="152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Gunakan warna dan tekstur secara strategis</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mempertimbangkan layout, kamu juga bisa mengarahkan atau mengalihkan perhatian pengguna terhadap item </a:t>
            </a:r>
            <a:r>
              <a:rPr b="1" lang="en" sz="1000">
                <a:solidFill>
                  <a:schemeClr val="dk1"/>
                </a:solidFill>
                <a:latin typeface="Montserrat"/>
                <a:ea typeface="Montserrat"/>
                <a:cs typeface="Montserrat"/>
                <a:sym typeface="Montserrat"/>
              </a:rPr>
              <a:t>menggunakan warna, kontras, dan tekstur </a:t>
            </a:r>
            <a:r>
              <a:rPr lang="en" sz="1000">
                <a:solidFill>
                  <a:schemeClr val="dk1"/>
                </a:solidFill>
                <a:latin typeface="Montserrat"/>
                <a:ea typeface="Montserrat"/>
                <a:cs typeface="Montserrat"/>
                <a:sym typeface="Montserrat"/>
              </a:rPr>
              <a:t>di desain yang kamu buat.</a:t>
            </a:r>
            <a:endParaRPr sz="1000">
              <a:solidFill>
                <a:schemeClr val="dk1"/>
              </a:solidFill>
              <a:latin typeface="Montserrat"/>
              <a:ea typeface="Montserrat"/>
              <a:cs typeface="Montserrat"/>
              <a:sym typeface="Montserrat"/>
            </a:endParaRPr>
          </a:p>
        </p:txBody>
      </p:sp>
      <p:pic>
        <p:nvPicPr>
          <p:cNvPr id="199" name="Google Shape;199;p30"/>
          <p:cNvPicPr preferRelativeResize="0"/>
          <p:nvPr/>
        </p:nvPicPr>
        <p:blipFill rotWithShape="1">
          <a:blip r:embed="rId3">
            <a:alphaModFix/>
          </a:blip>
          <a:srcRect b="-18427" l="2439" r="1156" t="0"/>
          <a:stretch/>
        </p:blipFill>
        <p:spPr>
          <a:xfrm>
            <a:off x="5486400" y="1207587"/>
            <a:ext cx="3017520" cy="27431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206" name="Google Shape;206;p31"/>
          <p:cNvSpPr txBox="1"/>
          <p:nvPr/>
        </p:nvSpPr>
        <p:spPr>
          <a:xfrm>
            <a:off x="685800" y="1921950"/>
            <a:ext cx="3951300" cy="129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Komunikasikan apa yang sedang terjadi kepada pengguna</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Pastikan desain kamu </a:t>
            </a:r>
            <a:r>
              <a:rPr b="1" lang="en" sz="1000">
                <a:solidFill>
                  <a:schemeClr val="dk1"/>
                </a:solidFill>
                <a:latin typeface="Montserrat"/>
                <a:ea typeface="Montserrat"/>
                <a:cs typeface="Montserrat"/>
                <a:sym typeface="Montserrat"/>
              </a:rPr>
              <a:t>mengkomunikasikan apa yang sedang terjadi pada sistem</a:t>
            </a:r>
            <a:r>
              <a:rPr lang="en" sz="1000">
                <a:solidFill>
                  <a:schemeClr val="dk1"/>
                </a:solidFill>
                <a:latin typeface="Montserrat"/>
                <a:ea typeface="Montserrat"/>
                <a:cs typeface="Montserrat"/>
                <a:sym typeface="Montserrat"/>
              </a:rPr>
              <a:t>, misalnya lokasi, tindakan, perubahan status, atau kesalahan yang mereka lakukan.</a:t>
            </a:r>
            <a:endParaRPr sz="1000">
              <a:solidFill>
                <a:schemeClr val="dk1"/>
              </a:solidFill>
              <a:latin typeface="Montserrat"/>
              <a:ea typeface="Montserrat"/>
              <a:cs typeface="Montserrat"/>
              <a:sym typeface="Montserrat"/>
            </a:endParaRPr>
          </a:p>
        </p:txBody>
      </p:sp>
      <p:pic>
        <p:nvPicPr>
          <p:cNvPr id="207" name="Google Shape;207;p31"/>
          <p:cNvPicPr preferRelativeResize="0"/>
          <p:nvPr/>
        </p:nvPicPr>
        <p:blipFill>
          <a:blip r:embed="rId3">
            <a:alphaModFix/>
          </a:blip>
          <a:stretch>
            <a:fillRect/>
          </a:stretch>
        </p:blipFill>
        <p:spPr>
          <a:xfrm>
            <a:off x="4972000" y="1237509"/>
            <a:ext cx="3892199" cy="310283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214" name="Google Shape;214;p32"/>
          <p:cNvSpPr txBox="1"/>
          <p:nvPr/>
        </p:nvSpPr>
        <p:spPr>
          <a:xfrm>
            <a:off x="685800" y="2027550"/>
            <a:ext cx="3951300" cy="108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bisa menggunakan berbagai elemen UI untuk mengkomunikasikan status, pesan sukses, dan pesan error jika diperlukan.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Mengkomunikasikan pesan tentang apa yang sedang terjadi  dapat mengurangi frustasi bagi pengguna produk kamu.</a:t>
            </a:r>
            <a:endParaRPr sz="1000">
              <a:solidFill>
                <a:schemeClr val="dk1"/>
              </a:solidFill>
              <a:latin typeface="Montserrat"/>
              <a:ea typeface="Montserrat"/>
              <a:cs typeface="Montserrat"/>
              <a:sym typeface="Montserrat"/>
            </a:endParaRPr>
          </a:p>
        </p:txBody>
      </p:sp>
      <p:pic>
        <p:nvPicPr>
          <p:cNvPr id="215" name="Google Shape;215;p32"/>
          <p:cNvPicPr preferRelativeResize="0"/>
          <p:nvPr/>
        </p:nvPicPr>
        <p:blipFill>
          <a:blip r:embed="rId3">
            <a:alphaModFix/>
          </a:blip>
          <a:stretch>
            <a:fillRect/>
          </a:stretch>
        </p:blipFill>
        <p:spPr>
          <a:xfrm>
            <a:off x="4972000" y="1237509"/>
            <a:ext cx="3892199" cy="310283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21" name="Google Shape;221;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3"/>
          <p:cNvSpPr txBox="1"/>
          <p:nvPr/>
        </p:nvSpPr>
        <p:spPr>
          <a:xfrm>
            <a:off x="405300" y="1725150"/>
            <a:ext cx="45720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Best practices mampu mengarahkan kita agar desain tidak hanya nyaman dilihat tetapi juga dicerna informasinya oleh pengguna.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Seperti yang kita sebutkan tadi, </a:t>
            </a:r>
            <a:r>
              <a:rPr b="1" lang="en">
                <a:solidFill>
                  <a:srgbClr val="F2AB2F"/>
                </a:solidFill>
                <a:latin typeface="Montserrat"/>
                <a:ea typeface="Montserrat"/>
                <a:cs typeface="Montserrat"/>
                <a:sym typeface="Montserrat"/>
              </a:rPr>
              <a:t>keseimbangan pada desain</a:t>
            </a:r>
            <a:r>
              <a:rPr b="1" lang="en">
                <a:solidFill>
                  <a:schemeClr val="lt1"/>
                </a:solidFill>
                <a:latin typeface="Montserrat"/>
                <a:ea typeface="Montserrat"/>
                <a:cs typeface="Montserrat"/>
                <a:sym typeface="Montserrat"/>
              </a:rPr>
              <a:t> menjadi salah satu aspek penting dalam best practices. Yuk kita simak bersama ~</a:t>
            </a:r>
            <a:endParaRPr b="1">
              <a:solidFill>
                <a:schemeClr val="lt1"/>
              </a:solidFill>
              <a:latin typeface="Montserrat"/>
              <a:ea typeface="Montserrat"/>
              <a:cs typeface="Montserrat"/>
              <a:sym typeface="Montserrat"/>
            </a:endParaRPr>
          </a:p>
        </p:txBody>
      </p:sp>
      <p:pic>
        <p:nvPicPr>
          <p:cNvPr id="223" name="Google Shape;223;p33"/>
          <p:cNvPicPr preferRelativeResize="0"/>
          <p:nvPr/>
        </p:nvPicPr>
        <p:blipFill>
          <a:blip r:embed="rId3">
            <a:alphaModFix/>
          </a:blip>
          <a:stretch>
            <a:fillRect/>
          </a:stretch>
        </p:blipFill>
        <p:spPr>
          <a:xfrm flipH="1">
            <a:off x="5391527" y="914401"/>
            <a:ext cx="2441086" cy="38861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9" name="Google Shape;22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30" name="Google Shape;230;p34"/>
          <p:cNvSpPr txBox="1"/>
          <p:nvPr/>
        </p:nvSpPr>
        <p:spPr>
          <a:xfrm>
            <a:off x="685800" y="1879647"/>
            <a:ext cx="4114800" cy="1384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Sering mendengar kata “keseimbangan” kan, gengs? Kata tersebut banyak digunakan dengan konteks berbeda.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diet sehat yang seimbang, yoga mengajarkan keseimbangan, work life balance, dan sebagainya.</a:t>
            </a:r>
            <a:endParaRPr sz="1000">
              <a:solidFill>
                <a:schemeClr val="dk1"/>
              </a:solidFill>
              <a:latin typeface="Montserrat"/>
              <a:ea typeface="Montserrat"/>
              <a:cs typeface="Montserrat"/>
              <a:sym typeface="Montserrat"/>
            </a:endParaRPr>
          </a:p>
        </p:txBody>
      </p:sp>
      <p:pic>
        <p:nvPicPr>
          <p:cNvPr id="231" name="Google Shape;231;p34"/>
          <p:cNvPicPr preferRelativeResize="0"/>
          <p:nvPr/>
        </p:nvPicPr>
        <p:blipFill>
          <a:blip r:embed="rId3">
            <a:alphaModFix/>
          </a:blip>
          <a:stretch>
            <a:fillRect/>
          </a:stretch>
        </p:blipFill>
        <p:spPr>
          <a:xfrm>
            <a:off x="5048588" y="914400"/>
            <a:ext cx="3085424" cy="388619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7" name="Google Shape;237;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38" name="Google Shape;238;p35"/>
          <p:cNvSpPr txBox="1"/>
          <p:nvPr/>
        </p:nvSpPr>
        <p:spPr>
          <a:xfrm>
            <a:off x="685800" y="2032797"/>
            <a:ext cx="4114800" cy="107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Keseimbangan diperlukan agar tidak berat sebelah atau kekurangan di sisi lainnya</a:t>
            </a:r>
            <a:r>
              <a:rPr lang="en" sz="1000">
                <a:solidFill>
                  <a:schemeClr val="dk1"/>
                </a:solidFill>
                <a:latin typeface="Montserrat"/>
                <a:ea typeface="Montserrat"/>
                <a:cs typeface="Montserrat"/>
                <a:sym typeface="Montserrat"/>
              </a:rPr>
              <a:t>. Hal yang sama berlaku pula dalam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beberapa hal yang bisa kita tempuh untuk membuat desain yang seimbang. Kita bahas di slide berikutnya ya.</a:t>
            </a:r>
            <a:endParaRPr sz="1000">
              <a:solidFill>
                <a:schemeClr val="dk1"/>
              </a:solidFill>
              <a:latin typeface="Montserrat"/>
              <a:ea typeface="Montserrat"/>
              <a:cs typeface="Montserrat"/>
              <a:sym typeface="Montserrat"/>
            </a:endParaRPr>
          </a:p>
        </p:txBody>
      </p:sp>
      <p:pic>
        <p:nvPicPr>
          <p:cNvPr id="239" name="Google Shape;239;p35"/>
          <p:cNvPicPr preferRelativeResize="0"/>
          <p:nvPr/>
        </p:nvPicPr>
        <p:blipFill>
          <a:blip r:embed="rId3">
            <a:alphaModFix/>
          </a:blip>
          <a:stretch>
            <a:fillRect/>
          </a:stretch>
        </p:blipFill>
        <p:spPr>
          <a:xfrm>
            <a:off x="5048588" y="914400"/>
            <a:ext cx="3085424" cy="38861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5" name="Google Shape;24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46" name="Google Shape;246;p36"/>
          <p:cNvSpPr txBox="1"/>
          <p:nvPr/>
        </p:nvSpPr>
        <p:spPr>
          <a:xfrm>
            <a:off x="685800" y="1446749"/>
            <a:ext cx="4114800" cy="2250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Visual weight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Visual weight atau bobot visual adalah </a:t>
            </a:r>
            <a:r>
              <a:rPr b="1" lang="en" sz="1000">
                <a:solidFill>
                  <a:schemeClr val="dk1"/>
                </a:solidFill>
                <a:latin typeface="Montserrat"/>
                <a:ea typeface="Montserrat"/>
                <a:cs typeface="Montserrat"/>
                <a:sym typeface="Montserrat"/>
              </a:rPr>
              <a:t>ukuran seberapa menonjol suatu elemen dibandingkan dengan elemen di sekitarnya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Visual weight bisa diubah dan disesuaikan dengan beberapa faktor seperti ukuran bentuk, warna, kontras, dan atau kepadatan elemen.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bahas satu-satu bagaimana faktor tersebut berdampak pada bobot visual.</a:t>
            </a:r>
            <a:endParaRPr sz="1000">
              <a:solidFill>
                <a:schemeClr val="dk1"/>
              </a:solidFill>
              <a:latin typeface="Montserrat"/>
              <a:ea typeface="Montserrat"/>
              <a:cs typeface="Montserrat"/>
              <a:sym typeface="Montserrat"/>
            </a:endParaRPr>
          </a:p>
        </p:txBody>
      </p:sp>
      <p:pic>
        <p:nvPicPr>
          <p:cNvPr id="247" name="Google Shape;247;p36"/>
          <p:cNvPicPr preferRelativeResize="0"/>
          <p:nvPr/>
        </p:nvPicPr>
        <p:blipFill>
          <a:blip r:embed="rId3">
            <a:alphaModFix/>
          </a:blip>
          <a:stretch>
            <a:fillRect/>
          </a:stretch>
        </p:blipFill>
        <p:spPr>
          <a:xfrm>
            <a:off x="5208274" y="914400"/>
            <a:ext cx="3329009" cy="3886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53" name="Google Shape;253;p37"/>
          <p:cNvPicPr preferRelativeResize="0"/>
          <p:nvPr/>
        </p:nvPicPr>
        <p:blipFill>
          <a:blip r:embed="rId3">
            <a:alphaModFix/>
          </a:blip>
          <a:stretch>
            <a:fillRect/>
          </a:stretch>
        </p:blipFill>
        <p:spPr>
          <a:xfrm>
            <a:off x="5072525" y="1423650"/>
            <a:ext cx="3238725" cy="2296199"/>
          </a:xfrm>
          <a:prstGeom prst="rect">
            <a:avLst/>
          </a:prstGeom>
          <a:noFill/>
          <a:ln>
            <a:noFill/>
          </a:ln>
        </p:spPr>
      </p:pic>
      <p:sp>
        <p:nvSpPr>
          <p:cNvPr id="254" name="Google Shape;254;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55" name="Google Shape;255;p37"/>
          <p:cNvSpPr txBox="1"/>
          <p:nvPr/>
        </p:nvSpPr>
        <p:spPr>
          <a:xfrm>
            <a:off x="685800" y="1817400"/>
            <a:ext cx="3951300" cy="150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Visual weight dengan ukuran</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Ukuran merupakan faktor paling jelas yang berkontribusi pada bobot visual.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Coba kita perhatikan gambar di samping. Kotak di kiri mempunyai bobot visual lebih banyak daripada kotak di sebelah kanan karena ukurannya lebih besar.</a:t>
            </a:r>
            <a:endParaRPr sz="1600">
              <a:solidFill>
                <a:srgbClr val="743673"/>
              </a:solidFill>
              <a:highlight>
                <a:schemeClr val="lt1"/>
              </a:highlight>
              <a:latin typeface="Montserrat"/>
              <a:ea typeface="Montserrat"/>
              <a:cs typeface="Montserrat"/>
              <a:sym typeface="Montserrat"/>
            </a:endParaRPr>
          </a:p>
        </p:txBody>
      </p:sp>
      <p:pic>
        <p:nvPicPr>
          <p:cNvPr id="256" name="Google Shape;256;p37"/>
          <p:cNvPicPr preferRelativeResize="0"/>
          <p:nvPr/>
        </p:nvPicPr>
        <p:blipFill rotWithShape="1">
          <a:blip r:embed="rId4">
            <a:alphaModFix/>
          </a:blip>
          <a:srcRect b="0" l="0" r="15031" t="0"/>
          <a:stretch/>
        </p:blipFill>
        <p:spPr>
          <a:xfrm>
            <a:off x="5409912" y="1985400"/>
            <a:ext cx="2563950" cy="1508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38"/>
          <p:cNvPicPr preferRelativeResize="0"/>
          <p:nvPr/>
        </p:nvPicPr>
        <p:blipFill>
          <a:blip r:embed="rId3">
            <a:alphaModFix/>
          </a:blip>
          <a:stretch>
            <a:fillRect/>
          </a:stretch>
        </p:blipFill>
        <p:spPr>
          <a:xfrm>
            <a:off x="5051400" y="1423650"/>
            <a:ext cx="3238725" cy="2296199"/>
          </a:xfrm>
          <a:prstGeom prst="rect">
            <a:avLst/>
          </a:prstGeom>
          <a:noFill/>
          <a:ln>
            <a:noFill/>
          </a:ln>
        </p:spPr>
      </p:pic>
      <p:sp>
        <p:nvSpPr>
          <p:cNvPr id="262" name="Google Shape;262;p38"/>
          <p:cNvSpPr txBox="1"/>
          <p:nvPr/>
        </p:nvSpPr>
        <p:spPr>
          <a:xfrm>
            <a:off x="685800" y="1689600"/>
            <a:ext cx="3951300" cy="176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Visual weight dengan warna</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Secara ukuran, gambar di samping bobotnya terlihat sama. Lantas, apa yang membedakan?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Betul, warnanya berbeda. </a:t>
            </a:r>
            <a:r>
              <a:rPr b="1" lang="en" sz="1000">
                <a:solidFill>
                  <a:schemeClr val="dk1"/>
                </a:solidFill>
                <a:latin typeface="Montserrat"/>
                <a:ea typeface="Montserrat"/>
                <a:cs typeface="Montserrat"/>
                <a:sym typeface="Montserrat"/>
              </a:rPr>
              <a:t>Persepsi kita tentang warna biasanya dipengaruhi oleh warna-warna di sekitarnya</a:t>
            </a:r>
            <a:r>
              <a:rPr lang="en" sz="1000">
                <a:solidFill>
                  <a:schemeClr val="dk1"/>
                </a:solidFill>
                <a:latin typeface="Montserrat"/>
                <a:ea typeface="Montserrat"/>
                <a:cs typeface="Montserrat"/>
                <a:sym typeface="Montserrat"/>
              </a:rPr>
              <a:t>. Seperti yang kita lihat, warna merah lebih menuntut perhatian daripada kotak berwarna kuning.</a:t>
            </a:r>
            <a:endParaRPr sz="1600">
              <a:solidFill>
                <a:srgbClr val="743673"/>
              </a:solidFill>
              <a:highlight>
                <a:schemeClr val="lt1"/>
              </a:highlight>
              <a:latin typeface="Montserrat"/>
              <a:ea typeface="Montserrat"/>
              <a:cs typeface="Montserrat"/>
              <a:sym typeface="Montserrat"/>
            </a:endParaRPr>
          </a:p>
        </p:txBody>
      </p:sp>
      <p:sp>
        <p:nvSpPr>
          <p:cNvPr id="263" name="Google Shape;263;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4" name="Google Shape;264;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pic>
        <p:nvPicPr>
          <p:cNvPr id="265" name="Google Shape;265;p38"/>
          <p:cNvPicPr preferRelativeResize="0"/>
          <p:nvPr/>
        </p:nvPicPr>
        <p:blipFill>
          <a:blip r:embed="rId4">
            <a:alphaModFix/>
          </a:blip>
          <a:stretch>
            <a:fillRect/>
          </a:stretch>
        </p:blipFill>
        <p:spPr>
          <a:xfrm>
            <a:off x="5163100" y="1994800"/>
            <a:ext cx="3015326" cy="1507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72" name="Google Shape;272;p39"/>
          <p:cNvSpPr txBox="1"/>
          <p:nvPr/>
        </p:nvSpPr>
        <p:spPr>
          <a:xfrm>
            <a:off x="685800" y="1637848"/>
            <a:ext cx="4114800" cy="1867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Visual weight dengan kontras</a:t>
            </a:r>
            <a:br>
              <a:rPr lang="en" sz="1200">
                <a:solidFill>
                  <a:schemeClr val="dk1"/>
                </a:solidFill>
                <a:latin typeface="Montserrat Medium"/>
                <a:ea typeface="Montserrat Medium"/>
                <a:cs typeface="Montserrat Medium"/>
                <a:sym typeface="Montserrat Medium"/>
              </a:rPr>
            </a:b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selanjutnya, menggunakan kotak berwarna sama dengan contoh sebelumnya namun diberi warna latar merah lebih gelap, kita dapat melihat bagaimana </a:t>
            </a:r>
            <a:r>
              <a:rPr b="1" lang="en" sz="1000">
                <a:solidFill>
                  <a:schemeClr val="dk1"/>
                </a:solidFill>
                <a:latin typeface="Montserrat"/>
                <a:ea typeface="Montserrat"/>
                <a:cs typeface="Montserrat"/>
                <a:sym typeface="Montserrat"/>
              </a:rPr>
              <a:t>kontras dapat secara drastis mengubah persepsi kita tentang warna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demikian, latar belakang merah yang lebih gelap </a:t>
            </a:r>
            <a:r>
              <a:rPr lang="en" sz="1000">
                <a:solidFill>
                  <a:schemeClr val="dk1"/>
                </a:solidFill>
                <a:latin typeface="Montserrat"/>
                <a:ea typeface="Montserrat"/>
                <a:cs typeface="Montserrat"/>
                <a:sym typeface="Montserrat"/>
              </a:rPr>
              <a:t>mengurangi kontras pada kotak kiri dan meningkatkan kontras pada kotak kanan.</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273" name="Google Shape;273;p39"/>
          <p:cNvPicPr preferRelativeResize="0"/>
          <p:nvPr/>
        </p:nvPicPr>
        <p:blipFill>
          <a:blip r:embed="rId3">
            <a:alphaModFix/>
          </a:blip>
          <a:stretch>
            <a:fillRect/>
          </a:stretch>
        </p:blipFill>
        <p:spPr>
          <a:xfrm>
            <a:off x="5083100" y="1423650"/>
            <a:ext cx="3238725" cy="2296199"/>
          </a:xfrm>
          <a:prstGeom prst="rect">
            <a:avLst/>
          </a:prstGeom>
          <a:noFill/>
          <a:ln>
            <a:noFill/>
          </a:ln>
        </p:spPr>
      </p:pic>
      <p:sp>
        <p:nvSpPr>
          <p:cNvPr id="274" name="Google Shape;274;p39"/>
          <p:cNvSpPr/>
          <p:nvPr/>
        </p:nvSpPr>
        <p:spPr>
          <a:xfrm>
            <a:off x="5127550" y="1809450"/>
            <a:ext cx="3153900" cy="1867800"/>
          </a:xfrm>
          <a:prstGeom prst="roundRect">
            <a:avLst>
              <a:gd fmla="val 1426" name="adj"/>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5" name="Google Shape;275;p39"/>
          <p:cNvPicPr preferRelativeResize="0"/>
          <p:nvPr/>
        </p:nvPicPr>
        <p:blipFill>
          <a:blip r:embed="rId4">
            <a:alphaModFix/>
          </a:blip>
          <a:stretch>
            <a:fillRect/>
          </a:stretch>
        </p:blipFill>
        <p:spPr>
          <a:xfrm>
            <a:off x="5193700" y="1984860"/>
            <a:ext cx="3017526" cy="15087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40"/>
          <p:cNvPicPr preferRelativeResize="0"/>
          <p:nvPr/>
        </p:nvPicPr>
        <p:blipFill>
          <a:blip r:embed="rId3">
            <a:alphaModFix/>
          </a:blip>
          <a:stretch>
            <a:fillRect/>
          </a:stretch>
        </p:blipFill>
        <p:spPr>
          <a:xfrm>
            <a:off x="5072525" y="1423650"/>
            <a:ext cx="3238725" cy="2296199"/>
          </a:xfrm>
          <a:prstGeom prst="rect">
            <a:avLst/>
          </a:prstGeom>
          <a:noFill/>
          <a:ln>
            <a:noFill/>
          </a:ln>
        </p:spPr>
      </p:pic>
      <p:sp>
        <p:nvSpPr>
          <p:cNvPr id="281" name="Google Shape;281;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2" name="Google Shape;282;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83" name="Google Shape;283;p40"/>
          <p:cNvSpPr txBox="1"/>
          <p:nvPr/>
        </p:nvSpPr>
        <p:spPr>
          <a:xfrm>
            <a:off x="685800" y="1378050"/>
            <a:ext cx="4114800" cy="238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Visual weight dengan kepadatan (density)</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Gambar di samping memiliki ukuran, warna, dan kontras yang sama nih, gengs. Lalu, apa yang membedakan?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Jawabannya adalah kepadatan atau density. Kotak di sebelah kanan memiliki bobot visual yang lebih besar dibandingkan kotak di sebelah kiri.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Di sini, </a:t>
            </a:r>
            <a:r>
              <a:rPr b="1" lang="en" sz="1000">
                <a:solidFill>
                  <a:schemeClr val="dk1"/>
                </a:solidFill>
                <a:latin typeface="Montserrat"/>
                <a:ea typeface="Montserrat"/>
                <a:cs typeface="Montserrat"/>
                <a:sym typeface="Montserrat"/>
              </a:rPr>
              <a:t>whitespace atau ruang kosong berperan dalam menciptakan keseimbangan bobot visual</a:t>
            </a:r>
            <a:r>
              <a:rPr lang="en" sz="1000">
                <a:solidFill>
                  <a:schemeClr val="dk1"/>
                </a:solidFill>
                <a:latin typeface="Montserrat"/>
                <a:ea typeface="Montserrat"/>
                <a:cs typeface="Montserrat"/>
                <a:sym typeface="Montserrat"/>
              </a:rPr>
              <a:t>.</a:t>
            </a:r>
            <a:endParaRPr i="1" sz="1200">
              <a:solidFill>
                <a:schemeClr val="dk1"/>
              </a:solidFill>
              <a:latin typeface="Montserrat"/>
              <a:ea typeface="Montserrat"/>
              <a:cs typeface="Montserrat"/>
              <a:sym typeface="Montserrat"/>
            </a:endParaRPr>
          </a:p>
        </p:txBody>
      </p:sp>
      <p:pic>
        <p:nvPicPr>
          <p:cNvPr id="284" name="Google Shape;284;p40"/>
          <p:cNvPicPr preferRelativeResize="0"/>
          <p:nvPr/>
        </p:nvPicPr>
        <p:blipFill>
          <a:blip r:embed="rId4">
            <a:alphaModFix/>
          </a:blip>
          <a:stretch>
            <a:fillRect/>
          </a:stretch>
        </p:blipFill>
        <p:spPr>
          <a:xfrm>
            <a:off x="5183125" y="1965950"/>
            <a:ext cx="3017526" cy="150874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90" name="Google Shape;290;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91" name="Google Shape;291;p41"/>
          <p:cNvSpPr txBox="1"/>
          <p:nvPr/>
        </p:nvSpPr>
        <p:spPr>
          <a:xfrm>
            <a:off x="631300" y="1707225"/>
            <a:ext cx="4398900" cy="244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Dari contoh-contoh tadi, bisa kita simpulkan bahwa sedikit perubahan pada ukuran, warna, kontras, atau kepadatan dapat mempengaruhi bobot visual elemen pada desain kamu.</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yang akan kita lihat berikutnya adalah bagaimana faktor-faktor tersebut digabungkan untuk membantu membangun rasa keseimbangan pada desain kita.</a:t>
            </a:r>
            <a:endParaRPr b="1">
              <a:solidFill>
                <a:schemeClr val="lt1"/>
              </a:solidFill>
              <a:latin typeface="Montserrat"/>
              <a:ea typeface="Montserrat"/>
              <a:cs typeface="Montserrat"/>
              <a:sym typeface="Montserrat"/>
            </a:endParaRPr>
          </a:p>
        </p:txBody>
      </p:sp>
      <p:pic>
        <p:nvPicPr>
          <p:cNvPr id="292" name="Google Shape;292;p41"/>
          <p:cNvPicPr preferRelativeResize="0"/>
          <p:nvPr/>
        </p:nvPicPr>
        <p:blipFill>
          <a:blip r:embed="rId3">
            <a:alphaModFix/>
          </a:blip>
          <a:stretch>
            <a:fillRect/>
          </a:stretch>
        </p:blipFill>
        <p:spPr>
          <a:xfrm>
            <a:off x="5674763" y="914401"/>
            <a:ext cx="2062680" cy="38861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8" name="Google Shape;298;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99" name="Google Shape;299;p42"/>
          <p:cNvSpPr txBox="1"/>
          <p:nvPr/>
        </p:nvSpPr>
        <p:spPr>
          <a:xfrm>
            <a:off x="685800" y="1858647"/>
            <a:ext cx="4114800" cy="142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 vs ketegangan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Tanpa keseimbangan, kita menciptakan ketegangan visual yang dapat berdampak negatif pada persepsi pengguna terhadap desain kita.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lihat beberapa contohnya yuk.</a:t>
            </a:r>
            <a:endParaRPr sz="1200">
              <a:solidFill>
                <a:schemeClr val="dk1"/>
              </a:solidFill>
              <a:latin typeface="Montserrat Medium"/>
              <a:ea typeface="Montserrat Medium"/>
              <a:cs typeface="Montserrat Medium"/>
              <a:sym typeface="Montserrat Medium"/>
            </a:endParaRPr>
          </a:p>
        </p:txBody>
      </p:sp>
      <p:pic>
        <p:nvPicPr>
          <p:cNvPr id="300" name="Google Shape;300;p42"/>
          <p:cNvPicPr preferRelativeResize="0"/>
          <p:nvPr/>
        </p:nvPicPr>
        <p:blipFill>
          <a:blip r:embed="rId3">
            <a:alphaModFix/>
          </a:blip>
          <a:stretch>
            <a:fillRect/>
          </a:stretch>
        </p:blipFill>
        <p:spPr>
          <a:xfrm>
            <a:off x="5111400" y="914400"/>
            <a:ext cx="3270598" cy="3886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6" name="Google Shape;306;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07" name="Google Shape;307;p43"/>
          <p:cNvSpPr txBox="1"/>
          <p:nvPr/>
        </p:nvSpPr>
        <p:spPr>
          <a:xfrm>
            <a:off x="685800" y="1188720"/>
            <a:ext cx="73152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Mari kita perhatikan gambar di bawah ini. Apakah ada yang aneh?</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Betul, bobot visualnya tidak seimbang. Mengapa? Penggunaan teks di tengah membentuk keseimbangan simetris pada sumbu vertikal. Namun, opsi tombol di bagian kiri halaman secara visual membuatnya terasa “lebih berat”, di mana hal tersebut menimbulkan ketegangan visual.</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Ketegangan visual menyebabkan otak kita berpikir </a:t>
            </a:r>
            <a:r>
              <a:rPr lang="en" sz="1000">
                <a:solidFill>
                  <a:schemeClr val="dk1"/>
                </a:solidFill>
                <a:latin typeface="Montserrat"/>
                <a:ea typeface="Montserrat"/>
                <a:cs typeface="Montserrat"/>
                <a:sym typeface="Montserrat"/>
              </a:rPr>
              <a:t>"ada yang aneh dengan desain ini." </a:t>
            </a:r>
            <a:r>
              <a:rPr b="1" lang="en" sz="1000">
                <a:solidFill>
                  <a:schemeClr val="dk1"/>
                </a:solidFill>
                <a:latin typeface="Montserrat"/>
                <a:ea typeface="Montserrat"/>
                <a:cs typeface="Montserrat"/>
                <a:sym typeface="Montserrat"/>
              </a:rPr>
              <a:t>Desain yang baik perlu bobot visual yang didistribusikan secara merata di kedua sisi halaman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08" name="Google Shape;308;p43"/>
          <p:cNvPicPr preferRelativeResize="0"/>
          <p:nvPr/>
        </p:nvPicPr>
        <p:blipFill>
          <a:blip r:embed="rId3">
            <a:alphaModFix/>
          </a:blip>
          <a:stretch>
            <a:fillRect/>
          </a:stretch>
        </p:blipFill>
        <p:spPr>
          <a:xfrm>
            <a:off x="685800" y="2961357"/>
            <a:ext cx="3951302" cy="150396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15" name="Google Shape;315;p44"/>
          <p:cNvSpPr txBox="1"/>
          <p:nvPr/>
        </p:nvSpPr>
        <p:spPr>
          <a:xfrm>
            <a:off x="685800" y="1188720"/>
            <a:ext cx="7315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000">
                <a:solidFill>
                  <a:schemeClr val="dk1"/>
                </a:solidFill>
                <a:latin typeface="Montserrat"/>
                <a:ea typeface="Montserrat"/>
                <a:cs typeface="Montserrat"/>
                <a:sym typeface="Montserrat"/>
              </a:rPr>
              <a:t>Perhatikanlah gambar kedua.</a:t>
            </a:r>
            <a:br>
              <a:rPr lang="en" sz="1200">
                <a:solidFill>
                  <a:schemeClr val="dk1"/>
                </a:solidFill>
                <a:latin typeface="Montserrat Medium"/>
                <a:ea typeface="Montserrat Medium"/>
                <a:cs typeface="Montserrat Medium"/>
                <a:sym typeface="Montserrat Medium"/>
              </a:rPr>
            </a:b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Sebagian besar dari kita akan setuju bahwa gambar kedua lebih baik daripada yang pertama. Ini karena otak kita menginginkan keseimbangan daripada ketegangan.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Tapi, perlu diingat juga nih, gengs. Hal ini tidak berarti kamu harus menghindari ketegangan visual ya. Justru, </a:t>
            </a:r>
            <a:r>
              <a:rPr b="1" lang="en" sz="1000">
                <a:solidFill>
                  <a:schemeClr val="dk1"/>
                </a:solidFill>
                <a:latin typeface="Montserrat"/>
                <a:ea typeface="Montserrat"/>
                <a:cs typeface="Montserrat"/>
                <a:sym typeface="Montserrat"/>
              </a:rPr>
              <a:t>tegangan atau tension bisa kita mainkan namun dengan kehati-hatian dan cermat</a:t>
            </a:r>
            <a:r>
              <a:rPr lang="en" sz="1000">
                <a:solidFill>
                  <a:schemeClr val="dk1"/>
                </a:solidFill>
                <a:latin typeface="Montserrat"/>
                <a:ea typeface="Montserrat"/>
                <a:cs typeface="Montserrat"/>
                <a:sym typeface="Montserrat"/>
              </a:rPr>
              <a:t>.</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16" name="Google Shape;316;p44"/>
          <p:cNvPicPr preferRelativeResize="0"/>
          <p:nvPr/>
        </p:nvPicPr>
        <p:blipFill>
          <a:blip r:embed="rId3">
            <a:alphaModFix/>
          </a:blip>
          <a:stretch>
            <a:fillRect/>
          </a:stretch>
        </p:blipFill>
        <p:spPr>
          <a:xfrm>
            <a:off x="4724396" y="2961350"/>
            <a:ext cx="3965055" cy="1503976"/>
          </a:xfrm>
          <a:prstGeom prst="rect">
            <a:avLst/>
          </a:prstGeom>
          <a:noFill/>
          <a:ln>
            <a:noFill/>
          </a:ln>
        </p:spPr>
      </p:pic>
      <p:pic>
        <p:nvPicPr>
          <p:cNvPr id="317" name="Google Shape;317;p44"/>
          <p:cNvPicPr preferRelativeResize="0"/>
          <p:nvPr/>
        </p:nvPicPr>
        <p:blipFill>
          <a:blip r:embed="rId4">
            <a:alphaModFix/>
          </a:blip>
          <a:stretch>
            <a:fillRect/>
          </a:stretch>
        </p:blipFill>
        <p:spPr>
          <a:xfrm>
            <a:off x="685800" y="2961357"/>
            <a:ext cx="3951302" cy="150396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24" name="Google Shape;324;p45"/>
          <p:cNvSpPr txBox="1"/>
          <p:nvPr/>
        </p:nvSpPr>
        <p:spPr>
          <a:xfrm>
            <a:off x="685800" y="1400275"/>
            <a:ext cx="4038600" cy="1672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gambar-gambar di samping, kamu bisa melihat perbedaan keseimbangan secara jelas.</a:t>
            </a:r>
            <a:endParaRPr sz="1000">
              <a:solidFill>
                <a:schemeClr val="dk1"/>
              </a:solidFill>
              <a:latin typeface="Montserrat"/>
              <a:ea typeface="Montserrat"/>
              <a:cs typeface="Montserrat"/>
              <a:sym typeface="Montserrat"/>
            </a:endParaRPr>
          </a:p>
        </p:txBody>
      </p:sp>
      <p:pic>
        <p:nvPicPr>
          <p:cNvPr id="325" name="Google Shape;325;p45"/>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326" name="Google Shape;326;p45"/>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327" name="Google Shape;327;p45"/>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3" name="Google Shape;333;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34" name="Google Shape;334;p46"/>
          <p:cNvSpPr txBox="1"/>
          <p:nvPr/>
        </p:nvSpPr>
        <p:spPr>
          <a:xfrm>
            <a:off x="685800" y="1400275"/>
            <a:ext cx="4038600" cy="1672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gambar-gambar di samping, kamu bisa melihat perbedaan keseimbangan secara jelas.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Gambar pertama menghasilkan ketidakseimbangan kontras. Dampaknya, tidak hanya lebih sulit untuk membaca tombol utama, tetapi tombol sekunder pun tampaknya membawa bobot visual yang lebih banyak.</a:t>
            </a:r>
            <a:endParaRPr sz="1000">
              <a:solidFill>
                <a:schemeClr val="dk1"/>
              </a:solidFill>
              <a:latin typeface="Montserrat"/>
              <a:ea typeface="Montserrat"/>
              <a:cs typeface="Montserrat"/>
              <a:sym typeface="Montserrat"/>
            </a:endParaRPr>
          </a:p>
        </p:txBody>
      </p:sp>
      <p:pic>
        <p:nvPicPr>
          <p:cNvPr id="335" name="Google Shape;335;p46"/>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336" name="Google Shape;336;p46"/>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337" name="Google Shape;337;p46"/>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3" name="Google Shape;343;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44" name="Google Shape;344;p47"/>
          <p:cNvSpPr txBox="1"/>
          <p:nvPr/>
        </p:nvSpPr>
        <p:spPr>
          <a:xfrm>
            <a:off x="685800" y="1402225"/>
            <a:ext cx="4038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gambar-gambar di samping, kamu bisa melihat perbedaan keseimbangan secara jelas.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Gambar pertama menghasilkan ketidakseimbangan kontras. Dampaknya, tidak hanya lebih sulit untuk membaca tombol utama, tetapi tombol sekunder pun tampaknya membawa bobot visual yang lebih banyak.</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Di gambar kedua, masalah kontras sudah diperbaiki. Tetapi tombol utama sekarang terasa terlalu berat dibandingkan tombol sekunder.</a:t>
            </a:r>
            <a:endParaRPr sz="1000">
              <a:solidFill>
                <a:schemeClr val="dk1"/>
              </a:solidFill>
              <a:latin typeface="Montserrat"/>
              <a:ea typeface="Montserrat"/>
              <a:cs typeface="Montserrat"/>
              <a:sym typeface="Montserrat"/>
            </a:endParaRPr>
          </a:p>
        </p:txBody>
      </p:sp>
      <p:pic>
        <p:nvPicPr>
          <p:cNvPr id="345" name="Google Shape;345;p47"/>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346" name="Google Shape;346;p47"/>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347" name="Google Shape;347;p47"/>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3" name="Google Shape;353;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54" name="Google Shape;354;p48"/>
          <p:cNvSpPr txBox="1"/>
          <p:nvPr/>
        </p:nvSpPr>
        <p:spPr>
          <a:xfrm>
            <a:off x="685800" y="1417325"/>
            <a:ext cx="4038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gambar-gambar di samping, kamu bisa melihat perbedaan keseimbangan secara jelas.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Gambar pertama menghasilkan ketidakseimbangan kontras. Dampaknya, tidak hanya lebih sulit untuk membaca tombol utama, tetapi tombol sekunder pun tampaknya membawa bobot visual yang lebih banyak.</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Di gambar kedua, masalah kontras sudah diperbaiki. Tetapi tombol utama sekarang terasa terlalu berat dibandingkan tombol sekunder.</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gambar ketiga, kepadatan tombol </a:t>
            </a:r>
            <a:r>
              <a:rPr lang="en" sz="1000">
                <a:solidFill>
                  <a:schemeClr val="dk1"/>
                </a:solidFill>
                <a:latin typeface="Montserrat"/>
                <a:ea typeface="Montserrat"/>
                <a:cs typeface="Montserrat"/>
                <a:sym typeface="Montserrat"/>
              </a:rPr>
              <a:t>sekunder disesuaikan dengan tombol utama, menghasilkan jumlah keseimbangan dan ketegangan yang tepat.</a:t>
            </a:r>
            <a:endParaRPr sz="1000">
              <a:solidFill>
                <a:schemeClr val="dk1"/>
              </a:solidFill>
              <a:latin typeface="Montserrat"/>
              <a:ea typeface="Montserrat"/>
              <a:cs typeface="Montserrat"/>
              <a:sym typeface="Montserrat"/>
            </a:endParaRPr>
          </a:p>
        </p:txBody>
      </p:sp>
      <p:pic>
        <p:nvPicPr>
          <p:cNvPr id="355" name="Google Shape;355;p48"/>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356" name="Google Shape;356;p48"/>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357" name="Google Shape;357;p48"/>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64" name="Google Shape;364;p49"/>
          <p:cNvSpPr txBox="1"/>
          <p:nvPr/>
        </p:nvSpPr>
        <p:spPr>
          <a:xfrm>
            <a:off x="685800" y="1546948"/>
            <a:ext cx="4114800" cy="204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Mencapai keseimbangan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Ada empat cara untuk mencapai keseimbangan pada desain. Pada umumnya, keseimbangan dibuat pada dua sisi sumbu yang tidak terlihat, baik vertikal maupun horizontal.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Walaupun keseimbangan vertikal dan horizontal lebih umum, keseimbangan juga dapat dibuat secara diagonal, atau dengan beberapa sumbu lainnya.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simak keempat cara tersebut satu per satu ~</a:t>
            </a:r>
            <a:endParaRPr sz="1200">
              <a:solidFill>
                <a:schemeClr val="dk1"/>
              </a:solidFill>
              <a:latin typeface="Montserrat Medium"/>
              <a:ea typeface="Montserrat Medium"/>
              <a:cs typeface="Montserrat Medium"/>
              <a:sym typeface="Montserrat Medium"/>
            </a:endParaRPr>
          </a:p>
        </p:txBody>
      </p:sp>
      <p:pic>
        <p:nvPicPr>
          <p:cNvPr id="365" name="Google Shape;365;p49">
            <a:hlinkClick r:id="rId3"/>
          </p:cNvPr>
          <p:cNvPicPr preferRelativeResize="0"/>
          <p:nvPr/>
        </p:nvPicPr>
        <p:blipFill rotWithShape="1">
          <a:blip r:embed="rId4">
            <a:alphaModFix/>
          </a:blip>
          <a:srcRect b="0" l="14467" r="14474" t="0"/>
          <a:stretch/>
        </p:blipFill>
        <p:spPr>
          <a:xfrm>
            <a:off x="5486400" y="1207587"/>
            <a:ext cx="3017518" cy="274319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1" name="Google Shape;371;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72" name="Google Shape;372;p50"/>
          <p:cNvSpPr txBox="1"/>
          <p:nvPr/>
        </p:nvSpPr>
        <p:spPr>
          <a:xfrm>
            <a:off x="563875" y="1577098"/>
            <a:ext cx="4114800" cy="199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 simetris atau </a:t>
            </a:r>
            <a:r>
              <a:rPr b="1" lang="en" sz="1600">
                <a:solidFill>
                  <a:srgbClr val="743673"/>
                </a:solidFill>
                <a:highlight>
                  <a:schemeClr val="lt1"/>
                </a:highlight>
                <a:latin typeface="Montserrat"/>
                <a:ea typeface="Montserrat"/>
                <a:cs typeface="Montserrat"/>
                <a:sym typeface="Montserrat"/>
              </a:rPr>
              <a:t>formal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dapat mengamati simetri pada banyak aspek di alam, seperti pada wajah manusia atau bentuk kupu-kupu. </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Keseimbangan simetris atau formal dicapai dengan </a:t>
            </a:r>
            <a:r>
              <a:rPr b="1" lang="en" sz="1000">
                <a:solidFill>
                  <a:schemeClr val="dk1"/>
                </a:solidFill>
                <a:latin typeface="Montserrat"/>
                <a:ea typeface="Montserrat"/>
                <a:cs typeface="Montserrat"/>
                <a:sym typeface="Montserrat"/>
              </a:rPr>
              <a:t>mencerminkan objek pada satu atau beberapa sumbu</a:t>
            </a:r>
            <a:r>
              <a:rPr lang="en" sz="1000">
                <a:solidFill>
                  <a:schemeClr val="dk1"/>
                </a:solidFill>
                <a:latin typeface="Montserrat"/>
                <a:ea typeface="Montserrat"/>
                <a:cs typeface="Montserrat"/>
                <a:sym typeface="Montserrat"/>
              </a:rPr>
              <a:t>. Gambar di samping adalah sebuah contoh simetri yang reflektif, di mana dua benda saling bercermin pada sumbu vertikal.</a:t>
            </a:r>
            <a:endParaRPr sz="1000">
              <a:solidFill>
                <a:schemeClr val="dk1"/>
              </a:solidFill>
              <a:latin typeface="Montserrat"/>
              <a:ea typeface="Montserrat"/>
              <a:cs typeface="Montserrat"/>
              <a:sym typeface="Montserrat"/>
            </a:endParaRPr>
          </a:p>
        </p:txBody>
      </p:sp>
      <p:pic>
        <p:nvPicPr>
          <p:cNvPr id="373" name="Google Shape;373;p50"/>
          <p:cNvPicPr preferRelativeResize="0"/>
          <p:nvPr/>
        </p:nvPicPr>
        <p:blipFill>
          <a:blip r:embed="rId3">
            <a:alphaModFix/>
          </a:blip>
          <a:stretch>
            <a:fillRect/>
          </a:stretch>
        </p:blipFill>
        <p:spPr>
          <a:xfrm>
            <a:off x="5364475" y="1595383"/>
            <a:ext cx="3017526" cy="150876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9" name="Google Shape;379;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80" name="Google Shape;380;p51"/>
          <p:cNvSpPr txBox="1"/>
          <p:nvPr/>
        </p:nvSpPr>
        <p:spPr>
          <a:xfrm>
            <a:off x="586738" y="1727373"/>
            <a:ext cx="4114800" cy="178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Keseimbangan simetris sering digunakan untuk mengekspresikan nuansa anggun, elegan, atau formalitas.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Namun, terlalu banyak simetri dalam desain dapat membuat desain  membosankan.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gambar berikut, Adham Dannaway menggunakan keseimbangan simetris, pada waktu yang sama juga membedakan kedua sisi, cukup untuk membuat hal-hal lebih menarik.</a:t>
            </a:r>
            <a:endParaRPr sz="1000">
              <a:solidFill>
                <a:schemeClr val="dk1"/>
              </a:solidFill>
              <a:latin typeface="Montserrat"/>
              <a:ea typeface="Montserrat"/>
              <a:cs typeface="Montserrat"/>
              <a:sym typeface="Montserrat"/>
            </a:endParaRPr>
          </a:p>
        </p:txBody>
      </p:sp>
      <p:pic>
        <p:nvPicPr>
          <p:cNvPr id="381" name="Google Shape;381;p51"/>
          <p:cNvPicPr preferRelativeResize="0"/>
          <p:nvPr/>
        </p:nvPicPr>
        <p:blipFill>
          <a:blip r:embed="rId3">
            <a:alphaModFix/>
          </a:blip>
          <a:stretch>
            <a:fillRect/>
          </a:stretch>
        </p:blipFill>
        <p:spPr>
          <a:xfrm>
            <a:off x="5387338" y="1745650"/>
            <a:ext cx="3017527" cy="164878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88" name="Google Shape;388;p52"/>
          <p:cNvSpPr txBox="1"/>
          <p:nvPr/>
        </p:nvSpPr>
        <p:spPr>
          <a:xfrm>
            <a:off x="662938" y="1808225"/>
            <a:ext cx="4354200" cy="150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 asimetris atau informal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Kita juga dapat mengalami asimetri di alam, dapat dilihat pada pepohonan atau formasi batuan.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Sesuai dengan katanya,</a:t>
            </a:r>
            <a:r>
              <a:rPr b="1" lang="en" sz="1000">
                <a:solidFill>
                  <a:schemeClr val="dk1"/>
                </a:solidFill>
                <a:latin typeface="Montserrat"/>
                <a:ea typeface="Montserrat"/>
                <a:cs typeface="Montserrat"/>
                <a:sym typeface="Montserrat"/>
              </a:rPr>
              <a:t> "asimetri" menunjukkan kurangnya simetri</a:t>
            </a:r>
            <a:r>
              <a:rPr lang="en" sz="1000">
                <a:solidFill>
                  <a:schemeClr val="dk1"/>
                </a:solidFill>
                <a:latin typeface="Montserrat"/>
                <a:ea typeface="Montserrat"/>
                <a:cs typeface="Montserrat"/>
                <a:sym typeface="Montserrat"/>
              </a:rPr>
              <a:t>. Keseimbangan juga dapat diciptakan dengan elemen asimetris.</a:t>
            </a:r>
            <a:endParaRPr sz="1200">
              <a:solidFill>
                <a:schemeClr val="dk1"/>
              </a:solidFill>
              <a:latin typeface="Montserrat Medium"/>
              <a:ea typeface="Montserrat Medium"/>
              <a:cs typeface="Montserrat Medium"/>
              <a:sym typeface="Montserrat Medium"/>
            </a:endParaRPr>
          </a:p>
        </p:txBody>
      </p:sp>
      <p:pic>
        <p:nvPicPr>
          <p:cNvPr id="389" name="Google Shape;389;p52"/>
          <p:cNvPicPr preferRelativeResize="0"/>
          <p:nvPr/>
        </p:nvPicPr>
        <p:blipFill>
          <a:blip r:embed="rId3">
            <a:alphaModFix/>
          </a:blip>
          <a:stretch>
            <a:fillRect/>
          </a:stretch>
        </p:blipFill>
        <p:spPr>
          <a:xfrm>
            <a:off x="5463537" y="1826501"/>
            <a:ext cx="3017524" cy="150877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53"/>
          <p:cNvPicPr preferRelativeResize="0"/>
          <p:nvPr/>
        </p:nvPicPr>
        <p:blipFill>
          <a:blip r:embed="rId3">
            <a:alphaModFix/>
          </a:blip>
          <a:stretch>
            <a:fillRect/>
          </a:stretch>
        </p:blipFill>
        <p:spPr>
          <a:xfrm>
            <a:off x="5496949" y="1835668"/>
            <a:ext cx="3017527" cy="1472144"/>
          </a:xfrm>
          <a:prstGeom prst="rect">
            <a:avLst/>
          </a:prstGeom>
          <a:noFill/>
          <a:ln>
            <a:noFill/>
          </a:ln>
        </p:spPr>
      </p:pic>
      <p:sp>
        <p:nvSpPr>
          <p:cNvPr id="395" name="Google Shape;395;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6" name="Google Shape;396;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97" name="Google Shape;397;p53"/>
          <p:cNvSpPr txBox="1"/>
          <p:nvPr/>
        </p:nvSpPr>
        <p:spPr>
          <a:xfrm>
            <a:off x="685800" y="2043447"/>
            <a:ext cx="4114800" cy="1056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Berbeda dengan simetri, yang bisa sedikit monoton, asimetri dapat digunakan untuk membuat desain lebih dinamis dan hidup.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contoh berikut, Ricardo Mestre menampilkan desain yang menyenangkan dan koheren dengan keseimbangan asimetris.</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04" name="Google Shape;404;p54"/>
          <p:cNvSpPr txBox="1"/>
          <p:nvPr/>
        </p:nvSpPr>
        <p:spPr>
          <a:xfrm>
            <a:off x="685800" y="1842747"/>
            <a:ext cx="4114800" cy="1458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 radial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b="1" lang="en" sz="1800">
                <a:solidFill>
                  <a:srgbClr val="743673"/>
                </a:solidFill>
                <a:highlight>
                  <a:schemeClr val="lt1"/>
                </a:highlight>
                <a:latin typeface="Montserrat"/>
                <a:ea typeface="Montserrat"/>
                <a:cs typeface="Montserrat"/>
                <a:sym typeface="Montserrat"/>
              </a:rPr>
            </a:br>
            <a:r>
              <a:rPr lang="en" sz="1000">
                <a:solidFill>
                  <a:schemeClr val="dk1"/>
                </a:solidFill>
                <a:latin typeface="Montserrat"/>
                <a:ea typeface="Montserrat"/>
                <a:cs typeface="Montserrat"/>
                <a:sym typeface="Montserrat"/>
              </a:rPr>
              <a:t>Keseimbangan radial terbentuk ketika </a:t>
            </a:r>
            <a:r>
              <a:rPr b="1" lang="en" sz="1000">
                <a:solidFill>
                  <a:schemeClr val="dk1"/>
                </a:solidFill>
                <a:latin typeface="Montserrat"/>
                <a:ea typeface="Montserrat"/>
                <a:cs typeface="Montserrat"/>
                <a:sym typeface="Montserrat"/>
              </a:rPr>
              <a:t>elemen tampak memancar dari sebuah titik atau fokus pusat</a:t>
            </a:r>
            <a:r>
              <a:rPr lang="en" sz="1000">
                <a:solidFill>
                  <a:schemeClr val="dk1"/>
                </a:solidFill>
                <a:latin typeface="Montserrat"/>
                <a:ea typeface="Montserrat"/>
                <a:cs typeface="Montserrat"/>
                <a:sym typeface="Montserrat"/>
              </a:rPr>
              <a:t>.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Metode ini dapat digunakan untuk menarik perhatian menuju kepada pusat desain yang kamu buat.</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05" name="Google Shape;405;p54"/>
          <p:cNvPicPr preferRelativeResize="0"/>
          <p:nvPr/>
        </p:nvPicPr>
        <p:blipFill>
          <a:blip r:embed="rId3">
            <a:alphaModFix/>
          </a:blip>
          <a:stretch>
            <a:fillRect/>
          </a:stretch>
        </p:blipFill>
        <p:spPr>
          <a:xfrm>
            <a:off x="5486400" y="1207009"/>
            <a:ext cx="3017526" cy="1508762"/>
          </a:xfrm>
          <a:prstGeom prst="rect">
            <a:avLst/>
          </a:prstGeom>
          <a:noFill/>
          <a:ln>
            <a:noFill/>
          </a:ln>
        </p:spPr>
      </p:pic>
      <p:pic>
        <p:nvPicPr>
          <p:cNvPr id="406" name="Google Shape;406;p54"/>
          <p:cNvPicPr preferRelativeResize="0"/>
          <p:nvPr/>
        </p:nvPicPr>
        <p:blipFill>
          <a:blip r:embed="rId4">
            <a:alphaModFix/>
          </a:blip>
          <a:stretch>
            <a:fillRect/>
          </a:stretch>
        </p:blipFill>
        <p:spPr>
          <a:xfrm>
            <a:off x="5496163" y="2815849"/>
            <a:ext cx="2997999" cy="15087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id="411" name="Google Shape;411;p55"/>
          <p:cNvPicPr preferRelativeResize="0"/>
          <p:nvPr/>
        </p:nvPicPr>
        <p:blipFill>
          <a:blip r:embed="rId3">
            <a:alphaModFix/>
          </a:blip>
          <a:stretch>
            <a:fillRect/>
          </a:stretch>
        </p:blipFill>
        <p:spPr>
          <a:xfrm>
            <a:off x="5486400" y="1822251"/>
            <a:ext cx="2997976" cy="1499002"/>
          </a:xfrm>
          <a:prstGeom prst="rect">
            <a:avLst/>
          </a:prstGeom>
          <a:noFill/>
          <a:ln>
            <a:noFill/>
          </a:ln>
        </p:spPr>
      </p:pic>
      <p:sp>
        <p:nvSpPr>
          <p:cNvPr id="412" name="Google Shape;412;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14" name="Google Shape;414;p55"/>
          <p:cNvSpPr txBox="1"/>
          <p:nvPr/>
        </p:nvSpPr>
        <p:spPr>
          <a:xfrm>
            <a:off x="685800" y="1716000"/>
            <a:ext cx="4301400" cy="171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 m</a:t>
            </a:r>
            <a:r>
              <a:rPr b="1" lang="en" sz="1600">
                <a:solidFill>
                  <a:srgbClr val="743673"/>
                </a:solidFill>
                <a:highlight>
                  <a:schemeClr val="lt1"/>
                </a:highlight>
                <a:latin typeface="Montserrat"/>
                <a:ea typeface="Montserrat"/>
                <a:cs typeface="Montserrat"/>
                <a:sym typeface="Montserrat"/>
              </a:rPr>
              <a:t>osaik/kristalografi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b="1" lang="en" sz="1800">
                <a:solidFill>
                  <a:srgbClr val="743673"/>
                </a:solidFill>
                <a:highlight>
                  <a:schemeClr val="lt1"/>
                </a:highlight>
                <a:latin typeface="Montserrat"/>
                <a:ea typeface="Montserrat"/>
                <a:cs typeface="Montserrat"/>
                <a:sym typeface="Montserrat"/>
              </a:rPr>
            </a:br>
            <a:r>
              <a:rPr lang="en" sz="1000">
                <a:solidFill>
                  <a:schemeClr val="dk1"/>
                </a:solidFill>
                <a:latin typeface="Montserrat"/>
                <a:ea typeface="Montserrat"/>
                <a:cs typeface="Montserrat"/>
                <a:sym typeface="Montserrat"/>
              </a:rPr>
              <a:t>Keseimbangan mosaik atau kristalografi dapat digambarkan sebagai </a:t>
            </a:r>
            <a:r>
              <a:rPr b="1" lang="en" sz="1000">
                <a:solidFill>
                  <a:schemeClr val="dk1"/>
                </a:solidFill>
                <a:latin typeface="Montserrat"/>
                <a:ea typeface="Montserrat"/>
                <a:cs typeface="Montserrat"/>
                <a:sym typeface="Montserrat"/>
              </a:rPr>
              <a:t>"kekacauan terorganisir"</a:t>
            </a:r>
            <a:r>
              <a:rPr lang="en" sz="1000">
                <a:solidFill>
                  <a:schemeClr val="dk1"/>
                </a:solidFill>
                <a:latin typeface="Montserrat"/>
                <a:ea typeface="Montserrat"/>
                <a:cs typeface="Montserrat"/>
                <a:sym typeface="Montserrat"/>
              </a:rPr>
              <a:t>.</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Keseimbangan tersebut dapat terlihat dari sebuah pola atau pengulangan, di mana tidak ada satu elemen pun yang lebih menonjol daripada elemen lainnya.</a:t>
            </a:r>
            <a:endParaRPr sz="1000">
              <a:solidFill>
                <a:schemeClr val="dk1"/>
              </a:solidFill>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p56"/>
          <p:cNvPicPr preferRelativeResize="0"/>
          <p:nvPr/>
        </p:nvPicPr>
        <p:blipFill>
          <a:blip r:embed="rId3">
            <a:alphaModFix/>
          </a:blip>
          <a:stretch>
            <a:fillRect/>
          </a:stretch>
        </p:blipFill>
        <p:spPr>
          <a:xfrm>
            <a:off x="5384024" y="1180049"/>
            <a:ext cx="2997977" cy="1458800"/>
          </a:xfrm>
          <a:prstGeom prst="rect">
            <a:avLst/>
          </a:prstGeom>
          <a:noFill/>
          <a:ln>
            <a:noFill/>
          </a:ln>
        </p:spPr>
      </p:pic>
      <p:sp>
        <p:nvSpPr>
          <p:cNvPr id="420" name="Google Shape;420;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1" name="Google Shape;421;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22" name="Google Shape;422;p56"/>
          <p:cNvSpPr txBox="1"/>
          <p:nvPr/>
        </p:nvSpPr>
        <p:spPr>
          <a:xfrm>
            <a:off x="685800" y="2051549"/>
            <a:ext cx="4114800" cy="104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t</a:t>
            </a:r>
            <a:r>
              <a:rPr lang="en" sz="1000">
                <a:solidFill>
                  <a:schemeClr val="dk1"/>
                </a:solidFill>
                <a:latin typeface="Montserrat"/>
                <a:ea typeface="Montserrat"/>
                <a:cs typeface="Montserrat"/>
                <a:sym typeface="Montserrat"/>
              </a:rPr>
              <a:t>ata letak atau layout Pinterest dan Tumblr adalah salah satu contoh keseimbangan mosaik.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Kurangnya keselarasan vertikal antar elemen terasa agak kacau, tetapi keselarasan horizontal dan konsistensi antar elemen membantu mengorganisir kekacauan itu.</a:t>
            </a:r>
            <a:endParaRPr sz="1000">
              <a:solidFill>
                <a:schemeClr val="dk1"/>
              </a:solidFill>
              <a:latin typeface="Montserrat"/>
              <a:ea typeface="Montserrat"/>
              <a:cs typeface="Montserrat"/>
              <a:sym typeface="Montserrat"/>
            </a:endParaRPr>
          </a:p>
        </p:txBody>
      </p:sp>
      <p:pic>
        <p:nvPicPr>
          <p:cNvPr id="423" name="Google Shape;423;p56"/>
          <p:cNvPicPr preferRelativeResize="0"/>
          <p:nvPr/>
        </p:nvPicPr>
        <p:blipFill rotWithShape="1">
          <a:blip r:embed="rId4">
            <a:alphaModFix/>
          </a:blip>
          <a:srcRect b="3651" l="0" r="0" t="3661"/>
          <a:stretch/>
        </p:blipFill>
        <p:spPr>
          <a:xfrm>
            <a:off x="5384024" y="2796424"/>
            <a:ext cx="2997976" cy="14588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9" name="Google Shape;429;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30" name="Google Shape;430;p57"/>
          <p:cNvSpPr txBox="1"/>
          <p:nvPr/>
        </p:nvSpPr>
        <p:spPr>
          <a:xfrm>
            <a:off x="609875" y="1787550"/>
            <a:ext cx="3951300" cy="156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semuanya seimbang, harmoni tercipta. Keseimbangan dalam desain UI penting untuk mencapai kesatuan rasa dalam keseluruhan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Kurangnya keseimbangan dapat mengakibatkan ketegangan visual, yang pada umumnya perlu dihindari. Namun, jika dilakukan dengan hati-hati, ketegangan visual dapat digunakan untuk mencapai hasil yang diinginkan.</a:t>
            </a:r>
            <a:endParaRPr sz="1000">
              <a:solidFill>
                <a:schemeClr val="dk1"/>
              </a:solidFill>
              <a:latin typeface="Montserrat"/>
              <a:ea typeface="Montserrat"/>
              <a:cs typeface="Montserrat"/>
              <a:sym typeface="Montserrat"/>
            </a:endParaRPr>
          </a:p>
        </p:txBody>
      </p:sp>
      <p:pic>
        <p:nvPicPr>
          <p:cNvPr id="431" name="Google Shape;431;p57"/>
          <p:cNvPicPr preferRelativeResize="0"/>
          <p:nvPr/>
        </p:nvPicPr>
        <p:blipFill>
          <a:blip r:embed="rId3">
            <a:alphaModFix/>
          </a:blip>
          <a:stretch>
            <a:fillRect/>
          </a:stretch>
        </p:blipFill>
        <p:spPr>
          <a:xfrm>
            <a:off x="4784450" y="914400"/>
            <a:ext cx="3747701" cy="388619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7" name="Google Shape;437;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38" name="Google Shape;438;p58"/>
          <p:cNvSpPr txBox="1"/>
          <p:nvPr/>
        </p:nvSpPr>
        <p:spPr>
          <a:xfrm>
            <a:off x="685800" y="1972350"/>
            <a:ext cx="3951300" cy="119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mendesain tata letak, ambil langkah dan tanyakan pada diri sendiri apakah komposisi keseluruhan terasa seimbang.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satu elemen menarik terlalu banyak perhatian, kamu bisa bereksperimen dengan ukuran, warna, kontras, atau kepadatan untuk membantu mendistribusikan ulang bobot visual.</a:t>
            </a:r>
            <a:endParaRPr sz="1000">
              <a:solidFill>
                <a:schemeClr val="dk1"/>
              </a:solidFill>
              <a:latin typeface="Montserrat"/>
              <a:ea typeface="Montserrat"/>
              <a:cs typeface="Montserrat"/>
              <a:sym typeface="Montserrat"/>
            </a:endParaRPr>
          </a:p>
        </p:txBody>
      </p:sp>
      <p:pic>
        <p:nvPicPr>
          <p:cNvPr id="439" name="Google Shape;439;p58"/>
          <p:cNvPicPr preferRelativeResize="0"/>
          <p:nvPr/>
        </p:nvPicPr>
        <p:blipFill>
          <a:blip r:embed="rId3">
            <a:alphaModFix/>
          </a:blip>
          <a:stretch>
            <a:fillRect/>
          </a:stretch>
        </p:blipFill>
        <p:spPr>
          <a:xfrm>
            <a:off x="4875325" y="914400"/>
            <a:ext cx="3506686" cy="388619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a:t>
            </a:r>
            <a:r>
              <a:rPr lang="en">
                <a:latin typeface="Montserrat"/>
                <a:ea typeface="Montserrat"/>
                <a:cs typeface="Montserrat"/>
                <a:sym typeface="Montserrat"/>
              </a:rPr>
              <a:t> pada desain</a:t>
            </a:r>
            <a:endParaRPr>
              <a:latin typeface="Montserrat"/>
              <a:ea typeface="Montserrat"/>
              <a:cs typeface="Montserrat"/>
              <a:sym typeface="Montserrat"/>
            </a:endParaRPr>
          </a:p>
        </p:txBody>
      </p:sp>
      <p:sp>
        <p:nvSpPr>
          <p:cNvPr id="445" name="Google Shape;445;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59"/>
          <p:cNvSpPr txBox="1"/>
          <p:nvPr/>
        </p:nvSpPr>
        <p:spPr>
          <a:xfrm>
            <a:off x="488250" y="1725150"/>
            <a:ext cx="45402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Setelah komposisi dirasa seimbang, kita perlu memperhatikan elemen-elemen dalam desain agar mencapai kesejajaran tertentu.</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Selanjutnya, kita akan mempelajari </a:t>
            </a:r>
            <a:r>
              <a:rPr b="1" lang="en">
                <a:solidFill>
                  <a:srgbClr val="F2AB2F"/>
                </a:solidFill>
                <a:latin typeface="Montserrat"/>
                <a:ea typeface="Montserrat"/>
                <a:cs typeface="Montserrat"/>
                <a:sym typeface="Montserrat"/>
              </a:rPr>
              <a:t>penjajaran pada desain</a:t>
            </a:r>
            <a:r>
              <a:rPr b="1" lang="en">
                <a:solidFill>
                  <a:schemeClr val="lt1"/>
                </a:solidFill>
                <a:latin typeface="Montserrat"/>
                <a:ea typeface="Montserrat"/>
                <a:cs typeface="Montserrat"/>
                <a:sym typeface="Montserrat"/>
              </a:rPr>
              <a:t> untuk mengoptimalkan pengalaman pengguna.</a:t>
            </a:r>
            <a:endParaRPr b="1">
              <a:solidFill>
                <a:schemeClr val="lt1"/>
              </a:solidFill>
              <a:latin typeface="Montserrat"/>
              <a:ea typeface="Montserrat"/>
              <a:cs typeface="Montserrat"/>
              <a:sym typeface="Montserrat"/>
            </a:endParaRPr>
          </a:p>
        </p:txBody>
      </p:sp>
      <p:pic>
        <p:nvPicPr>
          <p:cNvPr id="447" name="Google Shape;447;p59"/>
          <p:cNvPicPr preferRelativeResize="0"/>
          <p:nvPr/>
        </p:nvPicPr>
        <p:blipFill>
          <a:blip r:embed="rId3">
            <a:alphaModFix/>
          </a:blip>
          <a:stretch>
            <a:fillRect/>
          </a:stretch>
        </p:blipFill>
        <p:spPr>
          <a:xfrm>
            <a:off x="5623601" y="914400"/>
            <a:ext cx="2209015" cy="388619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3" name="Google Shape;453;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a:t>
            </a:r>
            <a:r>
              <a:rPr lang="en">
                <a:latin typeface="Montserrat"/>
                <a:ea typeface="Montserrat"/>
                <a:cs typeface="Montserrat"/>
                <a:sym typeface="Montserrat"/>
              </a:rPr>
              <a:t> pada desain</a:t>
            </a:r>
            <a:endParaRPr>
              <a:latin typeface="Montserrat"/>
              <a:ea typeface="Montserrat"/>
              <a:cs typeface="Montserrat"/>
              <a:sym typeface="Montserrat"/>
            </a:endParaRPr>
          </a:p>
        </p:txBody>
      </p:sp>
      <p:sp>
        <p:nvSpPr>
          <p:cNvPr id="454" name="Google Shape;454;p60"/>
          <p:cNvSpPr txBox="1"/>
          <p:nvPr/>
        </p:nvSpPr>
        <p:spPr>
          <a:xfrm>
            <a:off x="685800" y="1346400"/>
            <a:ext cx="3951300" cy="245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Penjajaran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Penjajaran atau alignment</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seringkali diabaikan karena sifatnya yang tidak terlihat.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Kita perlu mengingat bahwa </a:t>
            </a:r>
            <a:r>
              <a:rPr b="1" lang="en" sz="1000">
                <a:solidFill>
                  <a:schemeClr val="dk1"/>
                </a:solidFill>
                <a:latin typeface="Montserrat"/>
                <a:ea typeface="Montserrat"/>
                <a:cs typeface="Montserrat"/>
                <a:sym typeface="Montserrat"/>
              </a:rPr>
              <a:t>kesatuan</a:t>
            </a:r>
            <a:r>
              <a:rPr lang="en" sz="1000">
                <a:solidFill>
                  <a:schemeClr val="dk1"/>
                </a:solidFill>
                <a:latin typeface="Montserrat"/>
                <a:ea typeface="Montserrat"/>
                <a:cs typeface="Montserrat"/>
                <a:sym typeface="Montserrat"/>
              </a:rPr>
              <a:t> adalah tujuan akhir dari desain kita. Penjajaran dapat membantu kita menciptakan rasa kesatuan dengan </a:t>
            </a:r>
            <a:r>
              <a:rPr b="1" lang="en" sz="1000">
                <a:solidFill>
                  <a:schemeClr val="dk1"/>
                </a:solidFill>
                <a:latin typeface="Montserrat"/>
                <a:ea typeface="Montserrat"/>
                <a:cs typeface="Montserrat"/>
                <a:sym typeface="Montserrat"/>
              </a:rPr>
              <a:t>membuat struktur dan menghubungkan elemen dengan cara yang halus namun berdampak</a:t>
            </a:r>
            <a:r>
              <a:rPr lang="en" sz="1000">
                <a:solidFill>
                  <a:schemeClr val="dk1"/>
                </a:solidFill>
                <a:latin typeface="Montserrat"/>
                <a:ea typeface="Montserrat"/>
                <a:cs typeface="Montserrat"/>
                <a:sym typeface="Montserrat"/>
              </a:rPr>
              <a:t>.</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sesi ini kita akan membahas berbagai jenis penjajaran dan cara menggunakannya dalam desain UI.</a:t>
            </a:r>
            <a:endParaRPr sz="1000">
              <a:solidFill>
                <a:schemeClr val="dk1"/>
              </a:solidFill>
              <a:latin typeface="Montserrat"/>
              <a:ea typeface="Montserrat"/>
              <a:cs typeface="Montserrat"/>
              <a:sym typeface="Montserrat"/>
            </a:endParaRPr>
          </a:p>
        </p:txBody>
      </p:sp>
      <p:pic>
        <p:nvPicPr>
          <p:cNvPr id="455" name="Google Shape;455;p60">
            <a:hlinkClick r:id="rId3"/>
          </p:cNvPr>
          <p:cNvPicPr preferRelativeResize="0"/>
          <p:nvPr/>
        </p:nvPicPr>
        <p:blipFill>
          <a:blip r:embed="rId4">
            <a:alphaModFix/>
          </a:blip>
          <a:stretch>
            <a:fillRect/>
          </a:stretch>
        </p:blipFill>
        <p:spPr>
          <a:xfrm>
            <a:off x="4724400" y="1295292"/>
            <a:ext cx="3892199" cy="298727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1" name="Google Shape;461;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462" name="Google Shape;462;p61"/>
          <p:cNvSpPr txBox="1"/>
          <p:nvPr/>
        </p:nvSpPr>
        <p:spPr>
          <a:xfrm>
            <a:off x="685800" y="1362149"/>
            <a:ext cx="4114800" cy="241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t>
            </a:r>
            <a:r>
              <a:rPr b="1" lang="en" sz="1600">
                <a:solidFill>
                  <a:srgbClr val="743673"/>
                </a:solidFill>
                <a:highlight>
                  <a:schemeClr val="lt1"/>
                </a:highlight>
                <a:latin typeface="Montserrat"/>
                <a:ea typeface="Montserrat"/>
                <a:cs typeface="Montserrat"/>
                <a:sym typeface="Montserrat"/>
              </a:rPr>
              <a:t>Penjajaran vertikal</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Penjajaran vertikal atau vertical alignment mendapatkan namanya bukan karena garis horizontal yang tidak terlihat, tetapi karena </a:t>
            </a:r>
            <a:r>
              <a:rPr b="1" lang="en" sz="1000">
                <a:solidFill>
                  <a:schemeClr val="dk1"/>
                </a:solidFill>
                <a:latin typeface="Montserrat"/>
                <a:ea typeface="Montserrat"/>
                <a:cs typeface="Montserrat"/>
                <a:sym typeface="Montserrat"/>
              </a:rPr>
              <a:t>ruang vertikal di dalam elemen disejajarkan dengan yang lain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elemen tengah, atas, dan atau bawah sejajar pada garis horizontal yang tidak terlihat, artinya kamu telah membuat penjajaran vertikal.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Penjajaran vertikal ada dua macamnya, yaitu </a:t>
            </a:r>
            <a:r>
              <a:rPr b="1" lang="en" sz="1000">
                <a:solidFill>
                  <a:schemeClr val="dk1"/>
                </a:solidFill>
                <a:latin typeface="Montserrat"/>
                <a:ea typeface="Montserrat"/>
                <a:cs typeface="Montserrat"/>
                <a:sym typeface="Montserrat"/>
              </a:rPr>
              <a:t>vertikal atas atau bawah</a:t>
            </a:r>
            <a:r>
              <a:rPr lang="en" sz="1000">
                <a:solidFill>
                  <a:schemeClr val="dk1"/>
                </a:solidFill>
                <a:latin typeface="Montserrat"/>
                <a:ea typeface="Montserrat"/>
                <a:cs typeface="Montserrat"/>
                <a:sym typeface="Montserrat"/>
              </a:rPr>
              <a:t>, dan </a:t>
            </a:r>
            <a:r>
              <a:rPr b="1" lang="en" sz="1000">
                <a:solidFill>
                  <a:schemeClr val="dk1"/>
                </a:solidFill>
                <a:latin typeface="Montserrat"/>
                <a:ea typeface="Montserrat"/>
                <a:cs typeface="Montserrat"/>
                <a:sym typeface="Montserrat"/>
              </a:rPr>
              <a:t>vertikal terpusat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463" name="Google Shape;463;p61"/>
          <p:cNvPicPr preferRelativeResize="0"/>
          <p:nvPr/>
        </p:nvPicPr>
        <p:blipFill>
          <a:blip r:embed="rId3">
            <a:alphaModFix/>
          </a:blip>
          <a:stretch>
            <a:fillRect/>
          </a:stretch>
        </p:blipFill>
        <p:spPr>
          <a:xfrm>
            <a:off x="5507519" y="1978288"/>
            <a:ext cx="3017524" cy="118692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id="468" name="Google Shape;468;p62"/>
          <p:cNvPicPr preferRelativeResize="0"/>
          <p:nvPr/>
        </p:nvPicPr>
        <p:blipFill>
          <a:blip r:embed="rId3">
            <a:alphaModFix/>
          </a:blip>
          <a:stretch>
            <a:fillRect/>
          </a:stretch>
        </p:blipFill>
        <p:spPr>
          <a:xfrm>
            <a:off x="5507525" y="1565150"/>
            <a:ext cx="3017524" cy="2013202"/>
          </a:xfrm>
          <a:prstGeom prst="rect">
            <a:avLst/>
          </a:prstGeom>
          <a:noFill/>
          <a:ln>
            <a:noFill/>
          </a:ln>
        </p:spPr>
      </p:pic>
      <p:sp>
        <p:nvSpPr>
          <p:cNvPr id="469" name="Google Shape;469;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0" name="Google Shape;470;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471" name="Google Shape;471;p62"/>
          <p:cNvSpPr txBox="1"/>
          <p:nvPr/>
        </p:nvSpPr>
        <p:spPr>
          <a:xfrm>
            <a:off x="685800" y="1705498"/>
            <a:ext cx="4114800" cy="1732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2AB2F"/>
                </a:solidFill>
                <a:highlight>
                  <a:schemeClr val="lt1"/>
                </a:highlight>
                <a:latin typeface="Montserrat"/>
                <a:ea typeface="Montserrat"/>
                <a:cs typeface="Montserrat"/>
                <a:sym typeface="Montserrat"/>
              </a:rPr>
              <a:t>Penjajaran vertikal atas atau bawah</a:t>
            </a:r>
            <a:endParaRPr b="1">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ketinggian dua atau lebih elemen berbeda secara drastis, kita bisa menyelaraskannya secara vertikal bagian atas atau bawahnya.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contoh di samping, kita meratakan bagian body dengan sidebar. Perhatikan bagaimana kedua wadah dan judulnya disejajarkan untuk membuat hubungan antara kedua elemen</a:t>
            </a:r>
            <a:endParaRPr sz="1000">
              <a:solidFill>
                <a:schemeClr val="dk1"/>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p63"/>
          <p:cNvPicPr preferRelativeResize="0"/>
          <p:nvPr/>
        </p:nvPicPr>
        <p:blipFill>
          <a:blip r:embed="rId3">
            <a:alphaModFix/>
          </a:blip>
          <a:stretch>
            <a:fillRect/>
          </a:stretch>
        </p:blipFill>
        <p:spPr>
          <a:xfrm>
            <a:off x="5486400" y="1529863"/>
            <a:ext cx="3238499" cy="543324"/>
          </a:xfrm>
          <a:prstGeom prst="rect">
            <a:avLst/>
          </a:prstGeom>
          <a:noFill/>
          <a:ln>
            <a:noFill/>
          </a:ln>
        </p:spPr>
      </p:pic>
      <p:sp>
        <p:nvSpPr>
          <p:cNvPr id="477" name="Google Shape;477;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8" name="Google Shape;478;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479" name="Google Shape;479;p63"/>
          <p:cNvSpPr txBox="1"/>
          <p:nvPr/>
        </p:nvSpPr>
        <p:spPr>
          <a:xfrm>
            <a:off x="685800" y="1816347"/>
            <a:ext cx="4114800" cy="1510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2AB2F"/>
                </a:solidFill>
                <a:highlight>
                  <a:schemeClr val="lt1"/>
                </a:highlight>
                <a:latin typeface="Montserrat"/>
                <a:ea typeface="Montserrat"/>
                <a:cs typeface="Montserrat"/>
                <a:sym typeface="Montserrat"/>
              </a:rPr>
              <a:t>Penjajaran vertikal terpusat</a:t>
            </a:r>
            <a:endParaRPr b="1">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Ketika ketinggian elemen variasinya tidak begitu drastis, menjadi masuk akal untuk menyelaraskannya secara vertikal di tengah.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contoh di samping, kita memiliki penjajaran vertikal terpusat untuk setiap elemen navigasi di header.</a:t>
            </a:r>
            <a:endParaRPr sz="1000">
              <a:solidFill>
                <a:schemeClr val="dk1"/>
              </a:solidFill>
              <a:latin typeface="Montserrat"/>
              <a:ea typeface="Montserrat"/>
              <a:cs typeface="Montserrat"/>
              <a:sym typeface="Montserrat"/>
            </a:endParaRPr>
          </a:p>
        </p:txBody>
      </p:sp>
      <p:pic>
        <p:nvPicPr>
          <p:cNvPr id="480" name="Google Shape;480;p63"/>
          <p:cNvPicPr preferRelativeResize="0"/>
          <p:nvPr/>
        </p:nvPicPr>
        <p:blipFill>
          <a:blip r:embed="rId4">
            <a:alphaModFix/>
          </a:blip>
          <a:stretch>
            <a:fillRect/>
          </a:stretch>
        </p:blipFill>
        <p:spPr>
          <a:xfrm>
            <a:off x="5486399" y="2149386"/>
            <a:ext cx="3238501" cy="172519"/>
          </a:xfrm>
          <a:prstGeom prst="rect">
            <a:avLst/>
          </a:prstGeom>
          <a:noFill/>
          <a:ln cap="flat" cmpd="sng" w="9525">
            <a:solidFill>
              <a:schemeClr val="dk2"/>
            </a:solidFill>
            <a:prstDash val="solid"/>
            <a:round/>
            <a:headEnd len="sm" w="sm" type="none"/>
            <a:tailEnd len="sm" w="sm" type="none"/>
          </a:ln>
        </p:spPr>
      </p:pic>
      <p:pic>
        <p:nvPicPr>
          <p:cNvPr id="481" name="Google Shape;481;p63"/>
          <p:cNvPicPr preferRelativeResize="0"/>
          <p:nvPr/>
        </p:nvPicPr>
        <p:blipFill>
          <a:blip r:embed="rId5">
            <a:alphaModFix/>
          </a:blip>
          <a:stretch>
            <a:fillRect/>
          </a:stretch>
        </p:blipFill>
        <p:spPr>
          <a:xfrm>
            <a:off x="5486400" y="2474311"/>
            <a:ext cx="3238500" cy="320188"/>
          </a:xfrm>
          <a:prstGeom prst="rect">
            <a:avLst/>
          </a:prstGeom>
          <a:noFill/>
          <a:ln cap="flat" cmpd="sng" w="9525">
            <a:solidFill>
              <a:schemeClr val="dk2"/>
            </a:solidFill>
            <a:prstDash val="solid"/>
            <a:round/>
            <a:headEnd len="sm" w="sm" type="none"/>
            <a:tailEnd len="sm" w="sm" type="none"/>
          </a:ln>
        </p:spPr>
      </p:pic>
      <p:pic>
        <p:nvPicPr>
          <p:cNvPr id="482" name="Google Shape;482;p63"/>
          <p:cNvPicPr preferRelativeResize="0"/>
          <p:nvPr/>
        </p:nvPicPr>
        <p:blipFill>
          <a:blip r:embed="rId6">
            <a:alphaModFix/>
          </a:blip>
          <a:stretch>
            <a:fillRect/>
          </a:stretch>
        </p:blipFill>
        <p:spPr>
          <a:xfrm>
            <a:off x="5486412" y="2946882"/>
            <a:ext cx="3238500" cy="66675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p64"/>
          <p:cNvPicPr preferRelativeResize="0"/>
          <p:nvPr/>
        </p:nvPicPr>
        <p:blipFill>
          <a:blip r:embed="rId3">
            <a:alphaModFix/>
          </a:blip>
          <a:stretch>
            <a:fillRect/>
          </a:stretch>
        </p:blipFill>
        <p:spPr>
          <a:xfrm>
            <a:off x="5486400" y="1471887"/>
            <a:ext cx="3017525" cy="2199737"/>
          </a:xfrm>
          <a:prstGeom prst="rect">
            <a:avLst/>
          </a:prstGeom>
          <a:noFill/>
          <a:ln>
            <a:noFill/>
          </a:ln>
        </p:spPr>
      </p:pic>
      <p:sp>
        <p:nvSpPr>
          <p:cNvPr id="488" name="Google Shape;488;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9" name="Google Shape;489;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490" name="Google Shape;490;p64"/>
          <p:cNvSpPr txBox="1"/>
          <p:nvPr/>
        </p:nvSpPr>
        <p:spPr>
          <a:xfrm>
            <a:off x="685800" y="1420199"/>
            <a:ext cx="4114800" cy="230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Penjajaran horizontal</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bagian tengah, sisi kiri dan atau kanan elemen sejajar pada garis vertikal yang tidak terlihat, kamu bisa membuat penjajaran horizontal.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halnya penjajaran vertikal, kamu nggak perlu menjajarkan semua sisinya. Ada banyak kasus di mana hanya satu penjajaran saja cukup; bisa di kiri, kanan, atau tengah.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Ia juga memiliki dua opsi penjajaran, yakni penjajaran </a:t>
            </a:r>
            <a:r>
              <a:rPr b="1" lang="en" sz="1000">
                <a:solidFill>
                  <a:schemeClr val="dk1"/>
                </a:solidFill>
                <a:latin typeface="Montserrat"/>
                <a:ea typeface="Montserrat"/>
                <a:cs typeface="Montserrat"/>
                <a:sym typeface="Montserrat"/>
              </a:rPr>
              <a:t>horizontal kanan atau kiri,</a:t>
            </a:r>
            <a:r>
              <a:rPr lang="en" sz="1000">
                <a:solidFill>
                  <a:schemeClr val="dk1"/>
                </a:solidFill>
                <a:latin typeface="Montserrat"/>
                <a:ea typeface="Montserrat"/>
                <a:cs typeface="Montserrat"/>
                <a:sym typeface="Montserrat"/>
              </a:rPr>
              <a:t> dan </a:t>
            </a:r>
            <a:r>
              <a:rPr b="1" lang="en" sz="1000">
                <a:solidFill>
                  <a:schemeClr val="dk1"/>
                </a:solidFill>
                <a:latin typeface="Montserrat"/>
                <a:ea typeface="Montserrat"/>
                <a:cs typeface="Montserrat"/>
                <a:sym typeface="Montserrat"/>
              </a:rPr>
              <a:t>terpusat</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65"/>
          <p:cNvPicPr preferRelativeResize="0"/>
          <p:nvPr/>
        </p:nvPicPr>
        <p:blipFill>
          <a:blip r:embed="rId3">
            <a:alphaModFix/>
          </a:blip>
          <a:stretch>
            <a:fillRect/>
          </a:stretch>
        </p:blipFill>
        <p:spPr>
          <a:xfrm>
            <a:off x="5486400" y="978976"/>
            <a:ext cx="3017524" cy="3688086"/>
          </a:xfrm>
          <a:prstGeom prst="rect">
            <a:avLst/>
          </a:prstGeom>
          <a:noFill/>
          <a:ln>
            <a:noFill/>
          </a:ln>
        </p:spPr>
      </p:pic>
      <p:sp>
        <p:nvSpPr>
          <p:cNvPr id="496" name="Google Shape;496;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7" name="Google Shape;497;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498" name="Google Shape;498;p65"/>
          <p:cNvSpPr txBox="1"/>
          <p:nvPr/>
        </p:nvSpPr>
        <p:spPr>
          <a:xfrm>
            <a:off x="685800" y="1753048"/>
            <a:ext cx="4114800" cy="1637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2AB2F"/>
                </a:solidFill>
                <a:highlight>
                  <a:schemeClr val="lt1"/>
                </a:highlight>
                <a:latin typeface="Montserrat"/>
                <a:ea typeface="Montserrat"/>
                <a:cs typeface="Montserrat"/>
                <a:sym typeface="Montserrat"/>
              </a:rPr>
              <a:t>Penjajaran horizontal kiri atau kanan</a:t>
            </a:r>
            <a:endParaRPr sz="800">
              <a:solidFill>
                <a:srgbClr val="F2AB2F"/>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mendesain layout, cara termudah untuk memastikan kiri dan kanan rata adalah dengan </a:t>
            </a:r>
            <a:r>
              <a:rPr b="1" lang="en" sz="1000">
                <a:solidFill>
                  <a:schemeClr val="dk1"/>
                </a:solidFill>
                <a:latin typeface="Montserrat"/>
                <a:ea typeface="Montserrat"/>
                <a:cs typeface="Montserrat"/>
                <a:sym typeface="Montserrat"/>
              </a:rPr>
              <a:t>menetapkan lebar maksimum untuk semua konten dari awal</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Kotak imajiner yang menetapkan lebar maksimum akan memastikan elemen mempunyai rata kiri dan kanan yang konsisten.</a:t>
            </a:r>
            <a:endParaRPr sz="1000">
              <a:solidFill>
                <a:schemeClr val="dk1"/>
              </a:solidFill>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4" name="Google Shape;504;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05" name="Google Shape;505;p66"/>
          <p:cNvSpPr txBox="1"/>
          <p:nvPr/>
        </p:nvSpPr>
        <p:spPr>
          <a:xfrm>
            <a:off x="685800" y="1837497"/>
            <a:ext cx="4114800" cy="1468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2AB2F"/>
                </a:solidFill>
                <a:highlight>
                  <a:schemeClr val="lt1"/>
                </a:highlight>
                <a:latin typeface="Montserrat"/>
                <a:ea typeface="Montserrat"/>
                <a:cs typeface="Montserrat"/>
                <a:sym typeface="Montserrat"/>
              </a:rPr>
              <a:t>Penjajaran horizontal terpusat</a:t>
            </a:r>
            <a:endParaRPr sz="800">
              <a:solidFill>
                <a:srgbClr val="F2AB2F"/>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Penjajaran horizontal terpusat dapat berguna bila kamu memiliki elemen-elemen dalam satu baris.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Kasus penggunaan paling umum untuk penjajaran ini adalah pada pop-ups atau dialogue boxes.</a:t>
            </a:r>
            <a:endParaRPr sz="1200">
              <a:solidFill>
                <a:schemeClr val="dk1"/>
              </a:solidFill>
              <a:latin typeface="Montserrat Medium"/>
              <a:ea typeface="Montserrat Medium"/>
              <a:cs typeface="Montserrat Medium"/>
              <a:sym typeface="Montserrat Medium"/>
            </a:endParaRPr>
          </a:p>
        </p:txBody>
      </p:sp>
      <p:pic>
        <p:nvPicPr>
          <p:cNvPr id="506" name="Google Shape;506;p66"/>
          <p:cNvPicPr preferRelativeResize="0"/>
          <p:nvPr/>
        </p:nvPicPr>
        <p:blipFill>
          <a:blip r:embed="rId3">
            <a:alphaModFix/>
          </a:blip>
          <a:stretch>
            <a:fillRect/>
          </a:stretch>
        </p:blipFill>
        <p:spPr>
          <a:xfrm>
            <a:off x="5486401" y="1962488"/>
            <a:ext cx="3017525" cy="121852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2" name="Google Shape;512;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13" name="Google Shape;513;p67"/>
          <p:cNvSpPr txBox="1"/>
          <p:nvPr/>
        </p:nvSpPr>
        <p:spPr>
          <a:xfrm>
            <a:off x="685800" y="1874397"/>
            <a:ext cx="4114800" cy="139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Namun, ingatlah bahwa dalam sebagian besar kasus, teks harus disejajarkan ke kiri, sebab kebanyakan audiens membaca dari kiri ke kanan.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Penjajaran kiri membantu mata membaca secara runut dari satu baris ke baris berikutnya. Keterbacaan atau readability mulai berkurang ketika kita menggunakan penjajaran tengah atau kanan.</a:t>
            </a:r>
            <a:endParaRPr sz="1200">
              <a:solidFill>
                <a:schemeClr val="dk1"/>
              </a:solidFill>
              <a:latin typeface="Montserrat Medium"/>
              <a:ea typeface="Montserrat Medium"/>
              <a:cs typeface="Montserrat Medium"/>
              <a:sym typeface="Montserrat Medium"/>
            </a:endParaRPr>
          </a:p>
        </p:txBody>
      </p:sp>
      <p:pic>
        <p:nvPicPr>
          <p:cNvPr id="514" name="Google Shape;514;p67"/>
          <p:cNvPicPr preferRelativeResize="0"/>
          <p:nvPr/>
        </p:nvPicPr>
        <p:blipFill>
          <a:blip r:embed="rId3">
            <a:alphaModFix/>
          </a:blip>
          <a:stretch>
            <a:fillRect/>
          </a:stretch>
        </p:blipFill>
        <p:spPr>
          <a:xfrm>
            <a:off x="5475851" y="1962488"/>
            <a:ext cx="3017525" cy="121852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pic>
        <p:nvPicPr>
          <p:cNvPr id="519" name="Google Shape;519;p68"/>
          <p:cNvPicPr preferRelativeResize="0"/>
          <p:nvPr/>
        </p:nvPicPr>
        <p:blipFill>
          <a:blip r:embed="rId3">
            <a:alphaModFix/>
          </a:blip>
          <a:stretch>
            <a:fillRect/>
          </a:stretch>
        </p:blipFill>
        <p:spPr>
          <a:xfrm>
            <a:off x="5486400" y="1188725"/>
            <a:ext cx="3017525" cy="2691200"/>
          </a:xfrm>
          <a:prstGeom prst="rect">
            <a:avLst/>
          </a:prstGeom>
          <a:noFill/>
          <a:ln>
            <a:noFill/>
          </a:ln>
        </p:spPr>
      </p:pic>
      <p:sp>
        <p:nvSpPr>
          <p:cNvPr id="520" name="Google Shape;520;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22" name="Google Shape;522;p68"/>
          <p:cNvSpPr txBox="1"/>
          <p:nvPr/>
        </p:nvSpPr>
        <p:spPr>
          <a:xfrm>
            <a:off x="685800" y="1441349"/>
            <a:ext cx="4114800" cy="2260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Penjajaran objek media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Objek media adalah file yang dapat ditampilkan atau dieksekusi sebagai bagian dari dokumen HTML. Contohnya termasuk file grafik, audio dan video, dan applet Java.</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contoh di samping, objek media yang digunakan adalah ikon-ikon dengan teks. Model seperti itu mudah berakhir dengan ketidaksejajaran.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cara untuk menjajarkannya ialah ikon rata di tengah, dan teks rata kiri.</a:t>
            </a:r>
            <a:endParaRPr sz="1000">
              <a:solidFill>
                <a:schemeClr val="dk1"/>
              </a:solidFill>
              <a:latin typeface="Montserrat"/>
              <a:ea typeface="Montserrat"/>
              <a:cs typeface="Montserrat"/>
              <a:sym typeface="Montserra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8" name="Google Shape;528;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29" name="Google Shape;529;p69"/>
          <p:cNvSpPr txBox="1"/>
          <p:nvPr/>
        </p:nvSpPr>
        <p:spPr>
          <a:xfrm>
            <a:off x="685800" y="1800447"/>
            <a:ext cx="4114800" cy="1542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Penjajaran tepi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Penjajaran</a:t>
            </a:r>
            <a:r>
              <a:rPr lang="en" sz="1000">
                <a:solidFill>
                  <a:schemeClr val="dk1"/>
                </a:solidFill>
                <a:latin typeface="Montserrat"/>
                <a:ea typeface="Montserrat"/>
                <a:cs typeface="Montserrat"/>
                <a:sym typeface="Montserrat"/>
              </a:rPr>
              <a:t> tepi terjadi ketika kita meratakan satu atau banyak sudut secara vertikal dan horizontal.</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Dengan menambatkan elemen pada setiap sudut, lebih mudah untuk mengarahkan mata pengguna dari satu elemen ke elemen berikutnya.</a:t>
            </a:r>
            <a:endParaRPr sz="1000">
              <a:solidFill>
                <a:schemeClr val="dk1"/>
              </a:solidFill>
              <a:latin typeface="Montserrat"/>
              <a:ea typeface="Montserrat"/>
              <a:cs typeface="Montserrat"/>
              <a:sym typeface="Montserrat"/>
            </a:endParaRPr>
          </a:p>
        </p:txBody>
      </p:sp>
      <p:pic>
        <p:nvPicPr>
          <p:cNvPr id="530" name="Google Shape;530;p69"/>
          <p:cNvPicPr preferRelativeResize="0"/>
          <p:nvPr/>
        </p:nvPicPr>
        <p:blipFill>
          <a:blip r:embed="rId3">
            <a:alphaModFix/>
          </a:blip>
          <a:stretch>
            <a:fillRect/>
          </a:stretch>
        </p:blipFill>
        <p:spPr>
          <a:xfrm>
            <a:off x="5486400" y="2066967"/>
            <a:ext cx="3017525" cy="100957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id="535" name="Google Shape;535;p70"/>
          <p:cNvPicPr preferRelativeResize="0"/>
          <p:nvPr/>
        </p:nvPicPr>
        <p:blipFill>
          <a:blip r:embed="rId3">
            <a:alphaModFix/>
          </a:blip>
          <a:stretch>
            <a:fillRect/>
          </a:stretch>
        </p:blipFill>
        <p:spPr>
          <a:xfrm>
            <a:off x="5507527" y="1830600"/>
            <a:ext cx="3017525" cy="1482294"/>
          </a:xfrm>
          <a:prstGeom prst="rect">
            <a:avLst/>
          </a:prstGeom>
          <a:noFill/>
          <a:ln>
            <a:noFill/>
          </a:ln>
        </p:spPr>
      </p:pic>
      <p:sp>
        <p:nvSpPr>
          <p:cNvPr id="536" name="Google Shape;536;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7" name="Google Shape;537;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38" name="Google Shape;538;p70"/>
          <p:cNvSpPr txBox="1"/>
          <p:nvPr/>
        </p:nvSpPr>
        <p:spPr>
          <a:xfrm>
            <a:off x="685800" y="1462498"/>
            <a:ext cx="4114800" cy="2218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Penjajaran optikal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kasus penjajaran ini, kamu perlu lebih cermat menggunakan mata untuk menyesuaikan perataan menurut apa yang terlihat paling baik.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contoh disamping, ikon kiri dipusatkan secara vertikal dan horizontal di dalam lingkaran. Namun, bagian bawah ikon secara visual lebih berat daripada bagian atas.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Ikon kanan disejajarkan secara optik di dalam lingkaran agar tampak lebih seimbang.</a:t>
            </a:r>
            <a:endParaRPr sz="1000">
              <a:solidFill>
                <a:schemeClr val="dk1"/>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4" name="Google Shape;544;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45" name="Google Shape;545;p71"/>
          <p:cNvSpPr txBox="1"/>
          <p:nvPr/>
        </p:nvSpPr>
        <p:spPr>
          <a:xfrm>
            <a:off x="685800" y="1346399"/>
            <a:ext cx="4114800" cy="245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Mari bermain “It’s Centered That!”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uji keterampilan optikal kamu dalam melihat penjajaran!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permainan ini, ada 10 level dengan beragam bentuk yang harus kamu selesaikan untuk memenangkannya. Instruksinya, kamu harus menjawab apakah posisi titik sudah berada di tengah objek atau belum.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Klik link di bawah ini untuk menantang dirimu sendiri dan temanmu, gengs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https://www.supremo.co.uk/designers-eye</a:t>
            </a:r>
            <a:endParaRPr sz="1000">
              <a:solidFill>
                <a:schemeClr val="dk1"/>
              </a:solidFill>
              <a:latin typeface="Montserrat"/>
              <a:ea typeface="Montserrat"/>
              <a:cs typeface="Montserrat"/>
              <a:sym typeface="Montserrat"/>
            </a:endParaRPr>
          </a:p>
        </p:txBody>
      </p:sp>
      <p:pic>
        <p:nvPicPr>
          <p:cNvPr id="546" name="Google Shape;546;p71">
            <a:hlinkClick r:id="rId4"/>
          </p:cNvPr>
          <p:cNvPicPr preferRelativeResize="0"/>
          <p:nvPr/>
        </p:nvPicPr>
        <p:blipFill rotWithShape="1">
          <a:blip r:embed="rId5">
            <a:alphaModFix/>
          </a:blip>
          <a:srcRect b="0" l="23966" r="23966" t="0"/>
          <a:stretch/>
        </p:blipFill>
        <p:spPr>
          <a:xfrm>
            <a:off x="5486400" y="1207587"/>
            <a:ext cx="3017518" cy="274319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2" name="Google Shape;552;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53" name="Google Shape;553;p72"/>
          <p:cNvSpPr txBox="1"/>
          <p:nvPr/>
        </p:nvSpPr>
        <p:spPr>
          <a:xfrm>
            <a:off x="685800" y="1737148"/>
            <a:ext cx="4114800" cy="166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Belum cukup? Coba versi lain dari “</a:t>
            </a:r>
            <a:r>
              <a:rPr b="1" lang="en" sz="1600">
                <a:solidFill>
                  <a:srgbClr val="743673"/>
                </a:solidFill>
                <a:highlight>
                  <a:schemeClr val="lt1"/>
                </a:highlight>
                <a:latin typeface="Montserrat"/>
                <a:ea typeface="Montserrat"/>
                <a:cs typeface="Montserrat"/>
                <a:sym typeface="Montserrat"/>
              </a:rPr>
              <a:t>It’s Centered That!”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t>
            </a:r>
            <a:r>
              <a:rPr lang="en" sz="1000">
                <a:solidFill>
                  <a:schemeClr val="dk1"/>
                </a:solidFill>
                <a:latin typeface="Montserrat"/>
                <a:ea typeface="Montserrat"/>
                <a:cs typeface="Montserrat"/>
                <a:sym typeface="Montserrat"/>
              </a:rPr>
              <a:t>It’s centred that!”</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juga ada dalam versi Natal yang lebih menantang. Coba lagi yuk!</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Berikut linknya 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a:t>
            </a:r>
            <a:r>
              <a:rPr lang="en" sz="1000" u="sng">
                <a:solidFill>
                  <a:schemeClr val="hlink"/>
                </a:solidFill>
                <a:latin typeface="Montserrat"/>
                <a:ea typeface="Montserrat"/>
                <a:cs typeface="Montserrat"/>
                <a:sym typeface="Montserrat"/>
                <a:hlinkClick r:id="rId3"/>
              </a:rPr>
              <a:t>https://www.supremo.co.uk/designers-eye-christmas</a:t>
            </a:r>
            <a:endParaRPr sz="1000">
              <a:solidFill>
                <a:schemeClr val="dk1"/>
              </a:solidFill>
              <a:latin typeface="Montserrat"/>
              <a:ea typeface="Montserrat"/>
              <a:cs typeface="Montserrat"/>
              <a:sym typeface="Montserrat"/>
            </a:endParaRPr>
          </a:p>
        </p:txBody>
      </p:sp>
      <p:pic>
        <p:nvPicPr>
          <p:cNvPr id="554" name="Google Shape;554;p72">
            <a:hlinkClick r:id="rId4"/>
          </p:cNvPr>
          <p:cNvPicPr preferRelativeResize="0"/>
          <p:nvPr/>
        </p:nvPicPr>
        <p:blipFill rotWithShape="1">
          <a:blip r:embed="rId5">
            <a:alphaModFix/>
          </a:blip>
          <a:srcRect b="0" l="22151" r="22151" t="0"/>
          <a:stretch/>
        </p:blipFill>
        <p:spPr>
          <a:xfrm>
            <a:off x="5486400" y="1207587"/>
            <a:ext cx="3017518" cy="274319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560" name="Google Shape;560;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73"/>
          <p:cNvSpPr txBox="1"/>
          <p:nvPr/>
        </p:nvSpPr>
        <p:spPr>
          <a:xfrm>
            <a:off x="350650" y="2127575"/>
            <a:ext cx="46776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Nah, kita sudah mempelajari indikator apa saja yang bisa membuat desain lebih baik atau justru memperburuknya.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Sekarang, mari kita coba terapkan untuk </a:t>
            </a:r>
            <a:r>
              <a:rPr b="1" lang="en">
                <a:solidFill>
                  <a:srgbClr val="F2AB2F"/>
                </a:solidFill>
                <a:latin typeface="Montserrat"/>
                <a:ea typeface="Montserrat"/>
                <a:cs typeface="Montserrat"/>
                <a:sym typeface="Montserrat"/>
              </a:rPr>
              <a:t>membedakan desain yang baik dan buruk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562" name="Google Shape;562;p73"/>
          <p:cNvPicPr preferRelativeResize="0"/>
          <p:nvPr/>
        </p:nvPicPr>
        <p:blipFill>
          <a:blip r:embed="rId3">
            <a:alphaModFix/>
          </a:blip>
          <a:stretch>
            <a:fillRect/>
          </a:stretch>
        </p:blipFill>
        <p:spPr>
          <a:xfrm>
            <a:off x="4980300" y="891700"/>
            <a:ext cx="3373251" cy="390890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8" name="Google Shape;568;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569" name="Google Shape;569;p74"/>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Membedakan desain yang baik dan buruk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beberapa </a:t>
            </a:r>
            <a:r>
              <a:rPr lang="en" sz="1000">
                <a:solidFill>
                  <a:schemeClr val="dk1"/>
                </a:solidFill>
                <a:latin typeface="Montserrat"/>
                <a:ea typeface="Montserrat"/>
                <a:cs typeface="Montserrat"/>
                <a:sym typeface="Montserrat"/>
              </a:rPr>
              <a:t>karakteristik</a:t>
            </a:r>
            <a:r>
              <a:rPr lang="en" sz="1000">
                <a:solidFill>
                  <a:schemeClr val="dk1"/>
                </a:solidFill>
                <a:latin typeface="Montserrat"/>
                <a:ea typeface="Montserrat"/>
                <a:cs typeface="Montserrat"/>
                <a:sym typeface="Montserrat"/>
              </a:rPr>
              <a:t> yang dimiliki oleh produk </a:t>
            </a:r>
            <a:r>
              <a:rPr lang="en" sz="1000">
                <a:solidFill>
                  <a:schemeClr val="dk1"/>
                </a:solidFill>
                <a:latin typeface="Montserrat"/>
                <a:ea typeface="Montserrat"/>
                <a:cs typeface="Montserrat"/>
                <a:sym typeface="Montserrat"/>
              </a:rPr>
              <a:t>dengan</a:t>
            </a:r>
            <a:r>
              <a:rPr lang="en" sz="1000">
                <a:solidFill>
                  <a:schemeClr val="dk1"/>
                </a:solidFill>
                <a:latin typeface="Montserrat"/>
                <a:ea typeface="Montserrat"/>
                <a:cs typeface="Montserrat"/>
                <a:sym typeface="Montserrat"/>
              </a:rPr>
              <a:t> desain UI/UX yang kurang baik, mari kita telaah beberapa </a:t>
            </a:r>
            <a:r>
              <a:rPr lang="en" sz="1000">
                <a:solidFill>
                  <a:schemeClr val="dk1"/>
                </a:solidFill>
                <a:latin typeface="Montserrat"/>
                <a:ea typeface="Montserrat"/>
                <a:cs typeface="Montserrat"/>
                <a:sym typeface="Montserrat"/>
              </a:rPr>
              <a:t>karakteristik tersebut.</a:t>
            </a:r>
            <a:endParaRPr sz="1000">
              <a:solidFill>
                <a:schemeClr val="dk1"/>
              </a:solidFill>
              <a:latin typeface="Montserrat"/>
              <a:ea typeface="Montserrat"/>
              <a:cs typeface="Montserrat"/>
              <a:sym typeface="Montserrat"/>
            </a:endParaRPr>
          </a:p>
        </p:txBody>
      </p:sp>
      <p:pic>
        <p:nvPicPr>
          <p:cNvPr id="570" name="Google Shape;570;p74"/>
          <p:cNvPicPr preferRelativeResize="0"/>
          <p:nvPr/>
        </p:nvPicPr>
        <p:blipFill>
          <a:blip r:embed="rId3">
            <a:alphaModFix/>
          </a:blip>
          <a:stretch>
            <a:fillRect/>
          </a:stretch>
        </p:blipFill>
        <p:spPr>
          <a:xfrm>
            <a:off x="5171550" y="914400"/>
            <a:ext cx="2661082" cy="38862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6" name="Google Shape;576;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577" name="Google Shape;577;p75"/>
          <p:cNvSpPr txBox="1"/>
          <p:nvPr/>
        </p:nvSpPr>
        <p:spPr>
          <a:xfrm>
            <a:off x="685800" y="1876650"/>
            <a:ext cx="4114800" cy="1390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Mempunyai kompleksitas yang tidak terlalu penting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Seringkali, dalam</a:t>
            </a:r>
            <a:r>
              <a:rPr lang="en" sz="1000">
                <a:solidFill>
                  <a:schemeClr val="dk1"/>
                </a:solidFill>
                <a:latin typeface="Montserrat"/>
                <a:ea typeface="Montserrat"/>
                <a:cs typeface="Montserrat"/>
                <a:sym typeface="Montserrat"/>
              </a:rPr>
              <a:t> upaya untuk menunjukkan kreativitas berlebih, desainer menumpuk elemen-elemen desain yang tidak diperlukan pada situs atau aplikasi mereka. </a:t>
            </a:r>
            <a:endParaRPr sz="1000">
              <a:solidFill>
                <a:schemeClr val="dk1"/>
              </a:solidFill>
              <a:latin typeface="Montserrat"/>
              <a:ea typeface="Montserrat"/>
              <a:cs typeface="Montserrat"/>
              <a:sym typeface="Montserrat"/>
            </a:endParaRPr>
          </a:p>
        </p:txBody>
      </p:sp>
      <p:pic>
        <p:nvPicPr>
          <p:cNvPr id="578" name="Google Shape;578;p75"/>
          <p:cNvPicPr preferRelativeResize="0"/>
          <p:nvPr/>
        </p:nvPicPr>
        <p:blipFill rotWithShape="1">
          <a:blip r:embed="rId3">
            <a:alphaModFix/>
          </a:blip>
          <a:srcRect b="-770" l="0" r="0" t="770"/>
          <a:stretch/>
        </p:blipFill>
        <p:spPr>
          <a:xfrm>
            <a:off x="5486400" y="1207575"/>
            <a:ext cx="3017524" cy="34770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4" name="Google Shape;584;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585" name="Google Shape;585;p76"/>
          <p:cNvSpPr txBox="1"/>
          <p:nvPr/>
        </p:nvSpPr>
        <p:spPr>
          <a:xfrm>
            <a:off x="685800" y="2029799"/>
            <a:ext cx="4114800" cy="1083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Tumpukkan elemen-elemen yang tidak penting dan berlebih dapat membuat pengguna bingung dan sulit mengakses informasi.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 kamu, elemen apa saja yang membuat gambar di kiri menjadi tidak seimbang?</a:t>
            </a:r>
            <a:endParaRPr sz="1000">
              <a:solidFill>
                <a:schemeClr val="dk1"/>
              </a:solidFill>
              <a:latin typeface="Montserrat"/>
              <a:ea typeface="Montserrat"/>
              <a:cs typeface="Montserrat"/>
              <a:sym typeface="Montserrat"/>
            </a:endParaRPr>
          </a:p>
        </p:txBody>
      </p:sp>
      <p:pic>
        <p:nvPicPr>
          <p:cNvPr id="586" name="Google Shape;586;p76"/>
          <p:cNvPicPr preferRelativeResize="0"/>
          <p:nvPr/>
        </p:nvPicPr>
        <p:blipFill rotWithShape="1">
          <a:blip r:embed="rId3">
            <a:alphaModFix/>
          </a:blip>
          <a:srcRect b="-770" l="0" r="0" t="770"/>
          <a:stretch/>
        </p:blipFill>
        <p:spPr>
          <a:xfrm>
            <a:off x="5486400" y="1207575"/>
            <a:ext cx="3017524" cy="34770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2" name="Google Shape;592;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593" name="Google Shape;593;p77"/>
          <p:cNvSpPr txBox="1"/>
          <p:nvPr/>
        </p:nvSpPr>
        <p:spPr>
          <a:xfrm>
            <a:off x="685800" y="1805697"/>
            <a:ext cx="4114800" cy="1532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Pengguna tidak dilibatkan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pengguna berselancar di situs kamu, mereka ada di sana untuk berinteraksi dengan merek yang kamu buat.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Oleh karena itu, komunikasi tidak boleh satu arah dalam web tersebut karena kurangnya dialog serta interaktivitas bisa mengurangi pengalaman pengguna.</a:t>
            </a:r>
            <a:endParaRPr sz="1000">
              <a:solidFill>
                <a:schemeClr val="dk1"/>
              </a:solidFill>
              <a:latin typeface="Montserrat"/>
              <a:ea typeface="Montserrat"/>
              <a:cs typeface="Montserrat"/>
              <a:sym typeface="Montserrat"/>
            </a:endParaRPr>
          </a:p>
        </p:txBody>
      </p:sp>
      <p:pic>
        <p:nvPicPr>
          <p:cNvPr id="594" name="Google Shape;594;p77"/>
          <p:cNvPicPr preferRelativeResize="0"/>
          <p:nvPr/>
        </p:nvPicPr>
        <p:blipFill rotWithShape="1">
          <a:blip r:embed="rId3">
            <a:alphaModFix/>
          </a:blip>
          <a:srcRect b="0" l="0" r="0" t="0"/>
          <a:stretch/>
        </p:blipFill>
        <p:spPr>
          <a:xfrm>
            <a:off x="5496950" y="1440200"/>
            <a:ext cx="3017525" cy="22631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0" name="Google Shape;600;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01" name="Google Shape;601;p78"/>
          <p:cNvSpPr txBox="1"/>
          <p:nvPr/>
        </p:nvSpPr>
        <p:spPr>
          <a:xfrm>
            <a:off x="685800" y="1837222"/>
            <a:ext cx="4114800" cy="1003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mengatasinya, gunakan plugin media sosial seperti tombol </a:t>
            </a:r>
            <a:r>
              <a:rPr i="1" lang="en" sz="1000">
                <a:solidFill>
                  <a:schemeClr val="dk1"/>
                </a:solidFill>
                <a:latin typeface="Montserrat"/>
                <a:ea typeface="Montserrat"/>
                <a:cs typeface="Montserrat"/>
                <a:sym typeface="Montserrat"/>
              </a:rPr>
              <a:t>share</a:t>
            </a:r>
            <a:r>
              <a:rPr lang="en" sz="1000">
                <a:solidFill>
                  <a:schemeClr val="dk1"/>
                </a:solidFill>
                <a:latin typeface="Montserrat"/>
                <a:ea typeface="Montserrat"/>
                <a:cs typeface="Montserrat"/>
                <a:sym typeface="Montserrat"/>
              </a:rPr>
              <a:t>, </a:t>
            </a:r>
            <a:r>
              <a:rPr i="1" lang="en" sz="1000">
                <a:solidFill>
                  <a:schemeClr val="dk1"/>
                </a:solidFill>
                <a:latin typeface="Montserrat"/>
                <a:ea typeface="Montserrat"/>
                <a:cs typeface="Montserrat"/>
                <a:sym typeface="Montserrat"/>
              </a:rPr>
              <a:t>like </a:t>
            </a:r>
            <a:r>
              <a:rPr lang="en" sz="1000">
                <a:solidFill>
                  <a:schemeClr val="dk1"/>
                </a:solidFill>
                <a:latin typeface="Montserrat"/>
                <a:ea typeface="Montserrat"/>
                <a:cs typeface="Montserrat"/>
                <a:sym typeface="Montserrat"/>
              </a:rPr>
              <a:t>dan fitur untuk berkomentar.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memadukan pengalaman media sosial dengan situs kamu, bisa membantu memicu interaksi pengguna di situs kamu.</a:t>
            </a:r>
            <a:endParaRPr sz="1000">
              <a:solidFill>
                <a:schemeClr val="dk1"/>
              </a:solidFill>
              <a:latin typeface="Montserrat"/>
              <a:ea typeface="Montserrat"/>
              <a:cs typeface="Montserrat"/>
              <a:sym typeface="Montserrat"/>
            </a:endParaRPr>
          </a:p>
        </p:txBody>
      </p:sp>
      <p:pic>
        <p:nvPicPr>
          <p:cNvPr id="602" name="Google Shape;602;p78"/>
          <p:cNvPicPr preferRelativeResize="0"/>
          <p:nvPr/>
        </p:nvPicPr>
        <p:blipFill rotWithShape="1">
          <a:blip r:embed="rId3">
            <a:alphaModFix/>
          </a:blip>
          <a:srcRect b="0" l="0" r="0" t="0"/>
          <a:stretch/>
        </p:blipFill>
        <p:spPr>
          <a:xfrm>
            <a:off x="5486400" y="1440200"/>
            <a:ext cx="3017525" cy="22631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8" name="Google Shape;608;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09" name="Google Shape;609;p79"/>
          <p:cNvSpPr txBox="1"/>
          <p:nvPr/>
        </p:nvSpPr>
        <p:spPr>
          <a:xfrm>
            <a:off x="685800" y="1652698"/>
            <a:ext cx="4114800" cy="1838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Mempunyai</a:t>
            </a:r>
            <a:r>
              <a:rPr b="1" lang="en" sz="1600">
                <a:solidFill>
                  <a:srgbClr val="743673"/>
                </a:solidFill>
                <a:highlight>
                  <a:schemeClr val="lt1"/>
                </a:highlight>
                <a:latin typeface="Montserrat"/>
                <a:ea typeface="Montserrat"/>
                <a:cs typeface="Montserrat"/>
                <a:sym typeface="Montserrat"/>
              </a:rPr>
              <a:t> informasi kontak yang kurang</a:t>
            </a:r>
            <a:endParaRPr sz="1100">
              <a:solidFill>
                <a:schemeClr val="dk1"/>
              </a:solidFill>
              <a:latin typeface="Montserrat Medium"/>
              <a:ea typeface="Montserrat Medium"/>
              <a:cs typeface="Montserrat Medium"/>
              <a:sym typeface="Montserrat Medium"/>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Coba bayangkan, akhirnya kamu menemukan situs produk atau layanan yang kamu cari.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Karena sudah yakin dengan informasi yang tercantum di sana, kemudian kamu berencana untuk membeli atau menyewa layanan mereka.</a:t>
            </a:r>
            <a:endParaRPr sz="1000">
              <a:solidFill>
                <a:schemeClr val="dk1"/>
              </a:solidFill>
              <a:latin typeface="Montserrat"/>
              <a:ea typeface="Montserrat"/>
              <a:cs typeface="Montserrat"/>
              <a:sym typeface="Montserrat"/>
            </a:endParaRPr>
          </a:p>
        </p:txBody>
      </p:sp>
      <p:pic>
        <p:nvPicPr>
          <p:cNvPr id="610" name="Google Shape;610;p79"/>
          <p:cNvPicPr preferRelativeResize="0"/>
          <p:nvPr/>
        </p:nvPicPr>
        <p:blipFill rotWithShape="1">
          <a:blip r:embed="rId3">
            <a:alphaModFix/>
          </a:blip>
          <a:srcRect b="0" l="0" r="0" t="0"/>
          <a:stretch/>
        </p:blipFill>
        <p:spPr>
          <a:xfrm>
            <a:off x="5507525" y="1440200"/>
            <a:ext cx="3017524" cy="2263101"/>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6" name="Google Shape;616;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17" name="Google Shape;617;p80"/>
          <p:cNvSpPr txBox="1"/>
          <p:nvPr/>
        </p:nvSpPr>
        <p:spPr>
          <a:xfrm>
            <a:off x="685800" y="2006397"/>
            <a:ext cx="4114800" cy="113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Masalahnya, nggak ada informasi kontak bisnis di laman tersebut, nggak ada formulir yang harus diisi, nggak ada alamat kantor ataupun nomor telepon. Jengkel nggak sih?</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Pada akhirnya, kejadian seperti ini membuat pengalaman pengguna di situs tersebut tidak berjalan lancar.</a:t>
            </a:r>
            <a:endParaRPr sz="1000">
              <a:solidFill>
                <a:schemeClr val="dk1"/>
              </a:solidFill>
              <a:latin typeface="Montserrat"/>
              <a:ea typeface="Montserrat"/>
              <a:cs typeface="Montserrat"/>
              <a:sym typeface="Montserrat"/>
            </a:endParaRPr>
          </a:p>
        </p:txBody>
      </p:sp>
      <p:pic>
        <p:nvPicPr>
          <p:cNvPr id="618" name="Google Shape;618;p80"/>
          <p:cNvPicPr preferRelativeResize="0"/>
          <p:nvPr/>
        </p:nvPicPr>
        <p:blipFill rotWithShape="1">
          <a:blip r:embed="rId3">
            <a:alphaModFix/>
          </a:blip>
          <a:srcRect b="0" l="0" r="0" t="0"/>
          <a:stretch/>
        </p:blipFill>
        <p:spPr>
          <a:xfrm>
            <a:off x="5496950" y="1440200"/>
            <a:ext cx="3017524" cy="226310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4" name="Google Shape;624;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25" name="Google Shape;625;p81"/>
          <p:cNvSpPr txBox="1"/>
          <p:nvPr/>
        </p:nvSpPr>
        <p:spPr>
          <a:xfrm>
            <a:off x="685800" y="1589248"/>
            <a:ext cx="4114800" cy="196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Tidak responsif maupun adaptif</a:t>
            </a:r>
            <a:br>
              <a:rPr b="1" lang="en" sz="1800">
                <a:solidFill>
                  <a:srgbClr val="743673"/>
                </a:solidFill>
                <a:highlight>
                  <a:schemeClr val="lt1"/>
                </a:highlight>
                <a:latin typeface="Montserrat"/>
                <a:ea typeface="Montserrat"/>
                <a:cs typeface="Montserrat"/>
                <a:sym typeface="Montserrat"/>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Di zaman sekarang ini, situs web responsif yang mengharuskan pengguna untuk zoom in atau zoom out pada perangkat seluler kurang digemari.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Meskipun </a:t>
            </a:r>
            <a:r>
              <a:rPr i="1" lang="en" sz="1000">
                <a:solidFill>
                  <a:schemeClr val="dk1"/>
                </a:solidFill>
                <a:latin typeface="Montserrat"/>
                <a:ea typeface="Montserrat"/>
                <a:cs typeface="Montserrat"/>
                <a:sym typeface="Montserrat"/>
              </a:rPr>
              <a:t>zooming in </a:t>
            </a:r>
            <a:r>
              <a:rPr lang="en" sz="1000">
                <a:solidFill>
                  <a:schemeClr val="dk1"/>
                </a:solidFill>
                <a:latin typeface="Montserrat"/>
                <a:ea typeface="Montserrat"/>
                <a:cs typeface="Montserrat"/>
                <a:sym typeface="Montserrat"/>
              </a:rPr>
              <a:t>dan </a:t>
            </a:r>
            <a:r>
              <a:rPr i="1" lang="en" sz="1000">
                <a:solidFill>
                  <a:schemeClr val="dk1"/>
                </a:solidFill>
                <a:latin typeface="Montserrat"/>
                <a:ea typeface="Montserrat"/>
                <a:cs typeface="Montserrat"/>
                <a:sym typeface="Montserrat"/>
              </a:rPr>
              <a:t>out</a:t>
            </a:r>
            <a:r>
              <a:rPr lang="en" sz="1000">
                <a:solidFill>
                  <a:schemeClr val="dk1"/>
                </a:solidFill>
                <a:latin typeface="Montserrat"/>
                <a:ea typeface="Montserrat"/>
                <a:cs typeface="Montserrat"/>
                <a:sym typeface="Montserrat"/>
              </a:rPr>
              <a:t> tidak sulit, pertimbangkanlah pengguna dengan jari-jari gemuk dan penglihatan yang kurang baik saat membuat desain. Tidak semua dari kita diberkati dengan ujung jari yang gesit.</a:t>
            </a:r>
            <a:endParaRPr sz="1000">
              <a:solidFill>
                <a:schemeClr val="dk1"/>
              </a:solidFill>
              <a:latin typeface="Montserrat"/>
              <a:ea typeface="Montserrat"/>
              <a:cs typeface="Montserrat"/>
              <a:sym typeface="Montserrat"/>
            </a:endParaRPr>
          </a:p>
        </p:txBody>
      </p:sp>
      <p:pic>
        <p:nvPicPr>
          <p:cNvPr id="626" name="Google Shape;626;p81"/>
          <p:cNvPicPr preferRelativeResize="0"/>
          <p:nvPr/>
        </p:nvPicPr>
        <p:blipFill rotWithShape="1">
          <a:blip r:embed="rId3">
            <a:alphaModFix/>
          </a:blip>
          <a:srcRect b="0" l="0" r="0" t="0"/>
          <a:stretch/>
        </p:blipFill>
        <p:spPr>
          <a:xfrm>
            <a:off x="5518100" y="1440200"/>
            <a:ext cx="3017524" cy="226310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2" name="Google Shape;632;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33" name="Google Shape;633;p82"/>
          <p:cNvSpPr txBox="1"/>
          <p:nvPr/>
        </p:nvSpPr>
        <p:spPr>
          <a:xfrm>
            <a:off x="685800" y="1620900"/>
            <a:ext cx="4343700" cy="1901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Tidak menggunakan elemen-elemen desain dengan konsisten</a:t>
            </a:r>
            <a:br>
              <a:rPr b="1" lang="en" sz="1800">
                <a:solidFill>
                  <a:srgbClr val="743673"/>
                </a:solidFill>
                <a:highlight>
                  <a:schemeClr val="lt1"/>
                </a:highlight>
                <a:latin typeface="Montserrat"/>
                <a:ea typeface="Montserrat"/>
                <a:cs typeface="Montserrat"/>
                <a:sym typeface="Montserrat"/>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Tidak hanya elemen-elemen desain, tata letak atau layout desain pun perlu konsistensi supaya pengguna tidak bingung, dapat menemukan informasi serta navigasi dengan mudah.</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contoh di samping, bisa kita lihat bahwa desain kita akan lebih berantakan jika kita menggunakan ikon yang berbeda </a:t>
            </a:r>
            <a:r>
              <a:rPr i="1" lang="en" sz="1000">
                <a:solidFill>
                  <a:schemeClr val="dk1"/>
                </a:solidFill>
                <a:latin typeface="Montserrat"/>
                <a:ea typeface="Montserrat"/>
                <a:cs typeface="Montserrat"/>
                <a:sym typeface="Montserrat"/>
              </a:rPr>
              <a:t>style-</a:t>
            </a:r>
            <a:r>
              <a:rPr lang="en" sz="1000">
                <a:solidFill>
                  <a:schemeClr val="dk1"/>
                </a:solidFill>
                <a:latin typeface="Montserrat"/>
                <a:ea typeface="Montserrat"/>
                <a:cs typeface="Montserrat"/>
                <a:sym typeface="Montserrat"/>
              </a:rPr>
              <a:t>nya.</a:t>
            </a:r>
            <a:endParaRPr sz="1000">
              <a:solidFill>
                <a:schemeClr val="dk1"/>
              </a:solidFill>
              <a:latin typeface="Montserrat"/>
              <a:ea typeface="Montserrat"/>
              <a:cs typeface="Montserrat"/>
              <a:sym typeface="Montserrat"/>
            </a:endParaRPr>
          </a:p>
        </p:txBody>
      </p:sp>
      <p:pic>
        <p:nvPicPr>
          <p:cNvPr id="634" name="Google Shape;634;p82"/>
          <p:cNvPicPr preferRelativeResize="0"/>
          <p:nvPr/>
        </p:nvPicPr>
        <p:blipFill rotWithShape="1">
          <a:blip r:embed="rId3">
            <a:alphaModFix/>
          </a:blip>
          <a:srcRect b="0" l="0" r="0" t="0"/>
          <a:stretch/>
        </p:blipFill>
        <p:spPr>
          <a:xfrm>
            <a:off x="5517500" y="2537500"/>
            <a:ext cx="2955326" cy="1400400"/>
          </a:xfrm>
          <a:prstGeom prst="rect">
            <a:avLst/>
          </a:prstGeom>
          <a:noFill/>
          <a:ln>
            <a:noFill/>
          </a:ln>
        </p:spPr>
      </p:pic>
      <p:pic>
        <p:nvPicPr>
          <p:cNvPr id="635" name="Google Shape;635;p82"/>
          <p:cNvPicPr preferRelativeResize="0"/>
          <p:nvPr/>
        </p:nvPicPr>
        <p:blipFill>
          <a:blip r:embed="rId4">
            <a:alphaModFix/>
          </a:blip>
          <a:stretch>
            <a:fillRect/>
          </a:stretch>
        </p:blipFill>
        <p:spPr>
          <a:xfrm>
            <a:off x="5505975" y="1290450"/>
            <a:ext cx="2978376" cy="1156832"/>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1" name="Google Shape;641;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42" name="Google Shape;642;p83"/>
          <p:cNvSpPr txBox="1"/>
          <p:nvPr/>
        </p:nvSpPr>
        <p:spPr>
          <a:xfrm>
            <a:off x="685800" y="1462500"/>
            <a:ext cx="3951300" cy="221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Menggunakan f</a:t>
            </a:r>
            <a:r>
              <a:rPr b="1" lang="en" sz="1600">
                <a:solidFill>
                  <a:srgbClr val="743673"/>
                </a:solidFill>
                <a:highlight>
                  <a:schemeClr val="lt1"/>
                </a:highlight>
                <a:latin typeface="Montserrat"/>
                <a:ea typeface="Montserrat"/>
                <a:cs typeface="Montserrat"/>
                <a:sym typeface="Montserrat"/>
              </a:rPr>
              <a:t>ormulir yang membingungkan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membuat formulir, kita perlu berhati-hati dan memastikan bahwa pengguna tidak akan kebingungan untuk mengisinya.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Pertama, gunakan bahasa yang jelas. Kedua, kalau bagian yang perlu diisi oleh pengguna terlalu banyak, bagilah formulir tersebut menjadi </a:t>
            </a:r>
            <a:r>
              <a:rPr lang="en" sz="1000">
                <a:solidFill>
                  <a:schemeClr val="dk1"/>
                </a:solidFill>
                <a:latin typeface="Montserrat"/>
                <a:ea typeface="Montserrat"/>
                <a:cs typeface="Montserrat"/>
                <a:sym typeface="Montserrat"/>
              </a:rPr>
              <a:t>step-step terpisah dan gunakan progress bar</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pada setiap step. </a:t>
            </a:r>
            <a:endParaRPr sz="1000">
              <a:solidFill>
                <a:schemeClr val="dk1"/>
              </a:solidFill>
              <a:latin typeface="Montserrat"/>
              <a:ea typeface="Montserrat"/>
              <a:cs typeface="Montserrat"/>
              <a:sym typeface="Montserrat"/>
            </a:endParaRPr>
          </a:p>
        </p:txBody>
      </p:sp>
      <p:pic>
        <p:nvPicPr>
          <p:cNvPr id="643" name="Google Shape;643;p83"/>
          <p:cNvPicPr preferRelativeResize="0"/>
          <p:nvPr/>
        </p:nvPicPr>
        <p:blipFill rotWithShape="1">
          <a:blip r:embed="rId3">
            <a:alphaModFix/>
          </a:blip>
          <a:srcRect b="0" l="0" r="0" t="0"/>
          <a:stretch/>
        </p:blipFill>
        <p:spPr>
          <a:xfrm>
            <a:off x="5486400" y="1543463"/>
            <a:ext cx="3017524" cy="20565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9" name="Google Shape;649;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50" name="Google Shape;650;p84"/>
          <p:cNvSpPr txBox="1"/>
          <p:nvPr/>
        </p:nvSpPr>
        <p:spPr>
          <a:xfrm>
            <a:off x="685800" y="1689598"/>
            <a:ext cx="4114800" cy="176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Mempunyai keterbacaan rendah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Keterbacaan atau readability yang rendah bisa dikarenakan berbagai hal. Misalnya, dari kontras warna yang kurang, ukuran font yang kecil, tipe font yang italic, dan lain-lain.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Apapun sebabnya, keterbacaan adalah hal yang sangat penting pada desain. Jangan sampai kamu mengurangi keterbacaan karena ingin membuat desain terlihat lebih indah. </a:t>
            </a:r>
            <a:endParaRPr sz="1000">
              <a:solidFill>
                <a:schemeClr val="dk1"/>
              </a:solidFill>
              <a:latin typeface="Montserrat"/>
              <a:ea typeface="Montserrat"/>
              <a:cs typeface="Montserrat"/>
              <a:sym typeface="Montserrat"/>
            </a:endParaRPr>
          </a:p>
        </p:txBody>
      </p:sp>
      <p:pic>
        <p:nvPicPr>
          <p:cNvPr id="651" name="Google Shape;651;p84"/>
          <p:cNvPicPr preferRelativeResize="0"/>
          <p:nvPr/>
        </p:nvPicPr>
        <p:blipFill rotWithShape="1">
          <a:blip r:embed="rId3">
            <a:alphaModFix/>
          </a:blip>
          <a:srcRect b="15034" l="0" r="0" t="15034"/>
          <a:stretch/>
        </p:blipFill>
        <p:spPr>
          <a:xfrm>
            <a:off x="5486394" y="1207575"/>
            <a:ext cx="3017525" cy="1186923"/>
          </a:xfrm>
          <a:prstGeom prst="rect">
            <a:avLst/>
          </a:prstGeom>
          <a:noFill/>
          <a:ln>
            <a:noFill/>
          </a:ln>
        </p:spPr>
      </p:pic>
      <p:pic>
        <p:nvPicPr>
          <p:cNvPr id="652" name="Google Shape;652;p84"/>
          <p:cNvPicPr preferRelativeResize="0"/>
          <p:nvPr/>
        </p:nvPicPr>
        <p:blipFill rotWithShape="1">
          <a:blip r:embed="rId4">
            <a:alphaModFix/>
          </a:blip>
          <a:srcRect b="15034" l="0" r="0" t="15034"/>
          <a:stretch/>
        </p:blipFill>
        <p:spPr>
          <a:xfrm>
            <a:off x="5486394" y="2394500"/>
            <a:ext cx="3017525" cy="1186923"/>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8" name="Google Shape;658;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59" name="Google Shape;659;p85"/>
          <p:cNvSpPr txBox="1"/>
          <p:nvPr/>
        </p:nvSpPr>
        <p:spPr>
          <a:xfrm>
            <a:off x="662938" y="1733147"/>
            <a:ext cx="4114800" cy="1289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t>
            </a:r>
            <a:r>
              <a:rPr b="1" lang="en" sz="1600">
                <a:solidFill>
                  <a:srgbClr val="743673"/>
                </a:solidFill>
                <a:highlight>
                  <a:schemeClr val="lt1"/>
                </a:highlight>
                <a:latin typeface="Montserrat"/>
                <a:ea typeface="Montserrat"/>
                <a:cs typeface="Montserrat"/>
                <a:sym typeface="Montserrat"/>
              </a:rPr>
              <a:t>enggunakan gambar yang tidak relevan atau berkualitas rendah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Foto di antarmuka (interface) desain kamu akan membantu pengguna mencerap informasi, maka pilihlah gambar dengan baik.</a:t>
            </a:r>
            <a:endParaRPr sz="1000">
              <a:solidFill>
                <a:schemeClr val="dk1"/>
              </a:solidFill>
              <a:latin typeface="Montserrat"/>
              <a:ea typeface="Montserrat"/>
              <a:cs typeface="Montserrat"/>
              <a:sym typeface="Montserrat"/>
            </a:endParaRPr>
          </a:p>
        </p:txBody>
      </p:sp>
      <p:pic>
        <p:nvPicPr>
          <p:cNvPr id="660" name="Google Shape;660;p85"/>
          <p:cNvPicPr preferRelativeResize="0"/>
          <p:nvPr/>
        </p:nvPicPr>
        <p:blipFill rotWithShape="1">
          <a:blip r:embed="rId3">
            <a:alphaModFix/>
          </a:blip>
          <a:srcRect b="0" l="0" r="0" t="0"/>
          <a:stretch/>
        </p:blipFill>
        <p:spPr>
          <a:xfrm>
            <a:off x="5463538" y="1752000"/>
            <a:ext cx="3017524" cy="15134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6" name="Google Shape;666;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67" name="Google Shape;667;p86"/>
          <p:cNvSpPr txBox="1"/>
          <p:nvPr/>
        </p:nvSpPr>
        <p:spPr>
          <a:xfrm>
            <a:off x="662938" y="1809347"/>
            <a:ext cx="4114800" cy="142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Ingatlah tip-tip berikut saat memilih gambar: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Hindari foto yang tidak relevan.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Tampilkan foto yang terkait dengan layanan atau produk kamu.</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Gunakan gambar yang berkualitas tinggi.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Pilih foto yang kreatif dan realistis. Hindari foto stok atau rekayasa.</a:t>
            </a:r>
            <a:endParaRPr sz="1000">
              <a:solidFill>
                <a:schemeClr val="dk1"/>
              </a:solidFill>
              <a:latin typeface="Montserrat"/>
              <a:ea typeface="Montserrat"/>
              <a:cs typeface="Montserrat"/>
              <a:sym typeface="Montserrat"/>
            </a:endParaRPr>
          </a:p>
        </p:txBody>
      </p:sp>
      <p:pic>
        <p:nvPicPr>
          <p:cNvPr id="668" name="Google Shape;668;p86"/>
          <p:cNvPicPr preferRelativeResize="0"/>
          <p:nvPr/>
        </p:nvPicPr>
        <p:blipFill rotWithShape="1">
          <a:blip r:embed="rId3">
            <a:alphaModFix/>
          </a:blip>
          <a:srcRect b="0" l="0" r="0" t="0"/>
          <a:stretch/>
        </p:blipFill>
        <p:spPr>
          <a:xfrm>
            <a:off x="5463538" y="1828200"/>
            <a:ext cx="3017524" cy="15134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4" name="Google Shape;674;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75" name="Google Shape;675;p87"/>
          <p:cNvSpPr txBox="1"/>
          <p:nvPr/>
        </p:nvSpPr>
        <p:spPr>
          <a:xfrm>
            <a:off x="685800" y="1673700"/>
            <a:ext cx="3951300" cy="1796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Hal yang perlu kamu ketahui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Kebanyakan orang memindai konten sebelum membacanya. Ketika pemindaian tampak menarik, mereka akan membaca sekilas; dan jika kontennya menarik, maka mereka akan membacanya lebih lanjut.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Sehingga, </a:t>
            </a:r>
            <a:r>
              <a:rPr b="1" lang="en" sz="1000">
                <a:solidFill>
                  <a:schemeClr val="dk1"/>
                </a:solidFill>
                <a:latin typeface="Montserrat"/>
                <a:ea typeface="Montserrat"/>
                <a:cs typeface="Montserrat"/>
                <a:sym typeface="Montserrat"/>
              </a:rPr>
              <a:t>buatlah teks dalam desain kamu mudah dipindai</a:t>
            </a:r>
            <a:r>
              <a:rPr lang="en" sz="1000">
                <a:solidFill>
                  <a:schemeClr val="dk1"/>
                </a:solidFill>
                <a:latin typeface="Montserrat"/>
                <a:ea typeface="Montserrat"/>
                <a:cs typeface="Montserrat"/>
                <a:sym typeface="Montserrat"/>
              </a:rPr>
              <a:t>. Selain itu, </a:t>
            </a:r>
            <a:r>
              <a:rPr b="1" lang="en" sz="1000">
                <a:solidFill>
                  <a:schemeClr val="dk1"/>
                </a:solidFill>
                <a:latin typeface="Montserrat"/>
                <a:ea typeface="Montserrat"/>
                <a:cs typeface="Montserrat"/>
                <a:sym typeface="Montserrat"/>
              </a:rPr>
              <a:t>gunakanlah font dan ukuran yang sesuai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676" name="Google Shape;676;p87"/>
          <p:cNvPicPr preferRelativeResize="0"/>
          <p:nvPr/>
        </p:nvPicPr>
        <p:blipFill>
          <a:blip r:embed="rId3">
            <a:alphaModFix/>
          </a:blip>
          <a:stretch>
            <a:fillRect/>
          </a:stretch>
        </p:blipFill>
        <p:spPr>
          <a:xfrm>
            <a:off x="4724400" y="1053124"/>
            <a:ext cx="3951300" cy="347159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2" name="Google Shape;682;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83" name="Google Shape;683;p88"/>
          <p:cNvSpPr txBox="1"/>
          <p:nvPr/>
        </p:nvSpPr>
        <p:spPr>
          <a:xfrm>
            <a:off x="685800" y="1891200"/>
            <a:ext cx="3738600" cy="1361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Terakhir, namun tidak kalah pentingnya, adalah terkait konten. </a:t>
            </a:r>
            <a:r>
              <a:rPr b="1" lang="en" sz="1000">
                <a:solidFill>
                  <a:schemeClr val="dk1"/>
                </a:solidFill>
                <a:latin typeface="Montserrat"/>
                <a:ea typeface="Montserrat"/>
                <a:cs typeface="Montserrat"/>
                <a:sym typeface="Montserrat"/>
              </a:rPr>
              <a:t>Pastikan konten kamu relevan untuk sasaran audiens kamu dan mudah dibaca</a:t>
            </a:r>
            <a:r>
              <a:rPr lang="en" sz="1000">
                <a:solidFill>
                  <a:schemeClr val="dk1"/>
                </a:solidFill>
                <a:latin typeface="Montserrat"/>
                <a:ea typeface="Montserrat"/>
                <a:cs typeface="Montserrat"/>
                <a:sym typeface="Montserrat"/>
              </a:rPr>
              <a:t>. Ingat, antarmuka pengguna adalah bagaimana situs berinteraksi dengan pengguna.</a:t>
            </a:r>
            <a:endParaRPr sz="1000">
              <a:solidFill>
                <a:schemeClr val="dk1"/>
              </a:solidFill>
              <a:latin typeface="Montserrat"/>
              <a:ea typeface="Montserrat"/>
              <a:cs typeface="Montserrat"/>
              <a:sym typeface="Montserrat"/>
            </a:endParaRPr>
          </a:p>
        </p:txBody>
      </p:sp>
      <p:pic>
        <p:nvPicPr>
          <p:cNvPr id="684" name="Google Shape;684;p88"/>
          <p:cNvPicPr preferRelativeResize="0"/>
          <p:nvPr/>
        </p:nvPicPr>
        <p:blipFill>
          <a:blip r:embed="rId3">
            <a:alphaModFix/>
          </a:blip>
          <a:stretch>
            <a:fillRect/>
          </a:stretch>
        </p:blipFill>
        <p:spPr>
          <a:xfrm>
            <a:off x="5074045" y="914399"/>
            <a:ext cx="2430229" cy="3886199"/>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0" name="Google Shape;690;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691" name="Google Shape;691;p89"/>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692" name="Google Shape;692;p89"/>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0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1) The Elements of User Experience: User-Centered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    Design for the Web and Beyond (2nd Edition) by Jesse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    James Garrett</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2) Information Architecture for the World Wide Web: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    Designing Large-Scale Web Sites by Peter Morville and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    Louis Rosenfeld</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3) </a:t>
            </a:r>
            <a:r>
              <a:rPr lang="en" sz="1000">
                <a:solidFill>
                  <a:schemeClr val="dk1"/>
                </a:solidFill>
                <a:uFill>
                  <a:noFill/>
                </a:uFill>
                <a:latin typeface="Montserrat Medium"/>
                <a:ea typeface="Montserrat Medium"/>
                <a:cs typeface="Montserrat Medium"/>
                <a:sym typeface="Montserrat Medium"/>
                <a:hlinkClick r:id="rId4">
                  <a:extLst>
                    <a:ext uri="{A12FA001-AC4F-418D-AE19-62706E023703}">
                      <ahyp:hlinkClr val="tx"/>
                    </a:ext>
                  </a:extLst>
                </a:hlinkClick>
              </a:rPr>
              <a:t>10 Characteristics Of A Bad User Experience by </a:t>
            </a:r>
            <a:br>
              <a:rPr lang="en" sz="1000">
                <a:solidFill>
                  <a:schemeClr val="dk1"/>
                </a:solidFill>
                <a:uFill>
                  <a:noFill/>
                </a:uFill>
                <a:latin typeface="Montserrat Medium"/>
                <a:ea typeface="Montserrat Medium"/>
                <a:cs typeface="Montserrat Medium"/>
                <a:sym typeface="Montserrat Medium"/>
                <a:hlinkClick r:id="rId5">
                  <a:extLst>
                    <a:ext uri="{A12FA001-AC4F-418D-AE19-62706E023703}">
                      <ahyp:hlinkClr val="tx"/>
                    </a:ext>
                  </a:extLst>
                </a:hlinkClick>
              </a:rPr>
            </a:br>
            <a:r>
              <a:rPr lang="en" sz="1000">
                <a:solidFill>
                  <a:schemeClr val="dk1"/>
                </a:solidFill>
                <a:uFill>
                  <a:noFill/>
                </a:uFill>
                <a:latin typeface="Montserrat Medium"/>
                <a:ea typeface="Montserrat Medium"/>
                <a:cs typeface="Montserrat Medium"/>
                <a:sym typeface="Montserrat Medium"/>
                <a:hlinkClick r:id="rId6">
                  <a:extLst>
                    <a:ext uri="{A12FA001-AC4F-418D-AE19-62706E023703}">
                      <ahyp:hlinkClr val="tx"/>
                    </a:ext>
                  </a:extLst>
                </a:hlinkClick>
              </a:rPr>
              <a:t>    Usability Geek</a:t>
            </a:r>
            <a:br>
              <a:rPr i="1" lang="en" sz="1000">
                <a:solidFill>
                  <a:schemeClr val="dk1"/>
                </a:solidFill>
                <a:highlight>
                  <a:srgbClr val="FFFFFF"/>
                </a:highlight>
                <a:latin typeface="Montserrat Medium"/>
                <a:ea typeface="Montserrat Medium"/>
                <a:cs typeface="Montserrat Medium"/>
                <a:sym typeface="Montserrat Medium"/>
              </a:rPr>
            </a:br>
            <a:r>
              <a:rPr lang="en" sz="1000">
                <a:solidFill>
                  <a:schemeClr val="dk1"/>
                </a:solidFill>
                <a:highlight>
                  <a:srgbClr val="FFFFFF"/>
                </a:highlight>
                <a:latin typeface="Montserrat Medium"/>
                <a:ea typeface="Montserrat Medium"/>
                <a:cs typeface="Montserrat Medium"/>
                <a:sym typeface="Montserrat Medium"/>
              </a:rPr>
              <a:t>4) </a:t>
            </a:r>
            <a:r>
              <a:rPr lang="en" sz="1000">
                <a:solidFill>
                  <a:schemeClr val="dk1"/>
                </a:solidFill>
                <a:highlight>
                  <a:srgbClr val="FFFFFF"/>
                </a:highlight>
                <a:uFill>
                  <a:noFill/>
                </a:uFill>
                <a:latin typeface="Montserrat Medium"/>
                <a:ea typeface="Montserrat Medium"/>
                <a:cs typeface="Montserrat Medium"/>
                <a:sym typeface="Montserrat Medium"/>
                <a:hlinkClick r:id="rId7">
                  <a:extLst>
                    <a:ext uri="{A12FA001-AC4F-418D-AE19-62706E023703}">
                      <ahyp:hlinkClr val="tx"/>
                    </a:ext>
                  </a:extLst>
                </a:hlinkClick>
              </a:rPr>
              <a:t>10 Common UI Design Mistakes (And How To Avoid   </a:t>
            </a:r>
            <a:endParaRPr sz="1000">
              <a:solidFill>
                <a:schemeClr val="dk1"/>
              </a:solidFill>
              <a:highlight>
                <a:srgbClr val="FFFFFF"/>
              </a:highlight>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highlight>
                  <a:srgbClr val="FFFFFF"/>
                </a:highlight>
                <a:uFill>
                  <a:noFill/>
                </a:uFill>
                <a:latin typeface="Montserrat Medium"/>
                <a:ea typeface="Montserrat Medium"/>
                <a:cs typeface="Montserrat Medium"/>
                <a:sym typeface="Montserrat Medium"/>
                <a:hlinkClick r:id="rId8">
                  <a:extLst>
                    <a:ext uri="{A12FA001-AC4F-418D-AE19-62706E023703}">
                      <ahyp:hlinkClr val="tx"/>
                    </a:ext>
                  </a:extLst>
                </a:hlinkClick>
              </a:rPr>
              <a:t>    Them) by Careerfoundry</a:t>
            </a:r>
            <a:endParaRPr sz="1000">
              <a:solidFill>
                <a:schemeClr val="dk1"/>
              </a:solidFill>
              <a:highlight>
                <a:srgbClr val="FFFFFF"/>
              </a:highlight>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highlight>
                  <a:srgbClr val="FFFFFF"/>
                </a:highlight>
                <a:latin typeface="Montserrat Medium"/>
                <a:ea typeface="Montserrat Medium"/>
                <a:cs typeface="Montserrat Medium"/>
                <a:sym typeface="Montserrat Medium"/>
              </a:rPr>
              <a:t>5) </a:t>
            </a:r>
            <a:r>
              <a:rPr lang="en" sz="1000">
                <a:solidFill>
                  <a:schemeClr val="dk1"/>
                </a:solidFill>
                <a:highlight>
                  <a:srgbClr val="FFFFFF"/>
                </a:highlight>
                <a:uFill>
                  <a:noFill/>
                </a:uFill>
                <a:latin typeface="Montserrat Medium"/>
                <a:ea typeface="Montserrat Medium"/>
                <a:cs typeface="Montserrat Medium"/>
                <a:sym typeface="Montserrat Medium"/>
                <a:hlinkClick r:id="rId9">
                  <a:extLst>
                    <a:ext uri="{A12FA001-AC4F-418D-AE19-62706E023703}">
                      <ahyp:hlinkClr val="tx"/>
                    </a:ext>
                  </a:extLst>
                </a:hlinkClick>
              </a:rPr>
              <a:t>Design Consistency Guide: Best Practices for UI and UX  </a:t>
            </a:r>
            <a:br>
              <a:rPr lang="en" sz="1000">
                <a:solidFill>
                  <a:schemeClr val="dk1"/>
                </a:solidFill>
                <a:highlight>
                  <a:srgbClr val="FFFFFF"/>
                </a:highlight>
                <a:uFill>
                  <a:noFill/>
                </a:uFill>
                <a:latin typeface="Montserrat Medium"/>
                <a:ea typeface="Montserrat Medium"/>
                <a:cs typeface="Montserrat Medium"/>
                <a:sym typeface="Montserrat Medium"/>
                <a:hlinkClick r:id="rId10">
                  <a:extLst>
                    <a:ext uri="{A12FA001-AC4F-418D-AE19-62706E023703}">
                      <ahyp:hlinkClr val="tx"/>
                    </a:ext>
                  </a:extLst>
                </a:hlinkClick>
              </a:rPr>
            </a:br>
            <a:r>
              <a:rPr lang="en" sz="1000">
                <a:solidFill>
                  <a:schemeClr val="dk1"/>
                </a:solidFill>
                <a:highlight>
                  <a:srgbClr val="FFFFFF"/>
                </a:highlight>
                <a:uFill>
                  <a:noFill/>
                </a:uFill>
                <a:latin typeface="Montserrat Medium"/>
                <a:ea typeface="Montserrat Medium"/>
                <a:cs typeface="Montserrat Medium"/>
                <a:sym typeface="Montserrat Medium"/>
                <a:hlinkClick r:id="rId11">
                  <a:extLst>
                    <a:ext uri="{A12FA001-AC4F-418D-AE19-62706E023703}">
                      <ahyp:hlinkClr val="tx"/>
                    </a:ext>
                  </a:extLst>
                </a:hlinkClick>
              </a:rPr>
              <a:t>    Designers</a:t>
            </a:r>
            <a:endParaRPr sz="1000">
              <a:solidFill>
                <a:schemeClr val="dk1"/>
              </a:solidFill>
              <a:highlight>
                <a:srgbClr val="FFFFFF"/>
              </a:highlight>
              <a:latin typeface="Montserrat Medium"/>
              <a:ea typeface="Montserrat Medium"/>
              <a:cs typeface="Montserrat Medium"/>
              <a:sym typeface="Montserrat Medium"/>
            </a:endParaRPr>
          </a:p>
          <a:p>
            <a:pPr indent="0" lvl="0" marL="0" rtl="0" algn="just">
              <a:lnSpc>
                <a:spcPct val="115000"/>
              </a:lnSpc>
              <a:spcBef>
                <a:spcPts val="0"/>
              </a:spcBef>
              <a:spcAft>
                <a:spcPts val="2100"/>
              </a:spcAft>
              <a:buNone/>
            </a:pPr>
            <a:r>
              <a:rPr lang="en" sz="1000">
                <a:solidFill>
                  <a:schemeClr val="dk1"/>
                </a:solidFill>
                <a:highlight>
                  <a:srgbClr val="FFFFFF"/>
                </a:highlight>
                <a:latin typeface="Montserrat Medium"/>
                <a:ea typeface="Montserrat Medium"/>
                <a:cs typeface="Montserrat Medium"/>
                <a:sym typeface="Montserrat Medium"/>
              </a:rPr>
              <a:t>6) </a:t>
            </a:r>
            <a:r>
              <a:rPr lang="en" sz="1000">
                <a:solidFill>
                  <a:schemeClr val="dk1"/>
                </a:solidFill>
                <a:highlight>
                  <a:srgbClr val="FFFFFF"/>
                </a:highlight>
                <a:uFill>
                  <a:noFill/>
                </a:uFill>
                <a:latin typeface="Montserrat Medium"/>
                <a:ea typeface="Montserrat Medium"/>
                <a:cs typeface="Montserrat Medium"/>
                <a:sym typeface="Montserrat Medium"/>
                <a:hlinkClick r:id="rId12">
                  <a:extLst>
                    <a:ext uri="{A12FA001-AC4F-418D-AE19-62706E023703}">
                      <ahyp:hlinkClr val="tx"/>
                    </a:ext>
                  </a:extLst>
                </a:hlinkClick>
              </a:rPr>
              <a:t>Principles of Design - Alignmen</a:t>
            </a:r>
            <a:r>
              <a:rPr lang="en" sz="1000">
                <a:solidFill>
                  <a:schemeClr val="dk1"/>
                </a:solidFill>
                <a:uFill>
                  <a:noFill/>
                </a:uFill>
                <a:latin typeface="Montserrat Medium"/>
                <a:ea typeface="Montserrat Medium"/>
                <a:cs typeface="Montserrat Medium"/>
                <a:sym typeface="Montserrat Medium"/>
                <a:hlinkClick r:id="rId13">
                  <a:extLst>
                    <a:ext uri="{A12FA001-AC4F-418D-AE19-62706E023703}">
                      <ahyp:hlinkClr val="tx"/>
                    </a:ext>
                  </a:extLst>
                </a:hlinkClick>
              </a:rPr>
              <a:t>t by UX Engineer</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7) </a:t>
            </a:r>
            <a:r>
              <a:rPr lang="en" sz="1000">
                <a:solidFill>
                  <a:schemeClr val="dk1"/>
                </a:solidFill>
                <a:uFill>
                  <a:noFill/>
                </a:uFill>
                <a:latin typeface="Montserrat Medium"/>
                <a:ea typeface="Montserrat Medium"/>
                <a:cs typeface="Montserrat Medium"/>
                <a:sym typeface="Montserrat Medium"/>
                <a:hlinkClick r:id="rId14">
                  <a:extLst>
                    <a:ext uri="{A12FA001-AC4F-418D-AE19-62706E023703}">
                      <ahyp:hlinkClr val="tx"/>
                    </a:ext>
                  </a:extLst>
                </a:hlinkClick>
              </a:rPr>
              <a:t>Principles of Design - Balance by UX Engineer</a:t>
            </a:r>
            <a:endParaRPr sz="10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98" name="Google Shape;698;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699" name="Google Shape;699;p90"/>
          <p:cNvSpPr txBox="1"/>
          <p:nvPr/>
        </p:nvSpPr>
        <p:spPr>
          <a:xfrm>
            <a:off x="378900" y="1698475"/>
            <a:ext cx="5185800" cy="238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Oke, sampai sini dulu pembahasan kita tentang </a:t>
            </a:r>
            <a:r>
              <a:rPr b="1" lang="en">
                <a:solidFill>
                  <a:srgbClr val="F2AB2F"/>
                </a:solidFill>
                <a:latin typeface="Montserrat"/>
                <a:ea typeface="Montserrat"/>
                <a:cs typeface="Montserrat"/>
                <a:sym typeface="Montserrat"/>
              </a:rPr>
              <a:t>desain baik vs buruk </a:t>
            </a:r>
            <a:r>
              <a:rPr b="1" lang="en">
                <a:solidFill>
                  <a:schemeClr val="lt1"/>
                </a:solidFill>
                <a:latin typeface="Montserrat"/>
                <a:ea typeface="Montserrat"/>
                <a:cs typeface="Montserrat"/>
                <a:sym typeface="Montserrat"/>
              </a:rPr>
              <a:t>ya. Sekarang jadi lebih paham kan apa aja yang membuat sebuah desain itu bagus dan buruk?</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Selanjutnya, kita akan masuk ke bahasan </a:t>
            </a:r>
            <a:r>
              <a:rPr b="1" lang="en">
                <a:solidFill>
                  <a:schemeClr val="lt1"/>
                </a:solidFill>
                <a:latin typeface="Montserrat"/>
                <a:ea typeface="Montserrat"/>
                <a:cs typeface="Montserrat"/>
                <a:sym typeface="Montserrat"/>
              </a:rPr>
              <a:t>design thinking fase</a:t>
            </a:r>
            <a:r>
              <a:rPr b="1" lang="en">
                <a:solidFill>
                  <a:srgbClr val="F2AB2F"/>
                </a:solidFill>
                <a:latin typeface="Montserrat"/>
                <a:ea typeface="Montserrat"/>
                <a:cs typeface="Montserrat"/>
                <a:sym typeface="Montserrat"/>
              </a:rPr>
              <a:t> testing</a:t>
            </a:r>
            <a:r>
              <a:rPr b="1" lang="en">
                <a:solidFill>
                  <a:srgbClr val="F2AB2F"/>
                </a:solidFill>
                <a:latin typeface="Montserrat"/>
                <a:ea typeface="Montserrat"/>
                <a:cs typeface="Montserrat"/>
                <a:sym typeface="Montserrat"/>
              </a:rPr>
              <a:t> part 1</a:t>
            </a:r>
            <a:r>
              <a:rPr b="1" lang="en">
                <a:solidFill>
                  <a:schemeClr val="lt1"/>
                </a:solidFill>
                <a:latin typeface="Montserrat"/>
                <a:ea typeface="Montserrat"/>
                <a:cs typeface="Montserrat"/>
                <a:sym typeface="Montserrat"/>
              </a:rPr>
              <a:t>, gengs.</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See you tomorrow ~</a:t>
            </a:r>
            <a:endParaRPr b="1">
              <a:solidFill>
                <a:schemeClr val="lt1"/>
              </a:solidFill>
              <a:latin typeface="Montserrat"/>
              <a:ea typeface="Montserrat"/>
              <a:cs typeface="Montserrat"/>
              <a:sym typeface="Montserrat"/>
            </a:endParaRPr>
          </a:p>
        </p:txBody>
      </p:sp>
      <p:pic>
        <p:nvPicPr>
          <p:cNvPr id="700" name="Google Shape;700;p90"/>
          <p:cNvPicPr preferRelativeResize="0"/>
          <p:nvPr/>
        </p:nvPicPr>
        <p:blipFill>
          <a:blip r:embed="rId3">
            <a:alphaModFix/>
          </a:blip>
          <a:stretch>
            <a:fillRect/>
          </a:stretch>
        </p:blipFill>
        <p:spPr>
          <a:xfrm>
            <a:off x="4222156" y="720675"/>
            <a:ext cx="5687844" cy="433819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04" name="Shape 704"/>
        <p:cNvGrpSpPr/>
        <p:nvPr/>
      </p:nvGrpSpPr>
      <p:grpSpPr>
        <a:xfrm>
          <a:off x="0" y="0"/>
          <a:ext cx="0" cy="0"/>
          <a:chOff x="0" y="0"/>
          <a:chExt cx="0" cy="0"/>
        </a:xfrm>
      </p:grpSpPr>
      <p:sp>
        <p:nvSpPr>
          <p:cNvPr id="705" name="Google Shape;705;p91"/>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6" name="Google Shape;706;p91"/>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707" name="Google Shape;707;p91"/>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708" name="Google Shape;708;p91"/>
          <p:cNvPicPr preferRelativeResize="0"/>
          <p:nvPr/>
        </p:nvPicPr>
        <p:blipFill>
          <a:blip r:embed="rId5">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