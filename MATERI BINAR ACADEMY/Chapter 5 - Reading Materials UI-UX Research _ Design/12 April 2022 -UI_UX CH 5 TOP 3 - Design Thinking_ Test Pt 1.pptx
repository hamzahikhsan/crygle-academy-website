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Lst>
  <p:sldSz cy="5143500" cx="9144000"/>
  <p:notesSz cx="6858000" cy="9144000"/>
  <p:embeddedFontLst>
    <p:embeddedFont>
      <p:font typeface="Raleway"/>
      <p:regular r:id="rId84"/>
      <p:bold r:id="rId85"/>
      <p:italic r:id="rId86"/>
      <p:boldItalic r:id="rId87"/>
    </p:embeddedFont>
    <p:embeddedFont>
      <p:font typeface="Montserrat"/>
      <p:regular r:id="rId88"/>
      <p:bold r:id="rId89"/>
      <p:italic r:id="rId90"/>
      <p:boldItalic r:id="rId91"/>
    </p:embeddedFont>
    <p:embeddedFont>
      <p:font typeface="Montserrat Medium"/>
      <p:regular r:id="rId92"/>
      <p:bold r:id="rId93"/>
      <p:italic r:id="rId94"/>
      <p:boldItalic r:id="rId95"/>
    </p:embeddedFont>
    <p:embeddedFont>
      <p:font typeface="Lato Black"/>
      <p:bold r:id="rId96"/>
      <p:boldItalic r:id="rId97"/>
    </p:embeddedFont>
    <p:embeddedFont>
      <p:font typeface="Josefin Sans"/>
      <p:regular r:id="rId98"/>
      <p:bold r:id="rId99"/>
      <p:italic r:id="rId100"/>
      <p:boldItalic r:id="rId10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1" Type="http://schemas.openxmlformats.org/officeDocument/2006/relationships/font" Target="fonts/JosefinSans-boldItalic.fntdata"/><Relationship Id="rId100" Type="http://schemas.openxmlformats.org/officeDocument/2006/relationships/font" Target="fonts/JosefinSans-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MontserratMedium-boldItalic.fntdata"/><Relationship Id="rId94" Type="http://schemas.openxmlformats.org/officeDocument/2006/relationships/font" Target="fonts/MontserratMedium-italic.fntdata"/><Relationship Id="rId97" Type="http://schemas.openxmlformats.org/officeDocument/2006/relationships/font" Target="fonts/LatoBlack-boldItalic.fntdata"/><Relationship Id="rId96" Type="http://schemas.openxmlformats.org/officeDocument/2006/relationships/font" Target="fonts/LatoBlack-bold.fntdata"/><Relationship Id="rId11" Type="http://schemas.openxmlformats.org/officeDocument/2006/relationships/slide" Target="slides/slide6.xml"/><Relationship Id="rId99" Type="http://schemas.openxmlformats.org/officeDocument/2006/relationships/font" Target="fonts/JosefinSans-bold.fntdata"/><Relationship Id="rId10" Type="http://schemas.openxmlformats.org/officeDocument/2006/relationships/slide" Target="slides/slide5.xml"/><Relationship Id="rId98" Type="http://schemas.openxmlformats.org/officeDocument/2006/relationships/font" Target="fonts/JosefinSans-regular.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Montserrat-boldItalic.fntdata"/><Relationship Id="rId90" Type="http://schemas.openxmlformats.org/officeDocument/2006/relationships/font" Target="fonts/Montserrat-italic.fntdata"/><Relationship Id="rId93" Type="http://schemas.openxmlformats.org/officeDocument/2006/relationships/font" Target="fonts/MontserratMedium-bold.fntdata"/><Relationship Id="rId92" Type="http://schemas.openxmlformats.org/officeDocument/2006/relationships/font" Target="fonts/MontserratMedium-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font" Target="fonts/Raleway-regular.fntdata"/><Relationship Id="rId83" Type="http://schemas.openxmlformats.org/officeDocument/2006/relationships/slide" Target="slides/slide78.xml"/><Relationship Id="rId86" Type="http://schemas.openxmlformats.org/officeDocument/2006/relationships/font" Target="fonts/Raleway-italic.fntdata"/><Relationship Id="rId85" Type="http://schemas.openxmlformats.org/officeDocument/2006/relationships/font" Target="fonts/Raleway-bold.fntdata"/><Relationship Id="rId88" Type="http://schemas.openxmlformats.org/officeDocument/2006/relationships/font" Target="fonts/Montserrat-regular.fntdata"/><Relationship Id="rId87" Type="http://schemas.openxmlformats.org/officeDocument/2006/relationships/font" Target="fonts/Raleway-boldItalic.fntdata"/><Relationship Id="rId89" Type="http://schemas.openxmlformats.org/officeDocument/2006/relationships/font" Target="fonts/Montserrat-bold.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travisphd?utm_source=unsplash&amp;utm_medium=referral&amp;utm_content=creditCopyText" TargetMode="External"/><Relationship Id="rId3" Type="http://schemas.openxmlformats.org/officeDocument/2006/relationships/hyperlink" Target="https://unsplash.com/@dtravisphd?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travisphd?utm_source=unsplash&amp;utm_medium=referral&amp;utm_content=creditCopyText" TargetMode="External"/><Relationship Id="rId3" Type="http://schemas.openxmlformats.org/officeDocument/2006/relationships/hyperlink" Target="https://unsplash.com/@dtravisphd?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travisphd?utm_source=unsplash&amp;utm_medium=referral&amp;utm_content=creditCopyText" TargetMode="External"/><Relationship Id="rId3" Type="http://schemas.openxmlformats.org/officeDocument/2006/relationships/hyperlink" Target="https://unsplash.com/@dtravisphd?utm_source=unsplash&amp;utm_medium=referral&amp;utm_content=creditCopyText" TargetMode="External"/><Relationship Id="rId4" Type="http://schemas.openxmlformats.org/officeDocument/2006/relationships/hyperlink" Target="https://unsplash.com/s/photos/usability-testing?utm_source=unsplash&amp;utm_medium=referral&amp;utm_content=creditCopyText" TargetMode="External"/><Relationship Id="rId5" Type="http://schemas.openxmlformats.org/officeDocument/2006/relationships/hyperlink" Target="https://unsplash.com/s/photos/usability-testing?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420e3a1fe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12420e3a1f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000"/>
              <a:buFont typeface="Calibri"/>
              <a:buNone/>
            </a:pPr>
            <a:r>
              <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ed541941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ed541941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2420e3a1fe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2420e3a1fe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208ea32b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208ea32b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5e14e3ba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5e14e3ba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ed541941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ed541941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2329d3848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2329d3848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5e14e3ba8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5e14e3ba8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1f2fdaf5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1f2fdaf5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5e14e3ba8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5e14e3ba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1eb8ca8d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1eb8ca8d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2329d38483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2329d3848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1489605c6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1489605c6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1489605c6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1489605c6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2329d38483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2329d38483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206b8854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206b8854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2329d3848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2329d3848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15e14e3ba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15e14e3ba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2329d38483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2329d38483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15e14e3ba8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15e14e3ba8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5e14e3ba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5e14e3ba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David Travis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2329d38483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2329d38483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David Travis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5e14e3ba8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15e14e3ba8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David Travis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5e14e3ba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15e14e3ba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15e14e3ba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15e14e3ba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2329d38483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2329d38483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15e14e3ba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15e14e3ba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15e14e3ba8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15e14e3ba8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http://www.johnferrigan.com/blog/2014/8/31/squareorderpart1</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1f2fdaf5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1f2fdaf5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http://www.johnferrigan.com/blog/2014/8/31/squareorderpart1</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2329d38483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2329d38483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http://www.johnferrigan.com/blog/2014/8/31/squareorderpart1</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13fe96465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13fe96465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http://www.johnferrigan.com/blog/2014/8/31/squareorderpart1</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13fe96465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13fe96465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https://www.noldus.com/blog/how-to-build-a-usability-lab</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2329d38483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2329d38483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https://www.noldus.com/blog/how-to-build-a-usability-lab</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13fe9646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13fe9646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https://www.noldus.com/blog/how-to-build-a-usability-lab</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3fe96465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3fe96465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https://exponea.com/blog/email-a-b-testing-the-quickest-method-to-increasing-your-email-performance-and-revenue/</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2329d38483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2329d38483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https://exponea.com/blog/email-a-b-testing-the-quickest-method-to-increasing-your-email-performance-and-revenue/</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3fe96465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3fe96465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https://exponea.com/blog/email-a-b-testing-the-quickest-method-to-increasing-your-email-performance-and-revenue/</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3fe96465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3fe96465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https://www.crazyegg.com/blog/understanding-using-heatmaps-studies/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2329d38483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2329d38483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https://www.crazyegg.com/blog/understanding-using-heatmaps-studies/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3fe96465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3fe96465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https://www.crazyegg.com/blog/understanding-using-heatmaps-studies/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2329d38483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2329d38483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https://www.crazyegg.com/blog/understanding-using-heatmaps-studies/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13fe96465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13fe96465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2329d38483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2329d38483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13fe964657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13fe96465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13fe96465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13fe96465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https://www.hotjar.com/session-recordings/</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2329d38483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2329d38483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https://www.hotjar.com/session-recordings/</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13fe96465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13fe96465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https://www.hotjar.com/session-recordings/</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1f2fdaf5d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1f2fdaf5d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https://www.hotjar.com/session-recordings/</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13fe96465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13fe96465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https://usabilityhub.com/product/first-click-tests</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2329d38483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2329d38483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https://usabilityhub.com/product/first-click-tests</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13fe96465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13fe96465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https://usabilityhub.com/product/first-click-tests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2329d38483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2329d38483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https://usabilityhub.com/product/first-click-tests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13fe96465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13fe96465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https://www.nngroup.com/articles/tree-testing/</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13fe96465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13fe96465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https://medium.com/nyc-design/eye-tracking-and-the-best-ux-practices-in-the-mobile-world-a101f67f20dd</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2329d38483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2329d38483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https://medium.com/nyc-design/eye-tracking-and-the-best-ux-practices-in-the-mobile-world-a101f67f20dd</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3fe96465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3fe96465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https://blog.prototypr.io/remote-user-testing-a-new-workflow-for-ux-freelancers-fbc13763c621</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2329d38483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2329d38483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https://blog.prototypr.io/remote-user-testing-a-new-workflow-for-ux-freelancers-fbc13763c621</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13fe96465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113fe96465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167d7ecf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1167d7ecf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113fe964657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113fe964657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167d7ecf1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167d7ecf1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113fe964657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113fe964657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167d7ecf1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167d7ecf1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13fe96465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113fe96465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1167d7ecf1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1167d7ecf1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113fe96465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113fe96465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1167d7ecf1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1167d7ecf1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1167d7ecf1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1167d7ecf1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167d7ecf1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167d7ecf1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11ed541941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11ed541941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figma.com/file/hqbJKOBWw6n11jcbTXf1wg/Review-Materi?node-id=0%3A1"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hbr.org/2017/06/a-refresher-on-ab-testing" TargetMode="External"/><Relationship Id="rId4" Type="http://schemas.openxmlformats.org/officeDocument/2006/relationships/hyperlink" Target="https://hbr.org/2017/06/a-refresher-on-ab-testing" TargetMode="External"/><Relationship Id="rId5"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crazyegg.com/blog/understanding-using-heatmaps-studies/" TargetMode="External"/><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www.crazyegg.com/blog/understanding-using-heatmaps-studies/" TargetMode="Externa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crazyegg.com/blog/understanding-using-heatmaps-studies/" TargetMode="Externa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www.nngroup.com/articles/tree-testing/" TargetMode="External"/><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1" Type="http://schemas.openxmlformats.org/officeDocument/2006/relationships/hyperlink" Target="https://www.hotjar.com/session-recordings/" TargetMode="External"/><Relationship Id="rId10" Type="http://schemas.openxmlformats.org/officeDocument/2006/relationships/hyperlink" Target="https://xd.adobe.com/ideas/process/user-testing/top-7-usability-testing-methods/" TargetMode="External"/><Relationship Id="rId12" Type="http://schemas.openxmlformats.org/officeDocument/2006/relationships/hyperlink" Target="https://usabilityhub.com/guides/first-click-testing" TargetMode="External"/><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build.diligent.com/user-research-usability-testing-e223027e4c2d" TargetMode="External"/><Relationship Id="rId5" Type="http://schemas.openxmlformats.org/officeDocument/2006/relationships/hyperlink" Target="https://trint.com/resources/qvko6rk9/why-is-ux-testing-so-important-and-how-do-i-get-it-right" TargetMode="External"/><Relationship Id="rId6" Type="http://schemas.openxmlformats.org/officeDocument/2006/relationships/hyperlink" Target="https://trint.com/resources/qvko6rk9/why-is-ux-testing-so-important-and-how-do-i-get-it-right" TargetMode="External"/><Relationship Id="rId7" Type="http://schemas.openxmlformats.org/officeDocument/2006/relationships/hyperlink" Target="https://trint.com/resources/qvko6rk9/why-is-ux-testing-so-important-and-how-do-i-get-it-right" TargetMode="External"/><Relationship Id="rId8" Type="http://schemas.openxmlformats.org/officeDocument/2006/relationships/hyperlink" Target="https://build.diligent.com/user-research-usability-testing-e223027e4c2d"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4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 Id="rId3" Type="http://schemas.openxmlformats.org/officeDocument/2006/relationships/image" Target="../media/image35.png"/><Relationship Id="rId4" Type="http://schemas.openxmlformats.org/officeDocument/2006/relationships/image" Target="../media/image40.png"/><Relationship Id="rId5"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Design Thinking: Test </a:t>
            </a:r>
            <a:r>
              <a:rPr lang="en" sz="2400">
                <a:solidFill>
                  <a:srgbClr val="FFFFFF"/>
                </a:solidFill>
                <a:latin typeface="Montserrat"/>
                <a:ea typeface="Montserrat"/>
                <a:cs typeface="Montserrat"/>
                <a:sym typeface="Montserrat"/>
              </a:rPr>
              <a:t>(Part 1)</a:t>
            </a:r>
            <a:endParaRPr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5 - Topic 3</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pic>
        <p:nvPicPr>
          <p:cNvPr descr="image1.png" id="107" name="Google Shape;107;p21"/>
          <p:cNvPicPr preferRelativeResize="0"/>
          <p:nvPr/>
        </p:nvPicPr>
        <p:blipFill rotWithShape="1">
          <a:blip r:embed="rId3">
            <a:alphaModFix/>
          </a:blip>
          <a:srcRect b="37445" l="29121" r="29121" t="0"/>
          <a:stretch/>
        </p:blipFill>
        <p:spPr>
          <a:xfrm>
            <a:off x="351553" y="270380"/>
            <a:ext cx="366585" cy="611139"/>
          </a:xfrm>
          <a:prstGeom prst="rect">
            <a:avLst/>
          </a:prstGeom>
          <a:noFill/>
          <a:ln>
            <a:noFill/>
          </a:ln>
        </p:spPr>
      </p:pic>
      <p:sp>
        <p:nvSpPr>
          <p:cNvPr id="108" name="Google Shape;108;p21"/>
          <p:cNvSpPr txBox="1"/>
          <p:nvPr/>
        </p:nvSpPr>
        <p:spPr>
          <a:xfrm>
            <a:off x="730200" y="336950"/>
            <a:ext cx="6865500" cy="1099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lang="en" sz="2300">
                <a:solidFill>
                  <a:srgbClr val="743573"/>
                </a:solidFill>
                <a:latin typeface="Montserrat"/>
                <a:ea typeface="Montserrat"/>
                <a:cs typeface="Montserrat"/>
                <a:sym typeface="Montserrat"/>
              </a:rPr>
              <a:t>Training For Facilitator Rules</a:t>
            </a:r>
            <a:endParaRPr b="1" i="0" sz="2300" u="none" cap="none" strike="noStrike">
              <a:solidFill>
                <a:srgbClr val="743573"/>
              </a:solidFill>
              <a:highlight>
                <a:srgbClr val="FFD14A"/>
              </a:highlight>
              <a:latin typeface="Montserrat"/>
              <a:ea typeface="Montserrat"/>
              <a:cs typeface="Montserrat"/>
              <a:sym typeface="Montserrat"/>
            </a:endParaRPr>
          </a:p>
        </p:txBody>
      </p:sp>
      <p:pic>
        <p:nvPicPr>
          <p:cNvPr descr="02.png" id="109" name="Google Shape;109;p21"/>
          <p:cNvPicPr preferRelativeResize="0"/>
          <p:nvPr/>
        </p:nvPicPr>
        <p:blipFill rotWithShape="1">
          <a:blip r:embed="rId4">
            <a:alphaModFix/>
          </a:blip>
          <a:srcRect b="0" l="0" r="0" t="0"/>
          <a:stretch/>
        </p:blipFill>
        <p:spPr>
          <a:xfrm>
            <a:off x="8369187" y="4702327"/>
            <a:ext cx="762425" cy="411394"/>
          </a:xfrm>
          <a:prstGeom prst="rect">
            <a:avLst/>
          </a:prstGeom>
          <a:noFill/>
          <a:ln>
            <a:noFill/>
          </a:ln>
        </p:spPr>
      </p:pic>
      <p:sp>
        <p:nvSpPr>
          <p:cNvPr id="110" name="Google Shape;110;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sp>
        <p:nvSpPr>
          <p:cNvPr id="111" name="Google Shape;111;p21"/>
          <p:cNvSpPr txBox="1"/>
          <p:nvPr/>
        </p:nvSpPr>
        <p:spPr>
          <a:xfrm>
            <a:off x="3573638" y="2392850"/>
            <a:ext cx="1021200" cy="348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1"/>
          <p:cNvSpPr txBox="1"/>
          <p:nvPr/>
        </p:nvSpPr>
        <p:spPr>
          <a:xfrm>
            <a:off x="718144" y="1011656"/>
            <a:ext cx="8252400" cy="3294900"/>
          </a:xfrm>
          <a:prstGeom prst="rect">
            <a:avLst/>
          </a:prstGeom>
          <a:noFill/>
          <a:ln>
            <a:noFill/>
          </a:ln>
        </p:spPr>
        <p:txBody>
          <a:bodyPr anchorCtr="0" anchor="t" bIns="91425" lIns="91425" spcFirstLastPara="1" rIns="91425" wrap="square" tIns="91425">
            <a:noAutofit/>
          </a:bodyPr>
          <a:lstStyle/>
          <a:p>
            <a:pPr indent="-282575" lvl="0" marL="342900" marR="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Always </a:t>
            </a:r>
            <a:r>
              <a:rPr b="1" lang="en" sz="1900">
                <a:solidFill>
                  <a:srgbClr val="761E86"/>
                </a:solidFill>
                <a:highlight>
                  <a:schemeClr val="accent1"/>
                </a:highlight>
                <a:latin typeface="Montserrat"/>
                <a:ea typeface="Montserrat"/>
                <a:cs typeface="Montserrat"/>
                <a:sym typeface="Montserrat"/>
              </a:rPr>
              <a:t>turn on</a:t>
            </a:r>
            <a:r>
              <a:rPr lang="en" sz="1900">
                <a:solidFill>
                  <a:srgbClr val="761E86"/>
                </a:solidFill>
                <a:latin typeface="Montserrat"/>
                <a:ea typeface="Montserrat"/>
                <a:cs typeface="Montserrat"/>
                <a:sym typeface="Montserrat"/>
              </a:rPr>
              <a:t> the webcam</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b="1" lang="en" sz="1900">
                <a:solidFill>
                  <a:srgbClr val="761E86"/>
                </a:solidFill>
                <a:highlight>
                  <a:schemeClr val="accent1"/>
                </a:highlight>
                <a:latin typeface="Montserrat"/>
                <a:ea typeface="Montserrat"/>
                <a:cs typeface="Montserrat"/>
                <a:sym typeface="Montserrat"/>
              </a:rPr>
              <a:t>Enthusiastic</a:t>
            </a:r>
            <a:r>
              <a:rPr lang="en" sz="1900">
                <a:solidFill>
                  <a:srgbClr val="761E86"/>
                </a:solidFill>
                <a:highlight>
                  <a:schemeClr val="accent1"/>
                </a:highlight>
                <a:latin typeface="Montserrat"/>
                <a:ea typeface="Montserrat"/>
                <a:cs typeface="Montserrat"/>
                <a:sym typeface="Montserrat"/>
              </a:rPr>
              <a:t> in class</a:t>
            </a:r>
            <a:r>
              <a:rPr lang="en" sz="1900">
                <a:solidFill>
                  <a:srgbClr val="761E86"/>
                </a:solidFill>
                <a:latin typeface="Montserrat"/>
                <a:ea typeface="Montserrat"/>
                <a:cs typeface="Montserrat"/>
                <a:sym typeface="Montserrat"/>
              </a:rPr>
              <a:t> “raise hand” for ask/give opinion</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Give </a:t>
            </a:r>
            <a:r>
              <a:rPr b="1" lang="en" sz="1900">
                <a:solidFill>
                  <a:srgbClr val="761E86"/>
                </a:solidFill>
                <a:highlight>
                  <a:schemeClr val="accent1"/>
                </a:highlight>
                <a:latin typeface="Montserrat"/>
                <a:ea typeface="Montserrat"/>
                <a:cs typeface="Montserrat"/>
                <a:sym typeface="Montserrat"/>
              </a:rPr>
              <a:t>appreciation</a:t>
            </a:r>
            <a:r>
              <a:rPr lang="en" sz="1900">
                <a:solidFill>
                  <a:srgbClr val="761E86"/>
                </a:solidFill>
                <a:highlight>
                  <a:schemeClr val="accent1"/>
                </a:highlight>
                <a:latin typeface="Montserrat"/>
                <a:ea typeface="Montserrat"/>
                <a:cs typeface="Montserrat"/>
                <a:sym typeface="Montserrat"/>
              </a:rPr>
              <a:t> to others</a:t>
            </a:r>
            <a:r>
              <a:rPr lang="en" sz="1900">
                <a:solidFill>
                  <a:srgbClr val="761E86"/>
                </a:solidFill>
                <a:latin typeface="Montserrat"/>
                <a:ea typeface="Montserrat"/>
                <a:cs typeface="Montserrat"/>
                <a:sym typeface="Montserrat"/>
              </a:rPr>
              <a:t> “say thank you” or “reaction”</a:t>
            </a:r>
            <a:endParaRPr sz="1900">
              <a:solidFill>
                <a:srgbClr val="761E86"/>
              </a:solidFill>
              <a:latin typeface="Montserrat"/>
              <a:ea typeface="Montserrat"/>
              <a:cs typeface="Montserrat"/>
              <a:sym typeface="Montserrat"/>
            </a:endParaRPr>
          </a:p>
          <a:p>
            <a:pPr indent="-282575" lvl="0" marL="342900" marR="0" rtl="0" algn="l">
              <a:lnSpc>
                <a:spcPct val="150000"/>
              </a:lnSpc>
              <a:spcBef>
                <a:spcPts val="0"/>
              </a:spcBef>
              <a:spcAft>
                <a:spcPts val="0"/>
              </a:spcAft>
              <a:buClr>
                <a:srgbClr val="743573"/>
              </a:buClr>
              <a:buSzPts val="1900"/>
              <a:buFont typeface="Montserrat"/>
              <a:buAutoNum type="arabicPeriod"/>
            </a:pPr>
            <a:r>
              <a:rPr lang="en" sz="1900">
                <a:solidFill>
                  <a:srgbClr val="743573"/>
                </a:solidFill>
                <a:highlight>
                  <a:schemeClr val="lt1"/>
                </a:highlight>
                <a:latin typeface="Montserrat"/>
                <a:ea typeface="Montserrat"/>
                <a:cs typeface="Montserrat"/>
                <a:sym typeface="Montserrat"/>
              </a:rPr>
              <a:t>Join online class </a:t>
            </a:r>
            <a:r>
              <a:rPr b="1" lang="en" sz="1900">
                <a:solidFill>
                  <a:srgbClr val="743573"/>
                </a:solidFill>
                <a:highlight>
                  <a:schemeClr val="lt1"/>
                </a:highlight>
                <a:latin typeface="Montserrat"/>
                <a:ea typeface="Montserrat"/>
                <a:cs typeface="Montserrat"/>
                <a:sym typeface="Montserrat"/>
              </a:rPr>
              <a:t>10 menit before</a:t>
            </a:r>
            <a:endParaRPr b="1" sz="1900">
              <a:solidFill>
                <a:srgbClr val="743573"/>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43573"/>
              </a:buClr>
              <a:buSzPts val="1900"/>
              <a:buFont typeface="Montserrat"/>
              <a:buAutoNum type="arabicPeriod"/>
            </a:pPr>
            <a:r>
              <a:rPr lang="en" sz="1900">
                <a:solidFill>
                  <a:srgbClr val="733572"/>
                </a:solidFill>
                <a:highlight>
                  <a:schemeClr val="lt1"/>
                </a:highlight>
                <a:latin typeface="Montserrat"/>
                <a:ea typeface="Montserrat"/>
                <a:cs typeface="Montserrat"/>
                <a:sym typeface="Montserrat"/>
              </a:rPr>
              <a:t>Make sure the internet network is </a:t>
            </a:r>
            <a:r>
              <a:rPr b="1" lang="en" sz="1900">
                <a:solidFill>
                  <a:srgbClr val="733572"/>
                </a:solidFill>
                <a:highlight>
                  <a:schemeClr val="lt1"/>
                </a:highlight>
                <a:latin typeface="Montserrat"/>
                <a:ea typeface="Montserrat"/>
                <a:cs typeface="Montserrat"/>
                <a:sym typeface="Montserrat"/>
              </a:rPr>
              <a:t>stable</a:t>
            </a:r>
            <a:endParaRPr b="1" sz="1900">
              <a:solidFill>
                <a:srgbClr val="733572"/>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Mute microphones</a:t>
            </a:r>
            <a:r>
              <a:rPr lang="en" sz="1900">
                <a:solidFill>
                  <a:srgbClr val="733572"/>
                </a:solidFill>
                <a:highlight>
                  <a:schemeClr val="lt1"/>
                </a:highlight>
                <a:latin typeface="Montserrat"/>
                <a:ea typeface="Montserrat"/>
                <a:cs typeface="Montserrat"/>
                <a:sym typeface="Montserrat"/>
              </a:rPr>
              <a:t> when not needed</a:t>
            </a:r>
            <a:endParaRPr sz="1900">
              <a:solidFill>
                <a:srgbClr val="733572"/>
              </a:solidFill>
              <a:highlight>
                <a:schemeClr val="accen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Well prepared</a:t>
            </a:r>
            <a:r>
              <a:rPr lang="en" sz="1900">
                <a:solidFill>
                  <a:srgbClr val="733572"/>
                </a:solidFill>
                <a:highlight>
                  <a:schemeClr val="lt1"/>
                </a:highlight>
                <a:latin typeface="Montserrat"/>
                <a:ea typeface="Montserrat"/>
                <a:cs typeface="Montserrat"/>
                <a:sym typeface="Montserrat"/>
              </a:rPr>
              <a:t> before class</a:t>
            </a:r>
            <a:endParaRPr sz="1900">
              <a:solidFill>
                <a:srgbClr val="733572"/>
              </a:solidFill>
              <a:highlight>
                <a:schemeClr val="lt1"/>
              </a:highlight>
              <a:latin typeface="Montserrat"/>
              <a:ea typeface="Montserrat"/>
              <a:cs typeface="Montserrat"/>
              <a:sym typeface="Montserrat"/>
            </a:endParaRPr>
          </a:p>
          <a:p>
            <a:pPr indent="0" lvl="0" marL="342900" rtl="0" algn="l">
              <a:spcBef>
                <a:spcPts val="0"/>
              </a:spcBef>
              <a:spcAft>
                <a:spcPts val="0"/>
              </a:spcAft>
              <a:buNone/>
            </a:pPr>
            <a:r>
              <a:t/>
            </a:r>
            <a:endParaRPr sz="1900">
              <a:solidFill>
                <a:srgbClr val="733572"/>
              </a:solidFill>
              <a:highlight>
                <a:schemeClr val="lt1"/>
              </a:highlight>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3</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8" name="Google Shape;118;p22"/>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u="sng">
                <a:solidFill>
                  <a:schemeClr val="lt1"/>
                </a:solidFill>
                <a:latin typeface="Montserrat"/>
                <a:ea typeface="Montserrat"/>
                <a:cs typeface="Montserrat"/>
                <a:sym typeface="Montserrat"/>
                <a:hlinkClick r:id="rId3">
                  <a:extLst>
                    <a:ext uri="{A12FA001-AC4F-418D-AE19-62706E023703}">
                      <ahyp:hlinkClr val="tx"/>
                    </a:ext>
                  </a:extLst>
                </a:hlinkClick>
              </a:rPr>
              <a:t>Its time to review materi </a:t>
            </a:r>
            <a:br>
              <a:rPr b="1" lang="en" sz="1600">
                <a:solidFill>
                  <a:srgbClr val="FFFFFF"/>
                </a:solidFill>
                <a:latin typeface="Montserrat"/>
                <a:ea typeface="Montserrat"/>
                <a:cs typeface="Montserrat"/>
                <a:sym typeface="Montserrat"/>
              </a:rPr>
            </a:br>
            <a:endParaRPr b="1" sz="1600">
              <a:solidFill>
                <a:srgbClr val="FFFFFF"/>
              </a:solidFill>
              <a:latin typeface="Montserrat"/>
              <a:ea typeface="Montserrat"/>
              <a:cs typeface="Montserrat"/>
              <a:sym typeface="Montserrat"/>
            </a:endParaRPr>
          </a:p>
        </p:txBody>
      </p:sp>
      <p:pic>
        <p:nvPicPr>
          <p:cNvPr id="124" name="Google Shape;124;p23"/>
          <p:cNvPicPr preferRelativeResize="0"/>
          <p:nvPr/>
        </p:nvPicPr>
        <p:blipFill rotWithShape="1">
          <a:blip r:embed="rId4">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0" name="Google Shape;130;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31" name="Google Shape;131;p24"/>
          <p:cNvSpPr txBox="1"/>
          <p:nvPr/>
        </p:nvSpPr>
        <p:spPr>
          <a:xfrm>
            <a:off x="862600" y="1469700"/>
            <a:ext cx="3818100" cy="22041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rgbClr val="222222"/>
                </a:solidFill>
                <a:latin typeface="Montserrat"/>
                <a:ea typeface="Montserrat"/>
                <a:cs typeface="Montserrat"/>
                <a:sym typeface="Montserrat"/>
              </a:rPr>
              <a:t>Setelah memperkaya diri dengan pengetahuan desain yang baik dan buruk, saatnya memasuki fase terakhir dalam design thinking yaitu </a:t>
            </a:r>
            <a:r>
              <a:rPr b="1" lang="en" sz="1000">
                <a:solidFill>
                  <a:srgbClr val="222222"/>
                </a:solidFill>
                <a:latin typeface="Montserrat"/>
                <a:ea typeface="Montserrat"/>
                <a:cs typeface="Montserrat"/>
                <a:sym typeface="Montserrat"/>
              </a:rPr>
              <a:t>testing</a:t>
            </a:r>
            <a:r>
              <a:rPr lang="en" sz="1000">
                <a:solidFill>
                  <a:srgbClr val="222222"/>
                </a:solidFill>
                <a:latin typeface="Montserrat"/>
                <a:ea typeface="Montserrat"/>
                <a:cs typeface="Montserrat"/>
                <a:sym typeface="Montserrat"/>
              </a:rPr>
              <a:t>.</a:t>
            </a:r>
            <a:endParaRPr sz="1000">
              <a:solidFill>
                <a:srgbClr val="22222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222222"/>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rgbClr val="222222"/>
                </a:solidFill>
                <a:latin typeface="Montserrat"/>
                <a:ea typeface="Montserrat"/>
                <a:cs typeface="Montserrat"/>
                <a:sym typeface="Montserrat"/>
              </a:rPr>
              <a:t>Let’s go bestie ~</a:t>
            </a:r>
            <a:endParaRPr sz="1000">
              <a:solidFill>
                <a:srgbClr val="22222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222222"/>
              </a:solidFill>
              <a:latin typeface="Montserrat"/>
              <a:ea typeface="Montserrat"/>
              <a:cs typeface="Montserrat"/>
              <a:sym typeface="Montserrat"/>
            </a:endParaRPr>
          </a:p>
        </p:txBody>
      </p:sp>
      <p:pic>
        <p:nvPicPr>
          <p:cNvPr id="132" name="Google Shape;132;p24"/>
          <p:cNvPicPr preferRelativeResize="0"/>
          <p:nvPr/>
        </p:nvPicPr>
        <p:blipFill rotWithShape="1">
          <a:blip r:embed="rId3">
            <a:alphaModFix/>
          </a:blip>
          <a:srcRect b="0" l="0" r="0" t="0"/>
          <a:stretch/>
        </p:blipFill>
        <p:spPr>
          <a:xfrm>
            <a:off x="5213796" y="1136563"/>
            <a:ext cx="2743199" cy="351162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 name="Google Shape;138;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39" name="Google Shape;139;p25"/>
          <p:cNvPicPr preferRelativeResize="0"/>
          <p:nvPr/>
        </p:nvPicPr>
        <p:blipFill rotWithShape="1">
          <a:blip r:embed="rId3">
            <a:alphaModFix/>
          </a:blip>
          <a:srcRect b="0" l="0" r="0" t="0"/>
          <a:stretch/>
        </p:blipFill>
        <p:spPr>
          <a:xfrm>
            <a:off x="5219696" y="1136563"/>
            <a:ext cx="2743199" cy="3511629"/>
          </a:xfrm>
          <a:prstGeom prst="rect">
            <a:avLst/>
          </a:prstGeom>
          <a:noFill/>
          <a:ln>
            <a:noFill/>
          </a:ln>
        </p:spPr>
      </p:pic>
      <p:sp>
        <p:nvSpPr>
          <p:cNvPr id="140" name="Google Shape;140;p25"/>
          <p:cNvSpPr txBox="1"/>
          <p:nvPr/>
        </p:nvSpPr>
        <p:spPr>
          <a:xfrm>
            <a:off x="685800" y="1527188"/>
            <a:ext cx="4114800" cy="686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Montserrat"/>
                <a:ea typeface="Montserrat"/>
                <a:cs typeface="Montserrat"/>
                <a:sym typeface="Montserrat"/>
              </a:rPr>
              <a:t>Materi kita kali ini meliputi:</a:t>
            </a:r>
            <a:endParaRPr sz="1200">
              <a:solidFill>
                <a:schemeClr val="dk1"/>
              </a:solidFill>
              <a:latin typeface="Montserrat Medium"/>
              <a:ea typeface="Montserrat Medium"/>
              <a:cs typeface="Montserrat Medium"/>
              <a:sym typeface="Montserrat Medium"/>
            </a:endParaRPr>
          </a:p>
        </p:txBody>
      </p:sp>
      <p:sp>
        <p:nvSpPr>
          <p:cNvPr id="141" name="Google Shape;141;p25"/>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2" name="Google Shape;142;p25"/>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3" name="Google Shape;143;p25"/>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4" name="Google Shape;144;p25"/>
          <p:cNvSpPr/>
          <p:nvPr/>
        </p:nvSpPr>
        <p:spPr>
          <a:xfrm>
            <a:off x="685800" y="37679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5" name="Google Shape;145;p25"/>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Testing</a:t>
            </a:r>
            <a:endParaRPr sz="1200">
              <a:solidFill>
                <a:srgbClr val="000000"/>
              </a:solidFill>
              <a:latin typeface="Montserrat"/>
              <a:ea typeface="Montserrat"/>
              <a:cs typeface="Montserrat"/>
              <a:sym typeface="Montserrat"/>
            </a:endParaRPr>
          </a:p>
        </p:txBody>
      </p:sp>
      <p:sp>
        <p:nvSpPr>
          <p:cNvPr id="146" name="Google Shape;146;p25"/>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Mengapa fase testing penting?</a:t>
            </a:r>
            <a:endParaRPr sz="1200">
              <a:solidFill>
                <a:srgbClr val="000000"/>
              </a:solidFill>
              <a:latin typeface="Montserrat"/>
              <a:ea typeface="Montserrat"/>
              <a:cs typeface="Montserrat"/>
              <a:sym typeface="Montserrat"/>
            </a:endParaRPr>
          </a:p>
        </p:txBody>
      </p:sp>
      <p:sp>
        <p:nvSpPr>
          <p:cNvPr id="147" name="Google Shape;147;p25"/>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Research vs testing</a:t>
            </a:r>
            <a:endParaRPr sz="1200">
              <a:solidFill>
                <a:srgbClr val="000000"/>
              </a:solidFill>
              <a:latin typeface="Montserrat"/>
              <a:ea typeface="Montserrat"/>
              <a:cs typeface="Montserrat"/>
              <a:sym typeface="Montserrat"/>
            </a:endParaRPr>
          </a:p>
        </p:txBody>
      </p:sp>
      <p:sp>
        <p:nvSpPr>
          <p:cNvPr id="148" name="Google Shape;148;p25"/>
          <p:cNvSpPr txBox="1"/>
          <p:nvPr/>
        </p:nvSpPr>
        <p:spPr>
          <a:xfrm>
            <a:off x="1182350" y="3699138"/>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Metode-metode testing</a:t>
            </a:r>
            <a:endParaRPr sz="1200">
              <a:solidFill>
                <a:srgbClr val="00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154" name="Google Shape;15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nvSpPr>
        <p:spPr>
          <a:xfrm>
            <a:off x="553250" y="1830325"/>
            <a:ext cx="4482900" cy="21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Seperti kita ketahui bersama, testing merupakan fase terakhir dalam proses design thinking.</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Tapi, apa sih sebenarnya yang dimaksud dengan </a:t>
            </a:r>
            <a:r>
              <a:rPr b="1" lang="en">
                <a:solidFill>
                  <a:srgbClr val="F2AB2F"/>
                </a:solidFill>
                <a:latin typeface="Montserrat"/>
                <a:ea typeface="Montserrat"/>
                <a:cs typeface="Montserrat"/>
                <a:sym typeface="Montserrat"/>
              </a:rPr>
              <a:t>testing</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kita cari tahu ~</a:t>
            </a:r>
            <a:endParaRPr b="1">
              <a:solidFill>
                <a:schemeClr val="lt1"/>
              </a:solidFill>
              <a:latin typeface="Montserrat"/>
              <a:ea typeface="Montserrat"/>
              <a:cs typeface="Montserrat"/>
              <a:sym typeface="Montserrat"/>
            </a:endParaRPr>
          </a:p>
        </p:txBody>
      </p:sp>
      <p:pic>
        <p:nvPicPr>
          <p:cNvPr id="156" name="Google Shape;156;p26"/>
          <p:cNvPicPr preferRelativeResize="0"/>
          <p:nvPr/>
        </p:nvPicPr>
        <p:blipFill>
          <a:blip r:embed="rId3">
            <a:alphaModFix/>
          </a:blip>
          <a:stretch>
            <a:fillRect/>
          </a:stretch>
        </p:blipFill>
        <p:spPr>
          <a:xfrm>
            <a:off x="5297723" y="914400"/>
            <a:ext cx="2888502" cy="3886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163" name="Google Shape;163;p27"/>
          <p:cNvSpPr txBox="1"/>
          <p:nvPr/>
        </p:nvSpPr>
        <p:spPr>
          <a:xfrm>
            <a:off x="487625" y="1726498"/>
            <a:ext cx="4114800" cy="169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Recap dulu yuk!</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Masih ingat kan dengan fase prototipe? Ibaratnya gini, kalau prototyping adalah mewujudkan ide ke dalam bentuk, fase testing menjadi arena pengujiannya.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Prototipe dapat dibagikan dan diuji di dalam tim desain kamu, di departemen lain, atau pada sekelompok kecil orang di luar tim desain.</a:t>
            </a:r>
            <a:endParaRPr sz="1000">
              <a:solidFill>
                <a:schemeClr val="dk1"/>
              </a:solidFill>
              <a:latin typeface="Montserrat"/>
              <a:ea typeface="Montserrat"/>
              <a:cs typeface="Montserrat"/>
              <a:sym typeface="Montserrat"/>
            </a:endParaRPr>
          </a:p>
        </p:txBody>
      </p:sp>
      <p:pic>
        <p:nvPicPr>
          <p:cNvPr id="164" name="Google Shape;164;p27"/>
          <p:cNvPicPr preferRelativeResize="0"/>
          <p:nvPr/>
        </p:nvPicPr>
        <p:blipFill>
          <a:blip r:embed="rId3">
            <a:alphaModFix/>
          </a:blip>
          <a:stretch>
            <a:fillRect/>
          </a:stretch>
        </p:blipFill>
        <p:spPr>
          <a:xfrm>
            <a:off x="4976400" y="1387025"/>
            <a:ext cx="3640201" cy="281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171" name="Google Shape;171;p28"/>
          <p:cNvSpPr txBox="1"/>
          <p:nvPr/>
        </p:nvSpPr>
        <p:spPr>
          <a:xfrm>
            <a:off x="487625" y="1991847"/>
            <a:ext cx="4114800" cy="1159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Lantas, apa itu fase testing?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Fase ini adalah tahap percobaan yang tujuannya untuk mengidentifikasi solusi terbaik. Desainer atau evaluator secara ketat menguji produk lengkap menggunakan solusi terbaik yang ditemukan selama fase pembuatan prototipe.</a:t>
            </a:r>
            <a:endParaRPr sz="1000">
              <a:solidFill>
                <a:schemeClr val="dk1"/>
              </a:solidFill>
              <a:latin typeface="Montserrat"/>
              <a:ea typeface="Montserrat"/>
              <a:cs typeface="Montserrat"/>
              <a:sym typeface="Montserrat"/>
            </a:endParaRPr>
          </a:p>
        </p:txBody>
      </p:sp>
      <p:pic>
        <p:nvPicPr>
          <p:cNvPr id="172" name="Google Shape;172;p28"/>
          <p:cNvPicPr preferRelativeResize="0"/>
          <p:nvPr/>
        </p:nvPicPr>
        <p:blipFill>
          <a:blip r:embed="rId3">
            <a:alphaModFix/>
          </a:blip>
          <a:stretch>
            <a:fillRect/>
          </a:stretch>
        </p:blipFill>
        <p:spPr>
          <a:xfrm>
            <a:off x="5027525" y="1377920"/>
            <a:ext cx="3816003" cy="27874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179" name="Google Shape;179;p29"/>
          <p:cNvSpPr txBox="1"/>
          <p:nvPr/>
        </p:nvSpPr>
        <p:spPr>
          <a:xfrm>
            <a:off x="487625" y="2060397"/>
            <a:ext cx="4114800" cy="102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Aktivitas kunci pada fase ini adalah </a:t>
            </a:r>
            <a:r>
              <a:rPr b="1" lang="en" sz="1000">
                <a:solidFill>
                  <a:schemeClr val="dk1"/>
                </a:solidFill>
                <a:latin typeface="Montserrat"/>
                <a:ea typeface="Montserrat"/>
                <a:cs typeface="Montserrat"/>
                <a:sym typeface="Montserrat"/>
              </a:rPr>
              <a:t>menguji untuk belajar</a:t>
            </a:r>
            <a:r>
              <a:rPr lang="en" sz="1000">
                <a:solidFill>
                  <a:schemeClr val="dk1"/>
                </a:solidFill>
                <a:latin typeface="Montserrat"/>
                <a:ea typeface="Montserrat"/>
                <a:cs typeface="Montserrat"/>
                <a:sym typeface="Montserrat"/>
              </a:rPr>
              <a:t>: menyempurnakan ide dengan mengumpulkan umpan balik (feedback) dan bereksperimen ke depan.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satunya, kita akan belajar mengenai usability testing atau pengujian kegunaan.</a:t>
            </a:r>
            <a:endParaRPr sz="1000">
              <a:solidFill>
                <a:schemeClr val="dk1"/>
              </a:solidFill>
              <a:latin typeface="Montserrat"/>
              <a:ea typeface="Montserrat"/>
              <a:cs typeface="Montserrat"/>
              <a:sym typeface="Montserrat"/>
            </a:endParaRPr>
          </a:p>
        </p:txBody>
      </p:sp>
      <p:pic>
        <p:nvPicPr>
          <p:cNvPr id="180" name="Google Shape;180;p29"/>
          <p:cNvPicPr preferRelativeResize="0"/>
          <p:nvPr/>
        </p:nvPicPr>
        <p:blipFill>
          <a:blip r:embed="rId3">
            <a:alphaModFix/>
          </a:blip>
          <a:stretch>
            <a:fillRect/>
          </a:stretch>
        </p:blipFill>
        <p:spPr>
          <a:xfrm>
            <a:off x="5027525" y="1377920"/>
            <a:ext cx="3816003" cy="278746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187" name="Google Shape;187;p30"/>
          <p:cNvSpPr txBox="1"/>
          <p:nvPr/>
        </p:nvSpPr>
        <p:spPr>
          <a:xfrm>
            <a:off x="487625" y="1636800"/>
            <a:ext cx="3951300" cy="1869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Apa itu usability testing?</a:t>
            </a:r>
            <a:br>
              <a:rPr lang="en" sz="12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Usability testing atau pengujian kegunaan adalah proses pengujian berbagai bagian situs web atau aplikasi</a:t>
            </a:r>
            <a:r>
              <a:rPr lang="en" sz="1000">
                <a:solidFill>
                  <a:schemeClr val="dk1"/>
                </a:solidFill>
                <a:latin typeface="Montserrat"/>
                <a:ea typeface="Montserrat"/>
                <a:cs typeface="Montserrat"/>
                <a:sym typeface="Montserrat"/>
              </a:rPr>
              <a:t> oleh pengguna</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Tujuannya, </a:t>
            </a:r>
            <a:r>
              <a:rPr b="1" lang="en" sz="1000">
                <a:solidFill>
                  <a:schemeClr val="dk1"/>
                </a:solidFill>
                <a:latin typeface="Montserrat"/>
                <a:ea typeface="Montserrat"/>
                <a:cs typeface="Montserrat"/>
                <a:sym typeface="Montserrat"/>
              </a:rPr>
              <a:t>menemukan cara paling baik dan efektif untuk pengguna dalam menyelesaikan suatu aktivitas</a:t>
            </a:r>
            <a:r>
              <a:rPr lang="en" sz="1000">
                <a:solidFill>
                  <a:schemeClr val="dk1"/>
                </a:solidFill>
                <a:latin typeface="Montserrat"/>
                <a:ea typeface="Montserrat"/>
                <a:cs typeface="Montserrat"/>
                <a:sym typeface="Montserrat"/>
              </a:rPr>
              <a:t> berdasarkan feedback secara langsung dari pengguna dengan berdasarkan pengalaman yang langsung dan nyata.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88" name="Google Shape;188;p30"/>
          <p:cNvPicPr preferRelativeResize="0"/>
          <p:nvPr/>
        </p:nvPicPr>
        <p:blipFill>
          <a:blip r:embed="rId3">
            <a:alphaModFix/>
          </a:blip>
          <a:stretch>
            <a:fillRect/>
          </a:stretch>
        </p:blipFill>
        <p:spPr>
          <a:xfrm>
            <a:off x="4903750" y="1484449"/>
            <a:ext cx="3859250" cy="2599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195" name="Google Shape;195;p31"/>
          <p:cNvSpPr txBox="1"/>
          <p:nvPr/>
        </p:nvSpPr>
        <p:spPr>
          <a:xfrm>
            <a:off x="487625" y="1964250"/>
            <a:ext cx="4114800" cy="12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Proses ini juga dikenal sebagai UX testing atau pengujian pengalaman pengguna. Sehingga, ukuran seberapa “berguna” sebuah web atau aplikasi </a:t>
            </a:r>
            <a:r>
              <a:rPr b="1" lang="en" sz="1000">
                <a:solidFill>
                  <a:schemeClr val="dk1"/>
                </a:solidFill>
                <a:latin typeface="Montserrat"/>
                <a:ea typeface="Montserrat"/>
                <a:cs typeface="Montserrat"/>
                <a:sym typeface="Montserrat"/>
              </a:rPr>
              <a:t>ditentukan dari percobaan pengguna mengakses produk </a:t>
            </a:r>
            <a:r>
              <a:rPr lang="en" sz="1000">
                <a:solidFill>
                  <a:schemeClr val="dk1"/>
                </a:solidFill>
                <a:latin typeface="Montserrat"/>
                <a:ea typeface="Montserrat"/>
                <a:cs typeface="Montserrat"/>
                <a:sym typeface="Montserrat"/>
              </a:rPr>
              <a:t>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Pengguna diminta mengamati dan memakai produk, sekaligus memberikan pendapat mereka selama proses berlangsung.</a:t>
            </a:r>
            <a:endParaRPr sz="1000">
              <a:solidFill>
                <a:schemeClr val="dk1"/>
              </a:solidFill>
              <a:latin typeface="Montserrat Medium"/>
              <a:ea typeface="Montserrat Medium"/>
              <a:cs typeface="Montserrat Medium"/>
              <a:sym typeface="Montserrat Medium"/>
            </a:endParaRPr>
          </a:p>
        </p:txBody>
      </p:sp>
      <p:pic>
        <p:nvPicPr>
          <p:cNvPr id="196" name="Google Shape;196;p31"/>
          <p:cNvPicPr preferRelativeResize="0"/>
          <p:nvPr/>
        </p:nvPicPr>
        <p:blipFill>
          <a:blip r:embed="rId3">
            <a:alphaModFix/>
          </a:blip>
          <a:stretch>
            <a:fillRect/>
          </a:stretch>
        </p:blipFill>
        <p:spPr>
          <a:xfrm>
            <a:off x="5121550" y="1200150"/>
            <a:ext cx="3260449" cy="33074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2" name="Google Shape;202;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203" name="Google Shape;203;p32"/>
          <p:cNvSpPr txBox="1"/>
          <p:nvPr/>
        </p:nvSpPr>
        <p:spPr>
          <a:xfrm>
            <a:off x="487625" y="1637250"/>
            <a:ext cx="3951300" cy="186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Cara kerja usability testing gimana ya?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Usability testing pada umumnya berjalan seperti ini: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Prototipe atau produk yang sudah berfungsi ditampilkan kepada pengguna. Kemudian, mereka diberikan skenario dan diminta untuk melakukan sejumlah aktivitas atau tugas terkait skenario tersebut. </a:t>
            </a:r>
            <a:endParaRPr sz="1000">
              <a:solidFill>
                <a:schemeClr val="dk1"/>
              </a:solidFill>
              <a:latin typeface="Montserrat"/>
              <a:ea typeface="Montserrat"/>
              <a:cs typeface="Montserrat"/>
              <a:sym typeface="Montserrat"/>
            </a:endParaRPr>
          </a:p>
        </p:txBody>
      </p:sp>
      <p:pic>
        <p:nvPicPr>
          <p:cNvPr id="204" name="Google Shape;204;p32"/>
          <p:cNvPicPr preferRelativeResize="0"/>
          <p:nvPr/>
        </p:nvPicPr>
        <p:blipFill>
          <a:blip r:embed="rId3">
            <a:alphaModFix/>
          </a:blip>
          <a:stretch>
            <a:fillRect/>
          </a:stretch>
        </p:blipFill>
        <p:spPr>
          <a:xfrm>
            <a:off x="4724400" y="1610813"/>
            <a:ext cx="3915302" cy="236113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211" name="Google Shape;211;p33"/>
          <p:cNvSpPr txBox="1"/>
          <p:nvPr/>
        </p:nvSpPr>
        <p:spPr>
          <a:xfrm>
            <a:off x="487625" y="1961550"/>
            <a:ext cx="4114800" cy="122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Cara mereka melakukan tugas yang diberikan, membantu kita mengidentifikasi waktu atau langkah tertentu ketika pengguna mengalami masalah.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Feedback dari pengguna kemudian kita kumpulkan, lalu dianalisis, untuk menemukan berbagai cara meningkatkan produk.</a:t>
            </a:r>
            <a:endParaRPr sz="1000">
              <a:solidFill>
                <a:schemeClr val="dk1"/>
              </a:solidFill>
              <a:latin typeface="Montserrat"/>
              <a:ea typeface="Montserrat"/>
              <a:cs typeface="Montserrat"/>
              <a:sym typeface="Montserrat"/>
            </a:endParaRPr>
          </a:p>
        </p:txBody>
      </p:sp>
      <p:pic>
        <p:nvPicPr>
          <p:cNvPr id="212" name="Google Shape;212;p33"/>
          <p:cNvPicPr preferRelativeResize="0"/>
          <p:nvPr/>
        </p:nvPicPr>
        <p:blipFill>
          <a:blip r:embed="rId3">
            <a:alphaModFix/>
          </a:blip>
          <a:stretch>
            <a:fillRect/>
          </a:stretch>
        </p:blipFill>
        <p:spPr>
          <a:xfrm>
            <a:off x="4983438" y="1352550"/>
            <a:ext cx="3633171" cy="33074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219" name="Google Shape;219;p34"/>
          <p:cNvSpPr txBox="1"/>
          <p:nvPr/>
        </p:nvSpPr>
        <p:spPr>
          <a:xfrm>
            <a:off x="487625" y="1882350"/>
            <a:ext cx="4114800" cy="137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Pengujian bisa dilakukan sepanjang kemajuan proyek. Umumnya, hal ini dilakukan bersamaan dengan proses prototyping atau setelahnya.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Saat melakukan usability testing pada prototipe, kamu bisa memanfaatkan lingkungan yang familiar dengan pengguna, yaitu lingkungan normal di mana pengguna akan menggunakan prototipe kamu.</a:t>
            </a:r>
            <a:endParaRPr sz="1000">
              <a:solidFill>
                <a:schemeClr val="dk1"/>
              </a:solidFill>
              <a:latin typeface="Montserrat"/>
              <a:ea typeface="Montserrat"/>
              <a:cs typeface="Montserrat"/>
              <a:sym typeface="Montserrat"/>
            </a:endParaRPr>
          </a:p>
        </p:txBody>
      </p:sp>
      <p:pic>
        <p:nvPicPr>
          <p:cNvPr id="220" name="Google Shape;220;p34"/>
          <p:cNvPicPr preferRelativeResize="0"/>
          <p:nvPr/>
        </p:nvPicPr>
        <p:blipFill>
          <a:blip r:embed="rId3">
            <a:alphaModFix/>
          </a:blip>
          <a:stretch>
            <a:fillRect/>
          </a:stretch>
        </p:blipFill>
        <p:spPr>
          <a:xfrm>
            <a:off x="4983438" y="1352550"/>
            <a:ext cx="3633171" cy="33074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Testing</a:t>
            </a:r>
            <a:endParaRPr>
              <a:latin typeface="Montserrat"/>
              <a:ea typeface="Montserrat"/>
              <a:cs typeface="Montserrat"/>
              <a:sym typeface="Montserrat"/>
            </a:endParaRPr>
          </a:p>
        </p:txBody>
      </p:sp>
      <p:sp>
        <p:nvSpPr>
          <p:cNvPr id="227" name="Google Shape;227;p35"/>
          <p:cNvSpPr txBox="1"/>
          <p:nvPr/>
        </p:nvSpPr>
        <p:spPr>
          <a:xfrm>
            <a:off x="487625" y="2162250"/>
            <a:ext cx="3951300" cy="819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Kalaupun hal tersebut tidak menungkinkan, cobalah untuk membuat pengguna melakukan tugas sambil memainkan peran. Intinya, </a:t>
            </a:r>
            <a:r>
              <a:rPr b="1" lang="en" sz="1000">
                <a:solidFill>
                  <a:schemeClr val="dk1"/>
                </a:solidFill>
                <a:latin typeface="Montserrat"/>
                <a:ea typeface="Montserrat"/>
                <a:cs typeface="Montserrat"/>
                <a:sym typeface="Montserrat"/>
              </a:rPr>
              <a:t>buatlah pengguna menggunakan prototipe seakan-akan mereka menggunakannya dalam kehidupan nyata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28" name="Google Shape;228;p35"/>
          <p:cNvPicPr preferRelativeResize="0"/>
          <p:nvPr/>
        </p:nvPicPr>
        <p:blipFill>
          <a:blip r:embed="rId3">
            <a:alphaModFix/>
          </a:blip>
          <a:stretch>
            <a:fillRect/>
          </a:stretch>
        </p:blipFill>
        <p:spPr>
          <a:xfrm>
            <a:off x="4724401" y="1458200"/>
            <a:ext cx="4063773" cy="2444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fase testing penting?</a:t>
            </a:r>
            <a:endParaRPr>
              <a:latin typeface="Montserrat"/>
              <a:ea typeface="Montserrat"/>
              <a:cs typeface="Montserrat"/>
              <a:sym typeface="Montserrat"/>
            </a:endParaRPr>
          </a:p>
        </p:txBody>
      </p:sp>
      <p:sp>
        <p:nvSpPr>
          <p:cNvPr id="234" name="Google Shape;234;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6"/>
          <p:cNvSpPr txBox="1"/>
          <p:nvPr/>
        </p:nvSpPr>
        <p:spPr>
          <a:xfrm>
            <a:off x="593075" y="1592725"/>
            <a:ext cx="49536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Tapi, </a:t>
            </a:r>
            <a:r>
              <a:rPr b="1" lang="en">
                <a:solidFill>
                  <a:srgbClr val="F2AB2F"/>
                </a:solidFill>
                <a:latin typeface="Montserrat"/>
                <a:ea typeface="Montserrat"/>
                <a:cs typeface="Montserrat"/>
                <a:sym typeface="Montserrat"/>
              </a:rPr>
              <a:t>mengapa fase testing penting?</a:t>
            </a:r>
            <a:r>
              <a:rPr b="1" lang="en">
                <a:solidFill>
                  <a:schemeClr val="lt1"/>
                </a:solidFill>
                <a:latin typeface="Montserrat"/>
                <a:ea typeface="Montserrat"/>
                <a:cs typeface="Montserrat"/>
                <a:sym typeface="Montserrat"/>
              </a:rPr>
              <a:t> Bukannya mencari solusi terbaik itu juga kita lakukan sewaktu prototyping?</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kita temukan jawabannya ~</a:t>
            </a:r>
            <a:endParaRPr b="1">
              <a:solidFill>
                <a:schemeClr val="lt1"/>
              </a:solidFill>
              <a:latin typeface="Montserrat"/>
              <a:ea typeface="Montserrat"/>
              <a:cs typeface="Montserrat"/>
              <a:sym typeface="Montserrat"/>
            </a:endParaRPr>
          </a:p>
        </p:txBody>
      </p:sp>
      <p:pic>
        <p:nvPicPr>
          <p:cNvPr id="236" name="Google Shape;236;p36"/>
          <p:cNvPicPr preferRelativeResize="0"/>
          <p:nvPr/>
        </p:nvPicPr>
        <p:blipFill>
          <a:blip r:embed="rId3">
            <a:alphaModFix/>
          </a:blip>
          <a:stretch>
            <a:fillRect/>
          </a:stretch>
        </p:blipFill>
        <p:spPr>
          <a:xfrm>
            <a:off x="5932550" y="914400"/>
            <a:ext cx="1524591" cy="3886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fase testing penting?</a:t>
            </a:r>
            <a:endParaRPr>
              <a:latin typeface="Montserrat"/>
              <a:ea typeface="Montserrat"/>
              <a:cs typeface="Montserrat"/>
              <a:sym typeface="Montserrat"/>
            </a:endParaRPr>
          </a:p>
        </p:txBody>
      </p:sp>
      <p:sp>
        <p:nvSpPr>
          <p:cNvPr id="243" name="Google Shape;243;p37"/>
          <p:cNvSpPr txBox="1"/>
          <p:nvPr/>
        </p:nvSpPr>
        <p:spPr>
          <a:xfrm>
            <a:off x="685800" y="2092800"/>
            <a:ext cx="4114800" cy="164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fase testing penting?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User menggunakan produk atau layanan karena ingin mencapai suatu tujuan.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Clr>
                <a:schemeClr val="dk1"/>
              </a:buClr>
              <a:buSzPts val="1100"/>
              <a:buFont typeface="Arial"/>
              <a:buNone/>
            </a:pPr>
            <a:r>
              <a:rPr lang="en" sz="1000">
                <a:solidFill>
                  <a:schemeClr val="dk1"/>
                </a:solidFill>
                <a:latin typeface="Montserrat"/>
                <a:ea typeface="Montserrat"/>
                <a:cs typeface="Montserrat"/>
                <a:sym typeface="Montserrat"/>
              </a:rPr>
              <a:t>Kita belanja lewat e-commerce, supaya kegiatan belanja jadi lebih praktis. Kita pakai media sosial, supaya tetap bisa dekat dan tahu kabar teman-teman kita dengan lebih mudah dan cepat.</a:t>
            </a:r>
            <a:endParaRPr sz="1000">
              <a:solidFill>
                <a:schemeClr val="dk1"/>
              </a:solidFill>
              <a:latin typeface="Montserrat"/>
              <a:ea typeface="Montserrat"/>
              <a:cs typeface="Montserrat"/>
              <a:sym typeface="Montserrat"/>
            </a:endParaRPr>
          </a:p>
        </p:txBody>
      </p:sp>
      <p:pic>
        <p:nvPicPr>
          <p:cNvPr id="244" name="Google Shape;244;p37"/>
          <p:cNvPicPr preferRelativeResize="0"/>
          <p:nvPr/>
        </p:nvPicPr>
        <p:blipFill>
          <a:blip r:embed="rId3">
            <a:alphaModFix/>
          </a:blip>
          <a:stretch>
            <a:fillRect/>
          </a:stretch>
        </p:blipFill>
        <p:spPr>
          <a:xfrm>
            <a:off x="5768125" y="914400"/>
            <a:ext cx="2892082" cy="4000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0" name="Google Shape;250;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fase testing penting?</a:t>
            </a:r>
            <a:endParaRPr>
              <a:latin typeface="Montserrat"/>
              <a:ea typeface="Montserrat"/>
              <a:cs typeface="Montserrat"/>
              <a:sym typeface="Montserrat"/>
            </a:endParaRPr>
          </a:p>
        </p:txBody>
      </p:sp>
      <p:sp>
        <p:nvSpPr>
          <p:cNvPr id="251" name="Google Shape;251;p38"/>
          <p:cNvSpPr txBox="1"/>
          <p:nvPr/>
        </p:nvSpPr>
        <p:spPr>
          <a:xfrm>
            <a:off x="487625" y="2019149"/>
            <a:ext cx="4114800" cy="1105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Semakin mudah user mencapai tujuan lewat produk kita, maka produk akan semakin disukai!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Jika produk kita benar-benar tepat guna dan tepat sasaran, user bisa jadi pengguna setia dan terus memilih produk kita di lain waktu, atau bahkan merekomendasikannya ke orang 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52" name="Google Shape;252;p38"/>
          <p:cNvPicPr preferRelativeResize="0"/>
          <p:nvPr/>
        </p:nvPicPr>
        <p:blipFill>
          <a:blip r:embed="rId3">
            <a:alphaModFix/>
          </a:blip>
          <a:stretch>
            <a:fillRect/>
          </a:stretch>
        </p:blipFill>
        <p:spPr>
          <a:xfrm>
            <a:off x="4637100" y="744750"/>
            <a:ext cx="3979500" cy="3979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fase testing penting?</a:t>
            </a:r>
            <a:endParaRPr>
              <a:latin typeface="Montserrat"/>
              <a:ea typeface="Montserrat"/>
              <a:cs typeface="Montserrat"/>
              <a:sym typeface="Montserrat"/>
            </a:endParaRPr>
          </a:p>
        </p:txBody>
      </p:sp>
      <p:sp>
        <p:nvSpPr>
          <p:cNvPr id="259" name="Google Shape;259;p39"/>
          <p:cNvSpPr txBox="1"/>
          <p:nvPr/>
        </p:nvSpPr>
        <p:spPr>
          <a:xfrm>
            <a:off x="487625" y="1855500"/>
            <a:ext cx="4114800" cy="1432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Nah maka dari itu, untuk menguji sejauh mana sebuah produk itu mudah digunakan dan disukai oleh user, kita bisa melakukan  </a:t>
            </a:r>
            <a:r>
              <a:rPr b="1" lang="en" sz="1000">
                <a:solidFill>
                  <a:schemeClr val="dk1"/>
                </a:solidFill>
                <a:latin typeface="Montserrat"/>
                <a:ea typeface="Montserrat"/>
                <a:cs typeface="Montserrat"/>
                <a:sym typeface="Montserrat"/>
              </a:rPr>
              <a:t>testing</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Hasil pengujian akan memberikan </a:t>
            </a:r>
            <a:r>
              <a:rPr b="1" lang="en" sz="1000">
                <a:solidFill>
                  <a:schemeClr val="dk1"/>
                </a:solidFill>
                <a:latin typeface="Montserrat"/>
                <a:ea typeface="Montserrat"/>
                <a:cs typeface="Montserrat"/>
                <a:sym typeface="Montserrat"/>
              </a:rPr>
              <a:t>pemahaman mendalam </a:t>
            </a:r>
            <a:r>
              <a:rPr lang="en" sz="1000">
                <a:solidFill>
                  <a:schemeClr val="dk1"/>
                </a:solidFill>
                <a:latin typeface="Montserrat"/>
                <a:ea typeface="Montserrat"/>
                <a:cs typeface="Montserrat"/>
                <a:sym typeface="Montserrat"/>
              </a:rPr>
              <a:t>tentang pengguna produk kamu, apa yang membuat mereka senang, tidak senang (pain points), dan memberikan ruang untuk perbaikan (room for improvements).</a:t>
            </a:r>
            <a:endParaRPr sz="1000">
              <a:solidFill>
                <a:schemeClr val="dk1"/>
              </a:solidFill>
              <a:latin typeface="Montserrat"/>
              <a:ea typeface="Montserrat"/>
              <a:cs typeface="Montserrat"/>
              <a:sym typeface="Montserrat"/>
            </a:endParaRPr>
          </a:p>
        </p:txBody>
      </p:sp>
      <p:pic>
        <p:nvPicPr>
          <p:cNvPr id="260" name="Google Shape;260;p39"/>
          <p:cNvPicPr preferRelativeResize="0"/>
          <p:nvPr/>
        </p:nvPicPr>
        <p:blipFill>
          <a:blip r:embed="rId3">
            <a:alphaModFix/>
          </a:blip>
          <a:stretch>
            <a:fillRect/>
          </a:stretch>
        </p:blipFill>
        <p:spPr>
          <a:xfrm>
            <a:off x="5110050" y="1112149"/>
            <a:ext cx="3634474" cy="282448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fase testing penting?</a:t>
            </a:r>
            <a:endParaRPr>
              <a:latin typeface="Montserrat"/>
              <a:ea typeface="Montserrat"/>
              <a:cs typeface="Montserrat"/>
              <a:sym typeface="Montserrat"/>
            </a:endParaRPr>
          </a:p>
        </p:txBody>
      </p:sp>
      <p:sp>
        <p:nvSpPr>
          <p:cNvPr id="267" name="Google Shape;267;p40"/>
          <p:cNvSpPr txBox="1"/>
          <p:nvPr/>
        </p:nvSpPr>
        <p:spPr>
          <a:xfrm>
            <a:off x="487625" y="1929462"/>
            <a:ext cx="4114800" cy="128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seperti yang disebutkan tadi, membantumu menciptakan pengalaman pengguna yang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pelanggan puas, ada kemungkinan mereka membantu mengembangkan basis pelanggan kamu dengan menyebarkan berita ke teman atau kolega, dan membawa lebih banyak orang untuk menggunakan produk kamu.</a:t>
            </a:r>
            <a:endParaRPr sz="1000">
              <a:solidFill>
                <a:schemeClr val="dk1"/>
              </a:solidFill>
              <a:latin typeface="Montserrat"/>
              <a:ea typeface="Montserrat"/>
              <a:cs typeface="Montserrat"/>
              <a:sym typeface="Montserrat"/>
            </a:endParaRPr>
          </a:p>
        </p:txBody>
      </p:sp>
      <p:pic>
        <p:nvPicPr>
          <p:cNvPr id="268" name="Google Shape;268;p40"/>
          <p:cNvPicPr preferRelativeResize="0"/>
          <p:nvPr/>
        </p:nvPicPr>
        <p:blipFill>
          <a:blip r:embed="rId3">
            <a:alphaModFix/>
          </a:blip>
          <a:stretch>
            <a:fillRect/>
          </a:stretch>
        </p:blipFill>
        <p:spPr>
          <a:xfrm>
            <a:off x="5110050" y="1112149"/>
            <a:ext cx="3634474" cy="28244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4" name="Google Shape;274;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fase testing penting?</a:t>
            </a:r>
            <a:endParaRPr>
              <a:latin typeface="Montserrat"/>
              <a:ea typeface="Montserrat"/>
              <a:cs typeface="Montserrat"/>
              <a:sym typeface="Montserrat"/>
            </a:endParaRPr>
          </a:p>
        </p:txBody>
      </p:sp>
      <p:sp>
        <p:nvSpPr>
          <p:cNvPr id="275" name="Google Shape;275;p41"/>
          <p:cNvSpPr txBox="1"/>
          <p:nvPr/>
        </p:nvSpPr>
        <p:spPr>
          <a:xfrm>
            <a:off x="487625" y="1869150"/>
            <a:ext cx="4114800" cy="1405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Melalui testing, kita bisa mengetahui bagaimana seseorang menggunakan produk kita, menemukan permasalahan dari perspektif orang lain, hingga mendapatkan insight tentang improvement yang bisa dilakukan.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UX nggak cuma membantu kamu memahami pelanggan yang sudah ada, tapi juga menjadi bagian integral dari proses riset pasar kamu.</a:t>
            </a:r>
            <a:endParaRPr sz="1000">
              <a:solidFill>
                <a:schemeClr val="dk1"/>
              </a:solidFill>
              <a:latin typeface="Montserrat"/>
              <a:ea typeface="Montserrat"/>
              <a:cs typeface="Montserrat"/>
              <a:sym typeface="Montserrat"/>
            </a:endParaRPr>
          </a:p>
        </p:txBody>
      </p:sp>
      <p:pic>
        <p:nvPicPr>
          <p:cNvPr id="276" name="Google Shape;276;p41"/>
          <p:cNvPicPr preferRelativeResize="0"/>
          <p:nvPr/>
        </p:nvPicPr>
        <p:blipFill>
          <a:blip r:embed="rId3">
            <a:alphaModFix/>
          </a:blip>
          <a:stretch>
            <a:fillRect/>
          </a:stretch>
        </p:blipFill>
        <p:spPr>
          <a:xfrm>
            <a:off x="4942125" y="1200075"/>
            <a:ext cx="3674475" cy="299543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Mengapa fase testing penting?</a:t>
            </a:r>
            <a:endParaRPr>
              <a:latin typeface="Montserrat"/>
              <a:ea typeface="Montserrat"/>
              <a:cs typeface="Montserrat"/>
              <a:sym typeface="Montserrat"/>
            </a:endParaRPr>
          </a:p>
        </p:txBody>
      </p:sp>
      <p:sp>
        <p:nvSpPr>
          <p:cNvPr id="283" name="Google Shape;283;p42"/>
          <p:cNvSpPr txBox="1"/>
          <p:nvPr/>
        </p:nvSpPr>
        <p:spPr>
          <a:xfrm>
            <a:off x="742700" y="1807825"/>
            <a:ext cx="3674400" cy="52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produk bisa menjadi aktivitas riset pasar (market research) dan memberimu wawasan tentang siapa target pasar dan bagaimana produk kamu akan digunakan oleh target pasar.</a:t>
            </a:r>
            <a:endParaRPr sz="1000">
              <a:solidFill>
                <a:schemeClr val="dk1"/>
              </a:solidFill>
              <a:latin typeface="Montserrat"/>
              <a:ea typeface="Montserrat"/>
              <a:cs typeface="Montserrat"/>
              <a:sym typeface="Montserrat"/>
            </a:endParaRPr>
          </a:p>
        </p:txBody>
      </p:sp>
      <p:pic>
        <p:nvPicPr>
          <p:cNvPr id="284" name="Google Shape;284;p42"/>
          <p:cNvPicPr preferRelativeResize="0"/>
          <p:nvPr/>
        </p:nvPicPr>
        <p:blipFill>
          <a:blip r:embed="rId3">
            <a:alphaModFix/>
          </a:blip>
          <a:stretch>
            <a:fillRect/>
          </a:stretch>
        </p:blipFill>
        <p:spPr>
          <a:xfrm>
            <a:off x="4637100" y="1439825"/>
            <a:ext cx="3674475" cy="299543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Research vs testing</a:t>
            </a:r>
            <a:endParaRPr>
              <a:latin typeface="Montserrat"/>
              <a:ea typeface="Montserrat"/>
              <a:cs typeface="Montserrat"/>
              <a:sym typeface="Montserrat"/>
            </a:endParaRPr>
          </a:p>
        </p:txBody>
      </p:sp>
      <p:sp>
        <p:nvSpPr>
          <p:cNvPr id="290" name="Google Shape;29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3"/>
          <p:cNvSpPr txBox="1"/>
          <p:nvPr/>
        </p:nvSpPr>
        <p:spPr>
          <a:xfrm>
            <a:off x="526650" y="1774300"/>
            <a:ext cx="48903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Jadi, apakah </a:t>
            </a:r>
            <a:r>
              <a:rPr b="1" lang="en">
                <a:solidFill>
                  <a:srgbClr val="F2AB2F"/>
                </a:solidFill>
                <a:latin typeface="Montserrat"/>
                <a:ea typeface="Montserrat"/>
                <a:cs typeface="Montserrat"/>
                <a:sym typeface="Montserrat"/>
              </a:rPr>
              <a:t>testing</a:t>
            </a:r>
            <a:r>
              <a:rPr b="1" lang="en">
                <a:solidFill>
                  <a:schemeClr val="lt1"/>
                </a:solidFill>
                <a:latin typeface="Montserrat"/>
                <a:ea typeface="Montserrat"/>
                <a:cs typeface="Montserrat"/>
                <a:sym typeface="Montserrat"/>
              </a:rPr>
              <a:t> itu juga termasuk </a:t>
            </a:r>
            <a:r>
              <a:rPr b="1" lang="en">
                <a:solidFill>
                  <a:srgbClr val="F2AB2F"/>
                </a:solidFill>
                <a:latin typeface="Montserrat"/>
                <a:ea typeface="Montserrat"/>
                <a:cs typeface="Montserrat"/>
                <a:sym typeface="Montserrat"/>
              </a:rPr>
              <a:t>research</a:t>
            </a:r>
            <a:r>
              <a:rPr b="1" lang="en">
                <a:solidFill>
                  <a:schemeClr val="lt1"/>
                </a:solidFill>
                <a:latin typeface="Montserrat"/>
                <a:ea typeface="Montserrat"/>
                <a:cs typeface="Montserrat"/>
                <a:sym typeface="Montserrat"/>
              </a:rPr>
              <a:t>? Atau testing itu sendiri adalah penelitian?</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Tenang, jangan bingung dulu, gengs.</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Yuk kita simak penjelasannya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p:txBody>
      </p:sp>
      <p:pic>
        <p:nvPicPr>
          <p:cNvPr id="292" name="Google Shape;292;p43"/>
          <p:cNvPicPr preferRelativeResize="0"/>
          <p:nvPr/>
        </p:nvPicPr>
        <p:blipFill>
          <a:blip r:embed="rId3">
            <a:alphaModFix/>
          </a:blip>
          <a:stretch>
            <a:fillRect/>
          </a:stretch>
        </p:blipFill>
        <p:spPr>
          <a:xfrm>
            <a:off x="5665663" y="914400"/>
            <a:ext cx="2467616" cy="3886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Research vs testing</a:t>
            </a:r>
            <a:endParaRPr>
              <a:latin typeface="Montserrat"/>
              <a:ea typeface="Montserrat"/>
              <a:cs typeface="Montserrat"/>
              <a:sym typeface="Montserrat"/>
            </a:endParaRPr>
          </a:p>
        </p:txBody>
      </p:sp>
      <p:sp>
        <p:nvSpPr>
          <p:cNvPr id="299" name="Google Shape;299;p44"/>
          <p:cNvSpPr txBox="1"/>
          <p:nvPr/>
        </p:nvSpPr>
        <p:spPr>
          <a:xfrm>
            <a:off x="487625" y="1906050"/>
            <a:ext cx="4114800" cy="133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Mari kita berkenalan dengan user research~</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User research atau penelitian pengguna bertujuan mengidentifikasi target pengguna, memahami kebutuhan, dan perilaku mereka.</a:t>
            </a:r>
            <a:endParaRPr sz="1200">
              <a:solidFill>
                <a:schemeClr val="dk1"/>
              </a:solidFill>
              <a:latin typeface="Montserrat Medium"/>
              <a:ea typeface="Montserrat Medium"/>
              <a:cs typeface="Montserrat Medium"/>
              <a:sym typeface="Montserrat Medium"/>
            </a:endParaRPr>
          </a:p>
        </p:txBody>
      </p:sp>
      <p:pic>
        <p:nvPicPr>
          <p:cNvPr id="300" name="Google Shape;300;p44"/>
          <p:cNvPicPr preferRelativeResize="0"/>
          <p:nvPr/>
        </p:nvPicPr>
        <p:blipFill>
          <a:blip r:embed="rId3">
            <a:alphaModFix/>
          </a:blip>
          <a:stretch>
            <a:fillRect/>
          </a:stretch>
        </p:blipFill>
        <p:spPr>
          <a:xfrm>
            <a:off x="5154425" y="944800"/>
            <a:ext cx="3462180" cy="38557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Research vs testing</a:t>
            </a:r>
            <a:endParaRPr>
              <a:latin typeface="Montserrat"/>
              <a:ea typeface="Montserrat"/>
              <a:cs typeface="Montserrat"/>
              <a:sym typeface="Montserrat"/>
            </a:endParaRPr>
          </a:p>
        </p:txBody>
      </p:sp>
      <p:sp>
        <p:nvSpPr>
          <p:cNvPr id="307" name="Google Shape;307;p45"/>
          <p:cNvSpPr txBox="1"/>
          <p:nvPr/>
        </p:nvSpPr>
        <p:spPr>
          <a:xfrm>
            <a:off x="487625" y="1816350"/>
            <a:ext cx="4114800" cy="151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Berikut adalah beberapa metode pengumpulan data pengguna dalam penelitian, di antaranya: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1) Wawancara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2) Survei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3) Studi lapangan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4) Focus groups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5) Pengujian kegunaan (usability testing)</a:t>
            </a:r>
            <a:endParaRPr sz="1200">
              <a:solidFill>
                <a:schemeClr val="dk1"/>
              </a:solidFill>
              <a:latin typeface="Montserrat Medium"/>
              <a:ea typeface="Montserrat Medium"/>
              <a:cs typeface="Montserrat Medium"/>
              <a:sym typeface="Montserrat Medium"/>
            </a:endParaRPr>
          </a:p>
        </p:txBody>
      </p:sp>
      <p:pic>
        <p:nvPicPr>
          <p:cNvPr id="308" name="Google Shape;308;p45"/>
          <p:cNvPicPr preferRelativeResize="0"/>
          <p:nvPr/>
        </p:nvPicPr>
        <p:blipFill>
          <a:blip r:embed="rId3">
            <a:alphaModFix/>
          </a:blip>
          <a:stretch>
            <a:fillRect/>
          </a:stretch>
        </p:blipFill>
        <p:spPr>
          <a:xfrm>
            <a:off x="5154425" y="944800"/>
            <a:ext cx="3462180" cy="38557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Research vs testing</a:t>
            </a:r>
            <a:endParaRPr>
              <a:latin typeface="Montserrat"/>
              <a:ea typeface="Montserrat"/>
              <a:cs typeface="Montserrat"/>
              <a:sym typeface="Montserrat"/>
            </a:endParaRPr>
          </a:p>
        </p:txBody>
      </p:sp>
      <p:sp>
        <p:nvSpPr>
          <p:cNvPr id="315" name="Google Shape;315;p46"/>
          <p:cNvSpPr txBox="1"/>
          <p:nvPr/>
        </p:nvSpPr>
        <p:spPr>
          <a:xfrm>
            <a:off x="685800" y="1378050"/>
            <a:ext cx="4114800" cy="238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Testing dan research, apakah sama atau beda?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Pengujian pengguna</a:t>
            </a:r>
            <a:r>
              <a:rPr lang="en" sz="1000">
                <a:solidFill>
                  <a:schemeClr val="dk1"/>
                </a:solidFill>
                <a:latin typeface="Montserrat"/>
                <a:ea typeface="Montserrat"/>
                <a:cs typeface="Montserrat"/>
                <a:sym typeface="Montserrat"/>
              </a:rPr>
              <a:t> (usability testing) mengacu pada metode khusus untuk </a:t>
            </a:r>
            <a:r>
              <a:rPr b="1" lang="en" sz="1000">
                <a:solidFill>
                  <a:schemeClr val="dk1"/>
                </a:solidFill>
                <a:latin typeface="Montserrat"/>
                <a:ea typeface="Montserrat"/>
                <a:cs typeface="Montserrat"/>
                <a:sym typeface="Montserrat"/>
              </a:rPr>
              <a:t>mengevaluasi antarmuka</a:t>
            </a:r>
            <a:r>
              <a:rPr lang="en" sz="1000">
                <a:solidFill>
                  <a:schemeClr val="dk1"/>
                </a:solidFill>
                <a:latin typeface="Montserrat"/>
                <a:ea typeface="Montserrat"/>
                <a:cs typeface="Montserrat"/>
                <a:sym typeface="Montserrat"/>
              </a:rPr>
              <a:t>, sementara </a:t>
            </a:r>
            <a:r>
              <a:rPr b="1" lang="en" sz="1000">
                <a:solidFill>
                  <a:schemeClr val="dk1"/>
                </a:solidFill>
                <a:latin typeface="Montserrat"/>
                <a:ea typeface="Montserrat"/>
                <a:cs typeface="Montserrat"/>
                <a:sym typeface="Montserrat"/>
              </a:rPr>
              <a:t>penelitian pengguna</a:t>
            </a:r>
            <a:r>
              <a:rPr lang="en" sz="1000">
                <a:solidFill>
                  <a:schemeClr val="dk1"/>
                </a:solidFill>
                <a:latin typeface="Montserrat"/>
                <a:ea typeface="Montserrat"/>
                <a:cs typeface="Montserrat"/>
                <a:sym typeface="Montserrat"/>
              </a:rPr>
              <a:t> (user research) menggabungkan sekelompok metodologi </a:t>
            </a:r>
            <a:r>
              <a:rPr b="1" lang="en" sz="1000">
                <a:solidFill>
                  <a:schemeClr val="dk1"/>
                </a:solidFill>
                <a:latin typeface="Montserrat"/>
                <a:ea typeface="Montserrat"/>
                <a:cs typeface="Montserrat"/>
                <a:sym typeface="Montserrat"/>
              </a:rPr>
              <a:t>untuk mengevaluasi sistem atau antarmuka yang mencakup pengujian pengguna, wawancara, survei, dan lainnya</a:t>
            </a:r>
            <a:r>
              <a:rPr lang="en" sz="1000">
                <a:solidFill>
                  <a:schemeClr val="dk1"/>
                </a:solidFill>
                <a:latin typeface="Montserrat"/>
                <a:ea typeface="Montserrat"/>
                <a:cs typeface="Montserrat"/>
                <a:sym typeface="Montserrat"/>
              </a:rPr>
              <a:t>.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Singkatnya, pengujian pengguna sebenarnya termasuk salah satu metode penelitian pengguna.</a:t>
            </a:r>
            <a:endParaRPr sz="1000">
              <a:solidFill>
                <a:schemeClr val="dk1"/>
              </a:solidFill>
              <a:latin typeface="Montserrat"/>
              <a:ea typeface="Montserrat"/>
              <a:cs typeface="Montserrat"/>
              <a:sym typeface="Montserrat"/>
            </a:endParaRPr>
          </a:p>
        </p:txBody>
      </p:sp>
      <p:pic>
        <p:nvPicPr>
          <p:cNvPr id="316" name="Google Shape;316;p46"/>
          <p:cNvPicPr preferRelativeResize="0"/>
          <p:nvPr/>
        </p:nvPicPr>
        <p:blipFill>
          <a:blip r:embed="rId3">
            <a:alphaModFix/>
          </a:blip>
          <a:stretch>
            <a:fillRect/>
          </a:stretch>
        </p:blipFill>
        <p:spPr>
          <a:xfrm>
            <a:off x="5257800" y="1217825"/>
            <a:ext cx="3078351" cy="30756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22" name="Google Shape;32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47"/>
          <p:cNvSpPr txBox="1"/>
          <p:nvPr/>
        </p:nvSpPr>
        <p:spPr>
          <a:xfrm>
            <a:off x="487625" y="1999950"/>
            <a:ext cx="4691400" cy="114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sekarang kita akan menggali lebih dalam mengenai ragam </a:t>
            </a:r>
            <a:r>
              <a:rPr b="1" lang="en">
                <a:solidFill>
                  <a:srgbClr val="F2AB2F"/>
                </a:solidFill>
                <a:latin typeface="Montserrat"/>
                <a:ea typeface="Montserrat"/>
                <a:cs typeface="Montserrat"/>
                <a:sym typeface="Montserrat"/>
              </a:rPr>
              <a:t>metode testing</a:t>
            </a:r>
            <a:r>
              <a:rPr b="1" lang="en">
                <a:solidFill>
                  <a:schemeClr val="lt1"/>
                </a:solidFill>
                <a:latin typeface="Montserrat"/>
                <a:ea typeface="Montserrat"/>
                <a:cs typeface="Montserrat"/>
                <a:sym typeface="Montserrat"/>
              </a:rPr>
              <a:t>. Ada apa aja?</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Let’s go kita temukan jawabannya ~</a:t>
            </a:r>
            <a:endParaRPr b="1">
              <a:solidFill>
                <a:schemeClr val="lt1"/>
              </a:solidFill>
              <a:latin typeface="Montserrat"/>
              <a:ea typeface="Montserrat"/>
              <a:cs typeface="Montserrat"/>
              <a:sym typeface="Montserrat"/>
            </a:endParaRPr>
          </a:p>
        </p:txBody>
      </p:sp>
      <p:pic>
        <p:nvPicPr>
          <p:cNvPr id="324" name="Google Shape;324;p47"/>
          <p:cNvPicPr preferRelativeResize="0"/>
          <p:nvPr/>
        </p:nvPicPr>
        <p:blipFill>
          <a:blip r:embed="rId3">
            <a:alphaModFix/>
          </a:blip>
          <a:stretch>
            <a:fillRect/>
          </a:stretch>
        </p:blipFill>
        <p:spPr>
          <a:xfrm>
            <a:off x="5297723" y="914400"/>
            <a:ext cx="2888502" cy="38861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31" name="Google Shape;331;p48"/>
          <p:cNvSpPr txBox="1"/>
          <p:nvPr/>
        </p:nvSpPr>
        <p:spPr>
          <a:xfrm>
            <a:off x="487625" y="1821150"/>
            <a:ext cx="4228800" cy="150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Tapi, apa yang perlu dilakukan sebelum memulai testing?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Sebelum memilih metode pengujian tertentu, kamu harus </a:t>
            </a:r>
            <a:r>
              <a:rPr b="1" lang="en" sz="1000">
                <a:solidFill>
                  <a:schemeClr val="dk1"/>
                </a:solidFill>
                <a:latin typeface="Montserrat"/>
                <a:ea typeface="Montserrat"/>
                <a:cs typeface="Montserrat"/>
                <a:sym typeface="Montserrat"/>
              </a:rPr>
              <a:t>memiliki pemahaman yang jelas tentang target audiens, sumber daya yang tersedia (misalnya waktu dan uang), serta tujuan penelitian</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332" name="Google Shape;332;p48"/>
          <p:cNvPicPr preferRelativeResize="0"/>
          <p:nvPr/>
        </p:nvPicPr>
        <p:blipFill>
          <a:blip r:embed="rId3">
            <a:alphaModFix/>
          </a:blip>
          <a:stretch>
            <a:fillRect/>
          </a:stretch>
        </p:blipFill>
        <p:spPr>
          <a:xfrm>
            <a:off x="5178875" y="1218924"/>
            <a:ext cx="3437724" cy="3331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8" name="Google Shape;338;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39" name="Google Shape;339;p49"/>
          <p:cNvSpPr txBox="1"/>
          <p:nvPr/>
        </p:nvSpPr>
        <p:spPr>
          <a:xfrm>
            <a:off x="487625" y="2212050"/>
            <a:ext cx="4228800" cy="719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Informasi tersebut akan membantu kamu memilih metode pengujian yang tepat, menjadi acuan untuk menyusun pertanyaan, aktivitas, atau tugas untuk peserta pengujian produk kamu.</a:t>
            </a:r>
            <a:endParaRPr sz="1200">
              <a:solidFill>
                <a:schemeClr val="dk1"/>
              </a:solidFill>
              <a:latin typeface="Montserrat Medium"/>
              <a:ea typeface="Montserrat Medium"/>
              <a:cs typeface="Montserrat Medium"/>
              <a:sym typeface="Montserrat Medium"/>
            </a:endParaRPr>
          </a:p>
        </p:txBody>
      </p:sp>
      <p:pic>
        <p:nvPicPr>
          <p:cNvPr id="340" name="Google Shape;340;p49"/>
          <p:cNvPicPr preferRelativeResize="0"/>
          <p:nvPr/>
        </p:nvPicPr>
        <p:blipFill>
          <a:blip r:embed="rId3">
            <a:alphaModFix/>
          </a:blip>
          <a:stretch>
            <a:fillRect/>
          </a:stretch>
        </p:blipFill>
        <p:spPr>
          <a:xfrm>
            <a:off x="5178875" y="1218924"/>
            <a:ext cx="3437724" cy="3331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6" name="Google Shape;346;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47" name="Google Shape;347;p50"/>
          <p:cNvSpPr txBox="1"/>
          <p:nvPr/>
        </p:nvSpPr>
        <p:spPr>
          <a:xfrm>
            <a:off x="487625" y="1885047"/>
            <a:ext cx="4114800" cy="137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Metode-metode testing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akan menelusuri beberapa metode testing. Perlu diingat bahwa tujuan utama dari pengujian </a:t>
            </a:r>
            <a:r>
              <a:rPr lang="en" sz="1000">
                <a:solidFill>
                  <a:schemeClr val="dk1"/>
                </a:solidFill>
                <a:latin typeface="Montserrat"/>
                <a:ea typeface="Montserrat"/>
                <a:cs typeface="Montserrat"/>
                <a:sym typeface="Montserrat"/>
              </a:rPr>
              <a:t>adalah</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menyempurnakan proses desain dengan mempertimbangkan perspektif dan feedback dari pengguna</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348" name="Google Shape;348;p50"/>
          <p:cNvPicPr preferRelativeResize="0"/>
          <p:nvPr/>
        </p:nvPicPr>
        <p:blipFill>
          <a:blip r:embed="rId3">
            <a:alphaModFix/>
          </a:blip>
          <a:stretch>
            <a:fillRect/>
          </a:stretch>
        </p:blipFill>
        <p:spPr>
          <a:xfrm>
            <a:off x="5165875" y="914400"/>
            <a:ext cx="3450736" cy="3886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55" name="Google Shape;355;p51"/>
          <p:cNvSpPr txBox="1"/>
          <p:nvPr/>
        </p:nvSpPr>
        <p:spPr>
          <a:xfrm>
            <a:off x="487625" y="1977000"/>
            <a:ext cx="3951300" cy="118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Guerilla Testing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Guerilla testing adalah bentuk pengujian kegunaan paling sederhana dengan biaya cukup rendah. Pada dasarnya, </a:t>
            </a:r>
            <a:r>
              <a:rPr b="1" lang="en" sz="1000">
                <a:solidFill>
                  <a:schemeClr val="dk1"/>
                </a:solidFill>
                <a:latin typeface="Montserrat"/>
                <a:ea typeface="Montserrat"/>
                <a:cs typeface="Montserrat"/>
                <a:sym typeface="Montserrat"/>
              </a:rPr>
              <a:t>metode ini bisa dilakukan di tempat umum dan peserta atau sampel tes dipilih secara acak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56" name="Google Shape;356;p51"/>
          <p:cNvPicPr preferRelativeResize="0"/>
          <p:nvPr/>
        </p:nvPicPr>
        <p:blipFill>
          <a:blip r:embed="rId3">
            <a:alphaModFix/>
          </a:blip>
          <a:stretch>
            <a:fillRect/>
          </a:stretch>
        </p:blipFill>
        <p:spPr>
          <a:xfrm>
            <a:off x="4724400" y="1490013"/>
            <a:ext cx="4038599" cy="274335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63" name="Google Shape;363;p52"/>
          <p:cNvSpPr txBox="1"/>
          <p:nvPr/>
        </p:nvSpPr>
        <p:spPr>
          <a:xfrm>
            <a:off x="487625" y="1947750"/>
            <a:ext cx="3951300" cy="124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Guerilla testing juga dapat dilakukan untuk mengumpulkan pendapat pribadi dan kesan emosional tentang ide dan konsep dari produk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Karena sampelnya acak, perlu dicatat bahwa pengujian ini mungkin tidak mewakili target produk kamu secara menyeluruh.</a:t>
            </a:r>
            <a:endParaRPr sz="1000">
              <a:solidFill>
                <a:schemeClr val="dk1"/>
              </a:solidFill>
              <a:latin typeface="Montserrat"/>
              <a:ea typeface="Montserrat"/>
              <a:cs typeface="Montserrat"/>
              <a:sym typeface="Montserrat"/>
            </a:endParaRPr>
          </a:p>
        </p:txBody>
      </p:sp>
      <p:pic>
        <p:nvPicPr>
          <p:cNvPr id="364" name="Google Shape;364;p52"/>
          <p:cNvPicPr preferRelativeResize="0"/>
          <p:nvPr/>
        </p:nvPicPr>
        <p:blipFill>
          <a:blip r:embed="rId3">
            <a:alphaModFix/>
          </a:blip>
          <a:stretch>
            <a:fillRect/>
          </a:stretch>
        </p:blipFill>
        <p:spPr>
          <a:xfrm>
            <a:off x="4724400" y="1490013"/>
            <a:ext cx="4038599" cy="274335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71" name="Google Shape;371;p53"/>
          <p:cNvSpPr txBox="1"/>
          <p:nvPr/>
        </p:nvSpPr>
        <p:spPr>
          <a:xfrm>
            <a:off x="487625" y="2243400"/>
            <a:ext cx="3951300" cy="65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Contohnya, kamu bisa memilih kedai kopi sebagai tempat dan meminta pelanggan di sana untuk melakukan testing prototipe produkmu. Kamu boleh memberi mereka imbalan atau hadiah kecil sebagai ucapan terima kasih.</a:t>
            </a:r>
            <a:endParaRPr sz="1000">
              <a:solidFill>
                <a:schemeClr val="dk1"/>
              </a:solidFill>
              <a:latin typeface="Montserrat"/>
              <a:ea typeface="Montserrat"/>
              <a:cs typeface="Montserrat"/>
              <a:sym typeface="Montserrat"/>
            </a:endParaRPr>
          </a:p>
        </p:txBody>
      </p:sp>
      <p:pic>
        <p:nvPicPr>
          <p:cNvPr id="372" name="Google Shape;372;p53"/>
          <p:cNvPicPr preferRelativeResize="0"/>
          <p:nvPr/>
        </p:nvPicPr>
        <p:blipFill>
          <a:blip r:embed="rId3">
            <a:alphaModFix/>
          </a:blip>
          <a:stretch>
            <a:fillRect/>
          </a:stretch>
        </p:blipFill>
        <p:spPr>
          <a:xfrm>
            <a:off x="4724400" y="1490013"/>
            <a:ext cx="4038599" cy="27433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79" name="Google Shape;379;p54"/>
          <p:cNvSpPr txBox="1"/>
          <p:nvPr/>
        </p:nvSpPr>
        <p:spPr>
          <a:xfrm>
            <a:off x="685800" y="1906047"/>
            <a:ext cx="4114800" cy="1331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Kapan g</a:t>
            </a:r>
            <a:r>
              <a:rPr b="1" lang="en" sz="1200">
                <a:solidFill>
                  <a:srgbClr val="F2AB2F"/>
                </a:solidFill>
                <a:latin typeface="Montserrat"/>
                <a:ea typeface="Montserrat"/>
                <a:cs typeface="Montserrat"/>
                <a:sym typeface="Montserrat"/>
              </a:rPr>
              <a:t>uerilla testing dilakukan</a:t>
            </a:r>
            <a:r>
              <a:rPr b="1" lang="en" sz="1200">
                <a:solidFill>
                  <a:srgbClr val="F2AB2F"/>
                </a:solidFill>
                <a:latin typeface="Montserrat"/>
                <a:ea typeface="Montserrat"/>
                <a:cs typeface="Montserrat"/>
                <a:sym typeface="Montserrat"/>
              </a:rPr>
              <a:t>?</a:t>
            </a:r>
            <a:endParaRPr b="1" sz="1200">
              <a:solidFill>
                <a:srgbClr val="F2AB2F"/>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ini paling baik dilakukan pada tahap </a:t>
            </a:r>
            <a:r>
              <a:rPr b="1" lang="en" sz="1000">
                <a:solidFill>
                  <a:schemeClr val="dk1"/>
                </a:solidFill>
                <a:latin typeface="Montserrat"/>
                <a:ea typeface="Montserrat"/>
                <a:cs typeface="Montserrat"/>
                <a:sym typeface="Montserrat"/>
              </a:rPr>
              <a:t>awal proses pengembangan produk</a:t>
            </a:r>
            <a:r>
              <a:rPr lang="en" sz="1000">
                <a:solidFill>
                  <a:schemeClr val="dk1"/>
                </a:solidFill>
                <a:latin typeface="Montserrat"/>
                <a:ea typeface="Montserrat"/>
                <a:cs typeface="Montserrat"/>
                <a:sym typeface="Montserrat"/>
              </a:rPr>
              <a:t>, yaitu ketika kamu sudah memiliki kerangka desain </a:t>
            </a:r>
            <a:r>
              <a:rPr lang="en" sz="1000">
                <a:solidFill>
                  <a:schemeClr val="dk1"/>
                </a:solidFill>
                <a:latin typeface="Montserrat"/>
                <a:ea typeface="Montserrat"/>
                <a:cs typeface="Montserrat"/>
                <a:sym typeface="Montserrat"/>
              </a:rPr>
              <a:t>yang baik </a:t>
            </a:r>
            <a:r>
              <a:rPr lang="en" sz="1000">
                <a:solidFill>
                  <a:schemeClr val="dk1"/>
                </a:solidFill>
                <a:latin typeface="Montserrat"/>
                <a:ea typeface="Montserrat"/>
                <a:cs typeface="Montserrat"/>
                <a:sym typeface="Montserrat"/>
              </a:rPr>
              <a:t>(misalnya wireframe atau prototipe lo-fi) dan ingin mengetahui apakah kamu sedang bergerak ke arah yang benar atau sebaliknya.</a:t>
            </a:r>
            <a:endParaRPr sz="1000">
              <a:solidFill>
                <a:schemeClr val="dk1"/>
              </a:solidFill>
              <a:latin typeface="Montserrat"/>
              <a:ea typeface="Montserrat"/>
              <a:cs typeface="Montserrat"/>
              <a:sym typeface="Montserrat"/>
            </a:endParaRPr>
          </a:p>
        </p:txBody>
      </p:sp>
      <p:pic>
        <p:nvPicPr>
          <p:cNvPr id="380" name="Google Shape;380;p54"/>
          <p:cNvPicPr preferRelativeResize="0"/>
          <p:nvPr/>
        </p:nvPicPr>
        <p:blipFill>
          <a:blip r:embed="rId3">
            <a:alphaModFix/>
          </a:blip>
          <a:stretch>
            <a:fillRect/>
          </a:stretch>
        </p:blipFill>
        <p:spPr>
          <a:xfrm>
            <a:off x="5305367" y="914400"/>
            <a:ext cx="2910008" cy="3886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87" name="Google Shape;387;p55"/>
          <p:cNvSpPr txBox="1"/>
          <p:nvPr/>
        </p:nvSpPr>
        <p:spPr>
          <a:xfrm>
            <a:off x="487625" y="1628400"/>
            <a:ext cx="3951300" cy="188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Lab Usability Testing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namanya, lab usability testing adalah </a:t>
            </a:r>
            <a:r>
              <a:rPr b="1" lang="en" sz="1000">
                <a:solidFill>
                  <a:schemeClr val="dk1"/>
                </a:solidFill>
                <a:latin typeface="Montserrat"/>
                <a:ea typeface="Montserrat"/>
                <a:cs typeface="Montserrat"/>
                <a:sym typeface="Montserrat"/>
              </a:rPr>
              <a:t>pengujian yang dijalankan di lingkungan khusus</a:t>
            </a:r>
            <a:r>
              <a:rPr lang="en" sz="1000">
                <a:solidFill>
                  <a:schemeClr val="dk1"/>
                </a:solidFill>
                <a:latin typeface="Montserrat"/>
                <a:ea typeface="Montserrat"/>
                <a:cs typeface="Montserrat"/>
                <a:sym typeface="Montserrat"/>
              </a:rPr>
              <a:t>, misalnya laboratorium, dan diawasi oleh seorang moderator.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Tugas moderator yaitu memfasilitasi peserta, menjawab pertanyaan mereka, dan membalas feedback secara real-time. Di sini, moderator harus seorang profesional karena perannya sentral dalam memoderasi peserta.</a:t>
            </a:r>
            <a:endParaRPr sz="1000">
              <a:solidFill>
                <a:schemeClr val="dk1"/>
              </a:solidFill>
              <a:latin typeface="Montserrat"/>
              <a:ea typeface="Montserrat"/>
              <a:cs typeface="Montserrat"/>
              <a:sym typeface="Montserrat"/>
            </a:endParaRPr>
          </a:p>
        </p:txBody>
      </p:sp>
      <p:pic>
        <p:nvPicPr>
          <p:cNvPr id="388" name="Google Shape;388;p55"/>
          <p:cNvPicPr preferRelativeResize="0"/>
          <p:nvPr/>
        </p:nvPicPr>
        <p:blipFill>
          <a:blip r:embed="rId3">
            <a:alphaModFix/>
          </a:blip>
          <a:stretch>
            <a:fillRect/>
          </a:stretch>
        </p:blipFill>
        <p:spPr>
          <a:xfrm>
            <a:off x="4724400" y="1457250"/>
            <a:ext cx="4140524" cy="23879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395" name="Google Shape;395;p56"/>
          <p:cNvSpPr txBox="1"/>
          <p:nvPr/>
        </p:nvSpPr>
        <p:spPr>
          <a:xfrm>
            <a:off x="487625" y="2085300"/>
            <a:ext cx="3951300" cy="97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Kapan lab usability testing dilakukan?</a:t>
            </a:r>
            <a:endParaRPr b="1" sz="1800">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ini dilakukan ketika kamu perlu memiliki informasi mendalam tentang bagaimana interaksi pengguna dengan produk dan masalah apa yang mereka hadapi.</a:t>
            </a:r>
            <a:endParaRPr sz="1000">
              <a:solidFill>
                <a:schemeClr val="dk1"/>
              </a:solidFill>
              <a:latin typeface="Montserrat"/>
              <a:ea typeface="Montserrat"/>
              <a:cs typeface="Montserrat"/>
              <a:sym typeface="Montserrat"/>
            </a:endParaRPr>
          </a:p>
        </p:txBody>
      </p:sp>
      <p:pic>
        <p:nvPicPr>
          <p:cNvPr id="396" name="Google Shape;396;p56"/>
          <p:cNvPicPr preferRelativeResize="0"/>
          <p:nvPr/>
        </p:nvPicPr>
        <p:blipFill>
          <a:blip r:embed="rId3">
            <a:alphaModFix/>
          </a:blip>
          <a:stretch>
            <a:fillRect/>
          </a:stretch>
        </p:blipFill>
        <p:spPr>
          <a:xfrm>
            <a:off x="4724400" y="1457250"/>
            <a:ext cx="4140524" cy="23879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03" name="Google Shape;403;p57"/>
          <p:cNvSpPr txBox="1"/>
          <p:nvPr/>
        </p:nvSpPr>
        <p:spPr>
          <a:xfrm>
            <a:off x="487625" y="2000700"/>
            <a:ext cx="3951300" cy="1142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Perlu diingat bahwa lab usability cukup mahal untuk dijalankan karena kamu perlu menyewa lab, merekrut peserta, dan moderator. Sehingga sebelum melakukannya, </a:t>
            </a:r>
            <a:r>
              <a:rPr b="1" lang="en" sz="1000">
                <a:solidFill>
                  <a:schemeClr val="dk1"/>
                </a:solidFill>
                <a:latin typeface="Montserrat"/>
                <a:ea typeface="Montserrat"/>
                <a:cs typeface="Montserrat"/>
                <a:sym typeface="Montserrat"/>
              </a:rPr>
              <a:t>penting untuk memastikan bahwa semua peserta pengujian mencerminkan basis pelanggan kamu yang sebenarnya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04" name="Google Shape;404;p57"/>
          <p:cNvPicPr preferRelativeResize="0"/>
          <p:nvPr/>
        </p:nvPicPr>
        <p:blipFill>
          <a:blip r:embed="rId3">
            <a:alphaModFix/>
          </a:blip>
          <a:stretch>
            <a:fillRect/>
          </a:stretch>
        </p:blipFill>
        <p:spPr>
          <a:xfrm>
            <a:off x="4724400" y="1457250"/>
            <a:ext cx="4140524" cy="238794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11" name="Google Shape;411;p58"/>
          <p:cNvSpPr txBox="1"/>
          <p:nvPr/>
        </p:nvSpPr>
        <p:spPr>
          <a:xfrm>
            <a:off x="685800" y="1953150"/>
            <a:ext cx="3951300" cy="1237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A/B Testing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A/B adalah metode di mana peserta diminta untuk</a:t>
            </a:r>
            <a:r>
              <a:rPr b="1" lang="en" sz="1000">
                <a:solidFill>
                  <a:schemeClr val="dk1"/>
                </a:solidFill>
                <a:latin typeface="Montserrat"/>
                <a:ea typeface="Montserrat"/>
                <a:cs typeface="Montserrat"/>
                <a:sym typeface="Montserrat"/>
              </a:rPr>
              <a:t> membandingkan dua versi bagian sebuah situs web atau aplikasi</a:t>
            </a:r>
            <a:r>
              <a:rPr lang="en" sz="1000">
                <a:solidFill>
                  <a:schemeClr val="dk1"/>
                </a:solidFill>
                <a:latin typeface="Montserrat"/>
                <a:ea typeface="Montserrat"/>
                <a:cs typeface="Montserrat"/>
                <a:sym typeface="Montserrat"/>
              </a:rPr>
              <a:t>. Hasil pengujian dapat membantu menentukan versi mana yang berperforma lebih baik. </a:t>
            </a:r>
            <a:endParaRPr sz="1000">
              <a:solidFill>
                <a:schemeClr val="dk1"/>
              </a:solidFill>
              <a:latin typeface="Montserrat"/>
              <a:ea typeface="Montserrat"/>
              <a:cs typeface="Montserrat"/>
              <a:sym typeface="Montserrat"/>
            </a:endParaRPr>
          </a:p>
        </p:txBody>
      </p:sp>
      <p:pic>
        <p:nvPicPr>
          <p:cNvPr id="412" name="Google Shape;412;p58"/>
          <p:cNvPicPr preferRelativeResize="0"/>
          <p:nvPr/>
        </p:nvPicPr>
        <p:blipFill>
          <a:blip r:embed="rId3">
            <a:alphaModFix/>
          </a:blip>
          <a:stretch>
            <a:fillRect/>
          </a:stretch>
        </p:blipFill>
        <p:spPr>
          <a:xfrm>
            <a:off x="5141825" y="914400"/>
            <a:ext cx="3042284" cy="38862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19" name="Google Shape;419;p59"/>
          <p:cNvSpPr txBox="1"/>
          <p:nvPr/>
        </p:nvSpPr>
        <p:spPr>
          <a:xfrm>
            <a:off x="685800" y="2211900"/>
            <a:ext cx="3951300" cy="71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ini memungkinkan kita untuk membuat perubahan yang cermat pada pengalaman pengguna, membangun hipotesis, dan mempelajari mengapa elemen tertentu dari desain mempengaruhi perilaku pengguna.</a:t>
            </a:r>
            <a:endParaRPr sz="1000">
              <a:solidFill>
                <a:schemeClr val="dk1"/>
              </a:solidFill>
              <a:latin typeface="Montserrat"/>
              <a:ea typeface="Montserrat"/>
              <a:cs typeface="Montserrat"/>
              <a:sym typeface="Montserrat"/>
            </a:endParaRPr>
          </a:p>
        </p:txBody>
      </p:sp>
      <p:pic>
        <p:nvPicPr>
          <p:cNvPr id="420" name="Google Shape;420;p59"/>
          <p:cNvPicPr preferRelativeResize="0"/>
          <p:nvPr/>
        </p:nvPicPr>
        <p:blipFill>
          <a:blip r:embed="rId3">
            <a:alphaModFix/>
          </a:blip>
          <a:stretch>
            <a:fillRect/>
          </a:stretch>
        </p:blipFill>
        <p:spPr>
          <a:xfrm>
            <a:off x="5141825" y="914400"/>
            <a:ext cx="3042284" cy="388620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27" name="Google Shape;427;p60"/>
          <p:cNvSpPr txBox="1"/>
          <p:nvPr/>
        </p:nvSpPr>
        <p:spPr>
          <a:xfrm>
            <a:off x="685800" y="1737148"/>
            <a:ext cx="4114800" cy="166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Kapan </a:t>
            </a:r>
            <a:r>
              <a:rPr b="1" lang="en" sz="1200">
                <a:solidFill>
                  <a:srgbClr val="F2AB2F"/>
                </a:solidFill>
                <a:latin typeface="Montserrat"/>
                <a:ea typeface="Montserrat"/>
                <a:cs typeface="Montserrat"/>
                <a:sym typeface="Montserrat"/>
              </a:rPr>
              <a:t>A/B</a:t>
            </a:r>
            <a:r>
              <a:rPr b="1" lang="en" sz="1200">
                <a:solidFill>
                  <a:srgbClr val="F2AB2F"/>
                </a:solidFill>
                <a:latin typeface="Montserrat"/>
                <a:ea typeface="Montserrat"/>
                <a:cs typeface="Montserrat"/>
                <a:sym typeface="Montserrat"/>
              </a:rPr>
              <a:t> testing dilakukan?</a:t>
            </a:r>
            <a:endParaRPr b="1" sz="1800">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A/B dilakukan ketika kamu perlu membandingkan dua atau lebih variasi dari desain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mendalami lebih lanjut terkait pelaksanaan A/B testing, mari kita baca artikel berikut:</a:t>
            </a:r>
            <a:br>
              <a:rPr lang="en" sz="1000">
                <a:solidFill>
                  <a:schemeClr val="dk1"/>
                </a:solidFill>
                <a:latin typeface="Montserrat Medium"/>
                <a:ea typeface="Montserrat Medium"/>
                <a:cs typeface="Montserrat Medium"/>
                <a:sym typeface="Montserrat Medium"/>
              </a:rPr>
            </a:br>
            <a:br>
              <a:rPr lang="en" sz="1000" u="sng">
                <a:solidFill>
                  <a:schemeClr val="hlink"/>
                </a:solidFill>
                <a:latin typeface="Montserrat Medium"/>
                <a:ea typeface="Montserrat Medium"/>
                <a:cs typeface="Montserrat Medium"/>
                <a:sym typeface="Montserrat Medium"/>
                <a:hlinkClick r:id="rId3"/>
              </a:rPr>
            </a:b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A Refresher on A/B Testing dari Harvard Business Review</a:t>
            </a:r>
            <a:br>
              <a:rPr lang="en" sz="1000">
                <a:solidFill>
                  <a:schemeClr val="dk1"/>
                </a:solidFill>
                <a:latin typeface="Montserrat Medium"/>
                <a:ea typeface="Montserrat Medium"/>
                <a:cs typeface="Montserrat Medium"/>
                <a:sym typeface="Montserrat Medium"/>
              </a:rPr>
            </a:br>
            <a:br>
              <a:rPr lang="en" sz="1200">
                <a:solidFill>
                  <a:schemeClr val="dk1"/>
                </a:solidFill>
                <a:latin typeface="Montserrat Medium"/>
                <a:ea typeface="Montserrat Medium"/>
                <a:cs typeface="Montserrat Medium"/>
                <a:sym typeface="Montserrat Medium"/>
              </a:rPr>
            </a:br>
            <a:endParaRPr sz="1200">
              <a:solidFill>
                <a:schemeClr val="dk1"/>
              </a:solidFill>
              <a:latin typeface="Montserrat Medium"/>
              <a:ea typeface="Montserrat Medium"/>
              <a:cs typeface="Montserrat Medium"/>
              <a:sym typeface="Montserrat Medium"/>
            </a:endParaRPr>
          </a:p>
        </p:txBody>
      </p:sp>
      <p:pic>
        <p:nvPicPr>
          <p:cNvPr id="428" name="Google Shape;428;p60"/>
          <p:cNvPicPr preferRelativeResize="0"/>
          <p:nvPr/>
        </p:nvPicPr>
        <p:blipFill>
          <a:blip r:embed="rId5">
            <a:alphaModFix/>
          </a:blip>
          <a:stretch>
            <a:fillRect/>
          </a:stretch>
        </p:blipFill>
        <p:spPr>
          <a:xfrm>
            <a:off x="5305367" y="914400"/>
            <a:ext cx="2910008" cy="3886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61">
            <a:hlinkClick r:id="rId3"/>
          </p:cNvPr>
          <p:cNvPicPr preferRelativeResize="0"/>
          <p:nvPr/>
        </p:nvPicPr>
        <p:blipFill rotWithShape="1">
          <a:blip r:embed="rId4">
            <a:alphaModFix/>
          </a:blip>
          <a:srcRect b="0" l="1493" r="1503" t="0"/>
          <a:stretch/>
        </p:blipFill>
        <p:spPr>
          <a:xfrm>
            <a:off x="5486400" y="1207587"/>
            <a:ext cx="3017515" cy="2743197"/>
          </a:xfrm>
          <a:prstGeom prst="rect">
            <a:avLst/>
          </a:prstGeom>
          <a:noFill/>
          <a:ln>
            <a:noFill/>
          </a:ln>
        </p:spPr>
      </p:pic>
      <p:sp>
        <p:nvSpPr>
          <p:cNvPr id="434" name="Google Shape;434;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5" name="Google Shape;435;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36" name="Google Shape;436;p61"/>
          <p:cNvSpPr txBox="1"/>
          <p:nvPr/>
        </p:nvSpPr>
        <p:spPr>
          <a:xfrm>
            <a:off x="685800" y="2049450"/>
            <a:ext cx="4114800" cy="104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Heat Mapping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kamu sedang mendesain sebuah situs web dan ingin </a:t>
            </a:r>
            <a:r>
              <a:rPr b="1" lang="en" sz="1000">
                <a:solidFill>
                  <a:schemeClr val="dk1"/>
                </a:solidFill>
                <a:latin typeface="Montserrat"/>
                <a:ea typeface="Montserrat"/>
                <a:cs typeface="Montserrat"/>
                <a:sym typeface="Montserrat"/>
              </a:rPr>
              <a:t>mengetahui area mana yang paling menarik perhatian pengguna</a:t>
            </a:r>
            <a:r>
              <a:rPr lang="en" sz="1000">
                <a:solidFill>
                  <a:schemeClr val="dk1"/>
                </a:solidFill>
                <a:latin typeface="Montserrat"/>
                <a:ea typeface="Montserrat"/>
                <a:cs typeface="Montserrat"/>
                <a:sym typeface="Montserrat"/>
              </a:rPr>
              <a:t>, heat maps menjadi pilihan tepat untuk digunakan.</a:t>
            </a:r>
            <a:endParaRPr sz="1000">
              <a:solidFill>
                <a:schemeClr val="dk1"/>
              </a:solidFill>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62">
            <a:hlinkClick r:id="rId3"/>
          </p:cNvPr>
          <p:cNvPicPr preferRelativeResize="0"/>
          <p:nvPr/>
        </p:nvPicPr>
        <p:blipFill rotWithShape="1">
          <a:blip r:embed="rId4">
            <a:alphaModFix/>
          </a:blip>
          <a:srcRect b="0" l="1493" r="1503" t="0"/>
          <a:stretch/>
        </p:blipFill>
        <p:spPr>
          <a:xfrm>
            <a:off x="5486400" y="1207587"/>
            <a:ext cx="3017515" cy="2743197"/>
          </a:xfrm>
          <a:prstGeom prst="rect">
            <a:avLst/>
          </a:prstGeom>
          <a:noFill/>
          <a:ln>
            <a:noFill/>
          </a:ln>
        </p:spPr>
      </p:pic>
      <p:sp>
        <p:nvSpPr>
          <p:cNvPr id="442" name="Google Shape;442;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3" name="Google Shape;443;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44" name="Google Shape;444;p62"/>
          <p:cNvSpPr txBox="1"/>
          <p:nvPr/>
        </p:nvSpPr>
        <p:spPr>
          <a:xfrm>
            <a:off x="685800" y="2075850"/>
            <a:ext cx="4114800" cy="991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Heat maps adalah perangkat lunak untuk melakukan analisis data yang menggunakan warna sebagai alat visualisasi data.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Analisis heat maps memberi gambaran visual tentang di mana pengunjung mengklik halaman, semakin banyak klik maka semakin cerah warna areanya. Hal itu disebut sebagai “hotspot”.</a:t>
            </a:r>
            <a:endParaRPr sz="1000">
              <a:solidFill>
                <a:schemeClr val="dk1"/>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51" name="Google Shape;451;p63"/>
          <p:cNvSpPr txBox="1"/>
          <p:nvPr/>
        </p:nvSpPr>
        <p:spPr>
          <a:xfrm>
            <a:off x="685800" y="1934699"/>
            <a:ext cx="4114800" cy="127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Kapan </a:t>
            </a:r>
            <a:r>
              <a:rPr b="1" lang="en" sz="1200">
                <a:solidFill>
                  <a:srgbClr val="F2AB2F"/>
                </a:solidFill>
                <a:latin typeface="Montserrat"/>
                <a:ea typeface="Montserrat"/>
                <a:cs typeface="Montserrat"/>
                <a:sym typeface="Montserrat"/>
              </a:rPr>
              <a:t>heat mapping</a:t>
            </a:r>
            <a:r>
              <a:rPr b="1" lang="en" sz="1200">
                <a:solidFill>
                  <a:srgbClr val="F2AB2F"/>
                </a:solidFill>
                <a:latin typeface="Montserrat"/>
                <a:ea typeface="Montserrat"/>
                <a:cs typeface="Montserrat"/>
                <a:sym typeface="Montserrat"/>
              </a:rPr>
              <a:t> dilakukan?</a:t>
            </a:r>
            <a:endParaRPr b="1" sz="1200">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ini bisa dilakukan ketika kamu memerlukan informasi bagian mana saja dari halaman buatanmu menarik pengguna.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Jangan sampai halaman tersebut malah menarik pengguna ke bagian yang tidak terlalu penting.</a:t>
            </a:r>
            <a:endParaRPr sz="1000">
              <a:solidFill>
                <a:schemeClr val="dk1"/>
              </a:solidFill>
              <a:latin typeface="Montserrat"/>
              <a:ea typeface="Montserrat"/>
              <a:cs typeface="Montserrat"/>
              <a:sym typeface="Montserrat"/>
            </a:endParaRPr>
          </a:p>
        </p:txBody>
      </p:sp>
      <p:pic>
        <p:nvPicPr>
          <p:cNvPr id="452" name="Google Shape;452;p63"/>
          <p:cNvPicPr preferRelativeResize="0"/>
          <p:nvPr/>
        </p:nvPicPr>
        <p:blipFill>
          <a:blip r:embed="rId3">
            <a:alphaModFix/>
          </a:blip>
          <a:stretch>
            <a:fillRect/>
          </a:stretch>
        </p:blipFill>
        <p:spPr>
          <a:xfrm>
            <a:off x="5305367" y="914400"/>
            <a:ext cx="2910008" cy="3886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8" name="Google Shape;458;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59" name="Google Shape;459;p64"/>
          <p:cNvSpPr txBox="1"/>
          <p:nvPr/>
        </p:nvSpPr>
        <p:spPr>
          <a:xfrm>
            <a:off x="685800" y="2124899"/>
            <a:ext cx="4114800" cy="89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mendalami lebih lanjut terkait pelaksanaan heat mapping, mari kita baca artikel berikut:</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What is a Heat Map, How to Create One, Examples and Case Studies</a:t>
            </a:r>
            <a:endParaRPr sz="1000">
              <a:solidFill>
                <a:schemeClr val="dk1"/>
              </a:solidFill>
              <a:latin typeface="Montserrat"/>
              <a:ea typeface="Montserrat"/>
              <a:cs typeface="Montserrat"/>
              <a:sym typeface="Montserrat"/>
            </a:endParaRPr>
          </a:p>
        </p:txBody>
      </p:sp>
      <p:pic>
        <p:nvPicPr>
          <p:cNvPr id="460" name="Google Shape;460;p64"/>
          <p:cNvPicPr preferRelativeResize="0"/>
          <p:nvPr/>
        </p:nvPicPr>
        <p:blipFill>
          <a:blip r:embed="rId4">
            <a:alphaModFix/>
          </a:blip>
          <a:stretch>
            <a:fillRect/>
          </a:stretch>
        </p:blipFill>
        <p:spPr>
          <a:xfrm>
            <a:off x="5305367" y="914400"/>
            <a:ext cx="2910008" cy="3886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67" name="Google Shape;467;p65"/>
          <p:cNvSpPr txBox="1"/>
          <p:nvPr/>
        </p:nvSpPr>
        <p:spPr>
          <a:xfrm>
            <a:off x="685800" y="1743150"/>
            <a:ext cx="3951300" cy="1657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Card Sorting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Penyortiran kartu adalah metode yang sangat efektif untuk membantu </a:t>
            </a:r>
            <a:r>
              <a:rPr b="1" lang="en" sz="1000">
                <a:solidFill>
                  <a:schemeClr val="dk1"/>
                </a:solidFill>
                <a:latin typeface="Montserrat"/>
                <a:ea typeface="Montserrat"/>
                <a:cs typeface="Montserrat"/>
                <a:sym typeface="Montserrat"/>
              </a:rPr>
              <a:t>memprioritaskan konten dan fitur pada antarmuka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Pelaksanaannya cukup sederhana. Kamu perlu menempatkan konsep (misalnya isi, fitur, dan sebagainya) pada kartu.</a:t>
            </a:r>
            <a:endParaRPr sz="1200">
              <a:solidFill>
                <a:schemeClr val="dk1"/>
              </a:solidFill>
              <a:latin typeface="Montserrat Medium"/>
              <a:ea typeface="Montserrat Medium"/>
              <a:cs typeface="Montserrat Medium"/>
              <a:sym typeface="Montserrat Medium"/>
            </a:endParaRPr>
          </a:p>
        </p:txBody>
      </p:sp>
      <p:pic>
        <p:nvPicPr>
          <p:cNvPr id="468" name="Google Shape;468;p65"/>
          <p:cNvPicPr preferRelativeResize="0"/>
          <p:nvPr/>
        </p:nvPicPr>
        <p:blipFill>
          <a:blip r:embed="rId3">
            <a:alphaModFix/>
          </a:blip>
          <a:stretch>
            <a:fillRect/>
          </a:stretch>
        </p:blipFill>
        <p:spPr>
          <a:xfrm>
            <a:off x="4724400" y="1285113"/>
            <a:ext cx="4038599" cy="314797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75" name="Google Shape;475;p66"/>
          <p:cNvSpPr txBox="1"/>
          <p:nvPr/>
        </p:nvSpPr>
        <p:spPr>
          <a:xfrm>
            <a:off x="685800" y="2059950"/>
            <a:ext cx="3951300" cy="1023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Kemudian, mintalah peserta untuk mencocokkan kartu ke dalam kelompok dan kategori.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memungkinkan, moderator bisa meminta peserta menjelaskan logika penyortiran setelah mereka selesai menyortir, agar kita lebih memahami alasan di baliknya.</a:t>
            </a:r>
            <a:endParaRPr sz="1200">
              <a:solidFill>
                <a:schemeClr val="dk1"/>
              </a:solidFill>
              <a:latin typeface="Montserrat Medium"/>
              <a:ea typeface="Montserrat Medium"/>
              <a:cs typeface="Montserrat Medium"/>
              <a:sym typeface="Montserrat Medium"/>
            </a:endParaRPr>
          </a:p>
        </p:txBody>
      </p:sp>
      <p:pic>
        <p:nvPicPr>
          <p:cNvPr id="476" name="Google Shape;476;p66"/>
          <p:cNvPicPr preferRelativeResize="0"/>
          <p:nvPr/>
        </p:nvPicPr>
        <p:blipFill>
          <a:blip r:embed="rId3">
            <a:alphaModFix/>
          </a:blip>
          <a:stretch>
            <a:fillRect/>
          </a:stretch>
        </p:blipFill>
        <p:spPr>
          <a:xfrm>
            <a:off x="4724400" y="1285113"/>
            <a:ext cx="4038599" cy="314797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2" name="Google Shape;482;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83" name="Google Shape;483;p67"/>
          <p:cNvSpPr txBox="1"/>
          <p:nvPr/>
        </p:nvSpPr>
        <p:spPr>
          <a:xfrm>
            <a:off x="685800" y="1758298"/>
            <a:ext cx="4114800" cy="1626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Kapan card sorting dilakukan?</a:t>
            </a:r>
            <a:endParaRPr b="1" sz="1800">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ini sangat dianjurkan ketika kamu ingin mengoptimalkan arsitektur informasi produk kamu sebelum membuat mock-up lo-fi atau wireframe.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Dengan mendapatkan feedback tentang struktur navigasi, kamu akan bisa membuat lebih banyak keputusan terkait arsitektur informasi produk kamu berdasarkan data.</a:t>
            </a:r>
            <a:endParaRPr sz="1000">
              <a:solidFill>
                <a:schemeClr val="dk1"/>
              </a:solidFill>
              <a:latin typeface="Montserrat"/>
              <a:ea typeface="Montserrat"/>
              <a:cs typeface="Montserrat"/>
              <a:sym typeface="Montserrat"/>
            </a:endParaRPr>
          </a:p>
        </p:txBody>
      </p:sp>
      <p:pic>
        <p:nvPicPr>
          <p:cNvPr id="484" name="Google Shape;484;p67"/>
          <p:cNvPicPr preferRelativeResize="0"/>
          <p:nvPr/>
        </p:nvPicPr>
        <p:blipFill>
          <a:blip r:embed="rId3">
            <a:alphaModFix/>
          </a:blip>
          <a:stretch>
            <a:fillRect/>
          </a:stretch>
        </p:blipFill>
        <p:spPr>
          <a:xfrm>
            <a:off x="5305367" y="914400"/>
            <a:ext cx="2910008" cy="38862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0" name="Google Shape;490;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91" name="Google Shape;491;p68"/>
          <p:cNvSpPr txBox="1"/>
          <p:nvPr/>
        </p:nvSpPr>
        <p:spPr>
          <a:xfrm>
            <a:off x="685800" y="1892550"/>
            <a:ext cx="4114800" cy="135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a:t>
            </a:r>
            <a:r>
              <a:rPr b="1" lang="en" sz="1600">
                <a:solidFill>
                  <a:srgbClr val="743673"/>
                </a:solidFill>
                <a:highlight>
                  <a:schemeClr val="lt1"/>
                </a:highlight>
                <a:latin typeface="Montserrat"/>
                <a:ea typeface="Montserrat"/>
                <a:cs typeface="Montserrat"/>
                <a:sym typeface="Montserrat"/>
              </a:rPr>
              <a:t>) Session Recording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Perekaman sesi adalah metode perekaman tindakan yang dilakukan pengguna saat mereka berinteraksi dengan situs web atau aplikasi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Terkadang, identitas pengguna disamarkan.</a:t>
            </a:r>
            <a:endParaRPr sz="1200">
              <a:solidFill>
                <a:schemeClr val="dk1"/>
              </a:solidFill>
              <a:latin typeface="Montserrat Medium"/>
              <a:ea typeface="Montserrat Medium"/>
              <a:cs typeface="Montserrat Medium"/>
              <a:sym typeface="Montserrat Medium"/>
            </a:endParaRPr>
          </a:p>
        </p:txBody>
      </p:sp>
      <p:pic>
        <p:nvPicPr>
          <p:cNvPr id="492" name="Google Shape;492;p68"/>
          <p:cNvPicPr preferRelativeResize="0"/>
          <p:nvPr/>
        </p:nvPicPr>
        <p:blipFill>
          <a:blip r:embed="rId3">
            <a:alphaModFix/>
          </a:blip>
          <a:stretch>
            <a:fillRect/>
          </a:stretch>
        </p:blipFill>
        <p:spPr>
          <a:xfrm>
            <a:off x="4775650" y="914400"/>
            <a:ext cx="3056977" cy="388619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499" name="Google Shape;499;p69"/>
          <p:cNvSpPr txBox="1"/>
          <p:nvPr/>
        </p:nvSpPr>
        <p:spPr>
          <a:xfrm>
            <a:off x="685800" y="2209349"/>
            <a:ext cx="4114800" cy="724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Data perekaman sesi membantu kamu </a:t>
            </a:r>
            <a:r>
              <a:rPr b="1" lang="en" sz="1000">
                <a:solidFill>
                  <a:schemeClr val="dk1"/>
                </a:solidFill>
                <a:latin typeface="Montserrat"/>
                <a:ea typeface="Montserrat"/>
                <a:cs typeface="Montserrat"/>
                <a:sym typeface="Montserrat"/>
              </a:rPr>
              <a:t>memahami konten atau fitur apa yang paling menarik bagi pengguna</a:t>
            </a:r>
            <a:r>
              <a:rPr lang="en" sz="1000">
                <a:solidFill>
                  <a:schemeClr val="dk1"/>
                </a:solidFill>
                <a:latin typeface="Montserrat"/>
                <a:ea typeface="Montserrat"/>
                <a:cs typeface="Montserrat"/>
                <a:sym typeface="Montserrat"/>
              </a:rPr>
              <a:t> (melalui analysis heat map), </a:t>
            </a:r>
            <a:r>
              <a:rPr b="1" lang="en" sz="1000">
                <a:solidFill>
                  <a:schemeClr val="dk1"/>
                </a:solidFill>
                <a:latin typeface="Montserrat"/>
                <a:ea typeface="Montserrat"/>
                <a:cs typeface="Montserrat"/>
                <a:sym typeface="Montserrat"/>
              </a:rPr>
              <a:t>serta masalah interaksi</a:t>
            </a:r>
            <a:r>
              <a:rPr lang="en" sz="1000">
                <a:solidFill>
                  <a:schemeClr val="dk1"/>
                </a:solidFill>
                <a:latin typeface="Montserrat"/>
                <a:ea typeface="Montserrat"/>
                <a:cs typeface="Montserrat"/>
                <a:sym typeface="Montserrat"/>
              </a:rPr>
              <a:t> apa yang dihadapi pengguna saat mereka berinteraksi dengan produk kamu.</a:t>
            </a:r>
            <a:endParaRPr sz="1200">
              <a:solidFill>
                <a:schemeClr val="dk1"/>
              </a:solidFill>
              <a:latin typeface="Montserrat Medium"/>
              <a:ea typeface="Montserrat Medium"/>
              <a:cs typeface="Montserrat Medium"/>
              <a:sym typeface="Montserrat Medium"/>
            </a:endParaRPr>
          </a:p>
        </p:txBody>
      </p:sp>
      <p:pic>
        <p:nvPicPr>
          <p:cNvPr id="500" name="Google Shape;500;p69"/>
          <p:cNvPicPr preferRelativeResize="0"/>
          <p:nvPr/>
        </p:nvPicPr>
        <p:blipFill>
          <a:blip r:embed="rId3">
            <a:alphaModFix/>
          </a:blip>
          <a:stretch>
            <a:fillRect/>
          </a:stretch>
        </p:blipFill>
        <p:spPr>
          <a:xfrm>
            <a:off x="4775650" y="914400"/>
            <a:ext cx="3056977" cy="388619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07" name="Google Shape;507;p70"/>
          <p:cNvSpPr txBox="1"/>
          <p:nvPr/>
        </p:nvSpPr>
        <p:spPr>
          <a:xfrm>
            <a:off x="685788" y="1663198"/>
            <a:ext cx="4114800" cy="181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rgbClr val="F2AB2F"/>
                </a:solidFill>
                <a:latin typeface="Montserrat"/>
                <a:ea typeface="Montserrat"/>
                <a:cs typeface="Montserrat"/>
                <a:sym typeface="Montserrat"/>
              </a:rPr>
              <a:t>Kapan session recording dilakukan?</a:t>
            </a:r>
            <a:endParaRPr b="1" sz="1800">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Perekaman sesi sangatlah membantu kalau kamu perlu </a:t>
            </a:r>
            <a:r>
              <a:rPr b="1" lang="en" sz="1000">
                <a:solidFill>
                  <a:schemeClr val="dk1"/>
                </a:solidFill>
                <a:latin typeface="Montserrat"/>
                <a:ea typeface="Montserrat"/>
                <a:cs typeface="Montserrat"/>
                <a:sym typeface="Montserrat"/>
              </a:rPr>
              <a:t>memahami masalah utama yang dihadapi pengguna saat berinteraksi dengan produkmu</a:t>
            </a:r>
            <a:r>
              <a:rPr lang="en" sz="1000">
                <a:solidFill>
                  <a:schemeClr val="dk1"/>
                </a:solidFill>
                <a:latin typeface="Montserrat"/>
                <a:ea typeface="Montserrat"/>
                <a:cs typeface="Montserrat"/>
                <a:sym typeface="Montserrat"/>
              </a:rPr>
              <a:t>.</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melakukan perekaman sesi, kamu perlu menggunakan alat khusus seperti HotJar. Perekaman sesi sangatlah efektif saat dijalankan bersama dengan jenis pengujian lainnya (contoh heat mapping).</a:t>
            </a:r>
            <a:endParaRPr sz="1000">
              <a:solidFill>
                <a:schemeClr val="dk1"/>
              </a:solidFill>
              <a:latin typeface="Montserrat"/>
              <a:ea typeface="Montserrat"/>
              <a:cs typeface="Montserrat"/>
              <a:sym typeface="Montserrat"/>
            </a:endParaRPr>
          </a:p>
        </p:txBody>
      </p:sp>
      <p:pic>
        <p:nvPicPr>
          <p:cNvPr id="508" name="Google Shape;508;p70"/>
          <p:cNvPicPr preferRelativeResize="0"/>
          <p:nvPr/>
        </p:nvPicPr>
        <p:blipFill>
          <a:blip r:embed="rId3">
            <a:alphaModFix/>
          </a:blip>
          <a:stretch>
            <a:fillRect/>
          </a:stretch>
        </p:blipFill>
        <p:spPr>
          <a:xfrm>
            <a:off x="5305367" y="914400"/>
            <a:ext cx="2910008" cy="38862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4" name="Google Shape;514;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15" name="Google Shape;515;p71"/>
          <p:cNvSpPr txBox="1"/>
          <p:nvPr/>
        </p:nvSpPr>
        <p:spPr>
          <a:xfrm>
            <a:off x="685800" y="2072100"/>
            <a:ext cx="4046700" cy="999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menganalisis hasil perekaman sesi, kamu bisa membentuk hipotesis tentang masalah apa yang dihadapi pengguna.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Seringkali, kamu perlu melakukan pengujian lain untuk memahami mengapa mereka menghadapi masalah tersebut.</a:t>
            </a:r>
            <a:endParaRPr sz="1000">
              <a:solidFill>
                <a:schemeClr val="dk1"/>
              </a:solidFill>
              <a:latin typeface="Montserrat"/>
              <a:ea typeface="Montserrat"/>
              <a:cs typeface="Montserrat"/>
              <a:sym typeface="Montserrat"/>
            </a:endParaRPr>
          </a:p>
        </p:txBody>
      </p:sp>
      <p:pic>
        <p:nvPicPr>
          <p:cNvPr id="516" name="Google Shape;516;p71"/>
          <p:cNvPicPr preferRelativeResize="0"/>
          <p:nvPr/>
        </p:nvPicPr>
        <p:blipFill>
          <a:blip r:embed="rId3">
            <a:alphaModFix/>
          </a:blip>
          <a:stretch>
            <a:fillRect/>
          </a:stretch>
        </p:blipFill>
        <p:spPr>
          <a:xfrm>
            <a:off x="4911020" y="914400"/>
            <a:ext cx="3054855" cy="38862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2" name="Google Shape;522;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23" name="Google Shape;523;p72"/>
          <p:cNvSpPr txBox="1"/>
          <p:nvPr/>
        </p:nvSpPr>
        <p:spPr>
          <a:xfrm>
            <a:off x="685800" y="1927197"/>
            <a:ext cx="4114800" cy="1289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7)</a:t>
            </a:r>
            <a:r>
              <a:rPr b="1" lang="en" sz="1600">
                <a:solidFill>
                  <a:srgbClr val="743673"/>
                </a:solidFill>
                <a:highlight>
                  <a:schemeClr val="lt1"/>
                </a:highlight>
                <a:latin typeface="Montserrat"/>
                <a:ea typeface="Montserrat"/>
                <a:cs typeface="Montserrat"/>
                <a:sym typeface="Montserrat"/>
              </a:rPr>
              <a:t> First Click Testing</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klik pertama adalah metode untuk mengukur kegunaan situs web, aplikasi, atau desain dengan mencari tahu </a:t>
            </a:r>
            <a:r>
              <a:rPr b="1" lang="en" sz="1000">
                <a:solidFill>
                  <a:schemeClr val="dk1"/>
                </a:solidFill>
                <a:latin typeface="Montserrat"/>
                <a:ea typeface="Montserrat"/>
                <a:cs typeface="Montserrat"/>
                <a:sym typeface="Montserrat"/>
              </a:rPr>
              <a:t>seberapa mudah pengguna menyelesaikan tugas yang diberikan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524" name="Google Shape;524;p72"/>
          <p:cNvPicPr preferRelativeResize="0"/>
          <p:nvPr/>
        </p:nvPicPr>
        <p:blipFill>
          <a:blip r:embed="rId3">
            <a:alphaModFix/>
          </a:blip>
          <a:stretch>
            <a:fillRect/>
          </a:stretch>
        </p:blipFill>
        <p:spPr>
          <a:xfrm>
            <a:off x="4978525" y="914388"/>
            <a:ext cx="3638082" cy="384061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31" name="Google Shape;531;p73"/>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pengujian klik pertama, peserta diberi sebuah tugas, misalnya, "Di mana Anda akan mengklik untuk membeli produk ini?" Kemudian diperlihatkan gambar antarmuka, di mana mereka perlu mengklik untuk menyelesaikan tugas.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Posisi klik mereka dicatat, bersama dengan berapa lama mereka mengklik. </a:t>
            </a:r>
            <a:endParaRPr sz="1000">
              <a:solidFill>
                <a:schemeClr val="dk1"/>
              </a:solidFill>
              <a:latin typeface="Montserrat"/>
              <a:ea typeface="Montserrat"/>
              <a:cs typeface="Montserrat"/>
              <a:sym typeface="Montserrat"/>
            </a:endParaRPr>
          </a:p>
        </p:txBody>
      </p:sp>
      <p:pic>
        <p:nvPicPr>
          <p:cNvPr id="532" name="Google Shape;532;p73"/>
          <p:cNvPicPr preferRelativeResize="0"/>
          <p:nvPr/>
        </p:nvPicPr>
        <p:blipFill>
          <a:blip r:embed="rId3">
            <a:alphaModFix/>
          </a:blip>
          <a:stretch>
            <a:fillRect/>
          </a:stretch>
        </p:blipFill>
        <p:spPr>
          <a:xfrm>
            <a:off x="4978525" y="914388"/>
            <a:ext cx="3638082" cy="384061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8" name="Google Shape;538;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39" name="Google Shape;539;p74"/>
          <p:cNvSpPr txBox="1"/>
          <p:nvPr/>
        </p:nvSpPr>
        <p:spPr>
          <a:xfrm>
            <a:off x="685800" y="1972050"/>
            <a:ext cx="3951300" cy="1199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Feedback l</a:t>
            </a:r>
            <a:r>
              <a:rPr lang="en" sz="1000">
                <a:solidFill>
                  <a:schemeClr val="dk1"/>
                </a:solidFill>
                <a:latin typeface="Montserrat"/>
                <a:ea typeface="Montserrat"/>
                <a:cs typeface="Montserrat"/>
                <a:sym typeface="Montserrat"/>
              </a:rPr>
              <a:t>ebih lanjut dapat dikumpulkan pada akhir tes dengan meminta pengguna untuk menjelaskan mengapa mereka mengklik di area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klik pertama dapat dijalankan menggunakan sebuah sketsa, gambar rangka, mock-up atau prototipe yang </a:t>
            </a:r>
            <a:r>
              <a:rPr lang="en" sz="1000">
                <a:solidFill>
                  <a:schemeClr val="dk1"/>
                </a:solidFill>
                <a:latin typeface="Montserrat"/>
                <a:ea typeface="Montserrat"/>
                <a:cs typeface="Montserrat"/>
                <a:sym typeface="Montserrat"/>
              </a:rPr>
              <a:t>detail.</a:t>
            </a:r>
            <a:endParaRPr sz="1000">
              <a:solidFill>
                <a:schemeClr val="dk1"/>
              </a:solidFill>
              <a:latin typeface="Montserrat"/>
              <a:ea typeface="Montserrat"/>
              <a:cs typeface="Montserrat"/>
              <a:sym typeface="Montserrat"/>
            </a:endParaRPr>
          </a:p>
        </p:txBody>
      </p:sp>
      <p:pic>
        <p:nvPicPr>
          <p:cNvPr id="540" name="Google Shape;540;p74"/>
          <p:cNvPicPr preferRelativeResize="0"/>
          <p:nvPr/>
        </p:nvPicPr>
        <p:blipFill>
          <a:blip r:embed="rId3">
            <a:alphaModFix/>
          </a:blip>
          <a:stretch>
            <a:fillRect/>
          </a:stretch>
        </p:blipFill>
        <p:spPr>
          <a:xfrm>
            <a:off x="4724400" y="1327288"/>
            <a:ext cx="4038600" cy="286910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47" name="Google Shape;547;p75"/>
          <p:cNvSpPr txBox="1"/>
          <p:nvPr/>
        </p:nvSpPr>
        <p:spPr>
          <a:xfrm>
            <a:off x="685800" y="2283600"/>
            <a:ext cx="3951300" cy="576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 dari itu, pengujian ini sering dilakukan untuk menguji pada tahap awal dalam proses desain, dan hasilnya dijadikan acuan atas arah desain lanjutan.</a:t>
            </a:r>
            <a:endParaRPr sz="1000">
              <a:solidFill>
                <a:schemeClr val="dk1"/>
              </a:solidFill>
              <a:latin typeface="Montserrat"/>
              <a:ea typeface="Montserrat"/>
              <a:cs typeface="Montserrat"/>
              <a:sym typeface="Montserrat"/>
            </a:endParaRPr>
          </a:p>
        </p:txBody>
      </p:sp>
      <p:pic>
        <p:nvPicPr>
          <p:cNvPr id="548" name="Google Shape;548;p75"/>
          <p:cNvPicPr preferRelativeResize="0"/>
          <p:nvPr/>
        </p:nvPicPr>
        <p:blipFill>
          <a:blip r:embed="rId3">
            <a:alphaModFix/>
          </a:blip>
          <a:stretch>
            <a:fillRect/>
          </a:stretch>
        </p:blipFill>
        <p:spPr>
          <a:xfrm>
            <a:off x="4724400" y="1327288"/>
            <a:ext cx="4038600" cy="2869109"/>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p76">
            <a:hlinkClick r:id="rId3"/>
          </p:cNvPr>
          <p:cNvPicPr preferRelativeResize="0"/>
          <p:nvPr/>
        </p:nvPicPr>
        <p:blipFill rotWithShape="1">
          <a:blip r:embed="rId4">
            <a:alphaModFix/>
          </a:blip>
          <a:srcRect b="0" l="-1854" r="-1761" t="0"/>
          <a:stretch/>
        </p:blipFill>
        <p:spPr>
          <a:xfrm>
            <a:off x="5132600" y="1370988"/>
            <a:ext cx="3484000" cy="2401524"/>
          </a:xfrm>
          <a:prstGeom prst="rect">
            <a:avLst/>
          </a:prstGeom>
          <a:noFill/>
          <a:ln>
            <a:noFill/>
          </a:ln>
        </p:spPr>
      </p:pic>
      <p:sp>
        <p:nvSpPr>
          <p:cNvPr id="554" name="Google Shape;554;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5" name="Google Shape;555;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56" name="Google Shape;556;p76"/>
          <p:cNvSpPr txBox="1"/>
          <p:nvPr/>
        </p:nvSpPr>
        <p:spPr>
          <a:xfrm>
            <a:off x="685800" y="1700098"/>
            <a:ext cx="4114800" cy="1743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8</a:t>
            </a:r>
            <a:r>
              <a:rPr b="1" lang="en" sz="1600">
                <a:solidFill>
                  <a:srgbClr val="743673"/>
                </a:solidFill>
                <a:highlight>
                  <a:schemeClr val="lt1"/>
                </a:highlight>
                <a:latin typeface="Montserrat"/>
                <a:ea typeface="Montserrat"/>
                <a:cs typeface="Montserrat"/>
                <a:sym typeface="Montserrat"/>
              </a:rPr>
              <a:t>) Tree Testing</a:t>
            </a:r>
            <a:br>
              <a:rPr b="1" lang="en" sz="1800">
                <a:solidFill>
                  <a:srgbClr val="743673"/>
                </a:solidFill>
                <a:highlight>
                  <a:schemeClr val="lt1"/>
                </a:highlight>
                <a:latin typeface="Montserrat"/>
                <a:ea typeface="Montserrat"/>
                <a:cs typeface="Montserrat"/>
                <a:sym typeface="Montserrat"/>
              </a:rPr>
            </a:b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Tree testing adalah metode penelitian UX yang memungkinkan kamu </a:t>
            </a:r>
            <a:r>
              <a:rPr b="1" lang="en" sz="1000">
                <a:solidFill>
                  <a:schemeClr val="dk1"/>
                </a:solidFill>
                <a:latin typeface="Montserrat"/>
                <a:ea typeface="Montserrat"/>
                <a:cs typeface="Montserrat"/>
                <a:sym typeface="Montserrat"/>
              </a:rPr>
              <a:t>mengevaluasi hierarki dan kemampuan pengguna menemukan topik</a:t>
            </a:r>
            <a:r>
              <a:rPr lang="en" sz="1000">
                <a:solidFill>
                  <a:schemeClr val="dk1"/>
                </a:solidFill>
                <a:latin typeface="Montserrat"/>
                <a:ea typeface="Montserrat"/>
                <a:cs typeface="Montserrat"/>
                <a:sym typeface="Montserrat"/>
              </a:rPr>
              <a:t> pada situs web atau aplikasi kamu.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Dalam pengujian ini, peserta disajikan hanya sebuah versi teks dari hierarki situs kamu dan diminta untuk menyelesaikan serangkaian tugas.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2" name="Google Shape;562;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63" name="Google Shape;563;p77"/>
          <p:cNvSpPr txBox="1"/>
          <p:nvPr/>
        </p:nvSpPr>
        <p:spPr>
          <a:xfrm>
            <a:off x="685800" y="1938449"/>
            <a:ext cx="4114800" cy="126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9</a:t>
            </a:r>
            <a:r>
              <a:rPr b="1" lang="en" sz="1600">
                <a:solidFill>
                  <a:srgbClr val="743673"/>
                </a:solidFill>
                <a:highlight>
                  <a:schemeClr val="lt1"/>
                </a:highlight>
                <a:latin typeface="Montserrat"/>
                <a:ea typeface="Montserrat"/>
                <a:cs typeface="Montserrat"/>
                <a:sym typeface="Montserrat"/>
              </a:rPr>
              <a:t>) Eye Tracking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Pelacakan mata adalah proses mengukur titik pandang atau gerakan mata relatif terhadap kepala.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alatnya disebut Eye Tracker, karena bisa mengukur posisi dan pergerakan mata.</a:t>
            </a:r>
            <a:endParaRPr sz="1000">
              <a:solidFill>
                <a:schemeClr val="dk1"/>
              </a:solidFill>
              <a:latin typeface="Montserrat"/>
              <a:ea typeface="Montserrat"/>
              <a:cs typeface="Montserrat"/>
              <a:sym typeface="Montserrat"/>
            </a:endParaRPr>
          </a:p>
        </p:txBody>
      </p:sp>
      <p:pic>
        <p:nvPicPr>
          <p:cNvPr id="564" name="Google Shape;564;p77"/>
          <p:cNvPicPr preferRelativeResize="0"/>
          <p:nvPr/>
        </p:nvPicPr>
        <p:blipFill>
          <a:blip r:embed="rId3">
            <a:alphaModFix/>
          </a:blip>
          <a:stretch>
            <a:fillRect/>
          </a:stretch>
        </p:blipFill>
        <p:spPr>
          <a:xfrm>
            <a:off x="5409225" y="914400"/>
            <a:ext cx="2171011" cy="3886198"/>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0" name="Google Shape;570;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latin typeface="Montserrat"/>
              <a:ea typeface="Montserrat"/>
              <a:cs typeface="Montserrat"/>
              <a:sym typeface="Montserrat"/>
            </a:endParaRPr>
          </a:p>
        </p:txBody>
      </p:sp>
      <p:sp>
        <p:nvSpPr>
          <p:cNvPr id="571" name="Google Shape;571;p78"/>
          <p:cNvSpPr txBox="1"/>
          <p:nvPr/>
        </p:nvSpPr>
        <p:spPr>
          <a:xfrm>
            <a:off x="685800" y="2038799"/>
            <a:ext cx="4114800" cy="1065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Pelacakan mata memberi desainer feedback tentang fokus mata dan pola navigasi pengguna terhadap elemen antarmuka apa saja yang terlihat serta menarik perhatian.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ini secara efektif juga mengevaluasi hirarki desain dan konten.</a:t>
            </a:r>
            <a:endParaRPr sz="1000">
              <a:solidFill>
                <a:schemeClr val="dk1"/>
              </a:solidFill>
              <a:latin typeface="Montserrat"/>
              <a:ea typeface="Montserrat"/>
              <a:cs typeface="Montserrat"/>
              <a:sym typeface="Montserrat"/>
            </a:endParaRPr>
          </a:p>
        </p:txBody>
      </p:sp>
      <p:pic>
        <p:nvPicPr>
          <p:cNvPr id="572" name="Google Shape;572;p78"/>
          <p:cNvPicPr preferRelativeResize="0"/>
          <p:nvPr/>
        </p:nvPicPr>
        <p:blipFill>
          <a:blip r:embed="rId3">
            <a:alphaModFix/>
          </a:blip>
          <a:stretch>
            <a:fillRect/>
          </a:stretch>
        </p:blipFill>
        <p:spPr>
          <a:xfrm>
            <a:off x="5409225" y="914400"/>
            <a:ext cx="2171011" cy="388619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8" name="Google Shape;578;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p>
        </p:txBody>
      </p:sp>
      <p:sp>
        <p:nvSpPr>
          <p:cNvPr id="579" name="Google Shape;579;p79"/>
          <p:cNvSpPr txBox="1"/>
          <p:nvPr/>
        </p:nvSpPr>
        <p:spPr>
          <a:xfrm>
            <a:off x="685800" y="1986000"/>
            <a:ext cx="3951300" cy="117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10</a:t>
            </a:r>
            <a:r>
              <a:rPr b="1" lang="en" sz="1600">
                <a:solidFill>
                  <a:srgbClr val="743673"/>
                </a:solidFill>
                <a:highlight>
                  <a:schemeClr val="lt1"/>
                </a:highlight>
                <a:latin typeface="Montserrat"/>
                <a:ea typeface="Montserrat"/>
                <a:cs typeface="Montserrat"/>
                <a:sym typeface="Montserrat"/>
              </a:rPr>
              <a:t>) Phone atau Remote Interview</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Pengujian ini dilakukan secara </a:t>
            </a:r>
            <a:r>
              <a:rPr b="1" lang="en" sz="1000">
                <a:solidFill>
                  <a:schemeClr val="dk1"/>
                </a:solidFill>
                <a:latin typeface="Montserrat"/>
                <a:ea typeface="Montserrat"/>
                <a:cs typeface="Montserrat"/>
                <a:sym typeface="Montserrat"/>
              </a:rPr>
              <a:t>jarak jauh</a:t>
            </a:r>
            <a:r>
              <a:rPr lang="en" sz="1000">
                <a:solidFill>
                  <a:schemeClr val="dk1"/>
                </a:solidFill>
                <a:latin typeface="Montserrat"/>
                <a:ea typeface="Montserrat"/>
                <a:cs typeface="Montserrat"/>
                <a:sym typeface="Montserrat"/>
              </a:rPr>
              <a:t>, di mana moderator secara lisan menginstruksikan peserta untuk menyelesaikan tugas di perangkat mereka, interaksi pengguna direkam, dan feedback dikumpulkan secara otomatis.</a:t>
            </a:r>
            <a:endParaRPr sz="1000">
              <a:solidFill>
                <a:schemeClr val="dk1"/>
              </a:solidFill>
              <a:latin typeface="Montserrat"/>
              <a:ea typeface="Montserrat"/>
              <a:cs typeface="Montserrat"/>
              <a:sym typeface="Montserrat"/>
            </a:endParaRPr>
          </a:p>
        </p:txBody>
      </p:sp>
      <p:pic>
        <p:nvPicPr>
          <p:cNvPr id="580" name="Google Shape;580;p79"/>
          <p:cNvPicPr preferRelativeResize="0"/>
          <p:nvPr/>
        </p:nvPicPr>
        <p:blipFill>
          <a:blip r:embed="rId3">
            <a:alphaModFix/>
          </a:blip>
          <a:stretch>
            <a:fillRect/>
          </a:stretch>
        </p:blipFill>
        <p:spPr>
          <a:xfrm>
            <a:off x="4837075" y="914401"/>
            <a:ext cx="3779525" cy="390131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6" name="Google Shape;586;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p>
        </p:txBody>
      </p:sp>
      <p:sp>
        <p:nvSpPr>
          <p:cNvPr id="587" name="Google Shape;587;p80"/>
          <p:cNvSpPr txBox="1"/>
          <p:nvPr/>
        </p:nvSpPr>
        <p:spPr>
          <a:xfrm>
            <a:off x="685800" y="2149650"/>
            <a:ext cx="3951300" cy="84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Wawancara remote terbilang efektif untuk mengatasi jarak ketika sasaran peserta tes tersebar di berbagai belahan dunia.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Syaratnya, kita memerlukan moderator terlatih yang cakap dalam berkomunikasi.</a:t>
            </a:r>
            <a:endParaRPr sz="1000">
              <a:solidFill>
                <a:schemeClr val="dk1"/>
              </a:solidFill>
              <a:latin typeface="Montserrat"/>
              <a:ea typeface="Montserrat"/>
              <a:cs typeface="Montserrat"/>
              <a:sym typeface="Montserrat"/>
            </a:endParaRPr>
          </a:p>
        </p:txBody>
      </p:sp>
      <p:pic>
        <p:nvPicPr>
          <p:cNvPr id="588" name="Google Shape;588;p80"/>
          <p:cNvPicPr preferRelativeResize="0"/>
          <p:nvPr/>
        </p:nvPicPr>
        <p:blipFill>
          <a:blip r:embed="rId3">
            <a:alphaModFix/>
          </a:blip>
          <a:stretch>
            <a:fillRect/>
          </a:stretch>
        </p:blipFill>
        <p:spPr>
          <a:xfrm>
            <a:off x="4837075" y="914401"/>
            <a:ext cx="3779525" cy="390131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4" name="Google Shape;594;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Metode-metode testing</a:t>
            </a:r>
            <a:endParaRPr/>
          </a:p>
        </p:txBody>
      </p:sp>
      <p:sp>
        <p:nvSpPr>
          <p:cNvPr id="595" name="Google Shape;595;p81"/>
          <p:cNvSpPr txBox="1"/>
          <p:nvPr/>
        </p:nvSpPr>
        <p:spPr>
          <a:xfrm>
            <a:off x="685800" y="1631548"/>
            <a:ext cx="4114800" cy="18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Belum nemu metode yang pas? Tenang aja, masih banyak kok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Makin banyak jam terbang kamu dalam dunia UI/UX, makin banyak metode riset yang akan kamu temukan.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a:t>
            </a:r>
            <a:r>
              <a:rPr lang="en" sz="1000">
                <a:solidFill>
                  <a:schemeClr val="dk1"/>
                </a:solidFill>
                <a:latin typeface="Montserrat"/>
                <a:ea typeface="Montserrat"/>
                <a:cs typeface="Montserrat"/>
                <a:sym typeface="Montserrat"/>
              </a:rPr>
              <a:t>menggabungkan</a:t>
            </a:r>
            <a:r>
              <a:rPr lang="en" sz="1000">
                <a:solidFill>
                  <a:schemeClr val="dk1"/>
                </a:solidFill>
                <a:latin typeface="Montserrat"/>
                <a:ea typeface="Montserrat"/>
                <a:cs typeface="Montserrat"/>
                <a:sym typeface="Montserrat"/>
              </a:rPr>
              <a:t> beberapa metode menjadi satu dan menemukan berbagai banyak cara untuk melakukan pengujian dengan cepat dan efektif.</a:t>
            </a:r>
            <a:endParaRPr sz="1000">
              <a:solidFill>
                <a:schemeClr val="dk1"/>
              </a:solidFill>
              <a:latin typeface="Montserrat"/>
              <a:ea typeface="Montserrat"/>
              <a:cs typeface="Montserrat"/>
              <a:sym typeface="Montserrat"/>
            </a:endParaRPr>
          </a:p>
        </p:txBody>
      </p:sp>
      <p:pic>
        <p:nvPicPr>
          <p:cNvPr id="596" name="Google Shape;596;p81"/>
          <p:cNvPicPr preferRelativeResize="0"/>
          <p:nvPr/>
        </p:nvPicPr>
        <p:blipFill>
          <a:blip r:embed="rId3">
            <a:alphaModFix/>
          </a:blip>
          <a:stretch>
            <a:fillRect/>
          </a:stretch>
        </p:blipFill>
        <p:spPr>
          <a:xfrm>
            <a:off x="5160400" y="914400"/>
            <a:ext cx="2861789" cy="38862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2" name="Google Shape;602;p82"/>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603" name="Google Shape;603;p82"/>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09" name="Google Shape;609;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Kapan proses testing dapat dilakukan?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Awal proses desain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Sepanjang kemajuan proyek</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Akhir proses desain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Bersamaan dengan pembuatan prototipe</a:t>
            </a:r>
            <a:endParaRPr sz="1200">
              <a:solidFill>
                <a:schemeClr val="lt1"/>
              </a:solidFill>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15" name="Google Shape;615;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Kapan proses testing dapat dilakukan?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Awal proses desain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Sepanjang kemajuan proyek</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Akhir proses desain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Bersamaan dengan pembuatan prototipe</a:t>
            </a:r>
            <a:endParaRPr sz="1200">
              <a:solidFill>
                <a:srgbClr val="A667A5"/>
              </a:solidFill>
              <a:latin typeface="Montserrat"/>
              <a:ea typeface="Montserrat"/>
              <a:cs typeface="Montserrat"/>
              <a:sym typeface="Montserrat"/>
            </a:endParaRPr>
          </a:p>
        </p:txBody>
      </p:sp>
      <p:sp>
        <p:nvSpPr>
          <p:cNvPr id="616" name="Google Shape;616;p84"/>
          <p:cNvSpPr/>
          <p:nvPr/>
        </p:nvSpPr>
        <p:spPr>
          <a:xfrm>
            <a:off x="685800" y="3186375"/>
            <a:ext cx="7772400" cy="706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Pengujian dapat dilakukan sepanjang kemajuan proyek, dan pada umumnya dilakukan bersamaan dengan proses prototyping atau setelahnya.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22" name="Google Shape;622;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Berikut adalah beberapa metode penelitian pengguna, kecuali… </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Wawancara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Focus Groups</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Pengujian kegunaan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Handoff</a:t>
            </a:r>
            <a:endParaRPr sz="1200">
              <a:solidFill>
                <a:schemeClr val="lt1"/>
              </a:solidFill>
              <a:latin typeface="Montserrat"/>
              <a:ea typeface="Montserrat"/>
              <a:cs typeface="Montserrat"/>
              <a:sym typeface="Montserrat"/>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28" name="Google Shape;628;p8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metode penelitian pengguna, kecuali… </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Wawancara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Focus Groups</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Pengujian kegunaan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Handoff</a:t>
            </a:r>
            <a:endParaRPr b="1" sz="1200">
              <a:solidFill>
                <a:schemeClr val="lt1"/>
              </a:solidFill>
              <a:latin typeface="Montserrat"/>
              <a:ea typeface="Montserrat"/>
              <a:cs typeface="Montserrat"/>
              <a:sym typeface="Montserrat"/>
            </a:endParaRPr>
          </a:p>
        </p:txBody>
      </p:sp>
      <p:sp>
        <p:nvSpPr>
          <p:cNvPr id="629" name="Google Shape;629;p86"/>
          <p:cNvSpPr/>
          <p:nvPr/>
        </p:nvSpPr>
        <p:spPr>
          <a:xfrm>
            <a:off x="685800" y="3186375"/>
            <a:ext cx="7772400" cy="8967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Saat desain yang dirancang oleh UX designer secara keseluruhan sudah selesai dan prototype telah diuji, biasanya desain akan diserahkan ke Developer untuk nantinya diimplementasikan ke dalam bahasa pemrograman. Proses inilah yang sering disebut dengan design handoff.</a:t>
            </a:r>
            <a:endParaRPr b="1" sz="1200">
              <a:solidFill>
                <a:srgbClr val="733572"/>
              </a:solidFill>
              <a:latin typeface="Montserrat"/>
              <a:ea typeface="Montserrat"/>
              <a:cs typeface="Montserrat"/>
              <a:sym typeface="Montserrat"/>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35" name="Google Shape;635;p8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Penelitian</a:t>
            </a:r>
            <a:r>
              <a:rPr b="1" lang="en" sz="1600">
                <a:solidFill>
                  <a:schemeClr val="lt1"/>
                </a:solidFill>
                <a:latin typeface="Montserrat"/>
                <a:ea typeface="Montserrat"/>
                <a:cs typeface="Montserrat"/>
                <a:sym typeface="Montserrat"/>
              </a:rPr>
              <a:t> pengguna sebenarnya termasuk salah satu metode pengujian pengguna. Pernyataan tersebut…</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Benar</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Salah</a:t>
            </a:r>
            <a:endParaRPr sz="1200">
              <a:solidFill>
                <a:schemeClr val="lt1"/>
              </a:solidFill>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41" name="Google Shape;641;p8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Penelitian pengguna sebenarnya termasuk salah satu metode pengujian pengguna. Pernyataan tersebut…</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Benar</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Salah</a:t>
            </a:r>
            <a:endParaRPr b="1" sz="1200">
              <a:solidFill>
                <a:schemeClr val="lt1"/>
              </a:solidFill>
              <a:latin typeface="Montserrat"/>
              <a:ea typeface="Montserrat"/>
              <a:cs typeface="Montserrat"/>
              <a:sym typeface="Montserrat"/>
            </a:endParaRPr>
          </a:p>
        </p:txBody>
      </p:sp>
      <p:sp>
        <p:nvSpPr>
          <p:cNvPr id="642" name="Google Shape;642;p88"/>
          <p:cNvSpPr/>
          <p:nvPr/>
        </p:nvSpPr>
        <p:spPr>
          <a:xfrm>
            <a:off x="685800" y="3110175"/>
            <a:ext cx="7772400" cy="719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Sebaliknya, pengujian pengguna sebenarnya termasuk salah satu metode penelitian pengguna.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48" name="Google Shape;648;p8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ciri-ciri guerilla testing,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Cepat</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Mudah</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Irit biaya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Kompleks</a:t>
            </a:r>
            <a:endParaRPr sz="1200">
              <a:solidFill>
                <a:schemeClr val="lt1"/>
              </a:solidFill>
              <a:latin typeface="Montserrat"/>
              <a:ea typeface="Montserrat"/>
              <a:cs typeface="Montserrat"/>
              <a:sym typeface="Montserrat"/>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54" name="Google Shape;654;p9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ciri-ciri guerilla testing,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Cepat</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Mudah</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Irit biaya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Kompleks</a:t>
            </a:r>
            <a:endParaRPr b="1" sz="1200">
              <a:solidFill>
                <a:schemeClr val="lt1"/>
              </a:solidFill>
              <a:latin typeface="Montserrat"/>
              <a:ea typeface="Montserrat"/>
              <a:cs typeface="Montserrat"/>
              <a:sym typeface="Montserrat"/>
            </a:endParaRPr>
          </a:p>
        </p:txBody>
      </p:sp>
      <p:sp>
        <p:nvSpPr>
          <p:cNvPr id="655" name="Google Shape;655;p90"/>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Guerilla testing adalah bentuk pengujian kegunaan yang paling sederhana.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61" name="Google Shape;661;p9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metode-metode testing yang paling cocok digunakan untuk memperbaiki arsitektur informasi,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Card sorting</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Tree Testing</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A/B Testing</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Eye Tracking</a:t>
            </a:r>
            <a:endParaRPr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67" name="Google Shape;667;p9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Berikut adalah metode-metode testing yang paling cocok digunakan untuk memperbaiki arsitektur informasi,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Card sorting</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Tree Testing</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A/B Testing</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Eye Tracking</a:t>
            </a:r>
            <a:endParaRPr sz="1200">
              <a:solidFill>
                <a:srgbClr val="A667A5"/>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668" name="Google Shape;668;p92"/>
          <p:cNvSpPr/>
          <p:nvPr/>
        </p:nvSpPr>
        <p:spPr>
          <a:xfrm>
            <a:off x="685800" y="3491175"/>
            <a:ext cx="7772400" cy="10779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A/B testing adalah metode yang cocok untuk membandingkan dua opsi, terkadang opsi tersebut membuat kita memperbaiki arsitektur informasi. Card sorting, tree testing dan eye tracking lebih cocok digunakan jika  tujuan utama kita adalah memperbaiki arsitektur informasi secara menyeluruh.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74" name="Google Shape;674;p9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Apa yang dimaksud dengan eye tracker… </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Alat untuk mengukur posisi kepala dan pergerakan mata.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Alat untuk mengukur posisi mata dan pergerakan mata. </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Alat untuk mengukur posisi mata dan pergerakan kepala. </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Alat untuk mengukur posisi kepala dan pergerakan kepala. </a:t>
            </a:r>
            <a:endParaRPr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680" name="Google Shape;680;p9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Apa yang dimaksud dengan eye tracker…</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Alat untuk mengukur posisi kepala dan pergerakan mata.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Alat untuk mengukur posisi mata dan pergerakan mata. </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Alat untuk mengukur posisi mata dan pergerakan kepala. </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Alat untuk mengukur posisi kepala dan pergerakan kepala. </a:t>
            </a:r>
            <a:endParaRPr sz="1200">
              <a:solidFill>
                <a:srgbClr val="A667A5"/>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681" name="Google Shape;681;p94"/>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Eye tracking adalah proses mengukur titik pandang atau gerakan mata relatif terhadap kepala. Eye tracker adalah alat untuk mengukur posisi mata dan pergerakan mata.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7" name="Google Shape;687;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688" name="Google Shape;688;p9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89" name="Google Shape;689;p95"/>
          <p:cNvSpPr txBox="1"/>
          <p:nvPr/>
        </p:nvSpPr>
        <p:spPr>
          <a:xfrm>
            <a:off x="685800" y="1097114"/>
            <a:ext cx="4114800" cy="200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1) </a:t>
            </a:r>
            <a:r>
              <a:rPr lang="en" sz="1000">
                <a:solidFill>
                  <a:schemeClr val="dk1"/>
                </a:solidFill>
                <a:uFill>
                  <a:noFill/>
                </a:uFill>
                <a:latin typeface="Montserrat Medium"/>
                <a:ea typeface="Montserrat Medium"/>
                <a:cs typeface="Montserrat Medium"/>
                <a:sym typeface="Montserrat Medium"/>
                <a:hlinkClick r:id="rId4">
                  <a:extLst>
                    <a:ext uri="{A12FA001-AC4F-418D-AE19-62706E023703}">
                      <ahyp:hlinkClr val="tx"/>
                    </a:ext>
                  </a:extLst>
                </a:hlinkClick>
              </a:rPr>
              <a:t>Design Thinking by Interaction Design Foundation</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2) </a:t>
            </a:r>
            <a:r>
              <a:rPr lang="en" sz="1000">
                <a:solidFill>
                  <a:schemeClr val="dk1"/>
                </a:solidFill>
                <a:uFill>
                  <a:noFill/>
                </a:uFill>
                <a:latin typeface="Montserrat Medium"/>
                <a:ea typeface="Montserrat Medium"/>
                <a:cs typeface="Montserrat Medium"/>
                <a:sym typeface="Montserrat Medium"/>
                <a:hlinkClick r:id="rId5">
                  <a:extLst>
                    <a:ext uri="{A12FA001-AC4F-418D-AE19-62706E023703}">
                      <ahyp:hlinkClr val="tx"/>
                    </a:ext>
                  </a:extLst>
                </a:hlinkClick>
              </a:rPr>
              <a:t>Why is UX testing so important and how do i get it right </a:t>
            </a:r>
            <a:br>
              <a:rPr lang="en" sz="1000">
                <a:solidFill>
                  <a:schemeClr val="dk1"/>
                </a:solidFill>
                <a:uFill>
                  <a:noFill/>
                </a:uFill>
                <a:latin typeface="Montserrat Medium"/>
                <a:ea typeface="Montserrat Medium"/>
                <a:cs typeface="Montserrat Medium"/>
                <a:sym typeface="Montserrat Medium"/>
                <a:hlinkClick r:id="rId6">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7">
                  <a:extLst>
                    <a:ext uri="{A12FA001-AC4F-418D-AE19-62706E023703}">
                      <ahyp:hlinkClr val="tx"/>
                    </a:ext>
                  </a:extLst>
                </a:hlinkClick>
              </a:rPr>
              <a:t>    by Trint.com</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3)</a:t>
            </a:r>
            <a:r>
              <a:rPr lang="en" sz="1000">
                <a:solidFill>
                  <a:schemeClr val="dk1"/>
                </a:solidFill>
                <a:uFill>
                  <a:noFill/>
                </a:uFill>
                <a:latin typeface="Montserrat Medium"/>
                <a:ea typeface="Montserrat Medium"/>
                <a:cs typeface="Montserrat Medium"/>
                <a:sym typeface="Montserrat Medium"/>
                <a:hlinkClick r:id="rId8">
                  <a:extLst>
                    <a:ext uri="{A12FA001-AC4F-418D-AE19-62706E023703}">
                      <ahyp:hlinkClr val="tx"/>
                    </a:ext>
                  </a:extLst>
                </a:hlinkClick>
              </a:rPr>
              <a:t> User research vs usability testing by Sarah Lee on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uFill>
                  <a:noFill/>
                </a:uFill>
                <a:latin typeface="Montserrat Medium"/>
                <a:ea typeface="Montserrat Medium"/>
                <a:cs typeface="Montserrat Medium"/>
                <a:sym typeface="Montserrat Medium"/>
                <a:hlinkClick r:id="rId9">
                  <a:extLst>
                    <a:ext uri="{A12FA001-AC4F-418D-AE19-62706E023703}">
                      <ahyp:hlinkClr val="tx"/>
                    </a:ext>
                  </a:extLst>
                </a:hlinkClick>
              </a:rPr>
              <a:t>    Medium </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4) </a:t>
            </a:r>
            <a:r>
              <a:rPr lang="en" sz="1000">
                <a:solidFill>
                  <a:schemeClr val="dk1"/>
                </a:solidFill>
                <a:uFill>
                  <a:noFill/>
                </a:uFill>
                <a:latin typeface="Montserrat Medium"/>
                <a:ea typeface="Montserrat Medium"/>
                <a:cs typeface="Montserrat Medium"/>
                <a:sym typeface="Montserrat Medium"/>
                <a:hlinkClick r:id="rId10">
                  <a:extLst>
                    <a:ext uri="{A12FA001-AC4F-418D-AE19-62706E023703}">
                      <ahyp:hlinkClr val="tx"/>
                    </a:ext>
                  </a:extLst>
                </a:hlinkClick>
              </a:rPr>
              <a:t>Top 7 Usability Testing Methods by Adobe XD</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5) </a:t>
            </a:r>
            <a:r>
              <a:rPr lang="en" sz="1000">
                <a:solidFill>
                  <a:schemeClr val="dk1"/>
                </a:solidFill>
                <a:uFill>
                  <a:noFill/>
                </a:uFill>
                <a:latin typeface="Montserrat Medium"/>
                <a:ea typeface="Montserrat Medium"/>
                <a:cs typeface="Montserrat Medium"/>
                <a:sym typeface="Montserrat Medium"/>
                <a:hlinkClick r:id="rId11">
                  <a:extLst>
                    <a:ext uri="{A12FA001-AC4F-418D-AE19-62706E023703}">
                      <ahyp:hlinkClr val="tx"/>
                    </a:ext>
                  </a:extLst>
                </a:hlinkClick>
              </a:rPr>
              <a:t>Session Recordings by HotJar</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6) </a:t>
            </a:r>
            <a:r>
              <a:rPr lang="en" sz="1000">
                <a:solidFill>
                  <a:schemeClr val="dk1"/>
                </a:solidFill>
                <a:uFill>
                  <a:noFill/>
                </a:uFill>
                <a:latin typeface="Montserrat Medium"/>
                <a:ea typeface="Montserrat Medium"/>
                <a:cs typeface="Montserrat Medium"/>
                <a:sym typeface="Montserrat Medium"/>
                <a:hlinkClick r:id="rId12">
                  <a:extLst>
                    <a:ext uri="{A12FA001-AC4F-418D-AE19-62706E023703}">
                      <ahyp:hlinkClr val="tx"/>
                    </a:ext>
                  </a:extLst>
                </a:hlinkClick>
              </a:rPr>
              <a:t>First Click Testing by Usability Hub</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695" name="Google Shape;695;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696" name="Google Shape;696;p96"/>
          <p:cNvSpPr txBox="1"/>
          <p:nvPr/>
        </p:nvSpPr>
        <p:spPr>
          <a:xfrm>
            <a:off x="685800" y="1725150"/>
            <a:ext cx="43815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sini dulu pembahasan kita mengenai </a:t>
            </a:r>
            <a:r>
              <a:rPr b="1" lang="en">
                <a:solidFill>
                  <a:srgbClr val="FFAB40"/>
                </a:solidFill>
                <a:latin typeface="Montserrat"/>
                <a:ea typeface="Montserrat"/>
                <a:cs typeface="Montserrat"/>
                <a:sym typeface="Montserrat"/>
              </a:rPr>
              <a:t>testing part 1</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Kita lanjut </a:t>
            </a:r>
            <a:r>
              <a:rPr b="1" lang="en">
                <a:solidFill>
                  <a:srgbClr val="FFAB40"/>
                </a:solidFill>
                <a:latin typeface="Montserrat"/>
                <a:ea typeface="Montserrat"/>
                <a:cs typeface="Montserrat"/>
                <a:sym typeface="Montserrat"/>
              </a:rPr>
              <a:t>testing part 2</a:t>
            </a:r>
            <a:r>
              <a:rPr b="1" lang="en">
                <a:solidFill>
                  <a:schemeClr val="lt1"/>
                </a:solidFill>
                <a:latin typeface="Montserrat"/>
                <a:ea typeface="Montserrat"/>
                <a:cs typeface="Montserrat"/>
                <a:sym typeface="Montserrat"/>
              </a:rPr>
              <a:t> di pertemuan selanjutnya 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See you tomorrow, bestie ~</a:t>
            </a:r>
            <a:endParaRPr b="1">
              <a:solidFill>
                <a:schemeClr val="lt1"/>
              </a:solidFill>
              <a:latin typeface="Montserrat"/>
              <a:ea typeface="Montserrat"/>
              <a:cs typeface="Montserrat"/>
              <a:sym typeface="Montserrat"/>
            </a:endParaRPr>
          </a:p>
        </p:txBody>
      </p:sp>
      <p:pic>
        <p:nvPicPr>
          <p:cNvPr id="697" name="Google Shape;697;p96"/>
          <p:cNvPicPr preferRelativeResize="0"/>
          <p:nvPr/>
        </p:nvPicPr>
        <p:blipFill>
          <a:blip r:embed="rId3">
            <a:alphaModFix/>
          </a:blip>
          <a:stretch>
            <a:fillRect/>
          </a:stretch>
        </p:blipFill>
        <p:spPr>
          <a:xfrm>
            <a:off x="4101881" y="720675"/>
            <a:ext cx="5687844" cy="433819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01" name="Shape 701"/>
        <p:cNvGrpSpPr/>
        <p:nvPr/>
      </p:nvGrpSpPr>
      <p:grpSpPr>
        <a:xfrm>
          <a:off x="0" y="0"/>
          <a:ext cx="0" cy="0"/>
          <a:chOff x="0" y="0"/>
          <a:chExt cx="0" cy="0"/>
        </a:xfrm>
      </p:grpSpPr>
      <p:sp>
        <p:nvSpPr>
          <p:cNvPr id="702" name="Google Shape;702;p97"/>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3" name="Google Shape;703;p97"/>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704" name="Google Shape;704;p97"/>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705" name="Google Shape;705;p97"/>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