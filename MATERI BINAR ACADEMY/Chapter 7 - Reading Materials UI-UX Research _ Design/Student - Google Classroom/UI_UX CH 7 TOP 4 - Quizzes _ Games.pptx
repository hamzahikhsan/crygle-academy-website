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Montserrat"/>
      <p:regular r:id="rId33"/>
      <p:bold r:id="rId34"/>
      <p:italic r:id="rId35"/>
      <p:boldItalic r:id="rId36"/>
    </p:embeddedFont>
    <p:embeddedFont>
      <p:font typeface="Montserrat Medium"/>
      <p:regular r:id="rId37"/>
      <p:bold r:id="rId38"/>
      <p:italic r:id="rId39"/>
      <p:boldItalic r:id="rId40"/>
    </p:embeddedFont>
    <p:embeddedFont>
      <p:font typeface="Lato Black"/>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20" Type="http://schemas.openxmlformats.org/officeDocument/2006/relationships/slide" Target="slides/slide15.xml"/><Relationship Id="rId42" Type="http://schemas.openxmlformats.org/officeDocument/2006/relationships/font" Target="fonts/LatoBlack-boldItalic.fntdata"/><Relationship Id="rId41" Type="http://schemas.openxmlformats.org/officeDocument/2006/relationships/font" Target="fonts/LatoBlack-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MontserratMedium-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MontserratMedium-italic.fntdata"/><Relationship Id="rId16" Type="http://schemas.openxmlformats.org/officeDocument/2006/relationships/slide" Target="slides/slide11.xml"/><Relationship Id="rId38" Type="http://schemas.openxmlformats.org/officeDocument/2006/relationships/font" Target="fonts/Montserrat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1dfd79c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1dfd79c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1dfd79c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1dfd79c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317ce4c6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317ce4c6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317ce4c6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317ce4c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317ce4c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317ce4c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317ce4c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317ce4c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2317ce4c6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2317ce4c6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17ce4c6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17ce4c6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2317ce4c6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2317ce4c6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https://www.skcript.com/svr/games-to-improve-your-design-skills/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317ce4c6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317ce4c6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317ce4c6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317ce4c6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317ce4c6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317ce4c6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317ce4c6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317ce4c6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317ce4c6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317ce4c6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317ce4c6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317ce4c6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317ce4c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317ce4c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317ce4c6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317ce4c6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317ce4c6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317ce4c6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317ce4c6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2317ce4c6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1dfd79c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1dfd79c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antunsee.space/" TargetMode="Externa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mycreativetype.com/" TargetMode="Externa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supremo.co.uk/designers-eye/"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supremo.co.uk/designers-eye-christmas/" TargetMode="Externa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olor.method.ac/" TargetMode="External"/><Relationship Id="rId4" Type="http://schemas.openxmlformats.org/officeDocument/2006/relationships/image" Target="../media/image1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kolor.moro.es/" TargetMode="Externa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game.ioxapp.com/eye-test/game.html" TargetMode="Externa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hexinvaders.com/"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ilovetypography.com/2020/07/01/the-font-game/"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typewar.com/"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tothepoint.co.uk/us/fun/i-shot-the-serif/" TargetMode="Externa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betterwebtype.com/font-memory-game/" TargetMode="Externa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type.method.ac/" TargetMode="Externa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shape.method.ac/" TargetMode="Externa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bezier.method.ac/" TargetMode="Externa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pixact.ly/" TargetMode="Externa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boolean.method.ac/" TargetMode="Externa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figma.com/community/file/769694576496801916" TargetMode="Externa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Quizzes &amp; Games</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7 - Topic 4</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7 Topic 4</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3" name="Google Shape;11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114" name="Google Shape;114;p22"/>
          <p:cNvSpPr txBox="1"/>
          <p:nvPr/>
        </p:nvSpPr>
        <p:spPr>
          <a:xfrm>
            <a:off x="685800" y="1843300"/>
            <a:ext cx="4490400" cy="1896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Kuda lumping makan beling,</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Let’s continue our Learning ~ 😋</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Pantunnya garing nggak apa-apa, soalnya m</a:t>
            </a:r>
            <a:r>
              <a:rPr lang="en" sz="1000">
                <a:latin typeface="Montserrat"/>
                <a:ea typeface="Montserrat"/>
                <a:cs typeface="Montserrat"/>
                <a:sym typeface="Montserrat"/>
              </a:rPr>
              <a:t>ateri tentang studi kasus dan portofolio </a:t>
            </a:r>
            <a:r>
              <a:rPr lang="en" sz="1000">
                <a:latin typeface="Montserrat"/>
                <a:ea typeface="Montserrat"/>
                <a:cs typeface="Montserrat"/>
                <a:sym typeface="Montserrat"/>
              </a:rPr>
              <a:t>sudah</a:t>
            </a:r>
            <a:r>
              <a:rPr lang="en" sz="1000">
                <a:latin typeface="Montserrat"/>
                <a:ea typeface="Montserrat"/>
                <a:cs typeface="Montserrat"/>
                <a:sym typeface="Montserrat"/>
              </a:rPr>
              <a:t> selesai di topic 3 kemarin nih, sob.</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000">
                <a:latin typeface="Montserrat"/>
                <a:ea typeface="Montserrat"/>
                <a:cs typeface="Montserrat"/>
                <a:sym typeface="Montserrat"/>
              </a:rPr>
              <a:t>Nah, di topic 4 ini, kita akan lebih banyak bermain kuis dan game yang nggak cuma menyenangkan, tapi juga menambah wawasan. Yuk langsung cuss ~</a:t>
            </a:r>
            <a:endParaRPr sz="1000">
              <a:latin typeface="Montserrat"/>
              <a:ea typeface="Montserrat"/>
              <a:cs typeface="Montserrat"/>
              <a:sym typeface="Montserrat"/>
            </a:endParaRPr>
          </a:p>
        </p:txBody>
      </p:sp>
      <p:pic>
        <p:nvPicPr>
          <p:cNvPr id="115" name="Google Shape;115;p22"/>
          <p:cNvPicPr preferRelativeResize="0"/>
          <p:nvPr/>
        </p:nvPicPr>
        <p:blipFill>
          <a:blip r:embed="rId3">
            <a:alphaModFix/>
          </a:blip>
          <a:stretch>
            <a:fillRect/>
          </a:stretch>
        </p:blipFill>
        <p:spPr>
          <a:xfrm>
            <a:off x="5667675" y="1160426"/>
            <a:ext cx="2164950" cy="341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22" name="Google Shape;122;p23"/>
          <p:cNvSpPr txBox="1"/>
          <p:nvPr/>
        </p:nvSpPr>
        <p:spPr>
          <a:xfrm>
            <a:off x="685800" y="1530750"/>
            <a:ext cx="4114800" cy="208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Can’t Unsee</a:t>
            </a:r>
            <a:endParaRPr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kamu orangnya detail oriented, Can’t Unsee bisa menjadi pembunuh waktu favorit kamu nih.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quiz ini, kamu perlu memilih satu dari dua antarmuka yang terlihat sangat mirip. Pemahaman materi design yang udah kita pelajari di chapter-chapter sebelumnya, patut kamu tes di kuis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buktikan kalau mata kamu nggak bisa dibohongi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di sini</a:t>
            </a:r>
            <a:r>
              <a:rPr lang="en" sz="1000" u="sng">
                <a:solidFill>
                  <a:schemeClr val="dk1"/>
                </a:solidFill>
                <a:latin typeface="Montserrat"/>
                <a:ea typeface="Montserrat"/>
                <a:cs typeface="Montserrat"/>
                <a:sym typeface="Montserrat"/>
              </a:rPr>
              <a:t>.</a:t>
            </a:r>
            <a:endParaRPr sz="1000" u="sng">
              <a:solidFill>
                <a:schemeClr val="dk1"/>
              </a:solidFill>
              <a:latin typeface="Montserrat"/>
              <a:ea typeface="Montserrat"/>
              <a:cs typeface="Montserrat"/>
              <a:sym typeface="Montserrat"/>
            </a:endParaRPr>
          </a:p>
        </p:txBody>
      </p:sp>
      <p:pic>
        <p:nvPicPr>
          <p:cNvPr id="123" name="Google Shape;123;p23"/>
          <p:cNvPicPr preferRelativeResize="0"/>
          <p:nvPr/>
        </p:nvPicPr>
        <p:blipFill rotWithShape="1">
          <a:blip r:embed="rId4">
            <a:alphaModFix/>
          </a:blip>
          <a:srcRect b="0" l="4145" r="2283" t="0"/>
          <a:stretch/>
        </p:blipFill>
        <p:spPr>
          <a:xfrm>
            <a:off x="5486400" y="1207587"/>
            <a:ext cx="3017520"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30" name="Google Shape;130;p24"/>
          <p:cNvSpPr txBox="1"/>
          <p:nvPr/>
        </p:nvSpPr>
        <p:spPr>
          <a:xfrm>
            <a:off x="685800" y="1536448"/>
            <a:ext cx="4114800" cy="207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Creative Types by Adobe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Quiz baru berjudul “Creative Types” atau “Jenis Kreatif” ini membantu kamu mengidentifikasi kepribadian kreatif tipe apa sebenarnya diri kamu dengan menjawab beberapa pertanyaan.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Visually pleasing, kuis ini bisa kamu coba untuk mengetahui diri sendiri, proses kreatif, dan potensi berdasarkan jawaban kamu sendiri.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31" name="Google Shape;131;p24"/>
          <p:cNvPicPr preferRelativeResize="0"/>
          <p:nvPr/>
        </p:nvPicPr>
        <p:blipFill rotWithShape="1">
          <a:blip r:embed="rId4">
            <a:alphaModFix/>
          </a:blip>
          <a:srcRect b="0" l="5861" r="5861" t="0"/>
          <a:stretch/>
        </p:blipFill>
        <p:spPr>
          <a:xfrm>
            <a:off x="5486400" y="1207587"/>
            <a:ext cx="3017519" cy="2743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38" name="Google Shape;138;p25"/>
          <p:cNvSpPr txBox="1"/>
          <p:nvPr/>
        </p:nvSpPr>
        <p:spPr>
          <a:xfrm>
            <a:off x="685800" y="1451999"/>
            <a:ext cx="4114800" cy="223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It’s Centred That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Apakah kamu merasa memiliki mata seorang desainer?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Buktikan keterampilan kamu dan nilai apakah titik-titik yang ditampilkan berada di tengah bentuk dalam It’s Centred That.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10 bentuk dan kamu harus bisa menjawab seluruhnya dengan benar untuk memenangkan permainan. Bisakah kamu menyelesaikannya?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39" name="Google Shape;139;p25"/>
          <p:cNvPicPr preferRelativeResize="0"/>
          <p:nvPr/>
        </p:nvPicPr>
        <p:blipFill rotWithShape="1">
          <a:blip r:embed="rId4">
            <a:alphaModFix/>
          </a:blip>
          <a:srcRect b="0" l="20917" r="20912" t="0"/>
          <a:stretch/>
        </p:blipFill>
        <p:spPr>
          <a:xfrm>
            <a:off x="5486400" y="1207587"/>
            <a:ext cx="3017518" cy="2743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46" name="Google Shape;146;p26"/>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It’s Centred That - Christmas Version</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It’s Centred That meluncurkan versi natal dengan aturan main yang masih sama. Kamu perlu menjawab dengan benar apakah titik sudah berada di tengah bentuk hadiah natal.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47" name="Google Shape;147;p26"/>
          <p:cNvPicPr preferRelativeResize="0"/>
          <p:nvPr/>
        </p:nvPicPr>
        <p:blipFill rotWithShape="1">
          <a:blip r:embed="rId4">
            <a:alphaModFix/>
          </a:blip>
          <a:srcRect b="0" l="20752" r="20758" t="0"/>
          <a:stretch/>
        </p:blipFill>
        <p:spPr>
          <a:xfrm>
            <a:off x="5486400" y="1207587"/>
            <a:ext cx="3017518" cy="27432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54" name="Google Shape;154;p27"/>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Color - A Color Matching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'Color' adalah permainan mencocokkan warna yang dibuat untuk situs Method of Action oleh Mark MacKay, dengan bantuan dari Maria Munuera, manajer produk di aplikasi Sketch.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menguji mata serta pengetahuan teori warna kamu.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55" name="Google Shape;155;p27"/>
          <p:cNvPicPr preferRelativeResize="0"/>
          <p:nvPr/>
        </p:nvPicPr>
        <p:blipFill rotWithShape="1">
          <a:blip r:embed="rId4">
            <a:alphaModFix/>
          </a:blip>
          <a:srcRect b="0" l="26890" r="11236" t="0"/>
          <a:stretch/>
        </p:blipFill>
        <p:spPr>
          <a:xfrm>
            <a:off x="5486400" y="1207587"/>
            <a:ext cx="301752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62" name="Google Shape;162;p28"/>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Kolor - A Color Guessing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Kolor adalah game di mana kamu harus secepat mungkin menebak warna untuk mendapatkan skor tinggi. Yuk, mainkan sekarang!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63" name="Google Shape;163;p28"/>
          <p:cNvPicPr preferRelativeResize="0"/>
          <p:nvPr/>
        </p:nvPicPr>
        <p:blipFill rotWithShape="1">
          <a:blip r:embed="rId4">
            <a:alphaModFix/>
          </a:blip>
          <a:srcRect b="0" l="19943" r="19949" t="0"/>
          <a:stretch/>
        </p:blipFill>
        <p:spPr>
          <a:xfrm>
            <a:off x="5486400" y="1207587"/>
            <a:ext cx="3017518" cy="27432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70" name="Google Shape;170;p29"/>
          <p:cNvSpPr txBox="1"/>
          <p:nvPr/>
        </p:nvSpPr>
        <p:spPr>
          <a:xfrm>
            <a:off x="685800" y="1546948"/>
            <a:ext cx="41148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Odd One Out, An Eye Test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Inilah game pengenalan warna yang bagus dengan sebuah twist. Kamu harus menemukan warna yang berbeda dari lingkungannya.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Berhati-hatilah, permainan menjadi semakin rumit! Game ini adalah cara yang bagus untuk melatih mata kamu agar terbiasa dengan perbedaan halus antara warna.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71" name="Google Shape;171;p29"/>
          <p:cNvPicPr preferRelativeResize="0"/>
          <p:nvPr/>
        </p:nvPicPr>
        <p:blipFill rotWithShape="1">
          <a:blip r:embed="rId4">
            <a:alphaModFix/>
          </a:blip>
          <a:srcRect b="2189" l="0" r="0" t="2199"/>
          <a:stretch/>
        </p:blipFill>
        <p:spPr>
          <a:xfrm>
            <a:off x="5486400" y="1207587"/>
            <a:ext cx="3017520" cy="27432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78" name="Google Shape;178;p30"/>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Hex Invaders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yang satu ini bisa bikin kamu ketagihan!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harus menembak penyerbu (invader) yang benar berdasarkan kode hex! Mainkan untuk mempelajari dan memahami apa itu kode hex dan cara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79" name="Google Shape;179;p30"/>
          <p:cNvPicPr preferRelativeResize="0"/>
          <p:nvPr/>
        </p:nvPicPr>
        <p:blipFill rotWithShape="1">
          <a:blip r:embed="rId4">
            <a:alphaModFix/>
          </a:blip>
          <a:srcRect b="0" l="19295" r="19295" t="0"/>
          <a:stretch/>
        </p:blipFill>
        <p:spPr>
          <a:xfrm>
            <a:off x="5486400" y="1207587"/>
            <a:ext cx="3017520" cy="27432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86" name="Google Shape;186;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Font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tidak dibatasi waktunya untuk menjawab 30 pertanyaan pilihan ganda. Kamu bisa menguji keterampilan mengidentifikasi font lewat game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skor kamu bisa sampai 50% atau lebih, kamu bisa mendapat voucher diskon belanja font sebanyak 10%!</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87" name="Google Shape;187;p31"/>
          <p:cNvPicPr preferRelativeResize="0"/>
          <p:nvPr/>
        </p:nvPicPr>
        <p:blipFill rotWithShape="1">
          <a:blip r:embed="rId4">
            <a:alphaModFix/>
          </a:blip>
          <a:srcRect b="-10656" l="971" r="12267" t="0"/>
          <a:stretch/>
        </p:blipFill>
        <p:spPr>
          <a:xfrm>
            <a:off x="5486400" y="1207587"/>
            <a:ext cx="3017517" cy="27432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194" name="Google Shape;194;p32"/>
          <p:cNvSpPr txBox="1"/>
          <p:nvPr/>
        </p:nvSpPr>
        <p:spPr>
          <a:xfrm>
            <a:off x="685800" y="1626148"/>
            <a:ext cx="4114800" cy="1891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Typewar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menguji seberapa tajam ingatanmu tentang font. Kamu harus memilih satu di antara dua opsi, dan mendapatkan poin untuk setiap jawaban benar.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juga peningkatan level dan penghitung beruntun untuk memeriksa seberapa tepat tebakan kamu.</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195" name="Google Shape;195;p32"/>
          <p:cNvPicPr preferRelativeResize="0"/>
          <p:nvPr/>
        </p:nvPicPr>
        <p:blipFill rotWithShape="1">
          <a:blip r:embed="rId4">
            <a:alphaModFix/>
          </a:blip>
          <a:srcRect b="0" l="17304" r="17297" t="0"/>
          <a:stretch/>
        </p:blipFill>
        <p:spPr>
          <a:xfrm>
            <a:off x="5486400" y="1207587"/>
            <a:ext cx="3017517" cy="274320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02" name="Google Shape;202;p33"/>
          <p:cNvSpPr txBox="1"/>
          <p:nvPr/>
        </p:nvSpPr>
        <p:spPr>
          <a:xfrm>
            <a:off x="685800" y="1705498"/>
            <a:ext cx="4114800" cy="1732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Shot the Serif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Temukan Serif font dari opsi-opsi yang diberikan pada game yang bisa diakses melalui seluler atau web ini.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harus menembak target dengan cepat dan tepat. Kamu pun bisa memilih tingkat kesulitannya.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03" name="Google Shape;203;p33"/>
          <p:cNvPicPr preferRelativeResize="0"/>
          <p:nvPr/>
        </p:nvPicPr>
        <p:blipFill rotWithShape="1">
          <a:blip r:embed="rId4">
            <a:alphaModFix/>
          </a:blip>
          <a:srcRect b="0" l="-77" r="51519" t="0"/>
          <a:stretch/>
        </p:blipFill>
        <p:spPr>
          <a:xfrm>
            <a:off x="5486400" y="1207587"/>
            <a:ext cx="3017518" cy="27432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10" name="Google Shape;210;p34"/>
          <p:cNvSpPr txBox="1"/>
          <p:nvPr/>
        </p:nvSpPr>
        <p:spPr>
          <a:xfrm>
            <a:off x="685800" y="1879647"/>
            <a:ext cx="41148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Font Memory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Mengenali perbedaan gaya font adalah salah satu bagian tipografi yang paling menantang. Game ini membantu kamu melatih mata untuk memperhatikan detail terkecil.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11" name="Google Shape;211;p34"/>
          <p:cNvPicPr preferRelativeResize="0"/>
          <p:nvPr/>
        </p:nvPicPr>
        <p:blipFill rotWithShape="1">
          <a:blip r:embed="rId4">
            <a:alphaModFix/>
          </a:blip>
          <a:srcRect b="0" l="3164" r="14204" t="11039"/>
          <a:stretch/>
        </p:blipFill>
        <p:spPr>
          <a:xfrm>
            <a:off x="5486400" y="1207587"/>
            <a:ext cx="3017520" cy="27432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18" name="Google Shape;218;p35"/>
          <p:cNvSpPr txBox="1"/>
          <p:nvPr/>
        </p:nvSpPr>
        <p:spPr>
          <a:xfrm>
            <a:off x="685800" y="1525948"/>
            <a:ext cx="4114800" cy="2091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Montserrat"/>
                <a:ea typeface="Montserrat"/>
                <a:cs typeface="Montserrat"/>
                <a:sym typeface="Montserrat"/>
              </a:rPr>
              <a:t>Kern Type, The Kerning Game</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Kerning adalah jarak antar huruf atau karakter individual. Tidak seperti tracking, di mana menyesuaikan jumlah spasi di antara huruf-huruf dari seluruh kata dalam peningkatan yang sama, kering berfokus pada tampilan. Sehingga teks akan lebih menyenangkan secara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akan melatih kamu dalam hal melakukan kerning,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disini</a:t>
            </a:r>
            <a:endParaRPr sz="1000">
              <a:solidFill>
                <a:schemeClr val="dk1"/>
              </a:solidFill>
              <a:latin typeface="Montserrat"/>
              <a:ea typeface="Montserrat"/>
              <a:cs typeface="Montserrat"/>
              <a:sym typeface="Montserrat"/>
            </a:endParaRPr>
          </a:p>
        </p:txBody>
      </p:sp>
      <p:pic>
        <p:nvPicPr>
          <p:cNvPr id="219" name="Google Shape;219;p35"/>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26" name="Google Shape;226;p36"/>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Shape</a:t>
            </a:r>
            <a:r>
              <a:rPr b="1" lang="en" sz="1600">
                <a:solidFill>
                  <a:srgbClr val="743673"/>
                </a:solidFill>
                <a:highlight>
                  <a:schemeClr val="lt1"/>
                </a:highlight>
                <a:latin typeface="Montserrat"/>
                <a:ea typeface="Montserrat"/>
                <a:cs typeface="Montserrat"/>
                <a:sym typeface="Montserrat"/>
              </a:rPr>
              <a:t> Type, A Letter Shaping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Shape Type, dibuat menggunakan HTML5, adalah permainan 10 tahap. Ia meminta penggunanya untuk membentuk dan memperbaiki huruf yang belum selesai dari tipografi tertentu, dengan nama font dan desainer font.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27" name="Google Shape;227;p36"/>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34" name="Google Shape;234;p37"/>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Bezier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adalah tutorial atau permainan yang bagus untuk mempelajari cara kerja Pen Tool dan menguasainya.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35" name="Google Shape;235;p37"/>
          <p:cNvPicPr preferRelativeResize="0"/>
          <p:nvPr/>
        </p:nvPicPr>
        <p:blipFill rotWithShape="1">
          <a:blip r:embed="rId4">
            <a:alphaModFix/>
          </a:blip>
          <a:srcRect b="11055" l="26026" r="17856" t="0"/>
          <a:stretch/>
        </p:blipFill>
        <p:spPr>
          <a:xfrm>
            <a:off x="5486400" y="1207587"/>
            <a:ext cx="3017518" cy="27432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42" name="Google Shape;242;p38"/>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Pixact.ly</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Game ini akan menguji seberapa baik kamu mengetahui piksel.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menyediakan dimensi yang perlu kamu beri gambar sebuah kotak. Kamu akan mendapatkan skor berdasarkan seberapa mendekati kotak tersebut dengan dimensi. Semakin rendah skornya, semakin baik. Kedengarannya mudah, bukan?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43" name="Google Shape;243;p38"/>
          <p:cNvPicPr preferRelativeResize="0"/>
          <p:nvPr/>
        </p:nvPicPr>
        <p:blipFill rotWithShape="1">
          <a:blip r:embed="rId4">
            <a:alphaModFix/>
          </a:blip>
          <a:srcRect b="0" l="20808" r="20808" t="0"/>
          <a:stretch/>
        </p:blipFill>
        <p:spPr>
          <a:xfrm>
            <a:off x="5486400" y="1207587"/>
            <a:ext cx="3017518" cy="27432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50" name="Google Shape;250;p39"/>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The Boolean Game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game ini, kamu bisa memilih di antara berbagai modalitas (Union, Subtract, Intersect, dan Difference) untuk membuat beragam bentuk. Game ini diciptakan untuk kamu yang ingin menggunakan bentuk pada grafik dan ikon.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51" name="Google Shape;251;p39"/>
          <p:cNvPicPr preferRelativeResize="0"/>
          <p:nvPr/>
        </p:nvPicPr>
        <p:blipFill rotWithShape="1">
          <a:blip r:embed="rId4">
            <a:alphaModFix/>
          </a:blip>
          <a:srcRect b="0" l="244" r="33679" t="0"/>
          <a:stretch/>
        </p:blipFill>
        <p:spPr>
          <a:xfrm>
            <a:off x="5486400" y="1207587"/>
            <a:ext cx="3017518" cy="27432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Quizzes and Games</a:t>
            </a:r>
            <a:endParaRPr>
              <a:latin typeface="Montserrat"/>
              <a:ea typeface="Montserrat"/>
              <a:cs typeface="Montserrat"/>
              <a:sym typeface="Montserrat"/>
            </a:endParaRPr>
          </a:p>
        </p:txBody>
      </p:sp>
      <p:sp>
        <p:nvSpPr>
          <p:cNvPr id="258" name="Google Shape;258;p40"/>
          <p:cNvSpPr txBox="1"/>
          <p:nvPr/>
        </p:nvSpPr>
        <p:spPr>
          <a:xfrm>
            <a:off x="685800" y="1642048"/>
            <a:ext cx="4114800" cy="1859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Figma Ninja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Figma Ninja akan membantu kamu membiasakan diri dengan software Figma dan pintasan-pintasannya.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kamu baru mengenal Figma dan ingin meningkatkan keterampilan sambil bersenang-senang, ini adalah permainan untuk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Klik di sini</a:t>
            </a:r>
            <a:endParaRPr sz="1000">
              <a:solidFill>
                <a:schemeClr val="dk1"/>
              </a:solidFill>
              <a:latin typeface="Montserrat"/>
              <a:ea typeface="Montserrat"/>
              <a:cs typeface="Montserrat"/>
              <a:sym typeface="Montserrat"/>
            </a:endParaRPr>
          </a:p>
        </p:txBody>
      </p:sp>
      <p:pic>
        <p:nvPicPr>
          <p:cNvPr id="259" name="Google Shape;259;p40"/>
          <p:cNvPicPr preferRelativeResize="0"/>
          <p:nvPr/>
        </p:nvPicPr>
        <p:blipFill rotWithShape="1">
          <a:blip r:embed="rId4">
            <a:alphaModFix/>
          </a:blip>
          <a:srcRect b="0" l="3258" r="34671" t="0"/>
          <a:stretch/>
        </p:blipFill>
        <p:spPr>
          <a:xfrm>
            <a:off x="5486400" y="1207587"/>
            <a:ext cx="3017518" cy="27432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65" name="Google Shape;26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266" name="Google Shape;266;p41"/>
          <p:cNvSpPr txBox="1"/>
          <p:nvPr/>
        </p:nvSpPr>
        <p:spPr>
          <a:xfrm>
            <a:off x="685800" y="1725150"/>
            <a:ext cx="47703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selamat mencoba berbagai jenis game yang menyenangkan sekaligus ajang latihan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Topic ini juga menandakan kalau chapter 7 udah selesai kita bahas semua, lho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Sampai bertemu di chapter selanjutnya ya!</a:t>
            </a:r>
            <a:endParaRPr b="1">
              <a:solidFill>
                <a:schemeClr val="lt1"/>
              </a:solidFill>
              <a:latin typeface="Montserrat"/>
              <a:ea typeface="Montserrat"/>
              <a:cs typeface="Montserrat"/>
              <a:sym typeface="Montserrat"/>
            </a:endParaRPr>
          </a:p>
        </p:txBody>
      </p:sp>
      <p:pic>
        <p:nvPicPr>
          <p:cNvPr id="267" name="Google Shape;267;p41"/>
          <p:cNvPicPr preferRelativeResize="0"/>
          <p:nvPr/>
        </p:nvPicPr>
        <p:blipFill>
          <a:blip r:embed="rId3">
            <a:alphaModFix/>
          </a:blip>
          <a:stretch>
            <a:fillRect/>
          </a:stretch>
        </p:blipFill>
        <p:spPr>
          <a:xfrm>
            <a:off x="4022231" y="703600"/>
            <a:ext cx="5687844" cy="4338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271" name="Shape 271"/>
        <p:cNvGrpSpPr/>
        <p:nvPr/>
      </p:nvGrpSpPr>
      <p:grpSpPr>
        <a:xfrm>
          <a:off x="0" y="0"/>
          <a:ext cx="0" cy="0"/>
          <a:chOff x="0" y="0"/>
          <a:chExt cx="0" cy="0"/>
        </a:xfrm>
      </p:grpSpPr>
      <p:sp>
        <p:nvSpPr>
          <p:cNvPr id="272" name="Google Shape;272;p42"/>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42"/>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274" name="Google Shape;274;p42"/>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275" name="Google Shape;275;p42"/>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276" name="Google Shape;276;p42"/>
          <p:cNvPicPr preferRelativeResize="0"/>
          <p:nvPr/>
        </p:nvPicPr>
        <p:blipFill>
          <a:blip r:embed="rId6">
            <a:alphaModFix/>
          </a:blip>
          <a:stretch>
            <a:fillRect/>
          </a:stretch>
        </p:blipFill>
        <p:spPr>
          <a:xfrm>
            <a:off x="428225" y="4140630"/>
            <a:ext cx="1991475" cy="6877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