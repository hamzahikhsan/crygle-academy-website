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Lst>
  <p:sldSz cy="5143500" cx="9144000"/>
  <p:notesSz cx="6858000" cy="9144000"/>
  <p:embeddedFontLst>
    <p:embeddedFont>
      <p:font typeface="Raleway"/>
      <p:regular r:id="rId71"/>
      <p:bold r:id="rId72"/>
      <p:italic r:id="rId73"/>
      <p:boldItalic r:id="rId74"/>
    </p:embeddedFont>
    <p:embeddedFont>
      <p:font typeface="Montserrat"/>
      <p:regular r:id="rId75"/>
      <p:bold r:id="rId76"/>
      <p:italic r:id="rId77"/>
      <p:boldItalic r:id="rId78"/>
    </p:embeddedFont>
    <p:embeddedFont>
      <p:font typeface="Montserrat Medium"/>
      <p:regular r:id="rId79"/>
      <p:bold r:id="rId80"/>
      <p:italic r:id="rId81"/>
      <p:boldItalic r:id="rId82"/>
    </p:embeddedFont>
    <p:embeddedFont>
      <p:font typeface="Lato Black"/>
      <p:bold r:id="rId83"/>
      <p:boldItalic r:id="rId8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LatoBlack-boldItalic.fntdata"/><Relationship Id="rId83" Type="http://schemas.openxmlformats.org/officeDocument/2006/relationships/font" Target="fonts/LatoBlack-bold.fntdata"/><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MontserratMedium-bold.fntdata"/><Relationship Id="rId82" Type="http://schemas.openxmlformats.org/officeDocument/2006/relationships/font" Target="fonts/MontserratMedium-boldItalic.fntdata"/><Relationship Id="rId81" Type="http://schemas.openxmlformats.org/officeDocument/2006/relationships/font" Target="fonts/MontserratMedium-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aleway-italic.fntdata"/><Relationship Id="rId72" Type="http://schemas.openxmlformats.org/officeDocument/2006/relationships/font" Target="fonts/Raleway-bold.fntdata"/><Relationship Id="rId31" Type="http://schemas.openxmlformats.org/officeDocument/2006/relationships/slide" Target="slides/slide26.xml"/><Relationship Id="rId75" Type="http://schemas.openxmlformats.org/officeDocument/2006/relationships/font" Target="fonts/Montserrat-regular.fntdata"/><Relationship Id="rId30" Type="http://schemas.openxmlformats.org/officeDocument/2006/relationships/slide" Target="slides/slide25.xml"/><Relationship Id="rId74" Type="http://schemas.openxmlformats.org/officeDocument/2006/relationships/font" Target="fonts/Raleway-boldItalic.fntdata"/><Relationship Id="rId33" Type="http://schemas.openxmlformats.org/officeDocument/2006/relationships/slide" Target="slides/slide28.xml"/><Relationship Id="rId77" Type="http://schemas.openxmlformats.org/officeDocument/2006/relationships/font" Target="fonts/Montserrat-italic.fntdata"/><Relationship Id="rId32" Type="http://schemas.openxmlformats.org/officeDocument/2006/relationships/slide" Target="slides/slide27.xml"/><Relationship Id="rId76" Type="http://schemas.openxmlformats.org/officeDocument/2006/relationships/font" Target="fonts/Montserrat-bold.fntdata"/><Relationship Id="rId35" Type="http://schemas.openxmlformats.org/officeDocument/2006/relationships/slide" Target="slides/slide30.xml"/><Relationship Id="rId79" Type="http://schemas.openxmlformats.org/officeDocument/2006/relationships/font" Target="fonts/MontserratMedium-regular.fntdata"/><Relationship Id="rId34" Type="http://schemas.openxmlformats.org/officeDocument/2006/relationships/slide" Target="slides/slide29.xml"/><Relationship Id="rId78" Type="http://schemas.openxmlformats.org/officeDocument/2006/relationships/font" Target="fonts/Montserrat-boldItalic.fntdata"/><Relationship Id="rId71" Type="http://schemas.openxmlformats.org/officeDocument/2006/relationships/font" Target="fonts/Raleway-regular.fntdata"/><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omenicoloia?utm_source=unsplash&amp;utm_medium=referral&amp;utm_content=creditCopyText" TargetMode="External"/><Relationship Id="rId3" Type="http://schemas.openxmlformats.org/officeDocument/2006/relationships/hyperlink" Target="https://unsplash.com/@domenicoloia?utm_source=unsplash&amp;utm_medium=referral&amp;utm_content=creditCopyText" TargetMode="External"/><Relationship Id="rId4" Type="http://schemas.openxmlformats.org/officeDocument/2006/relationships/hyperlink" Target="https://unsplash.com/s/photos/portfolio?utm_source=unsplash&amp;utm_medium=referral&amp;utm_content=creditCopyText" TargetMode="External"/><Relationship Id="rId5" Type="http://schemas.openxmlformats.org/officeDocument/2006/relationships/hyperlink" Target="https://unsplash.com/s/photos/portfolio?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omenicoloia?utm_source=unsplash&amp;utm_medium=referral&amp;utm_content=creditCopyText" TargetMode="External"/><Relationship Id="rId3" Type="http://schemas.openxmlformats.org/officeDocument/2006/relationships/hyperlink" Target="https://unsplash.com/@domenicoloia?utm_source=unsplash&amp;utm_medium=referral&amp;utm_content=creditCopyText" TargetMode="External"/><Relationship Id="rId4" Type="http://schemas.openxmlformats.org/officeDocument/2006/relationships/hyperlink" Target="https://unsplash.com/s/photos/portfolio?utm_source=unsplash&amp;utm_medium=referral&amp;utm_content=creditCopyText" TargetMode="External"/><Relationship Id="rId5" Type="http://schemas.openxmlformats.org/officeDocument/2006/relationships/hyperlink" Target="https://unsplash.com/s/photos/portfolio?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annaholinger?utm_source=unsplash&amp;utm_medium=referral&amp;utm_content=creditCopyText" TargetMode="External"/><Relationship Id="rId3" Type="http://schemas.openxmlformats.org/officeDocument/2006/relationships/hyperlink" Target="https://unsplash.com/@hannaholinger?utm_source=unsplash&amp;utm_medium=referral&amp;utm_content=creditCopyText" TargetMode="External"/><Relationship Id="rId4" Type="http://schemas.openxmlformats.org/officeDocument/2006/relationships/hyperlink" Target="https://unsplash.com/s/photos/writing?utm_source=unsplash&amp;utm_medium=referral&amp;utm_content=creditCopyText" TargetMode="External"/><Relationship Id="rId5" Type="http://schemas.openxmlformats.org/officeDocument/2006/relationships/hyperlink" Target="https://unsplash.com/s/photos/writing?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annaholinger?utm_source=unsplash&amp;utm_medium=referral&amp;utm_content=creditCopyText" TargetMode="External"/><Relationship Id="rId3" Type="http://schemas.openxmlformats.org/officeDocument/2006/relationships/hyperlink" Target="https://unsplash.com/@hannaholinger?utm_source=unsplash&amp;utm_medium=referral&amp;utm_content=creditCopyText" TargetMode="External"/><Relationship Id="rId4" Type="http://schemas.openxmlformats.org/officeDocument/2006/relationships/hyperlink" Target="https://unsplash.com/s/photos/writing?utm_source=unsplash&amp;utm_medium=referral&amp;utm_content=creditCopyText" TargetMode="External"/><Relationship Id="rId5" Type="http://schemas.openxmlformats.org/officeDocument/2006/relationships/hyperlink" Target="https://unsplash.com/s/photos/writing?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ickmorrison?utm_source=unsplash&amp;utm_medium=referral&amp;utm_content=creditCopyText" TargetMode="External"/><Relationship Id="rId3" Type="http://schemas.openxmlformats.org/officeDocument/2006/relationships/hyperlink" Target="https://unsplash.com/@nickmorrison?utm_source=unsplash&amp;utm_medium=referral&amp;utm_content=creditCopyText" TargetMode="External"/><Relationship Id="rId4" Type="http://schemas.openxmlformats.org/officeDocument/2006/relationships/hyperlink" Target="https://unsplash.com/s/photos/writing?utm_source=unsplash&amp;utm_medium=referral&amp;utm_content=creditCopyText" TargetMode="External"/><Relationship Id="rId5" Type="http://schemas.openxmlformats.org/officeDocument/2006/relationships/hyperlink" Target="https://unsplash.com/s/photos/writing?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ickmorrison?utm_source=unsplash&amp;utm_medium=referral&amp;utm_content=creditCopyText" TargetMode="External"/><Relationship Id="rId3" Type="http://schemas.openxmlformats.org/officeDocument/2006/relationships/hyperlink" Target="https://unsplash.com/@nickmorrison?utm_source=unsplash&amp;utm_medium=referral&amp;utm_content=creditCopyText" TargetMode="External"/><Relationship Id="rId4" Type="http://schemas.openxmlformats.org/officeDocument/2006/relationships/hyperlink" Target="https://unsplash.com/s/photos/writing?utm_source=unsplash&amp;utm_medium=referral&amp;utm_content=creditCopyText" TargetMode="External"/><Relationship Id="rId5" Type="http://schemas.openxmlformats.org/officeDocument/2006/relationships/hyperlink" Target="https://unsplash.com/s/photos/writing?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ickmorrison?utm_source=unsplash&amp;utm_medium=referral&amp;utm_content=creditCopyText" TargetMode="External"/><Relationship Id="rId3" Type="http://schemas.openxmlformats.org/officeDocument/2006/relationships/hyperlink" Target="https://unsplash.com/@nickmorrison?utm_source=unsplash&amp;utm_medium=referral&amp;utm_content=creditCopyText" TargetMode="External"/><Relationship Id="rId4" Type="http://schemas.openxmlformats.org/officeDocument/2006/relationships/hyperlink" Target="https://unsplash.com/s/photos/writing?utm_source=unsplash&amp;utm_medium=referral&amp;utm_content=creditCopyText" TargetMode="External"/><Relationship Id="rId5" Type="http://schemas.openxmlformats.org/officeDocument/2006/relationships/hyperlink" Target="https://unsplash.com/s/photos/writing?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ickmorrison?utm_source=unsplash&amp;utm_medium=referral&amp;utm_content=creditCopyText" TargetMode="External"/><Relationship Id="rId3" Type="http://schemas.openxmlformats.org/officeDocument/2006/relationships/hyperlink" Target="https://unsplash.com/@nickmorrison?utm_source=unsplash&amp;utm_medium=referral&amp;utm_content=creditCopyText" TargetMode="External"/><Relationship Id="rId4" Type="http://schemas.openxmlformats.org/officeDocument/2006/relationships/hyperlink" Target="https://unsplash.com/s/photos/writing?utm_source=unsplash&amp;utm_medium=referral&amp;utm_content=creditCopyText" TargetMode="External"/><Relationship Id="rId5" Type="http://schemas.openxmlformats.org/officeDocument/2006/relationships/hyperlink" Target="https://unsplash.com/s/photos/writing?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ickmorrison?utm_source=unsplash&amp;utm_medium=referral&amp;utm_content=creditCopyText" TargetMode="External"/><Relationship Id="rId3" Type="http://schemas.openxmlformats.org/officeDocument/2006/relationships/hyperlink" Target="https://unsplash.com/@nickmorrison?utm_source=unsplash&amp;utm_medium=referral&amp;utm_content=creditCopyText" TargetMode="External"/><Relationship Id="rId4" Type="http://schemas.openxmlformats.org/officeDocument/2006/relationships/hyperlink" Target="https://unsplash.com/s/photos/writing?utm_source=unsplash&amp;utm_medium=referral&amp;utm_content=creditCopyText" TargetMode="External"/><Relationship Id="rId5" Type="http://schemas.openxmlformats.org/officeDocument/2006/relationships/hyperlink" Target="https://unsplash.com/s/photos/writing?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beginner.com/ux-portfolio-course/"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beginner.com/ux-portfolio-course/"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beginner.com/ux-portfolio-course/"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beginner.com/ux-portfolio-course/"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beginner.com/ux-portfolio-course/"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beginner.com/ux-portfolio-course/"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beginner.com/ux-portfolio-course/"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omenicoloia?utm_source=unsplash&amp;utm_medium=referral&amp;utm_content=creditCopyText" TargetMode="External"/><Relationship Id="rId3" Type="http://schemas.openxmlformats.org/officeDocument/2006/relationships/hyperlink" Target="https://unsplash.com/@domenicoloia?utm_source=unsplash&amp;utm_medium=referral&amp;utm_content=creditCopyText" TargetMode="External"/><Relationship Id="rId4" Type="http://schemas.openxmlformats.org/officeDocument/2006/relationships/hyperlink" Target="https://unsplash.com/s/photos/portfolio?utm_source=unsplash&amp;utm_medium=referral&amp;utm_content=creditCopyText" TargetMode="External"/><Relationship Id="rId5" Type="http://schemas.openxmlformats.org/officeDocument/2006/relationships/hyperlink" Target="https://unsplash.com/s/photos/portfolio?utm_source=unsplash&amp;utm_medium=referral&amp;utm_content=creditCopyText"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omenicoloia?utm_source=unsplash&amp;utm_medium=referral&amp;utm_content=creditCopyText" TargetMode="External"/><Relationship Id="rId3" Type="http://schemas.openxmlformats.org/officeDocument/2006/relationships/hyperlink" Target="https://unsplash.com/@domenicoloia?utm_source=unsplash&amp;utm_medium=referral&amp;utm_content=creditCopyText" TargetMode="External"/><Relationship Id="rId4" Type="http://schemas.openxmlformats.org/officeDocument/2006/relationships/hyperlink" Target="https://unsplash.com/s/photos/portfolio?utm_source=unsplash&amp;utm_medium=referral&amp;utm_content=creditCopyText" TargetMode="External"/><Relationship Id="rId5" Type="http://schemas.openxmlformats.org/officeDocument/2006/relationships/hyperlink" Target="https://unsplash.com/s/photos/portfolio?utm_source=unsplash&amp;utm_medium=referral&amp;utm_content=creditCopyText"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e_buzz?utm_source=unsplash&amp;utm_medium=referral&amp;utm_content=creditCopyText" TargetMode="External"/><Relationship Id="rId3" Type="http://schemas.openxmlformats.org/officeDocument/2006/relationships/hyperlink" Target="https://unsplash.com/@le_buzz?utm_source=unsplash&amp;utm_medium=referral&amp;utm_content=creditCopyText" TargetMode="External"/><Relationship Id="rId4" Type="http://schemas.openxmlformats.org/officeDocument/2006/relationships/hyperlink" Target="https://unsplash.com/s/photos/website?utm_source=unsplash&amp;utm_medium=referral&amp;utm_content=creditCopyText" TargetMode="External"/><Relationship Id="rId5" Type="http://schemas.openxmlformats.org/officeDocument/2006/relationships/hyperlink" Target="https://unsplash.com/s/photos/website?utm_source=unsplash&amp;utm_medium=referral&amp;utm_content=creditCopyText"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e_buzz?utm_source=unsplash&amp;utm_medium=referral&amp;utm_content=creditCopyText" TargetMode="External"/><Relationship Id="rId3" Type="http://schemas.openxmlformats.org/officeDocument/2006/relationships/hyperlink" Target="https://unsplash.com/@le_buzz?utm_source=unsplash&amp;utm_medium=referral&amp;utm_content=creditCopyText" TargetMode="External"/><Relationship Id="rId4" Type="http://schemas.openxmlformats.org/officeDocument/2006/relationships/hyperlink" Target="https://unsplash.com/s/photos/website?utm_source=unsplash&amp;utm_medium=referral&amp;utm_content=creditCopyText" TargetMode="External"/><Relationship Id="rId5" Type="http://schemas.openxmlformats.org/officeDocument/2006/relationships/hyperlink" Target="https://unsplash.com/s/photos/website?utm_source=unsplash&amp;utm_medium=referral&amp;utm_content=creditCopyText"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246dbdf5c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246dbdf5c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246dbdf5c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246dbdf5c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22e1f8b40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22e1f8b40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22e1f8b40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22e1f8b40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22e1f8b40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22e1f8b40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Domenico Loia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246dbdf5c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246dbdf5c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Domenico Loia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22e1f8b40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22e1f8b40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Hannah Olinger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246dbdf5c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246dbdf5c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Hannah Olinger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22e1f8b407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22e1f8b407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Nick Morrison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246dbdf5c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246dbdf5c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Nick Morrison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22e1f8b407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22e1f8b407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Nick Morrison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21e3d11e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21e3d11e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Nick Morrison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24c7e63e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24c7e63e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Nick Morrison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22e1f8b407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22e1f8b407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https://www.nngroup.com/articles/ux-design-portfolios/</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21e3d11e6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21e3d11e6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https://www.nngroup.com/articles/ux-design-portfolios/</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22e1f8b407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22e1f8b407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https://www.nngroup.com/articles/ux-design-portfolios/</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22e1f8b407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22e1f8b407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https://www.nngroup.com/articles/ux-design-portfolios/</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24c7e63e4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24c7e63e4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https://www.nngroup.com/articles/ux-design-portfolios/</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22e1f8b407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22e1f8b407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0df2df513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0df2df513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https://www.uxbeginner.com/ux-portfolio-course/</a:t>
            </a:r>
            <a:r>
              <a:rPr lang="en">
                <a:solidFill>
                  <a:schemeClr val="dk1"/>
                </a:solidFill>
              </a:rPr>
              <a:t>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22e1f8b40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22e1f8b4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https://www.uxbeginner.com/ux-portfolio-course/</a:t>
            </a:r>
            <a:r>
              <a:rPr lang="en">
                <a:solidFill>
                  <a:schemeClr val="dk1"/>
                </a:solidFill>
              </a:rPr>
              <a:t>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21e3d11e64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121e3d11e64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https://www.uxbeginner.com/ux-portfolio-course/</a:t>
            </a:r>
            <a:r>
              <a:rPr lang="en">
                <a:solidFill>
                  <a:schemeClr val="dk1"/>
                </a:solidFill>
              </a:rPr>
              <a:t>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22e1f8b40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22e1f8b40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https://www.uxbeginner.com/ux-portfolio-course/</a:t>
            </a:r>
            <a:r>
              <a:rPr lang="en">
                <a:solidFill>
                  <a:schemeClr val="dk1"/>
                </a:solidFill>
              </a:rPr>
              <a:t>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22e1f8b407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22e1f8b407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https://www.uxbeginner.com/ux-portfolio-course/</a:t>
            </a:r>
            <a:r>
              <a:rPr lang="en">
                <a:solidFill>
                  <a:schemeClr val="dk1"/>
                </a:solidFill>
              </a:rPr>
              <a:t>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21e3d11e64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21e3d11e64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https://www.uxbeginner.com/ux-portfolio-course/</a:t>
            </a:r>
            <a:r>
              <a:rPr lang="en">
                <a:solidFill>
                  <a:schemeClr val="dk1"/>
                </a:solidFill>
              </a:rPr>
              <a:t>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22e1f8b407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22e1f8b407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https://www.uxbeginner.com/ux-portfolio-course/</a:t>
            </a:r>
            <a:r>
              <a:rPr lang="en">
                <a:solidFill>
                  <a:schemeClr val="dk1"/>
                </a:solidFill>
              </a:rPr>
              <a:t>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1a1a4f969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1a1a4f969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24c7e63e4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124c7e63e4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Domenico Loia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22e1f8b407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122e1f8b407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Domenico Loia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22e1f8b407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22e1f8b407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122e1f8b407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122e1f8b407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22e1f8b407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122e1f8b407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22e1f8b407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122e1f8b407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122e1f8b407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122e1f8b407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122e1f8b407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122e1f8b407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22e1f8b40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22e1f8b40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11a1a4f969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11a1a4f969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Le Buzz</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121e3d11e64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121e3d11e64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Le Buzz</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122e1f8b407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122e1f8b407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122e1f8b407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122e1f8b407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122e1f8b407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122e1f8b407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22e1f8b407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22e1f8b407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22e1f8b407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122e1f8b407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121e3d11e64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121e3d11e64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11421c87e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111421c87e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11174bdd19f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11174bdd19f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122e1f8b407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122e1f8b407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11882651c61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11882651c61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122e1f8b407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122e1f8b407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11882651c61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11882651c61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122e1f8b407_0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122e1f8b407_0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11882651c61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11882651c61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122e1f8b407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122e1f8b407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1198a76781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1198a76781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122e1f8b407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122e1f8b407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1198a767815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1198a76781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122e1f8b407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122e1f8b407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122e1f8b407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122e1f8b407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122e1f8b407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122e1f8b407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121e3d11e64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121e3d11e64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nngroup.com/articles/ux-design-portfolios/" TargetMode="Externa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www.nngroup.com/articles/ux-design-portfolios/" TargetMode="Externa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6.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7.png"/><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7.png"/><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portfolio.adobe.com/" TargetMode="External"/><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uxfol.io/" TargetMode="External"/><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pinterest.com" TargetMode="External"/><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cargo.site/" TargetMode="Externa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carbonmade.com/" TargetMode="External"/><Relationship Id="rId4"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www.pixpa.com/" TargetMode="External"/><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www.youtube.com/watch?v=_NSA2OvivIM" TargetMode="External"/><Relationship Id="rId4" Type="http://schemas.openxmlformats.org/officeDocument/2006/relationships/image" Target="../media/image4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s://www.youtube.com/watch?v=hUNdNgoT34A" TargetMode="External"/><Relationship Id="rId4" Type="http://schemas.openxmlformats.org/officeDocument/2006/relationships/image" Target="../media/image4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s://www.youtube.com/watch?v=J2XglTkUmig" TargetMode="External"/><Relationship Id="rId4" Type="http://schemas.openxmlformats.org/officeDocument/2006/relationships/image" Target="../media/image4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4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2.png"/><Relationship Id="rId4" Type="http://schemas.openxmlformats.org/officeDocument/2006/relationships/hyperlink" Target="https://www.nngroup.com/articles/ux-design-portfolios/" TargetMode="External"/><Relationship Id="rId5" Type="http://schemas.openxmlformats.org/officeDocument/2006/relationships/hyperlink" Target="https://www.nngroup.com/articles/ux-design-portfolios/" TargetMode="External"/><Relationship Id="rId6" Type="http://schemas.openxmlformats.org/officeDocument/2006/relationships/hyperlink" Target="https://www.uxbeginner.com/ux-portfolio-course/#" TargetMode="External"/><Relationship Id="rId7" Type="http://schemas.openxmlformats.org/officeDocument/2006/relationships/hyperlink" Target="https://careerfoundry.com/en/blog/ux-design/best-free-ux-ui-portfolio-websites/#pixpa" TargetMode="External"/><Relationship Id="rId8" Type="http://schemas.openxmlformats.org/officeDocument/2006/relationships/hyperlink" Target="https://uxdesignmastery.com/ux-portfolio-case-study-template-plus-examples-from-successful-hires/"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 Id="rId3" Type="http://schemas.openxmlformats.org/officeDocument/2006/relationships/image" Target="../media/image3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 Id="rId3" Type="http://schemas.openxmlformats.org/officeDocument/2006/relationships/image" Target="../media/image45.png"/><Relationship Id="rId4" Type="http://schemas.openxmlformats.org/officeDocument/2006/relationships/image" Target="../media/image41.png"/><Relationship Id="rId5" Type="http://schemas.openxmlformats.org/officeDocument/2006/relationships/image" Target="../media/image35.png"/><Relationship Id="rId6"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Menyusun Portfolio</a:t>
            </a:r>
            <a:endParaRPr b="1" sz="2400">
              <a:solidFill>
                <a:srgbClr val="FFFFFF"/>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Gold </a:t>
            </a:r>
            <a:r>
              <a:rPr lang="en">
                <a:solidFill>
                  <a:schemeClr val="lt1"/>
                </a:solidFill>
                <a:latin typeface="Montserrat"/>
                <a:ea typeface="Montserrat"/>
                <a:cs typeface="Montserrat"/>
                <a:sym typeface="Montserrat"/>
              </a:rPr>
              <a:t>- Chapter 7 - Topic 3</a:t>
            </a:r>
            <a:endParaRPr>
              <a:solidFill>
                <a:srgbClr val="FFFFFF"/>
              </a:solidFill>
              <a:latin typeface="Montserrat"/>
              <a:ea typeface="Montserrat"/>
              <a:cs typeface="Montserrat"/>
              <a:sym typeface="Montserrat"/>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7 Topic 3</a:t>
            </a:r>
            <a:r>
              <a:rPr b="1" lang="en" sz="1600">
                <a:solidFill>
                  <a:srgbClr val="FFFFFF"/>
                </a:solidFill>
                <a:latin typeface="Montserrat"/>
                <a:ea typeface="Montserrat"/>
                <a:cs typeface="Montserrat"/>
                <a:sym typeface="Montserrat"/>
              </a:rPr>
              <a:t> 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07" name="Google Shape;107;p21"/>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14" name="Google Shape;114;p22"/>
          <p:cNvSpPr txBox="1"/>
          <p:nvPr/>
        </p:nvSpPr>
        <p:spPr>
          <a:xfrm>
            <a:off x="685800" y="1782900"/>
            <a:ext cx="4491600" cy="1719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rgbClr val="743673"/>
                </a:solidFill>
                <a:latin typeface="Montserrat"/>
                <a:ea typeface="Montserrat"/>
                <a:cs typeface="Montserrat"/>
                <a:sym typeface="Montserrat"/>
              </a:rPr>
              <a:t>Makan cimol pake bumbu asin,</a:t>
            </a:r>
            <a:endParaRPr b="1">
              <a:solidFill>
                <a:srgbClr val="743673"/>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rgbClr val="743673"/>
                </a:solidFill>
                <a:latin typeface="Montserrat"/>
                <a:ea typeface="Montserrat"/>
                <a:cs typeface="Montserrat"/>
                <a:sym typeface="Montserrat"/>
              </a:rPr>
              <a:t>Masih ingat kan bahasan kemarin? 👀</a:t>
            </a:r>
            <a:endParaRPr b="1">
              <a:solidFill>
                <a:srgbClr val="743673"/>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Yup, kemarin kita sudah membahas apa itu portofolio, mengapa penting, dan jenis-jenisnya.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langsung aja yuk memperdalam bahasan portofolio seputar cara penyusunan dan alat apa saja yang bisa digunakan ~</a:t>
            </a:r>
            <a:endParaRPr sz="1000">
              <a:solidFill>
                <a:schemeClr val="dk1"/>
              </a:solidFill>
              <a:latin typeface="Montserrat"/>
              <a:ea typeface="Montserrat"/>
              <a:cs typeface="Montserrat"/>
              <a:sym typeface="Montserrat"/>
            </a:endParaRPr>
          </a:p>
        </p:txBody>
      </p:sp>
      <p:pic>
        <p:nvPicPr>
          <p:cNvPr id="115" name="Google Shape;115;p22"/>
          <p:cNvPicPr preferRelativeResize="0"/>
          <p:nvPr/>
        </p:nvPicPr>
        <p:blipFill>
          <a:blip r:embed="rId3">
            <a:alphaModFix/>
          </a:blip>
          <a:stretch>
            <a:fillRect/>
          </a:stretch>
        </p:blipFill>
        <p:spPr>
          <a:xfrm>
            <a:off x="5667675" y="1160426"/>
            <a:ext cx="2164950" cy="3411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pic>
        <p:nvPicPr>
          <p:cNvPr id="122" name="Google Shape;122;p23"/>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23" name="Google Shape;123;p23"/>
          <p:cNvSpPr txBox="1"/>
          <p:nvPr/>
        </p:nvSpPr>
        <p:spPr>
          <a:xfrm>
            <a:off x="685800" y="1288963"/>
            <a:ext cx="4114800" cy="6864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rgbClr val="FFFFFF"/>
                </a:highlight>
                <a:latin typeface="Montserrat"/>
                <a:ea typeface="Montserrat"/>
                <a:cs typeface="Montserrat"/>
                <a:sym typeface="Montserrat"/>
              </a:rPr>
              <a:t>Kali ini, kita akan mempelajari:</a:t>
            </a:r>
            <a:endParaRPr sz="1200">
              <a:solidFill>
                <a:srgbClr val="000000"/>
              </a:solidFill>
              <a:latin typeface="Montserrat Medium"/>
              <a:ea typeface="Montserrat Medium"/>
              <a:cs typeface="Montserrat Medium"/>
              <a:sym typeface="Montserrat Medium"/>
            </a:endParaRPr>
          </a:p>
        </p:txBody>
      </p:sp>
      <p:sp>
        <p:nvSpPr>
          <p:cNvPr id="124" name="Google Shape;124;p23"/>
          <p:cNvSpPr/>
          <p:nvPr/>
        </p:nvSpPr>
        <p:spPr>
          <a:xfrm>
            <a:off x="685800" y="21463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5" name="Google Shape;125;p23"/>
          <p:cNvSpPr/>
          <p:nvPr/>
        </p:nvSpPr>
        <p:spPr>
          <a:xfrm>
            <a:off x="685800" y="26074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6" name="Google Shape;126;p23"/>
          <p:cNvSpPr/>
          <p:nvPr/>
        </p:nvSpPr>
        <p:spPr>
          <a:xfrm>
            <a:off x="685800" y="30686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7" name="Google Shape;127;p23"/>
          <p:cNvSpPr/>
          <p:nvPr/>
        </p:nvSpPr>
        <p:spPr>
          <a:xfrm>
            <a:off x="685800" y="35297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8" name="Google Shape;128;p23"/>
          <p:cNvSpPr txBox="1"/>
          <p:nvPr/>
        </p:nvSpPr>
        <p:spPr>
          <a:xfrm>
            <a:off x="1182350" y="207745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Strategi content-first</a:t>
            </a:r>
            <a:endParaRPr sz="1200">
              <a:solidFill>
                <a:srgbClr val="000000"/>
              </a:solidFill>
              <a:latin typeface="Montserrat"/>
              <a:ea typeface="Montserrat"/>
              <a:cs typeface="Montserrat"/>
              <a:sym typeface="Montserrat"/>
            </a:endParaRPr>
          </a:p>
        </p:txBody>
      </p:sp>
      <p:sp>
        <p:nvSpPr>
          <p:cNvPr id="129" name="Google Shape;129;p23"/>
          <p:cNvSpPr txBox="1"/>
          <p:nvPr/>
        </p:nvSpPr>
        <p:spPr>
          <a:xfrm>
            <a:off x="1182350" y="253860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Piramida UX portfolio</a:t>
            </a:r>
            <a:endParaRPr sz="1200">
              <a:solidFill>
                <a:srgbClr val="000000"/>
              </a:solidFill>
              <a:latin typeface="Montserrat"/>
              <a:ea typeface="Montserrat"/>
              <a:cs typeface="Montserrat"/>
              <a:sym typeface="Montserrat"/>
            </a:endParaRPr>
          </a:p>
        </p:txBody>
      </p:sp>
      <p:sp>
        <p:nvSpPr>
          <p:cNvPr id="130" name="Google Shape;130;p23"/>
          <p:cNvSpPr txBox="1"/>
          <p:nvPr/>
        </p:nvSpPr>
        <p:spPr>
          <a:xfrm>
            <a:off x="1182350" y="299975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Platform portfolio</a:t>
            </a:r>
            <a:endParaRPr sz="1200">
              <a:solidFill>
                <a:srgbClr val="000000"/>
              </a:solidFill>
              <a:latin typeface="Montserrat"/>
              <a:ea typeface="Montserrat"/>
              <a:cs typeface="Montserrat"/>
              <a:sym typeface="Montserrat"/>
            </a:endParaRPr>
          </a:p>
        </p:txBody>
      </p:sp>
      <p:sp>
        <p:nvSpPr>
          <p:cNvPr id="131" name="Google Shape;131;p23"/>
          <p:cNvSpPr txBox="1"/>
          <p:nvPr/>
        </p:nvSpPr>
        <p:spPr>
          <a:xfrm>
            <a:off x="1182350" y="3460913"/>
            <a:ext cx="34728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No-code website builders</a:t>
            </a:r>
            <a:endParaRPr sz="1200">
              <a:solidFill>
                <a:srgbClr val="000000"/>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E2B62">
            <a:alpha val="43920"/>
          </a:srgbClr>
        </a:solidFill>
      </p:bgPr>
    </p:bg>
    <p:spTree>
      <p:nvGrpSpPr>
        <p:cNvPr id="135" name="Shape 135"/>
        <p:cNvGrpSpPr/>
        <p:nvPr/>
      </p:nvGrpSpPr>
      <p:grpSpPr>
        <a:xfrm>
          <a:off x="0" y="0"/>
          <a:ext cx="0" cy="0"/>
          <a:chOff x="0" y="0"/>
          <a:chExt cx="0" cy="0"/>
        </a:xfrm>
      </p:grpSpPr>
      <p:sp>
        <p:nvSpPr>
          <p:cNvPr id="136" name="Google Shape;136;p24"/>
          <p:cNvSpPr txBox="1"/>
          <p:nvPr/>
        </p:nvSpPr>
        <p:spPr>
          <a:xfrm>
            <a:off x="664675" y="1430850"/>
            <a:ext cx="5497500" cy="2281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3500">
                <a:solidFill>
                  <a:srgbClr val="743673"/>
                </a:solidFill>
                <a:latin typeface="Montserrat"/>
                <a:ea typeface="Montserrat"/>
                <a:cs typeface="Montserrat"/>
                <a:sym typeface="Montserrat"/>
              </a:rPr>
              <a:t>Looking for jobs without a portfolio is like going overseas without a passport </a:t>
            </a:r>
            <a:endParaRPr sz="3500">
              <a:solidFill>
                <a:schemeClr val="dk1"/>
              </a:solidFill>
              <a:latin typeface="Montserrat Medium"/>
              <a:ea typeface="Montserrat Medium"/>
              <a:cs typeface="Montserrat Medium"/>
              <a:sym typeface="Montserrat Medium"/>
            </a:endParaRPr>
          </a:p>
        </p:txBody>
      </p:sp>
      <p:sp>
        <p:nvSpPr>
          <p:cNvPr id="137" name="Google Shape;137;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b="1" lang="en">
                <a:latin typeface="Raleway"/>
                <a:ea typeface="Raleway"/>
                <a:cs typeface="Raleway"/>
                <a:sym typeface="Raleway"/>
              </a:rPr>
              <a:t>‹#›</a:t>
            </a:fld>
            <a:endParaRPr b="1">
              <a:latin typeface="Raleway"/>
              <a:ea typeface="Raleway"/>
              <a:cs typeface="Raleway"/>
              <a:sym typeface="Ralew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143" name="Google Shape;143;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4" name="Google Shape;144;p25"/>
          <p:cNvSpPr txBox="1"/>
          <p:nvPr/>
        </p:nvSpPr>
        <p:spPr>
          <a:xfrm>
            <a:off x="685800" y="2048400"/>
            <a:ext cx="4491600" cy="104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Pertama, kita akan mempelajari </a:t>
            </a:r>
            <a:r>
              <a:rPr b="1" lang="en">
                <a:solidFill>
                  <a:srgbClr val="F2AB2F"/>
                </a:solidFill>
                <a:latin typeface="Montserrat"/>
                <a:ea typeface="Montserrat"/>
                <a:cs typeface="Montserrat"/>
                <a:sym typeface="Montserrat"/>
              </a:rPr>
              <a:t>strategi content-first</a:t>
            </a:r>
            <a:r>
              <a:rPr b="1" lang="en">
                <a:solidFill>
                  <a:schemeClr val="lt1"/>
                </a:solidFill>
                <a:latin typeface="Montserrat"/>
                <a:ea typeface="Montserrat"/>
                <a:cs typeface="Montserrat"/>
                <a:sym typeface="Montserrat"/>
              </a:rPr>
              <a:t> untuk menyusun portofolio.</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Wah, gimana tuh? Yuk kita pelajari bareng ~</a:t>
            </a:r>
            <a:endParaRPr b="1">
              <a:solidFill>
                <a:schemeClr val="lt1"/>
              </a:solidFill>
              <a:latin typeface="Montserrat"/>
              <a:ea typeface="Montserrat"/>
              <a:cs typeface="Montserrat"/>
              <a:sym typeface="Montserrat"/>
            </a:endParaRPr>
          </a:p>
        </p:txBody>
      </p:sp>
      <p:pic>
        <p:nvPicPr>
          <p:cNvPr id="145" name="Google Shape;145;p25"/>
          <p:cNvPicPr preferRelativeResize="0"/>
          <p:nvPr/>
        </p:nvPicPr>
        <p:blipFill>
          <a:blip r:embed="rId3">
            <a:alphaModFix/>
          </a:blip>
          <a:stretch>
            <a:fillRect/>
          </a:stretch>
        </p:blipFill>
        <p:spPr>
          <a:xfrm>
            <a:off x="5410200" y="1074050"/>
            <a:ext cx="2608199" cy="34217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1" name="Google Shape;151;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152" name="Google Shape;152;p26"/>
          <p:cNvSpPr txBox="1"/>
          <p:nvPr/>
        </p:nvSpPr>
        <p:spPr>
          <a:xfrm>
            <a:off x="685800" y="1990650"/>
            <a:ext cx="4114800" cy="1162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Menyusun Portfolio</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Portofolio akan selalu menjadi bagian dari proses kamu sebagai seorang desainer. Ia dapat menunjukkan keterampilan dan pengalaman kamu, serta menarik para rekruiter atau klien untuk mempekerjakan kamu.</a:t>
            </a:r>
            <a:endParaRPr sz="1000">
              <a:solidFill>
                <a:schemeClr val="dk1"/>
              </a:solidFill>
              <a:latin typeface="Montserrat"/>
              <a:ea typeface="Montserrat"/>
              <a:cs typeface="Montserrat"/>
              <a:sym typeface="Montserrat"/>
            </a:endParaRPr>
          </a:p>
        </p:txBody>
      </p:sp>
      <p:pic>
        <p:nvPicPr>
          <p:cNvPr id="153" name="Google Shape;153;p26"/>
          <p:cNvPicPr preferRelativeResize="0"/>
          <p:nvPr/>
        </p:nvPicPr>
        <p:blipFill>
          <a:blip r:embed="rId3">
            <a:alphaModFix/>
          </a:blip>
          <a:stretch>
            <a:fillRect/>
          </a:stretch>
        </p:blipFill>
        <p:spPr>
          <a:xfrm>
            <a:off x="5455200" y="1195225"/>
            <a:ext cx="2662522" cy="3452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9" name="Google Shape;159;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160" name="Google Shape;160;p27"/>
          <p:cNvSpPr txBox="1"/>
          <p:nvPr/>
        </p:nvSpPr>
        <p:spPr>
          <a:xfrm>
            <a:off x="685800" y="2222550"/>
            <a:ext cx="4114800" cy="698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itu, proses penyusunan portofolio memungkinkan kamu untuk mengidentifikasi keterampilan dan pencapaian, sambil merenungkan pekerjaan yang ingin kamu lakukan di masa mendatang.</a:t>
            </a:r>
            <a:endParaRPr b="1" sz="1600">
              <a:solidFill>
                <a:srgbClr val="743673"/>
              </a:solidFill>
              <a:highlight>
                <a:schemeClr val="lt1"/>
              </a:highlight>
              <a:latin typeface="Montserrat"/>
              <a:ea typeface="Montserrat"/>
              <a:cs typeface="Montserrat"/>
              <a:sym typeface="Montserrat"/>
            </a:endParaRPr>
          </a:p>
        </p:txBody>
      </p:sp>
      <p:pic>
        <p:nvPicPr>
          <p:cNvPr id="161" name="Google Shape;161;p27"/>
          <p:cNvPicPr preferRelativeResize="0"/>
          <p:nvPr/>
        </p:nvPicPr>
        <p:blipFill>
          <a:blip r:embed="rId3">
            <a:alphaModFix/>
          </a:blip>
          <a:stretch>
            <a:fillRect/>
          </a:stretch>
        </p:blipFill>
        <p:spPr>
          <a:xfrm>
            <a:off x="5874975" y="1148800"/>
            <a:ext cx="1693376" cy="340000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7" name="Google Shape;167;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168" name="Google Shape;168;p28"/>
          <p:cNvSpPr txBox="1"/>
          <p:nvPr/>
        </p:nvSpPr>
        <p:spPr>
          <a:xfrm>
            <a:off x="685800" y="2090997"/>
            <a:ext cx="4114800" cy="961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Mengawali Penyusunan Portfolio</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Daripada menghabiskan waktu berjam-jam memikirkan detail tampilan portofolio, kita bisa </a:t>
            </a:r>
            <a:r>
              <a:rPr b="1" lang="en" sz="1000">
                <a:solidFill>
                  <a:schemeClr val="dk1"/>
                </a:solidFill>
                <a:latin typeface="Montserrat"/>
                <a:ea typeface="Montserrat"/>
                <a:cs typeface="Montserrat"/>
                <a:sym typeface="Montserrat"/>
              </a:rPr>
              <a:t>mengawali proses penyusunan dengan menulis konten studi kasus yang akan ditampilkan</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169" name="Google Shape;169;p28"/>
          <p:cNvPicPr preferRelativeResize="0"/>
          <p:nvPr/>
        </p:nvPicPr>
        <p:blipFill>
          <a:blip r:embed="rId3">
            <a:alphaModFix/>
          </a:blip>
          <a:stretch>
            <a:fillRect/>
          </a:stretch>
        </p:blipFill>
        <p:spPr>
          <a:xfrm>
            <a:off x="5484925" y="1104525"/>
            <a:ext cx="2347703" cy="347404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5" name="Google Shape;175;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176" name="Google Shape;176;p29"/>
          <p:cNvSpPr txBox="1"/>
          <p:nvPr/>
        </p:nvSpPr>
        <p:spPr>
          <a:xfrm>
            <a:off x="685800" y="1768798"/>
            <a:ext cx="4114800" cy="1605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Kalau masih ragu dari memulai dari mana, kamu bisa mencoba langkah-langkah di bawah ini: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SzPts val="1000"/>
              <a:buFont typeface="Montserrat"/>
              <a:buAutoNum type="arabicPeriod"/>
            </a:pPr>
            <a:r>
              <a:rPr lang="en" sz="1000">
                <a:solidFill>
                  <a:schemeClr val="dk1"/>
                </a:solidFill>
                <a:latin typeface="Montserrat"/>
                <a:ea typeface="Montserrat"/>
                <a:cs typeface="Montserrat"/>
                <a:sym typeface="Montserrat"/>
              </a:rPr>
              <a:t>Mengikuti alur penyusunan studi kasus  yang telah kita bahas di topik 1</a:t>
            </a:r>
            <a:endParaRPr sz="1000">
              <a:solidFill>
                <a:schemeClr val="dk1"/>
              </a:solidFill>
              <a:latin typeface="Montserrat"/>
              <a:ea typeface="Montserrat"/>
              <a:cs typeface="Montserrat"/>
              <a:sym typeface="Montserrat"/>
            </a:endParaRPr>
          </a:p>
          <a:p>
            <a:pPr indent="0" lvl="0" marL="45720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SzPts val="1000"/>
              <a:buFont typeface="Montserrat"/>
              <a:buAutoNum type="arabicPeriod"/>
            </a:pPr>
            <a:r>
              <a:rPr lang="en" sz="1000">
                <a:solidFill>
                  <a:schemeClr val="dk1"/>
                </a:solidFill>
                <a:latin typeface="Montserrat"/>
                <a:ea typeface="Montserrat"/>
                <a:cs typeface="Montserrat"/>
                <a:sym typeface="Montserrat"/>
              </a:rPr>
              <a:t>Menggunakan sebuah template konten yang terbukti ampuh dan bisa mempercepat pembuatan studi kasus portfolio UX kamu di </a:t>
            </a: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NNGroup case study template</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177" name="Google Shape;177;p29"/>
          <p:cNvPicPr preferRelativeResize="0"/>
          <p:nvPr/>
        </p:nvPicPr>
        <p:blipFill>
          <a:blip r:embed="rId4">
            <a:alphaModFix/>
          </a:blip>
          <a:stretch>
            <a:fillRect/>
          </a:stretch>
        </p:blipFill>
        <p:spPr>
          <a:xfrm>
            <a:off x="5340300" y="979762"/>
            <a:ext cx="2492326" cy="35112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3" name="Google Shape;183;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184" name="Google Shape;184;p30"/>
          <p:cNvSpPr txBox="1"/>
          <p:nvPr/>
        </p:nvSpPr>
        <p:spPr>
          <a:xfrm>
            <a:off x="685800" y="1721248"/>
            <a:ext cx="4114800" cy="1701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Strategi content-first</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Memikirkan isi daripada kemasan adalah pengertian sederhana dari strategi content-first.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Masih ingat tahapan menyusun studi kasus? Nah, pada dasarnya, menyusun portofolio dengan memulai penulisan studi kasus merupakan praktik terbaik yang selaras dengan </a:t>
            </a:r>
            <a:r>
              <a:rPr b="1" lang="en" sz="1000">
                <a:solidFill>
                  <a:schemeClr val="dk1"/>
                </a:solidFill>
                <a:latin typeface="Montserrat"/>
                <a:ea typeface="Montserrat"/>
                <a:cs typeface="Montserrat"/>
                <a:sym typeface="Montserrat"/>
              </a:rPr>
              <a:t>strategi content-first di mana mengutamakan konten.</a:t>
            </a:r>
            <a:endParaRPr sz="1000">
              <a:solidFill>
                <a:schemeClr val="dk1"/>
              </a:solidFill>
              <a:latin typeface="Montserrat"/>
              <a:ea typeface="Montserrat"/>
              <a:cs typeface="Montserrat"/>
              <a:sym typeface="Montserrat"/>
            </a:endParaRPr>
          </a:p>
        </p:txBody>
      </p:sp>
      <p:pic>
        <p:nvPicPr>
          <p:cNvPr id="185" name="Google Shape;185;p30"/>
          <p:cNvPicPr preferRelativeResize="0"/>
          <p:nvPr/>
        </p:nvPicPr>
        <p:blipFill>
          <a:blip r:embed="rId3">
            <a:alphaModFix/>
          </a:blip>
          <a:stretch>
            <a:fillRect/>
          </a:stretch>
        </p:blipFill>
        <p:spPr>
          <a:xfrm>
            <a:off x="5431850" y="1069043"/>
            <a:ext cx="2644176" cy="357915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1" name="Google Shape;191;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192" name="Google Shape;192;p31"/>
          <p:cNvSpPr txBox="1"/>
          <p:nvPr/>
        </p:nvSpPr>
        <p:spPr>
          <a:xfrm>
            <a:off x="685800" y="2138396"/>
            <a:ext cx="4114800" cy="866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Pendekatan content-first tidak mengharuskan konten sepenuhnya ditulis dan dipoles sebelum memulai desain atau penambahan elemen visual.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Mendefinisikan struktur konten adalah yang terpenting.</a:t>
            </a:r>
            <a:endParaRPr b="1" sz="1000">
              <a:solidFill>
                <a:schemeClr val="dk1"/>
              </a:solidFill>
              <a:latin typeface="Montserrat"/>
              <a:ea typeface="Montserrat"/>
              <a:cs typeface="Montserrat"/>
              <a:sym typeface="Montserrat"/>
            </a:endParaRPr>
          </a:p>
        </p:txBody>
      </p:sp>
      <p:pic>
        <p:nvPicPr>
          <p:cNvPr id="193" name="Google Shape;193;p31"/>
          <p:cNvPicPr preferRelativeResize="0"/>
          <p:nvPr/>
        </p:nvPicPr>
        <p:blipFill>
          <a:blip r:embed="rId3">
            <a:alphaModFix/>
          </a:blip>
          <a:stretch>
            <a:fillRect/>
          </a:stretch>
        </p:blipFill>
        <p:spPr>
          <a:xfrm>
            <a:off x="5314650" y="1189625"/>
            <a:ext cx="2958927" cy="340870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9" name="Google Shape;199;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200" name="Google Shape;200;p32"/>
          <p:cNvSpPr txBox="1"/>
          <p:nvPr/>
        </p:nvSpPr>
        <p:spPr>
          <a:xfrm>
            <a:off x="685800" y="1710300"/>
            <a:ext cx="4114800" cy="1722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Menggunakan sebuah template untuk konten studi kasus</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Masih ingat kan jenis portofolio? Yup, bentuknya bisa berupa website atau PDF. </a:t>
            </a:r>
            <a:r>
              <a:rPr lang="en" sz="1000">
                <a:solidFill>
                  <a:schemeClr val="dk1"/>
                </a:solidFill>
                <a:latin typeface="Montserrat"/>
                <a:ea typeface="Montserrat"/>
                <a:cs typeface="Montserrat"/>
                <a:sym typeface="Montserrat"/>
              </a:rPr>
              <a:t>Nah, cara mengatur konten di dua jenis itu cukup berbeda nih, gengs.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Apa aja bedanya? Yuk simak ~</a:t>
            </a:r>
            <a:endParaRPr sz="1000">
              <a:solidFill>
                <a:schemeClr val="dk1"/>
              </a:solidFill>
              <a:latin typeface="Montserrat"/>
              <a:ea typeface="Montserrat"/>
              <a:cs typeface="Montserrat"/>
              <a:sym typeface="Montserrat"/>
            </a:endParaRPr>
          </a:p>
        </p:txBody>
      </p:sp>
      <p:pic>
        <p:nvPicPr>
          <p:cNvPr id="201" name="Google Shape;201;p32"/>
          <p:cNvPicPr preferRelativeResize="0"/>
          <p:nvPr/>
        </p:nvPicPr>
        <p:blipFill>
          <a:blip r:embed="rId3">
            <a:alphaModFix/>
          </a:blip>
          <a:stretch>
            <a:fillRect/>
          </a:stretch>
        </p:blipFill>
        <p:spPr>
          <a:xfrm>
            <a:off x="6044500" y="1183625"/>
            <a:ext cx="1788114" cy="34645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7" name="Google Shape;207;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208" name="Google Shape;208;p33"/>
          <p:cNvSpPr txBox="1"/>
          <p:nvPr/>
        </p:nvSpPr>
        <p:spPr>
          <a:xfrm>
            <a:off x="685800" y="2213103"/>
            <a:ext cx="4114800" cy="717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Saat menyusun portofolio berbasis web, kamu perlu menahan keinginan memaksimalkan desain pada template. </a:t>
            </a:r>
            <a:r>
              <a:rPr b="1" lang="en" sz="1000">
                <a:solidFill>
                  <a:schemeClr val="dk1"/>
                </a:solidFill>
                <a:latin typeface="Montserrat"/>
                <a:ea typeface="Montserrat"/>
                <a:cs typeface="Montserrat"/>
                <a:sym typeface="Montserrat"/>
              </a:rPr>
              <a:t>Konten harus menjadi fokus utama dan usahakan situs kamu memiliki kemudahan navigasi</a:t>
            </a:r>
            <a:r>
              <a:rPr lang="en" sz="1000">
                <a:solidFill>
                  <a:schemeClr val="dk1"/>
                </a:solidFill>
                <a:latin typeface="Montserrat"/>
                <a:ea typeface="Montserrat"/>
                <a:cs typeface="Montserrat"/>
                <a:sym typeface="Montserrat"/>
              </a:rPr>
              <a:t>.</a:t>
            </a:r>
            <a:endParaRPr sz="1200">
              <a:solidFill>
                <a:schemeClr val="dk1"/>
              </a:solidFill>
              <a:latin typeface="Montserrat Medium"/>
              <a:ea typeface="Montserrat Medium"/>
              <a:cs typeface="Montserrat Medium"/>
              <a:sym typeface="Montserrat Medium"/>
            </a:endParaRPr>
          </a:p>
        </p:txBody>
      </p:sp>
      <p:pic>
        <p:nvPicPr>
          <p:cNvPr id="209" name="Google Shape;209;p33"/>
          <p:cNvPicPr preferRelativeResize="0"/>
          <p:nvPr/>
        </p:nvPicPr>
        <p:blipFill>
          <a:blip r:embed="rId3">
            <a:alphaModFix/>
          </a:blip>
          <a:stretch>
            <a:fillRect/>
          </a:stretch>
        </p:blipFill>
        <p:spPr>
          <a:xfrm>
            <a:off x="5485675" y="1172000"/>
            <a:ext cx="2537896" cy="34762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5" name="Google Shape;215;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216" name="Google Shape;216;p34"/>
          <p:cNvSpPr txBox="1"/>
          <p:nvPr/>
        </p:nvSpPr>
        <p:spPr>
          <a:xfrm>
            <a:off x="685800" y="2239503"/>
            <a:ext cx="4114800" cy="66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Sedangkan PDF, kamu bisa dengan mudah menghapus dan menambahkan konten serta desainnya. </a:t>
            </a:r>
            <a:r>
              <a:rPr b="1" lang="en" sz="1000">
                <a:solidFill>
                  <a:schemeClr val="dk1"/>
                </a:solidFill>
                <a:latin typeface="Montserrat"/>
                <a:ea typeface="Montserrat"/>
                <a:cs typeface="Montserrat"/>
                <a:sym typeface="Montserrat"/>
              </a:rPr>
              <a:t>Kamu perlu menyesuaikan isi konten dengan pekerjaan yang sedang kamu lamar.</a:t>
            </a:r>
            <a:endParaRPr b="1" sz="1200">
              <a:solidFill>
                <a:schemeClr val="dk1"/>
              </a:solidFill>
              <a:latin typeface="Montserrat"/>
              <a:ea typeface="Montserrat"/>
              <a:cs typeface="Montserrat"/>
              <a:sym typeface="Montserrat"/>
            </a:endParaRPr>
          </a:p>
        </p:txBody>
      </p:sp>
      <p:pic>
        <p:nvPicPr>
          <p:cNvPr id="217" name="Google Shape;217;p34"/>
          <p:cNvPicPr preferRelativeResize="0"/>
          <p:nvPr/>
        </p:nvPicPr>
        <p:blipFill>
          <a:blip r:embed="rId3">
            <a:alphaModFix/>
          </a:blip>
          <a:stretch>
            <a:fillRect/>
          </a:stretch>
        </p:blipFill>
        <p:spPr>
          <a:xfrm>
            <a:off x="5032675" y="1130098"/>
            <a:ext cx="3113375" cy="343544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3" name="Google Shape;223;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224" name="Google Shape;224;p35"/>
          <p:cNvSpPr txBox="1"/>
          <p:nvPr/>
        </p:nvSpPr>
        <p:spPr>
          <a:xfrm>
            <a:off x="685800" y="1673700"/>
            <a:ext cx="4114800" cy="1796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Template konten pada</a:t>
            </a:r>
            <a:r>
              <a:rPr b="1" lang="en" sz="1600">
                <a:solidFill>
                  <a:srgbClr val="743673"/>
                </a:solidFill>
                <a:highlight>
                  <a:schemeClr val="lt1"/>
                </a:highlight>
                <a:latin typeface="Montserrat"/>
                <a:ea typeface="Montserrat"/>
                <a:cs typeface="Montserrat"/>
                <a:sym typeface="Montserrat"/>
              </a:rPr>
              <a:t> sebuah </a:t>
            </a:r>
            <a:br>
              <a:rPr b="1" lang="en" sz="1600">
                <a:solidFill>
                  <a:srgbClr val="743673"/>
                </a:solidFill>
                <a:highlight>
                  <a:schemeClr val="lt1"/>
                </a:highlight>
                <a:latin typeface="Montserrat"/>
                <a:ea typeface="Montserrat"/>
                <a:cs typeface="Montserrat"/>
                <a:sym typeface="Montserrat"/>
              </a:rPr>
            </a:br>
            <a:r>
              <a:rPr b="1" lang="en" sz="1600">
                <a:solidFill>
                  <a:srgbClr val="743673"/>
                </a:solidFill>
                <a:highlight>
                  <a:schemeClr val="lt1"/>
                </a:highlight>
                <a:latin typeface="Montserrat"/>
                <a:ea typeface="Montserrat"/>
                <a:cs typeface="Montserrat"/>
                <a:sym typeface="Montserrat"/>
              </a:rPr>
              <a:t>website portfolio</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Sebagai awalan, kamu mungkin perlu memasukkan 3 sampai 5 studi kasus ke website portofolio kamu.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Terus, kalau studi kasusnya berbeda-beda dari segi warna, elemen, visual, dan lain-lain, caranya menyampaikannya gimana ya?</a:t>
            </a:r>
            <a:endParaRPr sz="1000">
              <a:solidFill>
                <a:schemeClr val="dk1"/>
              </a:solidFill>
              <a:latin typeface="Montserrat"/>
              <a:ea typeface="Montserrat"/>
              <a:cs typeface="Montserrat"/>
              <a:sym typeface="Montserrat"/>
            </a:endParaRPr>
          </a:p>
        </p:txBody>
      </p:sp>
      <p:pic>
        <p:nvPicPr>
          <p:cNvPr id="225" name="Google Shape;225;p35"/>
          <p:cNvPicPr preferRelativeResize="0"/>
          <p:nvPr/>
        </p:nvPicPr>
        <p:blipFill>
          <a:blip r:embed="rId3">
            <a:alphaModFix/>
          </a:blip>
          <a:stretch>
            <a:fillRect/>
          </a:stretch>
        </p:blipFill>
        <p:spPr>
          <a:xfrm>
            <a:off x="4724400" y="1337178"/>
            <a:ext cx="3892201" cy="283592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1" name="Google Shape;231;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232" name="Google Shape;232;p36"/>
          <p:cNvSpPr txBox="1"/>
          <p:nvPr/>
        </p:nvSpPr>
        <p:spPr>
          <a:xfrm>
            <a:off x="685800" y="2053947"/>
            <a:ext cx="4114800" cy="1035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perlu </a:t>
            </a:r>
            <a:r>
              <a:rPr b="1" lang="en" sz="1000">
                <a:solidFill>
                  <a:schemeClr val="dk1"/>
                </a:solidFill>
                <a:latin typeface="Montserrat"/>
                <a:ea typeface="Montserrat"/>
                <a:cs typeface="Montserrat"/>
                <a:sym typeface="Montserrat"/>
              </a:rPr>
              <a:t>menentukan template sedari awal</a:t>
            </a:r>
            <a:r>
              <a:rPr lang="en" sz="1000">
                <a:solidFill>
                  <a:schemeClr val="dk1"/>
                </a:solidFill>
                <a:latin typeface="Montserrat"/>
                <a:ea typeface="Montserrat"/>
                <a:cs typeface="Montserrat"/>
                <a:sym typeface="Montserrat"/>
              </a:rPr>
              <a:t> yang akan digunakan untuk menyeragamkan tulisan dan desain.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template yang seragam, pembaca akan mengerti tulisan kamu dari satu kasus ke kasus lainnya dengan sangat mudah.</a:t>
            </a:r>
            <a:endParaRPr sz="1000">
              <a:solidFill>
                <a:schemeClr val="dk1"/>
              </a:solidFill>
              <a:latin typeface="Montserrat"/>
              <a:ea typeface="Montserrat"/>
              <a:cs typeface="Montserrat"/>
              <a:sym typeface="Montserrat"/>
            </a:endParaRPr>
          </a:p>
        </p:txBody>
      </p:sp>
      <p:pic>
        <p:nvPicPr>
          <p:cNvPr id="233" name="Google Shape;233;p36"/>
          <p:cNvPicPr preferRelativeResize="0"/>
          <p:nvPr/>
        </p:nvPicPr>
        <p:blipFill>
          <a:blip r:embed="rId3">
            <a:alphaModFix/>
          </a:blip>
          <a:stretch>
            <a:fillRect/>
          </a:stretch>
        </p:blipFill>
        <p:spPr>
          <a:xfrm>
            <a:off x="4724400" y="1337178"/>
            <a:ext cx="3892201" cy="283592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9" name="Google Shape;239;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240" name="Google Shape;240;p37"/>
          <p:cNvSpPr txBox="1"/>
          <p:nvPr/>
        </p:nvSpPr>
        <p:spPr>
          <a:xfrm>
            <a:off x="685800" y="1726498"/>
            <a:ext cx="4114800" cy="1690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Template konten pada PDF portfolio</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Media populer lainnya untuk portfolio adalah PDF digital atau deck slide, yang juga berfungsi sebagai presentasi proyek kamu.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membuat portfolio PDF, simpanlah PDF master yang mencakup semua proyek kamu. Tetapi, saat kamu melamar pekerjaan, kamu perlu memilah dan memilih proyek yang relevan untuk ditampilkan pada recruiter atau perusahaan.</a:t>
            </a:r>
            <a:endParaRPr sz="1000">
              <a:solidFill>
                <a:schemeClr val="dk1"/>
              </a:solidFill>
              <a:latin typeface="Montserrat"/>
              <a:ea typeface="Montserrat"/>
              <a:cs typeface="Montserrat"/>
              <a:sym typeface="Montserrat"/>
            </a:endParaRPr>
          </a:p>
        </p:txBody>
      </p:sp>
      <p:pic>
        <p:nvPicPr>
          <p:cNvPr id="241" name="Google Shape;241;p37"/>
          <p:cNvPicPr preferRelativeResize="0"/>
          <p:nvPr/>
        </p:nvPicPr>
        <p:blipFill rotWithShape="1">
          <a:blip r:embed="rId3">
            <a:alphaModFix/>
          </a:blip>
          <a:srcRect b="0" l="-111" r="26097" t="0"/>
          <a:stretch/>
        </p:blipFill>
        <p:spPr>
          <a:xfrm>
            <a:off x="5486400" y="1207587"/>
            <a:ext cx="3017518" cy="274319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7" name="Google Shape;247;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248" name="Google Shape;248;p38"/>
          <p:cNvSpPr txBox="1"/>
          <p:nvPr/>
        </p:nvSpPr>
        <p:spPr>
          <a:xfrm>
            <a:off x="685800" y="1948049"/>
            <a:ext cx="4114800" cy="1247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Template konten studi kasus dari Nielsen Norman Group</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Nielsen Norman Group menyediakan dua template yang bisa kamu gunakan saat mulai menulis konten, yakni portofolio berbasis web dan PDF.</a:t>
            </a:r>
            <a:endParaRPr sz="1200">
              <a:solidFill>
                <a:schemeClr val="dk1"/>
              </a:solidFill>
              <a:latin typeface="Montserrat Medium"/>
              <a:ea typeface="Montserrat Medium"/>
              <a:cs typeface="Montserrat Medium"/>
              <a:sym typeface="Montserrat Medium"/>
            </a:endParaRPr>
          </a:p>
        </p:txBody>
      </p:sp>
      <p:pic>
        <p:nvPicPr>
          <p:cNvPr id="249" name="Google Shape;249;p38"/>
          <p:cNvPicPr preferRelativeResize="0"/>
          <p:nvPr/>
        </p:nvPicPr>
        <p:blipFill rotWithShape="1">
          <a:blip r:embed="rId3">
            <a:alphaModFix/>
          </a:blip>
          <a:srcRect b="44512" l="0" r="0" t="0"/>
          <a:stretch/>
        </p:blipFill>
        <p:spPr>
          <a:xfrm>
            <a:off x="5486400" y="1207587"/>
            <a:ext cx="3017519" cy="27431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5" name="Google Shape;255;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256" name="Google Shape;256;p39"/>
          <p:cNvSpPr txBox="1"/>
          <p:nvPr/>
        </p:nvSpPr>
        <p:spPr>
          <a:xfrm>
            <a:off x="685800" y="2138099"/>
            <a:ext cx="4114800" cy="867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Sekali lagi ingatlah, apapun format yang kamu pilih, </a:t>
            </a:r>
            <a:r>
              <a:rPr b="1" lang="en" sz="1000">
                <a:solidFill>
                  <a:schemeClr val="dk1"/>
                </a:solidFill>
                <a:latin typeface="Montserrat"/>
                <a:ea typeface="Montserrat"/>
                <a:cs typeface="Montserrat"/>
                <a:sym typeface="Montserrat"/>
              </a:rPr>
              <a:t>cobalah untuk setia dengan satu template dasar sehingga semua proyek kamu akan terlihat kohesif</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Lihat template di sini</a:t>
            </a:r>
            <a:endParaRPr sz="1200">
              <a:solidFill>
                <a:schemeClr val="dk1"/>
              </a:solidFill>
              <a:latin typeface="Montserrat Medium"/>
              <a:ea typeface="Montserrat Medium"/>
              <a:cs typeface="Montserrat Medium"/>
              <a:sym typeface="Montserrat Medium"/>
            </a:endParaRPr>
          </a:p>
        </p:txBody>
      </p:sp>
      <p:pic>
        <p:nvPicPr>
          <p:cNvPr id="257" name="Google Shape;257;p39"/>
          <p:cNvPicPr preferRelativeResize="0"/>
          <p:nvPr/>
        </p:nvPicPr>
        <p:blipFill>
          <a:blip r:embed="rId4">
            <a:alphaModFix/>
          </a:blip>
          <a:stretch>
            <a:fillRect/>
          </a:stretch>
        </p:blipFill>
        <p:spPr>
          <a:xfrm>
            <a:off x="5175400" y="1134700"/>
            <a:ext cx="2645773" cy="34338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Piramida UX Portfolio</a:t>
            </a:r>
            <a:endParaRPr>
              <a:latin typeface="Montserrat"/>
              <a:ea typeface="Montserrat"/>
              <a:cs typeface="Montserrat"/>
              <a:sym typeface="Montserrat"/>
            </a:endParaRPr>
          </a:p>
        </p:txBody>
      </p:sp>
      <p:sp>
        <p:nvSpPr>
          <p:cNvPr id="263" name="Google Shape;263;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4" name="Google Shape;264;p40"/>
          <p:cNvSpPr txBox="1"/>
          <p:nvPr/>
        </p:nvSpPr>
        <p:spPr>
          <a:xfrm>
            <a:off x="685800" y="2048400"/>
            <a:ext cx="35409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Pilihan kedua adalah </a:t>
            </a:r>
            <a:r>
              <a:rPr b="1" lang="en">
                <a:solidFill>
                  <a:srgbClr val="F2AB2F"/>
                </a:solidFill>
                <a:latin typeface="Montserrat"/>
                <a:ea typeface="Montserrat"/>
                <a:cs typeface="Montserrat"/>
                <a:sym typeface="Montserrat"/>
              </a:rPr>
              <a:t>piramida UX portofolio</a:t>
            </a:r>
            <a:r>
              <a:rPr b="1" lang="en">
                <a:solidFill>
                  <a:schemeClr val="lt1"/>
                </a:solidFill>
                <a:latin typeface="Montserrat"/>
                <a:ea typeface="Montserrat"/>
                <a:cs typeface="Montserrat"/>
                <a:sym typeface="Montserrat"/>
              </a:rPr>
              <a:t> yang dikhususkan untuk menyusun website portofolio.</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Yuk kita simak penjelasan dan cara kerjanya.</a:t>
            </a:r>
            <a:endParaRPr b="1">
              <a:solidFill>
                <a:schemeClr val="lt1"/>
              </a:solidFill>
              <a:latin typeface="Montserrat"/>
              <a:ea typeface="Montserrat"/>
              <a:cs typeface="Montserrat"/>
              <a:sym typeface="Montserrat"/>
            </a:endParaRPr>
          </a:p>
        </p:txBody>
      </p:sp>
      <p:pic>
        <p:nvPicPr>
          <p:cNvPr id="265" name="Google Shape;265;p40"/>
          <p:cNvPicPr preferRelativeResize="0"/>
          <p:nvPr/>
        </p:nvPicPr>
        <p:blipFill>
          <a:blip r:embed="rId3">
            <a:alphaModFix/>
          </a:blip>
          <a:stretch>
            <a:fillRect/>
          </a:stretch>
        </p:blipFill>
        <p:spPr>
          <a:xfrm>
            <a:off x="5595850" y="1190300"/>
            <a:ext cx="1822787" cy="345789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E2B62">
            <a:alpha val="43920"/>
          </a:srgbClr>
        </a:solidFill>
      </p:bgPr>
    </p:bg>
    <p:spTree>
      <p:nvGrpSpPr>
        <p:cNvPr id="269" name="Shape 269"/>
        <p:cNvGrpSpPr/>
        <p:nvPr/>
      </p:nvGrpSpPr>
      <p:grpSpPr>
        <a:xfrm>
          <a:off x="0" y="0"/>
          <a:ext cx="0" cy="0"/>
          <a:chOff x="0" y="0"/>
          <a:chExt cx="0" cy="0"/>
        </a:xfrm>
      </p:grpSpPr>
      <p:sp>
        <p:nvSpPr>
          <p:cNvPr id="270" name="Google Shape;270;p41"/>
          <p:cNvSpPr txBox="1"/>
          <p:nvPr/>
        </p:nvSpPr>
        <p:spPr>
          <a:xfrm>
            <a:off x="717950" y="1063350"/>
            <a:ext cx="5497500" cy="3016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 sz="3500">
                <a:solidFill>
                  <a:srgbClr val="743673"/>
                </a:solidFill>
                <a:latin typeface="Montserrat"/>
                <a:ea typeface="Montserrat"/>
                <a:cs typeface="Montserrat"/>
                <a:sym typeface="Montserrat"/>
              </a:rPr>
              <a:t>UX Portfolio Pyramid helps you build your UX portfolio with maximum focus and minimum distractions</a:t>
            </a:r>
            <a:endParaRPr sz="3500">
              <a:solidFill>
                <a:schemeClr val="dk1"/>
              </a:solidFill>
              <a:latin typeface="Montserrat Medium"/>
              <a:ea typeface="Montserrat Medium"/>
              <a:cs typeface="Montserrat Medium"/>
              <a:sym typeface="Montserrat Medium"/>
            </a:endParaRPr>
          </a:p>
        </p:txBody>
      </p:sp>
      <p:sp>
        <p:nvSpPr>
          <p:cNvPr id="271" name="Google Shape;271;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7" name="Google Shape;277;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Piramida UX portfolio</a:t>
            </a:r>
            <a:endParaRPr>
              <a:latin typeface="Montserrat"/>
              <a:ea typeface="Montserrat"/>
              <a:cs typeface="Montserrat"/>
              <a:sym typeface="Montserrat"/>
            </a:endParaRPr>
          </a:p>
        </p:txBody>
      </p:sp>
      <p:sp>
        <p:nvSpPr>
          <p:cNvPr id="278" name="Google Shape;278;p42"/>
          <p:cNvSpPr txBox="1"/>
          <p:nvPr/>
        </p:nvSpPr>
        <p:spPr>
          <a:xfrm>
            <a:off x="685800" y="1720800"/>
            <a:ext cx="4114800" cy="1701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Piramida UX Portfolio</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Seringkali kita bingung, konten apa saja ya yang perlu masuk dalam portofolio UX? Terus gimana menyusunnya supaya enak di baca? Juga, gimana caranya menampilkan studi kasus dengan hasil desain atau bukti-bukti proses desain secara bersamaan?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Pusing nggak tuh?</a:t>
            </a:r>
            <a:endParaRPr sz="1000">
              <a:solidFill>
                <a:schemeClr val="dk1"/>
              </a:solidFill>
              <a:latin typeface="Montserrat"/>
              <a:ea typeface="Montserrat"/>
              <a:cs typeface="Montserrat"/>
              <a:sym typeface="Montserrat"/>
            </a:endParaRPr>
          </a:p>
        </p:txBody>
      </p:sp>
      <p:pic>
        <p:nvPicPr>
          <p:cNvPr id="279" name="Google Shape;279;p42"/>
          <p:cNvPicPr preferRelativeResize="0"/>
          <p:nvPr/>
        </p:nvPicPr>
        <p:blipFill>
          <a:blip r:embed="rId3">
            <a:alphaModFix/>
          </a:blip>
          <a:stretch>
            <a:fillRect/>
          </a:stretch>
        </p:blipFill>
        <p:spPr>
          <a:xfrm>
            <a:off x="5410200" y="1137200"/>
            <a:ext cx="1964648" cy="35109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5" name="Google Shape;285;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Piramida UX portfolio</a:t>
            </a:r>
            <a:endParaRPr>
              <a:latin typeface="Montserrat"/>
              <a:ea typeface="Montserrat"/>
              <a:cs typeface="Montserrat"/>
              <a:sym typeface="Montserrat"/>
            </a:endParaRPr>
          </a:p>
        </p:txBody>
      </p:sp>
      <p:sp>
        <p:nvSpPr>
          <p:cNvPr id="286" name="Google Shape;286;p43"/>
          <p:cNvSpPr txBox="1"/>
          <p:nvPr/>
        </p:nvSpPr>
        <p:spPr>
          <a:xfrm>
            <a:off x="685800" y="1953301"/>
            <a:ext cx="4114800" cy="1236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Untuk mengatasi kebingungan tadi, kita bisa merujuk piramida UX portofolio seperti gambar di samping.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Piramida UX portofolio adalah </a:t>
            </a:r>
            <a:r>
              <a:rPr b="1" lang="en" sz="1000">
                <a:solidFill>
                  <a:schemeClr val="dk1"/>
                </a:solidFill>
                <a:latin typeface="Montserrat"/>
                <a:ea typeface="Montserrat"/>
                <a:cs typeface="Montserrat"/>
                <a:sym typeface="Montserrat"/>
              </a:rPr>
              <a:t>sebuah kerangka kerja (framework) yang bisa membantu kamu membangun portofolio UX dengan fokus maksimum dan minim gangguan</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287" name="Google Shape;287;p43"/>
          <p:cNvPicPr preferRelativeResize="0"/>
          <p:nvPr/>
        </p:nvPicPr>
        <p:blipFill rotWithShape="1">
          <a:blip r:embed="rId3">
            <a:alphaModFix/>
          </a:blip>
          <a:srcRect b="34361" l="20001" r="24808" t="0"/>
          <a:stretch/>
        </p:blipFill>
        <p:spPr>
          <a:xfrm>
            <a:off x="6006350" y="1200150"/>
            <a:ext cx="1927426" cy="1545299"/>
          </a:xfrm>
          <a:prstGeom prst="rect">
            <a:avLst/>
          </a:prstGeom>
          <a:noFill/>
          <a:ln>
            <a:noFill/>
          </a:ln>
        </p:spPr>
      </p:pic>
      <p:pic>
        <p:nvPicPr>
          <p:cNvPr id="288" name="Google Shape;288;p43"/>
          <p:cNvPicPr preferRelativeResize="0"/>
          <p:nvPr/>
        </p:nvPicPr>
        <p:blipFill rotWithShape="1">
          <a:blip r:embed="rId4">
            <a:alphaModFix/>
          </a:blip>
          <a:srcRect b="-16522" l="5114" r="8484" t="0"/>
          <a:stretch/>
        </p:blipFill>
        <p:spPr>
          <a:xfrm>
            <a:off x="5486400" y="1207587"/>
            <a:ext cx="3017517" cy="2743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4" name="Google Shape;294;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Piramida UX portfolio</a:t>
            </a:r>
            <a:endParaRPr>
              <a:latin typeface="Montserrat"/>
              <a:ea typeface="Montserrat"/>
              <a:cs typeface="Montserrat"/>
              <a:sym typeface="Montserrat"/>
            </a:endParaRPr>
          </a:p>
        </p:txBody>
      </p:sp>
      <p:sp>
        <p:nvSpPr>
          <p:cNvPr id="295" name="Google Shape;295;p44"/>
          <p:cNvSpPr txBox="1"/>
          <p:nvPr/>
        </p:nvSpPr>
        <p:spPr>
          <a:xfrm>
            <a:off x="685800" y="2061450"/>
            <a:ext cx="4114800" cy="1020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Tentunya, kerangka kerja di samping dapat diimplementasikan setelah kamu menyelesaikan proyek secara keseluruhan.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perlu </a:t>
            </a:r>
            <a:r>
              <a:rPr b="1" lang="en" sz="1000">
                <a:solidFill>
                  <a:schemeClr val="dk1"/>
                </a:solidFill>
                <a:latin typeface="Montserrat"/>
                <a:ea typeface="Montserrat"/>
                <a:cs typeface="Montserrat"/>
                <a:sym typeface="Montserrat"/>
              </a:rPr>
              <a:t>memulai dengan konten tertulis (written content)</a:t>
            </a:r>
            <a:r>
              <a:rPr lang="en" sz="1000">
                <a:solidFill>
                  <a:schemeClr val="dk1"/>
                </a:solidFill>
                <a:latin typeface="Montserrat"/>
                <a:ea typeface="Montserrat"/>
                <a:cs typeface="Montserrat"/>
                <a:sym typeface="Montserrat"/>
              </a:rPr>
              <a:t>. Susunlah konten kamu seperti yang telah kita pelajari pada topik studi kasus, dari judul sampai hasil.</a:t>
            </a:r>
            <a:endParaRPr sz="1000">
              <a:solidFill>
                <a:schemeClr val="dk1"/>
              </a:solidFill>
              <a:latin typeface="Montserrat"/>
              <a:ea typeface="Montserrat"/>
              <a:cs typeface="Montserrat"/>
              <a:sym typeface="Montserrat"/>
            </a:endParaRPr>
          </a:p>
        </p:txBody>
      </p:sp>
      <p:pic>
        <p:nvPicPr>
          <p:cNvPr id="296" name="Google Shape;296;p44"/>
          <p:cNvPicPr preferRelativeResize="0"/>
          <p:nvPr/>
        </p:nvPicPr>
        <p:blipFill rotWithShape="1">
          <a:blip r:embed="rId3">
            <a:alphaModFix/>
          </a:blip>
          <a:srcRect b="-16522" l="5114" r="8484" t="0"/>
          <a:stretch/>
        </p:blipFill>
        <p:spPr>
          <a:xfrm>
            <a:off x="5486400" y="1207587"/>
            <a:ext cx="3017517" cy="2743200"/>
          </a:xfrm>
          <a:prstGeom prst="rect">
            <a:avLst/>
          </a:prstGeom>
          <a:noFill/>
          <a:ln>
            <a:noFill/>
          </a:ln>
        </p:spPr>
      </p:pic>
      <p:pic>
        <p:nvPicPr>
          <p:cNvPr id="297" name="Google Shape;297;p44"/>
          <p:cNvPicPr preferRelativeResize="0"/>
          <p:nvPr/>
        </p:nvPicPr>
        <p:blipFill rotWithShape="1">
          <a:blip r:embed="rId4">
            <a:alphaModFix/>
          </a:blip>
          <a:srcRect b="34361" l="20001" r="24808" t="0"/>
          <a:stretch/>
        </p:blipFill>
        <p:spPr>
          <a:xfrm>
            <a:off x="6006350" y="1200150"/>
            <a:ext cx="1927426" cy="15452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3" name="Google Shape;303;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Piramida UX portfolio</a:t>
            </a:r>
            <a:endParaRPr>
              <a:latin typeface="Montserrat"/>
              <a:ea typeface="Montserrat"/>
              <a:cs typeface="Montserrat"/>
              <a:sym typeface="Montserrat"/>
            </a:endParaRPr>
          </a:p>
        </p:txBody>
      </p:sp>
      <p:sp>
        <p:nvSpPr>
          <p:cNvPr id="304" name="Google Shape;304;p45"/>
          <p:cNvSpPr txBox="1"/>
          <p:nvPr/>
        </p:nvSpPr>
        <p:spPr>
          <a:xfrm>
            <a:off x="685800" y="1974747"/>
            <a:ext cx="4114800" cy="1194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Sembari menyusun written content atau studi kasus, kamu bisa </a:t>
            </a:r>
            <a:r>
              <a:rPr b="1" lang="en" sz="1000">
                <a:solidFill>
                  <a:schemeClr val="dk1"/>
                </a:solidFill>
                <a:latin typeface="Montserrat"/>
                <a:ea typeface="Montserrat"/>
                <a:cs typeface="Montserrat"/>
                <a:sym typeface="Montserrat"/>
              </a:rPr>
              <a:t>memikirkan visual seperti apa yang bisa menemani tulisan tersebut</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Tentunya, hasil-hasil desain dan juga dokumentasi proses desain seperti user journey maps, wireframes, atau hasil card sorting </a:t>
            </a:r>
            <a:r>
              <a:rPr lang="en" sz="1000">
                <a:solidFill>
                  <a:schemeClr val="dk1"/>
                </a:solidFill>
                <a:latin typeface="Montserrat"/>
                <a:ea typeface="Montserrat"/>
                <a:cs typeface="Montserrat"/>
                <a:sym typeface="Montserrat"/>
              </a:rPr>
              <a:t>juga </a:t>
            </a:r>
            <a:r>
              <a:rPr lang="en" sz="1000">
                <a:solidFill>
                  <a:schemeClr val="dk1"/>
                </a:solidFill>
                <a:latin typeface="Montserrat"/>
                <a:ea typeface="Montserrat"/>
                <a:cs typeface="Montserrat"/>
                <a:sym typeface="Montserrat"/>
              </a:rPr>
              <a:t>dapat menemani written content kamu </a:t>
            </a:r>
            <a:endParaRPr sz="1000">
              <a:solidFill>
                <a:schemeClr val="dk1"/>
              </a:solidFill>
              <a:latin typeface="Montserrat"/>
              <a:ea typeface="Montserrat"/>
              <a:cs typeface="Montserrat"/>
              <a:sym typeface="Montserrat"/>
            </a:endParaRPr>
          </a:p>
        </p:txBody>
      </p:sp>
      <p:pic>
        <p:nvPicPr>
          <p:cNvPr id="305" name="Google Shape;305;p45"/>
          <p:cNvPicPr preferRelativeResize="0"/>
          <p:nvPr/>
        </p:nvPicPr>
        <p:blipFill rotWithShape="1">
          <a:blip r:embed="rId3">
            <a:alphaModFix/>
          </a:blip>
          <a:srcRect b="-16522" l="5114" r="8484" t="0"/>
          <a:stretch/>
        </p:blipFill>
        <p:spPr>
          <a:xfrm>
            <a:off x="5486400" y="1207587"/>
            <a:ext cx="3017517" cy="2743200"/>
          </a:xfrm>
          <a:prstGeom prst="rect">
            <a:avLst/>
          </a:prstGeom>
          <a:noFill/>
          <a:ln>
            <a:noFill/>
          </a:ln>
        </p:spPr>
      </p:pic>
      <p:pic>
        <p:nvPicPr>
          <p:cNvPr id="306" name="Google Shape;306;p45"/>
          <p:cNvPicPr preferRelativeResize="0"/>
          <p:nvPr/>
        </p:nvPicPr>
        <p:blipFill rotWithShape="1">
          <a:blip r:embed="rId4">
            <a:alphaModFix/>
          </a:blip>
          <a:srcRect b="56807" l="20001" r="24808" t="0"/>
          <a:stretch/>
        </p:blipFill>
        <p:spPr>
          <a:xfrm>
            <a:off x="6006350" y="1200150"/>
            <a:ext cx="1927426" cy="10168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2" name="Google Shape;312;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Piramida UX portfolio</a:t>
            </a:r>
            <a:endParaRPr>
              <a:latin typeface="Montserrat"/>
              <a:ea typeface="Montserrat"/>
              <a:cs typeface="Montserrat"/>
              <a:sym typeface="Montserrat"/>
            </a:endParaRPr>
          </a:p>
        </p:txBody>
      </p:sp>
      <p:sp>
        <p:nvSpPr>
          <p:cNvPr id="313" name="Google Shape;313;p46"/>
          <p:cNvSpPr txBox="1"/>
          <p:nvPr/>
        </p:nvSpPr>
        <p:spPr>
          <a:xfrm>
            <a:off x="685800" y="2138396"/>
            <a:ext cx="4114800" cy="866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yang terakhir adalah packaging.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Packaging yang dimaksud di sini adalah </a:t>
            </a:r>
            <a:r>
              <a:rPr b="1" lang="en" sz="1000">
                <a:solidFill>
                  <a:schemeClr val="dk1"/>
                </a:solidFill>
                <a:latin typeface="Montserrat"/>
                <a:ea typeface="Montserrat"/>
                <a:cs typeface="Montserrat"/>
                <a:sym typeface="Montserrat"/>
              </a:rPr>
              <a:t>cara atau strategi merangkai semua studi kasus kamu yang berisi written content dan visual menjadi satu website portofolio</a:t>
            </a:r>
            <a:r>
              <a:rPr lang="en" sz="1000">
                <a:solidFill>
                  <a:schemeClr val="dk1"/>
                </a:solidFill>
                <a:latin typeface="Montserrat"/>
                <a:ea typeface="Montserrat"/>
                <a:cs typeface="Montserrat"/>
                <a:sym typeface="Montserrat"/>
              </a:rPr>
              <a:t>. </a:t>
            </a:r>
            <a:endParaRPr sz="1000">
              <a:solidFill>
                <a:schemeClr val="dk1"/>
              </a:solidFill>
              <a:latin typeface="Montserrat"/>
              <a:ea typeface="Montserrat"/>
              <a:cs typeface="Montserrat"/>
              <a:sym typeface="Montserrat"/>
            </a:endParaRPr>
          </a:p>
        </p:txBody>
      </p:sp>
      <p:pic>
        <p:nvPicPr>
          <p:cNvPr id="314" name="Google Shape;314;p46"/>
          <p:cNvPicPr preferRelativeResize="0"/>
          <p:nvPr/>
        </p:nvPicPr>
        <p:blipFill rotWithShape="1">
          <a:blip r:embed="rId3">
            <a:alphaModFix/>
          </a:blip>
          <a:srcRect b="-16522" l="5114" r="8484" t="0"/>
          <a:stretch/>
        </p:blipFill>
        <p:spPr>
          <a:xfrm>
            <a:off x="5486400" y="1207587"/>
            <a:ext cx="3017517" cy="2743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0" name="Google Shape;320;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Piramida UX portfolio</a:t>
            </a:r>
            <a:endParaRPr>
              <a:latin typeface="Montserrat"/>
              <a:ea typeface="Montserrat"/>
              <a:cs typeface="Montserrat"/>
              <a:sym typeface="Montserrat"/>
            </a:endParaRPr>
          </a:p>
        </p:txBody>
      </p:sp>
      <p:sp>
        <p:nvSpPr>
          <p:cNvPr id="321" name="Google Shape;321;p47"/>
          <p:cNvSpPr txBox="1"/>
          <p:nvPr/>
        </p:nvSpPr>
        <p:spPr>
          <a:xfrm>
            <a:off x="685800" y="2312696"/>
            <a:ext cx="4114800" cy="518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perlu mengemas studi kasus satu per satu, kemudian membungkusnya dengan desain website yang baik, informatif, dan on-brand, agar menarik perhatian target audiens kamu.</a:t>
            </a:r>
            <a:endParaRPr sz="1000">
              <a:solidFill>
                <a:schemeClr val="dk1"/>
              </a:solidFill>
              <a:latin typeface="Montserrat"/>
              <a:ea typeface="Montserrat"/>
              <a:cs typeface="Montserrat"/>
              <a:sym typeface="Montserrat"/>
            </a:endParaRPr>
          </a:p>
        </p:txBody>
      </p:sp>
      <p:pic>
        <p:nvPicPr>
          <p:cNvPr id="322" name="Google Shape;322;p47"/>
          <p:cNvPicPr preferRelativeResize="0"/>
          <p:nvPr/>
        </p:nvPicPr>
        <p:blipFill>
          <a:blip r:embed="rId3">
            <a:alphaModFix/>
          </a:blip>
          <a:stretch>
            <a:fillRect/>
          </a:stretch>
        </p:blipFill>
        <p:spPr>
          <a:xfrm>
            <a:off x="5538075" y="1085500"/>
            <a:ext cx="2294549" cy="35627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8" name="Google Shape;328;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Piramida UX portfolio</a:t>
            </a:r>
            <a:endParaRPr/>
          </a:p>
        </p:txBody>
      </p:sp>
      <p:pic>
        <p:nvPicPr>
          <p:cNvPr id="329" name="Google Shape;329;p48"/>
          <p:cNvPicPr preferRelativeResize="0"/>
          <p:nvPr/>
        </p:nvPicPr>
        <p:blipFill rotWithShape="1">
          <a:blip r:embed="rId3">
            <a:alphaModFix/>
          </a:blip>
          <a:srcRect b="0" l="0" r="0" t="0"/>
          <a:stretch/>
        </p:blipFill>
        <p:spPr>
          <a:xfrm>
            <a:off x="910276" y="1817162"/>
            <a:ext cx="7593648" cy="18121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335" name="Google Shape;335;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6" name="Google Shape;336;p49"/>
          <p:cNvSpPr txBox="1"/>
          <p:nvPr/>
        </p:nvSpPr>
        <p:spPr>
          <a:xfrm>
            <a:off x="685800" y="2048400"/>
            <a:ext cx="3951300" cy="1262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Untuk membuat portofolio berbasis web, kita bisa menggunakan ragam </a:t>
            </a:r>
            <a:r>
              <a:rPr b="1" lang="en">
                <a:solidFill>
                  <a:srgbClr val="F2AB2F"/>
                </a:solidFill>
                <a:latin typeface="Montserrat"/>
                <a:ea typeface="Montserrat"/>
                <a:cs typeface="Montserrat"/>
                <a:sym typeface="Montserrat"/>
              </a:rPr>
              <a:t>platform portofolio</a:t>
            </a:r>
            <a:r>
              <a:rPr b="1" lang="en">
                <a:solidFill>
                  <a:schemeClr val="lt1"/>
                </a:solidFill>
                <a:latin typeface="Montserrat"/>
                <a:ea typeface="Montserrat"/>
                <a:cs typeface="Montserrat"/>
                <a:sym typeface="Montserrat"/>
              </a:rPr>
              <a:t> yang telah tersedia.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Yuk kita cari tahu apa aja platformnya ~</a:t>
            </a:r>
            <a:endParaRPr b="1">
              <a:solidFill>
                <a:schemeClr val="lt1"/>
              </a:solidFill>
              <a:latin typeface="Montserrat"/>
              <a:ea typeface="Montserrat"/>
              <a:cs typeface="Montserrat"/>
              <a:sym typeface="Montserrat"/>
            </a:endParaRPr>
          </a:p>
        </p:txBody>
      </p:sp>
      <p:pic>
        <p:nvPicPr>
          <p:cNvPr id="337" name="Google Shape;337;p49"/>
          <p:cNvPicPr preferRelativeResize="0"/>
          <p:nvPr/>
        </p:nvPicPr>
        <p:blipFill>
          <a:blip r:embed="rId3">
            <a:alphaModFix/>
          </a:blip>
          <a:stretch>
            <a:fillRect/>
          </a:stretch>
        </p:blipFill>
        <p:spPr>
          <a:xfrm>
            <a:off x="4789500" y="1059200"/>
            <a:ext cx="3675053" cy="3589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3" name="Google Shape;343;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344" name="Google Shape;344;p50"/>
          <p:cNvSpPr txBox="1"/>
          <p:nvPr/>
        </p:nvSpPr>
        <p:spPr>
          <a:xfrm>
            <a:off x="685800" y="2056199"/>
            <a:ext cx="4114800" cy="1031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Platform-platform portfolio</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Walaupun portofolio berbentuk PDF dan unggahan pada Dribble atau Behance mencukupi, alangkah baiknya jika kita juga belajar membuat website sembari menyusun portofolio.</a:t>
            </a:r>
            <a:endParaRPr sz="1000">
              <a:solidFill>
                <a:schemeClr val="dk1"/>
              </a:solidFill>
              <a:latin typeface="Montserrat"/>
              <a:ea typeface="Montserrat"/>
              <a:cs typeface="Montserrat"/>
              <a:sym typeface="Montserrat"/>
            </a:endParaRPr>
          </a:p>
        </p:txBody>
      </p:sp>
      <p:pic>
        <p:nvPicPr>
          <p:cNvPr id="345" name="Google Shape;345;p50"/>
          <p:cNvPicPr preferRelativeResize="0"/>
          <p:nvPr/>
        </p:nvPicPr>
        <p:blipFill>
          <a:blip r:embed="rId3">
            <a:alphaModFix/>
          </a:blip>
          <a:stretch>
            <a:fillRect/>
          </a:stretch>
        </p:blipFill>
        <p:spPr>
          <a:xfrm>
            <a:off x="5060375" y="1324100"/>
            <a:ext cx="3556225" cy="296658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1" name="Google Shape;351;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352" name="Google Shape;352;p51"/>
          <p:cNvSpPr txBox="1"/>
          <p:nvPr/>
        </p:nvSpPr>
        <p:spPr>
          <a:xfrm>
            <a:off x="685800" y="2304448"/>
            <a:ext cx="4114800" cy="534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Maka dari itu, mari kita telusuri beberapa platform di mana kamu bisa membuat portofolio berbasis web dengan mudah tanpa perlu mendalami web programming.</a:t>
            </a:r>
            <a:endParaRPr sz="1000">
              <a:solidFill>
                <a:schemeClr val="dk1"/>
              </a:solidFill>
              <a:latin typeface="Montserrat"/>
              <a:ea typeface="Montserrat"/>
              <a:cs typeface="Montserrat"/>
              <a:sym typeface="Montserrat"/>
            </a:endParaRPr>
          </a:p>
        </p:txBody>
      </p:sp>
      <p:pic>
        <p:nvPicPr>
          <p:cNvPr id="353" name="Google Shape;353;p51"/>
          <p:cNvPicPr preferRelativeResize="0"/>
          <p:nvPr/>
        </p:nvPicPr>
        <p:blipFill>
          <a:blip r:embed="rId3">
            <a:alphaModFix/>
          </a:blip>
          <a:stretch>
            <a:fillRect/>
          </a:stretch>
        </p:blipFill>
        <p:spPr>
          <a:xfrm>
            <a:off x="5484925" y="1104525"/>
            <a:ext cx="2347703" cy="347404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9" name="Google Shape;359;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360" name="Google Shape;360;p52"/>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Adobe Portfolio</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Adobe Portfolio adalah salah satu alat gratis yang disertakan dalam paket Adobe Creative Cloud berbayar. Ia memungkinkan desainer untuk membuat situs portfolio yang indah dan berkualitas tinggi.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61" name="Google Shape;361;p52">
            <a:hlinkClick r:id="rId3"/>
          </p:cNvPr>
          <p:cNvPicPr preferRelativeResize="0"/>
          <p:nvPr/>
        </p:nvPicPr>
        <p:blipFill rotWithShape="1">
          <a:blip r:embed="rId4">
            <a:alphaModFix/>
          </a:blip>
          <a:srcRect b="11703" l="0" r="0" t="-301"/>
          <a:stretch/>
        </p:blipFill>
        <p:spPr>
          <a:xfrm>
            <a:off x="685800" y="2400300"/>
            <a:ext cx="4780452" cy="22479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7" name="Google Shape;367;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368" name="Google Shape;368;p53"/>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 UXfolio</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opsi untuk menyematkan prototipe dan dukungan copywriting dalam platform, uxfol.io memungkinkan desainer menampilkan proses dan keputusan desain mereka dalam portofolio.</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69" name="Google Shape;369;p53">
            <a:hlinkClick r:id="rId3"/>
          </p:cNvPr>
          <p:cNvPicPr preferRelativeResize="0"/>
          <p:nvPr/>
        </p:nvPicPr>
        <p:blipFill rotWithShape="1">
          <a:blip r:embed="rId4">
            <a:alphaModFix/>
          </a:blip>
          <a:srcRect b="11703" l="0" r="0" t="-301"/>
          <a:stretch/>
        </p:blipFill>
        <p:spPr>
          <a:xfrm>
            <a:off x="685800" y="2400300"/>
            <a:ext cx="4780452" cy="22479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5" name="Google Shape;375;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376" name="Google Shape;376;p54"/>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 Wix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Baik Wix dan WordPress memungkinkan kamu membuat situs web tanpa belajar coding. Wix terutama mempunyai banyak fitur dan template yang memudahkan desainer menampilkan situs yang seamless.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77" name="Google Shape;377;p54">
            <a:hlinkClick r:id="rId3"/>
          </p:cNvPr>
          <p:cNvPicPr preferRelativeResize="0"/>
          <p:nvPr/>
        </p:nvPicPr>
        <p:blipFill rotWithShape="1">
          <a:blip r:embed="rId4">
            <a:alphaModFix/>
          </a:blip>
          <a:srcRect b="11779" l="0" r="0" t="-212"/>
          <a:stretch/>
        </p:blipFill>
        <p:spPr>
          <a:xfrm>
            <a:off x="685800" y="2400300"/>
            <a:ext cx="4780452" cy="22479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3" name="Google Shape;383;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384" name="Google Shape;384;p55"/>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a:t>
            </a:r>
            <a:r>
              <a:rPr b="1" lang="en" sz="1600">
                <a:solidFill>
                  <a:srgbClr val="743673"/>
                </a:solidFill>
                <a:highlight>
                  <a:schemeClr val="lt1"/>
                </a:highlight>
                <a:latin typeface="Montserrat"/>
                <a:ea typeface="Montserrat"/>
                <a:cs typeface="Montserrat"/>
                <a:sym typeface="Montserrat"/>
              </a:rPr>
              <a:t>) Cargo</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Ditujukan untuk desainer yang menyukai avant-garde, Cargo memungkinkan desainer untuk membuat situs web portfolio pribadi yang berdiri sendiri dengan URL mereka sendiri. </a:t>
            </a:r>
            <a:endParaRPr sz="1000">
              <a:solidFill>
                <a:schemeClr val="dk1"/>
              </a:solidFill>
              <a:latin typeface="Montserrat"/>
              <a:ea typeface="Montserrat"/>
              <a:cs typeface="Montserrat"/>
              <a:sym typeface="Montserrat"/>
            </a:endParaRPr>
          </a:p>
        </p:txBody>
      </p:sp>
      <p:pic>
        <p:nvPicPr>
          <p:cNvPr id="385" name="Google Shape;385;p55">
            <a:hlinkClick r:id="rId3"/>
          </p:cNvPr>
          <p:cNvPicPr preferRelativeResize="0"/>
          <p:nvPr/>
        </p:nvPicPr>
        <p:blipFill rotWithShape="1">
          <a:blip r:embed="rId4">
            <a:alphaModFix/>
          </a:blip>
          <a:srcRect b="5744" l="0" r="0" t="5744"/>
          <a:stretch/>
        </p:blipFill>
        <p:spPr>
          <a:xfrm>
            <a:off x="685800" y="2400300"/>
            <a:ext cx="4780452" cy="2247898"/>
          </a:xfrm>
          <a:prstGeom prst="rect">
            <a:avLst/>
          </a:prstGeom>
          <a:noFill/>
          <a:ln>
            <a:noFill/>
          </a:ln>
        </p:spPr>
      </p:pic>
      <p:sp>
        <p:nvSpPr>
          <p:cNvPr id="386" name="Google Shape;386;p55"/>
          <p:cNvSpPr txBox="1"/>
          <p:nvPr/>
        </p:nvSpPr>
        <p:spPr>
          <a:xfrm>
            <a:off x="5680200" y="2834500"/>
            <a:ext cx="2849100" cy="1046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Tidak seperti situs web portfolio gratis biasa yang memungkinkan desainer membuat akun, desainer pemula memerlukan undangan untuk bergabung dengan Cargo.</a:t>
            </a:r>
            <a:endParaRPr sz="1000">
              <a:solidFill>
                <a:schemeClr val="dk1"/>
              </a:solidFill>
              <a:latin typeface="Montserrat"/>
              <a:ea typeface="Montserrat"/>
              <a:cs typeface="Montserrat"/>
              <a:sym typeface="Montserra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2" name="Google Shape;392;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393" name="Google Shape;393;p56"/>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5</a:t>
            </a:r>
            <a:r>
              <a:rPr b="1" lang="en" sz="1600">
                <a:solidFill>
                  <a:srgbClr val="743673"/>
                </a:solidFill>
                <a:highlight>
                  <a:schemeClr val="lt1"/>
                </a:highlight>
                <a:latin typeface="Montserrat"/>
                <a:ea typeface="Montserrat"/>
                <a:cs typeface="Montserrat"/>
                <a:sym typeface="Montserrat"/>
              </a:rPr>
              <a:t>) Carbonmade</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Carbonmade membantu kamu memamerkan pekerjaan dan berpeluang ditemukan oleh pengguna. Situs ini sempurna untuk fotografer, ilustrator, desainer gerak, desainer grafis, copywriter dan para pekerja kreatif lainnya.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94" name="Google Shape;394;p56">
            <a:hlinkClick r:id="rId3"/>
          </p:cNvPr>
          <p:cNvPicPr preferRelativeResize="0"/>
          <p:nvPr/>
        </p:nvPicPr>
        <p:blipFill rotWithShape="1">
          <a:blip r:embed="rId4">
            <a:alphaModFix/>
          </a:blip>
          <a:srcRect b="11779" l="0" r="0" t="-212"/>
          <a:stretch/>
        </p:blipFill>
        <p:spPr>
          <a:xfrm>
            <a:off x="685800" y="2400300"/>
            <a:ext cx="4780452" cy="22479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0" name="Google Shape;400;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401" name="Google Shape;401;p57"/>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6</a:t>
            </a:r>
            <a:r>
              <a:rPr b="1" lang="en" sz="1600">
                <a:solidFill>
                  <a:srgbClr val="743673"/>
                </a:solidFill>
                <a:highlight>
                  <a:schemeClr val="lt1"/>
                </a:highlight>
                <a:latin typeface="Montserrat"/>
                <a:ea typeface="Montserrat"/>
                <a:cs typeface="Montserrat"/>
                <a:sym typeface="Montserrat"/>
              </a:rPr>
              <a:t>) Pixpa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Jika pekerjaan kamu berkisar pada visual yang memukau, Pixpa adalah pilihan tepat untuk kamu memamerkannya. Galeri Pixpa memberi opsi tampilan gambar dengan fleksibilitas tinggi.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02" name="Google Shape;402;p57">
            <a:hlinkClick r:id="rId3"/>
          </p:cNvPr>
          <p:cNvPicPr preferRelativeResize="0"/>
          <p:nvPr/>
        </p:nvPicPr>
        <p:blipFill rotWithShape="1">
          <a:blip r:embed="rId4">
            <a:alphaModFix/>
          </a:blip>
          <a:srcRect b="5579" l="0" r="0" t="5579"/>
          <a:stretch/>
        </p:blipFill>
        <p:spPr>
          <a:xfrm>
            <a:off x="685800" y="2400300"/>
            <a:ext cx="4780452" cy="224789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No code website builders</a:t>
            </a:r>
            <a:endParaRPr>
              <a:latin typeface="Montserrat"/>
              <a:ea typeface="Montserrat"/>
              <a:cs typeface="Montserrat"/>
              <a:sym typeface="Montserrat"/>
            </a:endParaRPr>
          </a:p>
        </p:txBody>
      </p:sp>
      <p:sp>
        <p:nvSpPr>
          <p:cNvPr id="408" name="Google Shape;408;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9" name="Google Shape;409;p58"/>
          <p:cNvSpPr txBox="1"/>
          <p:nvPr/>
        </p:nvSpPr>
        <p:spPr>
          <a:xfrm>
            <a:off x="685800" y="2048400"/>
            <a:ext cx="4884300" cy="1262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Tapi kan mendesain portofolio di website perlu coding? Kalau nggak bisa coding gimana dong?</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Tenang, kita akan menggunakan alat yang memudahkan yaitu </a:t>
            </a:r>
            <a:r>
              <a:rPr b="1" lang="en">
                <a:solidFill>
                  <a:srgbClr val="F2AB2F"/>
                </a:solidFill>
                <a:latin typeface="Montserrat"/>
                <a:ea typeface="Montserrat"/>
                <a:cs typeface="Montserrat"/>
                <a:sym typeface="Montserrat"/>
              </a:rPr>
              <a:t>no code website builders</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p:txBody>
      </p:sp>
      <p:pic>
        <p:nvPicPr>
          <p:cNvPr id="410" name="Google Shape;410;p58"/>
          <p:cNvPicPr preferRelativeResize="0"/>
          <p:nvPr/>
        </p:nvPicPr>
        <p:blipFill>
          <a:blip r:embed="rId3">
            <a:alphaModFix/>
          </a:blip>
          <a:stretch>
            <a:fillRect/>
          </a:stretch>
        </p:blipFill>
        <p:spPr>
          <a:xfrm>
            <a:off x="5850125" y="1165300"/>
            <a:ext cx="2377124" cy="331887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6" name="Google Shape;416;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No code website builders</a:t>
            </a:r>
            <a:endParaRPr>
              <a:latin typeface="Montserrat"/>
              <a:ea typeface="Montserrat"/>
              <a:cs typeface="Montserrat"/>
              <a:sym typeface="Montserrat"/>
            </a:endParaRPr>
          </a:p>
        </p:txBody>
      </p:sp>
      <p:sp>
        <p:nvSpPr>
          <p:cNvPr id="417" name="Google Shape;417;p59"/>
          <p:cNvSpPr txBox="1"/>
          <p:nvPr/>
        </p:nvSpPr>
        <p:spPr>
          <a:xfrm>
            <a:off x="685800" y="2075097"/>
            <a:ext cx="4114800" cy="993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itu “no code website builders”?</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Pembuat situs web (website builders) adalah </a:t>
            </a:r>
            <a:r>
              <a:rPr b="1" lang="en" sz="1000">
                <a:solidFill>
                  <a:schemeClr val="dk1"/>
                </a:solidFill>
                <a:latin typeface="Montserrat"/>
                <a:ea typeface="Montserrat"/>
                <a:cs typeface="Montserrat"/>
                <a:sym typeface="Montserrat"/>
              </a:rPr>
              <a:t>alat</a:t>
            </a:r>
            <a:r>
              <a:rPr lang="en" sz="1000">
                <a:solidFill>
                  <a:schemeClr val="dk1"/>
                </a:solidFill>
                <a:latin typeface="Montserrat"/>
                <a:ea typeface="Montserrat"/>
                <a:cs typeface="Montserrat"/>
                <a:sym typeface="Montserrat"/>
              </a:rPr>
              <a:t> yang pada umumnya memungkinkan </a:t>
            </a:r>
            <a:r>
              <a:rPr b="1" lang="en" sz="1000">
                <a:solidFill>
                  <a:schemeClr val="dk1"/>
                </a:solidFill>
                <a:latin typeface="Montserrat"/>
                <a:ea typeface="Montserrat"/>
                <a:cs typeface="Montserrat"/>
                <a:sym typeface="Montserrat"/>
              </a:rPr>
              <a:t>pembuatan situs web tanpa pengeditan kode manual</a:t>
            </a:r>
            <a:r>
              <a:rPr lang="en" sz="1000">
                <a:solidFill>
                  <a:schemeClr val="dk1"/>
                </a:solidFill>
                <a:latin typeface="Montserrat"/>
                <a:ea typeface="Montserrat"/>
                <a:cs typeface="Montserrat"/>
                <a:sym typeface="Montserrat"/>
              </a:rPr>
              <a:t>. </a:t>
            </a:r>
            <a:endParaRPr sz="1200">
              <a:solidFill>
                <a:schemeClr val="dk1"/>
              </a:solidFill>
              <a:latin typeface="Montserrat Medium"/>
              <a:ea typeface="Montserrat Medium"/>
              <a:cs typeface="Montserrat Medium"/>
              <a:sym typeface="Montserrat Medium"/>
            </a:endParaRPr>
          </a:p>
        </p:txBody>
      </p:sp>
      <p:pic>
        <p:nvPicPr>
          <p:cNvPr id="418" name="Google Shape;418;p59"/>
          <p:cNvPicPr preferRelativeResize="0"/>
          <p:nvPr/>
        </p:nvPicPr>
        <p:blipFill>
          <a:blip r:embed="rId3">
            <a:alphaModFix/>
          </a:blip>
          <a:stretch>
            <a:fillRect/>
          </a:stretch>
        </p:blipFill>
        <p:spPr>
          <a:xfrm>
            <a:off x="4944875" y="1201703"/>
            <a:ext cx="3671725" cy="337731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4" name="Google Shape;424;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No code website builders</a:t>
            </a:r>
            <a:endParaRPr>
              <a:latin typeface="Montserrat"/>
              <a:ea typeface="Montserrat"/>
              <a:cs typeface="Montserrat"/>
              <a:sym typeface="Montserrat"/>
            </a:endParaRPr>
          </a:p>
        </p:txBody>
      </p:sp>
      <p:sp>
        <p:nvSpPr>
          <p:cNvPr id="425" name="Google Shape;425;p60"/>
          <p:cNvSpPr txBox="1"/>
          <p:nvPr/>
        </p:nvSpPr>
        <p:spPr>
          <a:xfrm>
            <a:off x="685800" y="1625850"/>
            <a:ext cx="4114800" cy="1891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Mereka terbagi dalam dua kategori: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b="1" lang="en" sz="1000">
                <a:solidFill>
                  <a:schemeClr val="dk1"/>
                </a:solidFill>
                <a:latin typeface="Montserrat"/>
                <a:ea typeface="Montserrat"/>
                <a:cs typeface="Montserrat"/>
                <a:sym typeface="Montserrat"/>
              </a:rPr>
              <a:t>Alat kepemilikan online</a:t>
            </a:r>
            <a:r>
              <a:rPr lang="en" sz="1000">
                <a:solidFill>
                  <a:schemeClr val="dk1"/>
                </a:solidFill>
                <a:latin typeface="Montserrat"/>
                <a:ea typeface="Montserrat"/>
                <a:cs typeface="Montserrat"/>
                <a:sym typeface="Montserrat"/>
              </a:rPr>
              <a:t> </a:t>
            </a:r>
            <a:r>
              <a:rPr b="1" lang="en" sz="1000">
                <a:solidFill>
                  <a:schemeClr val="dk1"/>
                </a:solidFill>
                <a:latin typeface="Montserrat"/>
                <a:ea typeface="Montserrat"/>
                <a:cs typeface="Montserrat"/>
                <a:sym typeface="Montserrat"/>
              </a:rPr>
              <a:t>yang disediakan oleh perusahaan hosting web</a:t>
            </a:r>
            <a:r>
              <a:rPr lang="en" sz="1000">
                <a:solidFill>
                  <a:schemeClr val="dk1"/>
                </a:solidFill>
                <a:latin typeface="Montserrat"/>
                <a:ea typeface="Montserrat"/>
                <a:cs typeface="Montserrat"/>
                <a:sym typeface="Montserrat"/>
              </a:rPr>
              <a:t>. Ini biasanya ditujukan bagi pengguna untuk membangun situs pribadi mereka.</a:t>
            </a:r>
            <a:endParaRPr sz="1000">
              <a:solidFill>
                <a:schemeClr val="dk1"/>
              </a:solidFill>
              <a:latin typeface="Montserrat"/>
              <a:ea typeface="Montserrat"/>
              <a:cs typeface="Montserrat"/>
              <a:sym typeface="Montserrat"/>
            </a:endParaRPr>
          </a:p>
          <a:p>
            <a:pPr indent="0" lvl="0" marL="45720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b="1" lang="en" sz="1000">
                <a:solidFill>
                  <a:schemeClr val="dk1"/>
                </a:solidFill>
                <a:latin typeface="Montserrat"/>
                <a:ea typeface="Montserrat"/>
                <a:cs typeface="Montserrat"/>
                <a:sym typeface="Montserrat"/>
              </a:rPr>
              <a:t>Perangkat lunak offline yang berjalan di komputer</a:t>
            </a:r>
            <a:r>
              <a:rPr lang="en" sz="1000">
                <a:solidFill>
                  <a:schemeClr val="dk1"/>
                </a:solidFill>
                <a:latin typeface="Montserrat"/>
                <a:ea typeface="Montserrat"/>
                <a:cs typeface="Montserrat"/>
                <a:sym typeface="Montserrat"/>
              </a:rPr>
              <a:t>, membuat halaman dan kemudian dapat menerbitkan halaman ini di host mana pun. Hal ini sering dianggap sebagai "perangkat lunak desain situs web", daripada "pembuat situs web".</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26" name="Google Shape;426;p60"/>
          <p:cNvPicPr preferRelativeResize="0"/>
          <p:nvPr/>
        </p:nvPicPr>
        <p:blipFill>
          <a:blip r:embed="rId3">
            <a:alphaModFix/>
          </a:blip>
          <a:stretch>
            <a:fillRect/>
          </a:stretch>
        </p:blipFill>
        <p:spPr>
          <a:xfrm>
            <a:off x="5102785" y="1156250"/>
            <a:ext cx="2977026" cy="349194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2" name="Google Shape;432;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No code website builders</a:t>
            </a:r>
            <a:endParaRPr>
              <a:latin typeface="Montserrat"/>
              <a:ea typeface="Montserrat"/>
              <a:cs typeface="Montserrat"/>
              <a:sym typeface="Montserrat"/>
            </a:endParaRPr>
          </a:p>
        </p:txBody>
      </p:sp>
      <p:sp>
        <p:nvSpPr>
          <p:cNvPr id="433" name="Google Shape;433;p61"/>
          <p:cNvSpPr txBox="1"/>
          <p:nvPr/>
        </p:nvSpPr>
        <p:spPr>
          <a:xfrm>
            <a:off x="685800" y="1718250"/>
            <a:ext cx="4114800" cy="1707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Mari mencoba!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Contoh-contoh sebelumnya termasuk dalam kategori pertama, yaitu alat kepemilikan online yang disediakan oleh perusahaan hosting web. Ini biasanya ditujukan</a:t>
            </a:r>
            <a:r>
              <a:rPr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bagi pengguna untuk membangun situs pribadi mereka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sesi ini, mari kita coba dua website builders yaitu Wix dan Adobe Portfolio. </a:t>
            </a:r>
            <a:endParaRPr sz="1000">
              <a:solidFill>
                <a:schemeClr val="dk1"/>
              </a:solidFill>
              <a:latin typeface="Montserrat"/>
              <a:ea typeface="Montserrat"/>
              <a:cs typeface="Montserrat"/>
              <a:sym typeface="Montserrat"/>
            </a:endParaRPr>
          </a:p>
        </p:txBody>
      </p:sp>
      <p:pic>
        <p:nvPicPr>
          <p:cNvPr id="434" name="Google Shape;434;p61"/>
          <p:cNvPicPr preferRelativeResize="0"/>
          <p:nvPr/>
        </p:nvPicPr>
        <p:blipFill rotWithShape="1">
          <a:blip r:embed="rId3">
            <a:alphaModFix/>
          </a:blip>
          <a:srcRect b="0" l="22575" r="22575" t="0"/>
          <a:stretch/>
        </p:blipFill>
        <p:spPr>
          <a:xfrm>
            <a:off x="5486400" y="1207587"/>
            <a:ext cx="3017518" cy="27432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0" name="Google Shape;440;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441" name="Google Shape;441;p62"/>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Tutorial pendek untuk membuat portfolio dengan Wix</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Klik gambar di bawah ini untuk melihat video tutorial membuat website dalam hitungan menit dengan Wix Advanced Options.</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42" name="Google Shape;442;p62">
            <a:hlinkClick r:id="rId3"/>
          </p:cNvPr>
          <p:cNvPicPr preferRelativeResize="0"/>
          <p:nvPr/>
        </p:nvPicPr>
        <p:blipFill rotWithShape="1">
          <a:blip r:embed="rId4">
            <a:alphaModFix/>
          </a:blip>
          <a:srcRect b="-1173" l="0" r="0" t="16125"/>
          <a:stretch/>
        </p:blipFill>
        <p:spPr>
          <a:xfrm>
            <a:off x="2181775" y="2302225"/>
            <a:ext cx="4780450" cy="224790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8" name="Google Shape;448;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449" name="Google Shape;449;p63"/>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Tutorial pendek untuk membuat </a:t>
            </a:r>
            <a:r>
              <a:rPr b="1" lang="en" sz="1600">
                <a:solidFill>
                  <a:srgbClr val="743673"/>
                </a:solidFill>
                <a:highlight>
                  <a:schemeClr val="lt1"/>
                </a:highlight>
                <a:latin typeface="Montserrat"/>
                <a:ea typeface="Montserrat"/>
                <a:cs typeface="Montserrat"/>
                <a:sym typeface="Montserrat"/>
              </a:rPr>
              <a:t>portofolio</a:t>
            </a:r>
            <a:r>
              <a:rPr b="1" lang="en" sz="1600">
                <a:solidFill>
                  <a:srgbClr val="743673"/>
                </a:solidFill>
                <a:highlight>
                  <a:schemeClr val="lt1"/>
                </a:highlight>
                <a:latin typeface="Montserrat"/>
                <a:ea typeface="Montserrat"/>
                <a:cs typeface="Montserrat"/>
                <a:sym typeface="Montserrat"/>
              </a:rPr>
              <a:t> dengan Adobe Portfolio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Klik gambar di bawah ini untuk melihat video tutorial membuat website dalam hitungan menit dengan Adobe Portfolio..</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50" name="Google Shape;450;p63">
            <a:hlinkClick r:id="rId3"/>
          </p:cNvPr>
          <p:cNvPicPr preferRelativeResize="0"/>
          <p:nvPr/>
        </p:nvPicPr>
        <p:blipFill rotWithShape="1">
          <a:blip r:embed="rId4">
            <a:alphaModFix/>
          </a:blip>
          <a:srcRect b="8319" l="0" r="0" t="8319"/>
          <a:stretch/>
        </p:blipFill>
        <p:spPr>
          <a:xfrm>
            <a:off x="2181775" y="2313125"/>
            <a:ext cx="4780448" cy="22479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6" name="Google Shape;456;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457" name="Google Shape;457;p64"/>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 Webinar: Membangun Portofolio UX yang Luar Biasa?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Webinar ini tidak terlalu berkaitan dengan website builders. Tetapi, kalau kamu punya waktu senggang, tontonlah webinar ini untuk menambah ilmu terkait penyusunan portofolio.</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58" name="Google Shape;458;p64">
            <a:hlinkClick r:id="rId3"/>
          </p:cNvPr>
          <p:cNvPicPr preferRelativeResize="0"/>
          <p:nvPr/>
        </p:nvPicPr>
        <p:blipFill rotWithShape="1">
          <a:blip r:embed="rId4">
            <a:alphaModFix/>
          </a:blip>
          <a:srcRect b="-3188" l="0" r="0" t="19506"/>
          <a:stretch/>
        </p:blipFill>
        <p:spPr>
          <a:xfrm>
            <a:off x="2181775" y="2345825"/>
            <a:ext cx="4780452" cy="22479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4" name="Google Shape;464;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No code website builders</a:t>
            </a:r>
            <a:endParaRPr>
              <a:latin typeface="Montserrat"/>
              <a:ea typeface="Montserrat"/>
              <a:cs typeface="Montserrat"/>
              <a:sym typeface="Montserrat"/>
            </a:endParaRPr>
          </a:p>
        </p:txBody>
      </p:sp>
      <p:sp>
        <p:nvSpPr>
          <p:cNvPr id="465" name="Google Shape;465;p65"/>
          <p:cNvSpPr txBox="1"/>
          <p:nvPr/>
        </p:nvSpPr>
        <p:spPr>
          <a:xfrm>
            <a:off x="685800" y="2064597"/>
            <a:ext cx="4114800" cy="1014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Ingatlah…</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t>
            </a:r>
            <a:r>
              <a:rPr lang="en" sz="1000">
                <a:solidFill>
                  <a:schemeClr val="dk1"/>
                </a:solidFill>
                <a:latin typeface="Montserrat"/>
                <a:ea typeface="Montserrat"/>
                <a:cs typeface="Montserrat"/>
                <a:sym typeface="Montserrat"/>
              </a:rPr>
              <a:t>aat kamu mengerjakan proyek baru, </a:t>
            </a:r>
            <a:r>
              <a:rPr b="1" lang="en" sz="1000">
                <a:solidFill>
                  <a:schemeClr val="dk1"/>
                </a:solidFill>
                <a:latin typeface="Montserrat"/>
                <a:ea typeface="Montserrat"/>
                <a:cs typeface="Montserrat"/>
                <a:sym typeface="Montserrat"/>
              </a:rPr>
              <a:t>simpan semua artefak </a:t>
            </a:r>
            <a:r>
              <a:rPr lang="en" sz="1000">
                <a:solidFill>
                  <a:schemeClr val="dk1"/>
                </a:solidFill>
                <a:latin typeface="Montserrat"/>
                <a:ea typeface="Montserrat"/>
                <a:cs typeface="Montserrat"/>
                <a:sym typeface="Montserrat"/>
              </a:rPr>
              <a:t>atau proses dokumen untuk digunakan sebagai studi kasus di masa mendatang dalam portfolio kamu.</a:t>
            </a:r>
            <a:endParaRPr sz="1000">
              <a:solidFill>
                <a:schemeClr val="dk1"/>
              </a:solidFill>
              <a:latin typeface="Montserrat"/>
              <a:ea typeface="Montserrat"/>
              <a:cs typeface="Montserrat"/>
              <a:sym typeface="Montserrat"/>
            </a:endParaRPr>
          </a:p>
        </p:txBody>
      </p:sp>
      <p:pic>
        <p:nvPicPr>
          <p:cNvPr id="466" name="Google Shape;466;p65"/>
          <p:cNvPicPr preferRelativeResize="0"/>
          <p:nvPr/>
        </p:nvPicPr>
        <p:blipFill>
          <a:blip r:embed="rId3">
            <a:alphaModFix/>
          </a:blip>
          <a:stretch>
            <a:fillRect/>
          </a:stretch>
        </p:blipFill>
        <p:spPr>
          <a:xfrm>
            <a:off x="5341750" y="1183625"/>
            <a:ext cx="2039105" cy="361697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2" name="Google Shape;472;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No code website builders</a:t>
            </a:r>
            <a:endParaRPr>
              <a:latin typeface="Montserrat"/>
              <a:ea typeface="Montserrat"/>
              <a:cs typeface="Montserrat"/>
              <a:sym typeface="Montserrat"/>
            </a:endParaRPr>
          </a:p>
        </p:txBody>
      </p:sp>
      <p:sp>
        <p:nvSpPr>
          <p:cNvPr id="473" name="Google Shape;473;p66"/>
          <p:cNvSpPr txBox="1"/>
          <p:nvPr/>
        </p:nvSpPr>
        <p:spPr>
          <a:xfrm>
            <a:off x="685800" y="1906047"/>
            <a:ext cx="4114800" cy="1331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membuat portofolio desain UX, ingat tip berikut: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Kurasi, kurasi, dan kurasi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Tunjukkan karya nyata, meski berantakan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Sorot kolaborasi dengan tim</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Renungkan siapa kamu sebagai seorang desainer dan di mana kamu ingin berada</a:t>
            </a:r>
            <a:endParaRPr sz="1000">
              <a:solidFill>
                <a:schemeClr val="dk1"/>
              </a:solidFill>
              <a:latin typeface="Montserrat"/>
              <a:ea typeface="Montserrat"/>
              <a:cs typeface="Montserrat"/>
              <a:sym typeface="Montserrat"/>
            </a:endParaRPr>
          </a:p>
        </p:txBody>
      </p:sp>
      <p:pic>
        <p:nvPicPr>
          <p:cNvPr id="474" name="Google Shape;474;p66"/>
          <p:cNvPicPr preferRelativeResize="0"/>
          <p:nvPr/>
        </p:nvPicPr>
        <p:blipFill>
          <a:blip r:embed="rId3">
            <a:alphaModFix/>
          </a:blip>
          <a:stretch>
            <a:fillRect/>
          </a:stretch>
        </p:blipFill>
        <p:spPr>
          <a:xfrm>
            <a:off x="5456275" y="1099925"/>
            <a:ext cx="2376348" cy="3478748"/>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0" name="Google Shape;480;p67"/>
          <p:cNvSpPr txBox="1"/>
          <p:nvPr/>
        </p:nvSpPr>
        <p:spPr>
          <a:xfrm>
            <a:off x="914400" y="553350"/>
            <a:ext cx="7315200" cy="72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latin typeface="Montserrat"/>
                <a:ea typeface="Montserrat"/>
                <a:cs typeface="Montserrat"/>
                <a:sym typeface="Montserrat"/>
              </a:rPr>
              <a:t>Saatnya kita</a:t>
            </a:r>
            <a:endParaRPr b="1" sz="2000">
              <a:solidFill>
                <a:srgbClr val="FFFFFF"/>
              </a:solidFill>
              <a:latin typeface="Montserrat"/>
              <a:ea typeface="Montserrat"/>
              <a:cs typeface="Montserrat"/>
              <a:sym typeface="Montserrat"/>
            </a:endParaRPr>
          </a:p>
          <a:p>
            <a:pPr indent="0" lvl="0" marL="0" rtl="0" algn="ctr">
              <a:spcBef>
                <a:spcPts val="0"/>
              </a:spcBef>
              <a:spcAft>
                <a:spcPts val="0"/>
              </a:spcAft>
              <a:buNone/>
            </a:pPr>
            <a:r>
              <a:rPr b="1" lang="en" sz="3000">
                <a:solidFill>
                  <a:srgbClr val="FFAB40"/>
                </a:solidFill>
                <a:latin typeface="Montserrat"/>
                <a:ea typeface="Montserrat"/>
                <a:cs typeface="Montserrat"/>
                <a:sym typeface="Montserrat"/>
              </a:rPr>
              <a:t>Quiz!</a:t>
            </a:r>
            <a:endParaRPr b="1" sz="3000">
              <a:solidFill>
                <a:srgbClr val="FFAB40"/>
              </a:solidFill>
              <a:latin typeface="Montserrat"/>
              <a:ea typeface="Montserrat"/>
              <a:cs typeface="Montserrat"/>
              <a:sym typeface="Montserrat"/>
            </a:endParaRPr>
          </a:p>
        </p:txBody>
      </p:sp>
      <p:pic>
        <p:nvPicPr>
          <p:cNvPr id="481" name="Google Shape;481;p67"/>
          <p:cNvPicPr preferRelativeResize="0"/>
          <p:nvPr/>
        </p:nvPicPr>
        <p:blipFill rotWithShape="1">
          <a:blip r:embed="rId3">
            <a:alphaModFix/>
          </a:blip>
          <a:srcRect b="35463" l="16341" r="18912" t="0"/>
          <a:stretch/>
        </p:blipFill>
        <p:spPr>
          <a:xfrm>
            <a:off x="2421325" y="2177750"/>
            <a:ext cx="3903698" cy="2965752"/>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487" name="Google Shape;487;p6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Jika anda masih ragu untuk memulai dari mana ketika akan menyusun portofolio, anda bisa memulai dengan menulis suatu studi kasus. Hal yang bisa dilakukan adalah, kecuali…</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6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Mengikuti alur penyusunan studi kasus</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Menggunakan sebuah templat konten</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Menyalin konten dari sebuah platform</a:t>
            </a:r>
            <a:endParaRPr sz="1200">
              <a:solidFill>
                <a:schemeClr val="lt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493" name="Google Shape;493;p6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chemeClr val="accent1"/>
                </a:solidFill>
                <a:latin typeface="Montserrat"/>
                <a:ea typeface="Montserrat"/>
                <a:cs typeface="Montserrat"/>
                <a:sym typeface="Montserrat"/>
              </a:rPr>
              <a:t>1.</a:t>
            </a:r>
            <a:r>
              <a:rPr b="1" lang="en" sz="1600">
                <a:solidFill>
                  <a:schemeClr val="lt1"/>
                </a:solidFill>
                <a:latin typeface="Montserrat"/>
                <a:ea typeface="Montserrat"/>
                <a:cs typeface="Montserrat"/>
                <a:sym typeface="Montserrat"/>
              </a:rPr>
              <a:t> Jika anda masih ragu untuk memulai dari mana ketika akan menyusun portofolio, anda bisa memulai dengan menulis suatu studi kasus. Hal yang bisa dilakukan adalah, kecuali…</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Mengikuti alur penyusunan studi kasus</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Menggunakan sebuah templat konten</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Menyalin konten dari sebuah platform</a:t>
            </a:r>
            <a:endParaRPr b="1" sz="1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494" name="Google Shape;494;p69"/>
          <p:cNvSpPr/>
          <p:nvPr/>
        </p:nvSpPr>
        <p:spPr>
          <a:xfrm>
            <a:off x="685800" y="3153700"/>
            <a:ext cx="7772400" cy="8448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Menyalin konten dari sebuah platform bukanlah praktik yang dianjurkan untuk memulai tulisan. Konten yang kamu salin belum tentu konten yang baik, dan dapat mengarahkan kamu ke plagiarisme.</a:t>
            </a:r>
            <a:endParaRPr b="1" sz="1200">
              <a:solidFill>
                <a:srgbClr val="733572"/>
              </a:solidFill>
              <a:latin typeface="Montserrat"/>
              <a:ea typeface="Montserrat"/>
              <a:cs typeface="Montserrat"/>
              <a:sym typeface="Montserra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00" name="Google Shape;500;p7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Pada penggunaan pendekatan content-first di dalamnya mengharuskan…</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Adanya konten final sebelum menambahkan visual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Adanya struktur konten sebelum menambahkan visual</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Adanya elemen visual sebelum struktur konten</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06" name="Google Shape;506;p7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Pada penggunaan pendekatan content-first di dalamnya mengharuskan…</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Adanya konten final sebelum menambahkan visual </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Adanya struktur konten sebelum menambahkan visual</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Adanya elemen visual sebelum struktur konten</a:t>
            </a:r>
            <a:endParaRPr sz="1200">
              <a:solidFill>
                <a:srgbClr val="A667A5"/>
              </a:solidFill>
              <a:latin typeface="Montserrat Medium"/>
              <a:ea typeface="Montserrat Medium"/>
              <a:cs typeface="Montserrat Medium"/>
              <a:sym typeface="Montserrat Medium"/>
            </a:endParaRPr>
          </a:p>
        </p:txBody>
      </p:sp>
      <p:sp>
        <p:nvSpPr>
          <p:cNvPr id="507" name="Google Shape;507;p71"/>
          <p:cNvSpPr/>
          <p:nvPr/>
        </p:nvSpPr>
        <p:spPr>
          <a:xfrm>
            <a:off x="685800" y="2957775"/>
            <a:ext cx="7772400" cy="8508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Pendekatan content-first tidak mengharuskan konten sepenuhnya ditulis dan dipoles sebelum memulai desain atau penambahan elemen visual. Mendefinisikan struktur konten adalah yang terpenting.</a:t>
            </a:r>
            <a:endParaRPr b="1" sz="1200">
              <a:solidFill>
                <a:srgbClr val="733572"/>
              </a:solidFill>
              <a:latin typeface="Montserrat"/>
              <a:ea typeface="Montserrat"/>
              <a:cs typeface="Montserrat"/>
              <a:sym typeface="Montserrat"/>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13" name="Google Shape;513;p7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Berikut ini adalah alasan-alasan mengapa anda diharuskan mempunyai template yang cukup seragam untuk berbagai studi kasus yang anda buat, kecuali…</a:t>
            </a:r>
            <a:endParaRPr sz="1600">
              <a:solidFill>
                <a:schemeClr val="lt1"/>
              </a:solidFill>
              <a:latin typeface="Montserrat Medium"/>
              <a:ea typeface="Montserrat Medium"/>
              <a:cs typeface="Montserrat Medium"/>
              <a:sym typeface="Montserrat Medium"/>
            </a:endParaRPr>
          </a:p>
          <a:p>
            <a:pPr indent="0" lvl="0" marL="45720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Untuk memudahkan pembaca saat beralih dari satu studi kasus ke yang lainnya</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U</a:t>
            </a:r>
            <a:r>
              <a:rPr lang="en" sz="1200">
                <a:solidFill>
                  <a:schemeClr val="lt1"/>
                </a:solidFill>
                <a:latin typeface="Montserrat Medium"/>
                <a:ea typeface="Montserrat Medium"/>
                <a:cs typeface="Montserrat Medium"/>
                <a:sym typeface="Montserrat Medium"/>
              </a:rPr>
              <a:t>ntuk memberikan rasa identitas (brand) pada tulisan kamu</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Untuk menunjukkan bahwa proyek-proyek kamu mengalami proses yang sama</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19" name="Google Shape;519;p7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chemeClr val="accent1"/>
                </a:solidFill>
                <a:latin typeface="Montserrat"/>
                <a:ea typeface="Montserrat"/>
                <a:cs typeface="Montserrat"/>
                <a:sym typeface="Montserrat"/>
              </a:rPr>
              <a:t>3.</a:t>
            </a:r>
            <a:r>
              <a:rPr b="1" lang="en" sz="1600">
                <a:solidFill>
                  <a:schemeClr val="lt1"/>
                </a:solidFill>
                <a:latin typeface="Montserrat"/>
                <a:ea typeface="Montserrat"/>
                <a:cs typeface="Montserrat"/>
                <a:sym typeface="Montserrat"/>
              </a:rPr>
              <a:t> Berikut ini adalah alasan-alasan mengapa anda diharuskan mempunyai template yang cukup seragam untuk berbagai studi kasus yang anda buat, kecuali…</a:t>
            </a:r>
            <a:endParaRPr sz="1600">
              <a:solidFill>
                <a:schemeClr val="lt1"/>
              </a:solidFill>
              <a:latin typeface="Montserrat Medium"/>
              <a:ea typeface="Montserrat Medium"/>
              <a:cs typeface="Montserrat Medium"/>
              <a:sym typeface="Montserrat Medium"/>
            </a:endParaRPr>
          </a:p>
          <a:p>
            <a:pPr indent="0" lvl="0" marL="45720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Untuk memudahkan pembaca saat beralih dari satu studi kasus ke yang lainnya</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Untuk memberikan rasa identitas (brand) pada tulisan kamu</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Untuk menunjukkan bahwa proyek-proyek kamu mengalami proses yang sama</a:t>
            </a:r>
            <a:endParaRPr b="1" sz="1200">
              <a:solidFill>
                <a:schemeClr val="lt1"/>
              </a:solidFill>
              <a:latin typeface="Montserrat"/>
              <a:ea typeface="Montserrat"/>
              <a:cs typeface="Montserrat"/>
              <a:sym typeface="Montserrat"/>
            </a:endParaRPr>
          </a:p>
        </p:txBody>
      </p:sp>
      <p:sp>
        <p:nvSpPr>
          <p:cNvPr id="520" name="Google Shape;520;p73"/>
          <p:cNvSpPr/>
          <p:nvPr/>
        </p:nvSpPr>
        <p:spPr>
          <a:xfrm>
            <a:off x="685800" y="3491175"/>
            <a:ext cx="7772400" cy="6660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Menggunakan sebuah template bertujuan agar portofolio terbaca secara kohesif, memudahkan pembaca mendapatkan informasi, dan menunjukkan karakteristik kamu</a:t>
            </a:r>
            <a:endParaRPr b="1" sz="1200">
              <a:solidFill>
                <a:srgbClr val="733572"/>
              </a:solidFill>
              <a:latin typeface="Montserrat"/>
              <a:ea typeface="Montserrat"/>
              <a:cs typeface="Montserrat"/>
              <a:sym typeface="Montserrat"/>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26" name="Google Shape;526;p7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accen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Piramida Portofolio UX dapat membantu kamu dalam membangun portfolio UX yaitu dengan memperhatikan…</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Fokus maksimum dan gangguan maksimum</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F</a:t>
            </a:r>
            <a:r>
              <a:rPr lang="en" sz="1200">
                <a:solidFill>
                  <a:schemeClr val="lt1"/>
                </a:solidFill>
                <a:latin typeface="Montserrat Medium"/>
                <a:ea typeface="Montserrat Medium"/>
                <a:cs typeface="Montserrat Medium"/>
                <a:sym typeface="Montserrat Medium"/>
              </a:rPr>
              <a:t>okus maksimum dan gangguan minimum</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Fokus minimum dan gangguan maksimum</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Fokus minimum dan gangguan minimum</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32" name="Google Shape;532;p7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4. </a:t>
            </a:r>
            <a:r>
              <a:rPr b="1" lang="en" sz="1600">
                <a:solidFill>
                  <a:schemeClr val="lt1"/>
                </a:solidFill>
                <a:latin typeface="Montserrat"/>
                <a:ea typeface="Montserrat"/>
                <a:cs typeface="Montserrat"/>
                <a:sym typeface="Montserrat"/>
              </a:rPr>
              <a:t>Piramida Portofolio UX dapat membantu kamu dalam membangun </a:t>
            </a:r>
            <a:r>
              <a:rPr b="1" lang="en" sz="1600">
                <a:solidFill>
                  <a:schemeClr val="lt1"/>
                </a:solidFill>
                <a:latin typeface="Montserrat"/>
                <a:ea typeface="Montserrat"/>
                <a:cs typeface="Montserrat"/>
                <a:sym typeface="Montserrat"/>
              </a:rPr>
              <a:t>portfolio</a:t>
            </a:r>
            <a:r>
              <a:rPr b="1" lang="en" sz="1600">
                <a:solidFill>
                  <a:schemeClr val="lt1"/>
                </a:solidFill>
                <a:latin typeface="Montserrat"/>
                <a:ea typeface="Montserrat"/>
                <a:cs typeface="Montserrat"/>
                <a:sym typeface="Montserrat"/>
              </a:rPr>
              <a:t> UX yaitu dengan memperhatikan… </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Fokus maksimum dan gangguan maksimum</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Fokus maksimum dan gangguan minimum</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Fokus minimum dan gangguan maksimum</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Fokus minimum dan gangguan minimum</a:t>
            </a:r>
            <a:endParaRPr sz="1200">
              <a:solidFill>
                <a:srgbClr val="A667A5"/>
              </a:solidFill>
              <a:latin typeface="Montserrat Medium"/>
              <a:ea typeface="Montserrat Medium"/>
              <a:cs typeface="Montserrat Medium"/>
              <a:sym typeface="Montserrat Medium"/>
            </a:endParaRPr>
          </a:p>
        </p:txBody>
      </p:sp>
      <p:sp>
        <p:nvSpPr>
          <p:cNvPr id="533" name="Google Shape;533;p75"/>
          <p:cNvSpPr/>
          <p:nvPr/>
        </p:nvSpPr>
        <p:spPr>
          <a:xfrm>
            <a:off x="685800" y="34911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Piramida portofolio UX membantu kamu membangun portofolio UX dengan fokus </a:t>
            </a:r>
            <a:r>
              <a:rPr b="1" lang="en" sz="1200">
                <a:solidFill>
                  <a:srgbClr val="733572"/>
                </a:solidFill>
                <a:latin typeface="Montserrat"/>
                <a:ea typeface="Montserrat"/>
                <a:cs typeface="Montserrat"/>
                <a:sym typeface="Montserrat"/>
              </a:rPr>
              <a:t>maksimum</a:t>
            </a:r>
            <a:r>
              <a:rPr b="1" lang="en" sz="1200">
                <a:solidFill>
                  <a:srgbClr val="733572"/>
                </a:solidFill>
                <a:latin typeface="Montserrat"/>
                <a:ea typeface="Montserrat"/>
                <a:cs typeface="Montserrat"/>
                <a:sym typeface="Montserrat"/>
              </a:rPr>
              <a:t> dan gangguan minimum.</a:t>
            </a:r>
            <a:endParaRPr b="1" sz="1200">
              <a:solidFill>
                <a:srgbClr val="733572"/>
              </a:solidFill>
              <a:latin typeface="Montserrat"/>
              <a:ea typeface="Montserrat"/>
              <a:cs typeface="Montserrat"/>
              <a:sym typeface="Montserrat"/>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39" name="Google Shape;539;p7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Pada dasar Piramida UX Portfolio dapat kamu gunakan untuk menemukan…</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Visuals</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Packaging</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Written Content</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45" name="Google Shape;545;p7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Pada dasar Piramida UX Portfolio dapat kamu gunakan untuk menemukan…</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6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Visuals</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Packaging</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Written Content</a:t>
            </a:r>
            <a:endParaRPr b="1" sz="1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546" name="Google Shape;546;p77"/>
          <p:cNvSpPr/>
          <p:nvPr/>
        </p:nvSpPr>
        <p:spPr>
          <a:xfrm>
            <a:off x="685800" y="29577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Kita perlu mengawali proses dengan written konten, lalu menambahkan visuals dan baru membungkus (package) konten dan visual kita dengan menarik.</a:t>
            </a:r>
            <a:endParaRPr b="1" sz="1200">
              <a:solidFill>
                <a:srgbClr val="733572"/>
              </a:solidFill>
              <a:latin typeface="Montserrat"/>
              <a:ea typeface="Montserrat"/>
              <a:cs typeface="Montserrat"/>
              <a:sym typeface="Montserrat"/>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52" name="Google Shape;552;p7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6</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Berikut adalah beberapa platform yang bisa kamu gunakan untuk membuat portfolio berbasis web,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Wix</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Uxfolio</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Cargo</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Dreamweaver</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58" name="Google Shape;558;p7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chemeClr val="accent1"/>
                </a:solidFill>
                <a:latin typeface="Montserrat"/>
                <a:ea typeface="Montserrat"/>
                <a:cs typeface="Montserrat"/>
                <a:sym typeface="Montserrat"/>
              </a:rPr>
              <a:t>6.</a:t>
            </a:r>
            <a:r>
              <a:rPr b="1" lang="en" sz="1600">
                <a:solidFill>
                  <a:schemeClr val="lt1"/>
                </a:solidFill>
                <a:latin typeface="Montserrat"/>
                <a:ea typeface="Montserrat"/>
                <a:cs typeface="Montserrat"/>
                <a:sym typeface="Montserrat"/>
              </a:rPr>
              <a:t> Berikut adalah beberapa platform yang bisa kamu gunakan untuk membuat portfolio berbasis web, kecuali…</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Wix</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Uxfolio</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Cargo</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Dreamweaver</a:t>
            </a:r>
            <a:endParaRPr b="1" sz="1200">
              <a:solidFill>
                <a:schemeClr val="lt1"/>
              </a:solidFill>
              <a:latin typeface="Montserrat"/>
              <a:ea typeface="Montserrat"/>
              <a:cs typeface="Montserrat"/>
              <a:sym typeface="Montserrat"/>
            </a:endParaRPr>
          </a:p>
        </p:txBody>
      </p:sp>
      <p:sp>
        <p:nvSpPr>
          <p:cNvPr id="559" name="Google Shape;559;p79"/>
          <p:cNvSpPr/>
          <p:nvPr/>
        </p:nvSpPr>
        <p:spPr>
          <a:xfrm>
            <a:off x="685800" y="3414975"/>
            <a:ext cx="7772400" cy="8370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Adobe Dreamweaver adalah program pembuatan situs web yang memungkinkan kamu membangun dan menerbitkan halaman web hampir di mana saja dengan perangkat lunak yang mendukung HTML, CSS, JavaScript, dan lainnya</a:t>
            </a:r>
            <a:endParaRPr b="1" sz="1200">
              <a:solidFill>
                <a:srgbClr val="733572"/>
              </a:solidFill>
              <a:latin typeface="Montserrat"/>
              <a:ea typeface="Montserrat"/>
              <a:cs typeface="Montserrat"/>
              <a:sym typeface="Montserrat"/>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65" name="Google Shape;565;p8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7</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Website builders terbagi menjadi</a:t>
            </a:r>
            <a:r>
              <a:rPr b="1" lang="en" sz="1600">
                <a:solidFill>
                  <a:schemeClr val="lt1"/>
                </a:solidFill>
                <a:latin typeface="Montserrat"/>
                <a:ea typeface="Montserrat"/>
                <a:cs typeface="Montserrat"/>
                <a:sym typeface="Montserrat"/>
              </a:rPr>
              <a:t> dua kategori, salah satunya adalah…</a:t>
            </a:r>
            <a:r>
              <a:rPr b="1" lang="en" sz="1800">
                <a:solidFill>
                  <a:schemeClr val="lt1"/>
                </a:solidFill>
                <a:latin typeface="Montserrat"/>
                <a:ea typeface="Montserrat"/>
                <a:cs typeface="Montserrat"/>
                <a:sym typeface="Montserrat"/>
              </a:rPr>
              <a:t> </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Alat kepemilikan online yang disediakan oleh perusahaan hosting web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a:t>
            </a:r>
            <a:r>
              <a:rPr lang="en" sz="1200">
                <a:solidFill>
                  <a:schemeClr val="lt1"/>
                </a:solidFill>
                <a:latin typeface="Montserrat Medium"/>
                <a:ea typeface="Montserrat Medium"/>
                <a:cs typeface="Montserrat Medium"/>
                <a:sym typeface="Montserrat Medium"/>
              </a:rPr>
              <a:t>erangkat lunak online yang berjalan di komputer</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A</a:t>
            </a:r>
            <a:r>
              <a:rPr lang="en" sz="1200">
                <a:solidFill>
                  <a:schemeClr val="lt1"/>
                </a:solidFill>
                <a:latin typeface="Montserrat Medium"/>
                <a:ea typeface="Montserrat Medium"/>
                <a:cs typeface="Montserrat Medium"/>
                <a:sym typeface="Montserrat Medium"/>
              </a:rPr>
              <a:t>lat kepemilikan offline yang disediakan oleh perusahaan hosting web </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71" name="Google Shape;571;p8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7.</a:t>
            </a:r>
            <a:r>
              <a:rPr b="1" lang="en" sz="1600">
                <a:solidFill>
                  <a:schemeClr val="lt1"/>
                </a:solidFill>
                <a:latin typeface="Montserrat"/>
                <a:ea typeface="Montserrat"/>
                <a:cs typeface="Montserrat"/>
                <a:sym typeface="Montserrat"/>
              </a:rPr>
              <a:t> Website builders terbagi menjadi dua kategori, salah satunya yang tepat adalah… </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A</a:t>
            </a:r>
            <a:r>
              <a:rPr b="1" lang="en" sz="1200">
                <a:solidFill>
                  <a:schemeClr val="lt1"/>
                </a:solidFill>
                <a:latin typeface="Montserrat"/>
                <a:ea typeface="Montserrat"/>
                <a:cs typeface="Montserrat"/>
                <a:sym typeface="Montserrat"/>
              </a:rPr>
              <a:t>lat kepemilikan online yang disediakan oleh perusahaan hosting web </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a:t>
            </a:r>
            <a:r>
              <a:rPr lang="en" sz="1200">
                <a:solidFill>
                  <a:srgbClr val="A667A5"/>
                </a:solidFill>
                <a:latin typeface="Montserrat Medium"/>
                <a:ea typeface="Montserrat Medium"/>
                <a:cs typeface="Montserrat Medium"/>
                <a:sym typeface="Montserrat Medium"/>
              </a:rPr>
              <a:t>erangkat lunak online yang berjalan di komputer</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Alat kepemilikan offline yang disediakan oleh perusahaan hosting web </a:t>
            </a:r>
            <a:endParaRPr sz="1200">
              <a:solidFill>
                <a:srgbClr val="A667A5"/>
              </a:solidFill>
              <a:latin typeface="Montserrat Medium"/>
              <a:ea typeface="Montserrat Medium"/>
              <a:cs typeface="Montserrat Medium"/>
              <a:sym typeface="Montserrat Medium"/>
            </a:endParaRPr>
          </a:p>
        </p:txBody>
      </p:sp>
      <p:sp>
        <p:nvSpPr>
          <p:cNvPr id="572" name="Google Shape;572;p81"/>
          <p:cNvSpPr/>
          <p:nvPr/>
        </p:nvSpPr>
        <p:spPr>
          <a:xfrm>
            <a:off x="685800" y="2984700"/>
            <a:ext cx="7772400" cy="8448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Website builders terbagi menjadi dua kategori, yakni alat kepemilikan online yang disediakan oleh perusahaan hosting web dan perangkat lunak offline yang berjalan di komputer.</a:t>
            </a:r>
            <a:endParaRPr b="1" sz="1200">
              <a:solidFill>
                <a:srgbClr val="733572"/>
              </a:solidFill>
              <a:latin typeface="Montserrat"/>
              <a:ea typeface="Montserrat"/>
              <a:cs typeface="Montserrat"/>
              <a:sym typeface="Montserrat"/>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8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8" name="Google Shape;578;p8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579" name="Google Shape;579;p82"/>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580" name="Google Shape;580;p82"/>
          <p:cNvSpPr txBox="1"/>
          <p:nvPr/>
        </p:nvSpPr>
        <p:spPr>
          <a:xfrm>
            <a:off x="685800" y="1718252"/>
            <a:ext cx="4114800" cy="1707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u="sng">
                <a:solidFill>
                  <a:schemeClr val="dk1"/>
                </a:solidFill>
                <a:latin typeface="Montserrat"/>
                <a:ea typeface="Montserrat"/>
                <a:cs typeface="Montserrat"/>
                <a:sym typeface="Montserrat"/>
                <a:hlinkClick r:id="rId4">
                  <a:extLst>
                    <a:ext uri="{A12FA001-AC4F-418D-AE19-62706E023703}">
                      <ahyp:hlinkClr val="tx"/>
                    </a:ext>
                  </a:extLst>
                </a:hlinkClick>
              </a:rPr>
              <a:t>UX Design Portfolios by Nielsen Norman Group</a:t>
            </a:r>
            <a:r>
              <a:rPr lang="en" sz="1000" u="sng">
                <a:solidFill>
                  <a:schemeClr val="dk1"/>
                </a:solidFill>
                <a:latin typeface="Montserrat"/>
                <a:ea typeface="Montserrat"/>
                <a:cs typeface="Montserrat"/>
                <a:sym typeface="Montserrat"/>
                <a:hlinkClick r:id="rId5">
                  <a:extLst>
                    <a:ext uri="{A12FA001-AC4F-418D-AE19-62706E023703}">
                      <ahyp:hlinkClr val="tx"/>
                    </a:ext>
                  </a:extLst>
                </a:hlinkClick>
              </a:rPr>
              <a:t> </a:t>
            </a:r>
            <a:endParaRPr u="sng"/>
          </a:p>
          <a:p>
            <a:pPr indent="-292100" lvl="0" marL="457200" rtl="0" algn="just">
              <a:lnSpc>
                <a:spcPct val="115000"/>
              </a:lnSpc>
              <a:spcBef>
                <a:spcPts val="0"/>
              </a:spcBef>
              <a:spcAft>
                <a:spcPts val="0"/>
              </a:spcAft>
              <a:buClr>
                <a:schemeClr val="dk1"/>
              </a:buClr>
              <a:buSzPts val="1000"/>
              <a:buFont typeface="Montserrat"/>
              <a:buAutoNum type="arabicPeriod"/>
            </a:pPr>
            <a:r>
              <a:rPr lang="en" sz="1000" u="sng">
                <a:solidFill>
                  <a:schemeClr val="dk1"/>
                </a:solidFill>
                <a:latin typeface="Montserrat"/>
                <a:ea typeface="Montserrat"/>
                <a:cs typeface="Montserrat"/>
                <a:sym typeface="Montserrat"/>
                <a:hlinkClick r:id="rId6">
                  <a:extLst>
                    <a:ext uri="{A12FA001-AC4F-418D-AE19-62706E023703}">
                      <ahyp:hlinkClr val="tx"/>
                    </a:ext>
                  </a:extLst>
                </a:hlinkClick>
              </a:rPr>
              <a:t>Build a UX portfolio to land your dream UX job by UX Beginner</a:t>
            </a:r>
            <a:endParaRPr u="sng"/>
          </a:p>
          <a:p>
            <a:pPr indent="-292100" lvl="0" marL="457200" rtl="0" algn="just">
              <a:lnSpc>
                <a:spcPct val="115000"/>
              </a:lnSpc>
              <a:spcBef>
                <a:spcPts val="0"/>
              </a:spcBef>
              <a:spcAft>
                <a:spcPts val="0"/>
              </a:spcAft>
              <a:buClr>
                <a:schemeClr val="dk1"/>
              </a:buClr>
              <a:buSzPts val="1000"/>
              <a:buFont typeface="Montserrat"/>
              <a:buAutoNum type="arabicPeriod"/>
            </a:pPr>
            <a:r>
              <a:rPr lang="en" sz="1000" u="sng">
                <a:solidFill>
                  <a:schemeClr val="dk1"/>
                </a:solidFill>
                <a:latin typeface="Montserrat"/>
                <a:ea typeface="Montserrat"/>
                <a:cs typeface="Montserrat"/>
                <a:sym typeface="Montserrat"/>
                <a:hlinkClick r:id="rId7">
                  <a:extLst>
                    <a:ext uri="{A12FA001-AC4F-418D-AE19-62706E023703}">
                      <ahyp:hlinkClr val="tx"/>
                    </a:ext>
                  </a:extLst>
                </a:hlinkClick>
              </a:rPr>
              <a:t>The Best Free UX/UI Portfolio Websites to Use in 2022 by CareerFoundry</a:t>
            </a:r>
            <a:endParaRPr u="sng"/>
          </a:p>
          <a:p>
            <a:pPr indent="-292100" lvl="0" marL="457200" rtl="0" algn="just">
              <a:lnSpc>
                <a:spcPct val="115000"/>
              </a:lnSpc>
              <a:spcBef>
                <a:spcPts val="0"/>
              </a:spcBef>
              <a:spcAft>
                <a:spcPts val="0"/>
              </a:spcAft>
              <a:buClr>
                <a:schemeClr val="dk1"/>
              </a:buClr>
              <a:buSzPts val="1000"/>
              <a:buFont typeface="Montserrat"/>
              <a:buAutoNum type="arabicPeriod"/>
            </a:pPr>
            <a:r>
              <a:rPr lang="en" sz="1000" u="sng">
                <a:solidFill>
                  <a:schemeClr val="dk1"/>
                </a:solidFill>
                <a:latin typeface="Montserrat"/>
                <a:ea typeface="Montserrat"/>
                <a:cs typeface="Montserrat"/>
                <a:sym typeface="Montserrat"/>
                <a:hlinkClick r:id="rId8">
                  <a:extLst>
                    <a:ext uri="{A12FA001-AC4F-418D-AE19-62706E023703}">
                      <ahyp:hlinkClr val="tx"/>
                    </a:ext>
                  </a:extLst>
                </a:hlinkClick>
              </a:rPr>
              <a:t>UX Portfolio Case Study template (plus examples from successful hires) by UX Design Mastery</a:t>
            </a:r>
            <a:endParaRPr sz="1000" u="sng">
              <a:solidFill>
                <a:schemeClr val="dk1"/>
              </a:solidFill>
              <a:latin typeface="Montserrat"/>
              <a:ea typeface="Montserrat"/>
              <a:cs typeface="Montserrat"/>
              <a:sym typeface="Montserrat"/>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8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586" name="Google Shape;586;p8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587" name="Google Shape;587;p83"/>
          <p:cNvSpPr txBox="1"/>
          <p:nvPr/>
        </p:nvSpPr>
        <p:spPr>
          <a:xfrm>
            <a:off x="685800" y="1743275"/>
            <a:ext cx="45720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Oke, lengkap sudah pembahasan kita tentang </a:t>
            </a:r>
            <a:r>
              <a:rPr b="1" lang="en">
                <a:solidFill>
                  <a:srgbClr val="F2AB2F"/>
                </a:solidFill>
                <a:latin typeface="Montserrat"/>
                <a:ea typeface="Montserrat"/>
                <a:cs typeface="Montserrat"/>
                <a:sym typeface="Montserrat"/>
              </a:rPr>
              <a:t>portofolio</a:t>
            </a:r>
            <a:r>
              <a:rPr b="1" lang="en">
                <a:solidFill>
                  <a:schemeClr val="lt1"/>
                </a:solidFill>
                <a:latin typeface="Montserrat"/>
                <a:ea typeface="Montserrat"/>
                <a:cs typeface="Montserrat"/>
                <a:sym typeface="Montserrat"/>
              </a:rPr>
              <a:t>. Semoga materi ini berguna dan selamat mencoba ya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Di pertemuan selanjutnya, kita akan lebih banyak bermain. Yuhuu seru banget!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See you tomorrow, bestie ~</a:t>
            </a:r>
            <a:endParaRPr b="1">
              <a:solidFill>
                <a:schemeClr val="lt1"/>
              </a:solidFill>
              <a:latin typeface="Montserrat"/>
              <a:ea typeface="Montserrat"/>
              <a:cs typeface="Montserrat"/>
              <a:sym typeface="Montserrat"/>
            </a:endParaRPr>
          </a:p>
        </p:txBody>
      </p:sp>
      <p:pic>
        <p:nvPicPr>
          <p:cNvPr id="588" name="Google Shape;588;p83"/>
          <p:cNvPicPr preferRelativeResize="0"/>
          <p:nvPr/>
        </p:nvPicPr>
        <p:blipFill>
          <a:blip r:embed="rId3">
            <a:alphaModFix/>
          </a:blip>
          <a:stretch>
            <a:fillRect/>
          </a:stretch>
        </p:blipFill>
        <p:spPr>
          <a:xfrm>
            <a:off x="4022231" y="703600"/>
            <a:ext cx="5687844" cy="4338199"/>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592" name="Shape 592"/>
        <p:cNvGrpSpPr/>
        <p:nvPr/>
      </p:nvGrpSpPr>
      <p:grpSpPr>
        <a:xfrm>
          <a:off x="0" y="0"/>
          <a:ext cx="0" cy="0"/>
          <a:chOff x="0" y="0"/>
          <a:chExt cx="0" cy="0"/>
        </a:xfrm>
      </p:grpSpPr>
      <p:sp>
        <p:nvSpPr>
          <p:cNvPr id="593" name="Google Shape;593;p84"/>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94" name="Google Shape;594;p84"/>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595" name="Google Shape;595;p84"/>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596" name="Google Shape;596;p84"/>
          <p:cNvPicPr preferRelativeResize="0"/>
          <p:nvPr/>
        </p:nvPicPr>
        <p:blipFill>
          <a:blip r:embed="rId5">
            <a:alphaModFix/>
          </a:blip>
          <a:stretch>
            <a:fillRect/>
          </a:stretch>
        </p:blipFill>
        <p:spPr>
          <a:xfrm>
            <a:off x="1103225" y="6174213"/>
            <a:ext cx="1991475" cy="689575"/>
          </a:xfrm>
          <a:prstGeom prst="rect">
            <a:avLst/>
          </a:prstGeom>
          <a:noFill/>
          <a:ln>
            <a:noFill/>
          </a:ln>
        </p:spPr>
      </p:pic>
      <p:pic>
        <p:nvPicPr>
          <p:cNvPr id="597" name="Google Shape;597;p84"/>
          <p:cNvPicPr preferRelativeResize="0"/>
          <p:nvPr/>
        </p:nvPicPr>
        <p:blipFill>
          <a:blip r:embed="rId6">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