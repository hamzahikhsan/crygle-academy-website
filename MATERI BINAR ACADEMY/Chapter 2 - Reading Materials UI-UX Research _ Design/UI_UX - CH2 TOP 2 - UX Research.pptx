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Raleway"/>
      <p:regular r:id="rId57"/>
      <p:bold r:id="rId58"/>
      <p:italic r:id="rId59"/>
      <p:boldItalic r:id="rId60"/>
    </p:embeddedFont>
    <p:embeddedFont>
      <p:font typeface="Montserrat"/>
      <p:regular r:id="rId61"/>
      <p:bold r:id="rId62"/>
      <p:italic r:id="rId63"/>
      <p:boldItalic r:id="rId64"/>
    </p:embeddedFont>
    <p:embeddedFont>
      <p:font typeface="Montserrat Medium"/>
      <p:regular r:id="rId65"/>
      <p:bold r:id="rId66"/>
      <p:italic r:id="rId67"/>
      <p:boldItalic r:id="rId68"/>
    </p:embeddedFont>
    <p:embeddedFont>
      <p:font typeface="Lato Black"/>
      <p:bold r:id="rId69"/>
      <p:boldItalic r:id="rId70"/>
    </p:embeddedFont>
    <p:embeddedFont>
      <p:font typeface="Raleway Medium"/>
      <p:regular r:id="rId71"/>
      <p:bold r:id="rId72"/>
      <p:italic r:id="rId73"/>
      <p:boldItalic r:id="rId74"/>
    </p:embeddedFont>
    <p:embeddedFont>
      <p:font typeface="Montserrat ExtraBold"/>
      <p:bold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L) Aulia F. Kuntjor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alewayMedium-italic.fntdata"/><Relationship Id="rId72" Type="http://schemas.openxmlformats.org/officeDocument/2006/relationships/font" Target="fonts/RalewayMedium-bold.fntdata"/><Relationship Id="rId31" Type="http://schemas.openxmlformats.org/officeDocument/2006/relationships/slide" Target="slides/slide25.xml"/><Relationship Id="rId75" Type="http://schemas.openxmlformats.org/officeDocument/2006/relationships/font" Target="fonts/MontserratExtraBold-bold.fntdata"/><Relationship Id="rId30" Type="http://schemas.openxmlformats.org/officeDocument/2006/relationships/slide" Target="slides/slide24.xml"/><Relationship Id="rId74" Type="http://schemas.openxmlformats.org/officeDocument/2006/relationships/font" Target="fonts/RalewayMedium-boldItalic.fntdata"/><Relationship Id="rId33" Type="http://schemas.openxmlformats.org/officeDocument/2006/relationships/slide" Target="slides/slide27.xml"/><Relationship Id="rId32" Type="http://schemas.openxmlformats.org/officeDocument/2006/relationships/slide" Target="slides/slide26.xml"/><Relationship Id="rId76" Type="http://schemas.openxmlformats.org/officeDocument/2006/relationships/font" Target="fonts/MontserratExtraBold-boldItalic.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alewayMedium-regular.fntdata"/><Relationship Id="rId70" Type="http://schemas.openxmlformats.org/officeDocument/2006/relationships/font" Target="fonts/LatoBlack-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ontserrat-bold.fntdata"/><Relationship Id="rId61" Type="http://schemas.openxmlformats.org/officeDocument/2006/relationships/font" Target="fonts/Montserrat-regular.fntdata"/><Relationship Id="rId20" Type="http://schemas.openxmlformats.org/officeDocument/2006/relationships/slide" Target="slides/slide14.xml"/><Relationship Id="rId64" Type="http://schemas.openxmlformats.org/officeDocument/2006/relationships/font" Target="fonts/Montserrat-boldItalic.fntdata"/><Relationship Id="rId63" Type="http://schemas.openxmlformats.org/officeDocument/2006/relationships/font" Target="fonts/Montserrat-italic.fntdata"/><Relationship Id="rId22" Type="http://schemas.openxmlformats.org/officeDocument/2006/relationships/slide" Target="slides/slide16.xml"/><Relationship Id="rId66" Type="http://schemas.openxmlformats.org/officeDocument/2006/relationships/font" Target="fonts/MontserratMedium-bold.fntdata"/><Relationship Id="rId21" Type="http://schemas.openxmlformats.org/officeDocument/2006/relationships/slide" Target="slides/slide15.xml"/><Relationship Id="rId65" Type="http://schemas.openxmlformats.org/officeDocument/2006/relationships/font" Target="fonts/MontserratMedium-regular.fntdata"/><Relationship Id="rId24" Type="http://schemas.openxmlformats.org/officeDocument/2006/relationships/slide" Target="slides/slide18.xml"/><Relationship Id="rId68" Type="http://schemas.openxmlformats.org/officeDocument/2006/relationships/font" Target="fonts/MontserratMedium-boldItalic.fntdata"/><Relationship Id="rId23" Type="http://schemas.openxmlformats.org/officeDocument/2006/relationships/slide" Target="slides/slide17.xml"/><Relationship Id="rId67" Type="http://schemas.openxmlformats.org/officeDocument/2006/relationships/font" Target="fonts/MontserratMedium-italic.fntdata"/><Relationship Id="rId60" Type="http://schemas.openxmlformats.org/officeDocument/2006/relationships/font" Target="fonts/Raleway-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LatoBlack-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Raleway-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Raleway-italic.fntdata"/><Relationship Id="rId14" Type="http://schemas.openxmlformats.org/officeDocument/2006/relationships/slide" Target="slides/slide8.xml"/><Relationship Id="rId58" Type="http://schemas.openxmlformats.org/officeDocument/2006/relationships/font" Target="fonts/Raleway-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2-02-18T02:56:55.853">
    <p:pos x="432" y="711"/>
    <p:text>Ini sudah kece sekali!</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2-02-18T03:18:39.208">
    <p:pos x="1137" y="514"/>
    <p:text>Kenapa ini di sini? Apa hubungannya sama yang sebelumnya?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research?utm_source=unsplash&amp;utm_medium=referral&amp;utm_content=creditCopyText" TargetMode="External"/><Relationship Id="rId5" Type="http://schemas.openxmlformats.org/officeDocument/2006/relationships/hyperlink" Target="https://unsplash.com/s/photos/research?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research?utm_source=unsplash&amp;utm_medium=referral&amp;utm_content=creditCopyText" TargetMode="External"/><Relationship Id="rId5" Type="http://schemas.openxmlformats.org/officeDocument/2006/relationships/hyperlink" Target="https://unsplash.com/s/photos/research?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classics?utm_source=unsplash&amp;utm_medium=referral&amp;utm_content=creditCopyText" TargetMode="External"/><Relationship Id="rId3" Type="http://schemas.openxmlformats.org/officeDocument/2006/relationships/hyperlink" Target="https://unsplash.com/@stilclassics?utm_source=unsplash&amp;utm_medium=referral&amp;utm_content=creditCopyText" TargetMode="External"/><Relationship Id="rId4" Type="http://schemas.openxmlformats.org/officeDocument/2006/relationships/hyperlink" Target="https://unsplash.com/s/photos/planning?utm_source=unsplash&amp;utm_medium=referral&amp;utm_content=creditCopyText" TargetMode="External"/><Relationship Id="rId5" Type="http://schemas.openxmlformats.org/officeDocument/2006/relationships/hyperlink" Target="https://unsplash.com/s/photos/planning?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ekton_tools?utm_source=unsplash&amp;utm_medium=referral&amp;utm_content=creditCopyText" TargetMode="External"/><Relationship Id="rId3" Type="http://schemas.openxmlformats.org/officeDocument/2006/relationships/hyperlink" Target="https://unsplash.com/@tekton_tools?utm_source=unsplash&amp;utm_medium=referral&amp;utm_content=creditCopyText" TargetMode="External"/><Relationship Id="rId4" Type="http://schemas.openxmlformats.org/officeDocument/2006/relationships/hyperlink" Target="https://unsplash.com/s/photos/toolbox?utm_source=unsplash&amp;utm_medium=referral&amp;utm_content=creditCopyText" TargetMode="External"/><Relationship Id="rId5" Type="http://schemas.openxmlformats.org/officeDocument/2006/relationships/hyperlink" Target="https://unsplash.com/s/photos/toolbox?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x-research?utm_source=unsplash&amp;utm_medium=referral&amp;utm_content=creditCopyText" TargetMode="External"/><Relationship Id="rId5" Type="http://schemas.openxmlformats.org/officeDocument/2006/relationships/hyperlink" Target="https://unsplash.com/s/photos/ux-research?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152352c27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152352c27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146e54fc3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1146e54fc35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152352c27e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152352c27e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152352c27e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152352c27e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0f7e7774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0f7e7774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d1c2ecc95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d1c2ecc95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152841393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152841393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52841393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152841393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d1c2ecc95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d1c2ecc95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d1c2ecc95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d1c2ecc95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d1c2ecc95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d1c2ecc95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0f7e777481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0f7e77748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0b12bec43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0b12bec43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https://www.amazon.com/Practical-Research-Planning-Enhanced-Pearson/dp/0133747182</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d1c2ecc95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d1c2ecc95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https://www.amazon.com/Practical-Research-Planning-Enhanced-Pearson/dp/0133747182</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0b12bec43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0b12bec43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0b12bec43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0b12bec43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0f7e777481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0f7e77748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Tekton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1550f4d7b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1550f4d7b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0f7e777481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0f7e777481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d1c2ecc95a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d1c2ecc95a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d1c2ecc95a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d1c2ecc95a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d1c2ecc95a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d1c2ecc95a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https://www.nngroup.com/articles/ux-research-cheat-sheet/</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d1c2ecc95a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d1c2ecc95a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https://npengage.com/nonprofit-fundraising/nonprofit-web-design-process-part-surveys-and-interviews/</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1559f491f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1559f491f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https://npengage.com/nonprofit-fundraising/nonprofit-web-design-process-part-surveys-and-interviews/</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1559f491fb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1559f491fb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https://npengage.com/nonprofit-fundraising/nonprofit-web-design-process-part-surveys-and-interviews/</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1559f491fb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1559f491fb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1559f491fb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1559f491fb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15cf0ca9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15cf0ca9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1572673f79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11572673f79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15d2d477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15d2d477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1572673f79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1572673f79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d1c2ecc95a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d1c2ecc95a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15d2d4775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15d2d4775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1572673f79_4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11572673f79_4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1572673f79_4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1572673f79_4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1550f4d7b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1550f4d7b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d1c2ecc95a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d1c2ecc95a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0e8c3a84c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0e8c3a84c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0f7e777481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0f7e777481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0e8c3a84c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0e8c3a84c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d1c2ecc95a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d1c2ecc95a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10e8c3a84c0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10e8c3a84c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d1c2ecc95a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d1c2ecc95a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0f7e777481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0f7e777481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d1c2ecc95a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d1c2ecc95a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12ccaa42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12ccaa42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1550f4d7b6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g11550f4d7b6_0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1550f4d7b6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1550f4d7b6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82" name="Shape 82"/>
        <p:cNvGrpSpPr/>
        <p:nvPr/>
      </p:nvGrpSpPr>
      <p:grpSpPr>
        <a:xfrm>
          <a:off x="0" y="0"/>
          <a:ext cx="0" cy="0"/>
          <a:chOff x="0" y="0"/>
          <a:chExt cx="0" cy="0"/>
        </a:xfrm>
      </p:grpSpPr>
      <p:sp>
        <p:nvSpPr>
          <p:cNvPr id="83" name="Google Shape;83;p17"/>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4" name="Google Shape;84;p17"/>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85" name="Google Shape;85;p17"/>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6" name="Google Shape;86;p17"/>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7" name="Google Shape;87;p17"/>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8" name="Google Shape;88;p17"/>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9" name="Google Shape;89;p17"/>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0" name="Google Shape;90;p17"/>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91" name="Google Shape;91;p17"/>
          <p:cNvGrpSpPr/>
          <p:nvPr/>
        </p:nvGrpSpPr>
        <p:grpSpPr>
          <a:xfrm>
            <a:off x="283668" y="259895"/>
            <a:ext cx="226001" cy="222980"/>
            <a:chOff x="283668" y="251687"/>
            <a:chExt cx="226001" cy="222980"/>
          </a:xfrm>
        </p:grpSpPr>
        <p:sp>
          <p:nvSpPr>
            <p:cNvPr id="92" name="Google Shape;92;p17"/>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93" name="Google Shape;93;p17"/>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94" name="Google Shape;94;p17"/>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95" name="Google Shape;95;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7" name="Google Shape;97;p17"/>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comments" Target="../comments/commen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interaction-design.org/literature/topics/bias" TargetMode="Externa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id1lib.org/book/5005929/6882ba" TargetMode="Externa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www.nngroup.com/articles/ux-research-cheat-sheet/" TargetMode="Externa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unsplash.com/@tekton_tools?utm_source=unsplash&amp;utm_medium=referral&amp;utm_content=creditCopyText" TargetMode="Externa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comments" Target="../comments/comment2.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7.png"/><Relationship Id="rId4" Type="http://schemas.openxmlformats.org/officeDocument/2006/relationships/hyperlink" Target="https://www.interaction-design.org/literature/topics/ux-research#:~:text=UX%20(user%20experience)%20research%20is,uncover%20problems%20and%20design%20opportunities." TargetMode="External"/><Relationship Id="rId9" Type="http://schemas.openxmlformats.org/officeDocument/2006/relationships/hyperlink" Target="https://www.uxmatters.com/mt/archives/2017/11/qualities-of-effective-user-researchers.php" TargetMode="External"/><Relationship Id="rId5" Type="http://schemas.openxmlformats.org/officeDocument/2006/relationships/hyperlink" Target="https://www.interaction-design.org/literature/topics/ux-research#:~:text=UX%20(user%20experience)%20research%20is,uncover%20problems%20and%20design%20opportunities." TargetMode="External"/><Relationship Id="rId6" Type="http://schemas.openxmlformats.org/officeDocument/2006/relationships/hyperlink" Target="https://www.interaction-design.org/literature/topics/ux-research#:~:text=UX%20(user%20experience)%20research%20is,uncover%20problems%20and%20design%20opportunities." TargetMode="External"/><Relationship Id="rId7" Type="http://schemas.openxmlformats.org/officeDocument/2006/relationships/hyperlink" Target="https://www.nngroup.com/articles/ux-research-cheat-sheet/" TargetMode="External"/><Relationship Id="rId8" Type="http://schemas.openxmlformats.org/officeDocument/2006/relationships/hyperlink" Target="https://www.nngroup.com/articles/which-ux-research-methods/"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31.png"/><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29.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01" name="Shape 101"/>
        <p:cNvGrpSpPr/>
        <p:nvPr/>
      </p:nvGrpSpPr>
      <p:grpSpPr>
        <a:xfrm>
          <a:off x="0" y="0"/>
          <a:ext cx="0" cy="0"/>
          <a:chOff x="0" y="0"/>
          <a:chExt cx="0" cy="0"/>
        </a:xfrm>
      </p:grpSpPr>
      <p:sp>
        <p:nvSpPr>
          <p:cNvPr id="102" name="Google Shape;102;p18"/>
          <p:cNvSpPr txBox="1"/>
          <p:nvPr/>
        </p:nvSpPr>
        <p:spPr>
          <a:xfrm>
            <a:off x="2362075" y="2780225"/>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 sz="2700">
                <a:solidFill>
                  <a:schemeClr val="lt1"/>
                </a:solidFill>
                <a:latin typeface="Montserrat"/>
                <a:ea typeface="Montserrat"/>
                <a:cs typeface="Montserrat"/>
                <a:sym typeface="Montserrat"/>
              </a:rPr>
              <a:t>UX Research</a:t>
            </a:r>
            <a:endParaRPr sz="27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Clr>
                <a:schemeClr val="dk1"/>
              </a:buClr>
              <a:buSzPts val="1100"/>
              <a:buFont typeface="Arial"/>
              <a:buNone/>
            </a:pPr>
            <a:r>
              <a:rPr lang="en">
                <a:solidFill>
                  <a:schemeClr val="lt1"/>
                </a:solidFill>
                <a:latin typeface="Montserrat ExtraBold"/>
                <a:ea typeface="Montserrat ExtraBold"/>
                <a:cs typeface="Montserrat ExtraBold"/>
                <a:sym typeface="Montserrat ExtraBold"/>
              </a:rPr>
              <a:t>Silver </a:t>
            </a:r>
            <a:r>
              <a:rPr lang="en">
                <a:solidFill>
                  <a:schemeClr val="lt1"/>
                </a:solidFill>
                <a:latin typeface="Montserrat"/>
                <a:ea typeface="Montserrat"/>
                <a:cs typeface="Montserrat"/>
                <a:sym typeface="Montserrat"/>
              </a:rPr>
              <a:t>- Chapter 2 - Topic 2</a:t>
            </a:r>
            <a:endParaRPr>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p:txBody>
      </p:sp>
      <p:cxnSp>
        <p:nvCxnSpPr>
          <p:cNvPr id="103" name="Google Shape;103;p18"/>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4" name="Google Shape;104;p18"/>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08" name="Shape 108"/>
        <p:cNvGrpSpPr/>
        <p:nvPr/>
      </p:nvGrpSpPr>
      <p:grpSpPr>
        <a:xfrm>
          <a:off x="0" y="0"/>
          <a:ext cx="0" cy="0"/>
          <a:chOff x="0" y="0"/>
          <a:chExt cx="0" cy="0"/>
        </a:xfrm>
      </p:grpSpPr>
      <p:sp>
        <p:nvSpPr>
          <p:cNvPr id="109" name="Google Shape;109;p19"/>
          <p:cNvSpPr txBox="1"/>
          <p:nvPr/>
        </p:nvSpPr>
        <p:spPr>
          <a:xfrm>
            <a:off x="1746750" y="685025"/>
            <a:ext cx="5650500" cy="60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600" u="none" cap="none" strike="noStrike">
                <a:solidFill>
                  <a:schemeClr val="lt1"/>
                </a:solidFill>
                <a:latin typeface="Montserrat"/>
                <a:ea typeface="Montserrat"/>
                <a:cs typeface="Montserrat"/>
                <a:sym typeface="Montserrat"/>
              </a:rPr>
              <a:t>Selamat datang di </a:t>
            </a:r>
            <a:r>
              <a:rPr b="1" i="0" lang="en" sz="1600" u="none" cap="none" strike="noStrike">
                <a:solidFill>
                  <a:schemeClr val="accent1"/>
                </a:solidFill>
                <a:latin typeface="Montserrat"/>
                <a:ea typeface="Montserrat"/>
                <a:cs typeface="Montserrat"/>
                <a:sym typeface="Montserrat"/>
              </a:rPr>
              <a:t>Chapter </a:t>
            </a:r>
            <a:r>
              <a:rPr b="1" lang="en" sz="1600">
                <a:solidFill>
                  <a:schemeClr val="accent1"/>
                </a:solidFill>
                <a:latin typeface="Montserrat"/>
                <a:ea typeface="Montserrat"/>
                <a:cs typeface="Montserrat"/>
                <a:sym typeface="Montserrat"/>
              </a:rPr>
              <a:t>2 Topik 2</a:t>
            </a:r>
            <a:r>
              <a:rPr b="1" i="0" lang="en" sz="1600" u="none" cap="none" strike="noStrike">
                <a:solidFill>
                  <a:schemeClr val="lt1"/>
                </a:solidFill>
                <a:latin typeface="Montserrat"/>
                <a:ea typeface="Montserrat"/>
                <a:cs typeface="Montserrat"/>
                <a:sym typeface="Montserrat"/>
              </a:rPr>
              <a:t> online course </a:t>
            </a:r>
            <a:endParaRPr b="1" i="0" sz="16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1" lang="en" sz="1600">
                <a:solidFill>
                  <a:schemeClr val="accent1"/>
                </a:solidFill>
                <a:latin typeface="Montserrat"/>
                <a:ea typeface="Montserrat"/>
                <a:cs typeface="Montserrat"/>
                <a:sym typeface="Montserrat"/>
              </a:rPr>
              <a:t>UI/UX Research/Design</a:t>
            </a:r>
            <a:r>
              <a:rPr b="1" i="0" lang="en" sz="1600" u="none" cap="none" strike="noStrike">
                <a:solidFill>
                  <a:schemeClr val="lt1"/>
                </a:solidFill>
                <a:latin typeface="Montserrat"/>
                <a:ea typeface="Montserrat"/>
                <a:cs typeface="Montserrat"/>
                <a:sym typeface="Montserrat"/>
              </a:rPr>
              <a:t> dari Binar Academy!</a:t>
            </a:r>
            <a:endParaRPr b="1" i="0" sz="1600" u="none" cap="none" strike="noStrike">
              <a:solidFill>
                <a:srgbClr val="FFFFFF"/>
              </a:solidFill>
              <a:latin typeface="Montserrat"/>
              <a:ea typeface="Montserrat"/>
              <a:cs typeface="Montserrat"/>
              <a:sym typeface="Montserrat"/>
            </a:endParaRPr>
          </a:p>
        </p:txBody>
      </p:sp>
      <p:pic>
        <p:nvPicPr>
          <p:cNvPr id="110" name="Google Shape;110;p19"/>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6" name="Google Shape;116;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7" name="Google Shape;117;p20"/>
          <p:cNvSpPr txBox="1"/>
          <p:nvPr/>
        </p:nvSpPr>
        <p:spPr>
          <a:xfrm>
            <a:off x="685800" y="1797150"/>
            <a:ext cx="4185000" cy="15492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Pada topik pertama, kita udah belajar apa itu</a:t>
            </a:r>
            <a:r>
              <a:rPr b="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fase empati dan bagaimana cara memahami user.</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1000"/>
              </a:spcAft>
              <a:buNone/>
            </a:pPr>
            <a:r>
              <a:rPr lang="en" sz="1000">
                <a:solidFill>
                  <a:schemeClr val="dk1"/>
                </a:solidFill>
                <a:latin typeface="Montserrat"/>
                <a:ea typeface="Montserrat"/>
                <a:cs typeface="Montserrat"/>
                <a:sym typeface="Montserrat"/>
              </a:rPr>
              <a:t>Topik kedua ini akan mengajak kamu untuk tahu lebih dalam lagi tentang </a:t>
            </a:r>
            <a:r>
              <a:rPr b="1" lang="en" sz="1000">
                <a:solidFill>
                  <a:schemeClr val="dk1"/>
                </a:solidFill>
                <a:latin typeface="Montserrat"/>
                <a:ea typeface="Montserrat"/>
                <a:cs typeface="Montserrat"/>
                <a:sym typeface="Montserrat"/>
              </a:rPr>
              <a:t>cara memahami user melalui sebuah research pengalaman user (UX research).</a:t>
            </a:r>
            <a:r>
              <a:rPr lang="en" sz="1000">
                <a:solidFill>
                  <a:schemeClr val="dk1"/>
                </a:solidFill>
                <a:latin typeface="Montserrat"/>
                <a:ea typeface="Montserrat"/>
                <a:cs typeface="Montserrat"/>
                <a:sym typeface="Montserrat"/>
              </a:rPr>
              <a:t> Penasaran kaya gimana?</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C</a:t>
            </a:r>
            <a:r>
              <a:rPr lang="en" sz="1000">
                <a:solidFill>
                  <a:schemeClr val="dk1"/>
                </a:solidFill>
                <a:latin typeface="Montserrat"/>
                <a:ea typeface="Montserrat"/>
                <a:cs typeface="Montserrat"/>
                <a:sym typeface="Montserrat"/>
              </a:rPr>
              <a:t>us langsung aja~</a:t>
            </a:r>
            <a:endParaRPr sz="1000">
              <a:solidFill>
                <a:schemeClr val="dk1"/>
              </a:solidFill>
              <a:latin typeface="Montserrat"/>
              <a:ea typeface="Montserrat"/>
              <a:cs typeface="Montserrat"/>
              <a:sym typeface="Montserrat"/>
            </a:endParaRPr>
          </a:p>
        </p:txBody>
      </p:sp>
      <p:pic>
        <p:nvPicPr>
          <p:cNvPr id="118" name="Google Shape;118;p20"/>
          <p:cNvPicPr preferRelativeResize="0"/>
          <p:nvPr/>
        </p:nvPicPr>
        <p:blipFill>
          <a:blip r:embed="rId3">
            <a:alphaModFix/>
          </a:blip>
          <a:stretch>
            <a:fillRect/>
          </a:stretch>
        </p:blipFill>
        <p:spPr>
          <a:xfrm>
            <a:off x="5409425" y="942900"/>
            <a:ext cx="2885476" cy="3630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5" name="Google Shape;125;p21"/>
          <p:cNvSpPr txBox="1"/>
          <p:nvPr/>
        </p:nvSpPr>
        <p:spPr>
          <a:xfrm>
            <a:off x="685800" y="1130295"/>
            <a:ext cx="4114800" cy="96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512252"/>
                </a:solidFill>
                <a:highlight>
                  <a:schemeClr val="lt1"/>
                </a:highlight>
                <a:latin typeface="Montserrat"/>
                <a:ea typeface="Montserrat"/>
                <a:cs typeface="Montserrat"/>
                <a:sym typeface="Montserrat"/>
              </a:rPr>
              <a:t>Detailnya</a:t>
            </a:r>
            <a:r>
              <a:rPr b="1" lang="en" sz="1600">
                <a:solidFill>
                  <a:srgbClr val="512252"/>
                </a:solidFill>
                <a:highlight>
                  <a:schemeClr val="lt1"/>
                </a:highlight>
                <a:latin typeface="Montserrat"/>
                <a:ea typeface="Montserrat"/>
                <a:cs typeface="Montserrat"/>
                <a:sym typeface="Montserrat"/>
              </a:rPr>
              <a:t>, kita bakal bahas hal-hal berikut ini: </a:t>
            </a:r>
            <a:endParaRPr b="1" sz="1600">
              <a:solidFill>
                <a:srgbClr val="512252"/>
              </a:solidFill>
              <a:latin typeface="Montserrat"/>
              <a:ea typeface="Montserrat"/>
              <a:cs typeface="Montserrat"/>
              <a:sym typeface="Montserrat"/>
            </a:endParaRPr>
          </a:p>
        </p:txBody>
      </p:sp>
      <p:sp>
        <p:nvSpPr>
          <p:cNvPr id="126" name="Google Shape;126;p21"/>
          <p:cNvSpPr/>
          <p:nvPr/>
        </p:nvSpPr>
        <p:spPr>
          <a:xfrm>
            <a:off x="831025" y="21543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7" name="Google Shape;127;p21"/>
          <p:cNvSpPr/>
          <p:nvPr/>
        </p:nvSpPr>
        <p:spPr>
          <a:xfrm>
            <a:off x="831025" y="27249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8" name="Google Shape;128;p21"/>
          <p:cNvSpPr/>
          <p:nvPr/>
        </p:nvSpPr>
        <p:spPr>
          <a:xfrm>
            <a:off x="831025" y="32956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1"/>
          <p:cNvSpPr/>
          <p:nvPr/>
        </p:nvSpPr>
        <p:spPr>
          <a:xfrm>
            <a:off x="831025" y="38117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1"/>
          <p:cNvSpPr txBox="1"/>
          <p:nvPr/>
        </p:nvSpPr>
        <p:spPr>
          <a:xfrm>
            <a:off x="1324925" y="1921700"/>
            <a:ext cx="32706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Apa itu UX Research?</a:t>
            </a:r>
            <a:endParaRPr sz="1200">
              <a:solidFill>
                <a:schemeClr val="dk1"/>
              </a:solidFill>
              <a:latin typeface="Montserrat Medium"/>
              <a:ea typeface="Montserrat Medium"/>
              <a:cs typeface="Montserrat Medium"/>
              <a:sym typeface="Montserrat Medium"/>
            </a:endParaRPr>
          </a:p>
        </p:txBody>
      </p:sp>
      <p:sp>
        <p:nvSpPr>
          <p:cNvPr id="131" name="Google Shape;131;p21"/>
          <p:cNvSpPr txBox="1"/>
          <p:nvPr/>
        </p:nvSpPr>
        <p:spPr>
          <a:xfrm>
            <a:off x="1324925" y="2492338"/>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Mengapa UX Research Penting?</a:t>
            </a:r>
            <a:endParaRPr sz="1200">
              <a:solidFill>
                <a:schemeClr val="dk1"/>
              </a:solidFill>
              <a:latin typeface="Montserrat Medium"/>
              <a:ea typeface="Montserrat Medium"/>
              <a:cs typeface="Montserrat Medium"/>
              <a:sym typeface="Montserrat Medium"/>
            </a:endParaRPr>
          </a:p>
        </p:txBody>
      </p:sp>
      <p:sp>
        <p:nvSpPr>
          <p:cNvPr id="132" name="Google Shape;132;p21"/>
          <p:cNvSpPr txBox="1"/>
          <p:nvPr/>
        </p:nvSpPr>
        <p:spPr>
          <a:xfrm>
            <a:off x="1324925" y="3055225"/>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Karakter-karakter UX Research</a:t>
            </a:r>
            <a:endParaRPr sz="1200">
              <a:solidFill>
                <a:schemeClr val="dk1"/>
              </a:solidFill>
              <a:latin typeface="Montserrat Medium"/>
              <a:ea typeface="Montserrat Medium"/>
              <a:cs typeface="Montserrat Medium"/>
              <a:sym typeface="Montserrat Medium"/>
            </a:endParaRPr>
          </a:p>
        </p:txBody>
      </p:sp>
      <p:sp>
        <p:nvSpPr>
          <p:cNvPr id="133" name="Google Shape;133;p21"/>
          <p:cNvSpPr txBox="1"/>
          <p:nvPr/>
        </p:nvSpPr>
        <p:spPr>
          <a:xfrm>
            <a:off x="1324925" y="3579100"/>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Langkah-langkah UX Research</a:t>
            </a:r>
            <a:endParaRPr sz="1200">
              <a:solidFill>
                <a:schemeClr val="dk1"/>
              </a:solidFill>
              <a:latin typeface="Montserrat Medium"/>
              <a:ea typeface="Montserrat Medium"/>
              <a:cs typeface="Montserrat Medium"/>
              <a:sym typeface="Montserrat Medium"/>
            </a:endParaRPr>
          </a:p>
        </p:txBody>
      </p:sp>
      <p:sp>
        <p:nvSpPr>
          <p:cNvPr id="134" name="Google Shape;134;p21"/>
          <p:cNvSpPr txBox="1"/>
          <p:nvPr/>
        </p:nvSpPr>
        <p:spPr>
          <a:xfrm>
            <a:off x="1243200" y="427120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Menentukan Metode UX Research</a:t>
            </a:r>
            <a:endParaRPr sz="1200">
              <a:solidFill>
                <a:schemeClr val="dk1"/>
              </a:solidFill>
              <a:latin typeface="Montserrat Medium"/>
              <a:ea typeface="Montserrat Medium"/>
              <a:cs typeface="Montserrat Medium"/>
              <a:sym typeface="Montserrat Medium"/>
            </a:endParaRPr>
          </a:p>
        </p:txBody>
      </p:sp>
      <p:sp>
        <p:nvSpPr>
          <p:cNvPr id="135" name="Google Shape;135;p21"/>
          <p:cNvSpPr/>
          <p:nvPr/>
        </p:nvSpPr>
        <p:spPr>
          <a:xfrm>
            <a:off x="831025" y="43279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6" name="Google Shape;136;p21"/>
          <p:cNvPicPr preferRelativeResize="0"/>
          <p:nvPr/>
        </p:nvPicPr>
        <p:blipFill>
          <a:blip r:embed="rId4">
            <a:alphaModFix/>
          </a:blip>
          <a:stretch>
            <a:fillRect/>
          </a:stretch>
        </p:blipFill>
        <p:spPr>
          <a:xfrm>
            <a:off x="5458996" y="1043350"/>
            <a:ext cx="2612779" cy="3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914400" y="9144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latin typeface="Montserrat"/>
                <a:ea typeface="Montserrat"/>
                <a:cs typeface="Montserrat"/>
                <a:sym typeface="Montserrat"/>
              </a:rPr>
              <a:t>Kamu pasti udah sering mendengar istilah UX research. </a:t>
            </a:r>
            <a:endParaRPr sz="1400">
              <a:latin typeface="Montserrat"/>
              <a:ea typeface="Montserrat"/>
              <a:cs typeface="Montserrat"/>
              <a:sym typeface="Montserrat"/>
            </a:endParaRPr>
          </a:p>
          <a:p>
            <a:pPr indent="0" lvl="0" marL="0" rtl="0" algn="ctr">
              <a:spcBef>
                <a:spcPts val="0"/>
              </a:spcBef>
              <a:spcAft>
                <a:spcPts val="0"/>
              </a:spcAft>
              <a:buNone/>
            </a:pPr>
            <a:r>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Emang apa sih </a:t>
            </a:r>
            <a:r>
              <a:rPr lang="en" sz="1400">
                <a:solidFill>
                  <a:schemeClr val="accent1"/>
                </a:solidFill>
                <a:latin typeface="Montserrat"/>
                <a:ea typeface="Montserrat"/>
                <a:cs typeface="Montserrat"/>
                <a:sym typeface="Montserrat"/>
              </a:rPr>
              <a:t>UX research</a:t>
            </a:r>
            <a:r>
              <a:rPr lang="en" sz="1400">
                <a:latin typeface="Montserrat"/>
                <a:ea typeface="Montserrat"/>
                <a:cs typeface="Montserrat"/>
                <a:sym typeface="Montserrat"/>
              </a:rPr>
              <a:t> itu?</a:t>
            </a:r>
            <a:endParaRPr sz="1400">
              <a:latin typeface="Montserrat"/>
              <a:ea typeface="Montserrat"/>
              <a:cs typeface="Montserrat"/>
              <a:sym typeface="Montserrat"/>
            </a:endParaRPr>
          </a:p>
        </p:txBody>
      </p:sp>
      <p:sp>
        <p:nvSpPr>
          <p:cNvPr id="142" name="Google Shape;142;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43" name="Google Shape;143;p22"/>
          <p:cNvPicPr preferRelativeResize="0"/>
          <p:nvPr/>
        </p:nvPicPr>
        <p:blipFill rotWithShape="1">
          <a:blip r:embed="rId3">
            <a:alphaModFix/>
          </a:blip>
          <a:srcRect b="38072" l="0" r="0" t="0"/>
          <a:stretch/>
        </p:blipFill>
        <p:spPr>
          <a:xfrm>
            <a:off x="1339138" y="2091775"/>
            <a:ext cx="6465726" cy="3051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9" name="Google Shape;149;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Apa itu UX Research?</a:t>
            </a:r>
            <a:endParaRPr/>
          </a:p>
        </p:txBody>
      </p:sp>
      <p:sp>
        <p:nvSpPr>
          <p:cNvPr id="150" name="Google Shape;150;p23"/>
          <p:cNvSpPr txBox="1"/>
          <p:nvPr/>
        </p:nvSpPr>
        <p:spPr>
          <a:xfrm>
            <a:off x="685800" y="15325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Kita harus tahu dulu, apa itu research?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Kalo di-bahasa indonesia-in, </a:t>
            </a:r>
            <a:r>
              <a:rPr b="1" lang="en" sz="1000">
                <a:solidFill>
                  <a:schemeClr val="dk1"/>
                </a:solidFill>
                <a:latin typeface="Montserrat"/>
                <a:ea typeface="Montserrat"/>
                <a:cs typeface="Montserrat"/>
                <a:sym typeface="Montserrat"/>
              </a:rPr>
              <a:t>research artinya riset atau penelitian.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 Kamus Besar Bahasa Indonesia (KBBI), </a:t>
            </a:r>
            <a:r>
              <a:rPr lang="en" sz="1000">
                <a:solidFill>
                  <a:schemeClr val="dk1"/>
                </a:solidFill>
                <a:latin typeface="Montserrat"/>
                <a:ea typeface="Montserrat"/>
                <a:cs typeface="Montserrat"/>
                <a:sym typeface="Montserrat"/>
              </a:rPr>
              <a:t>riset adalah penyelidikan (penelitian) suatu masalah secara tersistem, kritis, dan ilmiah untuk meningkatkan pengetahuan dan pengertian, mendapatkan fakta yang baru, atau melakukan penafsiran yang lebih baik.</a:t>
            </a:r>
            <a:endParaRPr sz="1000">
              <a:solidFill>
                <a:schemeClr val="dk1"/>
              </a:solidFill>
              <a:latin typeface="Montserrat"/>
              <a:ea typeface="Montserrat"/>
              <a:cs typeface="Montserrat"/>
              <a:sym typeface="Montserrat"/>
            </a:endParaRPr>
          </a:p>
        </p:txBody>
      </p:sp>
      <p:pic>
        <p:nvPicPr>
          <p:cNvPr id="151" name="Google Shape;151;p23"/>
          <p:cNvPicPr preferRelativeResize="0"/>
          <p:nvPr/>
        </p:nvPicPr>
        <p:blipFill>
          <a:blip r:embed="rId3">
            <a:alphaModFix/>
          </a:blip>
          <a:stretch>
            <a:fillRect/>
          </a:stretch>
        </p:blipFill>
        <p:spPr>
          <a:xfrm>
            <a:off x="4724400" y="1284130"/>
            <a:ext cx="3892199" cy="29392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Apa itu UX Research?</a:t>
            </a:r>
            <a:endParaRPr/>
          </a:p>
        </p:txBody>
      </p:sp>
      <p:sp>
        <p:nvSpPr>
          <p:cNvPr id="158" name="Google Shape;158;p24"/>
          <p:cNvSpPr txBox="1"/>
          <p:nvPr/>
        </p:nvSpPr>
        <p:spPr>
          <a:xfrm>
            <a:off x="685800" y="1600197"/>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Kalo UX, kamu masih ingat kan?</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Kayak yang udah kita pelajari pada chapter pertama, UX atau user experience adalah</a:t>
            </a:r>
            <a:r>
              <a:rPr b="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bagaimana user (pengguna) </a:t>
            </a:r>
            <a:r>
              <a:rPr b="1" lang="en" sz="1000">
                <a:solidFill>
                  <a:schemeClr val="dk1"/>
                </a:solidFill>
                <a:latin typeface="Montserrat"/>
                <a:ea typeface="Montserrat"/>
                <a:cs typeface="Montserrat"/>
                <a:sym typeface="Montserrat"/>
              </a:rPr>
              <a:t>berinteraksi dengan suatu produk</a:t>
            </a:r>
            <a:r>
              <a:rPr lang="en" sz="1000">
                <a:solidFill>
                  <a:schemeClr val="dk1"/>
                </a:solidFill>
                <a:latin typeface="Montserrat"/>
                <a:ea typeface="Montserrat"/>
                <a:cs typeface="Montserrat"/>
                <a:sym typeface="Montserrat"/>
              </a:rPr>
              <a:t>. Seperti bagaimana pikiran, perasaan, dan perilaku pengguna.</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59" name="Google Shape;159;p24"/>
          <p:cNvPicPr preferRelativeResize="0"/>
          <p:nvPr/>
        </p:nvPicPr>
        <p:blipFill rotWithShape="1">
          <a:blip r:embed="rId3">
            <a:alphaModFix/>
          </a:blip>
          <a:srcRect b="0" l="7170" r="7161" t="0"/>
          <a:stretch/>
        </p:blipFill>
        <p:spPr>
          <a:xfrm>
            <a:off x="5426925" y="914400"/>
            <a:ext cx="2726474" cy="37696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5" name="Google Shape;16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Apa itu UX Research?</a:t>
            </a:r>
            <a:endParaRPr/>
          </a:p>
        </p:txBody>
      </p:sp>
      <p:sp>
        <p:nvSpPr>
          <p:cNvPr id="166" name="Google Shape;166;p25"/>
          <p:cNvSpPr txBox="1"/>
          <p:nvPr/>
        </p:nvSpPr>
        <p:spPr>
          <a:xfrm>
            <a:off x="685800" y="1447797"/>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Jadi, apa itu UX research?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UX research adalah </a:t>
            </a:r>
            <a:r>
              <a:rPr b="1" lang="en" sz="1000">
                <a:solidFill>
                  <a:schemeClr val="dk1"/>
                </a:solidFill>
                <a:latin typeface="Montserrat"/>
                <a:ea typeface="Montserrat"/>
                <a:cs typeface="Montserrat"/>
                <a:sym typeface="Montserrat"/>
              </a:rPr>
              <a:t>metode ilmiah yang digunakan untuk memahami pikiran, perasaan, dan perilaku pengguna ketika menggunakan suatu produk atau layanan.</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Metode ilmiah yang dimaksud dapat berupa observasi dan atau wawancara. Eitss, tapi nggak cuma sekedar tanya-jawab aja yaa! Dalam proses UX research, penting banget bagi seorang UX Researcher untuk berempati pada masalah user kayak yang udah kita bahas pada topik sebelumnya.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167" name="Google Shape;167;p25"/>
          <p:cNvPicPr preferRelativeResize="0"/>
          <p:nvPr/>
        </p:nvPicPr>
        <p:blipFill>
          <a:blip r:embed="rId3">
            <a:alphaModFix/>
          </a:blip>
          <a:stretch>
            <a:fillRect/>
          </a:stretch>
        </p:blipFill>
        <p:spPr>
          <a:xfrm>
            <a:off x="5203764" y="914400"/>
            <a:ext cx="3412836" cy="3886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3" name="Google Shape;173;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Apa itu UX Research?</a:t>
            </a:r>
            <a:endParaRPr/>
          </a:p>
        </p:txBody>
      </p:sp>
      <p:sp>
        <p:nvSpPr>
          <p:cNvPr id="174" name="Google Shape;174;p26"/>
          <p:cNvSpPr txBox="1"/>
          <p:nvPr/>
        </p:nvSpPr>
        <p:spPr>
          <a:xfrm>
            <a:off x="685800" y="1447797"/>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UX r</a:t>
            </a:r>
            <a:r>
              <a:rPr b="1" lang="en" sz="1600">
                <a:solidFill>
                  <a:srgbClr val="743673"/>
                </a:solidFill>
                <a:highlight>
                  <a:schemeClr val="lt1"/>
                </a:highlight>
                <a:latin typeface="Montserrat"/>
                <a:ea typeface="Montserrat"/>
                <a:cs typeface="Montserrat"/>
                <a:sym typeface="Montserrat"/>
              </a:rPr>
              <a:t>esearch adalah proses yang </a:t>
            </a:r>
            <a:r>
              <a:rPr b="1" lang="en" sz="1600">
                <a:solidFill>
                  <a:srgbClr val="743673"/>
                </a:solidFill>
                <a:highlight>
                  <a:schemeClr val="lt1"/>
                </a:highlight>
                <a:latin typeface="Montserrat"/>
                <a:ea typeface="Montserrat"/>
                <a:cs typeface="Montserrat"/>
                <a:sym typeface="Montserrat"/>
              </a:rPr>
              <a:t>paralel</a:t>
            </a:r>
            <a:r>
              <a:rPr b="1" lang="en" sz="1600">
                <a:solidFill>
                  <a:srgbClr val="743673"/>
                </a:solidFill>
                <a:highlight>
                  <a:schemeClr val="lt1"/>
                </a:highlight>
                <a:latin typeface="Montserrat"/>
                <a:ea typeface="Montserrat"/>
                <a:cs typeface="Montserrat"/>
                <a:sym typeface="Montserrat"/>
              </a:rPr>
              <a:t> dan iteratif.</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Maksudnya,</a:t>
            </a:r>
            <a:r>
              <a:rPr b="1" lang="en" sz="1000">
                <a:solidFill>
                  <a:schemeClr val="dk1"/>
                </a:solidFill>
                <a:latin typeface="Montserrat"/>
                <a:ea typeface="Montserrat"/>
                <a:cs typeface="Montserrat"/>
                <a:sym typeface="Montserrat"/>
              </a:rPr>
              <a:t> UX research dapat dilakukan kapan aja dalam siklus desain. Dan bisa aja berulang (iteratif). </a:t>
            </a:r>
            <a:r>
              <a:rPr lang="en" sz="1000">
                <a:solidFill>
                  <a:schemeClr val="dk1"/>
                </a:solidFill>
                <a:latin typeface="Montserrat"/>
                <a:ea typeface="Montserrat"/>
                <a:cs typeface="Montserrat"/>
                <a:sym typeface="Montserrat"/>
              </a:rPr>
              <a:t>Jadi, nggak harus di awal, di tengah, atau di akhir.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 riset udah dilakukan di awal proses desain. Tapi, saat proses desain sedang berjalan, dibutuhkan informasi tambahan mengenai user. Dalam kondisi ini, riset bisa kembali dilakukan.</a:t>
            </a:r>
            <a:endParaRPr sz="1000">
              <a:solidFill>
                <a:schemeClr val="dk1"/>
              </a:solidFill>
              <a:latin typeface="Montserrat"/>
              <a:ea typeface="Montserrat"/>
              <a:cs typeface="Montserrat"/>
              <a:sym typeface="Montserrat"/>
            </a:endParaRPr>
          </a:p>
        </p:txBody>
      </p:sp>
      <p:pic>
        <p:nvPicPr>
          <p:cNvPr id="175" name="Google Shape;175;p26"/>
          <p:cNvPicPr preferRelativeResize="0"/>
          <p:nvPr/>
        </p:nvPicPr>
        <p:blipFill>
          <a:blip r:embed="rId3">
            <a:alphaModFix/>
          </a:blip>
          <a:stretch>
            <a:fillRect/>
          </a:stretch>
        </p:blipFill>
        <p:spPr>
          <a:xfrm>
            <a:off x="5107875" y="1142950"/>
            <a:ext cx="3621975" cy="35052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914400" y="9144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latin typeface="Montserrat"/>
                <a:ea typeface="Montserrat"/>
                <a:cs typeface="Montserrat"/>
                <a:sym typeface="Montserrat"/>
              </a:rPr>
              <a:t>UX Research itu penting banget dalam proses desain.</a:t>
            </a:r>
            <a:endParaRPr sz="1400">
              <a:latin typeface="Montserrat"/>
              <a:ea typeface="Montserrat"/>
              <a:cs typeface="Montserrat"/>
              <a:sym typeface="Montserrat"/>
            </a:endParaRPr>
          </a:p>
          <a:p>
            <a:pPr indent="0" lvl="0" marL="0" rtl="0" algn="ctr">
              <a:spcBef>
                <a:spcPts val="0"/>
              </a:spcBef>
              <a:spcAft>
                <a:spcPts val="0"/>
              </a:spcAft>
              <a:buNone/>
            </a:pPr>
            <a:r>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Kenapa ya? </a:t>
            </a:r>
            <a:r>
              <a:rPr lang="en" sz="1400">
                <a:solidFill>
                  <a:schemeClr val="accent1"/>
                </a:solidFill>
                <a:latin typeface="Montserrat"/>
                <a:ea typeface="Montserrat"/>
                <a:cs typeface="Montserrat"/>
                <a:sym typeface="Montserrat"/>
              </a:rPr>
              <a:t>Apa yang membuat UX research itu penting?</a:t>
            </a:r>
            <a:endParaRPr sz="1400">
              <a:solidFill>
                <a:schemeClr val="accent1"/>
              </a:solidFill>
              <a:latin typeface="Montserrat"/>
              <a:ea typeface="Montserrat"/>
              <a:cs typeface="Montserrat"/>
              <a:sym typeface="Montserrat"/>
            </a:endParaRPr>
          </a:p>
        </p:txBody>
      </p:sp>
      <p:sp>
        <p:nvSpPr>
          <p:cNvPr id="181" name="Google Shape;181;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82" name="Google Shape;182;p27"/>
          <p:cNvPicPr preferRelativeResize="0"/>
          <p:nvPr/>
        </p:nvPicPr>
        <p:blipFill>
          <a:blip r:embed="rId3">
            <a:alphaModFix/>
          </a:blip>
          <a:stretch>
            <a:fillRect/>
          </a:stretch>
        </p:blipFill>
        <p:spPr>
          <a:xfrm>
            <a:off x="3257260" y="2034475"/>
            <a:ext cx="2629480" cy="3109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8" name="Google Shape;188;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Mengapa UX Research Penting?</a:t>
            </a:r>
            <a:endParaRPr/>
          </a:p>
        </p:txBody>
      </p:sp>
      <p:sp>
        <p:nvSpPr>
          <p:cNvPr id="189" name="Google Shape;189;p28"/>
          <p:cNvSpPr txBox="1"/>
          <p:nvPr/>
        </p:nvSpPr>
        <p:spPr>
          <a:xfrm>
            <a:off x="685800" y="1600195"/>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Tanpa riset,</a:t>
            </a:r>
            <a:r>
              <a:rPr b="1" lang="en" sz="1600">
                <a:solidFill>
                  <a:srgbClr val="743673"/>
                </a:solidFill>
                <a:highlight>
                  <a:schemeClr val="lt1"/>
                </a:highlight>
                <a:latin typeface="Montserrat"/>
                <a:ea typeface="Montserrat"/>
                <a:cs typeface="Montserrat"/>
                <a:sym typeface="Montserrat"/>
              </a:rPr>
              <a:t> proses desain hanya berdasarkan asumsi.</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UX research adalah cara untuk memahami user agar produk yang dihasilkan itu user-oriented (berorientasi pada kebutuhan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Tanpa riset, kita akan mendesain berdasarkan asumsi.</a:t>
            </a:r>
            <a:r>
              <a:rPr lang="en" sz="1000">
                <a:solidFill>
                  <a:schemeClr val="dk1"/>
                </a:solidFill>
                <a:latin typeface="Montserrat"/>
                <a:ea typeface="Montserrat"/>
                <a:cs typeface="Montserrat"/>
                <a:sym typeface="Montserrat"/>
              </a:rPr>
              <a:t> Yang namanya asumsi pasti akan menimbulkan </a:t>
            </a:r>
            <a:r>
              <a:rPr b="1" lang="en" sz="1000" u="sng">
                <a:solidFill>
                  <a:schemeClr val="hlink"/>
                </a:solidFill>
                <a:latin typeface="Montserrat"/>
                <a:ea typeface="Montserrat"/>
                <a:cs typeface="Montserrat"/>
                <a:sym typeface="Montserrat"/>
                <a:hlinkClick r:id="rId3"/>
              </a:rPr>
              <a:t>bias</a:t>
            </a:r>
            <a:r>
              <a:rPr b="1" lang="en" sz="1000">
                <a:solidFill>
                  <a:schemeClr val="dk1"/>
                </a:solidFill>
                <a:latin typeface="Montserrat"/>
                <a:ea typeface="Montserrat"/>
                <a:cs typeface="Montserrat"/>
                <a:sym typeface="Montserrat"/>
              </a:rPr>
              <a:t>.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190" name="Google Shape;190;p28"/>
          <p:cNvPicPr preferRelativeResize="0"/>
          <p:nvPr/>
        </p:nvPicPr>
        <p:blipFill>
          <a:blip r:embed="rId4">
            <a:alphaModFix/>
          </a:blip>
          <a:stretch>
            <a:fillRect/>
          </a:stretch>
        </p:blipFill>
        <p:spPr>
          <a:xfrm>
            <a:off x="4966202" y="914400"/>
            <a:ext cx="3031111" cy="3886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6" name="Google Shape;196;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Mengapa UX Research Penting?</a:t>
            </a:r>
            <a:endParaRPr/>
          </a:p>
        </p:txBody>
      </p:sp>
      <p:sp>
        <p:nvSpPr>
          <p:cNvPr id="197" name="Google Shape;197;p29"/>
          <p:cNvSpPr txBox="1"/>
          <p:nvPr/>
        </p:nvSpPr>
        <p:spPr>
          <a:xfrm>
            <a:off x="685800" y="151097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UX research</a:t>
            </a:r>
            <a:r>
              <a:rPr lang="en" sz="1000">
                <a:solidFill>
                  <a:schemeClr val="dk1"/>
                </a:solidFill>
                <a:latin typeface="Montserrat"/>
                <a:ea typeface="Montserrat"/>
                <a:cs typeface="Montserrat"/>
                <a:sym typeface="Montserrat"/>
              </a:rPr>
              <a:t> itu sangat penting karena memiliki tujuan sebagai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120650" lvl="0" marL="3429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Mengidentifikasi masalah dan tantangan user dalam menggunakan produk.</a:t>
            </a:r>
            <a:endParaRPr sz="1000">
              <a:solidFill>
                <a:schemeClr val="dk1"/>
              </a:solidFill>
              <a:latin typeface="Montserrat"/>
              <a:ea typeface="Montserrat"/>
              <a:cs typeface="Montserrat"/>
              <a:sym typeface="Montserrat"/>
            </a:endParaRPr>
          </a:p>
          <a:p>
            <a:pPr indent="-120650" lvl="0" marL="3429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Memvalidasi asumsi dan menghindari bias. </a:t>
            </a:r>
            <a:endParaRPr sz="1000">
              <a:solidFill>
                <a:schemeClr val="dk1"/>
              </a:solidFill>
              <a:latin typeface="Montserrat"/>
              <a:ea typeface="Montserrat"/>
              <a:cs typeface="Montserrat"/>
              <a:sym typeface="Montserrat"/>
            </a:endParaRPr>
          </a:p>
          <a:p>
            <a:pPr indent="-120650" lvl="0" marL="342900" rtl="0" algn="just">
              <a:lnSpc>
                <a:spcPct val="115000"/>
              </a:lnSpc>
              <a:spcBef>
                <a:spcPts val="1000"/>
              </a:spcBef>
              <a:spcAft>
                <a:spcPts val="1000"/>
              </a:spcAft>
              <a:buClr>
                <a:schemeClr val="dk1"/>
              </a:buClr>
              <a:buSzPts val="1000"/>
              <a:buFont typeface="Montserrat"/>
              <a:buChar char="●"/>
            </a:pPr>
            <a:r>
              <a:rPr lang="en" sz="1000">
                <a:solidFill>
                  <a:schemeClr val="dk1"/>
                </a:solidFill>
                <a:latin typeface="Montserrat"/>
                <a:ea typeface="Montserrat"/>
                <a:cs typeface="Montserrat"/>
                <a:sym typeface="Montserrat"/>
              </a:rPr>
              <a:t>Menemukan pola dan kesamaan pada seluruh kelompok pengguna.</a:t>
            </a:r>
            <a:endParaRPr sz="1000">
              <a:solidFill>
                <a:schemeClr val="dk1"/>
              </a:solidFill>
              <a:latin typeface="Montserrat"/>
              <a:ea typeface="Montserrat"/>
              <a:cs typeface="Montserrat"/>
              <a:sym typeface="Montserrat"/>
            </a:endParaRPr>
          </a:p>
        </p:txBody>
      </p:sp>
      <p:pic>
        <p:nvPicPr>
          <p:cNvPr id="198" name="Google Shape;198;p29"/>
          <p:cNvPicPr preferRelativeResize="0"/>
          <p:nvPr/>
        </p:nvPicPr>
        <p:blipFill>
          <a:blip r:embed="rId3">
            <a:alphaModFix/>
          </a:blip>
          <a:stretch>
            <a:fillRect/>
          </a:stretch>
        </p:blipFill>
        <p:spPr>
          <a:xfrm>
            <a:off x="5448770" y="914400"/>
            <a:ext cx="2096505" cy="38861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0"/>
          <p:cNvSpPr txBox="1"/>
          <p:nvPr>
            <p:ph type="title"/>
          </p:nvPr>
        </p:nvSpPr>
        <p:spPr>
          <a:xfrm>
            <a:off x="914400" y="9144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latin typeface="Montserrat"/>
                <a:ea typeface="Montserrat"/>
                <a:cs typeface="Montserrat"/>
                <a:sym typeface="Montserrat"/>
              </a:rPr>
              <a:t>Sekarang, kita cari tahu cara melakukan UX research dengan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memahami </a:t>
            </a:r>
            <a:r>
              <a:rPr lang="en" sz="1400">
                <a:latin typeface="Montserrat"/>
                <a:ea typeface="Montserrat"/>
                <a:cs typeface="Montserrat"/>
                <a:sym typeface="Montserrat"/>
              </a:rPr>
              <a:t>langkah-langkahnya! </a:t>
            </a:r>
            <a:endParaRPr sz="1400">
              <a:latin typeface="Montserrat"/>
              <a:ea typeface="Montserrat"/>
              <a:cs typeface="Montserrat"/>
              <a:sym typeface="Montserrat"/>
            </a:endParaRPr>
          </a:p>
          <a:p>
            <a:pPr indent="0" lvl="0" marL="0" rtl="0" algn="ctr">
              <a:spcBef>
                <a:spcPts val="0"/>
              </a:spcBef>
              <a:spcAft>
                <a:spcPts val="0"/>
              </a:spcAft>
              <a:buNone/>
            </a:pPr>
            <a:r>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Tapi, sebelum itu, kita harus tahu dulu </a:t>
            </a:r>
            <a:r>
              <a:rPr lang="en" sz="1400">
                <a:solidFill>
                  <a:schemeClr val="accent1"/>
                </a:solidFill>
                <a:latin typeface="Montserrat"/>
                <a:ea typeface="Montserrat"/>
                <a:cs typeface="Montserrat"/>
                <a:sym typeface="Montserrat"/>
              </a:rPr>
              <a:t>karakter-karakter dari UX research.</a:t>
            </a:r>
            <a:endParaRPr sz="1400">
              <a:solidFill>
                <a:schemeClr val="accent1"/>
              </a:solidFill>
              <a:latin typeface="Montserrat"/>
              <a:ea typeface="Montserrat"/>
              <a:cs typeface="Montserrat"/>
              <a:sym typeface="Montserrat"/>
            </a:endParaRPr>
          </a:p>
        </p:txBody>
      </p:sp>
      <p:sp>
        <p:nvSpPr>
          <p:cNvPr id="204" name="Google Shape;204;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05" name="Google Shape;205;p30"/>
          <p:cNvPicPr preferRelativeResize="0"/>
          <p:nvPr/>
        </p:nvPicPr>
        <p:blipFill rotWithShape="1">
          <a:blip r:embed="rId3">
            <a:alphaModFix/>
          </a:blip>
          <a:srcRect b="35098" l="0" r="0" t="0"/>
          <a:stretch/>
        </p:blipFill>
        <p:spPr>
          <a:xfrm>
            <a:off x="1582001" y="2034475"/>
            <a:ext cx="6284774" cy="31090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Karakter-karakter UX Research</a:t>
            </a:r>
            <a:endParaRPr/>
          </a:p>
        </p:txBody>
      </p:sp>
      <p:sp>
        <p:nvSpPr>
          <p:cNvPr id="212" name="Google Shape;212;p31"/>
          <p:cNvSpPr txBox="1"/>
          <p:nvPr/>
        </p:nvSpPr>
        <p:spPr>
          <a:xfrm>
            <a:off x="685800" y="13599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Menurut </a:t>
            </a:r>
            <a:r>
              <a:rPr lang="en" sz="1000">
                <a:solidFill>
                  <a:schemeClr val="dk1"/>
                </a:solidFill>
                <a:latin typeface="Montserrat"/>
                <a:ea typeface="Montserrat"/>
                <a:cs typeface="Montserrat"/>
                <a:sym typeface="Montserrat"/>
              </a:rPr>
              <a:t>Paul Leedy</a:t>
            </a:r>
            <a:r>
              <a:rPr b="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dalam </a:t>
            </a:r>
            <a:r>
              <a:rPr lang="en" sz="1000" u="sng">
                <a:solidFill>
                  <a:schemeClr val="hlink"/>
                </a:solidFill>
                <a:latin typeface="Montserrat"/>
                <a:ea typeface="Montserrat"/>
                <a:cs typeface="Montserrat"/>
                <a:sym typeface="Montserrat"/>
                <a:hlinkClick r:id="rId3"/>
              </a:rPr>
              <a:t>Practical Research</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terdapat delapan karakteristik UX research,</a:t>
            </a:r>
            <a:r>
              <a:rPr lang="en" sz="1000">
                <a:solidFill>
                  <a:schemeClr val="dk1"/>
                </a:solidFill>
                <a:latin typeface="Montserrat"/>
                <a:ea typeface="Montserrat"/>
                <a:cs typeface="Montserrat"/>
                <a:sym typeface="Montserrat"/>
              </a:rPr>
              <a:t> yaitu: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500">
              <a:solidFill>
                <a:schemeClr val="dk1"/>
              </a:solidFill>
              <a:latin typeface="Montserrat"/>
              <a:ea typeface="Montserrat"/>
              <a:cs typeface="Montserrat"/>
              <a:sym typeface="Montserrat"/>
            </a:endParaRPr>
          </a:p>
          <a:p>
            <a:pPr indent="-120650" lvl="0" marL="17145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Riset bermula dari satu pertanyaan atau masalah besar.</a:t>
            </a:r>
            <a:endParaRPr sz="1000">
              <a:solidFill>
                <a:schemeClr val="dk1"/>
              </a:solidFill>
              <a:latin typeface="Montserrat"/>
              <a:ea typeface="Montserrat"/>
              <a:cs typeface="Montserrat"/>
              <a:sym typeface="Montserrat"/>
            </a:endParaRPr>
          </a:p>
          <a:p>
            <a:pPr indent="-120650" lvl="0" marL="171450" rtl="0" algn="just">
              <a:lnSpc>
                <a:spcPct val="115000"/>
              </a:lnSpc>
              <a:spcBef>
                <a:spcPts val="100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Agar dapat memecahkan masalah, riset membutuhkan penjabaran tujuan yang jelas. </a:t>
            </a:r>
            <a:endParaRPr sz="1000">
              <a:solidFill>
                <a:schemeClr val="dk1"/>
              </a:solidFill>
              <a:latin typeface="Montserrat"/>
              <a:ea typeface="Montserrat"/>
              <a:cs typeface="Montserrat"/>
              <a:sym typeface="Montserrat"/>
            </a:endParaRPr>
          </a:p>
          <a:p>
            <a:pPr indent="-120650" lvl="0" marL="171450" rtl="0" algn="just">
              <a:lnSpc>
                <a:spcPct val="115000"/>
              </a:lnSpc>
              <a:spcBef>
                <a:spcPts val="100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Riset membutuhkan rencana spesifik untuk mencapai tujuan tersebut. Rencana spesifik yang dimaksud seperti: </a:t>
            </a:r>
            <a:endParaRPr sz="1000">
              <a:solidFill>
                <a:schemeClr val="dk1"/>
              </a:solidFill>
              <a:latin typeface="Montserrat"/>
              <a:ea typeface="Montserrat"/>
              <a:cs typeface="Montserrat"/>
              <a:sym typeface="Montserrat"/>
            </a:endParaRPr>
          </a:p>
          <a:p>
            <a:pPr indent="-120650" lvl="0" marL="3429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Di mana mendapatkan data? </a:t>
            </a:r>
            <a:endParaRPr sz="1000">
              <a:solidFill>
                <a:schemeClr val="dk1"/>
              </a:solidFill>
              <a:latin typeface="Montserrat"/>
              <a:ea typeface="Montserrat"/>
              <a:cs typeface="Montserrat"/>
              <a:sym typeface="Montserrat"/>
            </a:endParaRPr>
          </a:p>
          <a:p>
            <a:pPr indent="-120650" lvl="0" marL="3429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Bagaimana mengumpulkan data tersebut? </a:t>
            </a:r>
            <a:endParaRPr sz="1000">
              <a:solidFill>
                <a:schemeClr val="dk1"/>
              </a:solidFill>
              <a:latin typeface="Montserrat"/>
              <a:ea typeface="Montserrat"/>
              <a:cs typeface="Montserrat"/>
              <a:sym typeface="Montserrat"/>
            </a:endParaRPr>
          </a:p>
          <a:p>
            <a:pPr indent="-120650" lvl="0" marL="3429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Apakah data yang ada berkorelasi dengan permasalahan yang ditetapkan dalam riset?</a:t>
            </a:r>
            <a:endParaRPr sz="1000">
              <a:solidFill>
                <a:schemeClr val="dk1"/>
              </a:solidFill>
              <a:latin typeface="Montserrat"/>
              <a:ea typeface="Montserrat"/>
              <a:cs typeface="Montserrat"/>
              <a:sym typeface="Montserrat"/>
            </a:endParaRPr>
          </a:p>
        </p:txBody>
      </p:sp>
      <p:pic>
        <p:nvPicPr>
          <p:cNvPr id="213" name="Google Shape;213;p31"/>
          <p:cNvPicPr preferRelativeResize="0"/>
          <p:nvPr/>
        </p:nvPicPr>
        <p:blipFill>
          <a:blip r:embed="rId4">
            <a:alphaModFix/>
          </a:blip>
          <a:stretch>
            <a:fillRect/>
          </a:stretch>
        </p:blipFill>
        <p:spPr>
          <a:xfrm>
            <a:off x="5339724" y="916625"/>
            <a:ext cx="2773726" cy="38839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Karakter - karakter research</a:t>
            </a:r>
            <a:endParaRPr/>
          </a:p>
        </p:txBody>
      </p:sp>
      <p:sp>
        <p:nvSpPr>
          <p:cNvPr id="220" name="Google Shape;220;p32"/>
          <p:cNvSpPr txBox="1"/>
          <p:nvPr/>
        </p:nvSpPr>
        <p:spPr>
          <a:xfrm>
            <a:off x="685800" y="1359972"/>
            <a:ext cx="4114800" cy="3200400"/>
          </a:xfrm>
          <a:prstGeom prst="rect">
            <a:avLst/>
          </a:prstGeom>
          <a:noFill/>
          <a:ln>
            <a:noFill/>
          </a:ln>
        </p:spPr>
        <p:txBody>
          <a:bodyPr anchorCtr="0" anchor="t" bIns="0" lIns="0" spcFirstLastPara="1" rIns="0" wrap="square" tIns="0">
            <a:noAutofit/>
          </a:bodyPr>
          <a:lstStyle/>
          <a:p>
            <a:pPr indent="-120650" lvl="0" marL="171450" rtl="0" algn="just">
              <a:lnSpc>
                <a:spcPct val="115000"/>
              </a:lnSpc>
              <a:spcBef>
                <a:spcPts val="0"/>
              </a:spcBef>
              <a:spcAft>
                <a:spcPts val="0"/>
              </a:spcAft>
              <a:buClr>
                <a:schemeClr val="dk1"/>
              </a:buClr>
              <a:buSzPts val="1000"/>
              <a:buFont typeface="Montserrat"/>
              <a:buAutoNum type="arabicParenR" startAt="4"/>
            </a:pPr>
            <a:r>
              <a:rPr lang="en" sz="1000">
                <a:solidFill>
                  <a:schemeClr val="dk1"/>
                </a:solidFill>
                <a:latin typeface="Montserrat"/>
                <a:ea typeface="Montserrat"/>
                <a:cs typeface="Montserrat"/>
                <a:sym typeface="Montserrat"/>
              </a:rPr>
              <a:t>Untuk mempermudah menjawab permasalahan, biasanya masalah utama dipecah menjadi beberapa sub-masalah. </a:t>
            </a:r>
            <a:endParaRPr sz="1000">
              <a:solidFill>
                <a:schemeClr val="dk1"/>
              </a:solidFill>
              <a:latin typeface="Montserrat"/>
              <a:ea typeface="Montserrat"/>
              <a:cs typeface="Montserrat"/>
              <a:sym typeface="Montserrat"/>
            </a:endParaRPr>
          </a:p>
          <a:p>
            <a:pPr indent="-120650" lvl="0" marL="171450" rtl="0" algn="just">
              <a:lnSpc>
                <a:spcPct val="115000"/>
              </a:lnSpc>
              <a:spcBef>
                <a:spcPts val="1000"/>
              </a:spcBef>
              <a:spcAft>
                <a:spcPts val="0"/>
              </a:spcAft>
              <a:buClr>
                <a:schemeClr val="dk1"/>
              </a:buClr>
              <a:buSzPts val="1000"/>
              <a:buFont typeface="Montserrat"/>
              <a:buAutoNum type="arabicParenR" startAt="4"/>
            </a:pPr>
            <a:r>
              <a:rPr lang="en" sz="1000">
                <a:solidFill>
                  <a:schemeClr val="dk1"/>
                </a:solidFill>
                <a:latin typeface="Montserrat"/>
                <a:ea typeface="Montserrat"/>
                <a:cs typeface="Montserrat"/>
                <a:sym typeface="Montserrat"/>
              </a:rPr>
              <a:t>Riset dieksekusi berdasarkan pemetaan masalah, pertanyaan, atau hipotesis riset yang spesifik. </a:t>
            </a:r>
            <a:endParaRPr sz="1000">
              <a:solidFill>
                <a:schemeClr val="dk1"/>
              </a:solidFill>
              <a:latin typeface="Montserrat"/>
              <a:ea typeface="Montserrat"/>
              <a:cs typeface="Montserrat"/>
              <a:sym typeface="Montserrat"/>
            </a:endParaRPr>
          </a:p>
          <a:p>
            <a:pPr indent="-120650" lvl="0" marL="171450" rtl="0" algn="just">
              <a:lnSpc>
                <a:spcPct val="115000"/>
              </a:lnSpc>
              <a:spcBef>
                <a:spcPts val="1000"/>
              </a:spcBef>
              <a:spcAft>
                <a:spcPts val="0"/>
              </a:spcAft>
              <a:buClr>
                <a:schemeClr val="dk1"/>
              </a:buClr>
              <a:buSzPts val="1000"/>
              <a:buFont typeface="Montserrat"/>
              <a:buAutoNum type="arabicParenR" startAt="4"/>
            </a:pPr>
            <a:r>
              <a:rPr lang="en" sz="1000">
                <a:solidFill>
                  <a:schemeClr val="dk1"/>
                </a:solidFill>
                <a:latin typeface="Montserrat"/>
                <a:ea typeface="Montserrat"/>
                <a:cs typeface="Montserrat"/>
                <a:sym typeface="Montserrat"/>
              </a:rPr>
              <a:t>Dalam riset, asumsi merupakan hal penting untuk ditetapkan agar jangkauan riset menjadi jelas.</a:t>
            </a:r>
            <a:endParaRPr sz="1000">
              <a:solidFill>
                <a:schemeClr val="dk1"/>
              </a:solidFill>
              <a:latin typeface="Montserrat"/>
              <a:ea typeface="Montserrat"/>
              <a:cs typeface="Montserrat"/>
              <a:sym typeface="Montserrat"/>
            </a:endParaRPr>
          </a:p>
          <a:p>
            <a:pPr indent="-120650" lvl="0" marL="171450" rtl="0" algn="just">
              <a:lnSpc>
                <a:spcPct val="115000"/>
              </a:lnSpc>
              <a:spcBef>
                <a:spcPts val="1000"/>
              </a:spcBef>
              <a:spcAft>
                <a:spcPts val="0"/>
              </a:spcAft>
              <a:buClr>
                <a:schemeClr val="dk1"/>
              </a:buClr>
              <a:buSzPts val="1000"/>
              <a:buFont typeface="Montserrat"/>
              <a:buAutoNum type="arabicParenR" startAt="4"/>
            </a:pPr>
            <a:r>
              <a:rPr lang="en" sz="1000">
                <a:solidFill>
                  <a:schemeClr val="dk1"/>
                </a:solidFill>
                <a:latin typeface="Montserrat"/>
                <a:ea typeface="Montserrat"/>
                <a:cs typeface="Montserrat"/>
                <a:sym typeface="Montserrat"/>
              </a:rPr>
              <a:t>Riset membutuhkan data dan  interpretasi dari data tersebut.</a:t>
            </a:r>
            <a:endParaRPr sz="1000">
              <a:solidFill>
                <a:schemeClr val="dk1"/>
              </a:solidFill>
              <a:latin typeface="Montserrat"/>
              <a:ea typeface="Montserrat"/>
              <a:cs typeface="Montserrat"/>
              <a:sym typeface="Montserrat"/>
            </a:endParaRPr>
          </a:p>
          <a:p>
            <a:pPr indent="-120650" lvl="0" marL="171450" rtl="0" algn="just">
              <a:lnSpc>
                <a:spcPct val="115000"/>
              </a:lnSpc>
              <a:spcBef>
                <a:spcPts val="1000"/>
              </a:spcBef>
              <a:spcAft>
                <a:spcPts val="1000"/>
              </a:spcAft>
              <a:buClr>
                <a:schemeClr val="dk1"/>
              </a:buClr>
              <a:buSzPts val="1000"/>
              <a:buFont typeface="Montserrat"/>
              <a:buAutoNum type="arabicParenR" startAt="4"/>
            </a:pPr>
            <a:r>
              <a:rPr lang="en" sz="1000">
                <a:solidFill>
                  <a:schemeClr val="dk1"/>
                </a:solidFill>
                <a:latin typeface="Montserrat"/>
                <a:ea typeface="Montserrat"/>
                <a:cs typeface="Montserrat"/>
                <a:sym typeface="Montserrat"/>
              </a:rPr>
              <a:t>Riset bersifat siklus. Artinya, riset dilakukan secara berulang.</a:t>
            </a:r>
            <a:endParaRPr sz="1000">
              <a:solidFill>
                <a:schemeClr val="dk1"/>
              </a:solidFill>
              <a:latin typeface="Montserrat"/>
              <a:ea typeface="Montserrat"/>
              <a:cs typeface="Montserrat"/>
              <a:sym typeface="Montserrat"/>
            </a:endParaRPr>
          </a:p>
        </p:txBody>
      </p:sp>
      <p:pic>
        <p:nvPicPr>
          <p:cNvPr id="221" name="Google Shape;221;p32"/>
          <p:cNvPicPr preferRelativeResize="0"/>
          <p:nvPr/>
        </p:nvPicPr>
        <p:blipFill>
          <a:blip r:embed="rId3">
            <a:alphaModFix/>
          </a:blip>
          <a:stretch>
            <a:fillRect/>
          </a:stretch>
        </p:blipFill>
        <p:spPr>
          <a:xfrm>
            <a:off x="5338168" y="914401"/>
            <a:ext cx="2775306" cy="3886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3"/>
          <p:cNvSpPr txBox="1"/>
          <p:nvPr>
            <p:ph type="title"/>
          </p:nvPr>
        </p:nvSpPr>
        <p:spPr>
          <a:xfrm>
            <a:off x="914400" y="129355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latin typeface="Montserrat"/>
                <a:ea typeface="Montserrat"/>
                <a:cs typeface="Montserrat"/>
                <a:sym typeface="Montserrat"/>
              </a:rPr>
              <a:t>Karna kamu udah tahu karakter-karakternya, s</a:t>
            </a:r>
            <a:r>
              <a:rPr lang="en" sz="1400">
                <a:latin typeface="Montserrat"/>
                <a:ea typeface="Montserrat"/>
                <a:cs typeface="Montserrat"/>
                <a:sym typeface="Montserrat"/>
              </a:rPr>
              <a:t>ekarang, kita cari tahu </a:t>
            </a:r>
            <a:endParaRPr sz="1400">
              <a:latin typeface="Montserrat"/>
              <a:ea typeface="Montserrat"/>
              <a:cs typeface="Montserrat"/>
              <a:sym typeface="Montserrat"/>
            </a:endParaRPr>
          </a:p>
          <a:p>
            <a:pPr indent="0" lvl="0" marL="0" rtl="0" algn="ctr">
              <a:spcBef>
                <a:spcPts val="0"/>
              </a:spcBef>
              <a:spcAft>
                <a:spcPts val="0"/>
              </a:spcAft>
              <a:buNone/>
            </a:pPr>
            <a:r>
              <a:rPr lang="en" sz="1400">
                <a:solidFill>
                  <a:schemeClr val="accent1"/>
                </a:solidFill>
                <a:latin typeface="Montserrat"/>
                <a:ea typeface="Montserrat"/>
                <a:cs typeface="Montserrat"/>
                <a:sym typeface="Montserrat"/>
              </a:rPr>
              <a:t>cara melakukan UX research dengan memahami langkah-langkahnya! </a:t>
            </a:r>
            <a:endParaRPr>
              <a:solidFill>
                <a:schemeClr val="accent1"/>
              </a:solidFill>
            </a:endParaRPr>
          </a:p>
        </p:txBody>
      </p:sp>
      <p:sp>
        <p:nvSpPr>
          <p:cNvPr id="227" name="Google Shape;227;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28" name="Google Shape;228;p33"/>
          <p:cNvPicPr preferRelativeResize="0"/>
          <p:nvPr/>
        </p:nvPicPr>
        <p:blipFill rotWithShape="1">
          <a:blip r:embed="rId3">
            <a:alphaModFix/>
          </a:blip>
          <a:srcRect b="35098" l="0" r="0" t="0"/>
          <a:stretch/>
        </p:blipFill>
        <p:spPr>
          <a:xfrm>
            <a:off x="1429613" y="2034475"/>
            <a:ext cx="6284774" cy="31090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4" name="Google Shape;234;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Langkah-langkah UX Research</a:t>
            </a:r>
            <a:endParaRPr/>
          </a:p>
        </p:txBody>
      </p:sp>
      <p:sp>
        <p:nvSpPr>
          <p:cNvPr id="235" name="Google Shape;235;p34"/>
          <p:cNvSpPr txBox="1"/>
          <p:nvPr/>
        </p:nvSpPr>
        <p:spPr>
          <a:xfrm>
            <a:off x="685800" y="16001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Pertama, rencanakan riset.</a:t>
            </a:r>
            <a:endParaRPr b="1" sz="1600">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i="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Perencanaan adalah tahap awal sebelum riset dimulai. Pada tahap ini, kita harus: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Memutuskan tujuan dari riset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Menyiapkan hipotesis, metode apa yang akan digunakan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Membuat list pertanyaan atau skenario yang akan dipaparkan pada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36" name="Google Shape;236;p34"/>
          <p:cNvPicPr preferRelativeResize="0"/>
          <p:nvPr/>
        </p:nvPicPr>
        <p:blipFill>
          <a:blip r:embed="rId3">
            <a:alphaModFix/>
          </a:blip>
          <a:stretch>
            <a:fillRect/>
          </a:stretch>
        </p:blipFill>
        <p:spPr>
          <a:xfrm>
            <a:off x="5133260" y="1222800"/>
            <a:ext cx="3483330" cy="2697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2" name="Google Shape;242;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Langkah-langkah UX Research</a:t>
            </a:r>
            <a:endParaRPr/>
          </a:p>
        </p:txBody>
      </p:sp>
      <p:sp>
        <p:nvSpPr>
          <p:cNvPr id="243" name="Google Shape;243;p35"/>
          <p:cNvSpPr txBox="1"/>
          <p:nvPr/>
        </p:nvSpPr>
        <p:spPr>
          <a:xfrm>
            <a:off x="685800" y="15326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Kedua, mulai lakukan riset.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Setelah perencanaan riset selesai, kita bisa mulai melakukan riset melalui </a:t>
            </a:r>
            <a:r>
              <a:rPr b="1" lang="en" sz="1000">
                <a:solidFill>
                  <a:schemeClr val="dk1"/>
                </a:solidFill>
                <a:latin typeface="Montserrat"/>
                <a:ea typeface="Montserrat"/>
                <a:cs typeface="Montserrat"/>
                <a:sym typeface="Montserrat"/>
              </a:rPr>
              <a:t>pengumpulan data berdasarkan metode yang sudah ditentukan.</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Setelah data berhasil dikumpulkan, selanjutnya </a:t>
            </a:r>
            <a:r>
              <a:rPr b="1" lang="en" sz="1000">
                <a:solidFill>
                  <a:schemeClr val="dk1"/>
                </a:solidFill>
                <a:latin typeface="Montserrat"/>
                <a:ea typeface="Montserrat"/>
                <a:cs typeface="Montserrat"/>
                <a:sym typeface="Montserrat"/>
              </a:rPr>
              <a:t>lakukan interpretasi untuk memvalidasi hipotesis.</a:t>
            </a:r>
            <a:endParaRPr b="1" sz="1000">
              <a:solidFill>
                <a:schemeClr val="dk1"/>
              </a:solidFill>
              <a:latin typeface="Montserrat"/>
              <a:ea typeface="Montserrat"/>
              <a:cs typeface="Montserrat"/>
              <a:sym typeface="Montserrat"/>
            </a:endParaRPr>
          </a:p>
        </p:txBody>
      </p:sp>
      <p:pic>
        <p:nvPicPr>
          <p:cNvPr id="244" name="Google Shape;244;p35"/>
          <p:cNvPicPr preferRelativeResize="0"/>
          <p:nvPr/>
        </p:nvPicPr>
        <p:blipFill>
          <a:blip r:embed="rId3">
            <a:alphaModFix/>
          </a:blip>
          <a:stretch>
            <a:fillRect/>
          </a:stretch>
        </p:blipFill>
        <p:spPr>
          <a:xfrm>
            <a:off x="4862825" y="1120150"/>
            <a:ext cx="3753775" cy="3423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250" name="Google Shape;250;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Langkah-langkah UX Research</a:t>
            </a:r>
            <a:endParaRPr/>
          </a:p>
        </p:txBody>
      </p:sp>
      <p:sp>
        <p:nvSpPr>
          <p:cNvPr id="251" name="Google Shape;251;p36"/>
          <p:cNvSpPr txBox="1"/>
          <p:nvPr/>
        </p:nvSpPr>
        <p:spPr>
          <a:xfrm>
            <a:off x="567700" y="1391825"/>
            <a:ext cx="54930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600">
                <a:solidFill>
                  <a:srgbClr val="743673"/>
                </a:solidFill>
                <a:latin typeface="Montserrat"/>
                <a:ea typeface="Montserrat"/>
                <a:cs typeface="Montserrat"/>
                <a:sym typeface="Montserrat"/>
              </a:rPr>
              <a:t>Biar lebih jelas, coba perhatikan tabel berikut!</a:t>
            </a:r>
            <a:endParaRPr b="1" sz="1600">
              <a:solidFill>
                <a:srgbClr val="743673"/>
              </a:solidFill>
              <a:latin typeface="Montserrat"/>
              <a:ea typeface="Montserrat"/>
              <a:cs typeface="Montserrat"/>
              <a:sym typeface="Montserrat"/>
            </a:endParaRPr>
          </a:p>
        </p:txBody>
      </p:sp>
      <p:pic>
        <p:nvPicPr>
          <p:cNvPr id="252" name="Google Shape;252;p36"/>
          <p:cNvPicPr preferRelativeResize="0"/>
          <p:nvPr/>
        </p:nvPicPr>
        <p:blipFill>
          <a:blip r:embed="rId3">
            <a:alphaModFix/>
          </a:blip>
          <a:stretch>
            <a:fillRect/>
          </a:stretch>
        </p:blipFill>
        <p:spPr>
          <a:xfrm>
            <a:off x="149626" y="2175462"/>
            <a:ext cx="8844749" cy="1619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7"/>
          <p:cNvSpPr txBox="1"/>
          <p:nvPr>
            <p:ph type="title"/>
          </p:nvPr>
        </p:nvSpPr>
        <p:spPr>
          <a:xfrm>
            <a:off x="914400" y="10640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Kita udah bahas kalo salah satu langkah perencanaan riset adalah </a:t>
            </a:r>
            <a:r>
              <a:rPr lang="en" sz="1400">
                <a:solidFill>
                  <a:schemeClr val="accent1"/>
                </a:solidFill>
                <a:latin typeface="Montserrat"/>
                <a:ea typeface="Montserrat"/>
                <a:cs typeface="Montserrat"/>
                <a:sym typeface="Montserrat"/>
              </a:rPr>
              <a:t>menentukan metode. </a:t>
            </a:r>
            <a:endParaRPr sz="1400">
              <a:solidFill>
                <a:schemeClr val="accent1"/>
              </a:solidFill>
              <a:latin typeface="Montserrat"/>
              <a:ea typeface="Montserrat"/>
              <a:cs typeface="Montserrat"/>
              <a:sym typeface="Montserrat"/>
            </a:endParaRPr>
          </a:p>
          <a:p>
            <a:pPr indent="0" lvl="0" marL="0" rtl="0" algn="ctr">
              <a:spcBef>
                <a:spcPts val="0"/>
              </a:spcBef>
              <a:spcAft>
                <a:spcPts val="0"/>
              </a:spcAft>
              <a:buNone/>
            </a:pPr>
            <a:r>
              <a:t/>
            </a:r>
            <a:endParaRPr sz="1400">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lang="en" sz="1400">
                <a:latin typeface="Montserrat"/>
                <a:ea typeface="Montserrat"/>
                <a:cs typeface="Montserrat"/>
                <a:sym typeface="Montserrat"/>
              </a:rPr>
              <a:t>Menentukan metode itu nggak bisa ngasal, lho. </a:t>
            </a:r>
            <a:r>
              <a:rPr lang="en" sz="1400">
                <a:solidFill>
                  <a:schemeClr val="accent1"/>
                </a:solidFill>
                <a:latin typeface="Montserrat"/>
                <a:ea typeface="Montserrat"/>
                <a:cs typeface="Montserrat"/>
                <a:sym typeface="Montserrat"/>
              </a:rPr>
              <a:t>Ada caranya yang perlu kamu tahu!</a:t>
            </a:r>
            <a:endParaRPr>
              <a:solidFill>
                <a:schemeClr val="accent1"/>
              </a:solidFill>
            </a:endParaRPr>
          </a:p>
          <a:p>
            <a:pPr indent="0" lvl="0" marL="0" rtl="0" algn="ctr">
              <a:spcBef>
                <a:spcPts val="0"/>
              </a:spcBef>
              <a:spcAft>
                <a:spcPts val="0"/>
              </a:spcAft>
              <a:buNone/>
            </a:pPr>
            <a:r>
              <a:t/>
            </a:r>
            <a:endParaRPr/>
          </a:p>
        </p:txBody>
      </p:sp>
      <p:sp>
        <p:nvSpPr>
          <p:cNvPr id="258" name="Google Shape;258;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59" name="Google Shape;259;p37"/>
          <p:cNvPicPr preferRelativeResize="0"/>
          <p:nvPr/>
        </p:nvPicPr>
        <p:blipFill>
          <a:blip r:embed="rId3">
            <a:alphaModFix/>
          </a:blip>
          <a:stretch>
            <a:fillRect/>
          </a:stretch>
        </p:blipFill>
        <p:spPr>
          <a:xfrm>
            <a:off x="3257260" y="2034475"/>
            <a:ext cx="2629480" cy="3109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266" name="Google Shape;266;p3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Berikut hal yang harus diperhatikan ketika menentukan metode riset.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Jangka waktu penelitian</a:t>
            </a:r>
            <a:r>
              <a:rPr lang="en" sz="1000">
                <a:solidFill>
                  <a:schemeClr val="dk1"/>
                </a:solidFill>
                <a:latin typeface="Montserrat"/>
                <a:ea typeface="Montserrat"/>
                <a:cs typeface="Montserrat"/>
                <a:sym typeface="Montserrat"/>
              </a:rPr>
              <a:t> (pilihlah metode riset yang sesuai dengan jangka waktu penelitian).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Budget yang tersedia</a:t>
            </a:r>
            <a:r>
              <a:rPr lang="en" sz="1000">
                <a:solidFill>
                  <a:schemeClr val="dk1"/>
                </a:solidFill>
                <a:latin typeface="Montserrat"/>
                <a:ea typeface="Montserrat"/>
                <a:cs typeface="Montserrat"/>
                <a:sym typeface="Montserrat"/>
              </a:rPr>
              <a:t> (pilihlah metode riset sesuai dengan budget).</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Sumber daya manusia </a:t>
            </a:r>
            <a:r>
              <a:rPr lang="en" sz="1000">
                <a:solidFill>
                  <a:schemeClr val="dk1"/>
                </a:solidFill>
                <a:latin typeface="Montserrat"/>
                <a:ea typeface="Montserrat"/>
                <a:cs typeface="Montserrat"/>
                <a:sym typeface="Montserrat"/>
              </a:rPr>
              <a:t>(sesuaikan dengan jumlah anggota tim dan crew yang terlibat).</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Jenis produk dan layanan</a:t>
            </a:r>
            <a:r>
              <a:rPr lang="en" sz="1000">
                <a:solidFill>
                  <a:schemeClr val="dk1"/>
                </a:solidFill>
                <a:latin typeface="Montserrat"/>
                <a:ea typeface="Montserrat"/>
                <a:cs typeface="Montserrat"/>
                <a:sym typeface="Montserrat"/>
              </a:rPr>
              <a:t> (sesuaikan dengan produk dan layanan apa yang sedang diteliti).</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Kondisi dan aktivitas target</a:t>
            </a:r>
            <a:r>
              <a:rPr lang="en" sz="1000">
                <a:solidFill>
                  <a:schemeClr val="dk1"/>
                </a:solidFill>
                <a:latin typeface="Montserrat"/>
                <a:ea typeface="Montserrat"/>
                <a:cs typeface="Montserrat"/>
                <a:sym typeface="Montserrat"/>
              </a:rPr>
              <a:t> (sesuaikan dengan kondisi dan aktivitas user sebagai target dalam penelitian).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267" name="Google Shape;267;p38"/>
          <p:cNvPicPr preferRelativeResize="0"/>
          <p:nvPr/>
        </p:nvPicPr>
        <p:blipFill>
          <a:blip r:embed="rId3">
            <a:alphaModFix/>
          </a:blip>
          <a:stretch>
            <a:fillRect/>
          </a:stretch>
        </p:blipFill>
        <p:spPr>
          <a:xfrm>
            <a:off x="5448770" y="914400"/>
            <a:ext cx="2096505" cy="38861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733572"/>
                </a:solidFill>
              </a:rPr>
              <a:t>‹#›</a:t>
            </a:fld>
            <a:endParaRPr>
              <a:solidFill>
                <a:srgbClr val="733572"/>
              </a:solidFill>
            </a:endParaRPr>
          </a:p>
        </p:txBody>
      </p:sp>
      <p:sp>
        <p:nvSpPr>
          <p:cNvPr id="273" name="Google Shape;273;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grpSp>
        <p:nvGrpSpPr>
          <p:cNvPr id="274" name="Google Shape;274;p39"/>
          <p:cNvGrpSpPr/>
          <p:nvPr/>
        </p:nvGrpSpPr>
        <p:grpSpPr>
          <a:xfrm>
            <a:off x="0" y="1301075"/>
            <a:ext cx="8930700" cy="393600"/>
            <a:chOff x="0" y="1301075"/>
            <a:chExt cx="8930700" cy="393600"/>
          </a:xfrm>
        </p:grpSpPr>
        <p:sp>
          <p:nvSpPr>
            <p:cNvPr id="275" name="Google Shape;275;p39"/>
            <p:cNvSpPr/>
            <p:nvPr/>
          </p:nvSpPr>
          <p:spPr>
            <a:xfrm>
              <a:off x="0" y="1301075"/>
              <a:ext cx="2726700" cy="3936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latin typeface="Montserrat"/>
                  <a:ea typeface="Montserrat"/>
                  <a:cs typeface="Montserrat"/>
                  <a:sym typeface="Montserrat"/>
                </a:rPr>
                <a:t>Discover (Empathize)</a:t>
              </a:r>
              <a:endParaRPr b="1" sz="1200">
                <a:solidFill>
                  <a:srgbClr val="FFFFFF"/>
                </a:solidFill>
                <a:latin typeface="Montserrat"/>
                <a:ea typeface="Montserrat"/>
                <a:cs typeface="Montserrat"/>
                <a:sym typeface="Montserrat"/>
              </a:endParaRPr>
            </a:p>
          </p:txBody>
        </p:sp>
        <p:sp>
          <p:nvSpPr>
            <p:cNvPr id="276" name="Google Shape;276;p39"/>
            <p:cNvSpPr/>
            <p:nvPr/>
          </p:nvSpPr>
          <p:spPr>
            <a:xfrm>
              <a:off x="2350175" y="1301075"/>
              <a:ext cx="2409000" cy="3936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latin typeface="Montserrat"/>
                  <a:ea typeface="Montserrat"/>
                  <a:cs typeface="Montserrat"/>
                  <a:sym typeface="Montserrat"/>
                </a:rPr>
                <a:t>Define+Ideate</a:t>
              </a:r>
              <a:endParaRPr b="1" sz="1200">
                <a:solidFill>
                  <a:srgbClr val="FFFFFF"/>
                </a:solidFill>
                <a:latin typeface="Montserrat"/>
                <a:ea typeface="Montserrat"/>
                <a:cs typeface="Montserrat"/>
                <a:sym typeface="Montserrat"/>
              </a:endParaRPr>
            </a:p>
          </p:txBody>
        </p:sp>
        <p:sp>
          <p:nvSpPr>
            <p:cNvPr id="277" name="Google Shape;277;p39"/>
            <p:cNvSpPr/>
            <p:nvPr/>
          </p:nvSpPr>
          <p:spPr>
            <a:xfrm>
              <a:off x="4329975" y="1301075"/>
              <a:ext cx="2541300" cy="3936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latin typeface="Montserrat"/>
                  <a:ea typeface="Montserrat"/>
                  <a:cs typeface="Montserrat"/>
                  <a:sym typeface="Montserrat"/>
                </a:rPr>
                <a:t>Prototype+Test</a:t>
              </a:r>
              <a:endParaRPr b="1" sz="1200">
                <a:solidFill>
                  <a:srgbClr val="FFFFFF"/>
                </a:solidFill>
                <a:latin typeface="Montserrat"/>
                <a:ea typeface="Montserrat"/>
                <a:cs typeface="Montserrat"/>
                <a:sym typeface="Montserrat"/>
              </a:endParaRPr>
            </a:p>
          </p:txBody>
        </p:sp>
        <p:sp>
          <p:nvSpPr>
            <p:cNvPr id="278" name="Google Shape;278;p39"/>
            <p:cNvSpPr/>
            <p:nvPr/>
          </p:nvSpPr>
          <p:spPr>
            <a:xfrm>
              <a:off x="6389400" y="1301075"/>
              <a:ext cx="2541300" cy="393600"/>
            </a:xfrm>
            <a:prstGeom prst="chevron">
              <a:avLst>
                <a:gd fmla="val 50000" name="adj"/>
              </a:avLst>
            </a:prstGeom>
            <a:solidFill>
              <a:srgbClr val="5E2B62">
                <a:alpha val="439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FFFFFF"/>
                  </a:solidFill>
                  <a:latin typeface="Montserrat"/>
                  <a:ea typeface="Montserrat"/>
                  <a:cs typeface="Montserrat"/>
                  <a:sym typeface="Montserrat"/>
                </a:rPr>
                <a:t>Test</a:t>
              </a:r>
              <a:endParaRPr b="1" sz="1200">
                <a:solidFill>
                  <a:srgbClr val="FFFFFF"/>
                </a:solidFill>
                <a:latin typeface="Montserrat"/>
                <a:ea typeface="Montserrat"/>
                <a:cs typeface="Montserrat"/>
                <a:sym typeface="Montserrat"/>
              </a:endParaRPr>
            </a:p>
          </p:txBody>
        </p:sp>
      </p:grpSp>
      <p:pic>
        <p:nvPicPr>
          <p:cNvPr id="279" name="Google Shape;279;p39"/>
          <p:cNvPicPr preferRelativeResize="0"/>
          <p:nvPr/>
        </p:nvPicPr>
        <p:blipFill rotWithShape="1">
          <a:blip r:embed="rId3">
            <a:alphaModFix/>
          </a:blip>
          <a:srcRect b="74425" l="34410" r="33323" t="10780"/>
          <a:stretch/>
        </p:blipFill>
        <p:spPr>
          <a:xfrm>
            <a:off x="414600" y="1723781"/>
            <a:ext cx="1772750" cy="1252824"/>
          </a:xfrm>
          <a:prstGeom prst="rect">
            <a:avLst/>
          </a:prstGeom>
          <a:noFill/>
          <a:ln>
            <a:noFill/>
          </a:ln>
        </p:spPr>
      </p:pic>
      <p:pic>
        <p:nvPicPr>
          <p:cNvPr id="280" name="Google Shape;280;p39"/>
          <p:cNvPicPr preferRelativeResize="0"/>
          <p:nvPr/>
        </p:nvPicPr>
        <p:blipFill rotWithShape="1">
          <a:blip r:embed="rId3">
            <a:alphaModFix/>
          </a:blip>
          <a:srcRect b="48789" l="34410" r="33323" t="29799"/>
          <a:stretch/>
        </p:blipFill>
        <p:spPr>
          <a:xfrm>
            <a:off x="2647700" y="1723781"/>
            <a:ext cx="1772750" cy="1813127"/>
          </a:xfrm>
          <a:prstGeom prst="rect">
            <a:avLst/>
          </a:prstGeom>
          <a:noFill/>
          <a:ln>
            <a:noFill/>
          </a:ln>
        </p:spPr>
      </p:pic>
      <p:pic>
        <p:nvPicPr>
          <p:cNvPr id="281" name="Google Shape;281;p39"/>
          <p:cNvPicPr preferRelativeResize="0"/>
          <p:nvPr/>
        </p:nvPicPr>
        <p:blipFill rotWithShape="1">
          <a:blip r:embed="rId3">
            <a:alphaModFix/>
          </a:blip>
          <a:srcRect b="25227" l="34410" r="33323" t="58575"/>
          <a:stretch/>
        </p:blipFill>
        <p:spPr>
          <a:xfrm>
            <a:off x="4714250" y="1723781"/>
            <a:ext cx="1772750" cy="1371602"/>
          </a:xfrm>
          <a:prstGeom prst="rect">
            <a:avLst/>
          </a:prstGeom>
          <a:noFill/>
          <a:ln>
            <a:noFill/>
          </a:ln>
        </p:spPr>
      </p:pic>
      <p:pic>
        <p:nvPicPr>
          <p:cNvPr id="282" name="Google Shape;282;p39"/>
          <p:cNvPicPr preferRelativeResize="0"/>
          <p:nvPr/>
        </p:nvPicPr>
        <p:blipFill rotWithShape="1">
          <a:blip r:embed="rId3">
            <a:alphaModFix/>
          </a:blip>
          <a:srcRect b="5307" l="34410" r="33323" t="78494"/>
          <a:stretch/>
        </p:blipFill>
        <p:spPr>
          <a:xfrm>
            <a:off x="6871275" y="1723781"/>
            <a:ext cx="1772750" cy="1371602"/>
          </a:xfrm>
          <a:prstGeom prst="rect">
            <a:avLst/>
          </a:prstGeom>
          <a:noFill/>
          <a:ln>
            <a:noFill/>
          </a:ln>
        </p:spPr>
      </p:pic>
      <p:pic>
        <p:nvPicPr>
          <p:cNvPr id="283" name="Google Shape;283;p39"/>
          <p:cNvPicPr preferRelativeResize="0"/>
          <p:nvPr/>
        </p:nvPicPr>
        <p:blipFill rotWithShape="1">
          <a:blip r:embed="rId3">
            <a:alphaModFix/>
          </a:blip>
          <a:srcRect b="72439" l="64934" r="2800" t="10780"/>
          <a:stretch/>
        </p:blipFill>
        <p:spPr>
          <a:xfrm>
            <a:off x="414600" y="2942051"/>
            <a:ext cx="1772750" cy="1420925"/>
          </a:xfrm>
          <a:prstGeom prst="rect">
            <a:avLst/>
          </a:prstGeom>
          <a:noFill/>
          <a:ln>
            <a:noFill/>
          </a:ln>
        </p:spPr>
      </p:pic>
      <p:pic>
        <p:nvPicPr>
          <p:cNvPr id="284" name="Google Shape;284;p39"/>
          <p:cNvPicPr preferRelativeResize="0"/>
          <p:nvPr/>
        </p:nvPicPr>
        <p:blipFill rotWithShape="1">
          <a:blip r:embed="rId3">
            <a:alphaModFix/>
          </a:blip>
          <a:srcRect b="54135" l="64934" r="2800" t="29667"/>
          <a:stretch/>
        </p:blipFill>
        <p:spPr>
          <a:xfrm>
            <a:off x="2647700" y="3502351"/>
            <a:ext cx="1772750" cy="1371602"/>
          </a:xfrm>
          <a:prstGeom prst="rect">
            <a:avLst/>
          </a:prstGeom>
          <a:noFill/>
          <a:ln>
            <a:noFill/>
          </a:ln>
        </p:spPr>
      </p:pic>
      <p:pic>
        <p:nvPicPr>
          <p:cNvPr id="285" name="Google Shape;285;p39"/>
          <p:cNvPicPr preferRelativeResize="0"/>
          <p:nvPr/>
        </p:nvPicPr>
        <p:blipFill rotWithShape="1">
          <a:blip r:embed="rId3">
            <a:alphaModFix/>
          </a:blip>
          <a:srcRect b="25303" l="64934" r="2800" t="57917"/>
          <a:stretch/>
        </p:blipFill>
        <p:spPr>
          <a:xfrm>
            <a:off x="4714250" y="3171601"/>
            <a:ext cx="1772750" cy="1420925"/>
          </a:xfrm>
          <a:prstGeom prst="rect">
            <a:avLst/>
          </a:prstGeom>
          <a:noFill/>
          <a:ln>
            <a:noFill/>
          </a:ln>
        </p:spPr>
      </p:pic>
      <p:pic>
        <p:nvPicPr>
          <p:cNvPr id="286" name="Google Shape;286;p39"/>
          <p:cNvPicPr preferRelativeResize="0"/>
          <p:nvPr/>
        </p:nvPicPr>
        <p:blipFill rotWithShape="1">
          <a:blip r:embed="rId3">
            <a:alphaModFix/>
          </a:blip>
          <a:srcRect b="5119" l="64934" r="2800" t="78101"/>
          <a:stretch/>
        </p:blipFill>
        <p:spPr>
          <a:xfrm>
            <a:off x="6871275" y="3171576"/>
            <a:ext cx="1772750" cy="1420925"/>
          </a:xfrm>
          <a:prstGeom prst="rect">
            <a:avLst/>
          </a:prstGeom>
          <a:noFill/>
          <a:ln>
            <a:noFill/>
          </a:ln>
        </p:spPr>
      </p:pic>
      <p:sp>
        <p:nvSpPr>
          <p:cNvPr id="287" name="Google Shape;287;p39"/>
          <p:cNvSpPr txBox="1"/>
          <p:nvPr/>
        </p:nvSpPr>
        <p:spPr>
          <a:xfrm>
            <a:off x="385500" y="630875"/>
            <a:ext cx="8373000" cy="681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sz="1500">
                <a:solidFill>
                  <a:srgbClr val="743673"/>
                </a:solidFill>
                <a:latin typeface="Montserrat"/>
                <a:ea typeface="Montserrat"/>
                <a:cs typeface="Montserrat"/>
                <a:sym typeface="Montserrat"/>
              </a:rPr>
              <a:t>Nah, berikut metode riset yang bisa dipakai untuk setiap tahapan design thinking!</a:t>
            </a:r>
            <a:endParaRPr b="1" sz="1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733572"/>
                </a:solidFill>
              </a:rPr>
              <a:t>‹#›</a:t>
            </a:fld>
            <a:endParaRPr>
              <a:solidFill>
                <a:srgbClr val="733572"/>
              </a:solidFill>
            </a:endParaRPr>
          </a:p>
        </p:txBody>
      </p:sp>
      <p:sp>
        <p:nvSpPr>
          <p:cNvPr id="293" name="Google Shape;293;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pic>
        <p:nvPicPr>
          <p:cNvPr id="294" name="Google Shape;294;p40">
            <a:hlinkClick r:id="rId3"/>
          </p:cNvPr>
          <p:cNvPicPr preferRelativeResize="0"/>
          <p:nvPr/>
        </p:nvPicPr>
        <p:blipFill rotWithShape="1">
          <a:blip r:embed="rId4">
            <a:alphaModFix/>
          </a:blip>
          <a:srcRect b="4637" l="540" r="1257" t="521"/>
          <a:stretch/>
        </p:blipFill>
        <p:spPr>
          <a:xfrm>
            <a:off x="4160475" y="635500"/>
            <a:ext cx="4456126" cy="4406301"/>
          </a:xfrm>
          <a:prstGeom prst="rect">
            <a:avLst/>
          </a:prstGeom>
          <a:noFill/>
          <a:ln>
            <a:noFill/>
          </a:ln>
        </p:spPr>
      </p:pic>
      <p:sp>
        <p:nvSpPr>
          <p:cNvPr id="295" name="Google Shape;295;p40"/>
          <p:cNvSpPr txBox="1"/>
          <p:nvPr/>
        </p:nvSpPr>
        <p:spPr>
          <a:xfrm>
            <a:off x="487625" y="2161275"/>
            <a:ext cx="3478500" cy="1563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Banyak metode UX research yang sering digunakan dalam sebuah riset, </a:t>
            </a:r>
            <a:r>
              <a:rPr b="1" lang="en" sz="1600">
                <a:solidFill>
                  <a:srgbClr val="743673"/>
                </a:solidFill>
                <a:highlight>
                  <a:schemeClr val="lt1"/>
                </a:highlight>
                <a:latin typeface="Montserrat"/>
                <a:ea typeface="Montserrat"/>
                <a:cs typeface="Montserrat"/>
                <a:sym typeface="Montserrat"/>
              </a:rPr>
              <a:t>berikut frekuensi metode riset yang populer digunakan~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302" name="Google Shape;302;p41"/>
          <p:cNvSpPr txBox="1"/>
          <p:nvPr/>
        </p:nvSpPr>
        <p:spPr>
          <a:xfrm>
            <a:off x="685800" y="14477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Masih bingung? Coba perhatikan kerangka kerja tiga dimensi ini!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Untuk lebih memahami kapan harus menggunakan metode mana, kita dapat memakai kerangka kerja tiga dimensi seperti di samping!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accent1"/>
                </a:solidFill>
                <a:latin typeface="Montserrat"/>
                <a:ea typeface="Montserrat"/>
                <a:cs typeface="Montserrat"/>
                <a:sym typeface="Montserrat"/>
              </a:rPr>
              <a:t>Behavioral vs Attitudinal</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accent1"/>
                </a:solidFill>
                <a:latin typeface="Montserrat"/>
                <a:ea typeface="Montserrat"/>
                <a:cs typeface="Montserrat"/>
                <a:sym typeface="Montserrat"/>
              </a:rPr>
              <a:t>Kuantitatif vs Kualitatif</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Buat penjelasan lebih lanjut, cek halaman berikutnya yaa!</a:t>
            </a:r>
            <a:endParaRPr sz="1000">
              <a:solidFill>
                <a:schemeClr val="dk1"/>
              </a:solidFill>
              <a:latin typeface="Montserrat"/>
              <a:ea typeface="Montserrat"/>
              <a:cs typeface="Montserrat"/>
              <a:sym typeface="Montserrat"/>
            </a:endParaRPr>
          </a:p>
        </p:txBody>
      </p:sp>
      <p:pic>
        <p:nvPicPr>
          <p:cNvPr id="303" name="Google Shape;303;p41">
            <a:hlinkClick r:id="rId3"/>
          </p:cNvPr>
          <p:cNvPicPr preferRelativeResize="0"/>
          <p:nvPr/>
        </p:nvPicPr>
        <p:blipFill>
          <a:blip r:embed="rId4">
            <a:alphaModFix/>
          </a:blip>
          <a:stretch>
            <a:fillRect/>
          </a:stretch>
        </p:blipFill>
        <p:spPr>
          <a:xfrm>
            <a:off x="5057350" y="1192100"/>
            <a:ext cx="3559249" cy="326568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310" name="Google Shape;310;p42"/>
          <p:cNvSpPr txBox="1"/>
          <p:nvPr/>
        </p:nvSpPr>
        <p:spPr>
          <a:xfrm>
            <a:off x="685800" y="14477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Behavioral vs Attitudinal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Behavioral</a:t>
            </a:r>
            <a:r>
              <a:rPr b="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bertujuan untuk memahami </a:t>
            </a:r>
            <a:r>
              <a:rPr b="1" lang="en" sz="1000">
                <a:solidFill>
                  <a:schemeClr val="dk1"/>
                </a:solidFill>
                <a:latin typeface="Montserrat"/>
                <a:ea typeface="Montserrat"/>
                <a:cs typeface="Montserrat"/>
                <a:sym typeface="Montserrat"/>
              </a:rPr>
              <a:t>bagaimana pengguna menggunakan suatu produk</a:t>
            </a:r>
            <a:r>
              <a:rPr lang="en" sz="1000">
                <a:solidFill>
                  <a:schemeClr val="dk1"/>
                </a:solidFill>
                <a:latin typeface="Montserrat"/>
                <a:ea typeface="Montserrat"/>
                <a:cs typeface="Montserrat"/>
                <a:sym typeface="Montserrat"/>
              </a:rPr>
              <a:t>, dan apa yang user akan lakukan dengan cara mengobservasinya.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Sementara itu, attitudinal</a:t>
            </a:r>
            <a:r>
              <a:rPr b="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bertujuan untuk mengetahui pendapat orang-orang, bagaimana sikap orang ketika ditanyakan atau dihadapkan dengan suatu ha</a:t>
            </a:r>
            <a:r>
              <a:rPr lang="en" sz="1000">
                <a:solidFill>
                  <a:schemeClr val="dk1"/>
                </a:solidFill>
                <a:latin typeface="Montserrat"/>
                <a:ea typeface="Montserrat"/>
                <a:cs typeface="Montserrat"/>
                <a:sym typeface="Montserrat"/>
              </a:rPr>
              <a:t>l, dan </a:t>
            </a:r>
            <a:r>
              <a:rPr b="1" lang="en" sz="1000">
                <a:solidFill>
                  <a:schemeClr val="dk1"/>
                </a:solidFill>
                <a:latin typeface="Montserrat"/>
                <a:ea typeface="Montserrat"/>
                <a:cs typeface="Montserrat"/>
                <a:sym typeface="Montserrat"/>
              </a:rPr>
              <a:t>bagaimana perasaan mereka ketika menggunakan suatu produk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000">
              <a:solidFill>
                <a:schemeClr val="dk1"/>
              </a:solidFill>
              <a:latin typeface="Montserrat"/>
              <a:ea typeface="Montserrat"/>
              <a:cs typeface="Montserrat"/>
              <a:sym typeface="Montserrat"/>
            </a:endParaRPr>
          </a:p>
        </p:txBody>
      </p:sp>
      <p:pic>
        <p:nvPicPr>
          <p:cNvPr id="311" name="Google Shape;311;p42"/>
          <p:cNvPicPr preferRelativeResize="0"/>
          <p:nvPr/>
        </p:nvPicPr>
        <p:blipFill>
          <a:blip r:embed="rId3">
            <a:alphaModFix/>
          </a:blip>
          <a:stretch>
            <a:fillRect/>
          </a:stretch>
        </p:blipFill>
        <p:spPr>
          <a:xfrm>
            <a:off x="5041912" y="1177938"/>
            <a:ext cx="3590126" cy="3294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7" name="Google Shape;317;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318" name="Google Shape;318;p43"/>
          <p:cNvSpPr txBox="1"/>
          <p:nvPr/>
        </p:nvSpPr>
        <p:spPr>
          <a:xfrm>
            <a:off x="685800" y="14477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Kuantitatif vs Kualitatif</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highlight>
                  <a:schemeClr val="lt1"/>
                </a:highlight>
                <a:latin typeface="Montserrat"/>
                <a:ea typeface="Montserrat"/>
                <a:cs typeface="Montserrat"/>
                <a:sym typeface="Montserrat"/>
              </a:rPr>
              <a:t>Kuantitatif bertujuan untuk mendapatkan </a:t>
            </a:r>
            <a:r>
              <a:rPr b="1" lang="en" sz="1000">
                <a:solidFill>
                  <a:schemeClr val="dk1"/>
                </a:solidFill>
                <a:highlight>
                  <a:schemeClr val="lt1"/>
                </a:highlight>
                <a:latin typeface="Montserrat"/>
                <a:ea typeface="Montserrat"/>
                <a:cs typeface="Montserrat"/>
                <a:sym typeface="Montserrat"/>
              </a:rPr>
              <a:t>gambaran secara umum dan luas dari suatu objek riset</a:t>
            </a:r>
            <a:r>
              <a:rPr lang="en" sz="1000">
                <a:solidFill>
                  <a:schemeClr val="dk1"/>
                </a:solidFill>
                <a:highlight>
                  <a:schemeClr val="lt1"/>
                </a:highlight>
                <a:latin typeface="Montserrat"/>
                <a:ea typeface="Montserrat"/>
                <a:cs typeface="Montserrat"/>
                <a:sym typeface="Montserrat"/>
              </a:rPr>
              <a:t>, seperti market-sizing, trend terkini, dan untuk melakukan validasi temuan awal.</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Kualitatif</a:t>
            </a:r>
            <a:r>
              <a:rPr b="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bertujuan untuk </a:t>
            </a:r>
            <a:r>
              <a:rPr b="1" lang="en" sz="1000">
                <a:solidFill>
                  <a:schemeClr val="dk1"/>
                </a:solidFill>
                <a:latin typeface="Montserrat"/>
                <a:ea typeface="Montserrat"/>
                <a:cs typeface="Montserrat"/>
                <a:sym typeface="Montserrat"/>
              </a:rPr>
              <a:t>mendapatkan insight yang lebih mendalam</a:t>
            </a:r>
            <a:r>
              <a:rPr lang="en" sz="1000">
                <a:solidFill>
                  <a:schemeClr val="dk1"/>
                </a:solidFill>
                <a:latin typeface="Montserrat"/>
                <a:ea typeface="Montserrat"/>
                <a:cs typeface="Montserrat"/>
                <a:sym typeface="Montserrat"/>
              </a:rPr>
              <a:t> dan untuk memahami mengapa suatu fenomena bisa terjadi.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000">
              <a:solidFill>
                <a:schemeClr val="dk1"/>
              </a:solidFill>
              <a:latin typeface="Montserrat"/>
              <a:ea typeface="Montserrat"/>
              <a:cs typeface="Montserrat"/>
              <a:sym typeface="Montserrat"/>
            </a:endParaRPr>
          </a:p>
        </p:txBody>
      </p:sp>
      <p:pic>
        <p:nvPicPr>
          <p:cNvPr id="319" name="Google Shape;319;p43"/>
          <p:cNvPicPr preferRelativeResize="0"/>
          <p:nvPr/>
        </p:nvPicPr>
        <p:blipFill>
          <a:blip r:embed="rId3">
            <a:alphaModFix/>
          </a:blip>
          <a:stretch>
            <a:fillRect/>
          </a:stretch>
        </p:blipFill>
        <p:spPr>
          <a:xfrm>
            <a:off x="5057350" y="1192100"/>
            <a:ext cx="3559249" cy="326567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25" name="Google Shape;325;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326" name="Google Shape;326;p44"/>
          <p:cNvSpPr txBox="1"/>
          <p:nvPr/>
        </p:nvSpPr>
        <p:spPr>
          <a:xfrm>
            <a:off x="574400" y="2121925"/>
            <a:ext cx="40113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000">
                <a:latin typeface="Montserrat"/>
                <a:ea typeface="Montserrat"/>
                <a:cs typeface="Montserrat"/>
                <a:sym typeface="Montserrat"/>
              </a:rPr>
              <a:t>Bagan disamping dapat digunakan sebagai </a:t>
            </a:r>
            <a:r>
              <a:rPr lang="en" sz="1000">
                <a:latin typeface="Montserrat"/>
                <a:ea typeface="Montserrat"/>
                <a:cs typeface="Montserrat"/>
                <a:sym typeface="Montserrat"/>
              </a:rPr>
              <a:t>panduan dalam memilih metode yang tepat untuk riset UI/UX.</a:t>
            </a:r>
            <a:endParaRPr sz="1000">
              <a:latin typeface="Montserrat"/>
              <a:ea typeface="Montserrat"/>
              <a:cs typeface="Montserrat"/>
              <a:sym typeface="Montserrat"/>
            </a:endParaRPr>
          </a:p>
          <a:p>
            <a:pPr indent="0" lvl="0" marL="0" rtl="0" algn="just">
              <a:spcBef>
                <a:spcPts val="0"/>
              </a:spcBef>
              <a:spcAft>
                <a:spcPts val="0"/>
              </a:spcAft>
              <a:buNone/>
            </a:pPr>
            <a:r>
              <a:t/>
            </a:r>
            <a:endParaRPr sz="1000">
              <a:latin typeface="Montserrat"/>
              <a:ea typeface="Montserrat"/>
              <a:cs typeface="Montserrat"/>
              <a:sym typeface="Montserrat"/>
            </a:endParaRPr>
          </a:p>
          <a:p>
            <a:pPr indent="0" lvl="0" marL="0" rtl="0" algn="just">
              <a:spcBef>
                <a:spcPts val="0"/>
              </a:spcBef>
              <a:spcAft>
                <a:spcPts val="0"/>
              </a:spcAft>
              <a:buNone/>
            </a:pPr>
            <a:r>
              <a:rPr lang="en" sz="1000">
                <a:latin typeface="Montserrat"/>
                <a:ea typeface="Montserrat"/>
                <a:cs typeface="Montserrat"/>
                <a:sym typeface="Montserrat"/>
              </a:rPr>
              <a:t>Agar mempermudah memahami setiap bagan, kita bisa membaginya menjadi empat kuadran seperti pada bagan berikut.</a:t>
            </a:r>
            <a:endParaRPr b="1" sz="1000">
              <a:latin typeface="Montserrat"/>
              <a:ea typeface="Montserrat"/>
              <a:cs typeface="Montserrat"/>
              <a:sym typeface="Montserrat"/>
            </a:endParaRPr>
          </a:p>
        </p:txBody>
      </p:sp>
      <p:sp>
        <p:nvSpPr>
          <p:cNvPr id="327" name="Google Shape;327;p44"/>
          <p:cNvSpPr txBox="1"/>
          <p:nvPr/>
        </p:nvSpPr>
        <p:spPr>
          <a:xfrm>
            <a:off x="574400" y="1252625"/>
            <a:ext cx="4011300" cy="714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Cek bagan di samping sebagai panduan memilih metode riset!</a:t>
            </a:r>
            <a:endParaRPr/>
          </a:p>
        </p:txBody>
      </p:sp>
      <p:pic>
        <p:nvPicPr>
          <p:cNvPr id="328" name="Google Shape;328;p44"/>
          <p:cNvPicPr preferRelativeResize="0"/>
          <p:nvPr/>
        </p:nvPicPr>
        <p:blipFill>
          <a:blip r:embed="rId3">
            <a:alphaModFix/>
          </a:blip>
          <a:stretch>
            <a:fillRect/>
          </a:stretch>
        </p:blipFill>
        <p:spPr>
          <a:xfrm>
            <a:off x="5093975" y="1252625"/>
            <a:ext cx="3324522" cy="332615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34" name="Google Shape;334;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335" name="Google Shape;335;p45"/>
          <p:cNvSpPr txBox="1"/>
          <p:nvPr/>
        </p:nvSpPr>
        <p:spPr>
          <a:xfrm>
            <a:off x="561875" y="2102250"/>
            <a:ext cx="46311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000">
                <a:latin typeface="Montserrat"/>
                <a:ea typeface="Montserrat"/>
                <a:cs typeface="Montserrat"/>
                <a:sym typeface="Montserrat"/>
              </a:rPr>
              <a:t>Conversion rate pada aplikasi NangorLearn lebih rendah dibanding website-nya. Padahal, aplikasi yang dibuat sudah dirasa cukup baik. Hal ini menimbulkan persepsi bahwa aplikasi yang dibuat tidak lebih baik dibandingkan website.</a:t>
            </a:r>
            <a:endParaRPr sz="1000">
              <a:latin typeface="Montserrat"/>
              <a:ea typeface="Montserrat"/>
              <a:cs typeface="Montserrat"/>
              <a:sym typeface="Montserrat"/>
            </a:endParaRPr>
          </a:p>
          <a:p>
            <a:pPr indent="0" lvl="0" marL="0" rtl="0" algn="just">
              <a:spcBef>
                <a:spcPts val="0"/>
              </a:spcBef>
              <a:spcAft>
                <a:spcPts val="0"/>
              </a:spcAft>
              <a:buNone/>
            </a:pPr>
            <a:r>
              <a:t/>
            </a:r>
            <a:endParaRPr sz="1000">
              <a:latin typeface="Montserrat"/>
              <a:ea typeface="Montserrat"/>
              <a:cs typeface="Montserrat"/>
              <a:sym typeface="Montserrat"/>
            </a:endParaRPr>
          </a:p>
          <a:p>
            <a:pPr indent="0" lvl="0" marL="0" rtl="0" algn="just">
              <a:spcBef>
                <a:spcPts val="0"/>
              </a:spcBef>
              <a:spcAft>
                <a:spcPts val="0"/>
              </a:spcAft>
              <a:buNone/>
            </a:pPr>
            <a:r>
              <a:t/>
            </a:r>
            <a:endParaRPr sz="1000">
              <a:latin typeface="Montserrat"/>
              <a:ea typeface="Montserrat"/>
              <a:cs typeface="Montserrat"/>
              <a:sym typeface="Montserrat"/>
            </a:endParaRPr>
          </a:p>
        </p:txBody>
      </p:sp>
      <p:sp>
        <p:nvSpPr>
          <p:cNvPr id="336" name="Google Shape;336;p45"/>
          <p:cNvSpPr txBox="1"/>
          <p:nvPr/>
        </p:nvSpPr>
        <p:spPr>
          <a:xfrm>
            <a:off x="561875" y="1335775"/>
            <a:ext cx="4695900" cy="677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Biar lebih jelas gimana cara memilih metode riset, coba simak kasus berikut! </a:t>
            </a:r>
            <a:endParaRPr/>
          </a:p>
        </p:txBody>
      </p:sp>
      <p:pic>
        <p:nvPicPr>
          <p:cNvPr id="337" name="Google Shape;337;p45"/>
          <p:cNvPicPr preferRelativeResize="0"/>
          <p:nvPr/>
        </p:nvPicPr>
        <p:blipFill>
          <a:blip r:embed="rId3">
            <a:alphaModFix/>
          </a:blip>
          <a:stretch>
            <a:fillRect/>
          </a:stretch>
        </p:blipFill>
        <p:spPr>
          <a:xfrm>
            <a:off x="5433525" y="914400"/>
            <a:ext cx="3003742" cy="3886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43" name="Google Shape;343;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344" name="Google Shape;344;p46"/>
          <p:cNvSpPr txBox="1"/>
          <p:nvPr/>
        </p:nvSpPr>
        <p:spPr>
          <a:xfrm>
            <a:off x="487625" y="1555800"/>
            <a:ext cx="4631100" cy="203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000">
              <a:latin typeface="Montserrat"/>
              <a:ea typeface="Montserrat"/>
              <a:cs typeface="Montserrat"/>
              <a:sym typeface="Montserrat"/>
            </a:endParaRPr>
          </a:p>
          <a:p>
            <a:pPr indent="0" lvl="0" marL="0" rtl="0" algn="just">
              <a:spcBef>
                <a:spcPts val="0"/>
              </a:spcBef>
              <a:spcAft>
                <a:spcPts val="0"/>
              </a:spcAft>
              <a:buNone/>
            </a:pPr>
            <a:r>
              <a:t/>
            </a:r>
            <a:endParaRPr sz="1000">
              <a:latin typeface="Montserrat"/>
              <a:ea typeface="Montserrat"/>
              <a:cs typeface="Montserrat"/>
              <a:sym typeface="Montserrat"/>
            </a:endParaRPr>
          </a:p>
          <a:p>
            <a:pPr indent="0" lvl="0" marL="0" rtl="0" algn="just">
              <a:spcBef>
                <a:spcPts val="0"/>
              </a:spcBef>
              <a:spcAft>
                <a:spcPts val="0"/>
              </a:spcAft>
              <a:buNone/>
            </a:pPr>
            <a:r>
              <a:rPr lang="en" sz="1000">
                <a:latin typeface="Montserrat"/>
                <a:ea typeface="Montserrat"/>
                <a:cs typeface="Montserrat"/>
                <a:sym typeface="Montserrat"/>
              </a:rPr>
              <a:t>Oleh karena itu, tim riset ingin mencari tahu mengapa hal itu bisa terjadi, kendala apa yang dirasakan pengguna ketika menggunakan aplikasi, apa yang sebenarnya dibutuhkan oleh mereka, dan bagaimana caranya untuk memberikan pengalaman terbaik bagi pengguna dalam menggunakan aplikasi NangorLearn.</a:t>
            </a:r>
            <a:endParaRPr sz="1000">
              <a:latin typeface="Montserrat"/>
              <a:ea typeface="Montserrat"/>
              <a:cs typeface="Montserrat"/>
              <a:sym typeface="Montserrat"/>
            </a:endParaRPr>
          </a:p>
          <a:p>
            <a:pPr indent="0" lvl="0" marL="0" rtl="0" algn="just">
              <a:spcBef>
                <a:spcPts val="0"/>
              </a:spcBef>
              <a:spcAft>
                <a:spcPts val="0"/>
              </a:spcAft>
              <a:buNone/>
            </a:pPr>
            <a:r>
              <a:t/>
            </a:r>
            <a:endParaRPr sz="1000">
              <a:latin typeface="Montserrat"/>
              <a:ea typeface="Montserrat"/>
              <a:cs typeface="Montserrat"/>
              <a:sym typeface="Montserrat"/>
            </a:endParaRPr>
          </a:p>
          <a:p>
            <a:pPr indent="0" lvl="0" marL="0" rtl="0" algn="just">
              <a:spcBef>
                <a:spcPts val="0"/>
              </a:spcBef>
              <a:spcAft>
                <a:spcPts val="0"/>
              </a:spcAft>
              <a:buNone/>
            </a:pPr>
            <a:r>
              <a:t/>
            </a:r>
            <a:endParaRPr sz="1000">
              <a:latin typeface="Montserrat"/>
              <a:ea typeface="Montserrat"/>
              <a:cs typeface="Montserrat"/>
              <a:sym typeface="Montserrat"/>
            </a:endParaRPr>
          </a:p>
          <a:p>
            <a:pPr indent="0" lvl="0" marL="0" rtl="0" algn="just">
              <a:spcBef>
                <a:spcPts val="0"/>
              </a:spcBef>
              <a:spcAft>
                <a:spcPts val="0"/>
              </a:spcAft>
              <a:buNone/>
            </a:pPr>
            <a:r>
              <a:t/>
            </a:r>
            <a:endParaRPr sz="1000">
              <a:latin typeface="Montserrat"/>
              <a:ea typeface="Montserrat"/>
              <a:cs typeface="Montserrat"/>
              <a:sym typeface="Montserrat"/>
            </a:endParaRPr>
          </a:p>
          <a:p>
            <a:pPr indent="0" lvl="0" marL="0" rtl="0" algn="just">
              <a:spcBef>
                <a:spcPts val="0"/>
              </a:spcBef>
              <a:spcAft>
                <a:spcPts val="0"/>
              </a:spcAft>
              <a:buNone/>
            </a:pPr>
            <a:r>
              <a:t/>
            </a:r>
            <a:endParaRPr sz="1000">
              <a:latin typeface="Montserrat"/>
              <a:ea typeface="Montserrat"/>
              <a:cs typeface="Montserrat"/>
              <a:sym typeface="Montserrat"/>
            </a:endParaRPr>
          </a:p>
          <a:p>
            <a:pPr indent="0" lvl="0" marL="0" rtl="0" algn="just">
              <a:spcBef>
                <a:spcPts val="0"/>
              </a:spcBef>
              <a:spcAft>
                <a:spcPts val="0"/>
              </a:spcAft>
              <a:buNone/>
            </a:pPr>
            <a:r>
              <a:t/>
            </a:r>
            <a:endParaRPr sz="1000">
              <a:latin typeface="Montserrat"/>
              <a:ea typeface="Montserrat"/>
              <a:cs typeface="Montserrat"/>
              <a:sym typeface="Montserrat"/>
            </a:endParaRPr>
          </a:p>
        </p:txBody>
      </p:sp>
      <p:sp>
        <p:nvSpPr>
          <p:cNvPr id="345" name="Google Shape;345;p46"/>
          <p:cNvSpPr txBox="1"/>
          <p:nvPr/>
        </p:nvSpPr>
        <p:spPr>
          <a:xfrm>
            <a:off x="561875" y="1335775"/>
            <a:ext cx="4695900" cy="400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a:p>
        </p:txBody>
      </p:sp>
      <p:pic>
        <p:nvPicPr>
          <p:cNvPr id="346" name="Google Shape;346;p46"/>
          <p:cNvPicPr preferRelativeResize="0"/>
          <p:nvPr/>
        </p:nvPicPr>
        <p:blipFill>
          <a:blip r:embed="rId3">
            <a:alphaModFix/>
          </a:blip>
          <a:stretch>
            <a:fillRect/>
          </a:stretch>
        </p:blipFill>
        <p:spPr>
          <a:xfrm>
            <a:off x="5326550" y="1040024"/>
            <a:ext cx="3290051" cy="3760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52" name="Google Shape;352;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353" name="Google Shape;353;p47"/>
          <p:cNvSpPr txBox="1"/>
          <p:nvPr/>
        </p:nvSpPr>
        <p:spPr>
          <a:xfrm>
            <a:off x="574275" y="1401900"/>
            <a:ext cx="46311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Untuk itu, tim riset harus tahu bagaimana perilaku pengguna dalam menggunakan aplikasi, dan apa yang mereka lakukan jika dihadapkan dengan case tertentu dalam aplikasi tersebut.</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Setelah mengetahui bagaimana perilaku user, baru deh tim riset bisa menanyakan lebih lanjut terkait </a:t>
            </a:r>
            <a:r>
              <a:rPr b="1" lang="en" sz="1000">
                <a:solidFill>
                  <a:schemeClr val="dk1"/>
                </a:solidFill>
                <a:latin typeface="Montserrat"/>
                <a:ea typeface="Montserrat"/>
                <a:cs typeface="Montserrat"/>
                <a:sym typeface="Montserrat"/>
              </a:rPr>
              <a:t>kebutuhan</a:t>
            </a:r>
            <a:r>
              <a:rPr lang="en" sz="1000">
                <a:solidFill>
                  <a:schemeClr val="dk1"/>
                </a:solidFill>
                <a:latin typeface="Montserrat"/>
                <a:ea typeface="Montserrat"/>
                <a:cs typeface="Montserrat"/>
                <a:sym typeface="Montserrat"/>
              </a:rPr>
              <a:t> mereka, </a:t>
            </a:r>
            <a:r>
              <a:rPr b="1" lang="en" sz="1000">
                <a:solidFill>
                  <a:schemeClr val="dk1"/>
                </a:solidFill>
                <a:latin typeface="Montserrat"/>
                <a:ea typeface="Montserrat"/>
                <a:cs typeface="Montserrat"/>
                <a:sym typeface="Montserrat"/>
              </a:rPr>
              <a:t>pain points</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motivasi</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ekspektasi</a:t>
            </a:r>
            <a:r>
              <a:rPr lang="en" sz="1000">
                <a:solidFill>
                  <a:schemeClr val="dk1"/>
                </a:solidFill>
                <a:latin typeface="Montserrat"/>
                <a:ea typeface="Montserrat"/>
                <a:cs typeface="Montserrat"/>
                <a:sym typeface="Montserrat"/>
              </a:rPr>
              <a:t>, dan lain sebagainya.</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000">
              <a:latin typeface="Montserrat"/>
              <a:ea typeface="Montserrat"/>
              <a:cs typeface="Montserrat"/>
              <a:sym typeface="Montserrat"/>
            </a:endParaRPr>
          </a:p>
        </p:txBody>
      </p:sp>
      <p:pic>
        <p:nvPicPr>
          <p:cNvPr id="354" name="Google Shape;354;p47"/>
          <p:cNvPicPr preferRelativeResize="0"/>
          <p:nvPr/>
        </p:nvPicPr>
        <p:blipFill>
          <a:blip r:embed="rId3">
            <a:alphaModFix/>
          </a:blip>
          <a:stretch>
            <a:fillRect/>
          </a:stretch>
        </p:blipFill>
        <p:spPr>
          <a:xfrm>
            <a:off x="5777750" y="1294725"/>
            <a:ext cx="2429525" cy="30171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60" name="Google Shape;360;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361" name="Google Shape;361;p48"/>
          <p:cNvSpPr txBox="1"/>
          <p:nvPr/>
        </p:nvSpPr>
        <p:spPr>
          <a:xfrm>
            <a:off x="574275" y="1560925"/>
            <a:ext cx="46338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000">
                <a:solidFill>
                  <a:schemeClr val="dk1"/>
                </a:solidFill>
                <a:latin typeface="Montserrat"/>
                <a:ea typeface="Montserrat"/>
                <a:cs typeface="Montserrat"/>
                <a:sym typeface="Montserrat"/>
              </a:rPr>
              <a:t>Nah, untuk mengetahui perilaku pengguna dalam menggunakan aplikasi, maka tipe riset yang cocok digunakan adalah </a:t>
            </a:r>
            <a:r>
              <a:rPr b="1" lang="en" sz="1000">
                <a:solidFill>
                  <a:schemeClr val="dk1"/>
                </a:solidFill>
                <a:latin typeface="Montserrat"/>
                <a:ea typeface="Montserrat"/>
                <a:cs typeface="Montserrat"/>
                <a:sym typeface="Montserrat"/>
              </a:rPr>
              <a:t>behavioral. </a:t>
            </a:r>
            <a:r>
              <a:rPr lang="en" sz="1000">
                <a:solidFill>
                  <a:schemeClr val="dk1"/>
                </a:solidFill>
                <a:latin typeface="Montserrat"/>
                <a:ea typeface="Montserrat"/>
                <a:cs typeface="Montserrat"/>
                <a:sym typeface="Montserrat"/>
              </a:rPr>
              <a:t>Kemudian, karena tim riset juga ingin mengetahui apa saja kebutuhan user, pain point apa yang mereka rasakan, bagaimana ekspektasinya, maka bisa menggunakan metode </a:t>
            </a:r>
            <a:r>
              <a:rPr b="1" lang="en" sz="1000">
                <a:solidFill>
                  <a:schemeClr val="dk1"/>
                </a:solidFill>
                <a:latin typeface="Montserrat"/>
                <a:ea typeface="Montserrat"/>
                <a:cs typeface="Montserrat"/>
                <a:sym typeface="Montserrat"/>
              </a:rPr>
              <a:t>Qualitative</a:t>
            </a:r>
            <a:r>
              <a:rPr lang="en" sz="1000">
                <a:solidFill>
                  <a:schemeClr val="dk1"/>
                </a:solidFill>
                <a:latin typeface="Montserrat"/>
                <a:ea typeface="Montserrat"/>
                <a:cs typeface="Montserrat"/>
                <a:sym typeface="Montserrat"/>
              </a:rPr>
              <a:t> atau </a:t>
            </a:r>
            <a:r>
              <a:rPr b="1" lang="en" sz="1000">
                <a:solidFill>
                  <a:schemeClr val="dk1"/>
                </a:solidFill>
                <a:latin typeface="Montserrat"/>
                <a:ea typeface="Montserrat"/>
                <a:cs typeface="Montserrat"/>
                <a:sym typeface="Montserrat"/>
              </a:rPr>
              <a:t>Quantitative</a:t>
            </a:r>
            <a:r>
              <a:rPr b="1" lang="en" sz="1000">
                <a:solidFill>
                  <a:schemeClr val="dk1"/>
                </a:solidFill>
                <a:latin typeface="Montserrat"/>
                <a:ea typeface="Montserrat"/>
                <a:cs typeface="Montserrat"/>
                <a:sym typeface="Montserrat"/>
              </a:rPr>
              <a:t>.</a:t>
            </a:r>
            <a:endParaRPr sz="1000">
              <a:latin typeface="Montserrat"/>
              <a:ea typeface="Montserrat"/>
              <a:cs typeface="Montserrat"/>
              <a:sym typeface="Montserrat"/>
            </a:endParaRPr>
          </a:p>
        </p:txBody>
      </p:sp>
      <p:pic>
        <p:nvPicPr>
          <p:cNvPr id="362" name="Google Shape;362;p48"/>
          <p:cNvPicPr preferRelativeResize="0"/>
          <p:nvPr/>
        </p:nvPicPr>
        <p:blipFill>
          <a:blip r:embed="rId3">
            <a:alphaModFix/>
          </a:blip>
          <a:stretch>
            <a:fillRect/>
          </a:stretch>
        </p:blipFill>
        <p:spPr>
          <a:xfrm>
            <a:off x="5777750" y="1294725"/>
            <a:ext cx="2429525" cy="30171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68" name="Google Shape;368;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369" name="Google Shape;369;p49"/>
          <p:cNvSpPr txBox="1"/>
          <p:nvPr/>
        </p:nvSpPr>
        <p:spPr>
          <a:xfrm>
            <a:off x="571800" y="1501425"/>
            <a:ext cx="4631100" cy="264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Hanya saja, dengan menggunakan qualitative, kita bisa mendapatkan insight yang lebih mendalam, maka dari itu </a:t>
            </a:r>
            <a:r>
              <a:rPr b="1" lang="en" sz="1000">
                <a:solidFill>
                  <a:schemeClr val="dk1"/>
                </a:solidFill>
                <a:latin typeface="Montserrat"/>
                <a:ea typeface="Montserrat"/>
                <a:cs typeface="Montserrat"/>
                <a:sym typeface="Montserrat"/>
              </a:rPr>
              <a:t>metode yang pas untuk digunakan </a:t>
            </a:r>
            <a:r>
              <a:rPr lang="en" sz="1000">
                <a:solidFill>
                  <a:schemeClr val="dk1"/>
                </a:solidFill>
                <a:latin typeface="Montserrat"/>
                <a:ea typeface="Montserrat"/>
                <a:cs typeface="Montserrat"/>
                <a:sym typeface="Montserrat"/>
              </a:rPr>
              <a:t>adalah metode yang bersifat </a:t>
            </a:r>
            <a:r>
              <a:rPr b="1" lang="en" sz="1000">
                <a:solidFill>
                  <a:schemeClr val="dk1"/>
                </a:solidFill>
                <a:latin typeface="Montserrat"/>
                <a:ea typeface="Montserrat"/>
                <a:cs typeface="Montserrat"/>
                <a:sym typeface="Montserrat"/>
              </a:rPr>
              <a:t>behavioral-qualitative (kuadran 1).</a:t>
            </a:r>
            <a:endParaRPr b="1"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Kemudian, seperti pada gambar bagan Landscape User Research Method, terdapat beberapa metode seperti </a:t>
            </a:r>
            <a:r>
              <a:rPr b="1" lang="en" sz="1000">
                <a:solidFill>
                  <a:schemeClr val="dk1"/>
                </a:solidFill>
                <a:latin typeface="Montserrat"/>
                <a:ea typeface="Montserrat"/>
                <a:cs typeface="Montserrat"/>
                <a:sym typeface="Montserrat"/>
              </a:rPr>
              <a:t>usability testing, ethnography, field studies, eye tracking, </a:t>
            </a:r>
            <a:r>
              <a:rPr lang="en" sz="1000">
                <a:solidFill>
                  <a:schemeClr val="dk1"/>
                </a:solidFill>
                <a:latin typeface="Montserrat"/>
                <a:ea typeface="Montserrat"/>
                <a:cs typeface="Montserrat"/>
                <a:sym typeface="Montserrat"/>
              </a:rPr>
              <a:t>dan lainnya.</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70" name="Google Shape;370;p49"/>
          <p:cNvPicPr preferRelativeResize="0"/>
          <p:nvPr/>
        </p:nvPicPr>
        <p:blipFill>
          <a:blip r:embed="rId3">
            <a:alphaModFix/>
          </a:blip>
          <a:stretch>
            <a:fillRect/>
          </a:stretch>
        </p:blipFill>
        <p:spPr>
          <a:xfrm>
            <a:off x="5553850" y="1039725"/>
            <a:ext cx="2934466" cy="357089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76" name="Google Shape;376;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pic>
        <p:nvPicPr>
          <p:cNvPr id="377" name="Google Shape;377;p50"/>
          <p:cNvPicPr preferRelativeResize="0"/>
          <p:nvPr/>
        </p:nvPicPr>
        <p:blipFill>
          <a:blip r:embed="rId4">
            <a:alphaModFix/>
          </a:blip>
          <a:stretch>
            <a:fillRect/>
          </a:stretch>
        </p:blipFill>
        <p:spPr>
          <a:xfrm>
            <a:off x="1805075" y="816000"/>
            <a:ext cx="5533830" cy="4060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83" name="Google Shape;383;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384" name="Google Shape;384;p51"/>
          <p:cNvSpPr txBox="1"/>
          <p:nvPr/>
        </p:nvSpPr>
        <p:spPr>
          <a:xfrm>
            <a:off x="561875" y="1346200"/>
            <a:ext cx="4631100" cy="2339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Dalam kasus NangorLearn ini, </a:t>
            </a:r>
            <a:r>
              <a:rPr b="1" lang="en" sz="1000">
                <a:solidFill>
                  <a:schemeClr val="dk1"/>
                </a:solidFill>
                <a:latin typeface="Montserrat"/>
                <a:ea typeface="Montserrat"/>
                <a:cs typeface="Montserrat"/>
                <a:sym typeface="Montserrat"/>
              </a:rPr>
              <a:t>usability testing </a:t>
            </a:r>
            <a:r>
              <a:rPr lang="en" sz="1000">
                <a:solidFill>
                  <a:schemeClr val="dk1"/>
                </a:solidFill>
                <a:latin typeface="Montserrat"/>
                <a:ea typeface="Montserrat"/>
                <a:cs typeface="Montserrat"/>
                <a:sym typeface="Montserrat"/>
              </a:rPr>
              <a:t>dapat digunakan untuk mengetahui bagaimana perilaku pengguna dalam menggunakan produk. Sekaligus menanyakan lebih lanjut terkait apa yang mereka butuhkan, problem atau kendala apa yang mereka rasakan, dan bagaimana ekspektasi mereka ketika menggunakan aplikasi.</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85" name="Google Shape;385;p51"/>
          <p:cNvPicPr preferRelativeResize="0"/>
          <p:nvPr/>
        </p:nvPicPr>
        <p:blipFill>
          <a:blip r:embed="rId3">
            <a:alphaModFix/>
          </a:blip>
          <a:stretch>
            <a:fillRect/>
          </a:stretch>
        </p:blipFill>
        <p:spPr>
          <a:xfrm>
            <a:off x="5553850" y="1039725"/>
            <a:ext cx="2934466" cy="357089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91" name="Google Shape;391;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392" name="Google Shape;392;p52"/>
          <p:cNvSpPr txBox="1"/>
          <p:nvPr/>
        </p:nvSpPr>
        <p:spPr>
          <a:xfrm>
            <a:off x="561875" y="2102250"/>
            <a:ext cx="4631100" cy="1877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Ceritanya, teman kamu akan </a:t>
            </a:r>
            <a:r>
              <a:rPr lang="en" sz="1000">
                <a:solidFill>
                  <a:schemeClr val="dk1"/>
                </a:solidFill>
                <a:latin typeface="Montserrat"/>
                <a:ea typeface="Montserrat"/>
                <a:cs typeface="Montserrat"/>
                <a:sym typeface="Montserrat"/>
              </a:rPr>
              <a:t>berulang tahun dua hari lagi. Terus, kamu bingung mau ngasih kado apa. Untuk memutuskan hal tersebut, kamu dapat melakukan user research untuk menemukan kado yang tepat.</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Dalam kasus ini, kamu ingin tahu apa yang sebenarnya teman kamu suka melalui ucapan, pendapat, dan saran dari orang-orang terdekatnya, sehingga bisa dijadikan referensi.</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So, data seperti apa yang ingin didapatkan? Apakah bersifat </a:t>
            </a:r>
            <a:r>
              <a:rPr b="1" lang="en" sz="1000">
                <a:solidFill>
                  <a:schemeClr val="dk1"/>
                </a:solidFill>
                <a:latin typeface="Montserrat"/>
                <a:ea typeface="Montserrat"/>
                <a:cs typeface="Montserrat"/>
                <a:sym typeface="Montserrat"/>
              </a:rPr>
              <a:t>kualitatif</a:t>
            </a:r>
            <a:r>
              <a:rPr lang="en" sz="1000">
                <a:solidFill>
                  <a:schemeClr val="dk1"/>
                </a:solidFill>
                <a:latin typeface="Montserrat"/>
                <a:ea typeface="Montserrat"/>
                <a:cs typeface="Montserrat"/>
                <a:sym typeface="Montserrat"/>
              </a:rPr>
              <a:t> atau </a:t>
            </a:r>
            <a:r>
              <a:rPr b="1" lang="en" sz="1000">
                <a:solidFill>
                  <a:schemeClr val="dk1"/>
                </a:solidFill>
                <a:latin typeface="Montserrat"/>
                <a:ea typeface="Montserrat"/>
                <a:cs typeface="Montserrat"/>
                <a:sym typeface="Montserrat"/>
              </a:rPr>
              <a:t>kuantitatif?</a:t>
            </a:r>
            <a:endParaRPr b="1" sz="1000">
              <a:latin typeface="Montserrat"/>
              <a:ea typeface="Montserrat"/>
              <a:cs typeface="Montserrat"/>
              <a:sym typeface="Montserrat"/>
            </a:endParaRPr>
          </a:p>
        </p:txBody>
      </p:sp>
      <p:sp>
        <p:nvSpPr>
          <p:cNvPr id="393" name="Google Shape;393;p52"/>
          <p:cNvSpPr txBox="1"/>
          <p:nvPr/>
        </p:nvSpPr>
        <p:spPr>
          <a:xfrm>
            <a:off x="561875" y="1335775"/>
            <a:ext cx="4695900" cy="677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Biar lebih joss, coba simak contoh kasus lainnya!</a:t>
            </a:r>
            <a:endParaRPr/>
          </a:p>
        </p:txBody>
      </p:sp>
      <p:pic>
        <p:nvPicPr>
          <p:cNvPr id="394" name="Google Shape;394;p52"/>
          <p:cNvPicPr preferRelativeResize="0"/>
          <p:nvPr/>
        </p:nvPicPr>
        <p:blipFill>
          <a:blip r:embed="rId3">
            <a:alphaModFix/>
          </a:blip>
          <a:stretch>
            <a:fillRect/>
          </a:stretch>
        </p:blipFill>
        <p:spPr>
          <a:xfrm>
            <a:off x="5408175" y="1132025"/>
            <a:ext cx="2973826" cy="331523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400" name="Google Shape;400;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Menentukan Metode UX Research</a:t>
            </a:r>
            <a:endParaRPr/>
          </a:p>
        </p:txBody>
      </p:sp>
      <p:sp>
        <p:nvSpPr>
          <p:cNvPr id="401" name="Google Shape;401;p53"/>
          <p:cNvSpPr txBox="1"/>
          <p:nvPr/>
        </p:nvSpPr>
        <p:spPr>
          <a:xfrm>
            <a:off x="549500" y="1555800"/>
            <a:ext cx="4087500" cy="2339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000">
                <a:solidFill>
                  <a:schemeClr val="dk1"/>
                </a:solidFill>
                <a:latin typeface="Montserrat"/>
                <a:ea typeface="Montserrat"/>
                <a:cs typeface="Montserrat"/>
                <a:sym typeface="Montserrat"/>
              </a:rPr>
              <a:t>Yap~ data yang lebih tepat digunakan adalah data kualitatif. </a:t>
            </a:r>
            <a:r>
              <a:rPr b="1" lang="en" sz="1000">
                <a:solidFill>
                  <a:schemeClr val="dk1"/>
                </a:solidFill>
                <a:latin typeface="Montserrat"/>
                <a:ea typeface="Montserrat"/>
                <a:cs typeface="Montserrat"/>
                <a:sym typeface="Montserrat"/>
              </a:rPr>
              <a:t>Metode yang bisa digunakan adalah attitudinal-kualitatif (kuadran 3). </a:t>
            </a:r>
            <a:endParaRPr b="1" sz="10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 sz="1000">
                <a:solidFill>
                  <a:schemeClr val="dk1"/>
                </a:solidFill>
                <a:latin typeface="Montserrat"/>
                <a:ea typeface="Montserrat"/>
                <a:cs typeface="Montserrat"/>
                <a:sym typeface="Montserrat"/>
              </a:rPr>
              <a:t>Pengumpulan data dapat dilakukan melalui </a:t>
            </a:r>
            <a:r>
              <a:rPr b="1" lang="en" sz="1000">
                <a:solidFill>
                  <a:schemeClr val="dk1"/>
                </a:solidFill>
                <a:latin typeface="Montserrat"/>
                <a:ea typeface="Montserrat"/>
                <a:cs typeface="Montserrat"/>
                <a:sym typeface="Montserrat"/>
              </a:rPr>
              <a:t>interview</a:t>
            </a:r>
            <a:r>
              <a:rPr lang="en" sz="1000">
                <a:solidFill>
                  <a:schemeClr val="dk1"/>
                </a:solidFill>
                <a:latin typeface="Montserrat"/>
                <a:ea typeface="Montserrat"/>
                <a:cs typeface="Montserrat"/>
                <a:sym typeface="Montserrat"/>
              </a:rPr>
              <a:t> atau mengobrol dengan orang-orang terdekat perihal apa yang disukai oleh teman kamu.</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 sz="1000">
                <a:solidFill>
                  <a:schemeClr val="dk1"/>
                </a:solidFill>
                <a:latin typeface="Montserrat"/>
                <a:ea typeface="Montserrat"/>
                <a:cs typeface="Montserrat"/>
                <a:sym typeface="Montserrat"/>
              </a:rPr>
              <a:t>Bisa juga melalui </a:t>
            </a:r>
            <a:r>
              <a:rPr b="1" lang="en" sz="1000">
                <a:solidFill>
                  <a:schemeClr val="dk1"/>
                </a:solidFill>
                <a:latin typeface="Montserrat"/>
                <a:ea typeface="Montserrat"/>
                <a:cs typeface="Montserrat"/>
                <a:sym typeface="Montserrat"/>
              </a:rPr>
              <a:t>FGD (Focus Group Discussion). </a:t>
            </a:r>
            <a:r>
              <a:rPr lang="en" sz="1000">
                <a:solidFill>
                  <a:schemeClr val="dk1"/>
                </a:solidFill>
                <a:latin typeface="Montserrat"/>
                <a:ea typeface="Montserrat"/>
                <a:cs typeface="Montserrat"/>
                <a:sym typeface="Montserrat"/>
              </a:rPr>
              <a:t>Dimana kamu bisa berkunjung ke rumahnya lalu berbincang dengan keluarganya. </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02" name="Google Shape;402;p53"/>
          <p:cNvPicPr preferRelativeResize="0"/>
          <p:nvPr/>
        </p:nvPicPr>
        <p:blipFill>
          <a:blip r:embed="rId3">
            <a:alphaModFix/>
          </a:blip>
          <a:stretch>
            <a:fillRect/>
          </a:stretch>
        </p:blipFill>
        <p:spPr>
          <a:xfrm>
            <a:off x="4724400" y="1383888"/>
            <a:ext cx="3658599" cy="293326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4"/>
          <p:cNvSpPr txBox="1"/>
          <p:nvPr/>
        </p:nvSpPr>
        <p:spPr>
          <a:xfrm>
            <a:off x="914400" y="10135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 </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408" name="Google Shape;408;p54"/>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414" name="Google Shape;414;p5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700">
                <a:solidFill>
                  <a:schemeClr val="accent1"/>
                </a:solidFill>
                <a:latin typeface="Montserrat"/>
                <a:ea typeface="Montserrat"/>
                <a:cs typeface="Montserrat"/>
                <a:sym typeface="Montserrat"/>
              </a:rPr>
              <a:t>1.</a:t>
            </a:r>
            <a:r>
              <a:rPr b="1" lang="en" sz="1700">
                <a:solidFill>
                  <a:schemeClr val="lt1"/>
                </a:solidFill>
                <a:latin typeface="Montserrat"/>
                <a:ea typeface="Montserrat"/>
                <a:cs typeface="Montserrat"/>
                <a:sym typeface="Montserrat"/>
              </a:rPr>
              <a:t> UX research merujuk pada berbagai metode ilmiah yang dapat kita gunakan untuk memahami ….. dari pengguna suatu produk atau layanan. </a:t>
            </a:r>
            <a:endParaRPr b="1" sz="17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pikiran, perasaan, dan persetujuan.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perasaan, perilaku, dan jabatan.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perkataan, perilaku, dan perhitungan.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pikiran, perasaan, dan perilaku.</a:t>
            </a:r>
            <a:endParaRPr sz="1200">
              <a:solidFill>
                <a:schemeClr val="lt1"/>
              </a:solidFill>
              <a:latin typeface="Montserrat Medium"/>
              <a:ea typeface="Montserrat Medium"/>
              <a:cs typeface="Montserrat Medium"/>
              <a:sym typeface="Montserrat Medium"/>
            </a:endParaRPr>
          </a:p>
        </p:txBody>
      </p:sp>
      <p:sp>
        <p:nvSpPr>
          <p:cNvPr id="415" name="Google Shape;415;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p>
        </p:txBody>
      </p:sp>
      <p:sp>
        <p:nvSpPr>
          <p:cNvPr id="421" name="Google Shape;421;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700">
                <a:solidFill>
                  <a:schemeClr val="accent1"/>
                </a:solidFill>
                <a:latin typeface="Montserrat"/>
                <a:ea typeface="Montserrat"/>
                <a:cs typeface="Montserrat"/>
                <a:sym typeface="Montserrat"/>
              </a:rPr>
              <a:t>1.</a:t>
            </a:r>
            <a:r>
              <a:rPr b="1" lang="en" sz="1700">
                <a:solidFill>
                  <a:schemeClr val="lt1"/>
                </a:solidFill>
                <a:latin typeface="Montserrat"/>
                <a:ea typeface="Montserrat"/>
                <a:cs typeface="Montserrat"/>
                <a:sym typeface="Montserrat"/>
              </a:rPr>
              <a:t> UX research merujuk pada berbagai metode ilmiah yang dapat kita gunakan untuk memahami ….. dari pengguna suatu produk atau layanan. </a:t>
            </a:r>
            <a:endParaRPr b="1" sz="17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pikiran, perasaan, dan persetujuan.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perasaan, perilaku, dan jabatan.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perkataan, perilaku, dan perhitungan.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pikiran, perasaan, dan perilaku.</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422" name="Google Shape;422;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3" name="Google Shape;423;p56"/>
          <p:cNvSpPr/>
          <p:nvPr/>
        </p:nvSpPr>
        <p:spPr>
          <a:xfrm>
            <a:off x="685800" y="38569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UX research merujuk pada berbagai metode ilmiah yang dapat kita gunakan untuk memahami pikiran, perasaan dan perilaku dari pengguna suatu produk atau layanan.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429" name="Google Shape;429;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chemeClr val="accent1"/>
                </a:solidFill>
                <a:latin typeface="Montserrat"/>
                <a:ea typeface="Montserrat"/>
                <a:cs typeface="Montserrat"/>
                <a:sym typeface="Montserrat"/>
              </a:rPr>
              <a:t>2.</a:t>
            </a:r>
            <a:r>
              <a:rPr b="1" lang="en" sz="1800">
                <a:solidFill>
                  <a:schemeClr val="lt1"/>
                </a:solidFill>
                <a:latin typeface="Montserrat"/>
                <a:ea typeface="Montserrat"/>
                <a:cs typeface="Montserrat"/>
                <a:sym typeface="Montserrat"/>
              </a:rPr>
              <a:t> Without research, we are designing based on…</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Assumptions</a:t>
            </a:r>
            <a:endParaRPr sz="1200">
              <a:solidFill>
                <a:schemeClr val="lt1"/>
              </a:solidFill>
              <a:latin typeface="Montserrat"/>
              <a:ea typeface="Montserrat"/>
              <a:cs typeface="Montserrat"/>
              <a:sym typeface="Montserrat"/>
            </a:endParaRPr>
          </a:p>
          <a:p>
            <a:pPr indent="-304800" lvl="0" marL="457200" rtl="0" algn="l">
              <a:lnSpc>
                <a:spcPct val="115000"/>
              </a:lnSpc>
              <a:spcBef>
                <a:spcPts val="100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Objectivity</a:t>
            </a:r>
            <a:endParaRPr sz="1200">
              <a:solidFill>
                <a:schemeClr val="lt1"/>
              </a:solidFill>
              <a:latin typeface="Montserrat"/>
              <a:ea typeface="Montserrat"/>
              <a:cs typeface="Montserrat"/>
              <a:sym typeface="Montserrat"/>
            </a:endParaRPr>
          </a:p>
          <a:p>
            <a:pPr indent="-304800" lvl="0" marL="457200" rtl="0" algn="l">
              <a:lnSpc>
                <a:spcPct val="115000"/>
              </a:lnSpc>
              <a:spcBef>
                <a:spcPts val="100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Fairness</a:t>
            </a:r>
            <a:endParaRPr sz="1200">
              <a:solidFill>
                <a:schemeClr val="lt1"/>
              </a:solidFill>
              <a:latin typeface="Montserrat"/>
              <a:ea typeface="Montserrat"/>
              <a:cs typeface="Montserrat"/>
              <a:sym typeface="Montserrat"/>
            </a:endParaRPr>
          </a:p>
          <a:p>
            <a:pPr indent="-304800" lvl="0" marL="457200" rtl="0" algn="l">
              <a:lnSpc>
                <a:spcPct val="115000"/>
              </a:lnSpc>
              <a:spcBef>
                <a:spcPts val="1000"/>
              </a:spcBef>
              <a:spcAft>
                <a:spcPts val="100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Facts</a:t>
            </a:r>
            <a:endParaRPr sz="1200">
              <a:solidFill>
                <a:schemeClr val="lt1"/>
              </a:solidFill>
              <a:latin typeface="Montserrat"/>
              <a:ea typeface="Montserrat"/>
              <a:cs typeface="Montserrat"/>
              <a:sym typeface="Montserrat"/>
            </a:endParaRPr>
          </a:p>
        </p:txBody>
      </p:sp>
      <p:sp>
        <p:nvSpPr>
          <p:cNvPr id="430" name="Google Shape;430;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436" name="Google Shape;436;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2.</a:t>
            </a:r>
            <a:r>
              <a:rPr b="1" lang="en" sz="1800">
                <a:solidFill>
                  <a:schemeClr val="lt1"/>
                </a:solidFill>
                <a:latin typeface="Montserrat"/>
                <a:ea typeface="Montserrat"/>
                <a:cs typeface="Montserrat"/>
                <a:sym typeface="Montserrat"/>
              </a:rPr>
              <a:t> Without research, we are designing based on…</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Assumptions</a:t>
            </a:r>
            <a:endParaRPr sz="1200">
              <a:solidFill>
                <a:schemeClr val="lt1"/>
              </a:solidFill>
              <a:latin typeface="Montserrat"/>
              <a:ea typeface="Montserrat"/>
              <a:cs typeface="Montserrat"/>
              <a:sym typeface="Montserrat"/>
            </a:endParaRPr>
          </a:p>
          <a:p>
            <a:pPr indent="-304800" lvl="0" marL="457200" rtl="0" algn="l">
              <a:lnSpc>
                <a:spcPct val="115000"/>
              </a:lnSpc>
              <a:spcBef>
                <a:spcPts val="100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Objectivity</a:t>
            </a:r>
            <a:endParaRPr sz="1200">
              <a:solidFill>
                <a:srgbClr val="A667A5"/>
              </a:solidFill>
              <a:latin typeface="Montserrat"/>
              <a:ea typeface="Montserrat"/>
              <a:cs typeface="Montserrat"/>
              <a:sym typeface="Montserrat"/>
            </a:endParaRPr>
          </a:p>
          <a:p>
            <a:pPr indent="-304800" lvl="0" marL="457200" rtl="0" algn="l">
              <a:lnSpc>
                <a:spcPct val="115000"/>
              </a:lnSpc>
              <a:spcBef>
                <a:spcPts val="100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Fairness</a:t>
            </a:r>
            <a:endParaRPr sz="1200">
              <a:solidFill>
                <a:srgbClr val="A667A5"/>
              </a:solidFill>
              <a:latin typeface="Montserrat"/>
              <a:ea typeface="Montserrat"/>
              <a:cs typeface="Montserrat"/>
              <a:sym typeface="Montserrat"/>
            </a:endParaRPr>
          </a:p>
          <a:p>
            <a:pPr indent="-304800" lvl="0" marL="457200" rtl="0" algn="l">
              <a:lnSpc>
                <a:spcPct val="115000"/>
              </a:lnSpc>
              <a:spcBef>
                <a:spcPts val="100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Facts</a:t>
            </a:r>
            <a:endParaRPr sz="1200">
              <a:solidFill>
                <a:srgbClr val="A667A5"/>
              </a:solidFill>
              <a:latin typeface="Montserrat"/>
              <a:ea typeface="Montserrat"/>
              <a:cs typeface="Montserrat"/>
              <a:sym typeface="Montserrat"/>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437" name="Google Shape;437;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8" name="Google Shape;438;p58"/>
          <p:cNvSpPr/>
          <p:nvPr/>
        </p:nvSpPr>
        <p:spPr>
          <a:xfrm>
            <a:off x="685800" y="335202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Without research, we are designing based on assumptions.  </a:t>
            </a:r>
            <a:endParaRPr b="1" sz="1200">
              <a:solidFill>
                <a:srgbClr val="733572"/>
              </a:solidFill>
              <a:latin typeface="Montserrat"/>
              <a:ea typeface="Montserrat"/>
              <a:cs typeface="Montserrat"/>
              <a:sym typeface="Montserrat"/>
            </a:endParaRPr>
          </a:p>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Tanpa sebuah riset, kita mendesain berdasarkan asumsi.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444" name="Google Shape;444;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chemeClr val="accent1"/>
                </a:solidFill>
                <a:latin typeface="Montserrat"/>
                <a:ea typeface="Montserrat"/>
                <a:cs typeface="Montserrat"/>
                <a:sym typeface="Montserrat"/>
              </a:rPr>
              <a:t>3</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a:t>
            </a:r>
            <a:r>
              <a:rPr b="1" lang="en" sz="1800">
                <a:solidFill>
                  <a:schemeClr val="lt1"/>
                </a:solidFill>
                <a:latin typeface="Montserrat"/>
                <a:ea typeface="Montserrat"/>
                <a:cs typeface="Montserrat"/>
                <a:sym typeface="Montserrat"/>
              </a:rPr>
              <a:t>Riset itu bersifat siklus. Menurut kamu pernyataan tersebut adalah… </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Benar</a:t>
            </a:r>
            <a:endParaRPr sz="1200">
              <a:solidFill>
                <a:schemeClr val="lt1"/>
              </a:solidFill>
              <a:latin typeface="Montserrat"/>
              <a:ea typeface="Montserrat"/>
              <a:cs typeface="Montserrat"/>
              <a:sym typeface="Montserrat"/>
            </a:endParaRPr>
          </a:p>
          <a:p>
            <a:pPr indent="-304800" lvl="0" marL="457200" rtl="0" algn="l">
              <a:lnSpc>
                <a:spcPct val="115000"/>
              </a:lnSpc>
              <a:spcBef>
                <a:spcPts val="1000"/>
              </a:spcBef>
              <a:spcAft>
                <a:spcPts val="100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Salah</a:t>
            </a:r>
            <a:endParaRPr sz="1200">
              <a:solidFill>
                <a:schemeClr val="lt1"/>
              </a:solidFill>
              <a:latin typeface="Montserrat Medium"/>
              <a:ea typeface="Montserrat Medium"/>
              <a:cs typeface="Montserrat Medium"/>
              <a:sym typeface="Montserrat Medium"/>
            </a:endParaRPr>
          </a:p>
        </p:txBody>
      </p:sp>
      <p:sp>
        <p:nvSpPr>
          <p:cNvPr id="445" name="Google Shape;445;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451" name="Google Shape;451;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3.</a:t>
            </a:r>
            <a:r>
              <a:rPr b="1" lang="en" sz="1800">
                <a:solidFill>
                  <a:schemeClr val="lt1"/>
                </a:solidFill>
                <a:latin typeface="Montserrat"/>
                <a:ea typeface="Montserrat"/>
                <a:cs typeface="Montserrat"/>
                <a:sym typeface="Montserrat"/>
              </a:rPr>
              <a:t> Riset itu bersifat siklus. Menurut kamu pernyataan tersebut adalah…</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Benar</a:t>
            </a:r>
            <a:endParaRPr sz="1200">
              <a:solidFill>
                <a:schemeClr val="lt1"/>
              </a:solidFill>
              <a:latin typeface="Montserrat"/>
              <a:ea typeface="Montserrat"/>
              <a:cs typeface="Montserrat"/>
              <a:sym typeface="Montserrat"/>
            </a:endParaRPr>
          </a:p>
          <a:p>
            <a:pPr indent="-304800" lvl="0" marL="457200" rtl="0" algn="l">
              <a:lnSpc>
                <a:spcPct val="115000"/>
              </a:lnSpc>
              <a:spcBef>
                <a:spcPts val="100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Salah</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452" name="Google Shape;452;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3" name="Google Shape;453;p60"/>
          <p:cNvSpPr/>
          <p:nvPr/>
        </p:nvSpPr>
        <p:spPr>
          <a:xfrm>
            <a:off x="685800" y="312527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43673"/>
                </a:solidFill>
                <a:latin typeface="Montserrat"/>
                <a:ea typeface="Montserrat"/>
                <a:cs typeface="Montserrat"/>
                <a:sym typeface="Montserrat"/>
              </a:rPr>
              <a:t>Benar. Riset </a:t>
            </a:r>
            <a:r>
              <a:rPr b="1" lang="en" sz="1200">
                <a:solidFill>
                  <a:srgbClr val="743673"/>
                </a:solidFill>
                <a:latin typeface="Montserrat"/>
                <a:ea typeface="Montserrat"/>
                <a:cs typeface="Montserrat"/>
                <a:sym typeface="Montserrat"/>
              </a:rPr>
              <a:t>dapat dilakukan kapan aja dalam siklus desain. Dan bisa aja berulang (iteratif). Jadi, nggak harus di awal, di tengah, atau di akhir.</a:t>
            </a:r>
            <a:endParaRPr b="1" sz="1200">
              <a:solidFill>
                <a:srgbClr val="743673"/>
              </a:solidFill>
              <a:latin typeface="Raleway"/>
              <a:ea typeface="Raleway"/>
              <a:cs typeface="Raleway"/>
              <a:sym typeface="Raleway"/>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459" name="Google Shape;459;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700">
                <a:solidFill>
                  <a:schemeClr val="accent1"/>
                </a:solidFill>
                <a:latin typeface="Montserrat"/>
                <a:ea typeface="Montserrat"/>
                <a:cs typeface="Montserrat"/>
                <a:sym typeface="Montserrat"/>
              </a:rPr>
              <a:t>4</a:t>
            </a:r>
            <a:r>
              <a:rPr b="1" lang="en" sz="1700">
                <a:solidFill>
                  <a:schemeClr val="accent1"/>
                </a:solidFill>
                <a:latin typeface="Montserrat"/>
                <a:ea typeface="Montserrat"/>
                <a:cs typeface="Montserrat"/>
                <a:sym typeface="Montserrat"/>
              </a:rPr>
              <a:t>. </a:t>
            </a:r>
            <a:r>
              <a:rPr b="1" lang="en" sz="1700">
                <a:solidFill>
                  <a:schemeClr val="lt1"/>
                </a:solidFill>
                <a:latin typeface="Montserrat"/>
                <a:ea typeface="Montserrat"/>
                <a:cs typeface="Montserrat"/>
                <a:sym typeface="Montserrat"/>
              </a:rPr>
              <a:t>Hal-hal yang perlu diperhatikan saat menentukan metode riset, kecuali…</a:t>
            </a:r>
            <a:endParaRPr b="1" sz="17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Waktu</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Budget</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Jumlah anggota tim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Gender anggota tim</a:t>
            </a:r>
            <a:endParaRPr sz="1200">
              <a:solidFill>
                <a:schemeClr val="lt1"/>
              </a:solidFill>
              <a:latin typeface="Montserrat Medium"/>
              <a:ea typeface="Montserrat Medium"/>
              <a:cs typeface="Montserrat Medium"/>
              <a:sym typeface="Montserrat Medium"/>
            </a:endParaRPr>
          </a:p>
        </p:txBody>
      </p:sp>
      <p:sp>
        <p:nvSpPr>
          <p:cNvPr id="460" name="Google Shape;460;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466" name="Google Shape;466;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700">
                <a:solidFill>
                  <a:schemeClr val="accent1"/>
                </a:solidFill>
                <a:latin typeface="Montserrat"/>
                <a:ea typeface="Montserrat"/>
                <a:cs typeface="Montserrat"/>
                <a:sym typeface="Montserrat"/>
              </a:rPr>
              <a:t>4. </a:t>
            </a:r>
            <a:r>
              <a:rPr b="1" lang="en" sz="1700">
                <a:solidFill>
                  <a:schemeClr val="lt1"/>
                </a:solidFill>
                <a:latin typeface="Montserrat"/>
                <a:ea typeface="Montserrat"/>
                <a:cs typeface="Montserrat"/>
                <a:sym typeface="Montserrat"/>
              </a:rPr>
              <a:t>Hal-hal yang perlu diperhatikan saat menentukan metode riset, kecuali…</a:t>
            </a:r>
            <a:endParaRPr b="1" sz="17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Waktu</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Budget</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Jumlah anggota tim </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Gender anggota tim</a:t>
            </a:r>
            <a:endParaRPr b="1" sz="2800">
              <a:solidFill>
                <a:schemeClr val="accent1"/>
              </a:solidFill>
              <a:latin typeface="Raleway"/>
              <a:ea typeface="Raleway"/>
              <a:cs typeface="Raleway"/>
              <a:sym typeface="Raleway"/>
            </a:endParaRPr>
          </a:p>
        </p:txBody>
      </p:sp>
      <p:sp>
        <p:nvSpPr>
          <p:cNvPr id="467" name="Google Shape;467;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8" name="Google Shape;468;p62"/>
          <p:cNvSpPr/>
          <p:nvPr/>
        </p:nvSpPr>
        <p:spPr>
          <a:xfrm>
            <a:off x="685800" y="360910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Gender anggota tim tidak perlu diperhatikan saat menentukan metode riset. Karena, gender anggota tim tidak akan mempengaruhi proses riset nantinya.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474" name="Google Shape;474;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chemeClr val="accent1"/>
                </a:solidFill>
                <a:latin typeface="Montserrat"/>
                <a:ea typeface="Montserrat"/>
                <a:cs typeface="Montserrat"/>
                <a:sym typeface="Montserrat"/>
              </a:rPr>
              <a:t>5</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Attitudinal vs ….., Kualitatif vs Kuantitatif.</a:t>
            </a:r>
            <a:endParaRPr b="1" sz="1800">
              <a:solidFill>
                <a:schemeClr val="accen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Natural</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Developmental</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Behavioral</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Generative</a:t>
            </a:r>
            <a:endParaRPr sz="1200">
              <a:solidFill>
                <a:schemeClr val="lt1"/>
              </a:solidFill>
              <a:latin typeface="Montserrat Medium"/>
              <a:ea typeface="Montserrat Medium"/>
              <a:cs typeface="Montserrat Medium"/>
              <a:sym typeface="Montserrat Medium"/>
            </a:endParaRPr>
          </a:p>
        </p:txBody>
      </p:sp>
      <p:sp>
        <p:nvSpPr>
          <p:cNvPr id="475" name="Google Shape;475;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481" name="Google Shape;481;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5.</a:t>
            </a:r>
            <a:r>
              <a:rPr b="1" lang="en" sz="1800">
                <a:solidFill>
                  <a:schemeClr val="lt1"/>
                </a:solidFill>
                <a:latin typeface="Montserrat"/>
                <a:ea typeface="Montserrat"/>
                <a:cs typeface="Montserrat"/>
                <a:sym typeface="Montserrat"/>
              </a:rPr>
              <a:t> Attitudinal vs ….., Kualitatif vs Kuantitatif.</a:t>
            </a:r>
            <a:endParaRPr b="1" sz="1800">
              <a:solidFill>
                <a:schemeClr val="accen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Natural</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Developmental</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Behavioral</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Generative</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482" name="Google Shape;482;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3" name="Google Shape;483;p64"/>
          <p:cNvSpPr/>
          <p:nvPr/>
        </p:nvSpPr>
        <p:spPr>
          <a:xfrm>
            <a:off x="685800" y="351500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Attitudinal vs Behavioral, Kualitatif vs Kuantitatif.</a:t>
            </a:r>
            <a:endParaRPr b="1" sz="1200">
              <a:solidFill>
                <a:srgbClr val="733572"/>
              </a:solidFill>
              <a:latin typeface="Montserrat"/>
              <a:ea typeface="Montserrat"/>
              <a:cs typeface="Montserrat"/>
              <a:sym typeface="Montserra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9" name="Google Shape;489;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490" name="Google Shape;490;p65"/>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91" name="Google Shape;491;p65"/>
          <p:cNvSpPr txBox="1"/>
          <p:nvPr/>
        </p:nvSpPr>
        <p:spPr>
          <a:xfrm>
            <a:off x="685800" y="1485900"/>
            <a:ext cx="3740700" cy="3657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800">
              <a:solidFill>
                <a:schemeClr val="dk1"/>
              </a:solidFill>
              <a:latin typeface="Raleway Medium"/>
              <a:ea typeface="Raleway Medium"/>
              <a:cs typeface="Raleway Medium"/>
              <a:sym typeface="Raleway Medium"/>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1) </a:t>
            </a: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What is UX Research? </a:t>
            </a:r>
            <a:r>
              <a:rPr lang="en" sz="1000" u="sng">
                <a:solidFill>
                  <a:schemeClr val="dk1"/>
                </a:solidFill>
                <a:latin typeface="Montserrat"/>
                <a:ea typeface="Montserrat"/>
                <a:cs typeface="Montserrat"/>
                <a:sym typeface="Montserrat"/>
                <a:hlinkClick r:id="rId5">
                  <a:extLst>
                    <a:ext uri="{A12FA001-AC4F-418D-AE19-62706E023703}">
                      <ahyp:hlinkClr val="tx"/>
                    </a:ext>
                  </a:extLst>
                </a:hlinkClick>
              </a:rPr>
              <a:t>b</a:t>
            </a:r>
            <a:r>
              <a:rPr lang="en" sz="1000" u="sng">
                <a:solidFill>
                  <a:schemeClr val="dk1"/>
                </a:solidFill>
                <a:latin typeface="Montserrat"/>
                <a:ea typeface="Montserrat"/>
                <a:cs typeface="Montserrat"/>
                <a:sym typeface="Montserrat"/>
                <a:hlinkClick r:id="rId6">
                  <a:extLst>
                    <a:ext uri="{A12FA001-AC4F-418D-AE19-62706E023703}">
                      <ahyp:hlinkClr val="tx"/>
                    </a:ext>
                  </a:extLst>
                </a:hlinkClick>
              </a:rPr>
              <a:t>y Interaction Design Foundation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2) </a:t>
            </a:r>
            <a:r>
              <a:rPr lang="en" sz="1000" u="sng">
                <a:solidFill>
                  <a:schemeClr val="dk1"/>
                </a:solidFill>
                <a:latin typeface="Montserrat"/>
                <a:ea typeface="Montserrat"/>
                <a:cs typeface="Montserrat"/>
                <a:sym typeface="Montserrat"/>
                <a:hlinkClick r:id="rId7">
                  <a:extLst>
                    <a:ext uri="{A12FA001-AC4F-418D-AE19-62706E023703}">
                      <ahyp:hlinkClr val="tx"/>
                    </a:ext>
                  </a:extLst>
                </a:hlinkClick>
              </a:rPr>
              <a:t>UX Research Cheat Sheet by Nielsen Norman Group</a:t>
            </a:r>
            <a:endParaRPr sz="1000">
              <a:solidFill>
                <a:schemeClr val="dk1"/>
              </a:solidFill>
              <a:latin typeface="Montserrat"/>
              <a:ea typeface="Montserrat"/>
              <a:cs typeface="Montserrat"/>
              <a:sym typeface="Montserrat"/>
            </a:endParaRPr>
          </a:p>
          <a:p>
            <a:pPr indent="-171450" lvl="0" marL="17145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3) </a:t>
            </a:r>
            <a:r>
              <a:rPr lang="en" sz="1000" u="sng">
                <a:solidFill>
                  <a:schemeClr val="dk1"/>
                </a:solidFill>
                <a:latin typeface="Montserrat"/>
                <a:ea typeface="Montserrat"/>
                <a:cs typeface="Montserrat"/>
                <a:sym typeface="Montserrat"/>
                <a:hlinkClick r:id="rId8">
                  <a:extLst>
                    <a:ext uri="{A12FA001-AC4F-418D-AE19-62706E023703}">
                      <ahyp:hlinkClr val="tx"/>
                    </a:ext>
                  </a:extLst>
                </a:hlinkClick>
              </a:rPr>
              <a:t>When to Use Which User-Experience Research Methods by Nielsen Norman Group</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1000"/>
              </a:spcAft>
              <a:buNone/>
            </a:pPr>
            <a:r>
              <a:rPr lang="en" sz="1000">
                <a:solidFill>
                  <a:schemeClr val="dk1"/>
                </a:solidFill>
                <a:latin typeface="Montserrat"/>
                <a:ea typeface="Montserrat"/>
                <a:cs typeface="Montserrat"/>
                <a:sym typeface="Montserrat"/>
              </a:rPr>
              <a:t>4) </a:t>
            </a:r>
            <a:r>
              <a:rPr lang="en" sz="1000" u="sng">
                <a:solidFill>
                  <a:schemeClr val="dk1"/>
                </a:solidFill>
                <a:latin typeface="Montserrat"/>
                <a:ea typeface="Montserrat"/>
                <a:cs typeface="Montserrat"/>
                <a:sym typeface="Montserrat"/>
                <a:hlinkClick r:id="rId9">
                  <a:extLst>
                    <a:ext uri="{A12FA001-AC4F-418D-AE19-62706E023703}">
                      <ahyp:hlinkClr val="tx"/>
                    </a:ext>
                  </a:extLst>
                </a:hlinkClick>
              </a:rPr>
              <a:t>Qualities of Effective User Researchers by UX Matters</a:t>
            </a:r>
            <a:endParaRPr sz="1000">
              <a:solidFill>
                <a:schemeClr val="dk1"/>
              </a:solidFill>
              <a:latin typeface="Montserrat"/>
              <a:ea typeface="Montserrat"/>
              <a:cs typeface="Montserrat"/>
              <a:sym typeface="Montserra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3673"/>
        </a:solidFill>
      </p:bgPr>
    </p:bg>
    <p:spTree>
      <p:nvGrpSpPr>
        <p:cNvPr id="495" name="Shape 495"/>
        <p:cNvGrpSpPr/>
        <p:nvPr/>
      </p:nvGrpSpPr>
      <p:grpSpPr>
        <a:xfrm>
          <a:off x="0" y="0"/>
          <a:ext cx="0" cy="0"/>
          <a:chOff x="0" y="0"/>
          <a:chExt cx="0" cy="0"/>
        </a:xfrm>
      </p:grpSpPr>
      <p:sp>
        <p:nvSpPr>
          <p:cNvPr id="496" name="Google Shape;496;p66"/>
          <p:cNvSpPr txBox="1"/>
          <p:nvPr/>
        </p:nvSpPr>
        <p:spPr>
          <a:xfrm>
            <a:off x="618375" y="1630075"/>
            <a:ext cx="4112700" cy="24315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Nah, selesai sudah pembahasan kita di Chapter 2 Topic 2 ini.</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Selanjutnya, kita bakal bahas tentang </a:t>
            </a:r>
            <a:r>
              <a:rPr b="1" lang="en">
                <a:solidFill>
                  <a:schemeClr val="accent1"/>
                </a:solidFill>
                <a:latin typeface="Montserrat"/>
                <a:ea typeface="Montserrat"/>
                <a:cs typeface="Montserrat"/>
                <a:sym typeface="Montserrat"/>
              </a:rPr>
              <a:t>Research Objectives.</a:t>
            </a:r>
            <a:endParaRPr b="1">
              <a:solidFill>
                <a:schemeClr val="accen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Penasaran kayak gimana? Cus langsung ke topik selanjutnya~</a:t>
            </a:r>
            <a:endParaRPr b="1" i="1">
              <a:solidFill>
                <a:schemeClr val="lt1"/>
              </a:solidFill>
              <a:latin typeface="Montserrat"/>
              <a:ea typeface="Montserrat"/>
              <a:cs typeface="Montserrat"/>
              <a:sym typeface="Montserrat"/>
            </a:endParaRPr>
          </a:p>
          <a:p>
            <a:pPr indent="0" lvl="0" marL="0" marR="0" rtl="0" algn="just">
              <a:lnSpc>
                <a:spcPct val="115000"/>
              </a:lnSpc>
              <a:spcBef>
                <a:spcPts val="1000"/>
              </a:spcBef>
              <a:spcAft>
                <a:spcPts val="0"/>
              </a:spcAft>
              <a:buClr>
                <a:srgbClr val="000000"/>
              </a:buClr>
              <a:buSzPts val="4000"/>
              <a:buFont typeface="Arial"/>
              <a:buNone/>
            </a:pPr>
            <a:r>
              <a:t/>
            </a:r>
            <a:endParaRPr b="1">
              <a:solidFill>
                <a:srgbClr val="FFFFFF"/>
              </a:solidFill>
              <a:latin typeface="Montserrat"/>
              <a:ea typeface="Montserrat"/>
              <a:cs typeface="Montserrat"/>
              <a:sym typeface="Montserrat"/>
            </a:endParaRPr>
          </a:p>
        </p:txBody>
      </p:sp>
      <p:pic>
        <p:nvPicPr>
          <p:cNvPr id="497" name="Google Shape;497;p66"/>
          <p:cNvPicPr preferRelativeResize="0"/>
          <p:nvPr/>
        </p:nvPicPr>
        <p:blipFill>
          <a:blip r:embed="rId3">
            <a:alphaModFix/>
          </a:blip>
          <a:stretch>
            <a:fillRect/>
          </a:stretch>
        </p:blipFill>
        <p:spPr>
          <a:xfrm>
            <a:off x="4114431" y="676725"/>
            <a:ext cx="5687844" cy="4338199"/>
          </a:xfrm>
          <a:prstGeom prst="rect">
            <a:avLst/>
          </a:prstGeom>
          <a:noFill/>
          <a:ln>
            <a:noFill/>
          </a:ln>
        </p:spPr>
      </p:pic>
      <p:sp>
        <p:nvSpPr>
          <p:cNvPr id="498" name="Google Shape;498;p66"/>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99" name="Google Shape;499;p6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500" name="Google Shape;500;p6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501" name="Google Shape;501;p6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502" name="Google Shape;502;p6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03" name="Google Shape;503;p6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504" name="Google Shape;504;p66"/>
          <p:cNvPicPr preferRelativeResize="0"/>
          <p:nvPr/>
        </p:nvPicPr>
        <p:blipFill rotWithShape="1">
          <a:blip r:embed="rId4">
            <a:alphaModFix/>
          </a:blip>
          <a:srcRect b="0" l="0" r="0" t="0"/>
          <a:stretch/>
        </p:blipFill>
        <p:spPr>
          <a:xfrm>
            <a:off x="8535950" y="105991"/>
            <a:ext cx="463928" cy="463928"/>
          </a:xfrm>
          <a:prstGeom prst="rect">
            <a:avLst/>
          </a:prstGeom>
          <a:noFill/>
          <a:ln>
            <a:noFill/>
          </a:ln>
        </p:spPr>
      </p:pic>
      <p:sp>
        <p:nvSpPr>
          <p:cNvPr id="505" name="Google Shape;505;p6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506" name="Google Shape;506;p66"/>
          <p:cNvSpPr txBox="1"/>
          <p:nvPr/>
        </p:nvSpPr>
        <p:spPr>
          <a:xfrm>
            <a:off x="618377" y="251687"/>
            <a:ext cx="7296000" cy="2307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Penutup</a:t>
            </a:r>
            <a:endParaRPr b="1" sz="1200">
              <a:solidFill>
                <a:schemeClr val="lt1"/>
              </a:solidFill>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10" name="Shape 510"/>
        <p:cNvGrpSpPr/>
        <p:nvPr/>
      </p:nvGrpSpPr>
      <p:grpSpPr>
        <a:xfrm>
          <a:off x="0" y="0"/>
          <a:ext cx="0" cy="0"/>
          <a:chOff x="0" y="0"/>
          <a:chExt cx="0" cy="0"/>
        </a:xfrm>
      </p:grpSpPr>
      <p:sp>
        <p:nvSpPr>
          <p:cNvPr id="511" name="Google Shape;511;p67"/>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2" name="Google Shape;512;p67"/>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513" name="Google Shape;513;p67"/>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514" name="Google Shape;514;p67"/>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515" name="Google Shape;515;p67"/>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