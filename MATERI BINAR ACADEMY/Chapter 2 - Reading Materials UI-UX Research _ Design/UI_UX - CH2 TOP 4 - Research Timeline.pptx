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5"/>
    <p:sldMasterId id="214748367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y="5143500" cx="9144000"/>
  <p:notesSz cx="6858000" cy="9144000"/>
  <p:embeddedFontLst>
    <p:embeddedFont>
      <p:font typeface="Raleway"/>
      <p:regular r:id="rId46"/>
      <p:bold r:id="rId47"/>
      <p:italic r:id="rId48"/>
      <p:boldItalic r:id="rId49"/>
    </p:embeddedFont>
    <p:embeddedFont>
      <p:font typeface="Montserrat"/>
      <p:regular r:id="rId50"/>
      <p:bold r:id="rId51"/>
      <p:italic r:id="rId52"/>
      <p:boldItalic r:id="rId53"/>
    </p:embeddedFont>
    <p:embeddedFont>
      <p:font typeface="Montserrat Black"/>
      <p:bold r:id="rId54"/>
      <p:boldItalic r:id="rId55"/>
    </p:embeddedFont>
    <p:embeddedFont>
      <p:font typeface="Montserrat Medium"/>
      <p:regular r:id="rId56"/>
      <p:bold r:id="rId57"/>
      <p:italic r:id="rId58"/>
      <p:boldItalic r:id="rId59"/>
    </p:embeddedFont>
    <p:embeddedFont>
      <p:font typeface="Lato Black"/>
      <p:bold r:id="rId60"/>
      <p:boldItalic r:id="rId61"/>
    </p:embeddedFont>
    <p:embeddedFont>
      <p:font typeface="Raleway Medium"/>
      <p:regular r:id="rId62"/>
      <p:bold r:id="rId63"/>
      <p:italic r:id="rId64"/>
      <p:boldItalic r:id="rId65"/>
    </p:embeddedFont>
    <p:embeddedFont>
      <p:font typeface="Montserrat ExtraBold"/>
      <p:bold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AL) Aulia F. Kuntjor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font" Target="fonts/Raleway-regular.fntdata"/><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48" Type="http://schemas.openxmlformats.org/officeDocument/2006/relationships/font" Target="fonts/Raleway-italic.fntdata"/><Relationship Id="rId47" Type="http://schemas.openxmlformats.org/officeDocument/2006/relationships/font" Target="fonts/Raleway-bold.fntdata"/><Relationship Id="rId49" Type="http://schemas.openxmlformats.org/officeDocument/2006/relationships/font" Target="fonts/Raleway-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alewayMedium-regular.fntdata"/><Relationship Id="rId61" Type="http://schemas.openxmlformats.org/officeDocument/2006/relationships/font" Target="fonts/LatoBlack-boldItalic.fntdata"/><Relationship Id="rId20" Type="http://schemas.openxmlformats.org/officeDocument/2006/relationships/slide" Target="slides/slide13.xml"/><Relationship Id="rId64" Type="http://schemas.openxmlformats.org/officeDocument/2006/relationships/font" Target="fonts/RalewayMedium-italic.fntdata"/><Relationship Id="rId63" Type="http://schemas.openxmlformats.org/officeDocument/2006/relationships/font" Target="fonts/RalewayMedium-bold.fntdata"/><Relationship Id="rId22" Type="http://schemas.openxmlformats.org/officeDocument/2006/relationships/slide" Target="slides/slide15.xml"/><Relationship Id="rId66" Type="http://schemas.openxmlformats.org/officeDocument/2006/relationships/font" Target="fonts/MontserratExtraBold-bold.fntdata"/><Relationship Id="rId21" Type="http://schemas.openxmlformats.org/officeDocument/2006/relationships/slide" Target="slides/slide14.xml"/><Relationship Id="rId65" Type="http://schemas.openxmlformats.org/officeDocument/2006/relationships/font" Target="fonts/RalewayMedium-boldItalic.fntdata"/><Relationship Id="rId24" Type="http://schemas.openxmlformats.org/officeDocument/2006/relationships/slide" Target="slides/slide17.xml"/><Relationship Id="rId23" Type="http://schemas.openxmlformats.org/officeDocument/2006/relationships/slide" Target="slides/slide16.xml"/><Relationship Id="rId67" Type="http://schemas.openxmlformats.org/officeDocument/2006/relationships/font" Target="fonts/MontserratExtraBold-boldItalic.fntdata"/><Relationship Id="rId60" Type="http://schemas.openxmlformats.org/officeDocument/2006/relationships/font" Target="fonts/LatoBlack-bold.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Montserrat-bold.fntdata"/><Relationship Id="rId50" Type="http://schemas.openxmlformats.org/officeDocument/2006/relationships/font" Target="fonts/Montserrat-regular.fntdata"/><Relationship Id="rId53" Type="http://schemas.openxmlformats.org/officeDocument/2006/relationships/font" Target="fonts/Montserrat-boldItalic.fntdata"/><Relationship Id="rId52" Type="http://schemas.openxmlformats.org/officeDocument/2006/relationships/font" Target="fonts/Montserrat-italic.fntdata"/><Relationship Id="rId11" Type="http://schemas.openxmlformats.org/officeDocument/2006/relationships/slide" Target="slides/slide4.xml"/><Relationship Id="rId55" Type="http://schemas.openxmlformats.org/officeDocument/2006/relationships/font" Target="fonts/MontserratBlack-boldItalic.fntdata"/><Relationship Id="rId10" Type="http://schemas.openxmlformats.org/officeDocument/2006/relationships/slide" Target="slides/slide3.xml"/><Relationship Id="rId54" Type="http://schemas.openxmlformats.org/officeDocument/2006/relationships/font" Target="fonts/MontserratBlack-bold.fntdata"/><Relationship Id="rId13" Type="http://schemas.openxmlformats.org/officeDocument/2006/relationships/slide" Target="slides/slide6.xml"/><Relationship Id="rId57" Type="http://schemas.openxmlformats.org/officeDocument/2006/relationships/font" Target="fonts/MontserratMedium-bold.fntdata"/><Relationship Id="rId12" Type="http://schemas.openxmlformats.org/officeDocument/2006/relationships/slide" Target="slides/slide5.xml"/><Relationship Id="rId56" Type="http://schemas.openxmlformats.org/officeDocument/2006/relationships/font" Target="fonts/MontserratMedium-regular.fntdata"/><Relationship Id="rId15" Type="http://schemas.openxmlformats.org/officeDocument/2006/relationships/slide" Target="slides/slide8.xml"/><Relationship Id="rId59" Type="http://schemas.openxmlformats.org/officeDocument/2006/relationships/font" Target="fonts/MontserratMedium-boldItalic.fntdata"/><Relationship Id="rId14" Type="http://schemas.openxmlformats.org/officeDocument/2006/relationships/slide" Target="slides/slide7.xml"/><Relationship Id="rId58" Type="http://schemas.openxmlformats.org/officeDocument/2006/relationships/font" Target="fonts/MontserratMedium-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2-23T02:59:39.862">
    <p:pos x="0" y="0"/>
    <p:text>Bahasa Indonesia?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animal-shelter?utm_source=unsplash&amp;utm_medium=referral&amp;utm_content=creditCopyText" TargetMode="External"/><Relationship Id="rId5" Type="http://schemas.openxmlformats.org/officeDocument/2006/relationships/hyperlink" Target="https://unsplash.com/s/photos/animal-shelter?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nginakyur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kuswinkler?utm_source=unsplash&amp;utm_medium=referral&amp;utm_content=creditCopyText" TargetMode="Externa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hyperlink" Target="https://unsplash.com/s/photos/animal-shelter?utm_source=unsplash&amp;utm_medium=referral&amp;utm_content=creditCopyText" TargetMode="External"/><Relationship Id="rId5" Type="http://schemas.openxmlformats.org/officeDocument/2006/relationships/hyperlink" Target="https://unsplash.com/s/photos/animal-shelter?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lhnk?utm_source=unsplash&amp;utm_medium=referral&amp;utm_content=creditCopyText" TargetMode="Externa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hyperlink" Target="https://unsplash.com/s/photos/user-researcher?utm_source=unsplash&amp;utm_medium=referral&amp;utm_content=creditCopyText" TargetMode="External"/><Relationship Id="rId5" Type="http://schemas.openxmlformats.org/officeDocument/2006/relationships/hyperlink" Target="https://unsplash.com/s/photos/user-researcher?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lhnk?utm_source=unsplash&amp;utm_medium=referral&amp;utm_content=creditCopyText" TargetMode="Externa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hyperlink" Target="https://unsplash.com/s/photos/user-researcher?utm_source=unsplash&amp;utm_medium=referral&amp;utm_content=creditCopyText" TargetMode="External"/><Relationship Id="rId5" Type="http://schemas.openxmlformats.org/officeDocument/2006/relationships/hyperlink" Target="https://unsplash.com/s/photos/user-researcher?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lhnk?utm_source=unsplash&amp;utm_medium=referral&amp;utm_content=creditCopyText" TargetMode="External"/><Relationship Id="rId3" Type="http://schemas.openxmlformats.org/officeDocument/2006/relationships/hyperlink" Target="https://unsplash.com/@plhnk?utm_source=unsplash&amp;utm_medium=referral&amp;utm_content=creditCopyText" TargetMode="External"/><Relationship Id="rId4" Type="http://schemas.openxmlformats.org/officeDocument/2006/relationships/hyperlink" Target="https://unsplash.com/s/photos/user-researcher?utm_source=unsplash&amp;utm_medium=referral&amp;utm_content=creditCopyText" TargetMode="External"/><Relationship Id="rId5" Type="http://schemas.openxmlformats.org/officeDocument/2006/relationships/hyperlink" Target="https://unsplash.com/s/photos/user-researcher?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ceage26?utm_source=unsplash&amp;utm_medium=referral&amp;utm_content=creditCopyText" TargetMode="Externa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hyperlink" Target="https://unsplash.com/s/photos/timeline?utm_source=unsplash&amp;utm_medium=referral&amp;utm_content=creditCopyText" TargetMode="External"/><Relationship Id="rId5" Type="http://schemas.openxmlformats.org/officeDocument/2006/relationships/hyperlink" Target="https://unsplash.com/s/photos/timeline?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ceage26?utm_source=unsplash&amp;utm_medium=referral&amp;utm_content=creditCopyText" TargetMode="Externa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hyperlink" Target="https://unsplash.com/s/photos/timeline?utm_source=unsplash&amp;utm_medium=referral&amp;utm_content=creditCopyText" TargetMode="External"/><Relationship Id="rId5" Type="http://schemas.openxmlformats.org/officeDocument/2006/relationships/hyperlink" Target="https://unsplash.com/s/photos/timeline?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ceage26?utm_source=unsplash&amp;utm_medium=referral&amp;utm_content=creditCopyText" TargetMode="Externa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hyperlink" Target="https://unsplash.com/s/photos/timeline?utm_source=unsplash&amp;utm_medium=referral&amp;utm_content=creditCopyText" TargetMode="External"/><Relationship Id="rId5" Type="http://schemas.openxmlformats.org/officeDocument/2006/relationships/hyperlink" Target="https://unsplash.com/s/photos/timeline?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ceage26?utm_source=unsplash&amp;utm_medium=referral&amp;utm_content=creditCopyText" TargetMode="External"/><Relationship Id="rId3" Type="http://schemas.openxmlformats.org/officeDocument/2006/relationships/hyperlink" Target="https://unsplash.com/@iceage26?utm_source=unsplash&amp;utm_medium=referral&amp;utm_content=creditCopyText" TargetMode="External"/><Relationship Id="rId4" Type="http://schemas.openxmlformats.org/officeDocument/2006/relationships/hyperlink" Target="https://unsplash.com/s/photos/timeline?utm_source=unsplash&amp;utm_medium=referral&amp;utm_content=creditCopyText" TargetMode="External"/><Relationship Id="rId5" Type="http://schemas.openxmlformats.org/officeDocument/2006/relationships/hyperlink" Target="https://unsplash.com/s/photos/timeline?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45c6c16d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45c6c16d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59be5527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1159be5527a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45c6c16d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45c6c16d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45c6c16d2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45c6c16d2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d1c2ecca74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d1c2ecca74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0f816abf1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0f816abf1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 </a:t>
            </a:r>
            <a:r>
              <a:rPr lang="en" u="sng">
                <a:solidFill>
                  <a:schemeClr val="hlink"/>
                </a:solidFill>
                <a:hlinkClick r:id="rId2"/>
              </a:rPr>
              <a:t>engin akyurt</a:t>
            </a:r>
            <a:r>
              <a:rPr lang="en">
                <a:solidFill>
                  <a:schemeClr val="dk1"/>
                </a:solidFill>
              </a:rPr>
              <a:t> on 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145c6c16d2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145c6c16d2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145c6c16d2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145c6c16d2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Markus Winkler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0f816abf1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0f816abf1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0f816abf19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0f816abf19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f816abf19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f816abf19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https://dscout.com/people-nerds/generative-research-complete-guide</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0f816abf19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0f816abf19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https://dscout.com/people-nerds/generative-research-complete-guide</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5f927932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15f927932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Paul Hanaoka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15f927932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15f927932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https://dscout.com/people-nerds/generative-research-complete-guide</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5f927932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15f927932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Paul Hanaoka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15f927932b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15f927932b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Paul Hanaoka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5f927932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5f927932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https://dscout.com/people-nerds/generative-research-complete-guide</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0f816abf19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0f816abf19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0f816abf19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0f816abf19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Adrian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0f816abf19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0f816abf19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https://uxdesign.cc/the-life-and-timelines-of-research-projects-3eb9001d74c</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5f927932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15f927932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Adrian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5f927932b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5f927932b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Adrian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f816abf19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f816abf19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Adrian Hernandez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5f927932b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5f927932b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0f816abf19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0f816abf19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10f816abdff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10f816abdff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0f816abf19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0f816abf19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0f816abf19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0f816abf19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10f816abf19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10f816abf19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10f816abf19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10f816abf19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10f816abf19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10f816abf19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1cd39fe3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1cd39fe3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11cd39fe3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11cd39fe3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1cd39fe3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11cd39fe3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15f927932b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g115f927932b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94" name="Shape 94"/>
        <p:cNvGrpSpPr/>
        <p:nvPr/>
      </p:nvGrpSpPr>
      <p:grpSpPr>
        <a:xfrm>
          <a:off x="0" y="0"/>
          <a:ext cx="0" cy="0"/>
          <a:chOff x="0" y="0"/>
          <a:chExt cx="0" cy="0"/>
        </a:xfrm>
      </p:grpSpPr>
      <p:sp>
        <p:nvSpPr>
          <p:cNvPr id="95" name="Google Shape;95;p20"/>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6" name="Google Shape;96;p20"/>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97" name="Google Shape;97;p20"/>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8" name="Google Shape;98;p20"/>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9" name="Google Shape;99;p20"/>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0" name="Google Shape;100;p20"/>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1" name="Google Shape;101;p20"/>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2" name="Google Shape;102;p20"/>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103" name="Google Shape;103;p20"/>
          <p:cNvGrpSpPr/>
          <p:nvPr/>
        </p:nvGrpSpPr>
        <p:grpSpPr>
          <a:xfrm>
            <a:off x="283668" y="259895"/>
            <a:ext cx="226001" cy="222980"/>
            <a:chOff x="283668" y="251687"/>
            <a:chExt cx="226001" cy="222980"/>
          </a:xfrm>
        </p:grpSpPr>
        <p:sp>
          <p:nvSpPr>
            <p:cNvPr id="104" name="Google Shape;104;p20"/>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5" name="Google Shape;105;p20"/>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6" name="Google Shape;106;p20"/>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107" name="Google Shape;107;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09" name="Google Shape;109;p20"/>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4" name="Shape 114"/>
        <p:cNvGrpSpPr/>
        <p:nvPr/>
      </p:nvGrpSpPr>
      <p:grpSpPr>
        <a:xfrm>
          <a:off x="0" y="0"/>
          <a:ext cx="0" cy="0"/>
          <a:chOff x="0" y="0"/>
          <a:chExt cx="0" cy="0"/>
        </a:xfrm>
      </p:grpSpPr>
      <p:sp>
        <p:nvSpPr>
          <p:cNvPr id="115" name="Google Shape;115;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6" name="Google Shape;116;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0" name="Google Shape;12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4" name="Google Shape;12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 name="Google Shape;127;p2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8" name="Google Shape;128;p2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3" name="Shape 133"/>
        <p:cNvGrpSpPr/>
        <p:nvPr/>
      </p:nvGrpSpPr>
      <p:grpSpPr>
        <a:xfrm>
          <a:off x="0" y="0"/>
          <a:ext cx="0" cy="0"/>
          <a:chOff x="0" y="0"/>
          <a:chExt cx="0" cy="0"/>
        </a:xfrm>
      </p:grpSpPr>
      <p:sp>
        <p:nvSpPr>
          <p:cNvPr id="134" name="Google Shape;134;p2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5" name="Google Shape;135;p2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6" name="Google Shape;13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7" name="Shape 137"/>
        <p:cNvGrpSpPr/>
        <p:nvPr/>
      </p:nvGrpSpPr>
      <p:grpSpPr>
        <a:xfrm>
          <a:off x="0" y="0"/>
          <a:ext cx="0" cy="0"/>
          <a:chOff x="0" y="0"/>
          <a:chExt cx="0" cy="0"/>
        </a:xfrm>
      </p:grpSpPr>
      <p:sp>
        <p:nvSpPr>
          <p:cNvPr id="138" name="Google Shape;138;p2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9" name="Google Shape;13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0" name="Shape 140"/>
        <p:cNvGrpSpPr/>
        <p:nvPr/>
      </p:nvGrpSpPr>
      <p:grpSpPr>
        <a:xfrm>
          <a:off x="0" y="0"/>
          <a:ext cx="0" cy="0"/>
          <a:chOff x="0" y="0"/>
          <a:chExt cx="0" cy="0"/>
        </a:xfrm>
      </p:grpSpPr>
      <p:sp>
        <p:nvSpPr>
          <p:cNvPr id="141" name="Google Shape;141;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3" name="Google Shape;143;p2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4" name="Google Shape;144;p2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6" name="Shape 146"/>
        <p:cNvGrpSpPr/>
        <p:nvPr/>
      </p:nvGrpSpPr>
      <p:grpSpPr>
        <a:xfrm>
          <a:off x="0" y="0"/>
          <a:ext cx="0" cy="0"/>
          <a:chOff x="0" y="0"/>
          <a:chExt cx="0" cy="0"/>
        </a:xfrm>
      </p:grpSpPr>
      <p:sp>
        <p:nvSpPr>
          <p:cNvPr id="147" name="Google Shape;147;p3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9" name="Shape 149"/>
        <p:cNvGrpSpPr/>
        <p:nvPr/>
      </p:nvGrpSpPr>
      <p:grpSpPr>
        <a:xfrm>
          <a:off x="0" y="0"/>
          <a:ext cx="0" cy="0"/>
          <a:chOff x="0" y="0"/>
          <a:chExt cx="0" cy="0"/>
        </a:xfrm>
      </p:grpSpPr>
      <p:sp>
        <p:nvSpPr>
          <p:cNvPr id="150" name="Google Shape;150;p3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51" name="Google Shape;151;p3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52" name="Google Shape;15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3" name="Shape 153"/>
        <p:cNvGrpSpPr/>
        <p:nvPr/>
      </p:nvGrpSpPr>
      <p:grpSpPr>
        <a:xfrm>
          <a:off x="0" y="0"/>
          <a:ext cx="0" cy="0"/>
          <a:chOff x="0" y="0"/>
          <a:chExt cx="0" cy="0"/>
        </a:xfrm>
      </p:grpSpPr>
      <p:sp>
        <p:nvSpPr>
          <p:cNvPr id="154" name="Google Shape;15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0.xml"/><Relationship Id="rId10" Type="http://schemas.openxmlformats.org/officeDocument/2006/relationships/slideLayout" Target="../slideLayouts/slideLayout29.xml"/><Relationship Id="rId12" Type="http://schemas.openxmlformats.org/officeDocument/2006/relationships/theme" Target="../theme/theme3.xml"/><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12" name="Google Shape;112;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13" name="Google Shape;11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markuswinkler?utm_source=unsplash&amp;utm_medium=referral&amp;utm_content=creditCopyText" TargetMode="Externa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comments" Target="../comments/commen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blog.leanstack.com/what-is-a-job-to-be-done-jtbd/" TargetMode="Externa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png"/><Relationship Id="rId4" Type="http://schemas.openxmlformats.org/officeDocument/2006/relationships/hyperlink" Target="https://uxdesign.cc/the-life-and-timelines-of-research-projects-3eb9001d74c" TargetMode="External"/><Relationship Id="rId5" Type="http://schemas.openxmlformats.org/officeDocument/2006/relationships/hyperlink" Target="https://uxdesign.cc/a-breakdown-of-ux-research-types-bd127c10b364" TargetMode="External"/><Relationship Id="rId6" Type="http://schemas.openxmlformats.org/officeDocument/2006/relationships/hyperlink" Target="https://www.usertesting.com/blog/generative-vs-evaluation-research"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58" name="Shape 158"/>
        <p:cNvGrpSpPr/>
        <p:nvPr/>
      </p:nvGrpSpPr>
      <p:grpSpPr>
        <a:xfrm>
          <a:off x="0" y="0"/>
          <a:ext cx="0" cy="0"/>
          <a:chOff x="0" y="0"/>
          <a:chExt cx="0" cy="0"/>
        </a:xfrm>
      </p:grpSpPr>
      <p:sp>
        <p:nvSpPr>
          <p:cNvPr id="159" name="Google Shape;159;p33"/>
          <p:cNvSpPr txBox="1"/>
          <p:nvPr/>
        </p:nvSpPr>
        <p:spPr>
          <a:xfrm>
            <a:off x="2349675" y="27058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Research Timeline</a:t>
            </a:r>
            <a:endParaRPr sz="27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2 - Topic 4</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160" name="Google Shape;160;p3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61" name="Google Shape;161;p3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65" name="Shape 165"/>
        <p:cNvGrpSpPr/>
        <p:nvPr/>
      </p:nvGrpSpPr>
      <p:grpSpPr>
        <a:xfrm>
          <a:off x="0" y="0"/>
          <a:ext cx="0" cy="0"/>
          <a:chOff x="0" y="0"/>
          <a:chExt cx="0" cy="0"/>
        </a:xfrm>
      </p:grpSpPr>
      <p:sp>
        <p:nvSpPr>
          <p:cNvPr id="166" name="Google Shape;166;p34"/>
          <p:cNvSpPr txBox="1"/>
          <p:nvPr/>
        </p:nvSpPr>
        <p:spPr>
          <a:xfrm>
            <a:off x="1746750" y="685025"/>
            <a:ext cx="5650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Montserrat"/>
                <a:ea typeface="Montserrat"/>
                <a:cs typeface="Montserrat"/>
                <a:sym typeface="Montserrat"/>
              </a:rPr>
              <a:t>Selamat datang di </a:t>
            </a:r>
            <a:r>
              <a:rPr b="1" i="0" lang="en" sz="1600" u="none" cap="none" strike="noStrike">
                <a:solidFill>
                  <a:schemeClr val="accent1"/>
                </a:solidFill>
                <a:latin typeface="Montserrat"/>
                <a:ea typeface="Montserrat"/>
                <a:cs typeface="Montserrat"/>
                <a:sym typeface="Montserrat"/>
              </a:rPr>
              <a:t>Chapter </a:t>
            </a:r>
            <a:r>
              <a:rPr b="1" lang="en" sz="1600">
                <a:solidFill>
                  <a:schemeClr val="accent1"/>
                </a:solidFill>
                <a:latin typeface="Montserrat"/>
                <a:ea typeface="Montserrat"/>
                <a:cs typeface="Montserrat"/>
                <a:sym typeface="Montserrat"/>
              </a:rPr>
              <a:t>2 Topik 4 </a:t>
            </a:r>
            <a:r>
              <a:rPr b="1" i="0" lang="en" sz="1600" u="none" cap="none" strike="noStrike">
                <a:solidFill>
                  <a:schemeClr val="lt1"/>
                </a:solidFill>
                <a:latin typeface="Montserrat"/>
                <a:ea typeface="Montserrat"/>
                <a:cs typeface="Montserrat"/>
                <a:sym typeface="Montserrat"/>
              </a:rPr>
              <a:t>online course </a:t>
            </a:r>
            <a:endParaRPr b="1" i="0" sz="16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en" sz="1600">
                <a:solidFill>
                  <a:schemeClr val="accent1"/>
                </a:solidFill>
                <a:latin typeface="Montserrat"/>
                <a:ea typeface="Montserrat"/>
                <a:cs typeface="Montserrat"/>
                <a:sym typeface="Montserrat"/>
              </a:rPr>
              <a:t>UI/UX Research/Design</a:t>
            </a:r>
            <a:r>
              <a:rPr b="1" i="0" lang="en" sz="1600" u="none" cap="none" strike="noStrike">
                <a:solidFill>
                  <a:schemeClr val="lt1"/>
                </a:solidFill>
                <a:latin typeface="Montserrat"/>
                <a:ea typeface="Montserrat"/>
                <a:cs typeface="Montserrat"/>
                <a:sym typeface="Montserrat"/>
              </a:rPr>
              <a:t> dari Binar Academy!</a:t>
            </a:r>
            <a:endParaRPr b="1" i="0" sz="1600" u="none" cap="none" strike="noStrike">
              <a:solidFill>
                <a:srgbClr val="FFFFFF"/>
              </a:solidFill>
              <a:latin typeface="Montserrat"/>
              <a:ea typeface="Montserrat"/>
              <a:cs typeface="Montserrat"/>
              <a:sym typeface="Montserrat"/>
            </a:endParaRPr>
          </a:p>
        </p:txBody>
      </p:sp>
      <p:pic>
        <p:nvPicPr>
          <p:cNvPr id="167" name="Google Shape;167;p34"/>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3" name="Google Shape;173;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74" name="Google Shape;174;p35"/>
          <p:cNvSpPr txBox="1"/>
          <p:nvPr/>
        </p:nvSpPr>
        <p:spPr>
          <a:xfrm>
            <a:off x="685800" y="1797150"/>
            <a:ext cx="4185000" cy="15492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topik ketiga, kita udah belajar tentang</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research objectives (tujuan penelitian)</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ada topik keempat ini, kita akan melihat bagaimana sebuah proyek penelitian dijalankan dengan </a:t>
            </a:r>
            <a:r>
              <a:rPr b="1" lang="en" sz="1000">
                <a:solidFill>
                  <a:schemeClr val="dk1"/>
                </a:solidFill>
                <a:latin typeface="Montserrat"/>
                <a:ea typeface="Montserrat"/>
                <a:cs typeface="Montserrat"/>
                <a:sym typeface="Montserrat"/>
              </a:rPr>
              <a:t>memahami research timeline. </a:t>
            </a:r>
            <a:r>
              <a:rPr lang="en" sz="1000">
                <a:solidFill>
                  <a:schemeClr val="dk1"/>
                </a:solidFill>
                <a:latin typeface="Montserrat"/>
                <a:ea typeface="Montserrat"/>
                <a:cs typeface="Montserrat"/>
                <a:sym typeface="Montserrat"/>
              </a:rPr>
              <a:t>Penasaran kayak gimana? Cus langsung aja~</a:t>
            </a:r>
            <a:endParaRPr sz="1000">
              <a:solidFill>
                <a:schemeClr val="dk1"/>
              </a:solidFill>
              <a:latin typeface="Montserrat"/>
              <a:ea typeface="Montserrat"/>
              <a:cs typeface="Montserrat"/>
              <a:sym typeface="Montserrat"/>
            </a:endParaRPr>
          </a:p>
        </p:txBody>
      </p:sp>
      <p:pic>
        <p:nvPicPr>
          <p:cNvPr id="175" name="Google Shape;175;p35"/>
          <p:cNvPicPr preferRelativeResize="0"/>
          <p:nvPr/>
        </p:nvPicPr>
        <p:blipFill>
          <a:blip r:embed="rId3">
            <a:alphaModFix/>
          </a:blip>
          <a:stretch>
            <a:fillRect/>
          </a:stretch>
        </p:blipFill>
        <p:spPr>
          <a:xfrm>
            <a:off x="5213120" y="914400"/>
            <a:ext cx="2619506" cy="38862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82" name="Google Shape;182;p36"/>
          <p:cNvSpPr txBox="1"/>
          <p:nvPr/>
        </p:nvSpPr>
        <p:spPr>
          <a:xfrm>
            <a:off x="685800" y="1159608"/>
            <a:ext cx="4114800" cy="96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512252"/>
                </a:solidFill>
                <a:highlight>
                  <a:schemeClr val="lt1"/>
                </a:highlight>
                <a:latin typeface="Montserrat"/>
                <a:ea typeface="Montserrat"/>
                <a:cs typeface="Montserrat"/>
                <a:sym typeface="Montserrat"/>
              </a:rPr>
              <a:t>Detailnya, kita bakal bahas hal-hal berikut ini: </a:t>
            </a:r>
            <a:endParaRPr b="1" sz="1600">
              <a:solidFill>
                <a:srgbClr val="512252"/>
              </a:solidFill>
              <a:latin typeface="Montserrat"/>
              <a:ea typeface="Montserrat"/>
              <a:cs typeface="Montserrat"/>
              <a:sym typeface="Montserrat"/>
            </a:endParaRPr>
          </a:p>
        </p:txBody>
      </p:sp>
      <p:sp>
        <p:nvSpPr>
          <p:cNvPr id="183" name="Google Shape;183;p36"/>
          <p:cNvSpPr/>
          <p:nvPr/>
        </p:nvSpPr>
        <p:spPr>
          <a:xfrm>
            <a:off x="831025" y="23503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84" name="Google Shape;184;p36"/>
          <p:cNvSpPr/>
          <p:nvPr/>
        </p:nvSpPr>
        <p:spPr>
          <a:xfrm>
            <a:off x="831025" y="2885363"/>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85" name="Google Shape;185;p36"/>
          <p:cNvSpPr/>
          <p:nvPr/>
        </p:nvSpPr>
        <p:spPr>
          <a:xfrm>
            <a:off x="831025" y="34204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6"/>
          <p:cNvSpPr/>
          <p:nvPr/>
        </p:nvSpPr>
        <p:spPr>
          <a:xfrm>
            <a:off x="831025" y="39554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6"/>
          <p:cNvSpPr txBox="1"/>
          <p:nvPr/>
        </p:nvSpPr>
        <p:spPr>
          <a:xfrm>
            <a:off x="1324925" y="2117700"/>
            <a:ext cx="3247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Membedah skenario penelitian</a:t>
            </a:r>
            <a:endParaRPr sz="1200">
              <a:solidFill>
                <a:schemeClr val="dk1"/>
              </a:solidFill>
              <a:latin typeface="Montserrat Medium"/>
              <a:ea typeface="Montserrat Medium"/>
              <a:cs typeface="Montserrat Medium"/>
              <a:sym typeface="Montserrat Medium"/>
            </a:endParaRPr>
          </a:p>
        </p:txBody>
      </p:sp>
      <p:sp>
        <p:nvSpPr>
          <p:cNvPr id="188" name="Google Shape;188;p36"/>
          <p:cNvSpPr txBox="1"/>
          <p:nvPr/>
        </p:nvSpPr>
        <p:spPr>
          <a:xfrm>
            <a:off x="1324925" y="2652725"/>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Siklus sebuah penelitian</a:t>
            </a:r>
            <a:endParaRPr sz="1200">
              <a:solidFill>
                <a:schemeClr val="dk1"/>
              </a:solidFill>
              <a:latin typeface="Montserrat Medium"/>
              <a:ea typeface="Montserrat Medium"/>
              <a:cs typeface="Montserrat Medium"/>
              <a:sym typeface="Montserrat Medium"/>
            </a:endParaRPr>
          </a:p>
        </p:txBody>
      </p:sp>
      <p:sp>
        <p:nvSpPr>
          <p:cNvPr id="189" name="Google Shape;189;p36"/>
          <p:cNvSpPr txBox="1"/>
          <p:nvPr/>
        </p:nvSpPr>
        <p:spPr>
          <a:xfrm>
            <a:off x="1324925" y="3187750"/>
            <a:ext cx="2455200" cy="7212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Macam-macam penelitian dan metodenya </a:t>
            </a:r>
            <a:endParaRPr sz="1200">
              <a:solidFill>
                <a:schemeClr val="dk1"/>
              </a:solidFill>
              <a:latin typeface="Montserrat Medium"/>
              <a:ea typeface="Montserrat Medium"/>
              <a:cs typeface="Montserrat Medium"/>
              <a:sym typeface="Montserrat Medium"/>
            </a:endParaRPr>
          </a:p>
        </p:txBody>
      </p:sp>
      <p:sp>
        <p:nvSpPr>
          <p:cNvPr id="190" name="Google Shape;190;p36"/>
          <p:cNvSpPr txBox="1"/>
          <p:nvPr/>
        </p:nvSpPr>
        <p:spPr>
          <a:xfrm>
            <a:off x="1324925" y="3722775"/>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Timeline penelitian</a:t>
            </a:r>
            <a:endParaRPr sz="1200">
              <a:solidFill>
                <a:schemeClr val="dk1"/>
              </a:solidFill>
              <a:latin typeface="Montserrat Medium"/>
              <a:ea typeface="Montserrat Medium"/>
              <a:cs typeface="Montserrat Medium"/>
              <a:sym typeface="Montserrat Medium"/>
            </a:endParaRPr>
          </a:p>
        </p:txBody>
      </p:sp>
      <p:pic>
        <p:nvPicPr>
          <p:cNvPr id="191" name="Google Shape;191;p36"/>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7"/>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Untuk memahami bagaimana sebuah penelitian dijalankan, </a:t>
            </a:r>
            <a:endParaRPr sz="1400">
              <a:latin typeface="Montserrat"/>
              <a:ea typeface="Montserrat"/>
              <a:cs typeface="Montserrat"/>
              <a:sym typeface="Montserrat"/>
            </a:endParaRPr>
          </a:p>
          <a:p>
            <a:pPr indent="0" lvl="0" marL="0" rtl="0" algn="ctr">
              <a:spcBef>
                <a:spcPts val="0"/>
              </a:spcBef>
              <a:spcAft>
                <a:spcPts val="0"/>
              </a:spcAft>
              <a:buNone/>
            </a:pPr>
            <a:r>
              <a:rPr lang="en" sz="1400">
                <a:solidFill>
                  <a:schemeClr val="accent1"/>
                </a:solidFill>
                <a:latin typeface="Montserrat"/>
                <a:ea typeface="Montserrat"/>
                <a:cs typeface="Montserrat"/>
                <a:sym typeface="Montserrat"/>
              </a:rPr>
              <a:t>mari kita bedah sebuah skenario!</a:t>
            </a:r>
            <a:endParaRPr sz="1400">
              <a:solidFill>
                <a:schemeClr val="accent1"/>
              </a:solidFill>
              <a:latin typeface="Montserrat"/>
              <a:ea typeface="Montserrat"/>
              <a:cs typeface="Montserrat"/>
              <a:sym typeface="Montserrat"/>
            </a:endParaRPr>
          </a:p>
        </p:txBody>
      </p:sp>
      <p:sp>
        <p:nvSpPr>
          <p:cNvPr id="197" name="Google Shape;197;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98" name="Google Shape;198;p37"/>
          <p:cNvPicPr preferRelativeResize="0"/>
          <p:nvPr/>
        </p:nvPicPr>
        <p:blipFill rotWithShape="1">
          <a:blip r:embed="rId3">
            <a:alphaModFix/>
          </a:blip>
          <a:srcRect b="28926" l="0" r="0" t="0"/>
          <a:stretch/>
        </p:blipFill>
        <p:spPr>
          <a:xfrm>
            <a:off x="3128125" y="1773350"/>
            <a:ext cx="2514375" cy="33701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 name="Google Shape;204;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Membedah Skenario Penelitian</a:t>
            </a:r>
            <a:endParaRPr/>
          </a:p>
        </p:txBody>
      </p:sp>
      <p:sp>
        <p:nvSpPr>
          <p:cNvPr id="205" name="Google Shape;205;p38"/>
          <p:cNvSpPr txBox="1"/>
          <p:nvPr/>
        </p:nvSpPr>
        <p:spPr>
          <a:xfrm>
            <a:off x="685800" y="12801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Simak baik-baik ya!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Sebuah organisasi kesejahteraan hewan di Amerika Serikat bernama </a:t>
            </a:r>
            <a:r>
              <a:rPr lang="en" sz="1000">
                <a:solidFill>
                  <a:schemeClr val="dk1"/>
                </a:solidFill>
                <a:latin typeface="Montserrat"/>
                <a:ea typeface="Montserrat"/>
                <a:cs typeface="Montserrat"/>
                <a:sym typeface="Montserrat"/>
              </a:rPr>
              <a:t>Best Friends Animal Society mengalami penurunan jumlah pengunjung pada fitur “adopsi” di website organisasi tersebut. Atau dengan kata lain, rasio klik pada fitur tersebut berkurang. Tim yang bertanggung jawab atas fungsi tersebut ingin memahami apa yang salah.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Kemudian, manajer produk menginisiasi penelitian untuk memahami permasalahan tersebut dan menugaskannya pada tim UX Researcher.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grpSp>
        <p:nvGrpSpPr>
          <p:cNvPr id="206" name="Google Shape;206;p38"/>
          <p:cNvGrpSpPr/>
          <p:nvPr/>
        </p:nvGrpSpPr>
        <p:grpSpPr>
          <a:xfrm>
            <a:off x="4967150" y="960038"/>
            <a:ext cx="3718513" cy="3840613"/>
            <a:chOff x="4967150" y="960038"/>
            <a:chExt cx="3718513" cy="3840613"/>
          </a:xfrm>
        </p:grpSpPr>
        <p:pic>
          <p:nvPicPr>
            <p:cNvPr id="207" name="Google Shape;207;p38"/>
            <p:cNvPicPr preferRelativeResize="0"/>
            <p:nvPr/>
          </p:nvPicPr>
          <p:blipFill>
            <a:blip r:embed="rId3">
              <a:alphaModFix/>
            </a:blip>
            <a:stretch>
              <a:fillRect/>
            </a:stretch>
          </p:blipFill>
          <p:spPr>
            <a:xfrm>
              <a:off x="4967150" y="960038"/>
              <a:ext cx="3718513" cy="3840613"/>
            </a:xfrm>
            <a:prstGeom prst="rect">
              <a:avLst/>
            </a:prstGeom>
            <a:noFill/>
            <a:ln>
              <a:noFill/>
            </a:ln>
          </p:spPr>
        </p:pic>
        <p:pic>
          <p:nvPicPr>
            <p:cNvPr id="208" name="Google Shape;208;p38"/>
            <p:cNvPicPr preferRelativeResize="0"/>
            <p:nvPr/>
          </p:nvPicPr>
          <p:blipFill rotWithShape="1">
            <a:blip r:embed="rId4">
              <a:alphaModFix/>
            </a:blip>
            <a:srcRect b="0" l="26146" r="24862" t="-2774"/>
            <a:stretch/>
          </p:blipFill>
          <p:spPr>
            <a:xfrm>
              <a:off x="5616325" y="2119450"/>
              <a:ext cx="630426" cy="743975"/>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Membedah Skenario Penelitian</a:t>
            </a:r>
            <a:endParaRPr/>
          </a:p>
        </p:txBody>
      </p:sp>
      <p:sp>
        <p:nvSpPr>
          <p:cNvPr id="215" name="Google Shape;215;p39"/>
          <p:cNvSpPr txBox="1"/>
          <p:nvPr/>
        </p:nvSpPr>
        <p:spPr>
          <a:xfrm>
            <a:off x="685800" y="12801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Tim UX Researcher kemudian merumuskan </a:t>
            </a:r>
            <a:r>
              <a:rPr b="1" lang="en" sz="1000">
                <a:solidFill>
                  <a:schemeClr val="dk1"/>
                </a:solidFill>
                <a:latin typeface="Montserrat"/>
                <a:ea typeface="Montserrat"/>
                <a:cs typeface="Montserrat"/>
                <a:sym typeface="Montserrat"/>
              </a:rPr>
              <a:t>problem statement </a:t>
            </a:r>
            <a:r>
              <a:rPr lang="en" sz="1000">
                <a:solidFill>
                  <a:schemeClr val="dk1"/>
                </a:solidFill>
                <a:latin typeface="Montserrat"/>
                <a:ea typeface="Montserrat"/>
                <a:cs typeface="Montserrat"/>
                <a:sym typeface="Montserrat"/>
              </a:rPr>
              <a:t>(pernyataan masalah) sebagai berikut: </a:t>
            </a:r>
            <a:r>
              <a:rPr b="1" lang="en" sz="1000">
                <a:solidFill>
                  <a:schemeClr val="dk1"/>
                </a:solidFill>
                <a:latin typeface="Montserrat"/>
                <a:ea typeface="Montserrat"/>
                <a:cs typeface="Montserrat"/>
                <a:sym typeface="Montserrat"/>
              </a:rPr>
              <a:t>Organisasi ingin meningkatkan situs web dengan memahami pengalaman pengguna terkait adopsi hewan.</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Tujuan penelitian dirincikan seperti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3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1) Memahami pendapat pengguna terkait pengadopsian secara umum.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2) Menemukan bagaimana pengguna berinteraksi dengan fitur adopsi pada situs web.</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3) </a:t>
            </a:r>
            <a:r>
              <a:rPr lang="en" sz="1000">
                <a:solidFill>
                  <a:schemeClr val="dk1"/>
                </a:solidFill>
                <a:latin typeface="Montserrat"/>
                <a:ea typeface="Montserrat"/>
                <a:cs typeface="Montserrat"/>
                <a:sym typeface="Montserrat"/>
              </a:rPr>
              <a:t>Menemukan aplikasi/situs web lain yang berinteraksi dengan pengguna untuk mengadopsi hewan dan pengalaman mereka dengan aplikasi/situs web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4) Menemukan titik kesulitan (pain points) dalam proses adopsi, secara umum, dan pada situs web. </a:t>
            </a:r>
            <a:endParaRPr sz="1000">
              <a:solidFill>
                <a:schemeClr val="dk1"/>
              </a:solidFill>
              <a:latin typeface="Montserrat"/>
              <a:ea typeface="Montserrat"/>
              <a:cs typeface="Montserrat"/>
              <a:sym typeface="Montserrat"/>
            </a:endParaRPr>
          </a:p>
        </p:txBody>
      </p:sp>
      <p:pic>
        <p:nvPicPr>
          <p:cNvPr id="216" name="Google Shape;216;p39"/>
          <p:cNvPicPr preferRelativeResize="0"/>
          <p:nvPr/>
        </p:nvPicPr>
        <p:blipFill>
          <a:blip r:embed="rId3">
            <a:alphaModFix/>
          </a:blip>
          <a:stretch>
            <a:fillRect/>
          </a:stretch>
        </p:blipFill>
        <p:spPr>
          <a:xfrm>
            <a:off x="5096950" y="1097800"/>
            <a:ext cx="3499199" cy="3472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0"/>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Sebelum kita membedah lebih lanjut bagaimana penelitian itu dijalankan, coba kita lihat dulu bagaimana </a:t>
            </a:r>
            <a:r>
              <a:rPr lang="en" sz="1400">
                <a:solidFill>
                  <a:schemeClr val="accent1"/>
                </a:solidFill>
                <a:latin typeface="Montserrat"/>
                <a:ea typeface="Montserrat"/>
                <a:cs typeface="Montserrat"/>
                <a:sym typeface="Montserrat"/>
              </a:rPr>
              <a:t>siklus dari sebuah penelitian.</a:t>
            </a:r>
            <a:endParaRPr sz="1400">
              <a:latin typeface="Montserrat"/>
              <a:ea typeface="Montserrat"/>
              <a:cs typeface="Montserrat"/>
              <a:sym typeface="Montserrat"/>
            </a:endParaRPr>
          </a:p>
        </p:txBody>
      </p:sp>
      <p:sp>
        <p:nvSpPr>
          <p:cNvPr id="222" name="Google Shape;222;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23" name="Google Shape;223;p40"/>
          <p:cNvPicPr preferRelativeResize="0"/>
          <p:nvPr/>
        </p:nvPicPr>
        <p:blipFill rotWithShape="1">
          <a:blip r:embed="rId3">
            <a:alphaModFix/>
          </a:blip>
          <a:srcRect b="33168" l="0" r="0" t="0"/>
          <a:stretch/>
        </p:blipFill>
        <p:spPr>
          <a:xfrm>
            <a:off x="2483946" y="1773350"/>
            <a:ext cx="4176107" cy="3370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Siklus Sebuah Penelitian</a:t>
            </a:r>
            <a:endParaRPr>
              <a:latin typeface="Montserrat"/>
              <a:ea typeface="Montserrat"/>
              <a:cs typeface="Montserrat"/>
              <a:sym typeface="Montserrat"/>
            </a:endParaRPr>
          </a:p>
        </p:txBody>
      </p:sp>
      <p:sp>
        <p:nvSpPr>
          <p:cNvPr id="230" name="Google Shape;230;p41"/>
          <p:cNvSpPr txBox="1"/>
          <p:nvPr/>
        </p:nvSpPr>
        <p:spPr>
          <a:xfrm>
            <a:off x="685800" y="1132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Apa sih s</a:t>
            </a:r>
            <a:r>
              <a:rPr b="1" lang="en" sz="1600">
                <a:solidFill>
                  <a:srgbClr val="743673"/>
                </a:solidFill>
                <a:highlight>
                  <a:schemeClr val="lt1"/>
                </a:highlight>
                <a:latin typeface="Montserrat"/>
                <a:ea typeface="Montserrat"/>
                <a:cs typeface="Montserrat"/>
                <a:sym typeface="Montserrat"/>
              </a:rPr>
              <a:t>iklus penelitian?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5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Siklus penelitian adalah proses sistematis suatu penelitian dijalankan.</a:t>
            </a:r>
            <a:r>
              <a:rPr lang="en" sz="1000">
                <a:solidFill>
                  <a:schemeClr val="dk1"/>
                </a:solidFill>
                <a:latin typeface="Montserrat"/>
                <a:ea typeface="Montserrat"/>
                <a:cs typeface="Montserrat"/>
                <a:sym typeface="Montserrat"/>
              </a:rPr>
              <a:t> Mulai dari pengajuan inisiatif penelitian, pelaksanaan penelitian, sampai gimana hasil penelitian diimplementasikan.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Siklus itu ngegambarin suatu proses penelitian yang ideal. Namun, </a:t>
            </a:r>
            <a:r>
              <a:rPr b="1" lang="en" sz="1000">
                <a:solidFill>
                  <a:schemeClr val="dk1"/>
                </a:solidFill>
                <a:latin typeface="Montserrat"/>
                <a:ea typeface="Montserrat"/>
                <a:cs typeface="Montserrat"/>
                <a:sym typeface="Montserrat"/>
              </a:rPr>
              <a:t>prosesnya </a:t>
            </a:r>
            <a:r>
              <a:rPr b="1" lang="en" sz="1000">
                <a:solidFill>
                  <a:schemeClr val="dk1"/>
                </a:solidFill>
                <a:latin typeface="Montserrat"/>
                <a:ea typeface="Montserrat"/>
                <a:cs typeface="Montserrat"/>
                <a:sym typeface="Montserrat"/>
              </a:rPr>
              <a:t>nggak harus selalu berjalan linear. </a:t>
            </a:r>
            <a:r>
              <a:rPr lang="en" sz="1000">
                <a:solidFill>
                  <a:schemeClr val="dk1"/>
                </a:solidFill>
                <a:latin typeface="Montserrat"/>
                <a:ea typeface="Montserrat"/>
                <a:cs typeface="Montserrat"/>
                <a:sym typeface="Montserrat"/>
              </a:rPr>
              <a:t>Kita bisa melompat-lompat atau bisa nge-skip tahap-tahap yang dirasa nggak penting.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Misal gini, kamu bisa melompat dari tahap 02 (define research subject) langsung ke tahap 04 (define research statement), karena nggak me</a:t>
            </a:r>
            <a:r>
              <a:rPr lang="en" sz="1000">
                <a:solidFill>
                  <a:schemeClr val="dk1"/>
                </a:solidFill>
                <a:latin typeface="Montserrat"/>
                <a:ea typeface="Montserrat"/>
                <a:cs typeface="Montserrat"/>
                <a:sym typeface="Montserrat"/>
              </a:rPr>
              <a:t>rasa</a:t>
            </a:r>
            <a:r>
              <a:rPr lang="en" sz="1000">
                <a:solidFill>
                  <a:schemeClr val="dk1"/>
                </a:solidFill>
                <a:latin typeface="Montserrat"/>
                <a:ea typeface="Montserrat"/>
                <a:cs typeface="Montserrat"/>
                <a:sym typeface="Montserrat"/>
              </a:rPr>
              <a:t> perlu melalu</a:t>
            </a:r>
            <a:r>
              <a:rPr lang="en" sz="1000">
                <a:solidFill>
                  <a:schemeClr val="dk1"/>
                </a:solidFill>
                <a:latin typeface="Montserrat"/>
                <a:ea typeface="Montserrat"/>
                <a:cs typeface="Montserrat"/>
                <a:sym typeface="Montserrat"/>
              </a:rPr>
              <a:t>i</a:t>
            </a:r>
            <a:r>
              <a:rPr lang="en" sz="1000">
                <a:solidFill>
                  <a:schemeClr val="dk1"/>
                </a:solidFill>
                <a:latin typeface="Montserrat"/>
                <a:ea typeface="Montserrat"/>
                <a:cs typeface="Montserrat"/>
                <a:sym typeface="Montserrat"/>
              </a:rPr>
              <a:t> tahap 03 (stakeholder meeting).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Biar lebih jelas, coba cek siklus penelitian pada halaman selanjutnya~</a:t>
            </a:r>
            <a:endParaRPr sz="1000">
              <a:solidFill>
                <a:schemeClr val="dk1"/>
              </a:solidFill>
              <a:latin typeface="Montserrat"/>
              <a:ea typeface="Montserrat"/>
              <a:cs typeface="Montserrat"/>
              <a:sym typeface="Montserrat"/>
            </a:endParaRPr>
          </a:p>
        </p:txBody>
      </p:sp>
      <p:pic>
        <p:nvPicPr>
          <p:cNvPr id="231" name="Google Shape;231;p41">
            <a:hlinkClick r:id="rId3"/>
          </p:cNvPr>
          <p:cNvPicPr preferRelativeResize="0"/>
          <p:nvPr/>
        </p:nvPicPr>
        <p:blipFill>
          <a:blip r:embed="rId4">
            <a:alphaModFix/>
          </a:blip>
          <a:stretch>
            <a:fillRect/>
          </a:stretch>
        </p:blipFill>
        <p:spPr>
          <a:xfrm>
            <a:off x="4985525" y="1301650"/>
            <a:ext cx="3945174" cy="3157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42"/>
          <p:cNvPicPr preferRelativeResize="0"/>
          <p:nvPr/>
        </p:nvPicPr>
        <p:blipFill>
          <a:blip r:embed="rId4">
            <a:alphaModFix/>
          </a:blip>
          <a:stretch>
            <a:fillRect/>
          </a:stretch>
        </p:blipFill>
        <p:spPr>
          <a:xfrm>
            <a:off x="0" y="5"/>
            <a:ext cx="9144003" cy="514349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3"/>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Setelah memahami siklus penelitian, sekarang coba kita intip </a:t>
            </a:r>
            <a:r>
              <a:rPr lang="en" sz="1400">
                <a:solidFill>
                  <a:schemeClr val="accent1"/>
                </a:solidFill>
                <a:latin typeface="Montserrat"/>
                <a:ea typeface="Montserrat"/>
                <a:cs typeface="Montserrat"/>
                <a:sym typeface="Montserrat"/>
              </a:rPr>
              <a:t>macam-macam penelitian dan metodenya.</a:t>
            </a:r>
            <a:endParaRPr sz="1400">
              <a:solidFill>
                <a:schemeClr val="accent1"/>
              </a:solidFill>
              <a:latin typeface="Montserrat"/>
              <a:ea typeface="Montserrat"/>
              <a:cs typeface="Montserrat"/>
              <a:sym typeface="Montserrat"/>
            </a:endParaRPr>
          </a:p>
        </p:txBody>
      </p:sp>
      <p:sp>
        <p:nvSpPr>
          <p:cNvPr id="242" name="Google Shape;242;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3" name="Google Shape;243;p43"/>
          <p:cNvPicPr preferRelativeResize="0"/>
          <p:nvPr/>
        </p:nvPicPr>
        <p:blipFill>
          <a:blip r:embed="rId3">
            <a:alphaModFix/>
          </a:blip>
          <a:stretch>
            <a:fillRect/>
          </a:stretch>
        </p:blipFill>
        <p:spPr>
          <a:xfrm>
            <a:off x="3518012" y="1788700"/>
            <a:ext cx="2107976" cy="33547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None/>
            </a:pPr>
            <a:r>
              <a:rPr lang="en">
                <a:latin typeface="Montserrat"/>
                <a:ea typeface="Montserrat"/>
                <a:cs typeface="Montserrat"/>
                <a:sym typeface="Montserrat"/>
              </a:rPr>
              <a:t>Macam-macam penelitian dan metodenya</a:t>
            </a:r>
            <a:endParaRPr>
              <a:latin typeface="Montserrat"/>
              <a:ea typeface="Montserrat"/>
              <a:cs typeface="Montserrat"/>
              <a:sym typeface="Montserrat"/>
            </a:endParaRPr>
          </a:p>
        </p:txBody>
      </p:sp>
      <p:sp>
        <p:nvSpPr>
          <p:cNvPr id="250" name="Google Shape;250;p44"/>
          <p:cNvSpPr txBox="1"/>
          <p:nvPr/>
        </p:nvSpPr>
        <p:spPr>
          <a:xfrm>
            <a:off x="685800" y="1447800"/>
            <a:ext cx="39513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Ada tiga macam penelitian.</a:t>
            </a:r>
            <a:endParaRPr b="1" sz="1600">
              <a:solidFill>
                <a:srgbClr val="743673"/>
              </a:solidFill>
              <a:highlight>
                <a:schemeClr val="lt1"/>
              </a:highlight>
              <a:latin typeface="Montserrat"/>
              <a:ea typeface="Montserrat"/>
              <a:cs typeface="Montserrat"/>
              <a:sym typeface="Montserrat"/>
            </a:endParaRPr>
          </a:p>
          <a:p>
            <a:pPr indent="0" lvl="0" marL="457200" rtl="0" algn="l">
              <a:lnSpc>
                <a:spcPct val="150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292100" lvl="0" marL="457200" rtl="0" algn="just">
              <a:lnSpc>
                <a:spcPct val="150000"/>
              </a:lnSpc>
              <a:spcBef>
                <a:spcPts val="0"/>
              </a:spcBef>
              <a:spcAft>
                <a:spcPts val="0"/>
              </a:spcAft>
              <a:buClr>
                <a:schemeClr val="accent1"/>
              </a:buClr>
              <a:buSzPts val="1000"/>
              <a:buFont typeface="Montserrat"/>
              <a:buChar char="●"/>
            </a:pPr>
            <a:r>
              <a:rPr b="1" lang="en" sz="1000">
                <a:solidFill>
                  <a:schemeClr val="accent1"/>
                </a:solidFill>
                <a:latin typeface="Montserrat"/>
                <a:ea typeface="Montserrat"/>
                <a:cs typeface="Montserrat"/>
                <a:sym typeface="Montserrat"/>
              </a:rPr>
              <a:t>Penelitian generatif</a:t>
            </a:r>
            <a:endParaRPr b="1" sz="1000">
              <a:solidFill>
                <a:schemeClr val="accent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accent1"/>
              </a:buClr>
              <a:buSzPts val="1000"/>
              <a:buFont typeface="Montserrat"/>
              <a:buChar char="●"/>
            </a:pPr>
            <a:r>
              <a:rPr b="1" lang="en" sz="1000">
                <a:solidFill>
                  <a:schemeClr val="accent1"/>
                </a:solidFill>
                <a:latin typeface="Montserrat"/>
                <a:ea typeface="Montserrat"/>
                <a:cs typeface="Montserrat"/>
                <a:sym typeface="Montserrat"/>
              </a:rPr>
              <a:t>Penelitian evaluatif</a:t>
            </a:r>
            <a:endParaRPr b="1" sz="1000">
              <a:solidFill>
                <a:schemeClr val="accent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accent1"/>
              </a:buClr>
              <a:buSzPts val="1000"/>
              <a:buFont typeface="Montserrat"/>
              <a:buChar char="●"/>
            </a:pPr>
            <a:r>
              <a:rPr b="1" lang="en" sz="1000">
                <a:solidFill>
                  <a:schemeClr val="accent1"/>
                </a:solidFill>
                <a:latin typeface="Montserrat"/>
                <a:ea typeface="Montserrat"/>
                <a:cs typeface="Montserrat"/>
                <a:sym typeface="Montserrat"/>
              </a:rPr>
              <a:t>Penelitian hibrida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Tiga macam penelitian ini dijalankan dengan metode yang berbeda.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Gimana sih bedanya? Kita bahas di halaman selanjutnya yaa~</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51" name="Google Shape;251;p44"/>
          <p:cNvPicPr preferRelativeResize="0"/>
          <p:nvPr/>
        </p:nvPicPr>
        <p:blipFill>
          <a:blip r:embed="rId3">
            <a:alphaModFix/>
          </a:blip>
          <a:stretch>
            <a:fillRect/>
          </a:stretch>
        </p:blipFill>
        <p:spPr>
          <a:xfrm>
            <a:off x="5257802" y="914400"/>
            <a:ext cx="3368852" cy="2386826"/>
          </a:xfrm>
          <a:prstGeom prst="rect">
            <a:avLst/>
          </a:prstGeom>
          <a:noFill/>
          <a:ln>
            <a:noFill/>
          </a:ln>
        </p:spPr>
      </p:pic>
      <p:pic>
        <p:nvPicPr>
          <p:cNvPr id="252" name="Google Shape;252;p44"/>
          <p:cNvPicPr preferRelativeResize="0"/>
          <p:nvPr/>
        </p:nvPicPr>
        <p:blipFill>
          <a:blip r:embed="rId4">
            <a:alphaModFix/>
          </a:blip>
          <a:stretch>
            <a:fillRect/>
          </a:stretch>
        </p:blipFill>
        <p:spPr>
          <a:xfrm>
            <a:off x="4954700" y="1972900"/>
            <a:ext cx="1716501" cy="2940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None/>
            </a:pPr>
            <a:r>
              <a:rPr lang="en">
                <a:latin typeface="Montserrat"/>
                <a:ea typeface="Montserrat"/>
                <a:cs typeface="Montserrat"/>
                <a:sym typeface="Montserrat"/>
              </a:rPr>
              <a:t>Macam-macam penelitian dan metodenya</a:t>
            </a:r>
            <a:endParaRPr/>
          </a:p>
        </p:txBody>
      </p:sp>
      <p:sp>
        <p:nvSpPr>
          <p:cNvPr id="259" name="Google Shape;259;p45"/>
          <p:cNvSpPr txBox="1"/>
          <p:nvPr/>
        </p:nvSpPr>
        <p:spPr>
          <a:xfrm>
            <a:off x="685800" y="13898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Penelitian generatif.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Penelitian generatif adalah jenis penelitian untuk </a:t>
            </a:r>
            <a:r>
              <a:rPr b="1" lang="en" sz="1000">
                <a:solidFill>
                  <a:schemeClr val="dk1"/>
                </a:solidFill>
                <a:latin typeface="Montserrat"/>
                <a:ea typeface="Montserrat"/>
                <a:cs typeface="Montserrat"/>
                <a:sym typeface="Montserrat"/>
              </a:rPr>
              <a:t>memahami perasaan, pikiran, dan pengalaman seseorang dalam menggunakan suatu produk.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Metode yang biasa digunakan dalam penelitian ini adalah wawancara mendalam, p</a:t>
            </a:r>
            <a:r>
              <a:rPr lang="en" sz="1000">
                <a:solidFill>
                  <a:schemeClr val="dk1"/>
                </a:solidFill>
                <a:latin typeface="Montserrat"/>
                <a:ea typeface="Montserrat"/>
                <a:cs typeface="Montserrat"/>
                <a:sym typeface="Montserrat"/>
              </a:rPr>
              <a:t>ertanyaan kontekstual, model mental (penelusuran pengalaman emosional), wawancara perj</a:t>
            </a:r>
            <a:r>
              <a:rPr lang="en" sz="1000">
                <a:solidFill>
                  <a:schemeClr val="dk1"/>
                </a:solidFill>
                <a:latin typeface="Montserrat"/>
                <a:ea typeface="Montserrat"/>
                <a:cs typeface="Montserrat"/>
                <a:sym typeface="Montserrat"/>
              </a:rPr>
              <a:t>alanan pengguna produk, dan *job to be done (JTBD).</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*Job to be Done:</a:t>
            </a:r>
            <a:r>
              <a:rPr lang="en" sz="800">
                <a:solidFill>
                  <a:schemeClr val="dk1"/>
                </a:solidFill>
                <a:latin typeface="Montserrat"/>
                <a:ea typeface="Montserrat"/>
                <a:cs typeface="Montserrat"/>
                <a:sym typeface="Montserrat"/>
              </a:rPr>
              <a:t> proses yang dilalui pengguna produk setiap kali dia ingin mengubah situasi kehidupannya yang ada menjadi situasi yang lebih menyenangkan. Contohnya bakal kita bahas di halaman selanjutnya yaa~</a:t>
            </a:r>
            <a:endParaRPr sz="600">
              <a:solidFill>
                <a:schemeClr val="dk1"/>
              </a:solidFill>
              <a:latin typeface="Montserrat"/>
              <a:ea typeface="Montserrat"/>
              <a:cs typeface="Montserrat"/>
              <a:sym typeface="Montserrat"/>
            </a:endParaRPr>
          </a:p>
        </p:txBody>
      </p:sp>
      <p:pic>
        <p:nvPicPr>
          <p:cNvPr id="260" name="Google Shape;260;p45"/>
          <p:cNvPicPr preferRelativeResize="0"/>
          <p:nvPr/>
        </p:nvPicPr>
        <p:blipFill>
          <a:blip r:embed="rId3">
            <a:alphaModFix/>
          </a:blip>
          <a:stretch>
            <a:fillRect/>
          </a:stretch>
        </p:blipFill>
        <p:spPr>
          <a:xfrm>
            <a:off x="5036025" y="1472184"/>
            <a:ext cx="3580574" cy="303577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None/>
            </a:pPr>
            <a:r>
              <a:rPr lang="en">
                <a:latin typeface="Montserrat"/>
                <a:ea typeface="Montserrat"/>
                <a:cs typeface="Montserrat"/>
                <a:sym typeface="Montserrat"/>
              </a:rPr>
              <a:t>Macam-macam penelitian dan metodenya</a:t>
            </a:r>
            <a:endParaRPr>
              <a:latin typeface="Montserrat"/>
              <a:ea typeface="Montserrat"/>
              <a:cs typeface="Montserrat"/>
              <a:sym typeface="Montserrat"/>
            </a:endParaRPr>
          </a:p>
        </p:txBody>
      </p:sp>
      <p:sp>
        <p:nvSpPr>
          <p:cNvPr id="267" name="Google Shape;267;p46"/>
          <p:cNvSpPr txBox="1"/>
          <p:nvPr/>
        </p:nvSpPr>
        <p:spPr>
          <a:xfrm>
            <a:off x="685800" y="1528500"/>
            <a:ext cx="4114800" cy="36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200">
                <a:solidFill>
                  <a:schemeClr val="accent1"/>
                </a:solidFill>
                <a:latin typeface="Montserrat"/>
                <a:ea typeface="Montserrat"/>
                <a:cs typeface="Montserrat"/>
                <a:sym typeface="Montserrat"/>
              </a:rPr>
              <a:t>Job to be Done (JTBD) itu contohnya begini…</a:t>
            </a:r>
            <a:endParaRPr b="1" sz="12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Saat menggunakan handphone, pengguna pasti berusaha mema</a:t>
            </a:r>
            <a:r>
              <a:rPr lang="en" sz="1000">
                <a:solidFill>
                  <a:schemeClr val="dk1"/>
                </a:solidFill>
                <a:latin typeface="Montserrat"/>
                <a:ea typeface="Montserrat"/>
                <a:cs typeface="Montserrat"/>
                <a:sym typeface="Montserrat"/>
              </a:rPr>
              <a:t>ksimalkan fungsi </a:t>
            </a:r>
            <a:r>
              <a:rPr lang="en" sz="1000">
                <a:solidFill>
                  <a:schemeClr val="dk1"/>
                </a:solidFill>
                <a:latin typeface="Montserrat"/>
                <a:ea typeface="Montserrat"/>
                <a:cs typeface="Montserrat"/>
                <a:sym typeface="Montserrat"/>
              </a:rPr>
              <a:t>handphone tersebut untuk kegiatannya sehari-har</a:t>
            </a:r>
            <a:r>
              <a:rPr lang="en" sz="1000">
                <a:solidFill>
                  <a:schemeClr val="dk1"/>
                </a:solidFill>
                <a:latin typeface="Montserrat"/>
                <a:ea typeface="Montserrat"/>
                <a:cs typeface="Montserrat"/>
                <a:sym typeface="Montserrat"/>
              </a:rPr>
              <a:t>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Misalnya, fitur atau aplikasi musik. Pengguna akan </a:t>
            </a:r>
            <a:r>
              <a:rPr lang="en" sz="1000">
                <a:solidFill>
                  <a:schemeClr val="dk1"/>
                </a:solidFill>
                <a:latin typeface="Montserrat"/>
                <a:ea typeface="Montserrat"/>
                <a:cs typeface="Montserrat"/>
                <a:sym typeface="Montserrat"/>
              </a:rPr>
              <a:t>mengatur dan mengelola musik untuk hal yang menyenangkan, seperti membuat daftar putar, berbagi lagu dengan teman-teman, dan menghabiskan waktu dengan mendengar lagu favorit.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pic>
        <p:nvPicPr>
          <p:cNvPr id="268" name="Google Shape;268;p46">
            <a:hlinkClick r:id="rId3"/>
          </p:cNvPr>
          <p:cNvPicPr preferRelativeResize="0"/>
          <p:nvPr/>
        </p:nvPicPr>
        <p:blipFill>
          <a:blip r:embed="rId4">
            <a:alphaModFix/>
          </a:blip>
          <a:stretch>
            <a:fillRect/>
          </a:stretch>
        </p:blipFill>
        <p:spPr>
          <a:xfrm>
            <a:off x="5296176" y="1136175"/>
            <a:ext cx="2618801" cy="34546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4" name="Google Shape;274;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None/>
            </a:pPr>
            <a:r>
              <a:rPr lang="en">
                <a:latin typeface="Montserrat"/>
                <a:ea typeface="Montserrat"/>
                <a:cs typeface="Montserrat"/>
                <a:sym typeface="Montserrat"/>
              </a:rPr>
              <a:t>Macam-macam penelitian dan metodenya</a:t>
            </a:r>
            <a:endParaRPr>
              <a:latin typeface="Montserrat"/>
              <a:ea typeface="Montserrat"/>
              <a:cs typeface="Montserrat"/>
              <a:sym typeface="Montserrat"/>
            </a:endParaRPr>
          </a:p>
        </p:txBody>
      </p:sp>
      <p:sp>
        <p:nvSpPr>
          <p:cNvPr id="275" name="Google Shape;275;p47"/>
          <p:cNvSpPr txBox="1"/>
          <p:nvPr/>
        </p:nvSpPr>
        <p:spPr>
          <a:xfrm>
            <a:off x="685800" y="12801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Penelitian evaluatif.</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Penelitian generatif adalah jenis penelitian untuk </a:t>
            </a:r>
            <a:r>
              <a:rPr b="1" lang="en" sz="1000">
                <a:solidFill>
                  <a:schemeClr val="dk1"/>
                </a:solidFill>
                <a:latin typeface="Montserrat"/>
                <a:ea typeface="Montserrat"/>
                <a:cs typeface="Montserrat"/>
                <a:sym typeface="Montserrat"/>
              </a:rPr>
              <a:t>memahami pain points (kendala) atau permasalahan seseorang ketika menggunakan suatu produk</a:t>
            </a:r>
            <a:r>
              <a:rPr lang="en" sz="1000">
                <a:solidFill>
                  <a:schemeClr val="dk1"/>
                </a:solidFill>
                <a:latin typeface="Montserrat"/>
                <a:ea typeface="Montserrat"/>
                <a:cs typeface="Montserrat"/>
                <a:sym typeface="Montserrat"/>
              </a:rPr>
              <a:t>. Sesuai dengan namanya, penelitian ini ingin mengevaluasi suatu produk untuk dapat dikembangkan.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Metode yang biasa digunakan dalam penelitian ini adalah usability testing, *A/B testing, analisis kompetitif, benchmarking, dan survei.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*A/B testing: </a:t>
            </a:r>
            <a:r>
              <a:rPr lang="en" sz="800">
                <a:solidFill>
                  <a:srgbClr val="202124"/>
                </a:solidFill>
                <a:highlight>
                  <a:schemeClr val="lt1"/>
                </a:highlight>
                <a:latin typeface="Montserrat"/>
                <a:ea typeface="Montserrat"/>
                <a:cs typeface="Montserrat"/>
                <a:sym typeface="Montserrat"/>
              </a:rPr>
              <a:t>eksperimen yang menguji perubahan conversion rate antara beberapa variasi dalam website. </a:t>
            </a:r>
            <a:r>
              <a:rPr lang="en" sz="800">
                <a:solidFill>
                  <a:schemeClr val="dk1"/>
                </a:solidFill>
                <a:latin typeface="Montserrat"/>
                <a:ea typeface="Montserrat"/>
                <a:cs typeface="Montserrat"/>
                <a:sym typeface="Montserrat"/>
              </a:rPr>
              <a:t>Contohnya bakal kita bahas di halaman selanjutnya yaa~</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76" name="Google Shape;276;p47"/>
          <p:cNvPicPr preferRelativeResize="0"/>
          <p:nvPr/>
        </p:nvPicPr>
        <p:blipFill>
          <a:blip r:embed="rId3">
            <a:alphaModFix/>
          </a:blip>
          <a:stretch>
            <a:fillRect/>
          </a:stretch>
        </p:blipFill>
        <p:spPr>
          <a:xfrm>
            <a:off x="4724400" y="1173025"/>
            <a:ext cx="4038601" cy="34146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None/>
            </a:pPr>
            <a:r>
              <a:rPr lang="en">
                <a:latin typeface="Montserrat"/>
                <a:ea typeface="Montserrat"/>
                <a:cs typeface="Montserrat"/>
                <a:sym typeface="Montserrat"/>
              </a:rPr>
              <a:t>Macam-macam penelitian dan metodenya</a:t>
            </a:r>
            <a:endParaRPr>
              <a:latin typeface="Montserrat"/>
              <a:ea typeface="Montserrat"/>
              <a:cs typeface="Montserrat"/>
              <a:sym typeface="Montserrat"/>
            </a:endParaRPr>
          </a:p>
        </p:txBody>
      </p:sp>
      <p:sp>
        <p:nvSpPr>
          <p:cNvPr id="283" name="Google Shape;283;p48"/>
          <p:cNvSpPr txBox="1"/>
          <p:nvPr/>
        </p:nvSpPr>
        <p:spPr>
          <a:xfrm>
            <a:off x="685800" y="1271425"/>
            <a:ext cx="4114800" cy="36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200">
                <a:solidFill>
                  <a:schemeClr val="accent1"/>
                </a:solidFill>
                <a:latin typeface="Montserrat"/>
                <a:ea typeface="Montserrat"/>
                <a:cs typeface="Montserrat"/>
                <a:sym typeface="Montserrat"/>
              </a:rPr>
              <a:t>A/B testing </a:t>
            </a:r>
            <a:r>
              <a:rPr b="1" lang="en" sz="1200">
                <a:solidFill>
                  <a:schemeClr val="accent1"/>
                </a:solidFill>
                <a:latin typeface="Montserrat"/>
                <a:ea typeface="Montserrat"/>
                <a:cs typeface="Montserrat"/>
                <a:sym typeface="Montserrat"/>
              </a:rPr>
              <a:t>itu contohnya begini…</a:t>
            </a:r>
            <a:endParaRPr b="1" sz="12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2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Suatu hari, </a:t>
            </a:r>
            <a:r>
              <a:rPr lang="en" sz="1000">
                <a:solidFill>
                  <a:schemeClr val="dk1"/>
                </a:solidFill>
                <a:latin typeface="Montserrat"/>
                <a:ea typeface="Montserrat"/>
                <a:cs typeface="Montserrat"/>
                <a:sym typeface="Montserrat"/>
              </a:rPr>
              <a:t>Sabrina</a:t>
            </a:r>
            <a:r>
              <a:rPr lang="en" sz="1000">
                <a:solidFill>
                  <a:schemeClr val="dk1"/>
                </a:solidFill>
                <a:latin typeface="Montserrat"/>
                <a:ea typeface="Montserrat"/>
                <a:cs typeface="Montserrat"/>
                <a:sym typeface="Montserrat"/>
              </a:rPr>
              <a:t>, UX Researcher pada perusahaan e-commerce Tokopaedi sedang memantau aplikasi. Lalu, Sabrina kepikiran sesuatu saat melihat banner diskon pada laman aplikasi Tokopaedi: “Kayaknya banner diskon ini ukurannya kekecilan deh, nggak keliatan. Gimana kalo desainnya diperbesar ya? Apakah bisa mempengaruhi tingkat penjualan? Kan kalo diskonnya makin keliatan, orang bakal makin tertarik buat beli.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Akhirnya, Sabrina bersama tim desain mengembangkan banner diskon menjadi lebih besar. Setelah desain selesai diperbaharui, tiga minggu kemudian dilakukan A/B testing. Yaitu pengujian untuk membandingkan conversion rate antara desain lama dengan desain baru.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84" name="Google Shape;284;p48"/>
          <p:cNvPicPr preferRelativeResize="0"/>
          <p:nvPr/>
        </p:nvPicPr>
        <p:blipFill>
          <a:blip r:embed="rId3">
            <a:alphaModFix/>
          </a:blip>
          <a:stretch>
            <a:fillRect/>
          </a:stretch>
        </p:blipFill>
        <p:spPr>
          <a:xfrm>
            <a:off x="5013275" y="1117700"/>
            <a:ext cx="3793172" cy="34153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0" name="Google Shape;290;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None/>
            </a:pPr>
            <a:r>
              <a:rPr lang="en">
                <a:latin typeface="Montserrat"/>
                <a:ea typeface="Montserrat"/>
                <a:cs typeface="Montserrat"/>
                <a:sym typeface="Montserrat"/>
              </a:rPr>
              <a:t>Macam-macam penelitian dan metodenya</a:t>
            </a:r>
            <a:endParaRPr>
              <a:latin typeface="Montserrat"/>
              <a:ea typeface="Montserrat"/>
              <a:cs typeface="Montserrat"/>
              <a:sym typeface="Montserrat"/>
            </a:endParaRPr>
          </a:p>
        </p:txBody>
      </p:sp>
      <p:sp>
        <p:nvSpPr>
          <p:cNvPr id="291" name="Google Shape;291;p49"/>
          <p:cNvSpPr txBox="1"/>
          <p:nvPr/>
        </p:nvSpPr>
        <p:spPr>
          <a:xfrm>
            <a:off x="685800" y="1426800"/>
            <a:ext cx="4114800" cy="361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Tim Data pun merilis hasil A/B Testing. Desain baru dan desain lama mendapatkan jumlah pengunjung yang sama, yaitu 14.000 per hari.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Namun, jumlah pembeli pada saat diterapkannya desain baru lebih tinggi dibandingkan desain lama. Desain baru mendapatkan 7.000 pembeli per hari, sedangkan pada saat desain lama hanya 5.000 pembeli per hari.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92" name="Google Shape;292;p49"/>
          <p:cNvPicPr preferRelativeResize="0"/>
          <p:nvPr/>
        </p:nvPicPr>
        <p:blipFill>
          <a:blip r:embed="rId3">
            <a:alphaModFix/>
          </a:blip>
          <a:stretch>
            <a:fillRect/>
          </a:stretch>
        </p:blipFill>
        <p:spPr>
          <a:xfrm>
            <a:off x="5355075" y="914400"/>
            <a:ext cx="2472450" cy="38774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just">
              <a:lnSpc>
                <a:spcPct val="115000"/>
              </a:lnSpc>
              <a:spcBef>
                <a:spcPts val="0"/>
              </a:spcBef>
              <a:spcAft>
                <a:spcPts val="0"/>
              </a:spcAft>
              <a:buNone/>
            </a:pPr>
            <a:r>
              <a:rPr lang="en">
                <a:latin typeface="Montserrat"/>
                <a:ea typeface="Montserrat"/>
                <a:cs typeface="Montserrat"/>
                <a:sym typeface="Montserrat"/>
              </a:rPr>
              <a:t>Macam-macam penelitian dan metodenya</a:t>
            </a:r>
            <a:endParaRPr>
              <a:latin typeface="Montserrat"/>
              <a:ea typeface="Montserrat"/>
              <a:cs typeface="Montserrat"/>
              <a:sym typeface="Montserrat"/>
            </a:endParaRPr>
          </a:p>
        </p:txBody>
      </p:sp>
      <p:sp>
        <p:nvSpPr>
          <p:cNvPr id="299" name="Google Shape;299;p50"/>
          <p:cNvSpPr txBox="1"/>
          <p:nvPr/>
        </p:nvSpPr>
        <p:spPr>
          <a:xfrm>
            <a:off x="685800" y="12801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Penelitian hibrida.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Penelitian hibrida adalah </a:t>
            </a:r>
            <a:r>
              <a:rPr b="1" lang="en" sz="1000">
                <a:solidFill>
                  <a:schemeClr val="dk1"/>
                </a:solidFill>
                <a:latin typeface="Montserrat"/>
                <a:ea typeface="Montserrat"/>
                <a:cs typeface="Montserrat"/>
                <a:sym typeface="Montserrat"/>
              </a:rPr>
              <a:t>perpaduan antara penelitian generatif dan evaluatif</a:t>
            </a:r>
            <a:r>
              <a:rPr lang="en" sz="1000">
                <a:solidFill>
                  <a:schemeClr val="dk1"/>
                </a:solidFill>
                <a:latin typeface="Montserrat"/>
                <a:ea typeface="Montserrat"/>
                <a:cs typeface="Montserrat"/>
                <a:sym typeface="Montserrat"/>
              </a:rPr>
              <a:t>. Artinya, penelitian ini dilakukan untuk memahami perasaaan, pikiran, pengalaman, dan paint poins seseorang ketika menggunakan suatu produk.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Metode yang biasa digunakan dalam penelitian ini adalah wawancara mendalam, usability testing, *card sorting, dan survei.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800">
                <a:solidFill>
                  <a:schemeClr val="dk1"/>
                </a:solidFill>
                <a:latin typeface="Montserrat"/>
                <a:ea typeface="Montserrat"/>
                <a:cs typeface="Montserrat"/>
                <a:sym typeface="Montserrat"/>
              </a:rPr>
              <a:t>*card sorting: </a:t>
            </a:r>
            <a:r>
              <a:rPr lang="en" sz="800">
                <a:solidFill>
                  <a:schemeClr val="dk1"/>
                </a:solidFill>
                <a:latin typeface="Montserrat"/>
                <a:ea typeface="Montserrat"/>
                <a:cs typeface="Montserrat"/>
                <a:sym typeface="Montserrat"/>
              </a:rPr>
              <a:t>m</a:t>
            </a:r>
            <a:r>
              <a:rPr lang="en" sz="800">
                <a:solidFill>
                  <a:schemeClr val="dk1"/>
                </a:solidFill>
                <a:latin typeface="Montserrat"/>
                <a:ea typeface="Montserrat"/>
                <a:cs typeface="Montserrat"/>
                <a:sym typeface="Montserrat"/>
              </a:rPr>
              <a:t>etode yang digunakan untuk menentukan struktur dan kategori produk untuk selanjutnya diimplementasikan pada information architecture (IA).</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300" name="Google Shape;300;p50"/>
          <p:cNvPicPr preferRelativeResize="0"/>
          <p:nvPr/>
        </p:nvPicPr>
        <p:blipFill>
          <a:blip r:embed="rId3">
            <a:alphaModFix/>
          </a:blip>
          <a:stretch>
            <a:fillRect/>
          </a:stretch>
        </p:blipFill>
        <p:spPr>
          <a:xfrm>
            <a:off x="5173349" y="929577"/>
            <a:ext cx="3358801" cy="387102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1"/>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400">
                <a:latin typeface="Montserrat"/>
                <a:ea typeface="Montserrat"/>
                <a:cs typeface="Montserrat"/>
                <a:sym typeface="Montserrat"/>
              </a:rPr>
              <a:t>Nah, setelah memahami siklus dan macam-macam penelitian, sekarang saatnya kita bedah </a:t>
            </a:r>
            <a:r>
              <a:rPr lang="en" sz="1400">
                <a:solidFill>
                  <a:schemeClr val="accent1"/>
                </a:solidFill>
                <a:latin typeface="Montserrat"/>
                <a:ea typeface="Montserrat"/>
                <a:cs typeface="Montserrat"/>
                <a:sym typeface="Montserrat"/>
              </a:rPr>
              <a:t>pelaksanaan penelitian pada skenario di atas dalam timeline berikut ini!</a:t>
            </a:r>
            <a:endParaRPr sz="1400">
              <a:solidFill>
                <a:schemeClr val="accent1"/>
              </a:solidFill>
              <a:latin typeface="Montserrat"/>
              <a:ea typeface="Montserrat"/>
              <a:cs typeface="Montserrat"/>
              <a:sym typeface="Montserrat"/>
            </a:endParaRPr>
          </a:p>
          <a:p>
            <a:pPr indent="0" lvl="0" marL="0" rtl="0" algn="ctr">
              <a:spcBef>
                <a:spcPts val="0"/>
              </a:spcBef>
              <a:spcAft>
                <a:spcPts val="0"/>
              </a:spcAft>
              <a:buNone/>
            </a:pPr>
            <a:r>
              <a:t/>
            </a:r>
            <a:endParaRPr/>
          </a:p>
        </p:txBody>
      </p:sp>
      <p:sp>
        <p:nvSpPr>
          <p:cNvPr id="306" name="Google Shape;306;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07" name="Google Shape;307;p51"/>
          <p:cNvPicPr preferRelativeResize="0"/>
          <p:nvPr/>
        </p:nvPicPr>
        <p:blipFill>
          <a:blip r:embed="rId3">
            <a:alphaModFix/>
          </a:blip>
          <a:stretch>
            <a:fillRect/>
          </a:stretch>
        </p:blipFill>
        <p:spPr>
          <a:xfrm>
            <a:off x="2785090" y="1941300"/>
            <a:ext cx="3573820" cy="3202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Timeline penelitian</a:t>
            </a:r>
            <a:endParaRPr/>
          </a:p>
        </p:txBody>
      </p:sp>
      <p:sp>
        <p:nvSpPr>
          <p:cNvPr id="314" name="Google Shape;314;p52"/>
          <p:cNvSpPr txBox="1"/>
          <p:nvPr/>
        </p:nvSpPr>
        <p:spPr>
          <a:xfrm>
            <a:off x="685800" y="12801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Coba kita cari tahu dulu, timeline itu apa sih?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Kalo di bahasa indonesia-in, timeline artinya linimasa atau urutan waktu suatu proyek dilaksanakan.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Nah, </a:t>
            </a:r>
            <a:r>
              <a:rPr b="1" lang="en" sz="1000">
                <a:solidFill>
                  <a:schemeClr val="dk1"/>
                </a:solidFill>
                <a:latin typeface="Montserrat"/>
                <a:ea typeface="Montserrat"/>
                <a:cs typeface="Montserrat"/>
                <a:sym typeface="Montserrat"/>
              </a:rPr>
              <a:t>timeline penelitian berarti, urutan waktu suatu penelitian dilaksanakan. </a:t>
            </a:r>
            <a:r>
              <a:rPr lang="en" sz="1000">
                <a:solidFill>
                  <a:schemeClr val="dk1"/>
                </a:solidFill>
                <a:latin typeface="Montserrat"/>
                <a:ea typeface="Montserrat"/>
                <a:cs typeface="Montserrat"/>
                <a:sym typeface="Montserrat"/>
              </a:rPr>
              <a:t>Kalo ditotalin, sebuah penelitian itu bisa makan waktu sekitar 3 sampe 6 minggu. Nggak lama-lama banget juga sih~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Sekarang, coba kita lihat timeline penelitian</a:t>
            </a:r>
            <a:r>
              <a:rPr b="1"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memahami pengalaman pengguna terkait adopsi hewan”</a:t>
            </a:r>
            <a:r>
              <a:rPr lang="en" sz="1000">
                <a:solidFill>
                  <a:schemeClr val="dk1"/>
                </a:solidFill>
                <a:latin typeface="Montserrat"/>
                <a:ea typeface="Montserrat"/>
                <a:cs typeface="Montserrat"/>
                <a:sym typeface="Montserrat"/>
              </a:rPr>
              <a:t> seperti skenario sebelumnya pada halaman setelah ini yaa!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315" name="Google Shape;315;p52"/>
          <p:cNvPicPr preferRelativeResize="0"/>
          <p:nvPr/>
        </p:nvPicPr>
        <p:blipFill>
          <a:blip r:embed="rId3">
            <a:alphaModFix/>
          </a:blip>
          <a:stretch>
            <a:fillRect/>
          </a:stretch>
        </p:blipFill>
        <p:spPr>
          <a:xfrm>
            <a:off x="5525800" y="914400"/>
            <a:ext cx="1959759" cy="3886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53"/>
          <p:cNvPicPr preferRelativeResize="0"/>
          <p:nvPr/>
        </p:nvPicPr>
        <p:blipFill>
          <a:blip r:embed="rId3">
            <a:alphaModFix/>
          </a:blip>
          <a:stretch>
            <a:fillRect/>
          </a:stretch>
        </p:blipFill>
        <p:spPr>
          <a:xfrm>
            <a:off x="-1" y="-1"/>
            <a:ext cx="9144003" cy="51435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Timeline penelitian</a:t>
            </a:r>
            <a:endParaRPr/>
          </a:p>
        </p:txBody>
      </p:sp>
      <p:sp>
        <p:nvSpPr>
          <p:cNvPr id="327" name="Google Shape;327;p54"/>
          <p:cNvSpPr txBox="1"/>
          <p:nvPr/>
        </p:nvSpPr>
        <p:spPr>
          <a:xfrm>
            <a:off x="685800" y="137504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Timeline penelitian tersebut dipecah menjadi dua.</a:t>
            </a:r>
            <a:endParaRPr b="1" sz="1600">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700">
              <a:solidFill>
                <a:srgbClr val="743673"/>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Kalo kita perhatikan, timeline pelaksanaan penelitian tersebut dipecah menjadi dua,</a:t>
            </a:r>
            <a:r>
              <a:rPr b="1" lang="en" sz="1000">
                <a:solidFill>
                  <a:schemeClr val="accent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yaitu:</a:t>
            </a:r>
            <a:endParaRPr sz="1000">
              <a:solidFill>
                <a:schemeClr val="dk1"/>
              </a:solidFill>
              <a:latin typeface="Montserrat"/>
              <a:ea typeface="Montserrat"/>
              <a:cs typeface="Montserrat"/>
              <a:sym typeface="Montserrat"/>
            </a:endParaRPr>
          </a:p>
          <a:p>
            <a:pPr indent="0" lvl="0" marL="0" rtl="0" algn="just">
              <a:lnSpc>
                <a:spcPct val="150000"/>
              </a:lnSpc>
              <a:spcBef>
                <a:spcPts val="100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1) week 1 sampai week 4</a:t>
            </a:r>
            <a:endParaRPr b="1"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2) week 5 sampai week 7</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Mengapa demikian? Karena penelitian tersebut merupakan jenis </a:t>
            </a:r>
            <a:r>
              <a:rPr b="1" lang="en" sz="1000">
                <a:solidFill>
                  <a:schemeClr val="dk1"/>
                </a:solidFill>
                <a:latin typeface="Montserrat"/>
                <a:ea typeface="Montserrat"/>
                <a:cs typeface="Montserrat"/>
                <a:sym typeface="Montserrat"/>
              </a:rPr>
              <a:t>penelitian hibrida (generatif dan evaluatif).</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Emang iya ya? Kalo nggak percaya, coba deh kamu cek lagi halaman 7 yang nampilin rincian tujuan penelitian. Ada 4 tujuan kan?</a:t>
            </a:r>
            <a:endParaRPr sz="1000">
              <a:solidFill>
                <a:schemeClr val="dk1"/>
              </a:solidFill>
              <a:latin typeface="Montserrat"/>
              <a:ea typeface="Montserrat"/>
              <a:cs typeface="Montserrat"/>
              <a:sym typeface="Montserrat"/>
            </a:endParaRPr>
          </a:p>
        </p:txBody>
      </p:sp>
      <p:pic>
        <p:nvPicPr>
          <p:cNvPr id="328" name="Google Shape;328;p54"/>
          <p:cNvPicPr preferRelativeResize="0"/>
          <p:nvPr/>
        </p:nvPicPr>
        <p:blipFill>
          <a:blip r:embed="rId3">
            <a:alphaModFix/>
          </a:blip>
          <a:stretch>
            <a:fillRect/>
          </a:stretch>
        </p:blipFill>
        <p:spPr>
          <a:xfrm>
            <a:off x="5522525" y="914400"/>
            <a:ext cx="2060710" cy="38861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Timeline penelitian</a:t>
            </a:r>
            <a:endParaRPr/>
          </a:p>
        </p:txBody>
      </p:sp>
      <p:sp>
        <p:nvSpPr>
          <p:cNvPr id="335" name="Google Shape;335;p55"/>
          <p:cNvSpPr txBox="1"/>
          <p:nvPr/>
        </p:nvSpPr>
        <p:spPr>
          <a:xfrm>
            <a:off x="685800" y="13334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Nah, 4 tujuan itu dibagi dalam dua timeline.</a:t>
            </a:r>
            <a:endParaRPr b="1" sz="1600">
              <a:solidFill>
                <a:srgbClr val="743673"/>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b="1" sz="11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Tujuan 1, 2, dan 3 secara umum adalah untuk memahami perasaan, pikiran, dan pengalaman pengguna terkait pengadopsian hewan dan bagaimana interaksi mereka dengan website adopsi hewan selama ini. Kalo kita liat, ini merupakan </a:t>
            </a:r>
            <a:r>
              <a:rPr b="1" lang="en" sz="1000">
                <a:solidFill>
                  <a:schemeClr val="dk1"/>
                </a:solidFill>
                <a:latin typeface="Montserrat"/>
                <a:ea typeface="Montserrat"/>
                <a:cs typeface="Montserrat"/>
                <a:sym typeface="Montserrat"/>
              </a:rPr>
              <a:t>jenis penelitian generatif dan akan diteliti pada week 1 hingga week 4 melalui metode wawancara.</a:t>
            </a:r>
            <a:endParaRPr b="1"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Tujuan 4 adalah untuk memahami pain points pengguna dalam proses adopsi hewan. Kalo kita liat, tujuan kayak gini merupakan </a:t>
            </a:r>
            <a:r>
              <a:rPr b="1" lang="en" sz="1000">
                <a:solidFill>
                  <a:schemeClr val="dk1"/>
                </a:solidFill>
                <a:latin typeface="Montserrat"/>
                <a:ea typeface="Montserrat"/>
                <a:cs typeface="Montserrat"/>
                <a:sym typeface="Montserrat"/>
              </a:rPr>
              <a:t>jenis penelitian evaluatif dan akan diteliti secara khusus pada week 5 sampai week 7 melalui metode usability testing.</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t/>
            </a:r>
            <a:endParaRPr sz="1000">
              <a:solidFill>
                <a:schemeClr val="dk1"/>
              </a:solidFill>
              <a:latin typeface="Montserrat"/>
              <a:ea typeface="Montserrat"/>
              <a:cs typeface="Montserrat"/>
              <a:sym typeface="Montserrat"/>
            </a:endParaRPr>
          </a:p>
        </p:txBody>
      </p:sp>
      <p:pic>
        <p:nvPicPr>
          <p:cNvPr id="336" name="Google Shape;336;p55"/>
          <p:cNvPicPr preferRelativeResize="0"/>
          <p:nvPr/>
        </p:nvPicPr>
        <p:blipFill>
          <a:blip r:embed="rId3">
            <a:alphaModFix/>
          </a:blip>
          <a:stretch>
            <a:fillRect/>
          </a:stretch>
        </p:blipFill>
        <p:spPr>
          <a:xfrm>
            <a:off x="5860300" y="914400"/>
            <a:ext cx="1972318" cy="38861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Timeline penelitian</a:t>
            </a:r>
            <a:endParaRPr/>
          </a:p>
        </p:txBody>
      </p:sp>
      <p:sp>
        <p:nvSpPr>
          <p:cNvPr id="343" name="Google Shape;343;p56"/>
          <p:cNvSpPr txBox="1"/>
          <p:nvPr/>
        </p:nvSpPr>
        <p:spPr>
          <a:xfrm>
            <a:off x="685800" y="1447797"/>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Gimana, udah tahu kan gimana sebuah penelitian dijalankan?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5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Timeline yang ada idealnya akan menuntut kita untuk melaksanakan penelitian secara terstruktur dan sistematis.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Tapi, balik lagi kayak penjelasan siklus tadi, semuanya nggak harus linear, kok. Yang penting disesuaikan aja sama kebutuhan, sumber daya, dan waktu yang kita punya.</a:t>
            </a:r>
            <a:endParaRPr sz="1000">
              <a:solidFill>
                <a:schemeClr val="dk1"/>
              </a:solidFill>
              <a:latin typeface="Montserrat"/>
              <a:ea typeface="Montserrat"/>
              <a:cs typeface="Montserrat"/>
              <a:sym typeface="Montserrat"/>
            </a:endParaRPr>
          </a:p>
        </p:txBody>
      </p:sp>
      <p:pic>
        <p:nvPicPr>
          <p:cNvPr id="344" name="Google Shape;344;p56"/>
          <p:cNvPicPr preferRelativeResize="0"/>
          <p:nvPr/>
        </p:nvPicPr>
        <p:blipFill>
          <a:blip r:embed="rId3">
            <a:alphaModFix/>
          </a:blip>
          <a:stretch>
            <a:fillRect/>
          </a:stretch>
        </p:blipFill>
        <p:spPr>
          <a:xfrm>
            <a:off x="5143900" y="1416662"/>
            <a:ext cx="3724626" cy="32626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7"/>
          <p:cNvSpPr txBox="1"/>
          <p:nvPr/>
        </p:nvSpPr>
        <p:spPr>
          <a:xfrm>
            <a:off x="914400" y="10135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 </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350" name="Google Shape;350;p57"/>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56" name="Google Shape;356;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1.</a:t>
            </a:r>
            <a:r>
              <a:rPr b="1" lang="en" sz="1800">
                <a:solidFill>
                  <a:schemeClr val="lt1"/>
                </a:solidFill>
                <a:latin typeface="Montserrat"/>
                <a:ea typeface="Montserrat"/>
                <a:cs typeface="Montserrat"/>
                <a:sym typeface="Montserrat"/>
              </a:rPr>
              <a:t> Perpaduan antara penelitian generatif dan evaluatif disebut </a:t>
            </a:r>
            <a:r>
              <a:rPr b="1" lang="en" sz="1800">
                <a:solidFill>
                  <a:schemeClr val="lt1"/>
                </a:solidFill>
                <a:latin typeface="Montserrat"/>
                <a:ea typeface="Montserrat"/>
                <a:cs typeface="Montserrat"/>
                <a:sym typeface="Montserrat"/>
              </a:rPr>
              <a:t>penelitian…</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p:txBody>
      </p:sp>
      <p:sp>
        <p:nvSpPr>
          <p:cNvPr id="357" name="Google Shape;357;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63" name="Google Shape;363;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rgbClr val="000000"/>
              </a:buClr>
              <a:buSzPts val="1100"/>
              <a:buFont typeface="Arial"/>
              <a:buNone/>
            </a:pPr>
            <a:r>
              <a:rPr b="1" lang="en" sz="1800">
                <a:solidFill>
                  <a:schemeClr val="accent1"/>
                </a:solidFill>
                <a:latin typeface="Montserrat"/>
                <a:ea typeface="Montserrat"/>
                <a:cs typeface="Montserrat"/>
                <a:sym typeface="Montserrat"/>
              </a:rPr>
              <a:t>1.</a:t>
            </a:r>
            <a:r>
              <a:rPr b="1" lang="en" sz="1800">
                <a:solidFill>
                  <a:schemeClr val="lt1"/>
                </a:solidFill>
                <a:latin typeface="Montserrat"/>
                <a:ea typeface="Montserrat"/>
                <a:cs typeface="Montserrat"/>
                <a:sym typeface="Montserrat"/>
              </a:rPr>
              <a:t> Perpaduan antara penelitian generatif dan evaluatif  disebut penelitian… </a:t>
            </a:r>
            <a:r>
              <a:rPr b="1" lang="en" sz="1800">
                <a:solidFill>
                  <a:schemeClr val="accent1"/>
                </a:solidFill>
                <a:latin typeface="Montserrat"/>
                <a:ea typeface="Montserrat"/>
                <a:cs typeface="Montserrat"/>
                <a:sym typeface="Montserrat"/>
              </a:rPr>
              <a:t>hibrida</a:t>
            </a:r>
            <a:endParaRPr b="1" sz="18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p:txBody>
      </p:sp>
      <p:sp>
        <p:nvSpPr>
          <p:cNvPr id="364" name="Google Shape;364;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59"/>
          <p:cNvSpPr/>
          <p:nvPr/>
        </p:nvSpPr>
        <p:spPr>
          <a:xfrm>
            <a:off x="685800" y="2556175"/>
            <a:ext cx="7772400" cy="1205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t/>
            </a:r>
            <a:endParaRPr b="1" sz="1200">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200">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Terdapat tiga macam penelitian, yaitu:</a:t>
            </a:r>
            <a:endParaRPr b="1" sz="1200">
              <a:solidFill>
                <a:srgbClr val="733572"/>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733572"/>
              </a:buClr>
              <a:buSzPts val="1200"/>
              <a:buFont typeface="Montserrat"/>
              <a:buAutoNum type="arabicPeriod"/>
            </a:pPr>
            <a:r>
              <a:rPr b="1" lang="en" sz="1200">
                <a:solidFill>
                  <a:srgbClr val="733572"/>
                </a:solidFill>
                <a:latin typeface="Montserrat"/>
                <a:ea typeface="Montserrat"/>
                <a:cs typeface="Montserrat"/>
                <a:sym typeface="Montserrat"/>
              </a:rPr>
              <a:t>Penelitian generatif</a:t>
            </a:r>
            <a:endParaRPr b="1" sz="1200">
              <a:solidFill>
                <a:srgbClr val="733572"/>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733572"/>
              </a:buClr>
              <a:buSzPts val="1200"/>
              <a:buFont typeface="Montserrat"/>
              <a:buAutoNum type="arabicPeriod"/>
            </a:pPr>
            <a:r>
              <a:rPr b="1" lang="en" sz="1200">
                <a:solidFill>
                  <a:srgbClr val="733572"/>
                </a:solidFill>
                <a:latin typeface="Montserrat"/>
                <a:ea typeface="Montserrat"/>
                <a:cs typeface="Montserrat"/>
                <a:sym typeface="Montserrat"/>
              </a:rPr>
              <a:t>Penelitian evaluatif</a:t>
            </a:r>
            <a:endParaRPr b="1" sz="1200">
              <a:solidFill>
                <a:srgbClr val="733572"/>
              </a:solidFill>
              <a:latin typeface="Montserrat"/>
              <a:ea typeface="Montserrat"/>
              <a:cs typeface="Montserrat"/>
              <a:sym typeface="Montserrat"/>
            </a:endParaRPr>
          </a:p>
          <a:p>
            <a:pPr indent="-304800" lvl="0" marL="457200" rtl="0" algn="just">
              <a:lnSpc>
                <a:spcPct val="115000"/>
              </a:lnSpc>
              <a:spcBef>
                <a:spcPts val="0"/>
              </a:spcBef>
              <a:spcAft>
                <a:spcPts val="0"/>
              </a:spcAft>
              <a:buClr>
                <a:srgbClr val="733572"/>
              </a:buClr>
              <a:buSzPts val="1200"/>
              <a:buFont typeface="Montserrat"/>
              <a:buAutoNum type="arabicPeriod"/>
            </a:pPr>
            <a:r>
              <a:rPr b="1" lang="en" sz="1200">
                <a:solidFill>
                  <a:srgbClr val="733572"/>
                </a:solidFill>
                <a:latin typeface="Montserrat"/>
                <a:ea typeface="Montserrat"/>
                <a:cs typeface="Montserrat"/>
                <a:sym typeface="Montserrat"/>
              </a:rPr>
              <a:t>Penelitian hibrida (perpaduan antara penelitian generatif dan evaluatif)</a:t>
            </a:r>
            <a:endParaRPr b="1" sz="1200">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200">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371" name="Google Shape;371;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metode penelitian yang digunakan dalam penelitian generatif,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Wawancara mendalam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Card sorting</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Model mental</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Wawancara perjalanan user</a:t>
            </a:r>
            <a:endParaRPr sz="1200">
              <a:solidFill>
                <a:schemeClr val="lt1"/>
              </a:solidFill>
              <a:latin typeface="Montserrat Medium"/>
              <a:ea typeface="Montserrat Medium"/>
              <a:cs typeface="Montserrat Medium"/>
              <a:sym typeface="Montserrat Medium"/>
            </a:endParaRPr>
          </a:p>
        </p:txBody>
      </p:sp>
      <p:sp>
        <p:nvSpPr>
          <p:cNvPr id="372" name="Google Shape;372;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378" name="Google Shape;378;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metode penelitian yang digunakan dalam penelitian generatif,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Wawancara mendalam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Card sorting</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Model mental</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Wawancara perjalanan user</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sz="2800">
              <a:solidFill>
                <a:schemeClr val="accent1"/>
              </a:solidFill>
              <a:latin typeface="Montserrat Medium"/>
              <a:ea typeface="Montserrat Medium"/>
              <a:cs typeface="Montserrat Medium"/>
              <a:sym typeface="Montserrat Medium"/>
            </a:endParaRPr>
          </a:p>
        </p:txBody>
      </p:sp>
      <p:sp>
        <p:nvSpPr>
          <p:cNvPr id="379" name="Google Shape;37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61"/>
          <p:cNvSpPr/>
          <p:nvPr/>
        </p:nvSpPr>
        <p:spPr>
          <a:xfrm>
            <a:off x="685800" y="3536575"/>
            <a:ext cx="7772400" cy="852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43673"/>
                </a:solidFill>
                <a:latin typeface="Montserrat"/>
                <a:ea typeface="Montserrat"/>
                <a:cs typeface="Montserrat"/>
                <a:sym typeface="Montserrat"/>
              </a:rPr>
              <a:t>Card sorting adalah m</a:t>
            </a:r>
            <a:r>
              <a:rPr b="1" lang="en" sz="1200">
                <a:solidFill>
                  <a:srgbClr val="743673"/>
                </a:solidFill>
                <a:latin typeface="Montserrat"/>
                <a:ea typeface="Montserrat"/>
                <a:cs typeface="Montserrat"/>
                <a:sym typeface="Montserrat"/>
              </a:rPr>
              <a:t>etode yang digunakan untuk menentukan struktur dan kategori produk untuk selanjutnya diimplementasikan pada information architecture (IA). </a:t>
            </a:r>
            <a:r>
              <a:rPr b="1" lang="en" sz="1200">
                <a:solidFill>
                  <a:srgbClr val="743673"/>
                </a:solidFill>
                <a:latin typeface="Montserrat"/>
                <a:ea typeface="Montserrat"/>
                <a:cs typeface="Montserrat"/>
                <a:sym typeface="Montserrat"/>
              </a:rPr>
              <a:t>Card sorting adalah metode yang digunakan dalam</a:t>
            </a:r>
            <a:r>
              <a:rPr lang="en" sz="1200">
                <a:solidFill>
                  <a:srgbClr val="743673"/>
                </a:solidFill>
                <a:latin typeface="Montserrat Black"/>
                <a:ea typeface="Montserrat Black"/>
                <a:cs typeface="Montserrat Black"/>
                <a:sym typeface="Montserrat Black"/>
              </a:rPr>
              <a:t> penelitian hibrida.</a:t>
            </a:r>
            <a:endParaRPr sz="1200">
              <a:solidFill>
                <a:srgbClr val="743673"/>
              </a:solidFill>
              <a:latin typeface="Montserrat Black"/>
              <a:ea typeface="Montserrat Black"/>
              <a:cs typeface="Montserrat Black"/>
              <a:sym typeface="Montserrat Black"/>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86" name="Google Shape;386;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metode penelitian yang digunakan dalam penelitian evaluatif,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Usability testing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JTBD</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Perbandingan/benchmarking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Survei</a:t>
            </a:r>
            <a:endParaRPr sz="1200">
              <a:solidFill>
                <a:schemeClr val="lt1"/>
              </a:solidFill>
              <a:latin typeface="Montserrat Medium"/>
              <a:ea typeface="Montserrat Medium"/>
              <a:cs typeface="Montserrat Medium"/>
              <a:sym typeface="Montserrat Medium"/>
            </a:endParaRPr>
          </a:p>
        </p:txBody>
      </p:sp>
      <p:sp>
        <p:nvSpPr>
          <p:cNvPr id="387" name="Google Shape;38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393" name="Google Shape;393;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metode penelitian yang digunakan dalam penelitian evaluatif,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Usability testing</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JTBD</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Perbandingan/benchmarking</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Survei</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394" name="Google Shape;394;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63"/>
          <p:cNvSpPr/>
          <p:nvPr/>
        </p:nvSpPr>
        <p:spPr>
          <a:xfrm>
            <a:off x="685800" y="3536575"/>
            <a:ext cx="7772400" cy="8526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A Job to be Done (JTBD) adalah proses yang dilalui konsumen setiap kali dia ingin mengubah situasi kehidupannya saat ini menjadi situasi yang lebih menyenangkan. JTBD termasuk metode yang digunakan dalam </a:t>
            </a:r>
            <a:r>
              <a:rPr lang="en" sz="1200">
                <a:solidFill>
                  <a:srgbClr val="733572"/>
                </a:solidFill>
                <a:latin typeface="Montserrat Black"/>
                <a:ea typeface="Montserrat Black"/>
                <a:cs typeface="Montserrat Black"/>
                <a:sym typeface="Montserrat Black"/>
              </a:rPr>
              <a:t>penelitian generatif.</a:t>
            </a:r>
            <a:endParaRPr sz="1200">
              <a:solidFill>
                <a:srgbClr val="733572"/>
              </a:solidFill>
              <a:latin typeface="Montserrat Black"/>
              <a:ea typeface="Montserrat Black"/>
              <a:cs typeface="Montserrat Black"/>
              <a:sym typeface="Montserrat Blac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401" name="Google Shape;401;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metode penelitian yang digunakan dalam penelitian hibrida,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Wawancara mendalam</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A/B testing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Card sorting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Survei</a:t>
            </a:r>
            <a:endParaRPr sz="1200">
              <a:solidFill>
                <a:schemeClr val="lt1"/>
              </a:solidFill>
              <a:latin typeface="Montserrat Medium"/>
              <a:ea typeface="Montserrat Medium"/>
              <a:cs typeface="Montserrat Medium"/>
              <a:sym typeface="Montserrat Medium"/>
            </a:endParaRPr>
          </a:p>
        </p:txBody>
      </p:sp>
      <p:sp>
        <p:nvSpPr>
          <p:cNvPr id="402" name="Google Shape;402;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408" name="Google Shape;408;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beberapa metode penelitian yang digunakan dalam penelitian hibrida,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Wawancara mendalam</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A/B testing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Card sorting</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Survei</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409" name="Google Shape;409;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65"/>
          <p:cNvSpPr/>
          <p:nvPr/>
        </p:nvSpPr>
        <p:spPr>
          <a:xfrm>
            <a:off x="685800" y="36924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A/B testing adalah metode yang digunakan dalam </a:t>
            </a:r>
            <a:r>
              <a:rPr lang="en" sz="1200">
                <a:solidFill>
                  <a:srgbClr val="733572"/>
                </a:solidFill>
                <a:latin typeface="Montserrat Black"/>
                <a:ea typeface="Montserrat Black"/>
                <a:cs typeface="Montserrat Black"/>
                <a:sym typeface="Montserrat Black"/>
              </a:rPr>
              <a:t>penelitian evaluatif.</a:t>
            </a:r>
            <a:endParaRPr sz="1200">
              <a:solidFill>
                <a:srgbClr val="733572"/>
              </a:solidFill>
              <a:latin typeface="Montserrat Black"/>
              <a:ea typeface="Montserrat Black"/>
              <a:cs typeface="Montserrat Black"/>
              <a:sym typeface="Montserrat Black"/>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16" name="Google Shape;416;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500">
                <a:solidFill>
                  <a:schemeClr val="accent1"/>
                </a:solidFill>
                <a:latin typeface="Montserrat"/>
                <a:ea typeface="Montserrat"/>
                <a:cs typeface="Montserrat"/>
                <a:sym typeface="Montserrat"/>
              </a:rPr>
              <a:t>5</a:t>
            </a:r>
            <a:r>
              <a:rPr b="1" lang="en" sz="1500">
                <a:solidFill>
                  <a:schemeClr val="accent1"/>
                </a:solidFill>
                <a:latin typeface="Montserrat"/>
                <a:ea typeface="Montserrat"/>
                <a:cs typeface="Montserrat"/>
                <a:sym typeface="Montserrat"/>
              </a:rPr>
              <a:t>.</a:t>
            </a:r>
            <a:r>
              <a:rPr b="1" lang="en" sz="1500">
                <a:solidFill>
                  <a:schemeClr val="lt1"/>
                </a:solidFill>
                <a:latin typeface="Montserrat"/>
                <a:ea typeface="Montserrat"/>
                <a:cs typeface="Montserrat"/>
                <a:sym typeface="Montserrat"/>
              </a:rPr>
              <a:t> Sebelum melakukan penelitian, kamu harus melakukan kegiatan-kegiatan di bawah ini, kecuali…</a:t>
            </a:r>
            <a:endParaRPr b="1" sz="15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Menelusuri penelitian relevan yang dilakukan sebelumnya.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Menentukan research objectives.</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Menyusun problem statement.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Melakukan brainstorming.</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1000"/>
              </a:spcBef>
              <a:spcAft>
                <a:spcPts val="1000"/>
              </a:spcAft>
              <a:buNone/>
            </a:pPr>
            <a:r>
              <a:t/>
            </a:r>
            <a:endParaRPr sz="1200">
              <a:solidFill>
                <a:schemeClr val="lt1"/>
              </a:solidFill>
              <a:latin typeface="Montserrat Medium"/>
              <a:ea typeface="Montserrat Medium"/>
              <a:cs typeface="Montserrat Medium"/>
              <a:sym typeface="Montserrat Medium"/>
            </a:endParaRPr>
          </a:p>
        </p:txBody>
      </p:sp>
      <p:sp>
        <p:nvSpPr>
          <p:cNvPr id="417" name="Google Shape;417;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423" name="Google Shape;423;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500">
                <a:solidFill>
                  <a:schemeClr val="accent1"/>
                </a:solidFill>
                <a:latin typeface="Montserrat"/>
                <a:ea typeface="Montserrat"/>
                <a:cs typeface="Montserrat"/>
                <a:sym typeface="Montserrat"/>
              </a:rPr>
              <a:t>5</a:t>
            </a:r>
            <a:r>
              <a:rPr b="1" lang="en" sz="1500">
                <a:solidFill>
                  <a:schemeClr val="accent1"/>
                </a:solidFill>
                <a:latin typeface="Montserrat"/>
                <a:ea typeface="Montserrat"/>
                <a:cs typeface="Montserrat"/>
                <a:sym typeface="Montserrat"/>
              </a:rPr>
              <a:t>.</a:t>
            </a:r>
            <a:r>
              <a:rPr b="1" lang="en" sz="1500">
                <a:solidFill>
                  <a:schemeClr val="lt1"/>
                </a:solidFill>
                <a:latin typeface="Montserrat"/>
                <a:ea typeface="Montserrat"/>
                <a:cs typeface="Montserrat"/>
                <a:sym typeface="Montserrat"/>
              </a:rPr>
              <a:t> Sebelum melakukan penelitian, kamu harus melakukan kegiatan-kegiatan di bawah ini, kecuali…</a:t>
            </a:r>
            <a:endParaRPr b="1" sz="15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Menelusuri penelitian relevan yang dilakukan sebelumnya.</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Menentukan research objectives.</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Menyusun problem statement.</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Melakukan brainstorming.</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p:txBody>
      </p:sp>
      <p:sp>
        <p:nvSpPr>
          <p:cNvPr id="424" name="Google Shape;424;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5" name="Google Shape;425;p67"/>
          <p:cNvSpPr/>
          <p:nvPr/>
        </p:nvSpPr>
        <p:spPr>
          <a:xfrm>
            <a:off x="685800" y="3512325"/>
            <a:ext cx="7772400" cy="727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Brainstorming biasanya dilakukan setelah ada hasil penelitian untuk meluncurkan ide-ide baru.</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1" name="Google Shape;431;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32" name="Google Shape;432;p6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33" name="Google Shape;433;p68"/>
          <p:cNvSpPr txBox="1"/>
          <p:nvPr/>
        </p:nvSpPr>
        <p:spPr>
          <a:xfrm>
            <a:off x="685800" y="1485903"/>
            <a:ext cx="4114800" cy="36576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00000"/>
              </a:lnSpc>
              <a:spcBef>
                <a:spcPts val="0"/>
              </a:spcBef>
              <a:spcAft>
                <a:spcPts val="0"/>
              </a:spcAft>
              <a:buNone/>
            </a:pPr>
            <a:r>
              <a:t/>
            </a:r>
            <a:endParaRPr sz="700">
              <a:solidFill>
                <a:schemeClr val="dk1"/>
              </a:solidFill>
              <a:latin typeface="Montserrat"/>
              <a:ea typeface="Montserrat"/>
              <a:cs typeface="Montserrat"/>
              <a:sym typeface="Montserrat"/>
            </a:endParaRPr>
          </a:p>
          <a:p>
            <a:pPr indent="-177800" lvl="0" marL="228600" rtl="0" algn="just">
              <a:lnSpc>
                <a:spcPct val="115000"/>
              </a:lnSpc>
              <a:spcBef>
                <a:spcPts val="1000"/>
              </a:spcBef>
              <a:spcAft>
                <a:spcPts val="0"/>
              </a:spcAft>
              <a:buClr>
                <a:schemeClr val="dk1"/>
              </a:buClr>
              <a:buSzPts val="1000"/>
              <a:buFont typeface="Montserrat"/>
              <a:buAutoNum type="arabicParenR"/>
            </a:pP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The life and timelines of research projects by UX Collective</a:t>
            </a:r>
            <a:endParaRPr sz="1000" u="sng">
              <a:solidFill>
                <a:schemeClr val="dk1"/>
              </a:solidFill>
              <a:latin typeface="Montserrat"/>
              <a:ea typeface="Montserrat"/>
              <a:cs typeface="Montserrat"/>
              <a:sym typeface="Montserrat"/>
            </a:endParaRPr>
          </a:p>
          <a:p>
            <a:pPr indent="-177800" lvl="0" marL="228600" rtl="0" algn="just">
              <a:lnSpc>
                <a:spcPct val="115000"/>
              </a:lnSpc>
              <a:spcBef>
                <a:spcPts val="1000"/>
              </a:spcBef>
              <a:spcAft>
                <a:spcPts val="0"/>
              </a:spcAft>
              <a:buClr>
                <a:schemeClr val="dk1"/>
              </a:buClr>
              <a:buSzPts val="1000"/>
              <a:buFont typeface="Montserrat"/>
              <a:buAutoNum type="arabicParenR"/>
            </a:pP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A breakdown of UX research types by UX Collective</a:t>
            </a:r>
            <a:endParaRPr sz="1000" u="sng">
              <a:solidFill>
                <a:schemeClr val="dk1"/>
              </a:solidFill>
              <a:latin typeface="Montserrat"/>
              <a:ea typeface="Montserrat"/>
              <a:cs typeface="Montserrat"/>
              <a:sym typeface="Montserrat"/>
            </a:endParaRPr>
          </a:p>
          <a:p>
            <a:pPr indent="-177800" lvl="0" marL="228600" rtl="0" algn="just">
              <a:lnSpc>
                <a:spcPct val="115000"/>
              </a:lnSpc>
              <a:spcBef>
                <a:spcPts val="1000"/>
              </a:spcBef>
              <a:spcAft>
                <a:spcPts val="1000"/>
              </a:spcAft>
              <a:buClr>
                <a:schemeClr val="dk1"/>
              </a:buClr>
              <a:buSzPts val="1000"/>
              <a:buFont typeface="Montserrat"/>
              <a:buAutoNum type="arabicParenR"/>
            </a:pP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Generative vs. evaluation research: what’s the difference and why do we need each? By usertesting.com</a:t>
            </a:r>
            <a:endParaRPr sz="1000" u="sng">
              <a:solidFill>
                <a:schemeClr val="dk1"/>
              </a:solidFill>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437" name="Shape 437"/>
        <p:cNvGrpSpPr/>
        <p:nvPr/>
      </p:nvGrpSpPr>
      <p:grpSpPr>
        <a:xfrm>
          <a:off x="0" y="0"/>
          <a:ext cx="0" cy="0"/>
          <a:chOff x="0" y="0"/>
          <a:chExt cx="0" cy="0"/>
        </a:xfrm>
      </p:grpSpPr>
      <p:sp>
        <p:nvSpPr>
          <p:cNvPr id="438" name="Google Shape;438;p69"/>
          <p:cNvSpPr txBox="1"/>
          <p:nvPr/>
        </p:nvSpPr>
        <p:spPr>
          <a:xfrm>
            <a:off x="618375" y="1630075"/>
            <a:ext cx="4112700" cy="243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Nah, selesai sudah pembahasan kita di Chapter 2 Topic 4 ini.</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Selanjutnya, kita bakal bahas tentang </a:t>
            </a:r>
            <a:r>
              <a:rPr b="1" lang="en">
                <a:solidFill>
                  <a:schemeClr val="accent1"/>
                </a:solidFill>
                <a:latin typeface="Montserrat"/>
                <a:ea typeface="Montserrat"/>
                <a:cs typeface="Montserrat"/>
                <a:sym typeface="Montserrat"/>
              </a:rPr>
              <a:t>metode-metode UX research.</a:t>
            </a:r>
            <a:endParaRPr b="1">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Penasaran kayak gimana? Cus langsung ke topik selanjutnya~</a:t>
            </a:r>
            <a:endParaRPr b="1" i="1">
              <a:solidFill>
                <a:schemeClr val="lt1"/>
              </a:solidFill>
              <a:latin typeface="Montserrat"/>
              <a:ea typeface="Montserrat"/>
              <a:cs typeface="Montserrat"/>
              <a:sym typeface="Montserrat"/>
            </a:endParaRPr>
          </a:p>
          <a:p>
            <a:pPr indent="0" lvl="0" marL="0" marR="0" rtl="0" algn="just">
              <a:lnSpc>
                <a:spcPct val="115000"/>
              </a:lnSpc>
              <a:spcBef>
                <a:spcPts val="1000"/>
              </a:spcBef>
              <a:spcAft>
                <a:spcPts val="0"/>
              </a:spcAft>
              <a:buClr>
                <a:srgbClr val="000000"/>
              </a:buClr>
              <a:buSzPts val="4000"/>
              <a:buFont typeface="Arial"/>
              <a:buNone/>
            </a:pPr>
            <a:r>
              <a:t/>
            </a:r>
            <a:endParaRPr b="1">
              <a:solidFill>
                <a:srgbClr val="FFFFFF"/>
              </a:solidFill>
              <a:latin typeface="Montserrat"/>
              <a:ea typeface="Montserrat"/>
              <a:cs typeface="Montserrat"/>
              <a:sym typeface="Montserrat"/>
            </a:endParaRPr>
          </a:p>
        </p:txBody>
      </p:sp>
      <p:pic>
        <p:nvPicPr>
          <p:cNvPr id="439" name="Google Shape;439;p69"/>
          <p:cNvPicPr preferRelativeResize="0"/>
          <p:nvPr/>
        </p:nvPicPr>
        <p:blipFill>
          <a:blip r:embed="rId3">
            <a:alphaModFix/>
          </a:blip>
          <a:stretch>
            <a:fillRect/>
          </a:stretch>
        </p:blipFill>
        <p:spPr>
          <a:xfrm>
            <a:off x="4114431" y="676725"/>
            <a:ext cx="5687844" cy="4338199"/>
          </a:xfrm>
          <a:prstGeom prst="rect">
            <a:avLst/>
          </a:prstGeom>
          <a:noFill/>
          <a:ln>
            <a:noFill/>
          </a:ln>
        </p:spPr>
      </p:pic>
      <p:sp>
        <p:nvSpPr>
          <p:cNvPr id="440" name="Google Shape;440;p69"/>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1" name="Google Shape;441;p69"/>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2" name="Google Shape;442;p69"/>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3" name="Google Shape;443;p69"/>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44" name="Google Shape;444;p69"/>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5" name="Google Shape;445;p69"/>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46" name="Google Shape;446;p69"/>
          <p:cNvPicPr preferRelativeResize="0"/>
          <p:nvPr/>
        </p:nvPicPr>
        <p:blipFill rotWithShape="1">
          <a:blip r:embed="rId4">
            <a:alphaModFix/>
          </a:blip>
          <a:srcRect b="0" l="0" r="0" t="0"/>
          <a:stretch/>
        </p:blipFill>
        <p:spPr>
          <a:xfrm>
            <a:off x="8535950" y="105991"/>
            <a:ext cx="463928" cy="463928"/>
          </a:xfrm>
          <a:prstGeom prst="rect">
            <a:avLst/>
          </a:prstGeom>
          <a:noFill/>
          <a:ln>
            <a:noFill/>
          </a:ln>
        </p:spPr>
      </p:pic>
      <p:sp>
        <p:nvSpPr>
          <p:cNvPr id="447" name="Google Shape;447;p69"/>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48" name="Google Shape;448;p69"/>
          <p:cNvSpPr txBox="1"/>
          <p:nvPr/>
        </p:nvSpPr>
        <p:spPr>
          <a:xfrm>
            <a:off x="618377" y="251687"/>
            <a:ext cx="7296000" cy="23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Penutup</a:t>
            </a:r>
            <a:endParaRPr b="1" sz="1200">
              <a:solidFill>
                <a:schemeClr val="lt1"/>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52" name="Shape 452"/>
        <p:cNvGrpSpPr/>
        <p:nvPr/>
      </p:nvGrpSpPr>
      <p:grpSpPr>
        <a:xfrm>
          <a:off x="0" y="0"/>
          <a:ext cx="0" cy="0"/>
          <a:chOff x="0" y="0"/>
          <a:chExt cx="0" cy="0"/>
        </a:xfrm>
      </p:grpSpPr>
      <p:sp>
        <p:nvSpPr>
          <p:cNvPr id="453" name="Google Shape;453;p70"/>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 name="Google Shape;454;p70"/>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455" name="Google Shape;455;p70"/>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456" name="Google Shape;456;p70"/>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