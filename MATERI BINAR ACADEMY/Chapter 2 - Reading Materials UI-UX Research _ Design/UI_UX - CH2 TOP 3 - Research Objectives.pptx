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8.xml"/>
  <Override ContentType="application/vnd.openxmlformats-officedocument.presentationml.comments+xml" PartName="/ppt/comments/comment6.xml"/>
  <Override ContentType="application/vnd.openxmlformats-officedocument.presentationml.comments+xml" PartName="/ppt/comments/comment3.xml"/>
  <Override ContentType="application/vnd.openxmlformats-officedocument.presentationml.comments+xml" PartName="/ppt/comments/comment13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12.xml"/>
  <Override ContentType="application/vnd.openxmlformats-officedocument.presentationml.comments+xml" PartName="/ppt/comments/comment14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embeddedFontLst>
    <p:embeddedFont>
      <p:font typeface="Raleway"/>
      <p:regular r:id="rId54"/>
      <p:bold r:id="rId55"/>
      <p:italic r:id="rId56"/>
      <p:boldItalic r:id="rId57"/>
    </p:embeddedFont>
    <p:embeddedFont>
      <p:font typeface="Montserrat"/>
      <p:regular r:id="rId58"/>
      <p:bold r:id="rId59"/>
      <p:italic r:id="rId60"/>
      <p:boldItalic r:id="rId61"/>
    </p:embeddedFont>
    <p:embeddedFont>
      <p:font typeface="Montserrat Black"/>
      <p:bold r:id="rId62"/>
      <p:boldItalic r:id="rId63"/>
    </p:embeddedFont>
    <p:embeddedFont>
      <p:font typeface="Montserrat Medium"/>
      <p:regular r:id="rId64"/>
      <p:bold r:id="rId65"/>
      <p:italic r:id="rId66"/>
      <p:boldItalic r:id="rId67"/>
    </p:embeddedFont>
    <p:embeddedFont>
      <p:font typeface="Lato Black"/>
      <p:bold r:id="rId68"/>
      <p:boldItalic r:id="rId69"/>
    </p:embeddedFont>
    <p:embeddedFont>
      <p:font typeface="Raleway Medium"/>
      <p:regular r:id="rId70"/>
      <p:bold r:id="rId71"/>
      <p:italic r:id="rId72"/>
      <p:boldItalic r:id="rId73"/>
    </p:embeddedFont>
    <p:embeddedFont>
      <p:font typeface="Montserrat ExtraBold"/>
      <p:bold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9" name="(AL) Aulia F. Kuntjoro"/>
  <p:cmAuthor clrIdx="1" id="1" initials="" lastIdx="15" name="Mursal Maherul"/>
  <p:cmAuthor clrIdx="2" id="2" initials="" lastIdx="6" name="Taopik Barkah"/>
  <p:cmAuthor clrIdx="3" id="3" initials="" lastIdx="2" name="Ade Bahtiar Azhar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alewayMedium-boldItalic.fntdata"/><Relationship Id="rId72" Type="http://schemas.openxmlformats.org/officeDocument/2006/relationships/font" Target="fonts/RalewayMedium-italic.fntdata"/><Relationship Id="rId31" Type="http://schemas.openxmlformats.org/officeDocument/2006/relationships/slide" Target="slides/slide25.xml"/><Relationship Id="rId75" Type="http://schemas.openxmlformats.org/officeDocument/2006/relationships/font" Target="fonts/MontserratExtraBold-boldItalic.fntdata"/><Relationship Id="rId30" Type="http://schemas.openxmlformats.org/officeDocument/2006/relationships/slide" Target="slides/slide24.xml"/><Relationship Id="rId74" Type="http://schemas.openxmlformats.org/officeDocument/2006/relationships/font" Target="fonts/MontserratExtraBold-bold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RalewayMedium-bold.fntdata"/><Relationship Id="rId70" Type="http://schemas.openxmlformats.org/officeDocument/2006/relationships/font" Target="fonts/RalewayMedium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MontserratBlack-bold.fntdata"/><Relationship Id="rId61" Type="http://schemas.openxmlformats.org/officeDocument/2006/relationships/font" Target="fonts/Montserrat-boldItalic.fntdata"/><Relationship Id="rId20" Type="http://schemas.openxmlformats.org/officeDocument/2006/relationships/slide" Target="slides/slide14.xml"/><Relationship Id="rId64" Type="http://schemas.openxmlformats.org/officeDocument/2006/relationships/font" Target="fonts/MontserratMedium-regular.fntdata"/><Relationship Id="rId63" Type="http://schemas.openxmlformats.org/officeDocument/2006/relationships/font" Target="fonts/MontserratBlack-boldItalic.fntdata"/><Relationship Id="rId22" Type="http://schemas.openxmlformats.org/officeDocument/2006/relationships/slide" Target="slides/slide16.xml"/><Relationship Id="rId66" Type="http://schemas.openxmlformats.org/officeDocument/2006/relationships/font" Target="fonts/MontserratMedium-italic.fntdata"/><Relationship Id="rId21" Type="http://schemas.openxmlformats.org/officeDocument/2006/relationships/slide" Target="slides/slide15.xml"/><Relationship Id="rId65" Type="http://schemas.openxmlformats.org/officeDocument/2006/relationships/font" Target="fonts/MontserratMedium-bold.fntdata"/><Relationship Id="rId24" Type="http://schemas.openxmlformats.org/officeDocument/2006/relationships/slide" Target="slides/slide18.xml"/><Relationship Id="rId68" Type="http://schemas.openxmlformats.org/officeDocument/2006/relationships/font" Target="fonts/LatoBlack-bold.fntdata"/><Relationship Id="rId23" Type="http://schemas.openxmlformats.org/officeDocument/2006/relationships/slide" Target="slides/slide17.xml"/><Relationship Id="rId67" Type="http://schemas.openxmlformats.org/officeDocument/2006/relationships/font" Target="fonts/MontserratMedium-boldItalic.fntdata"/><Relationship Id="rId60" Type="http://schemas.openxmlformats.org/officeDocument/2006/relationships/font" Target="fonts/Montserrat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LatoBlack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Raleway-bold.fntdata"/><Relationship Id="rId10" Type="http://schemas.openxmlformats.org/officeDocument/2006/relationships/slide" Target="slides/slide4.xml"/><Relationship Id="rId54" Type="http://schemas.openxmlformats.org/officeDocument/2006/relationships/font" Target="fonts/Raleway-regular.fntdata"/><Relationship Id="rId13" Type="http://schemas.openxmlformats.org/officeDocument/2006/relationships/slide" Target="slides/slide7.xml"/><Relationship Id="rId57" Type="http://schemas.openxmlformats.org/officeDocument/2006/relationships/font" Target="fonts/Raleway-boldItalic.fntdata"/><Relationship Id="rId12" Type="http://schemas.openxmlformats.org/officeDocument/2006/relationships/slide" Target="slides/slide6.xml"/><Relationship Id="rId56" Type="http://schemas.openxmlformats.org/officeDocument/2006/relationships/font" Target="fonts/Raleway-italic.fntdata"/><Relationship Id="rId15" Type="http://schemas.openxmlformats.org/officeDocument/2006/relationships/slide" Target="slides/slide9.xml"/><Relationship Id="rId59" Type="http://schemas.openxmlformats.org/officeDocument/2006/relationships/font" Target="fonts/Montserrat-bold.fntdata"/><Relationship Id="rId14" Type="http://schemas.openxmlformats.org/officeDocument/2006/relationships/slide" Target="slides/slide8.xml"/><Relationship Id="rId58" Type="http://schemas.openxmlformats.org/officeDocument/2006/relationships/font" Target="fonts/Montserrat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2-02-17T04:38:49.278">
    <p:pos x="432" y="1132"/>
    <p:text>Bagoooos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2-02-17T09:45:53.410">
    <p:pos x="432" y="730"/>
    <p:text>poin 2 sampai 4 nya redundant. Ganti frase.</p:text>
  </p:cm>
  <p:cm authorId="1" idx="1" dt="2022-02-17T09:45:53.410">
    <p:pos x="432" y="730"/>
    <p:text>done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2-02-17T04:39:30.419">
    <p:pos x="432" y="887"/>
    <p:text>Kece ada rekapnyaa..</p:text>
  </p:cm>
  <p:cm authorId="0" idx="4" dt="2022-02-17T09:46:33.161">
    <p:pos x="432" y="987"/>
    <p:text>tapi gausah di-highlight. Kebanyakan.</p:text>
  </p:cm>
  <p:cm authorId="1" idx="2" dt="2022-02-17T09:46:33.161">
    <p:pos x="432" y="987"/>
    <p:text>done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2-02-17T04:47:54.011">
    <p:pos x="3349" y="576"/>
    <p:text>Lucu ini siapaaa GD nyaaa</p:text>
  </p:cm>
  <p:cm authorId="2" idx="1" dt="2022-02-17T04:47:54.011">
    <p:pos x="3349" y="576"/>
    <p:text>@bazhari@binar.co.id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2-02-17T04:40:55.908">
    <p:pos x="5905" y="928"/>
    <p:text>Kalau di pdf kayaknya gabisa ya gif?</p:text>
  </p:cm>
  <p:cm authorId="2" idx="2" dt="2022-02-21T01:57:04.517">
    <p:pos x="5905" y="1028"/>
    <p:text>@bazhari@binar.co.id kalau di re-create lgi bisa ya?</p:text>
  </p:cm>
  <p:cm authorId="3" idx="1" dt="2022-02-21T01:57:04.517">
    <p:pos x="5905" y="1028"/>
    <p:text>done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2-02-17T10:31:23.388">
    <p:pos x="432" y="155"/>
    <p:text>Bikin contoh kitanya yang bahasa indonesia di slide setelah ini.</p:text>
  </p:cm>
  <p:cm authorId="1" idx="3" dt="2022-02-17T10:31:23.388">
    <p:pos x="432" y="155"/>
    <p:text>done</p:text>
  </p:cm>
  <p:cm authorId="1" idx="4" dt="2022-02-15T08:48:02.677">
    <p:pos x="6000" y="0"/>
    <p:text>ini apa ya mas? @tbarkah@binar.co.id</p:text>
  </p:cm>
  <p:cm authorId="2" idx="3" dt="2022-02-15T07:47:50.015">
    <p:pos x="6000" y="0"/>
    <p:text>contoh pnyajian problem statemnt</p:text>
  </p:cm>
  <p:cm authorId="1" idx="5" dt="2022-02-15T07:51:32.718">
    <p:pos x="6000" y="0"/>
    <p:text>udah pas blum gtu subheadingnya mas?</p:text>
  </p:cm>
  <p:cm authorId="2" idx="4" dt="2022-02-15T08:48:02.677">
    <p:pos x="6000" y="0"/>
    <p:text>done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5" dt="2022-02-17T10:35:49.395">
    <p:pos x="6000" y="0"/>
    <p:text>@mmaherul@binar.co.id</p:text>
  </p:cm>
  <p:cm authorId="1" idx="6" dt="2022-02-17T10:29:46.278">
    <p:pos x="6000" y="0"/>
    <p:text>aku refine gini mas biar lngsung on point dn nyambung sama slide 11</p:text>
  </p:cm>
  <p:cm authorId="2" idx="6" dt="2022-02-17T10:35:49.395">
    <p:pos x="6000" y="0"/>
    <p:text>slide 14-15 out aja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7" dt="2022-02-17T14:11:39.689">
    <p:pos x="6000" y="0"/>
    <p:text>tabelnya tolong direfine jdi lebih rapi ya mas @bazhari@binar.co.id
_Reassigned to Ade Bahtiar Azhari_</p:text>
  </p:cm>
  <p:cm authorId="3" idx="2" dt="2022-02-17T14:11:39.689">
    <p:pos x="6000" y="0"/>
    <p:text>done</p:tex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2-02-17T10:32:55.475">
    <p:pos x="432" y="806"/>
    <p:text>no highlight</p:text>
  </p:cm>
  <p:cm authorId="1" idx="8" dt="2022-02-17T10:32:55.475">
    <p:pos x="432" y="806"/>
    <p:text>done</p:text>
  </p:cm>
  <p:cm authorId="0" idx="9" dt="2022-02-17T04:42:32.733">
    <p:pos x="432" y="906"/>
    <p:text>Bisa pake yang ini nih problem statement contoh yang setelah slide 12.</p:tex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2-02-17T10:33:20.908">
    <p:pos x="432" y="806"/>
    <p:text>no highlight</p:text>
  </p:cm>
  <p:cm authorId="1" idx="9" dt="2022-02-17T10:33:20.908">
    <p:pos x="432" y="806"/>
    <p:text>done</p:tex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2-02-17T10:35:44.001">
    <p:pos x="432" y="911"/>
    <p:text>breakdown to two slides</p:text>
  </p:cm>
  <p:cm authorId="1" idx="10" dt="2022-02-17T10:35:44.001">
    <p:pos x="432" y="911"/>
    <p:text>done</p:text>
  </p:cm>
</p:cmLst>
</file>

<file path=ppt/comments/comment1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2" dt="2022-02-17T04:44:08.713">
    <p:pos x="432" y="879"/>
    <p:text>BAGUS BANGET ADA CONTOH DAN BAHASANNYAAAA!</p:text>
  </p:cm>
  <p:cm authorId="0" idx="13" dt="2022-02-17T10:38:20.330">
    <p:pos x="432" y="979"/>
    <p:text>no highlight</p:text>
  </p:cm>
  <p:cm authorId="1" idx="11" dt="2022-02-17T10:38:20.330">
    <p:pos x="432" y="979"/>
    <p:text>done</p:text>
  </p:cm>
  <p:cm authorId="0" idx="14" dt="2022-02-17T10:39:12.484">
    <p:pos x="432" y="1079"/>
    <p:text>heading</p:text>
  </p:cm>
  <p:cm authorId="1" idx="12" dt="2022-02-17T10:39:12.484">
    <p:pos x="432" y="1079"/>
    <p:text>done</p:text>
  </p:cm>
  <p:cm authorId="0" idx="15" dt="2022-02-17T10:38:06.992">
    <p:pos x="432" y="1179"/>
    <p:text>no highlight</p:text>
  </p:cm>
  <p:cm authorId="1" idx="13" dt="2022-02-17T10:38:06.992">
    <p:pos x="432" y="1179"/>
    <p:text>done</p:text>
  </p:cm>
</p:cmLst>
</file>

<file path=ppt/comments/comment1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6" dt="2022-02-17T04:44:27.853">
    <p:pos x="432" y="912"/>
    <p:text>no highlight</p:text>
  </p:cm>
  <p:cm authorId="0" idx="17" dt="2022-02-17T10:39:36.704">
    <p:pos x="432" y="1012"/>
    <p:text>heading</p:text>
  </p:cm>
  <p:cm authorId="1" idx="14" dt="2022-02-17T10:39:36.704">
    <p:pos x="432" y="1012"/>
    <p:text>done</p:text>
  </p:cm>
  <p:cm authorId="0" idx="18" dt="2022-02-17T04:45:23.586">
    <p:pos x="432" y="1112"/>
    <p:text>no highlight</p:text>
  </p:cm>
</p:cmLst>
</file>

<file path=ppt/comments/comment1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9" dt="2022-02-17T10:40:56.580">
    <p:pos x="432" y="740"/>
    <p:text>no highlight</p:text>
  </p:cm>
  <p:cm authorId="1" idx="15" dt="2022-02-17T10:40:56.580">
    <p:pos x="432" y="740"/>
    <p:text>done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enginakyurt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martenbjork?utm_source=unsplash&amp;utm_medium=referral&amp;utm_content=creditCopyText" TargetMode="External"/><Relationship Id="rId3" Type="http://schemas.openxmlformats.org/officeDocument/2006/relationships/hyperlink" Target="https://unsplash.com/@martenbjork?utm_source=unsplash&amp;utm_medium=referral&amp;utm_content=creditCopyText" TargetMode="External"/><Relationship Id="rId4" Type="http://schemas.openxmlformats.org/officeDocument/2006/relationships/hyperlink" Target="https://unsplash.com/s/photos/hotel?utm_source=unsplash&amp;utm_medium=referral&amp;utm_content=creditCopyText" TargetMode="External"/><Relationship Id="rId5" Type="http://schemas.openxmlformats.org/officeDocument/2006/relationships/hyperlink" Target="https://unsplash.com/s/photos/hotel?utm_source=unsplash&amp;utm_medium=referral&amp;utm_content=creditCopyText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szolkin?utm_source=unsplash&amp;utm_medium=referral&amp;utm_content=creditCopyText" TargetMode="External"/><Relationship Id="rId3" Type="http://schemas.openxmlformats.org/officeDocument/2006/relationships/hyperlink" Target="https://unsplash.com/@szolkin?utm_source=unsplash&amp;utm_medium=referral&amp;utm_content=creditCopyText" TargetMode="External"/><Relationship Id="rId4" Type="http://schemas.openxmlformats.org/officeDocument/2006/relationships/hyperlink" Target="https://unsplash.com/s/photos/form-online?utm_source=unsplash&amp;utm_medium=referral&amp;utm_content=creditCopyText" TargetMode="External"/><Relationship Id="rId5" Type="http://schemas.openxmlformats.org/officeDocument/2006/relationships/hyperlink" Target="https://unsplash.com/s/photos/form-online?utm_source=unsplash&amp;utm_medium=referral&amp;utm_content=creditCopyText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szolkin?utm_source=unsplash&amp;utm_medium=referral&amp;utm_content=creditCopyText" TargetMode="External"/><Relationship Id="rId3" Type="http://schemas.openxmlformats.org/officeDocument/2006/relationships/hyperlink" Target="https://unsplash.com/@szolkin?utm_source=unsplash&amp;utm_medium=referral&amp;utm_content=creditCopyText" TargetMode="External"/><Relationship Id="rId4" Type="http://schemas.openxmlformats.org/officeDocument/2006/relationships/hyperlink" Target="https://unsplash.com/s/photos/form-online?utm_source=unsplash&amp;utm_medium=referral&amp;utm_content=creditCopyText" TargetMode="External"/><Relationship Id="rId5" Type="http://schemas.openxmlformats.org/officeDocument/2006/relationships/hyperlink" Target="https://unsplash.com/s/photos/form-online?utm_source=unsplash&amp;utm_medium=referral&amp;utm_content=creditCopyText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proxyclick?utm_source=unsplash&amp;utm_medium=referral&amp;utm_content=creditCopyText" TargetMode="External"/><Relationship Id="rId3" Type="http://schemas.openxmlformats.org/officeDocument/2006/relationships/hyperlink" Target="https://unsplash.com/@proxyclick?utm_source=unsplash&amp;utm_medium=referral&amp;utm_content=creditCopyText" TargetMode="External"/><Relationship Id="rId4" Type="http://schemas.openxmlformats.org/officeDocument/2006/relationships/hyperlink" Target="https://unsplash.com/s/photos/hotel-visitor?utm_source=unsplash&amp;utm_medium=referral&amp;utm_content=creditCopyText" TargetMode="External"/><Relationship Id="rId5" Type="http://schemas.openxmlformats.org/officeDocument/2006/relationships/hyperlink" Target="https://unsplash.com/s/photos/hotel-visitor?utm_source=unsplash&amp;utm_medium=referral&amp;utm_content=creditCopyText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wocintechchat?utm_source=unsplash&amp;utm_medium=referral&amp;utm_content=creditCopyText" TargetMode="External"/><Relationship Id="rId3" Type="http://schemas.openxmlformats.org/officeDocument/2006/relationships/hyperlink" Target="https://unsplash.com/@wocintechchat?utm_source=unsplash&amp;utm_medium=referral&amp;utm_content=creditCopyText" TargetMode="External"/><Relationship Id="rId4" Type="http://schemas.openxmlformats.org/officeDocument/2006/relationships/hyperlink" Target="https://unsplash.com/s/photos/meeting?utm_source=unsplash&amp;utm_medium=referral&amp;utm_content=creditCopyText" TargetMode="External"/><Relationship Id="rId5" Type="http://schemas.openxmlformats.org/officeDocument/2006/relationships/hyperlink" Target="https://unsplash.com/s/photos/meeting?utm_source=unsplash&amp;utm_medium=referral&amp;utm_content=creditCopyText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153aeb143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153aeb143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159b065dd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1159b065dd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153aeb143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153aeb143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53aeb143e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53aeb143e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1c2ecca7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1c2ecca7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0b12bec43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0b12bec43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0f7e7774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0f7e7774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0b249276f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0b249276f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d1c2ecca74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d1c2ecca74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0f816abdff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0f816abdff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153aeb143e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153aeb143e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d1c2ecca74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d1c2ecca74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159b065b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159b065b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d1c2ecc95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d1c2ecc95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d1c2ecc95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d1c2ecc95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d1c2ecca74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d1c2ecca74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 </a:t>
            </a:r>
            <a:r>
              <a:rPr lang="en" u="sng">
                <a:solidFill>
                  <a:schemeClr val="hlink"/>
                </a:solidFill>
                <a:hlinkClick r:id="rId2"/>
              </a:rPr>
              <a:t>engin akyurt</a:t>
            </a:r>
            <a:r>
              <a:rPr lang="en">
                <a:solidFill>
                  <a:schemeClr val="dk1"/>
                </a:solidFill>
              </a:rPr>
              <a:t> on Unsplash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d1c2ecca74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d1c2ecca74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Marten Bjork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0f816abdff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0f816abdff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Sergey Zolkin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159b065ddd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159b065ddd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Sergey Zolkin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0f816abdff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0f816abdff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Proxyclick Visitor Management System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0f816abdff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0f816abdff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Christina @ wocintechchat.com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0f816abdff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0f816abdff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153aeb143e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153aeb143e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153aeb143e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153aeb143e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53aeb143e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153aeb143e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0f816abdff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0f816abdff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0f816abdff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0f816abdff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https://uxdesign.cc/elevate-your-research-objectives-745cf9415d5b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153aeb143e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153aeb143e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https://uxdesign.cc/elevate-your-research-objectives-745cf9415d5b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153aeb143e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153aeb143e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https://uxdesign.cc/elevate-your-research-objectives-745cf9415d5b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153aeb143e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153aeb143e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https://uxdesign.cc/elevate-your-research-objectives-745cf9415d5b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153aeb143e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153aeb143e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https://uxdesign.cc/elevate-your-research-objectives-745cf9415d5b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153aeb143e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153aeb143e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0e8c3a84c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0e8c3a84c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0f816abdff_1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0f816abdff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0e8c3a84c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10e8c3a84c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0f816abdff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0f816abdff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0f816abdff_1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0f816abdff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0f816abdff_1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10f816abdff_1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0f816abdff_1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0f816abdff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0f816abdff_1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0f816abdff_1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0f816abdff_1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0f816abdff_1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0f816abdff_1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0f816abdff_1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12c7c3ac6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12c7c3ac6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12c7c3ac6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12c7c3ac6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12c7c3ac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12c7c3ac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53aeb143e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g1153aeb143e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153aeb143e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153aeb143e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6" name="Google Shape;7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>
  <p:cSld name="TITLE_4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5">
  <p:cSld name="TITLE_5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93" name="Google Shape;93;p19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9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9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9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9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9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" name="Google Shape;99;p19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100" name="Google Shape;100;p19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3.xml"/><Relationship Id="rId4" Type="http://schemas.openxmlformats.org/officeDocument/2006/relationships/hyperlink" Target="https://unsplash.com/@linkedinsalesnavigator?utm_source=unsplash&amp;utm_medium=referral&amp;utm_content=creditCopyText" TargetMode="External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4.xml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5.xml"/><Relationship Id="rId4" Type="http://schemas.openxmlformats.org/officeDocument/2006/relationships/image" Target="../media/image10.gif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6.xml"/><Relationship Id="rId4" Type="http://schemas.openxmlformats.org/officeDocument/2006/relationships/hyperlink" Target="https://www.behance.net/gallery/93156527/Project-Management-UX-Case-Study" TargetMode="External"/><Relationship Id="rId5" Type="http://schemas.openxmlformats.org/officeDocument/2006/relationships/hyperlink" Target="https://www.behance.net/gallery/120639037/Black-Eye-Coffee-A-UIUX-Case-Study" TargetMode="External"/><Relationship Id="rId6" Type="http://schemas.openxmlformats.org/officeDocument/2006/relationships/image" Target="../media/image39.png"/><Relationship Id="rId7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7.xml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8.xml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9.xml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10.xml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11.xml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comments" Target="../comments/comment12.xml"/><Relationship Id="rId4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comments" Target="../comments/comment13.xml"/><Relationship Id="rId4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comments" Target="../comments/comment14.xml"/><Relationship Id="rId4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8.png"/><Relationship Id="rId4" Type="http://schemas.openxmlformats.org/officeDocument/2006/relationships/hyperlink" Target="https://careerfoundry.com/en/blog/ux-design/problem-statement-ux/" TargetMode="External"/><Relationship Id="rId5" Type="http://schemas.openxmlformats.org/officeDocument/2006/relationships/hyperlink" Target="https://www.uxpin.com/studio/blog/ux-research-plan/" TargetMode="External"/><Relationship Id="rId6" Type="http://schemas.openxmlformats.org/officeDocument/2006/relationships/hyperlink" Target="https://www.linkedin.com/pulse/defining-ux-research-objectives-zornitza-yovcheva#:~:text=A%20UX%20research%20objective%20is,from%20carrying%20out%20the%20research.&amp;text=Delineate%20and%20align%20with%20the,and%20tools%20at%20your%20disposal" TargetMode="External"/><Relationship Id="rId7" Type="http://schemas.openxmlformats.org/officeDocument/2006/relationships/hyperlink" Target="https://uxdesign.cc/elevate-your-research-objectives-745cf9415d5b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7.png"/><Relationship Id="rId4" Type="http://schemas.openxmlformats.org/officeDocument/2006/relationships/image" Target="../media/image33.png"/><Relationship Id="rId5" Type="http://schemas.openxmlformats.org/officeDocument/2006/relationships/image" Target="../media/image30.png"/><Relationship Id="rId6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/>
        </p:nvSpPr>
        <p:spPr>
          <a:xfrm>
            <a:off x="2349675" y="27058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Research Objectives</a:t>
            </a:r>
            <a:endParaRPr sz="27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Silver 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 Chapter 2 - Topic 3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1" name="Google Shape;111;p20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2" name="Google Shape;1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52F67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/>
        </p:nvSpPr>
        <p:spPr>
          <a:xfrm>
            <a:off x="1746750" y="685025"/>
            <a:ext cx="56505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Selamat datang di </a:t>
            </a:r>
            <a:r>
              <a:rPr b="1" i="0" lang="en" sz="1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Chapter </a:t>
            </a: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 Topik 3</a:t>
            </a:r>
            <a:r>
              <a:rPr b="1" i="0" lang="en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online course 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UI/UX Research/Design</a:t>
            </a:r>
            <a:r>
              <a:rPr b="1" i="0" lang="en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dari Binar Academy!</a:t>
            </a:r>
            <a:endParaRPr b="1" i="0" sz="1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" name="Google Shape;1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0288" y="1807025"/>
            <a:ext cx="3823424" cy="29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Pengantar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685800" y="1797150"/>
            <a:ext cx="4185000" cy="15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Pada topik kedua, kita udah belajar tent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ang UX research.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So, kamu udah tahu kalo langkah pertama dalam UX research adalah menentukan tujuan penelitian (research objectives).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Nah, pada topik kedua ini, kita akan bahas lebih dalam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apa itu research objectives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dan bagaimana cara menyusunnya.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Cus langsung aja~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9425" y="942900"/>
            <a:ext cx="2885476" cy="363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Pengantar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685800" y="1159608"/>
            <a:ext cx="41148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512252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Detailnya, kita </a:t>
            </a:r>
            <a:r>
              <a:rPr b="1" lang="en" sz="1600">
                <a:solidFill>
                  <a:srgbClr val="512252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bakal</a:t>
            </a:r>
            <a:r>
              <a:rPr b="1" lang="en" sz="1600">
                <a:solidFill>
                  <a:srgbClr val="512252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bahas hal-hal berikut ini: </a:t>
            </a:r>
            <a:endParaRPr b="1" sz="1600">
              <a:solidFill>
                <a:srgbClr val="512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831025" y="2350350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35" name="Google Shape;135;p23"/>
          <p:cNvSpPr/>
          <p:nvPr/>
        </p:nvSpPr>
        <p:spPr>
          <a:xfrm>
            <a:off x="831025" y="2885363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36" name="Google Shape;136;p23"/>
          <p:cNvSpPr/>
          <p:nvPr/>
        </p:nvSpPr>
        <p:spPr>
          <a:xfrm>
            <a:off x="831025" y="3420400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/>
          <p:nvPr/>
        </p:nvSpPr>
        <p:spPr>
          <a:xfrm>
            <a:off x="831025" y="3955425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 txBox="1"/>
          <p:nvPr/>
        </p:nvSpPr>
        <p:spPr>
          <a:xfrm>
            <a:off x="1324925" y="2117700"/>
            <a:ext cx="32472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Apa itu Research Objectives?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1324925" y="2652725"/>
            <a:ext cx="30282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Menyusun Problem Statement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1324925" y="3187750"/>
            <a:ext cx="30282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Menentukan Research Objectives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1324925" y="3722775"/>
            <a:ext cx="30282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Membuat Research Questions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8996" y="1043350"/>
            <a:ext cx="2612779" cy="375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Pengantar</a:t>
            </a:r>
            <a:endParaRPr/>
          </a:p>
        </p:txBody>
      </p:sp>
      <p:sp>
        <p:nvSpPr>
          <p:cNvPr id="149" name="Google Shape;149;p24"/>
          <p:cNvSpPr txBox="1"/>
          <p:nvPr/>
        </p:nvSpPr>
        <p:spPr>
          <a:xfrm>
            <a:off x="685800" y="1408575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Sebelum masuk ke research objectives, yuk kita recap dulu~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Kayak yang udah kita bahas pada topik sebelumnya,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UX research itu merujuk pada berbagai metode ilmiah yang dapat digunakan untuk memahami pikiran, perasaan, dan perilaku orang-orang yang menggunakan suatu produk atau layanan.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Langkah-langkahnya dimulai dari menentukan tujuan, menyusun hipotesis, mencari metode, mengumpulkan data,  dan melakukan sintesis.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0" name="Google Shape;150;p2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4675" y="1298650"/>
            <a:ext cx="3794151" cy="308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914400" y="9144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Langkah pertama adalah menentukan tujuan atau </a:t>
            </a: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research objectives.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7" name="Google Shape;15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7260" y="2034475"/>
            <a:ext cx="2629480" cy="31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2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Apa itu Research Objectives?</a:t>
            </a:r>
            <a:endParaRPr/>
          </a:p>
        </p:txBody>
      </p:sp>
      <p:sp>
        <p:nvSpPr>
          <p:cNvPr id="164" name="Google Shape;164;p26"/>
          <p:cNvSpPr txBox="1"/>
          <p:nvPr/>
        </p:nvSpPr>
        <p:spPr>
          <a:xfrm>
            <a:off x="685800" y="1548145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Apa itu research objectives?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Research objectives (tujuan penelitian) merupakan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dasar utama dalam sebuah penelitian yang akan mendorong pelaksanaan penelitian.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0212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Sederhananya, research objectives adalah </a:t>
            </a:r>
            <a:r>
              <a:rPr b="1" lang="en" sz="1000">
                <a:solidFill>
                  <a:srgbClr val="20212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ungkapan “mengapa” penelitian itu dilakukan. </a:t>
            </a:r>
            <a:r>
              <a:rPr lang="en" sz="1000">
                <a:solidFill>
                  <a:srgbClr val="20212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Misal, penelitian ini dilakukan untuk mengidentifikasi alasan orang mulai meninggalkan suatu aplikasi e-commerce.</a:t>
            </a:r>
            <a:endParaRPr sz="1000">
              <a:solidFill>
                <a:srgbClr val="20212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0212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5" name="Google Shape;165;p26"/>
          <p:cNvPicPr preferRelativeResize="0"/>
          <p:nvPr/>
        </p:nvPicPr>
        <p:blipFill rotWithShape="1">
          <a:blip r:embed="rId3">
            <a:alphaModFix/>
          </a:blip>
          <a:srcRect b="29" l="0" r="0" t="29"/>
          <a:stretch/>
        </p:blipFill>
        <p:spPr>
          <a:xfrm>
            <a:off x="5414853" y="914400"/>
            <a:ext cx="2810773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Apa itu Research Objectives?</a:t>
            </a:r>
            <a:endParaRPr/>
          </a:p>
        </p:txBody>
      </p:sp>
      <p:sp>
        <p:nvSpPr>
          <p:cNvPr id="172" name="Google Shape;172;p27"/>
          <p:cNvSpPr txBox="1"/>
          <p:nvPr/>
        </p:nvSpPr>
        <p:spPr>
          <a:xfrm>
            <a:off x="685800" y="1541672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Research objectives itu dimulai dari problem statement.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Untuk menyusun research objectives, kita harus terlebih dahulu membuat sebuah problem statement atau pernyataan masalah.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Pernyataan masalah merupakan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pernyataan sentral yang harus dijawab oleh temuan penelitian.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Pernyataan masalah adalah apa yang akan kita teliti dalam sebuah penelitian.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3" name="Google Shape;17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7762" y="915200"/>
            <a:ext cx="2793288" cy="38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914400" y="128115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Terus, gimana cara menyusun sebuah </a:t>
            </a: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statement? </a:t>
            </a:r>
            <a:endParaRPr sz="1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Chekidot~</a:t>
            </a:r>
            <a:endParaRPr sz="1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2263" y="2308050"/>
            <a:ext cx="1799474" cy="283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Menyusun Problem Statement</a:t>
            </a:r>
            <a:endParaRPr/>
          </a:p>
        </p:txBody>
      </p:sp>
      <p:sp>
        <p:nvSpPr>
          <p:cNvPr id="186" name="Google Shape;186;p2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7" name="Google Shape;18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74350" y="1474700"/>
            <a:ext cx="1495949" cy="44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950" y="1641700"/>
            <a:ext cx="7938099" cy="2058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3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Menyusun Problem Statement</a:t>
            </a:r>
            <a:endParaRPr/>
          </a:p>
        </p:txBody>
      </p:sp>
      <p:sp>
        <p:nvSpPr>
          <p:cNvPr id="195" name="Google Shape;195;p30"/>
          <p:cNvSpPr txBox="1"/>
          <p:nvPr/>
        </p:nvSpPr>
        <p:spPr>
          <a:xfrm>
            <a:off x="685800" y="1541672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roblem statement dapat disusun dalam 5W.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Kamu pasti familiar sama istilah 5W, kan? Yap~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Who, What, Where, When,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dan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Why.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(Who)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Siapa yang terpengaruh oleh masalah?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(What)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Apa masalahnya?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(Where)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Di mana masalah ini terjadi?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(When)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Kapan masalah terjadi?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(Why)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Mengapa masalah terjadi? Mengapa masalah itu penting?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6" name="Google Shape;196;p30"/>
          <p:cNvPicPr preferRelativeResize="0"/>
          <p:nvPr/>
        </p:nvPicPr>
        <p:blipFill rotWithShape="1">
          <a:blip r:embed="rId3">
            <a:alphaModFix/>
          </a:blip>
          <a:srcRect b="0" l="7170" r="7161" t="0"/>
          <a:stretch/>
        </p:blipFill>
        <p:spPr>
          <a:xfrm>
            <a:off x="5426925" y="839325"/>
            <a:ext cx="2726474" cy="376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3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Menyusun Problem Statement</a:t>
            </a:r>
            <a:endParaRPr/>
          </a:p>
        </p:txBody>
      </p:sp>
      <p:sp>
        <p:nvSpPr>
          <p:cNvPr id="203" name="Google Shape;203;p31"/>
          <p:cNvSpPr txBox="1"/>
          <p:nvPr/>
        </p:nvSpPr>
        <p:spPr>
          <a:xfrm>
            <a:off x="1141696" y="4488587"/>
            <a:ext cx="281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Project and Repository Management</a:t>
            </a:r>
            <a:endParaRPr b="1" sz="10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5482609" y="4488587"/>
            <a:ext cx="281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Black Eye Coffee</a:t>
            </a:r>
            <a:endParaRPr b="1" sz="10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5" name="Google Shape;205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451312"/>
            <a:ext cx="4796475" cy="296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96487" y="1814650"/>
            <a:ext cx="4190438" cy="224253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1"/>
          <p:cNvSpPr txBox="1"/>
          <p:nvPr/>
        </p:nvSpPr>
        <p:spPr>
          <a:xfrm>
            <a:off x="352950" y="943175"/>
            <a:ext cx="84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Nah, ada dua contoh cara penyajian problem statement seperti berikut ini!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3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Menyusun Problem Statement</a:t>
            </a:r>
            <a:endParaRPr/>
          </a:p>
        </p:txBody>
      </p:sp>
      <p:sp>
        <p:nvSpPr>
          <p:cNvPr id="214" name="Google Shape;214;p32"/>
          <p:cNvSpPr txBox="1"/>
          <p:nvPr/>
        </p:nvSpPr>
        <p:spPr>
          <a:xfrm>
            <a:off x="609600" y="1123950"/>
            <a:ext cx="4114800" cy="3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Biar makin jelas, coba kita bedah contoh penyusunan problem statement lainnya yaa~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Problemnya gini: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Sabrina suka banget baca novel. Ia sering mengunjungi salah satu toko buku untuk membeli novel. Tapi, akhir-akhir ini, Sabrina jadi males ke toko buku tersebut.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Dengan kerangka 5W, problem statement nya dapat disusun sebagai berikut: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Apa yang membuat Sabrina males ke toko buku tersebut?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Bagaimana pengalaman Sabrina ketika mengunjungi toko buku selama ini? Adakah kendala yang ia alami?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Selain Sabrina, adakah pelanggan lain yang merasakan hal yang sama?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5" name="Google Shape;21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7800" y="1052178"/>
            <a:ext cx="3358799" cy="3748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type="title"/>
          </p:nvPr>
        </p:nvSpPr>
        <p:spPr>
          <a:xfrm>
            <a:off x="914400" y="11820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Setelah kita tahu cara menyusun problem statement, langkah selanjutnya adalah </a:t>
            </a: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menentukan research objectives. </a:t>
            </a:r>
            <a:endParaRPr sz="1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Gimana caranya? Letsgoo kita bahas~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3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2" name="Google Shape;22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2263" y="2308050"/>
            <a:ext cx="1799474" cy="283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3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Menentukan Research Objectives</a:t>
            </a:r>
            <a:endParaRPr/>
          </a:p>
        </p:txBody>
      </p:sp>
      <p:sp>
        <p:nvSpPr>
          <p:cNvPr id="229" name="Google Shape;229;p34"/>
          <p:cNvSpPr txBox="1"/>
          <p:nvPr/>
        </p:nvSpPr>
        <p:spPr>
          <a:xfrm>
            <a:off x="561675" y="3581250"/>
            <a:ext cx="576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Biar lebih jelas, yuk kita bedah satu-persatu!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30" name="Google Shape;23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597" y="1770138"/>
            <a:ext cx="8796805" cy="161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3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Menentukan Research Objectives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685800" y="1280150"/>
            <a:ext cx="3946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Langkah 1: Mulailah dengan tujuan utama dan problem statement.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Sebelum menyusun tujuan penelitian secara komprehensif, mulailah dengan memikirkan tujuan utama proyek dan mengapa kita ingin melakukan penelitian tersebut.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Misal, kamu adalah tim UX Researcher dari sebuah hotel yang mulai ditinggalkan pelanggan. Lalu, kamu dan tim ditugaskan untuk melakukan proyek penelitian untuk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memahami pengalaman pelanggan sehingga enggan kembali  menginap di hotel tersebut. Nah, inilah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tujuan utama dari proyek.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Terus, apa problem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statement-nya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? Bisa banyak sih, diantaranya, mengapa pelanggan meninggalkan hotel? Apa yang salah dari pelayanan?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8" name="Google Shape;23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8675" y="960038"/>
            <a:ext cx="3946239" cy="3840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3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Menentukan Research Objectives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685800" y="1280147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Langkah </a:t>
            </a: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2: Tentukan batasan dari tujuan.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Kalo tujuan utama dan problem statement udah ditentukan, selanjutnya tentukan batasan dari tujuan itu.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Misal, tujuan utamanya adalah “memahami pengalaman pelanggan sehingga enggan kembali  menginap di suatu hotel”. Kita harus menentukan batasan,  “pengalaman pelanggan” seperti apa yang ingin diteliti?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Nah, kita dapat mengerucutkan tujuan menjadi seperti ini,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“mengidentifikasi pengalaman dan masalah negatif pelanggan selama proses pemesanan hotel.”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6" name="Google Shape;24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5525" y="1063323"/>
            <a:ext cx="3521075" cy="3617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3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Menentukan Research Objectives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37"/>
          <p:cNvSpPr txBox="1"/>
          <p:nvPr/>
        </p:nvSpPr>
        <p:spPr>
          <a:xfrm>
            <a:off x="685800" y="1447797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Langkah 3</a:t>
            </a: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: Bayangkan seperti apa rekomendasi penelitian.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Setelah kita menentukan tujuan yang spesifik, selanjutnya bayangkan seperti apa tujuan itu dapat ditindaklanjuti dalam sebuah rekomendasi.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Maksudnya, ketika tujuan sudah tercapai melalui proses penelitian, kita harus membayangkan seperti apa tujuan itu ditindaklanjuti. Atau dengan kata lain, memikirkan saran dan rekomendasi dari hasil penelitian.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4" name="Google Shape;25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5452" y="914400"/>
            <a:ext cx="3180323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Menentukan Research Objectives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38"/>
          <p:cNvSpPr txBox="1"/>
          <p:nvPr/>
        </p:nvSpPr>
        <p:spPr>
          <a:xfrm>
            <a:off x="685800" y="1123697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Misal, kita sudah melakukan penelitian dan memperoleh hasil bahwa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masalah negatif pengguna selama proses pemesanan adalah penggunaan formulir offline yang sangat panjang dan memakan waktu.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Dari hasil penelitian ini, apa yang dapat direkomendasikan sebagai bentuk tindak lanjut? Yap~ Misalnya,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merekomendasikan agar pemesanan dilakukan melalui situs web dan aplikasi serta dibuat lebih simpel. 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2" name="Google Shape;26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5452" y="914400"/>
            <a:ext cx="3180323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3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Menentukan Research Objectives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39"/>
          <p:cNvSpPr txBox="1"/>
          <p:nvPr/>
        </p:nvSpPr>
        <p:spPr>
          <a:xfrm>
            <a:off x="685800" y="1280147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Langkah 4</a:t>
            </a: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: Rincikan tujuan penelitian. 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Dari tujuan penelitian yang sudah dispesifikkan, selanjutnya harus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dirinci (breakdown) menjadi beberapa sub-tujuan.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Tujuan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“mengidentifikasi pengalaman dan masalah negatif pelanggan selama proses pemesanan hotel”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seperti tadi, dapat dirinci sebagai berikut: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Mengidentifikasi pengalaman positif dan negatif selama proses pemesanan; 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Memahami interaksi pelanggan dengan form pemesanan saat memesan hotel; 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Montserrat Medium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Mengidentifikasi perasaan pelanggan pasca pemesanan.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70" name="Google Shape;27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8996" y="970575"/>
            <a:ext cx="3697600" cy="3730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4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Menentukan Research Objectives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40"/>
          <p:cNvSpPr txBox="1"/>
          <p:nvPr/>
        </p:nvSpPr>
        <p:spPr>
          <a:xfrm>
            <a:off x="685800" y="1342122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Langkah </a:t>
            </a: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5: Pastikan daftar tujuan disetujui oleh semua pemangku kepentingan (stakeholder).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Setelah menulis daftar tujuan, tunjukkan kepada seluruh anggota tim, supervisor, dan seluruh pihak-pihak yang berkepentingan dalam proses penelitian.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Pastikan semuanya setuju terhadap daftar tujuan yang telah dibuat.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Hal ini penting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agar hasil penelitian nantinya dapat memenuhi ekspektasi dan kepentingan semua pihak. 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8" name="Google Shape;27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4900" y="914400"/>
            <a:ext cx="2626227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4" name="Google Shape;284;p4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Menentukan Research Objectives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41"/>
          <p:cNvSpPr txBox="1"/>
          <p:nvPr/>
        </p:nvSpPr>
        <p:spPr>
          <a:xfrm>
            <a:off x="685800" y="1507900"/>
            <a:ext cx="4209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075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Coba kita telaah contoh tujuan penelitian berikut ya!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Memahami mengapa orang bepergian.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2100" lvl="0" marL="457200" rtl="0" algn="just">
              <a:lnSpc>
                <a:spcPct val="12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Memahami mengapa orang memilih untuk bepergian dengan sepeda motor.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2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Dari dua tujuan di atas, manakah yang lebih baik?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6" name="Google Shape;28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425" y="942900"/>
            <a:ext cx="2885476" cy="363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4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Menentukan Research Objectives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42"/>
          <p:cNvSpPr txBox="1"/>
          <p:nvPr/>
        </p:nvSpPr>
        <p:spPr>
          <a:xfrm>
            <a:off x="685800" y="1396375"/>
            <a:ext cx="4209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075" wrap="square" tIns="0">
            <a:noAutofit/>
          </a:bodyPr>
          <a:lstStyle/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ap~ </a:t>
            </a: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contoh</a:t>
            </a: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 yang kedua.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Kenapa?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Karena tujuan “memahami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mengapa orang bepergian"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masih terlalu luas.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Kalimat tersebut justru seperti problem statement, bukan tujuan. Kalo tujuan seperti ini, maka penelitian akan terlalu luas dan tidak memiliki batasan.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Jadi, tujuan “m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emahami  mengapa orang memilih untuk bepergian dengan sepeda motor” lebih baik, karena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lebih spesifik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dan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memiliki batasan.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4" name="Google Shape;29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4513" y="914400"/>
            <a:ext cx="1972318" cy="388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4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Menentukan Research Objectives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43"/>
          <p:cNvSpPr txBox="1"/>
          <p:nvPr/>
        </p:nvSpPr>
        <p:spPr>
          <a:xfrm>
            <a:off x="685800" y="1447800"/>
            <a:ext cx="4209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075" wrap="square" tIns="0">
            <a:noAutofit/>
          </a:bodyPr>
          <a:lstStyle/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Biar makin joss, coba kita telaah satu contoh lagi!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Mengapa orang menggunakan Expedia untuk memesan perjalanan.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Mengidentifikasi berbagai tools yang digunakan orang saat memesan perjalanan, dan bagaimana perasaan mereka tentang setiap tools yang digunakan.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2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Dari dua tujuan di atas, manakah yang lebih baik?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2" name="Google Shape;30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9300" y="914400"/>
            <a:ext cx="2064666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4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Menentukan Research Objectives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44"/>
          <p:cNvSpPr txBox="1"/>
          <p:nvPr/>
        </p:nvSpPr>
        <p:spPr>
          <a:xfrm>
            <a:off x="685800" y="1447800"/>
            <a:ext cx="4209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075" wrap="square" tIns="0">
            <a:noAutofit/>
          </a:bodyPr>
          <a:lstStyle/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Yap~ contoh yang kedua.</a:t>
            </a:r>
            <a:endParaRPr b="1" sz="17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Kenapa?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Walaupun pertanyaan pertama sudah cukup spesifik, namun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berpotensi menghilangkan kesempatan kita untuk mengeksplorasi lebih dalam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Jadi, lebih baik untuk bertanya hal umum terlebih dahulu, kemudian baru bereksplorasi ke hal yang lebih spesifik.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So, yang perlu dicatat, menentukan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tujuan tidak hanya harus spesifik.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Tapi,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penting untuk disesuaikan dengan problem statement dan hal apa yang ingin dicapai dari penelitian tersebut.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0" name="Google Shape;31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3650" y="1082236"/>
            <a:ext cx="2844801" cy="3345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type="title"/>
          </p:nvPr>
        </p:nvSpPr>
        <p:spPr>
          <a:xfrm>
            <a:off x="914400" y="9144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Setelah menentukan research objectives, langkah selanjutnya adalah </a:t>
            </a:r>
            <a:r>
              <a:rPr lang="en" sz="1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membuat research questions.</a:t>
            </a: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 Gimana sih caranya? </a:t>
            </a:r>
            <a:endParaRPr/>
          </a:p>
        </p:txBody>
      </p:sp>
      <p:sp>
        <p:nvSpPr>
          <p:cNvPr id="316" name="Google Shape;316;p4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7" name="Google Shape;31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7260" y="2034475"/>
            <a:ext cx="2629480" cy="31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4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Membuat Research Questions</a:t>
            </a:r>
            <a:endParaRPr/>
          </a:p>
        </p:txBody>
      </p:sp>
      <p:sp>
        <p:nvSpPr>
          <p:cNvPr id="324" name="Google Shape;324;p46"/>
          <p:cNvSpPr txBox="1"/>
          <p:nvPr/>
        </p:nvSpPr>
        <p:spPr>
          <a:xfrm>
            <a:off x="685800" y="1348647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Apa itu research questions?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Research questions adalah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daftar pertanyaan yang akan memandu proses penelitian.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Daftar pertanyaan dapat ditanyakan langsung pada narasumber (user) atau menjadi panduan peneliti selama proses observasi.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Research questions ini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dibuat berdasarkan rincian tujuan penelitian yang telah ditentukan.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Biar lebih jelas, coba perhatikan gambar di samping yaa!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5" name="Google Shape;32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5749" y="1175450"/>
            <a:ext cx="3670850" cy="3317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4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Membuat Research Questions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47"/>
          <p:cNvSpPr txBox="1"/>
          <p:nvPr/>
        </p:nvSpPr>
        <p:spPr>
          <a:xfrm>
            <a:off x="685800" y="1175147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Coba kita bedah contohnya!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Sebuah penelitian bertujuan untuk: Mengidentifikasi berbagai tools yang digunakan orang saat memesan perjalanan, dan bagaimana perasaan mereka tentang setiap tools yang digunakan.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Dari tujuan tersebut, dibuat tiga tujuan rinci sebagai berikut: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Mengidentifikasi berbagai alat/tools yang digunakan untuk memesan perjalanan.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Memahami proses end-to-end tentang bagaimana orang memesan perjalanan.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Mengidentifikasi masalah atau hambatan yang dihadapi ketika memesan perjalanan.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Selanjutnya, disusun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research questions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untuk masing-masing tujuan di atas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Cek di halaman berikutnya yaa~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3" name="Google Shape;33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5894" y="914400"/>
            <a:ext cx="2085532" cy="388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9" name="Google Shape;339;p4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Membuat Research Questions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0" name="Google Shape;34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5750" y="1175438"/>
            <a:ext cx="3670850" cy="3317588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8"/>
          <p:cNvSpPr txBox="1"/>
          <p:nvPr/>
        </p:nvSpPr>
        <p:spPr>
          <a:xfrm>
            <a:off x="685800" y="1311472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Tujuan 1: </a:t>
            </a: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Mengidentifikasi berbagai alat/tools yang digunakan untuk memesan perjalanan.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Research questions yang dapat disusun adalah sebagai berikut: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Sebutkan alat/tools apa saja yang biasa dipakai untuk memesan perjalanan?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Jelaskan pengalaman anda saat menggunakan alat/tools tersebut!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Menurut anda, bagaimana perbandingan antar alat/tools? Mana yang menurut anda paling baik?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7" name="Google Shape;347;p4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Membuat Research Questions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49"/>
          <p:cNvSpPr txBox="1"/>
          <p:nvPr/>
        </p:nvSpPr>
        <p:spPr>
          <a:xfrm>
            <a:off x="685800" y="1323897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Tujuan 2: </a:t>
            </a: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Memahami proses end-to-end tentang bagaimana orang memesan perjalanan.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Research questions yang dapat disusun adalah sebagai berikut: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Coba ceritakan pengalaman terakhir anda ketika memesan perjalanan! Ceritakan prosesnya dari awal sampai akhir!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Jelaskan perasaan anda selama proses tersebut!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Adakah hal-hal tertentu yang anda alami saat memesan perjalanan?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9" name="Google Shape;34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5750" y="1175450"/>
            <a:ext cx="3670850" cy="331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5" name="Google Shape;355;p5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Membuat Research Questions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50"/>
          <p:cNvSpPr txBox="1"/>
          <p:nvPr/>
        </p:nvSpPr>
        <p:spPr>
          <a:xfrm>
            <a:off x="685800" y="1348647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Tujuan 3: </a:t>
            </a: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Mengidentifikasi masalah atau hambatan yang dihadapi ketika memesan perjalanan.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Research questions yang dapat disusun adalah sebagai berikut: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Jelaskan terakhir kali anda mengalami masalah saat memesan perjalanan?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Apakah anda dapat memecahkan masalah tersebut? Apa yang anda lakukan untuk mencoba memecahkan masalah?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Bagaimana anda akan memperbaiki atau mengubah situasi agar masalah yang sama tidak terulang?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7" name="Google Shape;35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5750" y="1175450"/>
            <a:ext cx="3670848" cy="3319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/>
          <p:nvPr/>
        </p:nvSpPr>
        <p:spPr>
          <a:xfrm>
            <a:off x="914400" y="1013550"/>
            <a:ext cx="7315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Saatnya kita 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AB40"/>
                </a:solidFill>
                <a:latin typeface="Montserrat"/>
                <a:ea typeface="Montserrat"/>
                <a:cs typeface="Montserrat"/>
                <a:sym typeface="Montserrat"/>
              </a:rPr>
              <a:t>Quiz!</a:t>
            </a:r>
            <a:endParaRPr b="1" sz="3000">
              <a:solidFill>
                <a:srgbClr val="FFAB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3" name="Google Shape;363;p51"/>
          <p:cNvPicPr preferRelativeResize="0"/>
          <p:nvPr/>
        </p:nvPicPr>
        <p:blipFill rotWithShape="1">
          <a:blip r:embed="rId3">
            <a:alphaModFix/>
          </a:blip>
          <a:srcRect b="35463" l="16341" r="18912" t="0"/>
          <a:stretch/>
        </p:blipFill>
        <p:spPr>
          <a:xfrm>
            <a:off x="2421325" y="2177750"/>
            <a:ext cx="3903698" cy="2965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52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Pada dasarnya, ….. mendorong pelaksanaan penelitian. 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</a:t>
            </a: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ernyataan masalah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Tujuan penelitian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Pertanyaan penelitian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Problem statement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0" name="Google Shape;370;p5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Pembahasan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376" name="Google Shape;376;p53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Pada dasarnya, ….. mendorong pelaksanaan penelitian. 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Pernyataan masalah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Tujuan penelitian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Pertanyaan penelitian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Problem statement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7" name="Google Shape;377;p5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53"/>
          <p:cNvSpPr/>
          <p:nvPr/>
        </p:nvSpPr>
        <p:spPr>
          <a:xfrm>
            <a:off x="685800" y="3428250"/>
            <a:ext cx="7772400" cy="5952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Research objectives (tujuan penelitian) merupakan dasar utama dalam sebuah penelitian yang akan mendorong pelaksanaan penelitian.</a:t>
            </a:r>
            <a:endParaRPr b="1" sz="1200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384" name="Google Shape;384;p54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Sebelum menyusun research objectives, kita perlu menyusun…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Problem objectives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Research objectives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Problem statement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Research questions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5" name="Google Shape;385;p5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Pembahasan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391" name="Google Shape;391;p55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Sebelum menyusun research objectives, kita perlu menyusun…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Problem objectives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Research objectives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Problem statement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Research questions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2" name="Google Shape;392;p5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55"/>
          <p:cNvSpPr/>
          <p:nvPr/>
        </p:nvSpPr>
        <p:spPr>
          <a:xfrm>
            <a:off x="685800" y="3341475"/>
            <a:ext cx="7772400" cy="8973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Sebelum menyusun research objectives, kita perlu terlebih dahulu menyusun problem statement atau </a:t>
            </a: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pernyataan</a:t>
            </a: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 masalah.</a:t>
            </a:r>
            <a:endParaRPr b="1" sz="1200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4367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Catatan: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tidak ada istilah problem objectives. </a:t>
            </a:r>
            <a:endParaRPr b="1" sz="1200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399" name="Google Shape;399;p56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lang="en" sz="1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Berikut ini, langkah-langkah dalam menyusun </a:t>
            </a: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research objectives adalah, kecuali…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Mulai dengan tujuan utama dan problem statement.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Menentukan batasan dari tujuan.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Bayangkan seperti apa rekomendasi penelitian.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Pastikan daftar tujuan disetujui oleh semua stakeholder.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Gambarkan dan ceritakan tujuan kepada diri sendiri berulang kali.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0" name="Google Shape;400;p5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Pembahasan Quiz</a:t>
            </a:r>
            <a:endParaRPr/>
          </a:p>
        </p:txBody>
      </p:sp>
      <p:sp>
        <p:nvSpPr>
          <p:cNvPr id="406" name="Google Shape;406;p57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Berikut ini, langkah-langkah dalam menyusun research objectives adalah, kecuali…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Mulai dengan tujuan utama dan problem statement.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Menentukan batasan dari tujuan.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Bayangkan seperti apa rekomendasi penelitian.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Pastikan daftar tujuan disetujui oleh semua stakeholder.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Gambarkan dan ceritakan tujuan kepada diri sendiri berulang kali.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407" name="Google Shape;407;p5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8" name="Google Shape;408;p57"/>
          <p:cNvSpPr/>
          <p:nvPr/>
        </p:nvSpPr>
        <p:spPr>
          <a:xfrm>
            <a:off x="685800" y="3784200"/>
            <a:ext cx="7772400" cy="10164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Terdapat lima langkah dalam menyusun research objectives, yaitu memulai dengan tujuan dan problem statement, menentukan batasan, membayangkan rekomendasi, merinci tujuan, dan memastikan daftar tujuan disetujui stakeholder. Jadi, opsi E bukanlah langkah dalam menyusun research objectives.</a:t>
            </a:r>
            <a:endParaRPr b="1" sz="1200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414" name="Google Shape;414;p58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Mengapa kita perlu mengkomunikasikan tujuan penelitian kepada para stakeholder?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Supaya mereka mengetahui hasil penelitian pada saat itu juga.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Supaya mereka menemukan hasil penelitian.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Supaya mereka dapat mengabaikan hasil penelitian.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Supaya mereka tidak dapat mengabaikan hasil penelitian.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15" name="Google Shape;415;p5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Pembahasan Quiz</a:t>
            </a:r>
            <a:endParaRPr/>
          </a:p>
        </p:txBody>
      </p:sp>
      <p:sp>
        <p:nvSpPr>
          <p:cNvPr id="421" name="Google Shape;421;p59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4.</a:t>
            </a: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Mengapa kita perlu mengkomunikasikan tujuan penelitian kepada para stakeholder?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Supaya mereka mengetahui hasil penelitian pada saat itu juga.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Supaya mereka menemukan hasil penelitian.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Supaya mereka dapat mengabaikan hasil penelitian.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Supaya mereka tidak dapat mengabaikan hasil penelitian.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422" name="Google Shape;422;p5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3" name="Google Shape;423;p59"/>
          <p:cNvSpPr/>
          <p:nvPr/>
        </p:nvSpPr>
        <p:spPr>
          <a:xfrm>
            <a:off x="685800" y="3646300"/>
            <a:ext cx="7772400" cy="5952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Jika para stakeholder sudah setuju pada tujuan penelitian, maka mereka akan peduli dan tidak akan mengabaikan hasil penelitian.</a:t>
            </a:r>
            <a:endParaRPr b="1" sz="1200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429" name="Google Shape;429;p60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b="1" lang="en" sz="1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Tujuan: Mengidentifikasi masalah atau hambatan yang dihadapi ketika memesan perjalanan. 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Research question dari tujuan tersebut adalah sebagai berikut, kecuali…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Jelaskan terakhir kali anda mengalami masalah saat memesan perjalanan?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Apakah anda dapat memecahkan masalah tersebut? Apa yang anda lakukan untuk mencoba memecahkan masalah?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Bagaimana anda akan memperbaiki atau mengubah situasi agar masalah yang sama tidak terulang?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Apakah anda ingin masalah yang sama terulang?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0" name="Google Shape;430;p6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Pembahasan Quiz</a:t>
            </a:r>
            <a:endParaRPr/>
          </a:p>
        </p:txBody>
      </p:sp>
      <p:sp>
        <p:nvSpPr>
          <p:cNvPr id="436" name="Google Shape;436;p61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5.</a:t>
            </a: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Tujuan: Mengidentifikasi masalah atau hambatan yang dihadapi ketika memesan perjalanan. 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Research question dari tujuan tersebut adalah sebagai berikut, kecuali…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Jelaskan terakhir kali anda mengalami masalah saat memesan perjalanan?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Apakah anda dapat memecahkan masalah tersebut? Apa yang anda lakukan untuk mencoba memecahkan masalah?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Bagaimana anda akan memperbaiki atau mengubah situasi agar masalah yang sama tidak terulang?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Apakah anda ingin masalah yang sama terulang?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437" name="Google Shape;437;p6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61"/>
          <p:cNvSpPr/>
          <p:nvPr/>
        </p:nvSpPr>
        <p:spPr>
          <a:xfrm>
            <a:off x="685800" y="4152150"/>
            <a:ext cx="7772400" cy="6483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Research question seperti opsi D tidak logis. Karena, tidak mungkin user/pelanggan ingin mengulang masalah yang sama.</a:t>
            </a:r>
            <a:endParaRPr b="1" sz="1200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444" name="Google Shape;444;p62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Proses dalam mendefinisikan tujuan harus…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Fleksibel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</a:t>
            </a: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etil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Kaku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Tertutup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5" name="Google Shape;445;p6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Pembahasan Quiz</a:t>
            </a:r>
            <a:endParaRPr/>
          </a:p>
        </p:txBody>
      </p:sp>
      <p:sp>
        <p:nvSpPr>
          <p:cNvPr id="451" name="Google Shape;451;p63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6.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Proses dalam mendefinisikan tujuan harus…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Fleksibel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Detil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Kaku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Tertutup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452" name="Google Shape;452;p6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3" name="Google Shape;453;p63"/>
          <p:cNvSpPr/>
          <p:nvPr/>
        </p:nvSpPr>
        <p:spPr>
          <a:xfrm>
            <a:off x="685800" y="3355725"/>
            <a:ext cx="7772400" cy="5952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Proses dalam mendefinisikan tujuan harus fleksibel dan berulang. </a:t>
            </a:r>
            <a:endParaRPr b="1" sz="1200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9" name="Google Shape;459;p6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Referensi dan bacaan lebih lanjut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0" name="Google Shape;4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796" y="1097113"/>
            <a:ext cx="2743199" cy="3511629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64"/>
          <p:cNvSpPr txBox="1"/>
          <p:nvPr/>
        </p:nvSpPr>
        <p:spPr>
          <a:xfrm>
            <a:off x="685800" y="1485900"/>
            <a:ext cx="3813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Referensi dan bacaan lebih lanjut~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14300" lvl="0" marL="1143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1) </a:t>
            </a: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a Problem Statement in UX? (And How To Write One) by careerfoundry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2) </a:t>
            </a: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Creating A User Research Plan (with Examples) by UX Pin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1450" lvl="0" marL="17145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3) </a:t>
            </a: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Defining UX Research Objectives by Zoe Yovcheva-Dimov on LinkedIn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4) </a:t>
            </a: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Elevate your research objectives by UX Collective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3673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5"/>
          <p:cNvSpPr txBox="1"/>
          <p:nvPr/>
        </p:nvSpPr>
        <p:spPr>
          <a:xfrm>
            <a:off x="618375" y="1630075"/>
            <a:ext cx="4112700" cy="24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Nah, selesai sudah pembahasan kita di Chapter 2 Topic 3 ini.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Selanjutnya, kita bakal bahas tentang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Research Timeline.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Penasaran kayak gimana? Cus langsung ke topik selanjutnya~</a:t>
            </a:r>
            <a:endParaRPr b="1" i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7" name="Google Shape;46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431" y="676725"/>
            <a:ext cx="5687844" cy="4338199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6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6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6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6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65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65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Google Shape;474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65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65"/>
          <p:cNvSpPr txBox="1"/>
          <p:nvPr/>
        </p:nvSpPr>
        <p:spPr>
          <a:xfrm>
            <a:off x="618377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Penutup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6"/>
          <p:cNvSpPr/>
          <p:nvPr/>
        </p:nvSpPr>
        <p:spPr>
          <a:xfrm>
            <a:off x="0" y="3825400"/>
            <a:ext cx="9144000" cy="1389600"/>
          </a:xfrm>
          <a:prstGeom prst="rect">
            <a:avLst/>
          </a:prstGeom>
          <a:solidFill>
            <a:srgbClr val="F4B71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2" name="Google Shape;48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062" y="469363"/>
            <a:ext cx="5675881" cy="420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66"/>
          <p:cNvPicPr preferRelativeResize="0"/>
          <p:nvPr/>
        </p:nvPicPr>
        <p:blipFill rotWithShape="1">
          <a:blip r:embed="rId4">
            <a:alphaModFix/>
          </a:blip>
          <a:srcRect b="0" l="0" r="13247" t="0"/>
          <a:stretch/>
        </p:blipFill>
        <p:spPr>
          <a:xfrm>
            <a:off x="7987325" y="4075701"/>
            <a:ext cx="709350" cy="8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3225" y="6174213"/>
            <a:ext cx="1991475" cy="68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625" y="4141560"/>
            <a:ext cx="1991475" cy="685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