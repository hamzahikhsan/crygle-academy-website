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7"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Lst>
  <p:sldSz cy="5143500" cx="9144000"/>
  <p:notesSz cx="6858000" cy="9144000"/>
  <p:embeddedFontLst>
    <p:embeddedFont>
      <p:font typeface="Raleway"/>
      <p:regular r:id="rId45"/>
      <p:bold r:id="rId46"/>
      <p:italic r:id="rId47"/>
      <p:boldItalic r:id="rId48"/>
    </p:embeddedFont>
    <p:embeddedFont>
      <p:font typeface="Montserrat"/>
      <p:regular r:id="rId49"/>
      <p:bold r:id="rId50"/>
      <p:italic r:id="rId51"/>
      <p:boldItalic r:id="rId52"/>
    </p:embeddedFont>
    <p:embeddedFont>
      <p:font typeface="Montserrat Medium"/>
      <p:regular r:id="rId53"/>
      <p:bold r:id="rId54"/>
      <p:italic r:id="rId55"/>
      <p:boldItalic r:id="rId56"/>
    </p:embeddedFont>
    <p:embeddedFont>
      <p:font typeface="Lato Black"/>
      <p:bold r:id="rId57"/>
      <p:boldItalic r:id="rId58"/>
    </p:embeddedFont>
    <p:embeddedFont>
      <p:font typeface="Raleway Medium"/>
      <p:regular r:id="rId59"/>
      <p:bold r:id="rId60"/>
      <p:italic r:id="rId61"/>
      <p:boldItalic r:id="rId62"/>
    </p:embeddedFont>
    <p:embeddedFont>
      <p:font typeface="Montserrat ExtraBold"/>
      <p:bold r:id="rId63"/>
      <p:boldItalic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024">
          <p15:clr>
            <a:srgbClr val="A4A3A4"/>
          </p15:clr>
        </p15:guide>
        <p15:guide id="2" pos="2921">
          <p15:clr>
            <a:srgbClr val="A4A3A4"/>
          </p15:clr>
        </p15:guide>
        <p15:guide id="3" orient="horz" pos="576">
          <p15:clr>
            <a:srgbClr val="9AA0A6"/>
          </p15:clr>
        </p15:guide>
        <p15:guide id="4" pos="2976">
          <p15:clr>
            <a:srgbClr val="9AA0A6"/>
          </p15:clr>
        </p15:guide>
        <p15:guide id="5" pos="307">
          <p15:clr>
            <a:srgbClr val="9AA0A6"/>
          </p15:clr>
        </p15:guide>
        <p15:guide id="6" pos="4934">
          <p15:clr>
            <a:srgbClr val="9AA0A6"/>
          </p15:clr>
        </p15:guide>
        <p15:guide id="7" pos="542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024" orient="horz"/>
        <p:guide pos="2921"/>
        <p:guide pos="576" orient="horz"/>
        <p:guide pos="2976"/>
        <p:guide pos="307"/>
        <p:guide pos="4934"/>
        <p:guide pos="5428"/>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Raleway-bold.fntdata"/><Relationship Id="rId45" Type="http://schemas.openxmlformats.org/officeDocument/2006/relationships/font" Target="fonts/Raleway-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Raleway-boldItalic.fntdata"/><Relationship Id="rId47" Type="http://schemas.openxmlformats.org/officeDocument/2006/relationships/font" Target="fonts/Raleway-italic.fntdata"/><Relationship Id="rId49" Type="http://schemas.openxmlformats.org/officeDocument/2006/relationships/font" Target="fonts/Montserrat-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RalewayMedium-boldItalic.fntdata"/><Relationship Id="rId61" Type="http://schemas.openxmlformats.org/officeDocument/2006/relationships/font" Target="fonts/RalewayMedium-italic.fntdata"/><Relationship Id="rId20" Type="http://schemas.openxmlformats.org/officeDocument/2006/relationships/slide" Target="slides/slide15.xml"/><Relationship Id="rId64" Type="http://schemas.openxmlformats.org/officeDocument/2006/relationships/font" Target="fonts/MontserratExtraBold-boldItalic.fntdata"/><Relationship Id="rId63" Type="http://schemas.openxmlformats.org/officeDocument/2006/relationships/font" Target="fonts/MontserratExtraBold-bold.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RalewayMedium-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font" Target="fonts/Montserrat-italic.fntdata"/><Relationship Id="rId50" Type="http://schemas.openxmlformats.org/officeDocument/2006/relationships/font" Target="fonts/Montserrat-bold.fntdata"/><Relationship Id="rId53" Type="http://schemas.openxmlformats.org/officeDocument/2006/relationships/font" Target="fonts/MontserratMedium-regular.fntdata"/><Relationship Id="rId52" Type="http://schemas.openxmlformats.org/officeDocument/2006/relationships/font" Target="fonts/Montserrat-boldItalic.fntdata"/><Relationship Id="rId11" Type="http://schemas.openxmlformats.org/officeDocument/2006/relationships/slide" Target="slides/slide6.xml"/><Relationship Id="rId55" Type="http://schemas.openxmlformats.org/officeDocument/2006/relationships/font" Target="fonts/MontserratMedium-italic.fntdata"/><Relationship Id="rId10" Type="http://schemas.openxmlformats.org/officeDocument/2006/relationships/slide" Target="slides/slide5.xml"/><Relationship Id="rId54" Type="http://schemas.openxmlformats.org/officeDocument/2006/relationships/font" Target="fonts/MontserratMedium-bold.fntdata"/><Relationship Id="rId13" Type="http://schemas.openxmlformats.org/officeDocument/2006/relationships/slide" Target="slides/slide8.xml"/><Relationship Id="rId57" Type="http://schemas.openxmlformats.org/officeDocument/2006/relationships/font" Target="fonts/LatoBlack-bold.fntdata"/><Relationship Id="rId12" Type="http://schemas.openxmlformats.org/officeDocument/2006/relationships/slide" Target="slides/slide7.xml"/><Relationship Id="rId56" Type="http://schemas.openxmlformats.org/officeDocument/2006/relationships/font" Target="fonts/MontserratMedium-boldItalic.fntdata"/><Relationship Id="rId15" Type="http://schemas.openxmlformats.org/officeDocument/2006/relationships/slide" Target="slides/slide10.xml"/><Relationship Id="rId59" Type="http://schemas.openxmlformats.org/officeDocument/2006/relationships/font" Target="fonts/RalewayMedium-regular.fntdata"/><Relationship Id="rId14" Type="http://schemas.openxmlformats.org/officeDocument/2006/relationships/slide" Target="slides/slide9.xml"/><Relationship Id="rId58" Type="http://schemas.openxmlformats.org/officeDocument/2006/relationships/font" Target="fonts/LatoBlack-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yhirschi?utm_source=unsplash&amp;utm_medium=referral&amp;utm_content=creditCopyText" TargetMode="External"/><Relationship Id="rId3" Type="http://schemas.openxmlformats.org/officeDocument/2006/relationships/hyperlink" Target="https://unsplash.com/@amyhirschi?utm_source=unsplash&amp;utm_medium=referral&amp;utm_content=creditCopyText" TargetMode="External"/><Relationship Id="rId4" Type="http://schemas.openxmlformats.org/officeDocument/2006/relationships/hyperlink" Target="https://unsplash.com/s/photos/interviews?utm_source=unsplash&amp;utm_medium=referral&amp;utm_content=creditCopyText" TargetMode="External"/><Relationship Id="rId5" Type="http://schemas.openxmlformats.org/officeDocument/2006/relationships/hyperlink" Target="https://unsplash.com/s/photos/interviews?utm_source=unsplash&amp;utm_medium=referral&amp;utm_content=creditCopyText" TargetMode="Externa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yhirschi?utm_source=unsplash&amp;utm_medium=referral&amp;utm_content=creditCopyText" TargetMode="External"/><Relationship Id="rId3" Type="http://schemas.openxmlformats.org/officeDocument/2006/relationships/hyperlink" Target="https://unsplash.com/@amyhirschi?utm_source=unsplash&amp;utm_medium=referral&amp;utm_content=creditCopyText" TargetMode="External"/><Relationship Id="rId4" Type="http://schemas.openxmlformats.org/officeDocument/2006/relationships/hyperlink" Target="https://unsplash.com/s/photos/interviews?utm_source=unsplash&amp;utm_medium=referral&amp;utm_content=creditCopyText" TargetMode="External"/><Relationship Id="rId5" Type="http://schemas.openxmlformats.org/officeDocument/2006/relationships/hyperlink" Target="https://unsplash.com/s/photos/interviews?utm_source=unsplash&amp;utm_medium=referral&amp;utm_content=creditCopyText" TargetMode="Externa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yhirschi?utm_source=unsplash&amp;utm_medium=referral&amp;utm_content=creditCopyText" TargetMode="External"/><Relationship Id="rId3" Type="http://schemas.openxmlformats.org/officeDocument/2006/relationships/hyperlink" Target="https://unsplash.com/@amyhirschi?utm_source=unsplash&amp;utm_medium=referral&amp;utm_content=creditCopyText" TargetMode="External"/><Relationship Id="rId4" Type="http://schemas.openxmlformats.org/officeDocument/2006/relationships/hyperlink" Target="https://unsplash.com/s/photos/interviews?utm_source=unsplash&amp;utm_medium=referral&amp;utm_content=creditCopyText" TargetMode="External"/><Relationship Id="rId5" Type="http://schemas.openxmlformats.org/officeDocument/2006/relationships/hyperlink" Target="https://unsplash.com/s/photos/interviews?utm_source=unsplash&amp;utm_medium=referral&amp;utm_content=creditCopyText" TargetMode="Externa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yhirschi?utm_source=unsplash&amp;utm_medium=referral&amp;utm_content=creditCopyText" TargetMode="External"/><Relationship Id="rId3" Type="http://schemas.openxmlformats.org/officeDocument/2006/relationships/hyperlink" Target="https://unsplash.com/@amyhirschi?utm_source=unsplash&amp;utm_medium=referral&amp;utm_content=creditCopyText" TargetMode="External"/><Relationship Id="rId4" Type="http://schemas.openxmlformats.org/officeDocument/2006/relationships/hyperlink" Target="https://unsplash.com/s/photos/interviews?utm_source=unsplash&amp;utm_medium=referral&amp;utm_content=creditCopyText" TargetMode="External"/><Relationship Id="rId5" Type="http://schemas.openxmlformats.org/officeDocument/2006/relationships/hyperlink" Target="https://unsplash.com/s/photos/interviews?utm_source=unsplash&amp;utm_medium=referral&amp;utm_content=creditCopyText" TargetMode="Externa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yhirschi?utm_source=unsplash&amp;utm_medium=referral&amp;utm_content=creditCopyText" TargetMode="External"/><Relationship Id="rId3" Type="http://schemas.openxmlformats.org/officeDocument/2006/relationships/hyperlink" Target="https://unsplash.com/@amyhirschi?utm_source=unsplash&amp;utm_medium=referral&amp;utm_content=creditCopyText" TargetMode="External"/><Relationship Id="rId4" Type="http://schemas.openxmlformats.org/officeDocument/2006/relationships/hyperlink" Target="https://unsplash.com/s/photos/interviews?utm_source=unsplash&amp;utm_medium=referral&amp;utm_content=creditCopyText" TargetMode="External"/><Relationship Id="rId5" Type="http://schemas.openxmlformats.org/officeDocument/2006/relationships/hyperlink" Target="https://unsplash.com/s/photos/interviews?utm_source=unsplash&amp;utm_medium=referral&amp;utm_content=creditCopyText" TargetMode="Externa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yhirschi?utm_source=unsplash&amp;utm_medium=referral&amp;utm_content=creditCopyText" TargetMode="External"/><Relationship Id="rId3" Type="http://schemas.openxmlformats.org/officeDocument/2006/relationships/hyperlink" Target="https://unsplash.com/@amyhirschi?utm_source=unsplash&amp;utm_medium=referral&amp;utm_content=creditCopyText" TargetMode="External"/><Relationship Id="rId4" Type="http://schemas.openxmlformats.org/officeDocument/2006/relationships/hyperlink" Target="https://unsplash.com/s/photos/interviews?utm_source=unsplash&amp;utm_medium=referral&amp;utm_content=creditCopyText" TargetMode="External"/><Relationship Id="rId5" Type="http://schemas.openxmlformats.org/officeDocument/2006/relationships/hyperlink" Target="https://unsplash.com/s/photos/interviews?utm_source=unsplash&amp;utm_medium=referral&amp;utm_content=creditCopyText" TargetMode="Externa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yhirschi?utm_source=unsplash&amp;utm_medium=referral&amp;utm_content=creditCopyText" TargetMode="External"/><Relationship Id="rId3" Type="http://schemas.openxmlformats.org/officeDocument/2006/relationships/hyperlink" Target="https://unsplash.com/@amyhirschi?utm_source=unsplash&amp;utm_medium=referral&amp;utm_content=creditCopyText" TargetMode="External"/><Relationship Id="rId4" Type="http://schemas.openxmlformats.org/officeDocument/2006/relationships/hyperlink" Target="https://unsplash.com/s/photos/interviews?utm_source=unsplash&amp;utm_medium=referral&amp;utm_content=creditCopyText" TargetMode="External"/><Relationship Id="rId5" Type="http://schemas.openxmlformats.org/officeDocument/2006/relationships/hyperlink" Target="https://unsplash.com/s/photos/interviews?utm_source=unsplash&amp;utm_medium=referral&amp;utm_content=creditCopyText" TargetMode="Externa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amyhirschi?utm_source=unsplash&amp;utm_medium=referral&amp;utm_content=creditCopyText" TargetMode="External"/><Relationship Id="rId3" Type="http://schemas.openxmlformats.org/officeDocument/2006/relationships/hyperlink" Target="https://unsplash.com/@amyhirschi?utm_source=unsplash&amp;utm_medium=referral&amp;utm_content=creditCopyText" TargetMode="External"/><Relationship Id="rId4" Type="http://schemas.openxmlformats.org/officeDocument/2006/relationships/hyperlink" Target="https://unsplash.com/s/photos/interviews?utm_source=unsplash&amp;utm_medium=referral&amp;utm_content=creditCopyText" TargetMode="External"/><Relationship Id="rId5" Type="http://schemas.openxmlformats.org/officeDocument/2006/relationships/hyperlink" Target="https://unsplash.com/s/photos/interviews?utm_source=unsplash&amp;utm_medium=referral&amp;utm_content=creditCopyText" TargetMode="Externa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ellysikkema?utm_source=unsplash&amp;utm_medium=referral&amp;utm_content=creditCopyText" TargetMode="Externa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ellysikkema?utm_source=unsplash&amp;utm_medium=referral&amp;utm_content=creditCopyText" TargetMode="Externa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unsplash.com/@kellysikkema?utm_source=unsplash&amp;utm_medium=referral&amp;utm_content=creditCopyText" TargetMode="Externa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hyperlink" Target="https://unsplash.com/s/photos/card-sorting?utm_source=unsplash&amp;utm_medium=referral&amp;utm_content=creditCopyText" TargetMode="External"/><Relationship Id="rId5" Type="http://schemas.openxmlformats.org/officeDocument/2006/relationships/hyperlink" Target="https://unsplash.com/s/photos/card-sorting?utm_source=unsplash&amp;utm_medium=referral&amp;utm_content=creditCopyTex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1146d57ef65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1146d57ef65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115911333b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9" name="Google Shape;119;g115911333ba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1159536d415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1159536d415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159536d415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159536d415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0b12bec43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0b12bec43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10f816abf1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10f816abf1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1159536d415_0_2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1159536d415_0_2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1159536d415_0_2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1159536d415_0_2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0f816abf19_0_3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0f816abf19_0_3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Amy Hirschi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1159536d415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1159536d415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Amy Hirschi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1159536d415_0_2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 name="Google Shape;194;g1159536d415_0_2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Amy Hirschi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1159536d415_0_3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1159536d415_0_3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Amy Hirschi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159536d415_0_3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159536d415_0_3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Amy Hirschi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 name="Shape 216"/>
        <p:cNvGrpSpPr/>
        <p:nvPr/>
      </p:nvGrpSpPr>
      <p:grpSpPr>
        <a:xfrm>
          <a:off x="0" y="0"/>
          <a:ext cx="0" cy="0"/>
          <a:chOff x="0" y="0"/>
          <a:chExt cx="0" cy="0"/>
        </a:xfrm>
      </p:grpSpPr>
      <p:sp>
        <p:nvSpPr>
          <p:cNvPr id="217" name="Google Shape;217;g1159536d415_0_3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8" name="Google Shape;218;g1159536d415_0_3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Amy Hirschi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1159536d415_0_3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1159536d415_0_3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Amy Hirschi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159536d415_0_3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159536d415_0_3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Amy Hirschi</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10f9c40da36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10f9c40da36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10f9c40da36_0_1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10f9c40da36_0_1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Kelly Sikkema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15b3357b6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15b3357b6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Kelly Sikkema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10f9c40da36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6" name="Google Shape;266;g10f9c40da36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Video from https://www.youtube.com/watch?v=25RqpGJ4tJ8</a:t>
            </a:r>
            <a:endParaRPr>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10f9c40da36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10f9c40da36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15a28c5ce2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15a28c5ce2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Photo by</a:t>
            </a:r>
            <a:r>
              <a:rPr lang="en">
                <a:solidFill>
                  <a:schemeClr val="dk1"/>
                </a:solidFill>
                <a:uFill>
                  <a:noFill/>
                </a:uFill>
                <a:hlinkClick r:id="rId2">
                  <a:extLst>
                    <a:ext uri="{A12FA001-AC4F-418D-AE19-62706E023703}">
                      <ahyp:hlinkClr val="tx"/>
                    </a:ext>
                  </a:extLst>
                </a:hlinkClick>
              </a:rPr>
              <a:t> </a:t>
            </a:r>
            <a:r>
              <a:rPr lang="en" u="sng">
                <a:solidFill>
                  <a:schemeClr val="hlink"/>
                </a:solidFill>
                <a:hlinkClick r:id="rId3"/>
              </a:rPr>
              <a:t>Kelly Sikkema</a:t>
            </a:r>
            <a:r>
              <a:rPr lang="en">
                <a:solidFill>
                  <a:schemeClr val="dk1"/>
                </a:solidFill>
              </a:rPr>
              <a:t> on</a:t>
            </a:r>
            <a:r>
              <a:rPr lang="en">
                <a:solidFill>
                  <a:schemeClr val="dk1"/>
                </a:solidFill>
                <a:uFill>
                  <a:noFill/>
                </a:uFill>
                <a:hlinkClick r:id="rId4">
                  <a:extLst>
                    <a:ext uri="{A12FA001-AC4F-418D-AE19-62706E023703}">
                      <ahyp:hlinkClr val="tx"/>
                    </a:ext>
                  </a:extLst>
                </a:hlinkClick>
              </a:rPr>
              <a:t> </a:t>
            </a:r>
            <a:r>
              <a:rPr lang="en" u="sng">
                <a:solidFill>
                  <a:schemeClr val="hlink"/>
                </a:solidFill>
                <a:hlinkClick r:id="rId5"/>
              </a:rPr>
              <a:t>Unsplash</a:t>
            </a:r>
            <a:endParaRPr>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10f9c40da36_0_2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10f9c40da36_0_2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Author/Copyright holder: Design Instruct. Copyright terms and licence: All rights reserved</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g10f9c40da36_0_2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0" name="Google Shape;300;g10f9c40da36_0_2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Author/Copyright holder: Design Instruct. Copyright terms and licence: All rights reserved</a:t>
            </a:r>
            <a:endParaRPr>
              <a:solidFill>
                <a:schemeClr val="dk1"/>
              </a:solidFill>
            </a:endParaRPr>
          </a:p>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7" name="Shape 307"/>
        <p:cNvGrpSpPr/>
        <p:nvPr/>
      </p:nvGrpSpPr>
      <p:grpSpPr>
        <a:xfrm>
          <a:off x="0" y="0"/>
          <a:ext cx="0" cy="0"/>
          <a:chOff x="0" y="0"/>
          <a:chExt cx="0" cy="0"/>
        </a:xfrm>
      </p:grpSpPr>
      <p:sp>
        <p:nvSpPr>
          <p:cNvPr id="308" name="Google Shape;308;g10f9c40da36_0_2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9" name="Google Shape;309;g10f9c40da36_0_2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115b3357b66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115b3357b66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0e8c3a84c0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0e8c3a84c0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15b3357b66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15b3357b66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0f816abdff_1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0f816abdff_1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15b3357b66_2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15b3357b66_2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0f9c40da36_0_2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0f9c40da36_0_2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g115b3357b66_2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8" name="Google Shape;378;g115b3357b66_2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110cad9e12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110cad9e12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g115b3357b66_2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3" name="Google Shape;393;g115b3357b66_2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110cad9e121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110cad9e121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115b3357b66_2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115b3357b66_2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chemeClr val="dk1"/>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4" name="Shape 414"/>
        <p:cNvGrpSpPr/>
        <p:nvPr/>
      </p:nvGrpSpPr>
      <p:grpSpPr>
        <a:xfrm>
          <a:off x="0" y="0"/>
          <a:ext cx="0" cy="0"/>
          <a:chOff x="0" y="0"/>
          <a:chExt cx="0" cy="0"/>
        </a:xfrm>
      </p:grpSpPr>
      <p:sp>
        <p:nvSpPr>
          <p:cNvPr id="415" name="Google Shape;415;g112cb32305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6" name="Google Shape;416;g112cb32305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115b3357b66_2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4" name="Google Shape;424;g115b3357b66_2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115b3357b66_2_15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115b3357b66_2_15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rgbClr val="733572"/>
        </a:solidFill>
      </p:bgPr>
    </p:bg>
    <p:spTree>
      <p:nvGrpSpPr>
        <p:cNvPr id="9" name="Shape 9"/>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rgbClr val="733572"/>
        </a:solidFill>
      </p:bgPr>
    </p:bg>
    <p:spTree>
      <p:nvGrpSpPr>
        <p:cNvPr id="10" name="Shape 10"/>
        <p:cNvGrpSpPr/>
        <p:nvPr/>
      </p:nvGrpSpPr>
      <p:grpSpPr>
        <a:xfrm>
          <a:off x="0" y="0"/>
          <a:ext cx="0" cy="0"/>
          <a:chOff x="0" y="0"/>
          <a:chExt cx="0" cy="0"/>
        </a:xfrm>
      </p:grpSpPr>
      <p:sp>
        <p:nvSpPr>
          <p:cNvPr id="11" name="Google Shape;11;p3"/>
          <p:cNvSpPr txBox="1"/>
          <p:nvPr>
            <p:ph type="title"/>
          </p:nvPr>
        </p:nvSpPr>
        <p:spPr>
          <a:xfrm>
            <a:off x="914400" y="2210700"/>
            <a:ext cx="7315200" cy="722100"/>
          </a:xfrm>
          <a:prstGeom prst="rect">
            <a:avLst/>
          </a:prstGeom>
        </p:spPr>
        <p:txBody>
          <a:bodyPr anchorCtr="0" anchor="ctr" bIns="91425" lIns="91425" spcFirstLastPara="1" rIns="91425" wrap="square" tIns="91425">
            <a:noAutofit/>
          </a:bodyPr>
          <a:lstStyle>
            <a:lvl1pPr lvl="0" algn="ctr">
              <a:spcBef>
                <a:spcPts val="0"/>
              </a:spcBef>
              <a:spcAft>
                <a:spcPts val="0"/>
              </a:spcAft>
              <a:buClr>
                <a:schemeClr val="lt1"/>
              </a:buClr>
              <a:buSzPts val="2400"/>
              <a:buFont typeface="Raleway"/>
              <a:buNone/>
              <a:defRPr b="1" sz="2400">
                <a:solidFill>
                  <a:schemeClr val="lt1"/>
                </a:solidFill>
                <a:latin typeface="Raleway"/>
                <a:ea typeface="Raleway"/>
                <a:cs typeface="Raleway"/>
                <a:sym typeface="Raleway"/>
              </a:defRPr>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2" name="Google Shape;12;p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4"/>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5" name="Google Shape;15;p4"/>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16" name="Google Shape;16;p4"/>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7" name="Google Shape;17;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8" name="Google Shape;18;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9" name="Google Shape;19;p4"/>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0" name="Google Shape;20;p4"/>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21" name="Google Shape;21;p4"/>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22" name="Google Shape;22;p4"/>
          <p:cNvGrpSpPr/>
          <p:nvPr/>
        </p:nvGrpSpPr>
        <p:grpSpPr>
          <a:xfrm>
            <a:off x="283668" y="259895"/>
            <a:ext cx="226001" cy="222980"/>
            <a:chOff x="283668" y="251687"/>
            <a:chExt cx="226001" cy="222980"/>
          </a:xfrm>
        </p:grpSpPr>
        <p:sp>
          <p:nvSpPr>
            <p:cNvPr id="23" name="Google Shape;23;p4"/>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4" name="Google Shape;24;p4"/>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25" name="Google Shape;25;p4"/>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26" name="Google Shape;26;p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27" name="Google Shape;27;p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8" name="Google Shape;28;p4"/>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rgbClr val="733572"/>
        </a:solidFill>
      </p:bgPr>
    </p:bg>
    <p:spTree>
      <p:nvGrpSpPr>
        <p:cNvPr id="29" name="Shape 29"/>
        <p:cNvGrpSpPr/>
        <p:nvPr/>
      </p:nvGrpSpPr>
      <p:grpSpPr>
        <a:xfrm>
          <a:off x="0" y="0"/>
          <a:ext cx="0" cy="0"/>
          <a:chOff x="0" y="0"/>
          <a:chExt cx="0" cy="0"/>
        </a:xfrm>
      </p:grpSpPr>
      <p:sp>
        <p:nvSpPr>
          <p:cNvPr id="30" name="Google Shape;30;p5"/>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1" name="Google Shape;31;p5"/>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2" name="Google Shape;32;p5"/>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33" name="Google Shape;33;p5"/>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34" name="Google Shape;34;p5"/>
          <p:cNvGrpSpPr/>
          <p:nvPr/>
        </p:nvGrpSpPr>
        <p:grpSpPr>
          <a:xfrm>
            <a:off x="283668" y="259895"/>
            <a:ext cx="226001" cy="222980"/>
            <a:chOff x="283668" y="251687"/>
            <a:chExt cx="226001" cy="222980"/>
          </a:xfrm>
        </p:grpSpPr>
        <p:sp>
          <p:nvSpPr>
            <p:cNvPr id="35" name="Google Shape;35;p5"/>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6" name="Google Shape;36;p5"/>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37" name="Google Shape;37;p5"/>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38" name="Google Shape;38;p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 name="Google Shape;39;p5"/>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
        <p:nvSpPr>
          <p:cNvPr id="40" name="Google Shape;40;p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chemeClr val="lt1"/>
                </a:solidFill>
                <a:latin typeface="Raleway"/>
                <a:ea typeface="Raleway"/>
                <a:cs typeface="Raleway"/>
                <a:sym typeface="Raleway"/>
              </a:defRPr>
            </a:lvl1pPr>
            <a:lvl2pPr lvl="1" rtl="0">
              <a:buNone/>
              <a:defRPr b="1">
                <a:solidFill>
                  <a:schemeClr val="lt1"/>
                </a:solidFill>
                <a:latin typeface="Raleway"/>
                <a:ea typeface="Raleway"/>
                <a:cs typeface="Raleway"/>
                <a:sym typeface="Raleway"/>
              </a:defRPr>
            </a:lvl2pPr>
            <a:lvl3pPr lvl="2" rtl="0">
              <a:buNone/>
              <a:defRPr b="1">
                <a:solidFill>
                  <a:schemeClr val="lt1"/>
                </a:solidFill>
                <a:latin typeface="Raleway"/>
                <a:ea typeface="Raleway"/>
                <a:cs typeface="Raleway"/>
                <a:sym typeface="Raleway"/>
              </a:defRPr>
            </a:lvl3pPr>
            <a:lvl4pPr lvl="3" rtl="0">
              <a:buNone/>
              <a:defRPr b="1">
                <a:solidFill>
                  <a:schemeClr val="lt1"/>
                </a:solidFill>
                <a:latin typeface="Raleway"/>
                <a:ea typeface="Raleway"/>
                <a:cs typeface="Raleway"/>
                <a:sym typeface="Raleway"/>
              </a:defRPr>
            </a:lvl4pPr>
            <a:lvl5pPr lvl="4" rtl="0">
              <a:buNone/>
              <a:defRPr b="1">
                <a:solidFill>
                  <a:schemeClr val="lt1"/>
                </a:solidFill>
                <a:latin typeface="Raleway"/>
                <a:ea typeface="Raleway"/>
                <a:cs typeface="Raleway"/>
                <a:sym typeface="Raleway"/>
              </a:defRPr>
            </a:lvl5pPr>
            <a:lvl6pPr lvl="5" rtl="0">
              <a:buNone/>
              <a:defRPr b="1">
                <a:solidFill>
                  <a:schemeClr val="lt1"/>
                </a:solidFill>
                <a:latin typeface="Raleway"/>
                <a:ea typeface="Raleway"/>
                <a:cs typeface="Raleway"/>
                <a:sym typeface="Raleway"/>
              </a:defRPr>
            </a:lvl6pPr>
            <a:lvl7pPr lvl="6" rtl="0">
              <a:buNone/>
              <a:defRPr b="1">
                <a:solidFill>
                  <a:schemeClr val="lt1"/>
                </a:solidFill>
                <a:latin typeface="Raleway"/>
                <a:ea typeface="Raleway"/>
                <a:cs typeface="Raleway"/>
                <a:sym typeface="Raleway"/>
              </a:defRPr>
            </a:lvl7pPr>
            <a:lvl8pPr lvl="7" rtl="0">
              <a:buNone/>
              <a:defRPr b="1">
                <a:solidFill>
                  <a:schemeClr val="lt1"/>
                </a:solidFill>
                <a:latin typeface="Raleway"/>
                <a:ea typeface="Raleway"/>
                <a:cs typeface="Raleway"/>
                <a:sym typeface="Raleway"/>
              </a:defRPr>
            </a:lvl8pPr>
            <a:lvl9pPr lvl="8" rtl="0">
              <a:buNone/>
              <a:defRPr b="1">
                <a:solidFill>
                  <a:schemeClr val="lt1"/>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1" name="Shape 41"/>
        <p:cNvGrpSpPr/>
        <p:nvPr/>
      </p:nvGrpSpPr>
      <p:grpSpPr>
        <a:xfrm>
          <a:off x="0" y="0"/>
          <a:ext cx="0" cy="0"/>
          <a:chOff x="0" y="0"/>
          <a:chExt cx="0" cy="0"/>
        </a:xfrm>
      </p:grpSpPr>
      <p:sp>
        <p:nvSpPr>
          <p:cNvPr id="42" name="Google Shape;42;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4" name="Shape 44"/>
        <p:cNvGrpSpPr/>
        <p:nvPr/>
      </p:nvGrpSpPr>
      <p:grpSpPr>
        <a:xfrm>
          <a:off x="0" y="0"/>
          <a:ext cx="0" cy="0"/>
          <a:chOff x="0" y="0"/>
          <a:chExt cx="0" cy="0"/>
        </a:xfrm>
      </p:grpSpPr>
      <p:sp>
        <p:nvSpPr>
          <p:cNvPr id="45" name="Google Shape;45;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6" name="Google Shape;46;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47" name="Google Shape;47;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8" name="Shape 48"/>
        <p:cNvGrpSpPr/>
        <p:nvPr/>
      </p:nvGrpSpPr>
      <p:grpSpPr>
        <a:xfrm>
          <a:off x="0" y="0"/>
          <a:ext cx="0" cy="0"/>
          <a:chOff x="0" y="0"/>
          <a:chExt cx="0" cy="0"/>
        </a:xfrm>
      </p:grpSpPr>
      <p:sp>
        <p:nvSpPr>
          <p:cNvPr id="49" name="Google Shape;49;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50" name="Google Shape;50;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54" name="Google Shape;54;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7" name="Shape 57"/>
        <p:cNvGrpSpPr/>
        <p:nvPr/>
      </p:nvGrpSpPr>
      <p:grpSpPr>
        <a:xfrm>
          <a:off x="0" y="0"/>
          <a:ext cx="0" cy="0"/>
          <a:chOff x="0" y="0"/>
          <a:chExt cx="0" cy="0"/>
        </a:xfrm>
      </p:grpSpPr>
      <p:sp>
        <p:nvSpPr>
          <p:cNvPr id="58" name="Google Shape;58;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sp>
        <p:nvSpPr>
          <p:cNvPr id="61" name="Google Shape;61;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62" name="Google Shape;62;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4" name="Shape 64"/>
        <p:cNvGrpSpPr/>
        <p:nvPr/>
      </p:nvGrpSpPr>
      <p:grpSpPr>
        <a:xfrm>
          <a:off x="0" y="0"/>
          <a:ext cx="0" cy="0"/>
          <a:chOff x="0" y="0"/>
          <a:chExt cx="0" cy="0"/>
        </a:xfrm>
      </p:grpSpPr>
      <p:sp>
        <p:nvSpPr>
          <p:cNvPr id="65" name="Google Shape;65;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6" name="Shape 66"/>
        <p:cNvGrpSpPr/>
        <p:nvPr/>
      </p:nvGrpSpPr>
      <p:grpSpPr>
        <a:xfrm>
          <a:off x="0" y="0"/>
          <a:ext cx="0" cy="0"/>
          <a:chOff x="0" y="0"/>
          <a:chExt cx="0" cy="0"/>
        </a:xfrm>
      </p:grpSpPr>
      <p:sp>
        <p:nvSpPr>
          <p:cNvPr id="67" name="Google Shape;67;p13"/>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8" name="Google Shape;68;p13"/>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rtl="0">
              <a:spcBef>
                <a:spcPts val="0"/>
              </a:spcBef>
              <a:spcAft>
                <a:spcPts val="0"/>
              </a:spcAft>
              <a:buSzPts val="1800"/>
              <a:buChar char="●"/>
              <a:defRPr/>
            </a:lvl1pPr>
            <a:lvl2pPr indent="-317500" lvl="1" marL="914400" rtl="0">
              <a:spcBef>
                <a:spcPts val="1600"/>
              </a:spcBef>
              <a:spcAft>
                <a:spcPts val="0"/>
              </a:spcAft>
              <a:buSzPts val="1400"/>
              <a:buChar char="○"/>
              <a:defRPr/>
            </a:lvl2pPr>
            <a:lvl3pPr indent="-317500" lvl="2" marL="1371600" rtl="0">
              <a:spcBef>
                <a:spcPts val="1600"/>
              </a:spcBef>
              <a:spcAft>
                <a:spcPts val="0"/>
              </a:spcAft>
              <a:buSzPts val="1400"/>
              <a:buChar char="■"/>
              <a:defRPr/>
            </a:lvl3pPr>
            <a:lvl4pPr indent="-317500" lvl="3" marL="1828800" rtl="0">
              <a:spcBef>
                <a:spcPts val="1600"/>
              </a:spcBef>
              <a:spcAft>
                <a:spcPts val="0"/>
              </a:spcAft>
              <a:buSzPts val="1400"/>
              <a:buChar char="●"/>
              <a:defRPr/>
            </a:lvl4pPr>
            <a:lvl5pPr indent="-317500" lvl="4" marL="2286000" rtl="0">
              <a:spcBef>
                <a:spcPts val="1600"/>
              </a:spcBef>
              <a:spcAft>
                <a:spcPts val="0"/>
              </a:spcAft>
              <a:buSzPts val="1400"/>
              <a:buChar char="○"/>
              <a:defRPr/>
            </a:lvl5pPr>
            <a:lvl6pPr indent="-317500" lvl="5" marL="2743200" rtl="0">
              <a:spcBef>
                <a:spcPts val="1600"/>
              </a:spcBef>
              <a:spcAft>
                <a:spcPts val="0"/>
              </a:spcAft>
              <a:buSzPts val="1400"/>
              <a:buChar char="■"/>
              <a:defRPr/>
            </a:lvl6pPr>
            <a:lvl7pPr indent="-317500" lvl="6" marL="3200400" rtl="0">
              <a:spcBef>
                <a:spcPts val="1600"/>
              </a:spcBef>
              <a:spcAft>
                <a:spcPts val="0"/>
              </a:spcAft>
              <a:buSzPts val="1400"/>
              <a:buChar char="●"/>
              <a:defRPr/>
            </a:lvl7pPr>
            <a:lvl8pPr indent="-317500" lvl="7" marL="3657600" rtl="0">
              <a:spcBef>
                <a:spcPts val="1600"/>
              </a:spcBef>
              <a:spcAft>
                <a:spcPts val="0"/>
              </a:spcAft>
              <a:buSzPts val="1400"/>
              <a:buChar char="○"/>
              <a:defRPr/>
            </a:lvl8pPr>
            <a:lvl9pPr indent="-317500" lvl="8" marL="4114800" rtl="0">
              <a:spcBef>
                <a:spcPts val="1600"/>
              </a:spcBef>
              <a:spcAft>
                <a:spcPts val="1600"/>
              </a:spcAft>
              <a:buSzPts val="1400"/>
              <a:buChar char="■"/>
              <a:defRPr/>
            </a:lvl9pPr>
          </a:lstStyle>
          <a:p/>
        </p:txBody>
      </p:sp>
      <p:sp>
        <p:nvSpPr>
          <p:cNvPr id="69" name="Google Shape;69;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70" name="Shape 70"/>
        <p:cNvGrpSpPr/>
        <p:nvPr/>
      </p:nvGrpSpPr>
      <p:grpSpPr>
        <a:xfrm>
          <a:off x="0" y="0"/>
          <a:ext cx="0" cy="0"/>
          <a:chOff x="0" y="0"/>
          <a:chExt cx="0" cy="0"/>
        </a:xfrm>
      </p:grpSpPr>
      <p:sp>
        <p:nvSpPr>
          <p:cNvPr id="71" name="Google Shape;71;p14"/>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2" name="Google Shape;72;p14"/>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3" name="Google Shape;73;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74" name="Shape 74"/>
        <p:cNvGrpSpPr/>
        <p:nvPr/>
      </p:nvGrpSpPr>
      <p:grpSpPr>
        <a:xfrm>
          <a:off x="0" y="0"/>
          <a:ext cx="0" cy="0"/>
          <a:chOff x="0" y="0"/>
          <a:chExt cx="0" cy="0"/>
        </a:xfrm>
      </p:grpSpPr>
      <p:sp>
        <p:nvSpPr>
          <p:cNvPr id="75" name="Google Shape;75;p15"/>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76" name="Google Shape;76;p15"/>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77" name="Google Shape;77;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78" name="Shape 78"/>
        <p:cNvGrpSpPr/>
        <p:nvPr/>
      </p:nvGrpSpPr>
      <p:grpSpPr>
        <a:xfrm>
          <a:off x="0" y="0"/>
          <a:ext cx="0" cy="0"/>
          <a:chOff x="0" y="0"/>
          <a:chExt cx="0" cy="0"/>
        </a:xfrm>
      </p:grpSpPr>
      <p:sp>
        <p:nvSpPr>
          <p:cNvPr id="79" name="Google Shape;79;p1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0" name="Google Shape;80;p1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1" name="Google Shape;81;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82" name="Shape 82"/>
        <p:cNvGrpSpPr/>
        <p:nvPr/>
      </p:nvGrpSpPr>
      <p:grpSpPr>
        <a:xfrm>
          <a:off x="0" y="0"/>
          <a:ext cx="0" cy="0"/>
          <a:chOff x="0" y="0"/>
          <a:chExt cx="0" cy="0"/>
        </a:xfrm>
      </p:grpSpPr>
      <p:sp>
        <p:nvSpPr>
          <p:cNvPr id="83" name="Google Shape;83;p17"/>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4" name="Google Shape;84;p17"/>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5" name="Google Shape;85;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5">
  <p:cSld name="TITLE_5">
    <p:spTree>
      <p:nvGrpSpPr>
        <p:cNvPr id="86" name="Shape 86"/>
        <p:cNvGrpSpPr/>
        <p:nvPr/>
      </p:nvGrpSpPr>
      <p:grpSpPr>
        <a:xfrm>
          <a:off x="0" y="0"/>
          <a:ext cx="0" cy="0"/>
          <a:chOff x="0" y="0"/>
          <a:chExt cx="0" cy="0"/>
        </a:xfrm>
      </p:grpSpPr>
      <p:sp>
        <p:nvSpPr>
          <p:cNvPr id="87" name="Google Shape;87;p18"/>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88" name="Google Shape;88;p1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89" name="Google Shape;89;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6">
  <p:cSld name="TITLE_6">
    <p:spTree>
      <p:nvGrpSpPr>
        <p:cNvPr id="90" name="Shape 90"/>
        <p:cNvGrpSpPr/>
        <p:nvPr/>
      </p:nvGrpSpPr>
      <p:grpSpPr>
        <a:xfrm>
          <a:off x="0" y="0"/>
          <a:ext cx="0" cy="0"/>
          <a:chOff x="0" y="0"/>
          <a:chExt cx="0" cy="0"/>
        </a:xfrm>
      </p:grpSpPr>
      <p:sp>
        <p:nvSpPr>
          <p:cNvPr id="91" name="Google Shape;91;p19"/>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92" name="Google Shape;92;p19"/>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3" name="Google Shape;93;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94" name="Shape 94"/>
        <p:cNvGrpSpPr/>
        <p:nvPr/>
      </p:nvGrpSpPr>
      <p:grpSpPr>
        <a:xfrm>
          <a:off x="0" y="0"/>
          <a:ext cx="0" cy="0"/>
          <a:chOff x="0" y="0"/>
          <a:chExt cx="0" cy="0"/>
        </a:xfrm>
      </p:grpSpPr>
      <p:sp>
        <p:nvSpPr>
          <p:cNvPr id="95" name="Google Shape;95;p20"/>
          <p:cNvSpPr/>
          <p:nvPr/>
        </p:nvSpPr>
        <p:spPr>
          <a:xfrm flipH="1" rot="5400000">
            <a:off x="4303949" y="-4204126"/>
            <a:ext cx="536100" cy="9144000"/>
          </a:xfrm>
          <a:prstGeom prst="rect">
            <a:avLst/>
          </a:prstGeom>
          <a:solidFill>
            <a:srgbClr val="9B6DBB"/>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6" name="Google Shape;96;p20"/>
          <p:cNvSpPr txBox="1"/>
          <p:nvPr/>
        </p:nvSpPr>
        <p:spPr>
          <a:xfrm>
            <a:off x="573578" y="251687"/>
            <a:ext cx="7296000" cy="230700"/>
          </a:xfrm>
          <a:prstGeom prst="rect">
            <a:avLst/>
          </a:prstGeom>
          <a:noFill/>
          <a:ln>
            <a:noFill/>
          </a:ln>
        </p:spPr>
        <p:txBody>
          <a:bodyPr anchorCtr="0" anchor="t" bIns="34275" lIns="68575" spcFirstLastPara="1" rIns="68575" wrap="square" tIns="34275">
            <a:noAutofit/>
          </a:bodyPr>
          <a:lstStyle/>
          <a:p>
            <a:pPr indent="0" lvl="0" marL="0" marR="0" rtl="0" algn="l">
              <a:lnSpc>
                <a:spcPct val="100000"/>
              </a:lnSpc>
              <a:spcBef>
                <a:spcPts val="0"/>
              </a:spcBef>
              <a:spcAft>
                <a:spcPts val="0"/>
              </a:spcAft>
              <a:buClr>
                <a:srgbClr val="FFFFFF"/>
              </a:buClr>
              <a:buSzPts val="1100"/>
              <a:buFont typeface="Montserrat"/>
              <a:buNone/>
            </a:pPr>
            <a:r>
              <a:rPr b="0" i="0" lang="en" sz="1100" u="none" cap="none" strike="noStrike">
                <a:solidFill>
                  <a:srgbClr val="FFFFFF"/>
                </a:solidFill>
                <a:latin typeface="Lato Black"/>
                <a:ea typeface="Lato Black"/>
                <a:cs typeface="Lato Black"/>
                <a:sym typeface="Lato Black"/>
              </a:rPr>
              <a:t>PM 101</a:t>
            </a:r>
            <a:endParaRPr b="0" i="0" sz="1100" u="none" cap="none" strike="noStrike">
              <a:solidFill>
                <a:srgbClr val="FFFFFF"/>
              </a:solidFill>
              <a:latin typeface="Lato Black"/>
              <a:ea typeface="Lato Black"/>
              <a:cs typeface="Lato Black"/>
              <a:sym typeface="Lato Black"/>
            </a:endParaRPr>
          </a:p>
        </p:txBody>
      </p:sp>
      <p:sp>
        <p:nvSpPr>
          <p:cNvPr id="97" name="Google Shape;97;p20"/>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8" name="Google Shape;98;p20"/>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99" name="Google Shape;99;p20"/>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00" name="Google Shape;100;p20"/>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01" name="Google Shape;101;p20"/>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102" name="Google Shape;102;p20"/>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grpSp>
        <p:nvGrpSpPr>
          <p:cNvPr id="103" name="Google Shape;103;p20"/>
          <p:cNvGrpSpPr/>
          <p:nvPr/>
        </p:nvGrpSpPr>
        <p:grpSpPr>
          <a:xfrm>
            <a:off x="283668" y="259895"/>
            <a:ext cx="226001" cy="222980"/>
            <a:chOff x="283668" y="251687"/>
            <a:chExt cx="226001" cy="222980"/>
          </a:xfrm>
        </p:grpSpPr>
        <p:sp>
          <p:nvSpPr>
            <p:cNvPr id="104" name="Google Shape;104;p20"/>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05" name="Google Shape;105;p20"/>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106" name="Google Shape;106;p20"/>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grpSp>
      <p:sp>
        <p:nvSpPr>
          <p:cNvPr id="107" name="Google Shape;107;p2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lvl1pPr lvl="0" rtl="0">
              <a:buNone/>
              <a:defRPr b="1">
                <a:solidFill>
                  <a:srgbClr val="733572"/>
                </a:solidFill>
                <a:latin typeface="Raleway"/>
                <a:ea typeface="Raleway"/>
                <a:cs typeface="Raleway"/>
                <a:sym typeface="Raleway"/>
              </a:defRPr>
            </a:lvl1pPr>
            <a:lvl2pPr lvl="1" rtl="0">
              <a:buNone/>
              <a:defRPr b="1">
                <a:solidFill>
                  <a:srgbClr val="733572"/>
                </a:solidFill>
                <a:latin typeface="Raleway"/>
                <a:ea typeface="Raleway"/>
                <a:cs typeface="Raleway"/>
                <a:sym typeface="Raleway"/>
              </a:defRPr>
            </a:lvl2pPr>
            <a:lvl3pPr lvl="2" rtl="0">
              <a:buNone/>
              <a:defRPr b="1">
                <a:solidFill>
                  <a:srgbClr val="733572"/>
                </a:solidFill>
                <a:latin typeface="Raleway"/>
                <a:ea typeface="Raleway"/>
                <a:cs typeface="Raleway"/>
                <a:sym typeface="Raleway"/>
              </a:defRPr>
            </a:lvl3pPr>
            <a:lvl4pPr lvl="3" rtl="0">
              <a:buNone/>
              <a:defRPr b="1">
                <a:solidFill>
                  <a:srgbClr val="733572"/>
                </a:solidFill>
                <a:latin typeface="Raleway"/>
                <a:ea typeface="Raleway"/>
                <a:cs typeface="Raleway"/>
                <a:sym typeface="Raleway"/>
              </a:defRPr>
            </a:lvl4pPr>
            <a:lvl5pPr lvl="4" rtl="0">
              <a:buNone/>
              <a:defRPr b="1">
                <a:solidFill>
                  <a:srgbClr val="733572"/>
                </a:solidFill>
                <a:latin typeface="Raleway"/>
                <a:ea typeface="Raleway"/>
                <a:cs typeface="Raleway"/>
                <a:sym typeface="Raleway"/>
              </a:defRPr>
            </a:lvl5pPr>
            <a:lvl6pPr lvl="5" rtl="0">
              <a:buNone/>
              <a:defRPr b="1">
                <a:solidFill>
                  <a:srgbClr val="733572"/>
                </a:solidFill>
                <a:latin typeface="Raleway"/>
                <a:ea typeface="Raleway"/>
                <a:cs typeface="Raleway"/>
                <a:sym typeface="Raleway"/>
              </a:defRPr>
            </a:lvl6pPr>
            <a:lvl7pPr lvl="6" rtl="0">
              <a:buNone/>
              <a:defRPr b="1">
                <a:solidFill>
                  <a:srgbClr val="733572"/>
                </a:solidFill>
                <a:latin typeface="Raleway"/>
                <a:ea typeface="Raleway"/>
                <a:cs typeface="Raleway"/>
                <a:sym typeface="Raleway"/>
              </a:defRPr>
            </a:lvl7pPr>
            <a:lvl8pPr lvl="7" rtl="0">
              <a:buNone/>
              <a:defRPr b="1">
                <a:solidFill>
                  <a:srgbClr val="733572"/>
                </a:solidFill>
                <a:latin typeface="Raleway"/>
                <a:ea typeface="Raleway"/>
                <a:cs typeface="Raleway"/>
                <a:sym typeface="Raleway"/>
              </a:defRPr>
            </a:lvl8pPr>
            <a:lvl9pPr lvl="8" rtl="0">
              <a:buNone/>
              <a:defRPr b="1">
                <a:solidFill>
                  <a:srgbClr val="733572"/>
                </a:solidFill>
                <a:latin typeface="Raleway"/>
                <a:ea typeface="Raleway"/>
                <a:cs typeface="Raleway"/>
                <a:sym typeface="Raleway"/>
              </a:defRPr>
            </a:lvl9pPr>
          </a:lstStyle>
          <a:p>
            <a:pPr indent="0" lvl="0" marL="0" rtl="0" algn="r">
              <a:spcBef>
                <a:spcPts val="0"/>
              </a:spcBef>
              <a:spcAft>
                <a:spcPts val="0"/>
              </a:spcAft>
              <a:buNone/>
            </a:pPr>
            <a:fld id="{00000000-1234-1234-1234-123412341234}" type="slidenum">
              <a:rPr lang="en"/>
              <a:t>‹#›</a:t>
            </a:fld>
            <a:endParaRPr/>
          </a:p>
        </p:txBody>
      </p:sp>
      <p:sp>
        <p:nvSpPr>
          <p:cNvPr id="108" name="Google Shape;108;p2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lvl1pPr lvl="0" rtl="0">
              <a:spcBef>
                <a:spcPts val="0"/>
              </a:spcBef>
              <a:spcAft>
                <a:spcPts val="0"/>
              </a:spcAft>
              <a:buClr>
                <a:schemeClr val="lt1"/>
              </a:buClr>
              <a:buSzPts val="1200"/>
              <a:buFont typeface="Raleway"/>
              <a:buNone/>
              <a:defRPr b="1" sz="1200">
                <a:solidFill>
                  <a:schemeClr val="lt1"/>
                </a:solidFill>
                <a:latin typeface="Raleway"/>
                <a:ea typeface="Raleway"/>
                <a:cs typeface="Raleway"/>
                <a:sym typeface="Raleway"/>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109" name="Google Shape;109;p20"/>
          <p:cNvPicPr preferRelativeResize="0"/>
          <p:nvPr/>
        </p:nvPicPr>
        <p:blipFill rotWithShape="1">
          <a:blip r:embed="rId2">
            <a:alphaModFix/>
          </a:blip>
          <a:srcRect b="0" l="0" r="0" t="0"/>
          <a:stretch/>
        </p:blipFill>
        <p:spPr>
          <a:xfrm>
            <a:off x="8535950" y="143933"/>
            <a:ext cx="463928" cy="46392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theme" Target="../theme/theme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18.png"/><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unsplash.com/@kellysikkema?utm_source=unsplash&amp;utm_medium=referral&amp;utm_content=creditCopyText" TargetMode="External"/><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hyperlink" Target="http://www.youtube.com/watch?v=25RqpGJ4tJ8" TargetMode="External"/><Relationship Id="rId4" Type="http://schemas.openxmlformats.org/officeDocument/2006/relationships/image" Target="../media/image23.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28.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hyperlink" Target="https://bananacom.optimalworkshop.com/optimalsort/bananacom-demo-survey-open" TargetMode="External"/><Relationship Id="rId4" Type="http://schemas.openxmlformats.org/officeDocument/2006/relationships/image" Target="../media/image29.png"/><Relationship Id="rId5" Type="http://schemas.openxmlformats.org/officeDocument/2006/relationships/image" Target="../media/image3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 Id="rId3" Type="http://schemas.openxmlformats.org/officeDocument/2006/relationships/hyperlink" Target="https://bananacom.optimalworkshop.com/optimalsort/bananacom-demo-survey-closed" TargetMode="External"/><Relationship Id="rId4" Type="http://schemas.openxmlformats.org/officeDocument/2006/relationships/image" Target="../media/image25.png"/><Relationship Id="rId5" Type="http://schemas.openxmlformats.org/officeDocument/2006/relationships/image" Target="../media/image37.png"/></Relationships>
</file>

<file path=ppt/slides/_rels/slide25.xml.rels><?xml version="1.0" encoding="UTF-8" standalone="yes"?><Relationships xmlns="http://schemas.openxmlformats.org/package/2006/relationships"><Relationship Id="rId11" Type="http://schemas.openxmlformats.org/officeDocument/2006/relationships/image" Target="../media/image33.png"/><Relationship Id="rId10" Type="http://schemas.openxmlformats.org/officeDocument/2006/relationships/image" Target="../media/image34.png"/><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s://bananacom.optimalworkshop.com/optimalsort/bananacom-demo-survey-image" TargetMode="External"/><Relationship Id="rId4" Type="http://schemas.openxmlformats.org/officeDocument/2006/relationships/image" Target="../media/image22.png"/><Relationship Id="rId9" Type="http://schemas.openxmlformats.org/officeDocument/2006/relationships/image" Target="../media/image31.png"/><Relationship Id="rId5" Type="http://schemas.openxmlformats.org/officeDocument/2006/relationships/image" Target="../media/image27.png"/><Relationship Id="rId6" Type="http://schemas.openxmlformats.org/officeDocument/2006/relationships/image" Target="../media/image32.png"/><Relationship Id="rId7" Type="http://schemas.openxmlformats.org/officeDocument/2006/relationships/image" Target="../media/image26.png"/><Relationship Id="rId8" Type="http://schemas.openxmlformats.org/officeDocument/2006/relationships/image" Target="../media/image30.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4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8.png"/><Relationship Id="rId4" Type="http://schemas.openxmlformats.org/officeDocument/2006/relationships/hyperlink" Target="https://uxdesign.cc/the-life-and-timelines-of-research-projects-3eb9001d74c" TargetMode="External"/><Relationship Id="rId5" Type="http://schemas.openxmlformats.org/officeDocument/2006/relationships/hyperlink" Target="https://uxdesign.cc/the-life-and-timelines-of-research-projects-3eb9001d74c" TargetMode="External"/><Relationship Id="rId6" Type="http://schemas.openxmlformats.org/officeDocument/2006/relationships/hyperlink" Target="https://uxdesign.cc/the-life-and-timelines-of-research-projects-3eb9001d74c" TargetMode="External"/><Relationship Id="rId7" Type="http://schemas.openxmlformats.org/officeDocument/2006/relationships/hyperlink" Target="https://uxdesign.cc/a-breakdown-of-ux-research-types-bd127c10b364" TargetMode="External"/><Relationship Id="rId8" Type="http://schemas.openxmlformats.org/officeDocument/2006/relationships/hyperlink" Target="https://www.usertesting.com/blog/generative-vs-evaluation-research" TargetMode="Externa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8.xml"/><Relationship Id="rId3" Type="http://schemas.openxmlformats.org/officeDocument/2006/relationships/image" Target="../media/image35.png"/><Relationship Id="rId4"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9.xml"/><Relationship Id="rId3" Type="http://schemas.openxmlformats.org/officeDocument/2006/relationships/image" Target="../media/image39.png"/><Relationship Id="rId4" Type="http://schemas.openxmlformats.org/officeDocument/2006/relationships/image" Target="../media/image36.png"/><Relationship Id="rId5" Type="http://schemas.openxmlformats.org/officeDocument/2006/relationships/image" Target="../media/image40.png"/><Relationship Id="rId6"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113" name="Shape 113"/>
        <p:cNvGrpSpPr/>
        <p:nvPr/>
      </p:nvGrpSpPr>
      <p:grpSpPr>
        <a:xfrm>
          <a:off x="0" y="0"/>
          <a:ext cx="0" cy="0"/>
          <a:chOff x="0" y="0"/>
          <a:chExt cx="0" cy="0"/>
        </a:xfrm>
      </p:grpSpPr>
      <p:sp>
        <p:nvSpPr>
          <p:cNvPr id="114" name="Google Shape;114;p21"/>
          <p:cNvSpPr txBox="1"/>
          <p:nvPr/>
        </p:nvSpPr>
        <p:spPr>
          <a:xfrm>
            <a:off x="2349675" y="2705850"/>
            <a:ext cx="5869200" cy="10092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rPr b="1" lang="en" sz="2700">
                <a:solidFill>
                  <a:schemeClr val="lt1"/>
                </a:solidFill>
                <a:latin typeface="Montserrat"/>
                <a:ea typeface="Montserrat"/>
                <a:cs typeface="Montserrat"/>
                <a:sym typeface="Montserrat"/>
              </a:rPr>
              <a:t>Metode-Metode UX Research</a:t>
            </a:r>
            <a:endParaRPr sz="2700">
              <a:solidFill>
                <a:schemeClr val="lt1"/>
              </a:solidFill>
              <a:latin typeface="Montserrat ExtraBold"/>
              <a:ea typeface="Montserrat ExtraBold"/>
              <a:cs typeface="Montserrat ExtraBold"/>
              <a:sym typeface="Montserrat ExtraBold"/>
            </a:endParaRPr>
          </a:p>
          <a:p>
            <a:pPr indent="0" lvl="0" marL="0" rtl="0" algn="l">
              <a:spcBef>
                <a:spcPts val="0"/>
              </a:spcBef>
              <a:spcAft>
                <a:spcPts val="0"/>
              </a:spcAft>
              <a:buClr>
                <a:schemeClr val="dk1"/>
              </a:buClr>
              <a:buSzPts val="1100"/>
              <a:buFont typeface="Arial"/>
              <a:buNone/>
            </a:pPr>
            <a:r>
              <a:rPr lang="en">
                <a:solidFill>
                  <a:schemeClr val="lt1"/>
                </a:solidFill>
                <a:latin typeface="Montserrat ExtraBold"/>
                <a:ea typeface="Montserrat ExtraBold"/>
                <a:cs typeface="Montserrat ExtraBold"/>
                <a:sym typeface="Montserrat ExtraBold"/>
              </a:rPr>
              <a:t>Silver </a:t>
            </a:r>
            <a:r>
              <a:rPr lang="en">
                <a:solidFill>
                  <a:schemeClr val="lt1"/>
                </a:solidFill>
                <a:latin typeface="Montserrat"/>
                <a:ea typeface="Montserrat"/>
                <a:cs typeface="Montserrat"/>
                <a:sym typeface="Montserrat"/>
              </a:rPr>
              <a:t>- Chapter 2 - Topic 5</a:t>
            </a:r>
            <a:endParaRPr>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400">
              <a:solidFill>
                <a:schemeClr val="lt1"/>
              </a:solidFill>
              <a:latin typeface="Montserrat"/>
              <a:ea typeface="Montserrat"/>
              <a:cs typeface="Montserrat"/>
              <a:sym typeface="Montserrat"/>
            </a:endParaRPr>
          </a:p>
          <a:p>
            <a:pPr indent="0" lvl="0" marL="0" rtl="0" algn="l">
              <a:spcBef>
                <a:spcPts val="0"/>
              </a:spcBef>
              <a:spcAft>
                <a:spcPts val="0"/>
              </a:spcAft>
              <a:buClr>
                <a:schemeClr val="dk1"/>
              </a:buClr>
              <a:buSzPts val="1100"/>
              <a:buFont typeface="Arial"/>
              <a:buNone/>
            </a:pPr>
            <a:r>
              <a:t/>
            </a:r>
            <a:endParaRPr b="1" sz="2700">
              <a:solidFill>
                <a:schemeClr val="lt1"/>
              </a:solidFill>
              <a:latin typeface="Montserrat"/>
              <a:ea typeface="Montserrat"/>
              <a:cs typeface="Montserrat"/>
              <a:sym typeface="Montserrat"/>
            </a:endParaRPr>
          </a:p>
        </p:txBody>
      </p:sp>
      <p:cxnSp>
        <p:nvCxnSpPr>
          <p:cNvPr id="115" name="Google Shape;115;p21"/>
          <p:cNvCxnSpPr/>
          <p:nvPr/>
        </p:nvCxnSpPr>
        <p:spPr>
          <a:xfrm flipH="1" rot="10800000">
            <a:off x="705500" y="3560750"/>
            <a:ext cx="7727400" cy="57300"/>
          </a:xfrm>
          <a:prstGeom prst="straightConnector1">
            <a:avLst/>
          </a:prstGeom>
          <a:noFill/>
          <a:ln cap="flat" cmpd="sng" w="9525">
            <a:solidFill>
              <a:srgbClr val="FFFFFF"/>
            </a:solidFill>
            <a:prstDash val="solid"/>
            <a:round/>
            <a:headEnd len="med" w="med" type="none"/>
            <a:tailEnd len="med" w="med" type="none"/>
          </a:ln>
        </p:spPr>
      </p:cxnSp>
      <p:pic>
        <p:nvPicPr>
          <p:cNvPr id="116" name="Google Shape;116;p21"/>
          <p:cNvPicPr preferRelativeResize="0"/>
          <p:nvPr/>
        </p:nvPicPr>
        <p:blipFill rotWithShape="1">
          <a:blip r:embed="rId3">
            <a:alphaModFix/>
          </a:blip>
          <a:srcRect b="0" l="0" r="0" t="0"/>
          <a:stretch/>
        </p:blipFill>
        <p:spPr>
          <a:xfrm>
            <a:off x="1037425" y="1951500"/>
            <a:ext cx="1181925" cy="14396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652F67"/>
        </a:solidFill>
      </p:bgPr>
    </p:bg>
    <p:spTree>
      <p:nvGrpSpPr>
        <p:cNvPr id="120" name="Shape 120"/>
        <p:cNvGrpSpPr/>
        <p:nvPr/>
      </p:nvGrpSpPr>
      <p:grpSpPr>
        <a:xfrm>
          <a:off x="0" y="0"/>
          <a:ext cx="0" cy="0"/>
          <a:chOff x="0" y="0"/>
          <a:chExt cx="0" cy="0"/>
        </a:xfrm>
      </p:grpSpPr>
      <p:sp>
        <p:nvSpPr>
          <p:cNvPr id="121" name="Google Shape;121;p22"/>
          <p:cNvSpPr txBox="1"/>
          <p:nvPr/>
        </p:nvSpPr>
        <p:spPr>
          <a:xfrm>
            <a:off x="1746750" y="685025"/>
            <a:ext cx="5650500" cy="607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en" sz="1600" u="none" cap="none" strike="noStrike">
                <a:solidFill>
                  <a:schemeClr val="lt1"/>
                </a:solidFill>
                <a:latin typeface="Montserrat"/>
                <a:ea typeface="Montserrat"/>
                <a:cs typeface="Montserrat"/>
                <a:sym typeface="Montserrat"/>
              </a:rPr>
              <a:t>Selamat datang di </a:t>
            </a:r>
            <a:r>
              <a:rPr b="1" i="0" lang="en" sz="1600" u="none" cap="none" strike="noStrike">
                <a:solidFill>
                  <a:schemeClr val="accent1"/>
                </a:solidFill>
                <a:latin typeface="Montserrat"/>
                <a:ea typeface="Montserrat"/>
                <a:cs typeface="Montserrat"/>
                <a:sym typeface="Montserrat"/>
              </a:rPr>
              <a:t>Chapter </a:t>
            </a:r>
            <a:r>
              <a:rPr b="1" lang="en" sz="1600">
                <a:solidFill>
                  <a:schemeClr val="accent1"/>
                </a:solidFill>
                <a:latin typeface="Montserrat"/>
                <a:ea typeface="Montserrat"/>
                <a:cs typeface="Montserrat"/>
                <a:sym typeface="Montserrat"/>
              </a:rPr>
              <a:t>2 Topik 5</a:t>
            </a:r>
            <a:r>
              <a:rPr b="1" i="0" lang="en" sz="1600" u="none" cap="none" strike="noStrike">
                <a:solidFill>
                  <a:schemeClr val="lt1"/>
                </a:solidFill>
                <a:latin typeface="Montserrat"/>
                <a:ea typeface="Montserrat"/>
                <a:cs typeface="Montserrat"/>
                <a:sym typeface="Montserrat"/>
              </a:rPr>
              <a:t> online course </a:t>
            </a:r>
            <a:endParaRPr b="1" i="0" sz="1600" u="none" cap="none" strike="noStrike">
              <a:solidFill>
                <a:schemeClr val="lt1"/>
              </a:solidFill>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1800"/>
              <a:buFont typeface="Arial"/>
              <a:buNone/>
            </a:pPr>
            <a:r>
              <a:rPr b="1" lang="en" sz="1600">
                <a:solidFill>
                  <a:schemeClr val="accent1"/>
                </a:solidFill>
                <a:latin typeface="Montserrat"/>
                <a:ea typeface="Montserrat"/>
                <a:cs typeface="Montserrat"/>
                <a:sym typeface="Montserrat"/>
              </a:rPr>
              <a:t>UI/UX Research/Design</a:t>
            </a:r>
            <a:r>
              <a:rPr b="1" i="0" lang="en" sz="1600" u="none" cap="none" strike="noStrike">
                <a:solidFill>
                  <a:schemeClr val="lt1"/>
                </a:solidFill>
                <a:latin typeface="Montserrat"/>
                <a:ea typeface="Montserrat"/>
                <a:cs typeface="Montserrat"/>
                <a:sym typeface="Montserrat"/>
              </a:rPr>
              <a:t> dari Binar Academy!</a:t>
            </a:r>
            <a:endParaRPr b="1" i="0" sz="1600" u="none" cap="none" strike="noStrike">
              <a:solidFill>
                <a:srgbClr val="FFFFFF"/>
              </a:solidFill>
              <a:latin typeface="Montserrat"/>
              <a:ea typeface="Montserrat"/>
              <a:cs typeface="Montserrat"/>
              <a:sym typeface="Montserrat"/>
            </a:endParaRPr>
          </a:p>
        </p:txBody>
      </p:sp>
      <p:pic>
        <p:nvPicPr>
          <p:cNvPr id="122" name="Google Shape;122;p22"/>
          <p:cNvPicPr preferRelativeResize="0"/>
          <p:nvPr/>
        </p:nvPicPr>
        <p:blipFill rotWithShape="1">
          <a:blip r:embed="rId3">
            <a:alphaModFix/>
          </a:blip>
          <a:srcRect b="0" l="0" r="0" t="0"/>
          <a:stretch/>
        </p:blipFill>
        <p:spPr>
          <a:xfrm>
            <a:off x="2660288" y="1807025"/>
            <a:ext cx="3823424" cy="29161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8" name="Google Shape;128;p2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29" name="Google Shape;129;p23"/>
          <p:cNvSpPr txBox="1"/>
          <p:nvPr/>
        </p:nvSpPr>
        <p:spPr>
          <a:xfrm>
            <a:off x="685800" y="1797150"/>
            <a:ext cx="4185000" cy="1549200"/>
          </a:xfrm>
          <a:prstGeom prst="rect">
            <a:avLst/>
          </a:prstGeom>
          <a:noFill/>
          <a:ln>
            <a:noFill/>
          </a:ln>
        </p:spPr>
        <p:txBody>
          <a:bodyPr anchorCtr="0" anchor="ctr" bIns="0" lIns="0" spcFirstLastPara="1" rIns="0" wrap="square" tIns="0">
            <a:noAutofit/>
          </a:bodyPr>
          <a:lstStyle/>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Pada topik keempat, kita udah belajar bagaimana sebuah UX research dijalankan dengan memahami research timeline. </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1000"/>
              </a:spcAft>
              <a:buNone/>
            </a:pPr>
            <a:r>
              <a:rPr lang="en" sz="1000">
                <a:solidFill>
                  <a:schemeClr val="dk1"/>
                </a:solidFill>
                <a:latin typeface="Montserrat"/>
                <a:ea typeface="Montserrat"/>
                <a:cs typeface="Montserrat"/>
                <a:sym typeface="Montserrat"/>
              </a:rPr>
              <a:t>Pada topik kelima ini, kita bakalan bedah </a:t>
            </a:r>
            <a:r>
              <a:rPr b="1" lang="en" sz="1000">
                <a:solidFill>
                  <a:schemeClr val="dk1"/>
                </a:solidFill>
                <a:latin typeface="Montserrat"/>
                <a:ea typeface="Montserrat"/>
                <a:cs typeface="Montserrat"/>
                <a:sym typeface="Montserrat"/>
              </a:rPr>
              <a:t>metode-metode yang digunakan dalam UX research</a:t>
            </a:r>
            <a:r>
              <a:rPr lang="en" sz="1000">
                <a:solidFill>
                  <a:schemeClr val="dk1"/>
                </a:solidFill>
                <a:latin typeface="Montserrat"/>
                <a:ea typeface="Montserrat"/>
                <a:cs typeface="Montserrat"/>
                <a:sym typeface="Montserrat"/>
              </a:rPr>
              <a:t>. Letsgoo~</a:t>
            </a:r>
            <a:endParaRPr sz="1000">
              <a:solidFill>
                <a:schemeClr val="dk1"/>
              </a:solidFill>
              <a:latin typeface="Montserrat"/>
              <a:ea typeface="Montserrat"/>
              <a:cs typeface="Montserrat"/>
              <a:sym typeface="Montserrat"/>
            </a:endParaRPr>
          </a:p>
        </p:txBody>
      </p:sp>
      <p:pic>
        <p:nvPicPr>
          <p:cNvPr id="130" name="Google Shape;130;p23"/>
          <p:cNvPicPr preferRelativeResize="0"/>
          <p:nvPr/>
        </p:nvPicPr>
        <p:blipFill>
          <a:blip r:embed="rId3">
            <a:alphaModFix/>
          </a:blip>
          <a:stretch>
            <a:fillRect/>
          </a:stretch>
        </p:blipFill>
        <p:spPr>
          <a:xfrm>
            <a:off x="5409425" y="942900"/>
            <a:ext cx="2885476" cy="3630174"/>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36" name="Google Shape;136;p2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Pengantar</a:t>
            </a:r>
            <a:endParaRPr>
              <a:latin typeface="Montserrat"/>
              <a:ea typeface="Montserrat"/>
              <a:cs typeface="Montserrat"/>
              <a:sym typeface="Montserrat"/>
            </a:endParaRPr>
          </a:p>
        </p:txBody>
      </p:sp>
      <p:sp>
        <p:nvSpPr>
          <p:cNvPr id="137" name="Google Shape;137;p24"/>
          <p:cNvSpPr txBox="1"/>
          <p:nvPr/>
        </p:nvSpPr>
        <p:spPr>
          <a:xfrm>
            <a:off x="685800" y="1159608"/>
            <a:ext cx="4114800" cy="967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b="1" lang="en" sz="1600">
                <a:solidFill>
                  <a:srgbClr val="512252"/>
                </a:solidFill>
                <a:highlight>
                  <a:schemeClr val="lt1"/>
                </a:highlight>
                <a:latin typeface="Montserrat"/>
                <a:ea typeface="Montserrat"/>
                <a:cs typeface="Montserrat"/>
                <a:sym typeface="Montserrat"/>
              </a:rPr>
              <a:t>Detailnya, kita bakal bahas hal-hal berikut ini: </a:t>
            </a:r>
            <a:endParaRPr b="1" sz="1600">
              <a:solidFill>
                <a:srgbClr val="512252"/>
              </a:solidFill>
              <a:latin typeface="Montserrat"/>
              <a:ea typeface="Montserrat"/>
              <a:cs typeface="Montserrat"/>
              <a:sym typeface="Montserrat"/>
            </a:endParaRPr>
          </a:p>
        </p:txBody>
      </p:sp>
      <p:sp>
        <p:nvSpPr>
          <p:cNvPr id="138" name="Google Shape;138;p24"/>
          <p:cNvSpPr/>
          <p:nvPr/>
        </p:nvSpPr>
        <p:spPr>
          <a:xfrm>
            <a:off x="831025" y="235035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39" name="Google Shape;139;p24"/>
          <p:cNvSpPr/>
          <p:nvPr/>
        </p:nvSpPr>
        <p:spPr>
          <a:xfrm>
            <a:off x="831025" y="2885363"/>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sz="1300"/>
          </a:p>
        </p:txBody>
      </p:sp>
      <p:sp>
        <p:nvSpPr>
          <p:cNvPr id="140" name="Google Shape;140;p24"/>
          <p:cNvSpPr/>
          <p:nvPr/>
        </p:nvSpPr>
        <p:spPr>
          <a:xfrm>
            <a:off x="831025" y="3420400"/>
            <a:ext cx="255900" cy="255900"/>
          </a:xfrm>
          <a:prstGeom prst="ellipse">
            <a:avLst/>
          </a:prstGeom>
          <a:solidFill>
            <a:srgbClr val="F2AB2F"/>
          </a:solidFill>
          <a:ln cap="flat" cmpd="sng" w="9525">
            <a:solidFill>
              <a:srgbClr val="F2AB2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 name="Google Shape;141;p24"/>
          <p:cNvSpPr txBox="1"/>
          <p:nvPr/>
        </p:nvSpPr>
        <p:spPr>
          <a:xfrm>
            <a:off x="1324925" y="2117700"/>
            <a:ext cx="3247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Metode-Metode UX Research</a:t>
            </a:r>
            <a:endParaRPr sz="1200">
              <a:solidFill>
                <a:schemeClr val="dk1"/>
              </a:solidFill>
              <a:latin typeface="Montserrat Medium"/>
              <a:ea typeface="Montserrat Medium"/>
              <a:cs typeface="Montserrat Medium"/>
              <a:sym typeface="Montserrat Medium"/>
            </a:endParaRPr>
          </a:p>
        </p:txBody>
      </p:sp>
      <p:sp>
        <p:nvSpPr>
          <p:cNvPr id="142" name="Google Shape;142;p24"/>
          <p:cNvSpPr txBox="1"/>
          <p:nvPr/>
        </p:nvSpPr>
        <p:spPr>
          <a:xfrm>
            <a:off x="1324925" y="2652725"/>
            <a:ext cx="3028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Metode Card Sorting</a:t>
            </a:r>
            <a:endParaRPr sz="1200">
              <a:solidFill>
                <a:schemeClr val="dk1"/>
              </a:solidFill>
              <a:latin typeface="Montserrat Medium"/>
              <a:ea typeface="Montserrat Medium"/>
              <a:cs typeface="Montserrat Medium"/>
              <a:sym typeface="Montserrat Medium"/>
            </a:endParaRPr>
          </a:p>
        </p:txBody>
      </p:sp>
      <p:sp>
        <p:nvSpPr>
          <p:cNvPr id="143" name="Google Shape;143;p24"/>
          <p:cNvSpPr txBox="1"/>
          <p:nvPr/>
        </p:nvSpPr>
        <p:spPr>
          <a:xfrm>
            <a:off x="1324925" y="3187750"/>
            <a:ext cx="2455200" cy="721200"/>
          </a:xfrm>
          <a:prstGeom prst="rect">
            <a:avLst/>
          </a:prstGeom>
          <a:noFill/>
          <a:ln>
            <a:noFill/>
          </a:ln>
        </p:spPr>
        <p:txBody>
          <a:bodyPr anchorCtr="0" anchor="ctr" bIns="0" lIns="0" spcFirstLastPara="1" rIns="0" wrap="square" tIns="0">
            <a:noAutofit/>
          </a:bodyPr>
          <a:lstStyle/>
          <a:p>
            <a:pPr indent="0" lvl="0" marL="0" rtl="0" algn="l">
              <a:lnSpc>
                <a:spcPct val="115000"/>
              </a:lnSpc>
              <a:spcBef>
                <a:spcPts val="0"/>
              </a:spcBef>
              <a:spcAft>
                <a:spcPts val="0"/>
              </a:spcAft>
              <a:buNone/>
            </a:pPr>
            <a:r>
              <a:rPr lang="en" sz="1200">
                <a:solidFill>
                  <a:schemeClr val="dk1"/>
                </a:solidFill>
                <a:latin typeface="Montserrat Medium"/>
                <a:ea typeface="Montserrat Medium"/>
                <a:cs typeface="Montserrat Medium"/>
                <a:sym typeface="Montserrat Medium"/>
              </a:rPr>
              <a:t>Simulasi Penggunaan Metode Card Sorting</a:t>
            </a:r>
            <a:endParaRPr sz="1200">
              <a:solidFill>
                <a:schemeClr val="dk1"/>
              </a:solidFill>
              <a:latin typeface="Montserrat Medium"/>
              <a:ea typeface="Montserrat Medium"/>
              <a:cs typeface="Montserrat Medium"/>
              <a:sym typeface="Montserrat Medium"/>
            </a:endParaRPr>
          </a:p>
        </p:txBody>
      </p:sp>
      <p:pic>
        <p:nvPicPr>
          <p:cNvPr id="144" name="Google Shape;144;p24"/>
          <p:cNvPicPr preferRelativeResize="0"/>
          <p:nvPr/>
        </p:nvPicPr>
        <p:blipFill>
          <a:blip r:embed="rId3">
            <a:alphaModFix/>
          </a:blip>
          <a:stretch>
            <a:fillRect/>
          </a:stretch>
        </p:blipFill>
        <p:spPr>
          <a:xfrm>
            <a:off x="5458996" y="1043350"/>
            <a:ext cx="2612779" cy="375724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5"/>
          <p:cNvSpPr txBox="1"/>
          <p:nvPr>
            <p:ph type="title"/>
          </p:nvPr>
        </p:nvSpPr>
        <p:spPr>
          <a:xfrm>
            <a:off x="1200150" y="1190850"/>
            <a:ext cx="67437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latin typeface="Montserrat"/>
                <a:ea typeface="Montserrat"/>
                <a:cs typeface="Montserrat"/>
                <a:sym typeface="Montserrat"/>
              </a:rPr>
              <a:t>Pada topik-topik sebelumnya, kita udah menyinggung bahwa </a:t>
            </a:r>
            <a:endParaRPr sz="1400">
              <a:latin typeface="Montserrat"/>
              <a:ea typeface="Montserrat"/>
              <a:cs typeface="Montserrat"/>
              <a:sym typeface="Montserrat"/>
            </a:endParaRPr>
          </a:p>
          <a:p>
            <a:pPr indent="0" lvl="0" marL="0" rtl="0" algn="ctr">
              <a:spcBef>
                <a:spcPts val="0"/>
              </a:spcBef>
              <a:spcAft>
                <a:spcPts val="0"/>
              </a:spcAft>
              <a:buNone/>
            </a:pPr>
            <a:r>
              <a:rPr lang="en" sz="1400">
                <a:solidFill>
                  <a:schemeClr val="accent1"/>
                </a:solidFill>
                <a:latin typeface="Montserrat"/>
                <a:ea typeface="Montserrat"/>
                <a:cs typeface="Montserrat"/>
                <a:sym typeface="Montserrat"/>
              </a:rPr>
              <a:t>UX research itu umumnya menggunakan metode wawancara </a:t>
            </a:r>
            <a:endParaRPr sz="1400">
              <a:solidFill>
                <a:schemeClr val="accent1"/>
              </a:solidFill>
              <a:latin typeface="Montserrat"/>
              <a:ea typeface="Montserrat"/>
              <a:cs typeface="Montserrat"/>
              <a:sym typeface="Montserrat"/>
            </a:endParaRPr>
          </a:p>
          <a:p>
            <a:pPr indent="0" lvl="0" marL="0" rtl="0" algn="ctr">
              <a:spcBef>
                <a:spcPts val="0"/>
              </a:spcBef>
              <a:spcAft>
                <a:spcPts val="0"/>
              </a:spcAft>
              <a:buNone/>
            </a:pPr>
            <a:r>
              <a:rPr lang="en" sz="1400">
                <a:solidFill>
                  <a:schemeClr val="accent1"/>
                </a:solidFill>
                <a:latin typeface="Montserrat"/>
                <a:ea typeface="Montserrat"/>
                <a:cs typeface="Montserrat"/>
                <a:sym typeface="Montserrat"/>
              </a:rPr>
              <a:t>atau observasi.</a:t>
            </a:r>
            <a:endParaRPr sz="1400">
              <a:solidFill>
                <a:schemeClr val="accent1"/>
              </a:solidFill>
              <a:latin typeface="Montserrat"/>
              <a:ea typeface="Montserrat"/>
              <a:cs typeface="Montserrat"/>
              <a:sym typeface="Montserrat"/>
            </a:endParaRPr>
          </a:p>
          <a:p>
            <a:pPr indent="0" lvl="0" marL="0" rtl="0" algn="ctr">
              <a:spcBef>
                <a:spcPts val="0"/>
              </a:spcBef>
              <a:spcAft>
                <a:spcPts val="0"/>
              </a:spcAft>
              <a:buNone/>
            </a:pPr>
            <a:r>
              <a:t/>
            </a:r>
            <a:endParaRPr sz="1400">
              <a:latin typeface="Montserrat"/>
              <a:ea typeface="Montserrat"/>
              <a:cs typeface="Montserrat"/>
              <a:sym typeface="Montserrat"/>
            </a:endParaRPr>
          </a:p>
          <a:p>
            <a:pPr indent="0" lvl="0" marL="0" rtl="0" algn="ctr">
              <a:spcBef>
                <a:spcPts val="0"/>
              </a:spcBef>
              <a:spcAft>
                <a:spcPts val="0"/>
              </a:spcAft>
              <a:buNone/>
            </a:pPr>
            <a:r>
              <a:rPr lang="en" sz="1400">
                <a:latin typeface="Montserrat"/>
                <a:ea typeface="Montserrat"/>
                <a:cs typeface="Montserrat"/>
                <a:sym typeface="Montserrat"/>
              </a:rPr>
              <a:t>Namun, metode UX research nggak cuma itu aja, lho! </a:t>
            </a:r>
            <a:endParaRPr sz="1400">
              <a:latin typeface="Montserrat"/>
              <a:ea typeface="Montserrat"/>
              <a:cs typeface="Montserrat"/>
              <a:sym typeface="Montserrat"/>
            </a:endParaRPr>
          </a:p>
          <a:p>
            <a:pPr indent="0" lvl="0" marL="0" rtl="0" algn="ctr">
              <a:spcBef>
                <a:spcPts val="0"/>
              </a:spcBef>
              <a:spcAft>
                <a:spcPts val="0"/>
              </a:spcAft>
              <a:buNone/>
            </a:pPr>
            <a:r>
              <a:rPr lang="en" sz="1400">
                <a:latin typeface="Montserrat"/>
                <a:ea typeface="Montserrat"/>
                <a:cs typeface="Montserrat"/>
                <a:sym typeface="Montserrat"/>
              </a:rPr>
              <a:t>Emang ada apa lagi ya? Yuk kita cari tahu~</a:t>
            </a:r>
            <a:endParaRPr sz="1400">
              <a:latin typeface="Montserrat"/>
              <a:ea typeface="Montserrat"/>
              <a:cs typeface="Montserrat"/>
              <a:sym typeface="Montserrat"/>
            </a:endParaRPr>
          </a:p>
        </p:txBody>
      </p:sp>
      <p:sp>
        <p:nvSpPr>
          <p:cNvPr id="150" name="Google Shape;150;p2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151" name="Google Shape;151;p25"/>
          <p:cNvPicPr preferRelativeResize="0"/>
          <p:nvPr/>
        </p:nvPicPr>
        <p:blipFill>
          <a:blip r:embed="rId3">
            <a:alphaModFix/>
          </a:blip>
          <a:stretch>
            <a:fillRect/>
          </a:stretch>
        </p:blipFill>
        <p:spPr>
          <a:xfrm>
            <a:off x="3440858" y="2458300"/>
            <a:ext cx="2262284" cy="2685198"/>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7" name="Google Shape;157;p2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Metode-Metode UX Research</a:t>
            </a:r>
            <a:endParaRPr/>
          </a:p>
        </p:txBody>
      </p:sp>
      <p:sp>
        <p:nvSpPr>
          <p:cNvPr id="158" name="Google Shape;158;p26"/>
          <p:cNvSpPr txBox="1"/>
          <p:nvPr/>
        </p:nvSpPr>
        <p:spPr>
          <a:xfrm>
            <a:off x="685800" y="1408345"/>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Sebelum kita cari tahu ada apa aja metodenya, coba kita bahas dulu, metode itu buat apa sih?</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b="1" lang="en" sz="1000">
                <a:solidFill>
                  <a:schemeClr val="dk1"/>
                </a:solidFill>
                <a:latin typeface="Montserrat"/>
                <a:ea typeface="Montserrat"/>
                <a:cs typeface="Montserrat"/>
                <a:sym typeface="Montserrat"/>
              </a:rPr>
              <a:t>Metode UX research adalah cara yang digunakan untuk memahami pengguna (user). </a:t>
            </a:r>
            <a:r>
              <a:rPr lang="en" sz="1000">
                <a:solidFill>
                  <a:schemeClr val="dk1"/>
                </a:solidFill>
                <a:latin typeface="Montserrat"/>
                <a:ea typeface="Montserrat"/>
                <a:cs typeface="Montserrat"/>
                <a:sym typeface="Montserrat"/>
              </a:rPr>
              <a:t>Setiap metode punya fungsi dan penggunaan yang beda-beda, tergantung dari fase design thinking.</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Misalnya, metode interview (wawancara) cocok digunakan dalam fase empathize.</a:t>
            </a:r>
            <a:r>
              <a:rPr lang="en" sz="1000">
                <a:solidFill>
                  <a:schemeClr val="dk1"/>
                </a:solidFill>
                <a:latin typeface="Montserrat"/>
                <a:ea typeface="Montserrat"/>
                <a:cs typeface="Montserrat"/>
                <a:sym typeface="Montserrat"/>
              </a:rPr>
              <a:t> Sedangkan untuk fase prototype, metode yang cocok digunakan adalah usability testing.</a:t>
            </a:r>
            <a:endParaRPr sz="1000">
              <a:solidFill>
                <a:schemeClr val="dk1"/>
              </a:solidFill>
              <a:latin typeface="Montserrat"/>
              <a:ea typeface="Montserrat"/>
              <a:cs typeface="Montserrat"/>
              <a:sym typeface="Montserrat"/>
            </a:endParaRPr>
          </a:p>
        </p:txBody>
      </p:sp>
      <p:pic>
        <p:nvPicPr>
          <p:cNvPr id="159" name="Google Shape;159;p26"/>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5" name="Google Shape;165;p2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Metode-Metode UX Research</a:t>
            </a:r>
            <a:endParaRPr/>
          </a:p>
        </p:txBody>
      </p:sp>
      <p:sp>
        <p:nvSpPr>
          <p:cNvPr id="166" name="Google Shape;166;p27"/>
          <p:cNvSpPr txBox="1"/>
          <p:nvPr/>
        </p:nvSpPr>
        <p:spPr>
          <a:xfrm>
            <a:off x="685800" y="1408345"/>
            <a:ext cx="4114800" cy="3200400"/>
          </a:xfrm>
          <a:prstGeom prst="rect">
            <a:avLst/>
          </a:prstGeom>
          <a:noFill/>
          <a:ln>
            <a:noFill/>
          </a:ln>
        </p:spPr>
        <p:txBody>
          <a:bodyPr anchorCtr="0" anchor="t" bIns="0" lIns="0" spcFirstLastPara="1" rIns="0" wrap="square" tIns="0">
            <a:noAutofit/>
          </a:bodyPr>
          <a:lstStyle/>
          <a:p>
            <a:pPr indent="0" lvl="0" marL="0" rtl="0" algn="just">
              <a:lnSpc>
                <a:spcPct val="128571"/>
              </a:lnSpc>
              <a:spcBef>
                <a:spcPts val="1000"/>
              </a:spcBef>
              <a:spcAft>
                <a:spcPts val="0"/>
              </a:spcAft>
              <a:buClr>
                <a:schemeClr val="dk1"/>
              </a:buClr>
              <a:buSzPts val="1100"/>
              <a:buFont typeface="Arial"/>
              <a:buNone/>
            </a:pPr>
            <a:r>
              <a:rPr b="1" lang="en" sz="1600">
                <a:solidFill>
                  <a:srgbClr val="743673"/>
                </a:solidFill>
                <a:latin typeface="Montserrat"/>
                <a:ea typeface="Montserrat"/>
                <a:cs typeface="Montserrat"/>
                <a:sym typeface="Montserrat"/>
              </a:rPr>
              <a:t>Berikut metode-metode dalam UX research!</a:t>
            </a:r>
            <a:endParaRPr b="1" sz="1600">
              <a:solidFill>
                <a:srgbClr val="743673"/>
              </a:solidFill>
              <a:latin typeface="Montserrat"/>
              <a:ea typeface="Montserrat"/>
              <a:cs typeface="Montserrat"/>
              <a:sym typeface="Montserrat"/>
            </a:endParaRPr>
          </a:p>
          <a:p>
            <a:pPr indent="-292100" lvl="0" marL="457200" rtl="0" algn="just">
              <a:lnSpc>
                <a:spcPct val="150000"/>
              </a:lnSpc>
              <a:spcBef>
                <a:spcPts val="100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Interview</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Card sorting</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Focus group</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Survey/kuesioner</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Participatory design</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Diary study</a:t>
            </a:r>
            <a:endParaRPr sz="1000">
              <a:solidFill>
                <a:schemeClr val="dk1"/>
              </a:solidFill>
              <a:latin typeface="Montserrat"/>
              <a:ea typeface="Montserrat"/>
              <a:cs typeface="Montserrat"/>
              <a:sym typeface="Montserrat"/>
            </a:endParaRPr>
          </a:p>
          <a:p>
            <a:pPr indent="-292100" lvl="0" marL="457200" rtl="0" algn="just">
              <a:lnSpc>
                <a:spcPct val="150000"/>
              </a:lnSpc>
              <a:spcBef>
                <a:spcPts val="0"/>
              </a:spcBef>
              <a:spcAft>
                <a:spcPts val="0"/>
              </a:spcAft>
              <a:buClr>
                <a:schemeClr val="dk1"/>
              </a:buClr>
              <a:buSzPts val="1000"/>
              <a:buFont typeface="Montserrat"/>
              <a:buChar char="●"/>
            </a:pPr>
            <a:r>
              <a:rPr lang="en" sz="1000">
                <a:solidFill>
                  <a:schemeClr val="dk1"/>
                </a:solidFill>
                <a:latin typeface="Montserrat"/>
                <a:ea typeface="Montserrat"/>
                <a:cs typeface="Montserrat"/>
                <a:sym typeface="Montserrat"/>
              </a:rPr>
              <a:t>Usability testing</a:t>
            </a:r>
            <a:endParaRPr sz="1000">
              <a:solidFill>
                <a:schemeClr val="dk1"/>
              </a:solidFill>
              <a:latin typeface="Montserrat"/>
              <a:ea typeface="Montserrat"/>
              <a:cs typeface="Montserrat"/>
              <a:sym typeface="Montserrat"/>
            </a:endParaRPr>
          </a:p>
          <a:p>
            <a:pPr indent="0" lvl="0" marL="457200" rtl="0" algn="just">
              <a:lnSpc>
                <a:spcPct val="150000"/>
              </a:lnSpc>
              <a:spcBef>
                <a:spcPts val="0"/>
              </a:spcBef>
              <a:spcAft>
                <a:spcPts val="0"/>
              </a:spcAft>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Kita bahas satu-persatu, yuk!</a:t>
            </a:r>
            <a:endParaRPr sz="1000">
              <a:solidFill>
                <a:schemeClr val="dk1"/>
              </a:solidFill>
              <a:latin typeface="Montserrat"/>
              <a:ea typeface="Montserrat"/>
              <a:cs typeface="Montserrat"/>
              <a:sym typeface="Montserrat"/>
            </a:endParaRPr>
          </a:p>
        </p:txBody>
      </p:sp>
      <p:pic>
        <p:nvPicPr>
          <p:cNvPr id="167" name="Google Shape;167;p27"/>
          <p:cNvPicPr preferRelativeResize="0"/>
          <p:nvPr/>
        </p:nvPicPr>
        <p:blipFill>
          <a:blip r:embed="rId3">
            <a:alphaModFix/>
          </a:blip>
          <a:stretch>
            <a:fillRect/>
          </a:stretch>
        </p:blipFill>
        <p:spPr>
          <a:xfrm>
            <a:off x="5461275" y="914400"/>
            <a:ext cx="2064666" cy="38862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3" name="Google Shape;173;p2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Metode-Metode UX Research</a:t>
            </a:r>
            <a:endParaRPr/>
          </a:p>
        </p:txBody>
      </p:sp>
      <p:sp>
        <p:nvSpPr>
          <p:cNvPr id="174" name="Google Shape;174;p28"/>
          <p:cNvSpPr txBox="1"/>
          <p:nvPr/>
        </p:nvSpPr>
        <p:spPr>
          <a:xfrm>
            <a:off x="685800" y="1304445"/>
            <a:ext cx="4114800" cy="3200400"/>
          </a:xfrm>
          <a:prstGeom prst="rect">
            <a:avLst/>
          </a:prstGeom>
          <a:noFill/>
          <a:ln>
            <a:noFill/>
          </a:ln>
        </p:spPr>
        <p:txBody>
          <a:bodyPr anchorCtr="0" anchor="t" bIns="0" lIns="0" spcFirstLastPara="1" rIns="0" wrap="square" tIns="0">
            <a:noAutofit/>
          </a:bodyPr>
          <a:lstStyle/>
          <a:p>
            <a:pPr indent="0" lvl="0" marL="0" rtl="0" algn="just">
              <a:lnSpc>
                <a:spcPct val="128571"/>
              </a:lnSpc>
              <a:spcBef>
                <a:spcPts val="1000"/>
              </a:spcBef>
              <a:spcAft>
                <a:spcPts val="0"/>
              </a:spcAft>
              <a:buClr>
                <a:schemeClr val="dk1"/>
              </a:buClr>
              <a:buSzPts val="1100"/>
              <a:buFont typeface="Arial"/>
              <a:buNone/>
            </a:pPr>
            <a:r>
              <a:rPr b="1" lang="en" sz="1600">
                <a:solidFill>
                  <a:srgbClr val="743673"/>
                </a:solidFill>
                <a:latin typeface="Montserrat"/>
                <a:ea typeface="Montserrat"/>
                <a:cs typeface="Montserrat"/>
                <a:sym typeface="Montserrat"/>
              </a:rPr>
              <a:t>Biar enak dipahami, pembahasannya kita pakai struktur yaa~</a:t>
            </a:r>
            <a:endParaRPr b="1" sz="1600">
              <a:solidFill>
                <a:srgbClr val="743673"/>
              </a:solidFill>
              <a:latin typeface="Montserrat"/>
              <a:ea typeface="Montserrat"/>
              <a:cs typeface="Montserrat"/>
              <a:sym typeface="Montserrat"/>
            </a:endParaRPr>
          </a:p>
          <a:p>
            <a:pPr indent="0" lvl="0" marL="0" rtl="0" algn="just">
              <a:lnSpc>
                <a:spcPct val="128571"/>
              </a:lnSpc>
              <a:spcBef>
                <a:spcPts val="100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Buat ngebahas metode-metode UX research pada halaman selanjutnya, kita bakalan pake struktur ABK (Apa, Bagaimana, Kapan).</a:t>
            </a:r>
            <a:endParaRPr sz="1000">
              <a:solidFill>
                <a:schemeClr val="dk1"/>
              </a:solidFill>
              <a:latin typeface="Montserrat"/>
              <a:ea typeface="Montserrat"/>
              <a:cs typeface="Montserrat"/>
              <a:sym typeface="Montserrat"/>
            </a:endParaRPr>
          </a:p>
          <a:p>
            <a:pPr indent="0" lvl="0" marL="0" rtl="0" algn="just">
              <a:lnSpc>
                <a:spcPct val="128571"/>
              </a:lnSpc>
              <a:spcBef>
                <a:spcPts val="100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Apa?</a:t>
            </a:r>
            <a:r>
              <a:rPr lang="en" sz="1000">
                <a:solidFill>
                  <a:schemeClr val="dk1"/>
                </a:solidFill>
                <a:latin typeface="Montserrat"/>
                <a:ea typeface="Montserrat"/>
                <a:cs typeface="Montserrat"/>
                <a:sym typeface="Montserrat"/>
              </a:rPr>
              <a:t> Definisinya.</a:t>
            </a:r>
            <a:endParaRPr sz="1000">
              <a:solidFill>
                <a:schemeClr val="dk1"/>
              </a:solidFill>
              <a:latin typeface="Montserrat"/>
              <a:ea typeface="Montserrat"/>
              <a:cs typeface="Montserrat"/>
              <a:sym typeface="Montserrat"/>
            </a:endParaRPr>
          </a:p>
          <a:p>
            <a:pPr indent="0" lvl="0" marL="0" rtl="0" algn="just">
              <a:lnSpc>
                <a:spcPct val="128571"/>
              </a:lnSpc>
              <a:spcBef>
                <a:spcPts val="100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Bagaimana? </a:t>
            </a:r>
            <a:r>
              <a:rPr lang="en" sz="1000">
                <a:solidFill>
                  <a:schemeClr val="dk1"/>
                </a:solidFill>
                <a:latin typeface="Montserrat"/>
                <a:ea typeface="Montserrat"/>
                <a:cs typeface="Montserrat"/>
                <a:sym typeface="Montserrat"/>
              </a:rPr>
              <a:t>Bagaimana metode itu bekerja sehingga dapat memahami user.</a:t>
            </a:r>
            <a:endParaRPr sz="1000">
              <a:solidFill>
                <a:schemeClr val="dk1"/>
              </a:solidFill>
              <a:latin typeface="Montserrat"/>
              <a:ea typeface="Montserrat"/>
              <a:cs typeface="Montserrat"/>
              <a:sym typeface="Montserrat"/>
            </a:endParaRPr>
          </a:p>
          <a:p>
            <a:pPr indent="0" lvl="0" marL="0" rtl="0" algn="just">
              <a:lnSpc>
                <a:spcPct val="128571"/>
              </a:lnSpc>
              <a:spcBef>
                <a:spcPts val="100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Kapan?</a:t>
            </a:r>
            <a:r>
              <a:rPr lang="en" sz="1000">
                <a:solidFill>
                  <a:schemeClr val="dk1"/>
                </a:solidFill>
                <a:latin typeface="Montserrat"/>
                <a:ea typeface="Montserrat"/>
                <a:cs typeface="Montserrat"/>
                <a:sym typeface="Montserrat"/>
              </a:rPr>
              <a:t> Digunakannya pada fase design thinking yang mana.</a:t>
            </a:r>
            <a:endParaRPr sz="1000">
              <a:solidFill>
                <a:schemeClr val="dk1"/>
              </a:solidFill>
              <a:latin typeface="Montserrat"/>
              <a:ea typeface="Montserrat"/>
              <a:cs typeface="Montserrat"/>
              <a:sym typeface="Montserrat"/>
            </a:endParaRPr>
          </a:p>
          <a:p>
            <a:pPr indent="0" lvl="0" marL="0" rtl="0" algn="just">
              <a:lnSpc>
                <a:spcPct val="128571"/>
              </a:lnSpc>
              <a:spcBef>
                <a:spcPts val="1000"/>
              </a:spcBef>
              <a:spcAft>
                <a:spcPts val="0"/>
              </a:spcAft>
              <a:buClr>
                <a:schemeClr val="dk1"/>
              </a:buClr>
              <a:buSzPts val="1100"/>
              <a:buFont typeface="Arial"/>
              <a:buNone/>
            </a:pPr>
            <a:r>
              <a:t/>
            </a:r>
            <a:endParaRPr sz="600">
              <a:solidFill>
                <a:schemeClr val="dk1"/>
              </a:solidFill>
              <a:latin typeface="Montserrat"/>
              <a:ea typeface="Montserrat"/>
              <a:cs typeface="Montserrat"/>
              <a:sym typeface="Montserrat"/>
            </a:endParaRPr>
          </a:p>
          <a:p>
            <a:pPr indent="0" lvl="0" marL="0" rtl="0" algn="just">
              <a:lnSpc>
                <a:spcPct val="150000"/>
              </a:lnSpc>
              <a:spcBef>
                <a:spcPts val="1000"/>
              </a:spcBef>
              <a:spcAft>
                <a:spcPts val="0"/>
              </a:spcAft>
              <a:buNone/>
            </a:pPr>
            <a:r>
              <a:rPr lang="en" sz="1000">
                <a:solidFill>
                  <a:schemeClr val="dk1"/>
                </a:solidFill>
                <a:latin typeface="Montserrat"/>
                <a:ea typeface="Montserrat"/>
                <a:cs typeface="Montserrat"/>
                <a:sym typeface="Montserrat"/>
              </a:rPr>
              <a:t>Oke gengs, are u readyyyy? Letsgoo~</a:t>
            </a:r>
            <a:endParaRPr sz="1000">
              <a:solidFill>
                <a:schemeClr val="dk1"/>
              </a:solidFill>
              <a:latin typeface="Montserrat"/>
              <a:ea typeface="Montserrat"/>
              <a:cs typeface="Montserrat"/>
              <a:sym typeface="Montserrat"/>
            </a:endParaRPr>
          </a:p>
        </p:txBody>
      </p:sp>
      <p:pic>
        <p:nvPicPr>
          <p:cNvPr id="175" name="Google Shape;175;p28"/>
          <p:cNvPicPr preferRelativeResize="0"/>
          <p:nvPr/>
        </p:nvPicPr>
        <p:blipFill>
          <a:blip r:embed="rId3">
            <a:alphaModFix/>
          </a:blip>
          <a:stretch>
            <a:fillRect/>
          </a:stretch>
        </p:blipFill>
        <p:spPr>
          <a:xfrm>
            <a:off x="5170125" y="1232775"/>
            <a:ext cx="3446474" cy="3343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2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1" name="Google Shape;181;p2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Metode-Metode UX Research</a:t>
            </a:r>
            <a:endParaRPr/>
          </a:p>
        </p:txBody>
      </p:sp>
      <p:sp>
        <p:nvSpPr>
          <p:cNvPr id="182" name="Google Shape;182;p29"/>
          <p:cNvSpPr txBox="1"/>
          <p:nvPr/>
        </p:nvSpPr>
        <p:spPr>
          <a:xfrm>
            <a:off x="685800" y="135192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Interview (wawancara).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Apa? </a:t>
            </a:r>
            <a:r>
              <a:rPr lang="en" sz="1000">
                <a:solidFill>
                  <a:schemeClr val="dk1"/>
                </a:solidFill>
                <a:latin typeface="Montserrat"/>
                <a:ea typeface="Montserrat"/>
                <a:cs typeface="Montserrat"/>
                <a:sym typeface="Montserrat"/>
              </a:rPr>
              <a:t>Merupakan pertemuan langsung (face-to-face) antara pewawancara dengan user untuk melakukan tanya jawab.</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Bagaimana? </a:t>
            </a:r>
            <a:r>
              <a:rPr lang="en" sz="1000">
                <a:solidFill>
                  <a:schemeClr val="dk1"/>
                </a:solidFill>
                <a:latin typeface="Montserrat"/>
                <a:ea typeface="Montserrat"/>
                <a:cs typeface="Montserrat"/>
                <a:sym typeface="Montserrat"/>
              </a:rPr>
              <a:t>Mengeksplorasi dan mengidentifikasi pengalaman, sikap, permasalahan, dan kebutuhan user terhadap suatu produk atau layanan secara rinci.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Kapan? </a:t>
            </a:r>
            <a:r>
              <a:rPr lang="en" sz="1000">
                <a:solidFill>
                  <a:schemeClr val="dk1"/>
                </a:solidFill>
                <a:latin typeface="Montserrat"/>
                <a:ea typeface="Montserrat"/>
                <a:cs typeface="Montserrat"/>
                <a:sym typeface="Montserrat"/>
              </a:rPr>
              <a:t>Di awal proses desain (fase empathize) untuk mengidentifikasi permasalahan dan kebutuhan user.</a:t>
            </a:r>
            <a:endParaRPr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183" name="Google Shape;183;p29"/>
          <p:cNvPicPr preferRelativeResize="0"/>
          <p:nvPr/>
        </p:nvPicPr>
        <p:blipFill>
          <a:blip r:embed="rId3">
            <a:alphaModFix/>
          </a:blip>
          <a:stretch>
            <a:fillRect/>
          </a:stretch>
        </p:blipFill>
        <p:spPr>
          <a:xfrm>
            <a:off x="4958000" y="1383888"/>
            <a:ext cx="3658599" cy="2933262"/>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9" name="Google Shape;189;p3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Metode-Metode UX Research</a:t>
            </a:r>
            <a:endParaRPr/>
          </a:p>
        </p:txBody>
      </p:sp>
      <p:sp>
        <p:nvSpPr>
          <p:cNvPr id="190" name="Google Shape;190;p30"/>
          <p:cNvSpPr txBox="1"/>
          <p:nvPr/>
        </p:nvSpPr>
        <p:spPr>
          <a:xfrm>
            <a:off x="685800" y="135192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Card sorting.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Apa? </a:t>
            </a:r>
            <a:r>
              <a:rPr lang="en" sz="1000">
                <a:solidFill>
                  <a:schemeClr val="dk1"/>
                </a:solidFill>
                <a:latin typeface="Montserrat"/>
                <a:ea typeface="Montserrat"/>
                <a:cs typeface="Montserrat"/>
                <a:sym typeface="Montserrat"/>
              </a:rPr>
              <a:t>Metode yang digunakan untuk menentukan struktur dan kategori produk.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Bagaimana? </a:t>
            </a:r>
            <a:r>
              <a:rPr lang="en" sz="1000">
                <a:solidFill>
                  <a:schemeClr val="dk1"/>
                </a:solidFill>
                <a:latin typeface="Montserrat"/>
                <a:ea typeface="Montserrat"/>
                <a:cs typeface="Montserrat"/>
                <a:sym typeface="Montserrat"/>
              </a:rPr>
              <a:t>User diminta untuk menyortir/memilah informasi yang terdapat pada sepaket kartu. Hasil penyortiran akan dikelompokkan dan diimplementasikan dalam Information Architecture (IA).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Kapan? </a:t>
            </a:r>
            <a:r>
              <a:rPr lang="en" sz="1000">
                <a:solidFill>
                  <a:schemeClr val="dk1"/>
                </a:solidFill>
                <a:latin typeface="Montserrat"/>
                <a:ea typeface="Montserrat"/>
                <a:cs typeface="Montserrat"/>
                <a:sym typeface="Montserrat"/>
              </a:rPr>
              <a:t>Di awal proses desain (fase define dan ideate) untuk mengembangkan ide mengenai produk.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accent1"/>
                </a:solidFill>
                <a:latin typeface="Montserrat"/>
                <a:ea typeface="Montserrat"/>
                <a:cs typeface="Montserrat"/>
                <a:sym typeface="Montserrat"/>
              </a:rPr>
              <a:t>Karena kelihatannya agak rumit, coba kita bahas contoh penggunaan metode ini pada halaman selanjutnya yaa~</a:t>
            </a:r>
            <a:endParaRPr b="1" sz="1000">
              <a:solidFill>
                <a:schemeClr val="accent1"/>
              </a:solidFill>
              <a:latin typeface="Montserrat"/>
              <a:ea typeface="Montserrat"/>
              <a:cs typeface="Montserrat"/>
              <a:sym typeface="Montserrat"/>
            </a:endParaRPr>
          </a:p>
        </p:txBody>
      </p:sp>
      <p:pic>
        <p:nvPicPr>
          <p:cNvPr id="191" name="Google Shape;191;p30"/>
          <p:cNvPicPr preferRelativeResize="0"/>
          <p:nvPr/>
        </p:nvPicPr>
        <p:blipFill>
          <a:blip r:embed="rId3">
            <a:alphaModFix/>
          </a:blip>
          <a:stretch>
            <a:fillRect/>
          </a:stretch>
        </p:blipFill>
        <p:spPr>
          <a:xfrm>
            <a:off x="4924700" y="1209247"/>
            <a:ext cx="3691901" cy="330770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3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97" name="Google Shape;197;p3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Metode-Metode UX Research</a:t>
            </a:r>
            <a:endParaRPr/>
          </a:p>
        </p:txBody>
      </p:sp>
      <p:sp>
        <p:nvSpPr>
          <p:cNvPr id="198" name="Google Shape;198;p31"/>
          <p:cNvSpPr txBox="1"/>
          <p:nvPr/>
        </p:nvSpPr>
        <p:spPr>
          <a:xfrm>
            <a:off x="685800" y="135192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Berdasarkan hasil interview pada fase empathize, teridentifikasi bahwa pengguna aplikasi Tokopaedi kesulitan dalam memesan produk karena tidak ada kategori pada laman aplikasi tersebut. Sehingga, pengguna harus mencari satu-persatu produk yang mereka inginkan.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Setelah tim UI/UX bersama desainer melakukan ideasi, diciptakan 10 kategori untuk ditampilkan pada laman aplikasi. Namun, kategori yang ada dirasa masih cukup banyak dan belum efektif. Akhirnya, tim UI/UX menyajikan kategori tersebut pada user untuk disortir menjadi 5 kategori saja.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Nah, </a:t>
            </a:r>
            <a:r>
              <a:rPr b="1" lang="en" sz="1000">
                <a:solidFill>
                  <a:schemeClr val="dk1"/>
                </a:solidFill>
                <a:latin typeface="Montserrat"/>
                <a:ea typeface="Montserrat"/>
                <a:cs typeface="Montserrat"/>
                <a:sym typeface="Montserrat"/>
              </a:rPr>
              <a:t>cara ini merupakan metode card sorting yang digunakan pada fase ideate (ideasi produk).</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accent1"/>
                </a:solidFill>
                <a:latin typeface="Montserrat"/>
                <a:ea typeface="Montserrat"/>
                <a:cs typeface="Montserrat"/>
                <a:sym typeface="Montserrat"/>
              </a:rPr>
              <a:t>Gimana, udah paham kan? Kalo udah, kita lanjut bahas metode selanjutnya yaa~</a:t>
            </a:r>
            <a:endParaRPr b="1" sz="1000">
              <a:solidFill>
                <a:schemeClr val="accent1"/>
              </a:solidFill>
              <a:latin typeface="Montserrat"/>
              <a:ea typeface="Montserrat"/>
              <a:cs typeface="Montserrat"/>
              <a:sym typeface="Montserrat"/>
            </a:endParaRPr>
          </a:p>
        </p:txBody>
      </p:sp>
      <p:pic>
        <p:nvPicPr>
          <p:cNvPr id="199" name="Google Shape;199;p31"/>
          <p:cNvPicPr preferRelativeResize="0"/>
          <p:nvPr/>
        </p:nvPicPr>
        <p:blipFill>
          <a:blip r:embed="rId3">
            <a:alphaModFix/>
          </a:blip>
          <a:stretch>
            <a:fillRect/>
          </a:stretch>
        </p:blipFill>
        <p:spPr>
          <a:xfrm>
            <a:off x="4967150" y="1299250"/>
            <a:ext cx="3846748" cy="312769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5" name="Google Shape;205;p3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Metode-Metode UX Research</a:t>
            </a:r>
            <a:endParaRPr/>
          </a:p>
        </p:txBody>
      </p:sp>
      <p:sp>
        <p:nvSpPr>
          <p:cNvPr id="206" name="Google Shape;206;p32"/>
          <p:cNvSpPr txBox="1"/>
          <p:nvPr/>
        </p:nvSpPr>
        <p:spPr>
          <a:xfrm>
            <a:off x="685800" y="1351925"/>
            <a:ext cx="33327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Focus group.</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Apa? </a:t>
            </a:r>
            <a:r>
              <a:rPr lang="en" sz="1000">
                <a:solidFill>
                  <a:schemeClr val="dk1"/>
                </a:solidFill>
                <a:latin typeface="Montserrat"/>
                <a:ea typeface="Montserrat"/>
                <a:cs typeface="Montserrat"/>
                <a:sym typeface="Montserrat"/>
              </a:rPr>
              <a:t>Pertemuan dengan sekelompok user.</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Bagaimana? </a:t>
            </a:r>
            <a:r>
              <a:rPr lang="en" sz="1000">
                <a:solidFill>
                  <a:schemeClr val="dk1"/>
                </a:solidFill>
                <a:latin typeface="Montserrat"/>
                <a:ea typeface="Montserrat"/>
                <a:cs typeface="Montserrat"/>
                <a:sym typeface="Montserrat"/>
              </a:rPr>
              <a:t>Mengeksplorasi ide, pemikiran, kebutuhan, dan pengalaman user mengenai suatu produk atau layanan.</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Kapan? </a:t>
            </a:r>
            <a:r>
              <a:rPr lang="en" sz="1000">
                <a:solidFill>
                  <a:schemeClr val="dk1"/>
                </a:solidFill>
                <a:latin typeface="Montserrat"/>
                <a:ea typeface="Montserrat"/>
                <a:cs typeface="Montserrat"/>
                <a:sym typeface="Montserrat"/>
              </a:rPr>
              <a:t>Di awal proses desain (fase empathize) untuk mengidentifikasi permasalahan dan kebutuhan user.</a:t>
            </a:r>
            <a:endParaRPr sz="1000">
              <a:solidFill>
                <a:schemeClr val="accent1"/>
              </a:solidFill>
              <a:latin typeface="Montserrat"/>
              <a:ea typeface="Montserrat"/>
              <a:cs typeface="Montserrat"/>
              <a:sym typeface="Montserrat"/>
            </a:endParaRPr>
          </a:p>
        </p:txBody>
      </p:sp>
      <p:pic>
        <p:nvPicPr>
          <p:cNvPr id="207" name="Google Shape;207;p32"/>
          <p:cNvPicPr preferRelativeResize="0"/>
          <p:nvPr/>
        </p:nvPicPr>
        <p:blipFill>
          <a:blip r:embed="rId3">
            <a:alphaModFix/>
          </a:blip>
          <a:stretch>
            <a:fillRect/>
          </a:stretch>
        </p:blipFill>
        <p:spPr>
          <a:xfrm>
            <a:off x="4226225" y="2218650"/>
            <a:ext cx="4704476" cy="25819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3" name="Google Shape;213;p3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Metode-Metode UX Research</a:t>
            </a:r>
            <a:endParaRPr/>
          </a:p>
        </p:txBody>
      </p:sp>
      <p:sp>
        <p:nvSpPr>
          <p:cNvPr id="214" name="Google Shape;214;p33"/>
          <p:cNvSpPr txBox="1"/>
          <p:nvPr/>
        </p:nvSpPr>
        <p:spPr>
          <a:xfrm>
            <a:off x="685800" y="135192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Survey/kuesioner.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Apa?</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Serangkaian pertanyaan yang diajukan pada </a:t>
            </a:r>
            <a:r>
              <a:rPr i="1" lang="en" sz="1000">
                <a:solidFill>
                  <a:schemeClr val="dk1"/>
                </a:solidFill>
                <a:latin typeface="Montserrat"/>
                <a:ea typeface="Montserrat"/>
                <a:cs typeface="Montserrat"/>
                <a:sym typeface="Montserrat"/>
              </a:rPr>
              <a:t>user</a:t>
            </a:r>
            <a:r>
              <a:rPr lang="en" sz="1000">
                <a:solidFill>
                  <a:schemeClr val="dk1"/>
                </a:solidFill>
                <a:latin typeface="Montserrat"/>
                <a:ea typeface="Montserrat"/>
                <a:cs typeface="Montserrat"/>
                <a:sym typeface="Montserrat"/>
              </a:rPr>
              <a:t> mengenai suatu produk.</a:t>
            </a:r>
            <a:endParaRPr i="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Bagaimana?</a:t>
            </a:r>
            <a:r>
              <a:rPr lang="en" sz="1000">
                <a:solidFill>
                  <a:schemeClr val="dk1"/>
                </a:solidFill>
                <a:latin typeface="Montserrat"/>
                <a:ea typeface="Montserrat"/>
                <a:cs typeface="Montserrat"/>
                <a:sym typeface="Montserrat"/>
              </a:rPr>
              <a:t> User </a:t>
            </a:r>
            <a:r>
              <a:rPr lang="en" sz="1000">
                <a:solidFill>
                  <a:schemeClr val="dk1"/>
                </a:solidFill>
                <a:latin typeface="Montserrat"/>
                <a:ea typeface="Montserrat"/>
                <a:cs typeface="Montserrat"/>
                <a:sym typeface="Montserrat"/>
              </a:rPr>
              <a:t>diminta untuk memberi tanggapan mengenai suatu produk. Hasilnya akan dianalisis menggunakan metode statistik.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Kapan?</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Pada fase prototype atau testing untuk menguji sebuah produk yang telah diciptakan.</a:t>
            </a:r>
            <a:endParaRPr sz="1000">
              <a:solidFill>
                <a:schemeClr val="accent1"/>
              </a:solidFill>
              <a:latin typeface="Montserrat"/>
              <a:ea typeface="Montserrat"/>
              <a:cs typeface="Montserrat"/>
              <a:sym typeface="Montserrat"/>
            </a:endParaRPr>
          </a:p>
        </p:txBody>
      </p:sp>
      <p:pic>
        <p:nvPicPr>
          <p:cNvPr id="215" name="Google Shape;215;p33"/>
          <p:cNvPicPr preferRelativeResize="0"/>
          <p:nvPr/>
        </p:nvPicPr>
        <p:blipFill>
          <a:blip r:embed="rId3">
            <a:alphaModFix/>
          </a:blip>
          <a:stretch>
            <a:fillRect/>
          </a:stretch>
        </p:blipFill>
        <p:spPr>
          <a:xfrm>
            <a:off x="5084750" y="936025"/>
            <a:ext cx="3581401" cy="3864563"/>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3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1" name="Google Shape;221;p3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Metode-Metode UX Research</a:t>
            </a:r>
            <a:endParaRPr/>
          </a:p>
        </p:txBody>
      </p:sp>
      <p:sp>
        <p:nvSpPr>
          <p:cNvPr id="222" name="Google Shape;222;p34"/>
          <p:cNvSpPr txBox="1"/>
          <p:nvPr/>
        </p:nvSpPr>
        <p:spPr>
          <a:xfrm>
            <a:off x="685800" y="1351925"/>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Participatory design</a:t>
            </a:r>
            <a:r>
              <a:rPr b="1" lang="en" sz="1600">
                <a:solidFill>
                  <a:srgbClr val="743673"/>
                </a:solidFill>
                <a:highlight>
                  <a:schemeClr val="lt1"/>
                </a:highlight>
                <a:latin typeface="Montserrat"/>
                <a:ea typeface="Montserrat"/>
                <a:cs typeface="Montserrat"/>
                <a:sym typeface="Montserrat"/>
              </a:rPr>
              <a: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Apa? </a:t>
            </a:r>
            <a:r>
              <a:rPr lang="en" sz="1000">
                <a:solidFill>
                  <a:schemeClr val="dk1"/>
                </a:solidFill>
                <a:latin typeface="Montserrat"/>
                <a:ea typeface="Montserrat"/>
                <a:cs typeface="Montserrat"/>
                <a:sym typeface="Montserrat"/>
              </a:rPr>
              <a:t>Pelibatan user secara langsung dalam proses desain produk.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Bagaimana?</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User akan dilibatkan secara langsung dalam penentuan masalah, proses desain, dan pengambilan kebijakan. Hasilnya adalah prototype sebuah produk.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Kapan?</a:t>
            </a:r>
            <a:r>
              <a:rPr lang="en" sz="1000">
                <a:solidFill>
                  <a:schemeClr val="dk1"/>
                </a:solidFill>
                <a:latin typeface="Montserrat"/>
                <a:ea typeface="Montserrat"/>
                <a:cs typeface="Montserrat"/>
                <a:sym typeface="Montserrat"/>
              </a:rPr>
              <a:t> Dari awal proses desain (fase empathize) hingga penciptaan produk (fase prototype).</a:t>
            </a:r>
            <a:endParaRPr sz="1000">
              <a:solidFill>
                <a:schemeClr val="accent1"/>
              </a:solidFill>
              <a:latin typeface="Montserrat"/>
              <a:ea typeface="Montserrat"/>
              <a:cs typeface="Montserrat"/>
              <a:sym typeface="Montserrat"/>
            </a:endParaRPr>
          </a:p>
        </p:txBody>
      </p:sp>
      <p:pic>
        <p:nvPicPr>
          <p:cNvPr id="223" name="Google Shape;223;p34"/>
          <p:cNvPicPr preferRelativeResize="0"/>
          <p:nvPr/>
        </p:nvPicPr>
        <p:blipFill>
          <a:blip r:embed="rId3">
            <a:alphaModFix/>
          </a:blip>
          <a:stretch>
            <a:fillRect/>
          </a:stretch>
        </p:blipFill>
        <p:spPr>
          <a:xfrm>
            <a:off x="4800600" y="1351925"/>
            <a:ext cx="3816000" cy="29759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29" name="Google Shape;229;p3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Metode-Metode UX Research</a:t>
            </a:r>
            <a:endParaRPr/>
          </a:p>
        </p:txBody>
      </p:sp>
      <p:sp>
        <p:nvSpPr>
          <p:cNvPr id="230" name="Google Shape;230;p35"/>
          <p:cNvSpPr txBox="1"/>
          <p:nvPr/>
        </p:nvSpPr>
        <p:spPr>
          <a:xfrm>
            <a:off x="685800" y="135192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Diary study.</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Apa?</a:t>
            </a:r>
            <a:r>
              <a:rPr lang="en" sz="1000">
                <a:solidFill>
                  <a:schemeClr val="dk1"/>
                </a:solidFill>
                <a:latin typeface="Montserrat"/>
                <a:ea typeface="Montserrat"/>
                <a:cs typeface="Montserrat"/>
                <a:sym typeface="Montserrat"/>
              </a:rPr>
              <a:t> Catatan harian berupa p</a:t>
            </a:r>
            <a:r>
              <a:rPr lang="en" sz="1000">
                <a:solidFill>
                  <a:schemeClr val="dk1"/>
                </a:solidFill>
                <a:latin typeface="Montserrat"/>
                <a:ea typeface="Montserrat"/>
                <a:cs typeface="Montserrat"/>
                <a:sym typeface="Montserrat"/>
              </a:rPr>
              <a:t>engalaman user dari hari ke hari.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Bagaimana? </a:t>
            </a:r>
            <a:r>
              <a:rPr lang="en" sz="1000">
                <a:solidFill>
                  <a:schemeClr val="dk1"/>
                </a:solidFill>
                <a:latin typeface="Montserrat"/>
                <a:ea typeface="Montserrat"/>
                <a:cs typeface="Montserrat"/>
                <a:sym typeface="Montserrat"/>
              </a:rPr>
              <a:t>Mengeksplorasi pengalaman, kebiasaan, permasalahan, dan kebutuhan user dari hari ke hari untuk kemudian dianalisis dan digunakan sebagai strategi pengembangan produk.</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Kapan?</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Di awal proses desain (fase empathize) untuk mengidentifikasi permasalahan dan kebutuhan user.</a:t>
            </a:r>
            <a:endParaRPr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231" name="Google Shape;231;p35"/>
          <p:cNvPicPr preferRelativeResize="0"/>
          <p:nvPr/>
        </p:nvPicPr>
        <p:blipFill>
          <a:blip r:embed="rId3">
            <a:alphaModFix/>
          </a:blip>
          <a:stretch>
            <a:fillRect/>
          </a:stretch>
        </p:blipFill>
        <p:spPr>
          <a:xfrm>
            <a:off x="5038050" y="1154225"/>
            <a:ext cx="3578550" cy="33981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pic>
        <p:nvPicPr>
          <p:cNvPr id="236" name="Google Shape;236;p36"/>
          <p:cNvPicPr preferRelativeResize="0"/>
          <p:nvPr/>
        </p:nvPicPr>
        <p:blipFill>
          <a:blip r:embed="rId3">
            <a:alphaModFix/>
          </a:blip>
          <a:stretch>
            <a:fillRect/>
          </a:stretch>
        </p:blipFill>
        <p:spPr>
          <a:xfrm>
            <a:off x="4372200" y="1462800"/>
            <a:ext cx="2267205" cy="2343875"/>
          </a:xfrm>
          <a:prstGeom prst="rect">
            <a:avLst/>
          </a:prstGeom>
          <a:noFill/>
          <a:ln>
            <a:noFill/>
          </a:ln>
        </p:spPr>
      </p:pic>
      <p:sp>
        <p:nvSpPr>
          <p:cNvPr id="237" name="Google Shape;237;p3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8" name="Google Shape;238;p3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Metode-Metode UX Research</a:t>
            </a:r>
            <a:endParaRPr/>
          </a:p>
        </p:txBody>
      </p:sp>
      <p:sp>
        <p:nvSpPr>
          <p:cNvPr id="239" name="Google Shape;239;p36"/>
          <p:cNvSpPr txBox="1"/>
          <p:nvPr/>
        </p:nvSpPr>
        <p:spPr>
          <a:xfrm>
            <a:off x="685800" y="1351925"/>
            <a:ext cx="3686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Usability testing.</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Apa?</a:t>
            </a:r>
            <a:r>
              <a:rPr lang="en" sz="1000">
                <a:solidFill>
                  <a:schemeClr val="dk1"/>
                </a:solidFill>
                <a:latin typeface="Montserrat"/>
                <a:ea typeface="Montserrat"/>
                <a:cs typeface="Montserrat"/>
                <a:sym typeface="Montserrat"/>
              </a:rPr>
              <a:t> Menguji suatu produk yang telah diciptakan.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Bagaimana?</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Mengetahui tanggapan user berupa pengalaman dan kesulitan yang dialami saat menggunakan suatu produk. Pada sesi usability testing, user diminta untuk melakukan serangkaian tugas sementara moderator mengamati dan mendokumentasikan semua tanggapan user.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Kapan?</a:t>
            </a:r>
            <a:r>
              <a:rPr lang="en" sz="1000">
                <a:solidFill>
                  <a:schemeClr val="dk1"/>
                </a:solidFill>
                <a:latin typeface="Montserrat"/>
                <a:ea typeface="Montserrat"/>
                <a:cs typeface="Montserrat"/>
                <a:sym typeface="Montserrat"/>
              </a:rPr>
              <a:t> Di awal proses desain (fase empathize) untuk mengidentifikasi permasalahan user ketika menggunakan suatu produk, dan pada fase testing untuk menguji kegunaan suatu produk.</a:t>
            </a:r>
            <a:endParaRPr sz="1000">
              <a:solidFill>
                <a:schemeClr val="accen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240" name="Google Shape;240;p36"/>
          <p:cNvPicPr preferRelativeResize="0"/>
          <p:nvPr/>
        </p:nvPicPr>
        <p:blipFill>
          <a:blip r:embed="rId4">
            <a:alphaModFix/>
          </a:blip>
          <a:stretch>
            <a:fillRect/>
          </a:stretch>
        </p:blipFill>
        <p:spPr>
          <a:xfrm>
            <a:off x="6694926" y="1462800"/>
            <a:ext cx="2190486" cy="23438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7"/>
          <p:cNvSpPr txBox="1"/>
          <p:nvPr>
            <p:ph type="title"/>
          </p:nvPr>
        </p:nvSpPr>
        <p:spPr>
          <a:xfrm>
            <a:off x="914400" y="9144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1400">
                <a:latin typeface="Montserrat"/>
                <a:ea typeface="Montserrat"/>
                <a:cs typeface="Montserrat"/>
                <a:sym typeface="Montserrat"/>
              </a:rPr>
              <a:t>Nah, udah tau kan ada metode apa aja?</a:t>
            </a:r>
            <a:endParaRPr sz="1400">
              <a:latin typeface="Montserrat"/>
              <a:ea typeface="Montserrat"/>
              <a:cs typeface="Montserrat"/>
              <a:sym typeface="Montserrat"/>
            </a:endParaRPr>
          </a:p>
          <a:p>
            <a:pPr indent="0" lvl="0" marL="0" rtl="0" algn="ctr">
              <a:spcBef>
                <a:spcPts val="0"/>
              </a:spcBef>
              <a:spcAft>
                <a:spcPts val="0"/>
              </a:spcAft>
              <a:buNone/>
            </a:pPr>
            <a:r>
              <a:t/>
            </a:r>
            <a:endParaRPr sz="1400">
              <a:latin typeface="Montserrat"/>
              <a:ea typeface="Montserrat"/>
              <a:cs typeface="Montserrat"/>
              <a:sym typeface="Montserrat"/>
            </a:endParaRPr>
          </a:p>
          <a:p>
            <a:pPr indent="0" lvl="0" marL="0" rtl="0" algn="ctr">
              <a:spcBef>
                <a:spcPts val="0"/>
              </a:spcBef>
              <a:spcAft>
                <a:spcPts val="0"/>
              </a:spcAft>
              <a:buNone/>
            </a:pPr>
            <a:r>
              <a:rPr lang="en" sz="1400">
                <a:latin typeface="Montserrat"/>
                <a:ea typeface="Montserrat"/>
                <a:cs typeface="Montserrat"/>
                <a:sym typeface="Montserrat"/>
              </a:rPr>
              <a:t>Sekarang, kita akan memperdalam salah satu metode, yaitu</a:t>
            </a:r>
            <a:r>
              <a:rPr lang="en" sz="1400">
                <a:solidFill>
                  <a:schemeClr val="accent1"/>
                </a:solidFill>
                <a:latin typeface="Montserrat"/>
                <a:ea typeface="Montserrat"/>
                <a:cs typeface="Montserrat"/>
                <a:sym typeface="Montserrat"/>
              </a:rPr>
              <a:t> card sorting.</a:t>
            </a:r>
            <a:endParaRPr sz="1400">
              <a:solidFill>
                <a:schemeClr val="accent1"/>
              </a:solidFill>
              <a:latin typeface="Montserrat"/>
              <a:ea typeface="Montserrat"/>
              <a:cs typeface="Montserrat"/>
              <a:sym typeface="Montserrat"/>
            </a:endParaRPr>
          </a:p>
        </p:txBody>
      </p:sp>
      <p:sp>
        <p:nvSpPr>
          <p:cNvPr id="246" name="Google Shape;246;p3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47" name="Google Shape;247;p37"/>
          <p:cNvPicPr preferRelativeResize="0"/>
          <p:nvPr/>
        </p:nvPicPr>
        <p:blipFill rotWithShape="1">
          <a:blip r:embed="rId3">
            <a:alphaModFix/>
          </a:blip>
          <a:srcRect b="35098" l="0" r="0" t="0"/>
          <a:stretch/>
        </p:blipFill>
        <p:spPr>
          <a:xfrm>
            <a:off x="1429613" y="2034475"/>
            <a:ext cx="6284774" cy="31090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3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53" name="Google Shape;253;p3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Metode Card Sorting</a:t>
            </a:r>
            <a:endParaRPr/>
          </a:p>
        </p:txBody>
      </p:sp>
      <p:sp>
        <p:nvSpPr>
          <p:cNvPr id="254" name="Google Shape;254;p38"/>
          <p:cNvSpPr txBox="1"/>
          <p:nvPr/>
        </p:nvSpPr>
        <p:spPr>
          <a:xfrm>
            <a:off x="685800" y="16002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Recap dulu, yuk!</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Kayak yang udah kita bahas sebelumnya, </a:t>
            </a:r>
            <a:r>
              <a:rPr b="1" lang="en" sz="1000">
                <a:solidFill>
                  <a:schemeClr val="dk1"/>
                </a:solidFill>
                <a:latin typeface="Montserrat"/>
                <a:ea typeface="Montserrat"/>
                <a:cs typeface="Montserrat"/>
                <a:sym typeface="Montserrat"/>
              </a:rPr>
              <a:t>card sorting adalah metode yang digunakan untuk menentukan struktur dan kategori produk.</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Dalam metode ini, user diminta untuk menyortir/memilah informasi yang terdapat pada sepaket kartu. Hasil penyortiran akan dikelompokkan dan diimplementasikan dalam </a:t>
            </a:r>
            <a:r>
              <a:rPr b="1" lang="en" sz="1000">
                <a:solidFill>
                  <a:schemeClr val="dk1"/>
                </a:solidFill>
                <a:latin typeface="Montserrat"/>
                <a:ea typeface="Montserrat"/>
                <a:cs typeface="Montserrat"/>
                <a:sym typeface="Montserrat"/>
              </a:rPr>
              <a:t>Information Architecture (IA).</a:t>
            </a:r>
            <a:endParaRPr b="1" sz="1000">
              <a:solidFill>
                <a:schemeClr val="dk1"/>
              </a:solidFill>
              <a:latin typeface="Montserrat"/>
              <a:ea typeface="Montserrat"/>
              <a:cs typeface="Montserrat"/>
              <a:sym typeface="Montserrat"/>
            </a:endParaRPr>
          </a:p>
        </p:txBody>
      </p:sp>
      <p:pic>
        <p:nvPicPr>
          <p:cNvPr id="255" name="Google Shape;255;p38"/>
          <p:cNvPicPr preferRelativeResize="0"/>
          <p:nvPr/>
        </p:nvPicPr>
        <p:blipFill>
          <a:blip r:embed="rId3">
            <a:alphaModFix/>
          </a:blip>
          <a:stretch>
            <a:fillRect/>
          </a:stretch>
        </p:blipFill>
        <p:spPr>
          <a:xfrm>
            <a:off x="4924700" y="1209247"/>
            <a:ext cx="3691901" cy="3307704"/>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1" name="Google Shape;261;p3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Metode Card Sorting</a:t>
            </a:r>
            <a:endParaRPr/>
          </a:p>
        </p:txBody>
      </p:sp>
      <p:sp>
        <p:nvSpPr>
          <p:cNvPr id="262" name="Google Shape;262;p39"/>
          <p:cNvSpPr txBox="1"/>
          <p:nvPr/>
        </p:nvSpPr>
        <p:spPr>
          <a:xfrm>
            <a:off x="685800" y="1600200"/>
            <a:ext cx="39513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Information Architecture itu apa, sih?</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b="1" lang="en" sz="1000">
                <a:solidFill>
                  <a:schemeClr val="dk1"/>
                </a:solidFill>
                <a:latin typeface="Montserrat"/>
                <a:ea typeface="Montserrat"/>
                <a:cs typeface="Montserrat"/>
                <a:sym typeface="Montserrat"/>
              </a:rPr>
              <a:t>IA adalah praktik untuk memutuskan bagaimana mengatur bagian-bagian dari suatu website atau aplikasi agar mudah dimengerti.</a:t>
            </a:r>
            <a:r>
              <a:rPr lang="en" sz="1000">
                <a:solidFill>
                  <a:schemeClr val="dk1"/>
                </a:solidFill>
                <a:latin typeface="Montserrat"/>
                <a:ea typeface="Montserrat"/>
                <a:cs typeface="Montserrat"/>
                <a:sym typeface="Montserrat"/>
              </a:rPr>
              <a:t>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IA ini bakal kita pelajari lebih lanjut di chapter selanjutnya yaa~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p:txBody>
      </p:sp>
      <p:pic>
        <p:nvPicPr>
          <p:cNvPr id="263" name="Google Shape;263;p39">
            <a:hlinkClick r:id="rId3"/>
          </p:cNvPr>
          <p:cNvPicPr preferRelativeResize="0"/>
          <p:nvPr/>
        </p:nvPicPr>
        <p:blipFill>
          <a:blip r:embed="rId4">
            <a:alphaModFix/>
          </a:blip>
          <a:stretch>
            <a:fillRect/>
          </a:stretch>
        </p:blipFill>
        <p:spPr>
          <a:xfrm>
            <a:off x="4796825" y="1258750"/>
            <a:ext cx="4047974" cy="326922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4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69" name="Google Shape;269;p4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Metode Card Sorting</a:t>
            </a:r>
            <a:endParaRPr/>
          </a:p>
        </p:txBody>
      </p:sp>
      <p:pic>
        <p:nvPicPr>
          <p:cNvPr descr="Start getting user feedback today: https://www.playbookux.com/&#10;____________________________________________ &#10;&#10;#ux #userexperience #cardsorting #userresearch #whiteboard" id="270" name="Google Shape;270;p40" title="What's Card Sorting in User Experience Research?">
            <a:hlinkClick r:id="rId3"/>
          </p:cNvPr>
          <p:cNvPicPr preferRelativeResize="0"/>
          <p:nvPr/>
        </p:nvPicPr>
        <p:blipFill>
          <a:blip r:embed="rId4">
            <a:alphaModFix/>
          </a:blip>
          <a:stretch>
            <a:fillRect/>
          </a:stretch>
        </p:blipFill>
        <p:spPr>
          <a:xfrm>
            <a:off x="2298300" y="1365700"/>
            <a:ext cx="4985650" cy="3587300"/>
          </a:xfrm>
          <a:prstGeom prst="rect">
            <a:avLst/>
          </a:prstGeom>
          <a:noFill/>
          <a:ln>
            <a:noFill/>
          </a:ln>
        </p:spPr>
      </p:pic>
      <p:sp>
        <p:nvSpPr>
          <p:cNvPr id="271" name="Google Shape;271;p40"/>
          <p:cNvSpPr/>
          <p:nvPr/>
        </p:nvSpPr>
        <p:spPr>
          <a:xfrm>
            <a:off x="1842275" y="792700"/>
            <a:ext cx="5897700" cy="57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0"/>
          <p:cNvSpPr/>
          <p:nvPr/>
        </p:nvSpPr>
        <p:spPr>
          <a:xfrm>
            <a:off x="1699350" y="4380000"/>
            <a:ext cx="5897700" cy="573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0"/>
          <p:cNvSpPr txBox="1"/>
          <p:nvPr/>
        </p:nvSpPr>
        <p:spPr>
          <a:xfrm>
            <a:off x="691050" y="863650"/>
            <a:ext cx="7761900" cy="431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 sz="1600">
                <a:solidFill>
                  <a:srgbClr val="743673"/>
                </a:solidFill>
                <a:highlight>
                  <a:schemeClr val="lt1"/>
                </a:highlight>
                <a:latin typeface="Montserrat"/>
                <a:ea typeface="Montserrat"/>
                <a:cs typeface="Montserrat"/>
                <a:sym typeface="Montserrat"/>
              </a:rPr>
              <a:t>Nah, biar lebih jelas soal card sorting, coba tonton video berikut ini!</a:t>
            </a:r>
            <a:endParaRPr sz="1600">
              <a:solidFill>
                <a:schemeClr val="dk1"/>
              </a:solidFill>
              <a:latin typeface="Montserrat"/>
              <a:ea typeface="Montserrat"/>
              <a:cs typeface="Montserrat"/>
              <a:sym typeface="Montserra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41"/>
          <p:cNvSpPr txBox="1"/>
          <p:nvPr>
            <p:ph type="title"/>
          </p:nvPr>
        </p:nvSpPr>
        <p:spPr>
          <a:xfrm>
            <a:off x="914400" y="914400"/>
            <a:ext cx="7315200" cy="722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t/>
            </a:r>
            <a:endParaRPr sz="1400">
              <a:latin typeface="Montserrat"/>
              <a:ea typeface="Montserrat"/>
              <a:cs typeface="Montserrat"/>
              <a:sym typeface="Montserrat"/>
            </a:endParaRPr>
          </a:p>
          <a:p>
            <a:pPr indent="0" lvl="0" marL="0" rtl="0" algn="ctr">
              <a:spcBef>
                <a:spcPts val="0"/>
              </a:spcBef>
              <a:spcAft>
                <a:spcPts val="0"/>
              </a:spcAft>
              <a:buNone/>
            </a:pPr>
            <a:r>
              <a:rPr lang="en" sz="1400">
                <a:latin typeface="Montserrat"/>
                <a:ea typeface="Montserrat"/>
                <a:cs typeface="Montserrat"/>
                <a:sym typeface="Montserrat"/>
              </a:rPr>
              <a:t>Sekarang, mari kita lakukan </a:t>
            </a:r>
            <a:r>
              <a:rPr lang="en" sz="1400">
                <a:solidFill>
                  <a:schemeClr val="accent1"/>
                </a:solidFill>
                <a:latin typeface="Montserrat"/>
                <a:ea typeface="Montserrat"/>
                <a:cs typeface="Montserrat"/>
                <a:sym typeface="Montserrat"/>
              </a:rPr>
              <a:t>simulasi penggunaan metode card sorting.</a:t>
            </a:r>
            <a:endParaRPr sz="1400">
              <a:solidFill>
                <a:schemeClr val="accent1"/>
              </a:solidFill>
              <a:latin typeface="Montserrat"/>
              <a:ea typeface="Montserrat"/>
              <a:cs typeface="Montserrat"/>
              <a:sym typeface="Montserrat"/>
            </a:endParaRPr>
          </a:p>
        </p:txBody>
      </p:sp>
      <p:sp>
        <p:nvSpPr>
          <p:cNvPr id="279" name="Google Shape;279;p4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pic>
        <p:nvPicPr>
          <p:cNvPr id="280" name="Google Shape;280;p41"/>
          <p:cNvPicPr preferRelativeResize="0"/>
          <p:nvPr/>
        </p:nvPicPr>
        <p:blipFill>
          <a:blip r:embed="rId3">
            <a:alphaModFix/>
          </a:blip>
          <a:stretch>
            <a:fillRect/>
          </a:stretch>
        </p:blipFill>
        <p:spPr>
          <a:xfrm>
            <a:off x="3461850" y="1755350"/>
            <a:ext cx="2220300" cy="33881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86" name="Google Shape;286;p4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Clr>
                <a:schemeClr val="dk1"/>
              </a:buClr>
              <a:buSzPts val="1100"/>
              <a:buFont typeface="Arial"/>
              <a:buNone/>
            </a:pPr>
            <a:r>
              <a:rPr lang="en">
                <a:latin typeface="Montserrat"/>
                <a:ea typeface="Montserrat"/>
                <a:cs typeface="Montserrat"/>
                <a:sym typeface="Montserrat"/>
              </a:rPr>
              <a:t>Simulasi Penggunaan Metode Card Sorting</a:t>
            </a:r>
            <a:endParaRPr/>
          </a:p>
        </p:txBody>
      </p:sp>
      <p:sp>
        <p:nvSpPr>
          <p:cNvPr id="287" name="Google Shape;287;p42"/>
          <p:cNvSpPr txBox="1"/>
          <p:nvPr/>
        </p:nvSpPr>
        <p:spPr>
          <a:xfrm>
            <a:off x="685800" y="1185672"/>
            <a:ext cx="4114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Penggunaan card sorting dapat dilakukan dalam dua versi.</a:t>
            </a:r>
            <a:endParaRPr b="1" sz="1600">
              <a:solidFill>
                <a:srgbClr val="743673"/>
              </a:solidFill>
              <a:highlight>
                <a:schemeClr val="lt1"/>
              </a:highlight>
              <a:latin typeface="Montserrat"/>
              <a:ea typeface="Montserrat"/>
              <a:cs typeface="Montserrat"/>
              <a:sym typeface="Montserrat"/>
            </a:endParaRPr>
          </a:p>
          <a:p>
            <a:pPr indent="0" lvl="0" marL="0" rtl="0" algn="l">
              <a:lnSpc>
                <a:spcPct val="115000"/>
              </a:lnSpc>
              <a:spcBef>
                <a:spcPts val="0"/>
              </a:spcBef>
              <a:spcAft>
                <a:spcPts val="0"/>
              </a:spcAft>
              <a:buClr>
                <a:schemeClr val="dk1"/>
              </a:buClr>
              <a:buSzPts val="1100"/>
              <a:buFont typeface="Arial"/>
              <a:buNone/>
            </a:pPr>
            <a:r>
              <a:t/>
            </a:r>
            <a:endParaRPr b="1" sz="1200">
              <a:solidFill>
                <a:schemeClr val="dk1"/>
              </a:solidFill>
              <a:latin typeface="Raleway"/>
              <a:ea typeface="Raleway"/>
              <a:cs typeface="Raleway"/>
              <a:sym typeface="Raleway"/>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Yaitu </a:t>
            </a:r>
            <a:r>
              <a:rPr b="1" lang="en" sz="1000">
                <a:solidFill>
                  <a:schemeClr val="dk1"/>
                </a:solidFill>
                <a:latin typeface="Montserrat"/>
                <a:ea typeface="Montserrat"/>
                <a:cs typeface="Montserrat"/>
                <a:sym typeface="Montserrat"/>
              </a:rPr>
              <a:t>versi terbuka</a:t>
            </a:r>
            <a:r>
              <a:rPr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dan </a:t>
            </a:r>
            <a:r>
              <a:rPr b="1" lang="en" sz="1000">
                <a:solidFill>
                  <a:schemeClr val="dk1"/>
                </a:solidFill>
                <a:latin typeface="Montserrat"/>
                <a:ea typeface="Montserrat"/>
                <a:cs typeface="Montserrat"/>
                <a:sym typeface="Montserrat"/>
              </a:rPr>
              <a:t>versi tertutup. </a:t>
            </a:r>
            <a:endParaRPr b="1"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Versi terbuka</a:t>
            </a:r>
            <a:r>
              <a:rPr b="1" lang="en" sz="1000">
                <a:solidFill>
                  <a:schemeClr val="dk1"/>
                </a:solidFill>
                <a:latin typeface="Montserrat"/>
                <a:ea typeface="Montserrat"/>
                <a:cs typeface="Montserrat"/>
                <a:sym typeface="Montserrat"/>
              </a:rPr>
              <a:t> </a:t>
            </a:r>
            <a:r>
              <a:rPr lang="en" sz="1000">
                <a:solidFill>
                  <a:schemeClr val="dk1"/>
                </a:solidFill>
                <a:latin typeface="Montserrat"/>
                <a:ea typeface="Montserrat"/>
                <a:cs typeface="Montserrat"/>
                <a:sym typeface="Montserrat"/>
              </a:rPr>
              <a:t>adalah dengan memperbolehkan user untuk membuat kelompok dan memberi nama kelompok dari item-item yang ada.</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Versi tertutup adalah ketika kita sudah menentukan dan memberi nama kelompok, lalu meminta user untuk memasukkan item-item ke kelompok menu yang menurut mereka relevan.</a:t>
            </a:r>
            <a:endParaRPr sz="1000">
              <a:solidFill>
                <a:schemeClr val="dk1"/>
              </a:solidFill>
              <a:latin typeface="Montserrat"/>
              <a:ea typeface="Montserrat"/>
              <a:cs typeface="Montserrat"/>
              <a:sym typeface="Montserrat"/>
            </a:endParaRPr>
          </a:p>
        </p:txBody>
      </p:sp>
      <p:pic>
        <p:nvPicPr>
          <p:cNvPr id="288" name="Google Shape;288;p42"/>
          <p:cNvPicPr preferRelativeResize="0"/>
          <p:nvPr/>
        </p:nvPicPr>
        <p:blipFill>
          <a:blip r:embed="rId3">
            <a:alphaModFix/>
          </a:blip>
          <a:stretch>
            <a:fillRect/>
          </a:stretch>
        </p:blipFill>
        <p:spPr>
          <a:xfrm>
            <a:off x="5083852" y="1136149"/>
            <a:ext cx="3532749" cy="3415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94" name="Google Shape;294;p4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Simulasi Penggunaan Metode Card Sorting</a:t>
            </a:r>
            <a:endParaRPr/>
          </a:p>
        </p:txBody>
      </p:sp>
      <p:sp>
        <p:nvSpPr>
          <p:cNvPr id="295" name="Google Shape;295;p43"/>
          <p:cNvSpPr txBox="1"/>
          <p:nvPr/>
        </p:nvSpPr>
        <p:spPr>
          <a:xfrm>
            <a:off x="685800" y="1333175"/>
            <a:ext cx="37431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Versi terbuka</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u="sng">
                <a:solidFill>
                  <a:schemeClr val="hlink"/>
                </a:solidFill>
                <a:latin typeface="Montserrat"/>
                <a:ea typeface="Montserrat"/>
                <a:cs typeface="Montserrat"/>
                <a:sym typeface="Montserrat"/>
                <a:hlinkClick r:id="rId3"/>
              </a:rPr>
              <a:t>Klik untuk mencoba simulasi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Kamu </a:t>
            </a:r>
            <a:r>
              <a:rPr lang="en" sz="1000">
                <a:solidFill>
                  <a:schemeClr val="dk1"/>
                </a:solidFill>
                <a:latin typeface="Montserrat"/>
                <a:ea typeface="Montserrat"/>
                <a:cs typeface="Montserrat"/>
                <a:sym typeface="Montserrat"/>
              </a:rPr>
              <a:t>diminta untuk mengatur dan mengkategorikan kartu/topik yang ada ke dalam grup/kategori yang relevan. Kemudian, berikan nama bagi grup tersebut</a:t>
            </a:r>
            <a:r>
              <a:rPr lang="en" sz="1000">
                <a:solidFill>
                  <a:schemeClr val="dk1"/>
                </a:solidFill>
                <a:latin typeface="Montserrat"/>
                <a:ea typeface="Montserrat"/>
                <a:cs typeface="Montserrat"/>
                <a:sym typeface="Montserrat"/>
              </a:rPr>
              <a:t> yang relevan dengan kategorinya.</a:t>
            </a:r>
            <a:endParaRPr sz="1000">
              <a:solidFill>
                <a:schemeClr val="dk1"/>
              </a:solidFill>
              <a:latin typeface="Montserrat"/>
              <a:ea typeface="Montserrat"/>
              <a:cs typeface="Montserrat"/>
              <a:sym typeface="Montserrat"/>
            </a:endParaRPr>
          </a:p>
        </p:txBody>
      </p:sp>
      <p:pic>
        <p:nvPicPr>
          <p:cNvPr id="296" name="Google Shape;296;p43"/>
          <p:cNvPicPr preferRelativeResize="0"/>
          <p:nvPr/>
        </p:nvPicPr>
        <p:blipFill>
          <a:blip r:embed="rId4">
            <a:alphaModFix/>
          </a:blip>
          <a:stretch>
            <a:fillRect/>
          </a:stretch>
        </p:blipFill>
        <p:spPr>
          <a:xfrm>
            <a:off x="4545875" y="1114125"/>
            <a:ext cx="4320676" cy="3200400"/>
          </a:xfrm>
          <a:prstGeom prst="rect">
            <a:avLst/>
          </a:prstGeom>
          <a:noFill/>
          <a:ln>
            <a:noFill/>
          </a:ln>
        </p:spPr>
      </p:pic>
      <p:pic>
        <p:nvPicPr>
          <p:cNvPr id="297" name="Google Shape;297;p43"/>
          <p:cNvPicPr preferRelativeResize="0"/>
          <p:nvPr/>
        </p:nvPicPr>
        <p:blipFill>
          <a:blip r:embed="rId5">
            <a:alphaModFix/>
          </a:blip>
          <a:stretch>
            <a:fillRect/>
          </a:stretch>
        </p:blipFill>
        <p:spPr>
          <a:xfrm>
            <a:off x="5958975" y="2730925"/>
            <a:ext cx="1283575" cy="219885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4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03" name="Google Shape;303;p4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Simulasi Penggunaan Metode Card Sorting</a:t>
            </a:r>
            <a:endParaRPr/>
          </a:p>
        </p:txBody>
      </p:sp>
      <p:sp>
        <p:nvSpPr>
          <p:cNvPr id="304" name="Google Shape;304;p44"/>
          <p:cNvSpPr txBox="1"/>
          <p:nvPr/>
        </p:nvSpPr>
        <p:spPr>
          <a:xfrm>
            <a:off x="685800" y="1280150"/>
            <a:ext cx="37431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Versi tertutup</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u="sng">
                <a:solidFill>
                  <a:schemeClr val="hlink"/>
                </a:solidFill>
                <a:latin typeface="Montserrat"/>
                <a:ea typeface="Montserrat"/>
                <a:cs typeface="Montserrat"/>
                <a:sym typeface="Montserrat"/>
                <a:hlinkClick r:id="rId3"/>
              </a:rPr>
              <a:t>Klik untuk mencoba simulasi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Kamu diminta untuk mengkategorikan kartu/topik yang ada ke dalam masing-masing kategori yang sudah ditentukan.</a:t>
            </a:r>
            <a:endParaRPr sz="1000">
              <a:solidFill>
                <a:schemeClr val="dk1"/>
              </a:solidFill>
              <a:latin typeface="Montserrat"/>
              <a:ea typeface="Montserrat"/>
              <a:cs typeface="Montserrat"/>
              <a:sym typeface="Montserrat"/>
            </a:endParaRPr>
          </a:p>
        </p:txBody>
      </p:sp>
      <p:pic>
        <p:nvPicPr>
          <p:cNvPr id="305" name="Google Shape;305;p44"/>
          <p:cNvPicPr preferRelativeResize="0"/>
          <p:nvPr/>
        </p:nvPicPr>
        <p:blipFill>
          <a:blip r:embed="rId4">
            <a:alphaModFix/>
          </a:blip>
          <a:stretch>
            <a:fillRect/>
          </a:stretch>
        </p:blipFill>
        <p:spPr>
          <a:xfrm>
            <a:off x="4637100" y="1478450"/>
            <a:ext cx="4256123" cy="1454751"/>
          </a:xfrm>
          <a:prstGeom prst="rect">
            <a:avLst/>
          </a:prstGeom>
          <a:noFill/>
          <a:ln>
            <a:noFill/>
          </a:ln>
        </p:spPr>
      </p:pic>
      <p:pic>
        <p:nvPicPr>
          <p:cNvPr id="306" name="Google Shape;306;p44"/>
          <p:cNvPicPr preferRelativeResize="0"/>
          <p:nvPr/>
        </p:nvPicPr>
        <p:blipFill>
          <a:blip r:embed="rId5">
            <a:alphaModFix/>
          </a:blip>
          <a:stretch>
            <a:fillRect/>
          </a:stretch>
        </p:blipFill>
        <p:spPr>
          <a:xfrm>
            <a:off x="6123375" y="2083400"/>
            <a:ext cx="1283575" cy="2198851"/>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0" name="Shape 310"/>
        <p:cNvGrpSpPr/>
        <p:nvPr/>
      </p:nvGrpSpPr>
      <p:grpSpPr>
        <a:xfrm>
          <a:off x="0" y="0"/>
          <a:ext cx="0" cy="0"/>
          <a:chOff x="0" y="0"/>
          <a:chExt cx="0" cy="0"/>
        </a:xfrm>
      </p:grpSpPr>
      <p:sp>
        <p:nvSpPr>
          <p:cNvPr id="311" name="Google Shape;311;p4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12" name="Google Shape;312;p4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lnSpc>
                <a:spcPct val="115000"/>
              </a:lnSpc>
              <a:spcBef>
                <a:spcPts val="0"/>
              </a:spcBef>
              <a:spcAft>
                <a:spcPts val="0"/>
              </a:spcAft>
              <a:buNone/>
            </a:pPr>
            <a:r>
              <a:rPr lang="en">
                <a:latin typeface="Montserrat"/>
                <a:ea typeface="Montserrat"/>
                <a:cs typeface="Montserrat"/>
                <a:sym typeface="Montserrat"/>
              </a:rPr>
              <a:t>Simulasi Penggunaan Metode Card Sorting</a:t>
            </a:r>
            <a:endParaRPr/>
          </a:p>
        </p:txBody>
      </p:sp>
      <p:sp>
        <p:nvSpPr>
          <p:cNvPr id="313" name="Google Shape;313;p45"/>
          <p:cNvSpPr txBox="1"/>
          <p:nvPr/>
        </p:nvSpPr>
        <p:spPr>
          <a:xfrm>
            <a:off x="685800" y="1280150"/>
            <a:ext cx="37218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Clr>
                <a:schemeClr val="dk1"/>
              </a:buClr>
              <a:buSzPts val="1100"/>
              <a:buFont typeface="Arial"/>
              <a:buNone/>
            </a:pPr>
            <a:r>
              <a:rPr b="1" lang="en" sz="1600">
                <a:solidFill>
                  <a:srgbClr val="743673"/>
                </a:solidFill>
                <a:highlight>
                  <a:schemeClr val="lt1"/>
                </a:highlight>
                <a:latin typeface="Montserrat"/>
                <a:ea typeface="Montserrat"/>
                <a:cs typeface="Montserrat"/>
                <a:sym typeface="Montserrat"/>
              </a:rPr>
              <a:t>Versi gambar</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u="sng">
                <a:solidFill>
                  <a:schemeClr val="hlink"/>
                </a:solidFill>
                <a:latin typeface="Montserrat"/>
                <a:ea typeface="Montserrat"/>
                <a:cs typeface="Montserrat"/>
                <a:sym typeface="Montserrat"/>
                <a:hlinkClick r:id="rId3"/>
              </a:rPr>
              <a:t>Klik untuk mencoba simulasi</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Versi gambar atau </a:t>
            </a:r>
            <a:r>
              <a:rPr lang="en" sz="1000">
                <a:solidFill>
                  <a:schemeClr val="dk1"/>
                </a:solidFill>
                <a:latin typeface="Montserrat"/>
                <a:ea typeface="Montserrat"/>
                <a:cs typeface="Montserrat"/>
                <a:sym typeface="Montserrat"/>
              </a:rPr>
              <a:t>Image card sort termasuk dalam versi terbuka.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000">
              <a:solidFill>
                <a:schemeClr val="dk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rPr lang="en" sz="1000">
                <a:solidFill>
                  <a:schemeClr val="dk1"/>
                </a:solidFill>
                <a:latin typeface="Montserrat"/>
                <a:ea typeface="Montserrat"/>
                <a:cs typeface="Montserrat"/>
                <a:sym typeface="Montserrat"/>
              </a:rPr>
              <a:t>Pada versi ini, kamu diminta untuk mengatur dan mengkategorikan gambar ke dalam grup/kategori yang relevan. Kemudian, berikan nama bagi grup gambar tersebut.</a:t>
            </a:r>
            <a:endParaRPr sz="1000">
              <a:solidFill>
                <a:schemeClr val="dk1"/>
              </a:solidFill>
              <a:latin typeface="Montserrat"/>
              <a:ea typeface="Montserrat"/>
              <a:cs typeface="Montserrat"/>
              <a:sym typeface="Montserrat"/>
            </a:endParaRPr>
          </a:p>
        </p:txBody>
      </p:sp>
      <p:pic>
        <p:nvPicPr>
          <p:cNvPr id="314" name="Google Shape;314;p45"/>
          <p:cNvPicPr preferRelativeResize="0"/>
          <p:nvPr/>
        </p:nvPicPr>
        <p:blipFill>
          <a:blip r:embed="rId4">
            <a:alphaModFix/>
          </a:blip>
          <a:stretch>
            <a:fillRect/>
          </a:stretch>
        </p:blipFill>
        <p:spPr>
          <a:xfrm>
            <a:off x="4724400" y="1313138"/>
            <a:ext cx="4038599" cy="2860237"/>
          </a:xfrm>
          <a:prstGeom prst="rect">
            <a:avLst/>
          </a:prstGeom>
          <a:noFill/>
          <a:ln>
            <a:noFill/>
          </a:ln>
        </p:spPr>
      </p:pic>
      <p:grpSp>
        <p:nvGrpSpPr>
          <p:cNvPr id="315" name="Google Shape;315;p45"/>
          <p:cNvGrpSpPr/>
          <p:nvPr/>
        </p:nvGrpSpPr>
        <p:grpSpPr>
          <a:xfrm>
            <a:off x="5002774" y="2106968"/>
            <a:ext cx="742007" cy="742007"/>
            <a:chOff x="5087825" y="2142350"/>
            <a:chExt cx="1201825" cy="1201825"/>
          </a:xfrm>
        </p:grpSpPr>
        <p:pic>
          <p:nvPicPr>
            <p:cNvPr id="316" name="Google Shape;316;p45"/>
            <p:cNvPicPr preferRelativeResize="0"/>
            <p:nvPr/>
          </p:nvPicPr>
          <p:blipFill>
            <a:blip r:embed="rId5">
              <a:alphaModFix/>
            </a:blip>
            <a:stretch>
              <a:fillRect/>
            </a:stretch>
          </p:blipFill>
          <p:spPr>
            <a:xfrm>
              <a:off x="5087825" y="2142350"/>
              <a:ext cx="1201825" cy="1201825"/>
            </a:xfrm>
            <a:prstGeom prst="rect">
              <a:avLst/>
            </a:prstGeom>
            <a:noFill/>
            <a:ln>
              <a:noFill/>
            </a:ln>
          </p:spPr>
        </p:pic>
        <p:pic>
          <p:nvPicPr>
            <p:cNvPr id="317" name="Google Shape;317;p45"/>
            <p:cNvPicPr preferRelativeResize="0"/>
            <p:nvPr/>
          </p:nvPicPr>
          <p:blipFill rotWithShape="1">
            <a:blip r:embed="rId6">
              <a:alphaModFix/>
            </a:blip>
            <a:srcRect b="1448" l="20732" r="20117" t="14813"/>
            <a:stretch/>
          </p:blipFill>
          <p:spPr>
            <a:xfrm>
              <a:off x="5278850" y="2163000"/>
              <a:ext cx="819776" cy="1160526"/>
            </a:xfrm>
            <a:prstGeom prst="rect">
              <a:avLst/>
            </a:prstGeom>
            <a:noFill/>
            <a:ln>
              <a:noFill/>
            </a:ln>
          </p:spPr>
        </p:pic>
      </p:grpSp>
      <p:grpSp>
        <p:nvGrpSpPr>
          <p:cNvPr id="318" name="Google Shape;318;p45"/>
          <p:cNvGrpSpPr/>
          <p:nvPr/>
        </p:nvGrpSpPr>
        <p:grpSpPr>
          <a:xfrm>
            <a:off x="5894347" y="2356938"/>
            <a:ext cx="678070" cy="678070"/>
            <a:chOff x="6361325" y="2701250"/>
            <a:chExt cx="1201825" cy="1201825"/>
          </a:xfrm>
        </p:grpSpPr>
        <p:pic>
          <p:nvPicPr>
            <p:cNvPr id="319" name="Google Shape;319;p45"/>
            <p:cNvPicPr preferRelativeResize="0"/>
            <p:nvPr/>
          </p:nvPicPr>
          <p:blipFill>
            <a:blip r:embed="rId5">
              <a:alphaModFix/>
            </a:blip>
            <a:stretch>
              <a:fillRect/>
            </a:stretch>
          </p:blipFill>
          <p:spPr>
            <a:xfrm>
              <a:off x="6361325" y="2701250"/>
              <a:ext cx="1201825" cy="1201825"/>
            </a:xfrm>
            <a:prstGeom prst="rect">
              <a:avLst/>
            </a:prstGeom>
            <a:noFill/>
            <a:ln>
              <a:noFill/>
            </a:ln>
          </p:spPr>
        </p:pic>
        <p:pic>
          <p:nvPicPr>
            <p:cNvPr id="320" name="Google Shape;320;p45"/>
            <p:cNvPicPr preferRelativeResize="0"/>
            <p:nvPr/>
          </p:nvPicPr>
          <p:blipFill rotWithShape="1">
            <a:blip r:embed="rId7">
              <a:alphaModFix/>
            </a:blip>
            <a:srcRect b="0" l="16196" r="21509" t="5195"/>
            <a:stretch/>
          </p:blipFill>
          <p:spPr>
            <a:xfrm flipH="1">
              <a:off x="6470526" y="2803300"/>
              <a:ext cx="983424" cy="997725"/>
            </a:xfrm>
            <a:prstGeom prst="rect">
              <a:avLst/>
            </a:prstGeom>
            <a:noFill/>
            <a:ln>
              <a:noFill/>
            </a:ln>
          </p:spPr>
        </p:pic>
      </p:grpSp>
      <p:grpSp>
        <p:nvGrpSpPr>
          <p:cNvPr id="321" name="Google Shape;321;p45"/>
          <p:cNvGrpSpPr/>
          <p:nvPr/>
        </p:nvGrpSpPr>
        <p:grpSpPr>
          <a:xfrm>
            <a:off x="5069417" y="3070370"/>
            <a:ext cx="824933" cy="824933"/>
            <a:chOff x="7414775" y="2279438"/>
            <a:chExt cx="1201825" cy="1201825"/>
          </a:xfrm>
        </p:grpSpPr>
        <p:pic>
          <p:nvPicPr>
            <p:cNvPr id="322" name="Google Shape;322;p45"/>
            <p:cNvPicPr preferRelativeResize="0"/>
            <p:nvPr/>
          </p:nvPicPr>
          <p:blipFill>
            <a:blip r:embed="rId5">
              <a:alphaModFix/>
            </a:blip>
            <a:stretch>
              <a:fillRect/>
            </a:stretch>
          </p:blipFill>
          <p:spPr>
            <a:xfrm>
              <a:off x="7414775" y="2279438"/>
              <a:ext cx="1201825" cy="1201825"/>
            </a:xfrm>
            <a:prstGeom prst="rect">
              <a:avLst/>
            </a:prstGeom>
            <a:noFill/>
            <a:ln>
              <a:noFill/>
            </a:ln>
          </p:spPr>
        </p:pic>
        <p:pic>
          <p:nvPicPr>
            <p:cNvPr id="323" name="Google Shape;323;p45"/>
            <p:cNvPicPr preferRelativeResize="0"/>
            <p:nvPr/>
          </p:nvPicPr>
          <p:blipFill rotWithShape="1">
            <a:blip r:embed="rId8">
              <a:alphaModFix/>
            </a:blip>
            <a:srcRect b="3298" l="40334" r="32120" t="5084"/>
            <a:stretch/>
          </p:blipFill>
          <p:spPr>
            <a:xfrm>
              <a:off x="7690001" y="2338700"/>
              <a:ext cx="651375" cy="1083300"/>
            </a:xfrm>
            <a:prstGeom prst="rect">
              <a:avLst/>
            </a:prstGeom>
            <a:noFill/>
            <a:ln>
              <a:noFill/>
            </a:ln>
          </p:spPr>
        </p:pic>
      </p:grpSp>
      <p:grpSp>
        <p:nvGrpSpPr>
          <p:cNvPr id="324" name="Google Shape;324;p45"/>
          <p:cNvGrpSpPr/>
          <p:nvPr/>
        </p:nvGrpSpPr>
        <p:grpSpPr>
          <a:xfrm>
            <a:off x="6821175" y="2170926"/>
            <a:ext cx="742000" cy="741973"/>
            <a:chOff x="6821175" y="2170926"/>
            <a:chExt cx="742000" cy="741973"/>
          </a:xfrm>
        </p:grpSpPr>
        <p:pic>
          <p:nvPicPr>
            <p:cNvPr id="325" name="Google Shape;325;p45"/>
            <p:cNvPicPr preferRelativeResize="0"/>
            <p:nvPr/>
          </p:nvPicPr>
          <p:blipFill>
            <a:blip r:embed="rId5">
              <a:alphaModFix/>
            </a:blip>
            <a:stretch>
              <a:fillRect/>
            </a:stretch>
          </p:blipFill>
          <p:spPr>
            <a:xfrm>
              <a:off x="6821175" y="2170926"/>
              <a:ext cx="742000" cy="741973"/>
            </a:xfrm>
            <a:prstGeom prst="rect">
              <a:avLst/>
            </a:prstGeom>
            <a:noFill/>
            <a:ln>
              <a:noFill/>
            </a:ln>
          </p:spPr>
        </p:pic>
        <p:pic>
          <p:nvPicPr>
            <p:cNvPr id="326" name="Google Shape;326;p45"/>
            <p:cNvPicPr preferRelativeResize="0"/>
            <p:nvPr/>
          </p:nvPicPr>
          <p:blipFill>
            <a:blip r:embed="rId9">
              <a:alphaModFix/>
            </a:blip>
            <a:stretch>
              <a:fillRect/>
            </a:stretch>
          </p:blipFill>
          <p:spPr>
            <a:xfrm>
              <a:off x="6821175" y="2305900"/>
              <a:ext cx="742000" cy="472020"/>
            </a:xfrm>
            <a:prstGeom prst="rect">
              <a:avLst/>
            </a:prstGeom>
            <a:noFill/>
            <a:ln>
              <a:noFill/>
            </a:ln>
          </p:spPr>
        </p:pic>
      </p:grpSp>
      <p:grpSp>
        <p:nvGrpSpPr>
          <p:cNvPr id="327" name="Google Shape;327;p45"/>
          <p:cNvGrpSpPr/>
          <p:nvPr/>
        </p:nvGrpSpPr>
        <p:grpSpPr>
          <a:xfrm>
            <a:off x="6799950" y="3069452"/>
            <a:ext cx="824926" cy="824894"/>
            <a:chOff x="6799950" y="3069452"/>
            <a:chExt cx="824926" cy="824894"/>
          </a:xfrm>
        </p:grpSpPr>
        <p:pic>
          <p:nvPicPr>
            <p:cNvPr id="328" name="Google Shape;328;p45"/>
            <p:cNvPicPr preferRelativeResize="0"/>
            <p:nvPr/>
          </p:nvPicPr>
          <p:blipFill>
            <a:blip r:embed="rId5">
              <a:alphaModFix/>
            </a:blip>
            <a:stretch>
              <a:fillRect/>
            </a:stretch>
          </p:blipFill>
          <p:spPr>
            <a:xfrm>
              <a:off x="6799950" y="3069452"/>
              <a:ext cx="824925" cy="824894"/>
            </a:xfrm>
            <a:prstGeom prst="rect">
              <a:avLst/>
            </a:prstGeom>
            <a:noFill/>
            <a:ln>
              <a:noFill/>
            </a:ln>
          </p:spPr>
        </p:pic>
        <p:pic>
          <p:nvPicPr>
            <p:cNvPr id="329" name="Google Shape;329;p45"/>
            <p:cNvPicPr preferRelativeResize="0"/>
            <p:nvPr/>
          </p:nvPicPr>
          <p:blipFill>
            <a:blip r:embed="rId10">
              <a:alphaModFix/>
            </a:blip>
            <a:stretch>
              <a:fillRect/>
            </a:stretch>
          </p:blipFill>
          <p:spPr>
            <a:xfrm>
              <a:off x="6799950" y="3197051"/>
              <a:ext cx="824926" cy="571563"/>
            </a:xfrm>
            <a:prstGeom prst="rect">
              <a:avLst/>
            </a:prstGeom>
            <a:noFill/>
            <a:ln>
              <a:noFill/>
            </a:ln>
          </p:spPr>
        </p:pic>
      </p:grpSp>
      <p:grpSp>
        <p:nvGrpSpPr>
          <p:cNvPr id="330" name="Google Shape;330;p45"/>
          <p:cNvGrpSpPr/>
          <p:nvPr/>
        </p:nvGrpSpPr>
        <p:grpSpPr>
          <a:xfrm>
            <a:off x="7747997" y="2470563"/>
            <a:ext cx="678077" cy="678070"/>
            <a:chOff x="7747997" y="2470563"/>
            <a:chExt cx="678077" cy="678070"/>
          </a:xfrm>
        </p:grpSpPr>
        <p:pic>
          <p:nvPicPr>
            <p:cNvPr id="331" name="Google Shape;331;p45"/>
            <p:cNvPicPr preferRelativeResize="0"/>
            <p:nvPr/>
          </p:nvPicPr>
          <p:blipFill>
            <a:blip r:embed="rId5">
              <a:alphaModFix/>
            </a:blip>
            <a:stretch>
              <a:fillRect/>
            </a:stretch>
          </p:blipFill>
          <p:spPr>
            <a:xfrm>
              <a:off x="7747997" y="2470563"/>
              <a:ext cx="678070" cy="678070"/>
            </a:xfrm>
            <a:prstGeom prst="rect">
              <a:avLst/>
            </a:prstGeom>
            <a:noFill/>
            <a:ln>
              <a:noFill/>
            </a:ln>
          </p:spPr>
        </p:pic>
        <p:pic>
          <p:nvPicPr>
            <p:cNvPr id="332" name="Google Shape;332;p45"/>
            <p:cNvPicPr preferRelativeResize="0"/>
            <p:nvPr/>
          </p:nvPicPr>
          <p:blipFill rotWithShape="1">
            <a:blip r:embed="rId11">
              <a:alphaModFix/>
            </a:blip>
            <a:srcRect b="8659" l="11300" r="7806" t="5687"/>
            <a:stretch/>
          </p:blipFill>
          <p:spPr>
            <a:xfrm>
              <a:off x="7748000" y="2571125"/>
              <a:ext cx="678074" cy="476951"/>
            </a:xfrm>
            <a:prstGeom prst="rect">
              <a:avLst/>
            </a:prstGeom>
            <a:noFill/>
            <a:ln>
              <a:noFill/>
            </a:ln>
          </p:spPr>
        </p:pic>
      </p:gr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6"/>
          <p:cNvSpPr txBox="1"/>
          <p:nvPr/>
        </p:nvSpPr>
        <p:spPr>
          <a:xfrm>
            <a:off x="914400" y="1013550"/>
            <a:ext cx="7315200" cy="722100"/>
          </a:xfrm>
          <a:prstGeom prst="rect">
            <a:avLst/>
          </a:prstGeom>
          <a:no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b="1" lang="en" sz="2000">
                <a:solidFill>
                  <a:srgbClr val="FFFFFF"/>
                </a:solidFill>
                <a:latin typeface="Montserrat"/>
                <a:ea typeface="Montserrat"/>
                <a:cs typeface="Montserrat"/>
                <a:sym typeface="Montserrat"/>
              </a:rPr>
              <a:t>Saatnya kita </a:t>
            </a:r>
            <a:endParaRPr b="1" sz="2000">
              <a:solidFill>
                <a:srgbClr val="FFFFFF"/>
              </a:solidFill>
              <a:latin typeface="Montserrat"/>
              <a:ea typeface="Montserrat"/>
              <a:cs typeface="Montserrat"/>
              <a:sym typeface="Montserrat"/>
            </a:endParaRPr>
          </a:p>
          <a:p>
            <a:pPr indent="0" lvl="0" marL="0" rtl="0" algn="ctr">
              <a:spcBef>
                <a:spcPts val="0"/>
              </a:spcBef>
              <a:spcAft>
                <a:spcPts val="0"/>
              </a:spcAft>
              <a:buNone/>
            </a:pPr>
            <a:r>
              <a:rPr b="1" lang="en" sz="3000">
                <a:solidFill>
                  <a:srgbClr val="FFAB40"/>
                </a:solidFill>
                <a:latin typeface="Montserrat"/>
                <a:ea typeface="Montserrat"/>
                <a:cs typeface="Montserrat"/>
                <a:sym typeface="Montserrat"/>
              </a:rPr>
              <a:t>Quiz!</a:t>
            </a:r>
            <a:endParaRPr b="1" sz="3000">
              <a:solidFill>
                <a:srgbClr val="FFAB40"/>
              </a:solidFill>
              <a:latin typeface="Montserrat"/>
              <a:ea typeface="Montserrat"/>
              <a:cs typeface="Montserrat"/>
              <a:sym typeface="Montserrat"/>
            </a:endParaRPr>
          </a:p>
        </p:txBody>
      </p:sp>
      <p:pic>
        <p:nvPicPr>
          <p:cNvPr id="338" name="Google Shape;338;p46"/>
          <p:cNvPicPr preferRelativeResize="0"/>
          <p:nvPr/>
        </p:nvPicPr>
        <p:blipFill rotWithShape="1">
          <a:blip r:embed="rId3">
            <a:alphaModFix/>
          </a:blip>
          <a:srcRect b="35463" l="16341" r="18912" t="0"/>
          <a:stretch/>
        </p:blipFill>
        <p:spPr>
          <a:xfrm>
            <a:off x="2421325" y="2177750"/>
            <a:ext cx="3903698" cy="2965752"/>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344" name="Google Shape;344;p47"/>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500">
                <a:solidFill>
                  <a:schemeClr val="accent1"/>
                </a:solidFill>
                <a:latin typeface="Montserrat"/>
                <a:ea typeface="Montserrat"/>
                <a:cs typeface="Montserrat"/>
                <a:sym typeface="Montserrat"/>
              </a:rPr>
              <a:t>1.</a:t>
            </a:r>
            <a:r>
              <a:rPr b="1" lang="en" sz="1500">
                <a:solidFill>
                  <a:schemeClr val="lt1"/>
                </a:solidFill>
                <a:latin typeface="Montserrat"/>
                <a:ea typeface="Montserrat"/>
                <a:cs typeface="Montserrat"/>
                <a:sym typeface="Montserrat"/>
              </a:rPr>
              <a:t> Kita akan membutuhkan metode pendekatan dengan pengguna pada ….. design thinking. </a:t>
            </a:r>
            <a:endParaRPr b="1" sz="15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Tahapan kedua</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Setiap tahapan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Satu tahapan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Tahapan pertama</a:t>
            </a:r>
            <a:endParaRPr sz="1200">
              <a:solidFill>
                <a:schemeClr val="lt1"/>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345" name="Google Shape;345;p4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8"/>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a:t>
            </a:r>
            <a:r>
              <a:rPr lang="en">
                <a:latin typeface="Montserrat"/>
                <a:ea typeface="Montserrat"/>
                <a:cs typeface="Montserrat"/>
                <a:sym typeface="Montserrat"/>
              </a:rPr>
              <a:t>Quiz</a:t>
            </a:r>
            <a:endParaRPr>
              <a:latin typeface="Montserrat"/>
              <a:ea typeface="Montserrat"/>
              <a:cs typeface="Montserrat"/>
              <a:sym typeface="Montserrat"/>
            </a:endParaRPr>
          </a:p>
        </p:txBody>
      </p:sp>
      <p:sp>
        <p:nvSpPr>
          <p:cNvPr id="351" name="Google Shape;351;p48"/>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500">
                <a:solidFill>
                  <a:schemeClr val="accent1"/>
                </a:solidFill>
                <a:latin typeface="Montserrat"/>
                <a:ea typeface="Montserrat"/>
                <a:cs typeface="Montserrat"/>
                <a:sym typeface="Montserrat"/>
              </a:rPr>
              <a:t>1.</a:t>
            </a:r>
            <a:r>
              <a:rPr b="1" lang="en" sz="1500">
                <a:solidFill>
                  <a:schemeClr val="lt1"/>
                </a:solidFill>
                <a:latin typeface="Montserrat"/>
                <a:ea typeface="Montserrat"/>
                <a:cs typeface="Montserrat"/>
                <a:sym typeface="Montserrat"/>
              </a:rPr>
              <a:t> Kita akan membutuhkan metode pendekatan dengan pengguna pada ….. design thinking. </a:t>
            </a:r>
            <a:endParaRPr b="1" sz="15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Clr>
                <a:schemeClr val="dk1"/>
              </a:buClr>
              <a:buSzPts val="1100"/>
              <a:buFont typeface="Arial"/>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Tahapan kedua</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Setiap tahapan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Satu tahapan</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Tahapan pertama</a:t>
            </a:r>
            <a:endParaRPr sz="1200">
              <a:solidFill>
                <a:srgbClr val="A667A5"/>
              </a:solidFill>
              <a:latin typeface="Montserrat Medium"/>
              <a:ea typeface="Montserrat Medium"/>
              <a:cs typeface="Montserrat Medium"/>
              <a:sym typeface="Montserrat Medium"/>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p:txBody>
      </p:sp>
      <p:sp>
        <p:nvSpPr>
          <p:cNvPr id="352" name="Google Shape;352;p48"/>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3" name="Google Shape;353;p48"/>
          <p:cNvSpPr/>
          <p:nvPr/>
        </p:nvSpPr>
        <p:spPr>
          <a:xfrm>
            <a:off x="685800" y="3536575"/>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200">
                <a:solidFill>
                  <a:srgbClr val="733572"/>
                </a:solidFill>
                <a:latin typeface="Montserrat"/>
                <a:ea typeface="Montserrat"/>
                <a:cs typeface="Montserrat"/>
                <a:sym typeface="Montserrat"/>
              </a:rPr>
              <a:t>Kita </a:t>
            </a:r>
            <a:r>
              <a:rPr b="1" lang="en" sz="1200">
                <a:solidFill>
                  <a:srgbClr val="733572"/>
                </a:solidFill>
                <a:latin typeface="Montserrat"/>
                <a:ea typeface="Montserrat"/>
                <a:cs typeface="Montserrat"/>
                <a:sym typeface="Montserrat"/>
              </a:rPr>
              <a:t>akan membutuhkan metode pendekatan dengan pengguna pada setiap tahapan design thinking, tidak hanya diawal atau diakhir.</a:t>
            </a:r>
            <a:endParaRPr b="1" sz="1200">
              <a:solidFill>
                <a:srgbClr val="733572"/>
              </a:solidFill>
              <a:latin typeface="Montserrat"/>
              <a:ea typeface="Montserrat"/>
              <a:cs typeface="Montserrat"/>
              <a:sym typeface="Montserrat"/>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49"/>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359" name="Google Shape;359;p49"/>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chemeClr val="accent1"/>
                </a:solidFill>
                <a:latin typeface="Montserrat"/>
                <a:ea typeface="Montserrat"/>
                <a:cs typeface="Montserrat"/>
                <a:sym typeface="Montserrat"/>
              </a:rPr>
              <a:t>2</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Card sorting adalah…</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Diskusi mendalam yang dilakukan secara face-to-face.</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Salah satu metode untuk menentukan struktur atau kategori dari produk.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Sarana untuk meminta tanggapan dari user, bisa spesifik terkait produk atau hal lain yang berkaitan.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Salah satu metode untuk mengevaluasi produk yang paling sering digunakan. </a:t>
            </a:r>
            <a:endParaRPr sz="1200">
              <a:solidFill>
                <a:schemeClr val="lt1"/>
              </a:solidFill>
              <a:latin typeface="Montserrat Medium"/>
              <a:ea typeface="Montserrat Medium"/>
              <a:cs typeface="Montserrat Medium"/>
              <a:sym typeface="Montserrat Medium"/>
            </a:endParaRPr>
          </a:p>
        </p:txBody>
      </p:sp>
      <p:sp>
        <p:nvSpPr>
          <p:cNvPr id="360" name="Google Shape;360;p49"/>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50"/>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Quiz</a:t>
            </a:r>
            <a:endParaRPr>
              <a:latin typeface="Montserrat"/>
              <a:ea typeface="Montserrat"/>
              <a:cs typeface="Montserrat"/>
              <a:sym typeface="Montserrat"/>
            </a:endParaRPr>
          </a:p>
        </p:txBody>
      </p:sp>
      <p:sp>
        <p:nvSpPr>
          <p:cNvPr id="366" name="Google Shape;366;p50"/>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chemeClr val="accent1"/>
                </a:solidFill>
                <a:latin typeface="Montserrat"/>
                <a:ea typeface="Montserrat"/>
                <a:cs typeface="Montserrat"/>
                <a:sym typeface="Montserrat"/>
              </a:rPr>
              <a:t>2.</a:t>
            </a:r>
            <a:r>
              <a:rPr b="1" lang="en" sz="1800">
                <a:solidFill>
                  <a:schemeClr val="lt1"/>
                </a:solidFill>
                <a:latin typeface="Montserrat"/>
                <a:ea typeface="Montserrat"/>
                <a:cs typeface="Montserrat"/>
                <a:sym typeface="Montserrat"/>
              </a:rPr>
              <a:t> Card sorting adalah…</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Diskusi mendalam yang dilakukan secara face-to-face.</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Salah satu metode untuk menentukan struktur atau kategori dari produk.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Sarana untuk meminta tanggapan dari user, bisa spesifik terkait produk atau hal lain yang berkaitan. </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Salah satu metode untuk mengevaluasi produk yang paling sering digunakan. </a:t>
            </a:r>
            <a:endParaRPr sz="1200">
              <a:solidFill>
                <a:srgbClr val="A667A5"/>
              </a:solidFill>
              <a:latin typeface="Montserrat Medium"/>
              <a:ea typeface="Montserrat Medium"/>
              <a:cs typeface="Montserrat Medium"/>
              <a:sym typeface="Montserrat Medium"/>
            </a:endParaRPr>
          </a:p>
        </p:txBody>
      </p:sp>
      <p:sp>
        <p:nvSpPr>
          <p:cNvPr id="367" name="Google Shape;367;p50"/>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8" name="Google Shape;368;p50"/>
          <p:cNvSpPr/>
          <p:nvPr/>
        </p:nvSpPr>
        <p:spPr>
          <a:xfrm>
            <a:off x="685800" y="3529650"/>
            <a:ext cx="7772400" cy="595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Card sorting adalah metode yang digunakan untuk membantu merancang atau mengevaluasi arsitektur informasi dan menentukan struktur atau kategori dari sebuah produk.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51"/>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lt1"/>
              </a:buClr>
              <a:buSzPts val="1100"/>
              <a:buFont typeface="Montserrat"/>
              <a:buNone/>
            </a:pPr>
            <a:r>
              <a:rPr lang="en">
                <a:latin typeface="Montserrat"/>
                <a:ea typeface="Montserrat"/>
                <a:cs typeface="Montserrat"/>
                <a:sym typeface="Montserrat"/>
              </a:rPr>
              <a:t>Quiz</a:t>
            </a:r>
            <a:endParaRPr/>
          </a:p>
        </p:txBody>
      </p:sp>
      <p:sp>
        <p:nvSpPr>
          <p:cNvPr id="374" name="Google Shape;374;p51"/>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chemeClr val="accent1"/>
                </a:solidFill>
                <a:latin typeface="Montserrat"/>
                <a:ea typeface="Montserrat"/>
                <a:cs typeface="Montserrat"/>
                <a:sym typeface="Montserrat"/>
              </a:rPr>
              <a:t>3</a:t>
            </a:r>
            <a:r>
              <a:rPr b="1" lang="en" sz="1800">
                <a:solidFill>
                  <a:schemeClr val="accent1"/>
                </a:solidFill>
                <a:latin typeface="Montserrat"/>
                <a:ea typeface="Montserrat"/>
                <a:cs typeface="Montserrat"/>
                <a:sym typeface="Montserrat"/>
              </a:rPr>
              <a:t>.</a:t>
            </a:r>
            <a:r>
              <a:rPr b="1" lang="en" sz="1800">
                <a:solidFill>
                  <a:schemeClr val="lt1"/>
                </a:solidFill>
                <a:latin typeface="Montserrat"/>
                <a:ea typeface="Montserrat"/>
                <a:cs typeface="Montserrat"/>
                <a:sym typeface="Montserrat"/>
              </a:rPr>
              <a:t> Usability testing adalah…</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Diskusi mendalam yang dilakukan secara face-to-face.</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Salah satu metode untuk menentukan struktur atau kategori dari produk.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Sarana untuk meminta tanggapan dari user, bisa spesifik terkait produk atau hal lain yang berkaitan.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Salah satu metode untuk mengevaluasi produk yang paling sering digunakan. </a:t>
            </a:r>
            <a:endParaRPr sz="1200">
              <a:solidFill>
                <a:schemeClr val="lt1"/>
              </a:solidFill>
              <a:latin typeface="Montserrat Medium"/>
              <a:ea typeface="Montserrat Medium"/>
              <a:cs typeface="Montserrat Medium"/>
              <a:sym typeface="Montserrat Medium"/>
            </a:endParaRPr>
          </a:p>
        </p:txBody>
      </p:sp>
      <p:sp>
        <p:nvSpPr>
          <p:cNvPr id="375" name="Google Shape;375;p51"/>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9" name="Shape 379"/>
        <p:cNvGrpSpPr/>
        <p:nvPr/>
      </p:nvGrpSpPr>
      <p:grpSpPr>
        <a:xfrm>
          <a:off x="0" y="0"/>
          <a:ext cx="0" cy="0"/>
          <a:chOff x="0" y="0"/>
          <a:chExt cx="0" cy="0"/>
        </a:xfrm>
      </p:grpSpPr>
      <p:sp>
        <p:nvSpPr>
          <p:cNvPr id="380" name="Google Shape;380;p52"/>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a:t>
            </a:r>
            <a:r>
              <a:rPr lang="en">
                <a:latin typeface="Montserrat"/>
                <a:ea typeface="Montserrat"/>
                <a:cs typeface="Montserrat"/>
                <a:sym typeface="Montserrat"/>
              </a:rPr>
              <a:t>Quiz</a:t>
            </a:r>
            <a:endParaRPr/>
          </a:p>
        </p:txBody>
      </p:sp>
      <p:sp>
        <p:nvSpPr>
          <p:cNvPr id="381" name="Google Shape;381;p52"/>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800">
                <a:solidFill>
                  <a:schemeClr val="accent1"/>
                </a:solidFill>
                <a:latin typeface="Montserrat"/>
                <a:ea typeface="Montserrat"/>
                <a:cs typeface="Montserrat"/>
                <a:sym typeface="Montserrat"/>
              </a:rPr>
              <a:t>3.</a:t>
            </a:r>
            <a:r>
              <a:rPr b="1" lang="en" sz="1800">
                <a:solidFill>
                  <a:schemeClr val="lt1"/>
                </a:solidFill>
                <a:latin typeface="Montserrat"/>
                <a:ea typeface="Montserrat"/>
                <a:cs typeface="Montserrat"/>
                <a:sym typeface="Montserrat"/>
              </a:rPr>
              <a:t> Usability testing adalah…</a:t>
            </a:r>
            <a:endParaRPr b="1" sz="18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Diskusi mendalam yang dilakukan secara face-to-face.</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Salah satu metode untuk menentukan struktur atau kategori dari produk.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Sarana untuk meminta tanggapan dari user, bisa spesifik terkait produk atau hal lain yang berkaitan.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Salah satu metode untuk mengevaluasi produk yang paling sering digunakan. </a:t>
            </a:r>
            <a:endParaRPr sz="1200">
              <a:solidFill>
                <a:schemeClr val="lt1"/>
              </a:solidFill>
              <a:latin typeface="Montserrat Medium"/>
              <a:ea typeface="Montserrat Medium"/>
              <a:cs typeface="Montserrat Medium"/>
              <a:sym typeface="Montserrat Medium"/>
            </a:endParaRPr>
          </a:p>
        </p:txBody>
      </p:sp>
      <p:sp>
        <p:nvSpPr>
          <p:cNvPr id="382" name="Google Shape;382;p52"/>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83" name="Google Shape;383;p52"/>
          <p:cNvSpPr/>
          <p:nvPr/>
        </p:nvSpPr>
        <p:spPr>
          <a:xfrm>
            <a:off x="685800" y="3688975"/>
            <a:ext cx="7772400" cy="8727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Usability testing merupakan salah satu metode untuk mengevaluasi produk yang paling sering digunakan. Tujuan dari metode ini adalah mengetahui tanggapan user berupa kesulitan, ide, dan pengetahuan baru terkait produk yang sedang diujikan. </a:t>
            </a:r>
            <a:endParaRPr b="1" sz="1200">
              <a:solidFill>
                <a:srgbClr val="733572"/>
              </a:solidFill>
              <a:latin typeface="Montserrat"/>
              <a:ea typeface="Montserrat"/>
              <a:cs typeface="Montserrat"/>
              <a:sym typeface="Montserrat"/>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53"/>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Quiz</a:t>
            </a:r>
            <a:endParaRPr/>
          </a:p>
        </p:txBody>
      </p:sp>
      <p:sp>
        <p:nvSpPr>
          <p:cNvPr id="389" name="Google Shape;389;p53"/>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Berikut adalah letak perbedaan antara focus groups dan wawancara,</a:t>
            </a:r>
            <a:r>
              <a:rPr b="1" lang="en" sz="1600">
                <a:solidFill>
                  <a:schemeClr val="lt1"/>
                </a:solidFill>
                <a:latin typeface="Montserrat"/>
                <a:ea typeface="Montserrat"/>
                <a:cs typeface="Montserrat"/>
                <a:sym typeface="Montserrat"/>
              </a:rPr>
              <a:t> kecuali…</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Focus</a:t>
            </a:r>
            <a:r>
              <a:rPr lang="en" sz="1200">
                <a:solidFill>
                  <a:schemeClr val="lt1"/>
                </a:solidFill>
                <a:latin typeface="Montserrat Medium"/>
                <a:ea typeface="Montserrat Medium"/>
                <a:cs typeface="Montserrat Medium"/>
                <a:sym typeface="Montserrat Medium"/>
              </a:rPr>
              <a:t> groups adalah bentuk khusus dari wawancara kelompok, di mana interaksi antara peserta didorong. Wawancara melibatkan individu untuk menjawab pertanyaan tentang suatu topik.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Focus groups dilakukan dengan bersamaan, sedangkan wawancara satu-persatu.</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Focus groups dilakukan satu-persatu, sedangkan wawancara dilakukan bersamaan.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Focus groups merupakan diskusi antar anggota kelompok, sedangkan wawancara adalahsesi tanya jawab antara pewawancara dan narasumber.</a:t>
            </a:r>
            <a:endParaRPr sz="1200">
              <a:solidFill>
                <a:schemeClr val="lt1"/>
              </a:solidFill>
              <a:latin typeface="Montserrat Medium"/>
              <a:ea typeface="Montserrat Medium"/>
              <a:cs typeface="Montserrat Medium"/>
              <a:sym typeface="Montserrat Medium"/>
            </a:endParaRPr>
          </a:p>
        </p:txBody>
      </p:sp>
      <p:sp>
        <p:nvSpPr>
          <p:cNvPr id="390" name="Google Shape;390;p53"/>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4" name="Shape 394"/>
        <p:cNvGrpSpPr/>
        <p:nvPr/>
      </p:nvGrpSpPr>
      <p:grpSpPr>
        <a:xfrm>
          <a:off x="0" y="0"/>
          <a:ext cx="0" cy="0"/>
          <a:chOff x="0" y="0"/>
          <a:chExt cx="0" cy="0"/>
        </a:xfrm>
      </p:grpSpPr>
      <p:sp>
        <p:nvSpPr>
          <p:cNvPr id="395" name="Google Shape;395;p54"/>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a:t>
            </a:r>
            <a:r>
              <a:rPr lang="en">
                <a:latin typeface="Montserrat"/>
                <a:ea typeface="Montserrat"/>
                <a:cs typeface="Montserrat"/>
                <a:sym typeface="Montserrat"/>
              </a:rPr>
              <a:t>Quiz</a:t>
            </a:r>
            <a:endParaRPr/>
          </a:p>
        </p:txBody>
      </p:sp>
      <p:sp>
        <p:nvSpPr>
          <p:cNvPr id="396" name="Google Shape;396;p54"/>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4.</a:t>
            </a:r>
            <a:r>
              <a:rPr b="1" lang="en" sz="1600">
                <a:solidFill>
                  <a:schemeClr val="lt1"/>
                </a:solidFill>
                <a:latin typeface="Montserrat"/>
                <a:ea typeface="Montserrat"/>
                <a:cs typeface="Montserrat"/>
                <a:sym typeface="Montserrat"/>
              </a:rPr>
              <a:t> Berikut adalah letak perbedaan antara focus groups dan wawancara, kecuali…</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Focus groups adalah bentuk khusus dari wawancara kelompok, di mana interaksi antara peserta didorong. Wawancara melibatkan individu untuk menjawab pertanyaan tentang suatu topik. </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Focus groups dilakukan dengan bersamaan, sedangkan wawancara satu-persatu.</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Focus groups dilakukan satu-persatu, sedangkan wawancara dilakukan bersamaan.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Focus groups merupakan diskusi antar anggota kelompok, sedangkan wawancara adalah sesi tanya jawab antara pewawancara dan narasumber.</a:t>
            </a:r>
            <a:endParaRPr sz="1200">
              <a:solidFill>
                <a:srgbClr val="A667A5"/>
              </a:solidFill>
              <a:latin typeface="Montserrat Medium"/>
              <a:ea typeface="Montserrat Medium"/>
              <a:cs typeface="Montserrat Medium"/>
              <a:sym typeface="Montserrat Medium"/>
            </a:endParaRPr>
          </a:p>
        </p:txBody>
      </p:sp>
      <p:sp>
        <p:nvSpPr>
          <p:cNvPr id="397" name="Google Shape;397;p54"/>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98" name="Google Shape;398;p54"/>
          <p:cNvSpPr/>
          <p:nvPr/>
        </p:nvSpPr>
        <p:spPr>
          <a:xfrm>
            <a:off x="685800" y="4114800"/>
            <a:ext cx="7772400" cy="6405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None/>
            </a:pPr>
            <a:r>
              <a:rPr b="1" lang="en" sz="1200">
                <a:solidFill>
                  <a:srgbClr val="733572"/>
                </a:solidFill>
                <a:latin typeface="Montserrat"/>
                <a:ea typeface="Montserrat"/>
                <a:cs typeface="Montserrat"/>
                <a:sym typeface="Montserrat"/>
              </a:rPr>
              <a:t>Focus groups tidak dilakukan satu-persatu, melainkan bersamaan antar anggota kelompok. Sedangkan wawancara dilakukan satu-persatu.</a:t>
            </a:r>
            <a:endParaRPr b="1" sz="1200">
              <a:solidFill>
                <a:srgbClr val="733572"/>
              </a:solidFill>
              <a:latin typeface="Montserrat"/>
              <a:ea typeface="Montserrat"/>
              <a:cs typeface="Montserrat"/>
              <a:sym typeface="Montserrat"/>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2" name="Shape 402"/>
        <p:cNvGrpSpPr/>
        <p:nvPr/>
      </p:nvGrpSpPr>
      <p:grpSpPr>
        <a:xfrm>
          <a:off x="0" y="0"/>
          <a:ext cx="0" cy="0"/>
          <a:chOff x="0" y="0"/>
          <a:chExt cx="0" cy="0"/>
        </a:xfrm>
      </p:grpSpPr>
      <p:sp>
        <p:nvSpPr>
          <p:cNvPr id="403" name="Google Shape;403;p55"/>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Clr>
                <a:schemeClr val="dk1"/>
              </a:buClr>
              <a:buSzPts val="1100"/>
              <a:buFont typeface="Arial"/>
              <a:buNone/>
            </a:pPr>
            <a:r>
              <a:rPr lang="en">
                <a:latin typeface="Montserrat"/>
                <a:ea typeface="Montserrat"/>
                <a:cs typeface="Montserrat"/>
                <a:sym typeface="Montserrat"/>
              </a:rPr>
              <a:t>Quiz</a:t>
            </a:r>
            <a:endParaRPr/>
          </a:p>
        </p:txBody>
      </p:sp>
      <p:sp>
        <p:nvSpPr>
          <p:cNvPr id="404" name="Google Shape;404;p55"/>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accent1"/>
                </a:solidFill>
                <a:latin typeface="Montserrat"/>
                <a:ea typeface="Montserrat"/>
                <a:cs typeface="Montserrat"/>
                <a:sym typeface="Montserrat"/>
              </a:rPr>
              <a:t>.</a:t>
            </a:r>
            <a:r>
              <a:rPr b="1" lang="en" sz="1600">
                <a:solidFill>
                  <a:schemeClr val="lt1"/>
                </a:solidFill>
                <a:latin typeface="Montserrat"/>
                <a:ea typeface="Montserrat"/>
                <a:cs typeface="Montserrat"/>
                <a:sym typeface="Montserrat"/>
              </a:rPr>
              <a:t> Dalam card sorting tertutup, kita </a:t>
            </a:r>
            <a:r>
              <a:rPr b="1" lang="en" sz="1600">
                <a:solidFill>
                  <a:schemeClr val="lt1"/>
                </a:solidFill>
                <a:latin typeface="Montserrat"/>
                <a:ea typeface="Montserrat"/>
                <a:cs typeface="Montserrat"/>
                <a:sym typeface="Montserrat"/>
              </a:rPr>
              <a:t>diminta untuk mengatur masing-masing kartu, lalu...</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dan menamakan kartu-kartu tersebut.</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ke dalam kategori dan menamakan kategori tersebut.</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ke dalam kategori yang telah ditentukan.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ke dalam kategori yang relevan. </a:t>
            </a:r>
            <a:endParaRPr sz="1200">
              <a:solidFill>
                <a:schemeClr val="lt1"/>
              </a:solidFill>
              <a:latin typeface="Montserrat Medium"/>
              <a:ea typeface="Montserrat Medium"/>
              <a:cs typeface="Montserrat Medium"/>
              <a:sym typeface="Montserrat Medium"/>
            </a:endParaRPr>
          </a:p>
        </p:txBody>
      </p:sp>
      <p:sp>
        <p:nvSpPr>
          <p:cNvPr id="405" name="Google Shape;405;p55"/>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sp>
        <p:nvSpPr>
          <p:cNvPr id="410" name="Google Shape;410;p56"/>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Pembahasan </a:t>
            </a:r>
            <a:r>
              <a:rPr lang="en">
                <a:latin typeface="Montserrat"/>
                <a:ea typeface="Montserrat"/>
                <a:cs typeface="Montserrat"/>
                <a:sym typeface="Montserrat"/>
              </a:rPr>
              <a:t>Quiz</a:t>
            </a:r>
            <a:endParaRPr/>
          </a:p>
        </p:txBody>
      </p:sp>
      <p:sp>
        <p:nvSpPr>
          <p:cNvPr id="411" name="Google Shape;411;p56"/>
          <p:cNvSpPr txBox="1"/>
          <p:nvPr/>
        </p:nvSpPr>
        <p:spPr>
          <a:xfrm>
            <a:off x="685800" y="1188720"/>
            <a:ext cx="7772400" cy="3200400"/>
          </a:xfrm>
          <a:prstGeom prst="rect">
            <a:avLst/>
          </a:prstGeom>
          <a:noFill/>
          <a:ln>
            <a:noFill/>
          </a:ln>
        </p:spPr>
        <p:txBody>
          <a:bodyPr anchorCtr="0" anchor="t" bIns="0" lIns="0" spcFirstLastPara="1" rIns="0" wrap="square" tIns="0">
            <a:noAutofit/>
          </a:bodyPr>
          <a:lstStyle/>
          <a:p>
            <a:pPr indent="0" lvl="0" marL="0" rtl="0" algn="just">
              <a:lnSpc>
                <a:spcPct val="115000"/>
              </a:lnSpc>
              <a:spcBef>
                <a:spcPts val="0"/>
              </a:spcBef>
              <a:spcAft>
                <a:spcPts val="0"/>
              </a:spcAft>
              <a:buNone/>
            </a:pPr>
            <a:r>
              <a:rPr b="1" lang="en" sz="1600">
                <a:solidFill>
                  <a:schemeClr val="accent1"/>
                </a:solidFill>
                <a:latin typeface="Montserrat"/>
                <a:ea typeface="Montserrat"/>
                <a:cs typeface="Montserrat"/>
                <a:sym typeface="Montserrat"/>
              </a:rPr>
              <a:t>5.</a:t>
            </a:r>
            <a:r>
              <a:rPr b="1" lang="en" sz="1600">
                <a:solidFill>
                  <a:schemeClr val="lt1"/>
                </a:solidFill>
                <a:latin typeface="Montserrat"/>
                <a:ea typeface="Montserrat"/>
                <a:cs typeface="Montserrat"/>
                <a:sym typeface="Montserrat"/>
              </a:rPr>
              <a:t> Dalam card sorting tertutup, kita diminta untuk mengatur masing-masing kartu…</a:t>
            </a:r>
            <a:endParaRPr b="1" sz="1600">
              <a:solidFill>
                <a:schemeClr val="lt1"/>
              </a:solidFill>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dan </a:t>
            </a:r>
            <a:r>
              <a:rPr lang="en" sz="1200">
                <a:solidFill>
                  <a:srgbClr val="A667A5"/>
                </a:solidFill>
                <a:latin typeface="Montserrat Medium"/>
                <a:ea typeface="Montserrat Medium"/>
                <a:cs typeface="Montserrat Medium"/>
                <a:sym typeface="Montserrat Medium"/>
              </a:rPr>
              <a:t>menamakan kartu-kartu tersebut.</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ke dalam kategori dan menamakan kategori tersebut.</a:t>
            </a:r>
            <a:endParaRPr sz="1200">
              <a:solidFill>
                <a:srgbClr val="A667A5"/>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0"/>
              </a:spcAft>
              <a:buClr>
                <a:schemeClr val="lt1"/>
              </a:buClr>
              <a:buSzPts val="1200"/>
              <a:buFont typeface="Montserrat Medium"/>
              <a:buAutoNum type="alphaUcPeriod"/>
            </a:pPr>
            <a:r>
              <a:rPr lang="en" sz="1200">
                <a:solidFill>
                  <a:schemeClr val="lt1"/>
                </a:solidFill>
                <a:latin typeface="Montserrat Medium"/>
                <a:ea typeface="Montserrat Medium"/>
                <a:cs typeface="Montserrat Medium"/>
                <a:sym typeface="Montserrat Medium"/>
              </a:rPr>
              <a:t>ke dalam kategori yang telah ditentukan.</a:t>
            </a:r>
            <a:endParaRPr sz="1200">
              <a:solidFill>
                <a:schemeClr val="lt1"/>
              </a:solidFill>
              <a:latin typeface="Montserrat Medium"/>
              <a:ea typeface="Montserrat Medium"/>
              <a:cs typeface="Montserrat Medium"/>
              <a:sym typeface="Montserrat Medium"/>
            </a:endParaRPr>
          </a:p>
          <a:p>
            <a:pPr indent="-304800" lvl="0" marL="457200" rtl="0" algn="just">
              <a:lnSpc>
                <a:spcPct val="115000"/>
              </a:lnSpc>
              <a:spcBef>
                <a:spcPts val="1000"/>
              </a:spcBef>
              <a:spcAft>
                <a:spcPts val="1000"/>
              </a:spcAft>
              <a:buClr>
                <a:srgbClr val="A667A5"/>
              </a:buClr>
              <a:buSzPts val="1200"/>
              <a:buFont typeface="Montserrat Medium"/>
              <a:buAutoNum type="alphaUcPeriod"/>
            </a:pPr>
            <a:r>
              <a:rPr lang="en" sz="1200">
                <a:solidFill>
                  <a:srgbClr val="A667A5"/>
                </a:solidFill>
                <a:latin typeface="Montserrat Medium"/>
                <a:ea typeface="Montserrat Medium"/>
                <a:cs typeface="Montserrat Medium"/>
                <a:sym typeface="Montserrat Medium"/>
              </a:rPr>
              <a:t>ke dalam </a:t>
            </a:r>
            <a:r>
              <a:rPr lang="en" sz="1200">
                <a:solidFill>
                  <a:srgbClr val="A667A5"/>
                </a:solidFill>
                <a:latin typeface="Montserrat Medium"/>
                <a:ea typeface="Montserrat Medium"/>
                <a:cs typeface="Montserrat Medium"/>
                <a:sym typeface="Montserrat Medium"/>
              </a:rPr>
              <a:t>kategori yang relevan. </a:t>
            </a:r>
            <a:endParaRPr sz="1200">
              <a:solidFill>
                <a:srgbClr val="A667A5"/>
              </a:solidFill>
              <a:latin typeface="Montserrat Medium"/>
              <a:ea typeface="Montserrat Medium"/>
              <a:cs typeface="Montserrat Medium"/>
              <a:sym typeface="Montserrat Medium"/>
            </a:endParaRPr>
          </a:p>
        </p:txBody>
      </p:sp>
      <p:sp>
        <p:nvSpPr>
          <p:cNvPr id="412" name="Google Shape;412;p56"/>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3" name="Google Shape;413;p56"/>
          <p:cNvSpPr/>
          <p:nvPr/>
        </p:nvSpPr>
        <p:spPr>
          <a:xfrm>
            <a:off x="685800" y="3564300"/>
            <a:ext cx="7772400" cy="727200"/>
          </a:xfrm>
          <a:prstGeom prst="rect">
            <a:avLst/>
          </a:prstGeom>
          <a:solidFill>
            <a:srgbClr val="F2AB2F"/>
          </a:solid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1100"/>
              <a:buFont typeface="Arial"/>
              <a:buNone/>
            </a:pPr>
            <a:r>
              <a:rPr b="1" lang="en" sz="1300">
                <a:solidFill>
                  <a:srgbClr val="743673"/>
                </a:solidFill>
                <a:latin typeface="Montserrat"/>
                <a:ea typeface="Montserrat"/>
                <a:cs typeface="Montserrat"/>
                <a:sym typeface="Montserrat"/>
              </a:rPr>
              <a:t>Dalam card sorting tertutup, kita </a:t>
            </a:r>
            <a:r>
              <a:rPr b="1" lang="en" sz="1300">
                <a:solidFill>
                  <a:srgbClr val="743673"/>
                </a:solidFill>
                <a:latin typeface="Montserrat"/>
                <a:ea typeface="Montserrat"/>
                <a:cs typeface="Montserrat"/>
                <a:sym typeface="Montserrat"/>
              </a:rPr>
              <a:t>diminta untuk mengatur masing-masing kartu yang ada ke dalam masing-masing kategori yang sudah ditentukan.</a:t>
            </a:r>
            <a:endParaRPr b="1" sz="1300">
              <a:solidFill>
                <a:srgbClr val="743673"/>
              </a:solidFill>
              <a:latin typeface="Raleway"/>
              <a:ea typeface="Raleway"/>
              <a:cs typeface="Raleway"/>
              <a:sym typeface="Raleway"/>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7" name="Shape 417"/>
        <p:cNvGrpSpPr/>
        <p:nvPr/>
      </p:nvGrpSpPr>
      <p:grpSpPr>
        <a:xfrm>
          <a:off x="0" y="0"/>
          <a:ext cx="0" cy="0"/>
          <a:chOff x="0" y="0"/>
          <a:chExt cx="0" cy="0"/>
        </a:xfrm>
      </p:grpSpPr>
      <p:sp>
        <p:nvSpPr>
          <p:cNvPr id="418" name="Google Shape;418;p57"/>
          <p:cNvSpPr txBox="1"/>
          <p:nvPr>
            <p:ph idx="12" type="sldNum"/>
          </p:nvPr>
        </p:nvSpPr>
        <p:spPr>
          <a:xfrm>
            <a:off x="8382000" y="4648200"/>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9" name="Google Shape;419;p57"/>
          <p:cNvSpPr txBox="1"/>
          <p:nvPr>
            <p:ph type="title"/>
          </p:nvPr>
        </p:nvSpPr>
        <p:spPr>
          <a:xfrm>
            <a:off x="685800" y="246888"/>
            <a:ext cx="4572000" cy="255900"/>
          </a:xfrm>
          <a:prstGeom prst="rect">
            <a:avLst/>
          </a:prstGeom>
        </p:spPr>
        <p:txBody>
          <a:bodyPr anchorCtr="0" anchor="ctr" bIns="91425" lIns="0" spcFirstLastPara="1" rIns="0" wrap="square" tIns="91425">
            <a:noAutofit/>
          </a:bodyPr>
          <a:lstStyle/>
          <a:p>
            <a:pPr indent="0" lvl="0" marL="0" rtl="0" algn="l">
              <a:spcBef>
                <a:spcPts val="0"/>
              </a:spcBef>
              <a:spcAft>
                <a:spcPts val="0"/>
              </a:spcAft>
              <a:buNone/>
            </a:pPr>
            <a:r>
              <a:rPr lang="en">
                <a:latin typeface="Montserrat"/>
                <a:ea typeface="Montserrat"/>
                <a:cs typeface="Montserrat"/>
                <a:sym typeface="Montserrat"/>
              </a:rPr>
              <a:t>Referensi dan bacaan lebih lanjut</a:t>
            </a:r>
            <a:endParaRPr>
              <a:latin typeface="Montserrat"/>
              <a:ea typeface="Montserrat"/>
              <a:cs typeface="Montserrat"/>
              <a:sym typeface="Montserrat"/>
            </a:endParaRPr>
          </a:p>
        </p:txBody>
      </p:sp>
      <p:pic>
        <p:nvPicPr>
          <p:cNvPr id="420" name="Google Shape;420;p57"/>
          <p:cNvPicPr preferRelativeResize="0"/>
          <p:nvPr/>
        </p:nvPicPr>
        <p:blipFill rotWithShape="1">
          <a:blip r:embed="rId3">
            <a:alphaModFix/>
          </a:blip>
          <a:srcRect b="0" l="0" r="0" t="0"/>
          <a:stretch/>
        </p:blipFill>
        <p:spPr>
          <a:xfrm>
            <a:off x="5638796" y="1097113"/>
            <a:ext cx="2743199" cy="3511629"/>
          </a:xfrm>
          <a:prstGeom prst="rect">
            <a:avLst/>
          </a:prstGeom>
          <a:noFill/>
          <a:ln>
            <a:noFill/>
          </a:ln>
        </p:spPr>
      </p:pic>
      <p:sp>
        <p:nvSpPr>
          <p:cNvPr id="421" name="Google Shape;421;p57"/>
          <p:cNvSpPr txBox="1"/>
          <p:nvPr/>
        </p:nvSpPr>
        <p:spPr>
          <a:xfrm>
            <a:off x="685800" y="1678725"/>
            <a:ext cx="3875700" cy="36576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1600"/>
              </a:spcBef>
              <a:spcAft>
                <a:spcPts val="0"/>
              </a:spcAft>
              <a:buClr>
                <a:srgbClr val="000000"/>
              </a:buClr>
              <a:buSzPts val="1400"/>
              <a:buFont typeface="Arial"/>
              <a:buNone/>
            </a:pPr>
            <a:r>
              <a:rPr b="1" lang="en" sz="1600">
                <a:solidFill>
                  <a:srgbClr val="743673"/>
                </a:solidFill>
                <a:highlight>
                  <a:schemeClr val="lt1"/>
                </a:highlight>
                <a:latin typeface="Montserrat"/>
                <a:ea typeface="Montserrat"/>
                <a:cs typeface="Montserrat"/>
                <a:sym typeface="Montserrat"/>
              </a:rPr>
              <a:t>Referensi dan bacaan lebih lanjut~</a:t>
            </a:r>
            <a:endParaRPr b="1" sz="1600">
              <a:solidFill>
                <a:srgbClr val="743673"/>
              </a:solidFill>
              <a:highlight>
                <a:schemeClr val="lt1"/>
              </a:highlight>
              <a:latin typeface="Montserrat"/>
              <a:ea typeface="Montserrat"/>
              <a:cs typeface="Montserrat"/>
              <a:sym typeface="Montserrat"/>
            </a:endParaRPr>
          </a:p>
          <a:p>
            <a:pPr indent="0" lvl="0" marL="0" rtl="0" algn="just">
              <a:lnSpc>
                <a:spcPct val="115000"/>
              </a:lnSpc>
              <a:spcBef>
                <a:spcPts val="0"/>
              </a:spcBef>
              <a:spcAft>
                <a:spcPts val="0"/>
              </a:spcAft>
              <a:buNone/>
            </a:pPr>
            <a:r>
              <a:t/>
            </a:r>
            <a:endParaRPr sz="1200">
              <a:solidFill>
                <a:schemeClr val="dk1"/>
              </a:solidFill>
              <a:latin typeface="Raleway Medium"/>
              <a:ea typeface="Raleway Medium"/>
              <a:cs typeface="Raleway Medium"/>
              <a:sym typeface="Raleway Medium"/>
            </a:endParaRPr>
          </a:p>
          <a:p>
            <a:pPr indent="0" lvl="0" marL="0" rtl="0" algn="just">
              <a:lnSpc>
                <a:spcPct val="115000"/>
              </a:lnSpc>
              <a:spcBef>
                <a:spcPts val="0"/>
              </a:spcBef>
              <a:spcAft>
                <a:spcPts val="0"/>
              </a:spcAft>
              <a:buNone/>
            </a:pPr>
            <a:r>
              <a:rPr lang="en" sz="1000">
                <a:solidFill>
                  <a:schemeClr val="dk1"/>
                </a:solidFill>
                <a:latin typeface="Montserrat"/>
                <a:ea typeface="Montserrat"/>
                <a:cs typeface="Montserrat"/>
                <a:sym typeface="Montserrat"/>
              </a:rPr>
              <a:t>1) </a:t>
            </a:r>
            <a:r>
              <a:rPr lang="en" sz="1000" u="sng">
                <a:solidFill>
                  <a:schemeClr val="dk1"/>
                </a:solidFill>
                <a:latin typeface="Montserrat"/>
                <a:ea typeface="Montserrat"/>
                <a:cs typeface="Montserrat"/>
                <a:sym typeface="Montserrat"/>
                <a:hlinkClick r:id="rId4">
                  <a:extLst>
                    <a:ext uri="{A12FA001-AC4F-418D-AE19-62706E023703}">
                      <ahyp:hlinkClr val="tx"/>
                    </a:ext>
                  </a:extLst>
                </a:hlinkClick>
              </a:rPr>
              <a:t>The life and timelines of research projects by UX </a:t>
            </a:r>
            <a:r>
              <a:rPr lang="en" sz="1000">
                <a:solidFill>
                  <a:schemeClr val="dk1"/>
                </a:solidFill>
                <a:uFill>
                  <a:noFill/>
                </a:uFill>
                <a:latin typeface="Montserrat"/>
                <a:ea typeface="Montserrat"/>
                <a:cs typeface="Montserrat"/>
                <a:sym typeface="Montserrat"/>
                <a:hlinkClick r:id="rId5">
                  <a:extLst>
                    <a:ext uri="{A12FA001-AC4F-418D-AE19-62706E023703}">
                      <ahyp:hlinkClr val="tx"/>
                    </a:ext>
                  </a:extLst>
                </a:hlinkClick>
              </a:rPr>
              <a:t> </a:t>
            </a:r>
            <a:r>
              <a:rPr lang="en" sz="1000" u="sng">
                <a:solidFill>
                  <a:schemeClr val="dk1"/>
                </a:solidFill>
                <a:latin typeface="Montserrat"/>
                <a:ea typeface="Montserrat"/>
                <a:cs typeface="Montserrat"/>
                <a:sym typeface="Montserrat"/>
                <a:hlinkClick r:id="rId6">
                  <a:extLst>
                    <a:ext uri="{A12FA001-AC4F-418D-AE19-62706E023703}">
                      <ahyp:hlinkClr val="tx"/>
                    </a:ext>
                  </a:extLst>
                </a:hlinkClick>
              </a:rPr>
              <a:t>Collective</a:t>
            </a:r>
            <a:endParaRPr sz="1000">
              <a:solidFill>
                <a:schemeClr val="dk1"/>
              </a:solidFill>
              <a:latin typeface="Montserrat"/>
              <a:ea typeface="Montserrat"/>
              <a:cs typeface="Montserrat"/>
              <a:sym typeface="Montserrat"/>
            </a:endParaRPr>
          </a:p>
          <a:p>
            <a:pPr indent="0" lvl="0" marL="0" rtl="0" algn="just">
              <a:lnSpc>
                <a:spcPct val="115000"/>
              </a:lnSpc>
              <a:spcBef>
                <a:spcPts val="1000"/>
              </a:spcBef>
              <a:spcAft>
                <a:spcPts val="0"/>
              </a:spcAft>
              <a:buNone/>
            </a:pPr>
            <a:r>
              <a:rPr lang="en" sz="1000">
                <a:solidFill>
                  <a:schemeClr val="dk1"/>
                </a:solidFill>
                <a:latin typeface="Montserrat"/>
                <a:ea typeface="Montserrat"/>
                <a:cs typeface="Montserrat"/>
                <a:sym typeface="Montserrat"/>
              </a:rPr>
              <a:t>2) </a:t>
            </a:r>
            <a:r>
              <a:rPr lang="en" sz="1000" u="sng">
                <a:solidFill>
                  <a:schemeClr val="dk1"/>
                </a:solidFill>
                <a:latin typeface="Montserrat"/>
                <a:ea typeface="Montserrat"/>
                <a:cs typeface="Montserrat"/>
                <a:sym typeface="Montserrat"/>
                <a:hlinkClick r:id="rId7">
                  <a:extLst>
                    <a:ext uri="{A12FA001-AC4F-418D-AE19-62706E023703}">
                      <ahyp:hlinkClr val="tx"/>
                    </a:ext>
                  </a:extLst>
                </a:hlinkClick>
              </a:rPr>
              <a:t>A breakdown of UX research types by UX Collective</a:t>
            </a:r>
            <a:endParaRPr sz="1000">
              <a:solidFill>
                <a:schemeClr val="dk1"/>
              </a:solidFill>
              <a:latin typeface="Montserrat"/>
              <a:ea typeface="Montserrat"/>
              <a:cs typeface="Montserrat"/>
              <a:sym typeface="Montserrat"/>
            </a:endParaRPr>
          </a:p>
          <a:p>
            <a:pPr indent="-171450" lvl="0" marL="171450" rtl="0" algn="just">
              <a:lnSpc>
                <a:spcPct val="115000"/>
              </a:lnSpc>
              <a:spcBef>
                <a:spcPts val="1000"/>
              </a:spcBef>
              <a:spcAft>
                <a:spcPts val="1000"/>
              </a:spcAft>
              <a:buNone/>
            </a:pPr>
            <a:r>
              <a:rPr lang="en" sz="1000">
                <a:solidFill>
                  <a:schemeClr val="dk1"/>
                </a:solidFill>
                <a:latin typeface="Montserrat"/>
                <a:ea typeface="Montserrat"/>
                <a:cs typeface="Montserrat"/>
                <a:sym typeface="Montserrat"/>
              </a:rPr>
              <a:t>3) </a:t>
            </a:r>
            <a:r>
              <a:rPr lang="en" sz="1000" u="sng">
                <a:solidFill>
                  <a:schemeClr val="dk1"/>
                </a:solidFill>
                <a:latin typeface="Montserrat"/>
                <a:ea typeface="Montserrat"/>
                <a:cs typeface="Montserrat"/>
                <a:sym typeface="Montserrat"/>
                <a:hlinkClick r:id="rId8">
                  <a:extLst>
                    <a:ext uri="{A12FA001-AC4F-418D-AE19-62706E023703}">
                      <ahyp:hlinkClr val="tx"/>
                    </a:ext>
                  </a:extLst>
                </a:hlinkClick>
              </a:rPr>
              <a:t>Generative vs. evaluation research: what’s the difference and why do we need each? By usertesting.com</a:t>
            </a:r>
            <a:endParaRPr sz="1000">
              <a:solidFill>
                <a:schemeClr val="dk1"/>
              </a:solidFill>
              <a:latin typeface="Montserrat"/>
              <a:ea typeface="Montserrat"/>
              <a:cs typeface="Montserrat"/>
              <a:sym typeface="Montserrat"/>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43673"/>
        </a:solidFill>
      </p:bgPr>
    </p:bg>
    <p:spTree>
      <p:nvGrpSpPr>
        <p:cNvPr id="425" name="Shape 425"/>
        <p:cNvGrpSpPr/>
        <p:nvPr/>
      </p:nvGrpSpPr>
      <p:grpSpPr>
        <a:xfrm>
          <a:off x="0" y="0"/>
          <a:ext cx="0" cy="0"/>
          <a:chOff x="0" y="0"/>
          <a:chExt cx="0" cy="0"/>
        </a:xfrm>
      </p:grpSpPr>
      <p:sp>
        <p:nvSpPr>
          <p:cNvPr id="426" name="Google Shape;426;p58"/>
          <p:cNvSpPr txBox="1"/>
          <p:nvPr/>
        </p:nvSpPr>
        <p:spPr>
          <a:xfrm>
            <a:off x="618375" y="1630075"/>
            <a:ext cx="4018800" cy="2431500"/>
          </a:xfrm>
          <a:prstGeom prst="rect">
            <a:avLst/>
          </a:prstGeom>
          <a:noFill/>
          <a:ln>
            <a:noFill/>
          </a:ln>
        </p:spPr>
        <p:txBody>
          <a:bodyPr anchorCtr="0" anchor="ctr" bIns="91425" lIns="91425" spcFirstLastPara="1" rIns="91425" wrap="square" tIns="91425">
            <a:noAutofit/>
          </a:bodyPr>
          <a:lstStyle/>
          <a:p>
            <a:pPr indent="0" lvl="0" marL="0" rtl="0" algn="just">
              <a:lnSpc>
                <a:spcPct val="115000"/>
              </a:lnSpc>
              <a:spcBef>
                <a:spcPts val="0"/>
              </a:spcBef>
              <a:spcAft>
                <a:spcPts val="0"/>
              </a:spcAft>
              <a:buClr>
                <a:schemeClr val="dk1"/>
              </a:buClr>
              <a:buSzPts val="4000"/>
              <a:buFont typeface="Arial"/>
              <a:buNone/>
            </a:pPr>
            <a:r>
              <a:rPr b="1" lang="en">
                <a:solidFill>
                  <a:schemeClr val="lt1"/>
                </a:solidFill>
                <a:latin typeface="Montserrat"/>
                <a:ea typeface="Montserrat"/>
                <a:cs typeface="Montserrat"/>
                <a:sym typeface="Montserrat"/>
              </a:rPr>
              <a:t>Nah, selesai sudah pembahasan kita di Chapter 2 Topic 5 ini. Pembahasan ini sekaligus menutup chapter 2, lho!</a:t>
            </a:r>
            <a:endParaRPr b="1">
              <a:solidFill>
                <a:schemeClr val="lt1"/>
              </a:solidFill>
              <a:latin typeface="Montserrat"/>
              <a:ea typeface="Montserrat"/>
              <a:cs typeface="Montserrat"/>
              <a:sym typeface="Montserrat"/>
            </a:endParaRPr>
          </a:p>
          <a:p>
            <a:pPr indent="0" lvl="0" marL="0" rtl="0" algn="just">
              <a:lnSpc>
                <a:spcPct val="115000"/>
              </a:lnSpc>
              <a:spcBef>
                <a:spcPts val="1000"/>
              </a:spcBef>
              <a:spcAft>
                <a:spcPts val="1000"/>
              </a:spcAft>
              <a:buClr>
                <a:schemeClr val="dk1"/>
              </a:buClr>
              <a:buSzPts val="4000"/>
              <a:buFont typeface="Arial"/>
              <a:buNone/>
            </a:pPr>
            <a:r>
              <a:rPr b="1" lang="en">
                <a:solidFill>
                  <a:schemeClr val="lt1"/>
                </a:solidFill>
                <a:latin typeface="Montserrat"/>
                <a:ea typeface="Montserrat"/>
                <a:cs typeface="Montserrat"/>
                <a:sym typeface="Montserrat"/>
              </a:rPr>
              <a:t>Sampai ketemu di chapter selanjutnya yaa~</a:t>
            </a:r>
            <a:endParaRPr b="1">
              <a:solidFill>
                <a:schemeClr val="lt1"/>
              </a:solidFill>
              <a:latin typeface="Montserrat"/>
              <a:ea typeface="Montserrat"/>
              <a:cs typeface="Montserrat"/>
              <a:sym typeface="Montserrat"/>
            </a:endParaRPr>
          </a:p>
        </p:txBody>
      </p:sp>
      <p:pic>
        <p:nvPicPr>
          <p:cNvPr id="427" name="Google Shape;427;p58"/>
          <p:cNvPicPr preferRelativeResize="0"/>
          <p:nvPr/>
        </p:nvPicPr>
        <p:blipFill>
          <a:blip r:embed="rId3">
            <a:alphaModFix/>
          </a:blip>
          <a:stretch>
            <a:fillRect/>
          </a:stretch>
        </p:blipFill>
        <p:spPr>
          <a:xfrm>
            <a:off x="4114431" y="676725"/>
            <a:ext cx="5687844" cy="4338199"/>
          </a:xfrm>
          <a:prstGeom prst="rect">
            <a:avLst/>
          </a:prstGeom>
          <a:noFill/>
          <a:ln>
            <a:noFill/>
          </a:ln>
        </p:spPr>
      </p:pic>
      <p:sp>
        <p:nvSpPr>
          <p:cNvPr id="428" name="Google Shape;428;p58"/>
          <p:cNvSpPr/>
          <p:nvPr/>
        </p:nvSpPr>
        <p:spPr>
          <a:xfrm flipH="1" rot="5400000">
            <a:off x="4303949" y="-4204126"/>
            <a:ext cx="536100" cy="9144000"/>
          </a:xfrm>
          <a:prstGeom prst="rect">
            <a:avLst/>
          </a:prstGeom>
          <a:solidFill>
            <a:srgbClr val="A667A5"/>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29" name="Google Shape;429;p58"/>
          <p:cNvSpPr/>
          <p:nvPr/>
        </p:nvSpPr>
        <p:spPr>
          <a:xfrm flipH="1" rot="5400000">
            <a:off x="8499899" y="-8176"/>
            <a:ext cx="536100" cy="752100"/>
          </a:xfrm>
          <a:prstGeom prst="rect">
            <a:avLst/>
          </a:prstGeom>
          <a:solidFill>
            <a:srgbClr val="421E44"/>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30" name="Google Shape;430;p58"/>
          <p:cNvSpPr/>
          <p:nvPr/>
        </p:nvSpPr>
        <p:spPr>
          <a:xfrm flipH="1" rot="5400000">
            <a:off x="6854930" y="200173"/>
            <a:ext cx="536100" cy="335400"/>
          </a:xfrm>
          <a:prstGeom prst="rect">
            <a:avLst/>
          </a:prstGeom>
          <a:solidFill>
            <a:srgbClr val="743673"/>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31" name="Google Shape;431;p58"/>
          <p:cNvSpPr/>
          <p:nvPr/>
        </p:nvSpPr>
        <p:spPr>
          <a:xfrm flipH="1" rot="5400000">
            <a:off x="7564580" y="-191328"/>
            <a:ext cx="536100" cy="1118400"/>
          </a:xfrm>
          <a:prstGeom prst="rect">
            <a:avLst/>
          </a:prstGeom>
          <a:solidFill>
            <a:srgbClr val="512252"/>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Calibri"/>
              <a:buNone/>
            </a:pPr>
            <a:r>
              <a:t/>
            </a:r>
            <a:endParaRPr b="0" i="0" sz="1400" u="none" cap="none" strike="noStrike">
              <a:solidFill>
                <a:srgbClr val="FFFFFF"/>
              </a:solidFill>
              <a:latin typeface="Calibri"/>
              <a:ea typeface="Calibri"/>
              <a:cs typeface="Calibri"/>
              <a:sym typeface="Calibri"/>
            </a:endParaRPr>
          </a:p>
        </p:txBody>
      </p:sp>
      <p:sp>
        <p:nvSpPr>
          <p:cNvPr id="432" name="Google Shape;432;p58"/>
          <p:cNvSpPr/>
          <p:nvPr/>
        </p:nvSpPr>
        <p:spPr>
          <a:xfrm>
            <a:off x="283668" y="252225"/>
            <a:ext cx="1620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33" name="Google Shape;433;p58"/>
          <p:cNvSpPr/>
          <p:nvPr/>
        </p:nvSpPr>
        <p:spPr>
          <a:xfrm>
            <a:off x="465569" y="251687"/>
            <a:ext cx="44100" cy="1620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pic>
        <p:nvPicPr>
          <p:cNvPr id="434" name="Google Shape;434;p58"/>
          <p:cNvPicPr preferRelativeResize="0"/>
          <p:nvPr/>
        </p:nvPicPr>
        <p:blipFill rotWithShape="1">
          <a:blip r:embed="rId4">
            <a:alphaModFix/>
          </a:blip>
          <a:srcRect b="0" l="0" r="0" t="0"/>
          <a:stretch/>
        </p:blipFill>
        <p:spPr>
          <a:xfrm>
            <a:off x="8535950" y="105991"/>
            <a:ext cx="463928" cy="463928"/>
          </a:xfrm>
          <a:prstGeom prst="rect">
            <a:avLst/>
          </a:prstGeom>
          <a:noFill/>
          <a:ln>
            <a:noFill/>
          </a:ln>
        </p:spPr>
      </p:pic>
      <p:sp>
        <p:nvSpPr>
          <p:cNvPr id="435" name="Google Shape;435;p58"/>
          <p:cNvSpPr/>
          <p:nvPr/>
        </p:nvSpPr>
        <p:spPr>
          <a:xfrm>
            <a:off x="283670" y="433867"/>
            <a:ext cx="225900" cy="40800"/>
          </a:xfrm>
          <a:prstGeom prst="rect">
            <a:avLst/>
          </a:prstGeom>
          <a:solidFill>
            <a:srgbClr val="F2AB2F"/>
          </a:solidFill>
          <a:ln>
            <a:noFill/>
          </a:ln>
        </p:spPr>
        <p:txBody>
          <a:bodyPr anchorCtr="0" anchor="ctr" bIns="34275" lIns="34275" spcFirstLastPara="1" rIns="34275" wrap="square" tIns="34275">
            <a:noAutofit/>
          </a:bodyPr>
          <a:lstStyle/>
          <a:p>
            <a:pPr indent="0" lvl="0" marL="0" marR="0" rtl="0" algn="l">
              <a:lnSpc>
                <a:spcPct val="100000"/>
              </a:lnSpc>
              <a:spcBef>
                <a:spcPts val="0"/>
              </a:spcBef>
              <a:spcAft>
                <a:spcPts val="0"/>
              </a:spcAft>
              <a:buClr>
                <a:srgbClr val="000000"/>
              </a:buClr>
              <a:buSzPts val="1400"/>
              <a:buFont typeface="Calibri"/>
              <a:buNone/>
            </a:pPr>
            <a:r>
              <a:t/>
            </a:r>
            <a:endParaRPr b="0" i="0" sz="1400" u="none" cap="none" strike="noStrike">
              <a:solidFill>
                <a:srgbClr val="000000"/>
              </a:solidFill>
              <a:latin typeface="Calibri"/>
              <a:ea typeface="Calibri"/>
              <a:cs typeface="Calibri"/>
              <a:sym typeface="Calibri"/>
            </a:endParaRPr>
          </a:p>
        </p:txBody>
      </p:sp>
      <p:sp>
        <p:nvSpPr>
          <p:cNvPr id="436" name="Google Shape;436;p58"/>
          <p:cNvSpPr txBox="1"/>
          <p:nvPr/>
        </p:nvSpPr>
        <p:spPr>
          <a:xfrm>
            <a:off x="618377" y="251687"/>
            <a:ext cx="7296000" cy="230700"/>
          </a:xfrm>
          <a:prstGeom prst="rect">
            <a:avLst/>
          </a:prstGeom>
          <a:noFill/>
          <a:ln>
            <a:noFill/>
          </a:ln>
        </p:spPr>
        <p:txBody>
          <a:bodyPr anchorCtr="0" anchor="t" bIns="34275" lIns="68575" spcFirstLastPara="1" rIns="68575" wrap="square" tIns="34275">
            <a:noAutofit/>
          </a:bodyPr>
          <a:lstStyle/>
          <a:p>
            <a:pPr indent="0" lvl="0" marL="0" rtl="0" algn="l">
              <a:spcBef>
                <a:spcPts val="0"/>
              </a:spcBef>
              <a:spcAft>
                <a:spcPts val="0"/>
              </a:spcAft>
              <a:buClr>
                <a:schemeClr val="dk1"/>
              </a:buClr>
              <a:buSzPts val="1100"/>
              <a:buFont typeface="Arial"/>
              <a:buNone/>
            </a:pPr>
            <a:r>
              <a:rPr b="1" lang="en" sz="1200">
                <a:solidFill>
                  <a:schemeClr val="lt1"/>
                </a:solidFill>
                <a:latin typeface="Montserrat"/>
                <a:ea typeface="Montserrat"/>
                <a:cs typeface="Montserrat"/>
                <a:sym typeface="Montserrat"/>
              </a:rPr>
              <a:t>Penutup</a:t>
            </a:r>
            <a:endParaRPr b="1" sz="1200">
              <a:solidFill>
                <a:schemeClr val="lt1"/>
              </a:solidFill>
              <a:latin typeface="Montserrat"/>
              <a:ea typeface="Montserrat"/>
              <a:cs typeface="Montserrat"/>
              <a:sym typeface="Montserrat"/>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733572"/>
        </a:solidFill>
      </p:bgPr>
    </p:bg>
    <p:spTree>
      <p:nvGrpSpPr>
        <p:cNvPr id="440" name="Shape 440"/>
        <p:cNvGrpSpPr/>
        <p:nvPr/>
      </p:nvGrpSpPr>
      <p:grpSpPr>
        <a:xfrm>
          <a:off x="0" y="0"/>
          <a:ext cx="0" cy="0"/>
          <a:chOff x="0" y="0"/>
          <a:chExt cx="0" cy="0"/>
        </a:xfrm>
      </p:grpSpPr>
      <p:sp>
        <p:nvSpPr>
          <p:cNvPr id="441" name="Google Shape;441;p59"/>
          <p:cNvSpPr/>
          <p:nvPr/>
        </p:nvSpPr>
        <p:spPr>
          <a:xfrm>
            <a:off x="0" y="3825400"/>
            <a:ext cx="9144000" cy="1389600"/>
          </a:xfrm>
          <a:prstGeom prst="rect">
            <a:avLst/>
          </a:prstGeom>
          <a:solidFill>
            <a:srgbClr val="F4B71C"/>
          </a:solidFill>
          <a:ln cap="flat" cmpd="sng" w="9525">
            <a:solidFill>
              <a:srgbClr val="59595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42" name="Google Shape;442;p59"/>
          <p:cNvPicPr preferRelativeResize="0"/>
          <p:nvPr/>
        </p:nvPicPr>
        <p:blipFill rotWithShape="1">
          <a:blip r:embed="rId3">
            <a:alphaModFix/>
          </a:blip>
          <a:srcRect b="0" l="0" r="13247" t="0"/>
          <a:stretch/>
        </p:blipFill>
        <p:spPr>
          <a:xfrm>
            <a:off x="7987325" y="4075701"/>
            <a:ext cx="709350" cy="817600"/>
          </a:xfrm>
          <a:prstGeom prst="rect">
            <a:avLst/>
          </a:prstGeom>
          <a:noFill/>
          <a:ln>
            <a:noFill/>
          </a:ln>
        </p:spPr>
      </p:pic>
      <p:pic>
        <p:nvPicPr>
          <p:cNvPr id="443" name="Google Shape;443;p59"/>
          <p:cNvPicPr preferRelativeResize="0"/>
          <p:nvPr/>
        </p:nvPicPr>
        <p:blipFill>
          <a:blip r:embed="rId4">
            <a:alphaModFix/>
          </a:blip>
          <a:stretch>
            <a:fillRect/>
          </a:stretch>
        </p:blipFill>
        <p:spPr>
          <a:xfrm>
            <a:off x="10903550" y="914410"/>
            <a:ext cx="1991475" cy="685884"/>
          </a:xfrm>
          <a:prstGeom prst="rect">
            <a:avLst/>
          </a:prstGeom>
          <a:noFill/>
          <a:ln>
            <a:noFill/>
          </a:ln>
        </p:spPr>
      </p:pic>
      <p:pic>
        <p:nvPicPr>
          <p:cNvPr id="444" name="Google Shape;444;p59"/>
          <p:cNvPicPr preferRelativeResize="0"/>
          <p:nvPr/>
        </p:nvPicPr>
        <p:blipFill>
          <a:blip r:embed="rId5">
            <a:alphaModFix/>
          </a:blip>
          <a:stretch>
            <a:fillRect/>
          </a:stretch>
        </p:blipFill>
        <p:spPr>
          <a:xfrm>
            <a:off x="428225" y="4140630"/>
            <a:ext cx="1991475" cy="687732"/>
          </a:xfrm>
          <a:prstGeom prst="rect">
            <a:avLst/>
          </a:prstGeom>
          <a:noFill/>
          <a:ln>
            <a:noFill/>
          </a:ln>
        </p:spPr>
      </p:pic>
      <p:pic>
        <p:nvPicPr>
          <p:cNvPr id="445" name="Google Shape;445;p59"/>
          <p:cNvPicPr preferRelativeResize="0"/>
          <p:nvPr/>
        </p:nvPicPr>
        <p:blipFill>
          <a:blip r:embed="rId6">
            <a:alphaModFix/>
          </a:blip>
          <a:stretch>
            <a:fillRect/>
          </a:stretch>
        </p:blipFill>
        <p:spPr>
          <a:xfrm>
            <a:off x="1734050" y="469336"/>
            <a:ext cx="5675902" cy="4204828"/>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