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y="5143500" cx="9144000"/>
  <p:notesSz cx="6858000" cy="9144000"/>
  <p:embeddedFontLst>
    <p:embeddedFont>
      <p:font typeface="Raleway"/>
      <p:regular r:id="rId53"/>
      <p:bold r:id="rId54"/>
      <p:italic r:id="rId55"/>
      <p:boldItalic r:id="rId56"/>
    </p:embeddedFont>
    <p:embeddedFont>
      <p:font typeface="Montserrat"/>
      <p:regular r:id="rId57"/>
      <p:bold r:id="rId58"/>
      <p:italic r:id="rId59"/>
      <p:boldItalic r:id="rId60"/>
    </p:embeddedFont>
    <p:embeddedFont>
      <p:font typeface="Montserrat Medium"/>
      <p:regular r:id="rId61"/>
      <p:bold r:id="rId62"/>
      <p:italic r:id="rId63"/>
      <p:boldItalic r:id="rId64"/>
    </p:embeddedFont>
    <p:embeddedFont>
      <p:font typeface="Lato Black"/>
      <p:bold r:id="rId65"/>
      <p:boldItalic r:id="rId66"/>
    </p:embeddedFont>
    <p:embeddedFont>
      <p:font typeface="Raleway Medium"/>
      <p:regular r:id="rId67"/>
      <p:bold r:id="rId68"/>
      <p:italic r:id="rId69"/>
      <p:boldItalic r:id="rId70"/>
    </p:embeddedFont>
    <p:embeddedFont>
      <p:font typeface="Montserrat ExtraBold"/>
      <p:bold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AL) Aulia F. Kuntjoro"/>
  <p:cmAuthor clrIdx="1" id="1" initials="" lastIdx="1" name="Mursal Maherul"/>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2" Type="http://schemas.openxmlformats.org/officeDocument/2006/relationships/font" Target="fonts/MontserratExtraBold-boldItalic.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MontserratExtraBold-bold.fntdata"/><Relationship Id="rId70" Type="http://schemas.openxmlformats.org/officeDocument/2006/relationships/font" Target="fonts/RalewayMedium-bold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MontserratMedium-bold.fntdata"/><Relationship Id="rId61" Type="http://schemas.openxmlformats.org/officeDocument/2006/relationships/font" Target="fonts/MontserratMedium-regular.fntdata"/><Relationship Id="rId20" Type="http://schemas.openxmlformats.org/officeDocument/2006/relationships/slide" Target="slides/slide14.xml"/><Relationship Id="rId64" Type="http://schemas.openxmlformats.org/officeDocument/2006/relationships/font" Target="fonts/MontserratMedium-boldItalic.fntdata"/><Relationship Id="rId63" Type="http://schemas.openxmlformats.org/officeDocument/2006/relationships/font" Target="fonts/MontserratMedium-italic.fntdata"/><Relationship Id="rId22" Type="http://schemas.openxmlformats.org/officeDocument/2006/relationships/slide" Target="slides/slide16.xml"/><Relationship Id="rId66" Type="http://schemas.openxmlformats.org/officeDocument/2006/relationships/font" Target="fonts/LatoBlack-boldItalic.fntdata"/><Relationship Id="rId21" Type="http://schemas.openxmlformats.org/officeDocument/2006/relationships/slide" Target="slides/slide15.xml"/><Relationship Id="rId65" Type="http://schemas.openxmlformats.org/officeDocument/2006/relationships/font" Target="fonts/LatoBlack-bold.fntdata"/><Relationship Id="rId24" Type="http://schemas.openxmlformats.org/officeDocument/2006/relationships/slide" Target="slides/slide18.xml"/><Relationship Id="rId68" Type="http://schemas.openxmlformats.org/officeDocument/2006/relationships/font" Target="fonts/RalewayMedium-bold.fntdata"/><Relationship Id="rId23" Type="http://schemas.openxmlformats.org/officeDocument/2006/relationships/slide" Target="slides/slide17.xml"/><Relationship Id="rId67" Type="http://schemas.openxmlformats.org/officeDocument/2006/relationships/font" Target="fonts/RalewayMedium-regular.fntdata"/><Relationship Id="rId60" Type="http://schemas.openxmlformats.org/officeDocument/2006/relationships/font" Target="fonts/Montserrat-boldItalic.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RalewayMedium-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font" Target="fonts/Raleway-regular.fntdata"/><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Raleway-italic.fntdata"/><Relationship Id="rId10" Type="http://schemas.openxmlformats.org/officeDocument/2006/relationships/slide" Target="slides/slide4.xml"/><Relationship Id="rId54" Type="http://schemas.openxmlformats.org/officeDocument/2006/relationships/font" Target="fonts/Raleway-bold.fntdata"/><Relationship Id="rId13" Type="http://schemas.openxmlformats.org/officeDocument/2006/relationships/slide" Target="slides/slide7.xml"/><Relationship Id="rId57" Type="http://schemas.openxmlformats.org/officeDocument/2006/relationships/font" Target="fonts/Montserrat-regular.fntdata"/><Relationship Id="rId12" Type="http://schemas.openxmlformats.org/officeDocument/2006/relationships/slide" Target="slides/slide6.xml"/><Relationship Id="rId56" Type="http://schemas.openxmlformats.org/officeDocument/2006/relationships/font" Target="fonts/Raleway-boldItalic.fntdata"/><Relationship Id="rId15" Type="http://schemas.openxmlformats.org/officeDocument/2006/relationships/slide" Target="slides/slide9.xml"/><Relationship Id="rId59" Type="http://schemas.openxmlformats.org/officeDocument/2006/relationships/font" Target="fonts/Montserrat-italic.fntdata"/><Relationship Id="rId14" Type="http://schemas.openxmlformats.org/officeDocument/2006/relationships/slide" Target="slides/slide8.xml"/><Relationship Id="rId58" Type="http://schemas.openxmlformats.org/officeDocument/2006/relationships/font" Target="fonts/Montserrat-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2-02-16T11:02:07.809">
    <p:pos x="432" y="912"/>
    <p:text>perbaiki highlight.</p:text>
  </p:cm>
  <p:cm authorId="1" idx="1" dt="2022-02-16T11:02:07.809">
    <p:pos x="432" y="912"/>
    <p:text>done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2-02-16T09:35:31.865">
    <p:pos x="432" y="912"/>
    <p:text>Aku kasi contoh yang aku perbaiki di slide selanjutnya.</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2-02-16T09:41:49.932">
    <p:pos x="432" y="863"/>
    <p:text>AAA INI KEREN IDENYA SIAPA INI???</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oshcala?utm_source=unsplash&amp;utm_medium=referral&amp;utm_content=creditCopyText" TargetMode="External"/><Relationship Id="rId3" Type="http://schemas.openxmlformats.org/officeDocument/2006/relationships/hyperlink" Target="https://unsplash.com/@joshcala?utm_source=unsplash&amp;utm_medium=referral&amp;utm_content=creditCopyText" TargetMode="External"/><Relationship Id="rId4" Type="http://schemas.openxmlformats.org/officeDocument/2006/relationships/hyperlink" Target="https://unsplash.com/s/photos/empathy?utm_source=unsplash&amp;utm_medium=referral&amp;utm_content=creditCopyText" TargetMode="External"/><Relationship Id="rId5" Type="http://schemas.openxmlformats.org/officeDocument/2006/relationships/hyperlink" Target="https://unsplash.com/s/photos/empathy?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empathy-info-ux?utm_source=unsplash&amp;utm_medium=referral&amp;utm_content=creditCopyText" TargetMode="External"/><Relationship Id="rId5" Type="http://schemas.openxmlformats.org/officeDocument/2006/relationships/hyperlink" Target="https://unsplash.com/s/photos/empathy-info-ux?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empathy-info-ux?utm_source=unsplash&amp;utm_medium=referral&amp;utm_content=creditCopyText" TargetMode="External"/><Relationship Id="rId5" Type="http://schemas.openxmlformats.org/officeDocument/2006/relationships/hyperlink" Target="https://unsplash.com/s/photos/empathy-info-ux?utm_source=unsplash&amp;utm_medium=referral&amp;utm_content=creditCopyTex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empathy-info-ux?utm_source=unsplash&amp;utm_medium=referral&amp;utm_content=creditCopyText" TargetMode="External"/><Relationship Id="rId5" Type="http://schemas.openxmlformats.org/officeDocument/2006/relationships/hyperlink" Target="https://unsplash.com/s/photos/empathy-info-ux?utm_source=unsplash&amp;utm_medium=referral&amp;utm_content=creditCopyText"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upernov?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reddymarschall?utm_source=unsplash&amp;utm_medium=referral&amp;utm_content=creditCopyText" TargetMode="External"/><Relationship Id="rId3" Type="http://schemas.openxmlformats.org/officeDocument/2006/relationships/hyperlink" Target="https://unsplash.com/@freddymarschall?utm_source=unsplash&amp;utm_medium=referral&amp;utm_content=creditCopyText" TargetMode="External"/><Relationship Id="rId4" Type="http://schemas.openxmlformats.org/officeDocument/2006/relationships/hyperlink" Target="https://unsplash.com/s/photos/observe?utm_source=unsplash&amp;utm_medium=referral&amp;utm_content=creditCopyText" TargetMode="External"/><Relationship Id="rId5" Type="http://schemas.openxmlformats.org/officeDocument/2006/relationships/hyperlink" Target="https://unsplash.com/s/photos/observe?utm_source=unsplash&amp;utm_medium=referral&amp;utm_content=creditCopyText"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reddymarschall?utm_source=unsplash&amp;utm_medium=referral&amp;utm_content=creditCopyText" TargetMode="External"/><Relationship Id="rId3" Type="http://schemas.openxmlformats.org/officeDocument/2006/relationships/hyperlink" Target="https://unsplash.com/@freddymarschall?utm_source=unsplash&amp;utm_medium=referral&amp;utm_content=creditCopyText" TargetMode="External"/><Relationship Id="rId4" Type="http://schemas.openxmlformats.org/officeDocument/2006/relationships/hyperlink" Target="https://unsplash.com/s/photos/observe?utm_source=unsplash&amp;utm_medium=referral&amp;utm_content=creditCopyText" TargetMode="External"/><Relationship Id="rId5" Type="http://schemas.openxmlformats.org/officeDocument/2006/relationships/hyperlink" Target="https://unsplash.com/s/photos/observe?utm_source=unsplash&amp;utm_medium=referral&amp;utm_content=creditCopyText"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reddymarschall?utm_source=unsplash&amp;utm_medium=referral&amp;utm_content=creditCopyText" TargetMode="External"/><Relationship Id="rId3" Type="http://schemas.openxmlformats.org/officeDocument/2006/relationships/hyperlink" Target="https://unsplash.com/@freddymarschall?utm_source=unsplash&amp;utm_medium=referral&amp;utm_content=creditCopyText" TargetMode="External"/><Relationship Id="rId4" Type="http://schemas.openxmlformats.org/officeDocument/2006/relationships/hyperlink" Target="https://unsplash.com/s/photos/observe?utm_source=unsplash&amp;utm_medium=referral&amp;utm_content=creditCopyText" TargetMode="External"/><Relationship Id="rId5" Type="http://schemas.openxmlformats.org/officeDocument/2006/relationships/hyperlink" Target="https://unsplash.com/s/photos/observe?utm_source=unsplash&amp;utm_medium=referral&amp;utm_content=creditCopyText"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reddymarschall?utm_source=unsplash&amp;utm_medium=referral&amp;utm_content=creditCopyText" TargetMode="External"/><Relationship Id="rId3" Type="http://schemas.openxmlformats.org/officeDocument/2006/relationships/hyperlink" Target="https://unsplash.com/@freddymarschall?utm_source=unsplash&amp;utm_medium=referral&amp;utm_content=creditCopyText" TargetMode="External"/><Relationship Id="rId4" Type="http://schemas.openxmlformats.org/officeDocument/2006/relationships/hyperlink" Target="https://unsplash.com/s/photos/observe?utm_source=unsplash&amp;utm_medium=referral&amp;utm_content=creditCopyText" TargetMode="External"/><Relationship Id="rId5" Type="http://schemas.openxmlformats.org/officeDocument/2006/relationships/hyperlink" Target="https://unsplash.com/s/photos/observe?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reddymarschall?utm_source=unsplash&amp;utm_medium=referral&amp;utm_content=creditCopyText" TargetMode="External"/><Relationship Id="rId3" Type="http://schemas.openxmlformats.org/officeDocument/2006/relationships/hyperlink" Target="https://unsplash.com/@freddymarschall?utm_source=unsplash&amp;utm_medium=referral&amp;utm_content=creditCopyText" TargetMode="External"/><Relationship Id="rId4" Type="http://schemas.openxmlformats.org/officeDocument/2006/relationships/hyperlink" Target="https://unsplash.com/s/photos/observe?utm_source=unsplash&amp;utm_medium=referral&amp;utm_content=creditCopyText" TargetMode="External"/><Relationship Id="rId5" Type="http://schemas.openxmlformats.org/officeDocument/2006/relationships/hyperlink" Target="https://unsplash.com/s/photos/observe?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reddymarschall?utm_source=unsplash&amp;utm_medium=referral&amp;utm_content=creditCopyText" TargetMode="External"/><Relationship Id="rId3" Type="http://schemas.openxmlformats.org/officeDocument/2006/relationships/hyperlink" Target="https://unsplash.com/@freddymarschall?utm_source=unsplash&amp;utm_medium=referral&amp;utm_content=creditCopyText" TargetMode="External"/><Relationship Id="rId4" Type="http://schemas.openxmlformats.org/officeDocument/2006/relationships/hyperlink" Target="https://unsplash.com/s/photos/observe?utm_source=unsplash&amp;utm_medium=referral&amp;utm_content=creditCopyText" TargetMode="External"/><Relationship Id="rId5" Type="http://schemas.openxmlformats.org/officeDocument/2006/relationships/hyperlink" Target="https://unsplash.com/s/photos/observe?utm_source=unsplash&amp;utm_medium=referral&amp;utm_content=creditCopyText"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reddymarschall?utm_source=unsplash&amp;utm_medium=referral&amp;utm_content=creditCopyText" TargetMode="External"/><Relationship Id="rId3" Type="http://schemas.openxmlformats.org/officeDocument/2006/relationships/hyperlink" Target="https://unsplash.com/@freddymarschall?utm_source=unsplash&amp;utm_medium=referral&amp;utm_content=creditCopyText" TargetMode="External"/><Relationship Id="rId4" Type="http://schemas.openxmlformats.org/officeDocument/2006/relationships/hyperlink" Target="https://unsplash.com/s/photos/observe?utm_source=unsplash&amp;utm_medium=referral&amp;utm_content=creditCopyText" TargetMode="External"/><Relationship Id="rId5" Type="http://schemas.openxmlformats.org/officeDocument/2006/relationships/hyperlink" Target="https://unsplash.com/s/photos/observe?utm_source=unsplash&amp;utm_medium=referral&amp;utm_content=creditCopyText"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15152ac492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15152ac49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15152ac492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g115152ac492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15152ac492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115152ac492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15152ac492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15152ac492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0f7e777481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0f7e777481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15152ac492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15152ac492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0b12bec43e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0b12bec43e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0f7e7774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0f7e7774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15152ac492_0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15152ac492_0_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0b249276f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0b249276f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Josh Calabrese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0f7e777481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0f7e777481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0b12bec43e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10b12bec43e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15152ac492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15152ac492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15152ac492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15152ac492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0b227ce755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0b227ce755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Video from </a:t>
            </a:r>
            <a:r>
              <a:rPr lang="en">
                <a:solidFill>
                  <a:schemeClr val="dk1"/>
                </a:solidFill>
              </a:rPr>
              <a:t>https://www.interaction-design.org/literature/topics/empathy</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0b12bec43e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10b12bec43e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115152ac492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115152ac492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 </a:t>
            </a:r>
            <a:r>
              <a:rPr lang="en" u="sng">
                <a:solidFill>
                  <a:schemeClr val="hlink"/>
                </a:solidFill>
                <a:hlinkClick r:id="rId2"/>
              </a:rPr>
              <a:t>Edi Libedinsky</a:t>
            </a:r>
            <a:r>
              <a:rPr lang="en">
                <a:solidFill>
                  <a:schemeClr val="dk1"/>
                </a:solidFill>
              </a:rPr>
              <a:t> on 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10f7e777481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10f7e777481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https://www.interaction-design.org/literature/topics/empathize</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10f7e777481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10f7e777481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Frederick Marschall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153969a7f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1153969a7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Frederick Marschall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15152ac492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115152ac492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Frederick Marschall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15875fdab7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15875fdab7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Frederick Marschall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115152ac492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115152ac492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Frederick Marschall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15152ac492_0_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15152ac492_0_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Frederick Marschall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115152ac492_0_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115152ac492_0_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Frederick Marschall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0f7e777481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10f7e777481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10f7e777481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10f7e777481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https://www.nngroup.com/articles/empathy-mapping/</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1153969a7f9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1153969a7f9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115152ac492_0_5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115152ac492_0_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https://www.nngroup.com/articles/empathy-mapping/</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0f7e777481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0f7e777481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https://www.nngroup.com/articles/empathy-mapping/</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0f7e777481_0_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0f7e777481_0_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10f7e777481_0_5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10f7e777481_0_5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115152ac492_0_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115152ac492_0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10e8c3a84c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10e8c3a84c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10f7e777481_0_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10f7e777481_0_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10e8c3a84c0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10e8c3a84c0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10f7e777481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10f7e777481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10e8c3a84c0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10e8c3a84c0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10f7e777481_0_5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10f7e777481_0_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10e8c3a84c0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10e8c3a84c0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10f7e777481_0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10f7e777481_0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10e8c3a84c0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10e8c3a84c0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10f7e777481_0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10f7e777481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111ce9e92c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111ce9e92c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115152ac492_0_6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5" name="Google Shape;465;g115152ac492_0_6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115152ac492_0_7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115152ac492_0_7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1">
  <p:cSld name="TITLE_AND_BODY_1_1">
    <p:spTree>
      <p:nvGrpSpPr>
        <p:cNvPr id="74" name="Shape 74"/>
        <p:cNvGrpSpPr/>
        <p:nvPr/>
      </p:nvGrpSpPr>
      <p:grpSpPr>
        <a:xfrm>
          <a:off x="0" y="0"/>
          <a:ext cx="0" cy="0"/>
          <a:chOff x="0" y="0"/>
          <a:chExt cx="0" cy="0"/>
        </a:xfrm>
      </p:grpSpPr>
      <p:sp>
        <p:nvSpPr>
          <p:cNvPr id="75" name="Google Shape;75;p15"/>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6" name="Google Shape;76;p15"/>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77" name="Google Shape;77;p1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8" name="Google Shape;78;p1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9" name="Google Shape;79;p1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80" name="Google Shape;80;p1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81" name="Google Shape;81;p1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82" name="Google Shape;82;p1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83" name="Google Shape;83;p15"/>
          <p:cNvGrpSpPr/>
          <p:nvPr/>
        </p:nvGrpSpPr>
        <p:grpSpPr>
          <a:xfrm>
            <a:off x="283668" y="259895"/>
            <a:ext cx="226001" cy="222980"/>
            <a:chOff x="283668" y="251687"/>
            <a:chExt cx="226001" cy="222980"/>
          </a:xfrm>
        </p:grpSpPr>
        <p:sp>
          <p:nvSpPr>
            <p:cNvPr id="84" name="Google Shape;84;p1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85" name="Google Shape;85;p1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86" name="Google Shape;86;p1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87" name="Google Shape;87;p15"/>
          <p:cNvSpPr txBox="1"/>
          <p:nvPr>
            <p:ph idx="12" type="sldNum"/>
          </p:nvPr>
        </p:nvSpPr>
        <p:spPr>
          <a:xfrm>
            <a:off x="8382000" y="4648200"/>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1" i="0" sz="1000" u="none" cap="none" strike="noStrike">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88" name="Google Shape;88;p15"/>
          <p:cNvSpPr txBox="1"/>
          <p:nvPr>
            <p:ph type="title"/>
          </p:nvPr>
        </p:nvSpPr>
        <p:spPr>
          <a:xfrm>
            <a:off x="685800" y="246888"/>
            <a:ext cx="4572000" cy="255900"/>
          </a:xfrm>
          <a:prstGeom prst="rect">
            <a:avLst/>
          </a:prstGeom>
          <a:noFill/>
          <a:ln>
            <a:noFill/>
          </a:ln>
        </p:spPr>
        <p:txBody>
          <a:bodyPr anchorCtr="0" anchor="ctr" bIns="91425" lIns="0" spcFirstLastPara="1" rIns="0" wrap="square" tIns="91425">
            <a:noAutofit/>
          </a:bodyPr>
          <a:lstStyle>
            <a:lvl1pPr lvl="0" rtl="0" algn="l">
              <a:lnSpc>
                <a:spcPct val="100000"/>
              </a:lnSpc>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pic>
        <p:nvPicPr>
          <p:cNvPr id="89" name="Google Shape;89;p1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90" name="Shape 90"/>
        <p:cNvGrpSpPr/>
        <p:nvPr/>
      </p:nvGrpSpPr>
      <p:grpSpPr>
        <a:xfrm>
          <a:off x="0" y="0"/>
          <a:ext cx="0" cy="0"/>
          <a:chOff x="0" y="0"/>
          <a:chExt cx="0" cy="0"/>
        </a:xfrm>
      </p:grpSpPr>
      <p:sp>
        <p:nvSpPr>
          <p:cNvPr id="91" name="Google Shape;91;p16"/>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92" name="Google Shape;92;p16"/>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93" name="Google Shape;93;p16"/>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94" name="Google Shape;94;p16"/>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95" name="Google Shape;95;p16"/>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96" name="Google Shape;96;p16"/>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97" name="Google Shape;97;p16"/>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98" name="Google Shape;98;p16"/>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99" name="Google Shape;99;p16"/>
          <p:cNvGrpSpPr/>
          <p:nvPr/>
        </p:nvGrpSpPr>
        <p:grpSpPr>
          <a:xfrm>
            <a:off x="283668" y="259895"/>
            <a:ext cx="226001" cy="222980"/>
            <a:chOff x="283668" y="251687"/>
            <a:chExt cx="226001" cy="222980"/>
          </a:xfrm>
        </p:grpSpPr>
        <p:sp>
          <p:nvSpPr>
            <p:cNvPr id="100" name="Google Shape;100;p16"/>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101" name="Google Shape;101;p16"/>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102" name="Google Shape;102;p16"/>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103" name="Google Shape;103;p1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1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05" name="Google Shape;105;p16"/>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106" name="Shape 106"/>
        <p:cNvGrpSpPr/>
        <p:nvPr/>
      </p:nvGrpSpPr>
      <p:grpSpPr>
        <a:xfrm>
          <a:off x="0" y="0"/>
          <a:ext cx="0" cy="0"/>
          <a:chOff x="0" y="0"/>
          <a:chExt cx="0" cy="0"/>
        </a:xfrm>
      </p:grpSpPr>
      <p:sp>
        <p:nvSpPr>
          <p:cNvPr id="107" name="Google Shape;107;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08" name="Google Shape;108;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09" name="Google Shape;10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omments" Target="../comments/commen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drive.google.com/file/d/1JljIx7PFFwP4yLh93BWmUFDOIQPGDWs0/view" TargetMode="External"/><Relationship Id="rId4" Type="http://schemas.openxmlformats.org/officeDocument/2006/relationships/image" Target="../media/image1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comments" Target="../comments/comment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6.jp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3.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unsplash.com/@linkedinsalesnavigator?utm_source=unsplash&amp;utm_medium=referral&amp;utm_content=creditCopyText" TargetMode="Externa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2.pn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5.jpg"/><Relationship Id="rId4" Type="http://schemas.openxmlformats.org/officeDocument/2006/relationships/hyperlink" Target="https://www.nngroup.com/articles/empathy-mapping/" TargetMode="External"/><Relationship Id="rId5" Type="http://schemas.openxmlformats.org/officeDocument/2006/relationships/hyperlink" Target="https://www.ibm.com/design/thinking/page/toolkit/activity/empathy-map" TargetMode="External"/><Relationship Id="rId6" Type="http://schemas.openxmlformats.org/officeDocument/2006/relationships/hyperlink" Target="https://www.nngroup.com/articles/empathy-mapping/" TargetMode="External"/><Relationship Id="rId7" Type="http://schemas.openxmlformats.org/officeDocument/2006/relationships/image" Target="../media/image4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comments" Target="../comments/comment3.xml"/><Relationship Id="rId4" Type="http://schemas.openxmlformats.org/officeDocument/2006/relationships/image" Target="../media/image39.png"/><Relationship Id="rId5" Type="http://schemas.openxmlformats.org/officeDocument/2006/relationships/image" Target="../media/image3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6.png"/><Relationship Id="rId4" Type="http://schemas.openxmlformats.org/officeDocument/2006/relationships/hyperlink" Target="https://www.interaction-design.org/literature/topics/design-thinking" TargetMode="External"/><Relationship Id="rId9" Type="http://schemas.openxmlformats.org/officeDocument/2006/relationships/hyperlink" Target="https://www.nngroup.com/articles/empathy-mapping/" TargetMode="External"/><Relationship Id="rId5" Type="http://schemas.openxmlformats.org/officeDocument/2006/relationships/hyperlink" Target="https://www.interaction-design.org/literature/article/5-stages-in-the-design-thinking-process" TargetMode="External"/><Relationship Id="rId6" Type="http://schemas.openxmlformats.org/officeDocument/2006/relationships/hyperlink" Target="https://www.interaction-design.org/literature/article/5-stages-in-the-design-thinking-process" TargetMode="External"/><Relationship Id="rId7" Type="http://schemas.openxmlformats.org/officeDocument/2006/relationships/hyperlink" Target="https://www.interaction-design.org/literature/article/5-stages-in-the-design-thinking-process" TargetMode="External"/><Relationship Id="rId8" Type="http://schemas.openxmlformats.org/officeDocument/2006/relationships/hyperlink" Target="https://www.interaction-design.org/literature/topics/empathy"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5.xml"/><Relationship Id="rId3" Type="http://schemas.openxmlformats.org/officeDocument/2006/relationships/image" Target="../media/image38.png"/><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45.png"/><Relationship Id="rId4" Type="http://schemas.openxmlformats.org/officeDocument/2006/relationships/image" Target="../media/image40.png"/><Relationship Id="rId5" Type="http://schemas.openxmlformats.org/officeDocument/2006/relationships/image" Target="../media/image44.png"/><Relationship Id="rId6"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113" name="Shape 113"/>
        <p:cNvGrpSpPr/>
        <p:nvPr/>
      </p:nvGrpSpPr>
      <p:grpSpPr>
        <a:xfrm>
          <a:off x="0" y="0"/>
          <a:ext cx="0" cy="0"/>
          <a:chOff x="0" y="0"/>
          <a:chExt cx="0" cy="0"/>
        </a:xfrm>
      </p:grpSpPr>
      <p:sp>
        <p:nvSpPr>
          <p:cNvPr id="114" name="Google Shape;114;p18"/>
          <p:cNvSpPr txBox="1"/>
          <p:nvPr/>
        </p:nvSpPr>
        <p:spPr>
          <a:xfrm>
            <a:off x="2362075" y="2780225"/>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b="1" sz="27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b="1" lang="en" sz="2700">
                <a:solidFill>
                  <a:schemeClr val="lt1"/>
                </a:solidFill>
                <a:latin typeface="Montserrat"/>
                <a:ea typeface="Montserrat"/>
                <a:cs typeface="Montserrat"/>
                <a:sym typeface="Montserrat"/>
              </a:rPr>
              <a:t>Design Thinking: Empathize</a:t>
            </a:r>
            <a:r>
              <a:rPr lang="en" sz="2700">
                <a:solidFill>
                  <a:schemeClr val="lt1"/>
                </a:solidFill>
                <a:latin typeface="Montserrat ExtraBold"/>
                <a:ea typeface="Montserrat ExtraBold"/>
                <a:cs typeface="Montserrat ExtraBold"/>
                <a:sym typeface="Montserrat ExtraBold"/>
              </a:rPr>
              <a:t> </a:t>
            </a:r>
            <a:endParaRPr sz="2700">
              <a:solidFill>
                <a:schemeClr val="lt1"/>
              </a:solidFill>
              <a:latin typeface="Montserrat ExtraBold"/>
              <a:ea typeface="Montserrat ExtraBold"/>
              <a:cs typeface="Montserrat ExtraBold"/>
              <a:sym typeface="Montserrat ExtraBold"/>
            </a:endParaRPr>
          </a:p>
          <a:p>
            <a:pPr indent="0" lvl="0" marL="0" rtl="0" algn="l">
              <a:spcBef>
                <a:spcPts val="0"/>
              </a:spcBef>
              <a:spcAft>
                <a:spcPts val="0"/>
              </a:spcAft>
              <a:buClr>
                <a:schemeClr val="dk1"/>
              </a:buClr>
              <a:buSzPts val="1100"/>
              <a:buFont typeface="Arial"/>
              <a:buNone/>
            </a:pPr>
            <a:r>
              <a:rPr lang="en">
                <a:solidFill>
                  <a:schemeClr val="lt1"/>
                </a:solidFill>
                <a:latin typeface="Montserrat ExtraBold"/>
                <a:ea typeface="Montserrat ExtraBold"/>
                <a:cs typeface="Montserrat ExtraBold"/>
                <a:sym typeface="Montserrat ExtraBold"/>
              </a:rPr>
              <a:t>Silver </a:t>
            </a:r>
            <a:r>
              <a:rPr lang="en">
                <a:solidFill>
                  <a:schemeClr val="lt1"/>
                </a:solidFill>
                <a:latin typeface="Montserrat"/>
                <a:ea typeface="Montserrat"/>
                <a:cs typeface="Montserrat"/>
                <a:sym typeface="Montserrat"/>
              </a:rPr>
              <a:t>- Chapter 2 - Topic 1</a:t>
            </a:r>
            <a:endParaRPr>
              <a:solidFill>
                <a:schemeClr val="lt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2400">
              <a:solidFill>
                <a:schemeClr val="lt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2700">
              <a:solidFill>
                <a:schemeClr val="lt1"/>
              </a:solidFill>
              <a:latin typeface="Montserrat"/>
              <a:ea typeface="Montserrat"/>
              <a:cs typeface="Montserrat"/>
              <a:sym typeface="Montserrat"/>
            </a:endParaRPr>
          </a:p>
        </p:txBody>
      </p:sp>
      <p:cxnSp>
        <p:nvCxnSpPr>
          <p:cNvPr id="115" name="Google Shape;115;p18"/>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16" name="Google Shape;116;p18"/>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120" name="Shape 120"/>
        <p:cNvGrpSpPr/>
        <p:nvPr/>
      </p:nvGrpSpPr>
      <p:grpSpPr>
        <a:xfrm>
          <a:off x="0" y="0"/>
          <a:ext cx="0" cy="0"/>
          <a:chOff x="0" y="0"/>
          <a:chExt cx="0" cy="0"/>
        </a:xfrm>
      </p:grpSpPr>
      <p:sp>
        <p:nvSpPr>
          <p:cNvPr id="121" name="Google Shape;121;p19"/>
          <p:cNvSpPr txBox="1"/>
          <p:nvPr/>
        </p:nvSpPr>
        <p:spPr>
          <a:xfrm>
            <a:off x="1746750" y="685025"/>
            <a:ext cx="5650500" cy="607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600" u="none" cap="none" strike="noStrike">
                <a:solidFill>
                  <a:schemeClr val="lt1"/>
                </a:solidFill>
                <a:latin typeface="Montserrat"/>
                <a:ea typeface="Montserrat"/>
                <a:cs typeface="Montserrat"/>
                <a:sym typeface="Montserrat"/>
              </a:rPr>
              <a:t>Selamat datang di </a:t>
            </a:r>
            <a:r>
              <a:rPr b="1" i="0" lang="en" sz="1600" u="none" cap="none" strike="noStrike">
                <a:solidFill>
                  <a:schemeClr val="accent1"/>
                </a:solidFill>
                <a:latin typeface="Montserrat"/>
                <a:ea typeface="Montserrat"/>
                <a:cs typeface="Montserrat"/>
                <a:sym typeface="Montserrat"/>
              </a:rPr>
              <a:t>Chapter </a:t>
            </a:r>
            <a:r>
              <a:rPr b="1" lang="en" sz="1600">
                <a:solidFill>
                  <a:schemeClr val="accent1"/>
                </a:solidFill>
                <a:latin typeface="Montserrat"/>
                <a:ea typeface="Montserrat"/>
                <a:cs typeface="Montserrat"/>
                <a:sym typeface="Montserrat"/>
              </a:rPr>
              <a:t>2 Topik 1</a:t>
            </a:r>
            <a:r>
              <a:rPr b="1" i="0" lang="en" sz="1600" u="none" cap="none" strike="noStrike">
                <a:solidFill>
                  <a:schemeClr val="lt1"/>
                </a:solidFill>
                <a:latin typeface="Montserrat"/>
                <a:ea typeface="Montserrat"/>
                <a:cs typeface="Montserrat"/>
                <a:sym typeface="Montserrat"/>
              </a:rPr>
              <a:t> online course </a:t>
            </a:r>
            <a:endParaRPr b="1" i="0" sz="1600" u="none" cap="none" strike="noStrike">
              <a:solidFill>
                <a:schemeClr val="lt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800"/>
              <a:buFont typeface="Arial"/>
              <a:buNone/>
            </a:pPr>
            <a:r>
              <a:rPr b="1" lang="en" sz="1600">
                <a:solidFill>
                  <a:schemeClr val="accent1"/>
                </a:solidFill>
                <a:latin typeface="Montserrat"/>
                <a:ea typeface="Montserrat"/>
                <a:cs typeface="Montserrat"/>
                <a:sym typeface="Montserrat"/>
              </a:rPr>
              <a:t>UI/UX Research/Design</a:t>
            </a:r>
            <a:r>
              <a:rPr b="1" i="0" lang="en" sz="1600" u="none" cap="none" strike="noStrike">
                <a:solidFill>
                  <a:schemeClr val="lt1"/>
                </a:solidFill>
                <a:latin typeface="Montserrat"/>
                <a:ea typeface="Montserrat"/>
                <a:cs typeface="Montserrat"/>
                <a:sym typeface="Montserrat"/>
              </a:rPr>
              <a:t> dari Binar Academy!</a:t>
            </a:r>
            <a:endParaRPr b="1" i="0" sz="1600" u="none" cap="none" strike="noStrike">
              <a:solidFill>
                <a:srgbClr val="FFFFFF"/>
              </a:solidFill>
              <a:latin typeface="Montserrat"/>
              <a:ea typeface="Montserrat"/>
              <a:cs typeface="Montserrat"/>
              <a:sym typeface="Montserrat"/>
            </a:endParaRPr>
          </a:p>
        </p:txBody>
      </p:sp>
      <p:pic>
        <p:nvPicPr>
          <p:cNvPr id="122" name="Google Shape;122;p19"/>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8" name="Google Shape;128;p2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29" name="Google Shape;129;p20"/>
          <p:cNvSpPr txBox="1"/>
          <p:nvPr/>
        </p:nvSpPr>
        <p:spPr>
          <a:xfrm>
            <a:off x="606600" y="3579200"/>
            <a:ext cx="7930800" cy="9795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chapter </a:t>
            </a:r>
            <a:r>
              <a:rPr lang="en" sz="1000">
                <a:solidFill>
                  <a:schemeClr val="dk1"/>
                </a:solidFill>
                <a:latin typeface="Montserrat"/>
                <a:ea typeface="Montserrat"/>
                <a:cs typeface="Montserrat"/>
                <a:sym typeface="Montserrat"/>
              </a:rPr>
              <a:t>pertama</a:t>
            </a:r>
            <a:r>
              <a:rPr lang="en" sz="1000">
                <a:solidFill>
                  <a:schemeClr val="dk1"/>
                </a:solidFill>
                <a:latin typeface="Montserrat"/>
                <a:ea typeface="Montserrat"/>
                <a:cs typeface="Montserrat"/>
                <a:sym typeface="Montserrat"/>
              </a:rPr>
              <a:t>, kita udah belajar tentang </a:t>
            </a:r>
            <a:r>
              <a:rPr lang="en" sz="1000">
                <a:solidFill>
                  <a:schemeClr val="dk1"/>
                </a:solidFill>
                <a:latin typeface="Montserrat"/>
                <a:ea typeface="Montserrat"/>
                <a:cs typeface="Montserrat"/>
                <a:sym typeface="Montserrat"/>
              </a:rPr>
              <a:t>dasar-dasar UI/UX</a:t>
            </a:r>
            <a:r>
              <a:rPr b="1"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Pada chapter kedua ini, kita bakal belajar tentang UI/UX lebih dalam lagi. Chapter 2 bakalan ngajak kamu buat memahami penerapan design thinking</a:t>
            </a:r>
            <a:r>
              <a:rPr b="1"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Mulai dari fase empati, mengenal UX Research, hingga metode-metode dalam UX Research.</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topik pertama ini, kita akan mulai dengan</a:t>
            </a:r>
            <a:r>
              <a:rPr b="1" lang="en" sz="1000">
                <a:solidFill>
                  <a:schemeClr val="dk1"/>
                </a:solidFill>
                <a:latin typeface="Montserrat"/>
                <a:ea typeface="Montserrat"/>
                <a:cs typeface="Montserrat"/>
                <a:sym typeface="Montserrat"/>
              </a:rPr>
              <a:t> hal yang paling dasar dalam design thinking, yaitu </a:t>
            </a:r>
            <a:r>
              <a:rPr b="1" lang="en" sz="1000">
                <a:solidFill>
                  <a:schemeClr val="dk1"/>
                </a:solidFill>
                <a:latin typeface="Montserrat"/>
                <a:ea typeface="Montserrat"/>
                <a:cs typeface="Montserrat"/>
                <a:sym typeface="Montserrat"/>
              </a:rPr>
              <a:t>empat</a:t>
            </a:r>
            <a:r>
              <a:rPr b="1" lang="en" sz="1000">
                <a:solidFill>
                  <a:schemeClr val="dk1"/>
                </a:solidFill>
                <a:latin typeface="Montserrat"/>
                <a:ea typeface="Montserrat"/>
                <a:cs typeface="Montserrat"/>
                <a:sym typeface="Montserrat"/>
              </a:rPr>
              <a:t>i. </a:t>
            </a:r>
            <a:r>
              <a:rPr lang="en" sz="1000">
                <a:solidFill>
                  <a:schemeClr val="dk1"/>
                </a:solidFill>
                <a:latin typeface="Montserrat"/>
                <a:ea typeface="Montserrat"/>
                <a:cs typeface="Montserrat"/>
                <a:sym typeface="Montserrat"/>
              </a:rPr>
              <a:t>Chekidott~</a:t>
            </a:r>
            <a:endParaRPr sz="1000">
              <a:solidFill>
                <a:schemeClr val="dk1"/>
              </a:solidFill>
              <a:latin typeface="Montserrat"/>
              <a:ea typeface="Montserrat"/>
              <a:cs typeface="Montserrat"/>
              <a:sym typeface="Montserrat"/>
            </a:endParaRPr>
          </a:p>
        </p:txBody>
      </p:sp>
      <p:pic>
        <p:nvPicPr>
          <p:cNvPr id="130" name="Google Shape;130;p20"/>
          <p:cNvPicPr preferRelativeResize="0"/>
          <p:nvPr/>
        </p:nvPicPr>
        <p:blipFill rotWithShape="1">
          <a:blip r:embed="rId3">
            <a:alphaModFix/>
          </a:blip>
          <a:srcRect b="41386" l="0" r="0" t="0"/>
          <a:stretch/>
        </p:blipFill>
        <p:spPr>
          <a:xfrm>
            <a:off x="1808300" y="601775"/>
            <a:ext cx="5527398" cy="24694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6" name="Google Shape;136;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37" name="Google Shape;137;p21"/>
          <p:cNvSpPr txBox="1"/>
          <p:nvPr/>
        </p:nvSpPr>
        <p:spPr>
          <a:xfrm>
            <a:off x="685800" y="1159608"/>
            <a:ext cx="4114800" cy="967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b="1" lang="en" sz="1600">
                <a:solidFill>
                  <a:srgbClr val="512252"/>
                </a:solidFill>
                <a:highlight>
                  <a:schemeClr val="lt1"/>
                </a:highlight>
                <a:latin typeface="Montserrat"/>
                <a:ea typeface="Montserrat"/>
                <a:cs typeface="Montserrat"/>
                <a:sym typeface="Montserrat"/>
              </a:rPr>
              <a:t>Detailnya, kita bakal bahas hal-hal berikut ini: </a:t>
            </a:r>
            <a:endParaRPr b="1" sz="1600">
              <a:solidFill>
                <a:srgbClr val="512252"/>
              </a:solidFill>
              <a:latin typeface="Montserrat"/>
              <a:ea typeface="Montserrat"/>
              <a:cs typeface="Montserrat"/>
              <a:sym typeface="Montserrat"/>
            </a:endParaRPr>
          </a:p>
        </p:txBody>
      </p:sp>
      <p:sp>
        <p:nvSpPr>
          <p:cNvPr id="138" name="Google Shape;138;p21"/>
          <p:cNvSpPr/>
          <p:nvPr/>
        </p:nvSpPr>
        <p:spPr>
          <a:xfrm>
            <a:off x="831025" y="23503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39" name="Google Shape;139;p21"/>
          <p:cNvSpPr/>
          <p:nvPr/>
        </p:nvSpPr>
        <p:spPr>
          <a:xfrm>
            <a:off x="831025" y="2885363"/>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40" name="Google Shape;140;p21"/>
          <p:cNvSpPr/>
          <p:nvPr/>
        </p:nvSpPr>
        <p:spPr>
          <a:xfrm>
            <a:off x="831025" y="34204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1"/>
          <p:cNvSpPr/>
          <p:nvPr/>
        </p:nvSpPr>
        <p:spPr>
          <a:xfrm>
            <a:off x="831025" y="39554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txBox="1"/>
          <p:nvPr/>
        </p:nvSpPr>
        <p:spPr>
          <a:xfrm>
            <a:off x="1324925" y="2117700"/>
            <a:ext cx="3247200" cy="721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Apa itu Berempati?</a:t>
            </a:r>
            <a:endParaRPr sz="1200">
              <a:solidFill>
                <a:schemeClr val="dk1"/>
              </a:solidFill>
              <a:latin typeface="Montserrat Medium"/>
              <a:ea typeface="Montserrat Medium"/>
              <a:cs typeface="Montserrat Medium"/>
              <a:sym typeface="Montserrat Medium"/>
            </a:endParaRPr>
          </a:p>
        </p:txBody>
      </p:sp>
      <p:sp>
        <p:nvSpPr>
          <p:cNvPr id="143" name="Google Shape;143;p21"/>
          <p:cNvSpPr txBox="1"/>
          <p:nvPr/>
        </p:nvSpPr>
        <p:spPr>
          <a:xfrm>
            <a:off x="1324925" y="2652725"/>
            <a:ext cx="3028200" cy="721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Mengapa Berempati Penting?</a:t>
            </a:r>
            <a:endParaRPr sz="1200">
              <a:solidFill>
                <a:schemeClr val="dk1"/>
              </a:solidFill>
              <a:latin typeface="Montserrat Medium"/>
              <a:ea typeface="Montserrat Medium"/>
              <a:cs typeface="Montserrat Medium"/>
              <a:sym typeface="Montserrat Medium"/>
            </a:endParaRPr>
          </a:p>
        </p:txBody>
      </p:sp>
      <p:sp>
        <p:nvSpPr>
          <p:cNvPr id="144" name="Google Shape;144;p21"/>
          <p:cNvSpPr txBox="1"/>
          <p:nvPr/>
        </p:nvSpPr>
        <p:spPr>
          <a:xfrm>
            <a:off x="1324925" y="3187750"/>
            <a:ext cx="3028200" cy="721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Montserrat Medium"/>
                <a:ea typeface="Montserrat Medium"/>
                <a:cs typeface="Montserrat Medium"/>
                <a:sym typeface="Montserrat Medium"/>
              </a:rPr>
              <a:t>Cara Berempati</a:t>
            </a:r>
            <a:endParaRPr sz="12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sp>
        <p:nvSpPr>
          <p:cNvPr id="145" name="Google Shape;145;p21"/>
          <p:cNvSpPr txBox="1"/>
          <p:nvPr/>
        </p:nvSpPr>
        <p:spPr>
          <a:xfrm>
            <a:off x="1324925" y="3722775"/>
            <a:ext cx="3028200" cy="721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Empathy</a:t>
            </a:r>
            <a:r>
              <a:rPr lang="en" sz="1200">
                <a:solidFill>
                  <a:schemeClr val="dk1"/>
                </a:solidFill>
                <a:latin typeface="Montserrat Medium"/>
                <a:ea typeface="Montserrat Medium"/>
                <a:cs typeface="Montserrat Medium"/>
                <a:sym typeface="Montserrat Medium"/>
              </a:rPr>
              <a:t> Maps</a:t>
            </a:r>
            <a:endParaRPr sz="1200">
              <a:solidFill>
                <a:schemeClr val="dk1"/>
              </a:solidFill>
              <a:latin typeface="Montserrat Medium"/>
              <a:ea typeface="Montserrat Medium"/>
              <a:cs typeface="Montserrat Medium"/>
              <a:sym typeface="Montserrat Medium"/>
            </a:endParaRPr>
          </a:p>
        </p:txBody>
      </p:sp>
      <p:pic>
        <p:nvPicPr>
          <p:cNvPr id="146" name="Google Shape;146;p21"/>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2" name="Google Shape;152;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p>
        </p:txBody>
      </p:sp>
      <p:sp>
        <p:nvSpPr>
          <p:cNvPr id="153" name="Google Shape;153;p22"/>
          <p:cNvSpPr txBox="1"/>
          <p:nvPr/>
        </p:nvSpPr>
        <p:spPr>
          <a:xfrm>
            <a:off x="685800" y="1447800"/>
            <a:ext cx="4038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Kamu masih ingat kan apa itu design thinking?</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chapter 1 topic 4, kita udah belajar tentang design thinking.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Design thinking itu, </a:t>
            </a:r>
            <a:r>
              <a:rPr b="1" lang="en" sz="1000">
                <a:solidFill>
                  <a:schemeClr val="dk1"/>
                </a:solidFill>
                <a:latin typeface="Montserrat"/>
                <a:ea typeface="Montserrat"/>
                <a:cs typeface="Montserrat"/>
                <a:sym typeface="Montserrat"/>
              </a:rPr>
              <a:t>serangkaian proses kognitif, strategis, dan praktis dalam desain suatu produk. </a:t>
            </a:r>
            <a:r>
              <a:rPr lang="en" sz="1000">
                <a:solidFill>
                  <a:schemeClr val="dk1"/>
                </a:solidFill>
                <a:latin typeface="Montserrat"/>
                <a:ea typeface="Montserrat"/>
                <a:cs typeface="Montserrat"/>
                <a:sym typeface="Montserrat"/>
              </a:rPr>
              <a:t>Digunakan untuk memecahkan masalah dan menciptakan solusi inovatif dengan memahami pengguna dan kebutuhannya.</a:t>
            </a:r>
            <a:endParaRPr sz="1200">
              <a:solidFill>
                <a:schemeClr val="dk1"/>
              </a:solidFill>
              <a:latin typeface="Raleway Medium"/>
              <a:ea typeface="Raleway Medium"/>
              <a:cs typeface="Raleway Medium"/>
              <a:sym typeface="Raleway Medium"/>
            </a:endParaRPr>
          </a:p>
        </p:txBody>
      </p:sp>
      <p:pic>
        <p:nvPicPr>
          <p:cNvPr id="154" name="Google Shape;154;p22"/>
          <p:cNvPicPr preferRelativeResize="0"/>
          <p:nvPr/>
        </p:nvPicPr>
        <p:blipFill>
          <a:blip r:embed="rId4">
            <a:alphaModFix/>
          </a:blip>
          <a:stretch>
            <a:fillRect/>
          </a:stretch>
        </p:blipFill>
        <p:spPr>
          <a:xfrm>
            <a:off x="4772400" y="1321225"/>
            <a:ext cx="3844199" cy="30652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0" name="Google Shape;160;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p>
        </p:txBody>
      </p:sp>
      <p:sp>
        <p:nvSpPr>
          <p:cNvPr id="161" name="Google Shape;161;p23"/>
          <p:cNvSpPr txBox="1"/>
          <p:nvPr/>
        </p:nvSpPr>
        <p:spPr>
          <a:xfrm>
            <a:off x="487625" y="1083375"/>
            <a:ext cx="4038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Fase-fasenya masih ingat nggak?</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Design thinking menentukan bagaimana suatu produk dapat didesain dengan baik. Kalo UI/UX Designer nggak berpedoman sama design thinking ini, produk yang dihasilkan bakal nggak maksimal.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Untuk menghasilkan suatu produk yang maksimal, ada lima fase yang harus dijalankan oleh seorang UI/UX Designer</a:t>
            </a:r>
            <a:r>
              <a:rPr lang="en" sz="1000">
                <a:solidFill>
                  <a:schemeClr val="dk1"/>
                </a:solidFill>
                <a:latin typeface="Montserrat"/>
                <a:ea typeface="Montserrat"/>
                <a:cs typeface="Montserrat"/>
                <a:sym typeface="Montserrat"/>
              </a:rPr>
              <a:t>.</a:t>
            </a:r>
            <a:r>
              <a:rPr lang="en" sz="1000">
                <a:solidFill>
                  <a:schemeClr val="dk1"/>
                </a:solidFill>
                <a:latin typeface="Montserrat"/>
                <a:ea typeface="Montserrat"/>
                <a:cs typeface="Montserrat"/>
                <a:sym typeface="Montserrat"/>
              </a:rPr>
              <a:t> L</a:t>
            </a:r>
            <a:r>
              <a:rPr lang="en" sz="1000">
                <a:solidFill>
                  <a:schemeClr val="dk1"/>
                </a:solidFill>
                <a:latin typeface="Montserrat"/>
                <a:ea typeface="Montserrat"/>
                <a:cs typeface="Montserrat"/>
                <a:sym typeface="Montserrat"/>
              </a:rPr>
              <a:t>ima fase tersebut, yaitu: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Empathize</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100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Define</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100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Ideate</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100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Prototype</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1000"/>
              </a:spcBef>
              <a:spcAft>
                <a:spcPts val="100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Test</a:t>
            </a:r>
            <a:endParaRPr sz="1200">
              <a:solidFill>
                <a:schemeClr val="dk1"/>
              </a:solidFill>
              <a:latin typeface="Montserrat Medium"/>
              <a:ea typeface="Montserrat Medium"/>
              <a:cs typeface="Montserrat Medium"/>
              <a:sym typeface="Montserrat Medium"/>
            </a:endParaRPr>
          </a:p>
        </p:txBody>
      </p:sp>
      <p:pic>
        <p:nvPicPr>
          <p:cNvPr id="162" name="Google Shape;162;p23"/>
          <p:cNvPicPr preferRelativeResize="0"/>
          <p:nvPr/>
        </p:nvPicPr>
        <p:blipFill>
          <a:blip r:embed="rId3">
            <a:alphaModFix/>
          </a:blip>
          <a:stretch>
            <a:fillRect/>
          </a:stretch>
        </p:blipFill>
        <p:spPr>
          <a:xfrm>
            <a:off x="4637099" y="1600200"/>
            <a:ext cx="3979500" cy="273856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4"/>
          <p:cNvSpPr txBox="1"/>
          <p:nvPr>
            <p:ph type="title"/>
          </p:nvPr>
        </p:nvSpPr>
        <p:spPr>
          <a:xfrm>
            <a:off x="914400" y="9961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latin typeface="Montserrat"/>
                <a:ea typeface="Montserrat"/>
                <a:cs typeface="Montserrat"/>
                <a:sym typeface="Montserrat"/>
              </a:rPr>
              <a:t>Pada topik ini, kita akan bahas lebih dalam tentang </a:t>
            </a:r>
            <a:endParaRPr sz="1400">
              <a:latin typeface="Montserrat"/>
              <a:ea typeface="Montserrat"/>
              <a:cs typeface="Montserrat"/>
              <a:sym typeface="Montserrat"/>
            </a:endParaRPr>
          </a:p>
          <a:p>
            <a:pPr indent="0" lvl="0" marL="0" rtl="0" algn="ctr">
              <a:spcBef>
                <a:spcPts val="0"/>
              </a:spcBef>
              <a:spcAft>
                <a:spcPts val="0"/>
              </a:spcAft>
              <a:buNone/>
            </a:pPr>
            <a:r>
              <a:rPr lang="en" sz="1400">
                <a:solidFill>
                  <a:schemeClr val="accent1"/>
                </a:solidFill>
                <a:latin typeface="Montserrat"/>
                <a:ea typeface="Montserrat"/>
                <a:cs typeface="Montserrat"/>
                <a:sym typeface="Montserrat"/>
              </a:rPr>
              <a:t>fase empathize (empati).</a:t>
            </a:r>
            <a:endParaRPr sz="1400">
              <a:solidFill>
                <a:schemeClr val="accent1"/>
              </a:solidFill>
              <a:latin typeface="Montserrat"/>
              <a:ea typeface="Montserrat"/>
              <a:cs typeface="Montserrat"/>
              <a:sym typeface="Montserrat"/>
            </a:endParaRPr>
          </a:p>
          <a:p>
            <a:pPr indent="0" lvl="0" marL="0" rtl="0" algn="ctr">
              <a:spcBef>
                <a:spcPts val="0"/>
              </a:spcBef>
              <a:spcAft>
                <a:spcPts val="0"/>
              </a:spcAft>
              <a:buNone/>
            </a:pPr>
            <a:r>
              <a:t/>
            </a:r>
            <a:endParaRPr sz="1400">
              <a:solidFill>
                <a:schemeClr val="accent1"/>
              </a:solidFill>
              <a:latin typeface="Montserrat"/>
              <a:ea typeface="Montserrat"/>
              <a:cs typeface="Montserrat"/>
              <a:sym typeface="Montserrat"/>
            </a:endParaRPr>
          </a:p>
          <a:p>
            <a:pPr indent="0" lvl="0" marL="0" rtl="0" algn="ctr">
              <a:spcBef>
                <a:spcPts val="0"/>
              </a:spcBef>
              <a:spcAft>
                <a:spcPts val="0"/>
              </a:spcAft>
              <a:buNone/>
            </a:pPr>
            <a:r>
              <a:rPr lang="en" sz="1400">
                <a:latin typeface="Montserrat"/>
                <a:ea typeface="Montserrat"/>
                <a:cs typeface="Montserrat"/>
                <a:sym typeface="Montserrat"/>
              </a:rPr>
              <a:t>Skoeyy~</a:t>
            </a:r>
            <a:endParaRPr sz="1400">
              <a:solidFill>
                <a:srgbClr val="F2AB2F"/>
              </a:solidFill>
              <a:latin typeface="Montserrat"/>
              <a:ea typeface="Montserrat"/>
              <a:cs typeface="Montserrat"/>
              <a:sym typeface="Montserrat"/>
            </a:endParaRPr>
          </a:p>
        </p:txBody>
      </p:sp>
      <p:sp>
        <p:nvSpPr>
          <p:cNvPr id="168" name="Google Shape;168;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69" name="Google Shape;169;p24"/>
          <p:cNvPicPr preferRelativeResize="0"/>
          <p:nvPr/>
        </p:nvPicPr>
        <p:blipFill>
          <a:blip r:embed="rId3">
            <a:alphaModFix/>
          </a:blip>
          <a:stretch>
            <a:fillRect/>
          </a:stretch>
        </p:blipFill>
        <p:spPr>
          <a:xfrm>
            <a:off x="3240346" y="1941300"/>
            <a:ext cx="2663308" cy="32021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5" name="Google Shape;175;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Apa itu Empati?</a:t>
            </a:r>
            <a:endParaRPr/>
          </a:p>
        </p:txBody>
      </p:sp>
      <p:sp>
        <p:nvSpPr>
          <p:cNvPr id="176" name="Google Shape;176;p25"/>
          <p:cNvSpPr txBox="1"/>
          <p:nvPr/>
        </p:nvSpPr>
        <p:spPr>
          <a:xfrm>
            <a:off x="685800" y="1521045"/>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Apa itu</a:t>
            </a:r>
            <a:r>
              <a:rPr b="1" lang="en" sz="1600">
                <a:solidFill>
                  <a:srgbClr val="743673"/>
                </a:solidFill>
                <a:highlight>
                  <a:schemeClr val="lt1"/>
                </a:highlight>
                <a:latin typeface="Montserrat"/>
                <a:ea typeface="Montserrat"/>
                <a:cs typeface="Montserrat"/>
                <a:sym typeface="Montserrat"/>
              </a:rPr>
              <a:t> empati</a:t>
            </a:r>
            <a:r>
              <a:rPr b="1" lang="en" sz="1600">
                <a:solidFill>
                  <a:srgbClr val="743673"/>
                </a:solidFill>
                <a:highlight>
                  <a:schemeClr val="lt1"/>
                </a:highlight>
                <a:latin typeface="Montserrat"/>
                <a:ea typeface="Montserrat"/>
                <a:cs typeface="Montserrat"/>
                <a:sym typeface="Montserrat"/>
              </a:rPr>
              <a:t>?</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Kayak yang udah kamu tahu, empathize atau empati adalah fase pertama dalam design thinking.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fase ini, seorang UI/UX Researcher/Designer diajak untuk </a:t>
            </a:r>
            <a:r>
              <a:rPr b="1" lang="en" sz="1000">
                <a:solidFill>
                  <a:schemeClr val="dk1"/>
                </a:solidFill>
                <a:latin typeface="Montserrat"/>
                <a:ea typeface="Montserrat"/>
                <a:cs typeface="Montserrat"/>
                <a:sym typeface="Montserrat"/>
              </a:rPr>
              <a:t>berempati pada permasalahan user.</a:t>
            </a:r>
            <a:endParaRPr b="1" sz="1000">
              <a:solidFill>
                <a:schemeClr val="dk1"/>
              </a:solidFill>
              <a:latin typeface="Montserrat"/>
              <a:ea typeface="Montserrat"/>
              <a:cs typeface="Montserrat"/>
              <a:sym typeface="Montserrat"/>
            </a:endParaRPr>
          </a:p>
        </p:txBody>
      </p:sp>
      <p:pic>
        <p:nvPicPr>
          <p:cNvPr id="177" name="Google Shape;177;p25"/>
          <p:cNvPicPr preferRelativeResize="0"/>
          <p:nvPr/>
        </p:nvPicPr>
        <p:blipFill>
          <a:blip r:embed="rId3">
            <a:alphaModFix/>
          </a:blip>
          <a:stretch>
            <a:fillRect/>
          </a:stretch>
        </p:blipFill>
        <p:spPr>
          <a:xfrm>
            <a:off x="5354100" y="914400"/>
            <a:ext cx="2748030" cy="38861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3" name="Google Shape;183;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Apa itu Empati?</a:t>
            </a:r>
            <a:endParaRPr>
              <a:latin typeface="Montserrat"/>
              <a:ea typeface="Montserrat"/>
              <a:cs typeface="Montserrat"/>
              <a:sym typeface="Montserrat"/>
            </a:endParaRPr>
          </a:p>
        </p:txBody>
      </p:sp>
      <p:sp>
        <p:nvSpPr>
          <p:cNvPr id="184" name="Google Shape;184;p26"/>
          <p:cNvSpPr txBox="1"/>
          <p:nvPr/>
        </p:nvSpPr>
        <p:spPr>
          <a:xfrm>
            <a:off x="685800" y="1312645"/>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Biar lebih jelas, coba kita pakai analogi drakor.</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Kalo kamu nonton drama korea, pasti suka kebawa suasana kan? Kalo ada adegan yang sedih, kamu pasti ikutan sedih. Kalo ada adegan yang bikin kesal, kamu pasti ikutan kesal.</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itu tandanya </a:t>
            </a:r>
            <a:r>
              <a:rPr b="1" lang="en" sz="1000">
                <a:solidFill>
                  <a:schemeClr val="dk1"/>
                </a:solidFill>
                <a:latin typeface="Montserrat"/>
                <a:ea typeface="Montserrat"/>
                <a:cs typeface="Montserrat"/>
                <a:sym typeface="Montserrat"/>
              </a:rPr>
              <a:t>kamu udah berempati dalam cerita drama korea itu.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Sederhananya, empati adalah bagaimana </a:t>
            </a:r>
            <a:r>
              <a:rPr b="1" lang="en" sz="1000">
                <a:solidFill>
                  <a:schemeClr val="dk1"/>
                </a:solidFill>
                <a:latin typeface="Montserrat"/>
                <a:ea typeface="Montserrat"/>
                <a:cs typeface="Montserrat"/>
                <a:sym typeface="Montserrat"/>
              </a:rPr>
              <a:t>memahami, berempati, dan memiliki perasaan yang sama dengan orang lain.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000">
              <a:solidFill>
                <a:schemeClr val="dk1"/>
              </a:solidFill>
              <a:latin typeface="Montserrat"/>
              <a:ea typeface="Montserrat"/>
              <a:cs typeface="Montserrat"/>
              <a:sym typeface="Montserrat"/>
            </a:endParaRPr>
          </a:p>
        </p:txBody>
      </p:sp>
      <p:pic>
        <p:nvPicPr>
          <p:cNvPr id="185" name="Google Shape;185;p26"/>
          <p:cNvPicPr preferRelativeResize="0"/>
          <p:nvPr/>
        </p:nvPicPr>
        <p:blipFill>
          <a:blip r:embed="rId3">
            <a:alphaModFix/>
          </a:blip>
          <a:stretch>
            <a:fillRect/>
          </a:stretch>
        </p:blipFill>
        <p:spPr>
          <a:xfrm>
            <a:off x="5289892" y="914400"/>
            <a:ext cx="2834958" cy="388619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1" name="Google Shape;191;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Apa itu Empati?</a:t>
            </a:r>
            <a:endParaRPr>
              <a:latin typeface="Montserrat"/>
              <a:ea typeface="Montserrat"/>
              <a:cs typeface="Montserrat"/>
              <a:sym typeface="Montserrat"/>
            </a:endParaRPr>
          </a:p>
        </p:txBody>
      </p:sp>
      <p:sp>
        <p:nvSpPr>
          <p:cNvPr id="192" name="Google Shape;192;p27"/>
          <p:cNvSpPr txBox="1"/>
          <p:nvPr/>
        </p:nvSpPr>
        <p:spPr>
          <a:xfrm>
            <a:off x="685800" y="1359972"/>
            <a:ext cx="41148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t/>
            </a:r>
            <a:endParaRPr sz="10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Dalam UI/UX Research/Design, berempati itu sangat penting.</a:t>
            </a:r>
            <a:r>
              <a:rPr lang="en" sz="1000">
                <a:solidFill>
                  <a:schemeClr val="dk1"/>
                </a:solidFill>
                <a:latin typeface="Montserrat"/>
                <a:ea typeface="Montserrat"/>
                <a:cs typeface="Montserrat"/>
                <a:sym typeface="Montserrat"/>
              </a:rPr>
              <a:t> Dengan berempati, maka seorang UX Researcher/Designer akan menempatkan diri di posisi usernya. Kalo udah menempatkan diri di posisi usernya, maka akan dengan mudah memahami permasalahan si user.</a:t>
            </a:r>
            <a:endParaRPr sz="1000">
              <a:solidFill>
                <a:schemeClr val="dk1"/>
              </a:solidFill>
              <a:latin typeface="Montserrat"/>
              <a:ea typeface="Montserrat"/>
              <a:cs typeface="Montserrat"/>
              <a:sym typeface="Montserrat"/>
            </a:endParaRPr>
          </a:p>
        </p:txBody>
      </p:sp>
      <p:pic>
        <p:nvPicPr>
          <p:cNvPr id="193" name="Google Shape;193;p27"/>
          <p:cNvPicPr preferRelativeResize="0"/>
          <p:nvPr/>
        </p:nvPicPr>
        <p:blipFill>
          <a:blip r:embed="rId3">
            <a:alphaModFix/>
          </a:blip>
          <a:stretch>
            <a:fillRect/>
          </a:stretch>
        </p:blipFill>
        <p:spPr>
          <a:xfrm>
            <a:off x="5332554" y="914400"/>
            <a:ext cx="2979116" cy="38861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8"/>
          <p:cNvSpPr txBox="1"/>
          <p:nvPr>
            <p:ph type="title"/>
          </p:nvPr>
        </p:nvSpPr>
        <p:spPr>
          <a:xfrm>
            <a:off x="914400" y="9961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latin typeface="Montserrat"/>
              <a:ea typeface="Montserrat"/>
              <a:cs typeface="Montserrat"/>
              <a:sym typeface="Montserrat"/>
            </a:endParaRPr>
          </a:p>
          <a:p>
            <a:pPr indent="0" lvl="0" marL="0" rtl="0" algn="ctr">
              <a:spcBef>
                <a:spcPts val="0"/>
              </a:spcBef>
              <a:spcAft>
                <a:spcPts val="0"/>
              </a:spcAft>
              <a:buNone/>
            </a:pPr>
            <a:r>
              <a:rPr lang="en" sz="1400">
                <a:latin typeface="Montserrat"/>
                <a:ea typeface="Montserrat"/>
                <a:cs typeface="Montserrat"/>
                <a:sym typeface="Montserrat"/>
              </a:rPr>
              <a:t>Sekarang, coba kita cari tahu lebih dalam, </a:t>
            </a:r>
            <a:endParaRPr sz="1400">
              <a:latin typeface="Montserrat"/>
              <a:ea typeface="Montserrat"/>
              <a:cs typeface="Montserrat"/>
              <a:sym typeface="Montserrat"/>
            </a:endParaRPr>
          </a:p>
          <a:p>
            <a:pPr indent="0" lvl="0" marL="0" rtl="0" algn="ctr">
              <a:spcBef>
                <a:spcPts val="0"/>
              </a:spcBef>
              <a:spcAft>
                <a:spcPts val="0"/>
              </a:spcAft>
              <a:buNone/>
            </a:pPr>
            <a:r>
              <a:rPr lang="en" sz="1400">
                <a:solidFill>
                  <a:schemeClr val="accent1"/>
                </a:solidFill>
                <a:latin typeface="Montserrat"/>
                <a:ea typeface="Montserrat"/>
                <a:cs typeface="Montserrat"/>
                <a:sym typeface="Montserrat"/>
              </a:rPr>
              <a:t>mengapa empati itu penting?</a:t>
            </a:r>
            <a:r>
              <a:rPr lang="en" sz="1400">
                <a:solidFill>
                  <a:schemeClr val="accent1"/>
                </a:solidFill>
                <a:latin typeface="Montserrat"/>
                <a:ea typeface="Montserrat"/>
                <a:cs typeface="Montserrat"/>
                <a:sym typeface="Montserrat"/>
              </a:rPr>
              <a:t> </a:t>
            </a:r>
            <a:endParaRPr sz="1400">
              <a:solidFill>
                <a:schemeClr val="accent1"/>
              </a:solidFill>
              <a:latin typeface="Montserrat"/>
              <a:ea typeface="Montserrat"/>
              <a:cs typeface="Montserrat"/>
              <a:sym typeface="Montserrat"/>
            </a:endParaRPr>
          </a:p>
          <a:p>
            <a:pPr indent="0" lvl="0" marL="0" rtl="0" algn="l">
              <a:spcBef>
                <a:spcPts val="0"/>
              </a:spcBef>
              <a:spcAft>
                <a:spcPts val="0"/>
              </a:spcAft>
              <a:buNone/>
            </a:pPr>
            <a:r>
              <a:t/>
            </a:r>
            <a:endParaRPr sz="1400">
              <a:solidFill>
                <a:schemeClr val="accent1"/>
              </a:solidFill>
              <a:latin typeface="Montserrat"/>
              <a:ea typeface="Montserrat"/>
              <a:cs typeface="Montserrat"/>
              <a:sym typeface="Montserrat"/>
            </a:endParaRPr>
          </a:p>
          <a:p>
            <a:pPr indent="0" lvl="0" marL="0" rtl="0" algn="l">
              <a:spcBef>
                <a:spcPts val="0"/>
              </a:spcBef>
              <a:spcAft>
                <a:spcPts val="0"/>
              </a:spcAft>
              <a:buNone/>
            </a:pPr>
            <a:r>
              <a:t/>
            </a:r>
            <a:endParaRPr sz="1400">
              <a:solidFill>
                <a:srgbClr val="F2AB2F"/>
              </a:solidFill>
              <a:latin typeface="Montserrat"/>
              <a:ea typeface="Montserrat"/>
              <a:cs typeface="Montserrat"/>
              <a:sym typeface="Montserrat"/>
            </a:endParaRPr>
          </a:p>
        </p:txBody>
      </p:sp>
      <p:sp>
        <p:nvSpPr>
          <p:cNvPr id="199" name="Google Shape;199;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00" name="Google Shape;200;p28"/>
          <p:cNvPicPr preferRelativeResize="0"/>
          <p:nvPr/>
        </p:nvPicPr>
        <p:blipFill>
          <a:blip r:embed="rId3">
            <a:alphaModFix/>
          </a:blip>
          <a:stretch>
            <a:fillRect/>
          </a:stretch>
        </p:blipFill>
        <p:spPr>
          <a:xfrm>
            <a:off x="2935725" y="2023000"/>
            <a:ext cx="3272550" cy="31204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6" name="Google Shape;206;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Mengapa Berempati Penting?</a:t>
            </a:r>
            <a:endParaRPr/>
          </a:p>
        </p:txBody>
      </p:sp>
      <p:sp>
        <p:nvSpPr>
          <p:cNvPr id="207" name="Google Shape;207;p29"/>
          <p:cNvSpPr txBox="1"/>
          <p:nvPr/>
        </p:nvSpPr>
        <p:spPr>
          <a:xfrm>
            <a:off x="685800" y="1447797"/>
            <a:ext cx="41148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Empati adalah penentu fase selanjutnya.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Kayak yang udah kamu tahu, empati adalah fase pertama dalam design thinking. Pada fase ini, </a:t>
            </a:r>
            <a:r>
              <a:rPr b="1" lang="en" sz="1000">
                <a:solidFill>
                  <a:schemeClr val="dk1"/>
                </a:solidFill>
                <a:latin typeface="Montserrat"/>
                <a:ea typeface="Montserrat"/>
                <a:cs typeface="Montserrat"/>
                <a:sym typeface="Montserrat"/>
              </a:rPr>
              <a:t>semua informasi mengenai user dikumpulkan untuk diolah dan digunakan pada pada fase-fase selanjutnya.</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Kalo informasi mengenai user nggak berhasil didapatkan dengan baik, maka proses desain produk pada fase prototype nggak akan maksimal. </a:t>
            </a:r>
            <a:endParaRPr sz="1000">
              <a:solidFill>
                <a:schemeClr val="dk1"/>
              </a:solidFill>
              <a:latin typeface="Montserrat"/>
              <a:ea typeface="Montserrat"/>
              <a:cs typeface="Montserrat"/>
              <a:sym typeface="Montserrat"/>
            </a:endParaRPr>
          </a:p>
        </p:txBody>
      </p:sp>
      <p:pic>
        <p:nvPicPr>
          <p:cNvPr id="208" name="Google Shape;208;p29"/>
          <p:cNvPicPr preferRelativeResize="0"/>
          <p:nvPr/>
        </p:nvPicPr>
        <p:blipFill>
          <a:blip r:embed="rId3">
            <a:alphaModFix/>
          </a:blip>
          <a:stretch>
            <a:fillRect/>
          </a:stretch>
        </p:blipFill>
        <p:spPr>
          <a:xfrm>
            <a:off x="4991198" y="1185675"/>
            <a:ext cx="3625400" cy="34064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4" name="Google Shape;214;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Mengapa Berempati Penting?</a:t>
            </a:r>
            <a:endParaRPr>
              <a:latin typeface="Montserrat"/>
              <a:ea typeface="Montserrat"/>
              <a:cs typeface="Montserrat"/>
              <a:sym typeface="Montserrat"/>
            </a:endParaRPr>
          </a:p>
        </p:txBody>
      </p:sp>
      <p:sp>
        <p:nvSpPr>
          <p:cNvPr id="215" name="Google Shape;215;p30"/>
          <p:cNvSpPr txBox="1"/>
          <p:nvPr/>
        </p:nvSpPr>
        <p:spPr>
          <a:xfrm>
            <a:off x="685800" y="1255150"/>
            <a:ext cx="39513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Agar proses desain user-oriented.</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Empati mendorong UX Researcher/Designer untuk mengesampingkan asumsi mereka dan menempatkan diri sepenuhnya pada permasalahan dan perasaan user.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Hal ini penting agar produk yang didesain benar-benar mampu menjawab kebutuhan user.</a:t>
            </a:r>
            <a:r>
              <a:rPr lang="en" sz="1000">
                <a:solidFill>
                  <a:schemeClr val="dk1"/>
                </a:solidFill>
                <a:latin typeface="Montserrat"/>
                <a:ea typeface="Montserrat"/>
                <a:cs typeface="Montserrat"/>
                <a:sym typeface="Montserrat"/>
              </a:rPr>
              <a:t> Misal,  sejumlah lansia kesulitan melihat jadwal kereta api pada layar monitor informasi di stasiun karena ukuran tulisan yang kecil. Sebagai anak muda yang penglihatannya masih maksimal, kamu tentu nggak akan bisa merasakan apa yang lansia tersebut rasakan.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Untuk memahaminya, kamu harus bertanya, mengobservasi secara jeli, dan mencoba membayangkan jika kamu di posisi lansia tersebut.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pic>
        <p:nvPicPr>
          <p:cNvPr id="216" name="Google Shape;216;p30"/>
          <p:cNvPicPr preferRelativeResize="0"/>
          <p:nvPr/>
        </p:nvPicPr>
        <p:blipFill>
          <a:blip r:embed="rId3">
            <a:alphaModFix/>
          </a:blip>
          <a:stretch>
            <a:fillRect/>
          </a:stretch>
        </p:blipFill>
        <p:spPr>
          <a:xfrm>
            <a:off x="4835625" y="1300425"/>
            <a:ext cx="3780977" cy="31551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2" name="Google Shape;222;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Mengapa Berempati Penting?</a:t>
            </a:r>
            <a:endParaRPr>
              <a:latin typeface="Montserrat"/>
              <a:ea typeface="Montserrat"/>
              <a:cs typeface="Montserrat"/>
              <a:sym typeface="Montserrat"/>
            </a:endParaRPr>
          </a:p>
        </p:txBody>
      </p:sp>
      <p:sp>
        <p:nvSpPr>
          <p:cNvPr id="223" name="Google Shape;223;p31"/>
          <p:cNvSpPr txBox="1"/>
          <p:nvPr/>
        </p:nvSpPr>
        <p:spPr>
          <a:xfrm>
            <a:off x="685800" y="1447800"/>
            <a:ext cx="3951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Sama halnya d</a:t>
            </a:r>
            <a:r>
              <a:rPr lang="en" sz="1000">
                <a:solidFill>
                  <a:schemeClr val="dk1"/>
                </a:solidFill>
                <a:latin typeface="Montserrat"/>
                <a:ea typeface="Montserrat"/>
                <a:cs typeface="Montserrat"/>
                <a:sym typeface="Montserrat"/>
              </a:rPr>
              <a:t>alam proses desain, seorang UX Researcher/Designer harus menempatkan diri pada permasalahan user. Agar proses desain dan produk yang dihasilkan sesuai kebutuhan user (user-oriented).</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Terlebih lagi, seorang UI/UX Designer ditantang untuk menciptakan produk yang dapat menyelesaikan masalah dan dapat  memenuhi kebutuhan user.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Maka,</a:t>
            </a:r>
            <a:r>
              <a:rPr lang="en" sz="1000">
                <a:solidFill>
                  <a:schemeClr val="dk1"/>
                </a:solidFill>
                <a:latin typeface="Montserrat"/>
                <a:ea typeface="Montserrat"/>
                <a:cs typeface="Montserrat"/>
                <a:sym typeface="Montserrat"/>
              </a:rPr>
              <a:t> sangat penting untuk memahami masalah dan kebutuhan user melalui fase empati.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p:txBody>
      </p:sp>
      <p:pic>
        <p:nvPicPr>
          <p:cNvPr id="224" name="Google Shape;224;p31"/>
          <p:cNvPicPr preferRelativeResize="0"/>
          <p:nvPr/>
        </p:nvPicPr>
        <p:blipFill>
          <a:blip r:embed="rId3">
            <a:alphaModFix/>
          </a:blip>
          <a:stretch>
            <a:fillRect/>
          </a:stretch>
        </p:blipFill>
        <p:spPr>
          <a:xfrm>
            <a:off x="4894250" y="1115875"/>
            <a:ext cx="3537777" cy="346005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id="229" name="Google Shape;229;p32" title="1.5 Design With Empathy.mp4">
            <a:hlinkClick r:id="rId3"/>
          </p:cNvPr>
          <p:cNvPicPr preferRelativeResize="0"/>
          <p:nvPr/>
        </p:nvPicPr>
        <p:blipFill>
          <a:blip r:embed="rId4">
            <a:alphaModFix/>
          </a:blip>
          <a:stretch>
            <a:fillRect/>
          </a:stretch>
        </p:blipFill>
        <p:spPr>
          <a:xfrm>
            <a:off x="1676400" y="1374298"/>
            <a:ext cx="6095999" cy="3426314"/>
          </a:xfrm>
          <a:prstGeom prst="rect">
            <a:avLst/>
          </a:prstGeom>
          <a:noFill/>
          <a:ln>
            <a:noFill/>
          </a:ln>
        </p:spPr>
      </p:pic>
      <p:sp>
        <p:nvSpPr>
          <p:cNvPr id="230" name="Google Shape;230;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1" name="Google Shape;231;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Mengapa Berempati Penting?</a:t>
            </a:r>
            <a:endParaRPr>
              <a:latin typeface="Montserrat"/>
              <a:ea typeface="Montserrat"/>
              <a:cs typeface="Montserrat"/>
              <a:sym typeface="Montserrat"/>
            </a:endParaRPr>
          </a:p>
        </p:txBody>
      </p:sp>
      <p:sp>
        <p:nvSpPr>
          <p:cNvPr id="232" name="Google Shape;232;p32"/>
          <p:cNvSpPr txBox="1"/>
          <p:nvPr/>
        </p:nvSpPr>
        <p:spPr>
          <a:xfrm>
            <a:off x="1429650" y="855175"/>
            <a:ext cx="65895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200">
                <a:solidFill>
                  <a:schemeClr val="dk1"/>
                </a:solidFill>
                <a:latin typeface="Montserrat"/>
                <a:ea typeface="Montserrat"/>
                <a:cs typeface="Montserrat"/>
                <a:sym typeface="Montserrat"/>
              </a:rPr>
              <a:t>Biar makin paham mengapa empati itu penting, coba tonton video ini yaa!</a:t>
            </a:r>
            <a:endParaRPr b="1" sz="1200">
              <a:solidFill>
                <a:schemeClr val="dk1"/>
              </a:solidFill>
              <a:latin typeface="Raleway"/>
              <a:ea typeface="Raleway"/>
              <a:cs typeface="Raleway"/>
              <a:sym typeface="Ralewa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1000"/>
                                        <p:tgtEl>
                                          <p:spTgt spid="2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3"/>
          <p:cNvSpPr txBox="1"/>
          <p:nvPr>
            <p:ph type="title"/>
          </p:nvPr>
        </p:nvSpPr>
        <p:spPr>
          <a:xfrm>
            <a:off x="914400" y="1087325"/>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latin typeface="Montserrat"/>
                <a:ea typeface="Montserrat"/>
                <a:cs typeface="Montserrat"/>
                <a:sym typeface="Montserrat"/>
              </a:rPr>
              <a:t>S</a:t>
            </a:r>
            <a:r>
              <a:rPr lang="en" sz="1400">
                <a:latin typeface="Montserrat"/>
                <a:ea typeface="Montserrat"/>
                <a:cs typeface="Montserrat"/>
                <a:sym typeface="Montserrat"/>
              </a:rPr>
              <a:t>etelah kita memahami </a:t>
            </a:r>
            <a:r>
              <a:rPr lang="en" sz="1400">
                <a:latin typeface="Montserrat"/>
                <a:ea typeface="Montserrat"/>
                <a:cs typeface="Montserrat"/>
                <a:sym typeface="Montserrat"/>
              </a:rPr>
              <a:t>penting</a:t>
            </a:r>
            <a:r>
              <a:rPr lang="en" sz="1400">
                <a:latin typeface="Montserrat"/>
                <a:ea typeface="Montserrat"/>
                <a:cs typeface="Montserrat"/>
                <a:sym typeface="Montserrat"/>
              </a:rPr>
              <a:t>nya berempati, s</a:t>
            </a:r>
            <a:r>
              <a:rPr lang="en" sz="1400">
                <a:latin typeface="Montserrat"/>
                <a:ea typeface="Montserrat"/>
                <a:cs typeface="Montserrat"/>
                <a:sym typeface="Montserrat"/>
              </a:rPr>
              <a:t>ekarang kita lanjut membahas gimana </a:t>
            </a:r>
            <a:r>
              <a:rPr lang="en" sz="1400">
                <a:solidFill>
                  <a:schemeClr val="accent1"/>
                </a:solidFill>
                <a:latin typeface="Montserrat"/>
                <a:ea typeface="Montserrat"/>
                <a:cs typeface="Montserrat"/>
                <a:sym typeface="Montserrat"/>
              </a:rPr>
              <a:t>cara berempati alias memahami user!</a:t>
            </a:r>
            <a:endParaRPr sz="1400">
              <a:solidFill>
                <a:schemeClr val="accent1"/>
              </a:solidFill>
              <a:latin typeface="Montserrat"/>
              <a:ea typeface="Montserrat"/>
              <a:cs typeface="Montserrat"/>
              <a:sym typeface="Montserrat"/>
            </a:endParaRPr>
          </a:p>
          <a:p>
            <a:pPr indent="0" lvl="0" marL="0" rtl="0" algn="ctr">
              <a:spcBef>
                <a:spcPts val="0"/>
              </a:spcBef>
              <a:spcAft>
                <a:spcPts val="0"/>
              </a:spcAft>
              <a:buNone/>
            </a:pPr>
            <a:r>
              <a:t/>
            </a:r>
            <a:endParaRPr sz="1400">
              <a:solidFill>
                <a:schemeClr val="accent1"/>
              </a:solidFill>
              <a:latin typeface="Montserrat"/>
              <a:ea typeface="Montserrat"/>
              <a:cs typeface="Montserrat"/>
              <a:sym typeface="Montserrat"/>
            </a:endParaRPr>
          </a:p>
        </p:txBody>
      </p:sp>
      <p:sp>
        <p:nvSpPr>
          <p:cNvPr id="238" name="Google Shape;238;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39" name="Google Shape;239;p33"/>
          <p:cNvPicPr preferRelativeResize="0"/>
          <p:nvPr/>
        </p:nvPicPr>
        <p:blipFill rotWithShape="1">
          <a:blip r:embed="rId3">
            <a:alphaModFix/>
          </a:blip>
          <a:srcRect b="35098" l="0" r="0" t="0"/>
          <a:stretch/>
        </p:blipFill>
        <p:spPr>
          <a:xfrm>
            <a:off x="1582001" y="2034475"/>
            <a:ext cx="6284774" cy="31090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5" name="Google Shape;245;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Cara Berempati</a:t>
            </a:r>
            <a:endParaRPr>
              <a:latin typeface="Montserrat"/>
              <a:ea typeface="Montserrat"/>
              <a:cs typeface="Montserrat"/>
              <a:sym typeface="Montserrat"/>
            </a:endParaRPr>
          </a:p>
        </p:txBody>
      </p:sp>
      <p:sp>
        <p:nvSpPr>
          <p:cNvPr id="246" name="Google Shape;246;p34"/>
          <p:cNvSpPr txBox="1"/>
          <p:nvPr/>
        </p:nvSpPr>
        <p:spPr>
          <a:xfrm>
            <a:off x="685800" y="1447800"/>
            <a:ext cx="3951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600">
                <a:solidFill>
                  <a:srgbClr val="743673"/>
                </a:solidFill>
                <a:latin typeface="Montserrat"/>
                <a:ea typeface="Montserrat"/>
                <a:cs typeface="Montserrat"/>
                <a:sym typeface="Montserrat"/>
              </a:rPr>
              <a:t>Banyak Cara Memahami User~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Berempati adalah proses memahami permasalahan user. Terus, gimana ya caranya</a:t>
            </a:r>
            <a:r>
              <a:rPr lang="en" sz="1000">
                <a:solidFill>
                  <a:schemeClr val="dk1"/>
                </a:solidFill>
                <a:latin typeface="Montserrat"/>
                <a:ea typeface="Montserrat"/>
                <a:cs typeface="Montserrat"/>
                <a:sym typeface="Montserrat"/>
              </a:rPr>
              <a:t>?</a:t>
            </a:r>
            <a:r>
              <a:rPr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Ada</a:t>
            </a:r>
            <a:r>
              <a:rPr lang="en" sz="1000">
                <a:solidFill>
                  <a:schemeClr val="dk1"/>
                </a:solidFill>
                <a:latin typeface="Montserrat"/>
                <a:ea typeface="Montserrat"/>
                <a:cs typeface="Montserrat"/>
                <a:sym typeface="Montserrat"/>
              </a:rPr>
              <a:t> banyak cara, gengs! Diantaranya melalui:</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Observasi (mengamati secara langsung)</a:t>
            </a:r>
            <a:endParaRPr b="1"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Studi pada foto/video</a:t>
            </a:r>
            <a:endParaRPr b="1"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Mengamati jarak jauh</a:t>
            </a:r>
            <a:endParaRPr b="1"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Wawancara one-on-one</a:t>
            </a:r>
            <a:endParaRPr b="1"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Diary </a:t>
            </a:r>
            <a:r>
              <a:rPr b="1" lang="en" sz="1000">
                <a:solidFill>
                  <a:schemeClr val="dk1"/>
                </a:solidFill>
                <a:latin typeface="Montserrat"/>
                <a:ea typeface="Montserrat"/>
                <a:cs typeface="Montserrat"/>
                <a:sym typeface="Montserrat"/>
              </a:rPr>
              <a:t>study</a:t>
            </a:r>
            <a:r>
              <a:rPr b="1" lang="en" sz="1000">
                <a:solidFill>
                  <a:schemeClr val="dk1"/>
                </a:solidFill>
                <a:latin typeface="Montserrat"/>
                <a:ea typeface="Montserrat"/>
                <a:cs typeface="Montserrat"/>
                <a:sym typeface="Montserrat"/>
              </a:rPr>
              <a:t>.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Biar lebih jelas, yuk kita bedah satu-persatu!</a:t>
            </a:r>
            <a:endParaRPr sz="1000">
              <a:solidFill>
                <a:schemeClr val="dk1"/>
              </a:solidFill>
              <a:latin typeface="Montserrat"/>
              <a:ea typeface="Montserrat"/>
              <a:cs typeface="Montserrat"/>
              <a:sym typeface="Montserrat"/>
            </a:endParaRPr>
          </a:p>
        </p:txBody>
      </p:sp>
      <p:pic>
        <p:nvPicPr>
          <p:cNvPr id="247" name="Google Shape;247;p34"/>
          <p:cNvPicPr preferRelativeResize="0"/>
          <p:nvPr/>
        </p:nvPicPr>
        <p:blipFill rotWithShape="1">
          <a:blip r:embed="rId4">
            <a:alphaModFix/>
          </a:blip>
          <a:srcRect b="0" l="0" r="0" t="0"/>
          <a:stretch/>
        </p:blipFill>
        <p:spPr>
          <a:xfrm>
            <a:off x="5257796" y="1097113"/>
            <a:ext cx="2743199" cy="351162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253" name="Google Shape;253;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Cara Berempati</a:t>
            </a:r>
            <a:endParaRPr/>
          </a:p>
        </p:txBody>
      </p:sp>
      <p:pic>
        <p:nvPicPr>
          <p:cNvPr id="254" name="Google Shape;254;p35"/>
          <p:cNvPicPr preferRelativeResize="0"/>
          <p:nvPr/>
        </p:nvPicPr>
        <p:blipFill rotWithShape="1">
          <a:blip r:embed="rId3">
            <a:alphaModFix/>
          </a:blip>
          <a:srcRect b="0" l="893" r="4058" t="0"/>
          <a:stretch/>
        </p:blipFill>
        <p:spPr>
          <a:xfrm>
            <a:off x="9453725" y="777150"/>
            <a:ext cx="2603175" cy="1040725"/>
          </a:xfrm>
          <a:prstGeom prst="rect">
            <a:avLst/>
          </a:prstGeom>
          <a:noFill/>
          <a:ln>
            <a:noFill/>
          </a:ln>
        </p:spPr>
      </p:pic>
      <p:pic>
        <p:nvPicPr>
          <p:cNvPr id="255" name="Google Shape;255;p35"/>
          <p:cNvPicPr preferRelativeResize="0"/>
          <p:nvPr/>
        </p:nvPicPr>
        <p:blipFill>
          <a:blip r:embed="rId4">
            <a:alphaModFix/>
          </a:blip>
          <a:stretch>
            <a:fillRect/>
          </a:stretch>
        </p:blipFill>
        <p:spPr>
          <a:xfrm>
            <a:off x="2200449" y="914400"/>
            <a:ext cx="4743101" cy="388619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1" name="Google Shape;261;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Cara Berempati</a:t>
            </a:r>
            <a:endParaRPr>
              <a:latin typeface="Montserrat"/>
              <a:ea typeface="Montserrat"/>
              <a:cs typeface="Montserrat"/>
              <a:sym typeface="Montserrat"/>
            </a:endParaRPr>
          </a:p>
        </p:txBody>
      </p:sp>
      <p:sp>
        <p:nvSpPr>
          <p:cNvPr id="262" name="Google Shape;262;p36"/>
          <p:cNvSpPr txBox="1"/>
          <p:nvPr/>
        </p:nvSpPr>
        <p:spPr>
          <a:xfrm>
            <a:off x="685800" y="1346800"/>
            <a:ext cx="3951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Observasi.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Observasi adalah kegiatan mengamati pengguna secara langsung. Selama proses observasi, kamu dapat berpatokan pada tiga pertanyaan ini,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Apa yang dilakukan user?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Bagaimana cara user melakukan?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Mengapa user melakukan itu?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Proses observasi dilakukan untuk menjawab tiga pertanyaan di atas. </a:t>
            </a:r>
            <a:endParaRPr sz="1000">
              <a:solidFill>
                <a:schemeClr val="dk1"/>
              </a:solidFill>
              <a:latin typeface="Montserrat"/>
              <a:ea typeface="Montserrat"/>
              <a:cs typeface="Montserrat"/>
              <a:sym typeface="Montserrat"/>
            </a:endParaRPr>
          </a:p>
        </p:txBody>
      </p:sp>
      <p:pic>
        <p:nvPicPr>
          <p:cNvPr id="263" name="Google Shape;263;p36"/>
          <p:cNvPicPr preferRelativeResize="0"/>
          <p:nvPr/>
        </p:nvPicPr>
        <p:blipFill>
          <a:blip r:embed="rId3">
            <a:alphaModFix/>
          </a:blip>
          <a:stretch>
            <a:fillRect/>
          </a:stretch>
        </p:blipFill>
        <p:spPr>
          <a:xfrm>
            <a:off x="4896900" y="1478224"/>
            <a:ext cx="1803828" cy="2825249"/>
          </a:xfrm>
          <a:prstGeom prst="rect">
            <a:avLst/>
          </a:prstGeom>
          <a:noFill/>
          <a:ln>
            <a:noFill/>
          </a:ln>
        </p:spPr>
      </p:pic>
      <p:pic>
        <p:nvPicPr>
          <p:cNvPr id="264" name="Google Shape;264;p36"/>
          <p:cNvPicPr preferRelativeResize="0"/>
          <p:nvPr/>
        </p:nvPicPr>
        <p:blipFill>
          <a:blip r:embed="rId4">
            <a:alphaModFix/>
          </a:blip>
          <a:stretch>
            <a:fillRect/>
          </a:stretch>
        </p:blipFill>
        <p:spPr>
          <a:xfrm>
            <a:off x="7047401" y="1478225"/>
            <a:ext cx="1723024" cy="281176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0" name="Google Shape;270;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Cara Berempati</a:t>
            </a:r>
            <a:endParaRPr>
              <a:latin typeface="Montserrat"/>
              <a:ea typeface="Montserrat"/>
              <a:cs typeface="Montserrat"/>
              <a:sym typeface="Montserrat"/>
            </a:endParaRPr>
          </a:p>
        </p:txBody>
      </p:sp>
      <p:sp>
        <p:nvSpPr>
          <p:cNvPr id="271" name="Google Shape;271;p37"/>
          <p:cNvSpPr txBox="1"/>
          <p:nvPr/>
        </p:nvSpPr>
        <p:spPr>
          <a:xfrm>
            <a:off x="685800" y="914388"/>
            <a:ext cx="3951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200">
                <a:solidFill>
                  <a:schemeClr val="accent1"/>
                </a:solidFill>
                <a:highlight>
                  <a:schemeClr val="lt1"/>
                </a:highlight>
                <a:latin typeface="Montserrat"/>
                <a:ea typeface="Montserrat"/>
                <a:cs typeface="Montserrat"/>
                <a:sym typeface="Montserrat"/>
              </a:rPr>
              <a:t>Contohnya begini… </a:t>
            </a:r>
            <a:endParaRPr b="1" sz="1200">
              <a:solidFill>
                <a:schemeClr val="accent1"/>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200">
              <a:solidFill>
                <a:schemeClr val="accent1"/>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highlight>
                  <a:schemeClr val="lt1"/>
                </a:highlight>
                <a:latin typeface="Montserrat"/>
                <a:ea typeface="Montserrat"/>
                <a:cs typeface="Montserrat"/>
                <a:sym typeface="Montserrat"/>
              </a:rPr>
              <a:t>Ceritanya kamu seorang UX Researcher yang sedang mengobservasi user smartphone bernama Sabrina. Kamu ingin mengamati bagaimana pengalaman dan kesulitan Sabrina ketika mengoperasikan smartphone. Dalam proses observasi, kamu bisa berfokus untuk menjawab pertanyaan ini!</a:t>
            </a:r>
            <a:endParaRPr sz="1000">
              <a:solidFill>
                <a:schemeClr val="dk1"/>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Apa yang dilakukan Sabrina? </a:t>
            </a:r>
            <a:endParaRPr b="1" sz="1000">
              <a:solidFill>
                <a:schemeClr val="dk1"/>
              </a:solidFill>
              <a:latin typeface="Montserrat"/>
              <a:ea typeface="Montserrat"/>
              <a:cs typeface="Montserrat"/>
              <a:sym typeface="Montserrat"/>
            </a:endParaRPr>
          </a:p>
          <a:p>
            <a:pPr indent="0" lvl="0" marL="45720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Sabrina mencari fitur aplikasi lewat menu search bar, nggak langsung ke menu fitur aplikasi.</a:t>
            </a:r>
            <a:endParaRPr sz="1000">
              <a:solidFill>
                <a:schemeClr val="dk1"/>
              </a:solidFill>
              <a:latin typeface="Montserrat"/>
              <a:ea typeface="Montserrat"/>
              <a:cs typeface="Montserrat"/>
              <a:sym typeface="Montserrat"/>
            </a:endParaRPr>
          </a:p>
          <a:p>
            <a:pPr indent="0" lvl="0" marL="45720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Bagaimana cara Sabrina menggunakannya? </a:t>
            </a:r>
            <a:endParaRPr b="1" sz="1000">
              <a:solidFill>
                <a:schemeClr val="dk1"/>
              </a:solidFill>
              <a:latin typeface="Montserrat"/>
              <a:ea typeface="Montserrat"/>
              <a:cs typeface="Montserrat"/>
              <a:sym typeface="Montserrat"/>
            </a:endParaRPr>
          </a:p>
          <a:p>
            <a:pPr indent="0" lvl="0" marL="45720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Ketika ingin membuka suatu aplikasi, Sabrina langsung menuju search bar dan mengetik nama aplikasi yang ia inginkan. </a:t>
            </a:r>
            <a:endParaRPr sz="1000">
              <a:solidFill>
                <a:schemeClr val="dk1"/>
              </a:solidFill>
              <a:latin typeface="Montserrat"/>
              <a:ea typeface="Montserrat"/>
              <a:cs typeface="Montserrat"/>
              <a:sym typeface="Montserrat"/>
            </a:endParaRPr>
          </a:p>
          <a:p>
            <a:pPr indent="0" lvl="0" marL="91440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b="1" lang="en" sz="1000">
                <a:solidFill>
                  <a:schemeClr val="dk1"/>
                </a:solidFill>
                <a:latin typeface="Montserrat"/>
                <a:ea typeface="Montserrat"/>
                <a:cs typeface="Montserrat"/>
                <a:sym typeface="Montserrat"/>
              </a:rPr>
              <a:t>Mengapa Sabrina melakukan itu? </a:t>
            </a:r>
            <a:endParaRPr sz="1000">
              <a:solidFill>
                <a:schemeClr val="dk1"/>
              </a:solidFill>
              <a:latin typeface="Montserrat"/>
              <a:ea typeface="Montserrat"/>
              <a:cs typeface="Montserrat"/>
              <a:sym typeface="Montserrat"/>
            </a:endParaRPr>
          </a:p>
          <a:p>
            <a:pPr indent="0" lvl="0" marL="45720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Sabrina merasa kesulitan jika harus menggeser menu aplikasi satu persatu. Baginya, hal itu terasa nggak praktis.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272" name="Google Shape;272;p37"/>
          <p:cNvPicPr preferRelativeResize="0"/>
          <p:nvPr/>
        </p:nvPicPr>
        <p:blipFill>
          <a:blip r:embed="rId3">
            <a:alphaModFix/>
          </a:blip>
          <a:stretch>
            <a:fillRect/>
          </a:stretch>
        </p:blipFill>
        <p:spPr>
          <a:xfrm>
            <a:off x="9745052" y="2709250"/>
            <a:ext cx="641725" cy="1005100"/>
          </a:xfrm>
          <a:prstGeom prst="rect">
            <a:avLst/>
          </a:prstGeom>
          <a:noFill/>
          <a:ln>
            <a:noFill/>
          </a:ln>
        </p:spPr>
      </p:pic>
      <p:pic>
        <p:nvPicPr>
          <p:cNvPr id="273" name="Google Shape;273;p37"/>
          <p:cNvPicPr preferRelativeResize="0"/>
          <p:nvPr/>
        </p:nvPicPr>
        <p:blipFill>
          <a:blip r:embed="rId4">
            <a:alphaModFix/>
          </a:blip>
          <a:stretch>
            <a:fillRect/>
          </a:stretch>
        </p:blipFill>
        <p:spPr>
          <a:xfrm>
            <a:off x="5129350" y="1172025"/>
            <a:ext cx="2921251" cy="32596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9" name="Google Shape;279;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Cara Berempati</a:t>
            </a:r>
            <a:endParaRPr>
              <a:latin typeface="Montserrat"/>
              <a:ea typeface="Montserrat"/>
              <a:cs typeface="Montserrat"/>
              <a:sym typeface="Montserrat"/>
            </a:endParaRPr>
          </a:p>
        </p:txBody>
      </p:sp>
      <p:sp>
        <p:nvSpPr>
          <p:cNvPr id="280" name="Google Shape;280;p38"/>
          <p:cNvSpPr txBox="1"/>
          <p:nvPr/>
        </p:nvSpPr>
        <p:spPr>
          <a:xfrm>
            <a:off x="685800" y="1346797"/>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Studi berbasis foto/video.</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Selain observasi, memahami pengguna juga dapat dilakukan melalui studi pada hasil dokumentasi (foto atau video).</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Jadi, ketika pengguna sedang menggunakan suatu produk, kita dapat mendokumentasikan-nya.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Hasil dokumentasi ini nantinya akan dianalisis untuk mempelajari bagaimana gerak gerik user dan permasalahan yang ia hadapi ketika menggunakan suatu produk.</a:t>
            </a:r>
            <a:endParaRPr sz="1000">
              <a:solidFill>
                <a:schemeClr val="dk1"/>
              </a:solidFill>
              <a:latin typeface="Montserrat"/>
              <a:ea typeface="Montserrat"/>
              <a:cs typeface="Montserrat"/>
              <a:sym typeface="Montserrat"/>
            </a:endParaRPr>
          </a:p>
        </p:txBody>
      </p:sp>
      <p:pic>
        <p:nvPicPr>
          <p:cNvPr id="281" name="Google Shape;281;p38"/>
          <p:cNvPicPr preferRelativeResize="0"/>
          <p:nvPr/>
        </p:nvPicPr>
        <p:blipFill>
          <a:blip r:embed="rId3">
            <a:alphaModFix/>
          </a:blip>
          <a:stretch>
            <a:fillRect/>
          </a:stretch>
        </p:blipFill>
        <p:spPr>
          <a:xfrm>
            <a:off x="5295073" y="1071500"/>
            <a:ext cx="2801476" cy="35339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7" name="Google Shape;287;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Cara Berempati</a:t>
            </a:r>
            <a:endParaRPr>
              <a:latin typeface="Montserrat"/>
              <a:ea typeface="Montserrat"/>
              <a:cs typeface="Montserrat"/>
              <a:sym typeface="Montserrat"/>
            </a:endParaRPr>
          </a:p>
        </p:txBody>
      </p:sp>
      <p:sp>
        <p:nvSpPr>
          <p:cNvPr id="288" name="Google Shape;288;p39"/>
          <p:cNvSpPr txBox="1"/>
          <p:nvPr/>
        </p:nvSpPr>
        <p:spPr>
          <a:xfrm>
            <a:off x="685800" y="12382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200">
                <a:solidFill>
                  <a:schemeClr val="accent1"/>
                </a:solidFill>
                <a:highlight>
                  <a:schemeClr val="lt1"/>
                </a:highlight>
                <a:latin typeface="Montserrat"/>
                <a:ea typeface="Montserrat"/>
                <a:cs typeface="Montserrat"/>
                <a:sym typeface="Montserrat"/>
              </a:rPr>
              <a:t>Contohnya begini…</a:t>
            </a:r>
            <a:endParaRPr b="1" sz="1200">
              <a:solidFill>
                <a:schemeClr val="accent1"/>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Sabrina baru aja membeli SIM Card byeKamu melalui booth di sebuah mall. Kemudian, Sabrina langsung menggunakannya dengan melakukan registrasi terlebih dahulu melalui aplikasi. Setelah registrasi, Sabrina membeli paket data. Sabrina terlihat bingung atas banyaknya pilihan paket data yang ditawarkan di dalam aplikasi byeKamu.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Semua proses ini Sabrina lakukan di booth byeKamu sembari didokumentasikan oleh tim UX Researcher byeKamu. Tujuan pendokumentasian itu adalah, tim UX Researcher ingin melihat pengalaman Sabrina sebagai pengguna baru dalam menggunakan aplikasi byeKamu. </a:t>
            </a:r>
            <a:endParaRPr sz="1000">
              <a:solidFill>
                <a:schemeClr val="dk1"/>
              </a:solidFill>
              <a:latin typeface="Montserrat"/>
              <a:ea typeface="Montserrat"/>
              <a:cs typeface="Montserrat"/>
              <a:sym typeface="Montserrat"/>
            </a:endParaRPr>
          </a:p>
        </p:txBody>
      </p:sp>
      <p:pic>
        <p:nvPicPr>
          <p:cNvPr id="289" name="Google Shape;289;p39"/>
          <p:cNvPicPr preferRelativeResize="0"/>
          <p:nvPr/>
        </p:nvPicPr>
        <p:blipFill>
          <a:blip r:embed="rId3">
            <a:alphaModFix/>
          </a:blip>
          <a:stretch>
            <a:fillRect/>
          </a:stretch>
        </p:blipFill>
        <p:spPr>
          <a:xfrm>
            <a:off x="5295073" y="1071500"/>
            <a:ext cx="2801476" cy="353395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5" name="Google Shape;295;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Cara Berempati</a:t>
            </a:r>
            <a:endParaRPr>
              <a:latin typeface="Montserrat"/>
              <a:ea typeface="Montserrat"/>
              <a:cs typeface="Montserrat"/>
              <a:sym typeface="Montserrat"/>
            </a:endParaRPr>
          </a:p>
        </p:txBody>
      </p:sp>
      <p:sp>
        <p:nvSpPr>
          <p:cNvPr id="296" name="Google Shape;296;p40"/>
          <p:cNvSpPr txBox="1"/>
          <p:nvPr/>
        </p:nvSpPr>
        <p:spPr>
          <a:xfrm>
            <a:off x="685800" y="1346800"/>
            <a:ext cx="3951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Wawancara.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Melalui wawancara, kita dapat melakukan </a:t>
            </a:r>
            <a:r>
              <a:rPr b="1" lang="en" sz="1000">
                <a:solidFill>
                  <a:schemeClr val="dk1"/>
                </a:solidFill>
                <a:latin typeface="Montserrat"/>
                <a:ea typeface="Montserrat"/>
                <a:cs typeface="Montserrat"/>
                <a:sym typeface="Montserrat"/>
              </a:rPr>
              <a:t>dialog secara langsung dengan user agar memahami permasalahan mereka secara komprehensif.</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Eitss, sebelum melakukan wawancara, seorang UX Researcher/Designer harus brainstorming dulu sama tim nya buat nentuin pertanyaan-pertanyaan apa yang mau diajukan ke user pas wawancara.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Kalo udah ada pertanyaan, baru deh wawancara bisa dilakukan. Ohiya, penting banget buat memilih tempat yang nyaman dan nggak bising.</a:t>
            </a:r>
            <a:endParaRPr b="1" sz="1000">
              <a:solidFill>
                <a:schemeClr val="dk1"/>
              </a:solidFill>
              <a:latin typeface="Montserrat"/>
              <a:ea typeface="Montserrat"/>
              <a:cs typeface="Montserrat"/>
              <a:sym typeface="Montserrat"/>
            </a:endParaRPr>
          </a:p>
        </p:txBody>
      </p:sp>
      <p:pic>
        <p:nvPicPr>
          <p:cNvPr id="297" name="Google Shape;297;p40">
            <a:hlinkClick r:id="rId3"/>
          </p:cNvPr>
          <p:cNvPicPr preferRelativeResize="0"/>
          <p:nvPr/>
        </p:nvPicPr>
        <p:blipFill>
          <a:blip r:embed="rId4">
            <a:alphaModFix/>
          </a:blip>
          <a:stretch>
            <a:fillRect/>
          </a:stretch>
        </p:blipFill>
        <p:spPr>
          <a:xfrm>
            <a:off x="4822450" y="1298650"/>
            <a:ext cx="3794151" cy="30887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3" name="Google Shape;303;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Cara Berempati</a:t>
            </a:r>
            <a:endParaRPr>
              <a:latin typeface="Montserrat"/>
              <a:ea typeface="Montserrat"/>
              <a:cs typeface="Montserrat"/>
              <a:sym typeface="Montserrat"/>
            </a:endParaRPr>
          </a:p>
        </p:txBody>
      </p:sp>
      <p:sp>
        <p:nvSpPr>
          <p:cNvPr id="304" name="Google Shape;304;p41"/>
          <p:cNvSpPr txBox="1"/>
          <p:nvPr/>
        </p:nvSpPr>
        <p:spPr>
          <a:xfrm>
            <a:off x="685800" y="1346800"/>
            <a:ext cx="3951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Shadowing.</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Shadowing ini maksudnya pengintaian, gengs. Dengan cara shadowing, kita bis</a:t>
            </a:r>
            <a:r>
              <a:rPr lang="en" sz="1000">
                <a:solidFill>
                  <a:schemeClr val="dk1"/>
                </a:solidFill>
                <a:latin typeface="Montserrat"/>
                <a:ea typeface="Montserrat"/>
                <a:cs typeface="Montserrat"/>
                <a:sym typeface="Montserrat"/>
              </a:rPr>
              <a:t>a mengikuti user kemanapun ia pergi dan kegiatan apa yang ia lakukan. Sehingga, kita </a:t>
            </a:r>
            <a:r>
              <a:rPr b="1" lang="en" sz="1000">
                <a:solidFill>
                  <a:schemeClr val="dk1"/>
                </a:solidFill>
                <a:latin typeface="Montserrat"/>
                <a:ea typeface="Montserrat"/>
                <a:cs typeface="Montserrat"/>
                <a:sym typeface="Montserrat"/>
              </a:rPr>
              <a:t>dapat merasakan pengalaman yang sama kayak user.</a:t>
            </a:r>
            <a:r>
              <a:rPr lang="en" sz="1000">
                <a:solidFill>
                  <a:schemeClr val="dk1"/>
                </a:solidFill>
                <a:latin typeface="Montserrat"/>
                <a:ea typeface="Montserrat"/>
                <a:cs typeface="Montserrat"/>
                <a:sym typeface="Montserrat"/>
              </a:rPr>
              <a:t> Misal, user naik bus, maka kita juga ikutan naik bus.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Eitss, tapi shadowing ini nggak kayak James Bond yang ngintai orang secara diam-diam yaa! Shadowing dilakukan dengan persetujuan dari user. Jadi, kita harus minta izin dulu.</a:t>
            </a:r>
            <a:endParaRPr b="1" sz="1000">
              <a:solidFill>
                <a:schemeClr val="dk1"/>
              </a:solidFill>
              <a:latin typeface="Montserrat"/>
              <a:ea typeface="Montserrat"/>
              <a:cs typeface="Montserrat"/>
              <a:sym typeface="Montserrat"/>
            </a:endParaRPr>
          </a:p>
        </p:txBody>
      </p:sp>
      <p:pic>
        <p:nvPicPr>
          <p:cNvPr id="305" name="Google Shape;305;p41"/>
          <p:cNvPicPr preferRelativeResize="0"/>
          <p:nvPr/>
        </p:nvPicPr>
        <p:blipFill>
          <a:blip r:embed="rId3">
            <a:alphaModFix/>
          </a:blip>
          <a:stretch>
            <a:fillRect/>
          </a:stretch>
        </p:blipFill>
        <p:spPr>
          <a:xfrm>
            <a:off x="5386179" y="1346807"/>
            <a:ext cx="2011900" cy="2842593"/>
          </a:xfrm>
          <a:prstGeom prst="rect">
            <a:avLst/>
          </a:prstGeom>
          <a:noFill/>
          <a:ln>
            <a:noFill/>
          </a:ln>
        </p:spPr>
      </p:pic>
      <p:pic>
        <p:nvPicPr>
          <p:cNvPr id="306" name="Google Shape;306;p41"/>
          <p:cNvPicPr preferRelativeResize="0"/>
          <p:nvPr/>
        </p:nvPicPr>
        <p:blipFill>
          <a:blip r:embed="rId4">
            <a:alphaModFix/>
          </a:blip>
          <a:stretch>
            <a:fillRect/>
          </a:stretch>
        </p:blipFill>
        <p:spPr>
          <a:xfrm>
            <a:off x="7712676" y="1612612"/>
            <a:ext cx="903926" cy="231097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2" name="Google Shape;312;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Cara Berempati</a:t>
            </a:r>
            <a:endParaRPr>
              <a:latin typeface="Montserrat"/>
              <a:ea typeface="Montserrat"/>
              <a:cs typeface="Montserrat"/>
              <a:sym typeface="Montserrat"/>
            </a:endParaRPr>
          </a:p>
        </p:txBody>
      </p:sp>
      <p:sp>
        <p:nvSpPr>
          <p:cNvPr id="313" name="Google Shape;313;p42"/>
          <p:cNvSpPr txBox="1"/>
          <p:nvPr/>
        </p:nvSpPr>
        <p:spPr>
          <a:xfrm>
            <a:off x="685800" y="1346797"/>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Diary Study.</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Diary study </a:t>
            </a:r>
            <a:r>
              <a:rPr b="1" lang="en" sz="1000">
                <a:solidFill>
                  <a:schemeClr val="dk1"/>
                </a:solidFill>
                <a:latin typeface="Montserrat"/>
                <a:ea typeface="Montserrat"/>
                <a:cs typeface="Montserrat"/>
                <a:sym typeface="Montserrat"/>
              </a:rPr>
              <a:t>mengamati permasalahan user dari catatan hariannya.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Awalnya, kita menginstruksikan user untuk mencatat pengalamannya dari hari ke hari selama periode tertentu. Nah, hasil catatan itu yang bakal kita gunakan untuk menelaah pengalaman si user.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Ohiya, diary study ini perlu </a:t>
            </a:r>
            <a:r>
              <a:rPr lang="en" sz="1000">
                <a:solidFill>
                  <a:schemeClr val="dk1"/>
                </a:solidFill>
                <a:latin typeface="Montserrat"/>
                <a:ea typeface="Montserrat"/>
                <a:cs typeface="Montserrat"/>
                <a:sym typeface="Montserrat"/>
              </a:rPr>
              <a:t>dikombinasikan</a:t>
            </a:r>
            <a:r>
              <a:rPr lang="en" sz="1000">
                <a:solidFill>
                  <a:schemeClr val="dk1"/>
                </a:solidFill>
                <a:latin typeface="Montserrat"/>
                <a:ea typeface="Montserrat"/>
                <a:cs typeface="Montserrat"/>
                <a:sym typeface="Montserrat"/>
              </a:rPr>
              <a:t> sama wawancara. Kalo cuma pake metode diary study aja, biasanya sih kurang efektif.</a:t>
            </a:r>
            <a:endParaRPr sz="1000">
              <a:solidFill>
                <a:schemeClr val="dk1"/>
              </a:solidFill>
              <a:latin typeface="Montserrat"/>
              <a:ea typeface="Montserrat"/>
              <a:cs typeface="Montserrat"/>
              <a:sym typeface="Montserrat"/>
            </a:endParaRPr>
          </a:p>
        </p:txBody>
      </p:sp>
      <p:pic>
        <p:nvPicPr>
          <p:cNvPr id="314" name="Google Shape;314;p42"/>
          <p:cNvPicPr preferRelativeResize="0"/>
          <p:nvPr/>
        </p:nvPicPr>
        <p:blipFill>
          <a:blip r:embed="rId3">
            <a:alphaModFix/>
          </a:blip>
          <a:stretch>
            <a:fillRect/>
          </a:stretch>
        </p:blipFill>
        <p:spPr>
          <a:xfrm>
            <a:off x="5257799" y="1047250"/>
            <a:ext cx="2943350" cy="36490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3"/>
          <p:cNvSpPr txBox="1"/>
          <p:nvPr>
            <p:ph type="title"/>
          </p:nvPr>
        </p:nvSpPr>
        <p:spPr>
          <a:xfrm>
            <a:off x="914400" y="1087325"/>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latin typeface="Montserrat"/>
                <a:ea typeface="Montserrat"/>
                <a:cs typeface="Montserrat"/>
                <a:sym typeface="Montserrat"/>
              </a:rPr>
              <a:t>Setelah memahami </a:t>
            </a:r>
            <a:r>
              <a:rPr lang="en" sz="1400">
                <a:latin typeface="Montserrat"/>
                <a:ea typeface="Montserrat"/>
                <a:cs typeface="Montserrat"/>
                <a:sym typeface="Montserrat"/>
              </a:rPr>
              <a:t>user</a:t>
            </a:r>
            <a:r>
              <a:rPr lang="en" sz="1400">
                <a:latin typeface="Montserrat"/>
                <a:ea typeface="Montserrat"/>
                <a:cs typeface="Montserrat"/>
                <a:sym typeface="Montserrat"/>
              </a:rPr>
              <a:t> melalui salah satu cara di atas, </a:t>
            </a:r>
            <a:endParaRPr sz="1400">
              <a:latin typeface="Montserrat"/>
              <a:ea typeface="Montserrat"/>
              <a:cs typeface="Montserrat"/>
              <a:sym typeface="Montserrat"/>
            </a:endParaRPr>
          </a:p>
          <a:p>
            <a:pPr indent="0" lvl="0" marL="0" rtl="0" algn="ctr">
              <a:spcBef>
                <a:spcPts val="0"/>
              </a:spcBef>
              <a:spcAft>
                <a:spcPts val="0"/>
              </a:spcAft>
              <a:buNone/>
            </a:pPr>
            <a:r>
              <a:rPr lang="en" sz="1400">
                <a:latin typeface="Montserrat"/>
                <a:ea typeface="Montserrat"/>
                <a:cs typeface="Montserrat"/>
                <a:sym typeface="Montserrat"/>
              </a:rPr>
              <a:t>langkah selanjutnya adalah melakukan </a:t>
            </a:r>
            <a:r>
              <a:rPr lang="en" sz="1400">
                <a:solidFill>
                  <a:schemeClr val="accent1"/>
                </a:solidFill>
                <a:latin typeface="Montserrat"/>
                <a:ea typeface="Montserrat"/>
                <a:cs typeface="Montserrat"/>
                <a:sym typeface="Montserrat"/>
              </a:rPr>
              <a:t>empathy maps. </a:t>
            </a:r>
            <a:endParaRPr sz="1400">
              <a:solidFill>
                <a:schemeClr val="accent1"/>
              </a:solidFill>
              <a:latin typeface="Montserrat"/>
              <a:ea typeface="Montserrat"/>
              <a:cs typeface="Montserrat"/>
              <a:sym typeface="Montserrat"/>
            </a:endParaRPr>
          </a:p>
        </p:txBody>
      </p:sp>
      <p:sp>
        <p:nvSpPr>
          <p:cNvPr id="320" name="Google Shape;320;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21" name="Google Shape;321;p43"/>
          <p:cNvPicPr preferRelativeResize="0"/>
          <p:nvPr/>
        </p:nvPicPr>
        <p:blipFill>
          <a:blip r:embed="rId3">
            <a:alphaModFix/>
          </a:blip>
          <a:stretch>
            <a:fillRect/>
          </a:stretch>
        </p:blipFill>
        <p:spPr>
          <a:xfrm>
            <a:off x="3257260" y="2034475"/>
            <a:ext cx="2629480" cy="31090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7" name="Google Shape;327;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Empathy Maps</a:t>
            </a:r>
            <a:endParaRPr/>
          </a:p>
        </p:txBody>
      </p:sp>
      <p:sp>
        <p:nvSpPr>
          <p:cNvPr id="328" name="Google Shape;328;p44"/>
          <p:cNvSpPr txBox="1"/>
          <p:nvPr/>
        </p:nvSpPr>
        <p:spPr>
          <a:xfrm>
            <a:off x="685800" y="1334400"/>
            <a:ext cx="3951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Apa sih e</a:t>
            </a:r>
            <a:r>
              <a:rPr b="1" lang="en" sz="1600">
                <a:solidFill>
                  <a:srgbClr val="743673"/>
                </a:solidFill>
                <a:highlight>
                  <a:schemeClr val="lt1"/>
                </a:highlight>
                <a:latin typeface="Montserrat"/>
                <a:ea typeface="Montserrat"/>
                <a:cs typeface="Montserrat"/>
                <a:sym typeface="Montserrat"/>
              </a:rPr>
              <a:t>mpathy maps? </a:t>
            </a:r>
            <a:endParaRPr b="1" sz="16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rPr lang="en" sz="1000">
                <a:solidFill>
                  <a:schemeClr val="dk1"/>
                </a:solidFill>
                <a:latin typeface="Montserrat"/>
                <a:ea typeface="Montserrat"/>
                <a:cs typeface="Montserrat"/>
                <a:sym typeface="Montserrat"/>
              </a:rPr>
              <a:t>Empathy maps merupakan </a:t>
            </a:r>
            <a:r>
              <a:rPr b="1" lang="en" sz="1000">
                <a:solidFill>
                  <a:schemeClr val="dk1"/>
                </a:solidFill>
                <a:latin typeface="Montserrat"/>
                <a:ea typeface="Montserrat"/>
                <a:cs typeface="Montserrat"/>
                <a:sym typeface="Montserrat"/>
              </a:rPr>
              <a:t>tools (cara) untuk menggabungkan dan memetakan informasi yang telah diperoleh pada tahap sebelumnya. </a:t>
            </a:r>
            <a:endParaRPr b="1"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rPr lang="en" sz="1000">
                <a:solidFill>
                  <a:schemeClr val="dk1"/>
                </a:solidFill>
                <a:latin typeface="Montserrat"/>
                <a:ea typeface="Montserrat"/>
                <a:cs typeface="Montserrat"/>
                <a:sym typeface="Montserrat"/>
              </a:rPr>
              <a:t>Jadi, setelah kita melakukan observasi, wawancara, shadowing, studi dokumen, atau diary study, kita memetakan informasi melalui empathy maps ini. </a:t>
            </a:r>
            <a:endParaRPr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rPr lang="en" sz="1000">
                <a:solidFill>
                  <a:schemeClr val="dk1"/>
                </a:solidFill>
                <a:latin typeface="Montserrat"/>
                <a:ea typeface="Montserrat"/>
                <a:cs typeface="Montserrat"/>
                <a:sym typeface="Montserrat"/>
              </a:rPr>
              <a:t>Melalui empathy maps, kita  dapat menangkap apa yang user katakan, pikirkan, dan rasakan.</a:t>
            </a:r>
            <a:endParaRPr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rPr lang="en" sz="1000">
                <a:solidFill>
                  <a:schemeClr val="dk1"/>
                </a:solidFill>
                <a:latin typeface="Montserrat"/>
                <a:ea typeface="Montserrat"/>
                <a:cs typeface="Montserrat"/>
                <a:sym typeface="Montserrat"/>
              </a:rPr>
              <a:t>Bentuk empathy maps bisa kamu lihat pada halaman selanjutnya yaa~</a:t>
            </a:r>
            <a:endParaRPr sz="1000">
              <a:solidFill>
                <a:schemeClr val="dk1"/>
              </a:solidFill>
              <a:latin typeface="Montserrat"/>
              <a:ea typeface="Montserrat"/>
              <a:cs typeface="Montserrat"/>
              <a:sym typeface="Montserrat"/>
            </a:endParaRPr>
          </a:p>
        </p:txBody>
      </p:sp>
      <p:pic>
        <p:nvPicPr>
          <p:cNvPr id="329" name="Google Shape;329;p44"/>
          <p:cNvPicPr preferRelativeResize="0"/>
          <p:nvPr/>
        </p:nvPicPr>
        <p:blipFill>
          <a:blip r:embed="rId3">
            <a:alphaModFix/>
          </a:blip>
          <a:stretch>
            <a:fillRect/>
          </a:stretch>
        </p:blipFill>
        <p:spPr>
          <a:xfrm>
            <a:off x="4891750" y="1139025"/>
            <a:ext cx="3829149" cy="350917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5" name="Google Shape;335;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Empathy Maps</a:t>
            </a:r>
            <a:endParaRPr/>
          </a:p>
        </p:txBody>
      </p:sp>
      <p:pic>
        <p:nvPicPr>
          <p:cNvPr id="336" name="Google Shape;336;p45"/>
          <p:cNvPicPr preferRelativeResize="0"/>
          <p:nvPr/>
        </p:nvPicPr>
        <p:blipFill>
          <a:blip r:embed="rId3">
            <a:alphaModFix/>
          </a:blip>
          <a:stretch>
            <a:fillRect/>
          </a:stretch>
        </p:blipFill>
        <p:spPr>
          <a:xfrm>
            <a:off x="2457450" y="758750"/>
            <a:ext cx="4229100" cy="42291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2" name="Google Shape;342;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Empathy Maps</a:t>
            </a:r>
            <a:endParaRPr/>
          </a:p>
        </p:txBody>
      </p:sp>
      <p:sp>
        <p:nvSpPr>
          <p:cNvPr id="343" name="Google Shape;343;p46"/>
          <p:cNvSpPr txBox="1"/>
          <p:nvPr/>
        </p:nvSpPr>
        <p:spPr>
          <a:xfrm>
            <a:off x="685800" y="1334400"/>
            <a:ext cx="3951300" cy="3200400"/>
          </a:xfrm>
          <a:prstGeom prst="rect">
            <a:avLst/>
          </a:prstGeom>
          <a:noFill/>
          <a:ln>
            <a:noFill/>
          </a:ln>
        </p:spPr>
        <p:txBody>
          <a:bodyPr anchorCtr="0" anchor="t" bIns="0" lIns="0" spcFirstLastPara="1" rIns="0" wrap="square" tIns="0">
            <a:noAutofit/>
          </a:bodyPr>
          <a:lstStyle/>
          <a:p>
            <a:pPr indent="0" lvl="0" marL="0" rtl="0" algn="just">
              <a:lnSpc>
                <a:spcPct val="128571"/>
              </a:lnSpc>
              <a:spcBef>
                <a:spcPts val="0"/>
              </a:spcBef>
              <a:spcAft>
                <a:spcPts val="0"/>
              </a:spcAft>
              <a:buNone/>
            </a:pPr>
            <a:r>
              <a:rPr lang="en" sz="1000">
                <a:solidFill>
                  <a:schemeClr val="dk1"/>
                </a:solidFill>
                <a:latin typeface="Montserrat"/>
                <a:ea typeface="Montserrat"/>
                <a:cs typeface="Montserrat"/>
                <a:sym typeface="Montserrat"/>
              </a:rPr>
              <a:t>Empathy maps terdiri dari empat elemen (biasa disebut kuadran), yaitu </a:t>
            </a:r>
            <a:r>
              <a:rPr b="1" lang="en" sz="1000">
                <a:solidFill>
                  <a:schemeClr val="dk1"/>
                </a:solidFill>
                <a:latin typeface="Montserrat"/>
                <a:ea typeface="Montserrat"/>
                <a:cs typeface="Montserrat"/>
                <a:sym typeface="Montserrat"/>
              </a:rPr>
              <a:t>says, thinks, does, feels.</a:t>
            </a:r>
            <a:endParaRPr b="1"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rPr b="1" lang="en" sz="1000">
                <a:solidFill>
                  <a:schemeClr val="dk1"/>
                </a:solidFill>
                <a:latin typeface="Montserrat"/>
                <a:ea typeface="Montserrat"/>
                <a:cs typeface="Montserrat"/>
                <a:sym typeface="Montserrat"/>
              </a:rPr>
              <a:t>Says merupakan perkataan, </a:t>
            </a:r>
            <a:r>
              <a:rPr lang="en" sz="1000">
                <a:solidFill>
                  <a:schemeClr val="dk1"/>
                </a:solidFill>
                <a:latin typeface="Montserrat"/>
                <a:ea typeface="Montserrat"/>
                <a:cs typeface="Montserrat"/>
                <a:sym typeface="Montserrat"/>
              </a:rPr>
              <a:t>yaitu apa yang</a:t>
            </a:r>
            <a:r>
              <a:rPr lang="en" sz="1000">
                <a:solidFill>
                  <a:schemeClr val="dk1"/>
                </a:solidFill>
                <a:latin typeface="Montserrat"/>
                <a:ea typeface="Montserrat"/>
                <a:cs typeface="Montserrat"/>
                <a:sym typeface="Montserrat"/>
              </a:rPr>
              <a:t> dikatakan user dalam wawancara atau studi lainnya. </a:t>
            </a:r>
            <a:endParaRPr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rPr b="1" lang="en" sz="1000">
                <a:solidFill>
                  <a:schemeClr val="dk1"/>
                </a:solidFill>
                <a:latin typeface="Montserrat"/>
                <a:ea typeface="Montserrat"/>
                <a:cs typeface="Montserrat"/>
                <a:sym typeface="Montserrat"/>
              </a:rPr>
              <a:t>Thinks merupakan pikiran,</a:t>
            </a:r>
            <a:r>
              <a:rPr lang="en" sz="1000">
                <a:solidFill>
                  <a:schemeClr val="dk1"/>
                </a:solidFill>
                <a:latin typeface="Montserrat"/>
                <a:ea typeface="Montserrat"/>
                <a:cs typeface="Montserrat"/>
                <a:sym typeface="Montserrat"/>
              </a:rPr>
              <a:t> yaitu apa yang dipikirkan user ketika menggunakan produk.</a:t>
            </a:r>
            <a:endParaRPr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Does merupakan tindakan, </a:t>
            </a:r>
            <a:r>
              <a:rPr lang="en" sz="1000">
                <a:solidFill>
                  <a:schemeClr val="dk1"/>
                </a:solidFill>
                <a:latin typeface="Montserrat"/>
                <a:ea typeface="Montserrat"/>
                <a:cs typeface="Montserrat"/>
                <a:sym typeface="Montserrat"/>
              </a:rPr>
              <a:t>yaitu apa yang dilakukan user secara fisik. </a:t>
            </a:r>
            <a:endParaRPr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rPr b="1" lang="en" sz="1000">
                <a:solidFill>
                  <a:schemeClr val="dk1"/>
                </a:solidFill>
                <a:latin typeface="Montserrat"/>
                <a:ea typeface="Montserrat"/>
                <a:cs typeface="Montserrat"/>
                <a:sym typeface="Montserrat"/>
              </a:rPr>
              <a:t>Feels adalah perasaan,</a:t>
            </a:r>
            <a:r>
              <a:rPr lang="en" sz="1000">
                <a:solidFill>
                  <a:schemeClr val="dk1"/>
                </a:solidFill>
                <a:latin typeface="Montserrat"/>
                <a:ea typeface="Montserrat"/>
                <a:cs typeface="Montserrat"/>
                <a:sym typeface="Montserrat"/>
              </a:rPr>
              <a:t> yaitu emosional user ketika menggunakan produk.</a:t>
            </a:r>
            <a:endParaRPr sz="1000">
              <a:solidFill>
                <a:schemeClr val="dk1"/>
              </a:solidFill>
              <a:latin typeface="Montserrat"/>
              <a:ea typeface="Montserrat"/>
              <a:cs typeface="Montserrat"/>
              <a:sym typeface="Montserrat"/>
            </a:endParaRPr>
          </a:p>
        </p:txBody>
      </p:sp>
      <p:pic>
        <p:nvPicPr>
          <p:cNvPr id="344" name="Google Shape;344;p46"/>
          <p:cNvPicPr preferRelativeResize="0"/>
          <p:nvPr/>
        </p:nvPicPr>
        <p:blipFill>
          <a:blip r:embed="rId3">
            <a:alphaModFix/>
          </a:blip>
          <a:stretch>
            <a:fillRect/>
          </a:stretch>
        </p:blipFill>
        <p:spPr>
          <a:xfrm>
            <a:off x="5133625" y="1134900"/>
            <a:ext cx="3248374" cy="324837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0" name="Google Shape;350;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Empathy Maps</a:t>
            </a:r>
            <a:endParaRPr/>
          </a:p>
        </p:txBody>
      </p:sp>
      <p:sp>
        <p:nvSpPr>
          <p:cNvPr id="351" name="Google Shape;351;p47"/>
          <p:cNvSpPr txBox="1"/>
          <p:nvPr/>
        </p:nvSpPr>
        <p:spPr>
          <a:xfrm>
            <a:off x="1861500" y="1520775"/>
            <a:ext cx="5421000" cy="49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000">
                <a:latin typeface="Montserrat"/>
                <a:ea typeface="Montserrat"/>
                <a:cs typeface="Montserrat"/>
                <a:sym typeface="Montserrat"/>
              </a:rPr>
              <a:t>I</a:t>
            </a:r>
            <a:r>
              <a:rPr b="1" lang="en" sz="1000">
                <a:latin typeface="Montserrat"/>
                <a:ea typeface="Montserrat"/>
                <a:cs typeface="Montserrat"/>
                <a:sym typeface="Montserrat"/>
              </a:rPr>
              <a:t>ni adalah empathy maps dari proses wawancara dan observasi terhadap seorang user saat berbelanja </a:t>
            </a:r>
            <a:r>
              <a:rPr b="1" lang="en" sz="1000">
                <a:latin typeface="Montserrat"/>
                <a:ea typeface="Montserrat"/>
                <a:cs typeface="Montserrat"/>
                <a:sym typeface="Montserrat"/>
              </a:rPr>
              <a:t>menggunakan e-commerce.</a:t>
            </a:r>
            <a:endParaRPr b="1" sz="1000">
              <a:latin typeface="Montserrat"/>
              <a:ea typeface="Montserrat"/>
              <a:cs typeface="Montserrat"/>
              <a:sym typeface="Montserrat"/>
            </a:endParaRPr>
          </a:p>
        </p:txBody>
      </p:sp>
      <p:sp>
        <p:nvSpPr>
          <p:cNvPr id="352" name="Google Shape;352;p47"/>
          <p:cNvSpPr txBox="1"/>
          <p:nvPr/>
        </p:nvSpPr>
        <p:spPr>
          <a:xfrm>
            <a:off x="1097250" y="972875"/>
            <a:ext cx="69495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743673"/>
                </a:solidFill>
                <a:latin typeface="Montserrat"/>
                <a:ea typeface="Montserrat"/>
                <a:cs typeface="Montserrat"/>
                <a:sym typeface="Montserrat"/>
              </a:rPr>
              <a:t>Biar lebih jelas, coba perhatiin contoh berikut yaa!</a:t>
            </a:r>
            <a:endParaRPr b="1" sz="1600">
              <a:solidFill>
                <a:srgbClr val="743673"/>
              </a:solidFill>
              <a:latin typeface="Montserrat"/>
              <a:ea typeface="Montserrat"/>
              <a:cs typeface="Montserrat"/>
              <a:sym typeface="Montserrat"/>
            </a:endParaRPr>
          </a:p>
        </p:txBody>
      </p:sp>
      <p:pic>
        <p:nvPicPr>
          <p:cNvPr id="353" name="Google Shape;353;p47"/>
          <p:cNvPicPr preferRelativeResize="0"/>
          <p:nvPr/>
        </p:nvPicPr>
        <p:blipFill>
          <a:blip r:embed="rId3">
            <a:alphaModFix/>
          </a:blip>
          <a:stretch>
            <a:fillRect/>
          </a:stretch>
        </p:blipFill>
        <p:spPr>
          <a:xfrm>
            <a:off x="507513" y="2335200"/>
            <a:ext cx="8128973" cy="191712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9" name="Google Shape;359;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Empathy Maps</a:t>
            </a:r>
            <a:endParaRPr/>
          </a:p>
        </p:txBody>
      </p:sp>
      <p:pic>
        <p:nvPicPr>
          <p:cNvPr id="360" name="Google Shape;360;p48"/>
          <p:cNvPicPr preferRelativeResize="0"/>
          <p:nvPr/>
        </p:nvPicPr>
        <p:blipFill>
          <a:blip r:embed="rId3">
            <a:alphaModFix/>
          </a:blip>
          <a:stretch>
            <a:fillRect/>
          </a:stretch>
        </p:blipFill>
        <p:spPr>
          <a:xfrm>
            <a:off x="4845538" y="1509925"/>
            <a:ext cx="3499972" cy="3015775"/>
          </a:xfrm>
          <a:prstGeom prst="rect">
            <a:avLst/>
          </a:prstGeom>
          <a:noFill/>
          <a:ln>
            <a:noFill/>
          </a:ln>
        </p:spPr>
      </p:pic>
      <p:sp>
        <p:nvSpPr>
          <p:cNvPr id="361" name="Google Shape;361;p48"/>
          <p:cNvSpPr txBox="1"/>
          <p:nvPr/>
        </p:nvSpPr>
        <p:spPr>
          <a:xfrm>
            <a:off x="1034346" y="4631262"/>
            <a:ext cx="2818200" cy="338700"/>
          </a:xfrm>
          <a:prstGeom prst="rect">
            <a:avLst/>
          </a:prstGeom>
          <a:noFill/>
          <a:ln>
            <a:noFill/>
          </a:ln>
        </p:spPr>
        <p:txBody>
          <a:bodyPr anchorCtr="0" anchor="t" bIns="91425" lIns="91425" spcFirstLastPara="1" rIns="91425" wrap="square" tIns="91425">
            <a:spAutoFit/>
          </a:bodyPr>
          <a:lstStyle/>
          <a:p>
            <a:pPr indent="0" lvl="0" marL="0" marR="38100" rtl="0" algn="ctr">
              <a:lnSpc>
                <a:spcPct val="128571"/>
              </a:lnSpc>
              <a:spcBef>
                <a:spcPts val="0"/>
              </a:spcBef>
              <a:spcAft>
                <a:spcPts val="0"/>
              </a:spcAft>
              <a:buNone/>
            </a:pPr>
            <a:r>
              <a:rPr b="1" lang="en" sz="1000" u="sng">
                <a:solidFill>
                  <a:schemeClr val="dk1"/>
                </a:solidFill>
                <a:latin typeface="Montserrat"/>
                <a:ea typeface="Montserrat"/>
                <a:cs typeface="Montserrat"/>
                <a:sym typeface="Montserrat"/>
                <a:hlinkClick r:id="rId4">
                  <a:extLst>
                    <a:ext uri="{A12FA001-AC4F-418D-AE19-62706E023703}">
                      <ahyp:hlinkClr val="tx"/>
                    </a:ext>
                  </a:extLst>
                </a:hlinkClick>
              </a:rPr>
              <a:t>Nielsen Norman Group</a:t>
            </a:r>
            <a:endParaRPr b="1" sz="1000" u="sng">
              <a:solidFill>
                <a:schemeClr val="dk1"/>
              </a:solidFill>
              <a:latin typeface="Montserrat"/>
              <a:ea typeface="Montserrat"/>
              <a:cs typeface="Montserrat"/>
              <a:sym typeface="Montserrat"/>
            </a:endParaRPr>
          </a:p>
        </p:txBody>
      </p:sp>
      <p:sp>
        <p:nvSpPr>
          <p:cNvPr id="362" name="Google Shape;362;p48"/>
          <p:cNvSpPr txBox="1"/>
          <p:nvPr/>
        </p:nvSpPr>
        <p:spPr>
          <a:xfrm>
            <a:off x="5186421" y="4631262"/>
            <a:ext cx="2818200" cy="338700"/>
          </a:xfrm>
          <a:prstGeom prst="rect">
            <a:avLst/>
          </a:prstGeom>
          <a:noFill/>
          <a:ln>
            <a:noFill/>
          </a:ln>
        </p:spPr>
        <p:txBody>
          <a:bodyPr anchorCtr="0" anchor="t" bIns="91425" lIns="91425" spcFirstLastPara="1" rIns="91425" wrap="square" tIns="91425">
            <a:spAutoFit/>
          </a:bodyPr>
          <a:lstStyle/>
          <a:p>
            <a:pPr indent="0" lvl="0" marL="0" marR="38100" rtl="0" algn="ctr">
              <a:lnSpc>
                <a:spcPct val="128571"/>
              </a:lnSpc>
              <a:spcBef>
                <a:spcPts val="0"/>
              </a:spcBef>
              <a:spcAft>
                <a:spcPts val="0"/>
              </a:spcAft>
              <a:buNone/>
            </a:pPr>
            <a:r>
              <a:rPr b="1" lang="en" sz="1000" u="sng">
                <a:solidFill>
                  <a:schemeClr val="dk1"/>
                </a:solidFill>
                <a:latin typeface="Montserrat"/>
                <a:ea typeface="Montserrat"/>
                <a:cs typeface="Montserrat"/>
                <a:sym typeface="Montserrat"/>
                <a:hlinkClick r:id="rId5">
                  <a:extLst>
                    <a:ext uri="{A12FA001-AC4F-418D-AE19-62706E023703}">
                      <ahyp:hlinkClr val="tx"/>
                    </a:ext>
                  </a:extLst>
                </a:hlinkClick>
              </a:rPr>
              <a:t>IBM</a:t>
            </a:r>
            <a:endParaRPr b="1" sz="1000" u="sng">
              <a:solidFill>
                <a:schemeClr val="dk1"/>
              </a:solidFill>
              <a:latin typeface="Montserrat"/>
              <a:ea typeface="Montserrat"/>
              <a:cs typeface="Montserrat"/>
              <a:sym typeface="Montserrat"/>
            </a:endParaRPr>
          </a:p>
        </p:txBody>
      </p:sp>
      <p:pic>
        <p:nvPicPr>
          <p:cNvPr id="363" name="Google Shape;363;p48">
            <a:hlinkClick r:id="rId6"/>
          </p:cNvPr>
          <p:cNvPicPr preferRelativeResize="0"/>
          <p:nvPr/>
        </p:nvPicPr>
        <p:blipFill rotWithShape="1">
          <a:blip r:embed="rId7">
            <a:alphaModFix/>
          </a:blip>
          <a:srcRect b="3851" l="0" r="3540" t="10561"/>
          <a:stretch/>
        </p:blipFill>
        <p:spPr>
          <a:xfrm>
            <a:off x="784750" y="1509914"/>
            <a:ext cx="3317400" cy="3015786"/>
          </a:xfrm>
          <a:prstGeom prst="rect">
            <a:avLst/>
          </a:prstGeom>
          <a:noFill/>
          <a:ln>
            <a:noFill/>
          </a:ln>
        </p:spPr>
      </p:pic>
      <p:sp>
        <p:nvSpPr>
          <p:cNvPr id="364" name="Google Shape;364;p48"/>
          <p:cNvSpPr txBox="1"/>
          <p:nvPr/>
        </p:nvSpPr>
        <p:spPr>
          <a:xfrm>
            <a:off x="603450" y="832825"/>
            <a:ext cx="82419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743673"/>
                </a:solidFill>
                <a:latin typeface="Montserrat"/>
                <a:ea typeface="Montserrat"/>
                <a:cs typeface="Montserrat"/>
                <a:sym typeface="Montserrat"/>
              </a:rPr>
              <a:t>Jika disajikan dalam maps, bentuknya akan seperti di bawah ini!</a:t>
            </a:r>
            <a:endParaRPr b="1" sz="1600">
              <a:solidFill>
                <a:srgbClr val="743673"/>
              </a:solidFill>
              <a:latin typeface="Montserrat"/>
              <a:ea typeface="Montserrat"/>
              <a:cs typeface="Montserrat"/>
              <a:sym typeface="Montserrat"/>
            </a:endParaRPr>
          </a:p>
          <a:p>
            <a:pPr indent="0" lvl="0" marL="0" rtl="0" algn="ctr">
              <a:spcBef>
                <a:spcPts val="0"/>
              </a:spcBef>
              <a:spcAft>
                <a:spcPts val="0"/>
              </a:spcAft>
              <a:buNone/>
            </a:pPr>
            <a:r>
              <a:t/>
            </a:r>
            <a:endParaRPr b="1" sz="600">
              <a:solidFill>
                <a:srgbClr val="743673"/>
              </a:solidFill>
              <a:latin typeface="Montserrat"/>
              <a:ea typeface="Montserrat"/>
              <a:cs typeface="Montserrat"/>
              <a:sym typeface="Montserrat"/>
            </a:endParaRPr>
          </a:p>
          <a:p>
            <a:pPr indent="0" lvl="0" marL="0" rtl="0" algn="ctr">
              <a:spcBef>
                <a:spcPts val="0"/>
              </a:spcBef>
              <a:spcAft>
                <a:spcPts val="0"/>
              </a:spcAft>
              <a:buNone/>
            </a:pPr>
            <a:r>
              <a:rPr b="1" lang="en" sz="1000">
                <a:solidFill>
                  <a:schemeClr val="dk1"/>
                </a:solidFill>
                <a:latin typeface="Montserrat"/>
                <a:ea typeface="Montserrat"/>
                <a:cs typeface="Montserrat"/>
                <a:sym typeface="Montserrat"/>
              </a:rPr>
              <a:t>Kamu bisa klik masing-masing keterangan di bawah untuk mengetahui lebih lanjut~ </a:t>
            </a:r>
            <a:endParaRPr b="1" sz="1000">
              <a:solidFill>
                <a:schemeClr val="dk1"/>
              </a:solidFill>
              <a:latin typeface="Montserrat"/>
              <a:ea typeface="Montserrat"/>
              <a:cs typeface="Montserrat"/>
              <a:sym typeface="Montserra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0" name="Google Shape;370;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Empathy Maps</a:t>
            </a:r>
            <a:endParaRPr/>
          </a:p>
        </p:txBody>
      </p:sp>
      <p:sp>
        <p:nvSpPr>
          <p:cNvPr id="371" name="Google Shape;371;p49"/>
          <p:cNvSpPr txBox="1"/>
          <p:nvPr/>
        </p:nvSpPr>
        <p:spPr>
          <a:xfrm>
            <a:off x="685800" y="1371597"/>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Mari kita </a:t>
            </a:r>
            <a:r>
              <a:rPr b="1" lang="en" sz="1600">
                <a:solidFill>
                  <a:srgbClr val="743673"/>
                </a:solidFill>
                <a:highlight>
                  <a:schemeClr val="lt1"/>
                </a:highlight>
                <a:latin typeface="Montserrat"/>
                <a:ea typeface="Montserrat"/>
                <a:cs typeface="Montserrat"/>
                <a:sym typeface="Montserrat"/>
              </a:rPr>
              <a:t>coba</a:t>
            </a:r>
            <a:r>
              <a:rPr b="1" lang="en" sz="1600">
                <a:solidFill>
                  <a:srgbClr val="743673"/>
                </a:solidFill>
                <a:highlight>
                  <a:schemeClr val="lt1"/>
                </a:highlight>
                <a:latin typeface="Montserrat"/>
                <a:ea typeface="Montserrat"/>
                <a:cs typeface="Montserrat"/>
                <a:sym typeface="Montserrat"/>
              </a:rPr>
              <a:t>~ </a:t>
            </a:r>
            <a:endParaRPr b="1" sz="16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rPr lang="en" sz="1000">
                <a:solidFill>
                  <a:schemeClr val="dk1"/>
                </a:solidFill>
                <a:latin typeface="Montserrat"/>
                <a:ea typeface="Montserrat"/>
                <a:cs typeface="Montserrat"/>
                <a:sym typeface="Montserrat"/>
              </a:rPr>
              <a:t>Coba kita praktekin penggunaan empathy map yaa.</a:t>
            </a:r>
            <a:endParaRPr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28571"/>
              </a:lnSpc>
              <a:spcBef>
                <a:spcPts val="0"/>
              </a:spcBef>
              <a:spcAft>
                <a:spcPts val="0"/>
              </a:spcAft>
              <a:buNone/>
            </a:pPr>
            <a:r>
              <a:rPr b="1" lang="en" sz="1000">
                <a:solidFill>
                  <a:schemeClr val="dk1"/>
                </a:solidFill>
                <a:latin typeface="Montserrat"/>
                <a:ea typeface="Montserrat"/>
                <a:cs typeface="Montserrat"/>
                <a:sym typeface="Montserrat"/>
              </a:rPr>
              <a:t>Silahkan posisikan diri sebagai user yang sedang membeli kuota atau pulsa melalui suatu aplikasi</a:t>
            </a:r>
            <a:r>
              <a:rPr lang="en" sz="1000">
                <a:solidFill>
                  <a:schemeClr val="dk1"/>
                </a:solidFill>
                <a:latin typeface="Montserrat"/>
                <a:ea typeface="Montserrat"/>
                <a:cs typeface="Montserrat"/>
                <a:sym typeface="Montserrat"/>
              </a:rPr>
              <a:t> (bisa shopee, grab, gojek, dana, atau apapun itu). </a:t>
            </a:r>
            <a:r>
              <a:rPr b="1" lang="en" sz="1000">
                <a:solidFill>
                  <a:schemeClr val="dk1"/>
                </a:solidFill>
                <a:latin typeface="Montserrat"/>
                <a:ea typeface="Montserrat"/>
                <a:cs typeface="Montserrat"/>
                <a:sym typeface="Montserrat"/>
              </a:rPr>
              <a:t>Silahkan observasi diri sendiri. </a:t>
            </a:r>
            <a:r>
              <a:rPr lang="en" sz="1000">
                <a:solidFill>
                  <a:schemeClr val="dk1"/>
                </a:solidFill>
                <a:latin typeface="Montserrat"/>
                <a:ea typeface="Montserrat"/>
                <a:cs typeface="Montserrat"/>
                <a:sym typeface="Montserrat"/>
              </a:rPr>
              <a:t>Dari proses tersebut,</a:t>
            </a:r>
            <a:r>
              <a:rPr b="1" lang="en" sz="1000">
                <a:solidFill>
                  <a:schemeClr val="dk1"/>
                </a:solidFill>
                <a:latin typeface="Montserrat"/>
                <a:ea typeface="Montserrat"/>
                <a:cs typeface="Montserrat"/>
                <a:sym typeface="Montserrat"/>
              </a:rPr>
              <a:t> bagaiman</a:t>
            </a:r>
            <a:r>
              <a:rPr b="1" lang="en" sz="1000">
                <a:solidFill>
                  <a:schemeClr val="dk1"/>
                </a:solidFill>
                <a:latin typeface="Montserrat"/>
                <a:ea typeface="Montserrat"/>
                <a:cs typeface="Montserrat"/>
                <a:sym typeface="Montserrat"/>
              </a:rPr>
              <a:t>a </a:t>
            </a:r>
            <a:r>
              <a:rPr b="1" lang="en" sz="1000">
                <a:solidFill>
                  <a:schemeClr val="dk1"/>
                </a:solidFill>
                <a:latin typeface="Montserrat"/>
                <a:ea typeface="Montserrat"/>
                <a:cs typeface="Montserrat"/>
                <a:sym typeface="Montserrat"/>
              </a:rPr>
              <a:t>pengalaman kamu? </a:t>
            </a:r>
            <a:r>
              <a:rPr lang="en" sz="1000">
                <a:solidFill>
                  <a:schemeClr val="dk1"/>
                </a:solidFill>
                <a:latin typeface="Montserrat"/>
                <a:ea typeface="Montserrat"/>
                <a:cs typeface="Montserrat"/>
                <a:sym typeface="Montserrat"/>
              </a:rPr>
              <a:t>Silahkan tuangkan dalam bentuk empathy maps.</a:t>
            </a:r>
            <a:endParaRPr sz="1000">
              <a:solidFill>
                <a:schemeClr val="dk1"/>
              </a:solidFill>
              <a:latin typeface="Montserrat"/>
              <a:ea typeface="Montserrat"/>
              <a:cs typeface="Montserrat"/>
              <a:sym typeface="Montserrat"/>
            </a:endParaRPr>
          </a:p>
        </p:txBody>
      </p:sp>
      <p:pic>
        <p:nvPicPr>
          <p:cNvPr id="372" name="Google Shape;372;p49"/>
          <p:cNvPicPr preferRelativeResize="0"/>
          <p:nvPr/>
        </p:nvPicPr>
        <p:blipFill>
          <a:blip r:embed="rId4">
            <a:alphaModFix/>
          </a:blip>
          <a:stretch>
            <a:fillRect/>
          </a:stretch>
        </p:blipFill>
        <p:spPr>
          <a:xfrm>
            <a:off x="2362325" y="1371600"/>
            <a:ext cx="210312" cy="210312"/>
          </a:xfrm>
          <a:prstGeom prst="rect">
            <a:avLst/>
          </a:prstGeom>
          <a:noFill/>
          <a:ln>
            <a:noFill/>
          </a:ln>
        </p:spPr>
      </p:pic>
      <p:pic>
        <p:nvPicPr>
          <p:cNvPr id="373" name="Google Shape;373;p49"/>
          <p:cNvPicPr preferRelativeResize="0"/>
          <p:nvPr/>
        </p:nvPicPr>
        <p:blipFill>
          <a:blip r:embed="rId5">
            <a:alphaModFix/>
          </a:blip>
          <a:stretch>
            <a:fillRect/>
          </a:stretch>
        </p:blipFill>
        <p:spPr>
          <a:xfrm>
            <a:off x="5136750" y="1371600"/>
            <a:ext cx="3056850" cy="30568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0"/>
          <p:cNvSpPr txBox="1"/>
          <p:nvPr/>
        </p:nvSpPr>
        <p:spPr>
          <a:xfrm>
            <a:off x="914400" y="1013550"/>
            <a:ext cx="7315200" cy="72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FFFFFF"/>
                </a:solidFill>
                <a:latin typeface="Montserrat"/>
                <a:ea typeface="Montserrat"/>
                <a:cs typeface="Montserrat"/>
                <a:sym typeface="Montserrat"/>
              </a:rPr>
              <a:t>Saatnya kita </a:t>
            </a:r>
            <a:endParaRPr b="1" sz="2000">
              <a:solidFill>
                <a:srgbClr val="FFFFFF"/>
              </a:solidFill>
              <a:latin typeface="Montserrat"/>
              <a:ea typeface="Montserrat"/>
              <a:cs typeface="Montserrat"/>
              <a:sym typeface="Montserrat"/>
            </a:endParaRPr>
          </a:p>
          <a:p>
            <a:pPr indent="0" lvl="0" marL="0" rtl="0" algn="ctr">
              <a:spcBef>
                <a:spcPts val="0"/>
              </a:spcBef>
              <a:spcAft>
                <a:spcPts val="0"/>
              </a:spcAft>
              <a:buNone/>
            </a:pPr>
            <a:r>
              <a:rPr b="1" lang="en" sz="3000">
                <a:solidFill>
                  <a:srgbClr val="FFAB40"/>
                </a:solidFill>
                <a:latin typeface="Montserrat"/>
                <a:ea typeface="Montserrat"/>
                <a:cs typeface="Montserrat"/>
                <a:sym typeface="Montserrat"/>
              </a:rPr>
              <a:t>Quiz!</a:t>
            </a:r>
            <a:endParaRPr b="1" sz="3000">
              <a:solidFill>
                <a:srgbClr val="FFAB40"/>
              </a:solidFill>
              <a:latin typeface="Montserrat"/>
              <a:ea typeface="Montserrat"/>
              <a:cs typeface="Montserrat"/>
              <a:sym typeface="Montserrat"/>
            </a:endParaRPr>
          </a:p>
        </p:txBody>
      </p:sp>
      <p:pic>
        <p:nvPicPr>
          <p:cNvPr id="379" name="Google Shape;379;p50"/>
          <p:cNvPicPr preferRelativeResize="0"/>
          <p:nvPr/>
        </p:nvPicPr>
        <p:blipFill rotWithShape="1">
          <a:blip r:embed="rId3">
            <a:alphaModFix/>
          </a:blip>
          <a:srcRect b="35463" l="16341" r="18912" t="0"/>
          <a:stretch/>
        </p:blipFill>
        <p:spPr>
          <a:xfrm>
            <a:off x="2421325" y="2177750"/>
            <a:ext cx="3903698" cy="296575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385" name="Google Shape;385;p5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700">
                <a:solidFill>
                  <a:schemeClr val="accent1"/>
                </a:solidFill>
                <a:latin typeface="Montserrat"/>
                <a:ea typeface="Montserrat"/>
                <a:cs typeface="Montserrat"/>
                <a:sym typeface="Montserrat"/>
              </a:rPr>
              <a:t>1.</a:t>
            </a:r>
            <a:r>
              <a:rPr b="1" lang="en" sz="1700">
                <a:solidFill>
                  <a:schemeClr val="lt1"/>
                </a:solidFill>
                <a:latin typeface="Montserrat"/>
                <a:ea typeface="Montserrat"/>
                <a:cs typeface="Montserrat"/>
                <a:sym typeface="Montserrat"/>
              </a:rPr>
              <a:t> Di bawah ini, manakah pernyataan yang tepat mengenai hakikat b</a:t>
            </a:r>
            <a:r>
              <a:rPr b="1" lang="en" sz="1700">
                <a:solidFill>
                  <a:schemeClr val="lt1"/>
                </a:solidFill>
                <a:latin typeface="Montserrat"/>
                <a:ea typeface="Montserrat"/>
                <a:cs typeface="Montserrat"/>
                <a:sym typeface="Montserrat"/>
              </a:rPr>
              <a:t>erempati…</a:t>
            </a:r>
            <a:endParaRPr b="1" sz="17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Berempati adalah bagaimana kita sebagai manusia menyukai dan membagi perasaan sesama.</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Berempati adalah bagaimana kita sebagai manusia m</a:t>
            </a:r>
            <a:r>
              <a:rPr lang="en" sz="1200">
                <a:solidFill>
                  <a:schemeClr val="lt1"/>
                </a:solidFill>
                <a:latin typeface="Montserrat Medium"/>
                <a:ea typeface="Montserrat Medium"/>
                <a:cs typeface="Montserrat Medium"/>
                <a:sym typeface="Montserrat Medium"/>
              </a:rPr>
              <a:t>emahami dan berbagi perasaan sesama.</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Berempati adalah bagaimana kita sebagai manusia m</a:t>
            </a:r>
            <a:r>
              <a:rPr lang="en" sz="1200">
                <a:solidFill>
                  <a:schemeClr val="lt1"/>
                </a:solidFill>
                <a:latin typeface="Montserrat Medium"/>
                <a:ea typeface="Montserrat Medium"/>
                <a:cs typeface="Montserrat Medium"/>
                <a:sym typeface="Montserrat Medium"/>
              </a:rPr>
              <a:t>enyakiti dan berbagi perasaan sesama.</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100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Berempati adalah bagaimana kita sebagai manusia m</a:t>
            </a:r>
            <a:r>
              <a:rPr lang="en" sz="1200">
                <a:solidFill>
                  <a:schemeClr val="lt1"/>
                </a:solidFill>
                <a:latin typeface="Montserrat Medium"/>
                <a:ea typeface="Montserrat Medium"/>
                <a:cs typeface="Montserrat Medium"/>
                <a:sym typeface="Montserrat Medium"/>
              </a:rPr>
              <a:t>encintai dan membagi perasaan sesama.</a:t>
            </a:r>
            <a:endParaRPr sz="1200">
              <a:solidFill>
                <a:schemeClr val="lt1"/>
              </a:solidFill>
              <a:latin typeface="Montserrat Medium"/>
              <a:ea typeface="Montserrat Medium"/>
              <a:cs typeface="Montserrat Medium"/>
              <a:sym typeface="Montserrat Medium"/>
            </a:endParaRPr>
          </a:p>
        </p:txBody>
      </p:sp>
      <p:sp>
        <p:nvSpPr>
          <p:cNvPr id="386" name="Google Shape;386;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a:t>
            </a:r>
            <a:r>
              <a:rPr lang="en">
                <a:latin typeface="Montserrat"/>
                <a:ea typeface="Montserrat"/>
                <a:cs typeface="Montserrat"/>
                <a:sym typeface="Montserrat"/>
              </a:rPr>
              <a:t>Quiz</a:t>
            </a:r>
            <a:endParaRPr/>
          </a:p>
        </p:txBody>
      </p:sp>
      <p:sp>
        <p:nvSpPr>
          <p:cNvPr id="392" name="Google Shape;392;p5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700">
                <a:solidFill>
                  <a:schemeClr val="accent1"/>
                </a:solidFill>
                <a:latin typeface="Montserrat"/>
                <a:ea typeface="Montserrat"/>
                <a:cs typeface="Montserrat"/>
                <a:sym typeface="Montserrat"/>
              </a:rPr>
              <a:t>1.</a:t>
            </a:r>
            <a:r>
              <a:rPr b="1" lang="en" sz="1700">
                <a:solidFill>
                  <a:schemeClr val="lt1"/>
                </a:solidFill>
                <a:latin typeface="Montserrat"/>
                <a:ea typeface="Montserrat"/>
                <a:cs typeface="Montserrat"/>
                <a:sym typeface="Montserrat"/>
              </a:rPr>
              <a:t> Di bawah ini, manakah pernyataan yang tepat mengenai hakikat berempati…</a:t>
            </a:r>
            <a:endParaRPr b="1" sz="17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Berempati adalah bagaimana kita sebagai manusia menyukai dan membagi perasaan sesama.</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Berempati adalah bagaimana kita sebagai manusia memahami dan berbagi perasaan sesama.</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Berempati adalah bagaimana kita sebagai manusia menyakiti dan berbagi perasaan sesama.</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Berempati adalah bagaimana kita sebagai manusia mencintai dan membagi perasaan sesama.</a:t>
            </a:r>
            <a:endParaRPr sz="1200">
              <a:solidFill>
                <a:srgbClr val="A667A5"/>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b="1" sz="2800">
              <a:solidFill>
                <a:schemeClr val="accent1"/>
              </a:solidFill>
              <a:latin typeface="Raleway"/>
              <a:ea typeface="Raleway"/>
              <a:cs typeface="Raleway"/>
              <a:sym typeface="Raleway"/>
            </a:endParaRPr>
          </a:p>
        </p:txBody>
      </p:sp>
      <p:sp>
        <p:nvSpPr>
          <p:cNvPr id="393" name="Google Shape;393;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4" name="Google Shape;394;p52"/>
          <p:cNvSpPr/>
          <p:nvPr/>
        </p:nvSpPr>
        <p:spPr>
          <a:xfrm>
            <a:off x="685800" y="41149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200">
                <a:solidFill>
                  <a:srgbClr val="733572"/>
                </a:solidFill>
                <a:latin typeface="Montserrat"/>
                <a:ea typeface="Montserrat"/>
                <a:cs typeface="Montserrat"/>
                <a:sym typeface="Montserrat"/>
              </a:rPr>
              <a:t>Berempati adalah bagaimana kita sebagai manusia memahami dan berbagi perasaan sesama.</a:t>
            </a:r>
            <a:endParaRPr b="1" sz="1200">
              <a:solidFill>
                <a:srgbClr val="733572"/>
              </a:solidFill>
              <a:latin typeface="Montserrat"/>
              <a:ea typeface="Montserrat"/>
              <a:cs typeface="Montserrat"/>
              <a:sym typeface="Montserra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p>
        </p:txBody>
      </p:sp>
      <p:sp>
        <p:nvSpPr>
          <p:cNvPr id="400" name="Google Shape;400;p5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chemeClr val="accent1"/>
                </a:solidFill>
                <a:latin typeface="Montserrat"/>
                <a:ea typeface="Montserrat"/>
                <a:cs typeface="Montserrat"/>
                <a:sym typeface="Montserrat"/>
              </a:rPr>
              <a:t>2</a:t>
            </a:r>
            <a:r>
              <a:rPr b="1" lang="en" sz="1800">
                <a:solidFill>
                  <a:schemeClr val="accent1"/>
                </a:solidFill>
                <a:latin typeface="Montserrat"/>
                <a:ea typeface="Montserrat"/>
                <a:cs typeface="Montserrat"/>
                <a:sym typeface="Montserrat"/>
              </a:rPr>
              <a:t>.</a:t>
            </a:r>
            <a:r>
              <a:rPr b="1" lang="en" sz="1800">
                <a:solidFill>
                  <a:schemeClr val="lt1"/>
                </a:solidFill>
                <a:latin typeface="Montserrat"/>
                <a:ea typeface="Montserrat"/>
                <a:cs typeface="Montserrat"/>
                <a:sym typeface="Montserrat"/>
              </a:rPr>
              <a:t> D</a:t>
            </a:r>
            <a:r>
              <a:rPr b="1" lang="en" sz="1800">
                <a:solidFill>
                  <a:schemeClr val="lt1"/>
                </a:solidFill>
                <a:latin typeface="Montserrat"/>
                <a:ea typeface="Montserrat"/>
                <a:cs typeface="Montserrat"/>
                <a:sym typeface="Montserrat"/>
              </a:rPr>
              <a:t>i bawah ini, yang merupakan arti dari bias adalah…</a:t>
            </a:r>
            <a:endParaRPr b="1" sz="18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Prasangka</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O</a:t>
            </a:r>
            <a:r>
              <a:rPr lang="en" sz="1200">
                <a:solidFill>
                  <a:schemeClr val="lt1"/>
                </a:solidFill>
                <a:latin typeface="Montserrat Medium"/>
                <a:ea typeface="Montserrat Medium"/>
                <a:cs typeface="Montserrat Medium"/>
                <a:sym typeface="Montserrat Medium"/>
              </a:rPr>
              <a:t>bjektivitas</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Keadilan</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100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Kewajaran</a:t>
            </a:r>
            <a:endParaRPr sz="1200">
              <a:solidFill>
                <a:schemeClr val="lt1"/>
              </a:solidFill>
              <a:latin typeface="Montserrat Medium"/>
              <a:ea typeface="Montserrat Medium"/>
              <a:cs typeface="Montserrat Medium"/>
              <a:sym typeface="Montserrat Medium"/>
            </a:endParaRPr>
          </a:p>
        </p:txBody>
      </p:sp>
      <p:sp>
        <p:nvSpPr>
          <p:cNvPr id="401" name="Google Shape;401;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Quiz</a:t>
            </a:r>
            <a:endParaRPr/>
          </a:p>
        </p:txBody>
      </p:sp>
      <p:sp>
        <p:nvSpPr>
          <p:cNvPr id="407" name="Google Shape;407;p5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chemeClr val="accent1"/>
                </a:solidFill>
                <a:latin typeface="Montserrat"/>
                <a:ea typeface="Montserrat"/>
                <a:cs typeface="Montserrat"/>
                <a:sym typeface="Montserrat"/>
              </a:rPr>
              <a:t>2.</a:t>
            </a:r>
            <a:r>
              <a:rPr b="1" lang="en" sz="1800">
                <a:solidFill>
                  <a:schemeClr val="lt1"/>
                </a:solidFill>
                <a:latin typeface="Montserrat"/>
                <a:ea typeface="Montserrat"/>
                <a:cs typeface="Montserrat"/>
                <a:sym typeface="Montserrat"/>
              </a:rPr>
              <a:t> Di bawah ini, yang merupakan arti dari bias adalah…</a:t>
            </a:r>
            <a:endParaRPr b="1" sz="18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Prasangka</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Objektivitas</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Keadilan</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Kewajaran</a:t>
            </a:r>
            <a:endParaRPr sz="1200">
              <a:solidFill>
                <a:srgbClr val="A667A5"/>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b="1" sz="2800">
              <a:solidFill>
                <a:schemeClr val="accent1"/>
              </a:solidFill>
              <a:latin typeface="Raleway"/>
              <a:ea typeface="Raleway"/>
              <a:cs typeface="Raleway"/>
              <a:sym typeface="Raleway"/>
            </a:endParaRPr>
          </a:p>
        </p:txBody>
      </p:sp>
      <p:sp>
        <p:nvSpPr>
          <p:cNvPr id="408" name="Google Shape;408;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9" name="Google Shape;409;p54"/>
          <p:cNvSpPr/>
          <p:nvPr/>
        </p:nvSpPr>
        <p:spPr>
          <a:xfrm>
            <a:off x="685800" y="3475975"/>
            <a:ext cx="7772400" cy="800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Bias artinya prasangka. Pada fase empathize, kita harus mendengarkan orang lain dengan pikiran terbuka daripada fokus pada poin untuk mengonfirmasi bias.</a:t>
            </a:r>
            <a:endParaRPr b="1" sz="1200">
              <a:solidFill>
                <a:srgbClr val="733572"/>
              </a:solidFill>
              <a:latin typeface="Montserrat"/>
              <a:ea typeface="Montserrat"/>
              <a:cs typeface="Montserrat"/>
              <a:sym typeface="Montserra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p>
        </p:txBody>
      </p:sp>
      <p:sp>
        <p:nvSpPr>
          <p:cNvPr id="415" name="Google Shape;415;p5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chemeClr val="accent1"/>
                </a:solidFill>
                <a:latin typeface="Montserrat"/>
                <a:ea typeface="Montserrat"/>
                <a:cs typeface="Montserrat"/>
                <a:sym typeface="Montserrat"/>
              </a:rPr>
              <a:t>3</a:t>
            </a:r>
            <a:r>
              <a:rPr b="1" lang="en" sz="1800">
                <a:solidFill>
                  <a:schemeClr val="accent1"/>
                </a:solidFill>
                <a:latin typeface="Montserrat"/>
                <a:ea typeface="Montserrat"/>
                <a:cs typeface="Montserrat"/>
                <a:sym typeface="Montserrat"/>
              </a:rPr>
              <a:t>.</a:t>
            </a:r>
            <a:r>
              <a:rPr b="1" lang="en" sz="1800">
                <a:solidFill>
                  <a:schemeClr val="lt1"/>
                </a:solidFill>
                <a:latin typeface="Montserrat"/>
                <a:ea typeface="Montserrat"/>
                <a:cs typeface="Montserrat"/>
                <a:sym typeface="Montserrat"/>
              </a:rPr>
              <a:t> Berikut ini, cara-cara untuk </a:t>
            </a:r>
            <a:r>
              <a:rPr b="1" lang="en" sz="1800">
                <a:solidFill>
                  <a:schemeClr val="lt1"/>
                </a:solidFill>
                <a:latin typeface="Montserrat"/>
                <a:ea typeface="Montserrat"/>
                <a:cs typeface="Montserrat"/>
                <a:sym typeface="Montserrat"/>
              </a:rPr>
              <a:t>berempati, kecuali…</a:t>
            </a:r>
            <a:endParaRPr b="1" sz="18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Pengintaian/shadowing</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Diary study</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Wawancara</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100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Stalking</a:t>
            </a:r>
            <a:endParaRPr sz="1200">
              <a:solidFill>
                <a:schemeClr val="lt1"/>
              </a:solidFill>
              <a:latin typeface="Montserrat Medium"/>
              <a:ea typeface="Montserrat Medium"/>
              <a:cs typeface="Montserrat Medium"/>
              <a:sym typeface="Montserrat Medium"/>
            </a:endParaRPr>
          </a:p>
        </p:txBody>
      </p:sp>
      <p:sp>
        <p:nvSpPr>
          <p:cNvPr id="416" name="Google Shape;416;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Quiz</a:t>
            </a:r>
            <a:endParaRPr/>
          </a:p>
        </p:txBody>
      </p:sp>
      <p:sp>
        <p:nvSpPr>
          <p:cNvPr id="422" name="Google Shape;422;p5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chemeClr val="accent1"/>
                </a:solidFill>
                <a:latin typeface="Montserrat"/>
                <a:ea typeface="Montserrat"/>
                <a:cs typeface="Montserrat"/>
                <a:sym typeface="Montserrat"/>
              </a:rPr>
              <a:t>3.</a:t>
            </a:r>
            <a:r>
              <a:rPr b="1" lang="en" sz="1800">
                <a:solidFill>
                  <a:schemeClr val="lt1"/>
                </a:solidFill>
                <a:latin typeface="Montserrat"/>
                <a:ea typeface="Montserrat"/>
                <a:cs typeface="Montserrat"/>
                <a:sym typeface="Montserrat"/>
              </a:rPr>
              <a:t> Berikut ini, cara-cara untuk berempati, kecuali…</a:t>
            </a:r>
            <a:endParaRPr b="1" sz="18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Pengintaian/shadowing</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Diary study</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Wawancara</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Stalking</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b="1" sz="2800">
              <a:solidFill>
                <a:schemeClr val="accent1"/>
              </a:solidFill>
              <a:latin typeface="Raleway"/>
              <a:ea typeface="Raleway"/>
              <a:cs typeface="Raleway"/>
              <a:sym typeface="Raleway"/>
            </a:endParaRPr>
          </a:p>
        </p:txBody>
      </p:sp>
      <p:sp>
        <p:nvSpPr>
          <p:cNvPr id="423" name="Google Shape;423;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4" name="Google Shape;424;p56"/>
          <p:cNvSpPr/>
          <p:nvPr/>
        </p:nvSpPr>
        <p:spPr>
          <a:xfrm>
            <a:off x="685800" y="3389225"/>
            <a:ext cx="7772400" cy="800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Raleway"/>
                <a:ea typeface="Raleway"/>
                <a:cs typeface="Raleway"/>
                <a:sym typeface="Raleway"/>
              </a:rPr>
              <a:t>Berikut adalah cara-cara untuk berempati: observasi, studi dokumentasi, wawancara, shadowing, dan diary study. Stalking atau menguntit secara diam-diam bukanlah cara untuk berempati.</a:t>
            </a:r>
            <a:endParaRPr b="1" sz="1200">
              <a:solidFill>
                <a:srgbClr val="733572"/>
              </a:solidFill>
              <a:latin typeface="Raleway"/>
              <a:ea typeface="Raleway"/>
              <a:cs typeface="Raleway"/>
              <a:sym typeface="Raleway"/>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p>
        </p:txBody>
      </p:sp>
      <p:sp>
        <p:nvSpPr>
          <p:cNvPr id="430" name="Google Shape;430;p5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700">
                <a:solidFill>
                  <a:schemeClr val="accent1"/>
                </a:solidFill>
                <a:latin typeface="Montserrat"/>
                <a:ea typeface="Montserrat"/>
                <a:cs typeface="Montserrat"/>
                <a:sym typeface="Montserrat"/>
              </a:rPr>
              <a:t>4</a:t>
            </a:r>
            <a:r>
              <a:rPr b="1" lang="en" sz="1700">
                <a:solidFill>
                  <a:schemeClr val="accent1"/>
                </a:solidFill>
                <a:latin typeface="Montserrat"/>
                <a:ea typeface="Montserrat"/>
                <a:cs typeface="Montserrat"/>
                <a:sym typeface="Montserrat"/>
              </a:rPr>
              <a:t>.</a:t>
            </a:r>
            <a:r>
              <a:rPr b="1" lang="en" sz="1700">
                <a:solidFill>
                  <a:schemeClr val="lt1"/>
                </a:solidFill>
                <a:latin typeface="Montserrat"/>
                <a:ea typeface="Montserrat"/>
                <a:cs typeface="Montserrat"/>
                <a:sym typeface="Montserrat"/>
              </a:rPr>
              <a:t> Terdapat empat kuadran dalam empathy maps, yaitu…</a:t>
            </a:r>
            <a:endParaRPr b="1" sz="17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Says, thinks, believes, does.</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Says, thinks, believes, feels.</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T</a:t>
            </a:r>
            <a:r>
              <a:rPr lang="en" sz="1200">
                <a:solidFill>
                  <a:schemeClr val="lt1"/>
                </a:solidFill>
                <a:latin typeface="Montserrat Medium"/>
                <a:ea typeface="Montserrat Medium"/>
                <a:cs typeface="Montserrat Medium"/>
                <a:sym typeface="Montserrat Medium"/>
              </a:rPr>
              <a:t>hinks, does, feels, acts.</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Says, thinks, does, feels.</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31" name="Google Shape;431;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Quiz</a:t>
            </a:r>
            <a:endParaRPr/>
          </a:p>
        </p:txBody>
      </p:sp>
      <p:sp>
        <p:nvSpPr>
          <p:cNvPr id="437" name="Google Shape;437;p5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700">
                <a:solidFill>
                  <a:schemeClr val="accent1"/>
                </a:solidFill>
                <a:latin typeface="Montserrat"/>
                <a:ea typeface="Montserrat"/>
                <a:cs typeface="Montserrat"/>
                <a:sym typeface="Montserrat"/>
              </a:rPr>
              <a:t>4.</a:t>
            </a:r>
            <a:r>
              <a:rPr b="1" lang="en" sz="1700">
                <a:solidFill>
                  <a:schemeClr val="lt1"/>
                </a:solidFill>
                <a:latin typeface="Montserrat"/>
                <a:ea typeface="Montserrat"/>
                <a:cs typeface="Montserrat"/>
                <a:sym typeface="Montserrat"/>
              </a:rPr>
              <a:t> Terdapat empat kuadran dalam empathy maps, yaitu…</a:t>
            </a:r>
            <a:endParaRPr b="1" sz="17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Says, thinks, believes, does.</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Says, thinks, believes, feels.</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Thinks, does, feels, acts.</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Says, thinks, does, feels.</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Clr>
                <a:schemeClr val="dk1"/>
              </a:buClr>
              <a:buSzPts val="1100"/>
              <a:buFont typeface="Arial"/>
              <a:buNone/>
            </a:pPr>
            <a:r>
              <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b="1" sz="2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438" name="Google Shape;438;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9" name="Google Shape;439;p58"/>
          <p:cNvSpPr/>
          <p:nvPr/>
        </p:nvSpPr>
        <p:spPr>
          <a:xfrm>
            <a:off x="685800" y="346542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200">
                <a:solidFill>
                  <a:srgbClr val="733572"/>
                </a:solidFill>
                <a:latin typeface="Montserrat"/>
                <a:ea typeface="Montserrat"/>
                <a:cs typeface="Montserrat"/>
                <a:sym typeface="Montserrat"/>
              </a:rPr>
              <a:t>Empathy maps tradisional dibagi menjadi 4 kuadran, yaitu: (Says, Thinks, Does, and Feels.</a:t>
            </a:r>
            <a:endParaRPr b="1" sz="1200">
              <a:solidFill>
                <a:srgbClr val="733572"/>
              </a:solidFill>
              <a:latin typeface="Montserrat"/>
              <a:ea typeface="Montserrat"/>
              <a:cs typeface="Montserrat"/>
              <a:sym typeface="Montserrat"/>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Quiz</a:t>
            </a:r>
            <a:endParaRPr/>
          </a:p>
        </p:txBody>
      </p:sp>
      <p:sp>
        <p:nvSpPr>
          <p:cNvPr id="445" name="Google Shape;445;p5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chemeClr val="accent1"/>
                </a:solidFill>
                <a:latin typeface="Montserrat"/>
                <a:ea typeface="Montserrat"/>
                <a:cs typeface="Montserrat"/>
                <a:sym typeface="Montserrat"/>
              </a:rPr>
              <a:t>5</a:t>
            </a:r>
            <a:r>
              <a:rPr b="1" lang="en" sz="1800">
                <a:solidFill>
                  <a:schemeClr val="accent1"/>
                </a:solidFill>
                <a:latin typeface="Montserrat"/>
                <a:ea typeface="Montserrat"/>
                <a:cs typeface="Montserrat"/>
                <a:sym typeface="Montserrat"/>
              </a:rPr>
              <a:t>.</a:t>
            </a:r>
            <a:r>
              <a:rPr b="1" lang="en" sz="1800">
                <a:solidFill>
                  <a:schemeClr val="lt1"/>
                </a:solidFill>
                <a:latin typeface="Montserrat"/>
                <a:ea typeface="Montserrat"/>
                <a:cs typeface="Montserrat"/>
                <a:sym typeface="Montserrat"/>
              </a:rPr>
              <a:t> Menurut kamu, apa yang dimaksud dengan Kuadran feels dalam empathy maps…</a:t>
            </a:r>
            <a:endParaRPr b="1" sz="18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Apa yang pengguna katakan.</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K</a:t>
            </a:r>
            <a:r>
              <a:rPr lang="en" sz="1200">
                <a:solidFill>
                  <a:schemeClr val="lt1"/>
                </a:solidFill>
                <a:latin typeface="Montserrat Medium"/>
                <a:ea typeface="Montserrat Medium"/>
                <a:cs typeface="Montserrat Medium"/>
                <a:sym typeface="Montserrat Medium"/>
              </a:rPr>
              <a:t>eadaan emosional pengguna.</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Tindakan yang dilakukan pengguna.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100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Pikiran</a:t>
            </a:r>
            <a:r>
              <a:rPr lang="en" sz="1200">
                <a:solidFill>
                  <a:schemeClr val="lt1"/>
                </a:solidFill>
                <a:latin typeface="Montserrat Medium"/>
                <a:ea typeface="Montserrat Medium"/>
                <a:cs typeface="Montserrat Medium"/>
                <a:sym typeface="Montserrat Medium"/>
              </a:rPr>
              <a:t> pengguna.</a:t>
            </a:r>
            <a:endParaRPr sz="1200">
              <a:solidFill>
                <a:schemeClr val="lt1"/>
              </a:solidFill>
              <a:latin typeface="Montserrat Medium"/>
              <a:ea typeface="Montserrat Medium"/>
              <a:cs typeface="Montserrat Medium"/>
              <a:sym typeface="Montserrat Medium"/>
            </a:endParaRPr>
          </a:p>
        </p:txBody>
      </p:sp>
      <p:sp>
        <p:nvSpPr>
          <p:cNvPr id="446" name="Google Shape;446;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Quiz</a:t>
            </a:r>
            <a:endParaRPr/>
          </a:p>
        </p:txBody>
      </p:sp>
      <p:sp>
        <p:nvSpPr>
          <p:cNvPr id="452" name="Google Shape;452;p6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chemeClr val="accent1"/>
                </a:solidFill>
                <a:latin typeface="Montserrat"/>
                <a:ea typeface="Montserrat"/>
                <a:cs typeface="Montserrat"/>
                <a:sym typeface="Montserrat"/>
              </a:rPr>
              <a:t>5.</a:t>
            </a:r>
            <a:r>
              <a:rPr b="1" lang="en" sz="1800">
                <a:solidFill>
                  <a:schemeClr val="lt1"/>
                </a:solidFill>
                <a:latin typeface="Montserrat"/>
                <a:ea typeface="Montserrat"/>
                <a:cs typeface="Montserrat"/>
                <a:sym typeface="Montserrat"/>
              </a:rPr>
              <a:t> Menurut kamu, apa yang dimaksud dengan Kuadran feels dalam empathy maps..</a:t>
            </a:r>
            <a:endParaRPr b="1" sz="18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Apa yang pengguna katakan.</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Keadaan emosional pengguna.</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Tindakan yang dilakukan pengguna. </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Pikiran pengguna.</a:t>
            </a:r>
            <a:endParaRPr sz="1200">
              <a:solidFill>
                <a:srgbClr val="A667A5"/>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b="1" sz="2800">
              <a:solidFill>
                <a:schemeClr val="accent1"/>
              </a:solidFill>
              <a:latin typeface="Raleway"/>
              <a:ea typeface="Raleway"/>
              <a:cs typeface="Raleway"/>
              <a:sym typeface="Raleway"/>
            </a:endParaRPr>
          </a:p>
        </p:txBody>
      </p:sp>
      <p:sp>
        <p:nvSpPr>
          <p:cNvPr id="453" name="Google Shape;453;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4" name="Google Shape;454;p60"/>
          <p:cNvSpPr/>
          <p:nvPr/>
        </p:nvSpPr>
        <p:spPr>
          <a:xfrm>
            <a:off x="685800" y="3502600"/>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ctr">
              <a:lnSpc>
                <a:spcPct val="128571"/>
              </a:lnSpc>
              <a:spcBef>
                <a:spcPts val="0"/>
              </a:spcBef>
              <a:spcAft>
                <a:spcPts val="0"/>
              </a:spcAft>
              <a:buClr>
                <a:schemeClr val="dk1"/>
              </a:buClr>
              <a:buSzPts val="1100"/>
              <a:buFont typeface="Arial"/>
              <a:buNone/>
            </a:pPr>
            <a:r>
              <a:rPr b="1" lang="en" sz="1200">
                <a:solidFill>
                  <a:srgbClr val="733572"/>
                </a:solidFill>
                <a:latin typeface="Montserrat"/>
                <a:ea typeface="Montserrat"/>
                <a:cs typeface="Montserrat"/>
                <a:sym typeface="Montserrat"/>
              </a:rPr>
              <a:t>Feels adalah perasaan, yaitu keadaan emosional pengguna ketika menggunakan produk.</a:t>
            </a:r>
            <a:endParaRPr b="1" sz="1200">
              <a:solidFill>
                <a:srgbClr val="733572"/>
              </a:solidFill>
              <a:latin typeface="Raleway"/>
              <a:ea typeface="Raleway"/>
              <a:cs typeface="Raleway"/>
              <a:sym typeface="Raleway"/>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0" name="Google Shape;460;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461" name="Google Shape;461;p61"/>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462" name="Google Shape;462;p61"/>
          <p:cNvSpPr txBox="1"/>
          <p:nvPr/>
        </p:nvSpPr>
        <p:spPr>
          <a:xfrm>
            <a:off x="685800" y="1485900"/>
            <a:ext cx="3803100" cy="36576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1) </a:t>
            </a:r>
            <a:r>
              <a:rPr lang="en" sz="1000" u="sng">
                <a:solidFill>
                  <a:schemeClr val="dk1"/>
                </a:solidFill>
                <a:latin typeface="Montserrat"/>
                <a:ea typeface="Montserrat"/>
                <a:cs typeface="Montserrat"/>
                <a:sym typeface="Montserrat"/>
                <a:hlinkClick r:id="rId4">
                  <a:extLst>
                    <a:ext uri="{A12FA001-AC4F-418D-AE19-62706E023703}">
                      <ahyp:hlinkClr val="tx"/>
                    </a:ext>
                  </a:extLst>
                </a:hlinkClick>
              </a:rPr>
              <a:t>Design Thinking by Interaction Design Foundation</a:t>
            </a:r>
            <a:endParaRPr sz="1000">
              <a:solidFill>
                <a:schemeClr val="dk1"/>
              </a:solidFill>
              <a:latin typeface="Montserrat"/>
              <a:ea typeface="Montserrat"/>
              <a:cs typeface="Montserrat"/>
              <a:sym typeface="Montserrat"/>
            </a:endParaRPr>
          </a:p>
          <a:p>
            <a:pPr indent="-171450" lvl="0" marL="17145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2) </a:t>
            </a:r>
            <a:r>
              <a:rPr lang="en" sz="1000" u="sng">
                <a:solidFill>
                  <a:schemeClr val="dk1"/>
                </a:solidFill>
                <a:latin typeface="Montserrat"/>
                <a:ea typeface="Montserrat"/>
                <a:cs typeface="Montserrat"/>
                <a:sym typeface="Montserrat"/>
                <a:hlinkClick r:id="rId5">
                  <a:extLst>
                    <a:ext uri="{A12FA001-AC4F-418D-AE19-62706E023703}">
                      <ahyp:hlinkClr val="tx"/>
                    </a:ext>
                  </a:extLst>
                </a:hlinkClick>
              </a:rPr>
              <a:t>5 Stages in The Design Thinking Process by Interaction </a:t>
            </a:r>
            <a:r>
              <a:rPr lang="en" sz="1000">
                <a:solidFill>
                  <a:schemeClr val="dk1"/>
                </a:solidFill>
                <a:uFill>
                  <a:noFill/>
                </a:uFill>
                <a:latin typeface="Montserrat"/>
                <a:ea typeface="Montserrat"/>
                <a:cs typeface="Montserrat"/>
                <a:sym typeface="Montserrat"/>
                <a:hlinkClick r:id="rId6">
                  <a:extLst>
                    <a:ext uri="{A12FA001-AC4F-418D-AE19-62706E023703}">
                      <ahyp:hlinkClr val="tx"/>
                    </a:ext>
                  </a:extLst>
                </a:hlinkClick>
              </a:rPr>
              <a:t> </a:t>
            </a:r>
            <a:r>
              <a:rPr lang="en" sz="1000" u="sng">
                <a:solidFill>
                  <a:schemeClr val="dk1"/>
                </a:solidFill>
                <a:latin typeface="Montserrat"/>
                <a:ea typeface="Montserrat"/>
                <a:cs typeface="Montserrat"/>
                <a:sym typeface="Montserrat"/>
                <a:hlinkClick r:id="rId7">
                  <a:extLst>
                    <a:ext uri="{A12FA001-AC4F-418D-AE19-62706E023703}">
                      <ahyp:hlinkClr val="tx"/>
                    </a:ext>
                  </a:extLst>
                </a:hlinkClick>
              </a:rPr>
              <a:t>Design Foundation</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3)  </a:t>
            </a:r>
            <a:r>
              <a:rPr lang="en" sz="1000" u="sng">
                <a:solidFill>
                  <a:schemeClr val="dk1"/>
                </a:solidFill>
                <a:latin typeface="Montserrat"/>
                <a:ea typeface="Montserrat"/>
                <a:cs typeface="Montserrat"/>
                <a:sym typeface="Montserrat"/>
                <a:hlinkClick r:id="rId8">
                  <a:extLst>
                    <a:ext uri="{A12FA001-AC4F-418D-AE19-62706E023703}">
                      <ahyp:hlinkClr val="tx"/>
                    </a:ext>
                  </a:extLst>
                </a:hlinkClick>
              </a:rPr>
              <a:t>Empathy by Interaction Design Foundation</a:t>
            </a:r>
            <a:endParaRPr sz="1000">
              <a:solidFill>
                <a:schemeClr val="dk1"/>
              </a:solidFill>
              <a:latin typeface="Montserrat"/>
              <a:ea typeface="Montserrat"/>
              <a:cs typeface="Montserrat"/>
              <a:sym typeface="Montserrat"/>
            </a:endParaRPr>
          </a:p>
          <a:p>
            <a:pPr indent="-171450" lvl="0" marL="17145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4) </a:t>
            </a:r>
            <a:r>
              <a:rPr lang="en" sz="1000" u="sng">
                <a:solidFill>
                  <a:schemeClr val="dk1"/>
                </a:solidFill>
                <a:latin typeface="Montserrat"/>
                <a:ea typeface="Montserrat"/>
                <a:cs typeface="Montserrat"/>
                <a:sym typeface="Montserrat"/>
                <a:hlinkClick r:id="rId9">
                  <a:extLst>
                    <a:ext uri="{A12FA001-AC4F-418D-AE19-62706E023703}">
                      <ahyp:hlinkClr val="tx"/>
                    </a:ext>
                  </a:extLst>
                </a:hlinkClick>
              </a:rPr>
              <a:t>Empathy Mapping: The First Step in Design Thinking by Nielsen Norman Group</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43673"/>
        </a:solidFill>
      </p:bgPr>
    </p:bg>
    <p:spTree>
      <p:nvGrpSpPr>
        <p:cNvPr id="466" name="Shape 466"/>
        <p:cNvGrpSpPr/>
        <p:nvPr/>
      </p:nvGrpSpPr>
      <p:grpSpPr>
        <a:xfrm>
          <a:off x="0" y="0"/>
          <a:ext cx="0" cy="0"/>
          <a:chOff x="0" y="0"/>
          <a:chExt cx="0" cy="0"/>
        </a:xfrm>
      </p:grpSpPr>
      <p:sp>
        <p:nvSpPr>
          <p:cNvPr id="467" name="Google Shape;467;p62"/>
          <p:cNvSpPr txBox="1"/>
          <p:nvPr/>
        </p:nvSpPr>
        <p:spPr>
          <a:xfrm>
            <a:off x="618375" y="1630075"/>
            <a:ext cx="4112700" cy="24315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Clr>
                <a:schemeClr val="dk1"/>
              </a:buClr>
              <a:buSzPts val="4000"/>
              <a:buFont typeface="Arial"/>
              <a:buNone/>
            </a:pPr>
            <a:r>
              <a:rPr b="1" lang="en">
                <a:solidFill>
                  <a:schemeClr val="lt1"/>
                </a:solidFill>
                <a:latin typeface="Montserrat"/>
                <a:ea typeface="Montserrat"/>
                <a:cs typeface="Montserrat"/>
                <a:sym typeface="Montserrat"/>
              </a:rPr>
              <a:t>Nah, selesai sudah pembahasan kita di Chapter 2 Topic 1 ini.</a:t>
            </a:r>
            <a:endParaRPr b="1">
              <a:solidFill>
                <a:schemeClr val="lt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4000"/>
              <a:buFont typeface="Arial"/>
              <a:buNone/>
            </a:pPr>
            <a:r>
              <a:rPr b="1" lang="en">
                <a:solidFill>
                  <a:schemeClr val="lt1"/>
                </a:solidFill>
                <a:latin typeface="Montserrat"/>
                <a:ea typeface="Montserrat"/>
                <a:cs typeface="Montserrat"/>
                <a:sym typeface="Montserrat"/>
              </a:rPr>
              <a:t>Selanjutnya, kita bakal bahas tentang </a:t>
            </a:r>
            <a:r>
              <a:rPr b="1" lang="en">
                <a:solidFill>
                  <a:schemeClr val="accent1"/>
                </a:solidFill>
                <a:latin typeface="Montserrat"/>
                <a:ea typeface="Montserrat"/>
                <a:cs typeface="Montserrat"/>
                <a:sym typeface="Montserrat"/>
              </a:rPr>
              <a:t>UX Research.</a:t>
            </a:r>
            <a:endParaRPr b="1">
              <a:solidFill>
                <a:schemeClr val="accent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4000"/>
              <a:buFont typeface="Arial"/>
              <a:buNone/>
            </a:pPr>
            <a:r>
              <a:rPr b="1" lang="en">
                <a:solidFill>
                  <a:schemeClr val="lt1"/>
                </a:solidFill>
                <a:latin typeface="Montserrat"/>
                <a:ea typeface="Montserrat"/>
                <a:cs typeface="Montserrat"/>
                <a:sym typeface="Montserrat"/>
              </a:rPr>
              <a:t>Penasaran kayak gimana? Cus langsung ke topik selanjutnya~</a:t>
            </a:r>
            <a:endParaRPr b="1" i="1">
              <a:solidFill>
                <a:schemeClr val="lt1"/>
              </a:solidFill>
              <a:latin typeface="Montserrat"/>
              <a:ea typeface="Montserrat"/>
              <a:cs typeface="Montserrat"/>
              <a:sym typeface="Montserrat"/>
            </a:endParaRPr>
          </a:p>
          <a:p>
            <a:pPr indent="0" lvl="0" marL="0" marR="0" rtl="0" algn="just">
              <a:lnSpc>
                <a:spcPct val="115000"/>
              </a:lnSpc>
              <a:spcBef>
                <a:spcPts val="1000"/>
              </a:spcBef>
              <a:spcAft>
                <a:spcPts val="0"/>
              </a:spcAft>
              <a:buClr>
                <a:srgbClr val="000000"/>
              </a:buClr>
              <a:buSzPts val="4000"/>
              <a:buFont typeface="Arial"/>
              <a:buNone/>
            </a:pPr>
            <a:r>
              <a:t/>
            </a:r>
            <a:endParaRPr b="1">
              <a:solidFill>
                <a:srgbClr val="FFFFFF"/>
              </a:solidFill>
              <a:latin typeface="Montserrat"/>
              <a:ea typeface="Montserrat"/>
              <a:cs typeface="Montserrat"/>
              <a:sym typeface="Montserrat"/>
            </a:endParaRPr>
          </a:p>
        </p:txBody>
      </p:sp>
      <p:pic>
        <p:nvPicPr>
          <p:cNvPr id="468" name="Google Shape;468;p62"/>
          <p:cNvPicPr preferRelativeResize="0"/>
          <p:nvPr/>
        </p:nvPicPr>
        <p:blipFill>
          <a:blip r:embed="rId3">
            <a:alphaModFix/>
          </a:blip>
          <a:stretch>
            <a:fillRect/>
          </a:stretch>
        </p:blipFill>
        <p:spPr>
          <a:xfrm>
            <a:off x="4114431" y="676725"/>
            <a:ext cx="5687844" cy="4338199"/>
          </a:xfrm>
          <a:prstGeom prst="rect">
            <a:avLst/>
          </a:prstGeom>
          <a:noFill/>
          <a:ln>
            <a:noFill/>
          </a:ln>
        </p:spPr>
      </p:pic>
      <p:sp>
        <p:nvSpPr>
          <p:cNvPr id="469" name="Google Shape;469;p62"/>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70" name="Google Shape;470;p62"/>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71" name="Google Shape;471;p62"/>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72" name="Google Shape;472;p62"/>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73" name="Google Shape;473;p62"/>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74" name="Google Shape;474;p62"/>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pic>
        <p:nvPicPr>
          <p:cNvPr id="475" name="Google Shape;475;p62"/>
          <p:cNvPicPr preferRelativeResize="0"/>
          <p:nvPr/>
        </p:nvPicPr>
        <p:blipFill rotWithShape="1">
          <a:blip r:embed="rId4">
            <a:alphaModFix/>
          </a:blip>
          <a:srcRect b="0" l="0" r="0" t="0"/>
          <a:stretch/>
        </p:blipFill>
        <p:spPr>
          <a:xfrm>
            <a:off x="8535950" y="105991"/>
            <a:ext cx="463928" cy="463928"/>
          </a:xfrm>
          <a:prstGeom prst="rect">
            <a:avLst/>
          </a:prstGeom>
          <a:noFill/>
          <a:ln>
            <a:noFill/>
          </a:ln>
        </p:spPr>
      </p:pic>
      <p:sp>
        <p:nvSpPr>
          <p:cNvPr id="476" name="Google Shape;476;p62"/>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77" name="Google Shape;477;p62"/>
          <p:cNvSpPr txBox="1"/>
          <p:nvPr/>
        </p:nvSpPr>
        <p:spPr>
          <a:xfrm>
            <a:off x="618377" y="251687"/>
            <a:ext cx="7296000" cy="2307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en" sz="1200">
                <a:solidFill>
                  <a:schemeClr val="lt1"/>
                </a:solidFill>
                <a:latin typeface="Montserrat"/>
                <a:ea typeface="Montserrat"/>
                <a:cs typeface="Montserrat"/>
                <a:sym typeface="Montserrat"/>
              </a:rPr>
              <a:t>Penutup</a:t>
            </a:r>
            <a:endParaRPr b="1" sz="1200">
              <a:solidFill>
                <a:schemeClr val="lt1"/>
              </a:solidFill>
              <a:latin typeface="Montserrat"/>
              <a:ea typeface="Montserrat"/>
              <a:cs typeface="Montserrat"/>
              <a:sym typeface="Montserrat"/>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481" name="Shape 481"/>
        <p:cNvGrpSpPr/>
        <p:nvPr/>
      </p:nvGrpSpPr>
      <p:grpSpPr>
        <a:xfrm>
          <a:off x="0" y="0"/>
          <a:ext cx="0" cy="0"/>
          <a:chOff x="0" y="0"/>
          <a:chExt cx="0" cy="0"/>
        </a:xfrm>
      </p:grpSpPr>
      <p:sp>
        <p:nvSpPr>
          <p:cNvPr id="482" name="Google Shape;482;p63"/>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3" name="Google Shape;483;p63"/>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484" name="Google Shape;484;p63"/>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485" name="Google Shape;485;p63"/>
          <p:cNvPicPr preferRelativeResize="0"/>
          <p:nvPr/>
        </p:nvPicPr>
        <p:blipFill>
          <a:blip r:embed="rId5">
            <a:alphaModFix/>
          </a:blip>
          <a:stretch>
            <a:fillRect/>
          </a:stretch>
        </p:blipFill>
        <p:spPr>
          <a:xfrm>
            <a:off x="1103225" y="6174213"/>
            <a:ext cx="1991475" cy="689575"/>
          </a:xfrm>
          <a:prstGeom prst="rect">
            <a:avLst/>
          </a:prstGeom>
          <a:noFill/>
          <a:ln>
            <a:noFill/>
          </a:ln>
        </p:spPr>
      </p:pic>
      <p:pic>
        <p:nvPicPr>
          <p:cNvPr id="486" name="Google Shape;486;p63"/>
          <p:cNvPicPr preferRelativeResize="0"/>
          <p:nvPr/>
        </p:nvPicPr>
        <p:blipFill>
          <a:blip r:embed="rId6">
            <a:alphaModFix/>
          </a:blip>
          <a:stretch>
            <a:fillRect/>
          </a:stretch>
        </p:blipFill>
        <p:spPr>
          <a:xfrm>
            <a:off x="487625" y="4141560"/>
            <a:ext cx="1991475" cy="68588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