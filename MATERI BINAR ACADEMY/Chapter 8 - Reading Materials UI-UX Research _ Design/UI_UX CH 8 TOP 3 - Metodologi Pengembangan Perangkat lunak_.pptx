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Lst>
  <p:sldSz cy="5143500" cx="9144000"/>
  <p:notesSz cx="6858000" cy="9144000"/>
  <p:embeddedFontLst>
    <p:embeddedFont>
      <p:font typeface="Raleway"/>
      <p:regular r:id="rId99"/>
      <p:bold r:id="rId100"/>
      <p:italic r:id="rId101"/>
      <p:boldItalic r:id="rId102"/>
    </p:embeddedFont>
    <p:embeddedFont>
      <p:font typeface="Montserrat"/>
      <p:regular r:id="rId103"/>
      <p:bold r:id="rId104"/>
      <p:italic r:id="rId105"/>
      <p:boldItalic r:id="rId106"/>
    </p:embeddedFont>
    <p:embeddedFont>
      <p:font typeface="Montserrat Medium"/>
      <p:regular r:id="rId107"/>
      <p:bold r:id="rId108"/>
      <p:italic r:id="rId109"/>
      <p:boldItalic r:id="rId110"/>
    </p:embeddedFont>
    <p:embeddedFont>
      <p:font typeface="Lato Black"/>
      <p:bold r:id="rId111"/>
      <p:boldItalic r:id="rId1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MontserratMedium-regular.fntdata"/><Relationship Id="rId106" Type="http://schemas.openxmlformats.org/officeDocument/2006/relationships/font" Target="fonts/Montserrat-boldItalic.fntdata"/><Relationship Id="rId105" Type="http://schemas.openxmlformats.org/officeDocument/2006/relationships/font" Target="fonts/Montserrat-italic.fntdata"/><Relationship Id="rId104" Type="http://schemas.openxmlformats.org/officeDocument/2006/relationships/font" Target="fonts/Montserrat-bold.fntdata"/><Relationship Id="rId109" Type="http://schemas.openxmlformats.org/officeDocument/2006/relationships/font" Target="fonts/MontserratMedium-italic.fntdata"/><Relationship Id="rId108" Type="http://schemas.openxmlformats.org/officeDocument/2006/relationships/font" Target="fonts/MontserratMedium-bold.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Montserrat-regular.fntdata"/><Relationship Id="rId102" Type="http://schemas.openxmlformats.org/officeDocument/2006/relationships/font" Target="fonts/Raleway-boldItalic.fntdata"/><Relationship Id="rId101" Type="http://schemas.openxmlformats.org/officeDocument/2006/relationships/font" Target="fonts/Raleway-italic.fntdata"/><Relationship Id="rId100" Type="http://schemas.openxmlformats.org/officeDocument/2006/relationships/font" Target="fonts/Raleway-bold.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font" Target="fonts/Raleway-regular.fntdata"/><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MontserratMedium-boldItalic.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12" Type="http://schemas.openxmlformats.org/officeDocument/2006/relationships/font" Target="fonts/LatoBlack-boldItalic.fntdata"/><Relationship Id="rId111" Type="http://schemas.openxmlformats.org/officeDocument/2006/relationships/font" Target="fonts/LatoBlack-bold.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illion?utm_source=unsplash&amp;utm_medium=referral&amp;utm_content=creditCopyText" TargetMode="External"/><Relationship Id="rId3" Type="http://schemas.openxmlformats.org/officeDocument/2006/relationships/hyperlink" Target="https://unsplash.com/@abillion?utm_source=unsplash&amp;utm_medium=referral&amp;utm_content=creditCopyText" TargetMode="External"/><Relationship Id="rId4" Type="http://schemas.openxmlformats.org/officeDocument/2006/relationships/hyperlink" Target="https://unsplash.com/s/photos/features-app?utm_source=unsplash&amp;utm_medium=referral&amp;utm_content=creditCopyText" TargetMode="External"/><Relationship Id="rId5" Type="http://schemas.openxmlformats.org/officeDocument/2006/relationships/hyperlink" Target="https://unsplash.com/s/photos/features-app?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illion?utm_source=unsplash&amp;utm_medium=referral&amp;utm_content=creditCopyText" TargetMode="External"/><Relationship Id="rId3" Type="http://schemas.openxmlformats.org/officeDocument/2006/relationships/hyperlink" Target="https://unsplash.com/@abillion?utm_source=unsplash&amp;utm_medium=referral&amp;utm_content=creditCopyText" TargetMode="External"/><Relationship Id="rId4" Type="http://schemas.openxmlformats.org/officeDocument/2006/relationships/hyperlink" Target="https://unsplash.com/s/photos/features-app?utm_source=unsplash&amp;utm_medium=referral&amp;utm_content=creditCopyText" TargetMode="External"/><Relationship Id="rId5" Type="http://schemas.openxmlformats.org/officeDocument/2006/relationships/hyperlink" Target="https://unsplash.com/s/photos/features-app?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illion?utm_source=unsplash&amp;utm_medium=referral&amp;utm_content=creditCopyText" TargetMode="External"/><Relationship Id="rId3" Type="http://schemas.openxmlformats.org/officeDocument/2006/relationships/hyperlink" Target="https://unsplash.com/@abillion?utm_source=unsplash&amp;utm_medium=referral&amp;utm_content=creditCopyText" TargetMode="External"/><Relationship Id="rId4" Type="http://schemas.openxmlformats.org/officeDocument/2006/relationships/hyperlink" Target="https://unsplash.com/s/photos/features-app?utm_source=unsplash&amp;utm_medium=referral&amp;utm_content=creditCopyText" TargetMode="External"/><Relationship Id="rId5" Type="http://schemas.openxmlformats.org/officeDocument/2006/relationships/hyperlink" Target="https://unsplash.com/s/photos/features-app?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illion?utm_source=unsplash&amp;utm_medium=referral&amp;utm_content=creditCopyText" TargetMode="External"/><Relationship Id="rId3" Type="http://schemas.openxmlformats.org/officeDocument/2006/relationships/hyperlink" Target="https://unsplash.com/@abillion?utm_source=unsplash&amp;utm_medium=referral&amp;utm_content=creditCopyText" TargetMode="External"/><Relationship Id="rId4" Type="http://schemas.openxmlformats.org/officeDocument/2006/relationships/hyperlink" Target="https://unsplash.com/s/photos/features-app?utm_source=unsplash&amp;utm_medium=referral&amp;utm_content=creditCopyText" TargetMode="External"/><Relationship Id="rId5" Type="http://schemas.openxmlformats.org/officeDocument/2006/relationships/hyperlink" Target="https://unsplash.com/s/photos/features-app?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idebean?utm_source=unsplash&amp;utm_medium=referral&amp;utm_content=creditCopyText" TargetMode="External"/><Relationship Id="rId3" Type="http://schemas.openxmlformats.org/officeDocument/2006/relationships/hyperlink" Target="https://unsplash.com/@slidebean?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idebean?utm_source=unsplash&amp;utm_medium=referral&amp;utm_content=creditCopyText" TargetMode="External"/><Relationship Id="rId3" Type="http://schemas.openxmlformats.org/officeDocument/2006/relationships/hyperlink" Target="https://unsplash.com/@slidebean?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milymorter?utm_source=unsplash&amp;utm_medium=referral&amp;utm_content=creditCopyText" TargetMode="External"/><Relationship Id="rId3" Type="http://schemas.openxmlformats.org/officeDocument/2006/relationships/hyperlink" Target="https://unsplash.com/@emilymorter?utm_source=unsplash&amp;utm_medium=referral&amp;utm_content=creditCopyText" TargetMode="External"/><Relationship Id="rId4" Type="http://schemas.openxmlformats.org/officeDocument/2006/relationships/hyperlink" Target="https://unsplash.com/s/photos/question?utm_source=unsplash&amp;utm_medium=referral&amp;utm_content=creditCopyText" TargetMode="External"/><Relationship Id="rId5" Type="http://schemas.openxmlformats.org/officeDocument/2006/relationships/hyperlink" Target="https://unsplash.com/s/photos/question?utm_source=unsplash&amp;utm_medium=referral&amp;utm_content=creditCopyText"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idebean?utm_source=unsplash&amp;utm_medium=referral&amp;utm_content=creditCopyText" TargetMode="External"/><Relationship Id="rId3" Type="http://schemas.openxmlformats.org/officeDocument/2006/relationships/hyperlink" Target="https://unsplash.com/@slidebean?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trickperkins?utm_source=unsplash&amp;utm_medium=referral&amp;utm_content=creditCopyText" TargetMode="External"/><Relationship Id="rId3" Type="http://schemas.openxmlformats.org/officeDocument/2006/relationships/hyperlink" Target="https://unsplash.com/@patrickperkins?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trickperkins?utm_source=unsplash&amp;utm_medium=referral&amp;utm_content=creditCopyText" TargetMode="External"/><Relationship Id="rId3" Type="http://schemas.openxmlformats.org/officeDocument/2006/relationships/hyperlink" Target="https://unsplash.com/@patrickperkins?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thodsandtools.com/archive/uxrunway.php"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thodsandtools.com/archive/uxrunway.php" TargetMode="Externa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55d23aa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55d23aa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55d23aac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255d23aac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1a1a4f969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1a1a4f969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23de3f1a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23de3f1a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3de3f1a4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3de3f1a4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3de3f1a4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23de3f1a4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23de3f1a4d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23de3f1a4d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5a53e519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25a53e519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23de3f1a4d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23de3f1a4d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25a53e519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25a53e519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23de3f1a4d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23de3f1a4d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23de3f1a4d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23de3f1a4d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25a53e519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25a53e519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23de3f1a4d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23de3f1a4d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23de3f1a4d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23de3f1a4d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23de3f1a4d_0_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23de3f1a4d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23de3f1a4d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23de3f1a4d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25a53e519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25a53e519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23de3f1a4d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23de3f1a4d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23de3f1a4d_0_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23de3f1a4d_0_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2a66622b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2a66622b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23de3f1a4d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23de3f1a4d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23de3f1a4d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23de3f1a4d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25a53e519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25a53e519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23de3f1a4d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23de3f1a4d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23de3f1a4d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23de3f1a4d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23de3f1a4d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23de3f1a4d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23de3f1a4d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23de3f1a4d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25a53e5194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25a53e5194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25a53e5194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25a53e5194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23de3f1a4d_0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23de3f1a4d_0_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23de3f1a4d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23de3f1a4d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23de3f1a4d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23de3f1a4d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25a53e5194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25a53e5194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23de3f1a4d_0_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23de3f1a4d_0_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25a53e5194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25a53e5194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23de3f1a4d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23de3f1a4d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23de3f1a4d_0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23de3f1a4d_0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abillion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25a53e5194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25a53e5194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abillion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23de3f1a4d_0_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123de3f1a4d_0_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abillion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23de3f1a4d_0_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23de3f1a4d_0_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abillion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23de3f1a4d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23de3f1a4d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23de3f1a4d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23de3f1a4d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22814b5ed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22814b5ed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25a53e519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25a53e5194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25a53e5194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25a53e519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23de3f1a4d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23de3f1a4d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2b00487a0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2b00487a0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22814b5ed8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122814b5ed8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12b00487a0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12b00487a0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22814b5ed8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22814b5ed8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25a53e5194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25a53e5194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123de3f1a4d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123de3f1a4d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239880d49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239880d49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239880d49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239880d49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Slidebean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125a53e5194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125a53e5194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Slidebean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1239880d49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1239880d49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Emily Morter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123de3f1a4d_0_1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123de3f1a4d_0_1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Slidebean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23de3f1a4d_0_1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123de3f1a4d_0_1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125a53e5194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125a53e5194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123de3f1a4d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123de3f1a4d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123de3f1a4d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123de3f1a4d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123de3f1a4d_0_1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123de3f1a4d_0_1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125a53e5194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125a53e5194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123de3f1a4d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123de3f1a4d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123de3f1a4d_0_1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123de3f1a4d_0_1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Patrick Perkins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23de3f1a4d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123de3f1a4d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Patrick Perkins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123de3f1a4d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123de3f1a4d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125a53e5194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125a53e5194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123de3f1a4d_0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123de3f1a4d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https://www.methodsandtools.com/archive/uxrunway.php</a:t>
            </a:r>
            <a:r>
              <a:rPr lang="en">
                <a:solidFill>
                  <a:schemeClr val="dk1"/>
                </a:solidFill>
              </a:rPr>
              <a:t> </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125a53e5194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125a53e5194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https://www.methodsandtools.com/archive/uxrunway.php</a:t>
            </a:r>
            <a:r>
              <a:rPr lang="en">
                <a:solidFill>
                  <a:schemeClr val="dk1"/>
                </a:solidFill>
              </a:rPr>
              <a:t> </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123de3f1a4d_0_1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123de3f1a4d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123de3f1a4d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123de3f1a4d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12be2ac28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12be2ac28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1239880d49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1239880d49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123de3f1a4d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123de3f1a4d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123de3f1a4d_0_1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123de3f1a4d_0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123de3f1a4d_0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123de3f1a4d_0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123de3f1a4d_0_1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123de3f1a4d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123de3f1a4d_0_1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123de3f1a4d_0_1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123de3f1a4d_0_1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123de3f1a4d_0_1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123de3f1a4d_0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123de3f1a4d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123de3f1a4d_0_1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123de3f1a4d_0_1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123de3f1a4d_0_1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123de3f1a4d_0_1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123de3f1a4d_0_1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123de3f1a4d_0_1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123de3f1a4d_0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123de3f1a4d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125a53e5194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125a53e5194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6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unsplash.com/@tezos?utm_source=unsplash&amp;utm_medium=referral&amp;utm_content=creditCopyText" TargetMode="External"/><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7.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8.png"/><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8.png"/><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3.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5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6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5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5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5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5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6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5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69.png"/><Relationship Id="rId4" Type="http://schemas.openxmlformats.org/officeDocument/2006/relationships/image" Target="../media/image6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7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6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6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image" Target="../media/image7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7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12.png"/><Relationship Id="rId4" Type="http://schemas.openxmlformats.org/officeDocument/2006/relationships/hyperlink" Target="https://www.uxmatters.com/mt/archives/2019/06/choosing-the-right-ux-process-for-your-software-development-model.php" TargetMode="External"/><Relationship Id="rId5" Type="http://schemas.openxmlformats.org/officeDocument/2006/relationships/hyperlink" Target="https://www.uptech.team/blog/software-development-methodologies" TargetMode="External"/><Relationship Id="rId6" Type="http://schemas.openxmlformats.org/officeDocument/2006/relationships/hyperlink" Target="https://lucidspark.com/blog/best-practices-for-applying-scrum-to-UX-design" TargetMode="External"/><Relationship Id="rId7" Type="http://schemas.openxmlformats.org/officeDocument/2006/relationships/hyperlink" Target="https://www.methodsandtools.com/archive/uxrunway.php"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3.xml"/><Relationship Id="rId3" Type="http://schemas.openxmlformats.org/officeDocument/2006/relationships/image" Target="../media/image64.png"/><Relationship Id="rId4" Type="http://schemas.openxmlformats.org/officeDocument/2006/relationships/image" Target="../media/image66.png"/><Relationship Id="rId5" Type="http://schemas.openxmlformats.org/officeDocument/2006/relationships/image" Target="../media/image74.png"/><Relationship Id="rId6"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335443"/>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Metodologi Pengembangan </a:t>
            </a:r>
            <a:endParaRPr b="1" sz="240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Perangkat Lunak</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Chapter 8 - Topic 3</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8 Topic 3</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07" name="Google Shape;107;p21"/>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4" name="Google Shape;114;p22"/>
          <p:cNvSpPr txBox="1"/>
          <p:nvPr/>
        </p:nvSpPr>
        <p:spPr>
          <a:xfrm>
            <a:off x="685800" y="1754450"/>
            <a:ext cx="4528800" cy="180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512252"/>
                </a:solidFill>
                <a:latin typeface="Montserrat"/>
                <a:ea typeface="Montserrat"/>
                <a:cs typeface="Montserrat"/>
                <a:sym typeface="Montserrat"/>
              </a:rPr>
              <a:t>Makan ramen pakai bulgogi,</a:t>
            </a:r>
            <a:endParaRPr b="1">
              <a:solidFill>
                <a:srgbClr val="512252"/>
              </a:solidFill>
              <a:latin typeface="Montserrat"/>
              <a:ea typeface="Montserrat"/>
              <a:cs typeface="Montserrat"/>
              <a:sym typeface="Montserrat"/>
            </a:endParaRPr>
          </a:p>
          <a:p>
            <a:pPr indent="0" lvl="0" marL="0" rtl="0" algn="just">
              <a:spcBef>
                <a:spcPts val="0"/>
              </a:spcBef>
              <a:spcAft>
                <a:spcPts val="0"/>
              </a:spcAft>
              <a:buNone/>
            </a:pPr>
            <a:r>
              <a:rPr b="1" lang="en">
                <a:solidFill>
                  <a:srgbClr val="512252"/>
                </a:solidFill>
                <a:latin typeface="Montserrat"/>
                <a:ea typeface="Montserrat"/>
                <a:cs typeface="Montserrat"/>
                <a:sym typeface="Montserrat"/>
              </a:rPr>
              <a:t>Ehh ketemu metodologi lagi 🤭🤭</a:t>
            </a:r>
            <a:endParaRPr b="1">
              <a:solidFill>
                <a:srgbClr val="512252"/>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512252"/>
              </a:solidFill>
              <a:latin typeface="Montserrat"/>
              <a:ea typeface="Montserrat"/>
              <a:cs typeface="Montserrat"/>
              <a:sym typeface="Montserrat"/>
            </a:endParaRPr>
          </a:p>
          <a:p>
            <a:pPr indent="0" lvl="0" marL="0" rtl="0" algn="just">
              <a:spcBef>
                <a:spcPts val="0"/>
              </a:spcBef>
              <a:spcAft>
                <a:spcPts val="0"/>
              </a:spcAft>
              <a:buNone/>
            </a:pPr>
            <a:r>
              <a:rPr lang="en" sz="1100">
                <a:solidFill>
                  <a:schemeClr val="dk1"/>
                </a:solidFill>
                <a:latin typeface="Montserrat"/>
                <a:ea typeface="Montserrat"/>
                <a:cs typeface="Montserrat"/>
                <a:sym typeface="Montserrat"/>
              </a:rPr>
              <a:t>Yup, seperti janji kita kemarin nih, kali ini kita akan membahas tentang metodologi pengembangan perangkat lunak.</a:t>
            </a:r>
            <a:endParaRPr sz="1100">
              <a:solidFill>
                <a:schemeClr val="dk1"/>
              </a:solidFill>
              <a:latin typeface="Montserrat"/>
              <a:ea typeface="Montserrat"/>
              <a:cs typeface="Montserrat"/>
              <a:sym typeface="Montserrat"/>
            </a:endParaRPr>
          </a:p>
          <a:p>
            <a:pPr indent="0" lvl="0" marL="0" rtl="0" algn="just">
              <a:spcBef>
                <a:spcPts val="1000"/>
              </a:spcBef>
              <a:spcAft>
                <a:spcPts val="0"/>
              </a:spcAft>
              <a:buNone/>
            </a:pPr>
            <a:r>
              <a:rPr lang="en" sz="1100">
                <a:solidFill>
                  <a:schemeClr val="dk1"/>
                </a:solidFill>
                <a:latin typeface="Montserrat"/>
                <a:ea typeface="Montserrat"/>
                <a:cs typeface="Montserrat"/>
                <a:sym typeface="Montserrat"/>
              </a:rPr>
              <a:t>Daripada penasaran terus</a:t>
            </a:r>
            <a:endParaRPr sz="11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 sz="1100">
                <a:solidFill>
                  <a:schemeClr val="dk1"/>
                </a:solidFill>
                <a:latin typeface="Montserrat"/>
                <a:ea typeface="Montserrat"/>
                <a:cs typeface="Montserrat"/>
                <a:sym typeface="Montserrat"/>
              </a:rPr>
              <a:t>Yuk langsung aja, gengs ~</a:t>
            </a:r>
            <a:endParaRPr sz="1100">
              <a:solidFill>
                <a:schemeClr val="dk1"/>
              </a:solidFill>
              <a:latin typeface="Montserrat"/>
              <a:ea typeface="Montserrat"/>
              <a:cs typeface="Montserrat"/>
              <a:sym typeface="Montserrat"/>
            </a:endParaRPr>
          </a:p>
        </p:txBody>
      </p:sp>
      <p:pic>
        <p:nvPicPr>
          <p:cNvPr id="115" name="Google Shape;115;p22"/>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2" name="Google Shape;122;p23"/>
          <p:cNvSpPr txBox="1"/>
          <p:nvPr/>
        </p:nvSpPr>
        <p:spPr>
          <a:xfrm>
            <a:off x="685800" y="1519551"/>
            <a:ext cx="41148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500">
                <a:solidFill>
                  <a:srgbClr val="743673"/>
                </a:solidFill>
                <a:highlight>
                  <a:srgbClr val="FFFFFF"/>
                </a:highlight>
                <a:latin typeface="Montserrat"/>
                <a:ea typeface="Montserrat"/>
                <a:cs typeface="Montserrat"/>
                <a:sym typeface="Montserrat"/>
              </a:rPr>
              <a:t>Detailnya, kita akan membahas:</a:t>
            </a:r>
            <a:endParaRPr sz="900">
              <a:solidFill>
                <a:srgbClr val="000000"/>
              </a:solidFill>
              <a:latin typeface="Montserrat Medium"/>
              <a:ea typeface="Montserrat Medium"/>
              <a:cs typeface="Montserrat Medium"/>
              <a:sym typeface="Montserrat Medium"/>
            </a:endParaRPr>
          </a:p>
        </p:txBody>
      </p:sp>
      <p:sp>
        <p:nvSpPr>
          <p:cNvPr id="123" name="Google Shape;123;p23"/>
          <p:cNvSpPr/>
          <p:nvPr/>
        </p:nvSpPr>
        <p:spPr>
          <a:xfrm>
            <a:off x="685800" y="2376888"/>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4" name="Google Shape;124;p23"/>
          <p:cNvSpPr/>
          <p:nvPr/>
        </p:nvSpPr>
        <p:spPr>
          <a:xfrm>
            <a:off x="685800" y="2838038"/>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5" name="Google Shape;125;p23"/>
          <p:cNvSpPr/>
          <p:nvPr/>
        </p:nvSpPr>
        <p:spPr>
          <a:xfrm>
            <a:off x="685800" y="3299188"/>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6" name="Google Shape;126;p23"/>
          <p:cNvSpPr txBox="1"/>
          <p:nvPr/>
        </p:nvSpPr>
        <p:spPr>
          <a:xfrm>
            <a:off x="1182350" y="2308038"/>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Metodologi manajemen proyek</a:t>
            </a:r>
            <a:endParaRPr sz="1100">
              <a:solidFill>
                <a:srgbClr val="000000"/>
              </a:solidFill>
              <a:latin typeface="Montserrat"/>
              <a:ea typeface="Montserrat"/>
              <a:cs typeface="Montserrat"/>
              <a:sym typeface="Montserrat"/>
            </a:endParaRPr>
          </a:p>
        </p:txBody>
      </p:sp>
      <p:sp>
        <p:nvSpPr>
          <p:cNvPr id="127" name="Google Shape;127;p23"/>
          <p:cNvSpPr txBox="1"/>
          <p:nvPr/>
        </p:nvSpPr>
        <p:spPr>
          <a:xfrm>
            <a:off x="1182350" y="2769188"/>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Jenis-jenis metodologi manajemen proyek</a:t>
            </a:r>
            <a:endParaRPr sz="1100">
              <a:solidFill>
                <a:srgbClr val="000000"/>
              </a:solidFill>
              <a:latin typeface="Montserrat"/>
              <a:ea typeface="Montserrat"/>
              <a:cs typeface="Montserrat"/>
              <a:sym typeface="Montserrat"/>
            </a:endParaRPr>
          </a:p>
        </p:txBody>
      </p:sp>
      <p:sp>
        <p:nvSpPr>
          <p:cNvPr id="128" name="Google Shape;128;p23"/>
          <p:cNvSpPr txBox="1"/>
          <p:nvPr/>
        </p:nvSpPr>
        <p:spPr>
          <a:xfrm>
            <a:off x="1182350" y="3230338"/>
            <a:ext cx="3028200" cy="393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100">
                <a:solidFill>
                  <a:schemeClr val="dk1"/>
                </a:solidFill>
                <a:latin typeface="Montserrat"/>
                <a:ea typeface="Montserrat"/>
                <a:cs typeface="Montserrat"/>
                <a:sym typeface="Montserrat"/>
              </a:rPr>
              <a:t>Memilih proses UX yang tepat untuk jenis metodologi yang digunakan</a:t>
            </a:r>
            <a:endParaRPr sz="1100">
              <a:solidFill>
                <a:srgbClr val="000000"/>
              </a:solidFill>
              <a:latin typeface="Montserrat"/>
              <a:ea typeface="Montserrat"/>
              <a:cs typeface="Montserrat"/>
              <a:sym typeface="Montserrat"/>
            </a:endParaRPr>
          </a:p>
        </p:txBody>
      </p:sp>
      <p:pic>
        <p:nvPicPr>
          <p:cNvPr id="129" name="Google Shape;129;p23"/>
          <p:cNvPicPr preferRelativeResize="0"/>
          <p:nvPr/>
        </p:nvPicPr>
        <p:blipFill>
          <a:blip r:embed="rId3">
            <a:alphaModFix/>
          </a:blip>
          <a:stretch>
            <a:fillRect/>
          </a:stretch>
        </p:blipFill>
        <p:spPr>
          <a:xfrm>
            <a:off x="5458996" y="1043350"/>
            <a:ext cx="2612779" cy="3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manajemen proyek</a:t>
            </a:r>
            <a:endParaRPr>
              <a:latin typeface="Montserrat"/>
              <a:ea typeface="Montserrat"/>
              <a:cs typeface="Montserrat"/>
              <a:sym typeface="Montserrat"/>
            </a:endParaRPr>
          </a:p>
        </p:txBody>
      </p:sp>
      <p:sp>
        <p:nvSpPr>
          <p:cNvPr id="135" name="Google Shape;135;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 name="Google Shape;136;p24"/>
          <p:cNvSpPr txBox="1"/>
          <p:nvPr/>
        </p:nvSpPr>
        <p:spPr>
          <a:xfrm>
            <a:off x="685800" y="1833000"/>
            <a:ext cx="46275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Dalam siklus hidup pengembangan perangkat lunak, masih ingat kan peran penting project manager?</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Nah, menyambung bahasan kemarin, kita akan memperdalam wawasan kita tentang </a:t>
            </a:r>
            <a:r>
              <a:rPr b="1" lang="en">
                <a:solidFill>
                  <a:srgbClr val="F2AB2F"/>
                </a:solidFill>
                <a:latin typeface="Montserrat"/>
                <a:ea typeface="Montserrat"/>
                <a:cs typeface="Montserrat"/>
                <a:sym typeface="Montserrat"/>
              </a:rPr>
              <a:t>metodologi manajemen proyek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p:txBody>
      </p:sp>
      <p:pic>
        <p:nvPicPr>
          <p:cNvPr id="137" name="Google Shape;137;p24"/>
          <p:cNvPicPr preferRelativeResize="0"/>
          <p:nvPr/>
        </p:nvPicPr>
        <p:blipFill>
          <a:blip r:embed="rId3">
            <a:alphaModFix/>
          </a:blip>
          <a:stretch>
            <a:fillRect/>
          </a:stretch>
        </p:blipFill>
        <p:spPr>
          <a:xfrm>
            <a:off x="5801300" y="908975"/>
            <a:ext cx="2386999" cy="35412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manajemen proyek</a:t>
            </a:r>
            <a:endParaRPr>
              <a:latin typeface="Montserrat"/>
              <a:ea typeface="Montserrat"/>
              <a:cs typeface="Montserrat"/>
              <a:sym typeface="Montserrat"/>
            </a:endParaRPr>
          </a:p>
        </p:txBody>
      </p:sp>
      <p:sp>
        <p:nvSpPr>
          <p:cNvPr id="144" name="Google Shape;144;p25"/>
          <p:cNvSpPr txBox="1"/>
          <p:nvPr/>
        </p:nvSpPr>
        <p:spPr>
          <a:xfrm>
            <a:off x="685800" y="1640999"/>
            <a:ext cx="4114800" cy="186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Metodologi manajemen proyek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Metodologi pengembangan perangkat lunak atau software development methodology mengacu </a:t>
            </a:r>
            <a:r>
              <a:rPr b="1" lang="en" sz="1000">
                <a:solidFill>
                  <a:schemeClr val="dk1"/>
                </a:solidFill>
                <a:latin typeface="Montserrat"/>
                <a:ea typeface="Montserrat"/>
                <a:cs typeface="Montserrat"/>
                <a:sym typeface="Montserrat"/>
              </a:rPr>
              <a:t>pada proses terstruktur yang terlibat saat mengerjakan sebuah proyek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Metodologi ini menyediakan platform bagi pengembang untuk bekerja sama secara lebih efisien sebagai sebuah tim, di mana menjadikan komunikasi sebagai bagian formal yang menentukan bagaimana informasi dibagikan dalam tim.</a:t>
            </a:r>
            <a:endParaRPr sz="1000">
              <a:solidFill>
                <a:schemeClr val="dk1"/>
              </a:solidFill>
              <a:latin typeface="Montserrat"/>
              <a:ea typeface="Montserrat"/>
              <a:cs typeface="Montserrat"/>
              <a:sym typeface="Montserrat"/>
            </a:endParaRPr>
          </a:p>
        </p:txBody>
      </p:sp>
      <p:pic>
        <p:nvPicPr>
          <p:cNvPr id="145" name="Google Shape;145;p25"/>
          <p:cNvPicPr preferRelativeResize="0"/>
          <p:nvPr/>
        </p:nvPicPr>
        <p:blipFill>
          <a:blip r:embed="rId3">
            <a:alphaModFix/>
          </a:blip>
          <a:stretch>
            <a:fillRect/>
          </a:stretch>
        </p:blipFill>
        <p:spPr>
          <a:xfrm>
            <a:off x="5478151" y="746375"/>
            <a:ext cx="3000099" cy="36507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manajemen proyek</a:t>
            </a:r>
            <a:endParaRPr>
              <a:latin typeface="Montserrat"/>
              <a:ea typeface="Montserrat"/>
              <a:cs typeface="Montserrat"/>
              <a:sym typeface="Montserrat"/>
            </a:endParaRPr>
          </a:p>
        </p:txBody>
      </p:sp>
      <p:sp>
        <p:nvSpPr>
          <p:cNvPr id="152" name="Google Shape;152;p26"/>
          <p:cNvSpPr txBox="1"/>
          <p:nvPr/>
        </p:nvSpPr>
        <p:spPr>
          <a:xfrm>
            <a:off x="685800" y="1549151"/>
            <a:ext cx="4114800" cy="2689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Metodologi dan komunikasi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kata lain, metodologi juga</a:t>
            </a:r>
            <a:r>
              <a:rPr lang="en" sz="1000">
                <a:solidFill>
                  <a:schemeClr val="dk1"/>
                </a:solidFill>
                <a:latin typeface="Montserrat"/>
                <a:ea typeface="Montserrat"/>
                <a:cs typeface="Montserrat"/>
                <a:sym typeface="Montserrat"/>
              </a:rPr>
              <a:t> membuat komunikasi menjadi terkodifikasi.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Seorang project manager sebenarnya perlu menetapkan seperangkat norma di antara sekelompok orang. Norma tersebut mendefinisikan cara kamu bekerja dan bagaimana kamu menyampaikan informasi di dalam tim dengan cara tertentu.</a:t>
            </a:r>
            <a:endParaRPr sz="1000">
              <a:solidFill>
                <a:schemeClr val="dk1"/>
              </a:solidFill>
              <a:latin typeface="Montserrat"/>
              <a:ea typeface="Montserrat"/>
              <a:cs typeface="Montserrat"/>
              <a:sym typeface="Montserrat"/>
            </a:endParaRPr>
          </a:p>
        </p:txBody>
      </p:sp>
      <p:pic>
        <p:nvPicPr>
          <p:cNvPr id="153" name="Google Shape;153;p26"/>
          <p:cNvPicPr preferRelativeResize="0"/>
          <p:nvPr/>
        </p:nvPicPr>
        <p:blipFill>
          <a:blip r:embed="rId3">
            <a:alphaModFix/>
          </a:blip>
          <a:stretch>
            <a:fillRect/>
          </a:stretch>
        </p:blipFill>
        <p:spPr>
          <a:xfrm>
            <a:off x="5257800" y="1112198"/>
            <a:ext cx="3442974" cy="29191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manajemen proyek</a:t>
            </a:r>
            <a:endParaRPr>
              <a:latin typeface="Montserrat"/>
              <a:ea typeface="Montserrat"/>
              <a:cs typeface="Montserrat"/>
              <a:sym typeface="Montserrat"/>
            </a:endParaRPr>
          </a:p>
        </p:txBody>
      </p:sp>
      <p:sp>
        <p:nvSpPr>
          <p:cNvPr id="160" name="Google Shape;160;p27"/>
          <p:cNvSpPr txBox="1"/>
          <p:nvPr/>
        </p:nvSpPr>
        <p:spPr>
          <a:xfrm>
            <a:off x="685800" y="1620898"/>
            <a:ext cx="4114800" cy="1901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Sebagai catatan nih, gengs…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kamu mencari metodologi manajemen proyek di Google, maka akan kamu temukan banyak sekali jenisnya.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dikarenakan perubahan pada metodologi yang sudah ada oleh seseorang atau lebih, kemudian menetapkan label baru di atasnya dan mengklaimnya sebagai kebaruan.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telusuri beberapa jenis metodologi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161" name="Google Shape;161;p27"/>
          <p:cNvPicPr preferRelativeResize="0"/>
          <p:nvPr/>
        </p:nvPicPr>
        <p:blipFill rotWithShape="1">
          <a:blip r:embed="rId3">
            <a:alphaModFix/>
          </a:blip>
          <a:srcRect b="0" l="16374" r="16380" t="0"/>
          <a:stretch/>
        </p:blipFill>
        <p:spPr>
          <a:xfrm>
            <a:off x="5486400" y="1207587"/>
            <a:ext cx="3017518" cy="2743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167" name="Google Shape;167;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8" name="Google Shape;168;p28"/>
          <p:cNvSpPr txBox="1"/>
          <p:nvPr/>
        </p:nvSpPr>
        <p:spPr>
          <a:xfrm>
            <a:off x="685800" y="1667275"/>
            <a:ext cx="42288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Okey, saatnya kita menelusuri </a:t>
            </a:r>
            <a:r>
              <a:rPr b="1" lang="en">
                <a:solidFill>
                  <a:srgbClr val="F2AB2F"/>
                </a:solidFill>
                <a:latin typeface="Montserrat"/>
                <a:ea typeface="Montserrat"/>
                <a:cs typeface="Montserrat"/>
                <a:sym typeface="Montserrat"/>
              </a:rPr>
              <a:t>jenis-jenis m</a:t>
            </a:r>
            <a:r>
              <a:rPr b="1" lang="en">
                <a:solidFill>
                  <a:srgbClr val="F2AB2F"/>
                </a:solidFill>
                <a:latin typeface="Montserrat"/>
                <a:ea typeface="Montserrat"/>
                <a:cs typeface="Montserrat"/>
                <a:sym typeface="Montserrat"/>
              </a:rPr>
              <a:t>etodologi manajemen proyek</a:t>
            </a:r>
            <a:r>
              <a:rPr b="1" lang="en">
                <a:solidFill>
                  <a:schemeClr val="lt1"/>
                </a:solidFill>
                <a:latin typeface="Montserrat"/>
                <a:ea typeface="Montserrat"/>
                <a:cs typeface="Montserrat"/>
                <a:sym typeface="Montserrat"/>
              </a:rPr>
              <a:t>. Apa aja ya kira-kira, gengs? Chekidottt ~</a:t>
            </a:r>
            <a:endParaRPr b="1">
              <a:solidFill>
                <a:schemeClr val="lt1"/>
              </a:solidFill>
              <a:latin typeface="Montserrat"/>
              <a:ea typeface="Montserrat"/>
              <a:cs typeface="Montserrat"/>
              <a:sym typeface="Montserrat"/>
            </a:endParaRPr>
          </a:p>
        </p:txBody>
      </p:sp>
      <p:pic>
        <p:nvPicPr>
          <p:cNvPr id="169" name="Google Shape;169;p28"/>
          <p:cNvPicPr preferRelativeResize="0"/>
          <p:nvPr/>
        </p:nvPicPr>
        <p:blipFill>
          <a:blip r:embed="rId3">
            <a:alphaModFix/>
          </a:blip>
          <a:stretch>
            <a:fillRect/>
          </a:stretch>
        </p:blipFill>
        <p:spPr>
          <a:xfrm>
            <a:off x="5061650" y="914400"/>
            <a:ext cx="3224475" cy="3598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176" name="Google Shape;176;p29"/>
          <p:cNvSpPr txBox="1"/>
          <p:nvPr/>
        </p:nvSpPr>
        <p:spPr>
          <a:xfrm>
            <a:off x="685800" y="1646875"/>
            <a:ext cx="4114800" cy="1217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t>
            </a:r>
            <a:r>
              <a:rPr b="1" lang="en" sz="1600">
                <a:solidFill>
                  <a:srgbClr val="743673"/>
                </a:solidFill>
                <a:highlight>
                  <a:schemeClr val="lt1"/>
                </a:highlight>
                <a:latin typeface="Montserrat"/>
                <a:ea typeface="Montserrat"/>
                <a:cs typeface="Montserrat"/>
                <a:sym typeface="Montserrat"/>
              </a:rPr>
              <a:t>Agile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Agile bisa dibilang sebagai salah satu metodologi pengembangan perangkat lunak paling populer dalam beberapa tahun terakhir.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Metodologi ini berfokus pada </a:t>
            </a:r>
            <a:r>
              <a:rPr b="1" lang="en" sz="1000">
                <a:solidFill>
                  <a:schemeClr val="dk1"/>
                </a:solidFill>
                <a:latin typeface="Montserrat"/>
                <a:ea typeface="Montserrat"/>
                <a:cs typeface="Montserrat"/>
                <a:sym typeface="Montserrat"/>
              </a:rPr>
              <a:t>cara</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memuaskan pengguna daripada menekankan dokumentasi dan prosedur yang kaku</a:t>
            </a:r>
            <a:r>
              <a:rPr lang="en" sz="1000">
                <a:solidFill>
                  <a:schemeClr val="dk1"/>
                </a:solidFill>
                <a:latin typeface="Montserrat"/>
                <a:ea typeface="Montserrat"/>
                <a:cs typeface="Montserrat"/>
                <a:sym typeface="Montserrat"/>
              </a:rPr>
              <a:t>. Sehingga, dibutuhkan pendekatan berbeda dari yang konvensional atau metode linier.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177" name="Google Shape;177;p29"/>
          <p:cNvPicPr preferRelativeResize="0"/>
          <p:nvPr/>
        </p:nvPicPr>
        <p:blipFill rotWithShape="1">
          <a:blip r:embed="rId3">
            <a:alphaModFix/>
          </a:blip>
          <a:srcRect b="0" l="0" r="0" t="0"/>
          <a:stretch/>
        </p:blipFill>
        <p:spPr>
          <a:xfrm>
            <a:off x="5104125" y="1196776"/>
            <a:ext cx="3512475" cy="3556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184" name="Google Shape;184;p30"/>
          <p:cNvSpPr txBox="1"/>
          <p:nvPr/>
        </p:nvSpPr>
        <p:spPr>
          <a:xfrm>
            <a:off x="685800" y="1819329"/>
            <a:ext cx="4114800" cy="1646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Agile, tugas dipecah menjadi sprint pendek yang membutuhkan waktu sekitar 1 hingga 4 minggu untuk diselesaikan.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adalah model berulang yang melibatkan banyak tes saat pengembangan berlangsung. Pengembang terus dilakukan untuk mencari umpan balik dari pelanggan dan membuat perubahan pada perangkat lunak.</a:t>
            </a:r>
            <a:endParaRPr sz="1000">
              <a:solidFill>
                <a:schemeClr val="dk1"/>
              </a:solidFill>
              <a:latin typeface="Montserrat"/>
              <a:ea typeface="Montserrat"/>
              <a:cs typeface="Montserrat"/>
              <a:sym typeface="Montserrat"/>
            </a:endParaRPr>
          </a:p>
        </p:txBody>
      </p:sp>
      <p:pic>
        <p:nvPicPr>
          <p:cNvPr id="185" name="Google Shape;185;p30"/>
          <p:cNvPicPr preferRelativeResize="0"/>
          <p:nvPr/>
        </p:nvPicPr>
        <p:blipFill rotWithShape="1">
          <a:blip r:embed="rId3">
            <a:alphaModFix/>
          </a:blip>
          <a:srcRect b="0" l="0" r="0" t="0"/>
          <a:stretch/>
        </p:blipFill>
        <p:spPr>
          <a:xfrm>
            <a:off x="5104125" y="1196751"/>
            <a:ext cx="3512475" cy="3556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192" name="Google Shape;192;p31"/>
          <p:cNvSpPr txBox="1"/>
          <p:nvPr/>
        </p:nvSpPr>
        <p:spPr>
          <a:xfrm>
            <a:off x="685800" y="1964247"/>
            <a:ext cx="4114800" cy="121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Agile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Metodologi Agile sangat ideal untuk </a:t>
            </a:r>
            <a:r>
              <a:rPr b="1" lang="en" sz="1000">
                <a:solidFill>
                  <a:schemeClr val="dk1"/>
                </a:solidFill>
                <a:latin typeface="Montserrat"/>
                <a:ea typeface="Montserrat"/>
                <a:cs typeface="Montserrat"/>
                <a:sym typeface="Montserrat"/>
              </a:rPr>
              <a:t>proyek dengan persyaratan yang cepat berubah</a:t>
            </a:r>
            <a:r>
              <a:rPr lang="en" sz="1000">
                <a:solidFill>
                  <a:schemeClr val="dk1"/>
                </a:solidFill>
                <a:latin typeface="Montserrat"/>
                <a:ea typeface="Montserrat"/>
                <a:cs typeface="Montserrat"/>
                <a:sym typeface="Montserrat"/>
              </a:rPr>
              <a:t>. Ketika kamu sedang membangun perangkat lunak dengan cara baru, kamu pasti ingin bahkan memilih menggunakan Agile.</a:t>
            </a:r>
            <a:endParaRPr sz="1000">
              <a:solidFill>
                <a:schemeClr val="dk1"/>
              </a:solidFill>
              <a:latin typeface="Montserrat"/>
              <a:ea typeface="Montserrat"/>
              <a:cs typeface="Montserrat"/>
              <a:sym typeface="Montserrat"/>
            </a:endParaRPr>
          </a:p>
        </p:txBody>
      </p:sp>
      <p:pic>
        <p:nvPicPr>
          <p:cNvPr id="193" name="Google Shape;193;p31"/>
          <p:cNvPicPr preferRelativeResize="0"/>
          <p:nvPr/>
        </p:nvPicPr>
        <p:blipFill>
          <a:blip r:embed="rId3">
            <a:alphaModFix/>
          </a:blip>
          <a:stretch>
            <a:fillRect/>
          </a:stretch>
        </p:blipFill>
        <p:spPr>
          <a:xfrm>
            <a:off x="5224300" y="1280875"/>
            <a:ext cx="2608323" cy="31278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00" name="Google Shape;200;p32"/>
          <p:cNvSpPr txBox="1"/>
          <p:nvPr/>
        </p:nvSpPr>
        <p:spPr>
          <a:xfrm>
            <a:off x="685800" y="1943097"/>
            <a:ext cx="4114800" cy="125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Sebab, Agile bisa menjadi c</a:t>
            </a:r>
            <a:r>
              <a:rPr lang="en" sz="1000">
                <a:solidFill>
                  <a:schemeClr val="dk1"/>
                </a:solidFill>
                <a:latin typeface="Montserrat"/>
                <a:ea typeface="Montserrat"/>
                <a:cs typeface="Montserrat"/>
                <a:sym typeface="Montserrat"/>
              </a:rPr>
              <a:t>ara terbaik untuk menerapkan ide tambahan saat kamu mempelajari lebih lanjut tentang kebutuhan pasar.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Tentu saja, ini mengasumsikan bahwa tim pengembang kamu sangat mandiri dan nyaman bekerja di lingkungan yang serba cepat dan tidak terstruktur.</a:t>
            </a:r>
            <a:endParaRPr sz="1000">
              <a:solidFill>
                <a:schemeClr val="dk1"/>
              </a:solidFill>
              <a:latin typeface="Montserrat"/>
              <a:ea typeface="Montserrat"/>
              <a:cs typeface="Montserrat"/>
              <a:sym typeface="Montserrat"/>
            </a:endParaRPr>
          </a:p>
        </p:txBody>
      </p:sp>
      <p:pic>
        <p:nvPicPr>
          <p:cNvPr id="201" name="Google Shape;201;p32"/>
          <p:cNvPicPr preferRelativeResize="0"/>
          <p:nvPr/>
        </p:nvPicPr>
        <p:blipFill>
          <a:blip r:embed="rId3">
            <a:alphaModFix/>
          </a:blip>
          <a:stretch>
            <a:fillRect/>
          </a:stretch>
        </p:blipFill>
        <p:spPr>
          <a:xfrm>
            <a:off x="5453500" y="985712"/>
            <a:ext cx="2682799" cy="3172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pic>
        <p:nvPicPr>
          <p:cNvPr id="208" name="Google Shape;208;p33"/>
          <p:cNvPicPr preferRelativeResize="0"/>
          <p:nvPr/>
        </p:nvPicPr>
        <p:blipFill>
          <a:blip r:embed="rId3">
            <a:alphaModFix/>
          </a:blip>
          <a:stretch>
            <a:fillRect/>
          </a:stretch>
        </p:blipFill>
        <p:spPr>
          <a:xfrm>
            <a:off x="2003800" y="821525"/>
            <a:ext cx="5136399" cy="4117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15" name="Google Shape;215;p34"/>
          <p:cNvSpPr txBox="1"/>
          <p:nvPr/>
        </p:nvSpPr>
        <p:spPr>
          <a:xfrm>
            <a:off x="685800" y="1890300"/>
            <a:ext cx="4322400" cy="1362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Waterfall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Meskipun beberapa dekade sejak pertama kali digunakan, metodologi waterfall masih relevan di beberapa proyek saat ini. Waterfall adalah </a:t>
            </a:r>
            <a:r>
              <a:rPr b="1" lang="en" sz="1000">
                <a:solidFill>
                  <a:schemeClr val="dk1"/>
                </a:solidFill>
                <a:latin typeface="Montserrat"/>
                <a:ea typeface="Montserrat"/>
                <a:cs typeface="Montserrat"/>
                <a:sym typeface="Montserrat"/>
              </a:rPr>
              <a:t>metode linier sederhana di mana tahapan pengembangan diatur ke dalam proses cascading yang berurutan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16" name="Google Shape;216;p34"/>
          <p:cNvPicPr preferRelativeResize="0"/>
          <p:nvPr/>
        </p:nvPicPr>
        <p:blipFill>
          <a:blip r:embed="rId3">
            <a:alphaModFix/>
          </a:blip>
          <a:stretch>
            <a:fillRect/>
          </a:stretch>
        </p:blipFill>
        <p:spPr>
          <a:xfrm>
            <a:off x="5257800" y="1394400"/>
            <a:ext cx="2985624" cy="2940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23" name="Google Shape;223;p35"/>
          <p:cNvSpPr txBox="1"/>
          <p:nvPr/>
        </p:nvSpPr>
        <p:spPr>
          <a:xfrm>
            <a:off x="685800" y="1814850"/>
            <a:ext cx="4322400" cy="107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Metodologi ini mudah dipahami, sehingga membuatnya populer untuk tim dengan pengalaman desain yang kurang.</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Setiap tahap harus diselesaikan sebelum melanjutkan ke tahap berikutnya. Misal, semua persyaratan harus ditetapkan sebelum desain dapat dimulai.</a:t>
            </a:r>
            <a:endParaRPr sz="1000">
              <a:solidFill>
                <a:schemeClr val="dk1"/>
              </a:solidFill>
              <a:latin typeface="Montserrat"/>
              <a:ea typeface="Montserrat"/>
              <a:cs typeface="Montserrat"/>
              <a:sym typeface="Montserrat"/>
            </a:endParaRPr>
          </a:p>
        </p:txBody>
      </p:sp>
      <p:pic>
        <p:nvPicPr>
          <p:cNvPr id="224" name="Google Shape;224;p35"/>
          <p:cNvPicPr preferRelativeResize="0"/>
          <p:nvPr/>
        </p:nvPicPr>
        <p:blipFill>
          <a:blip r:embed="rId3">
            <a:alphaModFix/>
          </a:blip>
          <a:stretch>
            <a:fillRect/>
          </a:stretch>
        </p:blipFill>
        <p:spPr>
          <a:xfrm>
            <a:off x="5629750" y="1154175"/>
            <a:ext cx="2130700" cy="3646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31" name="Google Shape;231;p36"/>
          <p:cNvSpPr txBox="1"/>
          <p:nvPr/>
        </p:nvSpPr>
        <p:spPr>
          <a:xfrm>
            <a:off x="685800" y="1732625"/>
            <a:ext cx="4359600" cy="1242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Seperti halnya air terjun mengalir ke satu arah, </a:t>
            </a:r>
            <a:r>
              <a:rPr lang="en" sz="1000">
                <a:solidFill>
                  <a:schemeClr val="dk1"/>
                </a:solidFill>
                <a:latin typeface="Montserrat"/>
                <a:ea typeface="Montserrat"/>
                <a:cs typeface="Montserrat"/>
                <a:sym typeface="Montserrat"/>
              </a:rPr>
              <a:t>tidak ada jalan kembali dalam pendekatan ini. Maka dari itu, waterfall menjadi metode yang </a:t>
            </a:r>
            <a:r>
              <a:rPr b="1" lang="en" sz="1000">
                <a:solidFill>
                  <a:schemeClr val="dk1"/>
                </a:solidFill>
                <a:latin typeface="Montserrat"/>
                <a:ea typeface="Montserrat"/>
                <a:cs typeface="Montserrat"/>
                <a:sym typeface="Montserrat"/>
              </a:rPr>
              <a:t>tidak fleksibel</a:t>
            </a:r>
            <a:r>
              <a:rPr b="1"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dan harus dihindari untuk proyek dengan persyaratan yang berubah dengan cepat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32" name="Google Shape;232;p36"/>
          <p:cNvPicPr preferRelativeResize="0"/>
          <p:nvPr/>
        </p:nvPicPr>
        <p:blipFill>
          <a:blip r:embed="rId3">
            <a:alphaModFix/>
          </a:blip>
          <a:stretch>
            <a:fillRect/>
          </a:stretch>
        </p:blipFill>
        <p:spPr>
          <a:xfrm>
            <a:off x="5644863" y="674650"/>
            <a:ext cx="2187762" cy="4076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8" name="Google Shape;238;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39" name="Google Shape;239;p37"/>
          <p:cNvSpPr txBox="1"/>
          <p:nvPr/>
        </p:nvSpPr>
        <p:spPr>
          <a:xfrm>
            <a:off x="685800" y="1821476"/>
            <a:ext cx="4114800" cy="1878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waterfall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Gunakan waterfall </a:t>
            </a:r>
            <a:r>
              <a:rPr b="1" lang="en" sz="1000">
                <a:solidFill>
                  <a:schemeClr val="dk1"/>
                </a:solidFill>
                <a:latin typeface="Montserrat"/>
                <a:ea typeface="Montserrat"/>
                <a:cs typeface="Montserrat"/>
                <a:sym typeface="Montserrat"/>
              </a:rPr>
              <a:t>hanya jika kamu memiliki proyek dengan cakupan yang jelas</a:t>
            </a:r>
            <a:r>
              <a:rPr lang="en" sz="1000">
                <a:solidFill>
                  <a:schemeClr val="dk1"/>
                </a:solidFill>
                <a:latin typeface="Montserrat"/>
                <a:ea typeface="Montserrat"/>
                <a:cs typeface="Montserrat"/>
                <a:sym typeface="Montserrat"/>
              </a:rPr>
              <a:t>. Metodologi ini tidak cocok untuk pengembangan yang melibatkan banyak hal tidak diketahui.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Waterfall sangat ideal untuk proyek dengan hasil yang dapat diprediksi dan ketika kamu memiliki tim pengembang yang tidak berpengalaman.</a:t>
            </a:r>
            <a:endParaRPr sz="1000">
              <a:solidFill>
                <a:schemeClr val="dk1"/>
              </a:solidFill>
              <a:latin typeface="Montserrat"/>
              <a:ea typeface="Montserrat"/>
              <a:cs typeface="Montserrat"/>
              <a:sym typeface="Montserrat"/>
            </a:endParaRPr>
          </a:p>
        </p:txBody>
      </p:sp>
      <p:pic>
        <p:nvPicPr>
          <p:cNvPr id="240" name="Google Shape;240;p37"/>
          <p:cNvPicPr preferRelativeResize="0"/>
          <p:nvPr/>
        </p:nvPicPr>
        <p:blipFill>
          <a:blip r:embed="rId3">
            <a:alphaModFix/>
          </a:blip>
          <a:stretch>
            <a:fillRect/>
          </a:stretch>
        </p:blipFill>
        <p:spPr>
          <a:xfrm>
            <a:off x="5410200" y="914400"/>
            <a:ext cx="2798057" cy="35814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38"/>
          <p:cNvPicPr preferRelativeResize="0"/>
          <p:nvPr/>
        </p:nvPicPr>
        <p:blipFill rotWithShape="1">
          <a:blip r:embed="rId3">
            <a:alphaModFix/>
          </a:blip>
          <a:srcRect b="5240" l="0" r="0" t="1848"/>
          <a:stretch/>
        </p:blipFill>
        <p:spPr>
          <a:xfrm>
            <a:off x="1845995" y="748225"/>
            <a:ext cx="5452017" cy="4217301"/>
          </a:xfrm>
          <a:prstGeom prst="rect">
            <a:avLst/>
          </a:prstGeom>
          <a:noFill/>
          <a:ln>
            <a:noFill/>
          </a:ln>
        </p:spPr>
      </p:pic>
      <p:sp>
        <p:nvSpPr>
          <p:cNvPr id="246" name="Google Shape;24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3" name="Google Shape;253;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54" name="Google Shape;254;p39"/>
          <p:cNvSpPr txBox="1"/>
          <p:nvPr/>
        </p:nvSpPr>
        <p:spPr>
          <a:xfrm>
            <a:off x="685800" y="1710748"/>
            <a:ext cx="4114800" cy="172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Lean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Pengembangan lean lahir dari prinsip lean manufacturing oleh Toyota. Metodologi ini berfokus pada </a:t>
            </a:r>
            <a:r>
              <a:rPr b="1" lang="en" sz="1000">
                <a:solidFill>
                  <a:schemeClr val="dk1"/>
                </a:solidFill>
                <a:latin typeface="Montserrat"/>
                <a:ea typeface="Montserrat"/>
                <a:cs typeface="Montserrat"/>
                <a:sym typeface="Montserrat"/>
              </a:rPr>
              <a:t>meminimalkan pemborosan dan meningkatkan produktivitas</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Dengan prinsip panduan, pengembang menghindari aktivitas non-produktif sambil memberikan kualitas dalam tugas mereka.</a:t>
            </a:r>
            <a:endParaRPr sz="1000">
              <a:solidFill>
                <a:schemeClr val="dk1"/>
              </a:solidFill>
              <a:latin typeface="Montserrat"/>
              <a:ea typeface="Montserrat"/>
              <a:cs typeface="Montserrat"/>
              <a:sym typeface="Montserrat"/>
            </a:endParaRPr>
          </a:p>
        </p:txBody>
      </p:sp>
      <p:pic>
        <p:nvPicPr>
          <p:cNvPr id="255" name="Google Shape;255;p39"/>
          <p:cNvPicPr preferRelativeResize="0"/>
          <p:nvPr/>
        </p:nvPicPr>
        <p:blipFill>
          <a:blip r:embed="rId3">
            <a:alphaModFix/>
          </a:blip>
          <a:stretch>
            <a:fillRect/>
          </a:stretch>
        </p:blipFill>
        <p:spPr>
          <a:xfrm>
            <a:off x="5110250" y="1160300"/>
            <a:ext cx="3111301" cy="3640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62" name="Google Shape;262;p40"/>
          <p:cNvSpPr txBox="1"/>
          <p:nvPr/>
        </p:nvSpPr>
        <p:spPr>
          <a:xfrm>
            <a:off x="487625" y="1814227"/>
            <a:ext cx="4114800" cy="1629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t>
            </a:r>
            <a:r>
              <a:rPr lang="en" sz="1000">
                <a:solidFill>
                  <a:schemeClr val="dk1"/>
                </a:solidFill>
                <a:latin typeface="Montserrat"/>
                <a:ea typeface="Montserrat"/>
                <a:cs typeface="Montserrat"/>
                <a:sym typeface="Montserrat"/>
              </a:rPr>
              <a:t>etodologi yang diilhami Toyota ini menekankan pembelajaran berkelanjutan dan penundaan keputusan.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Hal ini tentunya memberdayakan tim untuk tetap berpikiran terbuka selama proses pengembangan dan mempertimbangkan semua faktor sebelum menyelesaikan keputusan.</a:t>
            </a:r>
            <a:endParaRPr sz="1000">
              <a:solidFill>
                <a:schemeClr val="dk1"/>
              </a:solidFill>
              <a:latin typeface="Montserrat"/>
              <a:ea typeface="Montserrat"/>
              <a:cs typeface="Montserrat"/>
              <a:sym typeface="Montserrat"/>
            </a:endParaRPr>
          </a:p>
        </p:txBody>
      </p:sp>
      <p:pic>
        <p:nvPicPr>
          <p:cNvPr id="263" name="Google Shape;263;p40"/>
          <p:cNvPicPr preferRelativeResize="0"/>
          <p:nvPr/>
        </p:nvPicPr>
        <p:blipFill>
          <a:blip r:embed="rId3">
            <a:alphaModFix/>
          </a:blip>
          <a:stretch>
            <a:fillRect/>
          </a:stretch>
        </p:blipFill>
        <p:spPr>
          <a:xfrm>
            <a:off x="4930800" y="1532074"/>
            <a:ext cx="3858225" cy="2924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9" name="Google Shape;269;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70" name="Google Shape;270;p41"/>
          <p:cNvSpPr txBox="1"/>
          <p:nvPr/>
        </p:nvSpPr>
        <p:spPr>
          <a:xfrm>
            <a:off x="487625" y="1657800"/>
            <a:ext cx="3773100" cy="182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Dengan metodologi lean, </a:t>
            </a:r>
            <a:r>
              <a:rPr b="1" lang="en" sz="1000">
                <a:solidFill>
                  <a:schemeClr val="dk1"/>
                </a:solidFill>
                <a:latin typeface="Montserrat"/>
                <a:ea typeface="Montserrat"/>
                <a:cs typeface="Montserrat"/>
                <a:sym typeface="Montserrat"/>
              </a:rPr>
              <a:t>pengembang ditugaskan untuk mengidentifikasi kendala yang dapat menghambat proses</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Tujuannya adalah membangun sistem yang efisien bekerja dengan sempurna. Metodologi ini juga menekankan rasa hormat manusia, yang berarti komunikasi adalah kunci untuk meningkatkan kolaborasi tim.</a:t>
            </a:r>
            <a:endParaRPr sz="1000">
              <a:solidFill>
                <a:schemeClr val="dk1"/>
              </a:solidFill>
              <a:latin typeface="Montserrat"/>
              <a:ea typeface="Montserrat"/>
              <a:cs typeface="Montserrat"/>
              <a:sym typeface="Montserrat"/>
            </a:endParaRPr>
          </a:p>
        </p:txBody>
      </p:sp>
      <p:pic>
        <p:nvPicPr>
          <p:cNvPr id="271" name="Google Shape;271;p41"/>
          <p:cNvPicPr preferRelativeResize="0"/>
          <p:nvPr/>
        </p:nvPicPr>
        <p:blipFill>
          <a:blip r:embed="rId3">
            <a:alphaModFix/>
          </a:blip>
          <a:stretch>
            <a:fillRect/>
          </a:stretch>
        </p:blipFill>
        <p:spPr>
          <a:xfrm>
            <a:off x="4532425" y="1375868"/>
            <a:ext cx="4398275" cy="283030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78" name="Google Shape;278;p42"/>
          <p:cNvSpPr txBox="1"/>
          <p:nvPr/>
        </p:nvSpPr>
        <p:spPr>
          <a:xfrm>
            <a:off x="685800" y="1451401"/>
            <a:ext cx="4114800" cy="224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lean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Pengembangan lean sangat ideal untuk </a:t>
            </a:r>
            <a:r>
              <a:rPr b="1" lang="en" sz="1000">
                <a:solidFill>
                  <a:schemeClr val="dk1"/>
                </a:solidFill>
                <a:latin typeface="Montserrat"/>
                <a:ea typeface="Montserrat"/>
                <a:cs typeface="Montserrat"/>
                <a:sym typeface="Montserrat"/>
              </a:rPr>
              <a:t>proyek kecil dengan anggaran yang ketat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Prinsip meminimalkan pemborosan dan meningkatkan efisiensi berarti kamu akan memanfaatkan tim kecil untuk mencapai hasil yang luar biasa.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Pengembangan lean menjadi kurang praktis untuk proyek yang lebih besar, karena kamu memerlukan tim lebih besar untuk mengerjakan tugas tersebut.</a:t>
            </a:r>
            <a:endParaRPr sz="1000">
              <a:solidFill>
                <a:schemeClr val="dk1"/>
              </a:solidFill>
              <a:latin typeface="Montserrat"/>
              <a:ea typeface="Montserrat"/>
              <a:cs typeface="Montserrat"/>
              <a:sym typeface="Montserrat"/>
            </a:endParaRPr>
          </a:p>
        </p:txBody>
      </p:sp>
      <p:pic>
        <p:nvPicPr>
          <p:cNvPr id="279" name="Google Shape;279;p42"/>
          <p:cNvPicPr preferRelativeResize="0"/>
          <p:nvPr/>
        </p:nvPicPr>
        <p:blipFill>
          <a:blip r:embed="rId3">
            <a:alphaModFix/>
          </a:blip>
          <a:stretch>
            <a:fillRect/>
          </a:stretch>
        </p:blipFill>
        <p:spPr>
          <a:xfrm>
            <a:off x="5379288" y="1064025"/>
            <a:ext cx="2531726" cy="36493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86" name="Google Shape;286;p43"/>
          <p:cNvSpPr txBox="1"/>
          <p:nvPr/>
        </p:nvSpPr>
        <p:spPr>
          <a:xfrm>
            <a:off x="642200" y="1739200"/>
            <a:ext cx="4228800" cy="996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Pembuatan konsep pada Lean UX dapat dilakukan pada papan tulis, sticky notes atau gambar sederhana. Tujuannya adalah untuk dapat langsung memperoleh bagian inti dari ide, dan alur kerja dapat divisualisasikan dengan cepat.</a:t>
            </a:r>
            <a:endParaRPr sz="1000">
              <a:solidFill>
                <a:schemeClr val="dk1"/>
              </a:solidFill>
              <a:latin typeface="Montserrat"/>
              <a:ea typeface="Montserrat"/>
              <a:cs typeface="Montserrat"/>
              <a:sym typeface="Montserrat"/>
            </a:endParaRPr>
          </a:p>
        </p:txBody>
      </p:sp>
      <p:pic>
        <p:nvPicPr>
          <p:cNvPr id="287" name="Google Shape;287;p43"/>
          <p:cNvPicPr preferRelativeResize="0"/>
          <p:nvPr/>
        </p:nvPicPr>
        <p:blipFill>
          <a:blip r:embed="rId3">
            <a:alphaModFix/>
          </a:blip>
          <a:stretch>
            <a:fillRect/>
          </a:stretch>
        </p:blipFill>
        <p:spPr>
          <a:xfrm>
            <a:off x="5136875" y="1077874"/>
            <a:ext cx="3610498" cy="352570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44"/>
          <p:cNvPicPr preferRelativeResize="0"/>
          <p:nvPr/>
        </p:nvPicPr>
        <p:blipFill rotWithShape="1">
          <a:blip r:embed="rId3">
            <a:alphaModFix/>
          </a:blip>
          <a:srcRect b="6550" l="2180" r="2189" t="0"/>
          <a:stretch/>
        </p:blipFill>
        <p:spPr>
          <a:xfrm>
            <a:off x="1870738" y="753225"/>
            <a:ext cx="5402526" cy="4047374"/>
          </a:xfrm>
          <a:prstGeom prst="rect">
            <a:avLst/>
          </a:prstGeom>
          <a:noFill/>
          <a:ln>
            <a:noFill/>
          </a:ln>
        </p:spPr>
      </p:pic>
      <p:sp>
        <p:nvSpPr>
          <p:cNvPr id="293" name="Google Shape;293;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01" name="Google Shape;301;p45"/>
          <p:cNvSpPr txBox="1"/>
          <p:nvPr/>
        </p:nvSpPr>
        <p:spPr>
          <a:xfrm>
            <a:off x="685800" y="1582500"/>
            <a:ext cx="4396500" cy="154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Prototype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Alih-alih mengembangkan perangkat lunak yang lengkap, </a:t>
            </a:r>
            <a:r>
              <a:rPr b="1" lang="en" sz="1000">
                <a:solidFill>
                  <a:schemeClr val="dk1"/>
                </a:solidFill>
                <a:latin typeface="Montserrat"/>
                <a:ea typeface="Montserrat"/>
                <a:cs typeface="Montserrat"/>
                <a:sym typeface="Montserrat"/>
              </a:rPr>
              <a:t>model prototipe memungkinkan pengembang untuk bekerja pada versi prototipe dari produk akhir</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Prototipe kemudian tersedia untuk pengujian, evaluasi, dan umpan balik pelanggan.</a:t>
            </a:r>
            <a:endParaRPr sz="1200">
              <a:solidFill>
                <a:schemeClr val="dk1"/>
              </a:solidFill>
              <a:latin typeface="Montserrat Medium"/>
              <a:ea typeface="Montserrat Medium"/>
              <a:cs typeface="Montserrat Medium"/>
              <a:sym typeface="Montserrat Medium"/>
            </a:endParaRPr>
          </a:p>
        </p:txBody>
      </p:sp>
      <p:pic>
        <p:nvPicPr>
          <p:cNvPr id="302" name="Google Shape;302;p45"/>
          <p:cNvPicPr preferRelativeResize="0"/>
          <p:nvPr/>
        </p:nvPicPr>
        <p:blipFill rotWithShape="1">
          <a:blip r:embed="rId3">
            <a:alphaModFix/>
          </a:blip>
          <a:srcRect b="0" l="0" r="15461" t="0"/>
          <a:stretch/>
        </p:blipFill>
        <p:spPr>
          <a:xfrm>
            <a:off x="5257800" y="1137425"/>
            <a:ext cx="3581972" cy="3281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09" name="Google Shape;309;p46"/>
          <p:cNvSpPr txBox="1"/>
          <p:nvPr/>
        </p:nvSpPr>
        <p:spPr>
          <a:xfrm>
            <a:off x="685800" y="1665025"/>
            <a:ext cx="4396500" cy="124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B</a:t>
            </a:r>
            <a:r>
              <a:rPr lang="en" sz="1000">
                <a:solidFill>
                  <a:schemeClr val="dk1"/>
                </a:solidFill>
                <a:latin typeface="Montserrat"/>
                <a:ea typeface="Montserrat"/>
                <a:cs typeface="Montserrat"/>
                <a:sym typeface="Montserrat"/>
              </a:rPr>
              <a:t>erdasarkan umpan balik yang dikumpulkan, prototipe melewati beberapa iterasi penyempurnaan hingga dianggap memuaskan oleh pelanggan.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Daya tarik dari pendekatan prototipe adalah evaluasi ketatnya yang mengungkap kemungkinan masalah sebelum pengembangan aktual dimulai.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10" name="Google Shape;310;p46"/>
          <p:cNvPicPr preferRelativeResize="0"/>
          <p:nvPr/>
        </p:nvPicPr>
        <p:blipFill>
          <a:blip r:embed="rId3">
            <a:alphaModFix/>
          </a:blip>
          <a:stretch>
            <a:fillRect/>
          </a:stretch>
        </p:blipFill>
        <p:spPr>
          <a:xfrm>
            <a:off x="5082300" y="1238175"/>
            <a:ext cx="3693201" cy="32950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17" name="Google Shape;317;p47"/>
          <p:cNvSpPr txBox="1"/>
          <p:nvPr/>
        </p:nvSpPr>
        <p:spPr>
          <a:xfrm>
            <a:off x="487625" y="1733075"/>
            <a:ext cx="4223700" cy="1645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Keberhasilan pendekatan ini tidak hanya terletak pada tim pengembang, tetapi juga pada seberapa baik mereka berkomunikasi dengan pelanggan dalam melakukan pengujian.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Perlu juga disebutkan bahwa pengembang sering kali menanggung biaya pembuatan prototipe.</a:t>
            </a:r>
            <a:endParaRPr sz="1000">
              <a:solidFill>
                <a:schemeClr val="dk1"/>
              </a:solidFill>
              <a:latin typeface="Montserrat"/>
              <a:ea typeface="Montserrat"/>
              <a:cs typeface="Montserrat"/>
              <a:sym typeface="Montserrat"/>
            </a:endParaRPr>
          </a:p>
        </p:txBody>
      </p:sp>
      <p:pic>
        <p:nvPicPr>
          <p:cNvPr id="318" name="Google Shape;318;p47"/>
          <p:cNvPicPr preferRelativeResize="0"/>
          <p:nvPr/>
        </p:nvPicPr>
        <p:blipFill>
          <a:blip r:embed="rId3">
            <a:alphaModFix/>
          </a:blip>
          <a:stretch>
            <a:fillRect/>
          </a:stretch>
        </p:blipFill>
        <p:spPr>
          <a:xfrm>
            <a:off x="5063600" y="1796488"/>
            <a:ext cx="3596611" cy="19067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4" name="Google Shape;324;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25" name="Google Shape;325;p48"/>
          <p:cNvSpPr txBox="1"/>
          <p:nvPr/>
        </p:nvSpPr>
        <p:spPr>
          <a:xfrm>
            <a:off x="685800" y="1624350"/>
            <a:ext cx="4114800" cy="1894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a:t>
            </a:r>
            <a:r>
              <a:rPr b="1" lang="en" sz="1600">
                <a:solidFill>
                  <a:srgbClr val="743673"/>
                </a:solidFill>
                <a:highlight>
                  <a:schemeClr val="lt1"/>
                </a:highlight>
                <a:latin typeface="Montserrat"/>
                <a:ea typeface="Montserrat"/>
                <a:cs typeface="Montserrat"/>
                <a:sym typeface="Montserrat"/>
              </a:rPr>
              <a:t>prototype</a:t>
            </a:r>
            <a:r>
              <a:rPr b="1" lang="en" sz="1600">
                <a:solidFill>
                  <a:srgbClr val="743673"/>
                </a:solidFill>
                <a:highlight>
                  <a:schemeClr val="lt1"/>
                </a:highlight>
                <a:latin typeface="Montserrat"/>
                <a:ea typeface="Montserrat"/>
                <a:cs typeface="Montserrat"/>
                <a:sym typeface="Montserrat"/>
              </a:rPr>
              <a:t>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Model prototipe sangat ideal saat kamu</a:t>
            </a:r>
            <a:r>
              <a:rPr b="1" lang="en" sz="1000">
                <a:solidFill>
                  <a:schemeClr val="dk1"/>
                </a:solidFill>
                <a:latin typeface="Montserrat"/>
                <a:ea typeface="Montserrat"/>
                <a:cs typeface="Montserrat"/>
                <a:sym typeface="Montserrat"/>
              </a:rPr>
              <a:t> membangun perangkat lunak dengan banyak hal yang tidak diketahui</a:t>
            </a:r>
            <a:r>
              <a:rPr lang="en" sz="1000">
                <a:solidFill>
                  <a:schemeClr val="dk1"/>
                </a:solidFill>
                <a:latin typeface="Montserrat"/>
                <a:ea typeface="Montserrat"/>
                <a:cs typeface="Montserrat"/>
                <a:sym typeface="Montserrat"/>
              </a:rPr>
              <a:t>. Misalnya, platform online dengan interaksi pengguna yang intens.</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Dengan model prototipe, kamu bisa mengetahui apa yang paling cocok untuk pengguna dan mengurangi risiko pengembangan produk yang sebenarnya.</a:t>
            </a:r>
            <a:endParaRPr sz="1000">
              <a:solidFill>
                <a:schemeClr val="dk1"/>
              </a:solidFill>
              <a:latin typeface="Montserrat"/>
              <a:ea typeface="Montserrat"/>
              <a:cs typeface="Montserrat"/>
              <a:sym typeface="Montserrat"/>
            </a:endParaRPr>
          </a:p>
        </p:txBody>
      </p:sp>
      <p:pic>
        <p:nvPicPr>
          <p:cNvPr id="326" name="Google Shape;326;p48"/>
          <p:cNvPicPr preferRelativeResize="0"/>
          <p:nvPr/>
        </p:nvPicPr>
        <p:blipFill>
          <a:blip r:embed="rId3">
            <a:alphaModFix/>
          </a:blip>
          <a:stretch>
            <a:fillRect/>
          </a:stretch>
        </p:blipFill>
        <p:spPr>
          <a:xfrm>
            <a:off x="5878000" y="1151125"/>
            <a:ext cx="2104750" cy="37426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49"/>
          <p:cNvPicPr preferRelativeResize="0"/>
          <p:nvPr/>
        </p:nvPicPr>
        <p:blipFill rotWithShape="1">
          <a:blip r:embed="rId3">
            <a:alphaModFix/>
          </a:blip>
          <a:srcRect b="9814" l="0" r="0" t="1846"/>
          <a:stretch/>
        </p:blipFill>
        <p:spPr>
          <a:xfrm>
            <a:off x="1799901" y="783650"/>
            <a:ext cx="5544201" cy="4077626"/>
          </a:xfrm>
          <a:prstGeom prst="rect">
            <a:avLst/>
          </a:prstGeom>
          <a:noFill/>
          <a:ln>
            <a:noFill/>
          </a:ln>
        </p:spPr>
      </p:pic>
      <p:sp>
        <p:nvSpPr>
          <p:cNvPr id="332" name="Google Shape;33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3" name="Google Shape;333;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9" name="Google Shape;339;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40" name="Google Shape;340;p50"/>
          <p:cNvSpPr txBox="1"/>
          <p:nvPr/>
        </p:nvSpPr>
        <p:spPr>
          <a:xfrm>
            <a:off x="685800" y="1427550"/>
            <a:ext cx="4114800" cy="228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 Rapid Application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Model Rapid Application Development (RAD) diperkenalkan tahun 1991 dan menjadi dasar dari kerangka kerja iteratif modern. RAD adalah kerangka kerja 4 langkah, yang mempertahankan </a:t>
            </a:r>
            <a:r>
              <a:rPr b="1" lang="en" sz="1000">
                <a:solidFill>
                  <a:schemeClr val="dk1"/>
                </a:solidFill>
                <a:latin typeface="Montserrat"/>
                <a:ea typeface="Montserrat"/>
                <a:cs typeface="Montserrat"/>
                <a:sym typeface="Montserrat"/>
              </a:rPr>
              <a:t>persyaratan proyek, pembuatan prototipe, pengujian, dan implementasi.</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Ini berfokus pada mendapatkan produk yang dibangun dalam</a:t>
            </a:r>
            <a:r>
              <a:rPr b="1" lang="en" sz="1000">
                <a:solidFill>
                  <a:schemeClr val="dk1"/>
                </a:solidFill>
                <a:latin typeface="Montserrat"/>
                <a:ea typeface="Montserrat"/>
                <a:cs typeface="Montserrat"/>
                <a:sym typeface="Montserrat"/>
              </a:rPr>
              <a:t> kerangka waktu yang jauh lebih singkat tanpa mengorbankan kualitas.</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p:txBody>
      </p:sp>
      <p:pic>
        <p:nvPicPr>
          <p:cNvPr id="341" name="Google Shape;341;p50"/>
          <p:cNvPicPr preferRelativeResize="0"/>
          <p:nvPr/>
        </p:nvPicPr>
        <p:blipFill>
          <a:blip r:embed="rId3">
            <a:alphaModFix/>
          </a:blip>
          <a:stretch>
            <a:fillRect/>
          </a:stretch>
        </p:blipFill>
        <p:spPr>
          <a:xfrm>
            <a:off x="5257800" y="1036450"/>
            <a:ext cx="3411374" cy="330143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48" name="Google Shape;348;p51"/>
          <p:cNvSpPr txBox="1"/>
          <p:nvPr/>
        </p:nvSpPr>
        <p:spPr>
          <a:xfrm>
            <a:off x="685800" y="1966899"/>
            <a:ext cx="4114800" cy="730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Tidak seperti model linier, RAD menekankan pembuatan prototipe dengan persyaratan yang diberikan dan mengujinya dengan pelanggan. Ini dilakukan melalui beberapa iterasi sampai pelanggan puas dengan hasilnya.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Pengujian prototipe secara ketat menghasilkan umpan balik yang berharga, di mana membantu menghilangkan sebagian besar risiko produk.</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49" name="Google Shape;349;p51"/>
          <p:cNvPicPr preferRelativeResize="0"/>
          <p:nvPr/>
        </p:nvPicPr>
        <p:blipFill>
          <a:blip r:embed="rId3">
            <a:alphaModFix/>
          </a:blip>
          <a:stretch>
            <a:fillRect/>
          </a:stretch>
        </p:blipFill>
        <p:spPr>
          <a:xfrm>
            <a:off x="5038700" y="1227275"/>
            <a:ext cx="3693201" cy="32950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56" name="Google Shape;356;p52"/>
          <p:cNvSpPr txBox="1"/>
          <p:nvPr/>
        </p:nvSpPr>
        <p:spPr>
          <a:xfrm>
            <a:off x="487625" y="2051300"/>
            <a:ext cx="4248600" cy="888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Menggunakan RAD mengarah ke peluang tinggi kesuksesan rilis produk dalam waktu yang ditentukan.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RAD sering menggunakan alat pengembangan yang bisa mengotomatisasi dan menyederhanakan proses pengembangan.</a:t>
            </a:r>
            <a:endParaRPr sz="1000">
              <a:solidFill>
                <a:schemeClr val="dk1"/>
              </a:solidFill>
              <a:latin typeface="Montserrat"/>
              <a:ea typeface="Montserrat"/>
              <a:cs typeface="Montserrat"/>
              <a:sym typeface="Montserrat"/>
            </a:endParaRPr>
          </a:p>
        </p:txBody>
      </p:sp>
      <p:pic>
        <p:nvPicPr>
          <p:cNvPr id="357" name="Google Shape;357;p52"/>
          <p:cNvPicPr preferRelativeResize="0"/>
          <p:nvPr/>
        </p:nvPicPr>
        <p:blipFill>
          <a:blip r:embed="rId3">
            <a:alphaModFix/>
          </a:blip>
          <a:stretch>
            <a:fillRect/>
          </a:stretch>
        </p:blipFill>
        <p:spPr>
          <a:xfrm>
            <a:off x="5030175" y="1273525"/>
            <a:ext cx="3586424" cy="277073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64" name="Google Shape;364;p53"/>
          <p:cNvSpPr txBox="1"/>
          <p:nvPr/>
        </p:nvSpPr>
        <p:spPr>
          <a:xfrm>
            <a:off x="685800" y="1549853"/>
            <a:ext cx="4114800" cy="216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RAD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Kamu akan mendapatkan hasil terbaik dari Rapid Application Development jika </a:t>
            </a:r>
            <a:r>
              <a:rPr b="1" lang="en" sz="1000">
                <a:solidFill>
                  <a:schemeClr val="dk1"/>
                </a:solidFill>
                <a:latin typeface="Montserrat"/>
                <a:ea typeface="Montserrat"/>
                <a:cs typeface="Montserrat"/>
                <a:sym typeface="Montserrat"/>
              </a:rPr>
              <a:t>kamu memiliki tim pengembang dan pelanggan berpengalaman yang sama-sama terlibat dalam proyek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Komunikasi adalah kunci untuk mewujudkan proyek dengan metode RAD. Kamu juga perlu berinvestasi dalam alat RAD seperti aplikasi low-code/no-code untuk mempercepat pengembangan.</a:t>
            </a:r>
            <a:endParaRPr sz="1000">
              <a:solidFill>
                <a:schemeClr val="dk1"/>
              </a:solidFill>
              <a:latin typeface="Montserrat"/>
              <a:ea typeface="Montserrat"/>
              <a:cs typeface="Montserrat"/>
              <a:sym typeface="Montserrat"/>
            </a:endParaRPr>
          </a:p>
        </p:txBody>
      </p:sp>
      <p:pic>
        <p:nvPicPr>
          <p:cNvPr id="365" name="Google Shape;365;p53"/>
          <p:cNvPicPr preferRelativeResize="0"/>
          <p:nvPr/>
        </p:nvPicPr>
        <p:blipFill>
          <a:blip r:embed="rId3">
            <a:alphaModFix/>
          </a:blip>
          <a:stretch>
            <a:fillRect/>
          </a:stretch>
        </p:blipFill>
        <p:spPr>
          <a:xfrm>
            <a:off x="5379288" y="1064025"/>
            <a:ext cx="2531726" cy="36493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54"/>
          <p:cNvPicPr preferRelativeResize="0"/>
          <p:nvPr/>
        </p:nvPicPr>
        <p:blipFill rotWithShape="1">
          <a:blip r:embed="rId3">
            <a:alphaModFix/>
          </a:blip>
          <a:srcRect b="7450" l="3540" r="5904" t="0"/>
          <a:stretch/>
        </p:blipFill>
        <p:spPr>
          <a:xfrm>
            <a:off x="1711475" y="1014375"/>
            <a:ext cx="5721051" cy="3786225"/>
          </a:xfrm>
          <a:prstGeom prst="rect">
            <a:avLst/>
          </a:prstGeom>
          <a:noFill/>
          <a:ln>
            <a:noFill/>
          </a:ln>
        </p:spPr>
      </p:pic>
      <p:sp>
        <p:nvSpPr>
          <p:cNvPr id="371" name="Google Shape;371;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2" name="Google Shape;372;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8" name="Google Shape;378;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79" name="Google Shape;379;p55"/>
          <p:cNvSpPr txBox="1"/>
          <p:nvPr/>
        </p:nvSpPr>
        <p:spPr>
          <a:xfrm>
            <a:off x="685800" y="1800452"/>
            <a:ext cx="4114800" cy="154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 Dynamic Systems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Model Sistem Dinamis mewarisi banyak prinsipnya dari kerangka Pengembangan Aplikasi Cepat (RAD).</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Metodologi yang disempurnakan ini ditujukan untuk </a:t>
            </a:r>
            <a:r>
              <a:rPr b="1" lang="en" sz="1000">
                <a:solidFill>
                  <a:schemeClr val="dk1"/>
                </a:solidFill>
                <a:latin typeface="Montserrat"/>
                <a:ea typeface="Montserrat"/>
                <a:cs typeface="Montserrat"/>
                <a:sym typeface="Montserrat"/>
              </a:rPr>
              <a:t>pengiriman cepat (fast delivery) dan menyelaraskan tujuan proyek dengan kebutuhan bisnis</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380" name="Google Shape;380;p55"/>
          <p:cNvPicPr preferRelativeResize="0"/>
          <p:nvPr/>
        </p:nvPicPr>
        <p:blipFill>
          <a:blip r:embed="rId3">
            <a:alphaModFix/>
          </a:blip>
          <a:stretch>
            <a:fillRect/>
          </a:stretch>
        </p:blipFill>
        <p:spPr>
          <a:xfrm>
            <a:off x="5042926" y="1158474"/>
            <a:ext cx="3573677" cy="348973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6" name="Google Shape;386;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87" name="Google Shape;387;p56"/>
          <p:cNvSpPr txBox="1"/>
          <p:nvPr/>
        </p:nvSpPr>
        <p:spPr>
          <a:xfrm>
            <a:off x="685800" y="1729264"/>
            <a:ext cx="4114800" cy="2052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Empat fase iteratif dalam metodologi ini meliputi </a:t>
            </a:r>
            <a:r>
              <a:rPr b="1" lang="en" sz="1000">
                <a:solidFill>
                  <a:schemeClr val="dk1"/>
                </a:solidFill>
                <a:latin typeface="Montserrat"/>
                <a:ea typeface="Montserrat"/>
                <a:cs typeface="Montserrat"/>
                <a:sym typeface="Montserrat"/>
              </a:rPr>
              <a:t>studi kelayakan dan bisnis, model fungsional, desain dan membangun, serta implementasi</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Sepanjang proses, pengguna sangat terlibat dalam memberikan feedback, mengurangi risiko menyimpang dari tujuan dan persyaratan proyek.</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Model Sistem Dinamis juga menampilkan dokumentasi terperinci, tidak seperti sebagian besar kerangka kerja Agile.</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p:txBody>
      </p:sp>
      <p:pic>
        <p:nvPicPr>
          <p:cNvPr id="388" name="Google Shape;388;p56"/>
          <p:cNvPicPr preferRelativeResize="0"/>
          <p:nvPr/>
        </p:nvPicPr>
        <p:blipFill>
          <a:blip r:embed="rId3">
            <a:alphaModFix/>
          </a:blip>
          <a:stretch>
            <a:fillRect/>
          </a:stretch>
        </p:blipFill>
        <p:spPr>
          <a:xfrm>
            <a:off x="4977526" y="1060399"/>
            <a:ext cx="3573677" cy="348973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4" name="Google Shape;394;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95" name="Google Shape;395;p57"/>
          <p:cNvSpPr txBox="1"/>
          <p:nvPr/>
        </p:nvSpPr>
        <p:spPr>
          <a:xfrm>
            <a:off x="685800" y="1633500"/>
            <a:ext cx="4502100" cy="1951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dynamic sistem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Menggunakan Model Sistem Dinamis untuk organisasi kecil tidaklah mungkin. Sebaliknya, ini lebih </a:t>
            </a:r>
            <a:r>
              <a:rPr b="1" lang="en" sz="1000">
                <a:solidFill>
                  <a:schemeClr val="dk1"/>
                </a:solidFill>
                <a:latin typeface="Montserrat"/>
                <a:ea typeface="Montserrat"/>
                <a:cs typeface="Montserrat"/>
                <a:sym typeface="Montserrat"/>
              </a:rPr>
              <a:t>cocok untuk organisasi besar yang dibebani oleh birokrasi, kemacetan, dan redudansi</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Sebab, sistem dinamis memecah proses yang kaku menjadi bagian-bagian berulang yang lebih kecil dan merampingkan komunikasi antara tim yang berbeda</a:t>
            </a:r>
            <a:endParaRPr sz="1000">
              <a:solidFill>
                <a:schemeClr val="dk1"/>
              </a:solidFill>
              <a:latin typeface="Montserrat"/>
              <a:ea typeface="Montserrat"/>
              <a:cs typeface="Montserrat"/>
              <a:sym typeface="Montserrat"/>
            </a:endParaRPr>
          </a:p>
        </p:txBody>
      </p:sp>
      <p:pic>
        <p:nvPicPr>
          <p:cNvPr id="396" name="Google Shape;396;p57"/>
          <p:cNvPicPr preferRelativeResize="0"/>
          <p:nvPr/>
        </p:nvPicPr>
        <p:blipFill>
          <a:blip r:embed="rId3">
            <a:alphaModFix/>
          </a:blip>
          <a:stretch>
            <a:fillRect/>
          </a:stretch>
        </p:blipFill>
        <p:spPr>
          <a:xfrm>
            <a:off x="5693525" y="914400"/>
            <a:ext cx="2422424" cy="354061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03" name="Google Shape;403;p58"/>
          <p:cNvSpPr txBox="1"/>
          <p:nvPr/>
        </p:nvSpPr>
        <p:spPr>
          <a:xfrm>
            <a:off x="685800" y="2317650"/>
            <a:ext cx="4502100" cy="508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Sebab, sistem dinamis </a:t>
            </a:r>
            <a:r>
              <a:rPr b="1" lang="en" sz="1000">
                <a:solidFill>
                  <a:schemeClr val="dk1"/>
                </a:solidFill>
                <a:latin typeface="Montserrat"/>
                <a:ea typeface="Montserrat"/>
                <a:cs typeface="Montserrat"/>
                <a:sym typeface="Montserrat"/>
              </a:rPr>
              <a:t>memecah proses yang kaku</a:t>
            </a:r>
            <a:r>
              <a:rPr lang="en" sz="1000">
                <a:solidFill>
                  <a:schemeClr val="dk1"/>
                </a:solidFill>
                <a:latin typeface="Montserrat"/>
                <a:ea typeface="Montserrat"/>
                <a:cs typeface="Montserrat"/>
                <a:sym typeface="Montserrat"/>
              </a:rPr>
              <a:t> menjadi bagian-bagian berulang yang lebih kecil dan merampingkan komunikasi antara tim yang berbeda</a:t>
            </a:r>
            <a:endParaRPr sz="1000">
              <a:solidFill>
                <a:schemeClr val="dk1"/>
              </a:solidFill>
              <a:latin typeface="Montserrat"/>
              <a:ea typeface="Montserrat"/>
              <a:cs typeface="Montserrat"/>
              <a:sym typeface="Montserrat"/>
            </a:endParaRPr>
          </a:p>
        </p:txBody>
      </p:sp>
      <p:pic>
        <p:nvPicPr>
          <p:cNvPr id="404" name="Google Shape;404;p58"/>
          <p:cNvPicPr preferRelativeResize="0"/>
          <p:nvPr/>
        </p:nvPicPr>
        <p:blipFill>
          <a:blip r:embed="rId3">
            <a:alphaModFix/>
          </a:blip>
          <a:stretch>
            <a:fillRect/>
          </a:stretch>
        </p:blipFill>
        <p:spPr>
          <a:xfrm>
            <a:off x="5671725" y="1186825"/>
            <a:ext cx="2422424" cy="354061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59"/>
          <p:cNvPicPr preferRelativeResize="0"/>
          <p:nvPr/>
        </p:nvPicPr>
        <p:blipFill rotWithShape="1">
          <a:blip r:embed="rId3">
            <a:alphaModFix/>
          </a:blip>
          <a:srcRect b="7518" l="2498" r="2489" t="0"/>
          <a:stretch/>
        </p:blipFill>
        <p:spPr>
          <a:xfrm>
            <a:off x="1954575" y="740800"/>
            <a:ext cx="5365074" cy="3977701"/>
          </a:xfrm>
          <a:prstGeom prst="rect">
            <a:avLst/>
          </a:prstGeom>
          <a:noFill/>
          <a:ln>
            <a:noFill/>
          </a:ln>
        </p:spPr>
      </p:pic>
      <p:sp>
        <p:nvSpPr>
          <p:cNvPr id="410" name="Google Shape;410;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1" name="Google Shape;411;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7" name="Google Shape;417;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18" name="Google Shape;418;p60"/>
          <p:cNvSpPr txBox="1"/>
          <p:nvPr/>
        </p:nvSpPr>
        <p:spPr>
          <a:xfrm>
            <a:off x="762075" y="1737150"/>
            <a:ext cx="3962400" cy="1669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7) Feature Driven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Feature Driven Development atau FDD adalah metodologi pengembangan perangkat lunak berdasarkan Agile.</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Tujuannya sederhana, untuk </a:t>
            </a:r>
            <a:r>
              <a:rPr b="1" lang="en" sz="1000">
                <a:solidFill>
                  <a:schemeClr val="dk1"/>
                </a:solidFill>
                <a:latin typeface="Montserrat"/>
                <a:ea typeface="Montserrat"/>
                <a:cs typeface="Montserrat"/>
                <a:sym typeface="Montserrat"/>
              </a:rPr>
              <a:t>mencegah kebingungan yang mengarah pada mahalnya pengerjaan ulang</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419" name="Google Shape;419;p60"/>
          <p:cNvPicPr preferRelativeResize="0"/>
          <p:nvPr/>
        </p:nvPicPr>
        <p:blipFill>
          <a:blip r:embed="rId3">
            <a:alphaModFix/>
          </a:blip>
          <a:stretch>
            <a:fillRect/>
          </a:stretch>
        </p:blipFill>
        <p:spPr>
          <a:xfrm>
            <a:off x="5062550" y="1442324"/>
            <a:ext cx="3706600" cy="27165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26" name="Google Shape;426;p61"/>
          <p:cNvSpPr txBox="1"/>
          <p:nvPr/>
        </p:nvSpPr>
        <p:spPr>
          <a:xfrm>
            <a:off x="685800" y="1968900"/>
            <a:ext cx="4114800" cy="1205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Apa yang dilakukan FDD adalah memecah aktivitas pengembangan menjadi daftar fitur pada model keseluruhan.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Untuk setiap fitur, pengembang melakukan iterasi berupa perencanaan, perancangan, dan pembangunan. Biasanya sebuah fitur membutuhkan waktu tidak lebih dari dua minggu penyelesaian.</a:t>
            </a:r>
            <a:endParaRPr sz="1000">
              <a:solidFill>
                <a:schemeClr val="dk1"/>
              </a:solidFill>
              <a:latin typeface="Montserrat"/>
              <a:ea typeface="Montserrat"/>
              <a:cs typeface="Montserrat"/>
              <a:sym typeface="Montserrat"/>
            </a:endParaRPr>
          </a:p>
        </p:txBody>
      </p:sp>
      <p:pic>
        <p:nvPicPr>
          <p:cNvPr id="427" name="Google Shape;427;p61"/>
          <p:cNvPicPr preferRelativeResize="0"/>
          <p:nvPr/>
        </p:nvPicPr>
        <p:blipFill>
          <a:blip r:embed="rId3">
            <a:alphaModFix/>
          </a:blip>
          <a:stretch>
            <a:fillRect/>
          </a:stretch>
        </p:blipFill>
        <p:spPr>
          <a:xfrm>
            <a:off x="4933825" y="988224"/>
            <a:ext cx="3584701" cy="347965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3" name="Google Shape;433;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34" name="Google Shape;434;p62"/>
          <p:cNvSpPr txBox="1"/>
          <p:nvPr/>
        </p:nvSpPr>
        <p:spPr>
          <a:xfrm>
            <a:off x="685800" y="2228246"/>
            <a:ext cx="4114800" cy="687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Hasil FDD adalah hasil yang cepat dan berdampak untuk setiap aktivitas yang terdaftar sebagai fitur. Pendekatan ini dimaksudkan untuk tim besar, dan informasi dikomunikasikan melalui dokumentasi terperinci.</a:t>
            </a:r>
            <a:endParaRPr sz="1000">
              <a:solidFill>
                <a:schemeClr val="dk1"/>
              </a:solidFill>
              <a:latin typeface="Montserrat"/>
              <a:ea typeface="Montserrat"/>
              <a:cs typeface="Montserrat"/>
              <a:sym typeface="Montserrat"/>
            </a:endParaRPr>
          </a:p>
        </p:txBody>
      </p:sp>
      <p:pic>
        <p:nvPicPr>
          <p:cNvPr id="435" name="Google Shape;435;p62"/>
          <p:cNvPicPr preferRelativeResize="0"/>
          <p:nvPr/>
        </p:nvPicPr>
        <p:blipFill>
          <a:blip r:embed="rId3">
            <a:alphaModFix/>
          </a:blip>
          <a:stretch>
            <a:fillRect/>
          </a:stretch>
        </p:blipFill>
        <p:spPr>
          <a:xfrm>
            <a:off x="5160775" y="1346473"/>
            <a:ext cx="3455824" cy="29300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1" name="Google Shape;441;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42" name="Google Shape;442;p63"/>
          <p:cNvSpPr txBox="1"/>
          <p:nvPr/>
        </p:nvSpPr>
        <p:spPr>
          <a:xfrm>
            <a:off x="838350" y="1672398"/>
            <a:ext cx="4114800" cy="1711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FDD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Pengembangan Berbasis Fitur bekerja paling baik untuk</a:t>
            </a:r>
            <a:r>
              <a:rPr b="1" lang="en" sz="1000">
                <a:solidFill>
                  <a:schemeClr val="dk1"/>
                </a:solidFill>
                <a:latin typeface="Montserrat"/>
                <a:ea typeface="Montserrat"/>
                <a:cs typeface="Montserrat"/>
                <a:sym typeface="Montserrat"/>
              </a:rPr>
              <a:t> tim lebih besar di mana mengerjakan proyek yang kompleks</a:t>
            </a:r>
            <a:r>
              <a:rPr lang="en" sz="1000">
                <a:solidFill>
                  <a:schemeClr val="dk1"/>
                </a:solidFill>
                <a:latin typeface="Montserrat"/>
                <a:ea typeface="Montserrat"/>
                <a:cs typeface="Montserrat"/>
                <a:sym typeface="Montserrat"/>
              </a:rPr>
              <a:t>. Ini adalah tawaran terbaik dari kerangka kerja berulang tetapi dengan pendekatan lebih terstruktur.</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Idealnya, kamu ingin memiliki pengembang utama yang kompeten dan bertanggung jawab atas FDD.</a:t>
            </a:r>
            <a:endParaRPr sz="1200">
              <a:solidFill>
                <a:schemeClr val="dk1"/>
              </a:solidFill>
              <a:latin typeface="Montserrat Medium"/>
              <a:ea typeface="Montserrat Medium"/>
              <a:cs typeface="Montserrat Medium"/>
              <a:sym typeface="Montserrat Medium"/>
            </a:endParaRPr>
          </a:p>
        </p:txBody>
      </p:sp>
      <p:pic>
        <p:nvPicPr>
          <p:cNvPr id="443" name="Google Shape;443;p63">
            <a:hlinkClick r:id="rId3"/>
          </p:cNvPr>
          <p:cNvPicPr preferRelativeResize="0"/>
          <p:nvPr/>
        </p:nvPicPr>
        <p:blipFill>
          <a:blip r:embed="rId4">
            <a:alphaModFix/>
          </a:blip>
          <a:stretch>
            <a:fillRect/>
          </a:stretch>
        </p:blipFill>
        <p:spPr>
          <a:xfrm>
            <a:off x="5524924" y="982375"/>
            <a:ext cx="2658300" cy="36658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64"/>
          <p:cNvPicPr preferRelativeResize="0"/>
          <p:nvPr/>
        </p:nvPicPr>
        <p:blipFill rotWithShape="1">
          <a:blip r:embed="rId3">
            <a:alphaModFix/>
          </a:blip>
          <a:srcRect b="8088" l="0" r="527" t="0"/>
          <a:stretch/>
        </p:blipFill>
        <p:spPr>
          <a:xfrm>
            <a:off x="1402138" y="963775"/>
            <a:ext cx="6339726" cy="3836826"/>
          </a:xfrm>
          <a:prstGeom prst="rect">
            <a:avLst/>
          </a:prstGeom>
          <a:noFill/>
          <a:ln>
            <a:noFill/>
          </a:ln>
        </p:spPr>
      </p:pic>
      <p:sp>
        <p:nvSpPr>
          <p:cNvPr id="449" name="Google Shape;449;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57" name="Google Shape;457;p65"/>
          <p:cNvSpPr txBox="1"/>
          <p:nvPr/>
        </p:nvSpPr>
        <p:spPr>
          <a:xfrm>
            <a:off x="685800" y="1528350"/>
            <a:ext cx="4114800" cy="235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8) Scrum</a:t>
            </a:r>
            <a:r>
              <a:rPr b="1" lang="en" sz="1600">
                <a:solidFill>
                  <a:srgbClr val="743673"/>
                </a:solidFill>
                <a:highlight>
                  <a:schemeClr val="lt1"/>
                </a:highlight>
                <a:latin typeface="Montserrat"/>
                <a:ea typeface="Montserrat"/>
                <a:cs typeface="Montserrat"/>
                <a:sym typeface="Montserrat"/>
              </a:rPr>
              <a:t> Development Methodology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methodology adalah </a:t>
            </a:r>
            <a:r>
              <a:rPr b="1" lang="en" sz="1000">
                <a:solidFill>
                  <a:schemeClr val="dk1"/>
                </a:solidFill>
                <a:latin typeface="Montserrat"/>
                <a:ea typeface="Montserrat"/>
                <a:cs typeface="Montserrat"/>
                <a:sym typeface="Montserrat"/>
              </a:rPr>
              <a:t>framework sederhana yang biasa digunakan sebuah tim ketika berkolaborasi mengerjakan proyek yang kompleks</a:t>
            </a:r>
            <a:r>
              <a:rPr lang="en" sz="1000">
                <a:solidFill>
                  <a:schemeClr val="dk1"/>
                </a:solidFill>
                <a:latin typeface="Montserrat"/>
                <a:ea typeface="Montserrat"/>
                <a:cs typeface="Montserrat"/>
                <a:sym typeface="Montserrat"/>
              </a:rPr>
              <a:t>, misalnya produk digital.</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Metode Scrum mengutamakan kerjasama dan tanggung jawab penuh dari seluruh anggota tim dalam manajemennya. Sehingga, pada tahap iterasi selanjutnya, pembangunan produk bisa berjalan lebih baik lagi.</a:t>
            </a:r>
            <a:endParaRPr sz="1000">
              <a:solidFill>
                <a:schemeClr val="dk1"/>
              </a:solidFill>
              <a:latin typeface="Montserrat"/>
              <a:ea typeface="Montserrat"/>
              <a:cs typeface="Montserrat"/>
              <a:sym typeface="Montserrat"/>
            </a:endParaRPr>
          </a:p>
        </p:txBody>
      </p:sp>
      <p:pic>
        <p:nvPicPr>
          <p:cNvPr id="458" name="Google Shape;458;p65"/>
          <p:cNvPicPr preferRelativeResize="0"/>
          <p:nvPr/>
        </p:nvPicPr>
        <p:blipFill rotWithShape="1">
          <a:blip r:embed="rId3">
            <a:alphaModFix/>
          </a:blip>
          <a:srcRect b="11755" l="15001" r="10621" t="9136"/>
          <a:stretch/>
        </p:blipFill>
        <p:spPr>
          <a:xfrm>
            <a:off x="5113225" y="776875"/>
            <a:ext cx="1769100" cy="1881676"/>
          </a:xfrm>
          <a:prstGeom prst="rect">
            <a:avLst/>
          </a:prstGeom>
          <a:noFill/>
          <a:ln>
            <a:noFill/>
          </a:ln>
        </p:spPr>
      </p:pic>
      <p:pic>
        <p:nvPicPr>
          <p:cNvPr id="459" name="Google Shape;459;p65"/>
          <p:cNvPicPr preferRelativeResize="0"/>
          <p:nvPr/>
        </p:nvPicPr>
        <p:blipFill>
          <a:blip r:embed="rId4">
            <a:alphaModFix/>
          </a:blip>
          <a:stretch>
            <a:fillRect/>
          </a:stretch>
        </p:blipFill>
        <p:spPr>
          <a:xfrm>
            <a:off x="6532625" y="776875"/>
            <a:ext cx="1618500" cy="39242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5" name="Google Shape;465;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66" name="Google Shape;466;p66"/>
          <p:cNvSpPr txBox="1"/>
          <p:nvPr/>
        </p:nvSpPr>
        <p:spPr>
          <a:xfrm>
            <a:off x="740300" y="1517109"/>
            <a:ext cx="4114800" cy="2109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bisa dibilang salah satu metodologi pengembangan perangkat lunak paling fleksibel yang tersedia. Ini didasarkan pada filosofi Agile dan disukai karena pendekatan inkremental beserta iterasinya.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Metodologi Scrum melibatkan pemilik produk (product owner), scrum master, dan tim pengembang. Pemilik produk menerima masukan dari klien dan memastikan bahwa tim berada di jalur yang benar dalam memenuhi persyaratan klien.</a:t>
            </a:r>
            <a:endParaRPr sz="1000">
              <a:solidFill>
                <a:schemeClr val="dk1"/>
              </a:solidFill>
              <a:latin typeface="Montserrat"/>
              <a:ea typeface="Montserrat"/>
              <a:cs typeface="Montserrat"/>
              <a:sym typeface="Montserrat"/>
            </a:endParaRPr>
          </a:p>
        </p:txBody>
      </p:sp>
      <p:pic>
        <p:nvPicPr>
          <p:cNvPr id="467" name="Google Shape;467;p66"/>
          <p:cNvPicPr preferRelativeResize="0"/>
          <p:nvPr/>
        </p:nvPicPr>
        <p:blipFill rotWithShape="1">
          <a:blip r:embed="rId3">
            <a:alphaModFix/>
          </a:blip>
          <a:srcRect b="11755" l="15001" r="10621" t="9136"/>
          <a:stretch/>
        </p:blipFill>
        <p:spPr>
          <a:xfrm>
            <a:off x="5137738" y="723950"/>
            <a:ext cx="1769100" cy="1881676"/>
          </a:xfrm>
          <a:prstGeom prst="rect">
            <a:avLst/>
          </a:prstGeom>
          <a:noFill/>
          <a:ln>
            <a:noFill/>
          </a:ln>
        </p:spPr>
      </p:pic>
      <p:pic>
        <p:nvPicPr>
          <p:cNvPr id="468" name="Google Shape;468;p66"/>
          <p:cNvPicPr preferRelativeResize="0"/>
          <p:nvPr/>
        </p:nvPicPr>
        <p:blipFill>
          <a:blip r:embed="rId4">
            <a:alphaModFix/>
          </a:blip>
          <a:stretch>
            <a:fillRect/>
          </a:stretch>
        </p:blipFill>
        <p:spPr>
          <a:xfrm>
            <a:off x="6557138" y="723950"/>
            <a:ext cx="1618500" cy="39242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75" name="Google Shape;475;p67"/>
          <p:cNvSpPr txBox="1"/>
          <p:nvPr/>
        </p:nvSpPr>
        <p:spPr>
          <a:xfrm>
            <a:off x="685800" y="1750059"/>
            <a:ext cx="4114800" cy="1643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Sementara itu, scrum master bertindak sebagai fasilitator dan memastikan bahwa anggota tim terbiasa dengan proses Scrum. Tim bertanggung jawab atas pelaksanaan pengembangan.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Apa yang membuat Scrum menjadi metodologi ideal dalam lingkungan serba cepat adalah </a:t>
            </a:r>
            <a:r>
              <a:rPr b="1" lang="en" sz="1000">
                <a:solidFill>
                  <a:schemeClr val="dk1"/>
                </a:solidFill>
                <a:latin typeface="Montserrat"/>
                <a:ea typeface="Montserrat"/>
                <a:cs typeface="Montserrat"/>
                <a:sym typeface="Montserrat"/>
              </a:rPr>
              <a:t>bagaimana tugas dijalankan dalam sprint.</a:t>
            </a:r>
            <a:r>
              <a:rPr lang="en" sz="1000">
                <a:solidFill>
                  <a:schemeClr val="dk1"/>
                </a:solidFill>
                <a:latin typeface="Montserrat"/>
                <a:ea typeface="Montserrat"/>
                <a:cs typeface="Montserrat"/>
                <a:sym typeface="Montserrat"/>
              </a:rPr>
              <a:t> Setiap sprint membutuhkan waktu hingga 4 minggu.</a:t>
            </a:r>
            <a:endParaRPr sz="1000">
              <a:solidFill>
                <a:schemeClr val="dk1"/>
              </a:solidFill>
              <a:latin typeface="Montserrat"/>
              <a:ea typeface="Montserrat"/>
              <a:cs typeface="Montserrat"/>
              <a:sym typeface="Montserrat"/>
            </a:endParaRPr>
          </a:p>
        </p:txBody>
      </p:sp>
      <p:pic>
        <p:nvPicPr>
          <p:cNvPr id="476" name="Google Shape;476;p67"/>
          <p:cNvPicPr preferRelativeResize="0"/>
          <p:nvPr/>
        </p:nvPicPr>
        <p:blipFill>
          <a:blip r:embed="rId3">
            <a:alphaModFix/>
          </a:blip>
          <a:stretch>
            <a:fillRect/>
          </a:stretch>
        </p:blipFill>
        <p:spPr>
          <a:xfrm>
            <a:off x="5001575" y="1542999"/>
            <a:ext cx="3841950" cy="24723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2" name="Google Shape;482;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83" name="Google Shape;483;p68"/>
          <p:cNvSpPr txBox="1"/>
          <p:nvPr/>
        </p:nvSpPr>
        <p:spPr>
          <a:xfrm>
            <a:off x="685800" y="2048697"/>
            <a:ext cx="4114800" cy="1046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Eksekusi yang cepat memungkinkan tim untuk mengidentifikasi masalah, memperkenalkan solusi, menguji, dan mengumpulkan umpan balik dalam waktu singkat.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Hal itu membuat penanganan proyek yang bergerak cepat menjadi lebih mudah.</a:t>
            </a:r>
            <a:endParaRPr sz="1000">
              <a:solidFill>
                <a:schemeClr val="dk1"/>
              </a:solidFill>
              <a:latin typeface="Montserrat"/>
              <a:ea typeface="Montserrat"/>
              <a:cs typeface="Montserrat"/>
              <a:sym typeface="Montserrat"/>
            </a:endParaRPr>
          </a:p>
        </p:txBody>
      </p:sp>
      <p:pic>
        <p:nvPicPr>
          <p:cNvPr id="484" name="Google Shape;484;p68"/>
          <p:cNvPicPr preferRelativeResize="0"/>
          <p:nvPr/>
        </p:nvPicPr>
        <p:blipFill>
          <a:blip r:embed="rId3">
            <a:alphaModFix/>
          </a:blip>
          <a:stretch>
            <a:fillRect/>
          </a:stretch>
        </p:blipFill>
        <p:spPr>
          <a:xfrm>
            <a:off x="5118601" y="1181900"/>
            <a:ext cx="3208925" cy="3466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0" name="Google Shape;490;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91" name="Google Shape;491;p69"/>
          <p:cNvSpPr txBox="1"/>
          <p:nvPr/>
        </p:nvSpPr>
        <p:spPr>
          <a:xfrm>
            <a:off x="914400" y="1394850"/>
            <a:ext cx="4114800" cy="223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Supaya lebih mantap, kita pahami analogi berikut yaa, bestie~</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Tahu nggak sih? Metode Scrum ini sering diibaratkan seperti tim rugby, lho!</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Hal ini dikarenakan Scrum sangat mengutamakan kerjasama tim dan terus menerus berlatih untuk mencapai pertandingan yang lebih besar, sama seperti prinsip pertandingan rugby (rugby stressing team).</a:t>
            </a:r>
            <a:endParaRPr sz="1000">
              <a:solidFill>
                <a:schemeClr val="dk1"/>
              </a:solidFill>
              <a:latin typeface="Montserrat"/>
              <a:ea typeface="Montserrat"/>
              <a:cs typeface="Montserrat"/>
              <a:sym typeface="Montserrat"/>
            </a:endParaRPr>
          </a:p>
        </p:txBody>
      </p:sp>
      <p:pic>
        <p:nvPicPr>
          <p:cNvPr id="492" name="Google Shape;492;p69"/>
          <p:cNvPicPr preferRelativeResize="0"/>
          <p:nvPr/>
        </p:nvPicPr>
        <p:blipFill rotWithShape="1">
          <a:blip r:embed="rId3">
            <a:alphaModFix/>
          </a:blip>
          <a:srcRect b="0" l="22709" r="22714" t="0"/>
          <a:stretch/>
        </p:blipFill>
        <p:spPr>
          <a:xfrm>
            <a:off x="5606425" y="914400"/>
            <a:ext cx="2775575" cy="38762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8" name="Google Shape;498;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99" name="Google Shape;499;p70"/>
          <p:cNvSpPr txBox="1"/>
          <p:nvPr/>
        </p:nvSpPr>
        <p:spPr>
          <a:xfrm>
            <a:off x="685800" y="2233496"/>
            <a:ext cx="4114800" cy="676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Selama proses latihan, seluruh anggota  tim didorong untuk belajar dari pengalaman, mengatur diri untuk menghadapi suatu masalah, serta merefleksikan diri setiap mengalami kemenangan atau kekalahan.</a:t>
            </a:r>
            <a:endParaRPr sz="1000">
              <a:solidFill>
                <a:schemeClr val="dk1"/>
              </a:solidFill>
              <a:latin typeface="Montserrat"/>
              <a:ea typeface="Montserrat"/>
              <a:cs typeface="Montserrat"/>
              <a:sym typeface="Montserrat"/>
            </a:endParaRPr>
          </a:p>
        </p:txBody>
      </p:sp>
      <p:pic>
        <p:nvPicPr>
          <p:cNvPr id="500" name="Google Shape;500;p70"/>
          <p:cNvPicPr preferRelativeResize="0"/>
          <p:nvPr/>
        </p:nvPicPr>
        <p:blipFill rotWithShape="1">
          <a:blip r:embed="rId3">
            <a:alphaModFix/>
          </a:blip>
          <a:srcRect b="0" l="22709" r="22714" t="0"/>
          <a:stretch/>
        </p:blipFill>
        <p:spPr>
          <a:xfrm>
            <a:off x="5606425" y="914400"/>
            <a:ext cx="2775575" cy="38762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6" name="Google Shape;506;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507" name="Google Shape;507;p71"/>
          <p:cNvSpPr txBox="1"/>
          <p:nvPr/>
        </p:nvSpPr>
        <p:spPr>
          <a:xfrm>
            <a:off x="685800" y="1532112"/>
            <a:ext cx="4114800" cy="207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 </a:t>
            </a:r>
            <a:r>
              <a:rPr b="1" lang="en" sz="1600">
                <a:solidFill>
                  <a:srgbClr val="743673"/>
                </a:solidFill>
                <a:highlight>
                  <a:schemeClr val="lt1"/>
                </a:highlight>
                <a:latin typeface="Montserrat"/>
                <a:ea typeface="Montserrat"/>
                <a:cs typeface="Montserrat"/>
                <a:sym typeface="Montserrat"/>
              </a:rPr>
              <a:t>Scrum saat ini menjadi tren?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Dibanding framework lainnya, Scrum cenderung disukai karena </a:t>
            </a:r>
            <a:r>
              <a:rPr b="1" lang="en" sz="1000">
                <a:solidFill>
                  <a:schemeClr val="dk1"/>
                </a:solidFill>
                <a:latin typeface="Montserrat"/>
                <a:ea typeface="Montserrat"/>
                <a:cs typeface="Montserrat"/>
                <a:sym typeface="Montserrat"/>
              </a:rPr>
              <a:t>lebih sederhana dan bersifat otonom</a:t>
            </a:r>
            <a:r>
              <a:rPr lang="en" sz="1000">
                <a:solidFill>
                  <a:schemeClr val="dk1"/>
                </a:solidFill>
                <a:latin typeface="Montserrat"/>
                <a:ea typeface="Montserrat"/>
                <a:cs typeface="Montserrat"/>
                <a:sym typeface="Montserrat"/>
              </a:rPr>
              <a:t>. S</a:t>
            </a:r>
            <a:r>
              <a:rPr lang="en" sz="1000">
                <a:solidFill>
                  <a:schemeClr val="dk1"/>
                </a:solidFill>
                <a:latin typeface="Montserrat"/>
                <a:ea typeface="Montserrat"/>
                <a:cs typeface="Montserrat"/>
                <a:sym typeface="Montserrat"/>
              </a:rPr>
              <a:t>ehingga, ia bisa diimplementasikan di berbagai manajemen, nggak cuma untuk pengembangan produk yang berkaitan dengan teknologi.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Dalam framework Scrum, sudah tergambar secara jelas bagaimana serangkaian meeting, tools, anggota tim dengan posisi dan tugas yang berbeda saling berkolaborasi dan membangun sistem kerja tim.</a:t>
            </a:r>
            <a:endParaRPr sz="1000">
              <a:solidFill>
                <a:schemeClr val="dk1"/>
              </a:solidFill>
              <a:latin typeface="Montserrat"/>
              <a:ea typeface="Montserrat"/>
              <a:cs typeface="Montserrat"/>
              <a:sym typeface="Montserrat"/>
            </a:endParaRPr>
          </a:p>
        </p:txBody>
      </p:sp>
      <p:pic>
        <p:nvPicPr>
          <p:cNvPr id="508" name="Google Shape;508;p71"/>
          <p:cNvPicPr preferRelativeResize="0"/>
          <p:nvPr/>
        </p:nvPicPr>
        <p:blipFill>
          <a:blip r:embed="rId3">
            <a:alphaModFix/>
          </a:blip>
          <a:stretch>
            <a:fillRect/>
          </a:stretch>
        </p:blipFill>
        <p:spPr>
          <a:xfrm>
            <a:off x="5019000" y="788324"/>
            <a:ext cx="3809125" cy="38091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4" name="Google Shape;514;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515" name="Google Shape;515;p72"/>
          <p:cNvSpPr txBox="1"/>
          <p:nvPr/>
        </p:nvSpPr>
        <p:spPr>
          <a:xfrm>
            <a:off x="685800" y="1286100"/>
            <a:ext cx="4572000" cy="257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Lalu, bagaimana hubungan Scrum dengan Agile?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adalah salah satu bagian dari konsep Agile. Ibarat sebuah tenda, Agile adalah tendanya, sedang Scrum sebagai salah satu tiang penyangganya.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Untuk mengimplementasikan proses pengembangkan produk yang bersifat Agile, kamu dapat menggunakan Scrum.</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Agile tidak memiliki tahapan proses. Namun, dengan menggunakan Scrum, kamu jadi punya alat untuk membuat proses kerjamu menjadi (bersifat) Agile.</a:t>
            </a:r>
            <a:endParaRPr sz="1000">
              <a:solidFill>
                <a:schemeClr val="dk1"/>
              </a:solidFill>
              <a:latin typeface="Montserrat"/>
              <a:ea typeface="Montserrat"/>
              <a:cs typeface="Montserrat"/>
              <a:sym typeface="Montserrat"/>
            </a:endParaRPr>
          </a:p>
        </p:txBody>
      </p:sp>
      <p:pic>
        <p:nvPicPr>
          <p:cNvPr id="516" name="Google Shape;516;p72"/>
          <p:cNvPicPr preferRelativeResize="0"/>
          <p:nvPr/>
        </p:nvPicPr>
        <p:blipFill>
          <a:blip r:embed="rId3">
            <a:alphaModFix/>
          </a:blip>
          <a:stretch>
            <a:fillRect/>
          </a:stretch>
        </p:blipFill>
        <p:spPr>
          <a:xfrm>
            <a:off x="5768598" y="737275"/>
            <a:ext cx="2064025" cy="384609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2" name="Google Shape;522;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523" name="Google Shape;523;p73"/>
          <p:cNvSpPr txBox="1"/>
          <p:nvPr/>
        </p:nvSpPr>
        <p:spPr>
          <a:xfrm>
            <a:off x="553000" y="1754075"/>
            <a:ext cx="4446900" cy="102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scrum ini cocok untuk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adalah metodologi tepat </a:t>
            </a:r>
            <a:r>
              <a:rPr b="1" lang="en" sz="1000">
                <a:solidFill>
                  <a:schemeClr val="dk1"/>
                </a:solidFill>
                <a:latin typeface="Montserrat"/>
                <a:ea typeface="Montserrat"/>
                <a:cs typeface="Montserrat"/>
                <a:sym typeface="Montserrat"/>
              </a:rPr>
              <a:t>ketika kamu memiliki proyek dengan persyaratan yang tidak jelas tetapi perlu beradaptasi dengan perubahan yang akan sering terjadi</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524" name="Google Shape;524;p73"/>
          <p:cNvPicPr preferRelativeResize="0"/>
          <p:nvPr/>
        </p:nvPicPr>
        <p:blipFill>
          <a:blip r:embed="rId3">
            <a:alphaModFix/>
          </a:blip>
          <a:stretch>
            <a:fillRect/>
          </a:stretch>
        </p:blipFill>
        <p:spPr>
          <a:xfrm>
            <a:off x="5540975" y="1143250"/>
            <a:ext cx="2573428" cy="370500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0" name="Google Shape;530;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531" name="Google Shape;531;p74"/>
          <p:cNvSpPr txBox="1"/>
          <p:nvPr/>
        </p:nvSpPr>
        <p:spPr>
          <a:xfrm>
            <a:off x="685800" y="1842052"/>
            <a:ext cx="4114800" cy="155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Misalnya, kamu perlu membuat MVP dengan cepat dan mengujinya di antara pengguna. Ingatlah bahwa Scrum hanya efektif jika kamu memiliki tim yang berkomitmen penuh dan berpengalaman.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Tenang, kita akan mempelajari Scrum lebih mantap terkait pada topik berikutnya ya ~</a:t>
            </a:r>
            <a:endParaRPr sz="1000">
              <a:solidFill>
                <a:schemeClr val="dk1"/>
              </a:solidFill>
              <a:latin typeface="Montserrat"/>
              <a:ea typeface="Montserrat"/>
              <a:cs typeface="Montserrat"/>
              <a:sym typeface="Montserrat"/>
            </a:endParaRPr>
          </a:p>
        </p:txBody>
      </p:sp>
      <p:pic>
        <p:nvPicPr>
          <p:cNvPr id="532" name="Google Shape;532;p74"/>
          <p:cNvPicPr preferRelativeResize="0"/>
          <p:nvPr/>
        </p:nvPicPr>
        <p:blipFill>
          <a:blip r:embed="rId3">
            <a:alphaModFix/>
          </a:blip>
          <a:stretch>
            <a:fillRect/>
          </a:stretch>
        </p:blipFill>
        <p:spPr>
          <a:xfrm>
            <a:off x="4974725" y="1033599"/>
            <a:ext cx="3326898" cy="361460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pic>
        <p:nvPicPr>
          <p:cNvPr id="537" name="Google Shape;537;p75"/>
          <p:cNvPicPr preferRelativeResize="0"/>
          <p:nvPr/>
        </p:nvPicPr>
        <p:blipFill rotWithShape="1">
          <a:blip r:embed="rId3">
            <a:alphaModFix/>
          </a:blip>
          <a:srcRect b="6603" l="3583" r="3592" t="0"/>
          <a:stretch/>
        </p:blipFill>
        <p:spPr>
          <a:xfrm>
            <a:off x="1842263" y="805500"/>
            <a:ext cx="5459475" cy="4087674"/>
          </a:xfrm>
          <a:prstGeom prst="rect">
            <a:avLst/>
          </a:prstGeom>
          <a:noFill/>
          <a:ln>
            <a:noFill/>
          </a:ln>
        </p:spPr>
      </p:pic>
      <p:sp>
        <p:nvSpPr>
          <p:cNvPr id="538" name="Google Shape;538;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9" name="Google Shape;539;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6"/>
          <p:cNvSpPr txBox="1"/>
          <p:nvPr>
            <p:ph type="title"/>
          </p:nvPr>
        </p:nvSpPr>
        <p:spPr>
          <a:xfrm>
            <a:off x="685800" y="246900"/>
            <a:ext cx="58857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45" name="Google Shape;545;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6" name="Google Shape;546;p76"/>
          <p:cNvSpPr txBox="1"/>
          <p:nvPr/>
        </p:nvSpPr>
        <p:spPr>
          <a:xfrm>
            <a:off x="685800" y="1725150"/>
            <a:ext cx="45288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Banyak banget kan metodologi yang bisa kamu pakai? Tapi, kira-kira, gimana ya cara </a:t>
            </a:r>
            <a:r>
              <a:rPr b="1" lang="en">
                <a:solidFill>
                  <a:srgbClr val="F2AB2F"/>
                </a:solidFill>
                <a:latin typeface="Montserrat"/>
                <a:ea typeface="Montserrat"/>
                <a:cs typeface="Montserrat"/>
                <a:sym typeface="Montserrat"/>
              </a:rPr>
              <a:t>memilih proses UX yang tepat untuk jenis metodologi yang digunakan</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Kuda lumping makan keripik,</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Let’s continue this topic ~ 😘😘</a:t>
            </a:r>
            <a:endParaRPr b="1">
              <a:solidFill>
                <a:schemeClr val="lt1"/>
              </a:solidFill>
              <a:latin typeface="Montserrat"/>
              <a:ea typeface="Montserrat"/>
              <a:cs typeface="Montserrat"/>
              <a:sym typeface="Montserrat"/>
            </a:endParaRPr>
          </a:p>
        </p:txBody>
      </p:sp>
      <p:pic>
        <p:nvPicPr>
          <p:cNvPr id="547" name="Google Shape;547;p76"/>
          <p:cNvPicPr preferRelativeResize="0"/>
          <p:nvPr/>
        </p:nvPicPr>
        <p:blipFill>
          <a:blip r:embed="rId3">
            <a:alphaModFix/>
          </a:blip>
          <a:stretch>
            <a:fillRect/>
          </a:stretch>
        </p:blipFill>
        <p:spPr>
          <a:xfrm>
            <a:off x="4833525" y="1089675"/>
            <a:ext cx="3729850" cy="355852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3" name="Google Shape;553;p77"/>
          <p:cNvSpPr txBox="1"/>
          <p:nvPr>
            <p:ph type="title"/>
          </p:nvPr>
        </p:nvSpPr>
        <p:spPr>
          <a:xfrm>
            <a:off x="685800" y="246900"/>
            <a:ext cx="5769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54" name="Google Shape;554;p77"/>
          <p:cNvSpPr txBox="1"/>
          <p:nvPr/>
        </p:nvSpPr>
        <p:spPr>
          <a:xfrm>
            <a:off x="685800" y="1990647"/>
            <a:ext cx="4114800" cy="1162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Memilih proses UX yang tepat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menentukan proses UX yang tepat, desainer perlu mempertanyakan asumsi mereka tentang proses saat ini dan memahami jenis siklus hidup pengembangan perangkat lunak (SDLC) yang digunakan dalam  tim.</a:t>
            </a:r>
            <a:endParaRPr sz="1000">
              <a:solidFill>
                <a:schemeClr val="dk1"/>
              </a:solidFill>
              <a:latin typeface="Montserrat"/>
              <a:ea typeface="Montserrat"/>
              <a:cs typeface="Montserrat"/>
              <a:sym typeface="Montserrat"/>
            </a:endParaRPr>
          </a:p>
        </p:txBody>
      </p:sp>
      <p:pic>
        <p:nvPicPr>
          <p:cNvPr id="555" name="Google Shape;555;p77"/>
          <p:cNvPicPr preferRelativeResize="0"/>
          <p:nvPr/>
        </p:nvPicPr>
        <p:blipFill>
          <a:blip r:embed="rId3">
            <a:alphaModFix/>
          </a:blip>
          <a:stretch>
            <a:fillRect/>
          </a:stretch>
        </p:blipFill>
        <p:spPr>
          <a:xfrm>
            <a:off x="5087175" y="1243675"/>
            <a:ext cx="3767250" cy="300387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1" name="Google Shape;561;p78"/>
          <p:cNvSpPr txBox="1"/>
          <p:nvPr>
            <p:ph type="title"/>
          </p:nvPr>
        </p:nvSpPr>
        <p:spPr>
          <a:xfrm>
            <a:off x="685800" y="246900"/>
            <a:ext cx="5769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62" name="Google Shape;562;p78"/>
          <p:cNvSpPr txBox="1"/>
          <p:nvPr/>
        </p:nvSpPr>
        <p:spPr>
          <a:xfrm>
            <a:off x="685800" y="1762799"/>
            <a:ext cx="4114800" cy="161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Pengembangan produk bukan tentang mengimplementasikan fitur dan menguji kegunaannya, tetapi tentang merancang produk dan layanan yang menarik, serta mendukung kebutuhan dan nilai manusia.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Memilih proses UX yang tepat bergantung pada banyak faktor, termasuk model pengiriman, pengalaman pengguna, bakat sumber daya, manajemen tim, teknologi, fleksibilitas, kontrol, dan tren.</a:t>
            </a:r>
            <a:endParaRPr sz="1000">
              <a:solidFill>
                <a:schemeClr val="dk1"/>
              </a:solidFill>
              <a:latin typeface="Montserrat"/>
              <a:ea typeface="Montserrat"/>
              <a:cs typeface="Montserrat"/>
              <a:sym typeface="Montserrat"/>
            </a:endParaRPr>
          </a:p>
        </p:txBody>
      </p:sp>
      <p:pic>
        <p:nvPicPr>
          <p:cNvPr id="563" name="Google Shape;563;p78"/>
          <p:cNvPicPr preferRelativeResize="0"/>
          <p:nvPr/>
        </p:nvPicPr>
        <p:blipFill>
          <a:blip r:embed="rId3">
            <a:alphaModFix/>
          </a:blip>
          <a:stretch>
            <a:fillRect/>
          </a:stretch>
        </p:blipFill>
        <p:spPr>
          <a:xfrm>
            <a:off x="5078125" y="1210975"/>
            <a:ext cx="3787198" cy="301977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9" name="Google Shape;569;p79"/>
          <p:cNvSpPr txBox="1"/>
          <p:nvPr>
            <p:ph type="title"/>
          </p:nvPr>
        </p:nvSpPr>
        <p:spPr>
          <a:xfrm>
            <a:off x="685800" y="246900"/>
            <a:ext cx="57273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70" name="Google Shape;570;p79"/>
          <p:cNvSpPr txBox="1"/>
          <p:nvPr/>
        </p:nvSpPr>
        <p:spPr>
          <a:xfrm>
            <a:off x="740275" y="1515650"/>
            <a:ext cx="4533900" cy="178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memutuskan proses UX terbaik untuk tim, penting untuk menyesuaikan proses dengan kebutuhan. Kamu juga bisa memulai dengan mengajukan beberapa pertanyaan dasar, seperti: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Seberapa stabil persyaratan produknya?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Siapa saja penggunanya?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Apa ruang lingkup proyek?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Di mana tim proyek berada?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Apakah jenis anggaran statis atau beroperasi?</a:t>
            </a:r>
            <a:endParaRPr sz="1000">
              <a:solidFill>
                <a:schemeClr val="dk1"/>
              </a:solidFill>
              <a:latin typeface="Montserrat"/>
              <a:ea typeface="Montserrat"/>
              <a:cs typeface="Montserrat"/>
              <a:sym typeface="Montserrat"/>
            </a:endParaRPr>
          </a:p>
        </p:txBody>
      </p:sp>
      <p:pic>
        <p:nvPicPr>
          <p:cNvPr id="571" name="Google Shape;571;p79"/>
          <p:cNvPicPr preferRelativeResize="0"/>
          <p:nvPr/>
        </p:nvPicPr>
        <p:blipFill>
          <a:blip r:embed="rId3">
            <a:alphaModFix/>
          </a:blip>
          <a:stretch>
            <a:fillRect/>
          </a:stretch>
        </p:blipFill>
        <p:spPr>
          <a:xfrm>
            <a:off x="5622951" y="914388"/>
            <a:ext cx="1959775" cy="36958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7" name="Google Shape;577;p80"/>
          <p:cNvSpPr txBox="1"/>
          <p:nvPr>
            <p:ph type="title"/>
          </p:nvPr>
        </p:nvSpPr>
        <p:spPr>
          <a:xfrm>
            <a:off x="685800" y="246900"/>
            <a:ext cx="5949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78" name="Google Shape;578;p80"/>
          <p:cNvSpPr txBox="1"/>
          <p:nvPr/>
        </p:nvSpPr>
        <p:spPr>
          <a:xfrm>
            <a:off x="685800" y="1462498"/>
            <a:ext cx="4114800" cy="2218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Beberapa proses UX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kali ini kita akan membahas beberapa proses UX, di antaranya: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UX for waterfall</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Agile UX</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Lean UX</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Pain-driven design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UX runway</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bahas satu per satu ~</a:t>
            </a:r>
            <a:endParaRPr sz="1000">
              <a:solidFill>
                <a:schemeClr val="dk1"/>
              </a:solidFill>
              <a:latin typeface="Montserrat"/>
              <a:ea typeface="Montserrat"/>
              <a:cs typeface="Montserrat"/>
              <a:sym typeface="Montserrat"/>
            </a:endParaRPr>
          </a:p>
        </p:txBody>
      </p:sp>
      <p:pic>
        <p:nvPicPr>
          <p:cNvPr id="579" name="Google Shape;579;p80"/>
          <p:cNvPicPr preferRelativeResize="0"/>
          <p:nvPr/>
        </p:nvPicPr>
        <p:blipFill>
          <a:blip r:embed="rId3">
            <a:alphaModFix/>
          </a:blip>
          <a:stretch>
            <a:fillRect/>
          </a:stretch>
        </p:blipFill>
        <p:spPr>
          <a:xfrm>
            <a:off x="4892100" y="1190075"/>
            <a:ext cx="4038599" cy="307618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5" name="Google Shape;585;p81"/>
          <p:cNvSpPr txBox="1"/>
          <p:nvPr>
            <p:ph type="title"/>
          </p:nvPr>
        </p:nvSpPr>
        <p:spPr>
          <a:xfrm>
            <a:off x="685800" y="246900"/>
            <a:ext cx="60123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86" name="Google Shape;586;p81"/>
          <p:cNvSpPr txBox="1"/>
          <p:nvPr/>
        </p:nvSpPr>
        <p:spPr>
          <a:xfrm>
            <a:off x="685800" y="1731452"/>
            <a:ext cx="4114800" cy="1680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UX for Waterfall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a:t>
            </a:r>
            <a:r>
              <a:rPr lang="en" sz="1000">
                <a:solidFill>
                  <a:schemeClr val="dk1"/>
                </a:solidFill>
                <a:latin typeface="Montserrat"/>
                <a:ea typeface="Montserrat"/>
                <a:cs typeface="Montserrat"/>
                <a:sym typeface="Montserrat"/>
              </a:rPr>
              <a:t>X for Waterfall adalah metode pengembangan perangkat lunak </a:t>
            </a:r>
            <a:r>
              <a:rPr b="1" lang="en" sz="1000">
                <a:solidFill>
                  <a:schemeClr val="dk1"/>
                </a:solidFill>
                <a:latin typeface="Montserrat"/>
                <a:ea typeface="Montserrat"/>
                <a:cs typeface="Montserrat"/>
                <a:sym typeface="Montserrat"/>
              </a:rPr>
              <a:t>kanonik, sekuensial, dan linier di mana tidak ada fleksibilitas untuk mengulangi desain atau pengembangan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Desainer UX dapat mengikuti pendekatan desain di mana berpusat pada pengguna, tetapi harus mematuhi ruang lingkup dan garis waktu yang disepakati.</a:t>
            </a:r>
            <a:endParaRPr sz="1000">
              <a:solidFill>
                <a:schemeClr val="dk1"/>
              </a:solidFill>
              <a:latin typeface="Montserrat"/>
              <a:ea typeface="Montserrat"/>
              <a:cs typeface="Montserrat"/>
              <a:sym typeface="Montserrat"/>
            </a:endParaRPr>
          </a:p>
        </p:txBody>
      </p:sp>
      <p:pic>
        <p:nvPicPr>
          <p:cNvPr id="587" name="Google Shape;587;p81"/>
          <p:cNvPicPr preferRelativeResize="0"/>
          <p:nvPr/>
        </p:nvPicPr>
        <p:blipFill>
          <a:blip r:embed="rId3">
            <a:alphaModFix/>
          </a:blip>
          <a:stretch>
            <a:fillRect/>
          </a:stretch>
        </p:blipFill>
        <p:spPr>
          <a:xfrm>
            <a:off x="5263775" y="1209150"/>
            <a:ext cx="2985624" cy="29401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3" name="Google Shape;593;p82"/>
          <p:cNvSpPr txBox="1"/>
          <p:nvPr>
            <p:ph type="title"/>
          </p:nvPr>
        </p:nvSpPr>
        <p:spPr>
          <a:xfrm>
            <a:off x="685800" y="246900"/>
            <a:ext cx="60123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94" name="Google Shape;594;p82"/>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Biasanya, ada sedikit kebebasan untuk bereksperimen karena aliran sekuensial metode ini. Bicara anggaran, biasanya telah ditentukan sebelumnya atau terbatas.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pendekatan waterfall-UX bisa menghadapi banyak tantangan dalam pelaksanaannya, terutama ketika ada penyimpangan pada prosesnya.</a:t>
            </a:r>
            <a:endParaRPr sz="1000">
              <a:solidFill>
                <a:schemeClr val="dk1"/>
              </a:solidFill>
              <a:latin typeface="Montserrat"/>
              <a:ea typeface="Montserrat"/>
              <a:cs typeface="Montserrat"/>
              <a:sym typeface="Montserrat"/>
            </a:endParaRPr>
          </a:p>
        </p:txBody>
      </p:sp>
      <p:pic>
        <p:nvPicPr>
          <p:cNvPr id="595" name="Google Shape;595;p82"/>
          <p:cNvPicPr preferRelativeResize="0"/>
          <p:nvPr/>
        </p:nvPicPr>
        <p:blipFill>
          <a:blip r:embed="rId3">
            <a:alphaModFix/>
          </a:blip>
          <a:stretch>
            <a:fillRect/>
          </a:stretch>
        </p:blipFill>
        <p:spPr>
          <a:xfrm>
            <a:off x="5721960" y="1203008"/>
            <a:ext cx="1874338" cy="317111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1" name="Google Shape;601;p83"/>
          <p:cNvSpPr txBox="1"/>
          <p:nvPr>
            <p:ph type="title"/>
          </p:nvPr>
        </p:nvSpPr>
        <p:spPr>
          <a:xfrm>
            <a:off x="685800" y="246900"/>
            <a:ext cx="61707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02" name="Google Shape;602;p83"/>
          <p:cNvSpPr txBox="1"/>
          <p:nvPr/>
        </p:nvSpPr>
        <p:spPr>
          <a:xfrm>
            <a:off x="685800" y="1307800"/>
            <a:ext cx="4248600" cy="2743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menggunakan UX for Waterfall?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menggunakan UX for Waterfall ketika: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sedang mengerjakan proyek jangka pendek dengan tawaran tetap.</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Tim memiliki pengalaman yang baik dalam melaksanakan proyek serupa.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Persyaratannya stabil dan tetap.</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Tim berpengalaman dengan teknologinya.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Lingkup proyeknya besar.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memiliki gagasan yang adil tentang apa yang perlu kamu lakukan.</a:t>
            </a:r>
            <a:endParaRPr sz="1000">
              <a:solidFill>
                <a:schemeClr val="dk1"/>
              </a:solidFill>
              <a:latin typeface="Montserrat"/>
              <a:ea typeface="Montserrat"/>
              <a:cs typeface="Montserrat"/>
              <a:sym typeface="Montserrat"/>
            </a:endParaRPr>
          </a:p>
        </p:txBody>
      </p:sp>
      <p:pic>
        <p:nvPicPr>
          <p:cNvPr id="603" name="Google Shape;603;p83"/>
          <p:cNvPicPr preferRelativeResize="0"/>
          <p:nvPr/>
        </p:nvPicPr>
        <p:blipFill>
          <a:blip r:embed="rId3">
            <a:alphaModFix/>
          </a:blip>
          <a:stretch>
            <a:fillRect/>
          </a:stretch>
        </p:blipFill>
        <p:spPr>
          <a:xfrm>
            <a:off x="6254675" y="1274124"/>
            <a:ext cx="1489625" cy="310522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9" name="Google Shape;609;p84"/>
          <p:cNvSpPr txBox="1"/>
          <p:nvPr>
            <p:ph type="title"/>
          </p:nvPr>
        </p:nvSpPr>
        <p:spPr>
          <a:xfrm>
            <a:off x="685800" y="246900"/>
            <a:ext cx="5970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10" name="Google Shape;610;p84"/>
          <p:cNvSpPr txBox="1"/>
          <p:nvPr/>
        </p:nvSpPr>
        <p:spPr>
          <a:xfrm>
            <a:off x="772975" y="1410250"/>
            <a:ext cx="4599300" cy="253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Agile UX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beberapa tahun terakhir, agile UX telah menjadi metodologi pengembangan perangkat lunak paling populer di industri.</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Agile UX merupakan metodologi yang digunakan untuk skenario dengan persyaratan yang sering berubah dan tim perlu melakukan pengembangan secara berulang.</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Agile berfokus pada pengembangan dan garis waktu. Selain itu, mewujudkan pendekatan pengembangan yang bertahap dan berkala untuk memecahkan masalah.</a:t>
            </a:r>
            <a:endParaRPr sz="1000">
              <a:solidFill>
                <a:schemeClr val="dk1"/>
              </a:solidFill>
              <a:latin typeface="Montserrat"/>
              <a:ea typeface="Montserrat"/>
              <a:cs typeface="Montserrat"/>
              <a:sym typeface="Montserrat"/>
            </a:endParaRPr>
          </a:p>
        </p:txBody>
      </p:sp>
      <p:pic>
        <p:nvPicPr>
          <p:cNvPr id="611" name="Google Shape;611;p84"/>
          <p:cNvPicPr preferRelativeResize="0"/>
          <p:nvPr/>
        </p:nvPicPr>
        <p:blipFill>
          <a:blip r:embed="rId3">
            <a:alphaModFix/>
          </a:blip>
          <a:stretch>
            <a:fillRect/>
          </a:stretch>
        </p:blipFill>
        <p:spPr>
          <a:xfrm>
            <a:off x="6358025" y="635638"/>
            <a:ext cx="2171376" cy="377077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7" name="Google Shape;617;p85"/>
          <p:cNvSpPr txBox="1"/>
          <p:nvPr>
            <p:ph type="title"/>
          </p:nvPr>
        </p:nvSpPr>
        <p:spPr>
          <a:xfrm>
            <a:off x="685800" y="246900"/>
            <a:ext cx="59808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18" name="Google Shape;618;p85"/>
          <p:cNvSpPr txBox="1"/>
          <p:nvPr/>
        </p:nvSpPr>
        <p:spPr>
          <a:xfrm>
            <a:off x="685800" y="1282451"/>
            <a:ext cx="4114800" cy="3141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menggunakan Agile UX?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Gunakan Agile UX dalam kasus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perlu menguji hasil tetap.</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harus mengirimkan produk dengan cepat, berdasarkan garis waktu.</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memerlukan kemampuan untuk melingkupi, menguraikan, atau memprioritaskan fitur berdasarkan anggaran, kualitas, dan nilai melalui sejumlah sprint.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perlu bertindak atas permintaan pelanggan dari waktu ke waktu.</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harus memastikan produk yang ramah pengguna dengan kolaborasi bersama pelanggan selama pengembangan.</a:t>
            </a:r>
            <a:endParaRPr sz="1000">
              <a:solidFill>
                <a:schemeClr val="dk1"/>
              </a:solidFill>
              <a:latin typeface="Montserrat"/>
              <a:ea typeface="Montserrat"/>
              <a:cs typeface="Montserrat"/>
              <a:sym typeface="Montserrat"/>
            </a:endParaRPr>
          </a:p>
        </p:txBody>
      </p:sp>
      <p:pic>
        <p:nvPicPr>
          <p:cNvPr id="619" name="Google Shape;619;p85"/>
          <p:cNvPicPr preferRelativeResize="0"/>
          <p:nvPr/>
        </p:nvPicPr>
        <p:blipFill>
          <a:blip r:embed="rId3">
            <a:alphaModFix/>
          </a:blip>
          <a:stretch>
            <a:fillRect/>
          </a:stretch>
        </p:blipFill>
        <p:spPr>
          <a:xfrm>
            <a:off x="5519026" y="1282462"/>
            <a:ext cx="2475851" cy="3063777"/>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5" name="Google Shape;625;p86"/>
          <p:cNvSpPr txBox="1"/>
          <p:nvPr>
            <p:ph type="title"/>
          </p:nvPr>
        </p:nvSpPr>
        <p:spPr>
          <a:xfrm>
            <a:off x="685800" y="246900"/>
            <a:ext cx="66039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26" name="Google Shape;626;p86"/>
          <p:cNvSpPr txBox="1"/>
          <p:nvPr/>
        </p:nvSpPr>
        <p:spPr>
          <a:xfrm>
            <a:off x="685800" y="1630050"/>
            <a:ext cx="4114800" cy="1883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Lean UX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Lean UX berasal dari Lean manufacturing, di mana </a:t>
            </a:r>
            <a:r>
              <a:rPr b="1" lang="en" sz="1000">
                <a:solidFill>
                  <a:schemeClr val="dk1"/>
                </a:solidFill>
                <a:latin typeface="Montserrat"/>
                <a:ea typeface="Montserrat"/>
                <a:cs typeface="Montserrat"/>
                <a:sym typeface="Montserrat"/>
              </a:rPr>
              <a:t>berfokus pada penghapusan produksi fitur yang boros dan tidak diinginkan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Membangun, mengukur, dan mempelajari loop memungkinkan tim mengulangi desain mereka berdasarkan umpan balik pengguna—di beberapa sprint—untuk membangun nilai minimum produk (MVP).</a:t>
            </a:r>
            <a:endParaRPr sz="1000">
              <a:solidFill>
                <a:schemeClr val="dk1"/>
              </a:solidFill>
              <a:latin typeface="Montserrat"/>
              <a:ea typeface="Montserrat"/>
              <a:cs typeface="Montserrat"/>
              <a:sym typeface="Montserrat"/>
            </a:endParaRPr>
          </a:p>
        </p:txBody>
      </p:sp>
      <p:pic>
        <p:nvPicPr>
          <p:cNvPr id="627" name="Google Shape;627;p86"/>
          <p:cNvPicPr preferRelativeResize="0"/>
          <p:nvPr/>
        </p:nvPicPr>
        <p:blipFill>
          <a:blip r:embed="rId3">
            <a:alphaModFix/>
          </a:blip>
          <a:stretch>
            <a:fillRect/>
          </a:stretch>
        </p:blipFill>
        <p:spPr>
          <a:xfrm>
            <a:off x="5458677" y="1282650"/>
            <a:ext cx="2578100" cy="29717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3" name="Google Shape;633;p87"/>
          <p:cNvSpPr txBox="1"/>
          <p:nvPr>
            <p:ph type="title"/>
          </p:nvPr>
        </p:nvSpPr>
        <p:spPr>
          <a:xfrm>
            <a:off x="685800" y="246900"/>
            <a:ext cx="66039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34" name="Google Shape;634;p87"/>
          <p:cNvSpPr txBox="1"/>
          <p:nvPr/>
        </p:nvSpPr>
        <p:spPr>
          <a:xfrm>
            <a:off x="685800" y="2238746"/>
            <a:ext cx="4114800" cy="666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Lean UX mengikuti proses desain partisipatif dan berulang. Hal ini untuk memastikan partisipasi yang setara oleh anggota tim desain, pengembang, dan menghasilkan </a:t>
            </a:r>
            <a:r>
              <a:rPr lang="en" sz="1000">
                <a:solidFill>
                  <a:schemeClr val="dk1"/>
                </a:solidFill>
                <a:latin typeface="Montserrat"/>
                <a:ea typeface="Montserrat"/>
                <a:cs typeface="Montserrat"/>
                <a:sym typeface="Montserrat"/>
              </a:rPr>
              <a:t>banyak ide serta solusi paling mungkin untuk masalah.</a:t>
            </a:r>
            <a:endParaRPr sz="1000">
              <a:solidFill>
                <a:schemeClr val="dk1"/>
              </a:solidFill>
              <a:latin typeface="Montserrat"/>
              <a:ea typeface="Montserrat"/>
              <a:cs typeface="Montserrat"/>
              <a:sym typeface="Montserrat"/>
            </a:endParaRPr>
          </a:p>
        </p:txBody>
      </p:sp>
      <p:pic>
        <p:nvPicPr>
          <p:cNvPr id="635" name="Google Shape;635;p87"/>
          <p:cNvPicPr preferRelativeResize="0"/>
          <p:nvPr/>
        </p:nvPicPr>
        <p:blipFill>
          <a:blip r:embed="rId3">
            <a:alphaModFix/>
          </a:blip>
          <a:stretch>
            <a:fillRect/>
          </a:stretch>
        </p:blipFill>
        <p:spPr>
          <a:xfrm>
            <a:off x="5006025" y="1346349"/>
            <a:ext cx="3610576" cy="254915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1" name="Google Shape;641;p88"/>
          <p:cNvSpPr txBox="1"/>
          <p:nvPr>
            <p:ph type="title"/>
          </p:nvPr>
        </p:nvSpPr>
        <p:spPr>
          <a:xfrm>
            <a:off x="685800" y="246900"/>
            <a:ext cx="58434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42" name="Google Shape;642;p88"/>
          <p:cNvSpPr txBox="1"/>
          <p:nvPr/>
        </p:nvSpPr>
        <p:spPr>
          <a:xfrm>
            <a:off x="685800" y="1631548"/>
            <a:ext cx="4114800" cy="188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menggunakan Lean UX?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Meskipun ada banyak situasi di mana kamu bisa menggunakan Lean UX, gunakan proses ini dalam kasus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Ketika ada kebutuhan untuk membangun produk pada kecepatan startup dan kelincahan dihargai.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Saat sebuah tim perlu melakukan eksperimen—dengan membuat MVP secara iteratif—yang menghasilkan produk siap guna.</a:t>
            </a:r>
            <a:endParaRPr sz="1000">
              <a:solidFill>
                <a:schemeClr val="dk1"/>
              </a:solidFill>
              <a:latin typeface="Montserrat"/>
              <a:ea typeface="Montserrat"/>
              <a:cs typeface="Montserrat"/>
              <a:sym typeface="Montserrat"/>
            </a:endParaRPr>
          </a:p>
        </p:txBody>
      </p:sp>
      <p:pic>
        <p:nvPicPr>
          <p:cNvPr id="643" name="Google Shape;643;p88"/>
          <p:cNvPicPr preferRelativeResize="0"/>
          <p:nvPr/>
        </p:nvPicPr>
        <p:blipFill>
          <a:blip r:embed="rId3">
            <a:alphaModFix/>
          </a:blip>
          <a:stretch>
            <a:fillRect/>
          </a:stretch>
        </p:blipFill>
        <p:spPr>
          <a:xfrm>
            <a:off x="5540975" y="1143250"/>
            <a:ext cx="2573428" cy="370500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9" name="Google Shape;649;p89"/>
          <p:cNvSpPr txBox="1"/>
          <p:nvPr>
            <p:ph type="title"/>
          </p:nvPr>
        </p:nvSpPr>
        <p:spPr>
          <a:xfrm>
            <a:off x="685800" y="246900"/>
            <a:ext cx="59808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50" name="Google Shape;650;p89"/>
          <p:cNvSpPr txBox="1"/>
          <p:nvPr/>
        </p:nvSpPr>
        <p:spPr>
          <a:xfrm>
            <a:off x="685800" y="1874550"/>
            <a:ext cx="4114800" cy="13944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Jika sebuah tim ingin keluar dari bisnis kiriman.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Jika sebuah tim ingin menghasilkan lebih sedikit dokumentasi.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Ketika memilih pendekatan yang tepat untuk kesuksesan produk membutuhkan kurva belajar yang besar.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Ketika sebagian besar anggota tim dikumpulkan.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Ketika sebuah organisasi sudah mengikuti proses Agile.</a:t>
            </a:r>
            <a:endParaRPr sz="1000">
              <a:solidFill>
                <a:schemeClr val="dk1"/>
              </a:solidFill>
              <a:latin typeface="Montserrat"/>
              <a:ea typeface="Montserrat"/>
              <a:cs typeface="Montserrat"/>
              <a:sym typeface="Montserrat"/>
            </a:endParaRPr>
          </a:p>
        </p:txBody>
      </p:sp>
      <p:pic>
        <p:nvPicPr>
          <p:cNvPr id="651" name="Google Shape;651;p89"/>
          <p:cNvPicPr preferRelativeResize="0"/>
          <p:nvPr/>
        </p:nvPicPr>
        <p:blipFill>
          <a:blip r:embed="rId3">
            <a:alphaModFix/>
          </a:blip>
          <a:stretch>
            <a:fillRect/>
          </a:stretch>
        </p:blipFill>
        <p:spPr>
          <a:xfrm>
            <a:off x="5629750" y="1154175"/>
            <a:ext cx="2130700" cy="36464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7" name="Google Shape;657;p90"/>
          <p:cNvSpPr txBox="1"/>
          <p:nvPr>
            <p:ph type="title"/>
          </p:nvPr>
        </p:nvSpPr>
        <p:spPr>
          <a:xfrm>
            <a:off x="685800" y="246900"/>
            <a:ext cx="62871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58" name="Google Shape;658;p90"/>
          <p:cNvSpPr txBox="1"/>
          <p:nvPr/>
        </p:nvSpPr>
        <p:spPr>
          <a:xfrm>
            <a:off x="685800" y="1636798"/>
            <a:ext cx="4114800" cy="1869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Pain Driven Design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Pain-Driven Design (PDD) adalah proses mencari tahu apa yang menyebabkan rasa sakit sebelum kamu mulai memecahkan masalah desain, yaitu memprediksi rasa sakit, lalu merespons 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PDD memungkinkan akuisisi pengetahuan organisasi selama fase penemuan dan memungkinkan startup gagal dengan aman.</a:t>
            </a:r>
            <a:endParaRPr sz="1000">
              <a:solidFill>
                <a:schemeClr val="dk1"/>
              </a:solidFill>
              <a:latin typeface="Montserrat"/>
              <a:ea typeface="Montserrat"/>
              <a:cs typeface="Montserrat"/>
              <a:sym typeface="Montserrat"/>
            </a:endParaRPr>
          </a:p>
        </p:txBody>
      </p:sp>
      <p:pic>
        <p:nvPicPr>
          <p:cNvPr id="659" name="Google Shape;659;p90"/>
          <p:cNvPicPr preferRelativeResize="0"/>
          <p:nvPr/>
        </p:nvPicPr>
        <p:blipFill>
          <a:blip r:embed="rId3">
            <a:alphaModFix/>
          </a:blip>
          <a:stretch>
            <a:fillRect/>
          </a:stretch>
        </p:blipFill>
        <p:spPr>
          <a:xfrm>
            <a:off x="5311150" y="1248650"/>
            <a:ext cx="2770923" cy="325192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5" name="Google Shape;665;p91"/>
          <p:cNvSpPr txBox="1"/>
          <p:nvPr>
            <p:ph type="title"/>
          </p:nvPr>
        </p:nvSpPr>
        <p:spPr>
          <a:xfrm>
            <a:off x="685800" y="246900"/>
            <a:ext cx="62871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66" name="Google Shape;666;p91"/>
          <p:cNvSpPr txBox="1"/>
          <p:nvPr/>
        </p:nvSpPr>
        <p:spPr>
          <a:xfrm>
            <a:off x="685800" y="1696749"/>
            <a:ext cx="4114800" cy="1866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Sebagian besar organisasi yang matang dan sukses telah mengikuti pendekatan ini, baik secara langsung maupun tidak. Terkadang, mereka tidak mengetahui bahwa hal ini adalah proses desain yang digerakkan oleh rasa sakit.</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Nah, mengintegrasikan PDD ke dalam proses pengembangan dengan memecah kompleksitas pengambilan keputusan yang didorong rasa sakit menjadi tindakan, memungkinkan kamu mengartikulasikan perbedaan antara masalah yang dapat diprediksi dan rasa sakit yang tidak dapat diprediksi.</a:t>
            </a:r>
            <a:endParaRPr sz="1000">
              <a:solidFill>
                <a:schemeClr val="dk1"/>
              </a:solidFill>
              <a:latin typeface="Montserrat"/>
              <a:ea typeface="Montserrat"/>
              <a:cs typeface="Montserrat"/>
              <a:sym typeface="Montserrat"/>
            </a:endParaRPr>
          </a:p>
        </p:txBody>
      </p:sp>
      <p:pic>
        <p:nvPicPr>
          <p:cNvPr id="667" name="Google Shape;667;p91"/>
          <p:cNvPicPr preferRelativeResize="0"/>
          <p:nvPr/>
        </p:nvPicPr>
        <p:blipFill>
          <a:blip r:embed="rId3">
            <a:alphaModFix/>
          </a:blip>
          <a:stretch>
            <a:fillRect/>
          </a:stretch>
        </p:blipFill>
        <p:spPr>
          <a:xfrm>
            <a:off x="5622951" y="914388"/>
            <a:ext cx="1959775" cy="369587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9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73" name="Google Shape;673;p92"/>
          <p:cNvPicPr preferRelativeResize="0"/>
          <p:nvPr/>
        </p:nvPicPr>
        <p:blipFill>
          <a:blip r:embed="rId3">
            <a:alphaModFix/>
          </a:blip>
          <a:stretch>
            <a:fillRect/>
          </a:stretch>
        </p:blipFill>
        <p:spPr>
          <a:xfrm>
            <a:off x="5028975" y="1014975"/>
            <a:ext cx="2063749" cy="1875302"/>
          </a:xfrm>
          <a:prstGeom prst="rect">
            <a:avLst/>
          </a:prstGeom>
          <a:noFill/>
          <a:ln>
            <a:noFill/>
          </a:ln>
        </p:spPr>
      </p:pic>
      <p:sp>
        <p:nvSpPr>
          <p:cNvPr id="674" name="Google Shape;674;p92"/>
          <p:cNvSpPr txBox="1"/>
          <p:nvPr>
            <p:ph type="title"/>
          </p:nvPr>
        </p:nvSpPr>
        <p:spPr>
          <a:xfrm>
            <a:off x="685800" y="246900"/>
            <a:ext cx="57168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75" name="Google Shape;675;p92"/>
          <p:cNvSpPr txBox="1"/>
          <p:nvPr/>
        </p:nvSpPr>
        <p:spPr>
          <a:xfrm>
            <a:off x="609600" y="1766650"/>
            <a:ext cx="4114800" cy="1188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UX Runway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Ide untuk UX Runway awalnya berasal dari Scaled Agile Framework (SAFe). Banyak orang mengeluh bahwa Agile hanya berfungsi dengan baik untuk proyek skala kecil dan tidak berkembang dengan baik.</a:t>
            </a:r>
            <a:endParaRPr sz="1000">
              <a:solidFill>
                <a:schemeClr val="dk1"/>
              </a:solidFill>
              <a:latin typeface="Montserrat"/>
              <a:ea typeface="Montserrat"/>
              <a:cs typeface="Montserrat"/>
              <a:sym typeface="Montserrat"/>
            </a:endParaRPr>
          </a:p>
        </p:txBody>
      </p:sp>
      <p:pic>
        <p:nvPicPr>
          <p:cNvPr id="676" name="Google Shape;676;p92"/>
          <p:cNvPicPr preferRelativeResize="0"/>
          <p:nvPr/>
        </p:nvPicPr>
        <p:blipFill>
          <a:blip r:embed="rId4">
            <a:alphaModFix/>
          </a:blip>
          <a:stretch>
            <a:fillRect/>
          </a:stretch>
        </p:blipFill>
        <p:spPr>
          <a:xfrm>
            <a:off x="6331475" y="1616800"/>
            <a:ext cx="1923075" cy="30314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9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2" name="Google Shape;682;p93"/>
          <p:cNvSpPr txBox="1"/>
          <p:nvPr>
            <p:ph type="title"/>
          </p:nvPr>
        </p:nvSpPr>
        <p:spPr>
          <a:xfrm>
            <a:off x="685800" y="246900"/>
            <a:ext cx="57168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83" name="Google Shape;683;p93"/>
          <p:cNvSpPr txBox="1"/>
          <p:nvPr/>
        </p:nvSpPr>
        <p:spPr>
          <a:xfrm>
            <a:off x="685800" y="1885047"/>
            <a:ext cx="4114800" cy="1373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SAFe dapat memberikan solusi untuk masalah ini karena mengadopsi prinsip Lean dan Agile. Menggabungkannya untuk bekerja secara efektif pada proyek skala besar yang melibatkan banyak tim Scrum.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Proses SAFe memungkinkan kamu membuat skala upaya di seluruh tim dan memanfaatkan proses di tingkat program dan portofolio.</a:t>
            </a:r>
            <a:endParaRPr sz="1000">
              <a:solidFill>
                <a:schemeClr val="dk1"/>
              </a:solidFill>
              <a:latin typeface="Montserrat"/>
              <a:ea typeface="Montserrat"/>
              <a:cs typeface="Montserrat"/>
              <a:sym typeface="Montserrat"/>
            </a:endParaRPr>
          </a:p>
        </p:txBody>
      </p:sp>
      <p:pic>
        <p:nvPicPr>
          <p:cNvPr id="684" name="Google Shape;684;p93"/>
          <p:cNvPicPr preferRelativeResize="0"/>
          <p:nvPr/>
        </p:nvPicPr>
        <p:blipFill>
          <a:blip r:embed="rId3">
            <a:alphaModFix/>
          </a:blip>
          <a:stretch>
            <a:fillRect/>
          </a:stretch>
        </p:blipFill>
        <p:spPr>
          <a:xfrm>
            <a:off x="5642775" y="1186975"/>
            <a:ext cx="2425850" cy="296962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9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0" name="Google Shape;690;p94"/>
          <p:cNvSpPr txBox="1"/>
          <p:nvPr>
            <p:ph type="title"/>
          </p:nvPr>
        </p:nvSpPr>
        <p:spPr>
          <a:xfrm>
            <a:off x="685800" y="246900"/>
            <a:ext cx="58857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91" name="Google Shape;691;p94"/>
          <p:cNvSpPr txBox="1"/>
          <p:nvPr/>
        </p:nvSpPr>
        <p:spPr>
          <a:xfrm>
            <a:off x="3072000" y="744850"/>
            <a:ext cx="3000000" cy="431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Tabel ilustrasi </a:t>
            </a:r>
            <a:r>
              <a:rPr b="1" lang="en" sz="1600">
                <a:solidFill>
                  <a:srgbClr val="743673"/>
                </a:solidFill>
                <a:highlight>
                  <a:schemeClr val="lt1"/>
                </a:highlight>
                <a:latin typeface="Montserrat"/>
                <a:ea typeface="Montserrat"/>
                <a:cs typeface="Montserrat"/>
                <a:sym typeface="Montserrat"/>
              </a:rPr>
              <a:t>UX Runway</a:t>
            </a:r>
            <a:endParaRPr/>
          </a:p>
        </p:txBody>
      </p:sp>
      <p:pic>
        <p:nvPicPr>
          <p:cNvPr id="692" name="Google Shape;692;p94"/>
          <p:cNvPicPr preferRelativeResize="0"/>
          <p:nvPr/>
        </p:nvPicPr>
        <p:blipFill>
          <a:blip r:embed="rId3">
            <a:alphaModFix/>
          </a:blip>
          <a:stretch>
            <a:fillRect/>
          </a:stretch>
        </p:blipFill>
        <p:spPr>
          <a:xfrm>
            <a:off x="1728439" y="1237000"/>
            <a:ext cx="5687122" cy="366275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8" name="Google Shape;698;p95"/>
          <p:cNvSpPr txBox="1"/>
          <p:nvPr>
            <p:ph type="title"/>
          </p:nvPr>
        </p:nvSpPr>
        <p:spPr>
          <a:xfrm>
            <a:off x="685800" y="246900"/>
            <a:ext cx="62763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99" name="Google Shape;699;p95"/>
          <p:cNvSpPr txBox="1"/>
          <p:nvPr/>
        </p:nvSpPr>
        <p:spPr>
          <a:xfrm>
            <a:off x="685800" y="1636798"/>
            <a:ext cx="4114800" cy="1869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Perlu kamu ingat nih, sob…</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Langkah pertama dalam memilih proses yang tepat untuk tim kamu sendiri dimulai dengan mengeksplorasi pilihan kamu. Selain itu, jelaskan kepada pemangku kepentingan dan pengambil keputusan tentang proses-proses tersebut.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akhirnya, kamu bisa melembagakan proses, menguji pendekatan, mencapai keberhasilan kecil, kemudian memodifikasi dan membuat skala pendekatan kamu.</a:t>
            </a:r>
            <a:endParaRPr sz="1200">
              <a:solidFill>
                <a:schemeClr val="dk1"/>
              </a:solidFill>
              <a:latin typeface="Montserrat Medium"/>
              <a:ea typeface="Montserrat Medium"/>
              <a:cs typeface="Montserrat Medium"/>
              <a:sym typeface="Montserrat Medium"/>
            </a:endParaRPr>
          </a:p>
        </p:txBody>
      </p:sp>
      <p:pic>
        <p:nvPicPr>
          <p:cNvPr id="700" name="Google Shape;700;p95"/>
          <p:cNvPicPr preferRelativeResize="0"/>
          <p:nvPr/>
        </p:nvPicPr>
        <p:blipFill>
          <a:blip r:embed="rId3">
            <a:alphaModFix/>
          </a:blip>
          <a:stretch>
            <a:fillRect/>
          </a:stretch>
        </p:blipFill>
        <p:spPr>
          <a:xfrm>
            <a:off x="5452109" y="914400"/>
            <a:ext cx="2554591" cy="37338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9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06" name="Google Shape;706;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707" name="Google Shape;707;p96"/>
          <p:cNvSpPr txBox="1"/>
          <p:nvPr/>
        </p:nvSpPr>
        <p:spPr>
          <a:xfrm>
            <a:off x="685800" y="1509750"/>
            <a:ext cx="4572000" cy="2339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Jadiii… sampai sini sudah kebayang kan, mengenai metode pengembangan perangkat lunak seperti apa?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Kalau sudah, barulah kamu sebagai UX desainer bisa </a:t>
            </a:r>
            <a:r>
              <a:rPr b="1" lang="en">
                <a:solidFill>
                  <a:schemeClr val="accent1"/>
                </a:solidFill>
                <a:latin typeface="Montserrat"/>
                <a:ea typeface="Montserrat"/>
                <a:cs typeface="Montserrat"/>
                <a:sym typeface="Montserrat"/>
              </a:rPr>
              <a:t>menentukan</a:t>
            </a:r>
            <a:r>
              <a:rPr b="1" lang="en">
                <a:solidFill>
                  <a:schemeClr val="lt1"/>
                </a:solidFill>
                <a:latin typeface="Montserrat"/>
                <a:ea typeface="Montserrat"/>
                <a:cs typeface="Montserrat"/>
                <a:sym typeface="Montserrat"/>
              </a:rPr>
              <a:t> </a:t>
            </a:r>
            <a:r>
              <a:rPr b="1" lang="en">
                <a:solidFill>
                  <a:srgbClr val="F2AB2F"/>
                </a:solidFill>
                <a:latin typeface="Montserrat"/>
                <a:ea typeface="Montserrat"/>
                <a:cs typeface="Montserrat"/>
                <a:sym typeface="Montserrat"/>
              </a:rPr>
              <a:t>proses UX yang cocok terhadap metodologi tersebut</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Jangan sampai lupa ya, gengs ~</a:t>
            </a:r>
            <a:endParaRPr b="1">
              <a:solidFill>
                <a:schemeClr val="lt1"/>
              </a:solidFill>
              <a:latin typeface="Montserrat"/>
              <a:ea typeface="Montserrat"/>
              <a:cs typeface="Montserrat"/>
              <a:sym typeface="Montserrat"/>
            </a:endParaRPr>
          </a:p>
        </p:txBody>
      </p:sp>
      <p:pic>
        <p:nvPicPr>
          <p:cNvPr id="708" name="Google Shape;708;p96"/>
          <p:cNvPicPr preferRelativeResize="0"/>
          <p:nvPr/>
        </p:nvPicPr>
        <p:blipFill>
          <a:blip r:embed="rId3">
            <a:alphaModFix/>
          </a:blip>
          <a:stretch>
            <a:fillRect/>
          </a:stretch>
        </p:blipFill>
        <p:spPr>
          <a:xfrm>
            <a:off x="5734038" y="775613"/>
            <a:ext cx="2019226" cy="3807986"/>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4" name="Google Shape;714;p97"/>
          <p:cNvSpPr txBox="1"/>
          <p:nvPr/>
        </p:nvSpPr>
        <p:spPr>
          <a:xfrm>
            <a:off x="914400" y="5533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715" name="Google Shape;715;p97"/>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9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21" name="Google Shape;721;p9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Jika persyaratan proyek cepat berubah, lingkungan tidak begitu terstruktur, maka metodologi pengembangan perangkat lunak yang cocok untuk digunakan adalah…</a:t>
            </a:r>
            <a:br>
              <a:rPr b="1" lang="en" sz="1600">
                <a:solidFill>
                  <a:schemeClr val="lt1"/>
                </a:solidFill>
                <a:latin typeface="Montserrat"/>
                <a:ea typeface="Montserrat"/>
                <a:cs typeface="Montserrat"/>
                <a:sym typeface="Montserrat"/>
              </a:rPr>
            </a:br>
            <a:endParaRPr sz="16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Agile</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Feature-driven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Waterfall</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9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27" name="Google Shape;727;p9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Jika persyaratan proyek cepat berubah, lingkungan tidak begitu terstruktur, maka metodologi pengembangan perangkat lunak yang cocok untuk digunakan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Agile</a:t>
            </a:r>
            <a:endParaRPr b="1" sz="1200">
              <a:solidFill>
                <a:srgbClr val="A667A5"/>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Feature-driven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Waterfall</a:t>
            </a:r>
            <a:endParaRPr sz="1200">
              <a:solidFill>
                <a:srgbClr val="A667A5"/>
              </a:solidFill>
              <a:latin typeface="Montserrat Medium"/>
              <a:ea typeface="Montserrat Medium"/>
              <a:cs typeface="Montserrat Medium"/>
              <a:sym typeface="Montserrat Medium"/>
            </a:endParaRPr>
          </a:p>
        </p:txBody>
      </p:sp>
      <p:sp>
        <p:nvSpPr>
          <p:cNvPr id="728" name="Google Shape;728;p99"/>
          <p:cNvSpPr/>
          <p:nvPr/>
        </p:nvSpPr>
        <p:spPr>
          <a:xfrm>
            <a:off x="685800" y="3643575"/>
            <a:ext cx="7772400" cy="6507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Agile adalah metodologi yang paling cocok untuk ini, developer pada lingkungan ini harus  sangat mandiri serta nyaman bekerja di lingkungan yang serba cepat dan tidak terstruktur.</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10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34" name="Google Shape;734;p10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Metodologi yang menekankan rasa hormat manusia, dan menjadikan komunikasi kunci untuk meningkatkan kolaborasi tim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Waterfall</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Feature-driven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Lean</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10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40" name="Google Shape;740;p10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Metodologi yang menekankan rasa hormat manusia, dan menjadikan komunikasi kunci untuk meningkatkan kolaborasi tim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Waterfall</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Feature-driven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Lean</a:t>
            </a:r>
            <a:endParaRPr b="1" sz="1200">
              <a:solidFill>
                <a:schemeClr val="lt1"/>
              </a:solidFill>
              <a:latin typeface="Montserrat"/>
              <a:ea typeface="Montserrat"/>
              <a:cs typeface="Montserrat"/>
              <a:sym typeface="Montserrat"/>
            </a:endParaRPr>
          </a:p>
        </p:txBody>
      </p:sp>
      <p:sp>
        <p:nvSpPr>
          <p:cNvPr id="741" name="Google Shape;741;p101"/>
          <p:cNvSpPr/>
          <p:nvPr/>
        </p:nvSpPr>
        <p:spPr>
          <a:xfrm>
            <a:off x="685800" y="3643575"/>
            <a:ext cx="7772400" cy="476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000">
                <a:solidFill>
                  <a:srgbClr val="733572"/>
                </a:solidFill>
                <a:latin typeface="Montserrat"/>
                <a:ea typeface="Montserrat"/>
                <a:cs typeface="Montserrat"/>
                <a:sym typeface="Montserrat"/>
              </a:rPr>
              <a:t>Metodologi lean sangat menekankan rasa hormat manusia, yang berarti komunikasi adalah kunci untuk meningkatkan kolaborasi tim.</a:t>
            </a:r>
            <a:endParaRPr b="1" sz="1000">
              <a:solidFill>
                <a:srgbClr val="733572"/>
              </a:solidFill>
              <a:latin typeface="Montserrat"/>
              <a:ea typeface="Montserrat"/>
              <a:cs typeface="Montserrat"/>
              <a:sym typeface="Montserrat"/>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0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47" name="Google Shape;747;p10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Jika  kamu </a:t>
            </a:r>
            <a:r>
              <a:rPr b="1" lang="en" sz="1600">
                <a:solidFill>
                  <a:schemeClr val="lt1"/>
                </a:solidFill>
                <a:latin typeface="Montserrat"/>
                <a:ea typeface="Montserrat"/>
                <a:cs typeface="Montserrat"/>
                <a:sym typeface="Montserrat"/>
              </a:rPr>
              <a:t>memiliki proyek dengan persyaratan tidak jelas tetapi perlu beradaptasi dengan perubahan yang sering terjadi, maka metodologi pengembangan perangkat lunak yang cocok untuk digunakan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Waterfall</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Scrum</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Dynamic Systems</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0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53" name="Google Shape;753;p10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Jika  kamu memiliki proyek dengan persyaratan tidak jelas tetapi perlu beradaptasi dengan perubahan yang sering terjadi, maka metodologi pengembangan perangkat lunak yang cocok untuk digunakan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Waterfall</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Scrum</a:t>
            </a:r>
            <a:endParaRPr b="1"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Dynamic Systems</a:t>
            </a:r>
            <a:endParaRPr sz="1200">
              <a:solidFill>
                <a:srgbClr val="A667A5"/>
              </a:solidFill>
              <a:latin typeface="Montserrat Medium"/>
              <a:ea typeface="Montserrat Medium"/>
              <a:cs typeface="Montserrat Medium"/>
              <a:sym typeface="Montserrat Medium"/>
            </a:endParaRPr>
          </a:p>
        </p:txBody>
      </p:sp>
      <p:sp>
        <p:nvSpPr>
          <p:cNvPr id="754" name="Google Shape;754;p103"/>
          <p:cNvSpPr/>
          <p:nvPr/>
        </p:nvSpPr>
        <p:spPr>
          <a:xfrm>
            <a:off x="685800" y="3872175"/>
            <a:ext cx="7772400" cy="690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Scrum adalah metodologi yang tepat jika kamu memiliki proyek dengan persyaratan tidak jelas tetapi perlu beradaptasi dengan perubahan yang sering terjadi. Misalnya, kamu perlu membuat MVP dengan cepat dan mengujinya di antara pengguna.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0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60" name="Google Shape;760;p10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alasan untuk menggunakan metodologi </a:t>
            </a:r>
            <a:r>
              <a:rPr b="1" lang="en" sz="1600">
                <a:solidFill>
                  <a:schemeClr val="lt1"/>
                </a:solidFill>
                <a:latin typeface="Montserrat"/>
                <a:ea typeface="Montserrat"/>
                <a:cs typeface="Montserrat"/>
                <a:sym typeface="Montserrat"/>
              </a:rPr>
              <a:t>Feature Driven</a:t>
            </a:r>
            <a:r>
              <a:rPr b="1" lang="en" sz="1600">
                <a:solidFill>
                  <a:schemeClr val="lt1"/>
                </a:solidFill>
                <a:latin typeface="Montserrat"/>
                <a:ea typeface="Montserrat"/>
                <a:cs typeface="Montserrat"/>
                <a:sym typeface="Montserrat"/>
              </a:rPr>
              <a:t>, kecuali…</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Organisasi yang besar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Proyek yang kompleks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Tidak iteratif</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0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66" name="Google Shape;766;p10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Berikut adalah beberapa alasan untuk menggunakan metodologi Feature Driven, kecuali…</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Organisasi yang besar</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Proyek yang kompleks</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Tidak iteratif</a:t>
            </a:r>
            <a:endParaRPr b="1" sz="1200">
              <a:solidFill>
                <a:schemeClr val="lt1"/>
              </a:solidFill>
              <a:latin typeface="Montserrat"/>
              <a:ea typeface="Montserrat"/>
              <a:cs typeface="Montserrat"/>
              <a:sym typeface="Montserrat"/>
            </a:endParaRPr>
          </a:p>
        </p:txBody>
      </p:sp>
      <p:sp>
        <p:nvSpPr>
          <p:cNvPr id="767" name="Google Shape;767;p105"/>
          <p:cNvSpPr/>
          <p:nvPr/>
        </p:nvSpPr>
        <p:spPr>
          <a:xfrm>
            <a:off x="685800" y="3338775"/>
            <a:ext cx="7772400" cy="10503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Apa yang dilakukan Pengembangan Berbasis Fitur adalah memecah aktivitas pengembangan menjadi daftar fitur pada model keseluruhan. Untuk setiap fitur, pengembang melakukan iterasi perencanaan, perancangan, dan pembangunan. Biasanya sebuah fitur membutuhkan waktu tidak lebih dari dua minggu untuk diselesaikan</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0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73" name="Google Shape;773;p10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alasan untuk </a:t>
            </a:r>
            <a:r>
              <a:rPr b="1" lang="en" sz="1600">
                <a:solidFill>
                  <a:schemeClr val="lt1"/>
                </a:solidFill>
                <a:latin typeface="Montserrat"/>
                <a:ea typeface="Montserrat"/>
                <a:cs typeface="Montserrat"/>
                <a:sym typeface="Montserrat"/>
              </a:rPr>
              <a:t>menggunakan UX for Waterfall,</a:t>
            </a:r>
            <a:r>
              <a:rPr b="1" lang="en" sz="1600">
                <a:solidFill>
                  <a:schemeClr val="lt1"/>
                </a:solidFill>
                <a:latin typeface="Montserrat"/>
                <a:ea typeface="Montserrat"/>
                <a:cs typeface="Montserrat"/>
                <a:sym typeface="Montserrat"/>
              </a:rPr>
              <a:t> kecuali…</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Lingkup proyeknya kecil.</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Tim memiliki pengalaman yang baik dalam melaksanakan proyek serupa.</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Persyaratannya stabil dan tetap.</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10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79" name="Google Shape;779;p10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Berikut adalah beberapa alasan untuk menggunakan UX for Waterfall, kecuali…</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Lingkup proyeknya kecil.</a:t>
            </a:r>
            <a:endParaRPr b="1"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Tim memiliki pengalaman yang baik dalam melaksanakan proyek serupa.</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Persyaratannya stabil dan tetap.</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rgbClr val="A667A5"/>
              </a:solidFill>
              <a:latin typeface="Montserrat Medium"/>
              <a:ea typeface="Montserrat Medium"/>
              <a:cs typeface="Montserrat Medium"/>
              <a:sym typeface="Montserrat Medium"/>
            </a:endParaRPr>
          </a:p>
        </p:txBody>
      </p:sp>
      <p:sp>
        <p:nvSpPr>
          <p:cNvPr id="780" name="Google Shape;780;p107"/>
          <p:cNvSpPr/>
          <p:nvPr/>
        </p:nvSpPr>
        <p:spPr>
          <a:xfrm>
            <a:off x="685800" y="3338775"/>
            <a:ext cx="7772400" cy="5238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UX for Waterfall lebih cocok untuk digunakan pada lingkup proyek yang cukup besar dengan tim berpengalaman terhadap teknologinya.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0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86" name="Google Shape;786;p10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Menurut kamu, pernyataan yang tepat terkait Lean UX adalah…</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Desain partisipatif dan berulang yang memastikan partisipasi setara oleh anggota tim desain dan pengembangan dan menghasilkan banyak ide dan solusi yang mungkin untuk masalah.</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Pendekatan desain yang berfokus pada pengembangan dan garis waktu. Proses ini juga mewujudkan pendekatan pengembangan bertahap dan berkala untuk memecahkan masalah.</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Pendekatan desain</a:t>
            </a:r>
            <a:r>
              <a:rPr lang="en" sz="1200">
                <a:solidFill>
                  <a:schemeClr val="lt1"/>
                </a:solidFill>
                <a:latin typeface="Montserrat Medium"/>
                <a:ea typeface="Montserrat Medium"/>
                <a:cs typeface="Montserrat Medium"/>
                <a:sym typeface="Montserrat Medium"/>
              </a:rPr>
              <a:t> perangkat lunak kanonik, sekuensial, linier di mana tidak ada fleksibilitas untuk mengulangi desain atau pengembangan. </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0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92" name="Google Shape;792;p10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lt1"/>
                </a:solidFill>
                <a:latin typeface="Montserrat"/>
                <a:ea typeface="Montserrat"/>
                <a:cs typeface="Montserrat"/>
                <a:sym typeface="Montserrat"/>
              </a:rPr>
              <a:t> Menurut kamu, p</a:t>
            </a:r>
            <a:r>
              <a:rPr b="1" lang="en" sz="1600">
                <a:solidFill>
                  <a:schemeClr val="lt1"/>
                </a:solidFill>
                <a:latin typeface="Montserrat"/>
                <a:ea typeface="Montserrat"/>
                <a:cs typeface="Montserrat"/>
                <a:sym typeface="Montserrat"/>
              </a:rPr>
              <a:t>ernyataan yang tepat terkait Lean UX adalah… </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Desain partisipatif dan berulang yang memastikan partisipasi setara oleh anggota tim desain dan pengembangan dan menghasilkan banyak ide dan solusi yang mungkin untuk masalah.</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Pendekatan desain yang berfokus pada pengembangan dan garis waktu. Proses ini juga mewujudkan pendekatan pengembangan bertahap dan berkala untuk memecahkan masalah.</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Pendekatan desain perangkat lunak kanonik, sekuensial, linier di mana tidak ada fleksibilitas untuk mengulangi desain atau pengembangan. </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rgbClr val="A667A5"/>
              </a:solidFill>
              <a:latin typeface="Montserrat Medium"/>
              <a:ea typeface="Montserrat Medium"/>
              <a:cs typeface="Montserrat Medium"/>
              <a:sym typeface="Montserrat Medium"/>
            </a:endParaRPr>
          </a:p>
        </p:txBody>
      </p:sp>
      <p:sp>
        <p:nvSpPr>
          <p:cNvPr id="793" name="Google Shape;793;p109"/>
          <p:cNvSpPr/>
          <p:nvPr/>
        </p:nvSpPr>
        <p:spPr>
          <a:xfrm>
            <a:off x="685800" y="3820850"/>
            <a:ext cx="7772400" cy="8643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Lean UX mengikuti proses desain partisipatif dan berulang yang memastikan partisipasi setara oleh anggota tim desain dan pengembangan serta menghasilkan banyak ide dan solusi yang mungkin untuk masalah.</a:t>
            </a:r>
            <a:endParaRPr b="1" sz="1200">
              <a:solidFill>
                <a:srgbClr val="733572"/>
              </a:solidFill>
              <a:latin typeface="Montserrat"/>
              <a:ea typeface="Montserrat"/>
              <a:cs typeface="Montserrat"/>
              <a:sym typeface="Montserrat"/>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1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9" name="Google Shape;799;p11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800" name="Google Shape;800;p11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801" name="Google Shape;801;p110"/>
          <p:cNvSpPr txBox="1"/>
          <p:nvPr/>
        </p:nvSpPr>
        <p:spPr>
          <a:xfrm>
            <a:off x="685800" y="1707602"/>
            <a:ext cx="4114800" cy="1728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Montserrat"/>
                <a:ea typeface="Montserrat"/>
                <a:cs typeface="Montserrat"/>
                <a:sym typeface="Montserrat"/>
              </a:rPr>
              <a:t>Referensi dan bacaan lebih lanjut</a:t>
            </a:r>
            <a:endParaRPr b="1" sz="18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4">
                  <a:extLst>
                    <a:ext uri="{A12FA001-AC4F-418D-AE19-62706E023703}">
                      <ahyp:hlinkClr val="tx"/>
                    </a:ext>
                  </a:extLst>
                </a:hlinkClick>
              </a:rPr>
              <a:t>Choosing the Right UX Process for Your Software-Development Model by UX Matters</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5">
                  <a:extLst>
                    <a:ext uri="{A12FA001-AC4F-418D-AE19-62706E023703}">
                      <ahyp:hlinkClr val="tx"/>
                    </a:ext>
                  </a:extLst>
                </a:hlinkClick>
              </a:rPr>
              <a:t>8 Best Software Development Methodologies by Uptech</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6">
                  <a:extLst>
                    <a:ext uri="{A12FA001-AC4F-418D-AE19-62706E023703}">
                      <ahyp:hlinkClr val="tx"/>
                    </a:ext>
                  </a:extLst>
                </a:hlinkClick>
              </a:rPr>
              <a:t>Best practices for applying Scrum to UX design by Lucidspark</a:t>
            </a:r>
            <a:r>
              <a:rPr lang="en" sz="1000" u="sng">
                <a:solidFill>
                  <a:schemeClr val="dk1"/>
                </a:solidFill>
                <a:latin typeface="Montserrat Medium"/>
                <a:ea typeface="Montserrat Medium"/>
                <a:cs typeface="Montserrat Medium"/>
                <a:sym typeface="Montserrat Medium"/>
              </a:rPr>
              <a:t> </a:t>
            </a:r>
            <a:endParaRPr sz="1000" u="sng">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7">
                  <a:extLst>
                    <a:ext uri="{A12FA001-AC4F-418D-AE19-62706E023703}">
                      <ahyp:hlinkClr val="tx"/>
                    </a:ext>
                  </a:extLst>
                </a:hlinkClick>
              </a:rPr>
              <a:t>The UX Runway - Integrating UX, Lean and Scrum Cohesively by Methodsandtools</a:t>
            </a:r>
            <a:endParaRPr sz="1000" u="sng">
              <a:solidFill>
                <a:schemeClr val="dk1"/>
              </a:solidFill>
              <a:latin typeface="Montserrat Medium"/>
              <a:ea typeface="Montserrat Medium"/>
              <a:cs typeface="Montserrat Medium"/>
              <a:sym typeface="Montserrat Medium"/>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11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07" name="Google Shape;807;p11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808" name="Google Shape;808;p111"/>
          <p:cNvSpPr txBox="1"/>
          <p:nvPr/>
        </p:nvSpPr>
        <p:spPr>
          <a:xfrm>
            <a:off x="685800" y="1617450"/>
            <a:ext cx="49731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sampai sini dulu pembahasan kita mengenai </a:t>
            </a:r>
            <a:r>
              <a:rPr b="1" lang="en">
                <a:solidFill>
                  <a:srgbClr val="F2AB2F"/>
                </a:solidFill>
                <a:latin typeface="Montserrat"/>
                <a:ea typeface="Montserrat"/>
                <a:cs typeface="Montserrat"/>
                <a:sym typeface="Montserrat"/>
              </a:rPr>
              <a:t>metodologi pengembangan perangkat lunak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Di pertemuan selanjutnya, kita akan mengulas tentang </a:t>
            </a:r>
            <a:r>
              <a:rPr b="1" lang="en">
                <a:solidFill>
                  <a:srgbClr val="F2AB2F"/>
                </a:solidFill>
                <a:latin typeface="Montserrat"/>
                <a:ea typeface="Montserrat"/>
                <a:cs typeface="Montserrat"/>
                <a:sym typeface="Montserrat"/>
              </a:rPr>
              <a:t>Scrum</a:t>
            </a:r>
            <a:r>
              <a:rPr b="1" lang="en">
                <a:solidFill>
                  <a:schemeClr val="lt1"/>
                </a:solidFill>
                <a:latin typeface="Montserrat"/>
                <a:ea typeface="Montserrat"/>
                <a:cs typeface="Montserrat"/>
                <a:sym typeface="Montserrat"/>
              </a:rPr>
              <a:t> lebih dalam lagi. Udah nggak sabar kan?</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Yuhuuu, sampai ketemu </a:t>
            </a:r>
            <a:r>
              <a:rPr b="1" lang="en">
                <a:solidFill>
                  <a:schemeClr val="lt1"/>
                </a:solidFill>
                <a:latin typeface="Montserrat"/>
                <a:ea typeface="Montserrat"/>
                <a:cs typeface="Montserrat"/>
                <a:sym typeface="Montserrat"/>
              </a:rPr>
              <a:t>di materi</a:t>
            </a:r>
            <a:r>
              <a:rPr b="1" lang="en">
                <a:solidFill>
                  <a:schemeClr val="lt1"/>
                </a:solidFill>
                <a:latin typeface="Montserrat"/>
                <a:ea typeface="Montserrat"/>
                <a:cs typeface="Montserrat"/>
                <a:sym typeface="Montserrat"/>
              </a:rPr>
              <a:t> berikutnya yaa ~</a:t>
            </a:r>
            <a:endParaRPr b="1">
              <a:solidFill>
                <a:schemeClr val="lt1"/>
              </a:solidFill>
              <a:latin typeface="Montserrat"/>
              <a:ea typeface="Montserrat"/>
              <a:cs typeface="Montserrat"/>
              <a:sym typeface="Montserrat"/>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12" name="Shape 812"/>
        <p:cNvGrpSpPr/>
        <p:nvPr/>
      </p:nvGrpSpPr>
      <p:grpSpPr>
        <a:xfrm>
          <a:off x="0" y="0"/>
          <a:ext cx="0" cy="0"/>
          <a:chOff x="0" y="0"/>
          <a:chExt cx="0" cy="0"/>
        </a:xfrm>
      </p:grpSpPr>
      <p:sp>
        <p:nvSpPr>
          <p:cNvPr id="813" name="Google Shape;813;p112"/>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4" name="Google Shape;814;p112"/>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815" name="Google Shape;815;p112"/>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816" name="Google Shape;816;p112"/>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817" name="Google Shape;817;p112"/>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