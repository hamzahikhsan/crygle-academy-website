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 id="214748367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Lst>
  <p:sldSz cy="5143500" cx="9144000"/>
  <p:notesSz cx="6858000" cy="9144000"/>
  <p:embeddedFontLst>
    <p:embeddedFont>
      <p:font typeface="Raleway"/>
      <p:regular r:id="rId75"/>
      <p:bold r:id="rId76"/>
      <p:italic r:id="rId77"/>
      <p:boldItalic r:id="rId78"/>
    </p:embeddedFont>
    <p:embeddedFont>
      <p:font typeface="Montserrat"/>
      <p:regular r:id="rId79"/>
      <p:bold r:id="rId80"/>
      <p:italic r:id="rId81"/>
      <p:boldItalic r:id="rId82"/>
    </p:embeddedFont>
    <p:embeddedFont>
      <p:font typeface="Montserrat Medium"/>
      <p:regular r:id="rId83"/>
      <p:bold r:id="rId84"/>
      <p:italic r:id="rId85"/>
      <p:boldItalic r:id="rId86"/>
    </p:embeddedFont>
    <p:embeddedFont>
      <p:font typeface="Lato Black"/>
      <p:bold r:id="rId87"/>
      <p:boldItalic r:id="rId8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MontserratMedium-bold.fntdata"/><Relationship Id="rId83" Type="http://schemas.openxmlformats.org/officeDocument/2006/relationships/font" Target="fonts/MontserratMedium-regular.fntdata"/><Relationship Id="rId42" Type="http://schemas.openxmlformats.org/officeDocument/2006/relationships/slide" Target="slides/slide36.xml"/><Relationship Id="rId86" Type="http://schemas.openxmlformats.org/officeDocument/2006/relationships/font" Target="fonts/MontserratMedium-boldItalic.fntdata"/><Relationship Id="rId41" Type="http://schemas.openxmlformats.org/officeDocument/2006/relationships/slide" Target="slides/slide35.xml"/><Relationship Id="rId85" Type="http://schemas.openxmlformats.org/officeDocument/2006/relationships/font" Target="fonts/MontserratMedium-italic.fntdata"/><Relationship Id="rId44" Type="http://schemas.openxmlformats.org/officeDocument/2006/relationships/slide" Target="slides/slide38.xml"/><Relationship Id="rId88" Type="http://schemas.openxmlformats.org/officeDocument/2006/relationships/font" Target="fonts/LatoBlack-boldItalic.fntdata"/><Relationship Id="rId43" Type="http://schemas.openxmlformats.org/officeDocument/2006/relationships/slide" Target="slides/slide37.xml"/><Relationship Id="rId87" Type="http://schemas.openxmlformats.org/officeDocument/2006/relationships/font" Target="fonts/LatoBlack-bold.fntdata"/><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Montserrat-bold.fntdata"/><Relationship Id="rId82" Type="http://schemas.openxmlformats.org/officeDocument/2006/relationships/font" Target="fonts/Montserrat-boldItalic.fntdata"/><Relationship Id="rId81" Type="http://schemas.openxmlformats.org/officeDocument/2006/relationships/font" Target="fonts/Montserrat-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font" Target="fonts/Raleway-regular.fntdata"/><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font" Target="fonts/Raleway-italic.fntdata"/><Relationship Id="rId32" Type="http://schemas.openxmlformats.org/officeDocument/2006/relationships/slide" Target="slides/slide26.xml"/><Relationship Id="rId76" Type="http://schemas.openxmlformats.org/officeDocument/2006/relationships/font" Target="fonts/Raleway-bold.fntdata"/><Relationship Id="rId35" Type="http://schemas.openxmlformats.org/officeDocument/2006/relationships/slide" Target="slides/slide29.xml"/><Relationship Id="rId79" Type="http://schemas.openxmlformats.org/officeDocument/2006/relationships/font" Target="fonts/Montserrat-regular.fntdata"/><Relationship Id="rId34" Type="http://schemas.openxmlformats.org/officeDocument/2006/relationships/slide" Target="slides/slide28.xml"/><Relationship Id="rId78" Type="http://schemas.openxmlformats.org/officeDocument/2006/relationships/font" Target="fonts/Raleway-boldItalic.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octadan?utm_source=unsplash&amp;utm_medium=referral&amp;utm_content=creditCopyText" TargetMode="External"/><Relationship Id="rId3" Type="http://schemas.openxmlformats.org/officeDocument/2006/relationships/hyperlink" Target="https://unsplash.com/@octadan?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octadan?utm_source=unsplash&amp;utm_medium=referral&amp;utm_content=creditCopyText" TargetMode="External"/><Relationship Id="rId3" Type="http://schemas.openxmlformats.org/officeDocument/2006/relationships/hyperlink" Target="https://unsplash.com/@octadan?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kuswinkler?utm_source=unsplash&amp;utm_medium=referral&amp;utm_content=creditCopyText" TargetMode="External"/><Relationship Id="rId3" Type="http://schemas.openxmlformats.org/officeDocument/2006/relationships/hyperlink" Target="https://unsplash.com/@markuswinkler?utm_source=unsplash&amp;utm_medium=referral&amp;utm_content=creditCopyText" TargetMode="External"/><Relationship Id="rId4" Type="http://schemas.openxmlformats.org/officeDocument/2006/relationships/hyperlink" Target="https://unsplash.com/s/photos/project?utm_source=unsplash&amp;utm_medium=referral&amp;utm_content=creditCopyText" TargetMode="External"/><Relationship Id="rId5" Type="http://schemas.openxmlformats.org/officeDocument/2006/relationships/hyperlink" Target="https://unsplash.com/s/photos/project?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kuswinkler?utm_source=unsplash&amp;utm_medium=referral&amp;utm_content=creditCopyText" TargetMode="External"/><Relationship Id="rId3" Type="http://schemas.openxmlformats.org/officeDocument/2006/relationships/hyperlink" Target="https://unsplash.com/@markuswinkler?utm_source=unsplash&amp;utm_medium=referral&amp;utm_content=creditCopyText" TargetMode="External"/><Relationship Id="rId4" Type="http://schemas.openxmlformats.org/officeDocument/2006/relationships/hyperlink" Target="https://unsplash.com/s/photos/project?utm_source=unsplash&amp;utm_medium=referral&amp;utm_content=creditCopyText" TargetMode="External"/><Relationship Id="rId5" Type="http://schemas.openxmlformats.org/officeDocument/2006/relationships/hyperlink" Target="https://unsplash.com/s/photos/project?utm_source=unsplash&amp;utm_medium=referral&amp;utm_content=creditCopyText"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ye_haych?utm_source=unsplash&amp;utm_medium=referral&amp;utm_content=creditCopyText" TargetMode="External"/><Relationship Id="rId3" Type="http://schemas.openxmlformats.org/officeDocument/2006/relationships/hyperlink" Target="https://unsplash.com/@jaye_haych?utm_source=unsplash&amp;utm_medium=referral&amp;utm_content=creditCopyText" TargetMode="External"/><Relationship Id="rId4" Type="http://schemas.openxmlformats.org/officeDocument/2006/relationships/hyperlink" Target="https://unsplash.com/s/photos/key?utm_source=unsplash&amp;utm_medium=referral&amp;utm_content=creditCopyText" TargetMode="External"/><Relationship Id="rId5" Type="http://schemas.openxmlformats.org/officeDocument/2006/relationships/hyperlink" Target="https://unsplash.com/s/photos/key?utm_source=unsplash&amp;utm_medium=referral&amp;utm_content=creditCopyText"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ragonflyave?utm_source=unsplash&amp;utm_medium=referral&amp;utm_content=creditCopyText" TargetMode="External"/><Relationship Id="rId3" Type="http://schemas.openxmlformats.org/officeDocument/2006/relationships/hyperlink" Target="https://unsplash.com/@dragonflyave?utm_source=unsplash&amp;utm_medium=referral&amp;utm_content=creditCopyText" TargetMode="External"/><Relationship Id="rId4" Type="http://schemas.openxmlformats.org/officeDocument/2006/relationships/hyperlink" Target="https://unsplash.com/s/photos/key?utm_source=unsplash&amp;utm_medium=referral&amp;utm_content=creditCopyText" TargetMode="External"/><Relationship Id="rId5" Type="http://schemas.openxmlformats.org/officeDocument/2006/relationships/hyperlink" Target="https://unsplash.com/s/photos/key?utm_source=unsplash&amp;utm_medium=referral&amp;utm_content=creditCopyTex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ragonflyave?utm_source=unsplash&amp;utm_medium=referral&amp;utm_content=creditCopyText" TargetMode="External"/><Relationship Id="rId3" Type="http://schemas.openxmlformats.org/officeDocument/2006/relationships/hyperlink" Target="https://unsplash.com/@dragonflyave?utm_source=unsplash&amp;utm_medium=referral&amp;utm_content=creditCopyText" TargetMode="External"/><Relationship Id="rId4" Type="http://schemas.openxmlformats.org/officeDocument/2006/relationships/hyperlink" Target="https://unsplash.com/s/photos/key?utm_source=unsplash&amp;utm_medium=referral&amp;utm_content=creditCopyText" TargetMode="External"/><Relationship Id="rId5" Type="http://schemas.openxmlformats.org/officeDocument/2006/relationships/hyperlink" Target="https://unsplash.com/s/photos/key?utm_source=unsplash&amp;utm_medium=referral&amp;utm_content=creditCopyText"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ui%2Fux-designers?utm_source=unsplash&amp;utm_medium=referral&amp;utm_content=creditCopyText" TargetMode="External"/><Relationship Id="rId5" Type="http://schemas.openxmlformats.org/officeDocument/2006/relationships/hyperlink" Target="https://unsplash.com/s/photos/ui%2Fux-designers?utm_source=unsplash&amp;utm_medium=referral&amp;utm_content=creditCopyText"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ui%2Fux-designers?utm_source=unsplash&amp;utm_medium=referral&amp;utm_content=creditCopyText" TargetMode="External"/><Relationship Id="rId5" Type="http://schemas.openxmlformats.org/officeDocument/2006/relationships/hyperlink" Target="https://unsplash.com/s/photos/ui%2Fux-designers?utm_source=unsplash&amp;utm_medium=referral&amp;utm_content=creditCopyText"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ui%2Fux-designers?utm_source=unsplash&amp;utm_medium=referral&amp;utm_content=creditCopyText" TargetMode="External"/><Relationship Id="rId5" Type="http://schemas.openxmlformats.org/officeDocument/2006/relationships/hyperlink" Target="https://unsplash.com/s/photos/ui%2Fux-designers?utm_source=unsplash&amp;utm_medium=referral&amp;utm_content=creditCopyText"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ragonflyave?utm_source=unsplash&amp;utm_medium=referral&amp;utm_content=creditCopyText" TargetMode="External"/><Relationship Id="rId3" Type="http://schemas.openxmlformats.org/officeDocument/2006/relationships/hyperlink" Target="https://unsplash.com/@dragonflyave?utm_source=unsplash&amp;utm_medium=referral&amp;utm_content=creditCopyText" TargetMode="External"/><Relationship Id="rId4" Type="http://schemas.openxmlformats.org/officeDocument/2006/relationships/hyperlink" Target="https://unsplash.com/s/photos/key?utm_source=unsplash&amp;utm_medium=referral&amp;utm_content=creditCopyText" TargetMode="External"/><Relationship Id="rId5" Type="http://schemas.openxmlformats.org/officeDocument/2006/relationships/hyperlink" Target="https://unsplash.com/s/photos/key?utm_source=unsplash&amp;utm_medium=referral&amp;utm_content=creditCopyText"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ragonflyave?utm_source=unsplash&amp;utm_medium=referral&amp;utm_content=creditCopyText" TargetMode="External"/><Relationship Id="rId3" Type="http://schemas.openxmlformats.org/officeDocument/2006/relationships/hyperlink" Target="https://unsplash.com/@dragonflyave?utm_source=unsplash&amp;utm_medium=referral&amp;utm_content=creditCopyText" TargetMode="External"/><Relationship Id="rId4" Type="http://schemas.openxmlformats.org/officeDocument/2006/relationships/hyperlink" Target="https://unsplash.com/s/photos/key?utm_source=unsplash&amp;utm_medium=referral&amp;utm_content=creditCopyText" TargetMode="External"/><Relationship Id="rId5" Type="http://schemas.openxmlformats.org/officeDocument/2006/relationships/hyperlink" Target="https://unsplash.com/s/photos/key?utm_source=unsplash&amp;utm_medium=referral&amp;utm_content=creditCopyText"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communication?utm_source=unsplash&amp;utm_medium=referral&amp;utm_content=creditCopyText" TargetMode="External"/><Relationship Id="rId5" Type="http://schemas.openxmlformats.org/officeDocument/2006/relationships/hyperlink" Target="https://unsplash.com/s/photos/communication?utm_source=unsplash&amp;utm_medium=referral&amp;utm_content=creditCopyText"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communication?utm_source=unsplash&amp;utm_medium=referral&amp;utm_content=creditCopyText" TargetMode="External"/><Relationship Id="rId5" Type="http://schemas.openxmlformats.org/officeDocument/2006/relationships/hyperlink" Target="https://unsplash.com/s/photos/communication?utm_source=unsplash&amp;utm_medium=referral&amp;utm_content=creditCopyText"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tinadams?utm_source=unsplash&amp;utm_medium=referral&amp;utm_content=creditCopyText" TargetMode="External"/><Relationship Id="rId3" Type="http://schemas.openxmlformats.org/officeDocument/2006/relationships/hyperlink" Target="https://unsplash.com/@martinadams?utm_source=unsplash&amp;utm_medium=referral&amp;utm_content=creditCopyText" TargetMode="External"/><Relationship Id="rId4" Type="http://schemas.openxmlformats.org/officeDocument/2006/relationships/hyperlink" Target="https://unsplash.com/s/photos/knowledge?utm_source=unsplash&amp;utm_medium=referral&amp;utm_content=creditCopyText" TargetMode="External"/><Relationship Id="rId5" Type="http://schemas.openxmlformats.org/officeDocument/2006/relationships/hyperlink" Target="https://unsplash.com/s/photos/knowledge?utm_source=unsplash&amp;utm_medium=referral&amp;utm_content=creditCopyText"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trello?utm_source=unsplash&amp;utm_medium=referral&amp;utm_content=creditCopyText" TargetMode="External"/><Relationship Id="rId5" Type="http://schemas.openxmlformats.org/officeDocument/2006/relationships/hyperlink" Target="https://unsplash.com/s/photos/trello?utm_source=unsplash&amp;utm_medium=referral&amp;utm_content=creditCopyText"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trello?utm_source=unsplash&amp;utm_medium=referral&amp;utm_content=creditCopyText" TargetMode="External"/><Relationship Id="rId5" Type="http://schemas.openxmlformats.org/officeDocument/2006/relationships/hyperlink" Target="https://unsplash.com/s/photos/trello?utm_source=unsplash&amp;utm_medium=referral&amp;utm_content=creditCopyText"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trello?utm_source=unsplash&amp;utm_medium=referral&amp;utm_content=creditCopyText" TargetMode="External"/><Relationship Id="rId5" Type="http://schemas.openxmlformats.org/officeDocument/2006/relationships/hyperlink" Target="https://unsplash.com/s/photos/trello?utm_source=unsplash&amp;utm_medium=referral&amp;utm_content=creditCopyText"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ui%2Fux-designers?utm_source=unsplash&amp;utm_medium=referral&amp;utm_content=creditCopyText" TargetMode="External"/><Relationship Id="rId5" Type="http://schemas.openxmlformats.org/officeDocument/2006/relationships/hyperlink" Target="https://unsplash.com/s/photos/ui%2Fux-designers?utm_source=unsplash&amp;utm_medium=referral&amp;utm_content=creditCopyText"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ui%2Fux-designers?utm_source=unsplash&amp;utm_medium=referral&amp;utm_content=creditCopyText" TargetMode="External"/><Relationship Id="rId5" Type="http://schemas.openxmlformats.org/officeDocument/2006/relationships/hyperlink" Target="https://unsplash.com/s/photos/ui%2Fux-designers?utm_source=unsplash&amp;utm_medium=referral&amp;utm_content=creditCopyText"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23c4b10087_0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23c4b10087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25230dc44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25230dc44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25230dc44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25230dc44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23c4b10087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23c4b10087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23c4b10087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23c4b10087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23c4b10087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23c4b10087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Octavian Dan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23c4b10087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23c4b10087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252913a25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252913a258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252913a25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252913a25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Octavian Dan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23c4b10087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23c4b10087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23c4b10087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23c4b10087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252913a25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252913a25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23c4b10087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23c4b10087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23c4b10087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23c4b10087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252913a258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252913a258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252913a258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252913a258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23c4b10087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23c4b10087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252913a258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252913a25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23c4b10087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23c4b10087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1252913a258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1252913a258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252913a258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252913a258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23c4b10087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23c4b10087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23c4b10087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123c4b10087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23c4b10087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123c4b10087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Markus Winkler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2237adf58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12237adf58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Markus Winkler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12237adf58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12237adf58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23c4b10087_0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123c4b10087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2237adf58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12237adf58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23c4b10087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23c4b10087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Jaye Haych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23c4b10087_0_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123c4b10087_0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Dragonfly Ave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2237adf58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2237adf58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Dragonfly Ave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123c4b10087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123c4b10087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23c4b10087_0_6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123c4b10087_0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1257d32d8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1257d32d8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23c4b10087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23c4b10087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123c4b10087_0_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123c4b10087_0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Dragonfly Ave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257d32d88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1257d32d88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Dragonfly Ave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123c4b10087_0_6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123c4b10087_0_6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1257d32d88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1257d32d88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123c4b10087_0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123c4b10087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Martin Adams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123c4b10087_0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123c4b10087_0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1257d32d88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1257d32d88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123c4b10087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123c4b10087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123c4b10087_0_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123c4b10087_0_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1257d32d88e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1257d32d88e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123c4b10087_0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123c4b10087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123c4b10087_0_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123c4b10087_0_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12b0284af0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12b0284af0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123c4b10087_0_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123c4b10087_0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1257d32d88e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1257d32d88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123c4b10087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123c4b10087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123c4b10087_0_7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123c4b10087_0_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1257d32d88e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1257d32d88e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123c4b10087_0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123c4b10087_0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1257d32d88e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1257d32d88e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123c4b10087_0_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123c4b10087_0_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123c4b10087_0_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123c4b10087_0_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1257d32d88e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1257d32d88e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123c4b10087_0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123c4b10087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https://thedigitalprojectmanager.com/tools/what-is-monday-overview/</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1257d32d88e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1257d32d88e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https://thedigitalprojectmanager.com/tools/what-is-monday-overview/</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123c4b10087_0_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123c4b10087_0_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123c4b10087_0_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123c4b10087_0_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1257d32d88e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1257d32d88e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123c4b10087_0_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123c4b10087_0_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https://medium.com/gigaom/dropbox-spaces-and-dropbox-paper-not-totally-integrated-yet-a37d3c0f5d90</a:t>
            </a:r>
            <a:endParaRPr>
              <a:solidFill>
                <a:schemeClr val="dk1"/>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12be125f8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12be125f8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123c4b10087_0_8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123c4b10087_0_8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125230dc44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125230dc44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123c4b10087_0_8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123c4b10087_0_8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54" name="Shape 54"/>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55" name="Shape 55"/>
        <p:cNvGrpSpPr/>
        <p:nvPr/>
      </p:nvGrpSpPr>
      <p:grpSpPr>
        <a:xfrm>
          <a:off x="0" y="0"/>
          <a:ext cx="0" cy="0"/>
          <a:chOff x="0" y="0"/>
          <a:chExt cx="0" cy="0"/>
        </a:xfrm>
      </p:grpSpPr>
      <p:sp>
        <p:nvSpPr>
          <p:cNvPr id="56" name="Google Shape;56;p15"/>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7" name="Google Shape;57;p1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16"/>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0" name="Google Shape;60;p16"/>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61" name="Google Shape;61;p16"/>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2" name="Google Shape;62;p16"/>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3" name="Google Shape;63;p16"/>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4" name="Google Shape;64;p16"/>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5" name="Google Shape;65;p16"/>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6" name="Google Shape;66;p16"/>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67" name="Google Shape;67;p16"/>
          <p:cNvGrpSpPr/>
          <p:nvPr/>
        </p:nvGrpSpPr>
        <p:grpSpPr>
          <a:xfrm>
            <a:off x="283668" y="259895"/>
            <a:ext cx="226001" cy="222980"/>
            <a:chOff x="283668" y="251687"/>
            <a:chExt cx="226001" cy="222980"/>
          </a:xfrm>
        </p:grpSpPr>
        <p:sp>
          <p:nvSpPr>
            <p:cNvPr id="68" name="Google Shape;68;p16"/>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9" name="Google Shape;69;p16"/>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70" name="Google Shape;70;p16"/>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71" name="Google Shape;71;p1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1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3" name="Google Shape;73;p16"/>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74" name="Shape 74"/>
        <p:cNvGrpSpPr/>
        <p:nvPr/>
      </p:nvGrpSpPr>
      <p:grpSpPr>
        <a:xfrm>
          <a:off x="0" y="0"/>
          <a:ext cx="0" cy="0"/>
          <a:chOff x="0" y="0"/>
          <a:chExt cx="0" cy="0"/>
        </a:xfrm>
      </p:grpSpPr>
      <p:sp>
        <p:nvSpPr>
          <p:cNvPr id="75" name="Google Shape;75;p17"/>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6" name="Google Shape;76;p17"/>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7" name="Google Shape;77;p17"/>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8" name="Google Shape;78;p17"/>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79" name="Google Shape;79;p17"/>
          <p:cNvGrpSpPr/>
          <p:nvPr/>
        </p:nvGrpSpPr>
        <p:grpSpPr>
          <a:xfrm>
            <a:off x="283668" y="259895"/>
            <a:ext cx="226001" cy="222980"/>
            <a:chOff x="283668" y="251687"/>
            <a:chExt cx="226001" cy="222980"/>
          </a:xfrm>
        </p:grpSpPr>
        <p:sp>
          <p:nvSpPr>
            <p:cNvPr id="80" name="Google Shape;80;p17"/>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81" name="Google Shape;81;p17"/>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82" name="Google Shape;82;p17"/>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83" name="Google Shape;83;p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84" name="Google Shape;84;p17"/>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85" name="Google Shape;85;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8" name="Google Shape;88;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9" name="Shape 89"/>
        <p:cNvGrpSpPr/>
        <p:nvPr/>
      </p:nvGrpSpPr>
      <p:grpSpPr>
        <a:xfrm>
          <a:off x="0" y="0"/>
          <a:ext cx="0" cy="0"/>
          <a:chOff x="0" y="0"/>
          <a:chExt cx="0" cy="0"/>
        </a:xfrm>
      </p:grpSpPr>
      <p:sp>
        <p:nvSpPr>
          <p:cNvPr id="90" name="Google Shape;90;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2" name="Google Shape;92;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3" name="Shape 93"/>
        <p:cNvGrpSpPr/>
        <p:nvPr/>
      </p:nvGrpSpPr>
      <p:grpSpPr>
        <a:xfrm>
          <a:off x="0" y="0"/>
          <a:ext cx="0" cy="0"/>
          <a:chOff x="0" y="0"/>
          <a:chExt cx="0" cy="0"/>
        </a:xfrm>
      </p:grpSpPr>
      <p:sp>
        <p:nvSpPr>
          <p:cNvPr id="94" name="Google Shape;94;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95" name="Google Shape;95;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6" name="Shape 96"/>
        <p:cNvGrpSpPr/>
        <p:nvPr/>
      </p:nvGrpSpPr>
      <p:grpSpPr>
        <a:xfrm>
          <a:off x="0" y="0"/>
          <a:ext cx="0" cy="0"/>
          <a:chOff x="0" y="0"/>
          <a:chExt cx="0" cy="0"/>
        </a:xfrm>
      </p:grpSpPr>
      <p:sp>
        <p:nvSpPr>
          <p:cNvPr id="97" name="Google Shape;97;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9" name="Google Shape;99;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00" name="Google Shape;100;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01" name="Google Shape;10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2" name="Shape 102"/>
        <p:cNvGrpSpPr/>
        <p:nvPr/>
      </p:nvGrpSpPr>
      <p:grpSpPr>
        <a:xfrm>
          <a:off x="0" y="0"/>
          <a:ext cx="0" cy="0"/>
          <a:chOff x="0" y="0"/>
          <a:chExt cx="0" cy="0"/>
        </a:xfrm>
      </p:grpSpPr>
      <p:sp>
        <p:nvSpPr>
          <p:cNvPr id="103" name="Google Shape;103;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04" name="Google Shape;104;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sp>
        <p:nvSpPr>
          <p:cNvPr id="106" name="Google Shape;106;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07" name="Google Shape;107;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08" name="Google Shape;108;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9" name="Shape 109"/>
        <p:cNvGrpSpPr/>
        <p:nvPr/>
      </p:nvGrpSpPr>
      <p:grpSpPr>
        <a:xfrm>
          <a:off x="0" y="0"/>
          <a:ext cx="0" cy="0"/>
          <a:chOff x="0" y="0"/>
          <a:chExt cx="0" cy="0"/>
        </a:xfrm>
      </p:grpSpPr>
      <p:sp>
        <p:nvSpPr>
          <p:cNvPr id="110" name="Google Shape;110;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11" name="Shape 111"/>
        <p:cNvGrpSpPr/>
        <p:nvPr/>
      </p:nvGrpSpPr>
      <p:grpSpPr>
        <a:xfrm>
          <a:off x="0" y="0"/>
          <a:ext cx="0" cy="0"/>
          <a:chOff x="0" y="0"/>
          <a:chExt cx="0" cy="0"/>
        </a:xfrm>
      </p:grpSpPr>
      <p:sp>
        <p:nvSpPr>
          <p:cNvPr id="112" name="Google Shape;112;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3" name="Google Shape;113;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14" name="Google Shape;114;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15" name="Shape 115"/>
        <p:cNvGrpSpPr/>
        <p:nvPr/>
      </p:nvGrpSpPr>
      <p:grpSpPr>
        <a:xfrm>
          <a:off x="0" y="0"/>
          <a:ext cx="0" cy="0"/>
          <a:chOff x="0" y="0"/>
          <a:chExt cx="0" cy="0"/>
        </a:xfrm>
      </p:grpSpPr>
      <p:sp>
        <p:nvSpPr>
          <p:cNvPr id="116" name="Google Shape;116;p2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7" name="Google Shape;117;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8" name="Google Shape;118;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119" name="Shape 119"/>
        <p:cNvGrpSpPr/>
        <p:nvPr/>
      </p:nvGrpSpPr>
      <p:grpSpPr>
        <a:xfrm>
          <a:off x="0" y="0"/>
          <a:ext cx="0" cy="0"/>
          <a:chOff x="0" y="0"/>
          <a:chExt cx="0" cy="0"/>
        </a:xfrm>
      </p:grpSpPr>
      <p:sp>
        <p:nvSpPr>
          <p:cNvPr id="120" name="Google Shape;120;p2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1" name="Google Shape;121;p2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2" name="Google Shape;122;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123" name="Shape 123"/>
        <p:cNvGrpSpPr/>
        <p:nvPr/>
      </p:nvGrpSpPr>
      <p:grpSpPr>
        <a:xfrm>
          <a:off x="0" y="0"/>
          <a:ext cx="0" cy="0"/>
          <a:chOff x="0" y="0"/>
          <a:chExt cx="0" cy="0"/>
        </a:xfrm>
      </p:grpSpPr>
      <p:sp>
        <p:nvSpPr>
          <p:cNvPr id="124" name="Google Shape;124;p2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5" name="Google Shape;125;p2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6" name="Google Shape;126;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127" name="Shape 127"/>
        <p:cNvGrpSpPr/>
        <p:nvPr/>
      </p:nvGrpSpPr>
      <p:grpSpPr>
        <a:xfrm>
          <a:off x="0" y="0"/>
          <a:ext cx="0" cy="0"/>
          <a:chOff x="0" y="0"/>
          <a:chExt cx="0" cy="0"/>
        </a:xfrm>
      </p:grpSpPr>
      <p:sp>
        <p:nvSpPr>
          <p:cNvPr id="128" name="Google Shape;128;p2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9" name="Google Shape;129;p2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0" name="Google Shape;130;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131" name="Shape 131"/>
        <p:cNvGrpSpPr/>
        <p:nvPr/>
      </p:nvGrpSpPr>
      <p:grpSpPr>
        <a:xfrm>
          <a:off x="0" y="0"/>
          <a:ext cx="0" cy="0"/>
          <a:chOff x="0" y="0"/>
          <a:chExt cx="0" cy="0"/>
        </a:xfrm>
      </p:grpSpPr>
      <p:sp>
        <p:nvSpPr>
          <p:cNvPr id="132" name="Google Shape;132;p3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33" name="Google Shape;133;p3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4" name="Google Shape;134;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135" name="Shape 135"/>
        <p:cNvGrpSpPr/>
        <p:nvPr/>
      </p:nvGrpSpPr>
      <p:grpSpPr>
        <a:xfrm>
          <a:off x="0" y="0"/>
          <a:ext cx="0" cy="0"/>
          <a:chOff x="0" y="0"/>
          <a:chExt cx="0" cy="0"/>
        </a:xfrm>
      </p:grpSpPr>
      <p:sp>
        <p:nvSpPr>
          <p:cNvPr id="136" name="Google Shape;136;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37" name="Google Shape;137;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8" name="Google Shape;138;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7">
  <p:cSld name="TITLE_7">
    <p:spTree>
      <p:nvGrpSpPr>
        <p:cNvPr id="139" name="Shape 139"/>
        <p:cNvGrpSpPr/>
        <p:nvPr/>
      </p:nvGrpSpPr>
      <p:grpSpPr>
        <a:xfrm>
          <a:off x="0" y="0"/>
          <a:ext cx="0" cy="0"/>
          <a:chOff x="0" y="0"/>
          <a:chExt cx="0" cy="0"/>
        </a:xfrm>
      </p:grpSpPr>
      <p:sp>
        <p:nvSpPr>
          <p:cNvPr id="140" name="Google Shape;140;p3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41" name="Google Shape;141;p3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2" name="Google Shape;142;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theme" Target="../theme/theme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4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4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3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2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 Id="rId3" Type="http://schemas.openxmlformats.org/officeDocument/2006/relationships/image" Target="../media/image3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3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 Id="rId3" Type="http://schemas.openxmlformats.org/officeDocument/2006/relationships/image" Target="../media/image1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 Id="rId3" Type="http://schemas.openxmlformats.org/officeDocument/2006/relationships/image" Target="../media/image4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image" Target="../media/image4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image" Target="../media/image4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43.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43.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39.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39.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44.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44.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48.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 Id="rId3" Type="http://schemas.openxmlformats.org/officeDocument/2006/relationships/image" Target="../media/image46.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 Id="rId3" Type="http://schemas.openxmlformats.org/officeDocument/2006/relationships/image" Target="../media/image46.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 Id="rId3" Type="http://schemas.openxmlformats.org/officeDocument/2006/relationships/image" Target="../media/image5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 Id="rId3" Type="http://schemas.openxmlformats.org/officeDocument/2006/relationships/image" Target="../media/image5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47.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52.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52.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 Id="rId3" Type="http://schemas.openxmlformats.org/officeDocument/2006/relationships/hyperlink" Target="https://medium.com/gigaom/dropbox-spaces-and-dropbox-paper-not-totally-integrated-yet-a37d3c0f5d90" TargetMode="External"/><Relationship Id="rId4" Type="http://schemas.openxmlformats.org/officeDocument/2006/relationships/image" Target="../media/image4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 Id="rId3" Type="http://schemas.openxmlformats.org/officeDocument/2006/relationships/image" Target="../media/image1.png"/><Relationship Id="rId4" Type="http://schemas.openxmlformats.org/officeDocument/2006/relationships/hyperlink" Target="https://www.geeksforgeeks.org/difference-between-project-and-product/" TargetMode="External"/><Relationship Id="rId9" Type="http://schemas.openxmlformats.org/officeDocument/2006/relationships/hyperlink" Target="https://blinkux.com/ideas/why-ux-teams-need-project-managers" TargetMode="External"/><Relationship Id="rId5" Type="http://schemas.openxmlformats.org/officeDocument/2006/relationships/hyperlink" Target="https://www.geeksforgeeks.org/difference-between-project-and-product/" TargetMode="External"/><Relationship Id="rId6" Type="http://schemas.openxmlformats.org/officeDocument/2006/relationships/hyperlink" Target="https://www.accenture.com/us-en/blogs/software-engineering-blog/whats-the-difference-between-a-project-and-a-product" TargetMode="External"/><Relationship Id="rId7" Type="http://schemas.openxmlformats.org/officeDocument/2006/relationships/hyperlink" Target="https://toggl.com/blog/project-management" TargetMode="External"/><Relationship Id="rId8" Type="http://schemas.openxmlformats.org/officeDocument/2006/relationships/hyperlink" Target="https://www.fool.com/the-blueprint/project-management-basics/"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7.xml"/><Relationship Id="rId3" Type="http://schemas.openxmlformats.org/officeDocument/2006/relationships/image" Target="../media/image5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8.xml"/><Relationship Id="rId3" Type="http://schemas.openxmlformats.org/officeDocument/2006/relationships/image" Target="../media/image50.png"/><Relationship Id="rId4" Type="http://schemas.openxmlformats.org/officeDocument/2006/relationships/image" Target="../media/image53.png"/><Relationship Id="rId5" Type="http://schemas.openxmlformats.org/officeDocument/2006/relationships/image" Target="../media/image56.png"/><Relationship Id="rId6"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146" name="Shape 146"/>
        <p:cNvGrpSpPr/>
        <p:nvPr/>
      </p:nvGrpSpPr>
      <p:grpSpPr>
        <a:xfrm>
          <a:off x="0" y="0"/>
          <a:ext cx="0" cy="0"/>
          <a:chOff x="0" y="0"/>
          <a:chExt cx="0" cy="0"/>
        </a:xfrm>
      </p:grpSpPr>
      <p:cxnSp>
        <p:nvCxnSpPr>
          <p:cNvPr id="147" name="Google Shape;147;p33"/>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48" name="Google Shape;148;p33"/>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49" name="Google Shape;149;p33"/>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0" name="Google Shape;150;p33"/>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Manajemen Proyek</a:t>
            </a:r>
            <a:endParaRPr b="1" sz="2400">
              <a:solidFill>
                <a:srgbClr val="FFFFFF"/>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rPr b="1" lang="en">
                <a:solidFill>
                  <a:srgbClr val="FFFFFF"/>
                </a:solidFill>
                <a:latin typeface="Montserrat"/>
                <a:ea typeface="Montserrat"/>
                <a:cs typeface="Montserrat"/>
                <a:sym typeface="Montserrat"/>
              </a:rPr>
              <a:t>Gold </a:t>
            </a:r>
            <a:r>
              <a:rPr lang="en">
                <a:solidFill>
                  <a:srgbClr val="FFFFFF"/>
                </a:solidFill>
                <a:latin typeface="Montserrat"/>
                <a:ea typeface="Montserrat"/>
                <a:cs typeface="Montserrat"/>
                <a:sym typeface="Montserrat"/>
              </a:rPr>
              <a:t>- </a:t>
            </a:r>
            <a:r>
              <a:rPr lang="en">
                <a:solidFill>
                  <a:srgbClr val="FFFFFF"/>
                </a:solidFill>
                <a:latin typeface="Montserrat"/>
                <a:ea typeface="Montserrat"/>
                <a:cs typeface="Montserrat"/>
                <a:sym typeface="Montserrat"/>
              </a:rPr>
              <a:t>Chapter 8 - Topic 2</a:t>
            </a:r>
            <a:endParaRPr>
              <a:solidFill>
                <a:srgbClr val="FFFFFF"/>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4"/>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8 Topic 2</a:t>
            </a:r>
            <a:r>
              <a:rPr b="1" lang="en" sz="1600">
                <a:solidFill>
                  <a:srgbClr val="FFFFFF"/>
                </a:solidFill>
                <a:latin typeface="Montserrat"/>
                <a:ea typeface="Montserrat"/>
                <a:cs typeface="Montserrat"/>
                <a:sym typeface="Montserrat"/>
              </a:rPr>
              <a:t> 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56" name="Google Shape;156;p34"/>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62" name="Google Shape;162;p35"/>
          <p:cNvSpPr txBox="1"/>
          <p:nvPr/>
        </p:nvSpPr>
        <p:spPr>
          <a:xfrm>
            <a:off x="685800" y="2017650"/>
            <a:ext cx="4605000" cy="13698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100">
                <a:solidFill>
                  <a:schemeClr val="dk1"/>
                </a:solidFill>
                <a:latin typeface="Montserrat"/>
                <a:ea typeface="Montserrat"/>
                <a:cs typeface="Montserrat"/>
                <a:sym typeface="Montserrat"/>
              </a:rPr>
              <a:t>Hai Hai Hai! Kali ini kita ketemu lagi di topik 2 ~</a:t>
            </a:r>
            <a:endParaRPr sz="11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1100">
              <a:latin typeface="Montserrat"/>
              <a:ea typeface="Montserrat"/>
              <a:cs typeface="Montserrat"/>
              <a:sym typeface="Montserrat"/>
            </a:endParaRPr>
          </a:p>
          <a:p>
            <a:pPr indent="0" lvl="0" marL="0" rtl="0" algn="just">
              <a:spcBef>
                <a:spcPts val="0"/>
              </a:spcBef>
              <a:spcAft>
                <a:spcPts val="0"/>
              </a:spcAft>
              <a:buNone/>
            </a:pPr>
            <a:r>
              <a:rPr lang="en" sz="1100">
                <a:latin typeface="Montserrat"/>
                <a:ea typeface="Montserrat"/>
                <a:cs typeface="Montserrat"/>
                <a:sym typeface="Montserrat"/>
              </a:rPr>
              <a:t>Yuhuu pada topik 2 ini, kita akan membahas mengenai serba-serbi manajemen proyek. Familiar kan dengan hal tersebut atau mungkin baru pertama mendengar?</a:t>
            </a:r>
            <a:endParaRPr sz="1100">
              <a:latin typeface="Montserrat"/>
              <a:ea typeface="Montserrat"/>
              <a:cs typeface="Montserrat"/>
              <a:sym typeface="Montserrat"/>
            </a:endParaRPr>
          </a:p>
          <a:p>
            <a:pPr indent="0" lvl="0" marL="0" rtl="0" algn="just">
              <a:spcBef>
                <a:spcPts val="0"/>
              </a:spcBef>
              <a:spcAft>
                <a:spcPts val="0"/>
              </a:spcAft>
              <a:buNone/>
            </a:pPr>
            <a:r>
              <a:t/>
            </a:r>
            <a:endParaRPr sz="1100">
              <a:latin typeface="Montserrat"/>
              <a:ea typeface="Montserrat"/>
              <a:cs typeface="Montserrat"/>
              <a:sym typeface="Montserrat"/>
            </a:endParaRPr>
          </a:p>
          <a:p>
            <a:pPr indent="0" lvl="0" marL="0" rtl="0" algn="just">
              <a:spcBef>
                <a:spcPts val="0"/>
              </a:spcBef>
              <a:spcAft>
                <a:spcPts val="0"/>
              </a:spcAft>
              <a:buNone/>
            </a:pPr>
            <a:r>
              <a:rPr lang="en" sz="1100">
                <a:latin typeface="Montserrat"/>
                <a:ea typeface="Montserrat"/>
                <a:cs typeface="Montserrat"/>
                <a:sym typeface="Montserrat"/>
              </a:rPr>
              <a:t>Yukk langsung aja.. Chekidott, bestie ~</a:t>
            </a:r>
            <a:endParaRPr sz="1100">
              <a:latin typeface="Montserrat"/>
              <a:ea typeface="Montserrat"/>
              <a:cs typeface="Montserrat"/>
              <a:sym typeface="Montserrat"/>
            </a:endParaRPr>
          </a:p>
        </p:txBody>
      </p:sp>
      <p:pic>
        <p:nvPicPr>
          <p:cNvPr id="163" name="Google Shape;163;p35"/>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9" name="Google Shape;169;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70" name="Google Shape;170;p36"/>
          <p:cNvSpPr txBox="1"/>
          <p:nvPr/>
        </p:nvSpPr>
        <p:spPr>
          <a:xfrm>
            <a:off x="685800" y="1288963"/>
            <a:ext cx="4114800" cy="686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rgbClr val="FFFFFF"/>
                </a:highlight>
                <a:latin typeface="Montserrat"/>
                <a:ea typeface="Montserrat"/>
                <a:cs typeface="Montserrat"/>
                <a:sym typeface="Montserrat"/>
              </a:rPr>
              <a:t>Kali ini, kita akan mengulas materi tentang:</a:t>
            </a:r>
            <a:endParaRPr sz="1000">
              <a:solidFill>
                <a:srgbClr val="000000"/>
              </a:solidFill>
              <a:latin typeface="Montserrat Medium"/>
              <a:ea typeface="Montserrat Medium"/>
              <a:cs typeface="Montserrat Medium"/>
              <a:sym typeface="Montserrat Medium"/>
            </a:endParaRPr>
          </a:p>
        </p:txBody>
      </p:sp>
      <p:sp>
        <p:nvSpPr>
          <p:cNvPr id="171" name="Google Shape;171;p36"/>
          <p:cNvSpPr/>
          <p:nvPr/>
        </p:nvSpPr>
        <p:spPr>
          <a:xfrm>
            <a:off x="685800" y="21463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72" name="Google Shape;172;p36"/>
          <p:cNvSpPr/>
          <p:nvPr/>
        </p:nvSpPr>
        <p:spPr>
          <a:xfrm>
            <a:off x="685800" y="26074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73" name="Google Shape;173;p36"/>
          <p:cNvSpPr/>
          <p:nvPr/>
        </p:nvSpPr>
        <p:spPr>
          <a:xfrm>
            <a:off x="685800" y="30686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74" name="Google Shape;174;p36"/>
          <p:cNvSpPr/>
          <p:nvPr/>
        </p:nvSpPr>
        <p:spPr>
          <a:xfrm>
            <a:off x="685800" y="35297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75" name="Google Shape;175;p36"/>
          <p:cNvSpPr txBox="1"/>
          <p:nvPr/>
        </p:nvSpPr>
        <p:spPr>
          <a:xfrm>
            <a:off x="1182350" y="207745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Apa itu proyek?</a:t>
            </a:r>
            <a:endParaRPr sz="1100">
              <a:solidFill>
                <a:srgbClr val="000000"/>
              </a:solidFill>
              <a:latin typeface="Montserrat"/>
              <a:ea typeface="Montserrat"/>
              <a:cs typeface="Montserrat"/>
              <a:sym typeface="Montserrat"/>
            </a:endParaRPr>
          </a:p>
        </p:txBody>
      </p:sp>
      <p:sp>
        <p:nvSpPr>
          <p:cNvPr id="176" name="Google Shape;176;p36"/>
          <p:cNvSpPr txBox="1"/>
          <p:nvPr/>
        </p:nvSpPr>
        <p:spPr>
          <a:xfrm>
            <a:off x="1182350" y="253860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Manajemen proyek</a:t>
            </a:r>
            <a:endParaRPr sz="1100">
              <a:solidFill>
                <a:srgbClr val="000000"/>
              </a:solidFill>
              <a:latin typeface="Montserrat"/>
              <a:ea typeface="Montserrat"/>
              <a:cs typeface="Montserrat"/>
              <a:sym typeface="Montserrat"/>
            </a:endParaRPr>
          </a:p>
        </p:txBody>
      </p:sp>
      <p:sp>
        <p:nvSpPr>
          <p:cNvPr id="177" name="Google Shape;177;p36"/>
          <p:cNvSpPr txBox="1"/>
          <p:nvPr/>
        </p:nvSpPr>
        <p:spPr>
          <a:xfrm>
            <a:off x="1182350" y="299975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Project manager</a:t>
            </a:r>
            <a:endParaRPr sz="1100">
              <a:solidFill>
                <a:srgbClr val="000000"/>
              </a:solidFill>
              <a:latin typeface="Montserrat"/>
              <a:ea typeface="Montserrat"/>
              <a:cs typeface="Montserrat"/>
              <a:sym typeface="Montserrat"/>
            </a:endParaRPr>
          </a:p>
        </p:txBody>
      </p:sp>
      <p:sp>
        <p:nvSpPr>
          <p:cNvPr id="178" name="Google Shape;178;p36"/>
          <p:cNvSpPr txBox="1"/>
          <p:nvPr/>
        </p:nvSpPr>
        <p:spPr>
          <a:xfrm>
            <a:off x="1182350" y="3460913"/>
            <a:ext cx="34728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Mengapa tim UI/UX membutuhkan project manager?</a:t>
            </a:r>
            <a:endParaRPr sz="1100">
              <a:solidFill>
                <a:srgbClr val="000000"/>
              </a:solidFill>
              <a:latin typeface="Montserrat"/>
              <a:ea typeface="Montserrat"/>
              <a:cs typeface="Montserrat"/>
              <a:sym typeface="Montserrat"/>
            </a:endParaRPr>
          </a:p>
        </p:txBody>
      </p:sp>
      <p:pic>
        <p:nvPicPr>
          <p:cNvPr id="179" name="Google Shape;179;p36"/>
          <p:cNvPicPr preferRelativeResize="0"/>
          <p:nvPr/>
        </p:nvPicPr>
        <p:blipFill>
          <a:blip r:embed="rId3">
            <a:alphaModFix/>
          </a:blip>
          <a:stretch>
            <a:fillRect/>
          </a:stretch>
        </p:blipFill>
        <p:spPr>
          <a:xfrm>
            <a:off x="5458996" y="1043350"/>
            <a:ext cx="2612779" cy="37572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Apa itu proyek?</a:t>
            </a:r>
            <a:endParaRPr>
              <a:latin typeface="Montserrat"/>
              <a:ea typeface="Montserrat"/>
              <a:cs typeface="Montserrat"/>
              <a:sym typeface="Montserrat"/>
            </a:endParaRPr>
          </a:p>
        </p:txBody>
      </p:sp>
      <p:sp>
        <p:nvSpPr>
          <p:cNvPr id="185" name="Google Shape;185;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6" name="Google Shape;186;p37"/>
          <p:cNvSpPr txBox="1"/>
          <p:nvPr/>
        </p:nvSpPr>
        <p:spPr>
          <a:xfrm>
            <a:off x="685800" y="2048400"/>
            <a:ext cx="49035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rgbClr val="FFFFFF"/>
                </a:solidFill>
                <a:latin typeface="Montserrat"/>
                <a:ea typeface="Montserrat"/>
                <a:cs typeface="Montserrat"/>
                <a:sym typeface="Montserrat"/>
              </a:rPr>
              <a:t>Sebelum mendalami manajemen proyek, kita perlu paham dulu nih </a:t>
            </a:r>
            <a:r>
              <a:rPr b="1" lang="en">
                <a:solidFill>
                  <a:srgbClr val="F2AB2F"/>
                </a:solidFill>
                <a:latin typeface="Montserrat"/>
                <a:ea typeface="Montserrat"/>
                <a:cs typeface="Montserrat"/>
                <a:sym typeface="Montserrat"/>
              </a:rPr>
              <a:t>apa itu proyek</a:t>
            </a:r>
            <a:r>
              <a:rPr b="1" lang="en">
                <a:solidFill>
                  <a:srgbClr val="FFFFFF"/>
                </a:solidFill>
                <a:latin typeface="Montserrat"/>
                <a:ea typeface="Montserrat"/>
                <a:cs typeface="Montserrat"/>
                <a:sym typeface="Montserrat"/>
              </a:rPr>
              <a:t>. Setuju kan?</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rPr b="1" lang="en">
                <a:solidFill>
                  <a:srgbClr val="FFFFFF"/>
                </a:solidFill>
                <a:latin typeface="Montserrat"/>
                <a:ea typeface="Montserrat"/>
                <a:cs typeface="Montserrat"/>
                <a:sym typeface="Montserrat"/>
              </a:rPr>
              <a:t>Mari kita pahami bersama ~</a:t>
            </a:r>
            <a:endParaRPr b="1">
              <a:solidFill>
                <a:srgbClr val="FFFFFF"/>
              </a:solidFill>
              <a:latin typeface="Montserrat"/>
              <a:ea typeface="Montserrat"/>
              <a:cs typeface="Montserrat"/>
              <a:sym typeface="Montserrat"/>
            </a:endParaRPr>
          </a:p>
        </p:txBody>
      </p:sp>
      <p:pic>
        <p:nvPicPr>
          <p:cNvPr id="187" name="Google Shape;187;p37"/>
          <p:cNvPicPr preferRelativeResize="0"/>
          <p:nvPr/>
        </p:nvPicPr>
        <p:blipFill>
          <a:blip r:embed="rId3">
            <a:alphaModFix/>
          </a:blip>
          <a:stretch>
            <a:fillRect/>
          </a:stretch>
        </p:blipFill>
        <p:spPr>
          <a:xfrm>
            <a:off x="6069225" y="1044050"/>
            <a:ext cx="2214101" cy="332684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3" name="Google Shape;193;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Apa itu proyek?</a:t>
            </a:r>
            <a:endParaRPr>
              <a:latin typeface="Montserrat"/>
              <a:ea typeface="Montserrat"/>
              <a:cs typeface="Montserrat"/>
              <a:sym typeface="Montserrat"/>
            </a:endParaRPr>
          </a:p>
        </p:txBody>
      </p:sp>
      <p:sp>
        <p:nvSpPr>
          <p:cNvPr id="194" name="Google Shape;194;p38"/>
          <p:cNvSpPr txBox="1"/>
          <p:nvPr/>
        </p:nvSpPr>
        <p:spPr>
          <a:xfrm>
            <a:off x="685800" y="1715998"/>
            <a:ext cx="4114800" cy="1711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itu proyek?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Menurut Project Management Institute, </a:t>
            </a:r>
            <a:r>
              <a:rPr b="1" lang="en" sz="1000">
                <a:solidFill>
                  <a:schemeClr val="dk1"/>
                </a:solidFill>
                <a:latin typeface="Montserrat"/>
                <a:ea typeface="Montserrat"/>
                <a:cs typeface="Montserrat"/>
                <a:sym typeface="Montserrat"/>
              </a:rPr>
              <a:t>proyek bersifat sementara</a:t>
            </a:r>
            <a:r>
              <a:rPr lang="en" sz="1000">
                <a:solidFill>
                  <a:schemeClr val="dk1"/>
                </a:solidFill>
                <a:latin typeface="Montserrat"/>
                <a:ea typeface="Montserrat"/>
                <a:cs typeface="Montserrat"/>
                <a:sym typeface="Montserrat"/>
              </a:rPr>
              <a:t> karena memiliki awal dan akhir yang ditentukan oleh waktu, ruang lingkup, dan sumber daya.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Sebuah proyek memiliki keunikan, karena hal tersebut bukanlah operasi rutin. Melainkan, </a:t>
            </a:r>
            <a:r>
              <a:rPr b="1" lang="en" sz="1000">
                <a:solidFill>
                  <a:schemeClr val="dk1"/>
                </a:solidFill>
                <a:latin typeface="Montserrat"/>
                <a:ea typeface="Montserrat"/>
                <a:cs typeface="Montserrat"/>
                <a:sym typeface="Montserrat"/>
              </a:rPr>
              <a:t>serangkaian operasi khusus yang dirancang untuk mencapai tujuan tunggal</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195" name="Google Shape;195;p38"/>
          <p:cNvPicPr preferRelativeResize="0"/>
          <p:nvPr/>
        </p:nvPicPr>
        <p:blipFill>
          <a:blip r:embed="rId3">
            <a:alphaModFix/>
          </a:blip>
          <a:stretch>
            <a:fillRect/>
          </a:stretch>
        </p:blipFill>
        <p:spPr>
          <a:xfrm>
            <a:off x="5380649" y="1159050"/>
            <a:ext cx="2650512" cy="351986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1" name="Google Shape;201;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Apa itu proyek?</a:t>
            </a:r>
            <a:endParaRPr>
              <a:latin typeface="Montserrat"/>
              <a:ea typeface="Montserrat"/>
              <a:cs typeface="Montserrat"/>
              <a:sym typeface="Montserrat"/>
            </a:endParaRPr>
          </a:p>
        </p:txBody>
      </p:sp>
      <p:sp>
        <p:nvSpPr>
          <p:cNvPr id="202" name="Google Shape;202;p39"/>
          <p:cNvSpPr txBox="1"/>
          <p:nvPr/>
        </p:nvSpPr>
        <p:spPr>
          <a:xfrm>
            <a:off x="685800" y="2052150"/>
            <a:ext cx="4114800" cy="1039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Suatu</a:t>
            </a:r>
            <a:r>
              <a:rPr lang="en" sz="1000">
                <a:solidFill>
                  <a:schemeClr val="dk1"/>
                </a:solidFill>
                <a:latin typeface="Montserrat"/>
                <a:ea typeface="Montserrat"/>
                <a:cs typeface="Montserrat"/>
                <a:sym typeface="Montserrat"/>
              </a:rPr>
              <a:t> proyek umumnya </a:t>
            </a:r>
            <a:r>
              <a:rPr b="1" lang="en" sz="1000">
                <a:solidFill>
                  <a:schemeClr val="dk1"/>
                </a:solidFill>
                <a:latin typeface="Montserrat"/>
                <a:ea typeface="Montserrat"/>
                <a:cs typeface="Montserrat"/>
                <a:sym typeface="Montserrat"/>
              </a:rPr>
              <a:t>diprakarsai oleh kebutuhan</a:t>
            </a:r>
            <a:r>
              <a:rPr lang="en" sz="1000">
                <a:solidFill>
                  <a:schemeClr val="dk1"/>
                </a:solidFill>
                <a:latin typeface="Montserrat"/>
                <a:ea typeface="Montserrat"/>
                <a:cs typeface="Montserrat"/>
                <a:sym typeface="Montserrat"/>
              </a:rPr>
              <a:t> yang dirasakan dalam suatu organisasi.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Seperti yang kita bahas di muka, sebuah proyek akan memiliki awal dan akhir, rencana anggaran, waktu, sumber daya, dan melibatkan tim yang dibangun untuk mencapai tujuan.</a:t>
            </a:r>
            <a:endParaRPr sz="1000">
              <a:solidFill>
                <a:schemeClr val="dk1"/>
              </a:solidFill>
              <a:latin typeface="Montserrat"/>
              <a:ea typeface="Montserrat"/>
              <a:cs typeface="Montserrat"/>
              <a:sym typeface="Montserrat"/>
            </a:endParaRPr>
          </a:p>
        </p:txBody>
      </p:sp>
      <p:pic>
        <p:nvPicPr>
          <p:cNvPr id="203" name="Google Shape;203;p39"/>
          <p:cNvPicPr preferRelativeResize="0"/>
          <p:nvPr/>
        </p:nvPicPr>
        <p:blipFill>
          <a:blip r:embed="rId3">
            <a:alphaModFix/>
          </a:blip>
          <a:stretch>
            <a:fillRect/>
          </a:stretch>
        </p:blipFill>
        <p:spPr>
          <a:xfrm>
            <a:off x="5125825" y="1389500"/>
            <a:ext cx="3256174" cy="2748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9" name="Google Shape;209;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Apa itu proyek?</a:t>
            </a:r>
            <a:endParaRPr>
              <a:latin typeface="Montserrat"/>
              <a:ea typeface="Montserrat"/>
              <a:cs typeface="Montserrat"/>
              <a:sym typeface="Montserrat"/>
            </a:endParaRPr>
          </a:p>
        </p:txBody>
      </p:sp>
      <p:sp>
        <p:nvSpPr>
          <p:cNvPr id="210" name="Google Shape;210;p40"/>
          <p:cNvSpPr txBox="1"/>
          <p:nvPr/>
        </p:nvSpPr>
        <p:spPr>
          <a:xfrm>
            <a:off x="685800" y="1980000"/>
            <a:ext cx="3659400" cy="1183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Tim proyek pada umumnya terdiri dari banyak anggota yang berbeda cakupan kerjanya.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pengguna akhir/pelanggan dari suatu produk atau layanan, perwakilan dari teknologi informasi (TI), pemimpin proyek, analis bisnis, pelatih (trainer), sponsor proyek, dan pemangku kepentingan lainnya.</a:t>
            </a:r>
            <a:endParaRPr sz="1000">
              <a:solidFill>
                <a:schemeClr val="dk1"/>
              </a:solidFill>
              <a:latin typeface="Montserrat"/>
              <a:ea typeface="Montserrat"/>
              <a:cs typeface="Montserrat"/>
              <a:sym typeface="Montserrat"/>
            </a:endParaRPr>
          </a:p>
        </p:txBody>
      </p:sp>
      <p:pic>
        <p:nvPicPr>
          <p:cNvPr id="211" name="Google Shape;211;p40"/>
          <p:cNvPicPr preferRelativeResize="0"/>
          <p:nvPr/>
        </p:nvPicPr>
        <p:blipFill>
          <a:blip r:embed="rId3">
            <a:alphaModFix/>
          </a:blip>
          <a:stretch>
            <a:fillRect/>
          </a:stretch>
        </p:blipFill>
        <p:spPr>
          <a:xfrm>
            <a:off x="4572000" y="1683888"/>
            <a:ext cx="4038598" cy="206324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7" name="Google Shape;217;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Apa itu proyek?</a:t>
            </a:r>
            <a:endParaRPr>
              <a:latin typeface="Montserrat"/>
              <a:ea typeface="Montserrat"/>
              <a:cs typeface="Montserrat"/>
              <a:sym typeface="Montserrat"/>
            </a:endParaRPr>
          </a:p>
        </p:txBody>
      </p:sp>
      <p:sp>
        <p:nvSpPr>
          <p:cNvPr id="218" name="Google Shape;218;p41"/>
          <p:cNvSpPr txBox="1"/>
          <p:nvPr/>
        </p:nvSpPr>
        <p:spPr>
          <a:xfrm>
            <a:off x="685800" y="1990199"/>
            <a:ext cx="4114800" cy="1163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proyek sendiri ada banyak macamnya. Bisa proyek membangun rumah, proyek penelitian, proyek memuat karya seni, proyek desain, dan lain sebagainya.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Kali ini, kita akan membahas tentang proyek perangkat lunak. Kira-kira, bedanya apa ya dengan proyek lainnya? Yuk simak jawabannya ~</a:t>
            </a:r>
            <a:endParaRPr sz="1000">
              <a:solidFill>
                <a:schemeClr val="dk1"/>
              </a:solidFill>
              <a:latin typeface="Montserrat"/>
              <a:ea typeface="Montserrat"/>
              <a:cs typeface="Montserrat"/>
              <a:sym typeface="Montserrat"/>
            </a:endParaRPr>
          </a:p>
        </p:txBody>
      </p:sp>
      <p:pic>
        <p:nvPicPr>
          <p:cNvPr id="219" name="Google Shape;219;p41"/>
          <p:cNvPicPr preferRelativeResize="0"/>
          <p:nvPr/>
        </p:nvPicPr>
        <p:blipFill>
          <a:blip r:embed="rId3">
            <a:alphaModFix/>
          </a:blip>
          <a:stretch>
            <a:fillRect/>
          </a:stretch>
        </p:blipFill>
        <p:spPr>
          <a:xfrm>
            <a:off x="5739500" y="1044074"/>
            <a:ext cx="2229100" cy="3512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5" name="Google Shape;225;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Apa itu proyek?</a:t>
            </a:r>
            <a:endParaRPr>
              <a:latin typeface="Montserrat"/>
              <a:ea typeface="Montserrat"/>
              <a:cs typeface="Montserrat"/>
              <a:sym typeface="Montserrat"/>
            </a:endParaRPr>
          </a:p>
        </p:txBody>
      </p:sp>
      <p:sp>
        <p:nvSpPr>
          <p:cNvPr id="226" name="Google Shape;226;p42"/>
          <p:cNvSpPr txBox="1"/>
          <p:nvPr/>
        </p:nvSpPr>
        <p:spPr>
          <a:xfrm>
            <a:off x="685800" y="1732200"/>
            <a:ext cx="4114800" cy="1679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itu proyek perangkat lunak?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Proyek perangkat lunak terdiri dari </a:t>
            </a:r>
            <a:r>
              <a:rPr b="1" lang="en" sz="1000">
                <a:solidFill>
                  <a:schemeClr val="dk1"/>
                </a:solidFill>
                <a:latin typeface="Montserrat"/>
                <a:ea typeface="Montserrat"/>
                <a:cs typeface="Montserrat"/>
                <a:sym typeface="Montserrat"/>
              </a:rPr>
              <a:t>langkah-langkah yang harus ditempuh dalam membuat produk sebelum benar-benar ditawarkan ke pasar</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Biasanya, perusahaan membuat satu proyek untuk membentuk produk baru yang belum dibuat. Proyek tersebut dapat ditangani oleh beberapa atau bahkan lebih dari 100 orang.</a:t>
            </a:r>
            <a:endParaRPr sz="1000">
              <a:solidFill>
                <a:schemeClr val="dk1"/>
              </a:solidFill>
              <a:latin typeface="Montserrat"/>
              <a:ea typeface="Montserrat"/>
              <a:cs typeface="Montserrat"/>
              <a:sym typeface="Montserrat"/>
            </a:endParaRPr>
          </a:p>
        </p:txBody>
      </p:sp>
      <p:pic>
        <p:nvPicPr>
          <p:cNvPr id="227" name="Google Shape;227;p42"/>
          <p:cNvPicPr preferRelativeResize="0"/>
          <p:nvPr/>
        </p:nvPicPr>
        <p:blipFill>
          <a:blip r:embed="rId3">
            <a:alphaModFix/>
          </a:blip>
          <a:stretch>
            <a:fillRect/>
          </a:stretch>
        </p:blipFill>
        <p:spPr>
          <a:xfrm>
            <a:off x="5127300" y="1379812"/>
            <a:ext cx="3383649" cy="26831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3" name="Google Shape;233;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Apa itu proyek?</a:t>
            </a:r>
            <a:endParaRPr>
              <a:latin typeface="Montserrat"/>
              <a:ea typeface="Montserrat"/>
              <a:cs typeface="Montserrat"/>
              <a:sym typeface="Montserrat"/>
            </a:endParaRPr>
          </a:p>
        </p:txBody>
      </p:sp>
      <p:sp>
        <p:nvSpPr>
          <p:cNvPr id="234" name="Google Shape;234;p43"/>
          <p:cNvSpPr txBox="1"/>
          <p:nvPr/>
        </p:nvSpPr>
        <p:spPr>
          <a:xfrm>
            <a:off x="685800" y="1521000"/>
            <a:ext cx="4114800" cy="2101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Lalu, apakah proyek berbeda dengan produk?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Produk merupakan </a:t>
            </a:r>
            <a:r>
              <a:rPr b="1" lang="en" sz="1000">
                <a:solidFill>
                  <a:schemeClr val="dk1"/>
                </a:solidFill>
                <a:latin typeface="Montserrat"/>
                <a:ea typeface="Montserrat"/>
                <a:cs typeface="Montserrat"/>
                <a:sym typeface="Montserrat"/>
              </a:rPr>
              <a:t>barang, layanan, platform, aplikasi, sistem, dan lain-lain, yang dibuat umumnya untuk dijual atau memenuhi kebutuhan pelanggan serta bisnis</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ritel dan manufaktur, sebuah produk bisa berupa bahan yang diubah menjadi barang jadi. Dalam teknologi, produk kamu akan berupa perangkat lunak atau layanan, yang memerlukan pemeliharaan.</a:t>
            </a:r>
            <a:endParaRPr b="1" sz="1000">
              <a:solidFill>
                <a:schemeClr val="dk1"/>
              </a:solidFill>
              <a:latin typeface="Montserrat"/>
              <a:ea typeface="Montserrat"/>
              <a:cs typeface="Montserrat"/>
              <a:sym typeface="Montserrat"/>
            </a:endParaRPr>
          </a:p>
        </p:txBody>
      </p:sp>
      <p:pic>
        <p:nvPicPr>
          <p:cNvPr id="235" name="Google Shape;235;p43"/>
          <p:cNvPicPr preferRelativeResize="0"/>
          <p:nvPr/>
        </p:nvPicPr>
        <p:blipFill>
          <a:blip r:embed="rId3">
            <a:alphaModFix/>
          </a:blip>
          <a:stretch>
            <a:fillRect/>
          </a:stretch>
        </p:blipFill>
        <p:spPr>
          <a:xfrm>
            <a:off x="5257807" y="1336776"/>
            <a:ext cx="3078643" cy="27766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1" name="Google Shape;241;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Apa itu proyek?</a:t>
            </a:r>
            <a:endParaRPr>
              <a:latin typeface="Montserrat"/>
              <a:ea typeface="Montserrat"/>
              <a:cs typeface="Montserrat"/>
              <a:sym typeface="Montserrat"/>
            </a:endParaRPr>
          </a:p>
        </p:txBody>
      </p:sp>
      <p:sp>
        <p:nvSpPr>
          <p:cNvPr id="242" name="Google Shape;242;p44"/>
          <p:cNvSpPr txBox="1"/>
          <p:nvPr/>
        </p:nvSpPr>
        <p:spPr>
          <a:xfrm>
            <a:off x="685800" y="2064597"/>
            <a:ext cx="4114800" cy="1014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Sedangkan proyek perangkat lunak, ketika selesai, dapat menghasilkan sebuah produk atau sebuah tingkatan pada produk yang diluncurkan untuk digunakan pengguna.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Sehingga dapat dikatakan bahwa </a:t>
            </a:r>
            <a:r>
              <a:rPr b="1" lang="en" sz="1000">
                <a:solidFill>
                  <a:schemeClr val="dk1"/>
                </a:solidFill>
                <a:latin typeface="Montserrat"/>
                <a:ea typeface="Montserrat"/>
                <a:cs typeface="Montserrat"/>
                <a:sym typeface="Montserrat"/>
              </a:rPr>
              <a:t>produk merupakan hasil dari sebuah proyek</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243" name="Google Shape;243;p44"/>
          <p:cNvPicPr preferRelativeResize="0"/>
          <p:nvPr/>
        </p:nvPicPr>
        <p:blipFill>
          <a:blip r:embed="rId3">
            <a:alphaModFix/>
          </a:blip>
          <a:stretch>
            <a:fillRect/>
          </a:stretch>
        </p:blipFill>
        <p:spPr>
          <a:xfrm>
            <a:off x="5570225" y="1051725"/>
            <a:ext cx="2214101" cy="332684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Manajemen proyek </a:t>
            </a:r>
            <a:endParaRPr>
              <a:latin typeface="Montserrat"/>
              <a:ea typeface="Montserrat"/>
              <a:cs typeface="Montserrat"/>
              <a:sym typeface="Montserrat"/>
            </a:endParaRPr>
          </a:p>
        </p:txBody>
      </p:sp>
      <p:sp>
        <p:nvSpPr>
          <p:cNvPr id="249" name="Google Shape;249;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0" name="Google Shape;250;p45"/>
          <p:cNvSpPr txBox="1"/>
          <p:nvPr/>
        </p:nvSpPr>
        <p:spPr>
          <a:xfrm>
            <a:off x="685800" y="1927675"/>
            <a:ext cx="47418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rgbClr val="FFFFFF"/>
                </a:solidFill>
                <a:latin typeface="Montserrat"/>
                <a:ea typeface="Montserrat"/>
                <a:cs typeface="Montserrat"/>
                <a:sym typeface="Montserrat"/>
              </a:rPr>
              <a:t>Oke, udah paham kan dengan penjelasan terkait proyek barusan?</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rPr b="1" lang="en">
                <a:solidFill>
                  <a:srgbClr val="FFFFFF"/>
                </a:solidFill>
                <a:latin typeface="Montserrat"/>
                <a:ea typeface="Montserrat"/>
                <a:cs typeface="Montserrat"/>
                <a:sym typeface="Montserrat"/>
              </a:rPr>
              <a:t>Nicee..</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rPr b="1" lang="en">
                <a:solidFill>
                  <a:srgbClr val="FFFFFF"/>
                </a:solidFill>
                <a:latin typeface="Montserrat"/>
                <a:ea typeface="Montserrat"/>
                <a:cs typeface="Montserrat"/>
                <a:sym typeface="Montserrat"/>
              </a:rPr>
              <a:t>Selanjutnya kita pahami mengenai </a:t>
            </a:r>
            <a:r>
              <a:rPr b="1" lang="en">
                <a:solidFill>
                  <a:srgbClr val="F2AB2F"/>
                </a:solidFill>
                <a:latin typeface="Montserrat"/>
                <a:ea typeface="Montserrat"/>
                <a:cs typeface="Montserrat"/>
                <a:sym typeface="Montserrat"/>
              </a:rPr>
              <a:t>manajemen proyek</a:t>
            </a:r>
            <a:endParaRPr b="1">
              <a:solidFill>
                <a:srgbClr val="FFFFFF"/>
              </a:solidFill>
              <a:latin typeface="Montserrat"/>
              <a:ea typeface="Montserrat"/>
              <a:cs typeface="Montserrat"/>
              <a:sym typeface="Montserrat"/>
            </a:endParaRPr>
          </a:p>
        </p:txBody>
      </p:sp>
      <p:pic>
        <p:nvPicPr>
          <p:cNvPr id="251" name="Google Shape;251;p45"/>
          <p:cNvPicPr preferRelativeResize="0"/>
          <p:nvPr/>
        </p:nvPicPr>
        <p:blipFill>
          <a:blip r:embed="rId3">
            <a:alphaModFix/>
          </a:blip>
          <a:stretch>
            <a:fillRect/>
          </a:stretch>
        </p:blipFill>
        <p:spPr>
          <a:xfrm>
            <a:off x="5966125" y="1133399"/>
            <a:ext cx="2209723" cy="32817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7" name="Google Shape;257;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Manajemen proyek</a:t>
            </a:r>
            <a:endParaRPr>
              <a:latin typeface="Montserrat"/>
              <a:ea typeface="Montserrat"/>
              <a:cs typeface="Montserrat"/>
              <a:sym typeface="Montserrat"/>
            </a:endParaRPr>
          </a:p>
        </p:txBody>
      </p:sp>
      <p:sp>
        <p:nvSpPr>
          <p:cNvPr id="258" name="Google Shape;258;p46"/>
          <p:cNvSpPr txBox="1"/>
          <p:nvPr/>
        </p:nvSpPr>
        <p:spPr>
          <a:xfrm>
            <a:off x="685800" y="1908300"/>
            <a:ext cx="4114800" cy="1326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Manajemen proyek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Salah satu peran penting yang perlu diisi dalam sebuah tim kerja, ialah manajer proyek yang bertugas memanajemen proyek.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Tapi, sudahkah kamu memahami apa itu manajemen proyek?</a:t>
            </a:r>
            <a:endParaRPr sz="1000">
              <a:solidFill>
                <a:schemeClr val="dk1"/>
              </a:solidFill>
              <a:latin typeface="Montserrat"/>
              <a:ea typeface="Montserrat"/>
              <a:cs typeface="Montserrat"/>
              <a:sym typeface="Montserrat"/>
            </a:endParaRPr>
          </a:p>
        </p:txBody>
      </p:sp>
      <p:pic>
        <p:nvPicPr>
          <p:cNvPr id="259" name="Google Shape;259;p46"/>
          <p:cNvPicPr preferRelativeResize="0"/>
          <p:nvPr/>
        </p:nvPicPr>
        <p:blipFill>
          <a:blip r:embed="rId3">
            <a:alphaModFix/>
          </a:blip>
          <a:stretch>
            <a:fillRect/>
          </a:stretch>
        </p:blipFill>
        <p:spPr>
          <a:xfrm>
            <a:off x="5690773" y="974925"/>
            <a:ext cx="2571974" cy="34517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5" name="Google Shape;265;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Manajemen proyek</a:t>
            </a:r>
            <a:endParaRPr>
              <a:latin typeface="Montserrat"/>
              <a:ea typeface="Montserrat"/>
              <a:cs typeface="Montserrat"/>
              <a:sym typeface="Montserrat"/>
            </a:endParaRPr>
          </a:p>
        </p:txBody>
      </p:sp>
      <p:sp>
        <p:nvSpPr>
          <p:cNvPr id="266" name="Google Shape;266;p47"/>
          <p:cNvSpPr txBox="1"/>
          <p:nvPr/>
        </p:nvSpPr>
        <p:spPr>
          <a:xfrm>
            <a:off x="685800" y="1955700"/>
            <a:ext cx="4114800" cy="1232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Manajemen</a:t>
            </a:r>
            <a:r>
              <a:rPr lang="en" sz="1000">
                <a:solidFill>
                  <a:schemeClr val="dk1"/>
                </a:solidFill>
                <a:latin typeface="Montserrat"/>
                <a:ea typeface="Montserrat"/>
                <a:cs typeface="Montserrat"/>
                <a:sym typeface="Montserrat"/>
              </a:rPr>
              <a:t> proyek merupakan </a:t>
            </a:r>
            <a:r>
              <a:rPr b="1" lang="en" sz="1000">
                <a:solidFill>
                  <a:schemeClr val="dk1"/>
                </a:solidFill>
                <a:latin typeface="Montserrat"/>
                <a:ea typeface="Montserrat"/>
                <a:cs typeface="Montserrat"/>
                <a:sym typeface="Montserrat"/>
              </a:rPr>
              <a:t>disiplin pengelolaan semua sumber daya yang berbeda dan aspek proyek sedemikian rupa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Sehingga, sumber daya memberikan semua output yang diperlukan untuk menyelesaikan proyek dalam ruang lingkup, waktu, dan kendala biaya yang ditentukan.</a:t>
            </a:r>
            <a:endParaRPr sz="1200">
              <a:solidFill>
                <a:schemeClr val="dk1"/>
              </a:solidFill>
              <a:latin typeface="Montserrat Medium"/>
              <a:ea typeface="Montserrat Medium"/>
              <a:cs typeface="Montserrat Medium"/>
              <a:sym typeface="Montserrat Medium"/>
            </a:endParaRPr>
          </a:p>
        </p:txBody>
      </p:sp>
      <p:pic>
        <p:nvPicPr>
          <p:cNvPr id="267" name="Google Shape;267;p47"/>
          <p:cNvPicPr preferRelativeResize="0"/>
          <p:nvPr/>
        </p:nvPicPr>
        <p:blipFill>
          <a:blip r:embed="rId3">
            <a:alphaModFix/>
          </a:blip>
          <a:stretch>
            <a:fillRect/>
          </a:stretch>
        </p:blipFill>
        <p:spPr>
          <a:xfrm>
            <a:off x="4945325" y="1492150"/>
            <a:ext cx="3552976" cy="24728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3" name="Google Shape;273;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Manajemen proyek</a:t>
            </a:r>
            <a:endParaRPr>
              <a:latin typeface="Montserrat"/>
              <a:ea typeface="Montserrat"/>
              <a:cs typeface="Montserrat"/>
              <a:sym typeface="Montserrat"/>
            </a:endParaRPr>
          </a:p>
        </p:txBody>
      </p:sp>
      <p:sp>
        <p:nvSpPr>
          <p:cNvPr id="274" name="Google Shape;274;p48"/>
          <p:cNvSpPr txBox="1"/>
          <p:nvPr/>
        </p:nvSpPr>
        <p:spPr>
          <a:xfrm>
            <a:off x="685800" y="2145900"/>
            <a:ext cx="3886200" cy="851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Hal-hal tersebut disepakati sejak inisiasi hingga proyek dimulai.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Tujuannya, agar semua pemangku kepentingan dan anggota tim memiliki pemahaman serta penerimaan yang jelas tentang proses, metodologi, dan hasil yang diharapkan.</a:t>
            </a:r>
            <a:endParaRPr sz="1200">
              <a:solidFill>
                <a:schemeClr val="dk1"/>
              </a:solidFill>
              <a:latin typeface="Montserrat Medium"/>
              <a:ea typeface="Montserrat Medium"/>
              <a:cs typeface="Montserrat Medium"/>
              <a:sym typeface="Montserrat Medium"/>
            </a:endParaRPr>
          </a:p>
        </p:txBody>
      </p:sp>
      <p:pic>
        <p:nvPicPr>
          <p:cNvPr id="275" name="Google Shape;275;p48"/>
          <p:cNvPicPr preferRelativeResize="0"/>
          <p:nvPr/>
        </p:nvPicPr>
        <p:blipFill>
          <a:blip r:embed="rId3">
            <a:alphaModFix/>
          </a:blip>
          <a:stretch>
            <a:fillRect/>
          </a:stretch>
        </p:blipFill>
        <p:spPr>
          <a:xfrm>
            <a:off x="4572000" y="1683888"/>
            <a:ext cx="4038598" cy="206324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1" name="Google Shape;281;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Manajemen proyek</a:t>
            </a:r>
            <a:endParaRPr>
              <a:latin typeface="Montserrat"/>
              <a:ea typeface="Montserrat"/>
              <a:cs typeface="Montserrat"/>
              <a:sym typeface="Montserrat"/>
            </a:endParaRPr>
          </a:p>
        </p:txBody>
      </p:sp>
      <p:sp>
        <p:nvSpPr>
          <p:cNvPr id="282" name="Google Shape;282;p49"/>
          <p:cNvSpPr txBox="1"/>
          <p:nvPr/>
        </p:nvSpPr>
        <p:spPr>
          <a:xfrm>
            <a:off x="685800" y="1567500"/>
            <a:ext cx="4114800" cy="2008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Sembilan</a:t>
            </a:r>
            <a:r>
              <a:rPr b="1" lang="en" sz="1600">
                <a:solidFill>
                  <a:srgbClr val="743673"/>
                </a:solidFill>
                <a:highlight>
                  <a:schemeClr val="lt1"/>
                </a:highlight>
                <a:latin typeface="Montserrat"/>
                <a:ea typeface="Montserrat"/>
                <a:cs typeface="Montserrat"/>
                <a:sym typeface="Montserrat"/>
              </a:rPr>
              <a:t> bidang utama dalam manajemen proyek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dalam manajemen proyek, terdapat 9 (sembilan) bidang utama, antara lain: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Integration Management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Scope Management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Time Management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Cost Management</a:t>
            </a:r>
            <a:endParaRPr sz="1000">
              <a:solidFill>
                <a:schemeClr val="dk1"/>
              </a:solidFill>
              <a:latin typeface="Montserrat"/>
              <a:ea typeface="Montserrat"/>
              <a:cs typeface="Montserrat"/>
              <a:sym typeface="Montserrat"/>
            </a:endParaRPr>
          </a:p>
        </p:txBody>
      </p:sp>
      <p:pic>
        <p:nvPicPr>
          <p:cNvPr id="283" name="Google Shape;283;p49"/>
          <p:cNvPicPr preferRelativeResize="0"/>
          <p:nvPr/>
        </p:nvPicPr>
        <p:blipFill>
          <a:blip r:embed="rId3">
            <a:alphaModFix/>
          </a:blip>
          <a:stretch>
            <a:fillRect/>
          </a:stretch>
        </p:blipFill>
        <p:spPr>
          <a:xfrm>
            <a:off x="5298778" y="1282025"/>
            <a:ext cx="2500550" cy="29709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9" name="Google Shape;289;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Manajemen proyek</a:t>
            </a:r>
            <a:endParaRPr>
              <a:latin typeface="Montserrat"/>
              <a:ea typeface="Montserrat"/>
              <a:cs typeface="Montserrat"/>
              <a:sym typeface="Montserrat"/>
            </a:endParaRPr>
          </a:p>
        </p:txBody>
      </p:sp>
      <p:sp>
        <p:nvSpPr>
          <p:cNvPr id="290" name="Google Shape;290;p50"/>
          <p:cNvSpPr txBox="1"/>
          <p:nvPr/>
        </p:nvSpPr>
        <p:spPr>
          <a:xfrm>
            <a:off x="685800" y="2133146"/>
            <a:ext cx="4114800" cy="8772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AutoNum type="arabicParenR" startAt="5"/>
            </a:pPr>
            <a:r>
              <a:rPr lang="en" sz="1000">
                <a:solidFill>
                  <a:schemeClr val="dk1"/>
                </a:solidFill>
                <a:latin typeface="Montserrat"/>
                <a:ea typeface="Montserrat"/>
                <a:cs typeface="Montserrat"/>
                <a:sym typeface="Montserrat"/>
              </a:rPr>
              <a:t>Quality Management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startAt="5"/>
            </a:pPr>
            <a:r>
              <a:rPr lang="en" sz="1000">
                <a:solidFill>
                  <a:schemeClr val="dk1"/>
                </a:solidFill>
                <a:latin typeface="Montserrat"/>
                <a:ea typeface="Montserrat"/>
                <a:cs typeface="Montserrat"/>
                <a:sym typeface="Montserrat"/>
              </a:rPr>
              <a:t>Human Resource Management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startAt="5"/>
            </a:pPr>
            <a:r>
              <a:rPr lang="en" sz="1000">
                <a:solidFill>
                  <a:schemeClr val="dk1"/>
                </a:solidFill>
                <a:latin typeface="Montserrat"/>
                <a:ea typeface="Montserrat"/>
                <a:cs typeface="Montserrat"/>
                <a:sym typeface="Montserrat"/>
              </a:rPr>
              <a:t>Communication Management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startAt="5"/>
            </a:pPr>
            <a:r>
              <a:rPr lang="en" sz="1000">
                <a:solidFill>
                  <a:schemeClr val="dk1"/>
                </a:solidFill>
                <a:latin typeface="Montserrat"/>
                <a:ea typeface="Montserrat"/>
                <a:cs typeface="Montserrat"/>
                <a:sym typeface="Montserrat"/>
              </a:rPr>
              <a:t>Risk Management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startAt="5"/>
            </a:pPr>
            <a:r>
              <a:rPr lang="en" sz="1000">
                <a:solidFill>
                  <a:schemeClr val="dk1"/>
                </a:solidFill>
                <a:latin typeface="Montserrat"/>
                <a:ea typeface="Montserrat"/>
                <a:cs typeface="Montserrat"/>
                <a:sym typeface="Montserrat"/>
              </a:rPr>
              <a:t>Procurement Management</a:t>
            </a:r>
            <a:endParaRPr sz="1000">
              <a:solidFill>
                <a:schemeClr val="dk1"/>
              </a:solidFill>
              <a:latin typeface="Montserrat"/>
              <a:ea typeface="Montserrat"/>
              <a:cs typeface="Montserrat"/>
              <a:sym typeface="Montserrat"/>
            </a:endParaRPr>
          </a:p>
        </p:txBody>
      </p:sp>
      <p:pic>
        <p:nvPicPr>
          <p:cNvPr id="291" name="Google Shape;291;p50"/>
          <p:cNvPicPr preferRelativeResize="0"/>
          <p:nvPr/>
        </p:nvPicPr>
        <p:blipFill>
          <a:blip r:embed="rId3">
            <a:alphaModFix/>
          </a:blip>
          <a:stretch>
            <a:fillRect/>
          </a:stretch>
        </p:blipFill>
        <p:spPr>
          <a:xfrm>
            <a:off x="5298778" y="1282025"/>
            <a:ext cx="2500550" cy="29709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7" name="Google Shape;297;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Manajemen proyek</a:t>
            </a:r>
            <a:endParaRPr>
              <a:latin typeface="Montserrat"/>
              <a:ea typeface="Montserrat"/>
              <a:cs typeface="Montserrat"/>
              <a:sym typeface="Montserrat"/>
            </a:endParaRPr>
          </a:p>
        </p:txBody>
      </p:sp>
      <p:sp>
        <p:nvSpPr>
          <p:cNvPr id="298" name="Google Shape;298;p51"/>
          <p:cNvSpPr txBox="1"/>
          <p:nvPr/>
        </p:nvSpPr>
        <p:spPr>
          <a:xfrm>
            <a:off x="685800" y="1763100"/>
            <a:ext cx="3886200" cy="1617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Manajemen proyek vs manajemen produk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Kali ini, kita akan mengulas perbedaan manajemen proyek dengan manajemen produk berdasarkan cakupan kerjanya.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Manajemen proyek membantu tim mengatur, melacak, dan melaksanakan pekerjaan dalam suatu proyek.</a:t>
            </a:r>
            <a:endParaRPr b="1" sz="1200">
              <a:solidFill>
                <a:schemeClr val="dk1"/>
              </a:solidFill>
              <a:latin typeface="Montserrat"/>
              <a:ea typeface="Montserrat"/>
              <a:cs typeface="Montserrat"/>
              <a:sym typeface="Montserrat"/>
            </a:endParaRPr>
          </a:p>
        </p:txBody>
      </p:sp>
      <p:pic>
        <p:nvPicPr>
          <p:cNvPr id="299" name="Google Shape;299;p51"/>
          <p:cNvPicPr preferRelativeResize="0"/>
          <p:nvPr/>
        </p:nvPicPr>
        <p:blipFill>
          <a:blip r:embed="rId3">
            <a:alphaModFix/>
          </a:blip>
          <a:stretch>
            <a:fillRect/>
          </a:stretch>
        </p:blipFill>
        <p:spPr>
          <a:xfrm>
            <a:off x="4740500" y="1988300"/>
            <a:ext cx="2438401" cy="1166897"/>
          </a:xfrm>
          <a:prstGeom prst="rect">
            <a:avLst/>
          </a:prstGeom>
          <a:noFill/>
          <a:ln>
            <a:noFill/>
          </a:ln>
        </p:spPr>
      </p:pic>
      <p:pic>
        <p:nvPicPr>
          <p:cNvPr id="300" name="Google Shape;300;p51"/>
          <p:cNvPicPr preferRelativeResize="0"/>
          <p:nvPr/>
        </p:nvPicPr>
        <p:blipFill>
          <a:blip r:embed="rId4">
            <a:alphaModFix/>
          </a:blip>
          <a:stretch>
            <a:fillRect/>
          </a:stretch>
        </p:blipFill>
        <p:spPr>
          <a:xfrm>
            <a:off x="7347401" y="1098875"/>
            <a:ext cx="1583288" cy="34264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6" name="Google Shape;306;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Manajemen proyek</a:t>
            </a:r>
            <a:endParaRPr>
              <a:latin typeface="Montserrat"/>
              <a:ea typeface="Montserrat"/>
              <a:cs typeface="Montserrat"/>
              <a:sym typeface="Montserrat"/>
            </a:endParaRPr>
          </a:p>
        </p:txBody>
      </p:sp>
      <p:sp>
        <p:nvSpPr>
          <p:cNvPr id="307" name="Google Shape;307;p52"/>
          <p:cNvSpPr txBox="1"/>
          <p:nvPr/>
        </p:nvSpPr>
        <p:spPr>
          <a:xfrm>
            <a:off x="685800" y="1979550"/>
            <a:ext cx="3886200" cy="1184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Hal tadi termasuk mengelola pemangku kepentingan, tugas, kemajuan proyek hingga selesai, dan menerapkan alat yang diperlukan agar proyek sukses.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Manajemen proyek </a:t>
            </a:r>
            <a:r>
              <a:rPr b="1" lang="en" sz="1000">
                <a:solidFill>
                  <a:schemeClr val="dk1"/>
                </a:solidFill>
                <a:latin typeface="Montserrat"/>
                <a:ea typeface="Montserrat"/>
                <a:cs typeface="Montserrat"/>
                <a:sym typeface="Montserrat"/>
              </a:rPr>
              <a:t>juga berfokus pada kolaborasi tim dan mendorongnya melalui penggunaan alat serta permainan membangun tim.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08" name="Google Shape;308;p52"/>
          <p:cNvPicPr preferRelativeResize="0"/>
          <p:nvPr/>
        </p:nvPicPr>
        <p:blipFill>
          <a:blip r:embed="rId3">
            <a:alphaModFix/>
          </a:blip>
          <a:stretch>
            <a:fillRect/>
          </a:stretch>
        </p:blipFill>
        <p:spPr>
          <a:xfrm>
            <a:off x="4740500" y="1988300"/>
            <a:ext cx="2438401" cy="1166897"/>
          </a:xfrm>
          <a:prstGeom prst="rect">
            <a:avLst/>
          </a:prstGeom>
          <a:noFill/>
          <a:ln>
            <a:noFill/>
          </a:ln>
        </p:spPr>
      </p:pic>
      <p:pic>
        <p:nvPicPr>
          <p:cNvPr id="309" name="Google Shape;309;p52"/>
          <p:cNvPicPr preferRelativeResize="0"/>
          <p:nvPr/>
        </p:nvPicPr>
        <p:blipFill>
          <a:blip r:embed="rId4">
            <a:alphaModFix/>
          </a:blip>
          <a:stretch>
            <a:fillRect/>
          </a:stretch>
        </p:blipFill>
        <p:spPr>
          <a:xfrm>
            <a:off x="7347401" y="1098875"/>
            <a:ext cx="1583288" cy="34264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5" name="Google Shape;315;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Manajemen proyek</a:t>
            </a:r>
            <a:endParaRPr>
              <a:latin typeface="Montserrat"/>
              <a:ea typeface="Montserrat"/>
              <a:cs typeface="Montserrat"/>
              <a:sym typeface="Montserrat"/>
            </a:endParaRPr>
          </a:p>
        </p:txBody>
      </p:sp>
      <p:sp>
        <p:nvSpPr>
          <p:cNvPr id="316" name="Google Shape;316;p53"/>
          <p:cNvSpPr txBox="1"/>
          <p:nvPr/>
        </p:nvSpPr>
        <p:spPr>
          <a:xfrm>
            <a:off x="685800" y="2138400"/>
            <a:ext cx="3886200" cy="866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Sedangkan, </a:t>
            </a:r>
            <a:r>
              <a:rPr b="1" lang="en" sz="1000">
                <a:solidFill>
                  <a:schemeClr val="dk1"/>
                </a:solidFill>
                <a:latin typeface="Montserrat"/>
                <a:ea typeface="Montserrat"/>
                <a:cs typeface="Montserrat"/>
                <a:sym typeface="Montserrat"/>
              </a:rPr>
              <a:t>m</a:t>
            </a:r>
            <a:r>
              <a:rPr b="1" lang="en" sz="1000">
                <a:solidFill>
                  <a:schemeClr val="dk1"/>
                </a:solidFill>
                <a:latin typeface="Montserrat"/>
                <a:ea typeface="Montserrat"/>
                <a:cs typeface="Montserrat"/>
                <a:sym typeface="Montserrat"/>
              </a:rPr>
              <a:t>anajemen produk bertujuan untuk mengawasi produk yang dikembangkan dalam suatu organisasi.</a:t>
            </a:r>
            <a:endParaRPr b="1"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Hal tersebut </a:t>
            </a:r>
            <a:r>
              <a:rPr b="1" lang="en" sz="1000">
                <a:solidFill>
                  <a:schemeClr val="dk1"/>
                </a:solidFill>
                <a:latin typeface="Montserrat"/>
                <a:ea typeface="Montserrat"/>
                <a:cs typeface="Montserrat"/>
                <a:sym typeface="Montserrat"/>
              </a:rPr>
              <a:t>termasuk mengelola setiap aspek siklus hidup produk, dari tahap analisis hingga manajemen rilis produk.</a:t>
            </a:r>
            <a:endParaRPr b="1" sz="1200">
              <a:solidFill>
                <a:schemeClr val="dk1"/>
              </a:solidFill>
              <a:latin typeface="Montserrat"/>
              <a:ea typeface="Montserrat"/>
              <a:cs typeface="Montserrat"/>
              <a:sym typeface="Montserrat"/>
            </a:endParaRPr>
          </a:p>
        </p:txBody>
      </p:sp>
      <p:pic>
        <p:nvPicPr>
          <p:cNvPr id="317" name="Google Shape;317;p53"/>
          <p:cNvPicPr preferRelativeResize="0"/>
          <p:nvPr/>
        </p:nvPicPr>
        <p:blipFill>
          <a:blip r:embed="rId3">
            <a:alphaModFix/>
          </a:blip>
          <a:stretch>
            <a:fillRect/>
          </a:stretch>
        </p:blipFill>
        <p:spPr>
          <a:xfrm>
            <a:off x="4740500" y="1988300"/>
            <a:ext cx="2438401" cy="1166897"/>
          </a:xfrm>
          <a:prstGeom prst="rect">
            <a:avLst/>
          </a:prstGeom>
          <a:noFill/>
          <a:ln>
            <a:noFill/>
          </a:ln>
        </p:spPr>
      </p:pic>
      <p:pic>
        <p:nvPicPr>
          <p:cNvPr id="318" name="Google Shape;318;p53"/>
          <p:cNvPicPr preferRelativeResize="0"/>
          <p:nvPr/>
        </p:nvPicPr>
        <p:blipFill>
          <a:blip r:embed="rId4">
            <a:alphaModFix/>
          </a:blip>
          <a:stretch>
            <a:fillRect/>
          </a:stretch>
        </p:blipFill>
        <p:spPr>
          <a:xfrm>
            <a:off x="7347401" y="1098875"/>
            <a:ext cx="1583288" cy="34264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Project manager</a:t>
            </a:r>
            <a:endParaRPr>
              <a:latin typeface="Montserrat"/>
              <a:ea typeface="Montserrat"/>
              <a:cs typeface="Montserrat"/>
              <a:sym typeface="Montserrat"/>
            </a:endParaRPr>
          </a:p>
        </p:txBody>
      </p:sp>
      <p:sp>
        <p:nvSpPr>
          <p:cNvPr id="324" name="Google Shape;324;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5" name="Google Shape;325;p54"/>
          <p:cNvSpPr txBox="1"/>
          <p:nvPr/>
        </p:nvSpPr>
        <p:spPr>
          <a:xfrm>
            <a:off x="685800" y="1999950"/>
            <a:ext cx="5082900" cy="1639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Tujuan dan sasaran organisasi bisa tercapai secara efisien melalui manajemen proyek yang tepat. Nah, posisi tersebut diisi oleh </a:t>
            </a:r>
            <a:r>
              <a:rPr b="1" lang="en">
                <a:solidFill>
                  <a:srgbClr val="F2AB2F"/>
                </a:solidFill>
                <a:latin typeface="Montserrat"/>
                <a:ea typeface="Montserrat"/>
                <a:cs typeface="Montserrat"/>
                <a:sym typeface="Montserrat"/>
              </a:rPr>
              <a:t>project manager</a:t>
            </a:r>
            <a:r>
              <a:rPr b="1" lang="en">
                <a:solidFill>
                  <a:schemeClr val="lt1"/>
                </a:solidFill>
                <a:latin typeface="Montserrat"/>
                <a:ea typeface="Montserrat"/>
                <a:cs typeface="Montserrat"/>
                <a:sym typeface="Montserrat"/>
              </a:rPr>
              <a:t> atau manajer proyek.</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Yuk kita kenali lebih lanjut posisi project manager ~</a:t>
            </a:r>
            <a:endParaRPr b="1">
              <a:solidFill>
                <a:schemeClr val="lt1"/>
              </a:solidFill>
              <a:latin typeface="Montserrat"/>
              <a:ea typeface="Montserrat"/>
              <a:cs typeface="Montserrat"/>
              <a:sym typeface="Montserrat"/>
            </a:endParaRPr>
          </a:p>
        </p:txBody>
      </p:sp>
      <p:pic>
        <p:nvPicPr>
          <p:cNvPr id="326" name="Google Shape;326;p54"/>
          <p:cNvPicPr preferRelativeResize="0"/>
          <p:nvPr/>
        </p:nvPicPr>
        <p:blipFill>
          <a:blip r:embed="rId3">
            <a:alphaModFix/>
          </a:blip>
          <a:stretch>
            <a:fillRect/>
          </a:stretch>
        </p:blipFill>
        <p:spPr>
          <a:xfrm>
            <a:off x="6241297" y="1290375"/>
            <a:ext cx="1842425" cy="29060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2" name="Google Shape;332;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Project manager</a:t>
            </a:r>
            <a:endParaRPr>
              <a:latin typeface="Montserrat"/>
              <a:ea typeface="Montserrat"/>
              <a:cs typeface="Montserrat"/>
              <a:sym typeface="Montserrat"/>
            </a:endParaRPr>
          </a:p>
        </p:txBody>
      </p:sp>
      <p:sp>
        <p:nvSpPr>
          <p:cNvPr id="333" name="Google Shape;333;p55"/>
          <p:cNvSpPr txBox="1"/>
          <p:nvPr/>
        </p:nvSpPr>
        <p:spPr>
          <a:xfrm>
            <a:off x="685800" y="1726498"/>
            <a:ext cx="4114800" cy="1690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So</a:t>
            </a:r>
            <a:r>
              <a:rPr b="1" lang="en" sz="1600">
                <a:solidFill>
                  <a:srgbClr val="743673"/>
                </a:solidFill>
                <a:highlight>
                  <a:schemeClr val="lt1"/>
                </a:highlight>
                <a:latin typeface="Montserrat"/>
                <a:ea typeface="Montserrat"/>
                <a:cs typeface="Montserrat"/>
                <a:sym typeface="Montserrat"/>
              </a:rPr>
              <a:t>, apa itu project manager?</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arti luas, manajer proyek (PM) bertanggung jawab untuk merencanakan, mengatur, dan mengarahkan penyelesaian proyek tertentu untuk suatu organisasi.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Sehingga, </a:t>
            </a:r>
            <a:r>
              <a:rPr b="1" lang="en" sz="1000">
                <a:solidFill>
                  <a:schemeClr val="dk1"/>
                </a:solidFill>
                <a:latin typeface="Montserrat"/>
                <a:ea typeface="Montserrat"/>
                <a:cs typeface="Montserrat"/>
                <a:sym typeface="Montserrat"/>
              </a:rPr>
              <a:t>ia harus bisa memastikan proyek tersebut selesai tepat waktu, sesuai anggaran, dan masih dalam ruang lingkupnya</a:t>
            </a:r>
            <a:r>
              <a:rPr lang="en" sz="1000">
                <a:solidFill>
                  <a:schemeClr val="dk1"/>
                </a:solidFill>
                <a:latin typeface="Montserrat"/>
                <a:ea typeface="Montserrat"/>
                <a:cs typeface="Montserrat"/>
                <a:sym typeface="Montserrat"/>
              </a:rPr>
              <a:t>.</a:t>
            </a:r>
            <a:endParaRPr sz="1200">
              <a:solidFill>
                <a:schemeClr val="dk1"/>
              </a:solidFill>
              <a:latin typeface="Montserrat Medium"/>
              <a:ea typeface="Montserrat Medium"/>
              <a:cs typeface="Montserrat Medium"/>
              <a:sym typeface="Montserrat Medium"/>
            </a:endParaRPr>
          </a:p>
        </p:txBody>
      </p:sp>
      <p:pic>
        <p:nvPicPr>
          <p:cNvPr id="334" name="Google Shape;334;p55"/>
          <p:cNvPicPr preferRelativeResize="0"/>
          <p:nvPr/>
        </p:nvPicPr>
        <p:blipFill>
          <a:blip r:embed="rId3">
            <a:alphaModFix/>
          </a:blip>
          <a:stretch>
            <a:fillRect/>
          </a:stretch>
        </p:blipFill>
        <p:spPr>
          <a:xfrm>
            <a:off x="5373300" y="1243625"/>
            <a:ext cx="2885850" cy="30784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0" name="Google Shape;340;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Project manager</a:t>
            </a:r>
            <a:endParaRPr>
              <a:latin typeface="Montserrat"/>
              <a:ea typeface="Montserrat"/>
              <a:cs typeface="Montserrat"/>
              <a:sym typeface="Montserrat"/>
            </a:endParaRPr>
          </a:p>
        </p:txBody>
      </p:sp>
      <p:sp>
        <p:nvSpPr>
          <p:cNvPr id="341" name="Google Shape;341;p56"/>
          <p:cNvSpPr txBox="1"/>
          <p:nvPr/>
        </p:nvSpPr>
        <p:spPr>
          <a:xfrm>
            <a:off x="685800" y="1842900"/>
            <a:ext cx="4114800" cy="1457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t>
            </a:r>
            <a:r>
              <a:rPr lang="en" sz="1000">
                <a:solidFill>
                  <a:schemeClr val="dk1"/>
                </a:solidFill>
                <a:latin typeface="Montserrat"/>
                <a:ea typeface="Montserrat"/>
                <a:cs typeface="Montserrat"/>
                <a:sym typeface="Montserrat"/>
              </a:rPr>
              <a:t>roject manager memainkan peran kunci dalam mengelola proyek. Mereka memperkirakan semua risiko yang timbul dan memastikan penanganannya dengan rencana yang tepat selama proses produksi.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Struktur manajemen proyek yang baik memastikan bahwa proyek selesai dalam jangka waktu tertentu dan sesuai anggaran.</a:t>
            </a:r>
            <a:endParaRPr b="1" sz="1000">
              <a:solidFill>
                <a:schemeClr val="dk1"/>
              </a:solidFill>
              <a:latin typeface="Montserrat"/>
              <a:ea typeface="Montserrat"/>
              <a:cs typeface="Montserrat"/>
              <a:sym typeface="Montserrat"/>
            </a:endParaRPr>
          </a:p>
        </p:txBody>
      </p:sp>
      <p:pic>
        <p:nvPicPr>
          <p:cNvPr id="342" name="Google Shape;342;p56"/>
          <p:cNvPicPr preferRelativeResize="0"/>
          <p:nvPr/>
        </p:nvPicPr>
        <p:blipFill>
          <a:blip r:embed="rId3">
            <a:alphaModFix/>
          </a:blip>
          <a:stretch>
            <a:fillRect/>
          </a:stretch>
        </p:blipFill>
        <p:spPr>
          <a:xfrm>
            <a:off x="5305775" y="1228300"/>
            <a:ext cx="2850801" cy="31782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8" name="Google Shape;348;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Project manager</a:t>
            </a:r>
            <a:endParaRPr>
              <a:latin typeface="Montserrat"/>
              <a:ea typeface="Montserrat"/>
              <a:cs typeface="Montserrat"/>
              <a:sym typeface="Montserrat"/>
            </a:endParaRPr>
          </a:p>
        </p:txBody>
      </p:sp>
      <p:sp>
        <p:nvSpPr>
          <p:cNvPr id="349" name="Google Shape;349;p57"/>
          <p:cNvSpPr txBox="1"/>
          <p:nvPr/>
        </p:nvSpPr>
        <p:spPr>
          <a:xfrm>
            <a:off x="685800" y="1975350"/>
            <a:ext cx="4114800" cy="1192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mengikuti struktur manajemen proyek yang baik, karyawan akan memiliki pemahaman tentang </a:t>
            </a:r>
            <a:r>
              <a:rPr b="1" lang="en" sz="1000">
                <a:solidFill>
                  <a:schemeClr val="dk1"/>
                </a:solidFill>
                <a:latin typeface="Montserrat"/>
                <a:ea typeface="Montserrat"/>
                <a:cs typeface="Montserrat"/>
                <a:sym typeface="Montserrat"/>
              </a:rPr>
              <a:t>peran dan tanggung jawab</a:t>
            </a:r>
            <a:r>
              <a:rPr lang="en" sz="1000">
                <a:solidFill>
                  <a:schemeClr val="dk1"/>
                </a:solidFill>
                <a:latin typeface="Montserrat"/>
                <a:ea typeface="Montserrat"/>
                <a:cs typeface="Montserrat"/>
                <a:sym typeface="Montserrat"/>
              </a:rPr>
              <a:t> mereka.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Mereka juga akan mengetahui jadwal pengiriman (delivery) dan memiliki kesempatan untuk merencanakan jadwal mereka dengan tepat.</a:t>
            </a:r>
            <a:endParaRPr sz="1000">
              <a:solidFill>
                <a:schemeClr val="dk1"/>
              </a:solidFill>
              <a:latin typeface="Montserrat"/>
              <a:ea typeface="Montserrat"/>
              <a:cs typeface="Montserrat"/>
              <a:sym typeface="Montserrat"/>
            </a:endParaRPr>
          </a:p>
        </p:txBody>
      </p:sp>
      <p:pic>
        <p:nvPicPr>
          <p:cNvPr id="350" name="Google Shape;350;p57"/>
          <p:cNvPicPr preferRelativeResize="0"/>
          <p:nvPr/>
        </p:nvPicPr>
        <p:blipFill>
          <a:blip r:embed="rId3">
            <a:alphaModFix/>
          </a:blip>
          <a:stretch>
            <a:fillRect/>
          </a:stretch>
        </p:blipFill>
        <p:spPr>
          <a:xfrm>
            <a:off x="5220275" y="1203800"/>
            <a:ext cx="3087674" cy="30645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6" name="Google Shape;356;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Project manager</a:t>
            </a:r>
            <a:endParaRPr>
              <a:latin typeface="Montserrat"/>
              <a:ea typeface="Montserrat"/>
              <a:cs typeface="Montserrat"/>
              <a:sym typeface="Montserrat"/>
            </a:endParaRPr>
          </a:p>
        </p:txBody>
      </p:sp>
      <p:sp>
        <p:nvSpPr>
          <p:cNvPr id="357" name="Google Shape;357;p58"/>
          <p:cNvSpPr txBox="1"/>
          <p:nvPr/>
        </p:nvSpPr>
        <p:spPr>
          <a:xfrm>
            <a:off x="685800" y="2149046"/>
            <a:ext cx="4114800" cy="845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Project manager akan menerapkan sebuah metodologi yang sesuai dengan karakteristik dan tujuan proyek.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Kita akan membahas metodologi-metodologi manajemen proyek pada sesi berikutnya ya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58" name="Google Shape;358;p58"/>
          <p:cNvPicPr preferRelativeResize="0"/>
          <p:nvPr/>
        </p:nvPicPr>
        <p:blipFill>
          <a:blip r:embed="rId3">
            <a:alphaModFix/>
          </a:blip>
          <a:stretch>
            <a:fillRect/>
          </a:stretch>
        </p:blipFill>
        <p:spPr>
          <a:xfrm>
            <a:off x="5178375" y="1251350"/>
            <a:ext cx="2792224" cy="30190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4" name="Google Shape;364;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Project manager</a:t>
            </a:r>
            <a:endParaRPr>
              <a:latin typeface="Montserrat"/>
              <a:ea typeface="Montserrat"/>
              <a:cs typeface="Montserrat"/>
              <a:sym typeface="Montserrat"/>
            </a:endParaRPr>
          </a:p>
        </p:txBody>
      </p:sp>
      <p:sp>
        <p:nvSpPr>
          <p:cNvPr id="365" name="Google Shape;365;p59"/>
          <p:cNvSpPr txBox="1"/>
          <p:nvPr/>
        </p:nvSpPr>
        <p:spPr>
          <a:xfrm>
            <a:off x="685800" y="2038197"/>
            <a:ext cx="4114800" cy="1067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selain memahami metodologi, ada karakteristik lain yang perlu diingat agar proses manajemen proyek bisa sukses.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Mengingat setiap proyek melibatkan banyak aktor, project manager tidaklah cukup hanya memiliki keterampilan manajemen waktu yang baik.</a:t>
            </a:r>
            <a:endParaRPr sz="1000">
              <a:solidFill>
                <a:schemeClr val="dk1"/>
              </a:solidFill>
              <a:latin typeface="Montserrat"/>
              <a:ea typeface="Montserrat"/>
              <a:cs typeface="Montserrat"/>
              <a:sym typeface="Montserrat"/>
            </a:endParaRPr>
          </a:p>
        </p:txBody>
      </p:sp>
      <p:pic>
        <p:nvPicPr>
          <p:cNvPr id="366" name="Google Shape;366;p59"/>
          <p:cNvPicPr preferRelativeResize="0"/>
          <p:nvPr/>
        </p:nvPicPr>
        <p:blipFill>
          <a:blip r:embed="rId3">
            <a:alphaModFix/>
          </a:blip>
          <a:stretch>
            <a:fillRect/>
          </a:stretch>
        </p:blipFill>
        <p:spPr>
          <a:xfrm>
            <a:off x="5631625" y="1120825"/>
            <a:ext cx="2214101" cy="332684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2" name="Google Shape;372;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Project manager</a:t>
            </a:r>
            <a:endParaRPr>
              <a:latin typeface="Montserrat"/>
              <a:ea typeface="Montserrat"/>
              <a:cs typeface="Montserrat"/>
              <a:sym typeface="Montserrat"/>
            </a:endParaRPr>
          </a:p>
        </p:txBody>
      </p:sp>
      <p:sp>
        <p:nvSpPr>
          <p:cNvPr id="373" name="Google Shape;373;p60"/>
          <p:cNvSpPr txBox="1"/>
          <p:nvPr/>
        </p:nvSpPr>
        <p:spPr>
          <a:xfrm>
            <a:off x="685800" y="1969497"/>
            <a:ext cx="4114800" cy="120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Sebaiknya, project manager juga memiliki keterampilan sebagai berikut: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Excellent communication skills</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The ability to be a team player</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Excellent interpersonal skills</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The ability to negotiate</a:t>
            </a:r>
            <a:endParaRPr sz="1000">
              <a:solidFill>
                <a:schemeClr val="dk1"/>
              </a:solidFill>
              <a:latin typeface="Montserrat"/>
              <a:ea typeface="Montserrat"/>
              <a:cs typeface="Montserrat"/>
              <a:sym typeface="Montserrat"/>
            </a:endParaRPr>
          </a:p>
        </p:txBody>
      </p:sp>
      <p:pic>
        <p:nvPicPr>
          <p:cNvPr id="374" name="Google Shape;374;p60"/>
          <p:cNvPicPr preferRelativeResize="0"/>
          <p:nvPr/>
        </p:nvPicPr>
        <p:blipFill>
          <a:blip r:embed="rId3">
            <a:alphaModFix/>
          </a:blip>
          <a:stretch>
            <a:fillRect/>
          </a:stretch>
        </p:blipFill>
        <p:spPr>
          <a:xfrm>
            <a:off x="5665525" y="962725"/>
            <a:ext cx="2164874" cy="34419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0" name="Google Shape;380;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Project manager</a:t>
            </a:r>
            <a:endParaRPr>
              <a:latin typeface="Montserrat"/>
              <a:ea typeface="Montserrat"/>
              <a:cs typeface="Montserrat"/>
              <a:sym typeface="Montserrat"/>
            </a:endParaRPr>
          </a:p>
        </p:txBody>
      </p:sp>
      <p:sp>
        <p:nvSpPr>
          <p:cNvPr id="381" name="Google Shape;381;p61"/>
          <p:cNvSpPr txBox="1"/>
          <p:nvPr/>
        </p:nvSpPr>
        <p:spPr>
          <a:xfrm>
            <a:off x="685800" y="1407300"/>
            <a:ext cx="4114800" cy="2328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F</a:t>
            </a:r>
            <a:r>
              <a:rPr b="1" lang="en" sz="1600">
                <a:solidFill>
                  <a:srgbClr val="743673"/>
                </a:solidFill>
                <a:highlight>
                  <a:schemeClr val="lt1"/>
                </a:highlight>
                <a:latin typeface="Montserrat"/>
                <a:ea typeface="Montserrat"/>
                <a:cs typeface="Montserrat"/>
                <a:sym typeface="Montserrat"/>
              </a:rPr>
              <a:t>aktor kunci penentu keberhasilan proyek~</a:t>
            </a:r>
            <a:endParaRPr b="1" i="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Project manager yang berpengalaman percaya bahwa ada dua faktor kunci dalam menentukan keberhasilan suatu proyek, antara lain: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b="1" lang="en" sz="1000">
                <a:solidFill>
                  <a:schemeClr val="dk1"/>
                </a:solidFill>
                <a:latin typeface="Montserrat"/>
                <a:ea typeface="Montserrat"/>
                <a:cs typeface="Montserrat"/>
                <a:sym typeface="Montserrat"/>
              </a:rPr>
              <a:t>Relevansi saat merekrut atau memilih anggota proyek dengan posisi proyek sangat penting</a:t>
            </a:r>
            <a:r>
              <a:rPr lang="en" sz="1000">
                <a:solidFill>
                  <a:schemeClr val="dk1"/>
                </a:solidFill>
                <a:latin typeface="Montserrat"/>
                <a:ea typeface="Montserrat"/>
                <a:cs typeface="Montserrat"/>
                <a:sym typeface="Montserrat"/>
              </a:rPr>
              <a:t>. Dalam artian, perekrutan anggota harus ditangani dengan disiplin dan ketelitian yang sama seperti perekrutan karyawan baru untuk mengisi posisi dalam bisnis.</a:t>
            </a:r>
            <a:endParaRPr sz="1000">
              <a:solidFill>
                <a:schemeClr val="dk1"/>
              </a:solidFill>
              <a:latin typeface="Montserrat"/>
              <a:ea typeface="Montserrat"/>
              <a:cs typeface="Montserrat"/>
              <a:sym typeface="Montserrat"/>
            </a:endParaRPr>
          </a:p>
        </p:txBody>
      </p:sp>
      <p:pic>
        <p:nvPicPr>
          <p:cNvPr id="382" name="Google Shape;382;p61"/>
          <p:cNvPicPr preferRelativeResize="0"/>
          <p:nvPr/>
        </p:nvPicPr>
        <p:blipFill>
          <a:blip r:embed="rId3">
            <a:alphaModFix/>
          </a:blip>
          <a:stretch>
            <a:fillRect/>
          </a:stretch>
        </p:blipFill>
        <p:spPr>
          <a:xfrm>
            <a:off x="5257800" y="1765675"/>
            <a:ext cx="3360575" cy="21878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8" name="Google Shape;388;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Project manager</a:t>
            </a:r>
            <a:endParaRPr>
              <a:latin typeface="Montserrat"/>
              <a:ea typeface="Montserrat"/>
              <a:cs typeface="Montserrat"/>
              <a:sym typeface="Montserrat"/>
            </a:endParaRPr>
          </a:p>
        </p:txBody>
      </p:sp>
      <p:sp>
        <p:nvSpPr>
          <p:cNvPr id="389" name="Google Shape;389;p62"/>
          <p:cNvSpPr txBox="1"/>
          <p:nvPr/>
        </p:nvSpPr>
        <p:spPr>
          <a:xfrm>
            <a:off x="685800" y="2212346"/>
            <a:ext cx="4114800" cy="7188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AutoNum type="arabicPeriod" startAt="2"/>
            </a:pPr>
            <a:r>
              <a:rPr b="1" lang="en" sz="1000">
                <a:solidFill>
                  <a:schemeClr val="dk1"/>
                </a:solidFill>
                <a:latin typeface="Montserrat"/>
                <a:ea typeface="Montserrat"/>
                <a:cs typeface="Montserrat"/>
                <a:sym typeface="Montserrat"/>
              </a:rPr>
              <a:t>Metodologi yang terdokumentasi dengan baik</a:t>
            </a:r>
            <a:r>
              <a:rPr lang="en" sz="1000">
                <a:solidFill>
                  <a:schemeClr val="dk1"/>
                </a:solidFill>
                <a:latin typeface="Montserrat"/>
                <a:ea typeface="Montserrat"/>
                <a:cs typeface="Montserrat"/>
                <a:sym typeface="Montserrat"/>
              </a:rPr>
              <a:t>, di mana dibuat sederhana dan mudah beradaptasi terhadap berbagai ukuran proyek, merupakan landasan penting untuk memastikan keberhasilan proyek.</a:t>
            </a:r>
            <a:endParaRPr sz="1000">
              <a:solidFill>
                <a:schemeClr val="dk1"/>
              </a:solidFill>
              <a:latin typeface="Montserrat"/>
              <a:ea typeface="Montserrat"/>
              <a:cs typeface="Montserrat"/>
              <a:sym typeface="Montserrat"/>
            </a:endParaRPr>
          </a:p>
        </p:txBody>
      </p:sp>
      <p:pic>
        <p:nvPicPr>
          <p:cNvPr id="390" name="Google Shape;390;p62"/>
          <p:cNvPicPr preferRelativeResize="0"/>
          <p:nvPr/>
        </p:nvPicPr>
        <p:blipFill>
          <a:blip r:embed="rId3">
            <a:alphaModFix/>
          </a:blip>
          <a:stretch>
            <a:fillRect/>
          </a:stretch>
        </p:blipFill>
        <p:spPr>
          <a:xfrm>
            <a:off x="5404550" y="1055950"/>
            <a:ext cx="2527201" cy="338124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6" name="Google Shape;396;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Project manager</a:t>
            </a:r>
            <a:endParaRPr>
              <a:latin typeface="Montserrat"/>
              <a:ea typeface="Montserrat"/>
              <a:cs typeface="Montserrat"/>
              <a:sym typeface="Montserrat"/>
            </a:endParaRPr>
          </a:p>
        </p:txBody>
      </p:sp>
      <p:sp>
        <p:nvSpPr>
          <p:cNvPr id="397" name="Google Shape;397;p63"/>
          <p:cNvSpPr txBox="1"/>
          <p:nvPr/>
        </p:nvSpPr>
        <p:spPr>
          <a:xfrm>
            <a:off x="685800" y="1880247"/>
            <a:ext cx="4114800" cy="1383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Metodologi yang terdokumentasi </a:t>
            </a:r>
            <a:r>
              <a:rPr lang="en" sz="1000">
                <a:solidFill>
                  <a:schemeClr val="dk1"/>
                </a:solidFill>
                <a:latin typeface="Montserrat"/>
                <a:ea typeface="Montserrat"/>
                <a:cs typeface="Montserrat"/>
                <a:sym typeface="Montserrat"/>
              </a:rPr>
              <a:t>ini</a:t>
            </a:r>
            <a:r>
              <a:rPr lang="en" sz="1000">
                <a:solidFill>
                  <a:schemeClr val="dk1"/>
                </a:solidFill>
                <a:latin typeface="Montserrat"/>
                <a:ea typeface="Montserrat"/>
                <a:cs typeface="Montserrat"/>
                <a:sym typeface="Montserrat"/>
              </a:rPr>
              <a:t> </a:t>
            </a:r>
            <a:r>
              <a:rPr b="1" lang="en" sz="1000">
                <a:solidFill>
                  <a:schemeClr val="dk1"/>
                </a:solidFill>
                <a:latin typeface="Montserrat"/>
                <a:ea typeface="Montserrat"/>
                <a:cs typeface="Montserrat"/>
                <a:sym typeface="Montserrat"/>
              </a:rPr>
              <a:t>perlu dikomunikasikan kepada anggota tim proyek sebagai bagian dari tahap inisiasi.</a:t>
            </a:r>
            <a:r>
              <a:rPr lang="en" sz="1000">
                <a:solidFill>
                  <a:schemeClr val="dk1"/>
                </a:solidFill>
                <a:latin typeface="Montserrat"/>
                <a:ea typeface="Montserrat"/>
                <a:cs typeface="Montserrat"/>
                <a:sym typeface="Montserrat"/>
              </a:rPr>
              <a:t> Begitu pula dengan penyesuaian metodologi dengan kebutuhan spesifik dari proyek yang sedang dilakukan.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tersebut akan memastikan bahwa setiap orang memiliki pemahaman yang jelas tentang bagaimana kemajuan dan apa yang diharapkan pada setiap tahap.</a:t>
            </a:r>
            <a:endParaRPr sz="1000">
              <a:solidFill>
                <a:schemeClr val="dk1"/>
              </a:solidFill>
              <a:latin typeface="Montserrat"/>
              <a:ea typeface="Montserrat"/>
              <a:cs typeface="Montserrat"/>
              <a:sym typeface="Montserrat"/>
            </a:endParaRPr>
          </a:p>
        </p:txBody>
      </p:sp>
      <p:pic>
        <p:nvPicPr>
          <p:cNvPr id="398" name="Google Shape;398;p63"/>
          <p:cNvPicPr preferRelativeResize="0"/>
          <p:nvPr/>
        </p:nvPicPr>
        <p:blipFill>
          <a:blip r:embed="rId3">
            <a:alphaModFix/>
          </a:blip>
          <a:stretch>
            <a:fillRect/>
          </a:stretch>
        </p:blipFill>
        <p:spPr>
          <a:xfrm>
            <a:off x="5059025" y="1600301"/>
            <a:ext cx="3483049" cy="213842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04" name="Google Shape;404;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5" name="Google Shape;405;p64"/>
          <p:cNvSpPr txBox="1"/>
          <p:nvPr/>
        </p:nvSpPr>
        <p:spPr>
          <a:xfrm>
            <a:off x="685800" y="2065850"/>
            <a:ext cx="4903500" cy="1262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rgbClr val="FFFFFF"/>
                </a:solidFill>
                <a:latin typeface="Montserrat"/>
                <a:ea typeface="Montserrat"/>
                <a:cs typeface="Montserrat"/>
                <a:sym typeface="Montserrat"/>
              </a:rPr>
              <a:t>Pertanyaannya, kalau semua divisi sudah dibentuk dalam tim, </a:t>
            </a:r>
            <a:r>
              <a:rPr b="1" lang="en">
                <a:solidFill>
                  <a:srgbClr val="F2AB2F"/>
                </a:solidFill>
                <a:latin typeface="Montserrat"/>
                <a:ea typeface="Montserrat"/>
                <a:cs typeface="Montserrat"/>
                <a:sym typeface="Montserrat"/>
              </a:rPr>
              <a:t>lalu mengapa tim UI/UX membutuhkan project manager?</a:t>
            </a:r>
            <a:endParaRPr b="1">
              <a:solidFill>
                <a:srgbClr val="F2AB2F"/>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F2AB2F"/>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p:txBody>
      </p:sp>
      <p:pic>
        <p:nvPicPr>
          <p:cNvPr id="406" name="Google Shape;406;p64"/>
          <p:cNvPicPr preferRelativeResize="0"/>
          <p:nvPr/>
        </p:nvPicPr>
        <p:blipFill>
          <a:blip r:embed="rId3">
            <a:alphaModFix/>
          </a:blip>
          <a:stretch>
            <a:fillRect/>
          </a:stretch>
        </p:blipFill>
        <p:spPr>
          <a:xfrm>
            <a:off x="6100527" y="1132250"/>
            <a:ext cx="2194800" cy="32367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2" name="Google Shape;412;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13" name="Google Shape;413;p65"/>
          <p:cNvSpPr txBox="1"/>
          <p:nvPr/>
        </p:nvSpPr>
        <p:spPr>
          <a:xfrm>
            <a:off x="685800" y="1610398"/>
            <a:ext cx="4114800" cy="1922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Mengapa tim UI/UX membutuhkan project manager?</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Perlu diingat bahwa proyek UX sangat kompleks dan sering kali melibatkan banyak kontributor maupun pemangku kepentingan yang berbeda.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manajer proyek yang baik bertugas memfasilitasi komunikasi antara tim proyek dengan klien untuk menetapkan tujuan dan ekspektasi.</a:t>
            </a:r>
            <a:endParaRPr sz="1000">
              <a:solidFill>
                <a:schemeClr val="dk1"/>
              </a:solidFill>
              <a:latin typeface="Montserrat"/>
              <a:ea typeface="Montserrat"/>
              <a:cs typeface="Montserrat"/>
              <a:sym typeface="Montserrat"/>
            </a:endParaRPr>
          </a:p>
        </p:txBody>
      </p:sp>
      <p:pic>
        <p:nvPicPr>
          <p:cNvPr id="414" name="Google Shape;414;p65"/>
          <p:cNvPicPr preferRelativeResize="0"/>
          <p:nvPr/>
        </p:nvPicPr>
        <p:blipFill>
          <a:blip r:embed="rId3">
            <a:alphaModFix/>
          </a:blip>
          <a:stretch>
            <a:fillRect/>
          </a:stretch>
        </p:blipFill>
        <p:spPr>
          <a:xfrm>
            <a:off x="5135825" y="1413875"/>
            <a:ext cx="3286525" cy="269327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0" name="Google Shape;420;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21" name="Google Shape;421;p66"/>
          <p:cNvSpPr txBox="1"/>
          <p:nvPr/>
        </p:nvSpPr>
        <p:spPr>
          <a:xfrm>
            <a:off x="685800" y="1792950"/>
            <a:ext cx="4114800" cy="1557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Jangan lupa kalau tugas PM adalah memastikan penyelesaian proyek bisa tepat waktu, efektif, dan terjangkau.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hadirnya peran PM, maka para </a:t>
            </a:r>
            <a:r>
              <a:rPr lang="en" sz="1000">
                <a:solidFill>
                  <a:schemeClr val="dk1"/>
                </a:solidFill>
                <a:latin typeface="Montserrat"/>
                <a:ea typeface="Montserrat"/>
                <a:cs typeface="Montserrat"/>
                <a:sym typeface="Montserrat"/>
              </a:rPr>
              <a:t>peneliti, perancang, dan ahli strategi UX bisa fokus pada masalah utama tanpa kehilangan gambaran besarnya.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Ada beberapa hal yang membuat PM penting bagi sebuah proses desain UX. Yuk kita telusuri dan simak bersama ~</a:t>
            </a:r>
            <a:endParaRPr sz="1000">
              <a:solidFill>
                <a:schemeClr val="dk1"/>
              </a:solidFill>
              <a:latin typeface="Montserrat"/>
              <a:ea typeface="Montserrat"/>
              <a:cs typeface="Montserrat"/>
              <a:sym typeface="Montserrat"/>
            </a:endParaRPr>
          </a:p>
        </p:txBody>
      </p:sp>
      <p:pic>
        <p:nvPicPr>
          <p:cNvPr id="422" name="Google Shape;422;p66"/>
          <p:cNvPicPr preferRelativeResize="0"/>
          <p:nvPr/>
        </p:nvPicPr>
        <p:blipFill>
          <a:blip r:embed="rId3">
            <a:alphaModFix/>
          </a:blip>
          <a:stretch>
            <a:fillRect/>
          </a:stretch>
        </p:blipFill>
        <p:spPr>
          <a:xfrm>
            <a:off x="5631625" y="1120825"/>
            <a:ext cx="2214101" cy="332684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8" name="Google Shape;428;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29" name="Google Shape;429;p67"/>
          <p:cNvSpPr txBox="1"/>
          <p:nvPr/>
        </p:nvSpPr>
        <p:spPr>
          <a:xfrm>
            <a:off x="685800" y="1606800"/>
            <a:ext cx="4114800" cy="19299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Memandu proses desain dari strategi hingga developmen</a:t>
            </a:r>
            <a:r>
              <a:rPr b="1" lang="en" sz="1600">
                <a:solidFill>
                  <a:srgbClr val="743673"/>
                </a:solidFill>
                <a:highlight>
                  <a:schemeClr val="lt1"/>
                </a:highlight>
                <a:latin typeface="Montserrat"/>
                <a:ea typeface="Montserrat"/>
                <a:cs typeface="Montserrat"/>
                <a:sym typeface="Montserrat"/>
              </a:rPr>
              <a:t>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Kalau dianalogikan, kamu tahu kan gunanya senter saat berada di kegelapan? Yup, senter dengan baterai penuh bisa menyoroti dan memandu kamu melewati ruangan gelap.</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Udah kebayang kan? Bahwa peran project manager (PM) sama seperti itu. </a:t>
            </a:r>
            <a:r>
              <a:rPr b="1" lang="en" sz="1000">
                <a:solidFill>
                  <a:schemeClr val="dk1"/>
                </a:solidFill>
                <a:latin typeface="Montserrat"/>
                <a:ea typeface="Montserrat"/>
                <a:cs typeface="Montserrat"/>
                <a:sym typeface="Montserrat"/>
              </a:rPr>
              <a:t>Ia berperan membantu menyoroti peluang dan tantangan untuk memandu kamu melewati sebuah proyek</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430" name="Google Shape;430;p67"/>
          <p:cNvPicPr preferRelativeResize="0"/>
          <p:nvPr/>
        </p:nvPicPr>
        <p:blipFill>
          <a:blip r:embed="rId3">
            <a:alphaModFix/>
          </a:blip>
          <a:stretch>
            <a:fillRect/>
          </a:stretch>
        </p:blipFill>
        <p:spPr>
          <a:xfrm>
            <a:off x="5082075" y="1327986"/>
            <a:ext cx="3349099" cy="26178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6" name="Google Shape;436;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37" name="Google Shape;437;p68"/>
          <p:cNvSpPr txBox="1"/>
          <p:nvPr/>
        </p:nvSpPr>
        <p:spPr>
          <a:xfrm>
            <a:off x="685800" y="1811097"/>
            <a:ext cx="4114800" cy="15213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 Mengantisipasi hambatan</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Manajer proyek membuat kamu dan tim </a:t>
            </a:r>
            <a:r>
              <a:rPr b="1" lang="en" sz="1000">
                <a:solidFill>
                  <a:schemeClr val="dk1"/>
                </a:solidFill>
                <a:latin typeface="Montserrat"/>
                <a:ea typeface="Montserrat"/>
                <a:cs typeface="Montserrat"/>
                <a:sym typeface="Montserrat"/>
              </a:rPr>
              <a:t>tetap teratur selama proyek berlangsung, menandai potensi risiko, dan menghilangkan hambatan</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demikian, tim kamu bisa fokus dan melakukan yang terbaik sesuai scope pekerjaan.</a:t>
            </a:r>
            <a:endParaRPr sz="1000">
              <a:solidFill>
                <a:schemeClr val="dk1"/>
              </a:solidFill>
              <a:latin typeface="Montserrat"/>
              <a:ea typeface="Montserrat"/>
              <a:cs typeface="Montserrat"/>
              <a:sym typeface="Montserrat"/>
            </a:endParaRPr>
          </a:p>
        </p:txBody>
      </p:sp>
      <p:pic>
        <p:nvPicPr>
          <p:cNvPr id="438" name="Google Shape;438;p68"/>
          <p:cNvPicPr preferRelativeResize="0"/>
          <p:nvPr/>
        </p:nvPicPr>
        <p:blipFill>
          <a:blip r:embed="rId3">
            <a:alphaModFix/>
          </a:blip>
          <a:stretch>
            <a:fillRect/>
          </a:stretch>
        </p:blipFill>
        <p:spPr>
          <a:xfrm>
            <a:off x="5143475" y="1264175"/>
            <a:ext cx="3321425" cy="281224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4" name="Google Shape;444;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45" name="Google Shape;445;p69"/>
          <p:cNvSpPr txBox="1"/>
          <p:nvPr/>
        </p:nvSpPr>
        <p:spPr>
          <a:xfrm>
            <a:off x="685800" y="2043450"/>
            <a:ext cx="4114800" cy="1056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Mengidentifikasi masalah sebelum terjadi atau mendahului "berita buruk" membuat tim memiliki waktu untuk melakukan penyesuaian, sehingga tidak terjebak pada satu hambatan.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Pemecahan masalah tingkat tinggi ini akan memungkinkan tim kamu mengerjakan proyek secara efisien dan percaya diri.</a:t>
            </a:r>
            <a:endParaRPr b="1" sz="1600">
              <a:solidFill>
                <a:srgbClr val="743673"/>
              </a:solidFill>
              <a:highlight>
                <a:schemeClr val="lt1"/>
              </a:highlight>
              <a:latin typeface="Montserrat"/>
              <a:ea typeface="Montserrat"/>
              <a:cs typeface="Montserrat"/>
              <a:sym typeface="Montserrat"/>
            </a:endParaRPr>
          </a:p>
        </p:txBody>
      </p:sp>
      <p:pic>
        <p:nvPicPr>
          <p:cNvPr id="446" name="Google Shape;446;p69"/>
          <p:cNvPicPr preferRelativeResize="0"/>
          <p:nvPr/>
        </p:nvPicPr>
        <p:blipFill>
          <a:blip r:embed="rId3">
            <a:alphaModFix/>
          </a:blip>
          <a:stretch>
            <a:fillRect/>
          </a:stretch>
        </p:blipFill>
        <p:spPr>
          <a:xfrm>
            <a:off x="5143475" y="1264175"/>
            <a:ext cx="3321425" cy="281224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2" name="Google Shape;452;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53" name="Google Shape;453;p70"/>
          <p:cNvSpPr txBox="1"/>
          <p:nvPr/>
        </p:nvSpPr>
        <p:spPr>
          <a:xfrm>
            <a:off x="685800" y="1880247"/>
            <a:ext cx="4114800" cy="13830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 Menjaga alur komunikasi agar tetap terbuka</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Manajer proyek </a:t>
            </a:r>
            <a:r>
              <a:rPr b="1" lang="en" sz="1000">
                <a:solidFill>
                  <a:schemeClr val="dk1"/>
                </a:solidFill>
                <a:latin typeface="Montserrat"/>
                <a:ea typeface="Montserrat"/>
                <a:cs typeface="Montserrat"/>
                <a:sym typeface="Montserrat"/>
              </a:rPr>
              <a:t>menangani logistik dan komunikasi</a:t>
            </a:r>
            <a:r>
              <a:rPr lang="en" sz="1000">
                <a:solidFill>
                  <a:schemeClr val="dk1"/>
                </a:solidFill>
                <a:latin typeface="Montserrat"/>
                <a:ea typeface="Montserrat"/>
                <a:cs typeface="Montserrat"/>
                <a:sym typeface="Montserrat"/>
              </a:rPr>
              <a:t>, baik strategi, penggambaran, desain, penelitian, ekspresi teknik, dan sebagainya. Hal ini menjaga agar tim pengiriman lainnya tetap fokus dan melakukan yang terbaik.</a:t>
            </a:r>
            <a:endParaRPr sz="1000">
              <a:solidFill>
                <a:schemeClr val="dk1"/>
              </a:solidFill>
              <a:latin typeface="Montserrat"/>
              <a:ea typeface="Montserrat"/>
              <a:cs typeface="Montserrat"/>
              <a:sym typeface="Montserrat"/>
            </a:endParaRPr>
          </a:p>
        </p:txBody>
      </p:sp>
      <p:pic>
        <p:nvPicPr>
          <p:cNvPr id="454" name="Google Shape;454;p70"/>
          <p:cNvPicPr preferRelativeResize="0"/>
          <p:nvPr/>
        </p:nvPicPr>
        <p:blipFill>
          <a:blip r:embed="rId3">
            <a:alphaModFix/>
          </a:blip>
          <a:stretch>
            <a:fillRect/>
          </a:stretch>
        </p:blipFill>
        <p:spPr>
          <a:xfrm>
            <a:off x="5184725" y="1520025"/>
            <a:ext cx="3197276" cy="25027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0" name="Google Shape;460;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61" name="Google Shape;461;p71"/>
          <p:cNvSpPr txBox="1"/>
          <p:nvPr/>
        </p:nvSpPr>
        <p:spPr>
          <a:xfrm>
            <a:off x="685800" y="1969497"/>
            <a:ext cx="4114800" cy="120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Meski demikian, penting kemudian untuk memiliki tim yang kolaboratif dan suportif.</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Membentuk tim berisi anggota yang memang </a:t>
            </a:r>
            <a:r>
              <a:rPr b="1" lang="en" sz="1000">
                <a:solidFill>
                  <a:schemeClr val="dk1"/>
                </a:solidFill>
                <a:latin typeface="Montserrat"/>
                <a:ea typeface="Montserrat"/>
                <a:cs typeface="Montserrat"/>
                <a:sym typeface="Montserrat"/>
              </a:rPr>
              <a:t>sesuai dengan bidangnya tanpa memberikan beban di luar semestinya</a:t>
            </a:r>
            <a:r>
              <a:rPr lang="en" sz="1000">
                <a:solidFill>
                  <a:schemeClr val="dk1"/>
                </a:solidFill>
                <a:latin typeface="Montserrat"/>
                <a:ea typeface="Montserrat"/>
                <a:cs typeface="Montserrat"/>
                <a:sym typeface="Montserrat"/>
              </a:rPr>
              <a:t>, adalah saus rahasia yang memungkinkan tim proyek bekerja secara konsisten dan berkualitas tinggi.</a:t>
            </a:r>
            <a:endParaRPr sz="1000">
              <a:solidFill>
                <a:schemeClr val="dk1"/>
              </a:solidFill>
              <a:latin typeface="Montserrat"/>
              <a:ea typeface="Montserrat"/>
              <a:cs typeface="Montserrat"/>
              <a:sym typeface="Montserrat"/>
            </a:endParaRPr>
          </a:p>
        </p:txBody>
      </p:sp>
      <p:pic>
        <p:nvPicPr>
          <p:cNvPr id="462" name="Google Shape;462;p71"/>
          <p:cNvPicPr preferRelativeResize="0"/>
          <p:nvPr/>
        </p:nvPicPr>
        <p:blipFill>
          <a:blip r:embed="rId3">
            <a:alphaModFix/>
          </a:blip>
          <a:stretch>
            <a:fillRect/>
          </a:stretch>
        </p:blipFill>
        <p:spPr>
          <a:xfrm>
            <a:off x="5052800" y="1380225"/>
            <a:ext cx="3629749" cy="26881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8" name="Google Shape;468;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69" name="Google Shape;469;p72"/>
          <p:cNvSpPr txBox="1"/>
          <p:nvPr/>
        </p:nvSpPr>
        <p:spPr>
          <a:xfrm>
            <a:off x="685800" y="1530450"/>
            <a:ext cx="4114800" cy="20826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 Memiliki pengetahuan tentang berbagai klien dan proyek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Manajer proyek UX sering kali memiliki kedalaman dan keluasan pengetahuan yang berbeda dari kontributor lain di dalam organisasi.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Mereka kerap bekerja dengan berbagai klien, proyek, dan alat kolaborasi. Sehingga, mereka terbilang akrab dengan tren industri serta memiliki pemahaman mendalam tentang praktik terbaik perusahaan.</a:t>
            </a:r>
            <a:endParaRPr sz="1000">
              <a:solidFill>
                <a:schemeClr val="dk1"/>
              </a:solidFill>
              <a:latin typeface="Montserrat"/>
              <a:ea typeface="Montserrat"/>
              <a:cs typeface="Montserrat"/>
              <a:sym typeface="Montserrat"/>
            </a:endParaRPr>
          </a:p>
        </p:txBody>
      </p:sp>
      <p:pic>
        <p:nvPicPr>
          <p:cNvPr id="470" name="Google Shape;470;p72"/>
          <p:cNvPicPr preferRelativeResize="0"/>
          <p:nvPr/>
        </p:nvPicPr>
        <p:blipFill>
          <a:blip r:embed="rId3">
            <a:alphaModFix/>
          </a:blip>
          <a:stretch>
            <a:fillRect/>
          </a:stretch>
        </p:blipFill>
        <p:spPr>
          <a:xfrm>
            <a:off x="5143535" y="1389425"/>
            <a:ext cx="3392341" cy="25717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6" name="Google Shape;476;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77" name="Google Shape;477;p73"/>
          <p:cNvSpPr txBox="1"/>
          <p:nvPr/>
        </p:nvSpPr>
        <p:spPr>
          <a:xfrm>
            <a:off x="685800" y="1990647"/>
            <a:ext cx="4114800" cy="11622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 Dapat mengadopsi alat kolaborasi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Manajer proyek terampil dalam menyiapkan dan memelihara alat untuk kolaborasi antara tim UX dengan klien. Jika diperlukan, sebagian besar PM menyambut baik pembelajaran baru ataupun alat asing yang telah diadopsi klien.</a:t>
            </a:r>
            <a:endParaRPr sz="1200">
              <a:solidFill>
                <a:schemeClr val="dk1"/>
              </a:solidFill>
              <a:latin typeface="Montserrat Medium"/>
              <a:ea typeface="Montserrat Medium"/>
              <a:cs typeface="Montserrat Medium"/>
              <a:sym typeface="Montserrat Medium"/>
            </a:endParaRPr>
          </a:p>
        </p:txBody>
      </p:sp>
      <p:pic>
        <p:nvPicPr>
          <p:cNvPr id="478" name="Google Shape;478;p73"/>
          <p:cNvPicPr preferRelativeResize="0"/>
          <p:nvPr/>
        </p:nvPicPr>
        <p:blipFill>
          <a:blip r:embed="rId3">
            <a:alphaModFix/>
          </a:blip>
          <a:stretch>
            <a:fillRect/>
          </a:stretch>
        </p:blipFill>
        <p:spPr>
          <a:xfrm>
            <a:off x="5219400" y="1241950"/>
            <a:ext cx="3056249" cy="29672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7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4" name="Google Shape;484;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85" name="Google Shape;485;p74"/>
          <p:cNvSpPr txBox="1"/>
          <p:nvPr/>
        </p:nvSpPr>
        <p:spPr>
          <a:xfrm>
            <a:off x="685800" y="1964247"/>
            <a:ext cx="4114800" cy="1215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Dari sana, kamu dan klien sama-sama mendapatkan keuntungan. Lho kok bisa? Bisa dong.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dan tim internal menjadi diringankan bebannya karena tidak harus menjadi ahli dalam alat baru ini. Sedang untuk klien, mereka bisa menghemat waktu dan tetap aware dengan prosesi proyek melalui sistem messenger mereka sendiri.</a:t>
            </a:r>
            <a:endParaRPr sz="1200">
              <a:solidFill>
                <a:schemeClr val="dk1"/>
              </a:solidFill>
              <a:latin typeface="Montserrat Medium"/>
              <a:ea typeface="Montserrat Medium"/>
              <a:cs typeface="Montserrat Medium"/>
              <a:sym typeface="Montserrat Medium"/>
            </a:endParaRPr>
          </a:p>
        </p:txBody>
      </p:sp>
      <p:pic>
        <p:nvPicPr>
          <p:cNvPr id="486" name="Google Shape;486;p74"/>
          <p:cNvPicPr preferRelativeResize="0"/>
          <p:nvPr/>
        </p:nvPicPr>
        <p:blipFill>
          <a:blip r:embed="rId3">
            <a:alphaModFix/>
          </a:blip>
          <a:stretch>
            <a:fillRect/>
          </a:stretch>
        </p:blipFill>
        <p:spPr>
          <a:xfrm>
            <a:off x="5512000" y="1174450"/>
            <a:ext cx="2583650" cy="3178327"/>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7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2" name="Google Shape;492;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93" name="Google Shape;493;p75"/>
          <p:cNvSpPr txBox="1"/>
          <p:nvPr/>
        </p:nvSpPr>
        <p:spPr>
          <a:xfrm>
            <a:off x="685800" y="1540050"/>
            <a:ext cx="4114800" cy="20634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6) Memikirkan sisi bisnis dan memperjuangkan budaya yang baik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b="1" lang="en" sz="1000">
                <a:solidFill>
                  <a:schemeClr val="dk1"/>
                </a:solidFill>
                <a:latin typeface="Montserrat"/>
                <a:ea typeface="Montserrat"/>
                <a:cs typeface="Montserrat"/>
                <a:sym typeface="Montserrat"/>
              </a:rPr>
              <a:t>Manajer proyek adalah pemikir bisnis tetap di perusahaan</a:t>
            </a:r>
            <a:r>
              <a:rPr lang="en" sz="1000">
                <a:solidFill>
                  <a:schemeClr val="dk1"/>
                </a:solidFill>
                <a:latin typeface="Montserrat"/>
                <a:ea typeface="Montserrat"/>
                <a:cs typeface="Montserrat"/>
                <a:sym typeface="Montserrat"/>
              </a:rPr>
              <a:t>. Mereka memikirkan gambaran besar dari hasil akhir serta logistik sehari-hari. Di sisi lain</a:t>
            </a:r>
            <a:r>
              <a:rPr lang="en" sz="1000">
                <a:solidFill>
                  <a:schemeClr val="dk1"/>
                </a:solidFill>
                <a:latin typeface="Montserrat"/>
                <a:ea typeface="Montserrat"/>
                <a:cs typeface="Montserrat"/>
                <a:sym typeface="Montserrat"/>
              </a:rPr>
              <a:t>, PM memperkuat budaya perusahaan dan moral tim.</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menjaga denyut nadi di tim internal dan klien, PM dapat mengidentifikasi titik nyeri dan mengukur apakah klien terlibat dan bahagia.</a:t>
            </a:r>
            <a:endParaRPr sz="1000">
              <a:solidFill>
                <a:schemeClr val="dk1"/>
              </a:solidFill>
              <a:latin typeface="Montserrat"/>
              <a:ea typeface="Montserrat"/>
              <a:cs typeface="Montserrat"/>
              <a:sym typeface="Montserrat"/>
            </a:endParaRPr>
          </a:p>
        </p:txBody>
      </p:sp>
      <p:pic>
        <p:nvPicPr>
          <p:cNvPr id="494" name="Google Shape;494;p75"/>
          <p:cNvPicPr preferRelativeResize="0"/>
          <p:nvPr/>
        </p:nvPicPr>
        <p:blipFill>
          <a:blip r:embed="rId3">
            <a:alphaModFix/>
          </a:blip>
          <a:stretch>
            <a:fillRect/>
          </a:stretch>
        </p:blipFill>
        <p:spPr>
          <a:xfrm>
            <a:off x="5257800" y="1390475"/>
            <a:ext cx="3319350" cy="29315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0" name="Google Shape;500;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501" name="Google Shape;501;p76"/>
          <p:cNvSpPr txBox="1"/>
          <p:nvPr/>
        </p:nvSpPr>
        <p:spPr>
          <a:xfrm>
            <a:off x="685800" y="2111849"/>
            <a:ext cx="4114800" cy="9198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Jadi, bisa disimpulkan kalau…</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00000"/>
              </a:lnSpc>
              <a:spcBef>
                <a:spcPts val="1600"/>
              </a:spcBef>
              <a:spcAft>
                <a:spcPts val="0"/>
              </a:spcAft>
              <a:buNone/>
            </a:pPr>
            <a:r>
              <a:rPr lang="en" sz="1000">
                <a:solidFill>
                  <a:schemeClr val="dk1"/>
                </a:solidFill>
                <a:latin typeface="Montserrat"/>
                <a:ea typeface="Montserrat"/>
                <a:cs typeface="Montserrat"/>
                <a:sym typeface="Montserrat"/>
              </a:rPr>
              <a:t>Tim UX yang berisi desainer, peneliti, dan ahli strategi bisa melakukan yang terbaik dan mengatasi berbagai tantangan dengan dukungan manajer proyek.</a:t>
            </a:r>
            <a:endParaRPr sz="1200">
              <a:solidFill>
                <a:schemeClr val="dk1"/>
              </a:solidFill>
              <a:latin typeface="Montserrat Medium"/>
              <a:ea typeface="Montserrat Medium"/>
              <a:cs typeface="Montserrat Medium"/>
              <a:sym typeface="Montserrat Medium"/>
            </a:endParaRPr>
          </a:p>
        </p:txBody>
      </p:sp>
      <p:pic>
        <p:nvPicPr>
          <p:cNvPr id="502" name="Google Shape;502;p76"/>
          <p:cNvPicPr preferRelativeResize="0"/>
          <p:nvPr/>
        </p:nvPicPr>
        <p:blipFill>
          <a:blip r:embed="rId3">
            <a:alphaModFix/>
          </a:blip>
          <a:stretch>
            <a:fillRect/>
          </a:stretch>
        </p:blipFill>
        <p:spPr>
          <a:xfrm>
            <a:off x="5718850" y="997978"/>
            <a:ext cx="2142250" cy="34765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7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8" name="Google Shape;508;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509" name="Google Shape;509;p77"/>
          <p:cNvSpPr txBox="1"/>
          <p:nvPr/>
        </p:nvSpPr>
        <p:spPr>
          <a:xfrm>
            <a:off x="685800" y="2096246"/>
            <a:ext cx="4114800" cy="9510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1600"/>
              </a:spcBef>
              <a:spcAft>
                <a:spcPts val="0"/>
              </a:spcAft>
              <a:buNone/>
            </a:pPr>
            <a:r>
              <a:rPr lang="en" sz="1000">
                <a:solidFill>
                  <a:schemeClr val="dk1"/>
                </a:solidFill>
                <a:latin typeface="Montserrat"/>
                <a:ea typeface="Montserrat"/>
                <a:cs typeface="Montserrat"/>
                <a:sym typeface="Montserrat"/>
              </a:rPr>
              <a:t>Alasannya jelas, karena </a:t>
            </a:r>
            <a:r>
              <a:rPr lang="en" sz="1000">
                <a:solidFill>
                  <a:schemeClr val="dk1"/>
                </a:solidFill>
                <a:latin typeface="Montserrat"/>
                <a:ea typeface="Montserrat"/>
                <a:cs typeface="Montserrat"/>
                <a:sym typeface="Montserrat"/>
              </a:rPr>
              <a:t>PM menawarkan panduan, struktur, dan banyak pengalama</a:t>
            </a:r>
            <a:r>
              <a:rPr lang="en" sz="1000">
                <a:solidFill>
                  <a:schemeClr val="dk1"/>
                </a:solidFill>
                <a:latin typeface="Montserrat"/>
                <a:ea typeface="Montserrat"/>
                <a:cs typeface="Montserrat"/>
                <a:sym typeface="Montserrat"/>
              </a:rPr>
              <a:t>n </a:t>
            </a:r>
            <a:r>
              <a:rPr lang="en" sz="1000">
                <a:solidFill>
                  <a:schemeClr val="dk1"/>
                </a:solidFill>
                <a:latin typeface="Montserrat"/>
                <a:ea typeface="Montserrat"/>
                <a:cs typeface="Montserrat"/>
                <a:sym typeface="Montserrat"/>
              </a:rPr>
              <a:t>untuk setiap proyek yang mereka dukung.</a:t>
            </a:r>
            <a:endParaRPr sz="1000">
              <a:solidFill>
                <a:schemeClr val="dk1"/>
              </a:solidFill>
              <a:latin typeface="Montserrat"/>
              <a:ea typeface="Montserrat"/>
              <a:cs typeface="Montserrat"/>
              <a:sym typeface="Montserrat"/>
            </a:endParaRPr>
          </a:p>
          <a:p>
            <a:pPr indent="0" lvl="0" marL="0" rtl="0" algn="just">
              <a:spcBef>
                <a:spcPts val="16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Sebelum kamu memulai proyek berikutnya, ingatlah untuk menambahkan manajer proyek ke tim dan pasanglah baterai itu di senter 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510" name="Google Shape;510;p77"/>
          <p:cNvPicPr preferRelativeResize="0"/>
          <p:nvPr/>
        </p:nvPicPr>
        <p:blipFill>
          <a:blip r:embed="rId3">
            <a:alphaModFix/>
          </a:blip>
          <a:stretch>
            <a:fillRect/>
          </a:stretch>
        </p:blipFill>
        <p:spPr>
          <a:xfrm>
            <a:off x="5673575" y="982650"/>
            <a:ext cx="1928675" cy="33778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a:t>
            </a:r>
            <a:r>
              <a:rPr lang="en">
                <a:latin typeface="Montserrat"/>
                <a:ea typeface="Montserrat"/>
                <a:cs typeface="Montserrat"/>
                <a:sym typeface="Montserrat"/>
              </a:rPr>
              <a:t> kolaborasi proyek</a:t>
            </a:r>
            <a:endParaRPr>
              <a:latin typeface="Montserrat"/>
              <a:ea typeface="Montserrat"/>
              <a:cs typeface="Montserrat"/>
              <a:sym typeface="Montserrat"/>
            </a:endParaRPr>
          </a:p>
        </p:txBody>
      </p:sp>
      <p:sp>
        <p:nvSpPr>
          <p:cNvPr id="516" name="Google Shape;516;p7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7" name="Google Shape;517;p78"/>
          <p:cNvSpPr txBox="1"/>
          <p:nvPr/>
        </p:nvSpPr>
        <p:spPr>
          <a:xfrm>
            <a:off x="685800" y="1725150"/>
            <a:ext cx="49035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rgbClr val="FFFFFF"/>
                </a:solidFill>
                <a:latin typeface="Montserrat"/>
                <a:ea typeface="Montserrat"/>
                <a:cs typeface="Montserrat"/>
                <a:sym typeface="Montserrat"/>
              </a:rPr>
              <a:t>Nah, udah lebih paham dong sekarang tentang scope pekerjaan project manager dan pentingnya peran tersebut dalam tim UI/UX?</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rPr b="1" lang="en">
                <a:solidFill>
                  <a:srgbClr val="FFFFFF"/>
                </a:solidFill>
                <a:latin typeface="Montserrat"/>
                <a:ea typeface="Montserrat"/>
                <a:cs typeface="Montserrat"/>
                <a:sym typeface="Montserrat"/>
              </a:rPr>
              <a:t>Sekarang, saatnya kita mengakrabi </a:t>
            </a:r>
            <a:r>
              <a:rPr b="1" lang="en">
                <a:solidFill>
                  <a:srgbClr val="F2AB2F"/>
                </a:solidFill>
                <a:latin typeface="Montserrat"/>
                <a:ea typeface="Montserrat"/>
                <a:cs typeface="Montserrat"/>
                <a:sym typeface="Montserrat"/>
              </a:rPr>
              <a:t>peralatan kolaborasi proyek</a:t>
            </a:r>
            <a:r>
              <a:rPr b="1" lang="en">
                <a:solidFill>
                  <a:srgbClr val="FFFFFF"/>
                </a:solidFill>
                <a:latin typeface="Montserrat"/>
                <a:ea typeface="Montserrat"/>
                <a:cs typeface="Montserrat"/>
                <a:sym typeface="Montserrat"/>
              </a:rPr>
              <a:t> nih, gengs. Kira-kira apa aja ya?</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rPr b="1" lang="en">
                <a:solidFill>
                  <a:srgbClr val="FFFFFF"/>
                </a:solidFill>
                <a:latin typeface="Montserrat"/>
                <a:ea typeface="Montserrat"/>
                <a:cs typeface="Montserrat"/>
                <a:sym typeface="Montserrat"/>
              </a:rPr>
              <a:t>Yuk cari tahu jawabannya ~</a:t>
            </a:r>
            <a:endParaRPr b="1">
              <a:solidFill>
                <a:srgbClr val="FFFFFF"/>
              </a:solidFill>
              <a:latin typeface="Montserrat"/>
              <a:ea typeface="Montserrat"/>
              <a:cs typeface="Montserrat"/>
              <a:sym typeface="Montserrat"/>
            </a:endParaRPr>
          </a:p>
        </p:txBody>
      </p:sp>
      <p:pic>
        <p:nvPicPr>
          <p:cNvPr id="518" name="Google Shape;518;p78"/>
          <p:cNvPicPr preferRelativeResize="0"/>
          <p:nvPr/>
        </p:nvPicPr>
        <p:blipFill>
          <a:blip r:embed="rId3">
            <a:alphaModFix/>
          </a:blip>
          <a:stretch>
            <a:fillRect/>
          </a:stretch>
        </p:blipFill>
        <p:spPr>
          <a:xfrm>
            <a:off x="6241297" y="1290375"/>
            <a:ext cx="1842425" cy="29060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7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4" name="Google Shape;524;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525" name="Google Shape;525;p79"/>
          <p:cNvSpPr txBox="1"/>
          <p:nvPr/>
        </p:nvSpPr>
        <p:spPr>
          <a:xfrm>
            <a:off x="685800" y="2075100"/>
            <a:ext cx="4280400" cy="993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itu m</a:t>
            </a:r>
            <a:r>
              <a:rPr b="1" lang="en" sz="1600">
                <a:solidFill>
                  <a:srgbClr val="743673"/>
                </a:solidFill>
                <a:highlight>
                  <a:schemeClr val="lt1"/>
                </a:highlight>
                <a:latin typeface="Montserrat"/>
                <a:ea typeface="Montserrat"/>
                <a:cs typeface="Montserrat"/>
                <a:sym typeface="Montserrat"/>
              </a:rPr>
              <a:t>anajemen proyek kolaboratif?</a:t>
            </a:r>
            <a:endParaRPr sz="16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Manajemen proyek kolaboratif adalah metode yang digunakan untuk merencanakan, mengoordinasikan, mengontrol, dan memantau proyek yang terdistribusi serta kompleks.</a:t>
            </a:r>
            <a:endParaRPr sz="1200">
              <a:solidFill>
                <a:schemeClr val="dk1"/>
              </a:solidFill>
              <a:latin typeface="Montserrat Medium"/>
              <a:ea typeface="Montserrat Medium"/>
              <a:cs typeface="Montserrat Medium"/>
              <a:sym typeface="Montserrat Medium"/>
            </a:endParaRPr>
          </a:p>
        </p:txBody>
      </p:sp>
      <p:pic>
        <p:nvPicPr>
          <p:cNvPr id="526" name="Google Shape;526;p79"/>
          <p:cNvPicPr preferRelativeResize="0"/>
          <p:nvPr/>
        </p:nvPicPr>
        <p:blipFill>
          <a:blip r:embed="rId3">
            <a:alphaModFix/>
          </a:blip>
          <a:stretch>
            <a:fillRect/>
          </a:stretch>
        </p:blipFill>
        <p:spPr>
          <a:xfrm>
            <a:off x="5572775" y="1005650"/>
            <a:ext cx="2385925" cy="343922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8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2" name="Google Shape;532;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533" name="Google Shape;533;p80"/>
          <p:cNvSpPr txBox="1"/>
          <p:nvPr/>
        </p:nvSpPr>
        <p:spPr>
          <a:xfrm>
            <a:off x="685800" y="2066700"/>
            <a:ext cx="4280400" cy="1010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tersebut memungkinkan tim proyek untuk berkolaborasi lintas departemen, perusahaan, batas-batas nasional, dan untuk menguasai kompleksitas proyek yang berkembang.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ada beberapa tools yang bisa digunakan untuk memudahkan kolaborasi itu nih, gengs. Yuk simak ~</a:t>
            </a:r>
            <a:endParaRPr sz="1000">
              <a:solidFill>
                <a:schemeClr val="dk1"/>
              </a:solidFill>
              <a:latin typeface="Montserrat"/>
              <a:ea typeface="Montserrat"/>
              <a:cs typeface="Montserrat"/>
              <a:sym typeface="Montserrat"/>
            </a:endParaRPr>
          </a:p>
        </p:txBody>
      </p:sp>
      <p:pic>
        <p:nvPicPr>
          <p:cNvPr id="534" name="Google Shape;534;p80"/>
          <p:cNvPicPr preferRelativeResize="0"/>
          <p:nvPr/>
        </p:nvPicPr>
        <p:blipFill>
          <a:blip r:embed="rId3">
            <a:alphaModFix/>
          </a:blip>
          <a:stretch>
            <a:fillRect/>
          </a:stretch>
        </p:blipFill>
        <p:spPr>
          <a:xfrm>
            <a:off x="5741322" y="1051725"/>
            <a:ext cx="2640675" cy="35160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8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0" name="Google Shape;540;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541" name="Google Shape;541;p81"/>
          <p:cNvSpPr txBox="1"/>
          <p:nvPr/>
        </p:nvSpPr>
        <p:spPr>
          <a:xfrm>
            <a:off x="685800" y="1644301"/>
            <a:ext cx="4114800" cy="1854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Ragam peralatan kolaborasi proyek</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Jenis-jenis peralatan (tools) untuk manajemen proyek kolaboratif di antaranya: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Communication tools</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Collaboration and Tracking tools</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Document sharing tools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kita bahas satu per satu ~</a:t>
            </a:r>
            <a:endParaRPr sz="1000">
              <a:solidFill>
                <a:schemeClr val="dk1"/>
              </a:solidFill>
              <a:latin typeface="Montserrat"/>
              <a:ea typeface="Montserrat"/>
              <a:cs typeface="Montserrat"/>
              <a:sym typeface="Montserrat"/>
            </a:endParaRPr>
          </a:p>
        </p:txBody>
      </p:sp>
      <p:pic>
        <p:nvPicPr>
          <p:cNvPr id="542" name="Google Shape;542;p81"/>
          <p:cNvPicPr preferRelativeResize="0"/>
          <p:nvPr/>
        </p:nvPicPr>
        <p:blipFill>
          <a:blip r:embed="rId3">
            <a:alphaModFix/>
          </a:blip>
          <a:stretch>
            <a:fillRect/>
          </a:stretch>
        </p:blipFill>
        <p:spPr>
          <a:xfrm>
            <a:off x="5450575" y="944277"/>
            <a:ext cx="2627299" cy="3531351"/>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pic>
        <p:nvPicPr>
          <p:cNvPr id="547" name="Google Shape;547;p82">
            <a:hlinkClick r:id="rId3"/>
          </p:cNvPr>
          <p:cNvPicPr preferRelativeResize="0"/>
          <p:nvPr/>
        </p:nvPicPr>
        <p:blipFill rotWithShape="1">
          <a:blip r:embed="rId4">
            <a:alphaModFix/>
          </a:blip>
          <a:srcRect b="10288" l="4101" r="3314" t="6467"/>
          <a:stretch/>
        </p:blipFill>
        <p:spPr>
          <a:xfrm>
            <a:off x="4038599" y="1280149"/>
            <a:ext cx="4572000" cy="2743206"/>
          </a:xfrm>
          <a:prstGeom prst="rect">
            <a:avLst/>
          </a:prstGeom>
          <a:noFill/>
          <a:ln>
            <a:noFill/>
          </a:ln>
        </p:spPr>
      </p:pic>
      <p:sp>
        <p:nvSpPr>
          <p:cNvPr id="548" name="Google Shape;548;p8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9" name="Google Shape;549;p8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550" name="Google Shape;550;p82"/>
          <p:cNvSpPr txBox="1"/>
          <p:nvPr/>
        </p:nvSpPr>
        <p:spPr>
          <a:xfrm>
            <a:off x="685800" y="1926900"/>
            <a:ext cx="3200400" cy="1289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Communication tool #1:</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Slack</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Slack adalah alat kolaborasi yang menawarkan komunikasi real time, berbagi file, pengarsipan, dan fungsi pencarian antar anggota tim.</a:t>
            </a:r>
            <a:endParaRPr sz="1000">
              <a:solidFill>
                <a:schemeClr val="dk1"/>
              </a:solidFill>
              <a:latin typeface="Montserrat"/>
              <a:ea typeface="Montserrat"/>
              <a:cs typeface="Montserrat"/>
              <a:sym typeface="Montserra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pic>
        <p:nvPicPr>
          <p:cNvPr id="555" name="Google Shape;555;p83">
            <a:hlinkClick r:id="rId3"/>
          </p:cNvPr>
          <p:cNvPicPr preferRelativeResize="0"/>
          <p:nvPr/>
        </p:nvPicPr>
        <p:blipFill rotWithShape="1">
          <a:blip r:embed="rId4">
            <a:alphaModFix/>
          </a:blip>
          <a:srcRect b="10288" l="4101" r="3314" t="6467"/>
          <a:stretch/>
        </p:blipFill>
        <p:spPr>
          <a:xfrm>
            <a:off x="4038599" y="1280149"/>
            <a:ext cx="4572000" cy="2743206"/>
          </a:xfrm>
          <a:prstGeom prst="rect">
            <a:avLst/>
          </a:prstGeom>
          <a:noFill/>
          <a:ln>
            <a:noFill/>
          </a:ln>
        </p:spPr>
      </p:pic>
      <p:sp>
        <p:nvSpPr>
          <p:cNvPr id="556" name="Google Shape;556;p8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7" name="Google Shape;557;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558" name="Google Shape;558;p83"/>
          <p:cNvSpPr txBox="1"/>
          <p:nvPr/>
        </p:nvSpPr>
        <p:spPr>
          <a:xfrm>
            <a:off x="620425" y="2238450"/>
            <a:ext cx="3200400" cy="666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Slack, k</a:t>
            </a:r>
            <a:r>
              <a:rPr lang="en" sz="1000">
                <a:solidFill>
                  <a:schemeClr val="dk1"/>
                </a:solidFill>
                <a:latin typeface="Montserrat"/>
                <a:ea typeface="Montserrat"/>
                <a:cs typeface="Montserrat"/>
                <a:sym typeface="Montserrat"/>
              </a:rPr>
              <a:t>amu bisa membuat beberapa saluran untuk berbagai kategori atau departemen seperti desain UX, pengembangan web, manajemen proyek, dan lain-lain.</a:t>
            </a:r>
            <a:endParaRPr sz="1000">
              <a:solidFill>
                <a:schemeClr val="dk1"/>
              </a:solidFill>
              <a:latin typeface="Montserrat"/>
              <a:ea typeface="Montserrat"/>
              <a:cs typeface="Montserrat"/>
              <a:sym typeface="Montserrat"/>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pic>
        <p:nvPicPr>
          <p:cNvPr id="563" name="Google Shape;563;p84">
            <a:hlinkClick r:id="rId3"/>
          </p:cNvPr>
          <p:cNvPicPr preferRelativeResize="0"/>
          <p:nvPr/>
        </p:nvPicPr>
        <p:blipFill rotWithShape="1">
          <a:blip r:embed="rId4">
            <a:alphaModFix/>
          </a:blip>
          <a:srcRect b="0" l="219" r="219" t="0"/>
          <a:stretch/>
        </p:blipFill>
        <p:spPr>
          <a:xfrm>
            <a:off x="4044599" y="1280149"/>
            <a:ext cx="4572001" cy="2743206"/>
          </a:xfrm>
          <a:prstGeom prst="rect">
            <a:avLst/>
          </a:prstGeom>
          <a:noFill/>
          <a:ln>
            <a:noFill/>
          </a:ln>
        </p:spPr>
      </p:pic>
      <p:sp>
        <p:nvSpPr>
          <p:cNvPr id="564" name="Google Shape;564;p8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5" name="Google Shape;565;p8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566" name="Google Shape;566;p84"/>
          <p:cNvSpPr txBox="1"/>
          <p:nvPr/>
        </p:nvSpPr>
        <p:spPr>
          <a:xfrm>
            <a:off x="685800" y="1860900"/>
            <a:ext cx="3200400" cy="1421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Communication tool #2:</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Yammer</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Yammer membantu kamu membentuk komunitas tempat orang bisa berinteraksi satu sama lain berdasarkan minat mereka, berbagi ide, serta pendapat.</a:t>
            </a:r>
            <a:endParaRPr sz="1000">
              <a:solidFill>
                <a:schemeClr val="dk1"/>
              </a:solidFill>
              <a:latin typeface="Montserrat"/>
              <a:ea typeface="Montserrat"/>
              <a:cs typeface="Montserrat"/>
              <a:sym typeface="Montserrat"/>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pic>
        <p:nvPicPr>
          <p:cNvPr id="571" name="Google Shape;571;p85">
            <a:hlinkClick r:id="rId3"/>
          </p:cNvPr>
          <p:cNvPicPr preferRelativeResize="0"/>
          <p:nvPr/>
        </p:nvPicPr>
        <p:blipFill rotWithShape="1">
          <a:blip r:embed="rId4">
            <a:alphaModFix/>
          </a:blip>
          <a:srcRect b="0" l="219" r="219" t="0"/>
          <a:stretch/>
        </p:blipFill>
        <p:spPr>
          <a:xfrm>
            <a:off x="4044599" y="1280149"/>
            <a:ext cx="4572001" cy="2743206"/>
          </a:xfrm>
          <a:prstGeom prst="rect">
            <a:avLst/>
          </a:prstGeom>
          <a:noFill/>
          <a:ln>
            <a:noFill/>
          </a:ln>
        </p:spPr>
      </p:pic>
      <p:sp>
        <p:nvSpPr>
          <p:cNvPr id="572" name="Google Shape;572;p8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3" name="Google Shape;573;p8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574" name="Google Shape;574;p85"/>
          <p:cNvSpPr txBox="1"/>
          <p:nvPr/>
        </p:nvSpPr>
        <p:spPr>
          <a:xfrm>
            <a:off x="685800" y="2135400"/>
            <a:ext cx="3200400" cy="872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Yammer menyatukan tim kecil, menengah, besar, dan membantu perusahaan meningkatkan kolaborasi. Yammer menjadi unik karena berfokus pada privasi, di mana ruang hanya bisa diakses oleh orang yang berdomain sama.</a:t>
            </a:r>
            <a:endParaRPr sz="1000">
              <a:solidFill>
                <a:schemeClr val="dk1"/>
              </a:solidFill>
              <a:latin typeface="Montserrat"/>
              <a:ea typeface="Montserrat"/>
              <a:cs typeface="Montserrat"/>
              <a:sym typeface="Montserrat"/>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pic>
        <p:nvPicPr>
          <p:cNvPr id="579" name="Google Shape;579;p86">
            <a:hlinkClick r:id="rId3"/>
          </p:cNvPr>
          <p:cNvPicPr preferRelativeResize="0"/>
          <p:nvPr/>
        </p:nvPicPr>
        <p:blipFill rotWithShape="1">
          <a:blip r:embed="rId4">
            <a:alphaModFix/>
          </a:blip>
          <a:srcRect b="0" l="-10595" r="0" t="0"/>
          <a:stretch/>
        </p:blipFill>
        <p:spPr>
          <a:xfrm>
            <a:off x="4094634" y="1236524"/>
            <a:ext cx="4571989" cy="2743200"/>
          </a:xfrm>
          <a:prstGeom prst="rect">
            <a:avLst/>
          </a:prstGeom>
          <a:noFill/>
          <a:ln>
            <a:noFill/>
          </a:ln>
        </p:spPr>
      </p:pic>
      <p:sp>
        <p:nvSpPr>
          <p:cNvPr id="580" name="Google Shape;580;p8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1" name="Google Shape;581;p8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582" name="Google Shape;582;p86"/>
          <p:cNvSpPr txBox="1"/>
          <p:nvPr/>
        </p:nvSpPr>
        <p:spPr>
          <a:xfrm>
            <a:off x="685800" y="1847550"/>
            <a:ext cx="3200400" cy="144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Communication tool #3:</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Google Hangouts</a:t>
            </a:r>
            <a:endParaRPr sz="16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Google Hangouts adalah aplikasi perpesanan instan gratis yang memungkinkan kamu mengobrol dan berbicara dengan kolega kapan saja, di mana saja.</a:t>
            </a:r>
            <a:endParaRPr sz="1000">
              <a:solidFill>
                <a:schemeClr val="dk1"/>
              </a:solidFill>
              <a:latin typeface="Montserrat"/>
              <a:ea typeface="Montserrat"/>
              <a:cs typeface="Montserrat"/>
              <a:sym typeface="Montserrat"/>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pic>
        <p:nvPicPr>
          <p:cNvPr id="587" name="Google Shape;587;p87">
            <a:hlinkClick r:id="rId3"/>
          </p:cNvPr>
          <p:cNvPicPr preferRelativeResize="0"/>
          <p:nvPr/>
        </p:nvPicPr>
        <p:blipFill rotWithShape="1">
          <a:blip r:embed="rId4">
            <a:alphaModFix/>
          </a:blip>
          <a:srcRect b="0" l="-10595" r="0" t="0"/>
          <a:stretch/>
        </p:blipFill>
        <p:spPr>
          <a:xfrm>
            <a:off x="4094634" y="1236524"/>
            <a:ext cx="4571989" cy="2743200"/>
          </a:xfrm>
          <a:prstGeom prst="rect">
            <a:avLst/>
          </a:prstGeom>
          <a:noFill/>
          <a:ln>
            <a:noFill/>
          </a:ln>
        </p:spPr>
      </p:pic>
      <p:sp>
        <p:nvSpPr>
          <p:cNvPr id="588" name="Google Shape;588;p8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9" name="Google Shape;589;p8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590" name="Google Shape;590;p87"/>
          <p:cNvSpPr txBox="1"/>
          <p:nvPr/>
        </p:nvSpPr>
        <p:spPr>
          <a:xfrm>
            <a:off x="685800" y="2227800"/>
            <a:ext cx="3200400" cy="687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Keuntungan utama dari Hangouts adalah kesederhanaannya. Platform ini bisa diakses oleh pengguna dengan berbagai keterampilan teknologi.</a:t>
            </a:r>
            <a:endParaRPr sz="1000">
              <a:solidFill>
                <a:schemeClr val="dk1"/>
              </a:solidFill>
              <a:latin typeface="Montserrat"/>
              <a:ea typeface="Montserrat"/>
              <a:cs typeface="Montserrat"/>
              <a:sym typeface="Montserrat"/>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pic>
        <p:nvPicPr>
          <p:cNvPr id="595" name="Google Shape;595;p88"/>
          <p:cNvPicPr preferRelativeResize="0"/>
          <p:nvPr/>
        </p:nvPicPr>
        <p:blipFill rotWithShape="1">
          <a:blip r:embed="rId3">
            <a:alphaModFix/>
          </a:blip>
          <a:srcRect b="0" l="0" r="6402" t="0"/>
          <a:stretch/>
        </p:blipFill>
        <p:spPr>
          <a:xfrm>
            <a:off x="4094624" y="1236524"/>
            <a:ext cx="4572001" cy="2743206"/>
          </a:xfrm>
          <a:prstGeom prst="rect">
            <a:avLst/>
          </a:prstGeom>
          <a:noFill/>
          <a:ln>
            <a:noFill/>
          </a:ln>
        </p:spPr>
      </p:pic>
      <p:sp>
        <p:nvSpPr>
          <p:cNvPr id="596" name="Google Shape;596;p8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7" name="Google Shape;597;p8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598" name="Google Shape;598;p88"/>
          <p:cNvSpPr txBox="1"/>
          <p:nvPr/>
        </p:nvSpPr>
        <p:spPr>
          <a:xfrm>
            <a:off x="685800" y="1414950"/>
            <a:ext cx="3200400" cy="2313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Collaboration and tracking tool #1: Trello</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Trello saat ini adalah salah satu aplikasi manajemen kolaborasi paling populer.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Platform ini memungkinkan anggota tim untuk membuat, mendistribusikan proyek, serta mengkategorikan item melalui platform dengan cara sangat sederhana. Selain itu, juga memungkinkan kamu untuk melacak kemajuan proyek kapan saja. </a:t>
            </a:r>
            <a:endParaRPr sz="1000">
              <a:solidFill>
                <a:schemeClr val="dk1"/>
              </a:solidFill>
              <a:latin typeface="Montserrat"/>
              <a:ea typeface="Montserrat"/>
              <a:cs typeface="Montserrat"/>
              <a:sym typeface="Montserrat"/>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pic>
        <p:nvPicPr>
          <p:cNvPr id="603" name="Google Shape;603;p89"/>
          <p:cNvPicPr preferRelativeResize="0"/>
          <p:nvPr/>
        </p:nvPicPr>
        <p:blipFill rotWithShape="1">
          <a:blip r:embed="rId3">
            <a:alphaModFix/>
          </a:blip>
          <a:srcRect b="11509" l="0" r="0" t="-1567"/>
          <a:stretch/>
        </p:blipFill>
        <p:spPr>
          <a:xfrm>
            <a:off x="4094625" y="1236524"/>
            <a:ext cx="4572001" cy="2743206"/>
          </a:xfrm>
          <a:prstGeom prst="rect">
            <a:avLst/>
          </a:prstGeom>
          <a:noFill/>
          <a:ln>
            <a:noFill/>
          </a:ln>
        </p:spPr>
      </p:pic>
      <p:sp>
        <p:nvSpPr>
          <p:cNvPr id="604" name="Google Shape;604;p8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5" name="Google Shape;605;p8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606" name="Google Shape;606;p89"/>
          <p:cNvSpPr txBox="1"/>
          <p:nvPr/>
        </p:nvSpPr>
        <p:spPr>
          <a:xfrm>
            <a:off x="685800" y="1848000"/>
            <a:ext cx="3200400" cy="1447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Collaboration and tracking tool #2: Asana</a:t>
            </a:r>
            <a:endParaRPr sz="16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ini, Asana menjadi </a:t>
            </a:r>
            <a:r>
              <a:rPr lang="en" sz="1000">
                <a:solidFill>
                  <a:schemeClr val="dk1"/>
                </a:solidFill>
                <a:latin typeface="Montserrat"/>
                <a:ea typeface="Montserrat"/>
                <a:cs typeface="Montserrat"/>
                <a:sym typeface="Montserrat"/>
              </a:rPr>
              <a:t>salah satu alat manajemen kolaborasi proyek terkemuka. Ia adalah platform all-in-one, termasuk email, dokumen kantor, dan komunikasi.</a:t>
            </a:r>
            <a:endParaRPr sz="1000">
              <a:solidFill>
                <a:schemeClr val="dk1"/>
              </a:solidFill>
              <a:latin typeface="Montserrat"/>
              <a:ea typeface="Montserrat"/>
              <a:cs typeface="Montserrat"/>
              <a:sym typeface="Montserrat"/>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pic>
        <p:nvPicPr>
          <p:cNvPr id="611" name="Google Shape;611;p90"/>
          <p:cNvPicPr preferRelativeResize="0"/>
          <p:nvPr/>
        </p:nvPicPr>
        <p:blipFill rotWithShape="1">
          <a:blip r:embed="rId3">
            <a:alphaModFix/>
          </a:blip>
          <a:srcRect b="11509" l="0" r="0" t="-1567"/>
          <a:stretch/>
        </p:blipFill>
        <p:spPr>
          <a:xfrm>
            <a:off x="4094625" y="1236524"/>
            <a:ext cx="4572001" cy="2743206"/>
          </a:xfrm>
          <a:prstGeom prst="rect">
            <a:avLst/>
          </a:prstGeom>
          <a:noFill/>
          <a:ln>
            <a:noFill/>
          </a:ln>
        </p:spPr>
      </p:pic>
      <p:sp>
        <p:nvSpPr>
          <p:cNvPr id="612" name="Google Shape;612;p9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3" name="Google Shape;613;p9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614" name="Google Shape;614;p90"/>
          <p:cNvSpPr txBox="1"/>
          <p:nvPr/>
        </p:nvSpPr>
        <p:spPr>
          <a:xfrm>
            <a:off x="685800" y="1964250"/>
            <a:ext cx="3200400" cy="1215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bisa</a:t>
            </a:r>
            <a:r>
              <a:rPr lang="en" sz="1000">
                <a:solidFill>
                  <a:schemeClr val="dk1"/>
                </a:solidFill>
                <a:latin typeface="Montserrat"/>
                <a:ea typeface="Montserrat"/>
                <a:cs typeface="Montserrat"/>
                <a:sym typeface="Montserrat"/>
              </a:rPr>
              <a:t> mengatur semua proyek dalam daftar atau papan, membuat tugas secara langsung, dan mengundang anggota tim untuk bergabung dengan proyek.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itu, kamu bisa mengatur tenggat waktu agar tugas individu berjalan sesuai rencana.</a:t>
            </a:r>
            <a:endParaRPr sz="1000">
              <a:solidFill>
                <a:schemeClr val="dk1"/>
              </a:solidFill>
              <a:latin typeface="Montserrat"/>
              <a:ea typeface="Montserrat"/>
              <a:cs typeface="Montserrat"/>
              <a:sym typeface="Montserrat"/>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pic>
        <p:nvPicPr>
          <p:cNvPr id="619" name="Google Shape;619;p91"/>
          <p:cNvPicPr preferRelativeResize="0"/>
          <p:nvPr/>
        </p:nvPicPr>
        <p:blipFill rotWithShape="1">
          <a:blip r:embed="rId3">
            <a:alphaModFix/>
          </a:blip>
          <a:srcRect b="-6675" l="0" r="0" t="-6664"/>
          <a:stretch/>
        </p:blipFill>
        <p:spPr>
          <a:xfrm>
            <a:off x="4094625" y="1236524"/>
            <a:ext cx="4572002" cy="2743207"/>
          </a:xfrm>
          <a:prstGeom prst="rect">
            <a:avLst/>
          </a:prstGeom>
          <a:noFill/>
          <a:ln>
            <a:noFill/>
          </a:ln>
        </p:spPr>
      </p:pic>
      <p:sp>
        <p:nvSpPr>
          <p:cNvPr id="620" name="Google Shape;620;p9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1" name="Google Shape;621;p9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622" name="Google Shape;622;p91"/>
          <p:cNvSpPr txBox="1"/>
          <p:nvPr/>
        </p:nvSpPr>
        <p:spPr>
          <a:xfrm>
            <a:off x="685800" y="1932450"/>
            <a:ext cx="3200400" cy="1278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Collaboration and tracking tool #3: monday.com</a:t>
            </a:r>
            <a:endParaRPr sz="16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monday.com adalah Sistem Operasi Kerja (Work OS) yang mendukung tim untuk menjalankan proyek dan alur kerja dengan mandiri.</a:t>
            </a:r>
            <a:endParaRPr sz="1000">
              <a:solidFill>
                <a:schemeClr val="dk1"/>
              </a:solidFill>
              <a:latin typeface="Montserrat"/>
              <a:ea typeface="Montserrat"/>
              <a:cs typeface="Montserrat"/>
              <a:sym typeface="Montserrat"/>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pic>
        <p:nvPicPr>
          <p:cNvPr id="627" name="Google Shape;627;p92"/>
          <p:cNvPicPr preferRelativeResize="0"/>
          <p:nvPr/>
        </p:nvPicPr>
        <p:blipFill rotWithShape="1">
          <a:blip r:embed="rId3">
            <a:alphaModFix/>
          </a:blip>
          <a:srcRect b="-6675" l="0" r="0" t="-6664"/>
          <a:stretch/>
        </p:blipFill>
        <p:spPr>
          <a:xfrm>
            <a:off x="4094625" y="1236524"/>
            <a:ext cx="4572002" cy="2743207"/>
          </a:xfrm>
          <a:prstGeom prst="rect">
            <a:avLst/>
          </a:prstGeom>
          <a:noFill/>
          <a:ln>
            <a:noFill/>
          </a:ln>
        </p:spPr>
      </p:pic>
      <p:sp>
        <p:nvSpPr>
          <p:cNvPr id="628" name="Google Shape;628;p9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9" name="Google Shape;629;p9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630" name="Google Shape;630;p92"/>
          <p:cNvSpPr txBox="1"/>
          <p:nvPr/>
        </p:nvSpPr>
        <p:spPr>
          <a:xfrm>
            <a:off x="685800" y="2159550"/>
            <a:ext cx="3200400" cy="824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Platform ini</a:t>
            </a:r>
            <a:r>
              <a:rPr lang="en" sz="1000">
                <a:solidFill>
                  <a:schemeClr val="dk1"/>
                </a:solidFill>
                <a:latin typeface="Montserrat"/>
                <a:ea typeface="Montserrat"/>
                <a:cs typeface="Montserrat"/>
                <a:sym typeface="Montserrat"/>
              </a:rPr>
              <a:t> adalah OS Kerja yang sederhana dan intuitif, memudahkan tim untuk membentuk alur kerja, menyesuaikan dengan perubahan kebutuhan, menciptakan transparansi, serta terhubung secara kolaboratif.</a:t>
            </a:r>
            <a:endParaRPr sz="1000">
              <a:solidFill>
                <a:schemeClr val="dk1"/>
              </a:solidFill>
              <a:latin typeface="Montserrat"/>
              <a:ea typeface="Montserrat"/>
              <a:cs typeface="Montserrat"/>
              <a:sym typeface="Montserrat"/>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pic>
        <p:nvPicPr>
          <p:cNvPr id="635" name="Google Shape;635;p93">
            <a:hlinkClick r:id="rId3"/>
          </p:cNvPr>
          <p:cNvPicPr preferRelativeResize="0"/>
          <p:nvPr/>
        </p:nvPicPr>
        <p:blipFill rotWithShape="1">
          <a:blip r:embed="rId4">
            <a:alphaModFix/>
          </a:blip>
          <a:srcRect b="0" l="8826" r="8834" t="0"/>
          <a:stretch/>
        </p:blipFill>
        <p:spPr>
          <a:xfrm>
            <a:off x="4094624" y="1236524"/>
            <a:ext cx="4572001" cy="2743206"/>
          </a:xfrm>
          <a:prstGeom prst="rect">
            <a:avLst/>
          </a:prstGeom>
          <a:noFill/>
          <a:ln>
            <a:noFill/>
          </a:ln>
        </p:spPr>
      </p:pic>
      <p:sp>
        <p:nvSpPr>
          <p:cNvPr id="636" name="Google Shape;636;p9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7" name="Google Shape;637;p9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638" name="Google Shape;638;p93"/>
          <p:cNvSpPr txBox="1"/>
          <p:nvPr/>
        </p:nvSpPr>
        <p:spPr>
          <a:xfrm>
            <a:off x="685800" y="1858650"/>
            <a:ext cx="3200400" cy="142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Document sharing tool #1: Google Documents</a:t>
            </a:r>
            <a:endParaRPr sz="16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Google Documents adalah alat kantor kolaboratif online yang memungkinkan kamu membuat, mengedit, dan berkolaborasi pada dokumen kapan saja, di mana saja, serta gratis. </a:t>
            </a:r>
            <a:endParaRPr sz="1000">
              <a:solidFill>
                <a:schemeClr val="dk1"/>
              </a:solidFill>
              <a:latin typeface="Montserrat"/>
              <a:ea typeface="Montserrat"/>
              <a:cs typeface="Montserrat"/>
              <a:sym typeface="Montserrat"/>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pic>
        <p:nvPicPr>
          <p:cNvPr id="643" name="Google Shape;643;p94">
            <a:hlinkClick r:id="rId3"/>
          </p:cNvPr>
          <p:cNvPicPr preferRelativeResize="0"/>
          <p:nvPr/>
        </p:nvPicPr>
        <p:blipFill rotWithShape="1">
          <a:blip r:embed="rId4">
            <a:alphaModFix/>
          </a:blip>
          <a:srcRect b="0" l="9827" r="9819" t="0"/>
          <a:stretch/>
        </p:blipFill>
        <p:spPr>
          <a:xfrm>
            <a:off x="4094634" y="1236524"/>
            <a:ext cx="4571989" cy="2743200"/>
          </a:xfrm>
          <a:prstGeom prst="rect">
            <a:avLst/>
          </a:prstGeom>
          <a:noFill/>
          <a:ln>
            <a:noFill/>
          </a:ln>
        </p:spPr>
      </p:pic>
      <p:sp>
        <p:nvSpPr>
          <p:cNvPr id="644" name="Google Shape;644;p9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5" name="Google Shape;645;p9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646" name="Google Shape;646;p94"/>
          <p:cNvSpPr txBox="1"/>
          <p:nvPr/>
        </p:nvSpPr>
        <p:spPr>
          <a:xfrm>
            <a:off x="685800" y="1927200"/>
            <a:ext cx="3200400" cy="1289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Document sharing tool #2: Quip</a:t>
            </a:r>
            <a:endParaRPr sz="16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Quip juga merupakan alat pemrosesan dokumen untuk kolaborasi tim, memungkinkan banyak orang mengedit dokumen secara bersamaan.</a:t>
            </a:r>
            <a:r>
              <a:rPr lang="en" sz="1000">
                <a:solidFill>
                  <a:schemeClr val="dk1"/>
                </a:solidFill>
                <a:latin typeface="Montserrat"/>
                <a:ea typeface="Montserrat"/>
                <a:cs typeface="Montserrat"/>
                <a:sym typeface="Montserrat"/>
              </a:rPr>
              <a:t> </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pic>
        <p:nvPicPr>
          <p:cNvPr id="651" name="Google Shape;651;p95">
            <a:hlinkClick r:id="rId3"/>
          </p:cNvPr>
          <p:cNvPicPr preferRelativeResize="0"/>
          <p:nvPr/>
        </p:nvPicPr>
        <p:blipFill rotWithShape="1">
          <a:blip r:embed="rId4">
            <a:alphaModFix/>
          </a:blip>
          <a:srcRect b="0" l="9827" r="9819" t="0"/>
          <a:stretch/>
        </p:blipFill>
        <p:spPr>
          <a:xfrm>
            <a:off x="4094634" y="1236524"/>
            <a:ext cx="4571989" cy="2743200"/>
          </a:xfrm>
          <a:prstGeom prst="rect">
            <a:avLst/>
          </a:prstGeom>
          <a:noFill/>
          <a:ln>
            <a:noFill/>
          </a:ln>
        </p:spPr>
      </p:pic>
      <p:sp>
        <p:nvSpPr>
          <p:cNvPr id="652" name="Google Shape;652;p9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3" name="Google Shape;653;p9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654" name="Google Shape;654;p95"/>
          <p:cNvSpPr txBox="1"/>
          <p:nvPr/>
        </p:nvSpPr>
        <p:spPr>
          <a:xfrm>
            <a:off x="685800" y="1974750"/>
            <a:ext cx="3200400" cy="1194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Tidak seperti produk lain, Quip mendukung pesan instan yang memudahkan kamu berkomunikasi langsung dengan anggota tim.</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Quip memungkinkan pengguna menyelesaikan pekerjaannya lebih cepat dengan mengurangi email dan rapat.</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b="1" sz="1600">
              <a:solidFill>
                <a:srgbClr val="743673"/>
              </a:solidFill>
              <a:highlight>
                <a:schemeClr val="lt1"/>
              </a:highlight>
              <a:latin typeface="Montserrat"/>
              <a:ea typeface="Montserrat"/>
              <a:cs typeface="Montserrat"/>
              <a:sym typeface="Montserrat"/>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pic>
        <p:nvPicPr>
          <p:cNvPr id="659" name="Google Shape;659;p96">
            <a:hlinkClick r:id="rId3"/>
          </p:cNvPr>
          <p:cNvPicPr preferRelativeResize="0"/>
          <p:nvPr/>
        </p:nvPicPr>
        <p:blipFill rotWithShape="1">
          <a:blip r:embed="rId4">
            <a:alphaModFix/>
          </a:blip>
          <a:srcRect b="0" l="18473" r="0" t="0"/>
          <a:stretch/>
        </p:blipFill>
        <p:spPr>
          <a:xfrm>
            <a:off x="4094634" y="1236524"/>
            <a:ext cx="4571991" cy="2743201"/>
          </a:xfrm>
          <a:prstGeom prst="rect">
            <a:avLst/>
          </a:prstGeom>
          <a:noFill/>
          <a:ln>
            <a:noFill/>
          </a:ln>
        </p:spPr>
      </p:pic>
      <p:sp>
        <p:nvSpPr>
          <p:cNvPr id="660" name="Google Shape;660;p9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1" name="Google Shape;661;p9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662" name="Google Shape;662;p96"/>
          <p:cNvSpPr txBox="1"/>
          <p:nvPr/>
        </p:nvSpPr>
        <p:spPr>
          <a:xfrm>
            <a:off x="685800" y="1668450"/>
            <a:ext cx="3200400" cy="1806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Document sharing tool #3: Dropbox Paper</a:t>
            </a:r>
            <a:endParaRPr sz="16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Dropbox Paper adalah platform kolaborasi dokumen yang sempurna untuk tim desain dalam hal  membuat, mengedit, bertukar pikiran, meninjau desain, mengelola tugas, dan bahkan menjalankan rapat online dengan media yang kaya (termasuk teks, gambar, video, dan lain-lain).</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9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668" name="Google Shape;668;p97"/>
          <p:cNvSpPr txBox="1"/>
          <p:nvPr/>
        </p:nvSpPr>
        <p:spPr>
          <a:xfrm>
            <a:off x="685800" y="1833000"/>
            <a:ext cx="48573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Seperti yang kita bahas di awal, komunikasi yang baik antar tim dan aktor lainnya adalah kunci keberhasilan sebuah proyek, ya kan, gengs?</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Jadi, pilihlah</a:t>
            </a:r>
            <a:r>
              <a:rPr b="1" lang="en">
                <a:solidFill>
                  <a:schemeClr val="accent1"/>
                </a:solidFill>
                <a:latin typeface="Montserrat"/>
                <a:ea typeface="Montserrat"/>
                <a:cs typeface="Montserrat"/>
                <a:sym typeface="Montserrat"/>
              </a:rPr>
              <a:t> collaboration tools </a:t>
            </a:r>
            <a:r>
              <a:rPr b="1" lang="en">
                <a:solidFill>
                  <a:schemeClr val="lt1"/>
                </a:solidFill>
                <a:latin typeface="Montserrat"/>
                <a:ea typeface="Montserrat"/>
                <a:cs typeface="Montserrat"/>
                <a:sym typeface="Montserrat"/>
              </a:rPr>
              <a:t>yang sesuai agar arus komunikasi berjalan lancar ya ~</a:t>
            </a:r>
            <a:endParaRPr b="1">
              <a:solidFill>
                <a:schemeClr val="lt1"/>
              </a:solidFill>
              <a:latin typeface="Montserrat"/>
              <a:ea typeface="Montserrat"/>
              <a:cs typeface="Montserrat"/>
              <a:sym typeface="Montserrat"/>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9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4" name="Google Shape;674;p9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675" name="Google Shape;675;p98"/>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676" name="Google Shape;676;p98"/>
          <p:cNvSpPr txBox="1"/>
          <p:nvPr/>
        </p:nvSpPr>
        <p:spPr>
          <a:xfrm>
            <a:off x="685800" y="1570351"/>
            <a:ext cx="4114800" cy="2002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4">
                  <a:extLst>
                    <a:ext uri="{A12FA001-AC4F-418D-AE19-62706E023703}">
                      <ahyp:hlinkClr val="tx"/>
                    </a:ext>
                  </a:extLst>
                </a:hlinkClick>
              </a:rPr>
              <a:t>Difference between Project and Product by Geeks for Geek</a:t>
            </a:r>
            <a:r>
              <a:rPr lang="en" sz="1000" u="sng">
                <a:solidFill>
                  <a:schemeClr val="dk1"/>
                </a:solidFill>
                <a:latin typeface="Montserrat Medium"/>
                <a:ea typeface="Montserrat Medium"/>
                <a:cs typeface="Montserrat Medium"/>
                <a:sym typeface="Montserrat Medium"/>
                <a:hlinkClick r:id="rId5">
                  <a:extLst>
                    <a:ext uri="{A12FA001-AC4F-418D-AE19-62706E023703}">
                      <ahyp:hlinkClr val="tx"/>
                    </a:ext>
                  </a:extLst>
                </a:hlinkClick>
              </a:rPr>
              <a:t>s</a:t>
            </a:r>
            <a:endParaRPr u="sng"/>
          </a:p>
          <a:p>
            <a:pPr indent="-292100" lvl="0" marL="457200" rtl="0" algn="just">
              <a:lnSpc>
                <a:spcPct val="115000"/>
              </a:lnSpc>
              <a:spcBef>
                <a:spcPts val="0"/>
              </a:spcBef>
              <a:spcAft>
                <a:spcPts val="0"/>
              </a:spcAft>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6">
                  <a:extLst>
                    <a:ext uri="{A12FA001-AC4F-418D-AE19-62706E023703}">
                      <ahyp:hlinkClr val="tx"/>
                    </a:ext>
                  </a:extLst>
                </a:hlinkClick>
              </a:rPr>
              <a:t>What’s the Difference between a Project and a Product? By Accenture</a:t>
            </a:r>
            <a:endParaRPr u="sng"/>
          </a:p>
          <a:p>
            <a:pPr indent="-292100" lvl="0" marL="457200" rtl="0" algn="just">
              <a:lnSpc>
                <a:spcPct val="115000"/>
              </a:lnSpc>
              <a:spcBef>
                <a:spcPts val="0"/>
              </a:spcBef>
              <a:spcAft>
                <a:spcPts val="0"/>
              </a:spcAft>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7">
                  <a:extLst>
                    <a:ext uri="{A12FA001-AC4F-418D-AE19-62706E023703}">
                      <ahyp:hlinkClr val="tx"/>
                    </a:ext>
                  </a:extLst>
                </a:hlinkClick>
              </a:rPr>
              <a:t>Project Management For Beginners: How To Manage A Project From Start To Finish by toggl</a:t>
            </a:r>
            <a:endParaRPr u="sng"/>
          </a:p>
          <a:p>
            <a:pPr indent="-292100" lvl="0" marL="457200" rtl="0" algn="just">
              <a:lnSpc>
                <a:spcPct val="115000"/>
              </a:lnSpc>
              <a:spcBef>
                <a:spcPts val="0"/>
              </a:spcBef>
              <a:spcAft>
                <a:spcPts val="0"/>
              </a:spcAft>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8">
                  <a:extLst>
                    <a:ext uri="{A12FA001-AC4F-418D-AE19-62706E023703}">
                      <ahyp:hlinkClr val="tx"/>
                    </a:ext>
                  </a:extLst>
                </a:hlinkClick>
              </a:rPr>
              <a:t>Project Management Basics: Everything You Need to Know by theblueprint</a:t>
            </a:r>
            <a:endParaRPr u="sng"/>
          </a:p>
          <a:p>
            <a:pPr indent="-292100" lvl="0" marL="457200" rtl="0" algn="just">
              <a:lnSpc>
                <a:spcPct val="115000"/>
              </a:lnSpc>
              <a:spcBef>
                <a:spcPts val="0"/>
              </a:spcBef>
              <a:spcAft>
                <a:spcPts val="0"/>
              </a:spcAft>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9">
                  <a:extLst>
                    <a:ext uri="{A12FA001-AC4F-418D-AE19-62706E023703}">
                      <ahyp:hlinkClr val="tx"/>
                    </a:ext>
                  </a:extLst>
                </a:hlinkClick>
              </a:rPr>
              <a:t>Why Your UX Team Needs a Project Manager by Blink</a:t>
            </a:r>
            <a:endParaRPr sz="1000" u="sng">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000" u="sng">
              <a:solidFill>
                <a:schemeClr val="dk1"/>
              </a:solidFill>
              <a:latin typeface="Montserrat Medium"/>
              <a:ea typeface="Montserrat Medium"/>
              <a:cs typeface="Montserrat Medium"/>
              <a:sym typeface="Montserrat Medium"/>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9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682" name="Google Shape;682;p99"/>
          <p:cNvSpPr txBox="1"/>
          <p:nvPr/>
        </p:nvSpPr>
        <p:spPr>
          <a:xfrm>
            <a:off x="685800" y="1782525"/>
            <a:ext cx="49035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rgbClr val="FFFFFF"/>
                </a:solidFill>
                <a:latin typeface="Montserrat"/>
                <a:ea typeface="Montserrat"/>
                <a:cs typeface="Montserrat"/>
                <a:sym typeface="Montserrat"/>
              </a:rPr>
              <a:t>Oke, sampai sini dulu pembahasan kita mengenai manajemen proyek.</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rPr b="1" lang="en">
                <a:solidFill>
                  <a:srgbClr val="FFFFFF"/>
                </a:solidFill>
                <a:latin typeface="Montserrat"/>
                <a:ea typeface="Montserrat"/>
                <a:cs typeface="Montserrat"/>
                <a:sym typeface="Montserrat"/>
              </a:rPr>
              <a:t>Pada pertemuan berikutnya, kita akan membahas terkait </a:t>
            </a:r>
            <a:r>
              <a:rPr b="1" lang="en">
                <a:solidFill>
                  <a:srgbClr val="F2AB2F"/>
                </a:solidFill>
                <a:latin typeface="Montserrat"/>
                <a:ea typeface="Montserrat"/>
                <a:cs typeface="Montserrat"/>
                <a:sym typeface="Montserrat"/>
              </a:rPr>
              <a:t>metodologi pengembangan perangkat lunak. </a:t>
            </a:r>
            <a:r>
              <a:rPr b="1" lang="en">
                <a:solidFill>
                  <a:srgbClr val="FFFFFF"/>
                </a:solidFill>
                <a:latin typeface="Montserrat"/>
                <a:ea typeface="Montserrat"/>
                <a:cs typeface="Montserrat"/>
                <a:sym typeface="Montserrat"/>
              </a:rPr>
              <a:t>Penasaran kan?</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rPr b="1" lang="en">
                <a:solidFill>
                  <a:srgbClr val="FFFFFF"/>
                </a:solidFill>
                <a:latin typeface="Montserrat"/>
                <a:ea typeface="Montserrat"/>
                <a:cs typeface="Montserrat"/>
                <a:sym typeface="Montserrat"/>
              </a:rPr>
              <a:t>Sampai ketemu lagi yaa ~</a:t>
            </a:r>
            <a:endParaRPr b="1">
              <a:solidFill>
                <a:srgbClr val="FFFFFF"/>
              </a:solidFill>
              <a:latin typeface="Montserrat"/>
              <a:ea typeface="Montserrat"/>
              <a:cs typeface="Montserrat"/>
              <a:sym typeface="Montserrat"/>
            </a:endParaRPr>
          </a:p>
        </p:txBody>
      </p:sp>
      <p:pic>
        <p:nvPicPr>
          <p:cNvPr id="683" name="Google Shape;683;p99"/>
          <p:cNvPicPr preferRelativeResize="0"/>
          <p:nvPr/>
        </p:nvPicPr>
        <p:blipFill>
          <a:blip r:embed="rId3">
            <a:alphaModFix/>
          </a:blip>
          <a:stretch>
            <a:fillRect/>
          </a:stretch>
        </p:blipFill>
        <p:spPr>
          <a:xfrm>
            <a:off x="4336981" y="703600"/>
            <a:ext cx="5687844" cy="4338199"/>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687" name="Shape 687"/>
        <p:cNvGrpSpPr/>
        <p:nvPr/>
      </p:nvGrpSpPr>
      <p:grpSpPr>
        <a:xfrm>
          <a:off x="0" y="0"/>
          <a:ext cx="0" cy="0"/>
          <a:chOff x="0" y="0"/>
          <a:chExt cx="0" cy="0"/>
        </a:xfrm>
      </p:grpSpPr>
      <p:sp>
        <p:nvSpPr>
          <p:cNvPr id="688" name="Google Shape;688;p100"/>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9" name="Google Shape;689;p100"/>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690" name="Google Shape;690;p100"/>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691" name="Google Shape;691;p100"/>
          <p:cNvPicPr preferRelativeResize="0"/>
          <p:nvPr/>
        </p:nvPicPr>
        <p:blipFill>
          <a:blip r:embed="rId5">
            <a:alphaModFix/>
          </a:blip>
          <a:stretch>
            <a:fillRect/>
          </a:stretch>
        </p:blipFill>
        <p:spPr>
          <a:xfrm>
            <a:off x="1103225" y="6174213"/>
            <a:ext cx="1991475" cy="689575"/>
          </a:xfrm>
          <a:prstGeom prst="rect">
            <a:avLst/>
          </a:prstGeom>
          <a:noFill/>
          <a:ln>
            <a:noFill/>
          </a:ln>
        </p:spPr>
      </p:pic>
      <p:pic>
        <p:nvPicPr>
          <p:cNvPr id="692" name="Google Shape;692;p100"/>
          <p:cNvPicPr preferRelativeResize="0"/>
          <p:nvPr/>
        </p:nvPicPr>
        <p:blipFill>
          <a:blip r:embed="rId6">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