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Raleway"/>
      <p:regular r:id="rId51"/>
      <p:bold r:id="rId52"/>
      <p:italic r:id="rId53"/>
      <p:boldItalic r:id="rId54"/>
    </p:embeddedFont>
    <p:embeddedFont>
      <p:font typeface="Montserrat"/>
      <p:regular r:id="rId55"/>
      <p:bold r:id="rId56"/>
      <p:italic r:id="rId57"/>
      <p:boldItalic r:id="rId58"/>
    </p:embeddedFont>
    <p:embeddedFont>
      <p:font typeface="Montserrat Medium"/>
      <p:regular r:id="rId59"/>
      <p:bold r:id="rId60"/>
      <p:italic r:id="rId61"/>
      <p:boldItalic r:id="rId62"/>
    </p:embeddedFont>
    <p:embeddedFont>
      <p:font typeface="Lato Black"/>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Medium-boldItalic.fntdata"/><Relationship Id="rId61" Type="http://schemas.openxmlformats.org/officeDocument/2006/relationships/font" Target="fonts/MontserratMedium-italic.fntdata"/><Relationship Id="rId20" Type="http://schemas.openxmlformats.org/officeDocument/2006/relationships/slide" Target="slides/slide14.xml"/><Relationship Id="rId64" Type="http://schemas.openxmlformats.org/officeDocument/2006/relationships/font" Target="fonts/LatoBlack-boldItalic.fntdata"/><Relationship Id="rId63" Type="http://schemas.openxmlformats.org/officeDocument/2006/relationships/font" Target="fonts/LatoBlack-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MontserratMedium-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regular.fntdata"/><Relationship Id="rId50" Type="http://schemas.openxmlformats.org/officeDocument/2006/relationships/slide" Target="slides/slide44.xml"/><Relationship Id="rId53" Type="http://schemas.openxmlformats.org/officeDocument/2006/relationships/font" Target="fonts/Raleway-italic.fntdata"/><Relationship Id="rId52" Type="http://schemas.openxmlformats.org/officeDocument/2006/relationships/font" Target="fonts/Raleway-bold.fntdata"/><Relationship Id="rId11" Type="http://schemas.openxmlformats.org/officeDocument/2006/relationships/slide" Target="slides/slide5.xml"/><Relationship Id="rId55" Type="http://schemas.openxmlformats.org/officeDocument/2006/relationships/font" Target="fonts/Montserrat-regular.fntdata"/><Relationship Id="rId10" Type="http://schemas.openxmlformats.org/officeDocument/2006/relationships/slide" Target="slides/slide4.xml"/><Relationship Id="rId54" Type="http://schemas.openxmlformats.org/officeDocument/2006/relationships/font" Target="fonts/Raleway-boldItalic.fntdata"/><Relationship Id="rId13" Type="http://schemas.openxmlformats.org/officeDocument/2006/relationships/slide" Target="slides/slide7.xml"/><Relationship Id="rId57" Type="http://schemas.openxmlformats.org/officeDocument/2006/relationships/font" Target="fonts/Montserrat-italic.fntdata"/><Relationship Id="rId12" Type="http://schemas.openxmlformats.org/officeDocument/2006/relationships/slide" Target="slides/slide6.xml"/><Relationship Id="rId56" Type="http://schemas.openxmlformats.org/officeDocument/2006/relationships/font" Target="fonts/Montserrat-bold.fntdata"/><Relationship Id="rId15" Type="http://schemas.openxmlformats.org/officeDocument/2006/relationships/slide" Target="slides/slide9.xml"/><Relationship Id="rId59" Type="http://schemas.openxmlformats.org/officeDocument/2006/relationships/font" Target="fonts/MontserratMedium-regular.fntdata"/><Relationship Id="rId14" Type="http://schemas.openxmlformats.org/officeDocument/2006/relationships/slide" Target="slides/slide8.xml"/><Relationship Id="rId58" Type="http://schemas.openxmlformats.org/officeDocument/2006/relationships/font" Target="fonts/Montserra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peters?utm_source=unsplash&amp;utm_medium=referral&amp;utm_content=creditCopyText" TargetMode="External"/><Relationship Id="rId3" Type="http://schemas.openxmlformats.org/officeDocument/2006/relationships/hyperlink" Target="https://unsplash.com/@lukepeters?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peters?utm_source=unsplash&amp;utm_medium=referral&amp;utm_content=creditCopyText" TargetMode="External"/><Relationship Id="rId3" Type="http://schemas.openxmlformats.org/officeDocument/2006/relationships/hyperlink" Target="https://unsplash.com/@lukepeters?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orwegianscitechnews.com/2019/11/tinder-is-a-waste-of-time-for-most-peopl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orwegianscitechnews.com/2019/11/tinder-is-a-waste-of-time-for-most-people/"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orgedevs?utm_source=unsplash&amp;utm_medium=referral&amp;utm_content=creditCopyText" TargetMode="External"/><Relationship Id="rId3" Type="http://schemas.openxmlformats.org/officeDocument/2006/relationships/hyperlink" Target="https://unsplash.com/@jorgedevs?utm_source=unsplash&amp;utm_medium=referral&amp;utm_content=creditCopyText" TargetMode="External"/><Relationship Id="rId4" Type="http://schemas.openxmlformats.org/officeDocument/2006/relationships/hyperlink" Target="https://unsplash.com/s/photos/iot?utm_source=unsplash&amp;utm_medium=referral&amp;utm_content=creditCopyText" TargetMode="External"/><Relationship Id="rId5" Type="http://schemas.openxmlformats.org/officeDocument/2006/relationships/hyperlink" Target="https://unsplash.com/s/photos/iot?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orgedevs?utm_source=unsplash&amp;utm_medium=referral&amp;utm_content=creditCopyText" TargetMode="External"/><Relationship Id="rId3" Type="http://schemas.openxmlformats.org/officeDocument/2006/relationships/hyperlink" Target="https://unsplash.com/@jorgedevs?utm_source=unsplash&amp;utm_medium=referral&amp;utm_content=creditCopyText" TargetMode="External"/><Relationship Id="rId4" Type="http://schemas.openxmlformats.org/officeDocument/2006/relationships/hyperlink" Target="https://unsplash.com/s/photos/iot?utm_source=unsplash&amp;utm_medium=referral&amp;utm_content=creditCopyText" TargetMode="External"/><Relationship Id="rId5" Type="http://schemas.openxmlformats.org/officeDocument/2006/relationships/hyperlink" Target="https://unsplash.com/s/photos/iot?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itoc.com/software-development-life-cycle/"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rbis.com/blog/6-phases-of-the-software-development-life-cycle/"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23d23c8d8e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23d23c8d8e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50671a7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50671a7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250671a74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250671a74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23d23c8d8e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23d23c8d8e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3d23c8d8e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3d23c8d8e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3d23c8d8e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3d23c8d8e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50671a74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250671a74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3d23c8d8e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23d23c8d8e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5196dbfe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5196dbfe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23d23c8d8e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23d23c8d8e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https://norwegianscitechnews.com/2019/11/tinder-is-a-waste-of-time-for-most-people/</a:t>
            </a:r>
            <a:r>
              <a:rPr lang="en">
                <a:solidFill>
                  <a:schemeClr val="dk1"/>
                </a:solidFill>
              </a:rPr>
              <a:t>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5196dbf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5196dbf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https://norwegianscitechnews.com/2019/11/tinder-is-a-waste-of-time-for-most-people/</a:t>
            </a:r>
            <a:r>
              <a:rPr lang="en">
                <a:solidFill>
                  <a:schemeClr val="dk1"/>
                </a:solidFill>
              </a:rPr>
              <a:t>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3d23c8d8e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3d23c8d8e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Jorge Ramirez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5196dbfe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5196dbfe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Jorge Ramirez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3d23c8d8e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3d23c8d8e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23d23c8d8e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23d23c8d8e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23d23c8d8e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23d23c8d8e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5196dbfe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25196dbfe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3d23c8d8e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3d23c8d8e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3d23c8d8e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23d23c8d8e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23d23c8d8e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23d23c8d8e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25196dbfe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25196dbfe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23d23c8d8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23d23c8d8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25196dbfe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25196dbfe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23d23c8d8e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23d23c8d8e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25196dbfe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25196dbfe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3d23c8d8e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23d23c8d8e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25196dbfe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25196dbfe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23d23c8d8e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23d23c8d8e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25196dbfe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25196dbfe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23d23c8d8e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23d23c8d8e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25196dbfe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25196dbfe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23d23c8d8e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23d23c8d8e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25196dbfe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25196dbfe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23d23c8d8e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23d23c8d8e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https://zitoc.com/software-development-life-cycle/</a:t>
            </a:r>
            <a:r>
              <a:rPr lang="en">
                <a:solidFill>
                  <a:schemeClr val="dk1"/>
                </a:solidFill>
              </a:rPr>
              <a:t>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23d23c8d8e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23d23c8d8e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https://erbis.com/blog/6-phases-of-the-software-development-life-cycle/</a:t>
            </a:r>
            <a:r>
              <a:rPr lang="en">
                <a:solidFill>
                  <a:schemeClr val="dk1"/>
                </a:solidFill>
              </a:rPr>
              <a:t>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23d23c8d8e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23d23c8d8e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3d23c8d8e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3d23c8d8e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25196dbfe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25196dbfe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23d23c8d8e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23d23c8d8e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25196dbfe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25196dbfe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23d23c8d8e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23d23c8d8e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23d23c8d8e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23d23c8d8e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250671a74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250671a74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23d23c8d8e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23d23c8d8e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0" name="Google Shape;60;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61" name="Google Shape;61;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2" name="Google Shape;62;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 name="Google Shape;63;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4" name="Google Shape;64;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5" name="Google Shape;65;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6" name="Google Shape;66;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67" name="Google Shape;67;p16"/>
          <p:cNvGrpSpPr/>
          <p:nvPr/>
        </p:nvGrpSpPr>
        <p:grpSpPr>
          <a:xfrm>
            <a:off x="283668" y="259895"/>
            <a:ext cx="226001" cy="222980"/>
            <a:chOff x="283668" y="251687"/>
            <a:chExt cx="226001" cy="222980"/>
          </a:xfrm>
        </p:grpSpPr>
        <p:sp>
          <p:nvSpPr>
            <p:cNvPr id="68" name="Google Shape;68;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9" name="Google Shape;69;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0" name="Google Shape;70;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71" name="Google Shape;7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74" name="Shape 74"/>
        <p:cNvGrpSpPr/>
        <p:nvPr/>
      </p:nvGrpSpPr>
      <p:grpSpPr>
        <a:xfrm>
          <a:off x="0" y="0"/>
          <a:ext cx="0" cy="0"/>
          <a:chOff x="0" y="0"/>
          <a:chExt cx="0" cy="0"/>
        </a:xfrm>
      </p:grpSpPr>
      <p:sp>
        <p:nvSpPr>
          <p:cNvPr id="75" name="Google Shape;75;p1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7" name="Google Shape;77;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79" name="Google Shape;79;p17"/>
          <p:cNvGrpSpPr/>
          <p:nvPr/>
        </p:nvGrpSpPr>
        <p:grpSpPr>
          <a:xfrm>
            <a:off x="283668" y="259895"/>
            <a:ext cx="226001" cy="222980"/>
            <a:chOff x="283668" y="251687"/>
            <a:chExt cx="226001" cy="222980"/>
          </a:xfrm>
        </p:grpSpPr>
        <p:sp>
          <p:nvSpPr>
            <p:cNvPr id="80" name="Google Shape;80;p1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1" name="Google Shape;81;p1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2" name="Google Shape;82;p1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3" name="Google Shape;83;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1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85" name="Google Shape;8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5" name="Google Shape;9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9" name="Google Shape;9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0" name="Google Shape;10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sp>
        <p:nvSpPr>
          <p:cNvPr id="103" name="Google Shape;10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7" name="Google Shape;10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8" name="Google Shape;10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 name="Shape 111"/>
        <p:cNvGrpSpPr/>
        <p:nvPr/>
      </p:nvGrpSpPr>
      <p:grpSpPr>
        <a:xfrm>
          <a:off x="0" y="0"/>
          <a:ext cx="0" cy="0"/>
          <a:chOff x="0" y="0"/>
          <a:chExt cx="0" cy="0"/>
        </a:xfrm>
      </p:grpSpPr>
      <p:sp>
        <p:nvSpPr>
          <p:cNvPr id="112" name="Google Shape;112;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5" name="Shape 115"/>
        <p:cNvGrpSpPr/>
        <p:nvPr/>
      </p:nvGrpSpPr>
      <p:grpSpPr>
        <a:xfrm>
          <a:off x="0" y="0"/>
          <a:ext cx="0" cy="0"/>
          <a:chOff x="0" y="0"/>
          <a:chExt cx="0" cy="0"/>
        </a:xfrm>
      </p:grpSpPr>
      <p:sp>
        <p:nvSpPr>
          <p:cNvPr id="116" name="Google Shape;116;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7" name="Google Shape;117;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19" name="Shape 119"/>
        <p:cNvGrpSpPr/>
        <p:nvPr/>
      </p:nvGrpSpPr>
      <p:grpSpPr>
        <a:xfrm>
          <a:off x="0" y="0"/>
          <a:ext cx="0" cy="0"/>
          <a:chOff x="0" y="0"/>
          <a:chExt cx="0" cy="0"/>
        </a:xfrm>
      </p:grpSpPr>
      <p:sp>
        <p:nvSpPr>
          <p:cNvPr id="120" name="Google Shape;120;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1" name="Google Shape;121;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2" name="Google Shape;122;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23" name="Shape 123"/>
        <p:cNvGrpSpPr/>
        <p:nvPr/>
      </p:nvGrpSpPr>
      <p:grpSpPr>
        <a:xfrm>
          <a:off x="0" y="0"/>
          <a:ext cx="0" cy="0"/>
          <a:chOff x="0" y="0"/>
          <a:chExt cx="0" cy="0"/>
        </a:xfrm>
      </p:grpSpPr>
      <p:sp>
        <p:nvSpPr>
          <p:cNvPr id="124" name="Google Shape;124;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27" name="Shape 127"/>
        <p:cNvGrpSpPr/>
        <p:nvPr/>
      </p:nvGrpSpPr>
      <p:grpSpPr>
        <a:xfrm>
          <a:off x="0" y="0"/>
          <a:ext cx="0" cy="0"/>
          <a:chOff x="0" y="0"/>
          <a:chExt cx="0" cy="0"/>
        </a:xfrm>
      </p:grpSpPr>
      <p:sp>
        <p:nvSpPr>
          <p:cNvPr id="128" name="Google Shape;128;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9" name="Google Shape;129;p2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0" name="Google Shape;13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131" name="Shape 131"/>
        <p:cNvGrpSpPr/>
        <p:nvPr/>
      </p:nvGrpSpPr>
      <p:grpSpPr>
        <a:xfrm>
          <a:off x="0" y="0"/>
          <a:ext cx="0" cy="0"/>
          <a:chOff x="0" y="0"/>
          <a:chExt cx="0" cy="0"/>
        </a:xfrm>
      </p:grpSpPr>
      <p:sp>
        <p:nvSpPr>
          <p:cNvPr id="132" name="Google Shape;132;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3" name="Google Shape;133;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135" name="Shape 135"/>
        <p:cNvGrpSpPr/>
        <p:nvPr/>
      </p:nvGrpSpPr>
      <p:grpSpPr>
        <a:xfrm>
          <a:off x="0" y="0"/>
          <a:ext cx="0" cy="0"/>
          <a:chOff x="0" y="0"/>
          <a:chExt cx="0" cy="0"/>
        </a:xfrm>
      </p:grpSpPr>
      <p:sp>
        <p:nvSpPr>
          <p:cNvPr id="136" name="Google Shape;136;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7" name="Google Shape;137;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139" name="Shape 139"/>
        <p:cNvGrpSpPr/>
        <p:nvPr/>
      </p:nvGrpSpPr>
      <p:grpSpPr>
        <a:xfrm>
          <a:off x="0" y="0"/>
          <a:ext cx="0" cy="0"/>
          <a:chOff x="0" y="0"/>
          <a:chExt cx="0" cy="0"/>
        </a:xfrm>
      </p:grpSpPr>
      <p:sp>
        <p:nvSpPr>
          <p:cNvPr id="140" name="Google Shape;140;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2" name="Google Shape;142;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3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3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38.png"/><Relationship Id="rId4" Type="http://schemas.openxmlformats.org/officeDocument/2006/relationships/hyperlink" Target="https://erbis.com/blog/6-phases-of-the-software-development-life-cycle/" TargetMode="External"/><Relationship Id="rId5" Type="http://schemas.openxmlformats.org/officeDocument/2006/relationships/hyperlink" Target="https://zitoc.com/software-development-life-cycle/" TargetMode="External"/><Relationship Id="rId6" Type="http://schemas.openxmlformats.org/officeDocument/2006/relationships/hyperlink" Target="https://starkstechnology.com/role-of-UI-UX-In-software-development" TargetMode="External"/><Relationship Id="rId7" Type="http://schemas.openxmlformats.org/officeDocument/2006/relationships/hyperlink" Target="https://medium.com/@tobiegbude/importance-of-ui-ux-design-in-software-development-c21b342c2f12"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4.xml"/><Relationship Id="rId3" Type="http://schemas.openxmlformats.org/officeDocument/2006/relationships/image" Target="../media/image32.png"/><Relationship Id="rId4" Type="http://schemas.openxmlformats.org/officeDocument/2006/relationships/image" Target="../media/image37.png"/><Relationship Id="rId5" Type="http://schemas.openxmlformats.org/officeDocument/2006/relationships/image" Target="../media/image30.png"/><Relationship Id="rId6"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6" name="Shape 146"/>
        <p:cNvGrpSpPr/>
        <p:nvPr/>
      </p:nvGrpSpPr>
      <p:grpSpPr>
        <a:xfrm>
          <a:off x="0" y="0"/>
          <a:ext cx="0" cy="0"/>
          <a:chOff x="0" y="0"/>
          <a:chExt cx="0" cy="0"/>
        </a:xfrm>
      </p:grpSpPr>
      <p:sp>
        <p:nvSpPr>
          <p:cNvPr id="147" name="Google Shape;147;p33"/>
          <p:cNvSpPr txBox="1"/>
          <p:nvPr/>
        </p:nvSpPr>
        <p:spPr>
          <a:xfrm>
            <a:off x="2386875" y="2335443"/>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Peran UI/UX dalam Pengembangan Perangkat Lunak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a:t>
            </a:r>
            <a:r>
              <a:rPr lang="en">
                <a:solidFill>
                  <a:schemeClr val="lt1"/>
                </a:solidFill>
                <a:latin typeface="Montserrat"/>
                <a:ea typeface="Montserrat"/>
                <a:cs typeface="Montserrat"/>
                <a:sym typeface="Montserrat"/>
              </a:rPr>
              <a:t>Chapter 8 - Topic 1</a:t>
            </a:r>
            <a:endParaRPr>
              <a:solidFill>
                <a:srgbClr val="FFFFFF"/>
              </a:solidFill>
              <a:latin typeface="Montserrat"/>
              <a:ea typeface="Montserrat"/>
              <a:cs typeface="Montserrat"/>
              <a:sym typeface="Montserrat"/>
            </a:endParaRPr>
          </a:p>
        </p:txBody>
      </p:sp>
      <p:cxnSp>
        <p:nvCxnSpPr>
          <p:cNvPr id="148" name="Google Shape;148;p3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49" name="Google Shape;149;p3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50" name="Google Shape;150;p3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1</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56" name="Google Shape;156;p34"/>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62" name="Google Shape;162;p35"/>
          <p:cNvSpPr txBox="1"/>
          <p:nvPr/>
        </p:nvSpPr>
        <p:spPr>
          <a:xfrm>
            <a:off x="669300" y="1502800"/>
            <a:ext cx="4605000" cy="2584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Zaskia Gotik lagi balapan,</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asik udah chapter delapaaan ~ 🥰 </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100">
                <a:latin typeface="Montserrat"/>
                <a:ea typeface="Montserrat"/>
                <a:cs typeface="Montserrat"/>
                <a:sym typeface="Montserrat"/>
              </a:rPr>
              <a:t>Waaaah nggak kerasa ya udah sampai chapter 8! Oke, di chapter ini kita akan membahas </a:t>
            </a:r>
            <a:r>
              <a:rPr lang="en" sz="1100">
                <a:latin typeface="Montserrat"/>
                <a:ea typeface="Montserrat"/>
                <a:cs typeface="Montserrat"/>
                <a:sym typeface="Montserrat"/>
              </a:rPr>
              <a:t>serba-serbi perangkat lunak, siklus hidupnya, hingga manajemen proyek.</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rPr lang="en" sz="1100">
                <a:latin typeface="Montserrat"/>
                <a:ea typeface="Montserrat"/>
                <a:cs typeface="Montserrat"/>
                <a:sym typeface="Montserrat"/>
              </a:rPr>
              <a:t>Nah, di topik pertama, kita akan memulainya dengan mengulas peran UI/UX dalam pengembangan perangkat lunak serta prosesnya.</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rPr lang="en" sz="1100">
                <a:latin typeface="Montserrat"/>
                <a:ea typeface="Montserrat"/>
                <a:cs typeface="Montserrat"/>
                <a:sym typeface="Montserrat"/>
              </a:rPr>
              <a:t>Yuk let’s go langsung aja, bestie ~</a:t>
            </a:r>
            <a:endParaRPr sz="1100">
              <a:latin typeface="Montserrat"/>
              <a:ea typeface="Montserrat"/>
              <a:cs typeface="Montserrat"/>
              <a:sym typeface="Montserrat"/>
            </a:endParaRPr>
          </a:p>
        </p:txBody>
      </p:sp>
      <p:pic>
        <p:nvPicPr>
          <p:cNvPr id="163" name="Google Shape;163;p35"/>
          <p:cNvPicPr preferRelativeResize="0"/>
          <p:nvPr/>
        </p:nvPicPr>
        <p:blipFill>
          <a:blip r:embed="rId3">
            <a:alphaModFix/>
          </a:blip>
          <a:stretch>
            <a:fillRect/>
          </a:stretch>
        </p:blipFill>
        <p:spPr>
          <a:xfrm>
            <a:off x="5540200" y="1040975"/>
            <a:ext cx="2885476" cy="3630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70" name="Google Shape;170;p36"/>
          <p:cNvSpPr txBox="1"/>
          <p:nvPr/>
        </p:nvSpPr>
        <p:spPr>
          <a:xfrm>
            <a:off x="685800" y="1288963"/>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rgbClr val="FFFFFF"/>
                </a:highlight>
                <a:latin typeface="Montserrat"/>
                <a:ea typeface="Montserrat"/>
                <a:cs typeface="Montserrat"/>
                <a:sym typeface="Montserrat"/>
              </a:rPr>
              <a:t>Detailnya, kita akan membahas:</a:t>
            </a:r>
            <a:endParaRPr sz="1000">
              <a:solidFill>
                <a:srgbClr val="000000"/>
              </a:solidFill>
              <a:latin typeface="Montserrat Medium"/>
              <a:ea typeface="Montserrat Medium"/>
              <a:cs typeface="Montserrat Medium"/>
              <a:sym typeface="Montserrat Medium"/>
            </a:endParaRPr>
          </a:p>
        </p:txBody>
      </p:sp>
      <p:sp>
        <p:nvSpPr>
          <p:cNvPr id="171" name="Google Shape;171;p36"/>
          <p:cNvSpPr/>
          <p:nvPr/>
        </p:nvSpPr>
        <p:spPr>
          <a:xfrm>
            <a:off x="685800" y="2146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2" name="Google Shape;172;p36"/>
          <p:cNvSpPr/>
          <p:nvPr/>
        </p:nvSpPr>
        <p:spPr>
          <a:xfrm>
            <a:off x="685800" y="26836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3" name="Google Shape;173;p36"/>
          <p:cNvSpPr/>
          <p:nvPr/>
        </p:nvSpPr>
        <p:spPr>
          <a:xfrm>
            <a:off x="685800" y="32210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4" name="Google Shape;174;p36"/>
          <p:cNvSpPr txBox="1"/>
          <p:nvPr/>
        </p:nvSpPr>
        <p:spPr>
          <a:xfrm>
            <a:off x="1182350" y="20774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Pengembangan perangkat lunak</a:t>
            </a:r>
            <a:endParaRPr sz="1100">
              <a:solidFill>
                <a:srgbClr val="000000"/>
              </a:solidFill>
              <a:latin typeface="Montserrat"/>
              <a:ea typeface="Montserrat"/>
              <a:cs typeface="Montserrat"/>
              <a:sym typeface="Montserrat"/>
            </a:endParaRPr>
          </a:p>
        </p:txBody>
      </p:sp>
      <p:sp>
        <p:nvSpPr>
          <p:cNvPr id="175" name="Google Shape;175;p36"/>
          <p:cNvSpPr txBox="1"/>
          <p:nvPr/>
        </p:nvSpPr>
        <p:spPr>
          <a:xfrm>
            <a:off x="1182350" y="26148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Siklus hidup pengembangan perangkat lunak</a:t>
            </a:r>
            <a:endParaRPr sz="1100">
              <a:solidFill>
                <a:srgbClr val="000000"/>
              </a:solidFill>
              <a:latin typeface="Montserrat"/>
              <a:ea typeface="Montserrat"/>
              <a:cs typeface="Montserrat"/>
              <a:sym typeface="Montserrat"/>
            </a:endParaRPr>
          </a:p>
        </p:txBody>
      </p:sp>
      <p:sp>
        <p:nvSpPr>
          <p:cNvPr id="176" name="Google Shape;176;p36"/>
          <p:cNvSpPr txBox="1"/>
          <p:nvPr/>
        </p:nvSpPr>
        <p:spPr>
          <a:xfrm>
            <a:off x="1182350" y="31521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Peran UI/UX dalam pengembangan perangkat lunak</a:t>
            </a:r>
            <a:endParaRPr sz="1100">
              <a:solidFill>
                <a:srgbClr val="000000"/>
              </a:solidFill>
              <a:latin typeface="Montserrat"/>
              <a:ea typeface="Montserrat"/>
              <a:cs typeface="Montserrat"/>
              <a:sym typeface="Montserrat"/>
            </a:endParaRPr>
          </a:p>
        </p:txBody>
      </p:sp>
      <p:pic>
        <p:nvPicPr>
          <p:cNvPr id="177" name="Google Shape;177;p36"/>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183" name="Google Shape;183;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37"/>
          <p:cNvSpPr txBox="1"/>
          <p:nvPr/>
        </p:nvSpPr>
        <p:spPr>
          <a:xfrm>
            <a:off x="685800" y="2065850"/>
            <a:ext cx="49035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Pertama, kita perlu mengetahui </a:t>
            </a:r>
            <a:r>
              <a:rPr b="1" lang="en">
                <a:solidFill>
                  <a:srgbClr val="F2AB2F"/>
                </a:solidFill>
                <a:latin typeface="Montserrat"/>
                <a:ea typeface="Montserrat"/>
                <a:cs typeface="Montserrat"/>
                <a:sym typeface="Montserrat"/>
              </a:rPr>
              <a:t>pengembangan perangkat lunak</a:t>
            </a:r>
            <a:r>
              <a:rPr b="1" lang="en">
                <a:solidFill>
                  <a:schemeClr val="lt1"/>
                </a:solidFill>
                <a:latin typeface="Montserrat"/>
                <a:ea typeface="Montserrat"/>
                <a:cs typeface="Montserrat"/>
                <a:sym typeface="Montserrat"/>
              </a:rPr>
              <a:t>, prosesnya, dan jenis-jenis perangkat lunak.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Yuhuuu langsung aja ~</a:t>
            </a:r>
            <a:endParaRPr b="1">
              <a:solidFill>
                <a:schemeClr val="lt1"/>
              </a:solidFill>
              <a:latin typeface="Montserrat"/>
              <a:ea typeface="Montserrat"/>
              <a:cs typeface="Montserrat"/>
              <a:sym typeface="Montserrat"/>
            </a:endParaRPr>
          </a:p>
        </p:txBody>
      </p:sp>
      <p:pic>
        <p:nvPicPr>
          <p:cNvPr id="185" name="Google Shape;185;p37"/>
          <p:cNvPicPr preferRelativeResize="0"/>
          <p:nvPr/>
        </p:nvPicPr>
        <p:blipFill>
          <a:blip r:embed="rId3">
            <a:alphaModFix/>
          </a:blip>
          <a:stretch>
            <a:fillRect/>
          </a:stretch>
        </p:blipFill>
        <p:spPr>
          <a:xfrm>
            <a:off x="5826800" y="1198923"/>
            <a:ext cx="2404350" cy="3206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192" name="Google Shape;192;p38"/>
          <p:cNvSpPr txBox="1"/>
          <p:nvPr/>
        </p:nvSpPr>
        <p:spPr>
          <a:xfrm>
            <a:off x="685800" y="1831800"/>
            <a:ext cx="4132500" cy="1479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sih maksudnya  pengembangan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Pengembangan perangkat lunak (software development) adalah </a:t>
            </a:r>
            <a:r>
              <a:rPr b="1" lang="en" sz="1000">
                <a:solidFill>
                  <a:schemeClr val="dk1"/>
                </a:solidFill>
                <a:latin typeface="Montserrat"/>
                <a:ea typeface="Montserrat"/>
                <a:cs typeface="Montserrat"/>
                <a:sym typeface="Montserrat"/>
              </a:rPr>
              <a:t>serangkaian kegiatan ilmu komputer yang didedikasikan untuk proses pembuatan, perancangan, dan penerapan perangkat lunak (software)</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93" name="Google Shape;193;p38"/>
          <p:cNvPicPr preferRelativeResize="0"/>
          <p:nvPr/>
        </p:nvPicPr>
        <p:blipFill>
          <a:blip r:embed="rId3">
            <a:alphaModFix/>
          </a:blip>
          <a:stretch>
            <a:fillRect/>
          </a:stretch>
        </p:blipFill>
        <p:spPr>
          <a:xfrm>
            <a:off x="5758325" y="1253800"/>
            <a:ext cx="2364524" cy="3300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00" name="Google Shape;200;p39"/>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perangkat lunak itu sendiri merupakan data yang diformat dan disimpan secara digital, termasuk program komputer, </a:t>
            </a:r>
            <a:r>
              <a:rPr lang="en" sz="1000">
                <a:solidFill>
                  <a:schemeClr val="dk1"/>
                </a:solidFill>
                <a:latin typeface="Montserrat"/>
                <a:ea typeface="Montserrat"/>
                <a:cs typeface="Montserrat"/>
                <a:sym typeface="Montserrat"/>
              </a:rPr>
              <a:t>dokumentasi nya</a:t>
            </a:r>
            <a:r>
              <a:rPr lang="en" sz="1000">
                <a:solidFill>
                  <a:schemeClr val="dk1"/>
                </a:solidFill>
                <a:latin typeface="Montserrat"/>
                <a:ea typeface="Montserrat"/>
                <a:cs typeface="Montserrat"/>
                <a:sym typeface="Montserrat"/>
              </a:rPr>
              <a:t>, dan berbagai informasi yang bisa dibaca serta ditulis oleh komputer.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Singkatnya, </a:t>
            </a:r>
            <a:r>
              <a:rPr b="1" lang="en" sz="1000">
                <a:solidFill>
                  <a:schemeClr val="dk1"/>
                </a:solidFill>
                <a:latin typeface="Montserrat"/>
                <a:ea typeface="Montserrat"/>
                <a:cs typeface="Montserrat"/>
                <a:sym typeface="Montserrat"/>
              </a:rPr>
              <a:t>perangkat lunak adalah kumpulan instruksi atau program yang memberi tahu apa yang harus dilakukan oleh komputer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01" name="Google Shape;201;p39"/>
          <p:cNvPicPr preferRelativeResize="0"/>
          <p:nvPr/>
        </p:nvPicPr>
        <p:blipFill>
          <a:blip r:embed="rId3">
            <a:alphaModFix/>
          </a:blip>
          <a:stretch>
            <a:fillRect/>
          </a:stretch>
        </p:blipFill>
        <p:spPr>
          <a:xfrm>
            <a:off x="5191330" y="1618593"/>
            <a:ext cx="3017524" cy="25197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08" name="Google Shape;208;p40"/>
          <p:cNvSpPr txBox="1"/>
          <p:nvPr/>
        </p:nvSpPr>
        <p:spPr>
          <a:xfrm>
            <a:off x="685800" y="1805850"/>
            <a:ext cx="4114800" cy="1531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Jenis-jenis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Secara umum, ada tiga jenis perangkat lunak,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34950" lvl="0" marL="285750" rtl="0" algn="just">
              <a:lnSpc>
                <a:spcPct val="115000"/>
              </a:lnSpc>
              <a:spcBef>
                <a:spcPts val="0"/>
              </a:spcBef>
              <a:spcAft>
                <a:spcPts val="0"/>
              </a:spcAft>
              <a:buClr>
                <a:srgbClr val="F2AB2F"/>
              </a:buClr>
              <a:buSzPts val="1000"/>
              <a:buFont typeface="Montserrat"/>
              <a:buAutoNum type="arabicParenR"/>
            </a:pPr>
            <a:r>
              <a:rPr b="1" lang="en" sz="1000">
                <a:solidFill>
                  <a:srgbClr val="F2AB2F"/>
                </a:solidFill>
                <a:latin typeface="Montserrat"/>
                <a:ea typeface="Montserrat"/>
                <a:cs typeface="Montserrat"/>
                <a:sym typeface="Montserrat"/>
              </a:rPr>
              <a:t>System software</a:t>
            </a:r>
            <a:endParaRPr b="1" sz="1000">
              <a:solidFill>
                <a:srgbClr val="F2AB2F"/>
              </a:solidFill>
              <a:latin typeface="Montserrat"/>
              <a:ea typeface="Montserrat"/>
              <a:cs typeface="Montserrat"/>
              <a:sym typeface="Montserrat"/>
            </a:endParaRPr>
          </a:p>
          <a:p>
            <a:pPr indent="0" lvl="0" marL="28575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menyediakan fungsi inti, seperti sistem operasi, manajemen disk, utilitas, manajemen hardware, dan kebutuhan operasional lainnya.</a:t>
            </a:r>
            <a:endParaRPr sz="1000">
              <a:solidFill>
                <a:schemeClr val="dk1"/>
              </a:solidFill>
              <a:latin typeface="Montserrat"/>
              <a:ea typeface="Montserrat"/>
              <a:cs typeface="Montserrat"/>
              <a:sym typeface="Montserrat"/>
            </a:endParaRPr>
          </a:p>
        </p:txBody>
      </p:sp>
      <p:pic>
        <p:nvPicPr>
          <p:cNvPr id="209" name="Google Shape;209;p40"/>
          <p:cNvPicPr preferRelativeResize="0"/>
          <p:nvPr/>
        </p:nvPicPr>
        <p:blipFill>
          <a:blip r:embed="rId3">
            <a:alphaModFix/>
          </a:blip>
          <a:stretch>
            <a:fillRect/>
          </a:stretch>
        </p:blipFill>
        <p:spPr>
          <a:xfrm>
            <a:off x="5549450" y="1036150"/>
            <a:ext cx="2372812" cy="35316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16" name="Google Shape;216;p41"/>
          <p:cNvSpPr txBox="1"/>
          <p:nvPr/>
        </p:nvSpPr>
        <p:spPr>
          <a:xfrm>
            <a:off x="685800" y="1779297"/>
            <a:ext cx="4114800" cy="1584900"/>
          </a:xfrm>
          <a:prstGeom prst="rect">
            <a:avLst/>
          </a:prstGeom>
          <a:noFill/>
          <a:ln>
            <a:noFill/>
          </a:ln>
        </p:spPr>
        <p:txBody>
          <a:bodyPr anchorCtr="0" anchor="t" bIns="0" lIns="0" spcFirstLastPara="1" rIns="0" wrap="square" tIns="0">
            <a:noAutofit/>
          </a:bodyPr>
          <a:lstStyle/>
          <a:p>
            <a:pPr indent="-234950" lvl="0" marL="285750" rtl="0" algn="just">
              <a:lnSpc>
                <a:spcPct val="115000"/>
              </a:lnSpc>
              <a:spcBef>
                <a:spcPts val="0"/>
              </a:spcBef>
              <a:spcAft>
                <a:spcPts val="0"/>
              </a:spcAft>
              <a:buClr>
                <a:srgbClr val="F2AB2F"/>
              </a:buClr>
              <a:buSzPts val="1000"/>
              <a:buFont typeface="Montserrat"/>
              <a:buAutoNum type="arabicParenR" startAt="2"/>
            </a:pPr>
            <a:r>
              <a:rPr b="1" lang="en" sz="1000">
                <a:solidFill>
                  <a:srgbClr val="F2AB2F"/>
                </a:solidFill>
                <a:latin typeface="Montserrat"/>
                <a:ea typeface="Montserrat"/>
                <a:cs typeface="Montserrat"/>
                <a:sym typeface="Montserrat"/>
              </a:rPr>
              <a:t>Programming software</a:t>
            </a:r>
            <a:endParaRPr b="1" sz="1000">
              <a:solidFill>
                <a:srgbClr val="F2AB2F"/>
              </a:solidFill>
              <a:latin typeface="Montserrat"/>
              <a:ea typeface="Montserrat"/>
              <a:cs typeface="Montserrat"/>
              <a:sym typeface="Montserrat"/>
            </a:endParaRPr>
          </a:p>
          <a:p>
            <a:pPr indent="0" lvl="0" marL="28575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memberikan fasilitas bagi programmer, seperti editor teks, kompiler, tautan, debugger, dan alat lain untuk membuat kode.</a:t>
            </a:r>
            <a:endParaRPr sz="1000">
              <a:solidFill>
                <a:schemeClr val="dk1"/>
              </a:solidFill>
              <a:latin typeface="Montserrat"/>
              <a:ea typeface="Montserrat"/>
              <a:cs typeface="Montserrat"/>
              <a:sym typeface="Montserrat"/>
            </a:endParaRPr>
          </a:p>
          <a:p>
            <a:pPr indent="0" lvl="0" marL="28575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34950" lvl="0" marL="285750" rtl="0" algn="just">
              <a:lnSpc>
                <a:spcPct val="115000"/>
              </a:lnSpc>
              <a:spcBef>
                <a:spcPts val="0"/>
              </a:spcBef>
              <a:spcAft>
                <a:spcPts val="0"/>
              </a:spcAft>
              <a:buClr>
                <a:srgbClr val="F2AB2F"/>
              </a:buClr>
              <a:buSzPts val="1000"/>
              <a:buFont typeface="Montserrat"/>
              <a:buAutoNum type="arabicParenR" startAt="2"/>
            </a:pPr>
            <a:r>
              <a:rPr b="1" lang="en" sz="1000">
                <a:solidFill>
                  <a:srgbClr val="F2AB2F"/>
                </a:solidFill>
                <a:latin typeface="Montserrat"/>
                <a:ea typeface="Montserrat"/>
                <a:cs typeface="Montserrat"/>
                <a:sym typeface="Montserrat"/>
              </a:rPr>
              <a:t>Application software</a:t>
            </a:r>
            <a:endParaRPr b="1" sz="1000">
              <a:solidFill>
                <a:srgbClr val="F2AB2F"/>
              </a:solidFill>
              <a:latin typeface="Montserrat"/>
              <a:ea typeface="Montserrat"/>
              <a:cs typeface="Montserrat"/>
              <a:sym typeface="Montserrat"/>
            </a:endParaRPr>
          </a:p>
          <a:p>
            <a:pPr indent="0" lvl="0" marL="28575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membantu pengguna melakukan tugasnya. Nah, di slide selanjutnya, kita akan mengenal application software lebih dalam.</a:t>
            </a:r>
            <a:endParaRPr sz="1000">
              <a:solidFill>
                <a:schemeClr val="dk1"/>
              </a:solidFill>
              <a:latin typeface="Montserrat"/>
              <a:ea typeface="Montserrat"/>
              <a:cs typeface="Montserrat"/>
              <a:sym typeface="Montserrat"/>
            </a:endParaRPr>
          </a:p>
        </p:txBody>
      </p:sp>
      <p:pic>
        <p:nvPicPr>
          <p:cNvPr id="217" name="Google Shape;217;p41"/>
          <p:cNvPicPr preferRelativeResize="0"/>
          <p:nvPr/>
        </p:nvPicPr>
        <p:blipFill>
          <a:blip r:embed="rId3">
            <a:alphaModFix/>
          </a:blip>
          <a:stretch>
            <a:fillRect/>
          </a:stretch>
        </p:blipFill>
        <p:spPr>
          <a:xfrm>
            <a:off x="5189150" y="1288050"/>
            <a:ext cx="3451899" cy="2816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24" name="Google Shape;224;p42"/>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Application software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dari perangkat lunak jenis ini adalah rangkaian produktivitas kantor, data management software, media player, dan program keamanan.</a:t>
            </a:r>
            <a:endParaRPr sz="1000">
              <a:solidFill>
                <a:schemeClr val="dk1"/>
              </a:solidFill>
              <a:latin typeface="Montserrat"/>
              <a:ea typeface="Montserrat"/>
              <a:cs typeface="Montserrat"/>
              <a:sym typeface="Montserrat"/>
            </a:endParaRPr>
          </a:p>
        </p:txBody>
      </p:sp>
      <p:pic>
        <p:nvPicPr>
          <p:cNvPr id="225" name="Google Shape;225;p42"/>
          <p:cNvPicPr preferRelativeResize="0"/>
          <p:nvPr/>
        </p:nvPicPr>
        <p:blipFill>
          <a:blip r:embed="rId3">
            <a:alphaModFix/>
          </a:blip>
          <a:stretch>
            <a:fillRect/>
          </a:stretch>
        </p:blipFill>
        <p:spPr>
          <a:xfrm>
            <a:off x="5105775" y="1299551"/>
            <a:ext cx="3380649" cy="2931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32" name="Google Shape;232;p43"/>
          <p:cNvSpPr txBox="1"/>
          <p:nvPr/>
        </p:nvSpPr>
        <p:spPr>
          <a:xfrm>
            <a:off x="685800" y="2117396"/>
            <a:ext cx="4114800" cy="90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Application software juga mengacu pada aplikasi web dan mobile seperti yang digunakan untuk berbelanja di Shopee atau Lazada, memesan kendaraan dengan Gojek, bersosialisasi dengan Facebook, mencari jodoh dengan Tinder atau memposting gambar ke Instagram.</a:t>
            </a:r>
            <a:endParaRPr sz="1000">
              <a:solidFill>
                <a:schemeClr val="dk1"/>
              </a:solidFill>
              <a:latin typeface="Montserrat"/>
              <a:ea typeface="Montserrat"/>
              <a:cs typeface="Montserrat"/>
              <a:sym typeface="Montserrat"/>
            </a:endParaRPr>
          </a:p>
        </p:txBody>
      </p:sp>
      <p:pic>
        <p:nvPicPr>
          <p:cNvPr id="233" name="Google Shape;233;p43"/>
          <p:cNvPicPr preferRelativeResize="0"/>
          <p:nvPr/>
        </p:nvPicPr>
        <p:blipFill>
          <a:blip r:embed="rId3">
            <a:alphaModFix/>
          </a:blip>
          <a:stretch>
            <a:fillRect/>
          </a:stretch>
        </p:blipFill>
        <p:spPr>
          <a:xfrm>
            <a:off x="5507975" y="1032775"/>
            <a:ext cx="2522027" cy="354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40" name="Google Shape;240;p44"/>
          <p:cNvSpPr txBox="1"/>
          <p:nvPr/>
        </p:nvSpPr>
        <p:spPr>
          <a:xfrm>
            <a:off x="685800" y="2048100"/>
            <a:ext cx="4114800" cy="104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Jenis keempat: e</a:t>
            </a:r>
            <a:r>
              <a:rPr b="1" lang="en" sz="1600">
                <a:solidFill>
                  <a:srgbClr val="743673"/>
                </a:solidFill>
                <a:highlight>
                  <a:schemeClr val="lt1"/>
                </a:highlight>
                <a:latin typeface="Montserrat"/>
                <a:ea typeface="Montserrat"/>
                <a:cs typeface="Montserrat"/>
                <a:sym typeface="Montserrat"/>
              </a:rPr>
              <a:t>mbedded software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Embedded software atau perangkat lunak tertanam lebih jarang dibicarakan. Perangkat beserta software jenis ini dapat dihubungkan sebagai bagian dari Internet of Things (IoT).</a:t>
            </a:r>
            <a:endParaRPr sz="1000">
              <a:solidFill>
                <a:schemeClr val="dk1"/>
              </a:solidFill>
              <a:latin typeface="Montserrat"/>
              <a:ea typeface="Montserrat"/>
              <a:cs typeface="Montserrat"/>
              <a:sym typeface="Montserrat"/>
            </a:endParaRPr>
          </a:p>
        </p:txBody>
      </p:sp>
      <p:pic>
        <p:nvPicPr>
          <p:cNvPr id="241" name="Google Shape;241;p44"/>
          <p:cNvPicPr preferRelativeResize="0"/>
          <p:nvPr/>
        </p:nvPicPr>
        <p:blipFill>
          <a:blip r:embed="rId3">
            <a:alphaModFix/>
          </a:blip>
          <a:stretch>
            <a:fillRect/>
          </a:stretch>
        </p:blipFill>
        <p:spPr>
          <a:xfrm>
            <a:off x="5761026" y="1034875"/>
            <a:ext cx="2620975" cy="3495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48" name="Google Shape;248;p45"/>
          <p:cNvSpPr txBox="1"/>
          <p:nvPr/>
        </p:nvSpPr>
        <p:spPr>
          <a:xfrm>
            <a:off x="685800" y="2211750"/>
            <a:ext cx="4114800" cy="720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Software jenis ini</a:t>
            </a:r>
            <a:r>
              <a:rPr lang="en" sz="1000">
                <a:solidFill>
                  <a:schemeClr val="dk1"/>
                </a:solidFill>
                <a:latin typeface="Montserrat"/>
                <a:ea typeface="Montserrat"/>
                <a:cs typeface="Montserrat"/>
                <a:sym typeface="Montserrat"/>
              </a:rPr>
              <a:t> digunakan untuk mengontrol mesin dan perangkat yang biasanya tidak dianggap sebagai komputer, seperti jaringan telekomunikasi, mobil, robot industri, dan lainnya.</a:t>
            </a:r>
            <a:endParaRPr sz="1000">
              <a:solidFill>
                <a:schemeClr val="dk1"/>
              </a:solidFill>
              <a:latin typeface="Montserrat"/>
              <a:ea typeface="Montserrat"/>
              <a:cs typeface="Montserrat"/>
              <a:sym typeface="Montserrat"/>
            </a:endParaRPr>
          </a:p>
        </p:txBody>
      </p:sp>
      <p:pic>
        <p:nvPicPr>
          <p:cNvPr id="249" name="Google Shape;249;p45"/>
          <p:cNvPicPr preferRelativeResize="0"/>
          <p:nvPr/>
        </p:nvPicPr>
        <p:blipFill>
          <a:blip r:embed="rId3">
            <a:alphaModFix/>
          </a:blip>
          <a:stretch>
            <a:fillRect/>
          </a:stretch>
        </p:blipFill>
        <p:spPr>
          <a:xfrm>
            <a:off x="4949200" y="1558375"/>
            <a:ext cx="3518375" cy="2474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55" name="Google Shape;255;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46"/>
          <p:cNvSpPr txBox="1"/>
          <p:nvPr/>
        </p:nvSpPr>
        <p:spPr>
          <a:xfrm>
            <a:off x="685800" y="1833000"/>
            <a:ext cx="41190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Sebagai desainer UI/UX, kita perlu mengetahui </a:t>
            </a:r>
            <a:r>
              <a:rPr b="1" lang="en">
                <a:solidFill>
                  <a:srgbClr val="F2AB2F"/>
                </a:solidFill>
                <a:latin typeface="Montserrat"/>
                <a:ea typeface="Montserrat"/>
                <a:cs typeface="Montserrat"/>
                <a:sym typeface="Montserrat"/>
              </a:rPr>
              <a:t>siklus hidup pengembangan perangkat lunak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Biar apa ya tapi? Yuk temukan jawabannya bersama ~</a:t>
            </a:r>
            <a:endParaRPr b="1">
              <a:solidFill>
                <a:schemeClr val="lt1"/>
              </a:solidFill>
              <a:latin typeface="Montserrat"/>
              <a:ea typeface="Montserrat"/>
              <a:cs typeface="Montserrat"/>
              <a:sym typeface="Montserrat"/>
            </a:endParaRPr>
          </a:p>
        </p:txBody>
      </p:sp>
      <p:pic>
        <p:nvPicPr>
          <p:cNvPr id="257" name="Google Shape;257;p46"/>
          <p:cNvPicPr preferRelativeResize="0"/>
          <p:nvPr/>
        </p:nvPicPr>
        <p:blipFill>
          <a:blip r:embed="rId3">
            <a:alphaModFix/>
          </a:blip>
          <a:stretch>
            <a:fillRect/>
          </a:stretch>
        </p:blipFill>
        <p:spPr>
          <a:xfrm>
            <a:off x="5646850" y="1136200"/>
            <a:ext cx="2098375" cy="33098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261" name="Shape 261"/>
        <p:cNvGrpSpPr/>
        <p:nvPr/>
      </p:nvGrpSpPr>
      <p:grpSpPr>
        <a:xfrm>
          <a:off x="0" y="0"/>
          <a:ext cx="0" cy="0"/>
          <a:chOff x="0" y="0"/>
          <a:chExt cx="0" cy="0"/>
        </a:xfrm>
      </p:grpSpPr>
      <p:sp>
        <p:nvSpPr>
          <p:cNvPr id="262" name="Google Shape;262;p47"/>
          <p:cNvSpPr txBox="1"/>
          <p:nvPr/>
        </p:nvSpPr>
        <p:spPr>
          <a:xfrm>
            <a:off x="685800" y="1036320"/>
            <a:ext cx="4114800" cy="2602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None/>
            </a:pPr>
            <a:r>
              <a:rPr b="1" lang="en" sz="3800">
                <a:solidFill>
                  <a:srgbClr val="743673"/>
                </a:solidFill>
                <a:latin typeface="Montserrat"/>
                <a:ea typeface="Montserrat"/>
                <a:cs typeface="Montserrat"/>
                <a:sym typeface="Montserrat"/>
              </a:rPr>
              <a:t>Like everything in life, softwares has a life cycle too…</a:t>
            </a:r>
            <a:endParaRPr sz="3800">
              <a:solidFill>
                <a:schemeClr val="dk1"/>
              </a:solidFill>
              <a:latin typeface="Montserrat Medium"/>
              <a:ea typeface="Montserrat Medium"/>
              <a:cs typeface="Montserrat Medium"/>
              <a:sym typeface="Montserrat Medium"/>
            </a:endParaRPr>
          </a:p>
        </p:txBody>
      </p:sp>
      <p:sp>
        <p:nvSpPr>
          <p:cNvPr id="263" name="Google Shape;263;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70" name="Google Shape;270;p48"/>
          <p:cNvSpPr txBox="1"/>
          <p:nvPr/>
        </p:nvSpPr>
        <p:spPr>
          <a:xfrm>
            <a:off x="685800" y="1660350"/>
            <a:ext cx="4114800" cy="182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Siklus hidup pengembangan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bahasa Inggris, siklus hidup pengembangan perangkat lunak dapat diterjemahkan menjadi software development life cycle yang disingkat menjadi SDLC.</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Sebelum menerangkan langkah penerapan dan cara kerjanya, kita bahas dahulu yuk definisi dari SDLC ~</a:t>
            </a:r>
            <a:endParaRPr sz="1000">
              <a:solidFill>
                <a:schemeClr val="dk1"/>
              </a:solidFill>
              <a:latin typeface="Montserrat"/>
              <a:ea typeface="Montserrat"/>
              <a:cs typeface="Montserrat"/>
              <a:sym typeface="Montserrat"/>
            </a:endParaRPr>
          </a:p>
        </p:txBody>
      </p:sp>
      <p:pic>
        <p:nvPicPr>
          <p:cNvPr id="271" name="Google Shape;271;p48"/>
          <p:cNvPicPr preferRelativeResize="0"/>
          <p:nvPr/>
        </p:nvPicPr>
        <p:blipFill>
          <a:blip r:embed="rId3">
            <a:alphaModFix/>
          </a:blip>
          <a:stretch>
            <a:fillRect/>
          </a:stretch>
        </p:blipFill>
        <p:spPr>
          <a:xfrm>
            <a:off x="5533875" y="1330375"/>
            <a:ext cx="2795500" cy="2914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78" name="Google Shape;278;p49"/>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SDLC adalah proses pengubahan dan pembuatan sistem, model, serta metodologi yang digunakan untuk mengembangkan software.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Singkatnya, dalam dunia rekayasa software, ia merupakan </a:t>
            </a:r>
            <a:r>
              <a:rPr b="1" lang="en" sz="1000">
                <a:solidFill>
                  <a:schemeClr val="dk1"/>
                </a:solidFill>
                <a:latin typeface="Montserrat"/>
                <a:ea typeface="Montserrat"/>
                <a:cs typeface="Montserrat"/>
                <a:sym typeface="Montserrat"/>
              </a:rPr>
              <a:t>langkah-langkah yang bisa diterapkan para engineer dan developer untuk merancang serta mengelola software.</a:t>
            </a:r>
            <a:endParaRPr b="1" sz="1000">
              <a:solidFill>
                <a:schemeClr val="dk1"/>
              </a:solidFill>
              <a:latin typeface="Montserrat"/>
              <a:ea typeface="Montserrat"/>
              <a:cs typeface="Montserrat"/>
              <a:sym typeface="Montserrat"/>
            </a:endParaRPr>
          </a:p>
        </p:txBody>
      </p:sp>
      <p:pic>
        <p:nvPicPr>
          <p:cNvPr id="279" name="Google Shape;279;p49"/>
          <p:cNvPicPr preferRelativeResize="0"/>
          <p:nvPr/>
        </p:nvPicPr>
        <p:blipFill>
          <a:blip r:embed="rId3">
            <a:alphaModFix/>
          </a:blip>
          <a:stretch>
            <a:fillRect/>
          </a:stretch>
        </p:blipFill>
        <p:spPr>
          <a:xfrm>
            <a:off x="5134675" y="1530026"/>
            <a:ext cx="3394401" cy="23851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86" name="Google Shape;286;p50"/>
          <p:cNvSpPr txBox="1"/>
          <p:nvPr/>
        </p:nvSpPr>
        <p:spPr>
          <a:xfrm>
            <a:off x="685800" y="1805400"/>
            <a:ext cx="4114800" cy="153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Terus, SDLC ini untuk apa? </a:t>
            </a:r>
            <a:r>
              <a:rPr lang="en" sz="1000">
                <a:solidFill>
                  <a:schemeClr val="dk1"/>
                </a:solidFill>
                <a:latin typeface="Montserrat"/>
                <a:ea typeface="Montserrat"/>
                <a:cs typeface="Montserrat"/>
                <a:sym typeface="Montserrat"/>
              </a:rPr>
              <a:t>Tentunya </a:t>
            </a:r>
            <a:r>
              <a:rPr b="1" lang="en" sz="1000">
                <a:solidFill>
                  <a:schemeClr val="dk1"/>
                </a:solidFill>
                <a:latin typeface="Montserrat"/>
                <a:ea typeface="Montserrat"/>
                <a:cs typeface="Montserrat"/>
                <a:sym typeface="Montserrat"/>
              </a:rPr>
              <a:t>untuk menghasilkan output sistem berkualitas tinggi yang sesuai dengan ekspektasi para pengguna dan stakeholder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Sejatinya, SDLC adalah sebuah proses yang bisa menurunkan biaya pembangunan sebuah software. Sebab, ia didesain untuk mempersingkat waktu produksi secara serentak.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pelajari langkah penerapannya!</a:t>
            </a:r>
            <a:endParaRPr sz="1000">
              <a:solidFill>
                <a:schemeClr val="dk1"/>
              </a:solidFill>
              <a:latin typeface="Montserrat"/>
              <a:ea typeface="Montserrat"/>
              <a:cs typeface="Montserrat"/>
              <a:sym typeface="Montserrat"/>
            </a:endParaRPr>
          </a:p>
        </p:txBody>
      </p:sp>
      <p:pic>
        <p:nvPicPr>
          <p:cNvPr id="287" name="Google Shape;287;p50"/>
          <p:cNvPicPr preferRelativeResize="0"/>
          <p:nvPr/>
        </p:nvPicPr>
        <p:blipFill>
          <a:blip r:embed="rId3">
            <a:alphaModFix/>
          </a:blip>
          <a:stretch>
            <a:fillRect/>
          </a:stretch>
        </p:blipFill>
        <p:spPr>
          <a:xfrm>
            <a:off x="5761026" y="1034875"/>
            <a:ext cx="2620975" cy="34957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51"/>
          <p:cNvPicPr preferRelativeResize="0"/>
          <p:nvPr/>
        </p:nvPicPr>
        <p:blipFill rotWithShape="1">
          <a:blip r:embed="rId3">
            <a:alphaModFix/>
          </a:blip>
          <a:srcRect b="3993" l="18209" r="21133" t="3993"/>
          <a:stretch/>
        </p:blipFill>
        <p:spPr>
          <a:xfrm>
            <a:off x="5203325" y="1073150"/>
            <a:ext cx="1694750" cy="1694751"/>
          </a:xfrm>
          <a:prstGeom prst="rect">
            <a:avLst/>
          </a:prstGeom>
          <a:noFill/>
          <a:ln>
            <a:noFill/>
          </a:ln>
        </p:spPr>
      </p:pic>
      <p:sp>
        <p:nvSpPr>
          <p:cNvPr id="293" name="Google Shape;293;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95" name="Google Shape;295;p51"/>
          <p:cNvSpPr txBox="1"/>
          <p:nvPr/>
        </p:nvSpPr>
        <p:spPr>
          <a:xfrm>
            <a:off x="685800" y="1631550"/>
            <a:ext cx="4114800" cy="18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Langkah Penerapan SDLC</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SDLC adalah pendekatan sistematis di mana memecah pekerjaan menjadi langkah-langkah yang diperlukan untuk mengimplementasikan Sistem Informasi baru atau yang dimodifikasi.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bagan di samping, setidaknya ada enam langkah utama dalam siklus hidup software development. Yuk kita telusuri satu per satu ~</a:t>
            </a:r>
            <a:endParaRPr sz="1000">
              <a:solidFill>
                <a:schemeClr val="dk1"/>
              </a:solidFill>
              <a:latin typeface="Montserrat"/>
              <a:ea typeface="Montserrat"/>
              <a:cs typeface="Montserrat"/>
              <a:sym typeface="Montserrat"/>
            </a:endParaRPr>
          </a:p>
        </p:txBody>
      </p:sp>
      <p:pic>
        <p:nvPicPr>
          <p:cNvPr id="296" name="Google Shape;296;p51"/>
          <p:cNvPicPr preferRelativeResize="0"/>
          <p:nvPr/>
        </p:nvPicPr>
        <p:blipFill>
          <a:blip r:embed="rId4">
            <a:alphaModFix/>
          </a:blip>
          <a:stretch>
            <a:fillRect/>
          </a:stretch>
        </p:blipFill>
        <p:spPr>
          <a:xfrm>
            <a:off x="6403525" y="1429075"/>
            <a:ext cx="1880400" cy="3485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03" name="Google Shape;303;p52"/>
          <p:cNvSpPr txBox="1"/>
          <p:nvPr/>
        </p:nvSpPr>
        <p:spPr>
          <a:xfrm>
            <a:off x="685800" y="2075097"/>
            <a:ext cx="4114800" cy="99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Planning (perencanaan)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Mendefinisikan masalah dan ruang lingkup sistem yang ada pada perangkat lunak.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Meninjau sistem baru dan menentukan tujuannya.</a:t>
            </a:r>
            <a:endParaRPr sz="1000">
              <a:solidFill>
                <a:schemeClr val="dk1"/>
              </a:solidFill>
              <a:latin typeface="Montserrat"/>
              <a:ea typeface="Montserrat"/>
              <a:cs typeface="Montserrat"/>
              <a:sym typeface="Montserrat"/>
            </a:endParaRPr>
          </a:p>
        </p:txBody>
      </p:sp>
      <p:pic>
        <p:nvPicPr>
          <p:cNvPr id="304" name="Google Shape;304;p52"/>
          <p:cNvPicPr preferRelativeResize="0"/>
          <p:nvPr/>
        </p:nvPicPr>
        <p:blipFill>
          <a:blip r:embed="rId3">
            <a:alphaModFix/>
          </a:blip>
          <a:stretch>
            <a:fillRect/>
          </a:stretch>
        </p:blipFill>
        <p:spPr>
          <a:xfrm>
            <a:off x="4999025" y="1543224"/>
            <a:ext cx="3622076" cy="2649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11" name="Google Shape;311;p53"/>
          <p:cNvSpPr txBox="1"/>
          <p:nvPr/>
        </p:nvSpPr>
        <p:spPr>
          <a:xfrm>
            <a:off x="685800" y="2138396"/>
            <a:ext cx="4114800" cy="866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Konfirmasi kelayakan dan membuat jadwal proyek.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Pertimbangkan ancaman, kendala, integrasi dan keamanan sistem.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Laporan kelayakan untuk keseluruhan proyek dibuat pada akhir fase ini.</a:t>
            </a:r>
            <a:endParaRPr sz="1000">
              <a:solidFill>
                <a:schemeClr val="dk1"/>
              </a:solidFill>
              <a:latin typeface="Montserrat"/>
              <a:ea typeface="Montserrat"/>
              <a:cs typeface="Montserrat"/>
              <a:sym typeface="Montserrat"/>
            </a:endParaRPr>
          </a:p>
        </p:txBody>
      </p:sp>
      <p:pic>
        <p:nvPicPr>
          <p:cNvPr id="312" name="Google Shape;312;p53"/>
          <p:cNvPicPr preferRelativeResize="0"/>
          <p:nvPr/>
        </p:nvPicPr>
        <p:blipFill>
          <a:blip r:embed="rId3">
            <a:alphaModFix/>
          </a:blip>
          <a:stretch>
            <a:fillRect/>
          </a:stretch>
        </p:blipFill>
        <p:spPr>
          <a:xfrm>
            <a:off x="4999025" y="1543224"/>
            <a:ext cx="3622076" cy="2649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19" name="Google Shape;319;p54"/>
          <p:cNvSpPr txBox="1"/>
          <p:nvPr/>
        </p:nvSpPr>
        <p:spPr>
          <a:xfrm>
            <a:off x="685800" y="1897801"/>
            <a:ext cx="4114800" cy="134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Analysis (analisis dan spesifikasi)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Mengumpulkan, menganalisis, dan memvalidasi informasi.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Tentukan persyaratan dan prototipe untuk sistem baru.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Mengevaluasi alternatif dan memprioritaskan persyaratan.</a:t>
            </a:r>
            <a:endParaRPr sz="1000">
              <a:solidFill>
                <a:schemeClr val="dk1"/>
              </a:solidFill>
              <a:latin typeface="Montserrat"/>
              <a:ea typeface="Montserrat"/>
              <a:cs typeface="Montserrat"/>
              <a:sym typeface="Montserrat"/>
            </a:endParaRPr>
          </a:p>
        </p:txBody>
      </p:sp>
      <p:pic>
        <p:nvPicPr>
          <p:cNvPr id="320" name="Google Shape;320;p54"/>
          <p:cNvPicPr preferRelativeResize="0"/>
          <p:nvPr/>
        </p:nvPicPr>
        <p:blipFill>
          <a:blip r:embed="rId3">
            <a:alphaModFix/>
          </a:blip>
          <a:stretch>
            <a:fillRect/>
          </a:stretch>
        </p:blipFill>
        <p:spPr>
          <a:xfrm>
            <a:off x="4986600" y="1424425"/>
            <a:ext cx="3479849" cy="27475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27" name="Google Shape;327;p55"/>
          <p:cNvSpPr txBox="1"/>
          <p:nvPr/>
        </p:nvSpPr>
        <p:spPr>
          <a:xfrm>
            <a:off x="685800" y="2027547"/>
            <a:ext cx="4114800" cy="10884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Memeriksa kebutuhan informasi pengguna akhir dan meningkatkan tujuan sistem.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Dokumen Spesifikasi Persyaratan Perangkat Lunak (SRS), yang menetapkan persyaratan perangkat lunak, perangkat keras, fungsional, dan jaringan dari sistem disiapkan pada akhir fase ini.</a:t>
            </a:r>
            <a:endParaRPr sz="1000">
              <a:solidFill>
                <a:schemeClr val="dk1"/>
              </a:solidFill>
              <a:latin typeface="Montserrat"/>
              <a:ea typeface="Montserrat"/>
              <a:cs typeface="Montserrat"/>
              <a:sym typeface="Montserrat"/>
            </a:endParaRPr>
          </a:p>
        </p:txBody>
      </p:sp>
      <p:pic>
        <p:nvPicPr>
          <p:cNvPr id="328" name="Google Shape;328;p55"/>
          <p:cNvPicPr preferRelativeResize="0"/>
          <p:nvPr/>
        </p:nvPicPr>
        <p:blipFill>
          <a:blip r:embed="rId3">
            <a:alphaModFix/>
          </a:blip>
          <a:stretch>
            <a:fillRect/>
          </a:stretch>
        </p:blipFill>
        <p:spPr>
          <a:xfrm>
            <a:off x="4986600" y="1424425"/>
            <a:ext cx="3479849" cy="27475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35" name="Google Shape;335;p56"/>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Design (desain sistem)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Desain aplikasi, jaringan, database, antarmuka pengguna, dan antarmuka sistem.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Mengubah dokumen SRS menjadi struktur logis, berisi kumpulan spesifikasi terperinci dan lengkap yang dapat diimplementasikan dalam bahasa pemrograman.</a:t>
            </a:r>
            <a:endParaRPr sz="1000">
              <a:solidFill>
                <a:schemeClr val="dk1"/>
              </a:solidFill>
              <a:latin typeface="Montserrat"/>
              <a:ea typeface="Montserrat"/>
              <a:cs typeface="Montserrat"/>
              <a:sym typeface="Montserrat"/>
            </a:endParaRPr>
          </a:p>
        </p:txBody>
      </p:sp>
      <p:pic>
        <p:nvPicPr>
          <p:cNvPr id="336" name="Google Shape;336;p56"/>
          <p:cNvPicPr preferRelativeResize="0"/>
          <p:nvPr/>
        </p:nvPicPr>
        <p:blipFill>
          <a:blip r:embed="rId3">
            <a:alphaModFix/>
          </a:blip>
          <a:stretch>
            <a:fillRect/>
          </a:stretch>
        </p:blipFill>
        <p:spPr>
          <a:xfrm>
            <a:off x="5878475" y="1194900"/>
            <a:ext cx="2059399" cy="32825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43" name="Google Shape;343;p57"/>
          <p:cNvSpPr txBox="1"/>
          <p:nvPr/>
        </p:nvSpPr>
        <p:spPr>
          <a:xfrm>
            <a:off x="685800" y="1985247"/>
            <a:ext cx="4114800" cy="11730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Buat rencana kontingensi, pelatihan, pemeliharaan, dan operasi.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Tinjau desain yang diusulkan. Memastikan bahwa desain akhir harus memenuhi persyaratan yang tercantum dalam dokumen SRS.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Terakhir, siapkan dokumen desain yang akan digunakan pada fase selanjutnya.</a:t>
            </a:r>
            <a:endParaRPr sz="1000">
              <a:solidFill>
                <a:schemeClr val="dk1"/>
              </a:solidFill>
              <a:latin typeface="Montserrat"/>
              <a:ea typeface="Montserrat"/>
              <a:cs typeface="Montserrat"/>
              <a:sym typeface="Montserrat"/>
            </a:endParaRPr>
          </a:p>
        </p:txBody>
      </p:sp>
      <p:pic>
        <p:nvPicPr>
          <p:cNvPr id="344" name="Google Shape;344;p57"/>
          <p:cNvPicPr preferRelativeResize="0"/>
          <p:nvPr/>
        </p:nvPicPr>
        <p:blipFill>
          <a:blip r:embed="rId3">
            <a:alphaModFix/>
          </a:blip>
          <a:stretch>
            <a:fillRect/>
          </a:stretch>
        </p:blipFill>
        <p:spPr>
          <a:xfrm>
            <a:off x="5878475" y="1194900"/>
            <a:ext cx="2059399" cy="32825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51" name="Google Shape;351;p58"/>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 Implementation (implementasi)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Menerapkan desain ke dalam kode sumber melalui pengkodean.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Menggabungkan semua modul bersama-sama ke dalam lingkungan pelatihan yang mendeteksi kesalahan dan cacat.</a:t>
            </a:r>
            <a:endParaRPr sz="1000">
              <a:solidFill>
                <a:schemeClr val="dk1"/>
              </a:solidFill>
              <a:latin typeface="Montserrat"/>
              <a:ea typeface="Montserrat"/>
              <a:cs typeface="Montserrat"/>
              <a:sym typeface="Montserrat"/>
            </a:endParaRPr>
          </a:p>
        </p:txBody>
      </p:sp>
      <p:pic>
        <p:nvPicPr>
          <p:cNvPr id="352" name="Google Shape;352;p58"/>
          <p:cNvPicPr preferRelativeResize="0"/>
          <p:nvPr/>
        </p:nvPicPr>
        <p:blipFill>
          <a:blip r:embed="rId3">
            <a:alphaModFix/>
          </a:blip>
          <a:stretch>
            <a:fillRect/>
          </a:stretch>
        </p:blipFill>
        <p:spPr>
          <a:xfrm>
            <a:off x="5325750" y="1381800"/>
            <a:ext cx="2819375" cy="30431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59" name="Google Shape;359;p59"/>
          <p:cNvSpPr txBox="1"/>
          <p:nvPr/>
        </p:nvSpPr>
        <p:spPr>
          <a:xfrm>
            <a:off x="685800" y="1964247"/>
            <a:ext cx="4114800" cy="12150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Laporan pengujian yang berisi kesalahan, disiapkan melalui rencana pengujian dengan cakupan tugas-tugas terkait pengujian, seperti pembuatan kasus pengujian, kriteria pengujian, dan alokasi sumber daya untuk pengujian.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Mengintegrasikan sistem informasi ke dalam lingkungannya dan menginstal sistem baru.</a:t>
            </a:r>
            <a:endParaRPr sz="1000">
              <a:solidFill>
                <a:schemeClr val="dk1"/>
              </a:solidFill>
              <a:latin typeface="Montserrat"/>
              <a:ea typeface="Montserrat"/>
              <a:cs typeface="Montserrat"/>
              <a:sym typeface="Montserrat"/>
            </a:endParaRPr>
          </a:p>
        </p:txBody>
      </p:sp>
      <p:pic>
        <p:nvPicPr>
          <p:cNvPr id="360" name="Google Shape;360;p59"/>
          <p:cNvPicPr preferRelativeResize="0"/>
          <p:nvPr/>
        </p:nvPicPr>
        <p:blipFill>
          <a:blip r:embed="rId3">
            <a:alphaModFix/>
          </a:blip>
          <a:stretch>
            <a:fillRect/>
          </a:stretch>
        </p:blipFill>
        <p:spPr>
          <a:xfrm>
            <a:off x="5325750" y="1381800"/>
            <a:ext cx="2819375" cy="3043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67" name="Google Shape;367;p60"/>
          <p:cNvSpPr txBox="1"/>
          <p:nvPr/>
        </p:nvSpPr>
        <p:spPr>
          <a:xfrm>
            <a:off x="685800" y="2038197"/>
            <a:ext cx="4114800" cy="106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Testing &amp; integration (pengujian dan integrasi)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Fase pengujian siklus hidup pengembangan perangkat lunak (SDLC) adalah fase di mana kamu fokus pada penyelidikan dan penemuan.</a:t>
            </a:r>
            <a:endParaRPr sz="1000">
              <a:solidFill>
                <a:schemeClr val="dk1"/>
              </a:solidFill>
              <a:latin typeface="Montserrat"/>
              <a:ea typeface="Montserrat"/>
              <a:cs typeface="Montserrat"/>
              <a:sym typeface="Montserrat"/>
            </a:endParaRPr>
          </a:p>
        </p:txBody>
      </p:sp>
      <p:pic>
        <p:nvPicPr>
          <p:cNvPr id="368" name="Google Shape;368;p60"/>
          <p:cNvPicPr preferRelativeResize="0"/>
          <p:nvPr/>
        </p:nvPicPr>
        <p:blipFill>
          <a:blip r:embed="rId3">
            <a:alphaModFix/>
          </a:blip>
          <a:stretch>
            <a:fillRect/>
          </a:stretch>
        </p:blipFill>
        <p:spPr>
          <a:xfrm>
            <a:off x="5127000" y="1192628"/>
            <a:ext cx="3255001" cy="309370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75" name="Google Shape;375;p61"/>
          <p:cNvSpPr txBox="1"/>
          <p:nvPr/>
        </p:nvSpPr>
        <p:spPr>
          <a:xfrm>
            <a:off x="685800" y="2043447"/>
            <a:ext cx="4114800" cy="10566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Selama fase pengujian, pengembang mengetahui apakah kode dan pemrograman mereka berfungsi sesuai dengan kebutuhan pelanggan.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Integrasi perangkat lunak adalah proses menyatukan berbagai jenis subsistem perangkat lunak sehingga menjadi satu kesatuan sistem.</a:t>
            </a:r>
            <a:endParaRPr sz="1000">
              <a:solidFill>
                <a:schemeClr val="dk1"/>
              </a:solidFill>
              <a:latin typeface="Montserrat"/>
              <a:ea typeface="Montserrat"/>
              <a:cs typeface="Montserrat"/>
              <a:sym typeface="Montserrat"/>
            </a:endParaRPr>
          </a:p>
        </p:txBody>
      </p:sp>
      <p:pic>
        <p:nvPicPr>
          <p:cNvPr id="376" name="Google Shape;376;p61"/>
          <p:cNvPicPr preferRelativeResize="0"/>
          <p:nvPr/>
        </p:nvPicPr>
        <p:blipFill>
          <a:blip r:embed="rId3">
            <a:alphaModFix/>
          </a:blip>
          <a:stretch>
            <a:fillRect/>
          </a:stretch>
        </p:blipFill>
        <p:spPr>
          <a:xfrm>
            <a:off x="5127000" y="1192628"/>
            <a:ext cx="3255001" cy="309370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83" name="Google Shape;383;p62"/>
          <p:cNvSpPr txBox="1"/>
          <p:nvPr/>
        </p:nvSpPr>
        <p:spPr>
          <a:xfrm>
            <a:off x="685800" y="1573348"/>
            <a:ext cx="4114800" cy="1996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 Maintenance (pemeliharaan dan dukungan)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Menyertakan semua aktivitas seperti dukungan telepon atau dukungan fisik di tempat untuk pengguna yang diperlukan setelah sistem diinstal.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Menerapkan perubahan yang mungkin dialami perangkat lunak selama periode waktu tertentu, atau menerapkan persyaratan baru apapun setelah perangkat lunak disebarkan di lokasi pelanggan.</a:t>
            </a:r>
            <a:endParaRPr sz="1000">
              <a:solidFill>
                <a:schemeClr val="dk1"/>
              </a:solidFill>
              <a:latin typeface="Montserrat"/>
              <a:ea typeface="Montserrat"/>
              <a:cs typeface="Montserrat"/>
              <a:sym typeface="Montserrat"/>
            </a:endParaRPr>
          </a:p>
        </p:txBody>
      </p:sp>
      <p:pic>
        <p:nvPicPr>
          <p:cNvPr id="384" name="Google Shape;384;p62"/>
          <p:cNvPicPr preferRelativeResize="0"/>
          <p:nvPr/>
        </p:nvPicPr>
        <p:blipFill>
          <a:blip r:embed="rId3">
            <a:alphaModFix/>
          </a:blip>
          <a:stretch>
            <a:fillRect/>
          </a:stretch>
        </p:blipFill>
        <p:spPr>
          <a:xfrm>
            <a:off x="5257801" y="1335775"/>
            <a:ext cx="2968800" cy="2998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91" name="Google Shape;391;p63"/>
          <p:cNvSpPr txBox="1"/>
          <p:nvPr/>
        </p:nvSpPr>
        <p:spPr>
          <a:xfrm>
            <a:off x="685800" y="2043447"/>
            <a:ext cx="4114800" cy="10566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Ini juga mencakup penanganan kesalahan residual dan menyelesaikan masalah apapun yang mungkin ada dalam sistem bahkan setelah fase pengujian.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Pemeliharaan mungkin diperlukan untuk waktu yang lebih lama untuk sistem yang besar dan untuk waktu yang singkat untuk sistem yang lebih kecil.</a:t>
            </a:r>
            <a:endParaRPr sz="1000">
              <a:solidFill>
                <a:schemeClr val="dk1"/>
              </a:solidFill>
              <a:latin typeface="Montserrat"/>
              <a:ea typeface="Montserrat"/>
              <a:cs typeface="Montserrat"/>
              <a:sym typeface="Montserrat"/>
            </a:endParaRPr>
          </a:p>
        </p:txBody>
      </p:sp>
      <p:pic>
        <p:nvPicPr>
          <p:cNvPr id="392" name="Google Shape;392;p63"/>
          <p:cNvPicPr preferRelativeResize="0"/>
          <p:nvPr/>
        </p:nvPicPr>
        <p:blipFill>
          <a:blip r:embed="rId3">
            <a:alphaModFix/>
          </a:blip>
          <a:stretch>
            <a:fillRect/>
          </a:stretch>
        </p:blipFill>
        <p:spPr>
          <a:xfrm>
            <a:off x="5257801" y="1335775"/>
            <a:ext cx="2968800" cy="2998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99" name="Google Shape;399;p64"/>
          <p:cNvSpPr txBox="1"/>
          <p:nvPr/>
        </p:nvSpPr>
        <p:spPr>
          <a:xfrm>
            <a:off x="685800" y="2053947"/>
            <a:ext cx="4114800" cy="10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software dirasa bebas cacat, developer dapat mengirimkannya ke pelanggan.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rilis versi produksi, perusahaan software development membuat tim pemeliharaan untuk mengelola masalah yang sedang dihadapi klien saat menggunakan produk.</a:t>
            </a:r>
            <a:endParaRPr sz="1000">
              <a:solidFill>
                <a:schemeClr val="dk1"/>
              </a:solidFill>
              <a:latin typeface="Montserrat"/>
              <a:ea typeface="Montserrat"/>
              <a:cs typeface="Montserrat"/>
              <a:sym typeface="Montserrat"/>
            </a:endParaRPr>
          </a:p>
        </p:txBody>
      </p:sp>
      <p:pic>
        <p:nvPicPr>
          <p:cNvPr id="400" name="Google Shape;400;p64"/>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6" name="Google Shape;40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407" name="Google Shape;407;p65"/>
          <p:cNvSpPr txBox="1"/>
          <p:nvPr/>
        </p:nvSpPr>
        <p:spPr>
          <a:xfrm>
            <a:off x="685800" y="2312696"/>
            <a:ext cx="4114800" cy="51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Pemeliharaan dapat menjadi hot-fix ketika hal tersebut adalah masalah kecil. Tetapi, kegagalan software yang parah harus memerlukan pembaruan.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08" name="Google Shape;408;p65"/>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pic>
        <p:nvPicPr>
          <p:cNvPr id="415" name="Google Shape;415;p66"/>
          <p:cNvPicPr preferRelativeResize="0"/>
          <p:nvPr/>
        </p:nvPicPr>
        <p:blipFill>
          <a:blip r:embed="rId3">
            <a:alphaModFix/>
          </a:blip>
          <a:stretch>
            <a:fillRect/>
          </a:stretch>
        </p:blipFill>
        <p:spPr>
          <a:xfrm>
            <a:off x="1099662" y="780325"/>
            <a:ext cx="7186125" cy="41544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1" name="Google Shape;421;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pic>
        <p:nvPicPr>
          <p:cNvPr id="422" name="Google Shape;422;p67"/>
          <p:cNvPicPr preferRelativeResize="0"/>
          <p:nvPr/>
        </p:nvPicPr>
        <p:blipFill rotWithShape="1">
          <a:blip r:embed="rId3">
            <a:alphaModFix/>
          </a:blip>
          <a:srcRect b="0" l="0" r="1234" t="25138"/>
          <a:stretch/>
        </p:blipFill>
        <p:spPr>
          <a:xfrm>
            <a:off x="185584" y="1339650"/>
            <a:ext cx="8729825" cy="3308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28" name="Google Shape;428;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9" name="Google Shape;429;p68"/>
          <p:cNvSpPr txBox="1"/>
          <p:nvPr/>
        </p:nvSpPr>
        <p:spPr>
          <a:xfrm>
            <a:off x="910400" y="2076400"/>
            <a:ext cx="45720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kita mengetahui siklus hidup pengembangan perangkat lunak, saatnya kita pelajari </a:t>
            </a:r>
            <a:r>
              <a:rPr b="1" lang="en">
                <a:solidFill>
                  <a:srgbClr val="F2AB2F"/>
                </a:solidFill>
                <a:latin typeface="Montserrat"/>
                <a:ea typeface="Montserrat"/>
                <a:cs typeface="Montserrat"/>
                <a:sym typeface="Montserrat"/>
              </a:rPr>
              <a:t>peran UI/UX dalam pengembangan perangkat lunak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Let’s gooo ~</a:t>
            </a:r>
            <a:endParaRPr b="1">
              <a:solidFill>
                <a:schemeClr val="lt1"/>
              </a:solidFill>
              <a:latin typeface="Montserrat"/>
              <a:ea typeface="Montserrat"/>
              <a:cs typeface="Montserrat"/>
              <a:sym typeface="Montserrat"/>
            </a:endParaRPr>
          </a:p>
        </p:txBody>
      </p:sp>
      <p:pic>
        <p:nvPicPr>
          <p:cNvPr id="430" name="Google Shape;430;p68"/>
          <p:cNvPicPr preferRelativeResize="0"/>
          <p:nvPr/>
        </p:nvPicPr>
        <p:blipFill>
          <a:blip r:embed="rId3">
            <a:alphaModFix/>
          </a:blip>
          <a:stretch>
            <a:fillRect/>
          </a:stretch>
        </p:blipFill>
        <p:spPr>
          <a:xfrm>
            <a:off x="6072375" y="1236963"/>
            <a:ext cx="2041350" cy="31563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37" name="Google Shape;437;p69"/>
          <p:cNvSpPr txBox="1"/>
          <p:nvPr/>
        </p:nvSpPr>
        <p:spPr>
          <a:xfrm>
            <a:off x="685800" y="1749901"/>
            <a:ext cx="4114800" cy="164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Peran UI/UX dalam pengembangan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Setiap tujuan utama bisnis adalah meningkatkan pendapatan dan meningkatkan pertumbuhan bisnis. Desain UI/UX memainkan peran penting untuk mencapai tujuan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Lho, kok bisa?</a:t>
            </a:r>
            <a:endParaRPr sz="1000">
              <a:solidFill>
                <a:schemeClr val="dk1"/>
              </a:solidFill>
              <a:latin typeface="Montserrat"/>
              <a:ea typeface="Montserrat"/>
              <a:cs typeface="Montserrat"/>
              <a:sym typeface="Montserrat"/>
            </a:endParaRPr>
          </a:p>
        </p:txBody>
      </p:sp>
      <p:pic>
        <p:nvPicPr>
          <p:cNvPr id="438" name="Google Shape;438;p69"/>
          <p:cNvPicPr preferRelativeResize="0"/>
          <p:nvPr/>
        </p:nvPicPr>
        <p:blipFill>
          <a:blip r:embed="rId3">
            <a:alphaModFix/>
          </a:blip>
          <a:stretch>
            <a:fillRect/>
          </a:stretch>
        </p:blipFill>
        <p:spPr>
          <a:xfrm>
            <a:off x="5257800" y="1314273"/>
            <a:ext cx="3151525" cy="30615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45" name="Google Shape;445;p70"/>
          <p:cNvSpPr txBox="1"/>
          <p:nvPr/>
        </p:nvSpPr>
        <p:spPr>
          <a:xfrm>
            <a:off x="685800" y="2132550"/>
            <a:ext cx="4114800" cy="87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Logikanya begini, gengs: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sebuah bisnis menerbitkan software dengan desain yang baik dan pengalaman pengguna menyenangkan, tentunya jumlah pengguna akan naik begitu pula dengan pendapatan.</a:t>
            </a:r>
            <a:endParaRPr sz="1000">
              <a:solidFill>
                <a:schemeClr val="dk1"/>
              </a:solidFill>
              <a:latin typeface="Montserrat"/>
              <a:ea typeface="Montserrat"/>
              <a:cs typeface="Montserrat"/>
              <a:sym typeface="Montserrat"/>
            </a:endParaRPr>
          </a:p>
        </p:txBody>
      </p:sp>
      <p:pic>
        <p:nvPicPr>
          <p:cNvPr id="446" name="Google Shape;446;p70"/>
          <p:cNvPicPr preferRelativeResize="0"/>
          <p:nvPr/>
        </p:nvPicPr>
        <p:blipFill>
          <a:blip r:embed="rId3">
            <a:alphaModFix/>
          </a:blip>
          <a:stretch>
            <a:fillRect/>
          </a:stretch>
        </p:blipFill>
        <p:spPr>
          <a:xfrm>
            <a:off x="5542701" y="1477175"/>
            <a:ext cx="2673751" cy="28036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2" name="Google Shape;452;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53" name="Google Shape;453;p71"/>
          <p:cNvSpPr txBox="1"/>
          <p:nvPr/>
        </p:nvSpPr>
        <p:spPr>
          <a:xfrm>
            <a:off x="685800" y="1768798"/>
            <a:ext cx="4114800" cy="1605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Keterlibatan UI/UX pada pengambangan perangkat lunak dapat meliputi: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Riset inisial  berupa pengguna, market, competitor atau pesaing, merk, dan usability jika sudah ada produk yang diterbitkan.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Desain perangkat lunak, mulai dari wireframing sampai prototyping.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Handover.</a:t>
            </a:r>
            <a:endParaRPr sz="1000">
              <a:solidFill>
                <a:schemeClr val="dk1"/>
              </a:solidFill>
              <a:latin typeface="Montserrat"/>
              <a:ea typeface="Montserrat"/>
              <a:cs typeface="Montserrat"/>
              <a:sym typeface="Montserrat"/>
            </a:endParaRPr>
          </a:p>
        </p:txBody>
      </p:sp>
      <p:pic>
        <p:nvPicPr>
          <p:cNvPr id="454" name="Google Shape;454;p71"/>
          <p:cNvPicPr preferRelativeResize="0"/>
          <p:nvPr/>
        </p:nvPicPr>
        <p:blipFill>
          <a:blip r:embed="rId3">
            <a:alphaModFix/>
          </a:blip>
          <a:stretch>
            <a:fillRect/>
          </a:stretch>
        </p:blipFill>
        <p:spPr>
          <a:xfrm>
            <a:off x="5160675" y="1301749"/>
            <a:ext cx="3045899" cy="2540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61" name="Google Shape;461;p72"/>
          <p:cNvSpPr txBox="1"/>
          <p:nvPr/>
        </p:nvSpPr>
        <p:spPr>
          <a:xfrm>
            <a:off x="685800" y="2117396"/>
            <a:ext cx="4114800" cy="908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4"/>
            </a:pPr>
            <a:r>
              <a:rPr lang="en" sz="1000">
                <a:solidFill>
                  <a:schemeClr val="dk1"/>
                </a:solidFill>
                <a:latin typeface="Montserrat"/>
                <a:ea typeface="Montserrat"/>
                <a:cs typeface="Montserrat"/>
                <a:sym typeface="Montserrat"/>
              </a:rPr>
              <a:t>Presentasi di hadapan klien, stakeholders atau para petinggi perusahaan.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4"/>
            </a:pPr>
            <a:r>
              <a:rPr lang="en" sz="1000">
                <a:solidFill>
                  <a:schemeClr val="dk1"/>
                </a:solidFill>
                <a:latin typeface="Montserrat"/>
                <a:ea typeface="Montserrat"/>
                <a:cs typeface="Montserrat"/>
                <a:sym typeface="Montserrat"/>
              </a:rPr>
              <a:t>Testing MVP atau prototype hingga produk jadi.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4"/>
            </a:pPr>
            <a:r>
              <a:rPr lang="en" sz="1000">
                <a:solidFill>
                  <a:schemeClr val="dk1"/>
                </a:solidFill>
                <a:latin typeface="Montserrat"/>
                <a:ea typeface="Montserrat"/>
                <a:cs typeface="Montserrat"/>
                <a:sym typeface="Montserrat"/>
              </a:rPr>
              <a:t>Pengawasan atas implementasi desain pada tahap development dan testing.</a:t>
            </a:r>
            <a:endParaRPr sz="1000">
              <a:solidFill>
                <a:schemeClr val="dk1"/>
              </a:solidFill>
              <a:latin typeface="Montserrat"/>
              <a:ea typeface="Montserrat"/>
              <a:cs typeface="Montserrat"/>
              <a:sym typeface="Montserrat"/>
            </a:endParaRPr>
          </a:p>
        </p:txBody>
      </p:sp>
      <p:pic>
        <p:nvPicPr>
          <p:cNvPr id="462" name="Google Shape;462;p72"/>
          <p:cNvPicPr preferRelativeResize="0"/>
          <p:nvPr/>
        </p:nvPicPr>
        <p:blipFill>
          <a:blip r:embed="rId3">
            <a:alphaModFix/>
          </a:blip>
          <a:stretch>
            <a:fillRect/>
          </a:stretch>
        </p:blipFill>
        <p:spPr>
          <a:xfrm>
            <a:off x="4914600" y="1628500"/>
            <a:ext cx="3506924" cy="2267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69" name="Google Shape;469;p73"/>
          <p:cNvSpPr txBox="1"/>
          <p:nvPr/>
        </p:nvSpPr>
        <p:spPr>
          <a:xfrm>
            <a:off x="685800" y="1789502"/>
            <a:ext cx="4114800" cy="156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Dapat disimpulkan kemudian kalau peran UI/UX dalam pembuatan aplikasi memang sangat penting.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Jika pengembang membangun perangkat berperforma tinggi tetapi tidak berkonsentrasi pada sifat pengguna, maka berpotensi menyebabkan perangkat lunak akan gagal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Fungsionalitas aplikasi memang kadang sulit digabungkan dengan desain UI/UX, tetapi penting untuk dilakukan.</a:t>
            </a:r>
            <a:endParaRPr sz="1000">
              <a:solidFill>
                <a:schemeClr val="dk1"/>
              </a:solidFill>
              <a:latin typeface="Montserrat"/>
              <a:ea typeface="Montserrat"/>
              <a:cs typeface="Montserrat"/>
              <a:sym typeface="Montserrat"/>
            </a:endParaRPr>
          </a:p>
        </p:txBody>
      </p:sp>
      <p:pic>
        <p:nvPicPr>
          <p:cNvPr id="470" name="Google Shape;470;p73"/>
          <p:cNvPicPr preferRelativeResize="0"/>
          <p:nvPr/>
        </p:nvPicPr>
        <p:blipFill>
          <a:blip r:embed="rId3">
            <a:alphaModFix/>
          </a:blip>
          <a:stretch>
            <a:fillRect/>
          </a:stretch>
        </p:blipFill>
        <p:spPr>
          <a:xfrm>
            <a:off x="4982300" y="1486338"/>
            <a:ext cx="3525675" cy="23011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77" name="Google Shape;477;p7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78" name="Google Shape;478;p74"/>
          <p:cNvSpPr txBox="1"/>
          <p:nvPr/>
        </p:nvSpPr>
        <p:spPr>
          <a:xfrm>
            <a:off x="685800" y="1718252"/>
            <a:ext cx="4114800" cy="17070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4">
                  <a:extLst>
                    <a:ext uri="{A12FA001-AC4F-418D-AE19-62706E023703}">
                      <ahyp:hlinkClr val="tx"/>
                    </a:ext>
                  </a:extLst>
                </a:hlinkClick>
              </a:rPr>
              <a:t>6 Phases of The Software Development Life Cycle by Erbis</a:t>
            </a:r>
            <a:endParaRPr u="sng"/>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5">
                  <a:extLst>
                    <a:ext uri="{A12FA001-AC4F-418D-AE19-62706E023703}">
                      <ahyp:hlinkClr val="tx"/>
                    </a:ext>
                  </a:extLst>
                </a:hlinkClick>
              </a:rPr>
              <a:t>Software Development Life Cycle by Zitoc</a:t>
            </a:r>
            <a:endParaRPr u="sng"/>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6">
                  <a:extLst>
                    <a:ext uri="{A12FA001-AC4F-418D-AE19-62706E023703}">
                      <ahyp:hlinkClr val="tx"/>
                    </a:ext>
                  </a:extLst>
                </a:hlinkClick>
              </a:rPr>
              <a:t>Role of UI/UX in Software Development by Starks Technology </a:t>
            </a:r>
            <a:endParaRPr u="sng"/>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7">
                  <a:extLst>
                    <a:ext uri="{A12FA001-AC4F-418D-AE19-62706E023703}">
                      <ahyp:hlinkClr val="tx"/>
                    </a:ext>
                  </a:extLst>
                </a:hlinkClick>
              </a:rPr>
              <a:t>Importance of UI/UX design in Software Development by Courage Egbude on Medium</a:t>
            </a:r>
            <a:endParaRPr sz="1000" u="sng">
              <a:solidFill>
                <a:srgbClr val="333333"/>
              </a:solidFill>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484" name="Google Shape;484;p75"/>
          <p:cNvSpPr txBox="1"/>
          <p:nvPr/>
        </p:nvSpPr>
        <p:spPr>
          <a:xfrm>
            <a:off x="685800" y="1725150"/>
            <a:ext cx="51984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di sini dulu pembahasan kita untuk topik kali ini.</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Di pertemuan besok, kita akan mengulas serba-serbi </a:t>
            </a:r>
            <a:r>
              <a:rPr b="1" lang="en">
                <a:solidFill>
                  <a:srgbClr val="F2AB2F"/>
                </a:solidFill>
                <a:latin typeface="Montserrat"/>
                <a:ea typeface="Montserrat"/>
                <a:cs typeface="Montserrat"/>
                <a:sym typeface="Montserrat"/>
              </a:rPr>
              <a:t>manajemen proyek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See you tomorrow, bestie ~</a:t>
            </a:r>
            <a:endParaRPr b="1">
              <a:solidFill>
                <a:schemeClr val="lt1"/>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88" name="Shape 488"/>
        <p:cNvGrpSpPr/>
        <p:nvPr/>
      </p:nvGrpSpPr>
      <p:grpSpPr>
        <a:xfrm>
          <a:off x="0" y="0"/>
          <a:ext cx="0" cy="0"/>
          <a:chOff x="0" y="0"/>
          <a:chExt cx="0" cy="0"/>
        </a:xfrm>
      </p:grpSpPr>
      <p:sp>
        <p:nvSpPr>
          <p:cNvPr id="489" name="Google Shape;489;p76"/>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0" name="Google Shape;490;p76"/>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491" name="Google Shape;491;p76"/>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492" name="Google Shape;492;p76"/>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493" name="Google Shape;493;p76"/>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