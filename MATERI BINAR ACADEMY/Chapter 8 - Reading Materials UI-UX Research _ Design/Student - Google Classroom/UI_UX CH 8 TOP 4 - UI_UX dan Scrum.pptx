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Lst>
  <p:sldSz cy="5143500" cx="9144000"/>
  <p:notesSz cx="6858000" cy="9144000"/>
  <p:embeddedFontLst>
    <p:embeddedFont>
      <p:font typeface="Raleway"/>
      <p:regular r:id="rId96"/>
      <p:bold r:id="rId97"/>
      <p:italic r:id="rId98"/>
      <p:boldItalic r:id="rId99"/>
    </p:embeddedFont>
    <p:embeddedFont>
      <p:font typeface="Roboto"/>
      <p:regular r:id="rId100"/>
      <p:bold r:id="rId101"/>
      <p:italic r:id="rId102"/>
      <p:boldItalic r:id="rId103"/>
    </p:embeddedFont>
    <p:embeddedFont>
      <p:font typeface="Montserrat"/>
      <p:regular r:id="rId104"/>
      <p:bold r:id="rId105"/>
      <p:italic r:id="rId106"/>
      <p:boldItalic r:id="rId107"/>
    </p:embeddedFont>
    <p:embeddedFont>
      <p:font typeface="Montserrat Medium"/>
      <p:regular r:id="rId108"/>
      <p:bold r:id="rId109"/>
      <p:italic r:id="rId110"/>
      <p:boldItalic r:id="rId111"/>
    </p:embeddedFont>
    <p:embeddedFont>
      <p:font typeface="Lato Black"/>
      <p:bold r:id="rId112"/>
      <p:boldItalic r:id="rId1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font" Target="fonts/Montserrat-boldItalic.fntdata"/><Relationship Id="rId106" Type="http://schemas.openxmlformats.org/officeDocument/2006/relationships/font" Target="fonts/Montserrat-italic.fntdata"/><Relationship Id="rId105" Type="http://schemas.openxmlformats.org/officeDocument/2006/relationships/font" Target="fonts/Montserrat-bold.fntdata"/><Relationship Id="rId104" Type="http://schemas.openxmlformats.org/officeDocument/2006/relationships/font" Target="fonts/Montserrat-regular.fntdata"/><Relationship Id="rId109" Type="http://schemas.openxmlformats.org/officeDocument/2006/relationships/font" Target="fonts/MontserratMedium-bold.fntdata"/><Relationship Id="rId108" Type="http://schemas.openxmlformats.org/officeDocument/2006/relationships/font" Target="fonts/MontserratMedium-regular.fntdata"/><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font" Target="fonts/Roboto-boldItalic.fntdata"/><Relationship Id="rId102" Type="http://schemas.openxmlformats.org/officeDocument/2006/relationships/font" Target="fonts/Roboto-italic.fntdata"/><Relationship Id="rId101" Type="http://schemas.openxmlformats.org/officeDocument/2006/relationships/font" Target="fonts/Roboto-bold.fntdata"/><Relationship Id="rId100" Type="http://schemas.openxmlformats.org/officeDocument/2006/relationships/font" Target="fonts/Roboto-regular.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font" Target="fonts/Raleway-bold.fntdata"/><Relationship Id="rId96" Type="http://schemas.openxmlformats.org/officeDocument/2006/relationships/font" Target="fonts/Raleway-regular.fntdata"/><Relationship Id="rId11" Type="http://schemas.openxmlformats.org/officeDocument/2006/relationships/slide" Target="slides/slide6.xml"/><Relationship Id="rId99" Type="http://schemas.openxmlformats.org/officeDocument/2006/relationships/font" Target="fonts/Raleway-boldItalic.fntdata"/><Relationship Id="rId10" Type="http://schemas.openxmlformats.org/officeDocument/2006/relationships/slide" Target="slides/slide5.xml"/><Relationship Id="rId98" Type="http://schemas.openxmlformats.org/officeDocument/2006/relationships/font" Target="fonts/Raleway-italic.fntdata"/><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5" Type="http://schemas.openxmlformats.org/officeDocument/2006/relationships/slide" Target="slides/slide10.xml"/><Relationship Id="rId110" Type="http://schemas.openxmlformats.org/officeDocument/2006/relationships/font" Target="fonts/MontserratMedium-italic.fntdata"/><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113" Type="http://schemas.openxmlformats.org/officeDocument/2006/relationships/font" Target="fonts/LatoBlack-boldItalic.fntdata"/><Relationship Id="rId112" Type="http://schemas.openxmlformats.org/officeDocument/2006/relationships/font" Target="fonts/LatoBlack-bold.fntdata"/><Relationship Id="rId111" Type="http://schemas.openxmlformats.org/officeDocument/2006/relationships/font" Target="fonts/MontserratMedium-boldItalic.fntdata"/><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arabol?utm_source=unsplash&amp;utm_medium=referral&amp;utm_content=creditCopyText" TargetMode="External"/><Relationship Id="rId3" Type="http://schemas.openxmlformats.org/officeDocument/2006/relationships/hyperlink" Target="https://unsplash.com/@parabol?utm_source=unsplash&amp;utm_medium=referral&amp;utm_content=creditCopyText" TargetMode="External"/><Relationship Id="rId4" Type="http://schemas.openxmlformats.org/officeDocument/2006/relationships/hyperlink" Target="https://unsplash.com/s/photos/scrum-master?utm_source=unsplash&amp;utm_medium=referral&amp;utm_content=creditCopyText" TargetMode="External"/><Relationship Id="rId5" Type="http://schemas.openxmlformats.org/officeDocument/2006/relationships/hyperlink" Target="https://unsplash.com/s/photos/scrum-master?utm_source=unsplash&amp;utm_medium=referral&amp;utm_content=creditCopyText"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master?utm_source=unsplash&amp;utm_medium=referral&amp;utm_content=creditCopyText" TargetMode="External"/><Relationship Id="rId5" Type="http://schemas.openxmlformats.org/officeDocument/2006/relationships/hyperlink" Target="https://unsplash.com/s/photos/scrum-master?utm_source=unsplash&amp;utm_medium=referral&amp;utm_content=creditCopyText"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master?utm_source=unsplash&amp;utm_medium=referral&amp;utm_content=creditCopyText" TargetMode="External"/><Relationship Id="rId5" Type="http://schemas.openxmlformats.org/officeDocument/2006/relationships/hyperlink" Target="https://unsplash.com/s/photos/scrum-master?utm_source=unsplash&amp;utm_medium=referral&amp;utm_content=creditCopyText"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master?utm_source=unsplash&amp;utm_medium=referral&amp;utm_content=creditCopyText" TargetMode="External"/><Relationship Id="rId5" Type="http://schemas.openxmlformats.org/officeDocument/2006/relationships/hyperlink" Target="https://unsplash.com/s/photos/scrum-master?utm_source=unsplash&amp;utm_medium=referral&amp;utm_content=creditCopyText"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eylagostechie?utm_source=unsplash&amp;utm_medium=referral&amp;utm_content=creditCopyText" TargetMode="External"/><Relationship Id="rId3" Type="http://schemas.openxmlformats.org/officeDocument/2006/relationships/hyperlink" Target="https://unsplash.com/@heylagostechie?utm_source=unsplash&amp;utm_medium=referral&amp;utm_content=creditCopyText" TargetMode="External"/><Relationship Id="rId4" Type="http://schemas.openxmlformats.org/officeDocument/2006/relationships/hyperlink" Target="https://unsplash.com/s/photos/coding-team?utm_source=unsplash&amp;utm_medium=referral&amp;utm_content=creditCopyText" TargetMode="External"/><Relationship Id="rId5" Type="http://schemas.openxmlformats.org/officeDocument/2006/relationships/hyperlink" Target="https://unsplash.com/s/photos/coding-team?utm_source=unsplash&amp;utm_medium=referral&amp;utm_content=creditCopyText"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eylagostechie?utm_source=unsplash&amp;utm_medium=referral&amp;utm_content=creditCopyText" TargetMode="External"/><Relationship Id="rId3" Type="http://schemas.openxmlformats.org/officeDocument/2006/relationships/hyperlink" Target="https://unsplash.com/@heylagostechie?utm_source=unsplash&amp;utm_medium=referral&amp;utm_content=creditCopyText" TargetMode="External"/><Relationship Id="rId4" Type="http://schemas.openxmlformats.org/officeDocument/2006/relationships/hyperlink" Target="https://unsplash.com/s/photos/coding-team?utm_source=unsplash&amp;utm_medium=referral&amp;utm_content=creditCopyText" TargetMode="External"/><Relationship Id="rId5" Type="http://schemas.openxmlformats.org/officeDocument/2006/relationships/hyperlink" Target="https://unsplash.com/s/photos/coding-team?utm_source=unsplash&amp;utm_medium=referral&amp;utm_content=creditCopyText"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olivierz?utm_source=unsplash&amp;utm_medium=referral&amp;utm_content=creditCopyText" TargetMode="External"/><Relationship Id="rId3" Type="http://schemas.openxmlformats.org/officeDocument/2006/relationships/hyperlink" Target="https://unsplash.com/@olivierz?utm_source=unsplash&amp;utm_medium=referral&amp;utm_content=creditCopyText" TargetMode="External"/><Relationship Id="rId4" Type="http://schemas.openxmlformats.org/officeDocument/2006/relationships/hyperlink" Target="https://unsplash.com/s/photos/artefacts?utm_source=unsplash&amp;utm_medium=referral&amp;utm_content=creditCopyText" TargetMode="External"/><Relationship Id="rId5" Type="http://schemas.openxmlformats.org/officeDocument/2006/relationships/hyperlink" Target="https://unsplash.com/s/photos/artefacts?utm_source=unsplash&amp;utm_medium=referral&amp;utm_content=creditCopyText"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krakenimages?utm_source=unsplash&amp;utm_medium=referral&amp;utm_content=creditCopyText" TargetMode="External"/><Relationship Id="rId3" Type="http://schemas.openxmlformats.org/officeDocument/2006/relationships/hyperlink" Target="https://unsplash.com/@krakenimages?utm_source=unsplash&amp;utm_medium=referral&amp;utm_content=creditCopyText" TargetMode="External"/><Relationship Id="rId4" Type="http://schemas.openxmlformats.org/officeDocument/2006/relationships/hyperlink" Target="https://unsplash.com/s/photos/collaboration?utm_source=unsplash&amp;utm_medium=referral&amp;utm_content=creditCopyText" TargetMode="External"/><Relationship Id="rId5" Type="http://schemas.openxmlformats.org/officeDocument/2006/relationships/hyperlink" Target="https://unsplash.com/s/photos/collaboration?utm_source=unsplash&amp;utm_medium=referral&amp;utm_content=creditCopyText"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krakenimages?utm_source=unsplash&amp;utm_medium=referral&amp;utm_content=creditCopyText" TargetMode="External"/><Relationship Id="rId3" Type="http://schemas.openxmlformats.org/officeDocument/2006/relationships/hyperlink" Target="https://unsplash.com/@krakenimages?utm_source=unsplash&amp;utm_medium=referral&amp;utm_content=creditCopyText" TargetMode="External"/><Relationship Id="rId4" Type="http://schemas.openxmlformats.org/officeDocument/2006/relationships/hyperlink" Target="https://unsplash.com/s/photos/collaboration?utm_source=unsplash&amp;utm_medium=referral&amp;utm_content=creditCopyText" TargetMode="External"/><Relationship Id="rId5" Type="http://schemas.openxmlformats.org/officeDocument/2006/relationships/hyperlink" Target="https://unsplash.com/s/photos/collaboration?utm_source=unsplash&amp;utm_medium=referral&amp;utm_content=creditCopyText" TargetMode="Externa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krakenimages?utm_source=unsplash&amp;utm_medium=referral&amp;utm_content=creditCopyText" TargetMode="External"/><Relationship Id="rId3" Type="http://schemas.openxmlformats.org/officeDocument/2006/relationships/hyperlink" Target="https://unsplash.com/@krakenimages?utm_source=unsplash&amp;utm_medium=referral&amp;utm_content=creditCopyText" TargetMode="External"/><Relationship Id="rId4" Type="http://schemas.openxmlformats.org/officeDocument/2006/relationships/hyperlink" Target="https://unsplash.com/s/photos/collaboration?utm_source=unsplash&amp;utm_medium=referral&amp;utm_content=creditCopyText" TargetMode="External"/><Relationship Id="rId5" Type="http://schemas.openxmlformats.org/officeDocument/2006/relationships/hyperlink" Target="https://unsplash.com/s/photos/collaboration?utm_source=unsplash&amp;utm_medium=referral&amp;utm_content=creditCopyText" TargetMode="Externa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glassdoor.com/Photos/Decision-Tech-Office-Photos-IMG1120248.htm" TargetMode="Externa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oldevelo.com/blog/product-backlog-management-features-rules-how-to-do-it-properly/" TargetMode="Externa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oldevelo.com/blog/product-backlog-management-features-rules-how-to-do-it-properly/" TargetMode="Externa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glenncarstenspeters?utm_source=unsplash&amp;utm_medium=referral&amp;utm_content=creditCopyText" TargetMode="External"/><Relationship Id="rId3" Type="http://schemas.openxmlformats.org/officeDocument/2006/relationships/hyperlink" Target="https://unsplash.com/@glenncarstenspeters?utm_source=unsplash&amp;utm_medium=referral&amp;utm_content=creditCopyText" TargetMode="External"/><Relationship Id="rId4" Type="http://schemas.openxmlformats.org/officeDocument/2006/relationships/hyperlink" Target="https://unsplash.com/s/photos/sprint-planning?utm_source=unsplash&amp;utm_medium=referral&amp;utm_content=creditCopyText" TargetMode="External"/><Relationship Id="rId5" Type="http://schemas.openxmlformats.org/officeDocument/2006/relationships/hyperlink" Target="https://unsplash.com/s/photos/sprint-planning?utm_source=unsplash&amp;utm_medium=referral&amp;utm_content=creditCopyText" TargetMode="Externa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glenncarstenspeters?utm_source=unsplash&amp;utm_medium=referral&amp;utm_content=creditCopyText" TargetMode="External"/><Relationship Id="rId3" Type="http://schemas.openxmlformats.org/officeDocument/2006/relationships/hyperlink" Target="https://unsplash.com/@glenncarstenspeters?utm_source=unsplash&amp;utm_medium=referral&amp;utm_content=creditCopyText" TargetMode="External"/><Relationship Id="rId4" Type="http://schemas.openxmlformats.org/officeDocument/2006/relationships/hyperlink" Target="https://unsplash.com/s/photos/sprint-planning?utm_source=unsplash&amp;utm_medium=referral&amp;utm_content=creditCopyText" TargetMode="External"/><Relationship Id="rId5" Type="http://schemas.openxmlformats.org/officeDocument/2006/relationships/hyperlink" Target="https://unsplash.com/s/photos/sprint-planning?utm_source=unsplash&amp;utm_medium=referral&amp;utm_content=creditCopyText" TargetMode="Externa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arabol?utm_source=unsplash&amp;utm_medium=referral&amp;utm_content=creditCopyText" TargetMode="External"/><Relationship Id="rId3" Type="http://schemas.openxmlformats.org/officeDocument/2006/relationships/hyperlink" Target="https://unsplash.com/@parabol?utm_source=unsplash&amp;utm_medium=referral&amp;utm_content=creditCopyText" TargetMode="External"/><Relationship Id="rId4" Type="http://schemas.openxmlformats.org/officeDocument/2006/relationships/hyperlink" Target="https://unsplash.com/s/photos/sprint-review?utm_source=unsplash&amp;utm_medium=referral&amp;utm_content=creditCopyText" TargetMode="External"/><Relationship Id="rId5" Type="http://schemas.openxmlformats.org/officeDocument/2006/relationships/hyperlink" Target="https://unsplash.com/s/photos/sprint-review?utm_source=unsplash&amp;utm_medium=referral&amp;utm_content=creditCopyText" TargetMode="Externa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arabol?utm_source=unsplash&amp;utm_medium=referral&amp;utm_content=creditCopyText" TargetMode="External"/><Relationship Id="rId3" Type="http://schemas.openxmlformats.org/officeDocument/2006/relationships/hyperlink" Target="https://unsplash.com/@parabol?utm_source=unsplash&amp;utm_medium=referral&amp;utm_content=creditCopyText" TargetMode="External"/><Relationship Id="rId4" Type="http://schemas.openxmlformats.org/officeDocument/2006/relationships/hyperlink" Target="https://unsplash.com/s/photos/sprint-review?utm_source=unsplash&amp;utm_medium=referral&amp;utm_content=creditCopyText" TargetMode="External"/><Relationship Id="rId5" Type="http://schemas.openxmlformats.org/officeDocument/2006/relationships/hyperlink" Target="https://unsplash.com/s/photos/sprint-review?utm_source=unsplash&amp;utm_medium=referral&amp;utm_content=creditCopyText" TargetMode="Externa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olivierz?utm_source=unsplash&amp;utm_medium=referral&amp;utm_content=creditCopyText" TargetMode="External"/><Relationship Id="rId3" Type="http://schemas.openxmlformats.org/officeDocument/2006/relationships/hyperlink" Target="https://unsplash.com/@olivierz?utm_source=unsplash&amp;utm_medium=referral&amp;utm_content=creditCopyText" TargetMode="External"/><Relationship Id="rId4" Type="http://schemas.openxmlformats.org/officeDocument/2006/relationships/hyperlink" Target="https://unsplash.com/s/photos/artefacts?utm_source=unsplash&amp;utm_medium=referral&amp;utm_content=creditCopyText" TargetMode="External"/><Relationship Id="rId5" Type="http://schemas.openxmlformats.org/officeDocument/2006/relationships/hyperlink" Target="https://unsplash.com/s/photos/artefacts?utm_source=unsplash&amp;utm_medium=referral&amp;utm_content=creditCopyText" TargetMode="Externa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arabol?utm_source=unsplash&amp;utm_medium=referral&amp;utm_content=creditCopyText" TargetMode="External"/><Relationship Id="rId3" Type="http://schemas.openxmlformats.org/officeDocument/2006/relationships/hyperlink" Target="https://unsplash.com/@parabol?utm_source=unsplash&amp;utm_medium=referral&amp;utm_content=creditCopyText" TargetMode="External"/><Relationship Id="rId4" Type="http://schemas.openxmlformats.org/officeDocument/2006/relationships/hyperlink" Target="https://unsplash.com/@parabol?utm_source=unsplash&amp;utm_medium=referral&amp;utm_content=creditCopyText" TargetMode="External"/><Relationship Id="rId5" Type="http://schemas.openxmlformats.org/officeDocument/2006/relationships/hyperlink" Target="https://unsplash.com/@parabol?utm_source=unsplash&amp;utm_medium=referral&amp;utm_content=creditCopyText" TargetMode="Externa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arabol?utm_source=unsplash&amp;utm_medium=referral&amp;utm_content=creditCopyText" TargetMode="External"/><Relationship Id="rId3" Type="http://schemas.openxmlformats.org/officeDocument/2006/relationships/hyperlink" Target="https://unsplash.com/@parabol?utm_source=unsplash&amp;utm_medium=referral&amp;utm_content=creditCopyText" TargetMode="External"/><Relationship Id="rId4" Type="http://schemas.openxmlformats.org/officeDocument/2006/relationships/hyperlink" Target="https://unsplash.com/@parabol?utm_source=unsplash&amp;utm_medium=referral&amp;utm_content=creditCopyText" TargetMode="External"/><Relationship Id="rId5" Type="http://schemas.openxmlformats.org/officeDocument/2006/relationships/hyperlink" Target="https://unsplash.com/@parabol?utm_source=unsplash&amp;utm_medium=referral&amp;utm_content=creditCopyText" TargetMode="Externa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arabol?utm_source=unsplash&amp;utm_medium=referral&amp;utm_content=creditCopyText" TargetMode="External"/><Relationship Id="rId3" Type="http://schemas.openxmlformats.org/officeDocument/2006/relationships/hyperlink" Target="https://unsplash.com/@parabol?utm_source=unsplash&amp;utm_medium=referral&amp;utm_content=creditCopyText" TargetMode="External"/><Relationship Id="rId4" Type="http://schemas.openxmlformats.org/officeDocument/2006/relationships/hyperlink" Target="https://unsplash.com/@parabol?utm_source=unsplash&amp;utm_medium=referral&amp;utm_content=creditCopyText" TargetMode="External"/><Relationship Id="rId5" Type="http://schemas.openxmlformats.org/officeDocument/2006/relationships/hyperlink" Target="https://unsplash.com/@parabol?utm_source=unsplash&amp;utm_medium=referral&amp;utm_content=creditCopyText" TargetMode="Externa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arabol?utm_source=unsplash&amp;utm_medium=referral&amp;utm_content=creditCopyText" TargetMode="External"/><Relationship Id="rId3" Type="http://schemas.openxmlformats.org/officeDocument/2006/relationships/hyperlink" Target="https://unsplash.com/@parabol?utm_source=unsplash&amp;utm_medium=referral&amp;utm_content=creditCopyText" TargetMode="External"/><Relationship Id="rId4" Type="http://schemas.openxmlformats.org/officeDocument/2006/relationships/hyperlink" Target="https://unsplash.com/@parabol?utm_source=unsplash&amp;utm_medium=referral&amp;utm_content=creditCopyText" TargetMode="External"/><Relationship Id="rId5" Type="http://schemas.openxmlformats.org/officeDocument/2006/relationships/hyperlink" Target="https://unsplash.com/@parabol?utm_source=unsplash&amp;utm_medium=referral&amp;utm_content=creditCopyText" TargetMode="Externa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ndriklangfield?utm_source=unsplash&amp;utm_medium=referral&amp;utm_content=creditCopyText" TargetMode="External"/><Relationship Id="rId3" Type="http://schemas.openxmlformats.org/officeDocument/2006/relationships/hyperlink" Target="https://unsplash.com/@andriklangfield?utm_source=unsplash&amp;utm_medium=referral&amp;utm_content=creditCopyText" TargetMode="External"/><Relationship Id="rId4" Type="http://schemas.openxmlformats.org/officeDocument/2006/relationships/hyperlink" Target="https://unsplash.com/s/photos/time?utm_source=unsplash&amp;utm_medium=referral&amp;utm_content=creditCopyText" TargetMode="External"/><Relationship Id="rId5" Type="http://schemas.openxmlformats.org/officeDocument/2006/relationships/hyperlink" Target="https://unsplash.com/s/photos/time?utm_source=unsplash&amp;utm_medium=referral&amp;utm_content=creditCopyText" TargetMode="Externa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olivierz?utm_source=unsplash&amp;utm_medium=referral&amp;utm_content=creditCopyText" TargetMode="External"/><Relationship Id="rId3" Type="http://schemas.openxmlformats.org/officeDocument/2006/relationships/hyperlink" Target="https://unsplash.com/@olivierz?utm_source=unsplash&amp;utm_medium=referral&amp;utm_content=creditCopyText" TargetMode="External"/><Relationship Id="rId4" Type="http://schemas.openxmlformats.org/officeDocument/2006/relationships/hyperlink" Target="https://unsplash.com/s/photos/artefacts?utm_source=unsplash&amp;utm_medium=referral&amp;utm_content=creditCopyText" TargetMode="External"/><Relationship Id="rId5" Type="http://schemas.openxmlformats.org/officeDocument/2006/relationships/hyperlink" Target="https://unsplash.com/s/photos/artefacts?utm_source=unsplash&amp;utm_medium=referral&amp;utm_content=creditCopyText" TargetMode="Externa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lvarordesign?utm_source=unsplash&amp;utm_medium=referral&amp;utm_content=creditCopyText" TargetMode="External"/><Relationship Id="rId3" Type="http://schemas.openxmlformats.org/officeDocument/2006/relationships/hyperlink" Target="https://unsplash.com/@alvarordesign?utm_source=unsplash&amp;utm_medium=referral&amp;utm_content=creditCopyText" TargetMode="External"/><Relationship Id="rId4" Type="http://schemas.openxmlformats.org/officeDocument/2006/relationships/hyperlink" Target="https://unsplash.com/s/photos/ux-design?utm_source=unsplash&amp;utm_medium=referral&amp;utm_content=creditCopyText" TargetMode="External"/><Relationship Id="rId5" Type="http://schemas.openxmlformats.org/officeDocument/2006/relationships/hyperlink" Target="https://unsplash.com/s/photos/ux-design?utm_source=unsplash&amp;utm_medium=referral&amp;utm_content=creditCopyText" TargetMode="Externa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yfortytwo?utm_source=unsplash&amp;utm_medium=referral&amp;utm_content=creditCopyText" TargetMode="External"/><Relationship Id="rId3" Type="http://schemas.openxmlformats.org/officeDocument/2006/relationships/hyperlink" Target="https://unsplash.com/@byfortytwo?utm_source=unsplash&amp;utm_medium=referral&amp;utm_content=creditCopyText" TargetMode="External"/><Relationship Id="rId4" Type="http://schemas.openxmlformats.org/officeDocument/2006/relationships/hyperlink" Target="https://unsplash.com/s/photos/workshop?utm_source=unsplash&amp;utm_medium=referral&amp;utm_content=creditCopyText" TargetMode="External"/><Relationship Id="rId5" Type="http://schemas.openxmlformats.org/officeDocument/2006/relationships/hyperlink" Target="https://unsplash.com/s/photos/workshop?utm_source=unsplash&amp;utm_medium=referral&amp;utm_content=creditCopyText" TargetMode="Externa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yfortytwo?utm_source=unsplash&amp;utm_medium=referral&amp;utm_content=creditCopyText" TargetMode="External"/><Relationship Id="rId3" Type="http://schemas.openxmlformats.org/officeDocument/2006/relationships/hyperlink" Target="https://unsplash.com/@byfortytwo?utm_source=unsplash&amp;utm_medium=referral&amp;utm_content=creditCopyText" TargetMode="External"/><Relationship Id="rId4" Type="http://schemas.openxmlformats.org/officeDocument/2006/relationships/hyperlink" Target="https://unsplash.com/s/photos/workshop?utm_source=unsplash&amp;utm_medium=referral&amp;utm_content=creditCopyText" TargetMode="External"/><Relationship Id="rId5" Type="http://schemas.openxmlformats.org/officeDocument/2006/relationships/hyperlink" Target="https://unsplash.com/s/photos/workshop?utm_source=unsplash&amp;utm_medium=referral&amp;utm_content=creditCopyText" TargetMode="Externa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hyperlink" Target="https://unsplash.com/s/photos/design-product-ux-mobile?utm_source=unsplash&amp;utm_medium=referral&amp;utm_content=creditCopyText" TargetMode="External"/><Relationship Id="rId5" Type="http://schemas.openxmlformats.org/officeDocument/2006/relationships/hyperlink" Target="https://unsplash.com/s/photos/design-product-ux-mobile?utm_source=unsplash&amp;utm_medium=referral&amp;utm_content=creditCopyText" TargetMode="Externa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hyperlink" Target="https://unsplash.com/s/photos/design-product-ux-mobile?utm_source=unsplash&amp;utm_medium=referral&amp;utm_content=creditCopyText" TargetMode="External"/><Relationship Id="rId5" Type="http://schemas.openxmlformats.org/officeDocument/2006/relationships/hyperlink" Target="https://unsplash.com/s/photos/design-product-ux-mobile?utm_source=unsplash&amp;utm_medium=referral&amp;utm_content=creditCopyText" TargetMode="Externa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hyperlink" Target="https://unsplash.com/s/photos/design-product-ux-mobile?utm_source=unsplash&amp;utm_medium=referral&amp;utm_content=creditCopyText" TargetMode="External"/><Relationship Id="rId5" Type="http://schemas.openxmlformats.org/officeDocument/2006/relationships/hyperlink" Target="https://unsplash.com/s/photos/design-product-ux-mobile?utm_source=unsplash&amp;utm_medium=referral&amp;utm_content=creditCopyText" TargetMode="Externa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hyperlink" Target="https://unsplash.com/s/photos/design-product-ux-mobile?utm_source=unsplash&amp;utm_medium=referral&amp;utm_content=creditCopyText" TargetMode="External"/><Relationship Id="rId5" Type="http://schemas.openxmlformats.org/officeDocument/2006/relationships/hyperlink" Target="https://unsplash.com/s/photos/design-product-ux-mobile?utm_source=unsplash&amp;utm_medium=referral&amp;utm_content=creditCopyText" TargetMode="Externa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olivierz?utm_source=unsplash&amp;utm_medium=referral&amp;utm_content=creditCopyText" TargetMode="External"/><Relationship Id="rId3" Type="http://schemas.openxmlformats.org/officeDocument/2006/relationships/hyperlink" Target="https://unsplash.com/@olivierz?utm_source=unsplash&amp;utm_medium=referral&amp;utm_content=creditCopyText" TargetMode="External"/><Relationship Id="rId4" Type="http://schemas.openxmlformats.org/officeDocument/2006/relationships/hyperlink" Target="https://unsplash.com/s/photos/artefacts?utm_source=unsplash&amp;utm_medium=referral&amp;utm_content=creditCopyText" TargetMode="External"/><Relationship Id="rId5" Type="http://schemas.openxmlformats.org/officeDocument/2006/relationships/hyperlink" Target="https://unsplash.com/s/photos/artefacts?utm_source=unsplash&amp;utm_medium=referral&amp;utm_content=creditCopyText" TargetMode="Externa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25b48694a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125b48694a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125b48694a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125b48694a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10b12bec43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10b12bec43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23fcee45f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23fcee45f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225242f389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225242f389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23fcee45fb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123fcee45fb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23fcee45fb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23fcee45fb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23fcee45fb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23fcee45f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123fcee45fb_0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123fcee45fb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123fcee45fb_0_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123fcee45fb_0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Jason Goodman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11b5c64eef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11b5c64eef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Parabol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123fcee45fb_0_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123fcee45fb_0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1225242f389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1225242f389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123fcee45fb_0_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123fcee45fb_0_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11b5c64eef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11b5c64eef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1225242f389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1225242f389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123fcee45fb_0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123fcee45fb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1225242f389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1225242f389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123fcee45fb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123fcee45fb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123fcee45fb_0_4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123fcee45fb_0_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Mars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1225242f389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1225242f389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Mars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123fcee45fb_0_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123fcee45fb_0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1225242f389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1225242f389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12aff0ca0a6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12aff0ca0a6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123fcee45fb_0_4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123fcee45fb_0_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123fcee45fb_0_4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123fcee45fb_0_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Olivier Zaech</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123fcee45fb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123fcee45fb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1225242f389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1225242f389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1225242f389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1225242f389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1260808650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1260808650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12608086504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1260808650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1260808650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1260808650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123fcee45fb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123fcee45fb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123fcee45fb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123fcee45fb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123fcee45fb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123fcee45fb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123fcee45fb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123fcee45fb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123fcee45fb_0_4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123fcee45fb_0_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12c7f18d51f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12c7f18d51f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12d688e03cb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12d688e03cb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122abac2db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122abac2db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12c7f18d51f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12c7f18d51f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krakenimages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123fcee45fb_0_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123fcee45fb_0_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https://www.nngroup.com/articles/ux-scrum/</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12c4188808c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12c4188808c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https://www.nngroup.com/articles/ux-scrum/</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12c4188808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12c4188808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123fcee45fb_0_4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123fcee45fb_0_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123fcee45fb_0_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123fcee45fb_0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krakenimages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12648de8b3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12648de8b3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krakenimages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123fcee45fb_0_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123fcee45fb_0_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12648de8b32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12648de8b32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12648de8b32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12648de8b32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122abac2db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122abac2db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123fcee45fb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123fcee45fb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https://www.glassdoor.com/Photos/Decision-Tech-Office-Photos-IMG1120248.htm</a:t>
            </a:r>
            <a:r>
              <a:rPr lang="en">
                <a:solidFill>
                  <a:schemeClr val="dk1"/>
                </a:solidFill>
              </a:rPr>
              <a:t> </a:t>
            </a:r>
            <a:endParaRPr>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12aff0ca0a6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12aff0ca0a6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12648de8b32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12648de8b32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12dc954f0c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12dc954f0c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12648de8b32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12648de8b32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123fcee45fb_0_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123fcee45fb_0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https://www.soldevelo.com/blog/product-backlog-management-features-rules-how-to-do-it-properly/</a:t>
            </a:r>
            <a:r>
              <a:rPr lang="en">
                <a:solidFill>
                  <a:schemeClr val="dk1"/>
                </a:solidFill>
              </a:rPr>
              <a:t> </a:t>
            </a:r>
            <a:endParaRPr>
              <a:solidFill>
                <a:schemeClr val="dk1"/>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12648de8b32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12648de8b32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https://www.soldevelo.com/blog/product-backlog-management-features-rules-how-to-do-it-properly/</a:t>
            </a:r>
            <a:r>
              <a:rPr lang="en">
                <a:solidFill>
                  <a:schemeClr val="dk1"/>
                </a:solidFill>
              </a:rPr>
              <a:t> </a:t>
            </a:r>
            <a:endParaRPr>
              <a:solidFill>
                <a:schemeClr val="dk1"/>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12648de8b32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12648de8b32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123fcee45fb_0_5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123fcee45fb_0_5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12648de8b32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12648de8b32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123fcee45fb_0_5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123fcee45fb_0_5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Glenn Carstens-Peters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12648de8b32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12648de8b32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Glenn Carstens-Peters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123fcee45fb_0_5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123fcee45fb_0_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126b470d530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126b470d530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123fcee45fb_0_5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6" name="Google Shape;636;g123fcee45fb_0_5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Parabol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126b470d530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4" name="Google Shape;644;g126b470d530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Parabol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123fcee45fb_0_5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123fcee45fb_0_5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Olivier Zaech</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123fcee45fb_0_5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1" name="Google Shape;661;g123fcee45fb_0_5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Parabol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1280f4ab19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9" name="Google Shape;669;g1280f4ab19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Parabol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12c7f18d51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12c7f18d51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Parabol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12c7f18d51f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5" name="Google Shape;685;g12c7f18d51f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Parabol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11bb40db3a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6" name="Google Shape;696;g11bb40db3a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11bb40db3a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4" name="Google Shape;704;g11bb40db3a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123fcee45fb_0_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2" name="Google Shape;712;g123fcee45fb_0_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Andrik Langfield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123fcee45fb_0_6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0" name="Google Shape;720;g123fcee45fb_0_6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Olivier Zaech</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g123fcee45fb_0_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8" name="Google Shape;728;g123fcee45fb_0_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123fcee45fb_0_6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6" name="Google Shape;736;g123fcee45fb_0_6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Alvaro Reyes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123fcee45fb_0_5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4" name="Google Shape;744;g123fcee45fb_0_5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FORTYTWO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1290672fd97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1290672fd97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FORTYTWO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123fcee45fb_0_6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0" name="Google Shape;760;g123fcee45fb_0_6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Jason Goodman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1290672fd97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1290672fd97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Jason Goodman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123fcee45fb_0_6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6" name="Google Shape;776;g123fcee45fb_0_6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Jason Goodman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1290672fd97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4" name="Google Shape;784;g1290672fd97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Jason Goodman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123fcee45fb_0_6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2" name="Google Shape;792;g123fcee45fb_0_6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Olivier Zaech</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g10df2df5133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0" name="Google Shape;800;g10df2df5133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12dbf9daec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8" name="Google Shape;808;g12dbf9daec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12aff0ca0a6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6" name="Google Shape;816;g12aff0ca0a6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4" name="Google Shape;824;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82" name="Shape 82"/>
        <p:cNvGrpSpPr/>
        <p:nvPr/>
      </p:nvGrpSpPr>
      <p:grpSpPr>
        <a:xfrm>
          <a:off x="0" y="0"/>
          <a:ext cx="0" cy="0"/>
          <a:chOff x="0" y="0"/>
          <a:chExt cx="0" cy="0"/>
        </a:xfrm>
      </p:grpSpPr>
      <p:sp>
        <p:nvSpPr>
          <p:cNvPr id="83" name="Google Shape;83;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4" name="Google Shape;84;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86" name="Shape 86"/>
        <p:cNvGrpSpPr/>
        <p:nvPr/>
      </p:nvGrpSpPr>
      <p:grpSpPr>
        <a:xfrm>
          <a:off x="0" y="0"/>
          <a:ext cx="0" cy="0"/>
          <a:chOff x="0" y="0"/>
          <a:chExt cx="0" cy="0"/>
        </a:xfrm>
      </p:grpSpPr>
      <p:sp>
        <p:nvSpPr>
          <p:cNvPr id="87" name="Google Shape;87;p1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8" name="Google Shape;88;p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9" name="Google Shape;8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90" name="Shape 90"/>
        <p:cNvGrpSpPr/>
        <p:nvPr/>
      </p:nvGrpSpPr>
      <p:grpSpPr>
        <a:xfrm>
          <a:off x="0" y="0"/>
          <a:ext cx="0" cy="0"/>
          <a:chOff x="0" y="0"/>
          <a:chExt cx="0" cy="0"/>
        </a:xfrm>
      </p:grpSpPr>
      <p:sp>
        <p:nvSpPr>
          <p:cNvPr id="91" name="Google Shape;91;p1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2" name="Google Shape;92;p1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3" name="Google Shape;9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7">
  <p:cSld name="TITLE_7">
    <p:spTree>
      <p:nvGrpSpPr>
        <p:cNvPr id="94" name="Shape 94"/>
        <p:cNvGrpSpPr/>
        <p:nvPr/>
      </p:nvGrpSpPr>
      <p:grpSpPr>
        <a:xfrm>
          <a:off x="0" y="0"/>
          <a:ext cx="0" cy="0"/>
          <a:chOff x="0" y="0"/>
          <a:chExt cx="0" cy="0"/>
        </a:xfrm>
      </p:grpSpPr>
      <p:sp>
        <p:nvSpPr>
          <p:cNvPr id="95" name="Google Shape;95;p2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6" name="Google Shape;96;p2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7" name="Google Shape;97;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8">
  <p:cSld name="TITLE_8">
    <p:spTree>
      <p:nvGrpSpPr>
        <p:cNvPr id="98" name="Shape 98"/>
        <p:cNvGrpSpPr/>
        <p:nvPr/>
      </p:nvGrpSpPr>
      <p:grpSpPr>
        <a:xfrm>
          <a:off x="0" y="0"/>
          <a:ext cx="0" cy="0"/>
          <a:chOff x="0" y="0"/>
          <a:chExt cx="0" cy="0"/>
        </a:xfrm>
      </p:grpSpPr>
      <p:sp>
        <p:nvSpPr>
          <p:cNvPr id="99" name="Google Shape;99;p2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00" name="Google Shape;100;p2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01" name="Google Shape;101;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9">
  <p:cSld name="TITLE_9">
    <p:spTree>
      <p:nvGrpSpPr>
        <p:cNvPr id="102" name="Shape 102"/>
        <p:cNvGrpSpPr/>
        <p:nvPr/>
      </p:nvGrpSpPr>
      <p:grpSpPr>
        <a:xfrm>
          <a:off x="0" y="0"/>
          <a:ext cx="0" cy="0"/>
          <a:chOff x="0" y="0"/>
          <a:chExt cx="0" cy="0"/>
        </a:xfrm>
      </p:grpSpPr>
      <p:sp>
        <p:nvSpPr>
          <p:cNvPr id="103" name="Google Shape;103;p2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04" name="Google Shape;104;p2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05" name="Google Shape;105;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1.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unsplash.com/@linkedinsalesnavigator?utm_source=unsplash&amp;utm_medium=referral&amp;utm_content=creditCopyText" TargetMode="Externa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unsplash.com/@linkedinsalesnavigator?utm_source=unsplash&amp;utm_medium=referral&amp;utm_content=creditCopyText" TargetMode="Externa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unsplash.com/@linkedinsalesnavigator?utm_source=unsplash&amp;utm_medium=referral&amp;utm_content=creditCopyText" TargetMode="Externa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0.png"/><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4.xml"/><Relationship Id="rId3"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5.xml"/><Relationship Id="rId3" Type="http://schemas.openxmlformats.org/officeDocument/2006/relationships/image" Target="../media/image3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6.xml"/><Relationship Id="rId3" Type="http://schemas.openxmlformats.org/officeDocument/2006/relationships/image" Target="../media/image2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7.xml"/><Relationship Id="rId3" Type="http://schemas.openxmlformats.org/officeDocument/2006/relationships/image" Target="../media/image3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3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41.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image" Target="../media/image3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5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4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4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4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3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4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4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4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5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68.jpg"/><Relationship Id="rId4" Type="http://schemas.openxmlformats.org/officeDocument/2006/relationships/image" Target="../media/image4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2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5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4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5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5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6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5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6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21.png"/><Relationship Id="rId4" Type="http://schemas.openxmlformats.org/officeDocument/2006/relationships/image" Target="../media/image5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60.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59.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5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64.jp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66.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66.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67.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65.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8.xml"/><Relationship Id="rId3" Type="http://schemas.openxmlformats.org/officeDocument/2006/relationships/image" Target="../media/image69.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7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70.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70.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73.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73.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 Id="rId3" Type="http://schemas.openxmlformats.org/officeDocument/2006/relationships/image" Target="../media/image7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 Id="rId3" Type="http://schemas.openxmlformats.org/officeDocument/2006/relationships/image" Target="../media/image76.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75.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 Id="rId3" Type="http://schemas.openxmlformats.org/officeDocument/2006/relationships/image" Target="../media/image6.png"/><Relationship Id="rId4" Type="http://schemas.openxmlformats.org/officeDocument/2006/relationships/hyperlink" Target="https://www.nngroup.com/articles/ux-scrum/" TargetMode="External"/><Relationship Id="rId5" Type="http://schemas.openxmlformats.org/officeDocument/2006/relationships/hyperlink" Target="https://lucidspark.com/blog/best-practices-for-applying-scrum-to-UX-design" TargetMode="External"/><Relationship Id="rId6" Type="http://schemas.openxmlformats.org/officeDocument/2006/relationships/hyperlink" Target="https://uxdesign.cc/scrum-and-ux-design-c8869ce2bab5" TargetMode="Externa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8.xml"/><Relationship Id="rId3" Type="http://schemas.openxmlformats.org/officeDocument/2006/relationships/image" Target="../media/image8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9.xml"/><Relationship Id="rId3" Type="http://schemas.openxmlformats.org/officeDocument/2006/relationships/image" Target="../media/image78.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0.xml"/><Relationship Id="rId3" Type="http://schemas.openxmlformats.org/officeDocument/2006/relationships/image" Target="../media/image79.png"/><Relationship Id="rId4" Type="http://schemas.openxmlformats.org/officeDocument/2006/relationships/image" Target="../media/image83.png"/><Relationship Id="rId5" Type="http://schemas.openxmlformats.org/officeDocument/2006/relationships/image" Target="../media/image82.png"/><Relationship Id="rId6" Type="http://schemas.openxmlformats.org/officeDocument/2006/relationships/image" Target="../media/image85.png"/><Relationship Id="rId7" Type="http://schemas.openxmlformats.org/officeDocument/2006/relationships/image" Target="../media/image8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109" name="Shape 109"/>
        <p:cNvGrpSpPr/>
        <p:nvPr/>
      </p:nvGrpSpPr>
      <p:grpSpPr>
        <a:xfrm>
          <a:off x="0" y="0"/>
          <a:ext cx="0" cy="0"/>
          <a:chOff x="0" y="0"/>
          <a:chExt cx="0" cy="0"/>
        </a:xfrm>
      </p:grpSpPr>
      <p:cxnSp>
        <p:nvCxnSpPr>
          <p:cNvPr id="110" name="Google Shape;110;p23"/>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11" name="Google Shape;111;p23"/>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112" name="Google Shape;112;p23"/>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3" name="Google Shape;113;p23"/>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Montserrat"/>
                <a:ea typeface="Montserrat"/>
                <a:cs typeface="Montserrat"/>
                <a:sym typeface="Montserrat"/>
              </a:rPr>
              <a:t>UI/UX dan Scrum</a:t>
            </a:r>
            <a:endParaRPr b="1" sz="2400">
              <a:solidFill>
                <a:srgbClr val="FFFFFF"/>
              </a:solidFill>
              <a:latin typeface="Montserrat"/>
              <a:ea typeface="Montserrat"/>
              <a:cs typeface="Montserrat"/>
              <a:sym typeface="Montserrat"/>
            </a:endParaRPr>
          </a:p>
          <a:p>
            <a:pPr indent="0" lvl="0" marL="0" rtl="0" algn="l">
              <a:spcBef>
                <a:spcPts val="0"/>
              </a:spcBef>
              <a:spcAft>
                <a:spcPts val="0"/>
              </a:spcAft>
              <a:buClr>
                <a:srgbClr val="000000"/>
              </a:buClr>
              <a:buSzPts val="1100"/>
              <a:buFont typeface="Arial"/>
              <a:buNone/>
            </a:pPr>
            <a:r>
              <a:rPr b="1" lang="en">
                <a:solidFill>
                  <a:srgbClr val="FFFFFF"/>
                </a:solidFill>
                <a:latin typeface="Montserrat"/>
                <a:ea typeface="Montserrat"/>
                <a:cs typeface="Montserrat"/>
                <a:sym typeface="Montserrat"/>
              </a:rPr>
              <a:t>Gold </a:t>
            </a:r>
            <a:r>
              <a:rPr lang="en">
                <a:solidFill>
                  <a:srgbClr val="FFFFFF"/>
                </a:solidFill>
                <a:latin typeface="Montserrat"/>
                <a:ea typeface="Montserrat"/>
                <a:cs typeface="Montserrat"/>
                <a:sym typeface="Montserrat"/>
              </a:rPr>
              <a:t>- </a:t>
            </a:r>
            <a:r>
              <a:rPr lang="en">
                <a:solidFill>
                  <a:srgbClr val="FFFFFF"/>
                </a:solidFill>
                <a:latin typeface="Montserrat"/>
                <a:ea typeface="Montserrat"/>
                <a:cs typeface="Montserrat"/>
                <a:sym typeface="Montserrat"/>
              </a:rPr>
              <a:t>Chapter 8 - Topic 4</a:t>
            </a:r>
            <a:endParaRPr>
              <a:solidFill>
                <a:srgbClr val="FFFFFF"/>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4"/>
          <p:cNvSpPr txBox="1"/>
          <p:nvPr/>
        </p:nvSpPr>
        <p:spPr>
          <a:xfrm>
            <a:off x="1609500" y="575850"/>
            <a:ext cx="59250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rgbClr val="FFFFFF"/>
                </a:solidFill>
                <a:latin typeface="Montserrat"/>
                <a:ea typeface="Montserrat"/>
                <a:cs typeface="Montserrat"/>
                <a:sym typeface="Montserrat"/>
              </a:rPr>
              <a:t>Selamat datang di </a:t>
            </a:r>
            <a:r>
              <a:rPr b="1" lang="en" sz="1600">
                <a:solidFill>
                  <a:srgbClr val="F2AB2F"/>
                </a:solidFill>
                <a:latin typeface="Montserrat"/>
                <a:ea typeface="Montserrat"/>
                <a:cs typeface="Montserrat"/>
                <a:sym typeface="Montserrat"/>
              </a:rPr>
              <a:t>Chapter 8 Topic 4</a:t>
            </a:r>
            <a:r>
              <a:rPr b="1" lang="en" sz="1600">
                <a:solidFill>
                  <a:srgbClr val="FFFFFF"/>
                </a:solidFill>
                <a:latin typeface="Montserrat"/>
                <a:ea typeface="Montserrat"/>
                <a:cs typeface="Montserrat"/>
                <a:sym typeface="Montserrat"/>
              </a:rPr>
              <a:t> online course</a:t>
            </a:r>
            <a:br>
              <a:rPr b="1" lang="en" sz="1600">
                <a:solidFill>
                  <a:srgbClr val="FFFFFF"/>
                </a:solidFill>
                <a:latin typeface="Montserrat"/>
                <a:ea typeface="Montserrat"/>
                <a:cs typeface="Montserrat"/>
                <a:sym typeface="Montserrat"/>
              </a:rPr>
            </a:br>
            <a:r>
              <a:rPr b="1" lang="en" sz="1600">
                <a:solidFill>
                  <a:srgbClr val="F2AB2F"/>
                </a:solidFill>
                <a:latin typeface="Montserrat"/>
                <a:ea typeface="Montserrat"/>
                <a:cs typeface="Montserrat"/>
                <a:sym typeface="Montserrat"/>
              </a:rPr>
              <a:t>UI/UX Research/Design</a:t>
            </a:r>
            <a:r>
              <a:rPr b="1" lang="en" sz="1600">
                <a:solidFill>
                  <a:srgbClr val="FFFFFF"/>
                </a:solidFill>
                <a:latin typeface="Montserrat"/>
                <a:ea typeface="Montserrat"/>
                <a:cs typeface="Montserrat"/>
                <a:sym typeface="Montserrat"/>
              </a:rPr>
              <a:t> dari Binar Academy!</a:t>
            </a:r>
            <a:endParaRPr b="1" sz="1600">
              <a:solidFill>
                <a:srgbClr val="FFFFFF"/>
              </a:solidFill>
              <a:latin typeface="Montserrat"/>
              <a:ea typeface="Montserrat"/>
              <a:cs typeface="Montserrat"/>
              <a:sym typeface="Montserrat"/>
            </a:endParaRPr>
          </a:p>
        </p:txBody>
      </p:sp>
      <p:pic>
        <p:nvPicPr>
          <p:cNvPr id="119" name="Google Shape;119;p24"/>
          <p:cNvPicPr preferRelativeResize="0"/>
          <p:nvPr/>
        </p:nvPicPr>
        <p:blipFill rotWithShape="1">
          <a:blip r:embed="rId3">
            <a:alphaModFix/>
          </a:blip>
          <a:srcRect b="0" l="0" r="0" t="0"/>
          <a:stretch/>
        </p:blipFill>
        <p:spPr>
          <a:xfrm>
            <a:off x="2660288" y="1807025"/>
            <a:ext cx="3823424" cy="2916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5" name="Google Shape;125;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26" name="Google Shape;126;p25"/>
          <p:cNvSpPr txBox="1"/>
          <p:nvPr/>
        </p:nvSpPr>
        <p:spPr>
          <a:xfrm>
            <a:off x="669300" y="1938250"/>
            <a:ext cx="4605000" cy="11328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 sz="1100">
                <a:solidFill>
                  <a:schemeClr val="dk1"/>
                </a:solidFill>
                <a:latin typeface="Montserrat"/>
                <a:ea typeface="Montserrat"/>
                <a:cs typeface="Montserrat"/>
                <a:sym typeface="Montserrat"/>
              </a:rPr>
              <a:t>Yuhuuu.. Sesuai janji kita kemarin nih, gengs, hari ini kita akan memperdalam bahasan tentang Scrum, misalnya aktor yang terlibat, cara kerjanya, sampai peran UX di dalam Scrum. </a:t>
            </a:r>
            <a:r>
              <a:rPr b="1" lang="en" sz="1100">
                <a:solidFill>
                  <a:srgbClr val="5E2B62"/>
                </a:solidFill>
                <a:latin typeface="Montserrat"/>
                <a:ea typeface="Montserrat"/>
                <a:cs typeface="Montserrat"/>
                <a:sym typeface="Montserrat"/>
              </a:rPr>
              <a:t>🤩🤩</a:t>
            </a:r>
            <a:endParaRPr sz="11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1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100">
                <a:solidFill>
                  <a:schemeClr val="dk1"/>
                </a:solidFill>
                <a:latin typeface="Montserrat"/>
                <a:ea typeface="Montserrat"/>
                <a:cs typeface="Montserrat"/>
                <a:sym typeface="Montserrat"/>
              </a:rPr>
              <a:t>Yuk langsung aja kita pelajari ~</a:t>
            </a:r>
            <a:endParaRPr b="1" sz="1100">
              <a:solidFill>
                <a:srgbClr val="5E2B62"/>
              </a:solidFill>
              <a:latin typeface="Montserrat"/>
              <a:ea typeface="Montserrat"/>
              <a:cs typeface="Montserrat"/>
              <a:sym typeface="Montserrat"/>
            </a:endParaRPr>
          </a:p>
        </p:txBody>
      </p:sp>
      <p:pic>
        <p:nvPicPr>
          <p:cNvPr id="127" name="Google Shape;127;p25"/>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3" name="Google Shape;133;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34" name="Google Shape;134;p26"/>
          <p:cNvSpPr txBox="1"/>
          <p:nvPr/>
        </p:nvSpPr>
        <p:spPr>
          <a:xfrm>
            <a:off x="639050" y="1467801"/>
            <a:ext cx="4114800" cy="686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600">
                <a:solidFill>
                  <a:srgbClr val="743673"/>
                </a:solidFill>
                <a:highlight>
                  <a:srgbClr val="FFFFFF"/>
                </a:highlight>
                <a:latin typeface="Montserrat"/>
                <a:ea typeface="Montserrat"/>
                <a:cs typeface="Montserrat"/>
                <a:sym typeface="Montserrat"/>
              </a:rPr>
              <a:t>Kali ini, kita akan mengulas tentang:</a:t>
            </a:r>
            <a:endParaRPr sz="1000">
              <a:solidFill>
                <a:srgbClr val="000000"/>
              </a:solidFill>
              <a:latin typeface="Montserrat Medium"/>
              <a:ea typeface="Montserrat Medium"/>
              <a:cs typeface="Montserrat Medium"/>
              <a:sym typeface="Montserrat Medium"/>
            </a:endParaRPr>
          </a:p>
        </p:txBody>
      </p:sp>
      <p:sp>
        <p:nvSpPr>
          <p:cNvPr id="135" name="Google Shape;135;p26"/>
          <p:cNvSpPr/>
          <p:nvPr/>
        </p:nvSpPr>
        <p:spPr>
          <a:xfrm>
            <a:off x="685800" y="219692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36" name="Google Shape;136;p26"/>
          <p:cNvSpPr/>
          <p:nvPr/>
        </p:nvSpPr>
        <p:spPr>
          <a:xfrm>
            <a:off x="685800" y="265807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37" name="Google Shape;137;p26"/>
          <p:cNvSpPr/>
          <p:nvPr/>
        </p:nvSpPr>
        <p:spPr>
          <a:xfrm>
            <a:off x="685800" y="311922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38" name="Google Shape;138;p26"/>
          <p:cNvSpPr txBox="1"/>
          <p:nvPr/>
        </p:nvSpPr>
        <p:spPr>
          <a:xfrm>
            <a:off x="1182350" y="2128075"/>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100">
                <a:latin typeface="Montserrat"/>
                <a:ea typeface="Montserrat"/>
                <a:cs typeface="Montserrat"/>
                <a:sym typeface="Montserrat"/>
              </a:rPr>
              <a:t>Scrum actors</a:t>
            </a:r>
            <a:endParaRPr sz="1100">
              <a:solidFill>
                <a:srgbClr val="000000"/>
              </a:solidFill>
              <a:latin typeface="Montserrat"/>
              <a:ea typeface="Montserrat"/>
              <a:cs typeface="Montserrat"/>
              <a:sym typeface="Montserrat"/>
            </a:endParaRPr>
          </a:p>
        </p:txBody>
      </p:sp>
      <p:sp>
        <p:nvSpPr>
          <p:cNvPr id="139" name="Google Shape;139;p26"/>
          <p:cNvSpPr txBox="1"/>
          <p:nvPr/>
        </p:nvSpPr>
        <p:spPr>
          <a:xfrm>
            <a:off x="1182350" y="2589225"/>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100">
                <a:latin typeface="Montserrat"/>
                <a:ea typeface="Montserrat"/>
                <a:cs typeface="Montserrat"/>
                <a:sym typeface="Montserrat"/>
              </a:rPr>
              <a:t>Scrum </a:t>
            </a:r>
            <a:r>
              <a:rPr lang="en" sz="1100">
                <a:latin typeface="Montserrat"/>
                <a:ea typeface="Montserrat"/>
                <a:cs typeface="Montserrat"/>
                <a:sym typeface="Montserrat"/>
              </a:rPr>
              <a:t>artifacts</a:t>
            </a:r>
            <a:endParaRPr sz="1100">
              <a:solidFill>
                <a:srgbClr val="000000"/>
              </a:solidFill>
              <a:latin typeface="Montserrat"/>
              <a:ea typeface="Montserrat"/>
              <a:cs typeface="Montserrat"/>
              <a:sym typeface="Montserrat"/>
            </a:endParaRPr>
          </a:p>
        </p:txBody>
      </p:sp>
      <p:sp>
        <p:nvSpPr>
          <p:cNvPr id="140" name="Google Shape;140;p26"/>
          <p:cNvSpPr txBox="1"/>
          <p:nvPr/>
        </p:nvSpPr>
        <p:spPr>
          <a:xfrm>
            <a:off x="1182350" y="3050375"/>
            <a:ext cx="3028200" cy="393600"/>
          </a:xfrm>
          <a:prstGeom prst="rect">
            <a:avLst/>
          </a:prstGeom>
          <a:noFill/>
          <a:ln>
            <a:noFill/>
          </a:ln>
        </p:spPr>
        <p:txBody>
          <a:bodyPr anchorCtr="0" anchor="ctr" bIns="0" lIns="0" spcFirstLastPara="1" rIns="0" wrap="square" tIns="0">
            <a:noAutofit/>
          </a:bodyPr>
          <a:lstStyle/>
          <a:p>
            <a:pPr indent="0" lvl="0" marL="0" rtl="0" algn="just">
              <a:lnSpc>
                <a:spcPct val="115000"/>
              </a:lnSpc>
              <a:spcBef>
                <a:spcPts val="0"/>
              </a:spcBef>
              <a:spcAft>
                <a:spcPts val="0"/>
              </a:spcAft>
              <a:buClr>
                <a:srgbClr val="000000"/>
              </a:buClr>
              <a:buSzPts val="1100"/>
              <a:buFont typeface="Arial"/>
              <a:buNone/>
            </a:pPr>
            <a:r>
              <a:rPr lang="en" sz="1100">
                <a:latin typeface="Montserrat"/>
                <a:ea typeface="Montserrat"/>
                <a:cs typeface="Montserrat"/>
                <a:sym typeface="Montserrat"/>
              </a:rPr>
              <a:t>Cara kerja Scrum</a:t>
            </a:r>
            <a:endParaRPr sz="1100">
              <a:solidFill>
                <a:srgbClr val="000000"/>
              </a:solidFill>
              <a:latin typeface="Montserrat"/>
              <a:ea typeface="Montserrat"/>
              <a:cs typeface="Montserrat"/>
              <a:sym typeface="Montserrat"/>
            </a:endParaRPr>
          </a:p>
        </p:txBody>
      </p:sp>
      <p:sp>
        <p:nvSpPr>
          <p:cNvPr id="141" name="Google Shape;141;p26"/>
          <p:cNvSpPr/>
          <p:nvPr/>
        </p:nvSpPr>
        <p:spPr>
          <a:xfrm>
            <a:off x="685800" y="358037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42" name="Google Shape;142;p26"/>
          <p:cNvSpPr/>
          <p:nvPr/>
        </p:nvSpPr>
        <p:spPr>
          <a:xfrm>
            <a:off x="685800" y="404152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43" name="Google Shape;143;p26"/>
          <p:cNvSpPr txBox="1"/>
          <p:nvPr/>
        </p:nvSpPr>
        <p:spPr>
          <a:xfrm>
            <a:off x="1182350" y="3511525"/>
            <a:ext cx="38643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100">
                <a:latin typeface="Montserrat"/>
                <a:ea typeface="Montserrat"/>
                <a:cs typeface="Montserrat"/>
                <a:sym typeface="Montserrat"/>
              </a:rPr>
              <a:t>Tanggung jawab UX dalam Scrum ceremonies</a:t>
            </a:r>
            <a:endParaRPr sz="1100">
              <a:solidFill>
                <a:srgbClr val="000000"/>
              </a:solidFill>
              <a:latin typeface="Montserrat"/>
              <a:ea typeface="Montserrat"/>
              <a:cs typeface="Montserrat"/>
              <a:sym typeface="Montserrat"/>
            </a:endParaRPr>
          </a:p>
        </p:txBody>
      </p:sp>
      <p:sp>
        <p:nvSpPr>
          <p:cNvPr id="144" name="Google Shape;144;p26"/>
          <p:cNvSpPr txBox="1"/>
          <p:nvPr/>
        </p:nvSpPr>
        <p:spPr>
          <a:xfrm>
            <a:off x="1182350" y="3972675"/>
            <a:ext cx="3542100" cy="393600"/>
          </a:xfrm>
          <a:prstGeom prst="rect">
            <a:avLst/>
          </a:prstGeom>
          <a:noFill/>
          <a:ln>
            <a:noFill/>
          </a:ln>
        </p:spPr>
        <p:txBody>
          <a:bodyPr anchorCtr="0" anchor="ctr" bIns="0" lIns="0" spcFirstLastPara="1" rIns="0" wrap="square" tIns="0">
            <a:noAutofit/>
          </a:bodyPr>
          <a:lstStyle/>
          <a:p>
            <a:pPr indent="0" lvl="0" marL="0" rtl="0" algn="just">
              <a:lnSpc>
                <a:spcPct val="115000"/>
              </a:lnSpc>
              <a:spcBef>
                <a:spcPts val="0"/>
              </a:spcBef>
              <a:spcAft>
                <a:spcPts val="0"/>
              </a:spcAft>
              <a:buClr>
                <a:srgbClr val="000000"/>
              </a:buClr>
              <a:buSzPts val="1100"/>
              <a:buFont typeface="Arial"/>
              <a:buNone/>
            </a:pPr>
            <a:r>
              <a:rPr lang="en" sz="1100">
                <a:latin typeface="Montserrat"/>
                <a:ea typeface="Montserrat"/>
                <a:cs typeface="Montserrat"/>
                <a:sym typeface="Montserrat"/>
              </a:rPr>
              <a:t>Best practices untuk menerapkan Scrum pada desain UX</a:t>
            </a:r>
            <a:endParaRPr sz="1100">
              <a:solidFill>
                <a:srgbClr val="000000"/>
              </a:solidFill>
              <a:latin typeface="Montserrat"/>
              <a:ea typeface="Montserrat"/>
              <a:cs typeface="Montserrat"/>
              <a:sym typeface="Montserrat"/>
            </a:endParaRPr>
          </a:p>
        </p:txBody>
      </p:sp>
      <p:pic>
        <p:nvPicPr>
          <p:cNvPr id="145" name="Google Shape;145;p26"/>
          <p:cNvPicPr preferRelativeResize="0"/>
          <p:nvPr/>
        </p:nvPicPr>
        <p:blipFill>
          <a:blip r:embed="rId3">
            <a:alphaModFix/>
          </a:blip>
          <a:stretch>
            <a:fillRect/>
          </a:stretch>
        </p:blipFill>
        <p:spPr>
          <a:xfrm>
            <a:off x="5458996" y="1043350"/>
            <a:ext cx="2612779" cy="37572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1" name="Google Shape;151;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Recap</a:t>
            </a:r>
            <a:endParaRPr>
              <a:latin typeface="Montserrat"/>
              <a:ea typeface="Montserrat"/>
              <a:cs typeface="Montserrat"/>
              <a:sym typeface="Montserrat"/>
            </a:endParaRPr>
          </a:p>
        </p:txBody>
      </p:sp>
      <p:sp>
        <p:nvSpPr>
          <p:cNvPr id="152" name="Google Shape;152;p27"/>
          <p:cNvSpPr txBox="1"/>
          <p:nvPr/>
        </p:nvSpPr>
        <p:spPr>
          <a:xfrm>
            <a:off x="685800" y="1421375"/>
            <a:ext cx="4316100" cy="1690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Sebelum masuk ke UI/UX dan Scrum, yuk kita recap dulu mengenai metodologi scrum kemarin~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Masih ingat kan mengapa Scrum terbilang sebagai metodologi pengembangan perangkat lunak paling fleksibel?</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Yup, sebab Scrum didasarkan pada filosofi Agile dan disukai karena pendekatan iteratifnya. Metodologi Scrum melibatkan pemilik produk (product owner), scrum master, dan tim pengembang.</a:t>
            </a:r>
            <a:endParaRPr sz="1200">
              <a:solidFill>
                <a:schemeClr val="dk1"/>
              </a:solidFill>
              <a:latin typeface="Montserrat Medium"/>
              <a:ea typeface="Montserrat Medium"/>
              <a:cs typeface="Montserrat Medium"/>
              <a:sym typeface="Montserrat Medium"/>
            </a:endParaRPr>
          </a:p>
        </p:txBody>
      </p:sp>
      <p:pic>
        <p:nvPicPr>
          <p:cNvPr id="153" name="Google Shape;153;p27">
            <a:hlinkClick r:id="rId3"/>
          </p:cNvPr>
          <p:cNvPicPr preferRelativeResize="0"/>
          <p:nvPr/>
        </p:nvPicPr>
        <p:blipFill>
          <a:blip r:embed="rId4">
            <a:alphaModFix/>
          </a:blip>
          <a:stretch>
            <a:fillRect/>
          </a:stretch>
        </p:blipFill>
        <p:spPr>
          <a:xfrm>
            <a:off x="5171000" y="1296775"/>
            <a:ext cx="3528724" cy="2872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9" name="Google Shape;159;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Recap</a:t>
            </a:r>
            <a:endParaRPr>
              <a:latin typeface="Montserrat"/>
              <a:ea typeface="Montserrat"/>
              <a:cs typeface="Montserrat"/>
              <a:sym typeface="Montserrat"/>
            </a:endParaRPr>
          </a:p>
        </p:txBody>
      </p:sp>
      <p:sp>
        <p:nvSpPr>
          <p:cNvPr id="160" name="Google Shape;160;p28"/>
          <p:cNvSpPr txBox="1"/>
          <p:nvPr/>
        </p:nvSpPr>
        <p:spPr>
          <a:xfrm>
            <a:off x="685800" y="1948347"/>
            <a:ext cx="4114800" cy="1246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P</a:t>
            </a:r>
            <a:r>
              <a:rPr lang="en" sz="1000">
                <a:solidFill>
                  <a:schemeClr val="dk1"/>
                </a:solidFill>
                <a:latin typeface="Montserrat"/>
                <a:ea typeface="Montserrat"/>
                <a:cs typeface="Montserrat"/>
                <a:sym typeface="Montserrat"/>
              </a:rPr>
              <a:t>roduct owner menerima masukan dari klien dan memastikan bahwa tim berada di jalur yang benar dalam memenuhi persyaratan klien.</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Sementara itu, scrum master bertindak sebagai fasilitator dan memastikan bahwa anggota tim terbiasa dengan proses Scrum. Tim bertanggung jawab atas pelaksanaan pengembangan.</a:t>
            </a:r>
            <a:endParaRPr sz="1200">
              <a:solidFill>
                <a:schemeClr val="dk1"/>
              </a:solidFill>
              <a:latin typeface="Montserrat Medium"/>
              <a:ea typeface="Montserrat Medium"/>
              <a:cs typeface="Montserrat Medium"/>
              <a:sym typeface="Montserrat Medium"/>
            </a:endParaRPr>
          </a:p>
        </p:txBody>
      </p:sp>
      <p:pic>
        <p:nvPicPr>
          <p:cNvPr id="161" name="Google Shape;161;p28">
            <a:hlinkClick r:id="rId3"/>
          </p:cNvPr>
          <p:cNvPicPr preferRelativeResize="0"/>
          <p:nvPr/>
        </p:nvPicPr>
        <p:blipFill>
          <a:blip r:embed="rId4">
            <a:alphaModFix/>
          </a:blip>
          <a:stretch>
            <a:fillRect/>
          </a:stretch>
        </p:blipFill>
        <p:spPr>
          <a:xfrm>
            <a:off x="5171000" y="1296775"/>
            <a:ext cx="3528724" cy="2872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7" name="Google Shape;167;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Recap</a:t>
            </a:r>
            <a:endParaRPr>
              <a:latin typeface="Montserrat"/>
              <a:ea typeface="Montserrat"/>
              <a:cs typeface="Montserrat"/>
              <a:sym typeface="Montserrat"/>
            </a:endParaRPr>
          </a:p>
        </p:txBody>
      </p:sp>
      <p:sp>
        <p:nvSpPr>
          <p:cNvPr id="168" name="Google Shape;168;p29"/>
          <p:cNvSpPr txBox="1"/>
          <p:nvPr/>
        </p:nvSpPr>
        <p:spPr>
          <a:xfrm>
            <a:off x="685800" y="1872451"/>
            <a:ext cx="4114800" cy="1398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Scrum menjadi metodologi ideal dalam lingkungan serba cepat, karena tugas dijalankan melalui sprint yang biasanya membutuhkan waktu 4 minggu.</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Eksekusi yang cepat memungkinkan tim mengidentifikasi masalah, memperkenalkan solusi, menguji, dan mengumpulkan umpan balik dalam waktu singkat. Sehingga, penanganan proyek yang bergerak cepat menjadi lebih mudah.</a:t>
            </a:r>
            <a:endParaRPr sz="1000">
              <a:solidFill>
                <a:schemeClr val="dk1"/>
              </a:solidFill>
              <a:latin typeface="Montserrat"/>
              <a:ea typeface="Montserrat"/>
              <a:cs typeface="Montserrat"/>
              <a:sym typeface="Montserrat"/>
            </a:endParaRPr>
          </a:p>
        </p:txBody>
      </p:sp>
      <p:pic>
        <p:nvPicPr>
          <p:cNvPr id="169" name="Google Shape;169;p29">
            <a:hlinkClick r:id="rId3"/>
          </p:cNvPr>
          <p:cNvPicPr preferRelativeResize="0"/>
          <p:nvPr/>
        </p:nvPicPr>
        <p:blipFill>
          <a:blip r:embed="rId4">
            <a:alphaModFix/>
          </a:blip>
          <a:stretch>
            <a:fillRect/>
          </a:stretch>
        </p:blipFill>
        <p:spPr>
          <a:xfrm>
            <a:off x="5171000" y="1296775"/>
            <a:ext cx="3528724" cy="2872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5" name="Google Shape;175;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Recap</a:t>
            </a:r>
            <a:endParaRPr>
              <a:latin typeface="Montserrat"/>
              <a:ea typeface="Montserrat"/>
              <a:cs typeface="Montserrat"/>
              <a:sym typeface="Montserrat"/>
            </a:endParaRPr>
          </a:p>
        </p:txBody>
      </p:sp>
      <p:sp>
        <p:nvSpPr>
          <p:cNvPr id="176" name="Google Shape;176;p30"/>
          <p:cNvSpPr txBox="1"/>
          <p:nvPr/>
        </p:nvSpPr>
        <p:spPr>
          <a:xfrm>
            <a:off x="685800" y="1620898"/>
            <a:ext cx="4114800" cy="1901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Kapan Scrum cocok digunakan?</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Yup, Scrum dapat dilakukan ketika kamu memiliki proyek dengan persyaratan tidak jelas tetapi perlu beradaptasi dengan perubahan yang sering terjadi.</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Misalnya, kamu perlu membuat MVP dengan cepat dan mengujinya di antara pengguna. Tetapi, ia hanya efektif ketika kamu memiliki tim dengan komitmen penuh dan berpengalaman.</a:t>
            </a:r>
            <a:endParaRPr sz="1000">
              <a:solidFill>
                <a:schemeClr val="dk1"/>
              </a:solidFill>
              <a:latin typeface="Montserrat"/>
              <a:ea typeface="Montserrat"/>
              <a:cs typeface="Montserrat"/>
              <a:sym typeface="Montserrat"/>
            </a:endParaRPr>
          </a:p>
        </p:txBody>
      </p:sp>
      <p:pic>
        <p:nvPicPr>
          <p:cNvPr id="177" name="Google Shape;177;p30"/>
          <p:cNvPicPr preferRelativeResize="0"/>
          <p:nvPr/>
        </p:nvPicPr>
        <p:blipFill rotWithShape="1">
          <a:blip r:embed="rId3">
            <a:alphaModFix/>
          </a:blip>
          <a:srcRect b="29" l="0" r="0" t="29"/>
          <a:stretch/>
        </p:blipFill>
        <p:spPr>
          <a:xfrm>
            <a:off x="5414853" y="914400"/>
            <a:ext cx="2810773" cy="3886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31"/>
          <p:cNvPicPr preferRelativeResize="0"/>
          <p:nvPr/>
        </p:nvPicPr>
        <p:blipFill rotWithShape="1">
          <a:blip r:embed="rId3">
            <a:alphaModFix/>
          </a:blip>
          <a:srcRect b="7424" l="3583" r="3592" t="0"/>
          <a:stretch/>
        </p:blipFill>
        <p:spPr>
          <a:xfrm>
            <a:off x="1730625" y="783725"/>
            <a:ext cx="5551401" cy="4120050"/>
          </a:xfrm>
          <a:prstGeom prst="rect">
            <a:avLst/>
          </a:prstGeom>
          <a:noFill/>
          <a:ln>
            <a:noFill/>
          </a:ln>
        </p:spPr>
      </p:pic>
      <p:sp>
        <p:nvSpPr>
          <p:cNvPr id="183" name="Google Shape;183;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4" name="Google Shape;184;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Recap</a:t>
            </a:r>
            <a:endParaRPr>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actors</a:t>
            </a:r>
            <a:endParaRPr>
              <a:latin typeface="Montserrat"/>
              <a:ea typeface="Montserrat"/>
              <a:cs typeface="Montserrat"/>
              <a:sym typeface="Montserrat"/>
            </a:endParaRPr>
          </a:p>
        </p:txBody>
      </p:sp>
      <p:sp>
        <p:nvSpPr>
          <p:cNvPr id="190" name="Google Shape;190;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1" name="Google Shape;191;p32"/>
          <p:cNvSpPr txBox="1"/>
          <p:nvPr/>
        </p:nvSpPr>
        <p:spPr>
          <a:xfrm>
            <a:off x="685800" y="1833000"/>
            <a:ext cx="3951300" cy="1693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Terus, pertanyaannya adalah, siapa aja sih orang-orang yang terlibat dalam Scrum dan cakupan tanggung jawabnya meliputi apa aja?</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Yuk kita pahami penjelasannya di bagian </a:t>
            </a:r>
            <a:r>
              <a:rPr b="1" lang="en">
                <a:solidFill>
                  <a:srgbClr val="F2AB2F"/>
                </a:solidFill>
                <a:latin typeface="Montserrat"/>
                <a:ea typeface="Montserrat"/>
                <a:cs typeface="Montserrat"/>
                <a:sym typeface="Montserrat"/>
              </a:rPr>
              <a:t>scrum actors </a:t>
            </a:r>
            <a:r>
              <a:rPr b="1" lang="en">
                <a:solidFill>
                  <a:schemeClr val="lt1"/>
                </a:solidFill>
                <a:latin typeface="Montserrat"/>
                <a:ea typeface="Montserrat"/>
                <a:cs typeface="Montserrat"/>
                <a:sym typeface="Montserrat"/>
              </a:rPr>
              <a:t>~</a:t>
            </a:r>
            <a:endParaRPr b="1">
              <a:solidFill>
                <a:schemeClr val="lt1"/>
              </a:solidFill>
              <a:latin typeface="Montserrat"/>
              <a:ea typeface="Montserrat"/>
              <a:cs typeface="Montserrat"/>
              <a:sym typeface="Montserrat"/>
            </a:endParaRPr>
          </a:p>
        </p:txBody>
      </p:sp>
      <p:pic>
        <p:nvPicPr>
          <p:cNvPr id="192" name="Google Shape;192;p32"/>
          <p:cNvPicPr preferRelativeResize="0"/>
          <p:nvPr/>
        </p:nvPicPr>
        <p:blipFill>
          <a:blip r:embed="rId3">
            <a:alphaModFix/>
          </a:blip>
          <a:stretch>
            <a:fillRect/>
          </a:stretch>
        </p:blipFill>
        <p:spPr>
          <a:xfrm>
            <a:off x="5518411" y="914400"/>
            <a:ext cx="2314211" cy="36465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8" name="Google Shape;198;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actors</a:t>
            </a:r>
            <a:endParaRPr>
              <a:latin typeface="Montserrat"/>
              <a:ea typeface="Montserrat"/>
              <a:cs typeface="Montserrat"/>
              <a:sym typeface="Montserrat"/>
            </a:endParaRPr>
          </a:p>
        </p:txBody>
      </p:sp>
      <p:sp>
        <p:nvSpPr>
          <p:cNvPr id="199" name="Google Shape;199;p33"/>
          <p:cNvSpPr txBox="1"/>
          <p:nvPr/>
        </p:nvSpPr>
        <p:spPr>
          <a:xfrm>
            <a:off x="487625" y="1473150"/>
            <a:ext cx="3893100" cy="2382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Mencakup apa saja peran yang terlibat dalam Scrum (Scrum actors)?</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Ada tiga peran berbeda yang diperlukan dalam melakukan metode Scrum, yaitu:</a:t>
            </a:r>
            <a:br>
              <a:rPr lang="en" sz="1000">
                <a:solidFill>
                  <a:schemeClr val="dk1"/>
                </a:solidFill>
                <a:latin typeface="Montserrat"/>
                <a:ea typeface="Montserrat"/>
                <a:cs typeface="Montserrat"/>
                <a:sym typeface="Montserrat"/>
              </a:rPr>
            </a:b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Scrum Master</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Product Owner</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Development Team (Team Member)</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Penasaran kan kira-kira seperti apa? </a:t>
            </a:r>
            <a:r>
              <a:rPr lang="en" sz="1000">
                <a:solidFill>
                  <a:schemeClr val="dk1"/>
                </a:solidFill>
                <a:latin typeface="Montserrat"/>
                <a:ea typeface="Montserrat"/>
                <a:cs typeface="Montserrat"/>
                <a:sym typeface="Montserrat"/>
              </a:rPr>
              <a:t>Mari kita bahas satu persatu ketiga peran tersebut.</a:t>
            </a:r>
            <a:endParaRPr sz="1200">
              <a:solidFill>
                <a:schemeClr val="dk1"/>
              </a:solidFill>
              <a:latin typeface="Montserrat Medium"/>
              <a:ea typeface="Montserrat Medium"/>
              <a:cs typeface="Montserrat Medium"/>
              <a:sym typeface="Montserrat Medium"/>
            </a:endParaRPr>
          </a:p>
        </p:txBody>
      </p:sp>
      <p:pic>
        <p:nvPicPr>
          <p:cNvPr id="200" name="Google Shape;200;p33"/>
          <p:cNvPicPr preferRelativeResize="0"/>
          <p:nvPr/>
        </p:nvPicPr>
        <p:blipFill rotWithShape="1">
          <a:blip r:embed="rId3">
            <a:alphaModFix/>
          </a:blip>
          <a:srcRect b="19115" l="0" r="0" t="17648"/>
          <a:stretch/>
        </p:blipFill>
        <p:spPr>
          <a:xfrm>
            <a:off x="4212700" y="1504488"/>
            <a:ext cx="4811426" cy="23202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6" name="Google Shape;206;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actors</a:t>
            </a:r>
            <a:endParaRPr>
              <a:latin typeface="Montserrat"/>
              <a:ea typeface="Montserrat"/>
              <a:cs typeface="Montserrat"/>
              <a:sym typeface="Montserrat"/>
            </a:endParaRPr>
          </a:p>
        </p:txBody>
      </p:sp>
      <p:sp>
        <p:nvSpPr>
          <p:cNvPr id="207" name="Google Shape;207;p34"/>
          <p:cNvSpPr txBox="1"/>
          <p:nvPr/>
        </p:nvSpPr>
        <p:spPr>
          <a:xfrm>
            <a:off x="685800" y="1712848"/>
            <a:ext cx="4114800" cy="1717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Pertama: </a:t>
            </a:r>
            <a:r>
              <a:rPr b="1" lang="en" sz="1600">
                <a:solidFill>
                  <a:srgbClr val="743673"/>
                </a:solidFill>
                <a:highlight>
                  <a:schemeClr val="lt1"/>
                </a:highlight>
                <a:latin typeface="Montserrat"/>
                <a:ea typeface="Montserrat"/>
                <a:cs typeface="Montserrat"/>
                <a:sym typeface="Montserrat"/>
              </a:rPr>
              <a:t>Scrum master</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Seseorang yang mengadvokasi Scrum, memandu proses Scrum,  dan membantu individu dalam sebuah tim memahami teori, aturan, dan nilai-nilai Scrum. Mereka melayani product owner, tim development, dan organisasi pada umumnya.</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Scrum master </a:t>
            </a:r>
            <a:r>
              <a:rPr b="1" lang="en" sz="1000">
                <a:solidFill>
                  <a:schemeClr val="dk1"/>
                </a:solidFill>
                <a:latin typeface="Montserrat"/>
                <a:ea typeface="Montserrat"/>
                <a:cs typeface="Montserrat"/>
                <a:sym typeface="Montserrat"/>
              </a:rPr>
              <a:t>bukanlah manajer dari anggota tim, pemimpin tim, perwakilan tim, ataupun manajer proyek</a:t>
            </a:r>
            <a:r>
              <a:rPr lang="en" sz="1000">
                <a:solidFill>
                  <a:schemeClr val="dk1"/>
                </a:solidFill>
                <a:latin typeface="Montserrat"/>
                <a:ea typeface="Montserrat"/>
                <a:cs typeface="Montserrat"/>
                <a:sym typeface="Montserrat"/>
              </a:rPr>
              <a:t>.</a:t>
            </a:r>
            <a:endParaRPr sz="1200">
              <a:solidFill>
                <a:schemeClr val="dk1"/>
              </a:solidFill>
              <a:latin typeface="Montserrat Medium"/>
              <a:ea typeface="Montserrat Medium"/>
              <a:cs typeface="Montserrat Medium"/>
              <a:sym typeface="Montserrat Medium"/>
            </a:endParaRPr>
          </a:p>
        </p:txBody>
      </p:sp>
      <p:pic>
        <p:nvPicPr>
          <p:cNvPr id="208" name="Google Shape;208;p34"/>
          <p:cNvPicPr preferRelativeResize="0"/>
          <p:nvPr/>
        </p:nvPicPr>
        <p:blipFill>
          <a:blip r:embed="rId3">
            <a:alphaModFix/>
          </a:blip>
          <a:stretch>
            <a:fillRect/>
          </a:stretch>
        </p:blipFill>
        <p:spPr>
          <a:xfrm>
            <a:off x="5170625" y="1210975"/>
            <a:ext cx="3445975" cy="283863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4" name="Google Shape;214;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actors</a:t>
            </a:r>
            <a:endParaRPr>
              <a:latin typeface="Montserrat"/>
              <a:ea typeface="Montserrat"/>
              <a:cs typeface="Montserrat"/>
              <a:sym typeface="Montserrat"/>
            </a:endParaRPr>
          </a:p>
        </p:txBody>
      </p:sp>
      <p:sp>
        <p:nvSpPr>
          <p:cNvPr id="215" name="Google Shape;215;p35"/>
          <p:cNvSpPr txBox="1"/>
          <p:nvPr/>
        </p:nvSpPr>
        <p:spPr>
          <a:xfrm>
            <a:off x="487625" y="1348050"/>
            <a:ext cx="4621200" cy="2967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Biar makin joss, coba kita telaah tugas-tugas s</a:t>
            </a:r>
            <a:r>
              <a:rPr b="1" lang="en" sz="1600">
                <a:solidFill>
                  <a:srgbClr val="743673"/>
                </a:solidFill>
                <a:highlight>
                  <a:schemeClr val="lt1"/>
                </a:highlight>
                <a:latin typeface="Montserrat"/>
                <a:ea typeface="Montserrat"/>
                <a:cs typeface="Montserrat"/>
                <a:sym typeface="Montserrat"/>
              </a:rPr>
              <a:t>crum master~</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Tugas-tugas yang mencakup peran scrum master adalah sebagai berikut:</a:t>
            </a:r>
            <a:endParaRPr sz="1000">
              <a:solidFill>
                <a:schemeClr val="dk1"/>
              </a:solidFill>
              <a:latin typeface="Montserrat"/>
              <a:ea typeface="Montserrat"/>
              <a:cs typeface="Montserrat"/>
              <a:sym typeface="Montserrat"/>
            </a:endParaRPr>
          </a:p>
          <a:p>
            <a:pPr indent="-292100" lvl="0" marL="457200" rtl="0" algn="just">
              <a:lnSpc>
                <a:spcPct val="115000"/>
              </a:lnSpc>
              <a:spcBef>
                <a:spcPts val="160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Scrum master berperan sebagai fasilitator dan pemimpin pelayanan (servant leader) yang mendorong serta menuntut pengorganisasian diri dari tim pengembang. </a:t>
            </a:r>
            <a:endParaRPr sz="1000">
              <a:solidFill>
                <a:schemeClr val="dk1"/>
              </a:solidFill>
              <a:latin typeface="Montserrat"/>
              <a:ea typeface="Montserrat"/>
              <a:cs typeface="Montserrat"/>
              <a:sym typeface="Montserrat"/>
            </a:endParaRPr>
          </a:p>
          <a:p>
            <a:pPr indent="-292100" lvl="0" marL="457200" rtl="0" algn="just">
              <a:lnSpc>
                <a:spcPct val="115000"/>
              </a:lnSpc>
              <a:spcBef>
                <a:spcPts val="1600"/>
              </a:spcBef>
              <a:spcAft>
                <a:spcPts val="100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Scrum master mendidik, melatih, dan membimbing product owner, tim, dan seluruh organisasi dalam penggunaan Scrum dengan terampil.</a:t>
            </a:r>
            <a:endParaRPr sz="1000">
              <a:solidFill>
                <a:schemeClr val="dk1"/>
              </a:solidFill>
              <a:latin typeface="Montserrat"/>
              <a:ea typeface="Montserrat"/>
              <a:cs typeface="Montserrat"/>
              <a:sym typeface="Montserrat"/>
            </a:endParaRPr>
          </a:p>
        </p:txBody>
      </p:sp>
      <p:pic>
        <p:nvPicPr>
          <p:cNvPr id="216" name="Google Shape;216;p35"/>
          <p:cNvPicPr preferRelativeResize="0"/>
          <p:nvPr/>
        </p:nvPicPr>
        <p:blipFill>
          <a:blip r:embed="rId3">
            <a:alphaModFix/>
          </a:blip>
          <a:stretch>
            <a:fillRect/>
          </a:stretch>
        </p:blipFill>
        <p:spPr>
          <a:xfrm>
            <a:off x="5307000" y="1176900"/>
            <a:ext cx="3424600" cy="31384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2" name="Google Shape;222;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actors</a:t>
            </a:r>
            <a:endParaRPr>
              <a:latin typeface="Montserrat"/>
              <a:ea typeface="Montserrat"/>
              <a:cs typeface="Montserrat"/>
              <a:sym typeface="Montserrat"/>
            </a:endParaRPr>
          </a:p>
        </p:txBody>
      </p:sp>
      <p:sp>
        <p:nvSpPr>
          <p:cNvPr id="223" name="Google Shape;223;p36"/>
          <p:cNvSpPr txBox="1"/>
          <p:nvPr/>
        </p:nvSpPr>
        <p:spPr>
          <a:xfrm>
            <a:off x="424275" y="1378200"/>
            <a:ext cx="4621200" cy="2882700"/>
          </a:xfrm>
          <a:prstGeom prst="rect">
            <a:avLst/>
          </a:prstGeom>
          <a:noFill/>
          <a:ln>
            <a:noFill/>
          </a:ln>
        </p:spPr>
        <p:txBody>
          <a:bodyPr anchorCtr="0" anchor="t" bIns="0" lIns="0" spcFirstLastPara="1" rIns="0" wrap="square" tIns="0">
            <a:noAutofit/>
          </a:bodyPr>
          <a:lstStyle/>
          <a:p>
            <a:pPr indent="-292100" lvl="0" marL="457200" rtl="0" algn="just">
              <a:lnSpc>
                <a:spcPct val="115000"/>
              </a:lnSpc>
              <a:spcBef>
                <a:spcPts val="1600"/>
              </a:spcBef>
              <a:spcAft>
                <a:spcPts val="0"/>
              </a:spcAft>
              <a:buClr>
                <a:schemeClr val="dk1"/>
              </a:buClr>
              <a:buSzPts val="1000"/>
              <a:buFont typeface="Montserrat"/>
              <a:buAutoNum type="arabicPeriod" startAt="3"/>
            </a:pPr>
            <a:r>
              <a:rPr lang="en" sz="1000">
                <a:solidFill>
                  <a:schemeClr val="dk1"/>
                </a:solidFill>
                <a:latin typeface="Montserrat"/>
                <a:ea typeface="Montserrat"/>
                <a:cs typeface="Montserrat"/>
                <a:sym typeface="Montserrat"/>
              </a:rPr>
              <a:t>Scrum master bekerja sama dengan erat di semua peran dan fungsi, mengatasi masalah sumber daya dan ketidakpatuhan terhadap praktik Scrum.</a:t>
            </a:r>
            <a:endParaRPr sz="1000">
              <a:solidFill>
                <a:schemeClr val="dk1"/>
              </a:solidFill>
              <a:latin typeface="Montserrat"/>
              <a:ea typeface="Montserrat"/>
              <a:cs typeface="Montserrat"/>
              <a:sym typeface="Montserrat"/>
            </a:endParaRPr>
          </a:p>
          <a:p>
            <a:pPr indent="-292100" lvl="0" marL="457200" rtl="0" algn="just">
              <a:lnSpc>
                <a:spcPct val="115000"/>
              </a:lnSpc>
              <a:spcBef>
                <a:spcPts val="1600"/>
              </a:spcBef>
              <a:spcAft>
                <a:spcPts val="0"/>
              </a:spcAft>
              <a:buClr>
                <a:schemeClr val="dk1"/>
              </a:buClr>
              <a:buSzPts val="1000"/>
              <a:buFont typeface="Montserrat"/>
              <a:buAutoNum type="arabicPeriod" startAt="3"/>
            </a:pPr>
            <a:r>
              <a:rPr lang="en" sz="1000">
                <a:solidFill>
                  <a:schemeClr val="dk1"/>
                </a:solidFill>
                <a:latin typeface="Montserrat"/>
                <a:ea typeface="Montserrat"/>
                <a:cs typeface="Montserrat"/>
                <a:sym typeface="Montserrat"/>
              </a:rPr>
              <a:t>Scrum master melindungi tim dari hambatan eksternal dan internal.</a:t>
            </a:r>
            <a:endParaRPr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AutoNum type="arabicPeriod" startAt="3"/>
            </a:pPr>
            <a:r>
              <a:rPr lang="en" sz="1000">
                <a:solidFill>
                  <a:schemeClr val="dk1"/>
                </a:solidFill>
                <a:latin typeface="Montserrat"/>
                <a:ea typeface="Montserrat"/>
                <a:cs typeface="Montserrat"/>
                <a:sym typeface="Montserrat"/>
              </a:rPr>
              <a:t>Scrum master menghilangkan hambatan yang dialami </a:t>
            </a:r>
            <a:r>
              <a:rPr lang="en" sz="1000">
                <a:solidFill>
                  <a:schemeClr val="dk1"/>
                </a:solidFill>
                <a:latin typeface="Montserrat"/>
                <a:ea typeface="Montserrat"/>
                <a:cs typeface="Montserrat"/>
                <a:sym typeface="Montserrat"/>
              </a:rPr>
              <a:t>oleh</a:t>
            </a:r>
            <a:r>
              <a:rPr lang="en" sz="1000">
                <a:solidFill>
                  <a:schemeClr val="dk1"/>
                </a:solidFill>
                <a:latin typeface="Montserrat"/>
                <a:ea typeface="Montserrat"/>
                <a:cs typeface="Montserrat"/>
                <a:sym typeface="Montserrat"/>
              </a:rPr>
              <a:t> tim, sehingga tim dapat fokus pada pekerjaan yang ada dan mengikuti praktik Scrum.</a:t>
            </a:r>
            <a:endParaRPr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AutoNum type="arabicPeriod" startAt="3"/>
            </a:pPr>
            <a:r>
              <a:rPr lang="en" sz="1000">
                <a:solidFill>
                  <a:schemeClr val="dk1"/>
                </a:solidFill>
                <a:latin typeface="Montserrat"/>
                <a:ea typeface="Montserrat"/>
                <a:cs typeface="Montserrat"/>
                <a:sym typeface="Montserrat"/>
              </a:rPr>
              <a:t>Seorang scrum master biasanya </a:t>
            </a:r>
            <a:r>
              <a:rPr lang="en" sz="1000">
                <a:solidFill>
                  <a:schemeClr val="dk1"/>
                </a:solidFill>
                <a:latin typeface="Montserrat"/>
                <a:ea typeface="Montserrat"/>
                <a:cs typeface="Montserrat"/>
                <a:sym typeface="Montserrat"/>
              </a:rPr>
              <a:t>bukan hanya sebagai leader saja, tetapi </a:t>
            </a:r>
            <a:r>
              <a:rPr lang="en" sz="1000">
                <a:solidFill>
                  <a:schemeClr val="dk1"/>
                </a:solidFill>
                <a:latin typeface="Montserrat"/>
                <a:ea typeface="Montserrat"/>
                <a:cs typeface="Montserrat"/>
                <a:sym typeface="Montserrat"/>
              </a:rPr>
              <a:t>sekaligus sebagai pelatih yang berpengaruh untuk tim walaupun tidak melakukan perintah dan kontrol secara langsung.</a:t>
            </a:r>
            <a:endParaRPr sz="1000">
              <a:solidFill>
                <a:schemeClr val="dk1"/>
              </a:solidFill>
              <a:latin typeface="Montserrat"/>
              <a:ea typeface="Montserrat"/>
              <a:cs typeface="Montserrat"/>
              <a:sym typeface="Montserrat"/>
            </a:endParaRPr>
          </a:p>
        </p:txBody>
      </p:sp>
      <p:pic>
        <p:nvPicPr>
          <p:cNvPr id="224" name="Google Shape;224;p36"/>
          <p:cNvPicPr preferRelativeResize="0"/>
          <p:nvPr/>
        </p:nvPicPr>
        <p:blipFill>
          <a:blip r:embed="rId3">
            <a:alphaModFix/>
          </a:blip>
          <a:stretch>
            <a:fillRect/>
          </a:stretch>
        </p:blipFill>
        <p:spPr>
          <a:xfrm>
            <a:off x="5257800" y="1187800"/>
            <a:ext cx="3424600" cy="313844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0" name="Google Shape;230;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actors</a:t>
            </a:r>
            <a:endParaRPr>
              <a:latin typeface="Montserrat"/>
              <a:ea typeface="Montserrat"/>
              <a:cs typeface="Montserrat"/>
              <a:sym typeface="Montserrat"/>
            </a:endParaRPr>
          </a:p>
        </p:txBody>
      </p:sp>
      <p:sp>
        <p:nvSpPr>
          <p:cNvPr id="231" name="Google Shape;231;p37"/>
          <p:cNvSpPr txBox="1"/>
          <p:nvPr/>
        </p:nvSpPr>
        <p:spPr>
          <a:xfrm>
            <a:off x="685800" y="2004599"/>
            <a:ext cx="4114800" cy="1134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Kedua: Product owner (PO)</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Seseorang yang bertugas untuk mendelegasikan tugas, membuat prioritas, mengoptimalkan kerja tim development, dan memastikan semua informasi proyek agar jelas bagi semua anggota tim.</a:t>
            </a:r>
            <a:endParaRPr sz="1000">
              <a:solidFill>
                <a:schemeClr val="dk1"/>
              </a:solidFill>
              <a:latin typeface="Montserrat"/>
              <a:ea typeface="Montserrat"/>
              <a:cs typeface="Montserrat"/>
              <a:sym typeface="Montserrat"/>
            </a:endParaRPr>
          </a:p>
        </p:txBody>
      </p:sp>
      <p:pic>
        <p:nvPicPr>
          <p:cNvPr id="232" name="Google Shape;232;p37"/>
          <p:cNvPicPr preferRelativeResize="0"/>
          <p:nvPr/>
        </p:nvPicPr>
        <p:blipFill>
          <a:blip r:embed="rId3">
            <a:alphaModFix/>
          </a:blip>
          <a:stretch>
            <a:fillRect/>
          </a:stretch>
        </p:blipFill>
        <p:spPr>
          <a:xfrm>
            <a:off x="5192425" y="1200074"/>
            <a:ext cx="3571524" cy="30280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8" name="Google Shape;238;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actors</a:t>
            </a:r>
            <a:endParaRPr>
              <a:latin typeface="Montserrat"/>
              <a:ea typeface="Montserrat"/>
              <a:cs typeface="Montserrat"/>
              <a:sym typeface="Montserrat"/>
            </a:endParaRPr>
          </a:p>
        </p:txBody>
      </p:sp>
      <p:sp>
        <p:nvSpPr>
          <p:cNvPr id="239" name="Google Shape;239;p38"/>
          <p:cNvSpPr txBox="1"/>
          <p:nvPr/>
        </p:nvSpPr>
        <p:spPr>
          <a:xfrm>
            <a:off x="685800" y="1861499"/>
            <a:ext cx="4114800" cy="1420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Product owner bertanggung jawab untuk memaksimalkan Return on Investment (ROI).</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Hal itu ditempuh dengan mengidentifikasi fitur produk, menerjemahkannya ke dalam daftar yang diprioritaskan, memutuskan mana yang harus berada di bagian atas daftar untuk sprint berikutnya, dan terus memprioritaskan ulang serta menyempurnakan daftar.</a:t>
            </a:r>
            <a:endParaRPr sz="1000">
              <a:solidFill>
                <a:schemeClr val="dk1"/>
              </a:solidFill>
              <a:latin typeface="Montserrat"/>
              <a:ea typeface="Montserrat"/>
              <a:cs typeface="Montserrat"/>
              <a:sym typeface="Montserrat"/>
            </a:endParaRPr>
          </a:p>
        </p:txBody>
      </p:sp>
      <p:pic>
        <p:nvPicPr>
          <p:cNvPr id="240" name="Google Shape;240;p38"/>
          <p:cNvPicPr preferRelativeResize="0"/>
          <p:nvPr/>
        </p:nvPicPr>
        <p:blipFill>
          <a:blip r:embed="rId3">
            <a:alphaModFix/>
          </a:blip>
          <a:stretch>
            <a:fillRect/>
          </a:stretch>
        </p:blipFill>
        <p:spPr>
          <a:xfrm>
            <a:off x="5203300" y="1232774"/>
            <a:ext cx="3571524" cy="30280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6" name="Google Shape;246;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actors</a:t>
            </a:r>
            <a:endParaRPr>
              <a:latin typeface="Montserrat"/>
              <a:ea typeface="Montserrat"/>
              <a:cs typeface="Montserrat"/>
              <a:sym typeface="Montserrat"/>
            </a:endParaRPr>
          </a:p>
        </p:txBody>
      </p:sp>
      <p:sp>
        <p:nvSpPr>
          <p:cNvPr id="247" name="Google Shape;247;p39"/>
          <p:cNvSpPr txBox="1"/>
          <p:nvPr/>
        </p:nvSpPr>
        <p:spPr>
          <a:xfrm>
            <a:off x="685800" y="2032797"/>
            <a:ext cx="4114800" cy="1077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P</a:t>
            </a:r>
            <a:r>
              <a:rPr lang="en" sz="1000">
                <a:solidFill>
                  <a:schemeClr val="dk1"/>
                </a:solidFill>
                <a:latin typeface="Montserrat"/>
                <a:ea typeface="Montserrat"/>
                <a:cs typeface="Montserrat"/>
                <a:sym typeface="Montserrat"/>
              </a:rPr>
              <a:t>roduct owner juga bertanggung jawab terhadap untung dan rugi atas produk tersebut, dengan asumsi produk tersebut adalah produk komersial.</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Product owner dalam Agile itu seperti juru bicara pelanggan dan perlu mewakili mereka.</a:t>
            </a:r>
            <a:endParaRPr sz="1000">
              <a:solidFill>
                <a:schemeClr val="dk1"/>
              </a:solidFill>
              <a:latin typeface="Montserrat"/>
              <a:ea typeface="Montserrat"/>
              <a:cs typeface="Montserrat"/>
              <a:sym typeface="Montserrat"/>
            </a:endParaRPr>
          </a:p>
        </p:txBody>
      </p:sp>
      <p:pic>
        <p:nvPicPr>
          <p:cNvPr id="248" name="Google Shape;248;p39"/>
          <p:cNvPicPr preferRelativeResize="0"/>
          <p:nvPr/>
        </p:nvPicPr>
        <p:blipFill>
          <a:blip r:embed="rId3">
            <a:alphaModFix/>
          </a:blip>
          <a:stretch>
            <a:fillRect/>
          </a:stretch>
        </p:blipFill>
        <p:spPr>
          <a:xfrm>
            <a:off x="5159725" y="1210974"/>
            <a:ext cx="3571524" cy="30280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4" name="Google Shape;254;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actors</a:t>
            </a:r>
            <a:endParaRPr>
              <a:latin typeface="Montserrat"/>
              <a:ea typeface="Montserrat"/>
              <a:cs typeface="Montserrat"/>
              <a:sym typeface="Montserrat"/>
            </a:endParaRPr>
          </a:p>
        </p:txBody>
      </p:sp>
      <p:sp>
        <p:nvSpPr>
          <p:cNvPr id="255" name="Google Shape;255;p40"/>
          <p:cNvSpPr txBox="1"/>
          <p:nvPr/>
        </p:nvSpPr>
        <p:spPr>
          <a:xfrm>
            <a:off x="685800" y="1621050"/>
            <a:ext cx="4375200" cy="1901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500">
                <a:solidFill>
                  <a:srgbClr val="743673"/>
                </a:solidFill>
                <a:highlight>
                  <a:schemeClr val="lt1"/>
                </a:highlight>
                <a:latin typeface="Montserrat"/>
                <a:ea typeface="Montserrat"/>
                <a:cs typeface="Montserrat"/>
                <a:sym typeface="Montserrat"/>
              </a:rPr>
              <a:t>Apa saja t</a:t>
            </a:r>
            <a:r>
              <a:rPr b="1" lang="en" sz="1500">
                <a:solidFill>
                  <a:srgbClr val="743673"/>
                </a:solidFill>
                <a:highlight>
                  <a:schemeClr val="lt1"/>
                </a:highlight>
                <a:latin typeface="Montserrat"/>
                <a:ea typeface="Montserrat"/>
                <a:cs typeface="Montserrat"/>
                <a:sym typeface="Montserrat"/>
              </a:rPr>
              <a:t>ugas-tugas product owner?</a:t>
            </a:r>
            <a:r>
              <a:rPr b="1" lang="en" sz="1700">
                <a:solidFill>
                  <a:srgbClr val="743673"/>
                </a:solidFill>
                <a:highlight>
                  <a:schemeClr val="lt1"/>
                </a:highlight>
                <a:latin typeface="Montserrat"/>
                <a:ea typeface="Montserrat"/>
                <a:cs typeface="Montserrat"/>
                <a:sym typeface="Montserrat"/>
              </a:rPr>
              <a:t> </a:t>
            </a:r>
            <a:endParaRPr b="1" sz="17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Nah, kalau kita sarikan, tugas product owner di antaranya:</a:t>
            </a:r>
            <a:endParaRPr sz="1000">
              <a:solidFill>
                <a:schemeClr val="dk1"/>
              </a:solidFill>
              <a:latin typeface="Montserrat"/>
              <a:ea typeface="Montserrat"/>
              <a:cs typeface="Montserrat"/>
              <a:sym typeface="Montserrat"/>
            </a:endParaRPr>
          </a:p>
          <a:p>
            <a:pPr indent="-292100" lvl="0" marL="457200" rtl="0" algn="just">
              <a:lnSpc>
                <a:spcPct val="115000"/>
              </a:lnSpc>
              <a:spcBef>
                <a:spcPts val="160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Product owner memiliki product backlog dan menulis cerita pengguna dan kriteria penerimaan (acceptance criteria).</a:t>
            </a:r>
            <a:endParaRPr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Seorang product owner bertanggung jawab untuk memprioritaskan product backlog dan memutuskan tanggal rilis beserta kontennya.</a:t>
            </a:r>
            <a:endParaRPr sz="1000">
              <a:solidFill>
                <a:schemeClr val="dk1"/>
              </a:solidFill>
              <a:latin typeface="Montserrat"/>
              <a:ea typeface="Montserrat"/>
              <a:cs typeface="Montserrat"/>
              <a:sym typeface="Montserrat"/>
            </a:endParaRPr>
          </a:p>
        </p:txBody>
      </p:sp>
      <p:pic>
        <p:nvPicPr>
          <p:cNvPr id="256" name="Google Shape;256;p40"/>
          <p:cNvPicPr preferRelativeResize="0"/>
          <p:nvPr/>
        </p:nvPicPr>
        <p:blipFill rotWithShape="1">
          <a:blip r:embed="rId3">
            <a:alphaModFix/>
          </a:blip>
          <a:srcRect b="0" l="7170" r="7161" t="0"/>
          <a:stretch/>
        </p:blipFill>
        <p:spPr>
          <a:xfrm>
            <a:off x="5426925" y="839325"/>
            <a:ext cx="2726474" cy="376965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2" name="Google Shape;262;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actors</a:t>
            </a:r>
            <a:endParaRPr>
              <a:latin typeface="Montserrat"/>
              <a:ea typeface="Montserrat"/>
              <a:cs typeface="Montserrat"/>
              <a:sym typeface="Montserrat"/>
            </a:endParaRPr>
          </a:p>
        </p:txBody>
      </p:sp>
      <p:sp>
        <p:nvSpPr>
          <p:cNvPr id="263" name="Google Shape;263;p41"/>
          <p:cNvSpPr txBox="1"/>
          <p:nvPr/>
        </p:nvSpPr>
        <p:spPr>
          <a:xfrm>
            <a:off x="685800" y="1926600"/>
            <a:ext cx="4375200" cy="1290300"/>
          </a:xfrm>
          <a:prstGeom prst="rect">
            <a:avLst/>
          </a:prstGeom>
          <a:noFill/>
          <a:ln>
            <a:noFill/>
          </a:ln>
        </p:spPr>
        <p:txBody>
          <a:bodyPr anchorCtr="0" anchor="t" bIns="0" lIns="0" spcFirstLastPara="1" rIns="0" wrap="square" tIns="0">
            <a:noAutofit/>
          </a:bodyPr>
          <a:lstStyle/>
          <a:p>
            <a:pPr indent="-292100" lvl="0" marL="457200" rtl="0" algn="just">
              <a:lnSpc>
                <a:spcPct val="115000"/>
              </a:lnSpc>
              <a:spcBef>
                <a:spcPts val="1600"/>
              </a:spcBef>
              <a:spcAft>
                <a:spcPts val="0"/>
              </a:spcAft>
              <a:buClr>
                <a:schemeClr val="dk1"/>
              </a:buClr>
              <a:buSzPts val="1000"/>
              <a:buFont typeface="Montserrat"/>
              <a:buAutoNum type="arabicPeriod" startAt="3"/>
            </a:pPr>
            <a:r>
              <a:rPr lang="en" sz="1000">
                <a:solidFill>
                  <a:schemeClr val="dk1"/>
                </a:solidFill>
                <a:latin typeface="Montserrat"/>
                <a:ea typeface="Montserrat"/>
                <a:cs typeface="Montserrat"/>
                <a:sym typeface="Montserrat"/>
              </a:rPr>
              <a:t>Product owner menerima atau menolak product backlog item.</a:t>
            </a:r>
            <a:endParaRPr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AutoNum type="arabicPeriod" startAt="3"/>
            </a:pPr>
            <a:r>
              <a:rPr lang="en" sz="1000">
                <a:solidFill>
                  <a:schemeClr val="dk1"/>
                </a:solidFill>
                <a:latin typeface="Montserrat"/>
                <a:ea typeface="Montserrat"/>
                <a:cs typeface="Montserrat"/>
                <a:sym typeface="Montserrat"/>
              </a:rPr>
              <a:t>Product owner memiliki kekuatan untuk membatalkan sprint, jika menurutnya tujuan sprint berlebihan.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AutoNum type="arabicPeriod" startAt="3"/>
            </a:pPr>
            <a:r>
              <a:rPr lang="en" sz="1000">
                <a:solidFill>
                  <a:schemeClr val="dk1"/>
                </a:solidFill>
                <a:latin typeface="Montserrat"/>
                <a:ea typeface="Montserrat"/>
                <a:cs typeface="Montserrat"/>
                <a:sym typeface="Montserrat"/>
              </a:rPr>
              <a:t>Product owner adalah orang yang bertanggung jawab atas Return on Investment (ROI) produk.</a:t>
            </a:r>
            <a:endParaRPr sz="1000">
              <a:solidFill>
                <a:schemeClr val="dk1"/>
              </a:solidFill>
              <a:latin typeface="Montserrat"/>
              <a:ea typeface="Montserrat"/>
              <a:cs typeface="Montserrat"/>
              <a:sym typeface="Montserrat"/>
            </a:endParaRPr>
          </a:p>
        </p:txBody>
      </p:sp>
      <p:pic>
        <p:nvPicPr>
          <p:cNvPr id="264" name="Google Shape;264;p41"/>
          <p:cNvPicPr preferRelativeResize="0"/>
          <p:nvPr/>
        </p:nvPicPr>
        <p:blipFill rotWithShape="1">
          <a:blip r:embed="rId3">
            <a:alphaModFix/>
          </a:blip>
          <a:srcRect b="0" l="7170" r="7161" t="0"/>
          <a:stretch/>
        </p:blipFill>
        <p:spPr>
          <a:xfrm>
            <a:off x="5426925" y="839325"/>
            <a:ext cx="2726474" cy="376965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8" name="Shape 268"/>
        <p:cNvGrpSpPr/>
        <p:nvPr/>
      </p:nvGrpSpPr>
      <p:grpSpPr>
        <a:xfrm>
          <a:off x="0" y="0"/>
          <a:ext cx="0" cy="0"/>
          <a:chOff x="0" y="0"/>
          <a:chExt cx="0" cy="0"/>
        </a:xfrm>
      </p:grpSpPr>
      <p:pic>
        <p:nvPicPr>
          <p:cNvPr id="269" name="Google Shape;269;p42"/>
          <p:cNvPicPr preferRelativeResize="0"/>
          <p:nvPr/>
        </p:nvPicPr>
        <p:blipFill>
          <a:blip r:embed="rId3">
            <a:alphaModFix/>
          </a:blip>
          <a:stretch>
            <a:fillRect/>
          </a:stretch>
        </p:blipFill>
        <p:spPr>
          <a:xfrm>
            <a:off x="152400" y="843400"/>
            <a:ext cx="8839204" cy="317227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5" name="Google Shape;275;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actors</a:t>
            </a:r>
            <a:endParaRPr>
              <a:latin typeface="Montserrat"/>
              <a:ea typeface="Montserrat"/>
              <a:cs typeface="Montserrat"/>
              <a:sym typeface="Montserrat"/>
            </a:endParaRPr>
          </a:p>
        </p:txBody>
      </p:sp>
      <p:sp>
        <p:nvSpPr>
          <p:cNvPr id="276" name="Google Shape;276;p43"/>
          <p:cNvSpPr txBox="1"/>
          <p:nvPr/>
        </p:nvSpPr>
        <p:spPr>
          <a:xfrm>
            <a:off x="762175" y="1614900"/>
            <a:ext cx="4114800" cy="2093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Ketiga: Development Team</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Tim pengembang (development team) merupakan kumpulan individu yang berkomitmen bekerja sama untuk mengembangkan dan memberikan peningkatan produk yang diminta.</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Mereka melaksanakan tugas dari PO. Dalam Scrum, tidak dibedakan apakah anggota seorang PM, developer, atau designer, karena mereka semua dianggap sebagai kesatuan tim development yang tiap anggotanya mandiri dan lintas fungsi.</a:t>
            </a:r>
            <a:endParaRPr sz="1000">
              <a:solidFill>
                <a:schemeClr val="dk1"/>
              </a:solidFill>
              <a:latin typeface="Montserrat"/>
              <a:ea typeface="Montserrat"/>
              <a:cs typeface="Montserrat"/>
              <a:sym typeface="Montserrat"/>
            </a:endParaRPr>
          </a:p>
        </p:txBody>
      </p:sp>
      <p:pic>
        <p:nvPicPr>
          <p:cNvPr id="277" name="Google Shape;277;p43"/>
          <p:cNvPicPr preferRelativeResize="0"/>
          <p:nvPr/>
        </p:nvPicPr>
        <p:blipFill>
          <a:blip r:embed="rId3">
            <a:alphaModFix/>
          </a:blip>
          <a:stretch>
            <a:fillRect/>
          </a:stretch>
        </p:blipFill>
        <p:spPr>
          <a:xfrm>
            <a:off x="5084231" y="1253488"/>
            <a:ext cx="3765869" cy="28159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3" name="Google Shape;283;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actors</a:t>
            </a:r>
            <a:endParaRPr>
              <a:latin typeface="Montserrat"/>
              <a:ea typeface="Montserrat"/>
              <a:cs typeface="Montserrat"/>
              <a:sym typeface="Montserrat"/>
            </a:endParaRPr>
          </a:p>
        </p:txBody>
      </p:sp>
      <p:sp>
        <p:nvSpPr>
          <p:cNvPr id="284" name="Google Shape;284;p44"/>
          <p:cNvSpPr txBox="1"/>
          <p:nvPr/>
        </p:nvSpPr>
        <p:spPr>
          <a:xfrm>
            <a:off x="685800" y="2207096"/>
            <a:ext cx="4114800" cy="729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Nah, tim development terdiri </a:t>
            </a:r>
            <a:r>
              <a:rPr lang="en" sz="1000">
                <a:solidFill>
                  <a:schemeClr val="dk1"/>
                </a:solidFill>
                <a:latin typeface="Montserrat"/>
                <a:ea typeface="Montserrat"/>
                <a:cs typeface="Montserrat"/>
                <a:sym typeface="Montserrat"/>
              </a:rPr>
              <a:t>dari anggota lintas fungsi yang mampu mencapai tujuan sprint, di mana dapat mencakup insinyur perangkat lunak, arsitek, programmer, analis, admin sistem, pakar QA, penguji, perancang UI, dan lain-lain.</a:t>
            </a:r>
            <a:endParaRPr sz="1200">
              <a:solidFill>
                <a:schemeClr val="dk1"/>
              </a:solidFill>
              <a:latin typeface="Montserrat Medium"/>
              <a:ea typeface="Montserrat Medium"/>
              <a:cs typeface="Montserrat Medium"/>
              <a:sym typeface="Montserrat Medium"/>
            </a:endParaRPr>
          </a:p>
        </p:txBody>
      </p:sp>
      <p:pic>
        <p:nvPicPr>
          <p:cNvPr id="285" name="Google Shape;285;p44"/>
          <p:cNvPicPr preferRelativeResize="0"/>
          <p:nvPr/>
        </p:nvPicPr>
        <p:blipFill>
          <a:blip r:embed="rId3">
            <a:alphaModFix/>
          </a:blip>
          <a:stretch>
            <a:fillRect/>
          </a:stretch>
        </p:blipFill>
        <p:spPr>
          <a:xfrm>
            <a:off x="5029756" y="1264388"/>
            <a:ext cx="3765869" cy="28159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1" name="Google Shape;291;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actors</a:t>
            </a:r>
            <a:endParaRPr>
              <a:latin typeface="Montserrat"/>
              <a:ea typeface="Montserrat"/>
              <a:cs typeface="Montserrat"/>
              <a:sym typeface="Montserrat"/>
            </a:endParaRPr>
          </a:p>
        </p:txBody>
      </p:sp>
      <p:sp>
        <p:nvSpPr>
          <p:cNvPr id="292" name="Google Shape;292;p45"/>
          <p:cNvSpPr txBox="1"/>
          <p:nvPr/>
        </p:nvSpPr>
        <p:spPr>
          <a:xfrm>
            <a:off x="685800" y="1451700"/>
            <a:ext cx="4248600" cy="2240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Tugas-tugas development team</a:t>
            </a:r>
            <a:r>
              <a:rPr b="1" lang="en" sz="1800">
                <a:solidFill>
                  <a:srgbClr val="743673"/>
                </a:solidFill>
                <a:highlight>
                  <a:schemeClr val="lt1"/>
                </a:highlight>
                <a:latin typeface="Montserrat"/>
                <a:ea typeface="Montserrat"/>
                <a:cs typeface="Montserrat"/>
                <a:sym typeface="Montserrat"/>
              </a:rPr>
              <a:t> </a:t>
            </a:r>
            <a:endParaRPr b="1" sz="18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Sehingga, dapat disimpulkan bahwa tim pengembang bertugas sebagai berikut:</a:t>
            </a:r>
            <a:endParaRPr sz="1000">
              <a:solidFill>
                <a:schemeClr val="dk1"/>
              </a:solidFill>
              <a:latin typeface="Montserrat"/>
              <a:ea typeface="Montserrat"/>
              <a:cs typeface="Montserrat"/>
              <a:sym typeface="Montserrat"/>
            </a:endParaRPr>
          </a:p>
          <a:p>
            <a:pPr indent="-292100" lvl="0" marL="457200" rtl="0" algn="just">
              <a:lnSpc>
                <a:spcPct val="115000"/>
              </a:lnSpc>
              <a:spcBef>
                <a:spcPts val="160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Tim pengembang membangun produk yang ditunjukkan oleh product owner, misalnya aplikasi atau situs web. Tim di Scrum bersifat “silang fungsional”.</a:t>
            </a:r>
            <a:endParaRPr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Tim pengembang mencakup semua keahlian yang diperlukan untuk mengirimkan produk di mana berpotensi dapat dikirim di setiap sprint.</a:t>
            </a:r>
            <a:endParaRPr sz="1000">
              <a:solidFill>
                <a:schemeClr val="dk1"/>
              </a:solidFill>
              <a:latin typeface="Montserrat"/>
              <a:ea typeface="Montserrat"/>
              <a:cs typeface="Montserrat"/>
              <a:sym typeface="Montserrat"/>
            </a:endParaRPr>
          </a:p>
        </p:txBody>
      </p:sp>
      <p:pic>
        <p:nvPicPr>
          <p:cNvPr id="293" name="Google Shape;293;p45"/>
          <p:cNvPicPr preferRelativeResize="0"/>
          <p:nvPr/>
        </p:nvPicPr>
        <p:blipFill>
          <a:blip r:embed="rId3">
            <a:alphaModFix/>
          </a:blip>
          <a:stretch>
            <a:fillRect/>
          </a:stretch>
        </p:blipFill>
        <p:spPr>
          <a:xfrm>
            <a:off x="5257800" y="1472176"/>
            <a:ext cx="3358800" cy="284774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9" name="Google Shape;299;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actors</a:t>
            </a:r>
            <a:endParaRPr>
              <a:latin typeface="Montserrat"/>
              <a:ea typeface="Montserrat"/>
              <a:cs typeface="Montserrat"/>
              <a:sym typeface="Montserrat"/>
            </a:endParaRPr>
          </a:p>
        </p:txBody>
      </p:sp>
      <p:sp>
        <p:nvSpPr>
          <p:cNvPr id="300" name="Google Shape;300;p46"/>
          <p:cNvSpPr txBox="1"/>
          <p:nvPr/>
        </p:nvSpPr>
        <p:spPr>
          <a:xfrm>
            <a:off x="685800" y="2082150"/>
            <a:ext cx="4248600" cy="979200"/>
          </a:xfrm>
          <a:prstGeom prst="rect">
            <a:avLst/>
          </a:prstGeom>
          <a:noFill/>
          <a:ln>
            <a:noFill/>
          </a:ln>
        </p:spPr>
        <p:txBody>
          <a:bodyPr anchorCtr="0" anchor="t" bIns="0" lIns="0" spcFirstLastPara="1" rIns="0" wrap="square" tIns="0">
            <a:noAutofit/>
          </a:bodyPr>
          <a:lstStyle/>
          <a:p>
            <a:pPr indent="-292100" lvl="0" marL="457200" rtl="0" algn="just">
              <a:lnSpc>
                <a:spcPct val="115000"/>
              </a:lnSpc>
              <a:spcBef>
                <a:spcPts val="1600"/>
              </a:spcBef>
              <a:spcAft>
                <a:spcPts val="0"/>
              </a:spcAft>
              <a:buClr>
                <a:schemeClr val="dk1"/>
              </a:buClr>
              <a:buSzPts val="1000"/>
              <a:buFont typeface="Montserrat"/>
              <a:buAutoNum type="arabicPeriod" startAt="3"/>
            </a:pPr>
            <a:r>
              <a:rPr lang="en" sz="1000">
                <a:solidFill>
                  <a:schemeClr val="dk1"/>
                </a:solidFill>
                <a:latin typeface="Montserrat"/>
                <a:ea typeface="Montserrat"/>
                <a:cs typeface="Montserrat"/>
                <a:sym typeface="Montserrat"/>
              </a:rPr>
              <a:t>Tim pengembang mengatur dirinya sendiri, dengan tingkat otonomi dan akuntabilitas yang sangat tinggi.</a:t>
            </a:r>
            <a:endParaRPr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1000"/>
              </a:spcAft>
              <a:buClr>
                <a:schemeClr val="dk1"/>
              </a:buClr>
              <a:buSzPts val="1000"/>
              <a:buFont typeface="Montserrat"/>
              <a:buAutoNum type="arabicPeriod" startAt="3"/>
            </a:pPr>
            <a:r>
              <a:rPr lang="en" sz="1000">
                <a:solidFill>
                  <a:schemeClr val="dk1"/>
                </a:solidFill>
                <a:latin typeface="Montserrat"/>
                <a:ea typeface="Montserrat"/>
                <a:cs typeface="Montserrat"/>
                <a:sym typeface="Montserrat"/>
              </a:rPr>
              <a:t>Tim pengembang memutuskan berapa banyak item yang akan dibuat dalam sprint, dan cara terbaik untuk mencapai tujuan tersebut.</a:t>
            </a:r>
            <a:endParaRPr sz="1000">
              <a:solidFill>
                <a:schemeClr val="dk1"/>
              </a:solidFill>
              <a:latin typeface="Montserrat"/>
              <a:ea typeface="Montserrat"/>
              <a:cs typeface="Montserrat"/>
              <a:sym typeface="Montserrat"/>
            </a:endParaRPr>
          </a:p>
        </p:txBody>
      </p:sp>
      <p:pic>
        <p:nvPicPr>
          <p:cNvPr id="301" name="Google Shape;301;p46"/>
          <p:cNvPicPr preferRelativeResize="0"/>
          <p:nvPr/>
        </p:nvPicPr>
        <p:blipFill>
          <a:blip r:embed="rId3">
            <a:alphaModFix/>
          </a:blip>
          <a:stretch>
            <a:fillRect/>
          </a:stretch>
        </p:blipFill>
        <p:spPr>
          <a:xfrm>
            <a:off x="5257800" y="1472176"/>
            <a:ext cx="3358800" cy="284774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7" name="Google Shape;307;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actors</a:t>
            </a:r>
            <a:endParaRPr>
              <a:latin typeface="Montserrat"/>
              <a:ea typeface="Montserrat"/>
              <a:cs typeface="Montserrat"/>
              <a:sym typeface="Montserrat"/>
            </a:endParaRPr>
          </a:p>
        </p:txBody>
      </p:sp>
      <p:sp>
        <p:nvSpPr>
          <p:cNvPr id="308" name="Google Shape;308;p47"/>
          <p:cNvSpPr txBox="1"/>
          <p:nvPr/>
        </p:nvSpPr>
        <p:spPr>
          <a:xfrm>
            <a:off x="685800" y="1899600"/>
            <a:ext cx="4248600" cy="1344300"/>
          </a:xfrm>
          <a:prstGeom prst="rect">
            <a:avLst/>
          </a:prstGeom>
          <a:noFill/>
          <a:ln>
            <a:noFill/>
          </a:ln>
        </p:spPr>
        <p:txBody>
          <a:bodyPr anchorCtr="0" anchor="t" bIns="0" lIns="0" spcFirstLastPara="1" rIns="0" wrap="square" tIns="0">
            <a:noAutofit/>
          </a:bodyPr>
          <a:lstStyle/>
          <a:p>
            <a:pPr indent="-292100" lvl="0" marL="457200" rtl="0" algn="just">
              <a:lnSpc>
                <a:spcPct val="115000"/>
              </a:lnSpc>
              <a:spcBef>
                <a:spcPts val="0"/>
              </a:spcBef>
              <a:spcAft>
                <a:spcPts val="0"/>
              </a:spcAft>
              <a:buClr>
                <a:schemeClr val="dk1"/>
              </a:buClr>
              <a:buSzPts val="1000"/>
              <a:buFont typeface="Montserrat"/>
              <a:buAutoNum type="arabicPeriod" startAt="5"/>
            </a:pPr>
            <a:r>
              <a:rPr lang="en" sz="1000">
                <a:solidFill>
                  <a:schemeClr val="dk1"/>
                </a:solidFill>
                <a:latin typeface="Montserrat"/>
                <a:ea typeface="Montserrat"/>
                <a:cs typeface="Montserrat"/>
                <a:sym typeface="Montserrat"/>
              </a:rPr>
              <a:t>Tim pengembang adalah tim lintas fungsi, kecil, dan mandiri yang memiliki tanggung jawab kolektif untuk mengembangkan, menguji, dan merilis peningkatan produk.</a:t>
            </a:r>
            <a:endParaRPr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AutoNum type="arabicPeriod" startAt="5"/>
            </a:pPr>
            <a:r>
              <a:rPr lang="en" sz="1000">
                <a:solidFill>
                  <a:schemeClr val="dk1"/>
                </a:solidFill>
                <a:latin typeface="Montserrat"/>
                <a:ea typeface="Montserrat"/>
                <a:cs typeface="Montserrat"/>
                <a:sym typeface="Montserrat"/>
              </a:rPr>
              <a:t>Tim pengembang tidak boleh menunjuk pemimpin tim mana pun karena keputusan diambil secara kolektif oleh tim.</a:t>
            </a:r>
            <a:endParaRPr sz="1000">
              <a:solidFill>
                <a:schemeClr val="dk1"/>
              </a:solidFill>
              <a:latin typeface="Montserrat"/>
              <a:ea typeface="Montserrat"/>
              <a:cs typeface="Montserrat"/>
              <a:sym typeface="Montserrat"/>
            </a:endParaRPr>
          </a:p>
        </p:txBody>
      </p:sp>
      <p:pic>
        <p:nvPicPr>
          <p:cNvPr id="309" name="Google Shape;309;p47"/>
          <p:cNvPicPr preferRelativeResize="0"/>
          <p:nvPr/>
        </p:nvPicPr>
        <p:blipFill>
          <a:blip r:embed="rId3">
            <a:alphaModFix/>
          </a:blip>
          <a:stretch>
            <a:fillRect/>
          </a:stretch>
        </p:blipFill>
        <p:spPr>
          <a:xfrm>
            <a:off x="5257800" y="1472176"/>
            <a:ext cx="3358800" cy="284774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artefacts</a:t>
            </a:r>
            <a:endParaRPr>
              <a:latin typeface="Montserrat"/>
              <a:ea typeface="Montserrat"/>
              <a:cs typeface="Montserrat"/>
              <a:sym typeface="Montserrat"/>
            </a:endParaRPr>
          </a:p>
        </p:txBody>
      </p:sp>
      <p:sp>
        <p:nvSpPr>
          <p:cNvPr id="315" name="Google Shape;315;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6" name="Google Shape;316;p48"/>
          <p:cNvSpPr txBox="1"/>
          <p:nvPr/>
        </p:nvSpPr>
        <p:spPr>
          <a:xfrm>
            <a:off x="685800" y="1725150"/>
            <a:ext cx="4430100" cy="1391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Setelah mengetahui </a:t>
            </a:r>
            <a:r>
              <a:rPr b="1" lang="en">
                <a:solidFill>
                  <a:srgbClr val="F2AB2F"/>
                </a:solidFill>
                <a:latin typeface="Montserrat"/>
                <a:ea typeface="Montserrat"/>
                <a:cs typeface="Montserrat"/>
                <a:sym typeface="Montserrat"/>
              </a:rPr>
              <a:t>scrum actors</a:t>
            </a:r>
            <a:r>
              <a:rPr b="1" lang="en">
                <a:solidFill>
                  <a:schemeClr val="lt1"/>
                </a:solidFill>
                <a:latin typeface="Montserrat"/>
                <a:ea typeface="Montserrat"/>
                <a:cs typeface="Montserrat"/>
                <a:sym typeface="Montserrat"/>
              </a:rPr>
              <a:t>, kita akan bedah mengenai </a:t>
            </a:r>
            <a:r>
              <a:rPr b="1" lang="en">
                <a:solidFill>
                  <a:srgbClr val="F2AB2F"/>
                </a:solidFill>
                <a:latin typeface="Montserrat"/>
                <a:ea typeface="Montserrat"/>
                <a:cs typeface="Montserrat"/>
                <a:sym typeface="Montserrat"/>
              </a:rPr>
              <a:t>scrum artefacts</a:t>
            </a:r>
            <a:r>
              <a:rPr b="1" lang="en">
                <a:solidFill>
                  <a:schemeClr val="lt1"/>
                </a:solidFill>
                <a:latin typeface="Montserrat"/>
                <a:ea typeface="Montserrat"/>
                <a:cs typeface="Montserrat"/>
                <a:sym typeface="Montserrat"/>
              </a:rPr>
              <a:t>.</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Kira-kira, apa yaa isi scrum artefacts itu? Yuk kita cari tahu jawabannya bareng-bareng ~</a:t>
            </a:r>
            <a:endParaRPr b="1">
              <a:solidFill>
                <a:schemeClr val="lt1"/>
              </a:solidFill>
              <a:latin typeface="Montserrat"/>
              <a:ea typeface="Montserrat"/>
              <a:cs typeface="Montserrat"/>
              <a:sym typeface="Montserrat"/>
            </a:endParaRPr>
          </a:p>
        </p:txBody>
      </p:sp>
      <p:pic>
        <p:nvPicPr>
          <p:cNvPr id="317" name="Google Shape;317;p48"/>
          <p:cNvPicPr preferRelativeResize="0"/>
          <p:nvPr/>
        </p:nvPicPr>
        <p:blipFill rotWithShape="1">
          <a:blip r:embed="rId3">
            <a:alphaModFix/>
          </a:blip>
          <a:srcRect b="0" l="0" r="0" t="0"/>
          <a:stretch/>
        </p:blipFill>
        <p:spPr>
          <a:xfrm>
            <a:off x="5009150" y="1195375"/>
            <a:ext cx="3873401" cy="30436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3" name="Google Shape;323;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artefacts</a:t>
            </a:r>
            <a:endParaRPr>
              <a:latin typeface="Montserrat"/>
              <a:ea typeface="Montserrat"/>
              <a:cs typeface="Montserrat"/>
              <a:sym typeface="Montserrat"/>
            </a:endParaRPr>
          </a:p>
        </p:txBody>
      </p:sp>
      <p:sp>
        <p:nvSpPr>
          <p:cNvPr id="324" name="Google Shape;324;p49"/>
          <p:cNvSpPr txBox="1"/>
          <p:nvPr/>
        </p:nvSpPr>
        <p:spPr>
          <a:xfrm>
            <a:off x="914400" y="1609650"/>
            <a:ext cx="4114800" cy="192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Scrum artefacts</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Istilah artefak sering dikaitkan dengan reruntuhan arkeologi dan peninggalan kuno. Namun dalam pengembangan perangkat lunak, istilah ini mengacu pada </a:t>
            </a:r>
            <a:r>
              <a:rPr b="1" lang="en" sz="1000">
                <a:solidFill>
                  <a:schemeClr val="dk1"/>
                </a:solidFill>
                <a:latin typeface="Montserrat"/>
                <a:ea typeface="Montserrat"/>
                <a:cs typeface="Montserrat"/>
                <a:sym typeface="Montserrat"/>
              </a:rPr>
              <a:t>informasi kunci yang dibutuhkan selama pengembangan suatu produk</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Nah, artefak Scrum yang utama adalah product backlog, sprint backlog, dan increment. Yuk kita telusuri beberapa artefak Scrum biar makin paham ~</a:t>
            </a:r>
            <a:endParaRPr sz="1000">
              <a:solidFill>
                <a:schemeClr val="dk1"/>
              </a:solidFill>
              <a:latin typeface="Montserrat"/>
              <a:ea typeface="Montserrat"/>
              <a:cs typeface="Montserrat"/>
              <a:sym typeface="Montserrat"/>
            </a:endParaRPr>
          </a:p>
        </p:txBody>
      </p:sp>
      <p:pic>
        <p:nvPicPr>
          <p:cNvPr id="325" name="Google Shape;325;p49"/>
          <p:cNvPicPr preferRelativeResize="0"/>
          <p:nvPr/>
        </p:nvPicPr>
        <p:blipFill>
          <a:blip r:embed="rId3">
            <a:alphaModFix/>
          </a:blip>
          <a:stretch>
            <a:fillRect/>
          </a:stretch>
        </p:blipFill>
        <p:spPr>
          <a:xfrm>
            <a:off x="5556043" y="1462101"/>
            <a:ext cx="2825958" cy="27409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9" name="Shape 329"/>
        <p:cNvGrpSpPr/>
        <p:nvPr/>
      </p:nvGrpSpPr>
      <p:grpSpPr>
        <a:xfrm>
          <a:off x="0" y="0"/>
          <a:ext cx="0" cy="0"/>
          <a:chOff x="0" y="0"/>
          <a:chExt cx="0" cy="0"/>
        </a:xfrm>
      </p:grpSpPr>
      <p:sp>
        <p:nvSpPr>
          <p:cNvPr id="330" name="Google Shape;330;p50"/>
          <p:cNvSpPr txBox="1"/>
          <p:nvPr>
            <p:ph type="title"/>
          </p:nvPr>
        </p:nvSpPr>
        <p:spPr>
          <a:xfrm>
            <a:off x="757050" y="2138425"/>
            <a:ext cx="4332000" cy="1526100"/>
          </a:xfrm>
          <a:prstGeom prst="rect">
            <a:avLst/>
          </a:prstGeom>
        </p:spPr>
        <p:txBody>
          <a:bodyPr anchorCtr="0" anchor="ctr" bIns="91425" lIns="0" spcFirstLastPara="1" rIns="0" wrap="square" tIns="91425">
            <a:spAutoFit/>
          </a:bodyPr>
          <a:lstStyle/>
          <a:p>
            <a:pPr indent="0" lvl="0" marL="0" marR="0" rtl="0" algn="just">
              <a:lnSpc>
                <a:spcPct val="128571"/>
              </a:lnSpc>
              <a:spcBef>
                <a:spcPts val="0"/>
              </a:spcBef>
              <a:spcAft>
                <a:spcPts val="0"/>
              </a:spcAft>
              <a:buNone/>
            </a:pPr>
            <a:r>
              <a:rPr b="0" lang="en" sz="1000">
                <a:solidFill>
                  <a:schemeClr val="dk1"/>
                </a:solidFill>
                <a:latin typeface="Montserrat"/>
                <a:ea typeface="Montserrat"/>
                <a:cs typeface="Montserrat"/>
                <a:sym typeface="Montserrat"/>
              </a:rPr>
              <a:t>Return of Investment (ROI) mewakili manfaat hasil dari investasi versus biaya yang dikeluarkan. Untuk setiap keputusan yang dibuat manajer, harus mempertimbangkan ROI dan berkolaborasi dengan pelanggan. </a:t>
            </a:r>
            <a:endParaRPr b="0" sz="1000">
              <a:solidFill>
                <a:schemeClr val="dk1"/>
              </a:solidFill>
              <a:latin typeface="Montserrat"/>
              <a:ea typeface="Montserrat"/>
              <a:cs typeface="Montserrat"/>
              <a:sym typeface="Montserrat"/>
            </a:endParaRPr>
          </a:p>
          <a:p>
            <a:pPr indent="0" lvl="0" marL="0" marR="0" rtl="0" algn="just">
              <a:lnSpc>
                <a:spcPct val="128571"/>
              </a:lnSpc>
              <a:spcBef>
                <a:spcPts val="0"/>
              </a:spcBef>
              <a:spcAft>
                <a:spcPts val="0"/>
              </a:spcAft>
              <a:buNone/>
            </a:pPr>
            <a:r>
              <a:t/>
            </a:r>
            <a:endParaRPr b="0" sz="1000">
              <a:solidFill>
                <a:schemeClr val="dk1"/>
              </a:solidFill>
              <a:latin typeface="Montserrat"/>
              <a:ea typeface="Montserrat"/>
              <a:cs typeface="Montserrat"/>
              <a:sym typeface="Montserrat"/>
            </a:endParaRPr>
          </a:p>
          <a:p>
            <a:pPr indent="0" lvl="0" marL="0" marR="0" rtl="0" algn="just">
              <a:lnSpc>
                <a:spcPct val="128571"/>
              </a:lnSpc>
              <a:spcBef>
                <a:spcPts val="0"/>
              </a:spcBef>
              <a:spcAft>
                <a:spcPts val="0"/>
              </a:spcAft>
              <a:buNone/>
            </a:pPr>
            <a:r>
              <a:rPr b="0" lang="en" sz="1000">
                <a:solidFill>
                  <a:schemeClr val="dk1"/>
                </a:solidFill>
                <a:latin typeface="Montserrat"/>
                <a:ea typeface="Montserrat"/>
                <a:cs typeface="Montserrat"/>
                <a:sym typeface="Montserrat"/>
              </a:rPr>
              <a:t>Hal itu dilakukan untuk memastikan bahwa semua orang menyetujui opsi yang memaksimalkan ROI.</a:t>
            </a:r>
            <a:endParaRPr b="0" sz="1000">
              <a:solidFill>
                <a:schemeClr val="dk1"/>
              </a:solidFill>
              <a:latin typeface="Montserrat"/>
              <a:ea typeface="Montserrat"/>
              <a:cs typeface="Montserrat"/>
              <a:sym typeface="Montserrat"/>
            </a:endParaRPr>
          </a:p>
        </p:txBody>
      </p:sp>
      <p:sp>
        <p:nvSpPr>
          <p:cNvPr id="331" name="Google Shape;331;p50"/>
          <p:cNvSpPr txBox="1"/>
          <p:nvPr>
            <p:ph type="title"/>
          </p:nvPr>
        </p:nvSpPr>
        <p:spPr>
          <a:xfrm>
            <a:off x="680775" y="1676963"/>
            <a:ext cx="3977700" cy="369300"/>
          </a:xfrm>
          <a:prstGeom prst="rect">
            <a:avLst/>
          </a:prstGeom>
        </p:spPr>
        <p:txBody>
          <a:bodyPr anchorCtr="0" anchor="ctr" bIns="91425" lIns="0" spcFirstLastPara="1" rIns="0" wrap="square" tIns="91425">
            <a:spAutoFit/>
          </a:bodyPr>
          <a:lstStyle/>
          <a:p>
            <a:pPr indent="0" lvl="0" marL="0" marR="38100" rtl="0" algn="l">
              <a:lnSpc>
                <a:spcPct val="128571"/>
              </a:lnSpc>
              <a:spcBef>
                <a:spcPts val="0"/>
              </a:spcBef>
              <a:spcAft>
                <a:spcPts val="0"/>
              </a:spcAft>
              <a:buNone/>
            </a:pPr>
            <a:r>
              <a:rPr lang="en" sz="1200">
                <a:solidFill>
                  <a:schemeClr val="accent1"/>
                </a:solidFill>
                <a:latin typeface="Montserrat"/>
                <a:ea typeface="Montserrat"/>
                <a:cs typeface="Montserrat"/>
                <a:sym typeface="Montserrat"/>
              </a:rPr>
              <a:t> Return of Investment:</a:t>
            </a:r>
            <a:endParaRPr sz="1200">
              <a:solidFill>
                <a:schemeClr val="accent1"/>
              </a:solidFill>
              <a:latin typeface="Montserrat"/>
              <a:ea typeface="Montserrat"/>
              <a:cs typeface="Montserrat"/>
              <a:sym typeface="Montserrat"/>
            </a:endParaRPr>
          </a:p>
        </p:txBody>
      </p:sp>
      <p:sp>
        <p:nvSpPr>
          <p:cNvPr id="332" name="Google Shape;332;p50"/>
          <p:cNvSpPr txBox="1"/>
          <p:nvPr>
            <p:ph type="title"/>
          </p:nvPr>
        </p:nvSpPr>
        <p:spPr>
          <a:xfrm>
            <a:off x="680775"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artefacts</a:t>
            </a:r>
            <a:endParaRPr>
              <a:latin typeface="Montserrat"/>
              <a:ea typeface="Montserrat"/>
              <a:cs typeface="Montserrat"/>
              <a:sym typeface="Montserrat"/>
            </a:endParaRPr>
          </a:p>
        </p:txBody>
      </p:sp>
      <p:sp>
        <p:nvSpPr>
          <p:cNvPr id="333" name="Google Shape;333;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34" name="Google Shape;334;p50"/>
          <p:cNvPicPr preferRelativeResize="0"/>
          <p:nvPr/>
        </p:nvPicPr>
        <p:blipFill>
          <a:blip r:embed="rId3">
            <a:alphaModFix/>
          </a:blip>
          <a:stretch>
            <a:fillRect/>
          </a:stretch>
        </p:blipFill>
        <p:spPr>
          <a:xfrm>
            <a:off x="6028700" y="1097550"/>
            <a:ext cx="1917925" cy="1827326"/>
          </a:xfrm>
          <a:prstGeom prst="rect">
            <a:avLst/>
          </a:prstGeom>
          <a:noFill/>
          <a:ln>
            <a:noFill/>
          </a:ln>
        </p:spPr>
      </p:pic>
      <p:pic>
        <p:nvPicPr>
          <p:cNvPr id="335" name="Google Shape;335;p50"/>
          <p:cNvPicPr preferRelativeResize="0"/>
          <p:nvPr/>
        </p:nvPicPr>
        <p:blipFill>
          <a:blip r:embed="rId4">
            <a:alphaModFix/>
          </a:blip>
          <a:stretch>
            <a:fillRect/>
          </a:stretch>
        </p:blipFill>
        <p:spPr>
          <a:xfrm>
            <a:off x="5588400" y="1576400"/>
            <a:ext cx="2860652" cy="2772623"/>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9" name="Shape 339"/>
        <p:cNvGrpSpPr/>
        <p:nvPr/>
      </p:nvGrpSpPr>
      <p:grpSpPr>
        <a:xfrm>
          <a:off x="0" y="0"/>
          <a:ext cx="0" cy="0"/>
          <a:chOff x="0" y="0"/>
          <a:chExt cx="0" cy="0"/>
        </a:xfrm>
      </p:grpSpPr>
      <p:sp>
        <p:nvSpPr>
          <p:cNvPr id="340" name="Google Shape;340;p51"/>
          <p:cNvSpPr txBox="1"/>
          <p:nvPr>
            <p:ph type="title"/>
          </p:nvPr>
        </p:nvSpPr>
        <p:spPr>
          <a:xfrm>
            <a:off x="724375" y="2050325"/>
            <a:ext cx="4364700" cy="1526100"/>
          </a:xfrm>
          <a:prstGeom prst="rect">
            <a:avLst/>
          </a:prstGeom>
        </p:spPr>
        <p:txBody>
          <a:bodyPr anchorCtr="0" anchor="ctr" bIns="91425" lIns="0" spcFirstLastPara="1" rIns="0" wrap="square" tIns="91425">
            <a:spAutoFit/>
          </a:bodyPr>
          <a:lstStyle/>
          <a:p>
            <a:pPr indent="0" lvl="0" marL="0" rtl="0" algn="just">
              <a:lnSpc>
                <a:spcPct val="128571"/>
              </a:lnSpc>
              <a:spcBef>
                <a:spcPts val="0"/>
              </a:spcBef>
              <a:spcAft>
                <a:spcPts val="0"/>
              </a:spcAft>
              <a:buNone/>
            </a:pPr>
            <a:r>
              <a:rPr b="0" lang="en" sz="1000">
                <a:solidFill>
                  <a:schemeClr val="dk1"/>
                </a:solidFill>
                <a:latin typeface="Montserrat"/>
                <a:ea typeface="Montserrat"/>
                <a:cs typeface="Montserrat"/>
                <a:sym typeface="Montserrat"/>
              </a:rPr>
              <a:t>Backlog produk adalah daftar prioritas kiriman (misalnya fitur baru) yang harus diimplementasikan sebagai bagian dari proyek atau pengembangan produk.</a:t>
            </a:r>
            <a:endParaRPr b="0" sz="1000">
              <a:solidFill>
                <a:schemeClr val="dk1"/>
              </a:solidFill>
              <a:latin typeface="Montserrat"/>
              <a:ea typeface="Montserrat"/>
              <a:cs typeface="Montserrat"/>
              <a:sym typeface="Montserrat"/>
            </a:endParaRPr>
          </a:p>
          <a:p>
            <a:pPr indent="0" lvl="0" marL="0" rtl="0" algn="just">
              <a:lnSpc>
                <a:spcPct val="128571"/>
              </a:lnSpc>
              <a:spcBef>
                <a:spcPts val="0"/>
              </a:spcBef>
              <a:spcAft>
                <a:spcPts val="0"/>
              </a:spcAft>
              <a:buNone/>
            </a:pPr>
            <a:r>
              <a:t/>
            </a:r>
            <a:endParaRPr b="0" sz="1000">
              <a:solidFill>
                <a:schemeClr val="dk1"/>
              </a:solidFill>
              <a:latin typeface="Montserrat"/>
              <a:ea typeface="Montserrat"/>
              <a:cs typeface="Montserrat"/>
              <a:sym typeface="Montserrat"/>
            </a:endParaRPr>
          </a:p>
          <a:p>
            <a:pPr indent="0" lvl="0" marL="0" rtl="0" algn="just">
              <a:lnSpc>
                <a:spcPct val="128571"/>
              </a:lnSpc>
              <a:spcBef>
                <a:spcPts val="0"/>
              </a:spcBef>
              <a:spcAft>
                <a:spcPts val="0"/>
              </a:spcAft>
              <a:buNone/>
            </a:pPr>
            <a:r>
              <a:rPr b="0" lang="en" sz="1000">
                <a:solidFill>
                  <a:schemeClr val="dk1"/>
                </a:solidFill>
                <a:latin typeface="Montserrat"/>
                <a:ea typeface="Montserrat"/>
                <a:cs typeface="Montserrat"/>
                <a:sym typeface="Montserrat"/>
              </a:rPr>
              <a:t>Ini adalah artefak pengambilan keputusan yang membantu kamu memperkirakan, menyempurnakan, dan memprioritaskan semua yang mungkin ingin kamu selesaikan di masa mendatang.</a:t>
            </a:r>
            <a:endParaRPr b="0" sz="1000">
              <a:solidFill>
                <a:schemeClr val="dk1"/>
              </a:solidFill>
              <a:latin typeface="Montserrat"/>
              <a:ea typeface="Montserrat"/>
              <a:cs typeface="Montserrat"/>
              <a:sym typeface="Montserrat"/>
            </a:endParaRPr>
          </a:p>
        </p:txBody>
      </p:sp>
      <p:sp>
        <p:nvSpPr>
          <p:cNvPr id="341" name="Google Shape;341;p51"/>
          <p:cNvSpPr txBox="1"/>
          <p:nvPr>
            <p:ph type="title"/>
          </p:nvPr>
        </p:nvSpPr>
        <p:spPr>
          <a:xfrm>
            <a:off x="680775" y="1577963"/>
            <a:ext cx="3977700" cy="369300"/>
          </a:xfrm>
          <a:prstGeom prst="rect">
            <a:avLst/>
          </a:prstGeom>
        </p:spPr>
        <p:txBody>
          <a:bodyPr anchorCtr="0" anchor="ctr" bIns="91425" lIns="0" spcFirstLastPara="1" rIns="0" wrap="square" tIns="91425">
            <a:spAutoFit/>
          </a:bodyPr>
          <a:lstStyle/>
          <a:p>
            <a:pPr indent="0" lvl="0" marL="0" marR="38100" rtl="0" algn="l">
              <a:lnSpc>
                <a:spcPct val="128571"/>
              </a:lnSpc>
              <a:spcBef>
                <a:spcPts val="0"/>
              </a:spcBef>
              <a:spcAft>
                <a:spcPts val="0"/>
              </a:spcAft>
              <a:buNone/>
            </a:pPr>
            <a:r>
              <a:rPr lang="en">
                <a:solidFill>
                  <a:schemeClr val="accent1"/>
                </a:solidFill>
                <a:latin typeface="Montserrat"/>
                <a:ea typeface="Montserrat"/>
                <a:cs typeface="Montserrat"/>
                <a:sym typeface="Montserrat"/>
              </a:rPr>
              <a:t> Product Backlog:</a:t>
            </a:r>
            <a:endParaRPr>
              <a:solidFill>
                <a:schemeClr val="accent1"/>
              </a:solidFill>
              <a:latin typeface="Montserrat"/>
              <a:ea typeface="Montserrat"/>
              <a:cs typeface="Montserrat"/>
              <a:sym typeface="Montserrat"/>
            </a:endParaRPr>
          </a:p>
        </p:txBody>
      </p:sp>
      <p:sp>
        <p:nvSpPr>
          <p:cNvPr id="342" name="Google Shape;342;p51"/>
          <p:cNvSpPr txBox="1"/>
          <p:nvPr>
            <p:ph type="title"/>
          </p:nvPr>
        </p:nvSpPr>
        <p:spPr>
          <a:xfrm>
            <a:off x="680775"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artefacts</a:t>
            </a:r>
            <a:endParaRPr>
              <a:latin typeface="Montserrat"/>
              <a:ea typeface="Montserrat"/>
              <a:cs typeface="Montserrat"/>
              <a:sym typeface="Montserrat"/>
            </a:endParaRPr>
          </a:p>
        </p:txBody>
      </p:sp>
      <p:sp>
        <p:nvSpPr>
          <p:cNvPr id="343" name="Google Shape;343;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44" name="Google Shape;344;p51"/>
          <p:cNvPicPr preferRelativeResize="0"/>
          <p:nvPr/>
        </p:nvPicPr>
        <p:blipFill>
          <a:blip r:embed="rId3">
            <a:alphaModFix/>
          </a:blip>
          <a:stretch>
            <a:fillRect/>
          </a:stretch>
        </p:blipFill>
        <p:spPr>
          <a:xfrm>
            <a:off x="5387875" y="1277788"/>
            <a:ext cx="3542825" cy="258792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8" name="Shape 348"/>
        <p:cNvGrpSpPr/>
        <p:nvPr/>
      </p:nvGrpSpPr>
      <p:grpSpPr>
        <a:xfrm>
          <a:off x="0" y="0"/>
          <a:ext cx="0" cy="0"/>
          <a:chOff x="0" y="0"/>
          <a:chExt cx="0" cy="0"/>
        </a:xfrm>
      </p:grpSpPr>
      <p:sp>
        <p:nvSpPr>
          <p:cNvPr id="349" name="Google Shape;349;p52"/>
          <p:cNvSpPr txBox="1"/>
          <p:nvPr>
            <p:ph type="title"/>
          </p:nvPr>
        </p:nvSpPr>
        <p:spPr>
          <a:xfrm>
            <a:off x="680775" y="2138425"/>
            <a:ext cx="4113900" cy="1328100"/>
          </a:xfrm>
          <a:prstGeom prst="rect">
            <a:avLst/>
          </a:prstGeom>
        </p:spPr>
        <p:txBody>
          <a:bodyPr anchorCtr="0" anchor="ctr" bIns="91425" lIns="0" spcFirstLastPara="1" rIns="0" wrap="square" tIns="91425">
            <a:spAutoFit/>
          </a:bodyPr>
          <a:lstStyle/>
          <a:p>
            <a:pPr indent="0" lvl="0" marL="0" rtl="0" algn="just">
              <a:lnSpc>
                <a:spcPct val="128571"/>
              </a:lnSpc>
              <a:spcBef>
                <a:spcPts val="0"/>
              </a:spcBef>
              <a:spcAft>
                <a:spcPts val="0"/>
              </a:spcAft>
              <a:buNone/>
            </a:pPr>
            <a:r>
              <a:rPr b="0" lang="en" sz="1000">
                <a:solidFill>
                  <a:schemeClr val="dk1"/>
                </a:solidFill>
                <a:latin typeface="Montserrat"/>
                <a:ea typeface="Montserrat"/>
                <a:cs typeface="Montserrat"/>
                <a:sym typeface="Montserrat"/>
              </a:rPr>
              <a:t>Item backlog pada dasarnya adalah ide apa pun yang dapat menambah nilai pada produk yang sedang dikembangkan.</a:t>
            </a:r>
            <a:endParaRPr b="0" sz="1000">
              <a:solidFill>
                <a:schemeClr val="dk1"/>
              </a:solidFill>
              <a:latin typeface="Montserrat"/>
              <a:ea typeface="Montserrat"/>
              <a:cs typeface="Montserrat"/>
              <a:sym typeface="Montserrat"/>
            </a:endParaRPr>
          </a:p>
          <a:p>
            <a:pPr indent="0" lvl="0" marL="0" rtl="0" algn="just">
              <a:lnSpc>
                <a:spcPct val="128571"/>
              </a:lnSpc>
              <a:spcBef>
                <a:spcPts val="0"/>
              </a:spcBef>
              <a:spcAft>
                <a:spcPts val="0"/>
              </a:spcAft>
              <a:buNone/>
            </a:pPr>
            <a:r>
              <a:t/>
            </a:r>
            <a:endParaRPr b="0" sz="1000">
              <a:solidFill>
                <a:schemeClr val="dk1"/>
              </a:solidFill>
              <a:latin typeface="Montserrat"/>
              <a:ea typeface="Montserrat"/>
              <a:cs typeface="Montserrat"/>
              <a:sym typeface="Montserrat"/>
            </a:endParaRPr>
          </a:p>
          <a:p>
            <a:pPr indent="0" lvl="0" marL="0" rtl="0" algn="just">
              <a:lnSpc>
                <a:spcPct val="128571"/>
              </a:lnSpc>
              <a:spcBef>
                <a:spcPts val="0"/>
              </a:spcBef>
              <a:spcAft>
                <a:spcPts val="0"/>
              </a:spcAft>
              <a:buNone/>
            </a:pPr>
            <a:r>
              <a:rPr b="0" lang="en" sz="1000">
                <a:solidFill>
                  <a:schemeClr val="dk1"/>
                </a:solidFill>
                <a:latin typeface="Montserrat"/>
                <a:ea typeface="Montserrat"/>
                <a:cs typeface="Montserrat"/>
                <a:sym typeface="Montserrat"/>
              </a:rPr>
              <a:t>Di Scrum, ide-ide tersebut diubah menjadi item yang disimpan pada product backlog, kadang disebut item backlog atau item backlog produk (PBI).</a:t>
            </a:r>
            <a:endParaRPr b="0" sz="1000">
              <a:solidFill>
                <a:schemeClr val="dk1"/>
              </a:solidFill>
              <a:latin typeface="Montserrat"/>
              <a:ea typeface="Montserrat"/>
              <a:cs typeface="Montserrat"/>
              <a:sym typeface="Montserrat"/>
            </a:endParaRPr>
          </a:p>
        </p:txBody>
      </p:sp>
      <p:sp>
        <p:nvSpPr>
          <p:cNvPr id="350" name="Google Shape;350;p52"/>
          <p:cNvSpPr txBox="1"/>
          <p:nvPr>
            <p:ph type="title"/>
          </p:nvPr>
        </p:nvSpPr>
        <p:spPr>
          <a:xfrm>
            <a:off x="659400" y="1698763"/>
            <a:ext cx="3977700" cy="369300"/>
          </a:xfrm>
          <a:prstGeom prst="rect">
            <a:avLst/>
          </a:prstGeom>
        </p:spPr>
        <p:txBody>
          <a:bodyPr anchorCtr="0" anchor="ctr" bIns="91425" lIns="0" spcFirstLastPara="1" rIns="0" wrap="square" tIns="91425">
            <a:spAutoFit/>
          </a:bodyPr>
          <a:lstStyle/>
          <a:p>
            <a:pPr indent="0" lvl="0" marL="0" marR="38100" rtl="0" algn="l">
              <a:lnSpc>
                <a:spcPct val="128571"/>
              </a:lnSpc>
              <a:spcBef>
                <a:spcPts val="0"/>
              </a:spcBef>
              <a:spcAft>
                <a:spcPts val="0"/>
              </a:spcAft>
              <a:buNone/>
            </a:pPr>
            <a:r>
              <a:rPr lang="en">
                <a:solidFill>
                  <a:schemeClr val="accent1"/>
                </a:solidFill>
                <a:latin typeface="Montserrat"/>
                <a:ea typeface="Montserrat"/>
                <a:cs typeface="Montserrat"/>
                <a:sym typeface="Montserrat"/>
              </a:rPr>
              <a:t> Product Backlog Item:</a:t>
            </a:r>
            <a:endParaRPr>
              <a:solidFill>
                <a:schemeClr val="accent1"/>
              </a:solidFill>
              <a:latin typeface="Montserrat"/>
              <a:ea typeface="Montserrat"/>
              <a:cs typeface="Montserrat"/>
              <a:sym typeface="Montserrat"/>
            </a:endParaRPr>
          </a:p>
        </p:txBody>
      </p:sp>
      <p:sp>
        <p:nvSpPr>
          <p:cNvPr id="351" name="Google Shape;351;p52"/>
          <p:cNvSpPr txBox="1"/>
          <p:nvPr>
            <p:ph type="title"/>
          </p:nvPr>
        </p:nvSpPr>
        <p:spPr>
          <a:xfrm>
            <a:off x="680775"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artefacts</a:t>
            </a:r>
            <a:endParaRPr>
              <a:latin typeface="Montserrat"/>
              <a:ea typeface="Montserrat"/>
              <a:cs typeface="Montserrat"/>
              <a:sym typeface="Montserrat"/>
            </a:endParaRPr>
          </a:p>
        </p:txBody>
      </p:sp>
      <p:sp>
        <p:nvSpPr>
          <p:cNvPr id="352" name="Google Shape;352;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53" name="Google Shape;353;p52"/>
          <p:cNvPicPr preferRelativeResize="0"/>
          <p:nvPr/>
        </p:nvPicPr>
        <p:blipFill>
          <a:blip r:embed="rId3">
            <a:alphaModFix/>
          </a:blip>
          <a:stretch>
            <a:fillRect/>
          </a:stretch>
        </p:blipFill>
        <p:spPr>
          <a:xfrm>
            <a:off x="5252775" y="1262650"/>
            <a:ext cx="3586424" cy="277073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7" name="Shape 357"/>
        <p:cNvGrpSpPr/>
        <p:nvPr/>
      </p:nvGrpSpPr>
      <p:grpSpPr>
        <a:xfrm>
          <a:off x="0" y="0"/>
          <a:ext cx="0" cy="0"/>
          <a:chOff x="0" y="0"/>
          <a:chExt cx="0" cy="0"/>
        </a:xfrm>
      </p:grpSpPr>
      <p:sp>
        <p:nvSpPr>
          <p:cNvPr id="358" name="Google Shape;358;p53"/>
          <p:cNvSpPr txBox="1"/>
          <p:nvPr>
            <p:ph type="title"/>
          </p:nvPr>
        </p:nvSpPr>
        <p:spPr>
          <a:xfrm>
            <a:off x="680775" y="1841575"/>
            <a:ext cx="4572000" cy="1921800"/>
          </a:xfrm>
          <a:prstGeom prst="rect">
            <a:avLst/>
          </a:prstGeom>
        </p:spPr>
        <p:txBody>
          <a:bodyPr anchorCtr="0" anchor="ctr" bIns="91425" lIns="0" spcFirstLastPara="1" rIns="0" wrap="square" tIns="91425">
            <a:spAutoFit/>
          </a:bodyPr>
          <a:lstStyle/>
          <a:p>
            <a:pPr indent="0" lvl="0" marL="0" rtl="0" algn="just">
              <a:lnSpc>
                <a:spcPct val="128571"/>
              </a:lnSpc>
              <a:spcBef>
                <a:spcPts val="0"/>
              </a:spcBef>
              <a:spcAft>
                <a:spcPts val="0"/>
              </a:spcAft>
              <a:buNone/>
            </a:pPr>
            <a:r>
              <a:rPr b="0" lang="en" sz="1000">
                <a:solidFill>
                  <a:schemeClr val="dk1"/>
                </a:solidFill>
                <a:latin typeface="Montserrat"/>
                <a:ea typeface="Montserrat"/>
                <a:cs typeface="Montserrat"/>
                <a:sym typeface="Montserrat"/>
              </a:rPr>
              <a:t>Detak jantung dari Scrum adalah sprint. Ia adalah sebuah batasan waktu (timebox) untuk pengembangan produk yang siap digunakan oleh pengguna atau dimasukkan ke lingkungan produksi dalam konteks pengembangan piranti lunak yang berdurasi tidak lebih dari 30 hari. </a:t>
            </a:r>
            <a:endParaRPr b="0" sz="1000">
              <a:solidFill>
                <a:schemeClr val="dk1"/>
              </a:solidFill>
              <a:latin typeface="Montserrat"/>
              <a:ea typeface="Montserrat"/>
              <a:cs typeface="Montserrat"/>
              <a:sym typeface="Montserrat"/>
            </a:endParaRPr>
          </a:p>
          <a:p>
            <a:pPr indent="0" lvl="0" marL="0" rtl="0" algn="just">
              <a:lnSpc>
                <a:spcPct val="128571"/>
              </a:lnSpc>
              <a:spcBef>
                <a:spcPts val="0"/>
              </a:spcBef>
              <a:spcAft>
                <a:spcPts val="0"/>
              </a:spcAft>
              <a:buNone/>
            </a:pPr>
            <a:r>
              <a:t/>
            </a:r>
            <a:endParaRPr b="0" sz="1000">
              <a:solidFill>
                <a:schemeClr val="dk1"/>
              </a:solidFill>
              <a:latin typeface="Montserrat"/>
              <a:ea typeface="Montserrat"/>
              <a:cs typeface="Montserrat"/>
              <a:sym typeface="Montserrat"/>
            </a:endParaRPr>
          </a:p>
          <a:p>
            <a:pPr indent="0" lvl="0" marL="0" rtl="0" algn="just">
              <a:lnSpc>
                <a:spcPct val="128571"/>
              </a:lnSpc>
              <a:spcBef>
                <a:spcPts val="0"/>
              </a:spcBef>
              <a:spcAft>
                <a:spcPts val="0"/>
              </a:spcAft>
              <a:buNone/>
            </a:pPr>
            <a:r>
              <a:rPr b="0" lang="en" sz="1000">
                <a:solidFill>
                  <a:schemeClr val="dk1"/>
                </a:solidFill>
                <a:latin typeface="Montserrat"/>
                <a:ea typeface="Montserrat"/>
                <a:cs typeface="Montserrat"/>
                <a:sym typeface="Montserrat"/>
              </a:rPr>
              <a:t>Karena durasi Sprint lebih singkat dibandingkan durasi pengembangan produk, maka dalam daur hidup pengembangan produk akan ada beberapa Sprint.</a:t>
            </a:r>
            <a:endParaRPr b="0" sz="1000">
              <a:solidFill>
                <a:schemeClr val="dk1"/>
              </a:solidFill>
              <a:latin typeface="Montserrat"/>
              <a:ea typeface="Montserrat"/>
              <a:cs typeface="Montserrat"/>
              <a:sym typeface="Montserrat"/>
            </a:endParaRPr>
          </a:p>
        </p:txBody>
      </p:sp>
      <p:sp>
        <p:nvSpPr>
          <p:cNvPr id="359" name="Google Shape;359;p53"/>
          <p:cNvSpPr txBox="1"/>
          <p:nvPr>
            <p:ph type="title"/>
          </p:nvPr>
        </p:nvSpPr>
        <p:spPr>
          <a:xfrm>
            <a:off x="680775" y="1472263"/>
            <a:ext cx="3977700" cy="369300"/>
          </a:xfrm>
          <a:prstGeom prst="rect">
            <a:avLst/>
          </a:prstGeom>
        </p:spPr>
        <p:txBody>
          <a:bodyPr anchorCtr="0" anchor="ctr" bIns="91425" lIns="0" spcFirstLastPara="1" rIns="0" wrap="square" tIns="91425">
            <a:spAutoFit/>
          </a:bodyPr>
          <a:lstStyle/>
          <a:p>
            <a:pPr indent="0" lvl="0" marL="0" marR="38100" rtl="0" algn="l">
              <a:lnSpc>
                <a:spcPct val="128571"/>
              </a:lnSpc>
              <a:spcBef>
                <a:spcPts val="0"/>
              </a:spcBef>
              <a:spcAft>
                <a:spcPts val="0"/>
              </a:spcAft>
              <a:buNone/>
            </a:pPr>
            <a:r>
              <a:rPr lang="en">
                <a:solidFill>
                  <a:schemeClr val="accent1"/>
                </a:solidFill>
                <a:latin typeface="Montserrat"/>
                <a:ea typeface="Montserrat"/>
                <a:cs typeface="Montserrat"/>
                <a:sym typeface="Montserrat"/>
              </a:rPr>
              <a:t>Sprint:</a:t>
            </a:r>
            <a:endParaRPr>
              <a:solidFill>
                <a:schemeClr val="accent1"/>
              </a:solidFill>
              <a:latin typeface="Montserrat"/>
              <a:ea typeface="Montserrat"/>
              <a:cs typeface="Montserrat"/>
              <a:sym typeface="Montserrat"/>
            </a:endParaRPr>
          </a:p>
        </p:txBody>
      </p:sp>
      <p:sp>
        <p:nvSpPr>
          <p:cNvPr id="360" name="Google Shape;360;p53"/>
          <p:cNvSpPr txBox="1"/>
          <p:nvPr>
            <p:ph type="title"/>
          </p:nvPr>
        </p:nvSpPr>
        <p:spPr>
          <a:xfrm>
            <a:off x="680775"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artefacts</a:t>
            </a:r>
            <a:endParaRPr>
              <a:latin typeface="Montserrat"/>
              <a:ea typeface="Montserrat"/>
              <a:cs typeface="Montserrat"/>
              <a:sym typeface="Montserrat"/>
            </a:endParaRPr>
          </a:p>
        </p:txBody>
      </p:sp>
      <p:sp>
        <p:nvSpPr>
          <p:cNvPr id="361" name="Google Shape;361;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62" name="Google Shape;362;p53"/>
          <p:cNvPicPr preferRelativeResize="0"/>
          <p:nvPr/>
        </p:nvPicPr>
        <p:blipFill>
          <a:blip r:embed="rId3">
            <a:alphaModFix/>
          </a:blip>
          <a:stretch>
            <a:fillRect/>
          </a:stretch>
        </p:blipFill>
        <p:spPr>
          <a:xfrm>
            <a:off x="5894850" y="1258149"/>
            <a:ext cx="3035850" cy="25994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6" name="Shape 366"/>
        <p:cNvGrpSpPr/>
        <p:nvPr/>
      </p:nvGrpSpPr>
      <p:grpSpPr>
        <a:xfrm>
          <a:off x="0" y="0"/>
          <a:ext cx="0" cy="0"/>
          <a:chOff x="0" y="0"/>
          <a:chExt cx="0" cy="0"/>
        </a:xfrm>
      </p:grpSpPr>
      <p:sp>
        <p:nvSpPr>
          <p:cNvPr id="367" name="Google Shape;367;p54"/>
          <p:cNvSpPr txBox="1"/>
          <p:nvPr>
            <p:ph type="title"/>
          </p:nvPr>
        </p:nvSpPr>
        <p:spPr>
          <a:xfrm>
            <a:off x="757050" y="2435275"/>
            <a:ext cx="3977700" cy="734400"/>
          </a:xfrm>
          <a:prstGeom prst="rect">
            <a:avLst/>
          </a:prstGeom>
        </p:spPr>
        <p:txBody>
          <a:bodyPr anchorCtr="0" anchor="ctr" bIns="91425" lIns="0" spcFirstLastPara="1" rIns="0" wrap="square" tIns="91425">
            <a:spAutoFit/>
          </a:bodyPr>
          <a:lstStyle/>
          <a:p>
            <a:pPr indent="0" lvl="0" marL="0" rtl="0" algn="just">
              <a:lnSpc>
                <a:spcPct val="128571"/>
              </a:lnSpc>
              <a:spcBef>
                <a:spcPts val="0"/>
              </a:spcBef>
              <a:spcAft>
                <a:spcPts val="0"/>
              </a:spcAft>
              <a:buNone/>
            </a:pPr>
            <a:r>
              <a:rPr b="0" lang="en" sz="1000">
                <a:solidFill>
                  <a:schemeClr val="dk1"/>
                </a:solidFill>
                <a:latin typeface="Montserrat"/>
                <a:ea typeface="Montserrat"/>
                <a:cs typeface="Montserrat"/>
                <a:sym typeface="Montserrat"/>
              </a:rPr>
              <a:t>Sprint backlog, di sisi lain, dapat didefinisikan sebagai bagian dari product backlog. Hal ini berisi cerita (user story) yang perlu dicapai selama sprint berikutnya.</a:t>
            </a:r>
            <a:endParaRPr b="0" sz="1000">
              <a:solidFill>
                <a:schemeClr val="dk1"/>
              </a:solidFill>
              <a:latin typeface="Montserrat"/>
              <a:ea typeface="Montserrat"/>
              <a:cs typeface="Montserrat"/>
              <a:sym typeface="Montserrat"/>
            </a:endParaRPr>
          </a:p>
        </p:txBody>
      </p:sp>
      <p:sp>
        <p:nvSpPr>
          <p:cNvPr id="368" name="Google Shape;368;p54"/>
          <p:cNvSpPr txBox="1"/>
          <p:nvPr>
            <p:ph type="title"/>
          </p:nvPr>
        </p:nvSpPr>
        <p:spPr>
          <a:xfrm>
            <a:off x="680775" y="1973813"/>
            <a:ext cx="3977700" cy="369300"/>
          </a:xfrm>
          <a:prstGeom prst="rect">
            <a:avLst/>
          </a:prstGeom>
        </p:spPr>
        <p:txBody>
          <a:bodyPr anchorCtr="0" anchor="ctr" bIns="91425" lIns="0" spcFirstLastPara="1" rIns="0" wrap="square" tIns="91425">
            <a:spAutoFit/>
          </a:bodyPr>
          <a:lstStyle/>
          <a:p>
            <a:pPr indent="0" lvl="0" marL="0" marR="38100" rtl="0" algn="l">
              <a:lnSpc>
                <a:spcPct val="128571"/>
              </a:lnSpc>
              <a:spcBef>
                <a:spcPts val="0"/>
              </a:spcBef>
              <a:spcAft>
                <a:spcPts val="0"/>
              </a:spcAft>
              <a:buNone/>
            </a:pPr>
            <a:r>
              <a:rPr lang="en">
                <a:solidFill>
                  <a:schemeClr val="accent1"/>
                </a:solidFill>
                <a:latin typeface="Montserrat"/>
                <a:ea typeface="Montserrat"/>
                <a:cs typeface="Montserrat"/>
                <a:sym typeface="Montserrat"/>
              </a:rPr>
              <a:t> Sprint Product Backlog:</a:t>
            </a:r>
            <a:endParaRPr>
              <a:solidFill>
                <a:schemeClr val="accent1"/>
              </a:solidFill>
              <a:latin typeface="Montserrat"/>
              <a:ea typeface="Montserrat"/>
              <a:cs typeface="Montserrat"/>
              <a:sym typeface="Montserrat"/>
            </a:endParaRPr>
          </a:p>
        </p:txBody>
      </p:sp>
      <p:sp>
        <p:nvSpPr>
          <p:cNvPr id="369" name="Google Shape;369;p54"/>
          <p:cNvSpPr txBox="1"/>
          <p:nvPr>
            <p:ph type="title"/>
          </p:nvPr>
        </p:nvSpPr>
        <p:spPr>
          <a:xfrm>
            <a:off x="680775"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artefacts</a:t>
            </a:r>
            <a:endParaRPr>
              <a:latin typeface="Montserrat"/>
              <a:ea typeface="Montserrat"/>
              <a:cs typeface="Montserrat"/>
              <a:sym typeface="Montserrat"/>
            </a:endParaRPr>
          </a:p>
        </p:txBody>
      </p:sp>
      <p:sp>
        <p:nvSpPr>
          <p:cNvPr id="370" name="Google Shape;370;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71" name="Google Shape;371;p54"/>
          <p:cNvPicPr preferRelativeResize="0"/>
          <p:nvPr/>
        </p:nvPicPr>
        <p:blipFill>
          <a:blip r:embed="rId3">
            <a:alphaModFix/>
          </a:blip>
          <a:stretch>
            <a:fillRect/>
          </a:stretch>
        </p:blipFill>
        <p:spPr>
          <a:xfrm>
            <a:off x="5122025" y="1417100"/>
            <a:ext cx="3586424" cy="277073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5" name="Shape 375"/>
        <p:cNvGrpSpPr/>
        <p:nvPr/>
      </p:nvGrpSpPr>
      <p:grpSpPr>
        <a:xfrm>
          <a:off x="0" y="0"/>
          <a:ext cx="0" cy="0"/>
          <a:chOff x="0" y="0"/>
          <a:chExt cx="0" cy="0"/>
        </a:xfrm>
      </p:grpSpPr>
      <p:sp>
        <p:nvSpPr>
          <p:cNvPr id="376" name="Google Shape;376;p55"/>
          <p:cNvSpPr txBox="1"/>
          <p:nvPr>
            <p:ph type="title"/>
          </p:nvPr>
        </p:nvSpPr>
        <p:spPr>
          <a:xfrm>
            <a:off x="680775" y="2053875"/>
            <a:ext cx="4572000" cy="1130100"/>
          </a:xfrm>
          <a:prstGeom prst="rect">
            <a:avLst/>
          </a:prstGeom>
        </p:spPr>
        <p:txBody>
          <a:bodyPr anchorCtr="0" anchor="ctr" bIns="91425" lIns="0" spcFirstLastPara="1" rIns="0" wrap="square" tIns="91425">
            <a:spAutoFit/>
          </a:bodyPr>
          <a:lstStyle/>
          <a:p>
            <a:pPr indent="0" lvl="0" marL="0" rtl="0" algn="just">
              <a:lnSpc>
                <a:spcPct val="128571"/>
              </a:lnSpc>
              <a:spcBef>
                <a:spcPts val="0"/>
              </a:spcBef>
              <a:spcAft>
                <a:spcPts val="0"/>
              </a:spcAft>
              <a:buNone/>
            </a:pPr>
            <a:r>
              <a:rPr b="0" lang="en" sz="1000">
                <a:solidFill>
                  <a:schemeClr val="dk1"/>
                </a:solidFill>
                <a:latin typeface="Montserrat"/>
                <a:ea typeface="Montserrat"/>
                <a:cs typeface="Montserrat"/>
                <a:sym typeface="Montserrat"/>
              </a:rPr>
              <a:t>Increments  produk adalah deliverable pelanggan yang dihasilkan dengan menyelesaikan tugas backlog produk selama sprint. Ini juga mencakup peningkatan dari semua sprint sebelumnya. Selalu ada satu increments untuk setiap sprint dan kenaikan diputuskan selama fase perencanaan scrum.</a:t>
            </a:r>
            <a:endParaRPr b="0" sz="1000">
              <a:solidFill>
                <a:schemeClr val="dk1"/>
              </a:solidFill>
              <a:latin typeface="Montserrat"/>
              <a:ea typeface="Montserrat"/>
              <a:cs typeface="Montserrat"/>
              <a:sym typeface="Montserrat"/>
            </a:endParaRPr>
          </a:p>
        </p:txBody>
      </p:sp>
      <p:sp>
        <p:nvSpPr>
          <p:cNvPr id="377" name="Google Shape;377;p55"/>
          <p:cNvSpPr txBox="1"/>
          <p:nvPr>
            <p:ph type="title"/>
          </p:nvPr>
        </p:nvSpPr>
        <p:spPr>
          <a:xfrm>
            <a:off x="680775" y="1684563"/>
            <a:ext cx="3977700" cy="369300"/>
          </a:xfrm>
          <a:prstGeom prst="rect">
            <a:avLst/>
          </a:prstGeom>
        </p:spPr>
        <p:txBody>
          <a:bodyPr anchorCtr="0" anchor="ctr" bIns="91425" lIns="0" spcFirstLastPara="1" rIns="0" wrap="square" tIns="91425">
            <a:spAutoFit/>
          </a:bodyPr>
          <a:lstStyle/>
          <a:p>
            <a:pPr indent="0" lvl="0" marL="0" marR="38100" rtl="0" algn="l">
              <a:lnSpc>
                <a:spcPct val="128571"/>
              </a:lnSpc>
              <a:spcBef>
                <a:spcPts val="0"/>
              </a:spcBef>
              <a:spcAft>
                <a:spcPts val="0"/>
              </a:spcAft>
              <a:buNone/>
            </a:pPr>
            <a:r>
              <a:rPr lang="en">
                <a:solidFill>
                  <a:schemeClr val="accent1"/>
                </a:solidFill>
                <a:latin typeface="Montserrat"/>
                <a:ea typeface="Montserrat"/>
                <a:cs typeface="Montserrat"/>
                <a:sym typeface="Montserrat"/>
              </a:rPr>
              <a:t> Increments:</a:t>
            </a:r>
            <a:endParaRPr>
              <a:solidFill>
                <a:schemeClr val="accent1"/>
              </a:solidFill>
              <a:latin typeface="Montserrat"/>
              <a:ea typeface="Montserrat"/>
              <a:cs typeface="Montserrat"/>
              <a:sym typeface="Montserrat"/>
            </a:endParaRPr>
          </a:p>
        </p:txBody>
      </p:sp>
      <p:sp>
        <p:nvSpPr>
          <p:cNvPr id="378" name="Google Shape;378;p55"/>
          <p:cNvSpPr txBox="1"/>
          <p:nvPr>
            <p:ph type="title"/>
          </p:nvPr>
        </p:nvSpPr>
        <p:spPr>
          <a:xfrm>
            <a:off x="680775"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Scrum artefacts</a:t>
            </a:r>
            <a:endParaRPr>
              <a:latin typeface="Montserrat"/>
              <a:ea typeface="Montserrat"/>
              <a:cs typeface="Montserrat"/>
              <a:sym typeface="Montserrat"/>
            </a:endParaRPr>
          </a:p>
        </p:txBody>
      </p:sp>
      <p:sp>
        <p:nvSpPr>
          <p:cNvPr id="379" name="Google Shape;379;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80" name="Google Shape;380;p55"/>
          <p:cNvPicPr preferRelativeResize="0"/>
          <p:nvPr/>
        </p:nvPicPr>
        <p:blipFill>
          <a:blip r:embed="rId3">
            <a:alphaModFix/>
          </a:blip>
          <a:stretch>
            <a:fillRect/>
          </a:stretch>
        </p:blipFill>
        <p:spPr>
          <a:xfrm>
            <a:off x="5917225" y="1036775"/>
            <a:ext cx="2323125" cy="369722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4" name="Shape 384"/>
        <p:cNvGrpSpPr/>
        <p:nvPr/>
      </p:nvGrpSpPr>
      <p:grpSpPr>
        <a:xfrm>
          <a:off x="0" y="0"/>
          <a:ext cx="0" cy="0"/>
          <a:chOff x="0" y="0"/>
          <a:chExt cx="0" cy="0"/>
        </a:xfrm>
      </p:grpSpPr>
      <p:pic>
        <p:nvPicPr>
          <p:cNvPr id="385" name="Google Shape;385;p56"/>
          <p:cNvPicPr preferRelativeResize="0"/>
          <p:nvPr/>
        </p:nvPicPr>
        <p:blipFill>
          <a:blip r:embed="rId3">
            <a:alphaModFix/>
          </a:blip>
          <a:stretch>
            <a:fillRect/>
          </a:stretch>
        </p:blipFill>
        <p:spPr>
          <a:xfrm>
            <a:off x="785025" y="730024"/>
            <a:ext cx="7573949" cy="36834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9" name="Shape 389"/>
        <p:cNvGrpSpPr/>
        <p:nvPr/>
      </p:nvGrpSpPr>
      <p:grpSpPr>
        <a:xfrm>
          <a:off x="0" y="0"/>
          <a:ext cx="0" cy="0"/>
          <a:chOff x="0" y="0"/>
          <a:chExt cx="0" cy="0"/>
        </a:xfrm>
      </p:grpSpPr>
      <p:pic>
        <p:nvPicPr>
          <p:cNvPr id="390" name="Google Shape;390;p57"/>
          <p:cNvPicPr preferRelativeResize="0"/>
          <p:nvPr/>
        </p:nvPicPr>
        <p:blipFill rotWithShape="1">
          <a:blip r:embed="rId3">
            <a:alphaModFix/>
          </a:blip>
          <a:srcRect b="10018" l="2021" r="2193" t="3093"/>
          <a:stretch/>
        </p:blipFill>
        <p:spPr>
          <a:xfrm>
            <a:off x="1140750" y="144100"/>
            <a:ext cx="6862501" cy="474124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alpha val="41340"/>
          </a:srgbClr>
        </a:solidFill>
      </p:bgPr>
    </p:bg>
    <p:spTree>
      <p:nvGrpSpPr>
        <p:cNvPr id="394" name="Shape 394"/>
        <p:cNvGrpSpPr/>
        <p:nvPr/>
      </p:nvGrpSpPr>
      <p:grpSpPr>
        <a:xfrm>
          <a:off x="0" y="0"/>
          <a:ext cx="0" cy="0"/>
          <a:chOff x="0" y="0"/>
          <a:chExt cx="0" cy="0"/>
        </a:xfrm>
      </p:grpSpPr>
      <p:pic>
        <p:nvPicPr>
          <p:cNvPr id="395" name="Google Shape;395;p58"/>
          <p:cNvPicPr preferRelativeResize="0"/>
          <p:nvPr/>
        </p:nvPicPr>
        <p:blipFill rotWithShape="1">
          <a:blip r:embed="rId3">
            <a:alphaModFix/>
          </a:blip>
          <a:srcRect b="13517" l="0" r="0" t="0"/>
          <a:stretch/>
        </p:blipFill>
        <p:spPr>
          <a:xfrm>
            <a:off x="589525" y="479400"/>
            <a:ext cx="7964948" cy="4184701"/>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alpha val="41340"/>
          </a:srgbClr>
        </a:solidFill>
      </p:bgPr>
    </p:bg>
    <p:spTree>
      <p:nvGrpSpPr>
        <p:cNvPr id="399" name="Shape 399"/>
        <p:cNvGrpSpPr/>
        <p:nvPr/>
      </p:nvGrpSpPr>
      <p:grpSpPr>
        <a:xfrm>
          <a:off x="0" y="0"/>
          <a:ext cx="0" cy="0"/>
          <a:chOff x="0" y="0"/>
          <a:chExt cx="0" cy="0"/>
        </a:xfrm>
      </p:grpSpPr>
      <p:pic>
        <p:nvPicPr>
          <p:cNvPr id="400" name="Google Shape;400;p59"/>
          <p:cNvPicPr preferRelativeResize="0"/>
          <p:nvPr/>
        </p:nvPicPr>
        <p:blipFill rotWithShape="1">
          <a:blip r:embed="rId3">
            <a:alphaModFix/>
          </a:blip>
          <a:srcRect b="15318" l="0" r="0" t="0"/>
          <a:stretch/>
        </p:blipFill>
        <p:spPr>
          <a:xfrm>
            <a:off x="1355825" y="522988"/>
            <a:ext cx="6432349" cy="409752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Cara Kerja Scrum</a:t>
            </a:r>
            <a:endParaRPr>
              <a:latin typeface="Montserrat"/>
              <a:ea typeface="Montserrat"/>
              <a:cs typeface="Montserrat"/>
              <a:sym typeface="Montserrat"/>
            </a:endParaRPr>
          </a:p>
        </p:txBody>
      </p:sp>
      <p:sp>
        <p:nvSpPr>
          <p:cNvPr id="406" name="Google Shape;406;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7" name="Google Shape;407;p60"/>
          <p:cNvSpPr txBox="1"/>
          <p:nvPr/>
        </p:nvSpPr>
        <p:spPr>
          <a:xfrm>
            <a:off x="487625" y="1550075"/>
            <a:ext cx="5276400" cy="1839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500">
                <a:solidFill>
                  <a:srgbClr val="FFFFFF"/>
                </a:solidFill>
                <a:latin typeface="Montserrat"/>
                <a:ea typeface="Montserrat"/>
                <a:cs typeface="Montserrat"/>
                <a:sym typeface="Montserrat"/>
              </a:rPr>
              <a:t>Barusan u</a:t>
            </a:r>
            <a:r>
              <a:rPr b="1" lang="en" sz="1500">
                <a:solidFill>
                  <a:srgbClr val="FFFFFF"/>
                </a:solidFill>
                <a:latin typeface="Montserrat"/>
                <a:ea typeface="Montserrat"/>
                <a:cs typeface="Montserrat"/>
                <a:sym typeface="Montserrat"/>
              </a:rPr>
              <a:t>dah dapet gambaran </a:t>
            </a:r>
            <a:r>
              <a:rPr b="1" lang="en" sz="1500">
                <a:solidFill>
                  <a:srgbClr val="FFFFFF"/>
                </a:solidFill>
                <a:latin typeface="Montserrat"/>
                <a:ea typeface="Montserrat"/>
                <a:cs typeface="Montserrat"/>
                <a:sym typeface="Montserrat"/>
              </a:rPr>
              <a:t>soal bagaimana scrum artefacts, kan</a:t>
            </a:r>
            <a:r>
              <a:rPr b="1" lang="en" sz="1500">
                <a:solidFill>
                  <a:srgbClr val="FFFFFF"/>
                </a:solidFill>
                <a:latin typeface="Montserrat"/>
                <a:ea typeface="Montserrat"/>
                <a:cs typeface="Montserrat"/>
                <a:sym typeface="Montserrat"/>
              </a:rPr>
              <a:t>? Sekarang kita lanjut untuk bahas </a:t>
            </a:r>
            <a:r>
              <a:rPr b="1" lang="en" sz="1500">
                <a:solidFill>
                  <a:schemeClr val="accent1"/>
                </a:solidFill>
                <a:latin typeface="Montserrat"/>
                <a:ea typeface="Montserrat"/>
                <a:cs typeface="Montserrat"/>
                <a:sym typeface="Montserrat"/>
              </a:rPr>
              <a:t>cara kerja scrum. </a:t>
            </a:r>
            <a:endParaRPr b="1" sz="1500">
              <a:solidFill>
                <a:schemeClr val="accent1"/>
              </a:solidFill>
              <a:latin typeface="Montserrat"/>
              <a:ea typeface="Montserrat"/>
              <a:cs typeface="Montserrat"/>
              <a:sym typeface="Montserrat"/>
            </a:endParaRPr>
          </a:p>
          <a:p>
            <a:pPr indent="0" lvl="0" marL="0" rtl="0" algn="l">
              <a:spcBef>
                <a:spcPts val="0"/>
              </a:spcBef>
              <a:spcAft>
                <a:spcPts val="0"/>
              </a:spcAft>
              <a:buNone/>
            </a:pPr>
            <a:r>
              <a:t/>
            </a:r>
            <a:endParaRPr b="1" sz="1500">
              <a:solidFill>
                <a:schemeClr val="lt1"/>
              </a:solidFill>
              <a:latin typeface="Montserrat"/>
              <a:ea typeface="Montserrat"/>
              <a:cs typeface="Montserrat"/>
              <a:sym typeface="Montserrat"/>
            </a:endParaRPr>
          </a:p>
          <a:p>
            <a:pPr indent="0" lvl="0" marL="0" rtl="0" algn="l">
              <a:spcBef>
                <a:spcPts val="0"/>
              </a:spcBef>
              <a:spcAft>
                <a:spcPts val="0"/>
              </a:spcAft>
              <a:buNone/>
            </a:pPr>
            <a:r>
              <a:rPr b="1" lang="en" sz="1500">
                <a:solidFill>
                  <a:schemeClr val="lt1"/>
                </a:solidFill>
                <a:latin typeface="Montserrat"/>
                <a:ea typeface="Montserrat"/>
                <a:cs typeface="Montserrat"/>
                <a:sym typeface="Montserrat"/>
              </a:rPr>
              <a:t>Tambah p</a:t>
            </a:r>
            <a:r>
              <a:rPr b="1" lang="en" sz="1500">
                <a:solidFill>
                  <a:schemeClr val="lt1"/>
                </a:solidFill>
                <a:latin typeface="Montserrat"/>
                <a:ea typeface="Montserrat"/>
                <a:cs typeface="Montserrat"/>
                <a:sym typeface="Montserrat"/>
              </a:rPr>
              <a:t>enasaran, kan? </a:t>
            </a:r>
            <a:r>
              <a:rPr b="1" lang="en" sz="1500">
                <a:solidFill>
                  <a:srgbClr val="FFFFFF"/>
                </a:solidFill>
                <a:latin typeface="Montserrat"/>
                <a:ea typeface="Montserrat"/>
                <a:cs typeface="Montserrat"/>
                <a:sym typeface="Montserrat"/>
              </a:rPr>
              <a:t>Yuk kita gass langsung!</a:t>
            </a:r>
            <a:endParaRPr b="1" sz="1500">
              <a:solidFill>
                <a:srgbClr val="FFFFFF"/>
              </a:solidFill>
              <a:latin typeface="Montserrat"/>
              <a:ea typeface="Montserrat"/>
              <a:cs typeface="Montserrat"/>
              <a:sym typeface="Montserrat"/>
            </a:endParaRPr>
          </a:p>
        </p:txBody>
      </p:sp>
      <p:pic>
        <p:nvPicPr>
          <p:cNvPr id="408" name="Google Shape;408;p60"/>
          <p:cNvPicPr preferRelativeResize="0"/>
          <p:nvPr/>
        </p:nvPicPr>
        <p:blipFill>
          <a:blip r:embed="rId3">
            <a:alphaModFix/>
          </a:blip>
          <a:stretch>
            <a:fillRect/>
          </a:stretch>
        </p:blipFill>
        <p:spPr>
          <a:xfrm>
            <a:off x="5862725" y="1252225"/>
            <a:ext cx="2677600" cy="31248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4" name="Google Shape;414;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Cara Kerja Scrum</a:t>
            </a:r>
            <a:endParaRPr>
              <a:latin typeface="Montserrat"/>
              <a:ea typeface="Montserrat"/>
              <a:cs typeface="Montserrat"/>
              <a:sym typeface="Montserrat"/>
            </a:endParaRPr>
          </a:p>
        </p:txBody>
      </p:sp>
      <p:sp>
        <p:nvSpPr>
          <p:cNvPr id="415" name="Google Shape;415;p61"/>
          <p:cNvSpPr txBox="1"/>
          <p:nvPr/>
        </p:nvSpPr>
        <p:spPr>
          <a:xfrm>
            <a:off x="882900" y="3868250"/>
            <a:ext cx="7378200" cy="538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Sebuah laporan oleh PwC dalam “Agile Project Delivery Confidence” mengungkapkan bahwa proyek yang dimiliki Agile punya tingkat kesuksesan 28% lebih tinggi daripada manajemen cara konvensional. Dalam suatu organisasi, dikatakan 71% laporan disampaikan dengan pendekatan Agile.</a:t>
            </a:r>
            <a:endParaRPr sz="1000">
              <a:solidFill>
                <a:schemeClr val="dk1"/>
              </a:solidFill>
              <a:latin typeface="Montserrat"/>
              <a:ea typeface="Montserrat"/>
              <a:cs typeface="Montserrat"/>
              <a:sym typeface="Montserrat"/>
            </a:endParaRPr>
          </a:p>
        </p:txBody>
      </p:sp>
      <p:pic>
        <p:nvPicPr>
          <p:cNvPr id="416" name="Google Shape;416;p61"/>
          <p:cNvPicPr preferRelativeResize="0"/>
          <p:nvPr/>
        </p:nvPicPr>
        <p:blipFill>
          <a:blip r:embed="rId3">
            <a:alphaModFix/>
          </a:blip>
          <a:stretch>
            <a:fillRect/>
          </a:stretch>
        </p:blipFill>
        <p:spPr>
          <a:xfrm>
            <a:off x="1907025" y="1089725"/>
            <a:ext cx="5471626" cy="234657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6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2" name="Google Shape;422;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Cara Kerja Scrum</a:t>
            </a:r>
            <a:endParaRPr>
              <a:latin typeface="Montserrat"/>
              <a:ea typeface="Montserrat"/>
              <a:cs typeface="Montserrat"/>
              <a:sym typeface="Montserrat"/>
            </a:endParaRPr>
          </a:p>
        </p:txBody>
      </p:sp>
      <p:sp>
        <p:nvSpPr>
          <p:cNvPr id="423" name="Google Shape;423;p62"/>
          <p:cNvSpPr txBox="1"/>
          <p:nvPr/>
        </p:nvSpPr>
        <p:spPr>
          <a:xfrm>
            <a:off x="882900" y="3671300"/>
            <a:ext cx="7378200" cy="1099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Maka, sangat besar kemungkinan seorang UX designer bekerja dalam suatu organisasi yang menerapkan Agile dan Scrum. Apalagi, sudah banyak perusahaan yang terbukti sukses setelah menggunakan Scrum dalam manajemennya. Oleh karena itu, kita juga harus memahami cara kerja Scrum dan hubungannya dengan UX design.</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Nah, di slide selanjutnya, kita akan melihat bagan kerja tim UX dalam Scrum. Yuk kita simak ~</a:t>
            </a:r>
            <a:endParaRPr sz="1000">
              <a:solidFill>
                <a:schemeClr val="dk1"/>
              </a:solidFill>
              <a:latin typeface="Montserrat"/>
              <a:ea typeface="Montserrat"/>
              <a:cs typeface="Montserrat"/>
              <a:sym typeface="Montserrat"/>
            </a:endParaRPr>
          </a:p>
        </p:txBody>
      </p:sp>
      <p:pic>
        <p:nvPicPr>
          <p:cNvPr id="424" name="Google Shape;424;p62"/>
          <p:cNvPicPr preferRelativeResize="0"/>
          <p:nvPr/>
        </p:nvPicPr>
        <p:blipFill>
          <a:blip r:embed="rId3">
            <a:alphaModFix/>
          </a:blip>
          <a:stretch>
            <a:fillRect/>
          </a:stretch>
        </p:blipFill>
        <p:spPr>
          <a:xfrm>
            <a:off x="1765350" y="914388"/>
            <a:ext cx="5613300" cy="23453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6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0" name="Google Shape;430;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Cara Kerja Scrum</a:t>
            </a:r>
            <a:endParaRPr>
              <a:latin typeface="Montserrat"/>
              <a:ea typeface="Montserrat"/>
              <a:cs typeface="Montserrat"/>
              <a:sym typeface="Montserrat"/>
            </a:endParaRPr>
          </a:p>
        </p:txBody>
      </p:sp>
      <p:pic>
        <p:nvPicPr>
          <p:cNvPr id="431" name="Google Shape;431;p63"/>
          <p:cNvPicPr preferRelativeResize="0"/>
          <p:nvPr/>
        </p:nvPicPr>
        <p:blipFill>
          <a:blip r:embed="rId3">
            <a:alphaModFix/>
          </a:blip>
          <a:stretch>
            <a:fillRect/>
          </a:stretch>
        </p:blipFill>
        <p:spPr>
          <a:xfrm>
            <a:off x="1390013" y="1091400"/>
            <a:ext cx="6668774" cy="3964901"/>
          </a:xfrm>
          <a:prstGeom prst="rect">
            <a:avLst/>
          </a:prstGeom>
          <a:noFill/>
          <a:ln>
            <a:noFill/>
          </a:ln>
        </p:spPr>
      </p:pic>
      <p:sp>
        <p:nvSpPr>
          <p:cNvPr id="432" name="Google Shape;432;p63"/>
          <p:cNvSpPr txBox="1"/>
          <p:nvPr/>
        </p:nvSpPr>
        <p:spPr>
          <a:xfrm>
            <a:off x="1921250" y="629700"/>
            <a:ext cx="5741700" cy="461700"/>
          </a:xfrm>
          <a:prstGeom prst="rect">
            <a:avLst/>
          </a:prstGeom>
          <a:noFill/>
          <a:ln>
            <a:noFill/>
          </a:ln>
        </p:spPr>
        <p:txBody>
          <a:bodyPr anchorCtr="0" anchor="t" bIns="91425" lIns="91425" spcFirstLastPara="1" rIns="91425" wrap="square" tIns="91425">
            <a:spAutoFit/>
          </a:bodyPr>
          <a:lstStyle/>
          <a:p>
            <a:pPr indent="0" lvl="0" marL="0" marR="38100" rtl="0" algn="ctr">
              <a:lnSpc>
                <a:spcPct val="150000"/>
              </a:lnSpc>
              <a:spcBef>
                <a:spcPts val="0"/>
              </a:spcBef>
              <a:spcAft>
                <a:spcPts val="0"/>
              </a:spcAft>
              <a:buNone/>
            </a:pPr>
            <a:r>
              <a:rPr b="1" lang="en" sz="1800">
                <a:solidFill>
                  <a:srgbClr val="743673"/>
                </a:solidFill>
                <a:latin typeface="Montserrat"/>
                <a:ea typeface="Montserrat"/>
                <a:cs typeface="Montserrat"/>
                <a:sym typeface="Montserrat"/>
              </a:rPr>
              <a:t>Ilustrasi tim UX bekerja dalam Scrum</a:t>
            </a:r>
            <a:endParaRPr>
              <a:solidFill>
                <a:srgbClr val="743673"/>
              </a:solidFill>
              <a:latin typeface="Montserrat"/>
              <a:ea typeface="Montserrat"/>
              <a:cs typeface="Montserrat"/>
              <a:sym typeface="Montserrat"/>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6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8" name="Google Shape;438;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Cara Kerja Scrum</a:t>
            </a:r>
            <a:endParaRPr>
              <a:latin typeface="Montserrat"/>
              <a:ea typeface="Montserrat"/>
              <a:cs typeface="Montserrat"/>
              <a:sym typeface="Montserrat"/>
            </a:endParaRPr>
          </a:p>
        </p:txBody>
      </p:sp>
      <p:sp>
        <p:nvSpPr>
          <p:cNvPr id="439" name="Google Shape;439;p64"/>
          <p:cNvSpPr txBox="1"/>
          <p:nvPr/>
        </p:nvSpPr>
        <p:spPr>
          <a:xfrm>
            <a:off x="685800" y="1458025"/>
            <a:ext cx="4359600" cy="2615400"/>
          </a:xfrm>
          <a:prstGeom prst="rect">
            <a:avLst/>
          </a:prstGeom>
          <a:noFill/>
          <a:ln>
            <a:noFill/>
          </a:ln>
        </p:spPr>
        <p:txBody>
          <a:bodyPr anchorCtr="0" anchor="t" bIns="0" lIns="0" spcFirstLastPara="1" rIns="0" wrap="square" tIns="0">
            <a:noAutofit/>
          </a:bodyPr>
          <a:lstStyle/>
          <a:p>
            <a:pPr indent="0" lvl="0" marL="0" marR="38100" rtl="0" algn="just">
              <a:lnSpc>
                <a:spcPct val="115000"/>
              </a:lnSpc>
              <a:spcBef>
                <a:spcPts val="0"/>
              </a:spcBef>
              <a:spcAft>
                <a:spcPts val="0"/>
              </a:spcAft>
              <a:buClr>
                <a:schemeClr val="dk1"/>
              </a:buClr>
              <a:buSzPts val="1100"/>
              <a:buFont typeface="Arial"/>
              <a:buNone/>
            </a:pPr>
            <a:r>
              <a:rPr b="1" lang="en" sz="1500">
                <a:solidFill>
                  <a:srgbClr val="743673"/>
                </a:solidFill>
                <a:latin typeface="Montserrat"/>
                <a:ea typeface="Montserrat"/>
                <a:cs typeface="Montserrat"/>
                <a:sym typeface="Montserrat"/>
              </a:rPr>
              <a:t>Sejak kapan tim UX mulai bekerja dalam Scrum?</a:t>
            </a:r>
            <a:endParaRPr sz="1500">
              <a:solidFill>
                <a:srgbClr val="743673"/>
              </a:solidFill>
              <a:latin typeface="Montserrat"/>
              <a:ea typeface="Montserrat"/>
              <a:cs typeface="Montserrat"/>
              <a:sym typeface="Montserrat"/>
            </a:endParaRPr>
          </a:p>
          <a:p>
            <a:pPr indent="0" lvl="0" marL="0" marR="38100" rtl="0" algn="just">
              <a:lnSpc>
                <a:spcPct val="115000"/>
              </a:lnSpc>
              <a:spcBef>
                <a:spcPts val="0"/>
              </a:spcBef>
              <a:spcAft>
                <a:spcPts val="0"/>
              </a:spcAft>
              <a:buClr>
                <a:schemeClr val="dk1"/>
              </a:buClr>
              <a:buSzPts val="1100"/>
              <a:buFont typeface="Arial"/>
              <a:buNone/>
            </a:pPr>
            <a:r>
              <a:t/>
            </a:r>
            <a:endParaRPr sz="1200">
              <a:solidFill>
                <a:srgbClr val="222222"/>
              </a:solidFill>
              <a:latin typeface="Roboto"/>
              <a:ea typeface="Roboto"/>
              <a:cs typeface="Roboto"/>
              <a:sym typeface="Roboto"/>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Idealnya, tim UX (UX researcher, UX designer, dan UI designer) akan bekerja sejak sprint dimulai. Mereka harus menentukan requirement dan desain produk sejak sebelum proses backlog grooming.</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Namun, tim UX sebaiknya terlibat dalam proses sprint untuk membantu tim developer yang membutuhkan klarifikasi terkait user story dan tasks yang dikerjakan. Selain itu, tim UX juga bertugas mempersiapkan project untuk sprint selanjutnya agar bisa disampaikan tepat waktu kepada tim development saat sprint planning mendatang.</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1600"/>
              </a:spcAft>
              <a:buClr>
                <a:schemeClr val="dk1"/>
              </a:buClr>
              <a:buSzPts val="1100"/>
              <a:buFont typeface="Arial"/>
              <a:buNone/>
            </a:pPr>
            <a:r>
              <a:t/>
            </a:r>
            <a:endParaRPr sz="1000">
              <a:solidFill>
                <a:schemeClr val="dk1"/>
              </a:solidFill>
              <a:latin typeface="Montserrat"/>
              <a:ea typeface="Montserrat"/>
              <a:cs typeface="Montserrat"/>
              <a:sym typeface="Montserrat"/>
            </a:endParaRPr>
          </a:p>
        </p:txBody>
      </p:sp>
      <p:pic>
        <p:nvPicPr>
          <p:cNvPr id="440" name="Google Shape;440;p64"/>
          <p:cNvPicPr preferRelativeResize="0"/>
          <p:nvPr/>
        </p:nvPicPr>
        <p:blipFill>
          <a:blip r:embed="rId3">
            <a:alphaModFix/>
          </a:blip>
          <a:stretch>
            <a:fillRect/>
          </a:stretch>
        </p:blipFill>
        <p:spPr>
          <a:xfrm>
            <a:off x="5376175" y="1266650"/>
            <a:ext cx="3317448" cy="3220227"/>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6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6" name="Google Shape;446;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Cara Kerja Scrum</a:t>
            </a:r>
            <a:endParaRPr>
              <a:latin typeface="Montserrat"/>
              <a:ea typeface="Montserrat"/>
              <a:cs typeface="Montserrat"/>
              <a:sym typeface="Montserrat"/>
            </a:endParaRPr>
          </a:p>
        </p:txBody>
      </p:sp>
      <p:pic>
        <p:nvPicPr>
          <p:cNvPr id="447" name="Google Shape;447;p65"/>
          <p:cNvPicPr preferRelativeResize="0"/>
          <p:nvPr/>
        </p:nvPicPr>
        <p:blipFill rotWithShape="1">
          <a:blip r:embed="rId3">
            <a:alphaModFix/>
          </a:blip>
          <a:srcRect b="10921" l="0" r="0" t="0"/>
          <a:stretch/>
        </p:blipFill>
        <p:spPr>
          <a:xfrm>
            <a:off x="337900" y="1220500"/>
            <a:ext cx="8044099" cy="3576425"/>
          </a:xfrm>
          <a:prstGeom prst="rect">
            <a:avLst/>
          </a:prstGeom>
          <a:noFill/>
          <a:ln>
            <a:noFill/>
          </a:ln>
        </p:spPr>
      </p:pic>
      <p:sp>
        <p:nvSpPr>
          <p:cNvPr id="448" name="Google Shape;448;p65"/>
          <p:cNvSpPr txBox="1"/>
          <p:nvPr/>
        </p:nvSpPr>
        <p:spPr>
          <a:xfrm>
            <a:off x="1342200" y="758800"/>
            <a:ext cx="6459600" cy="461700"/>
          </a:xfrm>
          <a:prstGeom prst="rect">
            <a:avLst/>
          </a:prstGeom>
          <a:noFill/>
          <a:ln>
            <a:noFill/>
          </a:ln>
        </p:spPr>
        <p:txBody>
          <a:bodyPr anchorCtr="0" anchor="t" bIns="91425" lIns="91425" spcFirstLastPara="1" rIns="91425" wrap="square" tIns="91425">
            <a:spAutoFit/>
          </a:bodyPr>
          <a:lstStyle/>
          <a:p>
            <a:pPr indent="0" lvl="0" marL="0" marR="38100" rtl="0" algn="ctr">
              <a:lnSpc>
                <a:spcPct val="150000"/>
              </a:lnSpc>
              <a:spcBef>
                <a:spcPts val="0"/>
              </a:spcBef>
              <a:spcAft>
                <a:spcPts val="0"/>
              </a:spcAft>
              <a:buNone/>
            </a:pPr>
            <a:r>
              <a:rPr b="1" lang="en" sz="1800">
                <a:solidFill>
                  <a:srgbClr val="743673"/>
                </a:solidFill>
                <a:latin typeface="Montserrat"/>
                <a:ea typeface="Montserrat"/>
                <a:cs typeface="Montserrat"/>
                <a:sym typeface="Montserrat"/>
              </a:rPr>
              <a:t>Ilustrasi keterlibatan UX designer dalam Scrum</a:t>
            </a:r>
            <a:endParaRPr>
              <a:solidFill>
                <a:srgbClr val="743673"/>
              </a:solidFill>
              <a:latin typeface="Montserrat"/>
              <a:ea typeface="Montserrat"/>
              <a:cs typeface="Montserrat"/>
              <a:sym typeface="Montserrat"/>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6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4" name="Google Shape;454;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Cara Kerja Scrum</a:t>
            </a:r>
            <a:endParaRPr>
              <a:latin typeface="Montserrat"/>
              <a:ea typeface="Montserrat"/>
              <a:cs typeface="Montserrat"/>
              <a:sym typeface="Montserrat"/>
            </a:endParaRPr>
          </a:p>
        </p:txBody>
      </p:sp>
      <p:sp>
        <p:nvSpPr>
          <p:cNvPr id="455" name="Google Shape;455;p66"/>
          <p:cNvSpPr txBox="1"/>
          <p:nvPr/>
        </p:nvSpPr>
        <p:spPr>
          <a:xfrm>
            <a:off x="1412388" y="3711400"/>
            <a:ext cx="6319200" cy="8259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1600"/>
              </a:spcAft>
              <a:buNone/>
            </a:pPr>
            <a:r>
              <a:rPr lang="en" sz="1000">
                <a:latin typeface="Montserrat"/>
                <a:ea typeface="Montserrat"/>
                <a:cs typeface="Montserrat"/>
                <a:sym typeface="Montserrat"/>
              </a:rPr>
              <a:t>Sistem kerja di atas diciptakan dengan berbagai framework untuk memadukan UX design dan Scrum, salah satunya adalah </a:t>
            </a:r>
            <a:r>
              <a:rPr b="1" lang="en" sz="1000">
                <a:latin typeface="Montserrat"/>
                <a:ea typeface="Montserrat"/>
                <a:cs typeface="Montserrat"/>
                <a:sym typeface="Montserrat"/>
              </a:rPr>
              <a:t>Design Sprint</a:t>
            </a:r>
            <a:r>
              <a:rPr b="1" i="1" lang="en" sz="1000">
                <a:latin typeface="Montserrat"/>
                <a:ea typeface="Montserrat"/>
                <a:cs typeface="Montserrat"/>
                <a:sym typeface="Montserrat"/>
              </a:rPr>
              <a:t>.</a:t>
            </a:r>
            <a:r>
              <a:rPr lang="en" sz="1000">
                <a:latin typeface="Montserrat"/>
                <a:ea typeface="Montserrat"/>
                <a:cs typeface="Montserrat"/>
                <a:sym typeface="Montserrat"/>
              </a:rPr>
              <a:t> Dengan framework ini, kamu dapat menentukan secara efektif metode-metode terbaik yang akan diterapkan berdasarkan tujuan dan tenggat hari dari proyekmu (bahkan dalam waktu yang sangat singkat seperti dalam waktu seminggu).</a:t>
            </a:r>
            <a:endParaRPr sz="1200">
              <a:latin typeface="Roboto"/>
              <a:ea typeface="Roboto"/>
              <a:cs typeface="Roboto"/>
              <a:sym typeface="Roboto"/>
            </a:endParaRPr>
          </a:p>
        </p:txBody>
      </p:sp>
      <p:pic>
        <p:nvPicPr>
          <p:cNvPr id="456" name="Google Shape;456;p66"/>
          <p:cNvPicPr preferRelativeResize="0"/>
          <p:nvPr/>
        </p:nvPicPr>
        <p:blipFill>
          <a:blip r:embed="rId3">
            <a:alphaModFix/>
          </a:blip>
          <a:stretch>
            <a:fillRect/>
          </a:stretch>
        </p:blipFill>
        <p:spPr>
          <a:xfrm>
            <a:off x="987650" y="1054700"/>
            <a:ext cx="7168701" cy="2261224"/>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6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2" name="Google Shape;462;p6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Cara Kerja Scrum</a:t>
            </a:r>
            <a:endParaRPr>
              <a:latin typeface="Montserrat"/>
              <a:ea typeface="Montserrat"/>
              <a:cs typeface="Montserrat"/>
              <a:sym typeface="Montserrat"/>
            </a:endParaRPr>
          </a:p>
        </p:txBody>
      </p:sp>
      <p:sp>
        <p:nvSpPr>
          <p:cNvPr id="463" name="Google Shape;463;p67"/>
          <p:cNvSpPr txBox="1"/>
          <p:nvPr/>
        </p:nvSpPr>
        <p:spPr>
          <a:xfrm>
            <a:off x="255300" y="914400"/>
            <a:ext cx="7880700" cy="518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a:solidFill>
                  <a:srgbClr val="743673"/>
                </a:solidFill>
                <a:highlight>
                  <a:schemeClr val="lt1"/>
                </a:highlight>
                <a:latin typeface="Montserrat"/>
                <a:ea typeface="Montserrat"/>
                <a:cs typeface="Montserrat"/>
                <a:sym typeface="Montserrat"/>
              </a:rPr>
              <a:t>Untuk melaksanakan metode Scrum pada tiap project yang dijalankan, kamu perlu melakukan tahapan-tahapan berikut.</a:t>
            </a:r>
            <a:endParaRPr sz="800">
              <a:solidFill>
                <a:schemeClr val="dk1"/>
              </a:solidFill>
              <a:latin typeface="Montserrat"/>
              <a:ea typeface="Montserrat"/>
              <a:cs typeface="Montserrat"/>
              <a:sym typeface="Montserrat"/>
            </a:endParaRPr>
          </a:p>
        </p:txBody>
      </p:sp>
      <p:pic>
        <p:nvPicPr>
          <p:cNvPr id="464" name="Google Shape;464;p67"/>
          <p:cNvPicPr preferRelativeResize="0"/>
          <p:nvPr/>
        </p:nvPicPr>
        <p:blipFill>
          <a:blip r:embed="rId3">
            <a:alphaModFix/>
          </a:blip>
          <a:stretch>
            <a:fillRect/>
          </a:stretch>
        </p:blipFill>
        <p:spPr>
          <a:xfrm>
            <a:off x="231213" y="1649675"/>
            <a:ext cx="8681574" cy="267482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6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470" name="Google Shape;470;p6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1" name="Google Shape;471;p68"/>
          <p:cNvSpPr txBox="1"/>
          <p:nvPr/>
        </p:nvSpPr>
        <p:spPr>
          <a:xfrm>
            <a:off x="685800" y="1833000"/>
            <a:ext cx="4248900" cy="1477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Nah, setelah mengetahui cara kerja Scrum, kita bisa memasuki bahasan tentang </a:t>
            </a:r>
            <a:r>
              <a:rPr b="1" lang="en">
                <a:solidFill>
                  <a:srgbClr val="F2AB2F"/>
                </a:solidFill>
                <a:latin typeface="Montserrat"/>
                <a:ea typeface="Montserrat"/>
                <a:cs typeface="Montserrat"/>
                <a:sym typeface="Montserrat"/>
              </a:rPr>
              <a:t>tanggung jawab UX dalam Scrum ceremonies</a:t>
            </a:r>
            <a:r>
              <a:rPr b="1" lang="en">
                <a:solidFill>
                  <a:schemeClr val="lt1"/>
                </a:solidFill>
                <a:latin typeface="Montserrat"/>
                <a:ea typeface="Montserrat"/>
                <a:cs typeface="Montserrat"/>
                <a:sym typeface="Montserrat"/>
              </a:rPr>
              <a:t> nih, gengs.</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Yuk langsung aja ~</a:t>
            </a:r>
            <a:endParaRPr b="1">
              <a:solidFill>
                <a:schemeClr val="lt1"/>
              </a:solidFill>
              <a:latin typeface="Montserrat"/>
              <a:ea typeface="Montserrat"/>
              <a:cs typeface="Montserrat"/>
              <a:sym typeface="Montserrat"/>
            </a:endParaRPr>
          </a:p>
        </p:txBody>
      </p:sp>
      <p:pic>
        <p:nvPicPr>
          <p:cNvPr id="472" name="Google Shape;472;p68"/>
          <p:cNvPicPr preferRelativeResize="0"/>
          <p:nvPr/>
        </p:nvPicPr>
        <p:blipFill>
          <a:blip r:embed="rId3">
            <a:alphaModFix/>
          </a:blip>
          <a:stretch>
            <a:fillRect/>
          </a:stretch>
        </p:blipFill>
        <p:spPr>
          <a:xfrm>
            <a:off x="5257800" y="797175"/>
            <a:ext cx="2777450" cy="3769452"/>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6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8" name="Google Shape;478;p6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479" name="Google Shape;479;p69"/>
          <p:cNvSpPr txBox="1"/>
          <p:nvPr/>
        </p:nvSpPr>
        <p:spPr>
          <a:xfrm>
            <a:off x="685800" y="1396203"/>
            <a:ext cx="4114800" cy="235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Peran UX dalam scrum</a:t>
            </a:r>
            <a:r>
              <a:rPr b="1" lang="en" sz="1800">
                <a:solidFill>
                  <a:srgbClr val="743673"/>
                </a:solidFill>
                <a:highlight>
                  <a:schemeClr val="lt1"/>
                </a:highlight>
                <a:latin typeface="Montserrat"/>
                <a:ea typeface="Montserrat"/>
                <a:cs typeface="Montserrat"/>
                <a:sym typeface="Montserrat"/>
              </a:rPr>
              <a:t> </a:t>
            </a:r>
            <a:endParaRPr b="1" sz="18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Sebagai bagian dari tim Agile, para praktisi UX sebaiknya berpartisipasi dalam upacara (ceremony) Scrum untuk menjaga komunikasi, mempengaruhi kesuksesan produk, dan berkontribusi secara produktif kepada tim.</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Sehingga,  bisa kita artikan bahwa keterlibatan UX dalam tim Agile tidak berhenti pada melaksanakan sprint ataupun menyampaikan ide dengan cepat secara terus menerus kepada product owner, pemangku kepentingan, dan pengembang semata.</a:t>
            </a:r>
            <a:endParaRPr sz="1000">
              <a:solidFill>
                <a:schemeClr val="dk1"/>
              </a:solidFill>
              <a:latin typeface="Montserrat"/>
              <a:ea typeface="Montserrat"/>
              <a:cs typeface="Montserrat"/>
              <a:sym typeface="Montserrat"/>
            </a:endParaRPr>
          </a:p>
        </p:txBody>
      </p:sp>
      <p:pic>
        <p:nvPicPr>
          <p:cNvPr id="480" name="Google Shape;480;p69"/>
          <p:cNvPicPr preferRelativeResize="0"/>
          <p:nvPr/>
        </p:nvPicPr>
        <p:blipFill>
          <a:blip r:embed="rId3">
            <a:alphaModFix/>
          </a:blip>
          <a:stretch>
            <a:fillRect/>
          </a:stretch>
        </p:blipFill>
        <p:spPr>
          <a:xfrm>
            <a:off x="5089843" y="1396200"/>
            <a:ext cx="3840858" cy="30793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7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6" name="Google Shape;486;p7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487" name="Google Shape;487;p70"/>
          <p:cNvSpPr txBox="1"/>
          <p:nvPr/>
        </p:nvSpPr>
        <p:spPr>
          <a:xfrm>
            <a:off x="685800" y="2024700"/>
            <a:ext cx="4114800" cy="1094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Melainkan, </a:t>
            </a:r>
            <a:r>
              <a:rPr b="1" lang="en" sz="1000">
                <a:solidFill>
                  <a:schemeClr val="dk1"/>
                </a:solidFill>
                <a:latin typeface="Montserrat"/>
                <a:ea typeface="Montserrat"/>
                <a:cs typeface="Montserrat"/>
                <a:sym typeface="Montserrat"/>
              </a:rPr>
              <a:t>berperan sebagai kontributor aktif  pada semua pertemuan dan upacaranya</a:t>
            </a:r>
            <a:r>
              <a:rPr lang="en" sz="1000">
                <a:solidFill>
                  <a:schemeClr val="dk1"/>
                </a:solidFill>
                <a:latin typeface="Montserrat"/>
                <a:ea typeface="Montserrat"/>
                <a:cs typeface="Montserrat"/>
                <a:sym typeface="Montserrat"/>
              </a:rPr>
              <a:t>. Intinya, profesional UX tidak boleh mengabaikan upacara Scrum begitu saja.</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Tapi, emangnya apa ya yang akan terjadi kalau praktisi UX melewatkan ceremony? Yuk kita simak jawabannya ~</a:t>
            </a:r>
            <a:endParaRPr sz="1000">
              <a:solidFill>
                <a:schemeClr val="dk1"/>
              </a:solidFill>
              <a:latin typeface="Montserrat"/>
              <a:ea typeface="Montserrat"/>
              <a:cs typeface="Montserrat"/>
              <a:sym typeface="Montserrat"/>
            </a:endParaRPr>
          </a:p>
        </p:txBody>
      </p:sp>
      <p:pic>
        <p:nvPicPr>
          <p:cNvPr id="488" name="Google Shape;488;p70"/>
          <p:cNvPicPr preferRelativeResize="0"/>
          <p:nvPr/>
        </p:nvPicPr>
        <p:blipFill>
          <a:blip r:embed="rId3">
            <a:alphaModFix/>
          </a:blip>
          <a:stretch>
            <a:fillRect/>
          </a:stretch>
        </p:blipFill>
        <p:spPr>
          <a:xfrm>
            <a:off x="5101050" y="1463350"/>
            <a:ext cx="3756424" cy="3184851"/>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7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4" name="Google Shape;494;p7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495" name="Google Shape;495;p71"/>
          <p:cNvSpPr txBox="1"/>
          <p:nvPr/>
        </p:nvSpPr>
        <p:spPr>
          <a:xfrm>
            <a:off x="685800" y="1800300"/>
            <a:ext cx="3889500" cy="1542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Ketika praktisi UX memutuskan untuk melewatkan atau tidak berpartisipasi dalam Scrum ceremonies, maka akan ada </a:t>
            </a:r>
            <a:r>
              <a:rPr b="1" lang="en" sz="1000">
                <a:solidFill>
                  <a:schemeClr val="dk1"/>
                </a:solidFill>
                <a:latin typeface="Montserrat"/>
                <a:ea typeface="Montserrat"/>
                <a:cs typeface="Montserrat"/>
                <a:sym typeface="Montserrat"/>
              </a:rPr>
              <a:t>risiko kehilangan</a:t>
            </a:r>
            <a:r>
              <a:rPr lang="en" sz="1000">
                <a:solidFill>
                  <a:schemeClr val="dk1"/>
                </a:solidFill>
                <a:latin typeface="Montserrat"/>
                <a:ea typeface="Montserrat"/>
                <a:cs typeface="Montserrat"/>
                <a:sym typeface="Montserrat"/>
              </a:rPr>
              <a:t>:</a:t>
            </a:r>
            <a:br>
              <a:rPr lang="en" sz="1000">
                <a:solidFill>
                  <a:schemeClr val="dk1"/>
                </a:solidFill>
                <a:latin typeface="Montserrat"/>
                <a:ea typeface="Montserrat"/>
                <a:cs typeface="Montserrat"/>
                <a:sym typeface="Montserrat"/>
              </a:rPr>
            </a:b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Gambaran yang lebih besar, visi produk, dan hasil yang diinginkan.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Masalah yang perlu diselesaikan untuk pengguna.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Tujuan dan rasa kebersamaan dengan tim.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Kepraktisan implementasi dengan pengembangan.</a:t>
            </a:r>
            <a:endParaRPr sz="1000">
              <a:solidFill>
                <a:schemeClr val="dk1"/>
              </a:solidFill>
              <a:latin typeface="Montserrat"/>
              <a:ea typeface="Montserrat"/>
              <a:cs typeface="Montserrat"/>
              <a:sym typeface="Montserrat"/>
            </a:endParaRPr>
          </a:p>
        </p:txBody>
      </p:sp>
      <p:pic>
        <p:nvPicPr>
          <p:cNvPr id="496" name="Google Shape;496;p71"/>
          <p:cNvPicPr preferRelativeResize="0"/>
          <p:nvPr/>
        </p:nvPicPr>
        <p:blipFill>
          <a:blip r:embed="rId3">
            <a:alphaModFix/>
          </a:blip>
          <a:stretch>
            <a:fillRect/>
          </a:stretch>
        </p:blipFill>
        <p:spPr>
          <a:xfrm>
            <a:off x="5617475" y="1075700"/>
            <a:ext cx="2094800" cy="3724898"/>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7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2" name="Google Shape;502;p7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503" name="Google Shape;503;p72"/>
          <p:cNvSpPr txBox="1"/>
          <p:nvPr/>
        </p:nvSpPr>
        <p:spPr>
          <a:xfrm>
            <a:off x="685800" y="1890900"/>
            <a:ext cx="3889500" cy="1361700"/>
          </a:xfrm>
          <a:prstGeom prst="rect">
            <a:avLst/>
          </a:prstGeom>
          <a:noFill/>
          <a:ln>
            <a:noFill/>
          </a:ln>
        </p:spPr>
        <p:txBody>
          <a:bodyPr anchorCtr="0" anchor="t" bIns="0" lIns="0" spcFirstLastPara="1" rIns="0" wrap="square" tIns="0">
            <a:noAutofit/>
          </a:bodyPr>
          <a:lstStyle/>
          <a:p>
            <a:pPr indent="-292100" lvl="0" marL="457200" rtl="0" algn="just">
              <a:lnSpc>
                <a:spcPct val="115000"/>
              </a:lnSpc>
              <a:spcBef>
                <a:spcPts val="0"/>
              </a:spcBef>
              <a:spcAft>
                <a:spcPts val="0"/>
              </a:spcAft>
              <a:buClr>
                <a:schemeClr val="dk1"/>
              </a:buClr>
              <a:buSzPts val="1000"/>
              <a:buFont typeface="Montserrat"/>
              <a:buAutoNum type="arabicPeriod" startAt="5"/>
            </a:pPr>
            <a:r>
              <a:rPr lang="en" sz="1000">
                <a:solidFill>
                  <a:schemeClr val="dk1"/>
                </a:solidFill>
                <a:latin typeface="Montserrat"/>
                <a:ea typeface="Montserrat"/>
                <a:cs typeface="Montserrat"/>
                <a:sym typeface="Montserrat"/>
              </a:rPr>
              <a:t>Bagaimana</a:t>
            </a:r>
            <a:r>
              <a:rPr lang="en" sz="1000">
                <a:solidFill>
                  <a:schemeClr val="dk1"/>
                </a:solidFill>
                <a:latin typeface="Montserrat"/>
                <a:ea typeface="Montserrat"/>
                <a:cs typeface="Montserrat"/>
                <a:sym typeface="Montserrat"/>
              </a:rPr>
              <a:t> maksud desain diterjemahkan oleh pengembang dalam kode.</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startAt="5"/>
            </a:pPr>
            <a:r>
              <a:rPr lang="en" sz="1000">
                <a:solidFill>
                  <a:schemeClr val="dk1"/>
                </a:solidFill>
                <a:latin typeface="Montserrat"/>
                <a:ea typeface="Montserrat"/>
                <a:cs typeface="Montserrat"/>
                <a:sym typeface="Montserrat"/>
              </a:rPr>
              <a:t>Apa yang</a:t>
            </a:r>
            <a:r>
              <a:rPr lang="en" sz="1000">
                <a:solidFill>
                  <a:schemeClr val="dk1"/>
                </a:solidFill>
                <a:latin typeface="Montserrat"/>
                <a:ea typeface="Montserrat"/>
                <a:cs typeface="Montserrat"/>
                <a:sym typeface="Montserrat"/>
              </a:rPr>
              <a:t> harus diprioritaskan dalam sprint mendatang.</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startAt="5"/>
            </a:pPr>
            <a:r>
              <a:rPr lang="en" sz="1000">
                <a:solidFill>
                  <a:schemeClr val="dk1"/>
                </a:solidFill>
                <a:latin typeface="Montserrat"/>
                <a:ea typeface="Montserrat"/>
                <a:cs typeface="Montserrat"/>
                <a:sym typeface="Montserrat"/>
              </a:rPr>
              <a:t>Apakah  penemuan atau pekerjaan sprint tambahan diperlukan.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startAt="5"/>
            </a:pPr>
            <a:r>
              <a:rPr lang="en" sz="1000">
                <a:solidFill>
                  <a:schemeClr val="dk1"/>
                </a:solidFill>
                <a:latin typeface="Montserrat"/>
                <a:ea typeface="Montserrat"/>
                <a:cs typeface="Montserrat"/>
                <a:sym typeface="Montserrat"/>
              </a:rPr>
              <a:t>Peluang untuk menghilangkan prasangka desain berbasis opini.</a:t>
            </a:r>
            <a:endParaRPr sz="1000">
              <a:solidFill>
                <a:schemeClr val="dk1"/>
              </a:solidFill>
              <a:latin typeface="Montserrat"/>
              <a:ea typeface="Montserrat"/>
              <a:cs typeface="Montserrat"/>
              <a:sym typeface="Montserrat"/>
            </a:endParaRPr>
          </a:p>
        </p:txBody>
      </p:sp>
      <p:pic>
        <p:nvPicPr>
          <p:cNvPr id="504" name="Google Shape;504;p72"/>
          <p:cNvPicPr preferRelativeResize="0"/>
          <p:nvPr/>
        </p:nvPicPr>
        <p:blipFill>
          <a:blip r:embed="rId3">
            <a:alphaModFix/>
          </a:blip>
          <a:stretch>
            <a:fillRect/>
          </a:stretch>
        </p:blipFill>
        <p:spPr>
          <a:xfrm>
            <a:off x="5410175" y="1091875"/>
            <a:ext cx="2594749" cy="3775249"/>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7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0" name="Google Shape;510;p7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511" name="Google Shape;511;p73"/>
          <p:cNvSpPr txBox="1"/>
          <p:nvPr/>
        </p:nvSpPr>
        <p:spPr>
          <a:xfrm>
            <a:off x="685800" y="1771050"/>
            <a:ext cx="3889500" cy="1601400"/>
          </a:xfrm>
          <a:prstGeom prst="rect">
            <a:avLst/>
          </a:prstGeom>
          <a:noFill/>
          <a:ln>
            <a:noFill/>
          </a:ln>
        </p:spPr>
        <p:txBody>
          <a:bodyPr anchorCtr="0" anchor="t" bIns="0" lIns="0" spcFirstLastPara="1" rIns="0" wrap="square" tIns="0">
            <a:noAutofit/>
          </a:bodyPr>
          <a:lstStyle/>
          <a:p>
            <a:pPr indent="-292100" lvl="0" marL="457200" rtl="0" algn="just">
              <a:lnSpc>
                <a:spcPct val="115000"/>
              </a:lnSpc>
              <a:spcBef>
                <a:spcPts val="0"/>
              </a:spcBef>
              <a:spcAft>
                <a:spcPts val="0"/>
              </a:spcAft>
              <a:buClr>
                <a:schemeClr val="dk1"/>
              </a:buClr>
              <a:buSzPts val="1000"/>
              <a:buFont typeface="Montserrat"/>
              <a:buAutoNum type="arabicPeriod" startAt="9"/>
            </a:pPr>
            <a:r>
              <a:rPr lang="en" sz="1000">
                <a:solidFill>
                  <a:schemeClr val="dk1"/>
                </a:solidFill>
                <a:latin typeface="Montserrat"/>
                <a:ea typeface="Montserrat"/>
                <a:cs typeface="Montserrat"/>
                <a:sym typeface="Montserrat"/>
              </a:rPr>
              <a:t>Kesempatan mengundang tim untuk mengamati penelitian atau berpartisipasi dalam workshop.</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startAt="9"/>
            </a:pPr>
            <a:r>
              <a:rPr lang="en" sz="1000">
                <a:solidFill>
                  <a:schemeClr val="dk1"/>
                </a:solidFill>
                <a:latin typeface="Montserrat"/>
                <a:ea typeface="Montserrat"/>
                <a:cs typeface="Montserrat"/>
                <a:sym typeface="Montserrat"/>
              </a:rPr>
              <a:t>Area di mana UX dapat meningkatkan produk.</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startAt="9"/>
            </a:pPr>
            <a:r>
              <a:rPr lang="en" sz="1000">
                <a:solidFill>
                  <a:schemeClr val="dk1"/>
                </a:solidFill>
                <a:latin typeface="Montserrat"/>
                <a:ea typeface="Montserrat"/>
                <a:cs typeface="Montserrat"/>
                <a:sym typeface="Montserrat"/>
              </a:rPr>
              <a:t>Kisah pengguna yang membutuhkan detail lebih konkret dari UX.</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startAt="9"/>
            </a:pPr>
            <a:r>
              <a:rPr lang="en" sz="1000">
                <a:solidFill>
                  <a:schemeClr val="dk1"/>
                </a:solidFill>
                <a:latin typeface="Montserrat"/>
                <a:ea typeface="Montserrat"/>
                <a:cs typeface="Montserrat"/>
                <a:sym typeface="Montserrat"/>
              </a:rPr>
              <a:t>Di mana tim UX mungkin perlu membantu tim QA dengan pengujian.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Duh, banyak banget, kan? 😖😖</a:t>
            </a:r>
            <a:endParaRPr sz="1000">
              <a:solidFill>
                <a:schemeClr val="dk1"/>
              </a:solidFill>
              <a:latin typeface="Montserrat"/>
              <a:ea typeface="Montserrat"/>
              <a:cs typeface="Montserrat"/>
              <a:sym typeface="Montserrat"/>
            </a:endParaRPr>
          </a:p>
        </p:txBody>
      </p:sp>
      <p:pic>
        <p:nvPicPr>
          <p:cNvPr id="512" name="Google Shape;512;p73"/>
          <p:cNvPicPr preferRelativeResize="0"/>
          <p:nvPr/>
        </p:nvPicPr>
        <p:blipFill>
          <a:blip r:embed="rId3">
            <a:alphaModFix/>
          </a:blip>
          <a:stretch>
            <a:fillRect/>
          </a:stretch>
        </p:blipFill>
        <p:spPr>
          <a:xfrm>
            <a:off x="5576350" y="1126863"/>
            <a:ext cx="2984951" cy="3525473"/>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7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8" name="Google Shape;518;p7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519" name="Google Shape;519;p74"/>
          <p:cNvSpPr txBox="1"/>
          <p:nvPr/>
        </p:nvSpPr>
        <p:spPr>
          <a:xfrm>
            <a:off x="685800" y="1517400"/>
            <a:ext cx="4248600" cy="2108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Apa saja kegiatan dalam Scrum?</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1600"/>
              </a:spcBef>
              <a:spcAft>
                <a:spcPts val="0"/>
              </a:spcAft>
              <a:buNone/>
            </a:pPr>
            <a:r>
              <a:rPr lang="en" sz="1000">
                <a:solidFill>
                  <a:schemeClr val="dk1"/>
                </a:solidFill>
                <a:highlight>
                  <a:schemeClr val="lt1"/>
                </a:highlight>
                <a:latin typeface="Montserrat"/>
                <a:ea typeface="Montserrat"/>
                <a:cs typeface="Montserrat"/>
                <a:sym typeface="Montserrat"/>
              </a:rPr>
              <a:t>Pada dasarnya, ada 5 kegiatan utama dalam Scrum, antara lain:</a:t>
            </a:r>
            <a:endParaRPr sz="1000">
              <a:solidFill>
                <a:schemeClr val="dk1"/>
              </a:solidFill>
              <a:highlight>
                <a:schemeClr val="lt1"/>
              </a:highlight>
              <a:latin typeface="Montserrat"/>
              <a:ea typeface="Montserrat"/>
              <a:cs typeface="Montserrat"/>
              <a:sym typeface="Montserrat"/>
            </a:endParaRPr>
          </a:p>
          <a:p>
            <a:pPr indent="-292100" lvl="0" marL="457200" rtl="0" algn="just">
              <a:lnSpc>
                <a:spcPct val="115000"/>
              </a:lnSpc>
              <a:spcBef>
                <a:spcPts val="160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Standup (Daily Scrum)</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Backlog Refinement</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Sprint Planning</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Sprint Review (Demo)</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Retrospective</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Yuk kita bahas satu per satu ~</a:t>
            </a:r>
            <a:endParaRPr sz="1000">
              <a:solidFill>
                <a:schemeClr val="dk1"/>
              </a:solidFill>
              <a:latin typeface="Montserrat"/>
              <a:ea typeface="Montserrat"/>
              <a:cs typeface="Montserrat"/>
              <a:sym typeface="Montserrat"/>
            </a:endParaRPr>
          </a:p>
        </p:txBody>
      </p:sp>
      <p:pic>
        <p:nvPicPr>
          <p:cNvPr id="520" name="Google Shape;520;p74"/>
          <p:cNvPicPr preferRelativeResize="0"/>
          <p:nvPr/>
        </p:nvPicPr>
        <p:blipFill>
          <a:blip r:embed="rId3">
            <a:alphaModFix/>
          </a:blip>
          <a:stretch>
            <a:fillRect/>
          </a:stretch>
        </p:blipFill>
        <p:spPr>
          <a:xfrm>
            <a:off x="4795225" y="1312000"/>
            <a:ext cx="3915899" cy="273997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7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6" name="Google Shape;526;p7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527" name="Google Shape;527;p75"/>
          <p:cNvSpPr txBox="1"/>
          <p:nvPr/>
        </p:nvSpPr>
        <p:spPr>
          <a:xfrm>
            <a:off x="685800" y="1725300"/>
            <a:ext cx="4114800" cy="1692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Aktivitas</a:t>
            </a:r>
            <a:r>
              <a:rPr b="1" lang="en" sz="1600">
                <a:solidFill>
                  <a:srgbClr val="743673"/>
                </a:solidFill>
                <a:highlight>
                  <a:schemeClr val="lt1"/>
                </a:highlight>
                <a:latin typeface="Montserrat"/>
                <a:ea typeface="Montserrat"/>
                <a:cs typeface="Montserrat"/>
                <a:sym typeface="Montserrat"/>
              </a:rPr>
              <a:t> pada </a:t>
            </a:r>
            <a:r>
              <a:rPr b="1" lang="en" sz="1600">
                <a:solidFill>
                  <a:srgbClr val="743673"/>
                </a:solidFill>
                <a:highlight>
                  <a:schemeClr val="lt1"/>
                </a:highlight>
                <a:latin typeface="Montserrat"/>
                <a:ea typeface="Montserrat"/>
                <a:cs typeface="Montserrat"/>
                <a:sym typeface="Montserrat"/>
              </a:rPr>
              <a:t>stand up</a:t>
            </a:r>
            <a:r>
              <a:rPr b="1" lang="en" sz="1600">
                <a:solidFill>
                  <a:srgbClr val="743673"/>
                </a:solidFill>
                <a:highlight>
                  <a:schemeClr val="lt1"/>
                </a:highlight>
                <a:latin typeface="Montserrat"/>
                <a:ea typeface="Montserrat"/>
                <a:cs typeface="Montserrat"/>
                <a:sym typeface="Montserrat"/>
              </a:rPr>
              <a:t> (Daily Scrum)</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Sebagian besar tim Scrum mengadakan </a:t>
            </a:r>
            <a:r>
              <a:rPr b="1" lang="en" sz="1000">
                <a:solidFill>
                  <a:schemeClr val="dk1"/>
                </a:solidFill>
                <a:latin typeface="Montserrat"/>
                <a:ea typeface="Montserrat"/>
                <a:cs typeface="Montserrat"/>
                <a:sym typeface="Montserrat"/>
              </a:rPr>
              <a:t>rapat harian</a:t>
            </a:r>
            <a:r>
              <a:rPr lang="en" sz="1000">
                <a:solidFill>
                  <a:schemeClr val="dk1"/>
                </a:solidFill>
                <a:latin typeface="Montserrat"/>
                <a:ea typeface="Montserrat"/>
                <a:cs typeface="Montserrat"/>
                <a:sym typeface="Montserrat"/>
              </a:rPr>
              <a:t> yang disebut sebagai standup atau Scrum harian, di mana biasanya tidak lebih dari 15 menit.</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Fokus pertemuan terletak pada komunikasi dengan tim untuk memastikan pekerjaan berjalan sesuai rencana dan membagikan temuan hambatan agar dapat cepat diselesaikan.</a:t>
            </a:r>
            <a:endParaRPr sz="1000">
              <a:solidFill>
                <a:schemeClr val="dk1"/>
              </a:solidFill>
              <a:latin typeface="Montserrat"/>
              <a:ea typeface="Montserrat"/>
              <a:cs typeface="Montserrat"/>
              <a:sym typeface="Montserrat"/>
            </a:endParaRPr>
          </a:p>
        </p:txBody>
      </p:sp>
      <p:pic>
        <p:nvPicPr>
          <p:cNvPr id="528" name="Google Shape;528;p75"/>
          <p:cNvPicPr preferRelativeResize="0"/>
          <p:nvPr/>
        </p:nvPicPr>
        <p:blipFill>
          <a:blip r:embed="rId3">
            <a:alphaModFix/>
          </a:blip>
          <a:stretch>
            <a:fillRect/>
          </a:stretch>
        </p:blipFill>
        <p:spPr>
          <a:xfrm>
            <a:off x="4930550" y="1129349"/>
            <a:ext cx="3833697" cy="3302071"/>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7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4" name="Google Shape;534;p7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535" name="Google Shape;535;p76"/>
          <p:cNvSpPr txBox="1"/>
          <p:nvPr/>
        </p:nvSpPr>
        <p:spPr>
          <a:xfrm>
            <a:off x="685800" y="1546950"/>
            <a:ext cx="3902100" cy="2049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namanya juga stand up, setiap anggota tim termasuk UX berdiri untuk menyampaikan jawaban singkat dari pertanyaan berikut ini ya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sz="1000">
                <a:solidFill>
                  <a:schemeClr val="accent1"/>
                </a:solidFill>
                <a:latin typeface="Montserrat"/>
                <a:ea typeface="Montserrat"/>
                <a:cs typeface="Montserrat"/>
                <a:sym typeface="Montserrat"/>
              </a:rPr>
              <a:t>Apa yang kamu lakukan kemarin?</a:t>
            </a:r>
            <a:endParaRPr b="1" sz="1000">
              <a:solidFill>
                <a:schemeClr val="accent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Diskusikan bidang desain yang kamu kerjakan.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Uraikan setiap kolaborasi dengan member tim yang terjadi.</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Diskusikan penelitian apapun yang kamu rencanakan, lakukan, atau analisis data.</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Bagikan temuan penelitian sederhana atau wawasan pengguna dengan tim, jika relevan.</a:t>
            </a:r>
            <a:endParaRPr sz="1000">
              <a:solidFill>
                <a:schemeClr val="dk1"/>
              </a:solidFill>
              <a:latin typeface="Montserrat"/>
              <a:ea typeface="Montserrat"/>
              <a:cs typeface="Montserrat"/>
              <a:sym typeface="Montserrat"/>
            </a:endParaRPr>
          </a:p>
        </p:txBody>
      </p:sp>
      <p:pic>
        <p:nvPicPr>
          <p:cNvPr id="536" name="Google Shape;536;p76"/>
          <p:cNvPicPr preferRelativeResize="0"/>
          <p:nvPr/>
        </p:nvPicPr>
        <p:blipFill>
          <a:blip r:embed="rId3">
            <a:alphaModFix/>
          </a:blip>
          <a:stretch>
            <a:fillRect/>
          </a:stretch>
        </p:blipFill>
        <p:spPr>
          <a:xfrm>
            <a:off x="4819225" y="1319924"/>
            <a:ext cx="3797376" cy="2897326"/>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7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42" name="Google Shape;542;p7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543" name="Google Shape;543;p77"/>
          <p:cNvSpPr txBox="1"/>
          <p:nvPr/>
        </p:nvSpPr>
        <p:spPr>
          <a:xfrm>
            <a:off x="685800" y="1638725"/>
            <a:ext cx="3889500" cy="2418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000">
                <a:solidFill>
                  <a:schemeClr val="accent1"/>
                </a:solidFill>
                <a:latin typeface="Montserrat"/>
                <a:ea typeface="Montserrat"/>
                <a:cs typeface="Montserrat"/>
                <a:sym typeface="Montserrat"/>
              </a:rPr>
              <a:t>Apa yang akan kamu lakukan hari ini?</a:t>
            </a:r>
            <a:endParaRPr b="1" sz="1000">
              <a:solidFill>
                <a:schemeClr val="accent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​Peringatkan tim tentang apa yang kamu rencanakan hari itu terkait desain, riset pengguna, ulasan desain, workshop, ataupun sprint desain.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Sebutkan area di mana kamu menginginkan masukan dari pengembang atau product owner.</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Usulkan metode kolaboratif seperti sesi whiteboard.</a:t>
            </a:r>
            <a:endParaRPr sz="1000">
              <a:solidFill>
                <a:schemeClr val="dk1"/>
              </a:solidFill>
              <a:latin typeface="Montserrat"/>
              <a:ea typeface="Montserrat"/>
              <a:cs typeface="Montserrat"/>
              <a:sym typeface="Montserrat"/>
            </a:endParaRPr>
          </a:p>
        </p:txBody>
      </p:sp>
      <p:pic>
        <p:nvPicPr>
          <p:cNvPr id="544" name="Google Shape;544;p77"/>
          <p:cNvPicPr preferRelativeResize="0"/>
          <p:nvPr/>
        </p:nvPicPr>
        <p:blipFill>
          <a:blip r:embed="rId3">
            <a:alphaModFix/>
          </a:blip>
          <a:stretch>
            <a:fillRect/>
          </a:stretch>
        </p:blipFill>
        <p:spPr>
          <a:xfrm>
            <a:off x="5009375" y="1281150"/>
            <a:ext cx="3333473" cy="2581199"/>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7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0" name="Google Shape;550;p7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551" name="Google Shape;551;p78"/>
          <p:cNvSpPr txBox="1"/>
          <p:nvPr/>
        </p:nvSpPr>
        <p:spPr>
          <a:xfrm>
            <a:off x="685800" y="1638725"/>
            <a:ext cx="3889500" cy="2418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Undang anggota tim ke pengujian kegunaan dan penelitian lain yang terjadi hari itu.</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Tunjukkan tanggung jawab kamu menyelesaikan pekerjaan dengan mengumumkan komitmen dan menegaskan bahwa kamu akan merealisasikan rencana tersebut.</a:t>
            </a:r>
            <a:endParaRPr sz="1000">
              <a:solidFill>
                <a:schemeClr val="dk1"/>
              </a:solidFill>
              <a:latin typeface="Montserrat"/>
              <a:ea typeface="Montserrat"/>
              <a:cs typeface="Montserrat"/>
              <a:sym typeface="Montserrat"/>
            </a:endParaRPr>
          </a:p>
        </p:txBody>
      </p:sp>
      <p:pic>
        <p:nvPicPr>
          <p:cNvPr id="552" name="Google Shape;552;p78"/>
          <p:cNvPicPr preferRelativeResize="0"/>
          <p:nvPr/>
        </p:nvPicPr>
        <p:blipFill>
          <a:blip r:embed="rId3">
            <a:alphaModFix/>
          </a:blip>
          <a:stretch>
            <a:fillRect/>
          </a:stretch>
        </p:blipFill>
        <p:spPr>
          <a:xfrm>
            <a:off x="5009375" y="1281150"/>
            <a:ext cx="3333473" cy="2581199"/>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7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8" name="Google Shape;558;p7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559" name="Google Shape;559;p79"/>
          <p:cNvSpPr txBox="1"/>
          <p:nvPr/>
        </p:nvSpPr>
        <p:spPr>
          <a:xfrm>
            <a:off x="685800" y="1871400"/>
            <a:ext cx="3889500" cy="1520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000">
                <a:solidFill>
                  <a:schemeClr val="accent1"/>
                </a:solidFill>
                <a:latin typeface="Montserrat"/>
                <a:ea typeface="Montserrat"/>
                <a:cs typeface="Montserrat"/>
                <a:sym typeface="Montserrat"/>
              </a:rPr>
              <a:t>Apa yang menghalangi kamu?</a:t>
            </a:r>
            <a:endParaRPr b="1" sz="1000">
              <a:solidFill>
                <a:schemeClr val="accent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Munculkan faktor internal atau eksternal yang menghalangi kamu menyelesaikan pekerjaan.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Sampaikanlah hambatan pada master Scrum kamu untuk membantu menemukan solusi.</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Jika kamu perlu melakukan diskusi khusus dengan anggota tim, sarankan pertemuan cepat setelah stand up.</a:t>
            </a:r>
            <a:endParaRPr sz="1000">
              <a:solidFill>
                <a:schemeClr val="dk1"/>
              </a:solidFill>
              <a:latin typeface="Montserrat"/>
              <a:ea typeface="Montserrat"/>
              <a:cs typeface="Montserrat"/>
              <a:sym typeface="Montserrat"/>
            </a:endParaRPr>
          </a:p>
        </p:txBody>
      </p:sp>
      <p:pic>
        <p:nvPicPr>
          <p:cNvPr id="560" name="Google Shape;560;p79"/>
          <p:cNvPicPr preferRelativeResize="0"/>
          <p:nvPr/>
        </p:nvPicPr>
        <p:blipFill>
          <a:blip r:embed="rId3">
            <a:alphaModFix/>
          </a:blip>
          <a:stretch>
            <a:fillRect/>
          </a:stretch>
        </p:blipFill>
        <p:spPr>
          <a:xfrm>
            <a:off x="5426276" y="1207047"/>
            <a:ext cx="2472274" cy="2903977"/>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8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6" name="Google Shape;566;p8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567" name="Google Shape;567;p80"/>
          <p:cNvSpPr txBox="1"/>
          <p:nvPr/>
        </p:nvSpPr>
        <p:spPr>
          <a:xfrm>
            <a:off x="685800" y="1705052"/>
            <a:ext cx="4114800" cy="1733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Aktivitas pada Backlog Refinement </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Dalam pertemuan ini, </a:t>
            </a:r>
            <a:r>
              <a:rPr b="1" lang="en" sz="1000">
                <a:solidFill>
                  <a:schemeClr val="dk1"/>
                </a:solidFill>
                <a:latin typeface="Montserrat"/>
                <a:ea typeface="Montserrat"/>
                <a:cs typeface="Montserrat"/>
                <a:sym typeface="Montserrat"/>
              </a:rPr>
              <a:t>product owner akan meninjau item backlog dalam urutan prioritas dan menyesuaikannya kembali untuk memenuhi kebutuhan bisnis dan pengguna</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Mereka akan memimpin diskusi dengan tim untuk membicarakan apakah cerita (user story) tambahan diperlukan atau mengedit bahkan menghapus cerita yang sudah ada.</a:t>
            </a:r>
            <a:endParaRPr sz="1000">
              <a:solidFill>
                <a:schemeClr val="dk1"/>
              </a:solidFill>
              <a:latin typeface="Montserrat"/>
              <a:ea typeface="Montserrat"/>
              <a:cs typeface="Montserrat"/>
              <a:sym typeface="Montserrat"/>
            </a:endParaRPr>
          </a:p>
        </p:txBody>
      </p:sp>
      <p:pic>
        <p:nvPicPr>
          <p:cNvPr id="568" name="Google Shape;568;p80"/>
          <p:cNvPicPr preferRelativeResize="0"/>
          <p:nvPr/>
        </p:nvPicPr>
        <p:blipFill rotWithShape="1">
          <a:blip r:embed="rId3">
            <a:alphaModFix/>
          </a:blip>
          <a:srcRect b="-10302" l="9800" r="9274" t="0"/>
          <a:stretch/>
        </p:blipFill>
        <p:spPr>
          <a:xfrm>
            <a:off x="9310759" y="1339178"/>
            <a:ext cx="3246126" cy="2951018"/>
          </a:xfrm>
          <a:prstGeom prst="rect">
            <a:avLst/>
          </a:prstGeom>
          <a:noFill/>
          <a:ln>
            <a:noFill/>
          </a:ln>
        </p:spPr>
      </p:pic>
      <p:pic>
        <p:nvPicPr>
          <p:cNvPr id="569" name="Google Shape;569;p80"/>
          <p:cNvPicPr preferRelativeResize="0"/>
          <p:nvPr/>
        </p:nvPicPr>
        <p:blipFill>
          <a:blip r:embed="rId4">
            <a:alphaModFix/>
          </a:blip>
          <a:stretch>
            <a:fillRect/>
          </a:stretch>
        </p:blipFill>
        <p:spPr>
          <a:xfrm>
            <a:off x="5098350" y="1339175"/>
            <a:ext cx="3310476" cy="2852076"/>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8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75" name="Google Shape;575;p8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576" name="Google Shape;576;p81"/>
          <p:cNvSpPr txBox="1"/>
          <p:nvPr/>
        </p:nvSpPr>
        <p:spPr>
          <a:xfrm>
            <a:off x="685800" y="1757850"/>
            <a:ext cx="3951300" cy="1257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Dalam beberapa kasus, tim akan menulis ulang atau menambahkan detail pada cerita bersama untuk memastikan semuanya tercakup.</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Menghadirkan profesional UX dalam pertemuan ini untuk memfasilitasi sketsa papan tulis atau teknik pembuatan ide lainnya dapat membantu tim memecahkan masalah bersama.</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577" name="Google Shape;577;p81"/>
          <p:cNvPicPr preferRelativeResize="0"/>
          <p:nvPr/>
        </p:nvPicPr>
        <p:blipFill>
          <a:blip r:embed="rId3">
            <a:alphaModFix/>
          </a:blip>
          <a:stretch>
            <a:fillRect/>
          </a:stretch>
        </p:blipFill>
        <p:spPr>
          <a:xfrm>
            <a:off x="5093650" y="1476900"/>
            <a:ext cx="3579401" cy="2948549"/>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8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83" name="Google Shape;583;p8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584" name="Google Shape;584;p82"/>
          <p:cNvSpPr txBox="1"/>
          <p:nvPr/>
        </p:nvSpPr>
        <p:spPr>
          <a:xfrm>
            <a:off x="685800" y="1515300"/>
            <a:ext cx="4572000" cy="2112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Definisi “ready” untuk setiap item backlog biasanya akan bervariasi menurut tim, tetapi harus melewati kriteria UX berikut jika hasilnya akan menghadap pengguna: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Kisah pengguna (user story) dan kriteria penerimaan diartikulasikan dengan jelas.</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Visual dan dokumentasi ringan tersedia.</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Solusi telah diuji dengan pengguna dan tidak ada masalah serius yang muncul.</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Desain mematuhi panduan gaya, pustaka pola, atau sistem desain.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Item telah ditinjau oleh UX, pengembang, dan product owner.</a:t>
            </a:r>
            <a:endParaRPr sz="1000">
              <a:solidFill>
                <a:schemeClr val="dk1"/>
              </a:solidFill>
              <a:latin typeface="Montserrat"/>
              <a:ea typeface="Montserrat"/>
              <a:cs typeface="Montserrat"/>
              <a:sym typeface="Montserrat"/>
            </a:endParaRPr>
          </a:p>
        </p:txBody>
      </p:sp>
      <p:pic>
        <p:nvPicPr>
          <p:cNvPr id="585" name="Google Shape;585;p82"/>
          <p:cNvPicPr preferRelativeResize="0"/>
          <p:nvPr/>
        </p:nvPicPr>
        <p:blipFill>
          <a:blip r:embed="rId3">
            <a:alphaModFix/>
          </a:blip>
          <a:stretch>
            <a:fillRect/>
          </a:stretch>
        </p:blipFill>
        <p:spPr>
          <a:xfrm>
            <a:off x="5955000" y="1414325"/>
            <a:ext cx="2703425" cy="231485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8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1" name="Google Shape;591;p8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592" name="Google Shape;592;p83"/>
          <p:cNvSpPr txBox="1"/>
          <p:nvPr/>
        </p:nvSpPr>
        <p:spPr>
          <a:xfrm>
            <a:off x="685800" y="1713900"/>
            <a:ext cx="4290900" cy="1715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Partisipasi UX dalam backlog refinement dapat </a:t>
            </a:r>
            <a:r>
              <a:rPr b="1" lang="en" sz="1000">
                <a:solidFill>
                  <a:schemeClr val="dk1"/>
                </a:solidFill>
                <a:latin typeface="Montserrat"/>
                <a:ea typeface="Montserrat"/>
                <a:cs typeface="Montserrat"/>
                <a:sym typeface="Montserrat"/>
              </a:rPr>
              <a:t>memberikan pandangan ke depan</a:t>
            </a:r>
            <a:r>
              <a:rPr lang="en" sz="1000">
                <a:solidFill>
                  <a:schemeClr val="dk1"/>
                </a:solidFill>
                <a:latin typeface="Montserrat"/>
                <a:ea typeface="Montserrat"/>
                <a:cs typeface="Montserrat"/>
                <a:sym typeface="Montserrat"/>
              </a:rPr>
              <a:t> tentang pekerjaan tim pengembang pada sprint berikutnya dan memberi dukungan tambahan bagi PO.</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Meskipun product owner harus mengetahui kebutuhan pengguna dan peluang bisnis seperti para praktisi UX, mereka memiliki banyak tanggung jawab yang perlu mereka tangani.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Misalnya, realitas implementasi dari tim teknik, tujuan strategis dari pemangku kepentingan bisnis, metrik kinerja inti tim, dan lain-lain.</a:t>
            </a:r>
            <a:endParaRPr sz="1000">
              <a:solidFill>
                <a:schemeClr val="dk1"/>
              </a:solidFill>
              <a:latin typeface="Montserrat"/>
              <a:ea typeface="Montserrat"/>
              <a:cs typeface="Montserrat"/>
              <a:sym typeface="Montserrat"/>
            </a:endParaRPr>
          </a:p>
        </p:txBody>
      </p:sp>
      <p:pic>
        <p:nvPicPr>
          <p:cNvPr id="593" name="Google Shape;593;p83"/>
          <p:cNvPicPr preferRelativeResize="0"/>
          <p:nvPr/>
        </p:nvPicPr>
        <p:blipFill>
          <a:blip r:embed="rId3">
            <a:alphaModFix/>
          </a:blip>
          <a:stretch>
            <a:fillRect/>
          </a:stretch>
        </p:blipFill>
        <p:spPr>
          <a:xfrm>
            <a:off x="5217950" y="1283951"/>
            <a:ext cx="3530951" cy="3235901"/>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8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9" name="Google Shape;599;p8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600" name="Google Shape;600;p84"/>
          <p:cNvSpPr txBox="1"/>
          <p:nvPr/>
        </p:nvSpPr>
        <p:spPr>
          <a:xfrm>
            <a:off x="685800" y="2053950"/>
            <a:ext cx="4290900" cy="1035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Jadi, bisa disimpulkan kalau ada saatnya product owner akan membutuhkan bantuan dan akuntabilitas dari praktisi UX.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Mereka perlu membantu memastikan bahwa product owner membuat keputusan tepat untuk pengguna dan produk saat menentukan item yang akan dikerjakan berikutnya.</a:t>
            </a:r>
            <a:endParaRPr sz="1000">
              <a:solidFill>
                <a:schemeClr val="dk1"/>
              </a:solidFill>
              <a:latin typeface="Montserrat"/>
              <a:ea typeface="Montserrat"/>
              <a:cs typeface="Montserrat"/>
              <a:sym typeface="Montserrat"/>
            </a:endParaRPr>
          </a:p>
        </p:txBody>
      </p:sp>
      <p:pic>
        <p:nvPicPr>
          <p:cNvPr id="601" name="Google Shape;601;p84"/>
          <p:cNvPicPr preferRelativeResize="0"/>
          <p:nvPr/>
        </p:nvPicPr>
        <p:blipFill>
          <a:blip r:embed="rId3">
            <a:alphaModFix/>
          </a:blip>
          <a:stretch>
            <a:fillRect/>
          </a:stretch>
        </p:blipFill>
        <p:spPr>
          <a:xfrm>
            <a:off x="5154775" y="1292875"/>
            <a:ext cx="3461827" cy="335532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8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07" name="Google Shape;607;p8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608" name="Google Shape;608;p85"/>
          <p:cNvSpPr txBox="1"/>
          <p:nvPr/>
        </p:nvSpPr>
        <p:spPr>
          <a:xfrm>
            <a:off x="685800" y="1784697"/>
            <a:ext cx="4114800" cy="1574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Aktivitas pada Sprint Planning</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Sprint planning biasanya </a:t>
            </a:r>
            <a:r>
              <a:rPr b="1" lang="en" sz="1000">
                <a:solidFill>
                  <a:schemeClr val="dk1"/>
                </a:solidFill>
                <a:latin typeface="Montserrat"/>
                <a:ea typeface="Montserrat"/>
                <a:cs typeface="Montserrat"/>
                <a:sym typeface="Montserrat"/>
              </a:rPr>
              <a:t>dilakukan pada hari pertama sprint</a:t>
            </a:r>
            <a:r>
              <a:rPr lang="en" sz="1000">
                <a:solidFill>
                  <a:schemeClr val="dk1"/>
                </a:solidFill>
                <a:latin typeface="Montserrat"/>
                <a:ea typeface="Montserrat"/>
                <a:cs typeface="Montserrat"/>
                <a:sym typeface="Montserrat"/>
              </a:rPr>
              <a:t>, atau terkadang satu hari sebelumnya.</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Tujuan dari sprint planning adalah </a:t>
            </a:r>
            <a:r>
              <a:rPr b="1" lang="en" sz="1000">
                <a:solidFill>
                  <a:schemeClr val="dk1"/>
                </a:solidFill>
                <a:latin typeface="Montserrat"/>
                <a:ea typeface="Montserrat"/>
                <a:cs typeface="Montserrat"/>
                <a:sym typeface="Montserrat"/>
              </a:rPr>
              <a:t>meninjau kembali item-item backlog yang diprioritaskan, dan memperkirakan tingkat upaya yang diperlukan untuk menyelesaikannya</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609" name="Google Shape;609;p85"/>
          <p:cNvPicPr preferRelativeResize="0"/>
          <p:nvPr/>
        </p:nvPicPr>
        <p:blipFill>
          <a:blip r:embed="rId3">
            <a:alphaModFix/>
          </a:blip>
          <a:stretch>
            <a:fillRect/>
          </a:stretch>
        </p:blipFill>
        <p:spPr>
          <a:xfrm>
            <a:off x="5098350" y="1339175"/>
            <a:ext cx="3310476" cy="2852076"/>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8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15" name="Google Shape;615;p8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616" name="Google Shape;616;p86"/>
          <p:cNvSpPr txBox="1"/>
          <p:nvPr/>
        </p:nvSpPr>
        <p:spPr>
          <a:xfrm>
            <a:off x="685800" y="1955700"/>
            <a:ext cx="4114800" cy="1232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Sprint planning ditujukan untuk menetapkan tujuan sprint yang realistis. Biasanya berupa deskripsi singkat, 1-2 kalimat, tentang rencana yang akan dicapai selama sprint.</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Keterlibatan UX dalam hal ini penting karena pekerjaan UX harus diperhitungkan dalam backlog, sama halnya dengan pekerjaan pengembang.</a:t>
            </a:r>
            <a:endParaRPr sz="1000">
              <a:solidFill>
                <a:schemeClr val="dk1"/>
              </a:solidFill>
              <a:latin typeface="Montserrat"/>
              <a:ea typeface="Montserrat"/>
              <a:cs typeface="Montserrat"/>
              <a:sym typeface="Montserrat"/>
            </a:endParaRPr>
          </a:p>
        </p:txBody>
      </p:sp>
      <p:pic>
        <p:nvPicPr>
          <p:cNvPr id="617" name="Google Shape;617;p86"/>
          <p:cNvPicPr preferRelativeResize="0"/>
          <p:nvPr/>
        </p:nvPicPr>
        <p:blipFill>
          <a:blip r:embed="rId3">
            <a:alphaModFix/>
          </a:blip>
          <a:stretch>
            <a:fillRect/>
          </a:stretch>
        </p:blipFill>
        <p:spPr>
          <a:xfrm>
            <a:off x="5257798" y="1067775"/>
            <a:ext cx="2919176" cy="362895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8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23" name="Google Shape;623;p8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624" name="Google Shape;624;p87"/>
          <p:cNvSpPr txBox="1"/>
          <p:nvPr/>
        </p:nvSpPr>
        <p:spPr>
          <a:xfrm>
            <a:off x="685800" y="1686000"/>
            <a:ext cx="4098000" cy="1771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Maka itu, penting untuk memperhitungkan pengujian pengguna supaya tim mengetahui apa yang diharapkan dan berkesempatan menghadiri sesi atau tanya jawab.</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Sedang u</a:t>
            </a:r>
            <a:r>
              <a:rPr lang="en" sz="1000">
                <a:solidFill>
                  <a:schemeClr val="dk1"/>
                </a:solidFill>
                <a:latin typeface="Montserrat"/>
                <a:ea typeface="Montserrat"/>
                <a:cs typeface="Montserrat"/>
                <a:sym typeface="Montserrat"/>
              </a:rPr>
              <a:t>ntuk inisiatif atau lokakarya penelitian lebih besar, seperti sprint desain yang penting melibatkan seluruh tim, usulkan kecepatan sprint menjadi lebih rendah.</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Hal tersebut bisa membantu para engineer menyisihkan waktu untuk menghadiri penelitian.</a:t>
            </a:r>
            <a:endParaRPr sz="1000">
              <a:solidFill>
                <a:schemeClr val="dk1"/>
              </a:solidFill>
              <a:latin typeface="Montserrat"/>
              <a:ea typeface="Montserrat"/>
              <a:cs typeface="Montserrat"/>
              <a:sym typeface="Montserrat"/>
            </a:endParaRPr>
          </a:p>
        </p:txBody>
      </p:sp>
      <p:pic>
        <p:nvPicPr>
          <p:cNvPr id="625" name="Google Shape;625;p87"/>
          <p:cNvPicPr preferRelativeResize="0"/>
          <p:nvPr/>
        </p:nvPicPr>
        <p:blipFill>
          <a:blip r:embed="rId3">
            <a:alphaModFix/>
          </a:blip>
          <a:stretch>
            <a:fillRect/>
          </a:stretch>
        </p:blipFill>
        <p:spPr>
          <a:xfrm>
            <a:off x="4985925" y="1133150"/>
            <a:ext cx="4038349" cy="3194405"/>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8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31" name="Google Shape;631;p8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632" name="Google Shape;632;p88"/>
          <p:cNvSpPr txBox="1"/>
          <p:nvPr/>
        </p:nvSpPr>
        <p:spPr>
          <a:xfrm>
            <a:off x="620400" y="1816225"/>
            <a:ext cx="4403100" cy="2193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Di akhir perencanaan sprint, </a:t>
            </a:r>
            <a:r>
              <a:rPr b="1" lang="en" sz="1000">
                <a:solidFill>
                  <a:schemeClr val="dk1"/>
                </a:solidFill>
                <a:latin typeface="Montserrat"/>
                <a:ea typeface="Montserrat"/>
                <a:cs typeface="Montserrat"/>
                <a:sym typeface="Montserrat"/>
              </a:rPr>
              <a:t>beban kerja seluruh tim untuk sprint sudah harus dibagikan.</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Namun, ingatlah bahwa cerita pengguna yang dibahas dalam perencanaan sprint dimaksudkan sebagai pengganti percakapan dan kolaborasi lebih lanjut dengan teknisi kamu.</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Sehingga, jangan hanya melampirkan desain ke cerita pengguna kemudian melemparkannya ke dinding dan berharap yang terbaik. Tetapi usahakan untuk tetap terlibat dengan tim kamu selama sprint dan terbukalah untuk pertanyaan dan diskusi.</a:t>
            </a:r>
            <a:endParaRPr sz="1000">
              <a:solidFill>
                <a:schemeClr val="dk1"/>
              </a:solidFill>
              <a:latin typeface="Montserrat"/>
              <a:ea typeface="Montserrat"/>
              <a:cs typeface="Montserrat"/>
              <a:sym typeface="Montserrat"/>
            </a:endParaRPr>
          </a:p>
        </p:txBody>
      </p:sp>
      <p:pic>
        <p:nvPicPr>
          <p:cNvPr id="633" name="Google Shape;633;p88"/>
          <p:cNvPicPr preferRelativeResize="0"/>
          <p:nvPr/>
        </p:nvPicPr>
        <p:blipFill>
          <a:blip r:embed="rId3">
            <a:alphaModFix/>
          </a:blip>
          <a:stretch>
            <a:fillRect/>
          </a:stretch>
        </p:blipFill>
        <p:spPr>
          <a:xfrm>
            <a:off x="5512350" y="1056075"/>
            <a:ext cx="3104250" cy="3335526"/>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8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39" name="Google Shape;639;p8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640" name="Google Shape;640;p89"/>
          <p:cNvSpPr txBox="1"/>
          <p:nvPr/>
        </p:nvSpPr>
        <p:spPr>
          <a:xfrm>
            <a:off x="685800" y="1611151"/>
            <a:ext cx="4114800" cy="1921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Aktivitas pada Sprint Review (Demo)</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Review sprint atau sering disebut demo, </a:t>
            </a:r>
            <a:r>
              <a:rPr b="1" lang="en" sz="1000">
                <a:solidFill>
                  <a:schemeClr val="dk1"/>
                </a:solidFill>
                <a:latin typeface="Montserrat"/>
                <a:ea typeface="Montserrat"/>
                <a:cs typeface="Montserrat"/>
                <a:sym typeface="Montserrat"/>
              </a:rPr>
              <a:t>biasanya terjadi pada hari kedua hingga terakhir sprint</a:t>
            </a:r>
            <a:r>
              <a:rPr lang="en" sz="1000">
                <a:solidFill>
                  <a:schemeClr val="dk1"/>
                </a:solidFill>
                <a:latin typeface="Montserrat"/>
                <a:ea typeface="Montserrat"/>
                <a:cs typeface="Montserrat"/>
                <a:sym typeface="Montserrat"/>
              </a:rPr>
              <a:t>. Dalam banyak kasus, ketika tim melakukan peluncuran di akhir sprint, ceremony ini jatuh pada hari sebelum kode dirilis.</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Selama pertemuan ini, product owner akan menunjukkan kode kepada pemangku kepentingan dan orang lain yang mungkin terpengaruh oleh capaian kerja tim dalam sprint.</a:t>
            </a:r>
            <a:endParaRPr sz="1000">
              <a:solidFill>
                <a:schemeClr val="dk1"/>
              </a:solidFill>
              <a:latin typeface="Montserrat"/>
              <a:ea typeface="Montserrat"/>
              <a:cs typeface="Montserrat"/>
              <a:sym typeface="Montserrat"/>
            </a:endParaRPr>
          </a:p>
        </p:txBody>
      </p:sp>
      <p:pic>
        <p:nvPicPr>
          <p:cNvPr id="641" name="Google Shape;641;p89"/>
          <p:cNvPicPr preferRelativeResize="0"/>
          <p:nvPr/>
        </p:nvPicPr>
        <p:blipFill>
          <a:blip r:embed="rId3">
            <a:alphaModFix/>
          </a:blip>
          <a:stretch>
            <a:fillRect/>
          </a:stretch>
        </p:blipFill>
        <p:spPr>
          <a:xfrm>
            <a:off x="5257801" y="1012474"/>
            <a:ext cx="3460400" cy="3379126"/>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9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47" name="Google Shape;647;p9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648" name="Google Shape;648;p90"/>
          <p:cNvSpPr txBox="1"/>
          <p:nvPr/>
        </p:nvSpPr>
        <p:spPr>
          <a:xfrm>
            <a:off x="685800" y="1740925"/>
            <a:ext cx="4114800" cy="1966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Sehingga, bisa dikatakan kalau sprint review merupakan kesempatan apik bagi UX untuk mendukung product owner dalam mempresentasikan pekerjaan yang telah diselesaikan.</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Nah, tapi terkadang tim UX akan merasa kewalahan dengan jumlah permintaan fitur baru pada feedback yang diberikan. Kalaupun hal ini terjadi, kamu bisa mendokumentasikan feedback dengan cara yang terorganisir.</a:t>
            </a:r>
            <a:endParaRPr sz="1000">
              <a:solidFill>
                <a:schemeClr val="dk1"/>
              </a:solidFill>
              <a:latin typeface="Montserrat"/>
              <a:ea typeface="Montserrat"/>
              <a:cs typeface="Montserrat"/>
              <a:sym typeface="Montserrat"/>
            </a:endParaRPr>
          </a:p>
        </p:txBody>
      </p:sp>
      <p:pic>
        <p:nvPicPr>
          <p:cNvPr id="649" name="Google Shape;649;p90"/>
          <p:cNvPicPr preferRelativeResize="0"/>
          <p:nvPr/>
        </p:nvPicPr>
        <p:blipFill>
          <a:blip r:embed="rId3">
            <a:alphaModFix/>
          </a:blip>
          <a:stretch>
            <a:fillRect/>
          </a:stretch>
        </p:blipFill>
        <p:spPr>
          <a:xfrm>
            <a:off x="5334100" y="986150"/>
            <a:ext cx="2984552" cy="3340073"/>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9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55" name="Google Shape;655;p9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656" name="Google Shape;656;p91"/>
          <p:cNvSpPr txBox="1"/>
          <p:nvPr/>
        </p:nvSpPr>
        <p:spPr>
          <a:xfrm>
            <a:off x="522300" y="1984403"/>
            <a:ext cx="4114800" cy="1295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Misalnya, menandai setiap feedback dengan kategori to-do, to-clarify, atau to-persuade.</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Pada intinya, bekerjalah dengan product owner dan scrum master kamu untuk mengarahkan feedback dan memprioritaskan persyaratan baru yang muncul dari demo.</a:t>
            </a:r>
            <a:endParaRPr sz="1000">
              <a:solidFill>
                <a:schemeClr val="dk1"/>
              </a:solidFill>
              <a:latin typeface="Montserrat"/>
              <a:ea typeface="Montserrat"/>
              <a:cs typeface="Montserrat"/>
              <a:sym typeface="Montserrat"/>
            </a:endParaRPr>
          </a:p>
        </p:txBody>
      </p:sp>
      <p:pic>
        <p:nvPicPr>
          <p:cNvPr id="657" name="Google Shape;657;p91"/>
          <p:cNvPicPr preferRelativeResize="0"/>
          <p:nvPr/>
        </p:nvPicPr>
        <p:blipFill>
          <a:blip r:embed="rId3">
            <a:alphaModFix/>
          </a:blip>
          <a:stretch>
            <a:fillRect/>
          </a:stretch>
        </p:blipFill>
        <p:spPr>
          <a:xfrm>
            <a:off x="5083775" y="1023375"/>
            <a:ext cx="1575864" cy="1349340"/>
          </a:xfrm>
          <a:prstGeom prst="rect">
            <a:avLst/>
          </a:prstGeom>
          <a:noFill/>
          <a:ln>
            <a:noFill/>
          </a:ln>
        </p:spPr>
      </p:pic>
      <p:pic>
        <p:nvPicPr>
          <p:cNvPr id="658" name="Google Shape;658;p91"/>
          <p:cNvPicPr preferRelativeResize="0"/>
          <p:nvPr/>
        </p:nvPicPr>
        <p:blipFill>
          <a:blip r:embed="rId4">
            <a:alphaModFix/>
          </a:blip>
          <a:stretch>
            <a:fillRect/>
          </a:stretch>
        </p:blipFill>
        <p:spPr>
          <a:xfrm>
            <a:off x="6659651" y="948725"/>
            <a:ext cx="1467126" cy="371660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9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64" name="Google Shape;664;p9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665" name="Google Shape;665;p92"/>
          <p:cNvSpPr txBox="1"/>
          <p:nvPr/>
        </p:nvSpPr>
        <p:spPr>
          <a:xfrm>
            <a:off x="685800" y="1726648"/>
            <a:ext cx="4114800" cy="1690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Aktivitas pada Retrospective</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Retrospektif sering terjadi pada </a:t>
            </a:r>
            <a:r>
              <a:rPr b="1" lang="en" sz="1000">
                <a:solidFill>
                  <a:schemeClr val="dk1"/>
                </a:solidFill>
                <a:latin typeface="Montserrat"/>
                <a:ea typeface="Montserrat"/>
                <a:cs typeface="Montserrat"/>
                <a:sym typeface="Montserrat"/>
              </a:rPr>
              <a:t>hari terakhir sprint agar tim dapat meninjau kembali bagaimana semuanya berjalan</a:t>
            </a:r>
            <a:r>
              <a:rPr lang="en" sz="1000">
                <a:solidFill>
                  <a:schemeClr val="dk1"/>
                </a:solidFill>
                <a:latin typeface="Montserrat"/>
                <a:ea typeface="Montserrat"/>
                <a:cs typeface="Montserrat"/>
                <a:sym typeface="Montserrat"/>
              </a:rPr>
              <a:t>. </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Idealnya, perwakilan netral seperti master scrum dan tim lain, atau mungkin manajer proyek dari bagian lain organisasi kamu akan menjalankan retrospektif untuk menjaga alur percakapan dan supaya diskusi tidak bias.</a:t>
            </a:r>
            <a:endParaRPr sz="1000">
              <a:solidFill>
                <a:schemeClr val="dk1"/>
              </a:solidFill>
              <a:latin typeface="Montserrat"/>
              <a:ea typeface="Montserrat"/>
              <a:cs typeface="Montserrat"/>
              <a:sym typeface="Montserrat"/>
            </a:endParaRPr>
          </a:p>
        </p:txBody>
      </p:sp>
      <p:pic>
        <p:nvPicPr>
          <p:cNvPr id="666" name="Google Shape;666;p92"/>
          <p:cNvPicPr preferRelativeResize="0"/>
          <p:nvPr/>
        </p:nvPicPr>
        <p:blipFill>
          <a:blip r:embed="rId3">
            <a:alphaModFix/>
          </a:blip>
          <a:stretch>
            <a:fillRect/>
          </a:stretch>
        </p:blipFill>
        <p:spPr>
          <a:xfrm>
            <a:off x="5340150" y="914400"/>
            <a:ext cx="2734476" cy="3788476"/>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9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72" name="Google Shape;672;p9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673" name="Google Shape;673;p93"/>
          <p:cNvSpPr txBox="1"/>
          <p:nvPr/>
        </p:nvSpPr>
        <p:spPr>
          <a:xfrm>
            <a:off x="565425" y="1706125"/>
            <a:ext cx="3713400" cy="2189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Setiap anggota tim akan mendiskusikan apa yang berjalan dengan baik dalam sprint, apa yang bermasalah, dan apa yang dapat dilakukan secara berbeda untuk meningkatkan efektivitas tim Scrum.</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Retrospektif adalah waktu yang tepat bagi UX untuk berbicara tentang perubahan proses; karena topik pertemuan adalah untuk merefleksikan proses tim, maka member tim akan lebih mudah menerima saran.</a:t>
            </a:r>
            <a:endParaRPr sz="1000">
              <a:solidFill>
                <a:schemeClr val="dk1"/>
              </a:solidFill>
              <a:latin typeface="Montserrat"/>
              <a:ea typeface="Montserrat"/>
              <a:cs typeface="Montserrat"/>
              <a:sym typeface="Montserrat"/>
            </a:endParaRPr>
          </a:p>
        </p:txBody>
      </p:sp>
      <p:pic>
        <p:nvPicPr>
          <p:cNvPr id="674" name="Google Shape;674;p93"/>
          <p:cNvPicPr preferRelativeResize="0"/>
          <p:nvPr/>
        </p:nvPicPr>
        <p:blipFill>
          <a:blip r:embed="rId3">
            <a:alphaModFix/>
          </a:blip>
          <a:stretch>
            <a:fillRect/>
          </a:stretch>
        </p:blipFill>
        <p:spPr>
          <a:xfrm>
            <a:off x="4475825" y="1630064"/>
            <a:ext cx="4583913" cy="2341812"/>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9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80" name="Google Shape;680;p9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681" name="Google Shape;681;p94"/>
          <p:cNvSpPr txBox="1"/>
          <p:nvPr/>
        </p:nvSpPr>
        <p:spPr>
          <a:xfrm>
            <a:off x="685800" y="1706125"/>
            <a:ext cx="4283400" cy="1955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Kegiatan ini bisa dikatakan sebagai sesi evaluasi dan refleksi tim terhadap bagaimana sprint sebelumnya berjalan. Pada proses ini bisa jadi anggota tim mengangkat isu-isu sensitif atau personal yang dianggap mempengaruhi performa kerja, misal: masalah sirkulasi udara ruangan yang kurang sehingga bau dan panas membuat kurang  nyaman  atau AC ruangan yang terlalu dingin.</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t/>
            </a:r>
            <a:endParaRPr sz="1000">
              <a:solidFill>
                <a:schemeClr val="dk1"/>
              </a:solidFill>
              <a:latin typeface="Montserrat"/>
              <a:ea typeface="Montserrat"/>
              <a:cs typeface="Montserrat"/>
              <a:sym typeface="Montserrat"/>
            </a:endParaRPr>
          </a:p>
        </p:txBody>
      </p:sp>
      <p:pic>
        <p:nvPicPr>
          <p:cNvPr id="682" name="Google Shape;682;p94"/>
          <p:cNvPicPr preferRelativeResize="0"/>
          <p:nvPr/>
        </p:nvPicPr>
        <p:blipFill>
          <a:blip r:embed="rId3">
            <a:alphaModFix/>
          </a:blip>
          <a:stretch>
            <a:fillRect/>
          </a:stretch>
        </p:blipFill>
        <p:spPr>
          <a:xfrm>
            <a:off x="5354750" y="1215489"/>
            <a:ext cx="2796149" cy="2936673"/>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9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88" name="Google Shape;688;p9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689" name="Google Shape;689;p95"/>
          <p:cNvSpPr txBox="1"/>
          <p:nvPr/>
        </p:nvSpPr>
        <p:spPr>
          <a:xfrm>
            <a:off x="685800" y="1706133"/>
            <a:ext cx="4114800" cy="1955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Terdapat tiga poin utama yang didiskusikan: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160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Start </a:t>
            </a:r>
            <a:r>
              <a:rPr lang="en" sz="1000">
                <a:solidFill>
                  <a:schemeClr val="dk1"/>
                </a:solidFill>
                <a:latin typeface="Montserrat"/>
                <a:ea typeface="Montserrat"/>
                <a:cs typeface="Montserrat"/>
                <a:sym typeface="Montserrat"/>
              </a:rPr>
              <a:t>– Ide-ide yang sebaiknya dilakukan oleh tim namun belum diterapkan pada sprint sebelumnya.</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Stop</a:t>
            </a:r>
            <a:r>
              <a:rPr lang="en" sz="1000">
                <a:solidFill>
                  <a:schemeClr val="dk1"/>
                </a:solidFill>
                <a:latin typeface="Montserrat"/>
                <a:ea typeface="Montserrat"/>
                <a:cs typeface="Montserrat"/>
                <a:sym typeface="Montserrat"/>
              </a:rPr>
              <a:t> – Hal-hal yang tidak memberikan hasil atau bahkan menghambat kerja sehingga tim kesulitan mencapai tujuan.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Continue</a:t>
            </a:r>
            <a:r>
              <a:rPr lang="en" sz="1000">
                <a:solidFill>
                  <a:schemeClr val="dk1"/>
                </a:solidFill>
                <a:latin typeface="Montserrat"/>
                <a:ea typeface="Montserrat"/>
                <a:cs typeface="Montserrat"/>
                <a:sym typeface="Montserrat"/>
              </a:rPr>
              <a:t> – Apa saja hal yang telah baik dan sebaiknya dipertahankan pada sprint selanjutnya.</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t/>
            </a:r>
            <a:endParaRPr sz="1000">
              <a:solidFill>
                <a:schemeClr val="dk1"/>
              </a:solidFill>
              <a:latin typeface="Montserrat"/>
              <a:ea typeface="Montserrat"/>
              <a:cs typeface="Montserrat"/>
              <a:sym typeface="Montserrat"/>
            </a:endParaRPr>
          </a:p>
        </p:txBody>
      </p:sp>
      <p:grpSp>
        <p:nvGrpSpPr>
          <p:cNvPr id="690" name="Google Shape;690;p95"/>
          <p:cNvGrpSpPr/>
          <p:nvPr/>
        </p:nvGrpSpPr>
        <p:grpSpPr>
          <a:xfrm>
            <a:off x="5335175" y="1150025"/>
            <a:ext cx="3362495" cy="3439966"/>
            <a:chOff x="5574100" y="1281375"/>
            <a:chExt cx="3362495" cy="3439966"/>
          </a:xfrm>
        </p:grpSpPr>
        <p:pic>
          <p:nvPicPr>
            <p:cNvPr id="691" name="Google Shape;691;p95"/>
            <p:cNvPicPr preferRelativeResize="0"/>
            <p:nvPr/>
          </p:nvPicPr>
          <p:blipFill rotWithShape="1">
            <a:blip r:embed="rId3">
              <a:alphaModFix/>
            </a:blip>
            <a:srcRect b="0" l="0" r="66589" t="0"/>
            <a:stretch/>
          </p:blipFill>
          <p:spPr>
            <a:xfrm>
              <a:off x="5574100" y="1281375"/>
              <a:ext cx="1645920" cy="1711757"/>
            </a:xfrm>
            <a:prstGeom prst="rect">
              <a:avLst/>
            </a:prstGeom>
            <a:noFill/>
            <a:ln>
              <a:noFill/>
            </a:ln>
          </p:spPr>
        </p:pic>
        <p:pic>
          <p:nvPicPr>
            <p:cNvPr id="692" name="Google Shape;692;p95"/>
            <p:cNvPicPr preferRelativeResize="0"/>
            <p:nvPr/>
          </p:nvPicPr>
          <p:blipFill rotWithShape="1">
            <a:blip r:embed="rId3">
              <a:alphaModFix/>
            </a:blip>
            <a:srcRect b="0" l="33252" r="33182" t="0"/>
            <a:stretch/>
          </p:blipFill>
          <p:spPr>
            <a:xfrm>
              <a:off x="7290675" y="1281375"/>
              <a:ext cx="1645920" cy="1711757"/>
            </a:xfrm>
            <a:prstGeom prst="rect">
              <a:avLst/>
            </a:prstGeom>
            <a:noFill/>
            <a:ln>
              <a:noFill/>
            </a:ln>
          </p:spPr>
        </p:pic>
        <p:pic>
          <p:nvPicPr>
            <p:cNvPr id="693" name="Google Shape;693;p95"/>
            <p:cNvPicPr preferRelativeResize="0"/>
            <p:nvPr/>
          </p:nvPicPr>
          <p:blipFill rotWithShape="1">
            <a:blip r:embed="rId3">
              <a:alphaModFix/>
            </a:blip>
            <a:srcRect b="0" l="66740" r="0" t="0"/>
            <a:stretch/>
          </p:blipFill>
          <p:spPr>
            <a:xfrm>
              <a:off x="6472700" y="2993125"/>
              <a:ext cx="1645920" cy="1728216"/>
            </a:xfrm>
            <a:prstGeom prst="rect">
              <a:avLst/>
            </a:prstGeom>
            <a:noFill/>
            <a:ln>
              <a:noFill/>
            </a:ln>
          </p:spPr>
        </p:pic>
      </p:gr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9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99" name="Google Shape;699;p9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700" name="Google Shape;700;p96"/>
          <p:cNvSpPr txBox="1"/>
          <p:nvPr/>
        </p:nvSpPr>
        <p:spPr>
          <a:xfrm>
            <a:off x="685800" y="1874850"/>
            <a:ext cx="4331400" cy="1393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Retrospektif juga merupakan waktu yang tepat untuk membahas: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Situasi di mana kamu tidak mendapatkan informasi latar belakang atau waktu penelitian yang kamu butuhkan untuk merancang sesuatu dengan benar</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Kesalahan implementasi atau miskomunikasi di mana pengembang tidak mengimplementasikan desain kamu seperti yang kamu inginkan</a:t>
            </a:r>
            <a:endParaRPr sz="1000">
              <a:solidFill>
                <a:schemeClr val="dk1"/>
              </a:solidFill>
              <a:latin typeface="Montserrat"/>
              <a:ea typeface="Montserrat"/>
              <a:cs typeface="Montserrat"/>
              <a:sym typeface="Montserrat"/>
            </a:endParaRPr>
          </a:p>
        </p:txBody>
      </p:sp>
      <p:pic>
        <p:nvPicPr>
          <p:cNvPr id="701" name="Google Shape;701;p96"/>
          <p:cNvPicPr preferRelativeResize="0"/>
          <p:nvPr/>
        </p:nvPicPr>
        <p:blipFill>
          <a:blip r:embed="rId3">
            <a:alphaModFix/>
          </a:blip>
          <a:stretch>
            <a:fillRect/>
          </a:stretch>
        </p:blipFill>
        <p:spPr>
          <a:xfrm>
            <a:off x="5686825" y="914400"/>
            <a:ext cx="2422424" cy="3540614"/>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9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07" name="Google Shape;707;p9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708" name="Google Shape;708;p97"/>
          <p:cNvSpPr txBox="1"/>
          <p:nvPr/>
        </p:nvSpPr>
        <p:spPr>
          <a:xfrm>
            <a:off x="685800" y="2067300"/>
            <a:ext cx="4331400" cy="1008900"/>
          </a:xfrm>
          <a:prstGeom prst="rect">
            <a:avLst/>
          </a:prstGeom>
          <a:noFill/>
          <a:ln>
            <a:noFill/>
          </a:ln>
        </p:spPr>
        <p:txBody>
          <a:bodyPr anchorCtr="0" anchor="t" bIns="0" lIns="0" spcFirstLastPara="1" rIns="0" wrap="square" tIns="0">
            <a:noAutofit/>
          </a:bodyPr>
          <a:lstStyle/>
          <a:p>
            <a:pPr indent="-292100" lvl="0" marL="457200" rtl="0" algn="just">
              <a:lnSpc>
                <a:spcPct val="115000"/>
              </a:lnSpc>
              <a:spcBef>
                <a:spcPts val="0"/>
              </a:spcBef>
              <a:spcAft>
                <a:spcPts val="0"/>
              </a:spcAft>
              <a:buClr>
                <a:schemeClr val="dk1"/>
              </a:buClr>
              <a:buSzPts val="1000"/>
              <a:buFont typeface="Montserrat"/>
              <a:buAutoNum type="arabicPeriod" startAt="3"/>
            </a:pPr>
            <a:r>
              <a:rPr lang="en" sz="1000">
                <a:solidFill>
                  <a:schemeClr val="dk1"/>
                </a:solidFill>
                <a:latin typeface="Montserrat"/>
                <a:ea typeface="Montserrat"/>
                <a:cs typeface="Montserrat"/>
                <a:sym typeface="Montserrat"/>
              </a:rPr>
              <a:t>Pertanyaan tentang kiriman kamu dan definisi selesai yang kamu berikan untuk desain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startAt="3"/>
            </a:pPr>
            <a:r>
              <a:rPr lang="en" sz="1000">
                <a:solidFill>
                  <a:schemeClr val="dk1"/>
                </a:solidFill>
                <a:latin typeface="Montserrat"/>
                <a:ea typeface="Montserrat"/>
                <a:cs typeface="Montserrat"/>
                <a:sym typeface="Montserrat"/>
              </a:rPr>
              <a:t>Cara kamu mengkomunikasikan spesifikasi desain: jika bermasalah, membingungkan, atau tidak cukup spesifik</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startAt="3"/>
            </a:pPr>
            <a:r>
              <a:rPr lang="en" sz="1000">
                <a:solidFill>
                  <a:schemeClr val="dk1"/>
                </a:solidFill>
                <a:latin typeface="Montserrat"/>
                <a:ea typeface="Montserrat"/>
                <a:cs typeface="Montserrat"/>
                <a:sym typeface="Montserrat"/>
              </a:rPr>
              <a:t>Keterlibatan product owner, developer dan pemangku kepentingan bisnis mengamati sesi pengujian kegunaan.</a:t>
            </a:r>
            <a:endParaRPr sz="1000">
              <a:solidFill>
                <a:schemeClr val="dk1"/>
              </a:solidFill>
              <a:latin typeface="Montserrat"/>
              <a:ea typeface="Montserrat"/>
              <a:cs typeface="Montserrat"/>
              <a:sym typeface="Montserrat"/>
            </a:endParaRPr>
          </a:p>
        </p:txBody>
      </p:sp>
      <p:pic>
        <p:nvPicPr>
          <p:cNvPr id="709" name="Google Shape;709;p97"/>
          <p:cNvPicPr preferRelativeResize="0"/>
          <p:nvPr/>
        </p:nvPicPr>
        <p:blipFill>
          <a:blip r:embed="rId3">
            <a:alphaModFix/>
          </a:blip>
          <a:stretch>
            <a:fillRect/>
          </a:stretch>
        </p:blipFill>
        <p:spPr>
          <a:xfrm>
            <a:off x="5693525" y="914400"/>
            <a:ext cx="2422424" cy="3540614"/>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9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15" name="Google Shape;715;p9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716" name="Google Shape;716;p98"/>
          <p:cNvSpPr txBox="1"/>
          <p:nvPr/>
        </p:nvSpPr>
        <p:spPr>
          <a:xfrm>
            <a:off x="685800" y="1706072"/>
            <a:ext cx="4114800" cy="1186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Memprioritaskan waktu</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Ketika tidak mungkin bagi kamu sebagai praktisi untuk menghadiri semua ceremony karena konflik waktu atau kendala sumber daya, cari tahu rapat mana yang tidak terlalu penting untuk UX, dan sesekali lewati rapat tersebut.</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Tanyakan kepada diri kamu sendiri 5 pertanyaan berikut untuk membantu memprioritaskan waktu dan menentukan rapat mana yang perlu dihadiri.</a:t>
            </a:r>
            <a:endParaRPr sz="1000">
              <a:solidFill>
                <a:schemeClr val="dk1"/>
              </a:solidFill>
              <a:latin typeface="Montserrat"/>
              <a:ea typeface="Montserrat"/>
              <a:cs typeface="Montserrat"/>
              <a:sym typeface="Montserrat"/>
            </a:endParaRPr>
          </a:p>
        </p:txBody>
      </p:sp>
      <p:pic>
        <p:nvPicPr>
          <p:cNvPr id="717" name="Google Shape;717;p98"/>
          <p:cNvPicPr preferRelativeResize="0"/>
          <p:nvPr/>
        </p:nvPicPr>
        <p:blipFill>
          <a:blip r:embed="rId3">
            <a:alphaModFix/>
          </a:blip>
          <a:stretch>
            <a:fillRect/>
          </a:stretch>
        </p:blipFill>
        <p:spPr>
          <a:xfrm>
            <a:off x="5084801" y="1086550"/>
            <a:ext cx="3297199" cy="3561649"/>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9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23" name="Google Shape;723;p9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Tanggung jawab UX dalam Scrum ceremonies</a:t>
            </a:r>
            <a:endParaRPr>
              <a:latin typeface="Montserrat"/>
              <a:ea typeface="Montserrat"/>
              <a:cs typeface="Montserrat"/>
              <a:sym typeface="Montserrat"/>
            </a:endParaRPr>
          </a:p>
        </p:txBody>
      </p:sp>
      <p:sp>
        <p:nvSpPr>
          <p:cNvPr id="724" name="Google Shape;724;p99"/>
          <p:cNvSpPr txBox="1"/>
          <p:nvPr/>
        </p:nvSpPr>
        <p:spPr>
          <a:xfrm>
            <a:off x="685800" y="1726650"/>
            <a:ext cx="4370400" cy="1690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Sehingga dapat kita intisarikan bahwa…</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Sangat mudah bagi para praktisi UX untuk mempertanyakan apakah mereka harus menghadiri ceremony Scrum, dan kadang-kadang, praktisi UX bahkan mungkin menganggap sebuah ceremony sebagai penghalang produktivitas. </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Namun, pada umumnya, praktisi UX harus terlibat dalam ceremony Scrum untuk mengetahui apa yang terjadi dalam tim.</a:t>
            </a:r>
            <a:endParaRPr sz="1000">
              <a:solidFill>
                <a:schemeClr val="dk1"/>
              </a:solidFill>
              <a:latin typeface="Montserrat"/>
              <a:ea typeface="Montserrat"/>
              <a:cs typeface="Montserrat"/>
              <a:sym typeface="Montserrat"/>
            </a:endParaRPr>
          </a:p>
        </p:txBody>
      </p:sp>
      <p:pic>
        <p:nvPicPr>
          <p:cNvPr id="725" name="Google Shape;725;p99"/>
          <p:cNvPicPr preferRelativeResize="0"/>
          <p:nvPr/>
        </p:nvPicPr>
        <p:blipFill>
          <a:blip r:embed="rId3">
            <a:alphaModFix/>
          </a:blip>
          <a:stretch>
            <a:fillRect/>
          </a:stretch>
        </p:blipFill>
        <p:spPr>
          <a:xfrm>
            <a:off x="5369525" y="1336788"/>
            <a:ext cx="3056249" cy="2967225"/>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10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Best practices untuk menerapkan Scrum pada desain UX</a:t>
            </a:r>
            <a:endParaRPr>
              <a:latin typeface="Montserrat"/>
              <a:ea typeface="Montserrat"/>
              <a:cs typeface="Montserrat"/>
              <a:sym typeface="Montserrat"/>
            </a:endParaRPr>
          </a:p>
        </p:txBody>
      </p:sp>
      <p:sp>
        <p:nvSpPr>
          <p:cNvPr id="731" name="Google Shape;731;p10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32" name="Google Shape;732;p100"/>
          <p:cNvSpPr txBox="1"/>
          <p:nvPr/>
        </p:nvSpPr>
        <p:spPr>
          <a:xfrm>
            <a:off x="685800" y="1940700"/>
            <a:ext cx="4847400" cy="1339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sz="1500">
                <a:solidFill>
                  <a:schemeClr val="lt1"/>
                </a:solidFill>
                <a:latin typeface="Montserrat"/>
                <a:ea typeface="Montserrat"/>
                <a:cs typeface="Montserrat"/>
                <a:sym typeface="Montserrat"/>
              </a:rPr>
              <a:t>Nah, setelah memahami tanggung jawab UX dalam scrum, terus gimana ya </a:t>
            </a:r>
            <a:r>
              <a:rPr b="1" lang="en" sz="1500">
                <a:solidFill>
                  <a:srgbClr val="F2AB2F"/>
                </a:solidFill>
                <a:latin typeface="Montserrat"/>
                <a:ea typeface="Montserrat"/>
                <a:cs typeface="Montserrat"/>
                <a:sym typeface="Montserrat"/>
              </a:rPr>
              <a:t>best practices untuk menerapkan Scrum pada desain UX</a:t>
            </a:r>
            <a:r>
              <a:rPr b="1" lang="en" sz="1500">
                <a:solidFill>
                  <a:schemeClr val="lt1"/>
                </a:solidFill>
                <a:latin typeface="Montserrat"/>
                <a:ea typeface="Montserrat"/>
                <a:cs typeface="Montserrat"/>
                <a:sym typeface="Montserrat"/>
              </a:rPr>
              <a:t> ?</a:t>
            </a:r>
            <a:endParaRPr b="1" sz="1500">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sz="1500">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sz="1500">
                <a:solidFill>
                  <a:schemeClr val="lt1"/>
                </a:solidFill>
                <a:latin typeface="Montserrat"/>
                <a:ea typeface="Montserrat"/>
                <a:cs typeface="Montserrat"/>
                <a:sym typeface="Montserrat"/>
              </a:rPr>
              <a:t>Yuk kita kupas biar makin joss ~</a:t>
            </a:r>
            <a:endParaRPr b="1" sz="1500">
              <a:solidFill>
                <a:schemeClr val="lt1"/>
              </a:solidFill>
              <a:latin typeface="Montserrat"/>
              <a:ea typeface="Montserrat"/>
              <a:cs typeface="Montserrat"/>
              <a:sym typeface="Montserrat"/>
            </a:endParaRPr>
          </a:p>
        </p:txBody>
      </p:sp>
      <p:pic>
        <p:nvPicPr>
          <p:cNvPr id="733" name="Google Shape;733;p100"/>
          <p:cNvPicPr preferRelativeResize="0"/>
          <p:nvPr/>
        </p:nvPicPr>
        <p:blipFill>
          <a:blip r:embed="rId3">
            <a:alphaModFix/>
          </a:blip>
          <a:stretch>
            <a:fillRect/>
          </a:stretch>
        </p:blipFill>
        <p:spPr>
          <a:xfrm>
            <a:off x="5817975" y="914388"/>
            <a:ext cx="2798625" cy="3868675"/>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10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39" name="Google Shape;739;p10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Best practices untuk menerapkan Scrum pada desain UX</a:t>
            </a:r>
            <a:endParaRPr>
              <a:latin typeface="Montserrat"/>
              <a:ea typeface="Montserrat"/>
              <a:cs typeface="Montserrat"/>
              <a:sym typeface="Montserrat"/>
            </a:endParaRPr>
          </a:p>
        </p:txBody>
      </p:sp>
      <p:sp>
        <p:nvSpPr>
          <p:cNvPr id="740" name="Google Shape;740;p101"/>
          <p:cNvSpPr txBox="1"/>
          <p:nvPr/>
        </p:nvSpPr>
        <p:spPr>
          <a:xfrm>
            <a:off x="685800" y="1363304"/>
            <a:ext cx="4114800" cy="2743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Bagaimana menyesuaikan desain UX ke dalam proses Scrum?</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Pada intinya, desain UX adalah </a:t>
            </a:r>
            <a:r>
              <a:rPr b="1" lang="en" sz="1000">
                <a:solidFill>
                  <a:schemeClr val="dk1"/>
                </a:solidFill>
                <a:latin typeface="Montserrat"/>
                <a:ea typeface="Montserrat"/>
                <a:cs typeface="Montserrat"/>
                <a:sym typeface="Montserrat"/>
              </a:rPr>
              <a:t>tentang berempati dengan pengguna dan melihat dunia melalui mata mereka</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Demikian pula, Scrum UX adalah tentang melihat pekerjaan dari sudut pandang anggota tim dan menugaskan dan menindaklanjuti tugas yang dibagi menjadi beberapa bagian yang dapat dikelola. </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Berikut adalah beberapa cara untuk menyatukan kedua prioritas tersebut.</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t/>
            </a:r>
            <a:endParaRPr sz="1000">
              <a:solidFill>
                <a:schemeClr val="dk1"/>
              </a:solidFill>
              <a:latin typeface="Montserrat"/>
              <a:ea typeface="Montserrat"/>
              <a:cs typeface="Montserrat"/>
              <a:sym typeface="Montserrat"/>
            </a:endParaRPr>
          </a:p>
        </p:txBody>
      </p:sp>
      <p:pic>
        <p:nvPicPr>
          <p:cNvPr id="741" name="Google Shape;741;p101"/>
          <p:cNvPicPr preferRelativeResize="0"/>
          <p:nvPr/>
        </p:nvPicPr>
        <p:blipFill>
          <a:blip r:embed="rId3">
            <a:alphaModFix/>
          </a:blip>
          <a:stretch>
            <a:fillRect/>
          </a:stretch>
        </p:blipFill>
        <p:spPr>
          <a:xfrm>
            <a:off x="5181975" y="1363300"/>
            <a:ext cx="3529876" cy="2743200"/>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10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47" name="Google Shape;747;p10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Best practices untuk menerapkan Scrum pada desain UX</a:t>
            </a:r>
            <a:endParaRPr>
              <a:latin typeface="Montserrat"/>
              <a:ea typeface="Montserrat"/>
              <a:cs typeface="Montserrat"/>
              <a:sym typeface="Montserrat"/>
            </a:endParaRPr>
          </a:p>
        </p:txBody>
      </p:sp>
      <p:sp>
        <p:nvSpPr>
          <p:cNvPr id="748" name="Google Shape;748;p102"/>
          <p:cNvSpPr txBox="1"/>
          <p:nvPr/>
        </p:nvSpPr>
        <p:spPr>
          <a:xfrm>
            <a:off x="685800" y="1702050"/>
            <a:ext cx="4038600" cy="1739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1) Siapkan workshop Design Thinking</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Inti dari proses Agile UX adalah Design Thinking, di mana proses awalnya adalah mengidentifikasi target pengguna dan spesifikasi produk dengan benar.</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Pengawalan ini sangatlah penting untuk </a:t>
            </a:r>
            <a:r>
              <a:rPr b="1" lang="en" sz="1000">
                <a:solidFill>
                  <a:schemeClr val="dk1"/>
                </a:solidFill>
                <a:latin typeface="Montserrat"/>
                <a:ea typeface="Montserrat"/>
                <a:cs typeface="Montserrat"/>
                <a:sym typeface="Montserrat"/>
              </a:rPr>
              <a:t>meminimalkan pemborosan waktu dengan menjaga fokus pada apa yang dibangun dan untuk siapa</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749" name="Google Shape;749;p102"/>
          <p:cNvPicPr preferRelativeResize="0"/>
          <p:nvPr/>
        </p:nvPicPr>
        <p:blipFill>
          <a:blip r:embed="rId3">
            <a:alphaModFix/>
          </a:blip>
          <a:stretch>
            <a:fillRect/>
          </a:stretch>
        </p:blipFill>
        <p:spPr>
          <a:xfrm>
            <a:off x="4831925" y="1539600"/>
            <a:ext cx="3731024" cy="2168824"/>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10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55" name="Google Shape;755;p10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Best practices untuk menerapkan Scrum pada desain UX</a:t>
            </a:r>
            <a:endParaRPr>
              <a:latin typeface="Montserrat"/>
              <a:ea typeface="Montserrat"/>
              <a:cs typeface="Montserrat"/>
              <a:sym typeface="Montserrat"/>
            </a:endParaRPr>
          </a:p>
        </p:txBody>
      </p:sp>
      <p:sp>
        <p:nvSpPr>
          <p:cNvPr id="756" name="Google Shape;756;p103"/>
          <p:cNvSpPr txBox="1"/>
          <p:nvPr/>
        </p:nvSpPr>
        <p:spPr>
          <a:xfrm>
            <a:off x="685800" y="1884600"/>
            <a:ext cx="3988200" cy="1374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Workshop Design Thinking harus mencakup desainer UX, pengembang, pemasaran, peneliti, manajer produk, dan pemangku kepentingan utama.</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Rangkaian pertemuan ini memberi waktu untuk menganalisis hasil dengan seluruh tim. Letakkan semuanya di atas meja: setiap masalah, solusi, anggaran, pengguna target, kapasitas teknologi.</a:t>
            </a:r>
            <a:endParaRPr sz="1000">
              <a:solidFill>
                <a:schemeClr val="dk1"/>
              </a:solidFill>
              <a:latin typeface="Montserrat"/>
              <a:ea typeface="Montserrat"/>
              <a:cs typeface="Montserrat"/>
              <a:sym typeface="Montserrat"/>
            </a:endParaRPr>
          </a:p>
        </p:txBody>
      </p:sp>
      <p:pic>
        <p:nvPicPr>
          <p:cNvPr id="757" name="Google Shape;757;p103"/>
          <p:cNvPicPr preferRelativeResize="0"/>
          <p:nvPr/>
        </p:nvPicPr>
        <p:blipFill>
          <a:blip r:embed="rId3">
            <a:alphaModFix/>
          </a:blip>
          <a:stretch>
            <a:fillRect/>
          </a:stretch>
        </p:blipFill>
        <p:spPr>
          <a:xfrm>
            <a:off x="4831925" y="1539600"/>
            <a:ext cx="3731024" cy="2168824"/>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10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63" name="Google Shape;763;p10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Best practices untuk menerapkan Scrum pada desain UX</a:t>
            </a:r>
            <a:endParaRPr>
              <a:latin typeface="Montserrat"/>
              <a:ea typeface="Montserrat"/>
              <a:cs typeface="Montserrat"/>
              <a:sym typeface="Montserrat"/>
            </a:endParaRPr>
          </a:p>
        </p:txBody>
      </p:sp>
      <p:sp>
        <p:nvSpPr>
          <p:cNvPr id="764" name="Google Shape;764;p104"/>
          <p:cNvSpPr txBox="1"/>
          <p:nvPr/>
        </p:nvSpPr>
        <p:spPr>
          <a:xfrm>
            <a:off x="685800" y="1840197"/>
            <a:ext cx="4114800" cy="1463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2) Menetapkan MVP (Minimal Viable Product) </a:t>
            </a:r>
            <a:br>
              <a:rPr lang="en" sz="1200">
                <a:solidFill>
                  <a:schemeClr val="dk1"/>
                </a:solidFill>
                <a:latin typeface="Montserrat Medium"/>
                <a:ea typeface="Montserrat Medium"/>
                <a:cs typeface="Montserrat Medium"/>
                <a:sym typeface="Montserrat Medium"/>
              </a:rPr>
            </a:br>
            <a:br>
              <a:rPr lang="en" sz="1200">
                <a:solidFill>
                  <a:schemeClr val="dk1"/>
                </a:solidFill>
                <a:latin typeface="Montserrat Medium"/>
                <a:ea typeface="Montserrat Medium"/>
                <a:cs typeface="Montserrat Medium"/>
                <a:sym typeface="Montserrat Medium"/>
              </a:rPr>
            </a:br>
            <a:r>
              <a:rPr lang="en" sz="1000">
                <a:solidFill>
                  <a:schemeClr val="dk1"/>
                </a:solidFill>
                <a:latin typeface="Montserrat"/>
                <a:ea typeface="Montserrat"/>
                <a:cs typeface="Montserrat"/>
                <a:sym typeface="Montserrat"/>
              </a:rPr>
              <a:t>Setelah kamu memahami apa yang dipertaruhkan, siapa pengguna target, apa yang dapat kamu tuangkan ke dalam proyek, tugas selanjutnya adalah</a:t>
            </a:r>
            <a:r>
              <a:rPr b="1" lang="en" sz="1000">
                <a:solidFill>
                  <a:schemeClr val="dk1"/>
                </a:solidFill>
                <a:latin typeface="Montserrat"/>
                <a:ea typeface="Montserrat"/>
                <a:cs typeface="Montserrat"/>
                <a:sym typeface="Montserrat"/>
              </a:rPr>
              <a:t> menentukan apa itu Minimum Viable Product (MVP)</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765" name="Google Shape;765;p104"/>
          <p:cNvPicPr preferRelativeResize="0"/>
          <p:nvPr/>
        </p:nvPicPr>
        <p:blipFill>
          <a:blip r:embed="rId3">
            <a:alphaModFix/>
          </a:blip>
          <a:stretch>
            <a:fillRect/>
          </a:stretch>
        </p:blipFill>
        <p:spPr>
          <a:xfrm>
            <a:off x="5304748" y="1293525"/>
            <a:ext cx="2951426" cy="3081576"/>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10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71" name="Google Shape;771;p10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Best practices untuk menerapkan Scrum pada desain UX</a:t>
            </a:r>
            <a:endParaRPr>
              <a:latin typeface="Montserrat"/>
              <a:ea typeface="Montserrat"/>
              <a:cs typeface="Montserrat"/>
              <a:sym typeface="Montserrat"/>
            </a:endParaRPr>
          </a:p>
        </p:txBody>
      </p:sp>
      <p:sp>
        <p:nvSpPr>
          <p:cNvPr id="772" name="Google Shape;772;p105"/>
          <p:cNvSpPr txBox="1"/>
          <p:nvPr/>
        </p:nvSpPr>
        <p:spPr>
          <a:xfrm>
            <a:off x="685800" y="2042699"/>
            <a:ext cx="4114800" cy="1058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MVP adalah produk sederhana dan paling efisien yang secara efektif memecahkan masalah yang sedang dihadapi. MVP harus fungsional, andal, ramah UX, dan berdampak.</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MVP mengesampingkan pemikiran pie-in-the-sky dan hanya menjawab pertanyaan, apa yang kita butuhkan secara minimal?</a:t>
            </a:r>
            <a:endParaRPr sz="1000">
              <a:solidFill>
                <a:schemeClr val="dk1"/>
              </a:solidFill>
              <a:latin typeface="Montserrat"/>
              <a:ea typeface="Montserrat"/>
              <a:cs typeface="Montserrat"/>
              <a:sym typeface="Montserrat"/>
            </a:endParaRPr>
          </a:p>
        </p:txBody>
      </p:sp>
      <p:pic>
        <p:nvPicPr>
          <p:cNvPr id="773" name="Google Shape;773;p105"/>
          <p:cNvPicPr preferRelativeResize="0"/>
          <p:nvPr/>
        </p:nvPicPr>
        <p:blipFill>
          <a:blip r:embed="rId3">
            <a:alphaModFix/>
          </a:blip>
          <a:stretch>
            <a:fillRect/>
          </a:stretch>
        </p:blipFill>
        <p:spPr>
          <a:xfrm>
            <a:off x="5304748" y="1293525"/>
            <a:ext cx="2951426" cy="3081576"/>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10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79" name="Google Shape;779;p10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Best practices untuk menerapkan Scrum pada desain UX</a:t>
            </a:r>
            <a:endParaRPr>
              <a:latin typeface="Montserrat"/>
              <a:ea typeface="Montserrat"/>
              <a:cs typeface="Montserrat"/>
              <a:sym typeface="Montserrat"/>
            </a:endParaRPr>
          </a:p>
        </p:txBody>
      </p:sp>
      <p:sp>
        <p:nvSpPr>
          <p:cNvPr id="780" name="Google Shape;780;p106"/>
          <p:cNvSpPr txBox="1"/>
          <p:nvPr/>
        </p:nvSpPr>
        <p:spPr>
          <a:xfrm>
            <a:off x="685800" y="1662598"/>
            <a:ext cx="4114800" cy="1818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3) Komunikasi, komunikasi, dan komunikasi</a:t>
            </a:r>
            <a:br>
              <a:rPr lang="en" sz="1200">
                <a:solidFill>
                  <a:schemeClr val="dk1"/>
                </a:solidFill>
                <a:latin typeface="Montserrat Medium"/>
                <a:ea typeface="Montserrat Medium"/>
                <a:cs typeface="Montserrat Medium"/>
                <a:sym typeface="Montserrat Medium"/>
              </a:rPr>
            </a:br>
            <a:br>
              <a:rPr lang="en" sz="1200">
                <a:solidFill>
                  <a:schemeClr val="dk1"/>
                </a:solidFill>
                <a:latin typeface="Montserrat Medium"/>
                <a:ea typeface="Montserrat Medium"/>
                <a:cs typeface="Montserrat Medium"/>
                <a:sym typeface="Montserrat Medium"/>
              </a:rPr>
            </a:br>
            <a:r>
              <a:rPr lang="en" sz="1000">
                <a:solidFill>
                  <a:schemeClr val="dk1"/>
                </a:solidFill>
                <a:latin typeface="Montserrat"/>
                <a:ea typeface="Montserrat"/>
                <a:cs typeface="Montserrat"/>
                <a:sym typeface="Montserrat"/>
              </a:rPr>
              <a:t>Nasihat ini setua bukit, tetapi ada alasan untuk itu. </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Gangguan komunikasi adalah lonceng kematian bagi proses, dan orang-orang perlu diingatkan tentang perlunya terus-menerus berdialog satu sama lain untuk memastikan semuanya berjalan lancar.</a:t>
            </a:r>
            <a:endParaRPr sz="1000">
              <a:solidFill>
                <a:schemeClr val="dk1"/>
              </a:solidFill>
              <a:latin typeface="Montserrat"/>
              <a:ea typeface="Montserrat"/>
              <a:cs typeface="Montserrat"/>
              <a:sym typeface="Montserrat"/>
            </a:endParaRPr>
          </a:p>
        </p:txBody>
      </p:sp>
      <p:pic>
        <p:nvPicPr>
          <p:cNvPr id="781" name="Google Shape;781;p106"/>
          <p:cNvPicPr preferRelativeResize="0"/>
          <p:nvPr/>
        </p:nvPicPr>
        <p:blipFill>
          <a:blip r:embed="rId3">
            <a:alphaModFix/>
          </a:blip>
          <a:stretch>
            <a:fillRect/>
          </a:stretch>
        </p:blipFill>
        <p:spPr>
          <a:xfrm>
            <a:off x="5036850" y="1316389"/>
            <a:ext cx="3345150" cy="2510725"/>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10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87" name="Google Shape;787;p10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Best practices untuk menerapkan Scrum pada desain UX</a:t>
            </a:r>
            <a:endParaRPr>
              <a:latin typeface="Montserrat"/>
              <a:ea typeface="Montserrat"/>
              <a:cs typeface="Montserrat"/>
              <a:sym typeface="Montserrat"/>
            </a:endParaRPr>
          </a:p>
        </p:txBody>
      </p:sp>
      <p:sp>
        <p:nvSpPr>
          <p:cNvPr id="788" name="Google Shape;788;p107"/>
          <p:cNvSpPr txBox="1"/>
          <p:nvPr/>
        </p:nvSpPr>
        <p:spPr>
          <a:xfrm>
            <a:off x="685800" y="1963650"/>
            <a:ext cx="4114800" cy="1216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Banyak manajer Scrum bekerja dalam jarak fisik yang dekat dengan tim mereka untuk selalu siap siaga segera setelah titik kebingungan muncul.</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Buka jalur komunikasi sesering mungkin. Desainer UX juga harus memastikan bahwa desain mereka dikomunikasikan secara efektif.</a:t>
            </a:r>
            <a:endParaRPr sz="1000">
              <a:solidFill>
                <a:schemeClr val="dk1"/>
              </a:solidFill>
              <a:latin typeface="Montserrat"/>
              <a:ea typeface="Montserrat"/>
              <a:cs typeface="Montserrat"/>
              <a:sym typeface="Montserrat"/>
            </a:endParaRPr>
          </a:p>
        </p:txBody>
      </p:sp>
      <p:pic>
        <p:nvPicPr>
          <p:cNvPr id="789" name="Google Shape;789;p107"/>
          <p:cNvPicPr preferRelativeResize="0"/>
          <p:nvPr/>
        </p:nvPicPr>
        <p:blipFill>
          <a:blip r:embed="rId3">
            <a:alphaModFix/>
          </a:blip>
          <a:stretch>
            <a:fillRect/>
          </a:stretch>
        </p:blipFill>
        <p:spPr>
          <a:xfrm>
            <a:off x="5136800" y="1215750"/>
            <a:ext cx="3212175" cy="2856125"/>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10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95" name="Google Shape;795;p10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Best practices untuk menerapkan Scrum pada desain UX</a:t>
            </a:r>
            <a:endParaRPr>
              <a:latin typeface="Montserrat"/>
              <a:ea typeface="Montserrat"/>
              <a:cs typeface="Montserrat"/>
              <a:sym typeface="Montserrat"/>
            </a:endParaRPr>
          </a:p>
        </p:txBody>
      </p:sp>
      <p:sp>
        <p:nvSpPr>
          <p:cNvPr id="796" name="Google Shape;796;p108"/>
          <p:cNvSpPr txBox="1"/>
          <p:nvPr/>
        </p:nvSpPr>
        <p:spPr>
          <a:xfrm>
            <a:off x="524850" y="1357200"/>
            <a:ext cx="4893900" cy="2429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Gimana, udah tau kan best practices untuk penerapan scrum pada desain UX?</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Sebagai catatan nih, gengs…</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Menerapkan Scrum ke desain UX mungkin membutuhkan waktu. </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Tetapi perlu dipahami bahwa ini tentang memahami perspektif—pengguna dan tim desain. Setelah semua orang berada di halaman yang sama, bekerja menuju tujuan yang sama, sisanya sebagian besar adalah kerja sama dan koordinasi.</a:t>
            </a:r>
            <a:endParaRPr sz="1000">
              <a:solidFill>
                <a:schemeClr val="dk1"/>
              </a:solidFill>
              <a:latin typeface="Montserrat"/>
              <a:ea typeface="Montserrat"/>
              <a:cs typeface="Montserrat"/>
              <a:sym typeface="Montserrat"/>
            </a:endParaRPr>
          </a:p>
        </p:txBody>
      </p:sp>
      <p:pic>
        <p:nvPicPr>
          <p:cNvPr id="797" name="Google Shape;797;p108"/>
          <p:cNvPicPr preferRelativeResize="0"/>
          <p:nvPr/>
        </p:nvPicPr>
        <p:blipFill>
          <a:blip r:embed="rId3">
            <a:alphaModFix/>
          </a:blip>
          <a:stretch>
            <a:fillRect/>
          </a:stretch>
        </p:blipFill>
        <p:spPr>
          <a:xfrm>
            <a:off x="6045600" y="914400"/>
            <a:ext cx="2060710" cy="3886199"/>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0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03" name="Google Shape;803;p10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Referensi dan bacaan lebih lanjut</a:t>
            </a:r>
            <a:endParaRPr>
              <a:latin typeface="Montserrat"/>
              <a:ea typeface="Montserrat"/>
              <a:cs typeface="Montserrat"/>
              <a:sym typeface="Montserrat"/>
            </a:endParaRPr>
          </a:p>
        </p:txBody>
      </p:sp>
      <p:pic>
        <p:nvPicPr>
          <p:cNvPr id="804" name="Google Shape;804;p109"/>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805" name="Google Shape;805;p109"/>
          <p:cNvSpPr txBox="1"/>
          <p:nvPr/>
        </p:nvSpPr>
        <p:spPr>
          <a:xfrm>
            <a:off x="685800" y="1461877"/>
            <a:ext cx="4114800" cy="1173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600">
                <a:solidFill>
                  <a:srgbClr val="743673"/>
                </a:solidFill>
                <a:highlight>
                  <a:schemeClr val="lt1"/>
                </a:highlight>
                <a:latin typeface="Montserrat"/>
                <a:ea typeface="Montserrat"/>
                <a:cs typeface="Montserrat"/>
                <a:sym typeface="Montserrat"/>
              </a:rPr>
              <a:t>Referensi dan bacaan lebih lanjut</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292100" lvl="0" marL="457200" rtl="0" algn="l">
              <a:lnSpc>
                <a:spcPct val="115000"/>
              </a:lnSpc>
              <a:spcBef>
                <a:spcPts val="0"/>
              </a:spcBef>
              <a:spcAft>
                <a:spcPts val="0"/>
              </a:spcAft>
              <a:buClr>
                <a:schemeClr val="dk1"/>
              </a:buClr>
              <a:buSzPts val="1000"/>
              <a:buFont typeface="Montserrat Medium"/>
              <a:buAutoNum type="arabicParenR"/>
            </a:pPr>
            <a:r>
              <a:rPr lang="en" sz="1000" u="sng">
                <a:solidFill>
                  <a:schemeClr val="dk1"/>
                </a:solidFill>
                <a:latin typeface="Montserrat Medium"/>
                <a:ea typeface="Montserrat Medium"/>
                <a:cs typeface="Montserrat Medium"/>
                <a:sym typeface="Montserrat Medium"/>
                <a:hlinkClick r:id="rId4">
                  <a:extLst>
                    <a:ext uri="{A12FA001-AC4F-418D-AE19-62706E023703}">
                      <ahyp:hlinkClr val="tx"/>
                    </a:ext>
                  </a:extLst>
                </a:hlinkClick>
              </a:rPr>
              <a:t>UX Scrum by Nielsen Norman Group</a:t>
            </a:r>
            <a:endParaRPr u="sng"/>
          </a:p>
          <a:p>
            <a:pPr indent="-292100" lvl="0" marL="457200" rtl="0" algn="l">
              <a:lnSpc>
                <a:spcPct val="115000"/>
              </a:lnSpc>
              <a:spcBef>
                <a:spcPts val="0"/>
              </a:spcBef>
              <a:spcAft>
                <a:spcPts val="0"/>
              </a:spcAft>
              <a:buClr>
                <a:schemeClr val="dk1"/>
              </a:buClr>
              <a:buSzPts val="1000"/>
              <a:buFont typeface="Montserrat Medium"/>
              <a:buAutoNum type="arabicParenR"/>
            </a:pPr>
            <a:r>
              <a:rPr lang="en" sz="1000" u="sng">
                <a:solidFill>
                  <a:schemeClr val="dk1"/>
                </a:solidFill>
                <a:latin typeface="Montserrat Medium"/>
                <a:ea typeface="Montserrat Medium"/>
                <a:cs typeface="Montserrat Medium"/>
                <a:sym typeface="Montserrat Medium"/>
                <a:hlinkClick r:id="rId5">
                  <a:extLst>
                    <a:ext uri="{A12FA001-AC4F-418D-AE19-62706E023703}">
                      <ahyp:hlinkClr val="tx"/>
                    </a:ext>
                  </a:extLst>
                </a:hlinkClick>
              </a:rPr>
              <a:t>Best practices for applying Scrum to UX design by Lucidspark</a:t>
            </a:r>
            <a:endParaRPr u="sng"/>
          </a:p>
          <a:p>
            <a:pPr indent="-292100" lvl="0" marL="457200" rtl="0" algn="l">
              <a:lnSpc>
                <a:spcPct val="115000"/>
              </a:lnSpc>
              <a:spcBef>
                <a:spcPts val="0"/>
              </a:spcBef>
              <a:spcAft>
                <a:spcPts val="0"/>
              </a:spcAft>
              <a:buClr>
                <a:schemeClr val="dk1"/>
              </a:buClr>
              <a:buSzPts val="1000"/>
              <a:buFont typeface="Montserrat Medium"/>
              <a:buAutoNum type="arabicParenR"/>
            </a:pPr>
            <a:r>
              <a:rPr lang="en" sz="1000" u="sng">
                <a:solidFill>
                  <a:schemeClr val="dk1"/>
                </a:solidFill>
                <a:latin typeface="Montserrat Medium"/>
                <a:ea typeface="Montserrat Medium"/>
                <a:cs typeface="Montserrat Medium"/>
                <a:sym typeface="Montserrat Medium"/>
                <a:hlinkClick r:id="rId6">
                  <a:extLst>
                    <a:ext uri="{A12FA001-AC4F-418D-AE19-62706E023703}">
                      <ahyp:hlinkClr val="tx"/>
                    </a:ext>
                  </a:extLst>
                </a:hlinkClick>
              </a:rPr>
              <a:t>Scrum and UX-design by UX Collective</a:t>
            </a:r>
            <a:endParaRPr sz="1000" u="sng">
              <a:solidFill>
                <a:schemeClr val="dk1"/>
              </a:solidFill>
              <a:latin typeface="Montserrat Medium"/>
              <a:ea typeface="Montserrat Medium"/>
              <a:cs typeface="Montserrat Medium"/>
              <a:sym typeface="Montserrat Medium"/>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11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811" name="Google Shape;811;p11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Penutup</a:t>
            </a:r>
            <a:endParaRPr>
              <a:latin typeface="Montserrat"/>
              <a:ea typeface="Montserrat"/>
              <a:cs typeface="Montserrat"/>
              <a:sym typeface="Montserrat"/>
            </a:endParaRPr>
          </a:p>
        </p:txBody>
      </p:sp>
      <p:sp>
        <p:nvSpPr>
          <p:cNvPr id="812" name="Google Shape;812;p110"/>
          <p:cNvSpPr txBox="1"/>
          <p:nvPr/>
        </p:nvSpPr>
        <p:spPr>
          <a:xfrm>
            <a:off x="685800" y="1725150"/>
            <a:ext cx="4314300" cy="1693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Okay, udah mulai paham kan </a:t>
            </a:r>
            <a:r>
              <a:rPr b="1" lang="en">
                <a:solidFill>
                  <a:schemeClr val="accent1"/>
                </a:solidFill>
                <a:latin typeface="Montserrat"/>
                <a:ea typeface="Montserrat"/>
                <a:cs typeface="Montserrat"/>
                <a:sym typeface="Montserrat"/>
              </a:rPr>
              <a:t>hubungan UI/UX dengan Scrum</a:t>
            </a:r>
            <a:r>
              <a:rPr b="1" lang="en">
                <a:solidFill>
                  <a:schemeClr val="lt1"/>
                </a:solidFill>
                <a:latin typeface="Montserrat"/>
                <a:ea typeface="Montserrat"/>
                <a:cs typeface="Montserrat"/>
                <a:sym typeface="Montserrat"/>
              </a:rPr>
              <a:t>?</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Meskipun posisi kamu sebagai desainer, mengetahui</a:t>
            </a:r>
            <a:r>
              <a:rPr b="1" lang="en">
                <a:solidFill>
                  <a:schemeClr val="accent1"/>
                </a:solidFill>
                <a:latin typeface="Montserrat"/>
                <a:ea typeface="Montserrat"/>
                <a:cs typeface="Montserrat"/>
                <a:sym typeface="Montserrat"/>
              </a:rPr>
              <a:t> alur dan proses kerja sama tim</a:t>
            </a:r>
            <a:r>
              <a:rPr b="1" lang="en">
                <a:solidFill>
                  <a:schemeClr val="lt1"/>
                </a:solidFill>
                <a:latin typeface="Montserrat"/>
                <a:ea typeface="Montserrat"/>
                <a:cs typeface="Montserrat"/>
                <a:sym typeface="Montserrat"/>
              </a:rPr>
              <a:t> menjadi nggak kalah penting agar satu projek berjalan dengan baik. </a:t>
            </a:r>
            <a:endParaRPr b="1">
              <a:solidFill>
                <a:schemeClr val="lt1"/>
              </a:solidFill>
              <a:latin typeface="Montserrat"/>
              <a:ea typeface="Montserrat"/>
              <a:cs typeface="Montserrat"/>
              <a:sym typeface="Montserrat"/>
            </a:endParaRPr>
          </a:p>
        </p:txBody>
      </p:sp>
      <p:pic>
        <p:nvPicPr>
          <p:cNvPr id="813" name="Google Shape;813;p110"/>
          <p:cNvPicPr preferRelativeResize="0"/>
          <p:nvPr/>
        </p:nvPicPr>
        <p:blipFill>
          <a:blip r:embed="rId3">
            <a:alphaModFix/>
          </a:blip>
          <a:stretch>
            <a:fillRect/>
          </a:stretch>
        </p:blipFill>
        <p:spPr>
          <a:xfrm>
            <a:off x="5497550" y="1027475"/>
            <a:ext cx="2501026" cy="2960924"/>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11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819" name="Google Shape;819;p11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Penutup</a:t>
            </a:r>
            <a:endParaRPr>
              <a:latin typeface="Montserrat"/>
              <a:ea typeface="Montserrat"/>
              <a:cs typeface="Montserrat"/>
              <a:sym typeface="Montserrat"/>
            </a:endParaRPr>
          </a:p>
        </p:txBody>
      </p:sp>
      <p:sp>
        <p:nvSpPr>
          <p:cNvPr id="820" name="Google Shape;820;p111"/>
          <p:cNvSpPr txBox="1"/>
          <p:nvPr/>
        </p:nvSpPr>
        <p:spPr>
          <a:xfrm>
            <a:off x="685800" y="1617450"/>
            <a:ext cx="4807800" cy="2124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Kuda lumping makan beling,</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This is the end of chapter 8, darling ~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Yupp.. berakhirnya topik ini sekaligus menandai bahwa chapter 8 udah selesai nih, bestie. Semoga materi dalam chapter 8 ini bisa bermanfaat ya!</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Sayonara!</a:t>
            </a:r>
            <a:endParaRPr b="1">
              <a:solidFill>
                <a:schemeClr val="lt1"/>
              </a:solidFill>
              <a:latin typeface="Montserrat"/>
              <a:ea typeface="Montserrat"/>
              <a:cs typeface="Montserrat"/>
              <a:sym typeface="Montserrat"/>
            </a:endParaRPr>
          </a:p>
        </p:txBody>
      </p:sp>
      <p:pic>
        <p:nvPicPr>
          <p:cNvPr id="821" name="Google Shape;821;p111"/>
          <p:cNvPicPr preferRelativeResize="0"/>
          <p:nvPr/>
        </p:nvPicPr>
        <p:blipFill>
          <a:blip r:embed="rId3">
            <a:alphaModFix/>
          </a:blip>
          <a:stretch>
            <a:fillRect/>
          </a:stretch>
        </p:blipFill>
        <p:spPr>
          <a:xfrm>
            <a:off x="4114431" y="676725"/>
            <a:ext cx="5687844" cy="4338199"/>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825" name="Shape 825"/>
        <p:cNvGrpSpPr/>
        <p:nvPr/>
      </p:nvGrpSpPr>
      <p:grpSpPr>
        <a:xfrm>
          <a:off x="0" y="0"/>
          <a:ext cx="0" cy="0"/>
          <a:chOff x="0" y="0"/>
          <a:chExt cx="0" cy="0"/>
        </a:xfrm>
      </p:grpSpPr>
      <p:sp>
        <p:nvSpPr>
          <p:cNvPr id="826" name="Google Shape;826;p112"/>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27" name="Google Shape;827;p112"/>
          <p:cNvPicPr preferRelativeResize="0"/>
          <p:nvPr/>
        </p:nvPicPr>
        <p:blipFill>
          <a:blip r:embed="rId3">
            <a:alphaModFix/>
          </a:blip>
          <a:stretch>
            <a:fillRect/>
          </a:stretch>
        </p:blipFill>
        <p:spPr>
          <a:xfrm>
            <a:off x="1734062" y="469363"/>
            <a:ext cx="5675881" cy="4204774"/>
          </a:xfrm>
          <a:prstGeom prst="rect">
            <a:avLst/>
          </a:prstGeom>
          <a:noFill/>
          <a:ln>
            <a:noFill/>
          </a:ln>
        </p:spPr>
      </p:pic>
      <p:pic>
        <p:nvPicPr>
          <p:cNvPr id="828" name="Google Shape;828;p112"/>
          <p:cNvPicPr preferRelativeResize="0"/>
          <p:nvPr/>
        </p:nvPicPr>
        <p:blipFill rotWithShape="1">
          <a:blip r:embed="rId4">
            <a:alphaModFix/>
          </a:blip>
          <a:srcRect b="0" l="0" r="13247" t="0"/>
          <a:stretch/>
        </p:blipFill>
        <p:spPr>
          <a:xfrm>
            <a:off x="7987325" y="4075701"/>
            <a:ext cx="709350" cy="817600"/>
          </a:xfrm>
          <a:prstGeom prst="rect">
            <a:avLst/>
          </a:prstGeom>
          <a:noFill/>
          <a:ln>
            <a:noFill/>
          </a:ln>
        </p:spPr>
      </p:pic>
      <p:pic>
        <p:nvPicPr>
          <p:cNvPr id="829" name="Google Shape;829;p112"/>
          <p:cNvPicPr preferRelativeResize="0"/>
          <p:nvPr/>
        </p:nvPicPr>
        <p:blipFill>
          <a:blip r:embed="rId5">
            <a:alphaModFix/>
          </a:blip>
          <a:stretch>
            <a:fillRect/>
          </a:stretch>
        </p:blipFill>
        <p:spPr>
          <a:xfrm>
            <a:off x="487625" y="4141560"/>
            <a:ext cx="1991475" cy="685884"/>
          </a:xfrm>
          <a:prstGeom prst="rect">
            <a:avLst/>
          </a:prstGeom>
          <a:noFill/>
          <a:ln>
            <a:noFill/>
          </a:ln>
        </p:spPr>
      </p:pic>
      <p:sp>
        <p:nvSpPr>
          <p:cNvPr id="830" name="Google Shape;830;p112"/>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31" name="Google Shape;831;p112"/>
          <p:cNvPicPr preferRelativeResize="0"/>
          <p:nvPr/>
        </p:nvPicPr>
        <p:blipFill rotWithShape="1">
          <a:blip r:embed="rId4">
            <a:alphaModFix/>
          </a:blip>
          <a:srcRect b="0" l="0" r="13247" t="0"/>
          <a:stretch/>
        </p:blipFill>
        <p:spPr>
          <a:xfrm>
            <a:off x="7987325" y="4075701"/>
            <a:ext cx="709350" cy="817600"/>
          </a:xfrm>
          <a:prstGeom prst="rect">
            <a:avLst/>
          </a:prstGeom>
          <a:noFill/>
          <a:ln>
            <a:noFill/>
          </a:ln>
        </p:spPr>
      </p:pic>
      <p:pic>
        <p:nvPicPr>
          <p:cNvPr id="832" name="Google Shape;832;p112"/>
          <p:cNvPicPr preferRelativeResize="0"/>
          <p:nvPr/>
        </p:nvPicPr>
        <p:blipFill>
          <a:blip r:embed="rId6">
            <a:alphaModFix/>
          </a:blip>
          <a:stretch>
            <a:fillRect/>
          </a:stretch>
        </p:blipFill>
        <p:spPr>
          <a:xfrm>
            <a:off x="487625" y="4140643"/>
            <a:ext cx="1991475" cy="687732"/>
          </a:xfrm>
          <a:prstGeom prst="rect">
            <a:avLst/>
          </a:prstGeom>
          <a:noFill/>
          <a:ln>
            <a:noFill/>
          </a:ln>
        </p:spPr>
      </p:pic>
      <p:pic>
        <p:nvPicPr>
          <p:cNvPr id="833" name="Google Shape;833;p112"/>
          <p:cNvPicPr preferRelativeResize="0"/>
          <p:nvPr/>
        </p:nvPicPr>
        <p:blipFill>
          <a:blip r:embed="rId7">
            <a:alphaModFix/>
          </a:blip>
          <a:stretch>
            <a:fillRect/>
          </a:stretch>
        </p:blipFill>
        <p:spPr>
          <a:xfrm>
            <a:off x="1734050" y="469336"/>
            <a:ext cx="5675902" cy="420482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