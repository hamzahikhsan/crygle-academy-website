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47.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Lst>
  <p:sldSz cy="5143500" cx="9144000"/>
  <p:notesSz cx="6858000" cy="9144000"/>
  <p:embeddedFontLst>
    <p:embeddedFont>
      <p:font typeface="Raleway"/>
      <p:regular r:id="rId53"/>
      <p:bold r:id="rId54"/>
      <p:italic r:id="rId55"/>
      <p:boldItalic r:id="rId56"/>
    </p:embeddedFont>
    <p:embeddedFont>
      <p:font typeface="Raleway SemiBold"/>
      <p:regular r:id="rId57"/>
      <p:bold r:id="rId58"/>
      <p:italic r:id="rId59"/>
      <p:boldItalic r:id="rId60"/>
    </p:embeddedFont>
    <p:embeddedFont>
      <p:font typeface="Raleway ExtraBold"/>
      <p:bold r:id="rId61"/>
      <p:boldItalic r:id="rId62"/>
    </p:embeddedFont>
    <p:embeddedFont>
      <p:font typeface="Montserrat"/>
      <p:regular r:id="rId63"/>
      <p:bold r:id="rId64"/>
      <p:italic r:id="rId65"/>
      <p:boldItalic r:id="rId66"/>
    </p:embeddedFont>
    <p:embeddedFont>
      <p:font typeface="Lato Black"/>
      <p:bold r:id="rId67"/>
      <p:boldItalic r:id="rId68"/>
    </p:embeddedFont>
    <p:embeddedFont>
      <p:font typeface="Raleway Medium"/>
      <p:regular r:id="rId69"/>
      <p:bold r:id="rId70"/>
      <p:italic r:id="rId71"/>
      <p:boldItalic r:id="rId7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024">
          <p15:clr>
            <a:srgbClr val="A4A3A4"/>
          </p15:clr>
        </p15:guide>
        <p15:guide id="2" pos="2921">
          <p15:clr>
            <a:srgbClr val="A4A3A4"/>
          </p15:clr>
        </p15:guide>
        <p15:guide id="3" orient="horz" pos="576">
          <p15:clr>
            <a:srgbClr val="9AA0A6"/>
          </p15:clr>
        </p15:guide>
        <p15:guide id="4" pos="2976">
          <p15:clr>
            <a:srgbClr val="9AA0A6"/>
          </p15:clr>
        </p15:guide>
        <p15:guide id="5" pos="307">
          <p15:clr>
            <a:srgbClr val="9AA0A6"/>
          </p15:clr>
        </p15:guide>
        <p15:guide id="6" pos="4934">
          <p15:clr>
            <a:srgbClr val="9AA0A6"/>
          </p15:clr>
        </p15:guide>
        <p15:guide id="7" pos="5428">
          <p15:clr>
            <a:srgbClr val="9AA0A6"/>
          </p15:clr>
        </p15:guide>
      </p15:sldGuideLst>
    </p:ext>
    <p:ext uri="GoogleSlidesCustomDataVersion2">
      <go:slidesCustomData xmlns:go="http://customooxmlschemas.google.com/" r:id="rId73" roundtripDataSignature="AMtx7miIiG9qFqhsZSEa59VAU7SmES9B4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024" orient="horz"/>
        <p:guide pos="2921"/>
        <p:guide pos="576" orient="horz"/>
        <p:guide pos="2976"/>
        <p:guide pos="307"/>
        <p:guide pos="4934"/>
        <p:guide pos="5428"/>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customschemas.google.com/relationships/presentationmetadata" Target="metadata"/><Relationship Id="rId72" Type="http://schemas.openxmlformats.org/officeDocument/2006/relationships/font" Target="fonts/RalewayMedium-boldItalic.fntdata"/><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71" Type="http://schemas.openxmlformats.org/officeDocument/2006/relationships/font" Target="fonts/RalewayMedium-italic.fntdata"/><Relationship Id="rId70" Type="http://schemas.openxmlformats.org/officeDocument/2006/relationships/font" Target="fonts/RalewayMedium-bold.fnt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RalewayExtraBold-boldItalic.fntdata"/><Relationship Id="rId61" Type="http://schemas.openxmlformats.org/officeDocument/2006/relationships/font" Target="fonts/RalewayExtraBold-bold.fntdata"/><Relationship Id="rId20" Type="http://schemas.openxmlformats.org/officeDocument/2006/relationships/slide" Target="slides/slide15.xml"/><Relationship Id="rId64" Type="http://schemas.openxmlformats.org/officeDocument/2006/relationships/font" Target="fonts/Montserrat-bold.fntdata"/><Relationship Id="rId63" Type="http://schemas.openxmlformats.org/officeDocument/2006/relationships/font" Target="fonts/Montserrat-regular.fntdata"/><Relationship Id="rId22" Type="http://schemas.openxmlformats.org/officeDocument/2006/relationships/slide" Target="slides/slide17.xml"/><Relationship Id="rId66" Type="http://schemas.openxmlformats.org/officeDocument/2006/relationships/font" Target="fonts/Montserrat-boldItalic.fntdata"/><Relationship Id="rId21" Type="http://schemas.openxmlformats.org/officeDocument/2006/relationships/slide" Target="slides/slide16.xml"/><Relationship Id="rId65" Type="http://schemas.openxmlformats.org/officeDocument/2006/relationships/font" Target="fonts/Montserrat-italic.fntdata"/><Relationship Id="rId24" Type="http://schemas.openxmlformats.org/officeDocument/2006/relationships/slide" Target="slides/slide19.xml"/><Relationship Id="rId68" Type="http://schemas.openxmlformats.org/officeDocument/2006/relationships/font" Target="fonts/LatoBlack-boldItalic.fntdata"/><Relationship Id="rId23" Type="http://schemas.openxmlformats.org/officeDocument/2006/relationships/slide" Target="slides/slide18.xml"/><Relationship Id="rId67" Type="http://schemas.openxmlformats.org/officeDocument/2006/relationships/font" Target="fonts/LatoBlack-bold.fntdata"/><Relationship Id="rId60" Type="http://schemas.openxmlformats.org/officeDocument/2006/relationships/font" Target="fonts/RalewaySemiBold-boldItalic.fntdata"/><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RalewayMedium-regular.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font" Target="fonts/Raleway-regular.fntdata"/><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font" Target="fonts/Raleway-italic.fntdata"/><Relationship Id="rId10" Type="http://schemas.openxmlformats.org/officeDocument/2006/relationships/slide" Target="slides/slide5.xml"/><Relationship Id="rId54" Type="http://schemas.openxmlformats.org/officeDocument/2006/relationships/font" Target="fonts/Raleway-bold.fntdata"/><Relationship Id="rId13" Type="http://schemas.openxmlformats.org/officeDocument/2006/relationships/slide" Target="slides/slide8.xml"/><Relationship Id="rId57" Type="http://schemas.openxmlformats.org/officeDocument/2006/relationships/font" Target="fonts/RalewaySemiBold-regular.fntdata"/><Relationship Id="rId12" Type="http://schemas.openxmlformats.org/officeDocument/2006/relationships/slide" Target="slides/slide7.xml"/><Relationship Id="rId56" Type="http://schemas.openxmlformats.org/officeDocument/2006/relationships/font" Target="fonts/Raleway-boldItalic.fntdata"/><Relationship Id="rId15" Type="http://schemas.openxmlformats.org/officeDocument/2006/relationships/slide" Target="slides/slide10.xml"/><Relationship Id="rId59" Type="http://schemas.openxmlformats.org/officeDocument/2006/relationships/font" Target="fonts/RalewaySemiBold-italic.fntdata"/><Relationship Id="rId14" Type="http://schemas.openxmlformats.org/officeDocument/2006/relationships/slide" Target="slides/slide9.xml"/><Relationship Id="rId58" Type="http://schemas.openxmlformats.org/officeDocument/2006/relationships/font" Target="fonts/RalewaySemiBold-bold.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charlesdeluvio?utm_source=unsplash&amp;utm_medium=referral&amp;utm_content=creditCopyText" TargetMode="External"/><Relationship Id="rId3" Type="http://schemas.openxmlformats.org/officeDocument/2006/relationships/hyperlink" Target="https://unsplash.com/@charlesdeluvio?utm_source=unsplash&amp;utm_medium=referral&amp;utm_content=creditCopyText" TargetMode="External"/><Relationship Id="rId4" Type="http://schemas.openxmlformats.org/officeDocument/2006/relationships/hyperlink" Target="https://unsplash.com/s/photos/ui-ux?utm_source=unsplash&amp;utm_medium=referral&amp;utm_content=creditCopyText" TargetMode="External"/><Relationship Id="rId5" Type="http://schemas.openxmlformats.org/officeDocument/2006/relationships/hyperlink" Target="https://unsplash.com/s/photos/ui-ux?utm_source=unsplash&amp;utm_medium=referral&amp;utm_content=creditCopyText"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charlesdeluvio?utm_source=unsplash&amp;utm_medium=referral&amp;utm_content=creditCopyText" TargetMode="External"/><Relationship Id="rId3" Type="http://schemas.openxmlformats.org/officeDocument/2006/relationships/hyperlink" Target="https://unsplash.com/@charlesdeluvio?utm_source=unsplash&amp;utm_medium=referral&amp;utm_content=creditCopyText" TargetMode="External"/><Relationship Id="rId4" Type="http://schemas.openxmlformats.org/officeDocument/2006/relationships/hyperlink" Target="https://unsplash.com/s/photos/ui-ux?utm_source=unsplash&amp;utm_medium=referral&amp;utm_content=creditCopyText" TargetMode="External"/><Relationship Id="rId5" Type="http://schemas.openxmlformats.org/officeDocument/2006/relationships/hyperlink" Target="https://unsplash.com/s/photos/ui-ux?utm_source=unsplash&amp;utm_medium=referral&amp;utm_content=creditCopyText" TargetMode="Externa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samich_18?utm_source=unsplash&amp;utm_medium=referral&amp;utm_content=creditCopyText" TargetMode="External"/><Relationship Id="rId3" Type="http://schemas.openxmlformats.org/officeDocument/2006/relationships/hyperlink" Target="https://unsplash.com/@samich_18?utm_source=unsplash&amp;utm_medium=referral&amp;utm_content=creditCopyText" TargetMode="External"/><Relationship Id="rId4" Type="http://schemas.openxmlformats.org/officeDocument/2006/relationships/hyperlink" Target="https://unsplash.com/s/photos/online?utm_source=unsplash&amp;utm_medium=referral&amp;utm_content=creditCopyText" TargetMode="External"/><Relationship Id="rId5" Type="http://schemas.openxmlformats.org/officeDocument/2006/relationships/hyperlink" Target="https://unsplash.com/s/photos/online?utm_source=unsplash&amp;utm_medium=referral&amp;utm_content=creditCopyText" TargetMode="Externa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samich_18?utm_source=unsplash&amp;utm_medium=referral&amp;utm_content=creditCopyText" TargetMode="External"/><Relationship Id="rId3" Type="http://schemas.openxmlformats.org/officeDocument/2006/relationships/hyperlink" Target="https://unsplash.com/@samich_18?utm_source=unsplash&amp;utm_medium=referral&amp;utm_content=creditCopyText" TargetMode="External"/><Relationship Id="rId4" Type="http://schemas.openxmlformats.org/officeDocument/2006/relationships/hyperlink" Target="https://unsplash.com/s/photos/online?utm_source=unsplash&amp;utm_medium=referral&amp;utm_content=creditCopyText" TargetMode="External"/><Relationship Id="rId5" Type="http://schemas.openxmlformats.org/officeDocument/2006/relationships/hyperlink" Target="https://unsplash.com/s/photos/online?utm_source=unsplash&amp;utm_medium=referral&amp;utm_content=creditCopyText" TargetMode="Externa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samich_18?utm_source=unsplash&amp;utm_medium=referral&amp;utm_content=creditCopyText" TargetMode="External"/><Relationship Id="rId3" Type="http://schemas.openxmlformats.org/officeDocument/2006/relationships/hyperlink" Target="https://unsplash.com/@samich_18?utm_source=unsplash&amp;utm_medium=referral&amp;utm_content=creditCopyText" TargetMode="External"/><Relationship Id="rId4" Type="http://schemas.openxmlformats.org/officeDocument/2006/relationships/hyperlink" Target="https://unsplash.com/s/photos/online?utm_source=unsplash&amp;utm_medium=referral&amp;utm_content=creditCopyText" TargetMode="External"/><Relationship Id="rId5" Type="http://schemas.openxmlformats.org/officeDocument/2006/relationships/hyperlink" Target="https://unsplash.com/s/photos/online?utm_source=unsplash&amp;utm_medium=referral&amp;utm_content=creditCopyText" TargetMode="Externa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samich_18?utm_source=unsplash&amp;utm_medium=referral&amp;utm_content=creditCopyText" TargetMode="External"/><Relationship Id="rId3" Type="http://schemas.openxmlformats.org/officeDocument/2006/relationships/hyperlink" Target="https://unsplash.com/@samich_18?utm_source=unsplash&amp;utm_medium=referral&amp;utm_content=creditCopyText" TargetMode="External"/><Relationship Id="rId4" Type="http://schemas.openxmlformats.org/officeDocument/2006/relationships/hyperlink" Target="https://unsplash.com/s/photos/online?utm_source=unsplash&amp;utm_medium=referral&amp;utm_content=creditCopyText" TargetMode="External"/><Relationship Id="rId5" Type="http://schemas.openxmlformats.org/officeDocument/2006/relationships/hyperlink" Target="https://unsplash.com/s/photos/online?utm_source=unsplash&amp;utm_medium=referral&amp;utm_content=creditCopyText" TargetMode="Externa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 name="Google Shape;80;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7" name="Google Shape;8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3" name="Google Shape;93;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2" name="Google Shape;102;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0" name="Google Shape;120;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7" name="Google Shape;127;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Charles Deluvio</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6" name="Google Shape;136;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3" name="Google Shape;143;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0" name="Google Shape;150;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solidFill>
                  <a:schemeClr val="dk1"/>
                </a:solidFill>
              </a:rPr>
              <a:t>Image from https://factsanddetails.com/china/cat3/sub14/item97.html</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9" name="Google Shape;159;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solidFill>
                  <a:schemeClr val="dk1"/>
                </a:solidFill>
              </a:rPr>
              <a:t>Image from https://factsanddetails.com/china/cat3/sub14/item97.html</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8" name="Google Shape;168;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solidFill>
                  <a:schemeClr val="dk1"/>
                </a:solidFill>
              </a:rPr>
              <a:t>Image from https://en.wikipedia.org/wiki/Hippocrates#/media/File:Ancientgreek_surgical.jpg</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6" name="Google Shape;176;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solidFill>
                  <a:schemeClr val="dk1"/>
                </a:solidFill>
              </a:rPr>
              <a:t>Image from https://factsanddetails.com/china/cat3/sub14/item97.html</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5" name="Google Shape;185;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solidFill>
                  <a:schemeClr val="dk1"/>
                </a:solidFill>
              </a:rPr>
              <a:t>Image from https://factsanddetails.com/china/cat3/sub14/item97.html</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4" name="Google Shape;194;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3" name="Google Shape;203;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solidFill>
                  <a:schemeClr val="dk1"/>
                </a:solidFill>
              </a:rPr>
              <a:t>Image from https://factsanddetails.com/china/cat3/sub14/item97.html</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2" name="Google Shape;212;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solidFill>
                  <a:schemeClr val="dk1"/>
                </a:solidFill>
              </a:rPr>
              <a:t>Image from https://fortune.com/2019/01/24/apple-mac-35th-birthday/</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0" name="Google Shape;220;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solidFill>
                  <a:schemeClr val="dk1"/>
                </a:solidFill>
              </a:rPr>
              <a:t>Image from https://hcipioneers.wordpress.com/portfolio/don-norman/</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8" name="Google Shape;228;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5" name="Google Shape;235;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2" name="Google Shape;242;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solidFill>
                  <a:schemeClr val="dk1"/>
                </a:solidFill>
              </a:rPr>
              <a:t>Image from https://hcipioneers.wordpress.com/portfolio/don-norman/</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0" name="Google Shape;250;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solidFill>
                  <a:schemeClr val="dk1"/>
                </a:solidFill>
              </a:rPr>
              <a:t>Image from https://www.mac-history.net/apple-history-2/apple-lisa/2007-10-12/apple-lisa</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0" name="Google Shape;260;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solidFill>
                  <a:schemeClr val="dk1"/>
                </a:solidFill>
              </a:rPr>
              <a:t>Image from https://www.fastcompany.com/90436413/what-the-palmpilot-can-teach-us-about-designing-products-people-love</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8" name="Google Shape;268;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solidFill>
                  <a:schemeClr val="dk1"/>
                </a:solidFill>
              </a:rPr>
              <a:t>Image from https://ceylontoday.lk/news/voice-search-the-newest-trend-in-travel-industry</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6" name="Google Shape;276;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solidFill>
                  <a:schemeClr val="dk1"/>
                </a:solidFill>
              </a:rPr>
              <a:t>Image from https://www.insider.com/asia</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4" name="Google Shape;284;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solidFill>
                  <a:schemeClr val="dk1"/>
                </a:solidFill>
              </a:rPr>
              <a:t>Image from https://www.aljazeera.com/economy/2021/11/19/how-much-does-amazon-know-about-you</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2" name="Google Shape;292;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9" name="Google Shape;299;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Charles Deluvio</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9" name="Google Shape;309;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6" name="Google Shape;316;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Samantha Borges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5" name="Google Shape;325;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Samantha Borges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3" name="Google Shape;333;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Samantha Borges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3" name="Google Shape;343;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1" name="Google Shape;351;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Samantha Borges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9" name="Google Shape;359;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6" name="Google Shape;366;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solidFill>
                <a:schemeClr val="dk1"/>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3" name="Google Shape;373;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solidFill>
                <a:schemeClr val="dk1"/>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1" name="Google Shape;381;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solidFill>
                <a:schemeClr val="dk1"/>
              </a:solidFil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8" name="Google Shape;388;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solidFill>
                <a:schemeClr val="dk1"/>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6" name="Google Shape;396;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solidFill>
                <a:schemeClr val="dk1"/>
              </a:solidFil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3" name="Google Shape;403;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solidFill>
                <a:schemeClr val="dk1"/>
              </a:solidFil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1" name="Google Shape;411;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solidFill>
                <a:schemeClr val="dk1"/>
              </a:solidFil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8" name="Google Shape;418;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solidFill>
                <a:schemeClr val="dk1"/>
              </a:solidFil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6" name="Google Shape;426;p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solidFill>
                <a:schemeClr val="dk1"/>
              </a:solidFil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3" name="Google Shape;433;p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solidFill>
                <a:schemeClr val="dk1"/>
              </a:solidFil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1" name="Google Shape;441;p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p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9" name="Google Shape;449;p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p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4" name="Google Shape;464;p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733572"/>
        </a:solidFill>
      </p:bgPr>
    </p:bg>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10" name="Shape 10"/>
        <p:cNvGrpSpPr/>
        <p:nvPr/>
      </p:nvGrpSpPr>
      <p:grpSpPr>
        <a:xfrm>
          <a:off x="0" y="0"/>
          <a:ext cx="0" cy="0"/>
          <a:chOff x="0" y="0"/>
          <a:chExt cx="0" cy="0"/>
        </a:xfrm>
      </p:grpSpPr>
      <p:sp>
        <p:nvSpPr>
          <p:cNvPr id="11" name="Google Shape;11;p50"/>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2" name="Google Shape;12;p50"/>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5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 name="Shape 14"/>
        <p:cNvGrpSpPr/>
        <p:nvPr/>
      </p:nvGrpSpPr>
      <p:grpSpPr>
        <a:xfrm>
          <a:off x="0" y="0"/>
          <a:ext cx="0" cy="0"/>
          <a:chOff x="0" y="0"/>
          <a:chExt cx="0" cy="0"/>
        </a:xfrm>
      </p:grpSpPr>
      <p:sp>
        <p:nvSpPr>
          <p:cNvPr id="15" name="Google Shape;15;p51"/>
          <p:cNvSpPr/>
          <p:nvPr/>
        </p:nvSpPr>
        <p:spPr>
          <a:xfrm flipH="1" rot="5400000">
            <a:off x="4303949" y="-4204126"/>
            <a:ext cx="536100" cy="9144000"/>
          </a:xfrm>
          <a:prstGeom prst="rect">
            <a:avLst/>
          </a:prstGeom>
          <a:solidFill>
            <a:srgbClr val="9B6DB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6" name="Google Shape;16;p51"/>
          <p:cNvSpPr txBox="1"/>
          <p:nvPr/>
        </p:nvSpPr>
        <p:spPr>
          <a:xfrm>
            <a:off x="573578" y="251687"/>
            <a:ext cx="72960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FFFFFF"/>
              </a:buClr>
              <a:buSzPts val="1100"/>
              <a:buFont typeface="Montserrat"/>
              <a:buNone/>
            </a:pPr>
            <a:r>
              <a:rPr b="0" i="0" lang="en" sz="1100" u="none" cap="none" strike="noStrike">
                <a:solidFill>
                  <a:srgbClr val="FFFFFF"/>
                </a:solidFill>
                <a:latin typeface="Lato Black"/>
                <a:ea typeface="Lato Black"/>
                <a:cs typeface="Lato Black"/>
                <a:sym typeface="Lato Black"/>
              </a:rPr>
              <a:t>PM 101</a:t>
            </a:r>
            <a:endParaRPr b="0" i="0" sz="1100" u="none" cap="none" strike="noStrike">
              <a:solidFill>
                <a:srgbClr val="FFFFFF"/>
              </a:solidFill>
              <a:latin typeface="Lato Black"/>
              <a:ea typeface="Lato Black"/>
              <a:cs typeface="Lato Black"/>
              <a:sym typeface="Lato Black"/>
            </a:endParaRPr>
          </a:p>
        </p:txBody>
      </p:sp>
      <p:sp>
        <p:nvSpPr>
          <p:cNvPr id="17" name="Google Shape;17;p51"/>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8" name="Google Shape;18;p51"/>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9" name="Google Shape;19;p51"/>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0" name="Google Shape;20;p51"/>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1" name="Google Shape;21;p51"/>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2" name="Google Shape;22;p51"/>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23" name="Google Shape;23;p51"/>
          <p:cNvGrpSpPr/>
          <p:nvPr/>
        </p:nvGrpSpPr>
        <p:grpSpPr>
          <a:xfrm>
            <a:off x="283668" y="259895"/>
            <a:ext cx="226001" cy="222980"/>
            <a:chOff x="283668" y="251687"/>
            <a:chExt cx="226001" cy="222980"/>
          </a:xfrm>
        </p:grpSpPr>
        <p:sp>
          <p:nvSpPr>
            <p:cNvPr id="24" name="Google Shape;24;p51"/>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5" name="Google Shape;25;p51"/>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6" name="Google Shape;26;p51"/>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27" name="Google Shape;27;p51"/>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1" i="0" sz="1000" u="none" cap="none" strike="noStrike">
                <a:solidFill>
                  <a:srgbClr val="733572"/>
                </a:solidFill>
                <a:latin typeface="Raleway"/>
                <a:ea typeface="Raleway"/>
                <a:cs typeface="Raleway"/>
                <a:sym typeface="Raleway"/>
              </a:defRPr>
            </a:lvl1pPr>
            <a:lvl2pPr indent="0" lvl="1" marL="0" marR="0" algn="r">
              <a:lnSpc>
                <a:spcPct val="100000"/>
              </a:lnSpc>
              <a:spcBef>
                <a:spcPts val="0"/>
              </a:spcBef>
              <a:spcAft>
                <a:spcPts val="0"/>
              </a:spcAft>
              <a:buClr>
                <a:srgbClr val="000000"/>
              </a:buClr>
              <a:buSzPts val="1000"/>
              <a:buFont typeface="Arial"/>
              <a:buNone/>
              <a:defRPr b="1" i="0" sz="1000" u="none" cap="none" strike="noStrike">
                <a:solidFill>
                  <a:srgbClr val="733572"/>
                </a:solidFill>
                <a:latin typeface="Raleway"/>
                <a:ea typeface="Raleway"/>
                <a:cs typeface="Raleway"/>
                <a:sym typeface="Raleway"/>
              </a:defRPr>
            </a:lvl2pPr>
            <a:lvl3pPr indent="0" lvl="2" marL="0" marR="0" algn="r">
              <a:lnSpc>
                <a:spcPct val="100000"/>
              </a:lnSpc>
              <a:spcBef>
                <a:spcPts val="0"/>
              </a:spcBef>
              <a:spcAft>
                <a:spcPts val="0"/>
              </a:spcAft>
              <a:buClr>
                <a:srgbClr val="000000"/>
              </a:buClr>
              <a:buSzPts val="1000"/>
              <a:buFont typeface="Arial"/>
              <a:buNone/>
              <a:defRPr b="1" i="0" sz="1000" u="none" cap="none" strike="noStrike">
                <a:solidFill>
                  <a:srgbClr val="733572"/>
                </a:solidFill>
                <a:latin typeface="Raleway"/>
                <a:ea typeface="Raleway"/>
                <a:cs typeface="Raleway"/>
                <a:sym typeface="Raleway"/>
              </a:defRPr>
            </a:lvl3pPr>
            <a:lvl4pPr indent="0" lvl="3" marL="0" marR="0" algn="r">
              <a:lnSpc>
                <a:spcPct val="100000"/>
              </a:lnSpc>
              <a:spcBef>
                <a:spcPts val="0"/>
              </a:spcBef>
              <a:spcAft>
                <a:spcPts val="0"/>
              </a:spcAft>
              <a:buClr>
                <a:srgbClr val="000000"/>
              </a:buClr>
              <a:buSzPts val="1000"/>
              <a:buFont typeface="Arial"/>
              <a:buNone/>
              <a:defRPr b="1" i="0" sz="1000" u="none" cap="none" strike="noStrike">
                <a:solidFill>
                  <a:srgbClr val="733572"/>
                </a:solidFill>
                <a:latin typeface="Raleway"/>
                <a:ea typeface="Raleway"/>
                <a:cs typeface="Raleway"/>
                <a:sym typeface="Raleway"/>
              </a:defRPr>
            </a:lvl4pPr>
            <a:lvl5pPr indent="0" lvl="4" marL="0" marR="0" algn="r">
              <a:lnSpc>
                <a:spcPct val="100000"/>
              </a:lnSpc>
              <a:spcBef>
                <a:spcPts val="0"/>
              </a:spcBef>
              <a:spcAft>
                <a:spcPts val="0"/>
              </a:spcAft>
              <a:buClr>
                <a:srgbClr val="000000"/>
              </a:buClr>
              <a:buSzPts val="1000"/>
              <a:buFont typeface="Arial"/>
              <a:buNone/>
              <a:defRPr b="1" i="0" sz="1000" u="none" cap="none" strike="noStrike">
                <a:solidFill>
                  <a:srgbClr val="733572"/>
                </a:solidFill>
                <a:latin typeface="Raleway"/>
                <a:ea typeface="Raleway"/>
                <a:cs typeface="Raleway"/>
                <a:sym typeface="Raleway"/>
              </a:defRPr>
            </a:lvl5pPr>
            <a:lvl6pPr indent="0" lvl="5" marL="0" marR="0" algn="r">
              <a:lnSpc>
                <a:spcPct val="100000"/>
              </a:lnSpc>
              <a:spcBef>
                <a:spcPts val="0"/>
              </a:spcBef>
              <a:spcAft>
                <a:spcPts val="0"/>
              </a:spcAft>
              <a:buClr>
                <a:srgbClr val="000000"/>
              </a:buClr>
              <a:buSzPts val="1000"/>
              <a:buFont typeface="Arial"/>
              <a:buNone/>
              <a:defRPr b="1" i="0" sz="1000" u="none" cap="none" strike="noStrike">
                <a:solidFill>
                  <a:srgbClr val="733572"/>
                </a:solidFill>
                <a:latin typeface="Raleway"/>
                <a:ea typeface="Raleway"/>
                <a:cs typeface="Raleway"/>
                <a:sym typeface="Raleway"/>
              </a:defRPr>
            </a:lvl6pPr>
            <a:lvl7pPr indent="0" lvl="6" marL="0" marR="0" algn="r">
              <a:lnSpc>
                <a:spcPct val="100000"/>
              </a:lnSpc>
              <a:spcBef>
                <a:spcPts val="0"/>
              </a:spcBef>
              <a:spcAft>
                <a:spcPts val="0"/>
              </a:spcAft>
              <a:buClr>
                <a:srgbClr val="000000"/>
              </a:buClr>
              <a:buSzPts val="1000"/>
              <a:buFont typeface="Arial"/>
              <a:buNone/>
              <a:defRPr b="1" i="0" sz="1000" u="none" cap="none" strike="noStrike">
                <a:solidFill>
                  <a:srgbClr val="733572"/>
                </a:solidFill>
                <a:latin typeface="Raleway"/>
                <a:ea typeface="Raleway"/>
                <a:cs typeface="Raleway"/>
                <a:sym typeface="Raleway"/>
              </a:defRPr>
            </a:lvl7pPr>
            <a:lvl8pPr indent="0" lvl="7" marL="0" marR="0" algn="r">
              <a:lnSpc>
                <a:spcPct val="100000"/>
              </a:lnSpc>
              <a:spcBef>
                <a:spcPts val="0"/>
              </a:spcBef>
              <a:spcAft>
                <a:spcPts val="0"/>
              </a:spcAft>
              <a:buClr>
                <a:srgbClr val="000000"/>
              </a:buClr>
              <a:buSzPts val="1000"/>
              <a:buFont typeface="Arial"/>
              <a:buNone/>
              <a:defRPr b="1" i="0" sz="1000" u="none" cap="none" strike="noStrike">
                <a:solidFill>
                  <a:srgbClr val="733572"/>
                </a:solidFill>
                <a:latin typeface="Raleway"/>
                <a:ea typeface="Raleway"/>
                <a:cs typeface="Raleway"/>
                <a:sym typeface="Raleway"/>
              </a:defRPr>
            </a:lvl8pPr>
            <a:lvl9pPr indent="0" lvl="8" marL="0" marR="0" algn="r">
              <a:lnSpc>
                <a:spcPct val="100000"/>
              </a:lnSpc>
              <a:spcBef>
                <a:spcPts val="0"/>
              </a:spcBef>
              <a:spcAft>
                <a:spcPts val="0"/>
              </a:spcAft>
              <a:buClr>
                <a:srgbClr val="000000"/>
              </a:buClr>
              <a:buSzPts val="1000"/>
              <a:buFont typeface="Arial"/>
              <a:buNone/>
              <a:defRPr b="1" i="0" sz="1000" u="none" cap="none" strike="noStrike">
                <a:solidFill>
                  <a:srgbClr val="73357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
        <p:nvSpPr>
          <p:cNvPr id="28" name="Google Shape;28;p51"/>
          <p:cNvSpPr txBox="1"/>
          <p:nvPr>
            <p:ph type="title"/>
          </p:nvPr>
        </p:nvSpPr>
        <p:spPr>
          <a:xfrm>
            <a:off x="685800" y="246888"/>
            <a:ext cx="4572000" cy="255900"/>
          </a:xfrm>
          <a:prstGeom prst="rect">
            <a:avLst/>
          </a:prstGeom>
          <a:noFill/>
          <a:ln>
            <a:noFill/>
          </a:ln>
        </p:spPr>
        <p:txBody>
          <a:bodyPr anchorCtr="0" anchor="ctr" bIns="91425" lIns="0" spcFirstLastPara="1" rIns="0" wrap="square" tIns="91425">
            <a:noAutofit/>
          </a:bodyPr>
          <a:lstStyle>
            <a:lvl1pPr lvl="0" algn="l">
              <a:lnSpc>
                <a:spcPct val="100000"/>
              </a:lnSpc>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29" name="Google Shape;29;p51"/>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733572"/>
        </a:solidFill>
      </p:bgPr>
    </p:bg>
    <p:spTree>
      <p:nvGrpSpPr>
        <p:cNvPr id="30" name="Shape 30"/>
        <p:cNvGrpSpPr/>
        <p:nvPr/>
      </p:nvGrpSpPr>
      <p:grpSpPr>
        <a:xfrm>
          <a:off x="0" y="0"/>
          <a:ext cx="0" cy="0"/>
          <a:chOff x="0" y="0"/>
          <a:chExt cx="0" cy="0"/>
        </a:xfrm>
      </p:grpSpPr>
      <p:sp>
        <p:nvSpPr>
          <p:cNvPr id="31" name="Google Shape;31;p52"/>
          <p:cNvSpPr txBox="1"/>
          <p:nvPr>
            <p:ph type="title"/>
          </p:nvPr>
        </p:nvSpPr>
        <p:spPr>
          <a:xfrm>
            <a:off x="914400" y="2210700"/>
            <a:ext cx="7315200" cy="7221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Raleway"/>
              <a:buNone/>
              <a:defRPr b="1" sz="2400">
                <a:solidFill>
                  <a:schemeClr val="lt1"/>
                </a:solidFill>
                <a:latin typeface="Raleway"/>
                <a:ea typeface="Raleway"/>
                <a:cs typeface="Raleway"/>
                <a:sym typeface="Raleway"/>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32" name="Google Shape;32;p52"/>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1" i="0" sz="1000" u="none" cap="none" strike="noStrike">
                <a:solidFill>
                  <a:schemeClr val="lt1"/>
                </a:solidFill>
                <a:latin typeface="Raleway"/>
                <a:ea typeface="Raleway"/>
                <a:cs typeface="Raleway"/>
                <a:sym typeface="Raleway"/>
              </a:defRPr>
            </a:lvl1pPr>
            <a:lvl2pPr indent="0" lvl="1" marL="0" marR="0" algn="r">
              <a:lnSpc>
                <a:spcPct val="100000"/>
              </a:lnSpc>
              <a:spcBef>
                <a:spcPts val="0"/>
              </a:spcBef>
              <a:spcAft>
                <a:spcPts val="0"/>
              </a:spcAft>
              <a:buClr>
                <a:srgbClr val="000000"/>
              </a:buClr>
              <a:buSzPts val="1000"/>
              <a:buFont typeface="Arial"/>
              <a:buNone/>
              <a:defRPr b="1" i="0" sz="1000" u="none" cap="none" strike="noStrike">
                <a:solidFill>
                  <a:schemeClr val="lt1"/>
                </a:solidFill>
                <a:latin typeface="Raleway"/>
                <a:ea typeface="Raleway"/>
                <a:cs typeface="Raleway"/>
                <a:sym typeface="Raleway"/>
              </a:defRPr>
            </a:lvl2pPr>
            <a:lvl3pPr indent="0" lvl="2" marL="0" marR="0" algn="r">
              <a:lnSpc>
                <a:spcPct val="100000"/>
              </a:lnSpc>
              <a:spcBef>
                <a:spcPts val="0"/>
              </a:spcBef>
              <a:spcAft>
                <a:spcPts val="0"/>
              </a:spcAft>
              <a:buClr>
                <a:srgbClr val="000000"/>
              </a:buClr>
              <a:buSzPts val="1000"/>
              <a:buFont typeface="Arial"/>
              <a:buNone/>
              <a:defRPr b="1" i="0" sz="1000" u="none" cap="none" strike="noStrike">
                <a:solidFill>
                  <a:schemeClr val="lt1"/>
                </a:solidFill>
                <a:latin typeface="Raleway"/>
                <a:ea typeface="Raleway"/>
                <a:cs typeface="Raleway"/>
                <a:sym typeface="Raleway"/>
              </a:defRPr>
            </a:lvl3pPr>
            <a:lvl4pPr indent="0" lvl="3" marL="0" marR="0" algn="r">
              <a:lnSpc>
                <a:spcPct val="100000"/>
              </a:lnSpc>
              <a:spcBef>
                <a:spcPts val="0"/>
              </a:spcBef>
              <a:spcAft>
                <a:spcPts val="0"/>
              </a:spcAft>
              <a:buClr>
                <a:srgbClr val="000000"/>
              </a:buClr>
              <a:buSzPts val="1000"/>
              <a:buFont typeface="Arial"/>
              <a:buNone/>
              <a:defRPr b="1" i="0" sz="1000" u="none" cap="none" strike="noStrike">
                <a:solidFill>
                  <a:schemeClr val="lt1"/>
                </a:solidFill>
                <a:latin typeface="Raleway"/>
                <a:ea typeface="Raleway"/>
                <a:cs typeface="Raleway"/>
                <a:sym typeface="Raleway"/>
              </a:defRPr>
            </a:lvl4pPr>
            <a:lvl5pPr indent="0" lvl="4" marL="0" marR="0" algn="r">
              <a:lnSpc>
                <a:spcPct val="100000"/>
              </a:lnSpc>
              <a:spcBef>
                <a:spcPts val="0"/>
              </a:spcBef>
              <a:spcAft>
                <a:spcPts val="0"/>
              </a:spcAft>
              <a:buClr>
                <a:srgbClr val="000000"/>
              </a:buClr>
              <a:buSzPts val="1000"/>
              <a:buFont typeface="Arial"/>
              <a:buNone/>
              <a:defRPr b="1" i="0" sz="1000" u="none" cap="none" strike="noStrike">
                <a:solidFill>
                  <a:schemeClr val="lt1"/>
                </a:solidFill>
                <a:latin typeface="Raleway"/>
                <a:ea typeface="Raleway"/>
                <a:cs typeface="Raleway"/>
                <a:sym typeface="Raleway"/>
              </a:defRPr>
            </a:lvl5pPr>
            <a:lvl6pPr indent="0" lvl="5" marL="0" marR="0" algn="r">
              <a:lnSpc>
                <a:spcPct val="100000"/>
              </a:lnSpc>
              <a:spcBef>
                <a:spcPts val="0"/>
              </a:spcBef>
              <a:spcAft>
                <a:spcPts val="0"/>
              </a:spcAft>
              <a:buClr>
                <a:srgbClr val="000000"/>
              </a:buClr>
              <a:buSzPts val="1000"/>
              <a:buFont typeface="Arial"/>
              <a:buNone/>
              <a:defRPr b="1" i="0" sz="1000" u="none" cap="none" strike="noStrike">
                <a:solidFill>
                  <a:schemeClr val="lt1"/>
                </a:solidFill>
                <a:latin typeface="Raleway"/>
                <a:ea typeface="Raleway"/>
                <a:cs typeface="Raleway"/>
                <a:sym typeface="Raleway"/>
              </a:defRPr>
            </a:lvl6pPr>
            <a:lvl7pPr indent="0" lvl="6" marL="0" marR="0" algn="r">
              <a:lnSpc>
                <a:spcPct val="100000"/>
              </a:lnSpc>
              <a:spcBef>
                <a:spcPts val="0"/>
              </a:spcBef>
              <a:spcAft>
                <a:spcPts val="0"/>
              </a:spcAft>
              <a:buClr>
                <a:srgbClr val="000000"/>
              </a:buClr>
              <a:buSzPts val="1000"/>
              <a:buFont typeface="Arial"/>
              <a:buNone/>
              <a:defRPr b="1" i="0" sz="1000" u="none" cap="none" strike="noStrike">
                <a:solidFill>
                  <a:schemeClr val="lt1"/>
                </a:solidFill>
                <a:latin typeface="Raleway"/>
                <a:ea typeface="Raleway"/>
                <a:cs typeface="Raleway"/>
                <a:sym typeface="Raleway"/>
              </a:defRPr>
            </a:lvl7pPr>
            <a:lvl8pPr indent="0" lvl="7" marL="0" marR="0" algn="r">
              <a:lnSpc>
                <a:spcPct val="100000"/>
              </a:lnSpc>
              <a:spcBef>
                <a:spcPts val="0"/>
              </a:spcBef>
              <a:spcAft>
                <a:spcPts val="0"/>
              </a:spcAft>
              <a:buClr>
                <a:srgbClr val="000000"/>
              </a:buClr>
              <a:buSzPts val="1000"/>
              <a:buFont typeface="Arial"/>
              <a:buNone/>
              <a:defRPr b="1" i="0" sz="1000" u="none" cap="none" strike="noStrike">
                <a:solidFill>
                  <a:schemeClr val="lt1"/>
                </a:solidFill>
                <a:latin typeface="Raleway"/>
                <a:ea typeface="Raleway"/>
                <a:cs typeface="Raleway"/>
                <a:sym typeface="Raleway"/>
              </a:defRPr>
            </a:lvl8pPr>
            <a:lvl9pPr indent="0" lvl="8" marL="0" marR="0" algn="r">
              <a:lnSpc>
                <a:spcPct val="100000"/>
              </a:lnSpc>
              <a:spcBef>
                <a:spcPts val="0"/>
              </a:spcBef>
              <a:spcAft>
                <a:spcPts val="0"/>
              </a:spcAft>
              <a:buClr>
                <a:srgbClr val="000000"/>
              </a:buClr>
              <a:buSzPts val="1000"/>
              <a:buFont typeface="Arial"/>
              <a:buNone/>
              <a:defRPr b="1" i="0" sz="1000" u="none" cap="none" strike="noStrike">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rgbClr val="733572"/>
        </a:solidFill>
      </p:bgPr>
    </p:bg>
    <p:spTree>
      <p:nvGrpSpPr>
        <p:cNvPr id="33" name="Shape 33"/>
        <p:cNvGrpSpPr/>
        <p:nvPr/>
      </p:nvGrpSpPr>
      <p:grpSpPr>
        <a:xfrm>
          <a:off x="0" y="0"/>
          <a:ext cx="0" cy="0"/>
          <a:chOff x="0" y="0"/>
          <a:chExt cx="0" cy="0"/>
        </a:xfrm>
      </p:grpSpPr>
      <p:sp>
        <p:nvSpPr>
          <p:cNvPr id="34" name="Google Shape;34;p53"/>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5" name="Google Shape;35;p53"/>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6" name="Google Shape;36;p53"/>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7" name="Google Shape;37;p53"/>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38" name="Google Shape;38;p53"/>
          <p:cNvGrpSpPr/>
          <p:nvPr/>
        </p:nvGrpSpPr>
        <p:grpSpPr>
          <a:xfrm>
            <a:off x="283668" y="259895"/>
            <a:ext cx="226001" cy="222980"/>
            <a:chOff x="283668" y="251687"/>
            <a:chExt cx="226001" cy="222980"/>
          </a:xfrm>
        </p:grpSpPr>
        <p:sp>
          <p:nvSpPr>
            <p:cNvPr id="39" name="Google Shape;39;p53"/>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40" name="Google Shape;40;p53"/>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41" name="Google Shape;41;p53"/>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42" name="Google Shape;42;p53"/>
          <p:cNvSpPr txBox="1"/>
          <p:nvPr>
            <p:ph type="title"/>
          </p:nvPr>
        </p:nvSpPr>
        <p:spPr>
          <a:xfrm>
            <a:off x="685800" y="246888"/>
            <a:ext cx="4572000" cy="255900"/>
          </a:xfrm>
          <a:prstGeom prst="rect">
            <a:avLst/>
          </a:prstGeom>
          <a:noFill/>
          <a:ln>
            <a:noFill/>
          </a:ln>
        </p:spPr>
        <p:txBody>
          <a:bodyPr anchorCtr="0" anchor="ctr" bIns="91425" lIns="0" spcFirstLastPara="1" rIns="0" wrap="square" tIns="91425">
            <a:noAutofit/>
          </a:bodyPr>
          <a:lstStyle>
            <a:lvl1pPr lvl="0" algn="l">
              <a:lnSpc>
                <a:spcPct val="100000"/>
              </a:lnSpc>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43" name="Google Shape;43;p53"/>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
        <p:nvSpPr>
          <p:cNvPr id="44" name="Google Shape;44;p53"/>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1" i="0" sz="1000" u="none" cap="none" strike="noStrike">
                <a:solidFill>
                  <a:schemeClr val="lt1"/>
                </a:solidFill>
                <a:latin typeface="Raleway"/>
                <a:ea typeface="Raleway"/>
                <a:cs typeface="Raleway"/>
                <a:sym typeface="Raleway"/>
              </a:defRPr>
            </a:lvl1pPr>
            <a:lvl2pPr indent="0" lvl="1" marL="0" marR="0" algn="r">
              <a:lnSpc>
                <a:spcPct val="100000"/>
              </a:lnSpc>
              <a:spcBef>
                <a:spcPts val="0"/>
              </a:spcBef>
              <a:spcAft>
                <a:spcPts val="0"/>
              </a:spcAft>
              <a:buClr>
                <a:srgbClr val="000000"/>
              </a:buClr>
              <a:buSzPts val="1000"/>
              <a:buFont typeface="Arial"/>
              <a:buNone/>
              <a:defRPr b="1" i="0" sz="1000" u="none" cap="none" strike="noStrike">
                <a:solidFill>
                  <a:schemeClr val="lt1"/>
                </a:solidFill>
                <a:latin typeface="Raleway"/>
                <a:ea typeface="Raleway"/>
                <a:cs typeface="Raleway"/>
                <a:sym typeface="Raleway"/>
              </a:defRPr>
            </a:lvl2pPr>
            <a:lvl3pPr indent="0" lvl="2" marL="0" marR="0" algn="r">
              <a:lnSpc>
                <a:spcPct val="100000"/>
              </a:lnSpc>
              <a:spcBef>
                <a:spcPts val="0"/>
              </a:spcBef>
              <a:spcAft>
                <a:spcPts val="0"/>
              </a:spcAft>
              <a:buClr>
                <a:srgbClr val="000000"/>
              </a:buClr>
              <a:buSzPts val="1000"/>
              <a:buFont typeface="Arial"/>
              <a:buNone/>
              <a:defRPr b="1" i="0" sz="1000" u="none" cap="none" strike="noStrike">
                <a:solidFill>
                  <a:schemeClr val="lt1"/>
                </a:solidFill>
                <a:latin typeface="Raleway"/>
                <a:ea typeface="Raleway"/>
                <a:cs typeface="Raleway"/>
                <a:sym typeface="Raleway"/>
              </a:defRPr>
            </a:lvl3pPr>
            <a:lvl4pPr indent="0" lvl="3" marL="0" marR="0" algn="r">
              <a:lnSpc>
                <a:spcPct val="100000"/>
              </a:lnSpc>
              <a:spcBef>
                <a:spcPts val="0"/>
              </a:spcBef>
              <a:spcAft>
                <a:spcPts val="0"/>
              </a:spcAft>
              <a:buClr>
                <a:srgbClr val="000000"/>
              </a:buClr>
              <a:buSzPts val="1000"/>
              <a:buFont typeface="Arial"/>
              <a:buNone/>
              <a:defRPr b="1" i="0" sz="1000" u="none" cap="none" strike="noStrike">
                <a:solidFill>
                  <a:schemeClr val="lt1"/>
                </a:solidFill>
                <a:latin typeface="Raleway"/>
                <a:ea typeface="Raleway"/>
                <a:cs typeface="Raleway"/>
                <a:sym typeface="Raleway"/>
              </a:defRPr>
            </a:lvl4pPr>
            <a:lvl5pPr indent="0" lvl="4" marL="0" marR="0" algn="r">
              <a:lnSpc>
                <a:spcPct val="100000"/>
              </a:lnSpc>
              <a:spcBef>
                <a:spcPts val="0"/>
              </a:spcBef>
              <a:spcAft>
                <a:spcPts val="0"/>
              </a:spcAft>
              <a:buClr>
                <a:srgbClr val="000000"/>
              </a:buClr>
              <a:buSzPts val="1000"/>
              <a:buFont typeface="Arial"/>
              <a:buNone/>
              <a:defRPr b="1" i="0" sz="1000" u="none" cap="none" strike="noStrike">
                <a:solidFill>
                  <a:schemeClr val="lt1"/>
                </a:solidFill>
                <a:latin typeface="Raleway"/>
                <a:ea typeface="Raleway"/>
                <a:cs typeface="Raleway"/>
                <a:sym typeface="Raleway"/>
              </a:defRPr>
            </a:lvl5pPr>
            <a:lvl6pPr indent="0" lvl="5" marL="0" marR="0" algn="r">
              <a:lnSpc>
                <a:spcPct val="100000"/>
              </a:lnSpc>
              <a:spcBef>
                <a:spcPts val="0"/>
              </a:spcBef>
              <a:spcAft>
                <a:spcPts val="0"/>
              </a:spcAft>
              <a:buClr>
                <a:srgbClr val="000000"/>
              </a:buClr>
              <a:buSzPts val="1000"/>
              <a:buFont typeface="Arial"/>
              <a:buNone/>
              <a:defRPr b="1" i="0" sz="1000" u="none" cap="none" strike="noStrike">
                <a:solidFill>
                  <a:schemeClr val="lt1"/>
                </a:solidFill>
                <a:latin typeface="Raleway"/>
                <a:ea typeface="Raleway"/>
                <a:cs typeface="Raleway"/>
                <a:sym typeface="Raleway"/>
              </a:defRPr>
            </a:lvl6pPr>
            <a:lvl7pPr indent="0" lvl="6" marL="0" marR="0" algn="r">
              <a:lnSpc>
                <a:spcPct val="100000"/>
              </a:lnSpc>
              <a:spcBef>
                <a:spcPts val="0"/>
              </a:spcBef>
              <a:spcAft>
                <a:spcPts val="0"/>
              </a:spcAft>
              <a:buClr>
                <a:srgbClr val="000000"/>
              </a:buClr>
              <a:buSzPts val="1000"/>
              <a:buFont typeface="Arial"/>
              <a:buNone/>
              <a:defRPr b="1" i="0" sz="1000" u="none" cap="none" strike="noStrike">
                <a:solidFill>
                  <a:schemeClr val="lt1"/>
                </a:solidFill>
                <a:latin typeface="Raleway"/>
                <a:ea typeface="Raleway"/>
                <a:cs typeface="Raleway"/>
                <a:sym typeface="Raleway"/>
              </a:defRPr>
            </a:lvl7pPr>
            <a:lvl8pPr indent="0" lvl="7" marL="0" marR="0" algn="r">
              <a:lnSpc>
                <a:spcPct val="100000"/>
              </a:lnSpc>
              <a:spcBef>
                <a:spcPts val="0"/>
              </a:spcBef>
              <a:spcAft>
                <a:spcPts val="0"/>
              </a:spcAft>
              <a:buClr>
                <a:srgbClr val="000000"/>
              </a:buClr>
              <a:buSzPts val="1000"/>
              <a:buFont typeface="Arial"/>
              <a:buNone/>
              <a:defRPr b="1" i="0" sz="1000" u="none" cap="none" strike="noStrike">
                <a:solidFill>
                  <a:schemeClr val="lt1"/>
                </a:solidFill>
                <a:latin typeface="Raleway"/>
                <a:ea typeface="Raleway"/>
                <a:cs typeface="Raleway"/>
                <a:sym typeface="Raleway"/>
              </a:defRPr>
            </a:lvl8pPr>
            <a:lvl9pPr indent="0" lvl="8" marL="0" marR="0" algn="r">
              <a:lnSpc>
                <a:spcPct val="100000"/>
              </a:lnSpc>
              <a:spcBef>
                <a:spcPts val="0"/>
              </a:spcBef>
              <a:spcAft>
                <a:spcPts val="0"/>
              </a:spcAft>
              <a:buClr>
                <a:srgbClr val="000000"/>
              </a:buClr>
              <a:buSzPts val="1000"/>
              <a:buFont typeface="Arial"/>
              <a:buNone/>
              <a:defRPr b="1" i="0" sz="1000" u="none" cap="none" strike="noStrike">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spTree>
      <p:nvGrpSpPr>
        <p:cNvPr id="45" name="Shape 45"/>
        <p:cNvGrpSpPr/>
        <p:nvPr/>
      </p:nvGrpSpPr>
      <p:grpSpPr>
        <a:xfrm>
          <a:off x="0" y="0"/>
          <a:ext cx="0" cy="0"/>
          <a:chOff x="0" y="0"/>
          <a:chExt cx="0" cy="0"/>
        </a:xfrm>
      </p:grpSpPr>
      <p:sp>
        <p:nvSpPr>
          <p:cNvPr id="46" name="Google Shape;46;p5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47" name="Google Shape;47;p5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48" name="Google Shape;48;p5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49" name="Shape 49"/>
        <p:cNvGrpSpPr/>
        <p:nvPr/>
      </p:nvGrpSpPr>
      <p:grpSpPr>
        <a:xfrm>
          <a:off x="0" y="0"/>
          <a:ext cx="0" cy="0"/>
          <a:chOff x="0" y="0"/>
          <a:chExt cx="0" cy="0"/>
        </a:xfrm>
      </p:grpSpPr>
      <p:sp>
        <p:nvSpPr>
          <p:cNvPr id="50" name="Google Shape;50;p5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1" name="Google Shape;51;p5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52" name="Google Shape;52;p5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5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5" name="Google Shape;55;p5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6" name="Shape 56"/>
        <p:cNvGrpSpPr/>
        <p:nvPr/>
      </p:nvGrpSpPr>
      <p:grpSpPr>
        <a:xfrm>
          <a:off x="0" y="0"/>
          <a:ext cx="0" cy="0"/>
          <a:chOff x="0" y="0"/>
          <a:chExt cx="0" cy="0"/>
        </a:xfrm>
      </p:grpSpPr>
      <p:sp>
        <p:nvSpPr>
          <p:cNvPr id="57" name="Google Shape;57;p57"/>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58" name="Google Shape;58;p57"/>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59" name="Google Shape;59;p5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0" name="Shape 60"/>
        <p:cNvGrpSpPr/>
        <p:nvPr/>
      </p:nvGrpSpPr>
      <p:grpSpPr>
        <a:xfrm>
          <a:off x="0" y="0"/>
          <a:ext cx="0" cy="0"/>
          <a:chOff x="0" y="0"/>
          <a:chExt cx="0" cy="0"/>
        </a:xfrm>
      </p:grpSpPr>
      <p:sp>
        <p:nvSpPr>
          <p:cNvPr id="61" name="Google Shape;61;p58"/>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62" name="Google Shape;62;p5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3" name="Shape 63"/>
        <p:cNvGrpSpPr/>
        <p:nvPr/>
      </p:nvGrpSpPr>
      <p:grpSpPr>
        <a:xfrm>
          <a:off x="0" y="0"/>
          <a:ext cx="0" cy="0"/>
          <a:chOff x="0" y="0"/>
          <a:chExt cx="0" cy="0"/>
        </a:xfrm>
      </p:grpSpPr>
      <p:sp>
        <p:nvSpPr>
          <p:cNvPr id="64" name="Google Shape;64;p5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59"/>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66" name="Google Shape;66;p59"/>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7" name="Google Shape;67;p59"/>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68" name="Google Shape;68;p5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9" name="Shape 69"/>
        <p:cNvGrpSpPr/>
        <p:nvPr/>
      </p:nvGrpSpPr>
      <p:grpSpPr>
        <a:xfrm>
          <a:off x="0" y="0"/>
          <a:ext cx="0" cy="0"/>
          <a:chOff x="0" y="0"/>
          <a:chExt cx="0" cy="0"/>
        </a:xfrm>
      </p:grpSpPr>
      <p:sp>
        <p:nvSpPr>
          <p:cNvPr id="70" name="Google Shape;70;p60"/>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vl1pPr>
          </a:lstStyle>
          <a:p/>
        </p:txBody>
      </p:sp>
      <p:sp>
        <p:nvSpPr>
          <p:cNvPr id="71" name="Google Shape;71;p6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72" name="Shape 72"/>
        <p:cNvGrpSpPr/>
        <p:nvPr/>
      </p:nvGrpSpPr>
      <p:grpSpPr>
        <a:xfrm>
          <a:off x="0" y="0"/>
          <a:ext cx="0" cy="0"/>
          <a:chOff x="0" y="0"/>
          <a:chExt cx="0" cy="0"/>
        </a:xfrm>
      </p:grpSpPr>
      <p:sp>
        <p:nvSpPr>
          <p:cNvPr id="73" name="Google Shape;73;p61"/>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74" name="Google Shape;74;p61"/>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75" name="Google Shape;75;p6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6" name="Shape 76"/>
        <p:cNvGrpSpPr/>
        <p:nvPr/>
      </p:nvGrpSpPr>
      <p:grpSpPr>
        <a:xfrm>
          <a:off x="0" y="0"/>
          <a:ext cx="0" cy="0"/>
          <a:chOff x="0" y="0"/>
          <a:chExt cx="0" cy="0"/>
        </a:xfrm>
      </p:grpSpPr>
      <p:sp>
        <p:nvSpPr>
          <p:cNvPr id="77" name="Google Shape;77;p6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1.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4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4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3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s://www.eannovate.com/blog/2649_fitts039s-law-the-ux-hack-that-will-strengthen-your-design.html" TargetMode="Externa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hyperlink" Target="https://www.idsa.org/content/henry-dreyfuss-fidsa" TargetMode="External"/><Relationship Id="rId4" Type="http://schemas.openxmlformats.org/officeDocument/2006/relationships/hyperlink" Target="https://libgen.is/book/index.php?md5=ABB40C111F27DC7D7A5ECF860E5351D8" TargetMode="External"/><Relationship Id="rId5"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hyperlink" Target="http://blog.archive.org/2017/04/16/early-macintosh-emulation-comes-to-the-archive/" TargetMode="External"/><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hyperlink" Target="https://hcipioneers.wordpress.com/portfolio/don-norman/" TargetMode="External"/><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hyperlink" Target="https://hcipioneers.wordpress.com/portfolio/don-norman/" TargetMode="External"/><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hyperlink" Target="https://www.mac-history.net/apple-history-2/apple-lisa/2007-10-12/apple-lisa" TargetMode="External"/><Relationship Id="rId4" Type="http://schemas.openxmlformats.org/officeDocument/2006/relationships/image" Target="../media/image20.png"/><Relationship Id="rId5" Type="http://schemas.openxmlformats.org/officeDocument/2006/relationships/image" Target="../media/image33.png"/><Relationship Id="rId6" Type="http://schemas.openxmlformats.org/officeDocument/2006/relationships/hyperlink" Target="https://www.mac-history.net/apple-history-2/apple-lisa/2007-10-12/apple-lisa" TargetMode="External"/><Relationship Id="rId7" Type="http://schemas.openxmlformats.org/officeDocument/2006/relationships/image" Target="../media/image2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hyperlink" Target="https://www.fastcompany.com/90436413/what-the-palmpilot-can-teach-us-about-designing-products-people-love" TargetMode="External"/><Relationship Id="rId4" Type="http://schemas.openxmlformats.org/officeDocument/2006/relationships/image" Target="../media/image2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3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hyperlink" Target="https://www.google.com/url?sa=i&amp;url=https%3A%2F%2Fwww.businessinsider.com%2Fapple-bloggers-love-the-ipad-mini-so-much-theyre-calling-it-the-real-ipad-2012-11&amp;psig=AOvVaw2ggOMCV8BeK7oCf6NQwejK&amp;ust=1643355723244000&amp;source=images&amp;cd=vfe&amp;ved=0CAsQjRxqFwoTCJja96i30fUCFQAAAAAdAAAAABAT" TargetMode="External"/><Relationship Id="rId4" Type="http://schemas.openxmlformats.org/officeDocument/2006/relationships/image" Target="../media/image3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hyperlink" Target="https://www.aljazeera.com/economy/2021/11/19/how-much-does-amazon-know-about-you" TargetMode="External"/><Relationship Id="rId4" Type="http://schemas.openxmlformats.org/officeDocument/2006/relationships/image" Target="../media/image40.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image" Target="../media/image3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1.png"/><Relationship Id="rId4" Type="http://schemas.openxmlformats.org/officeDocument/2006/relationships/image" Target="../media/image2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 Id="rId3" Type="http://schemas.openxmlformats.org/officeDocument/2006/relationships/image" Target="../media/image3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31.png"/><Relationship Id="rId4" Type="http://schemas.openxmlformats.org/officeDocument/2006/relationships/image" Target="../media/image2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2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hyperlink" Target="https://www.justinmind.com/blog/neumorphism-ui/" TargetMode="External"/><Relationship Id="rId4" Type="http://schemas.openxmlformats.org/officeDocument/2006/relationships/image" Target="../media/image24.png"/><Relationship Id="rId5" Type="http://schemas.openxmlformats.org/officeDocument/2006/relationships/hyperlink" Target="https://imgix.bustle.com/uploads/image/2020/6/24/0e002731-9546-49bd-a097-4f65e7e0e251-4-up-icons-improved.png?w=1200&amp;h=630&amp;fit=crop&amp;crop=faces&amp;fm=jpg" TargetMode="External"/><Relationship Id="rId6" Type="http://schemas.openxmlformats.org/officeDocument/2006/relationships/image" Target="../media/image35.png"/><Relationship Id="rId7" Type="http://schemas.openxmlformats.org/officeDocument/2006/relationships/hyperlink" Target="https://imgix.bustle.com/uploads/image/2020/6/24/0e002731-9546-49bd-a097-4f65e7e0e251-4-up-icons-improved.png?w=1200&amp;h=630&amp;fit=crop&amp;crop=faces&amp;fm=jpg"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hyperlink" Target="https://www.interaction-design.org/literature/topics/storytelling" TargetMode="External"/><Relationship Id="rId4" Type="http://schemas.openxmlformats.org/officeDocument/2006/relationships/hyperlink" Target="https://microinteractions.com/what-is-a-microinteraction/" TargetMode="External"/><Relationship Id="rId5" Type="http://schemas.openxmlformats.org/officeDocument/2006/relationships/image" Target="../media/image3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hyperlink" Target="https://uxdesign.cc/stop-trying-to-make-air-gestures-happen-6ed6d76d55b7" TargetMode="External"/><Relationship Id="rId4" Type="http://schemas.openxmlformats.org/officeDocument/2006/relationships/image" Target="../media/image4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 Id="rId3" Type="http://schemas.openxmlformats.org/officeDocument/2006/relationships/image" Target="../media/image4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41.png"/><Relationship Id="rId4" Type="http://schemas.openxmlformats.org/officeDocument/2006/relationships/hyperlink" Target="https://careerfoundry.com/en/blog/ux-design/the-fascinating-history-of-ux-design-a-definitive-timeline/" TargetMode="External"/><Relationship Id="rId5" Type="http://schemas.openxmlformats.org/officeDocument/2006/relationships/hyperlink" Target="https://www.yukti.io/what-is-user-interface-ui-design-what-a-ui-designer-do/" TargetMode="External"/><Relationship Id="rId6" Type="http://schemas.openxmlformats.org/officeDocument/2006/relationships/hyperlink" Target="https://crm.org/articles/the-godfather-of-ux-don-norman-user-centered-design" TargetMode="External"/><Relationship Id="rId7" Type="http://schemas.openxmlformats.org/officeDocument/2006/relationships/hyperlink" Target="https://uxmag.com/articles/walt-disney-the-worlds-first-ux-designer"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6.xml"/><Relationship Id="rId3" Type="http://schemas.openxmlformats.org/officeDocument/2006/relationships/image" Target="../media/image4.png"/><Relationship Id="rId4" Type="http://schemas.openxmlformats.org/officeDocument/2006/relationships/image" Target="../media/image46.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image" Target="../media/image43.png"/><Relationship Id="rId4" Type="http://schemas.openxmlformats.org/officeDocument/2006/relationships/image" Target="../media/image47.png"/><Relationship Id="rId5" Type="http://schemas.openxmlformats.org/officeDocument/2006/relationships/image" Target="../media/image45.png"/><Relationship Id="rId6" Type="http://schemas.openxmlformats.org/officeDocument/2006/relationships/image" Target="../media/image3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81" name="Shape 81"/>
        <p:cNvGrpSpPr/>
        <p:nvPr/>
      </p:nvGrpSpPr>
      <p:grpSpPr>
        <a:xfrm>
          <a:off x="0" y="0"/>
          <a:ext cx="0" cy="0"/>
          <a:chOff x="0" y="0"/>
          <a:chExt cx="0" cy="0"/>
        </a:xfrm>
      </p:grpSpPr>
      <p:sp>
        <p:nvSpPr>
          <p:cNvPr id="82" name="Google Shape;82;p1"/>
          <p:cNvSpPr txBox="1"/>
          <p:nvPr/>
        </p:nvSpPr>
        <p:spPr>
          <a:xfrm>
            <a:off x="2386875" y="2608850"/>
            <a:ext cx="5869200" cy="10092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2700"/>
              <a:buFont typeface="Arial"/>
              <a:buNone/>
            </a:pPr>
            <a:r>
              <a:rPr b="0" i="0" lang="en" sz="2700" u="none" cap="none" strike="noStrike">
                <a:solidFill>
                  <a:srgbClr val="FFFFFF"/>
                </a:solidFill>
                <a:latin typeface="Raleway ExtraBold"/>
                <a:ea typeface="Raleway ExtraBold"/>
                <a:cs typeface="Raleway ExtraBold"/>
                <a:sym typeface="Raleway ExtraBold"/>
              </a:rPr>
              <a:t>Sejarah UI dan UX </a:t>
            </a:r>
            <a:endParaRPr b="0" i="0" sz="2700" u="none" cap="none" strike="noStrike">
              <a:solidFill>
                <a:srgbClr val="FFFFFF"/>
              </a:solidFill>
              <a:latin typeface="Raleway ExtraBold"/>
              <a:ea typeface="Raleway ExtraBold"/>
              <a:cs typeface="Raleway ExtraBold"/>
              <a:sym typeface="Raleway ExtraBold"/>
            </a:endParaRPr>
          </a:p>
          <a:p>
            <a:pPr indent="0" lvl="0" marL="0" marR="0" rtl="0" algn="l">
              <a:lnSpc>
                <a:spcPct val="100000"/>
              </a:lnSpc>
              <a:spcBef>
                <a:spcPts val="0"/>
              </a:spcBef>
              <a:spcAft>
                <a:spcPts val="0"/>
              </a:spcAft>
              <a:buClr>
                <a:schemeClr val="dk1"/>
              </a:buClr>
              <a:buSzPts val="1100"/>
              <a:buFont typeface="Arial"/>
              <a:buNone/>
            </a:pPr>
            <a:r>
              <a:rPr b="0" i="0" lang="en" sz="1400" u="none" cap="none" strike="noStrike">
                <a:solidFill>
                  <a:schemeClr val="lt1"/>
                </a:solidFill>
                <a:latin typeface="Raleway ExtraBold"/>
                <a:ea typeface="Raleway ExtraBold"/>
                <a:cs typeface="Raleway ExtraBold"/>
                <a:sym typeface="Raleway ExtraBold"/>
              </a:rPr>
              <a:t>Silver </a:t>
            </a:r>
            <a:r>
              <a:rPr b="0" i="0" lang="en" sz="1400" u="none" cap="none" strike="noStrike">
                <a:solidFill>
                  <a:schemeClr val="lt1"/>
                </a:solidFill>
                <a:latin typeface="Raleway Medium"/>
                <a:ea typeface="Raleway Medium"/>
                <a:cs typeface="Raleway Medium"/>
                <a:sym typeface="Raleway Medium"/>
              </a:rPr>
              <a:t>- Chapter 1 - Topic 1</a:t>
            </a:r>
            <a:endParaRPr b="0" i="0" sz="1400" u="none" cap="none" strike="noStrike">
              <a:solidFill>
                <a:srgbClr val="FFFFFF"/>
              </a:solidFill>
              <a:latin typeface="Raleway Medium"/>
              <a:ea typeface="Raleway Medium"/>
              <a:cs typeface="Raleway Medium"/>
              <a:sym typeface="Raleway Medium"/>
            </a:endParaRPr>
          </a:p>
        </p:txBody>
      </p:sp>
      <p:cxnSp>
        <p:nvCxnSpPr>
          <p:cNvPr id="83" name="Google Shape;83;p1"/>
          <p:cNvCxnSpPr/>
          <p:nvPr/>
        </p:nvCxnSpPr>
        <p:spPr>
          <a:xfrm flipH="1" rot="10800000">
            <a:off x="705500" y="3560750"/>
            <a:ext cx="7727400" cy="57300"/>
          </a:xfrm>
          <a:prstGeom prst="straightConnector1">
            <a:avLst/>
          </a:prstGeom>
          <a:noFill/>
          <a:ln cap="flat" cmpd="sng" w="9525">
            <a:solidFill>
              <a:srgbClr val="FFFFFF"/>
            </a:solidFill>
            <a:prstDash val="solid"/>
            <a:round/>
            <a:headEnd len="sm" w="sm" type="none"/>
            <a:tailEnd len="sm" w="sm" type="none"/>
          </a:ln>
        </p:spPr>
      </p:cxnSp>
      <p:pic>
        <p:nvPicPr>
          <p:cNvPr id="84" name="Google Shape;84;p1"/>
          <p:cNvPicPr preferRelativeResize="0"/>
          <p:nvPr/>
        </p:nvPicPr>
        <p:blipFill rotWithShape="1">
          <a:blip r:embed="rId3">
            <a:alphaModFix/>
          </a:blip>
          <a:srcRect b="0" l="0" r="0" t="0"/>
          <a:stretch/>
        </p:blipFill>
        <p:spPr>
          <a:xfrm>
            <a:off x="1037425" y="1951500"/>
            <a:ext cx="1181925" cy="14396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52F67"/>
        </a:solidFill>
      </p:bgPr>
    </p:bg>
    <p:spTree>
      <p:nvGrpSpPr>
        <p:cNvPr id="88" name="Shape 88"/>
        <p:cNvGrpSpPr/>
        <p:nvPr/>
      </p:nvGrpSpPr>
      <p:grpSpPr>
        <a:xfrm>
          <a:off x="0" y="0"/>
          <a:ext cx="0" cy="0"/>
          <a:chOff x="0" y="0"/>
          <a:chExt cx="0" cy="0"/>
        </a:xfrm>
      </p:grpSpPr>
      <p:sp>
        <p:nvSpPr>
          <p:cNvPr id="89" name="Google Shape;89;p2"/>
          <p:cNvSpPr txBox="1"/>
          <p:nvPr/>
        </p:nvSpPr>
        <p:spPr>
          <a:xfrm>
            <a:off x="1950750" y="817825"/>
            <a:ext cx="5242500" cy="607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chemeClr val="lt1"/>
                </a:solidFill>
                <a:latin typeface="Raleway SemiBold"/>
                <a:ea typeface="Raleway SemiBold"/>
                <a:cs typeface="Raleway SemiBold"/>
                <a:sym typeface="Raleway SemiBold"/>
              </a:rPr>
              <a:t>Selamat datang di </a:t>
            </a:r>
            <a:r>
              <a:rPr b="0" i="0" lang="en" sz="1800" u="none" cap="none" strike="noStrike">
                <a:solidFill>
                  <a:schemeClr val="accent1"/>
                </a:solidFill>
                <a:latin typeface="Raleway SemiBold"/>
                <a:ea typeface="Raleway SemiBold"/>
                <a:cs typeface="Raleway SemiBold"/>
                <a:sym typeface="Raleway SemiBold"/>
              </a:rPr>
              <a:t>Chapter 1</a:t>
            </a:r>
            <a:r>
              <a:rPr b="0" i="0" lang="en" sz="1800" u="none" cap="none" strike="noStrike">
                <a:solidFill>
                  <a:schemeClr val="lt1"/>
                </a:solidFill>
                <a:latin typeface="Raleway SemiBold"/>
                <a:ea typeface="Raleway SemiBold"/>
                <a:cs typeface="Raleway SemiBold"/>
                <a:sym typeface="Raleway SemiBold"/>
              </a:rPr>
              <a:t> online course </a:t>
            </a:r>
            <a:r>
              <a:rPr b="0" i="0" lang="en" sz="1800" u="none" cap="none" strike="noStrike">
                <a:solidFill>
                  <a:schemeClr val="accent1"/>
                </a:solidFill>
                <a:latin typeface="Raleway SemiBold"/>
                <a:ea typeface="Raleway SemiBold"/>
                <a:cs typeface="Raleway SemiBold"/>
                <a:sym typeface="Raleway SemiBold"/>
              </a:rPr>
              <a:t>UI/UX Design</a:t>
            </a:r>
            <a:r>
              <a:rPr b="0" i="0" lang="en" sz="1800" u="none" cap="none" strike="noStrike">
                <a:solidFill>
                  <a:schemeClr val="lt1"/>
                </a:solidFill>
                <a:latin typeface="Raleway SemiBold"/>
                <a:ea typeface="Raleway SemiBold"/>
                <a:cs typeface="Raleway SemiBold"/>
                <a:sym typeface="Raleway SemiBold"/>
              </a:rPr>
              <a:t> dari Binar Academy!</a:t>
            </a:r>
            <a:endParaRPr b="0" i="0" sz="1800" u="none" cap="none" strike="noStrike">
              <a:solidFill>
                <a:srgbClr val="FFFFFF"/>
              </a:solidFill>
              <a:latin typeface="Raleway SemiBold"/>
              <a:ea typeface="Raleway SemiBold"/>
              <a:cs typeface="Raleway SemiBold"/>
              <a:sym typeface="Raleway SemiBold"/>
            </a:endParaRPr>
          </a:p>
        </p:txBody>
      </p:sp>
      <p:pic>
        <p:nvPicPr>
          <p:cNvPr id="90" name="Google Shape;90;p2"/>
          <p:cNvPicPr preferRelativeResize="0"/>
          <p:nvPr/>
        </p:nvPicPr>
        <p:blipFill rotWithShape="1">
          <a:blip r:embed="rId3">
            <a:alphaModFix/>
          </a:blip>
          <a:srcRect b="0" l="0" r="0" t="0"/>
          <a:stretch/>
        </p:blipFill>
        <p:spPr>
          <a:xfrm>
            <a:off x="2660288" y="1807025"/>
            <a:ext cx="3823425" cy="29161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3"/>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96" name="Google Shape;96;p3"/>
          <p:cNvSpPr txBox="1"/>
          <p:nvPr>
            <p:ph type="title"/>
          </p:nvPr>
        </p:nvSpPr>
        <p:spPr>
          <a:xfrm>
            <a:off x="685800" y="246888"/>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SzPts val="1200"/>
              <a:buNone/>
            </a:pPr>
            <a:r>
              <a:rPr lang="en"/>
              <a:t>Pengantar</a:t>
            </a:r>
            <a:endParaRPr/>
          </a:p>
        </p:txBody>
      </p:sp>
      <p:sp>
        <p:nvSpPr>
          <p:cNvPr id="97" name="Google Shape;97;p3"/>
          <p:cNvSpPr txBox="1"/>
          <p:nvPr/>
        </p:nvSpPr>
        <p:spPr>
          <a:xfrm>
            <a:off x="606600" y="3913500"/>
            <a:ext cx="7930800" cy="11283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0"/>
              </a:spcBef>
              <a:spcAft>
                <a:spcPts val="0"/>
              </a:spcAft>
              <a:buClr>
                <a:srgbClr val="000000"/>
              </a:buClr>
              <a:buSzPts val="1200"/>
              <a:buFont typeface="Arial"/>
              <a:buNone/>
            </a:pPr>
            <a:r>
              <a:rPr b="0" i="0" lang="en" sz="1200" u="none" cap="none" strike="noStrike">
                <a:solidFill>
                  <a:schemeClr val="dk1"/>
                </a:solidFill>
                <a:latin typeface="Raleway Medium"/>
                <a:ea typeface="Raleway Medium"/>
                <a:cs typeface="Raleway Medium"/>
                <a:sym typeface="Raleway Medium"/>
              </a:rPr>
              <a:t>Nah, pada topik pertama, kita bakal cari tahu gimana </a:t>
            </a:r>
            <a:r>
              <a:rPr b="1" i="0" lang="en" sz="1200" u="none" cap="none" strike="noStrike">
                <a:solidFill>
                  <a:schemeClr val="dk1"/>
                </a:solidFill>
                <a:latin typeface="Raleway"/>
                <a:ea typeface="Raleway"/>
                <a:cs typeface="Raleway"/>
                <a:sym typeface="Raleway"/>
              </a:rPr>
              <a:t>latar belakang dan</a:t>
            </a:r>
            <a:r>
              <a:rPr b="0" i="0" lang="en" sz="1200" u="none" cap="none" strike="noStrike">
                <a:solidFill>
                  <a:schemeClr val="dk1"/>
                </a:solidFill>
                <a:latin typeface="Raleway Medium"/>
                <a:ea typeface="Raleway Medium"/>
                <a:cs typeface="Raleway Medium"/>
                <a:sym typeface="Raleway Medium"/>
              </a:rPr>
              <a:t> </a:t>
            </a:r>
            <a:r>
              <a:rPr b="1" i="0" lang="en" sz="1200" u="none" cap="none" strike="noStrike">
                <a:solidFill>
                  <a:schemeClr val="dk1"/>
                </a:solidFill>
                <a:latin typeface="Raleway"/>
                <a:ea typeface="Raleway"/>
                <a:cs typeface="Raleway"/>
                <a:sym typeface="Raleway"/>
              </a:rPr>
              <a:t>sejarah penggunaan UI/UX. </a:t>
            </a:r>
            <a:r>
              <a:rPr b="0" i="0" lang="en" sz="1200" u="none" cap="none" strike="noStrike">
                <a:solidFill>
                  <a:schemeClr val="dk1"/>
                </a:solidFill>
                <a:latin typeface="Raleway Medium"/>
                <a:ea typeface="Raleway Medium"/>
                <a:cs typeface="Raleway Medium"/>
                <a:sym typeface="Raleway Medium"/>
              </a:rPr>
              <a:t>Cus langsung aja~</a:t>
            </a:r>
            <a:endParaRPr b="0" i="0" sz="1200" u="none" cap="none" strike="noStrike">
              <a:solidFill>
                <a:schemeClr val="dk1"/>
              </a:solidFill>
              <a:latin typeface="Raleway Medium"/>
              <a:ea typeface="Raleway Medium"/>
              <a:cs typeface="Raleway Medium"/>
              <a:sym typeface="Raleway Medium"/>
            </a:endParaRPr>
          </a:p>
        </p:txBody>
      </p:sp>
      <p:sp>
        <p:nvSpPr>
          <p:cNvPr id="98" name="Google Shape;98;p3"/>
          <p:cNvSpPr txBox="1"/>
          <p:nvPr/>
        </p:nvSpPr>
        <p:spPr>
          <a:xfrm>
            <a:off x="606600" y="3290550"/>
            <a:ext cx="7930800" cy="9795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0"/>
              </a:spcBef>
              <a:spcAft>
                <a:spcPts val="0"/>
              </a:spcAft>
              <a:buClr>
                <a:srgbClr val="000000"/>
              </a:buClr>
              <a:buSzPts val="1200"/>
              <a:buFont typeface="Arial"/>
              <a:buNone/>
            </a:pPr>
            <a:r>
              <a:rPr b="0" i="0" lang="en" sz="1200" u="none" cap="none" strike="noStrike">
                <a:solidFill>
                  <a:schemeClr val="dk1"/>
                </a:solidFill>
                <a:latin typeface="Raleway Medium"/>
                <a:ea typeface="Raleway Medium"/>
                <a:cs typeface="Raleway Medium"/>
                <a:sym typeface="Raleway Medium"/>
              </a:rPr>
              <a:t>Sebagai pembuka course</a:t>
            </a:r>
            <a:r>
              <a:rPr b="1" i="0" lang="en" sz="1200" u="none" cap="none" strike="noStrike">
                <a:solidFill>
                  <a:schemeClr val="dk1"/>
                </a:solidFill>
                <a:latin typeface="Raleway"/>
                <a:ea typeface="Raleway"/>
                <a:cs typeface="Raleway"/>
                <a:sym typeface="Raleway"/>
              </a:rPr>
              <a:t>,</a:t>
            </a:r>
            <a:r>
              <a:rPr b="0" i="0" lang="en" sz="1200" u="none" cap="none" strike="noStrike">
                <a:solidFill>
                  <a:schemeClr val="dk1"/>
                </a:solidFill>
                <a:latin typeface="Raleway Medium"/>
                <a:ea typeface="Raleway Medium"/>
                <a:cs typeface="Raleway Medium"/>
                <a:sym typeface="Raleway Medium"/>
              </a:rPr>
              <a:t> </a:t>
            </a:r>
            <a:r>
              <a:rPr b="1" i="0" lang="en" sz="1200" u="none" cap="none" strike="noStrike">
                <a:solidFill>
                  <a:schemeClr val="dk1"/>
                </a:solidFill>
                <a:latin typeface="Raleway"/>
                <a:ea typeface="Raleway"/>
                <a:cs typeface="Raleway"/>
                <a:sym typeface="Raleway"/>
              </a:rPr>
              <a:t>Chapter 1 ini bakalan ngajak kamu buat memahami dasar-dasar UI/UX</a:t>
            </a:r>
            <a:r>
              <a:rPr b="0" i="0" lang="en" sz="1200" u="none" cap="none" strike="noStrike">
                <a:solidFill>
                  <a:schemeClr val="dk1"/>
                </a:solidFill>
                <a:latin typeface="Raleway Medium"/>
                <a:ea typeface="Raleway Medium"/>
                <a:cs typeface="Raleway Medium"/>
                <a:sym typeface="Raleway Medium"/>
              </a:rPr>
              <a:t>, mulai dari latar belakang dan sejarah penggunaan UI/UX, UI/UX dalam dunia digital, mengapa UI/UX penting, dan mengenal design thinking dalam UI/UX.</a:t>
            </a:r>
            <a:endParaRPr b="0" i="0" sz="1200" u="none" cap="none" strike="noStrike">
              <a:solidFill>
                <a:schemeClr val="dk1"/>
              </a:solidFill>
              <a:latin typeface="Raleway Medium"/>
              <a:ea typeface="Raleway Medium"/>
              <a:cs typeface="Raleway Medium"/>
              <a:sym typeface="Raleway Medium"/>
            </a:endParaRPr>
          </a:p>
        </p:txBody>
      </p:sp>
      <p:pic>
        <p:nvPicPr>
          <p:cNvPr id="99" name="Google Shape;99;p3"/>
          <p:cNvPicPr preferRelativeResize="0"/>
          <p:nvPr/>
        </p:nvPicPr>
        <p:blipFill rotWithShape="1">
          <a:blip r:embed="rId3">
            <a:alphaModFix/>
          </a:blip>
          <a:srcRect b="41386" l="0" r="0" t="0"/>
          <a:stretch/>
        </p:blipFill>
        <p:spPr>
          <a:xfrm>
            <a:off x="1808300" y="601775"/>
            <a:ext cx="5527398" cy="246945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4"/>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05" name="Google Shape;105;p4"/>
          <p:cNvSpPr txBox="1"/>
          <p:nvPr>
            <p:ph type="title"/>
          </p:nvPr>
        </p:nvSpPr>
        <p:spPr>
          <a:xfrm>
            <a:off x="685800" y="246888"/>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SzPts val="1200"/>
              <a:buNone/>
            </a:pPr>
            <a:r>
              <a:rPr lang="en"/>
              <a:t>Pengantar</a:t>
            </a:r>
            <a:endParaRPr/>
          </a:p>
        </p:txBody>
      </p:sp>
      <p:sp>
        <p:nvSpPr>
          <p:cNvPr id="106" name="Google Shape;106;p4"/>
          <p:cNvSpPr txBox="1"/>
          <p:nvPr/>
        </p:nvSpPr>
        <p:spPr>
          <a:xfrm>
            <a:off x="685800" y="859670"/>
            <a:ext cx="4114800" cy="9672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000000"/>
              </a:buClr>
              <a:buSzPts val="1800"/>
              <a:buFont typeface="Arial"/>
              <a:buNone/>
            </a:pPr>
            <a:r>
              <a:rPr b="1" i="0" lang="en" sz="1800" u="none" cap="none" strike="noStrike">
                <a:solidFill>
                  <a:srgbClr val="512252"/>
                </a:solidFill>
                <a:highlight>
                  <a:schemeClr val="lt1"/>
                </a:highlight>
                <a:latin typeface="Raleway"/>
                <a:ea typeface="Raleway"/>
                <a:cs typeface="Raleway"/>
                <a:sym typeface="Raleway"/>
              </a:rPr>
              <a:t>Detailnya, kita bakal bahas hal-hal berikut ini: </a:t>
            </a:r>
            <a:endParaRPr b="0" i="0" sz="1400" u="none" cap="none" strike="noStrike">
              <a:solidFill>
                <a:srgbClr val="512252"/>
              </a:solidFill>
              <a:latin typeface="Raleway Medium"/>
              <a:ea typeface="Raleway Medium"/>
              <a:cs typeface="Raleway Medium"/>
              <a:sym typeface="Raleway Medium"/>
            </a:endParaRPr>
          </a:p>
        </p:txBody>
      </p:sp>
      <p:sp>
        <p:nvSpPr>
          <p:cNvPr id="107" name="Google Shape;107;p4"/>
          <p:cNvSpPr/>
          <p:nvPr/>
        </p:nvSpPr>
        <p:spPr>
          <a:xfrm>
            <a:off x="831025" y="1972775"/>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p:txBody>
      </p:sp>
      <p:sp>
        <p:nvSpPr>
          <p:cNvPr id="108" name="Google Shape;108;p4"/>
          <p:cNvSpPr/>
          <p:nvPr/>
        </p:nvSpPr>
        <p:spPr>
          <a:xfrm>
            <a:off x="831025" y="2539625"/>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p:txBody>
      </p:sp>
      <p:sp>
        <p:nvSpPr>
          <p:cNvPr id="109" name="Google Shape;109;p4"/>
          <p:cNvSpPr/>
          <p:nvPr/>
        </p:nvSpPr>
        <p:spPr>
          <a:xfrm>
            <a:off x="831025" y="3106475"/>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4"/>
          <p:cNvSpPr/>
          <p:nvPr/>
        </p:nvSpPr>
        <p:spPr>
          <a:xfrm>
            <a:off x="831025" y="3673325"/>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4"/>
          <p:cNvSpPr txBox="1"/>
          <p:nvPr/>
        </p:nvSpPr>
        <p:spPr>
          <a:xfrm>
            <a:off x="1324925" y="1740125"/>
            <a:ext cx="2214000" cy="7212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000000"/>
              </a:buClr>
              <a:buSzPts val="1200"/>
              <a:buFont typeface="Arial"/>
              <a:buNone/>
            </a:pPr>
            <a:r>
              <a:rPr b="0" i="0" lang="en" sz="1200" u="none" cap="none" strike="noStrike">
                <a:solidFill>
                  <a:schemeClr val="dk1"/>
                </a:solidFill>
                <a:latin typeface="Raleway Medium"/>
                <a:ea typeface="Raleway Medium"/>
                <a:cs typeface="Raleway Medium"/>
                <a:sym typeface="Raleway Medium"/>
              </a:rPr>
              <a:t>Latar Belakang UI/UX </a:t>
            </a:r>
            <a:endParaRPr b="0" i="0" sz="1200" u="none" cap="none" strike="noStrike">
              <a:solidFill>
                <a:schemeClr val="dk1"/>
              </a:solidFill>
              <a:latin typeface="Raleway Medium"/>
              <a:ea typeface="Raleway Medium"/>
              <a:cs typeface="Raleway Medium"/>
              <a:sym typeface="Raleway Medium"/>
            </a:endParaRPr>
          </a:p>
        </p:txBody>
      </p:sp>
      <p:sp>
        <p:nvSpPr>
          <p:cNvPr id="112" name="Google Shape;112;p4"/>
          <p:cNvSpPr txBox="1"/>
          <p:nvPr/>
        </p:nvSpPr>
        <p:spPr>
          <a:xfrm>
            <a:off x="1324925" y="2306975"/>
            <a:ext cx="3028200" cy="7212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000000"/>
              </a:buClr>
              <a:buSzPts val="1200"/>
              <a:buFont typeface="Arial"/>
              <a:buNone/>
            </a:pPr>
            <a:r>
              <a:rPr b="0" i="0" lang="en" sz="1200" u="none" cap="none" strike="noStrike">
                <a:solidFill>
                  <a:schemeClr val="dk1"/>
                </a:solidFill>
                <a:latin typeface="Raleway Medium"/>
                <a:ea typeface="Raleway Medium"/>
                <a:cs typeface="Raleway Medium"/>
                <a:sym typeface="Raleway Medium"/>
              </a:rPr>
              <a:t>Penggunaan User Experience (UX) dari Masa ke Masa</a:t>
            </a:r>
            <a:endParaRPr b="0" i="0" sz="1200" u="none" cap="none" strike="noStrike">
              <a:solidFill>
                <a:schemeClr val="dk1"/>
              </a:solidFill>
              <a:latin typeface="Raleway Medium"/>
              <a:ea typeface="Raleway Medium"/>
              <a:cs typeface="Raleway Medium"/>
              <a:sym typeface="Raleway Medium"/>
            </a:endParaRPr>
          </a:p>
        </p:txBody>
      </p:sp>
      <p:sp>
        <p:nvSpPr>
          <p:cNvPr id="113" name="Google Shape;113;p4"/>
          <p:cNvSpPr txBox="1"/>
          <p:nvPr/>
        </p:nvSpPr>
        <p:spPr>
          <a:xfrm>
            <a:off x="1324925" y="2873825"/>
            <a:ext cx="3028200" cy="7212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000000"/>
              </a:buClr>
              <a:buSzPts val="1200"/>
              <a:buFont typeface="Arial"/>
              <a:buNone/>
            </a:pPr>
            <a:r>
              <a:rPr b="0" i="0" lang="en" sz="1200" u="none" cap="none" strike="noStrike">
                <a:solidFill>
                  <a:schemeClr val="dk1"/>
                </a:solidFill>
                <a:latin typeface="Raleway Medium"/>
                <a:ea typeface="Raleway Medium"/>
                <a:cs typeface="Raleway Medium"/>
                <a:sym typeface="Raleway Medium"/>
              </a:rPr>
              <a:t>Penggunaan User Interface (UI) dari Masa ke Masa</a:t>
            </a:r>
            <a:endParaRPr b="0" i="0" sz="1200" u="none" cap="none" strike="noStrike">
              <a:solidFill>
                <a:schemeClr val="dk1"/>
              </a:solidFill>
              <a:latin typeface="Raleway Medium"/>
              <a:ea typeface="Raleway Medium"/>
              <a:cs typeface="Raleway Medium"/>
              <a:sym typeface="Raleway Medium"/>
            </a:endParaRPr>
          </a:p>
        </p:txBody>
      </p:sp>
      <p:sp>
        <p:nvSpPr>
          <p:cNvPr id="114" name="Google Shape;114;p4"/>
          <p:cNvSpPr txBox="1"/>
          <p:nvPr/>
        </p:nvSpPr>
        <p:spPr>
          <a:xfrm>
            <a:off x="1315075" y="3440675"/>
            <a:ext cx="3028200" cy="7212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000000"/>
              </a:buClr>
              <a:buSzPts val="1200"/>
              <a:buFont typeface="Arial"/>
              <a:buNone/>
            </a:pPr>
            <a:r>
              <a:rPr b="0" i="0" lang="en" sz="1200" u="none" cap="none" strike="noStrike">
                <a:solidFill>
                  <a:schemeClr val="dk1"/>
                </a:solidFill>
                <a:latin typeface="Raleway Medium"/>
                <a:ea typeface="Raleway Medium"/>
                <a:cs typeface="Raleway Medium"/>
                <a:sym typeface="Raleway Medium"/>
              </a:rPr>
              <a:t>Definisi UI dan UX</a:t>
            </a:r>
            <a:endParaRPr b="0" i="0" sz="1200" u="none" cap="none" strike="noStrike">
              <a:solidFill>
                <a:schemeClr val="dk1"/>
              </a:solidFill>
              <a:latin typeface="Raleway Medium"/>
              <a:ea typeface="Raleway Medium"/>
              <a:cs typeface="Raleway Medium"/>
              <a:sym typeface="Raleway Medium"/>
            </a:endParaRPr>
          </a:p>
        </p:txBody>
      </p:sp>
      <p:pic>
        <p:nvPicPr>
          <p:cNvPr id="115" name="Google Shape;115;p4"/>
          <p:cNvPicPr preferRelativeResize="0"/>
          <p:nvPr/>
        </p:nvPicPr>
        <p:blipFill rotWithShape="1">
          <a:blip r:embed="rId3">
            <a:alphaModFix/>
          </a:blip>
          <a:srcRect b="0" l="0" r="0" t="0"/>
          <a:stretch/>
        </p:blipFill>
        <p:spPr>
          <a:xfrm>
            <a:off x="4942225" y="1159600"/>
            <a:ext cx="3510850" cy="3400975"/>
          </a:xfrm>
          <a:prstGeom prst="rect">
            <a:avLst/>
          </a:prstGeom>
          <a:noFill/>
          <a:ln>
            <a:noFill/>
          </a:ln>
        </p:spPr>
      </p:pic>
      <p:sp>
        <p:nvSpPr>
          <p:cNvPr id="116" name="Google Shape;116;p4"/>
          <p:cNvSpPr txBox="1"/>
          <p:nvPr/>
        </p:nvSpPr>
        <p:spPr>
          <a:xfrm>
            <a:off x="1219825" y="4111175"/>
            <a:ext cx="32187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200"/>
              <a:buFont typeface="Arial"/>
              <a:buNone/>
            </a:pPr>
            <a:r>
              <a:rPr b="0" i="0" lang="en" sz="1200" u="none" cap="none" strike="noStrike">
                <a:solidFill>
                  <a:schemeClr val="dk1"/>
                </a:solidFill>
                <a:latin typeface="Raleway Medium"/>
                <a:ea typeface="Raleway Medium"/>
                <a:cs typeface="Raleway Medium"/>
                <a:sym typeface="Raleway Medium"/>
              </a:rPr>
              <a:t>UI/UX Masa Sekarang</a:t>
            </a:r>
            <a:endParaRPr b="0" i="0" sz="1200" u="none" cap="none" strike="noStrike">
              <a:solidFill>
                <a:schemeClr val="dk1"/>
              </a:solidFill>
              <a:latin typeface="Raleway Medium"/>
              <a:ea typeface="Raleway Medium"/>
              <a:cs typeface="Raleway Medium"/>
              <a:sym typeface="Raleway Medium"/>
            </a:endParaRPr>
          </a:p>
        </p:txBody>
      </p:sp>
      <p:sp>
        <p:nvSpPr>
          <p:cNvPr id="117" name="Google Shape;117;p4"/>
          <p:cNvSpPr/>
          <p:nvPr/>
        </p:nvSpPr>
        <p:spPr>
          <a:xfrm>
            <a:off x="831025" y="4175675"/>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5"/>
          <p:cNvSpPr txBox="1"/>
          <p:nvPr>
            <p:ph type="title"/>
          </p:nvPr>
        </p:nvSpPr>
        <p:spPr>
          <a:xfrm>
            <a:off x="917238" y="455925"/>
            <a:ext cx="7309500" cy="14142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400"/>
              <a:buNone/>
            </a:pPr>
            <a:r>
              <a:rPr lang="en" sz="2000"/>
              <a:t>Pertama, kita akan mulai dengan latar belakang UI/UX. </a:t>
            </a:r>
            <a:endParaRPr sz="2000"/>
          </a:p>
          <a:p>
            <a:pPr indent="0" lvl="0" marL="0" rtl="0" algn="ctr">
              <a:lnSpc>
                <a:spcPct val="100000"/>
              </a:lnSpc>
              <a:spcBef>
                <a:spcPts val="0"/>
              </a:spcBef>
              <a:spcAft>
                <a:spcPts val="0"/>
              </a:spcAft>
              <a:buSzPts val="2400"/>
              <a:buNone/>
            </a:pPr>
            <a:r>
              <a:t/>
            </a:r>
            <a:endParaRPr sz="2000"/>
          </a:p>
          <a:p>
            <a:pPr indent="0" lvl="0" marL="0" rtl="0" algn="ctr">
              <a:lnSpc>
                <a:spcPct val="100000"/>
              </a:lnSpc>
              <a:spcBef>
                <a:spcPts val="0"/>
              </a:spcBef>
              <a:spcAft>
                <a:spcPts val="0"/>
              </a:spcAft>
              <a:buSzPts val="2400"/>
              <a:buNone/>
            </a:pPr>
            <a:r>
              <a:rPr lang="en" sz="2000">
                <a:solidFill>
                  <a:schemeClr val="accent1"/>
                </a:solidFill>
              </a:rPr>
              <a:t>Kapan sih istilah UI/UX itu muncul?</a:t>
            </a:r>
            <a:endParaRPr sz="2000">
              <a:solidFill>
                <a:schemeClr val="accent1"/>
              </a:solidFill>
            </a:endParaRPr>
          </a:p>
        </p:txBody>
      </p:sp>
      <p:sp>
        <p:nvSpPr>
          <p:cNvPr id="123" name="Google Shape;123;p5"/>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pic>
        <p:nvPicPr>
          <p:cNvPr id="124" name="Google Shape;124;p5"/>
          <p:cNvPicPr preferRelativeResize="0"/>
          <p:nvPr/>
        </p:nvPicPr>
        <p:blipFill rotWithShape="1">
          <a:blip r:embed="rId3">
            <a:alphaModFix/>
          </a:blip>
          <a:srcRect b="38072" l="0" r="0" t="0"/>
          <a:stretch/>
        </p:blipFill>
        <p:spPr>
          <a:xfrm>
            <a:off x="1339138" y="2091775"/>
            <a:ext cx="6465726" cy="30517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6"/>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solidFill>
                  <a:schemeClr val="lt1"/>
                </a:solidFill>
              </a:rPr>
              <a:t>‹#›</a:t>
            </a:fld>
            <a:endParaRPr>
              <a:solidFill>
                <a:schemeClr val="lt1"/>
              </a:solidFill>
            </a:endParaRPr>
          </a:p>
        </p:txBody>
      </p:sp>
      <p:sp>
        <p:nvSpPr>
          <p:cNvPr id="130" name="Google Shape;130;p6"/>
          <p:cNvSpPr txBox="1"/>
          <p:nvPr>
            <p:ph type="title"/>
          </p:nvPr>
        </p:nvSpPr>
        <p:spPr>
          <a:xfrm>
            <a:off x="685800" y="246888"/>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SzPts val="1200"/>
              <a:buNone/>
            </a:pPr>
            <a:r>
              <a:rPr lang="en"/>
              <a:t>Latar Belakang UI dan UX</a:t>
            </a:r>
            <a:endParaRPr/>
          </a:p>
        </p:txBody>
      </p:sp>
      <p:sp>
        <p:nvSpPr>
          <p:cNvPr id="131" name="Google Shape;131;p6"/>
          <p:cNvSpPr txBox="1"/>
          <p:nvPr/>
        </p:nvSpPr>
        <p:spPr>
          <a:xfrm>
            <a:off x="685800" y="2522375"/>
            <a:ext cx="4114800" cy="1950600"/>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0"/>
              </a:spcBef>
              <a:spcAft>
                <a:spcPts val="0"/>
              </a:spcAft>
              <a:buClr>
                <a:srgbClr val="000000"/>
              </a:buClr>
              <a:buSzPts val="1200"/>
              <a:buFont typeface="Arial"/>
              <a:buNone/>
            </a:pPr>
            <a:r>
              <a:rPr b="0" i="0" lang="en" sz="1200" u="none" cap="none" strike="noStrike">
                <a:solidFill>
                  <a:schemeClr val="dk1"/>
                </a:solidFill>
                <a:latin typeface="Raleway Medium"/>
                <a:ea typeface="Raleway Medium"/>
                <a:cs typeface="Raleway Medium"/>
                <a:sym typeface="Raleway Medium"/>
              </a:rPr>
              <a:t>Istilah UX diciptakan pada tahun 1993 oleh psikolog dan ilmuwan kognitif, </a:t>
            </a:r>
            <a:r>
              <a:rPr b="1" i="0" lang="en" sz="1200" u="none" cap="none" strike="noStrike">
                <a:solidFill>
                  <a:schemeClr val="dk1"/>
                </a:solidFill>
                <a:latin typeface="Raleway"/>
                <a:ea typeface="Raleway"/>
                <a:cs typeface="Raleway"/>
                <a:sym typeface="Raleway"/>
              </a:rPr>
              <a:t>Donald Norman, </a:t>
            </a:r>
            <a:r>
              <a:rPr b="0" i="0" lang="en" sz="1200" u="none" cap="none" strike="noStrike">
                <a:solidFill>
                  <a:schemeClr val="dk1"/>
                </a:solidFill>
                <a:latin typeface="Raleway Medium"/>
                <a:ea typeface="Raleway Medium"/>
                <a:cs typeface="Raleway Medium"/>
                <a:sym typeface="Raleway Medium"/>
              </a:rPr>
              <a:t>saat ia bekerja di Apple Computers.</a:t>
            </a:r>
            <a:endParaRPr b="0" i="0" sz="1200" u="none" cap="none" strike="noStrike">
              <a:solidFill>
                <a:schemeClr val="dk1"/>
              </a:solidFill>
              <a:latin typeface="Raleway Medium"/>
              <a:ea typeface="Raleway Medium"/>
              <a:cs typeface="Raleway Medium"/>
              <a:sym typeface="Raleway Medium"/>
            </a:endParaRPr>
          </a:p>
          <a:p>
            <a:pPr indent="0" lvl="0" marL="0" marR="0" rtl="0" algn="just">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Raleway Medium"/>
              <a:ea typeface="Raleway Medium"/>
              <a:cs typeface="Raleway Medium"/>
              <a:sym typeface="Raleway Medium"/>
            </a:endParaRPr>
          </a:p>
          <a:p>
            <a:pPr indent="0" lvl="0" marL="0" marR="0" rtl="0" algn="just">
              <a:lnSpc>
                <a:spcPct val="115000"/>
              </a:lnSpc>
              <a:spcBef>
                <a:spcPts val="0"/>
              </a:spcBef>
              <a:spcAft>
                <a:spcPts val="0"/>
              </a:spcAft>
              <a:buClr>
                <a:srgbClr val="000000"/>
              </a:buClr>
              <a:buSzPts val="1200"/>
              <a:buFont typeface="Arial"/>
              <a:buNone/>
            </a:pPr>
            <a:r>
              <a:rPr b="0" i="0" lang="en" sz="1200" u="none" cap="none" strike="noStrike">
                <a:solidFill>
                  <a:schemeClr val="dk1"/>
                </a:solidFill>
                <a:latin typeface="Raleway Medium"/>
                <a:ea typeface="Raleway Medium"/>
                <a:cs typeface="Raleway Medium"/>
                <a:sym typeface="Raleway Medium"/>
              </a:rPr>
              <a:t>Namun, penggunaan User Interface (UI) dan User Experience (UX) sebenarnya udah ada sejak zaman dahulu kala, lho! Wah… lama juga ya~</a:t>
            </a:r>
            <a:endParaRPr b="0" i="0" sz="1200" u="none" cap="none" strike="noStrike">
              <a:solidFill>
                <a:schemeClr val="dk1"/>
              </a:solidFill>
              <a:latin typeface="Raleway Medium"/>
              <a:ea typeface="Raleway Medium"/>
              <a:cs typeface="Raleway Medium"/>
              <a:sym typeface="Raleway Medium"/>
            </a:endParaRPr>
          </a:p>
          <a:p>
            <a:pPr indent="0" lvl="0" marL="0" marR="0" rtl="0" algn="just">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Raleway Medium"/>
              <a:ea typeface="Raleway Medium"/>
              <a:cs typeface="Raleway Medium"/>
              <a:sym typeface="Raleway Medium"/>
            </a:endParaRPr>
          </a:p>
          <a:p>
            <a:pPr indent="0" lvl="0" marL="0" marR="0" rtl="0" algn="just">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Raleway Medium"/>
              <a:ea typeface="Raleway Medium"/>
              <a:cs typeface="Raleway Medium"/>
              <a:sym typeface="Raleway Medium"/>
            </a:endParaRPr>
          </a:p>
        </p:txBody>
      </p:sp>
      <p:sp>
        <p:nvSpPr>
          <p:cNvPr id="132" name="Google Shape;132;p6"/>
          <p:cNvSpPr txBox="1"/>
          <p:nvPr/>
        </p:nvSpPr>
        <p:spPr>
          <a:xfrm>
            <a:off x="685800" y="1303550"/>
            <a:ext cx="4261800" cy="849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00"/>
              </a:buClr>
              <a:buSzPts val="1800"/>
              <a:buFont typeface="Arial"/>
              <a:buNone/>
            </a:pPr>
            <a:r>
              <a:rPr b="1" i="0" lang="en" sz="1800" u="none" cap="none" strike="noStrike">
                <a:solidFill>
                  <a:srgbClr val="743673"/>
                </a:solidFill>
                <a:latin typeface="Raleway"/>
                <a:ea typeface="Raleway"/>
                <a:cs typeface="Raleway"/>
                <a:sym typeface="Raleway"/>
              </a:rPr>
              <a:t>Saat mendengar istilah UI/UX, hal apa sih yang kamu bayangin? Eitss… Ini bukan singkatan nama universitas ya!</a:t>
            </a:r>
            <a:endParaRPr b="1" i="0" sz="1800" u="none" cap="none" strike="noStrike">
              <a:solidFill>
                <a:srgbClr val="743673"/>
              </a:solidFill>
              <a:latin typeface="Raleway"/>
              <a:ea typeface="Raleway"/>
              <a:cs typeface="Raleway"/>
              <a:sym typeface="Raleway"/>
            </a:endParaRPr>
          </a:p>
        </p:txBody>
      </p:sp>
      <p:pic>
        <p:nvPicPr>
          <p:cNvPr id="133" name="Google Shape;133;p6"/>
          <p:cNvPicPr preferRelativeResize="0"/>
          <p:nvPr/>
        </p:nvPicPr>
        <p:blipFill rotWithShape="1">
          <a:blip r:embed="rId3">
            <a:alphaModFix/>
          </a:blip>
          <a:srcRect b="0" l="0" r="0" t="0"/>
          <a:stretch/>
        </p:blipFill>
        <p:spPr>
          <a:xfrm>
            <a:off x="5183425" y="1505235"/>
            <a:ext cx="3747277" cy="305883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7"/>
          <p:cNvSpPr txBox="1"/>
          <p:nvPr>
            <p:ph type="title"/>
          </p:nvPr>
        </p:nvSpPr>
        <p:spPr>
          <a:xfrm>
            <a:off x="982338" y="620275"/>
            <a:ext cx="7309500" cy="14142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chemeClr val="dk1"/>
              </a:buClr>
              <a:buSzPts val="1100"/>
              <a:buFont typeface="Arial"/>
              <a:buNone/>
            </a:pPr>
            <a:r>
              <a:rPr lang="en" sz="2000"/>
              <a:t>Emang sejak kapan sih UI/UX mulai digunakan?</a:t>
            </a:r>
            <a:endParaRPr sz="2000"/>
          </a:p>
          <a:p>
            <a:pPr indent="0" lvl="0" marL="0" rtl="0" algn="ctr">
              <a:lnSpc>
                <a:spcPct val="100000"/>
              </a:lnSpc>
              <a:spcBef>
                <a:spcPts val="0"/>
              </a:spcBef>
              <a:spcAft>
                <a:spcPts val="0"/>
              </a:spcAft>
              <a:buClr>
                <a:schemeClr val="dk1"/>
              </a:buClr>
              <a:buSzPts val="1100"/>
              <a:buFont typeface="Arial"/>
              <a:buNone/>
            </a:pPr>
            <a:r>
              <a:t/>
            </a:r>
            <a:endParaRPr sz="2000"/>
          </a:p>
          <a:p>
            <a:pPr indent="0" lvl="0" marL="0" rtl="0" algn="ctr">
              <a:lnSpc>
                <a:spcPct val="100000"/>
              </a:lnSpc>
              <a:spcBef>
                <a:spcPts val="0"/>
              </a:spcBef>
              <a:spcAft>
                <a:spcPts val="0"/>
              </a:spcAft>
              <a:buClr>
                <a:schemeClr val="dk1"/>
              </a:buClr>
              <a:buSzPts val="1100"/>
              <a:buFont typeface="Arial"/>
              <a:buNone/>
            </a:pPr>
            <a:r>
              <a:rPr lang="en" sz="2000"/>
              <a:t>Biar nggak penasaran, yuk kita bahas gimana </a:t>
            </a:r>
            <a:r>
              <a:rPr lang="en" sz="2000">
                <a:solidFill>
                  <a:schemeClr val="accent1"/>
                </a:solidFill>
              </a:rPr>
              <a:t>penggunaan User Experience (UX) dari masa ke masa!</a:t>
            </a:r>
            <a:endParaRPr sz="2000">
              <a:solidFill>
                <a:schemeClr val="accent1"/>
              </a:solidFill>
            </a:endParaRPr>
          </a:p>
          <a:p>
            <a:pPr indent="0" lvl="0" marL="0" rtl="0" algn="ctr">
              <a:lnSpc>
                <a:spcPct val="100000"/>
              </a:lnSpc>
              <a:spcBef>
                <a:spcPts val="0"/>
              </a:spcBef>
              <a:spcAft>
                <a:spcPts val="0"/>
              </a:spcAft>
              <a:buSzPts val="2400"/>
              <a:buNone/>
            </a:pPr>
            <a:r>
              <a:t/>
            </a:r>
            <a:endParaRPr b="0" sz="2000"/>
          </a:p>
        </p:txBody>
      </p:sp>
      <p:sp>
        <p:nvSpPr>
          <p:cNvPr id="139" name="Google Shape;139;p7"/>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pic>
        <p:nvPicPr>
          <p:cNvPr id="140" name="Google Shape;140;p7"/>
          <p:cNvPicPr preferRelativeResize="0"/>
          <p:nvPr/>
        </p:nvPicPr>
        <p:blipFill rotWithShape="1">
          <a:blip r:embed="rId3">
            <a:alphaModFix/>
          </a:blip>
          <a:srcRect b="35098" l="0" r="0" t="0"/>
          <a:stretch/>
        </p:blipFill>
        <p:spPr>
          <a:xfrm>
            <a:off x="1582001" y="2034475"/>
            <a:ext cx="6284774" cy="310902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8"/>
          <p:cNvSpPr txBox="1"/>
          <p:nvPr>
            <p:ph type="title"/>
          </p:nvPr>
        </p:nvSpPr>
        <p:spPr>
          <a:xfrm>
            <a:off x="685800" y="246888"/>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SzPts val="1200"/>
              <a:buNone/>
            </a:pPr>
            <a:r>
              <a:rPr lang="en"/>
              <a:t>Penggunaan User Experience dari Masa ke Masa</a:t>
            </a:r>
            <a:endParaRPr/>
          </a:p>
        </p:txBody>
      </p:sp>
      <p:sp>
        <p:nvSpPr>
          <p:cNvPr id="146" name="Google Shape;146;p8"/>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pic>
        <p:nvPicPr>
          <p:cNvPr id="147" name="Google Shape;147;p8"/>
          <p:cNvPicPr preferRelativeResize="0"/>
          <p:nvPr/>
        </p:nvPicPr>
        <p:blipFill rotWithShape="1">
          <a:blip r:embed="rId3">
            <a:alphaModFix/>
          </a:blip>
          <a:srcRect b="0" l="0" r="0" t="0"/>
          <a:stretch/>
        </p:blipFill>
        <p:spPr>
          <a:xfrm>
            <a:off x="217500" y="1744063"/>
            <a:ext cx="8839204" cy="218822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9"/>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53" name="Google Shape;153;p9"/>
          <p:cNvSpPr txBox="1"/>
          <p:nvPr>
            <p:ph type="title"/>
          </p:nvPr>
        </p:nvSpPr>
        <p:spPr>
          <a:xfrm>
            <a:off x="695000" y="333638"/>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Clr>
                <a:schemeClr val="dk1"/>
              </a:buClr>
              <a:buSzPts val="1100"/>
              <a:buFont typeface="Arial"/>
              <a:buNone/>
            </a:pPr>
            <a:r>
              <a:rPr lang="en"/>
              <a:t>Penggunaan User Experience dari Masa ke Masa</a:t>
            </a:r>
            <a:endParaRPr/>
          </a:p>
          <a:p>
            <a:pPr indent="0" lvl="0" marL="0" rtl="0" algn="l">
              <a:lnSpc>
                <a:spcPct val="100000"/>
              </a:lnSpc>
              <a:spcBef>
                <a:spcPts val="0"/>
              </a:spcBef>
              <a:spcAft>
                <a:spcPts val="0"/>
              </a:spcAft>
              <a:buSzPts val="1200"/>
              <a:buNone/>
            </a:pPr>
            <a:r>
              <a:t/>
            </a:r>
            <a:endParaRPr/>
          </a:p>
        </p:txBody>
      </p:sp>
      <p:sp>
        <p:nvSpPr>
          <p:cNvPr id="154" name="Google Shape;154;p9"/>
          <p:cNvSpPr txBox="1"/>
          <p:nvPr/>
        </p:nvSpPr>
        <p:spPr>
          <a:xfrm>
            <a:off x="695024" y="1029000"/>
            <a:ext cx="6034200" cy="3936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600"/>
              </a:spcBef>
              <a:spcAft>
                <a:spcPts val="0"/>
              </a:spcAft>
              <a:buClr>
                <a:srgbClr val="000000"/>
              </a:buClr>
              <a:buSzPts val="1400"/>
              <a:buFont typeface="Arial"/>
              <a:buNone/>
            </a:pPr>
            <a:r>
              <a:rPr b="1" i="0" lang="en" sz="1800" u="none" cap="none" strike="noStrike">
                <a:solidFill>
                  <a:srgbClr val="743673"/>
                </a:solidFill>
                <a:highlight>
                  <a:schemeClr val="lt1"/>
                </a:highlight>
                <a:latin typeface="Raleway"/>
                <a:ea typeface="Raleway"/>
                <a:cs typeface="Raleway"/>
                <a:sym typeface="Raleway"/>
              </a:rPr>
              <a:t>4000 SM: Feng Shui &amp; Tiongkok Kuno</a:t>
            </a:r>
            <a:endParaRPr b="1" i="0" sz="1300" u="none" cap="none" strike="noStrike">
              <a:solidFill>
                <a:schemeClr val="dk1"/>
              </a:solidFill>
              <a:latin typeface="Raleway"/>
              <a:ea typeface="Raleway"/>
              <a:cs typeface="Raleway"/>
              <a:sym typeface="Raleway"/>
            </a:endParaRPr>
          </a:p>
          <a:p>
            <a:pPr indent="0" lvl="0" marL="0" marR="0" rtl="0" algn="l">
              <a:lnSpc>
                <a:spcPct val="115000"/>
              </a:lnSpc>
              <a:spcBef>
                <a:spcPts val="1600"/>
              </a:spcBef>
              <a:spcAft>
                <a:spcPts val="0"/>
              </a:spcAft>
              <a:buClr>
                <a:srgbClr val="000000"/>
              </a:buClr>
              <a:buSzPts val="1400"/>
              <a:buFont typeface="Arial"/>
              <a:buNone/>
            </a:pPr>
            <a:r>
              <a:t/>
            </a:r>
            <a:endParaRPr b="1" i="0" sz="1800" u="none" cap="none" strike="noStrike">
              <a:solidFill>
                <a:srgbClr val="743673"/>
              </a:solidFill>
              <a:highlight>
                <a:schemeClr val="lt1"/>
              </a:highlight>
              <a:latin typeface="Raleway"/>
              <a:ea typeface="Raleway"/>
              <a:cs typeface="Raleway"/>
              <a:sym typeface="Raleway"/>
            </a:endParaRPr>
          </a:p>
        </p:txBody>
      </p:sp>
      <p:sp>
        <p:nvSpPr>
          <p:cNvPr id="155" name="Google Shape;155;p9"/>
          <p:cNvSpPr txBox="1"/>
          <p:nvPr/>
        </p:nvSpPr>
        <p:spPr>
          <a:xfrm>
            <a:off x="695000" y="1634163"/>
            <a:ext cx="4321500" cy="2917200"/>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0"/>
              </a:spcBef>
              <a:spcAft>
                <a:spcPts val="0"/>
              </a:spcAft>
              <a:buClr>
                <a:srgbClr val="000000"/>
              </a:buClr>
              <a:buSzPts val="1200"/>
              <a:buFont typeface="Arial"/>
              <a:buNone/>
            </a:pPr>
            <a:r>
              <a:rPr b="0" i="0" lang="en" sz="1200" u="none" cap="none" strike="noStrike">
                <a:solidFill>
                  <a:schemeClr val="dk1"/>
                </a:solidFill>
                <a:latin typeface="Raleway Medium"/>
                <a:ea typeface="Raleway Medium"/>
                <a:cs typeface="Raleway Medium"/>
                <a:sym typeface="Raleway Medium"/>
              </a:rPr>
              <a:t>Prinsip paling dasar dari UX dapat dilihat dari filosofi Feng Shui dalam peradaban Tiongkok Kuno yang udah ada sejak 4000 tahun SM.</a:t>
            </a:r>
            <a:endParaRPr b="0" i="0" sz="1200" u="none" cap="none" strike="noStrike">
              <a:solidFill>
                <a:schemeClr val="dk1"/>
              </a:solidFill>
              <a:latin typeface="Raleway Medium"/>
              <a:ea typeface="Raleway Medium"/>
              <a:cs typeface="Raleway Medium"/>
              <a:sym typeface="Raleway Medium"/>
            </a:endParaRPr>
          </a:p>
          <a:p>
            <a:pPr indent="0" lvl="0" marL="0" marR="0" rtl="0" algn="just">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Raleway Medium"/>
              <a:ea typeface="Raleway Medium"/>
              <a:cs typeface="Raleway Medium"/>
              <a:sym typeface="Raleway Medium"/>
            </a:endParaRPr>
          </a:p>
          <a:p>
            <a:pPr indent="0" lvl="0" marL="0" marR="0" rtl="0" algn="just">
              <a:lnSpc>
                <a:spcPct val="115000"/>
              </a:lnSpc>
              <a:spcBef>
                <a:spcPts val="0"/>
              </a:spcBef>
              <a:spcAft>
                <a:spcPts val="0"/>
              </a:spcAft>
              <a:buClr>
                <a:schemeClr val="dk1"/>
              </a:buClr>
              <a:buSzPts val="1100"/>
              <a:buFont typeface="Arial"/>
              <a:buNone/>
            </a:pPr>
            <a:r>
              <a:rPr b="0" i="0" lang="en" sz="1200" u="none" cap="none" strike="noStrike">
                <a:solidFill>
                  <a:schemeClr val="dk1"/>
                </a:solidFill>
                <a:latin typeface="Raleway Medium"/>
                <a:ea typeface="Raleway Medium"/>
                <a:cs typeface="Raleway Medium"/>
                <a:sym typeface="Raleway Medium"/>
              </a:rPr>
              <a:t>Feng Shui mengacu pada pengaturan spasial objek berdasarkan aliran energi. Dalam praktiknya, Feng Shui mengatur lingkungan dengan cara yang paling optimal, harmonis, dan ramah pengguna.</a:t>
            </a:r>
            <a:endParaRPr b="0" i="0" sz="1200" u="none" cap="none" strike="noStrike">
              <a:solidFill>
                <a:schemeClr val="dk1"/>
              </a:solidFill>
              <a:latin typeface="Raleway Medium"/>
              <a:ea typeface="Raleway Medium"/>
              <a:cs typeface="Raleway Medium"/>
              <a:sym typeface="Raleway Medium"/>
            </a:endParaRPr>
          </a:p>
          <a:p>
            <a:pPr indent="0" lvl="0" marL="0" marR="0" rtl="0" algn="just">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Raleway Medium"/>
              <a:ea typeface="Raleway Medium"/>
              <a:cs typeface="Raleway Medium"/>
              <a:sym typeface="Raleway Medium"/>
            </a:endParaRPr>
          </a:p>
          <a:p>
            <a:pPr indent="0" lvl="0" marL="0" marR="0" rtl="0" algn="just">
              <a:lnSpc>
                <a:spcPct val="115000"/>
              </a:lnSpc>
              <a:spcBef>
                <a:spcPts val="0"/>
              </a:spcBef>
              <a:spcAft>
                <a:spcPts val="0"/>
              </a:spcAft>
              <a:buClr>
                <a:srgbClr val="000000"/>
              </a:buClr>
              <a:buSzPts val="1200"/>
              <a:buFont typeface="Arial"/>
              <a:buNone/>
            </a:pPr>
            <a:r>
              <a:rPr b="0" i="0" lang="en" sz="1200" u="none" cap="none" strike="noStrike">
                <a:solidFill>
                  <a:schemeClr val="dk1"/>
                </a:solidFill>
                <a:latin typeface="Raleway Medium"/>
                <a:ea typeface="Raleway Medium"/>
                <a:cs typeface="Raleway Medium"/>
                <a:sym typeface="Raleway Medium"/>
              </a:rPr>
              <a:t>Nah, UX designer juga menganut prinsip yang sama nih! Yaitu bagaimana </a:t>
            </a:r>
            <a:r>
              <a:rPr b="1" i="0" lang="en" sz="1200" u="none" cap="none" strike="noStrike">
                <a:solidFill>
                  <a:schemeClr val="dk1"/>
                </a:solidFill>
                <a:latin typeface="Raleway"/>
                <a:ea typeface="Raleway"/>
                <a:cs typeface="Raleway"/>
                <a:sym typeface="Raleway"/>
              </a:rPr>
              <a:t>mengatur sesuatu atau membuat suatu produk yang optimal dan ramah bagi pengguna.</a:t>
            </a:r>
            <a:endParaRPr b="1" i="0" sz="1200" u="none" cap="none" strike="noStrike">
              <a:solidFill>
                <a:schemeClr val="dk1"/>
              </a:solidFill>
              <a:latin typeface="Raleway"/>
              <a:ea typeface="Raleway"/>
              <a:cs typeface="Raleway"/>
              <a:sym typeface="Raleway"/>
            </a:endParaRPr>
          </a:p>
        </p:txBody>
      </p:sp>
      <p:pic>
        <p:nvPicPr>
          <p:cNvPr id="156" name="Google Shape;156;p9"/>
          <p:cNvPicPr preferRelativeResize="0"/>
          <p:nvPr/>
        </p:nvPicPr>
        <p:blipFill rotWithShape="1">
          <a:blip r:embed="rId3">
            <a:alphaModFix/>
          </a:blip>
          <a:srcRect b="0" l="0" r="0" t="0"/>
          <a:stretch/>
        </p:blipFill>
        <p:spPr>
          <a:xfrm>
            <a:off x="5475352" y="1029000"/>
            <a:ext cx="2906648" cy="352237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10"/>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62" name="Google Shape;162;p10"/>
          <p:cNvSpPr txBox="1"/>
          <p:nvPr>
            <p:ph type="title"/>
          </p:nvPr>
        </p:nvSpPr>
        <p:spPr>
          <a:xfrm>
            <a:off x="695000" y="333663"/>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Clr>
                <a:schemeClr val="dk1"/>
              </a:buClr>
              <a:buSzPts val="1100"/>
              <a:buFont typeface="Arial"/>
              <a:buNone/>
            </a:pPr>
            <a:r>
              <a:rPr lang="en"/>
              <a:t>Penggunaan User Experience dari Masa ke Masa</a:t>
            </a:r>
            <a:endParaRPr/>
          </a:p>
          <a:p>
            <a:pPr indent="0" lvl="0" marL="0" rtl="0" algn="l">
              <a:lnSpc>
                <a:spcPct val="100000"/>
              </a:lnSpc>
              <a:spcBef>
                <a:spcPts val="0"/>
              </a:spcBef>
              <a:spcAft>
                <a:spcPts val="0"/>
              </a:spcAft>
              <a:buSzPts val="1200"/>
              <a:buNone/>
            </a:pPr>
            <a:r>
              <a:t/>
            </a:r>
            <a:endParaRPr/>
          </a:p>
        </p:txBody>
      </p:sp>
      <p:sp>
        <p:nvSpPr>
          <p:cNvPr id="163" name="Google Shape;163;p10"/>
          <p:cNvSpPr txBox="1"/>
          <p:nvPr/>
        </p:nvSpPr>
        <p:spPr>
          <a:xfrm>
            <a:off x="695024" y="1029000"/>
            <a:ext cx="6034200" cy="3936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600"/>
              </a:spcBef>
              <a:spcAft>
                <a:spcPts val="0"/>
              </a:spcAft>
              <a:buClr>
                <a:schemeClr val="dk1"/>
              </a:buClr>
              <a:buSzPts val="1400"/>
              <a:buFont typeface="Arial"/>
              <a:buNone/>
            </a:pPr>
            <a:r>
              <a:rPr b="1" i="0" lang="en" sz="1800" u="none" cap="none" strike="noStrike">
                <a:solidFill>
                  <a:srgbClr val="743673"/>
                </a:solidFill>
                <a:highlight>
                  <a:schemeClr val="lt1"/>
                </a:highlight>
                <a:latin typeface="Raleway"/>
                <a:ea typeface="Raleway"/>
                <a:cs typeface="Raleway"/>
                <a:sym typeface="Raleway"/>
              </a:rPr>
              <a:t>500 SM: Ergonomi &amp; Yunani Kuno</a:t>
            </a:r>
            <a:endParaRPr b="1" i="0" sz="1300" u="none" cap="none" strike="noStrike">
              <a:solidFill>
                <a:schemeClr val="dk1"/>
              </a:solidFill>
              <a:latin typeface="Raleway"/>
              <a:ea typeface="Raleway"/>
              <a:cs typeface="Raleway"/>
              <a:sym typeface="Raleway"/>
            </a:endParaRPr>
          </a:p>
          <a:p>
            <a:pPr indent="0" lvl="0" marL="0" marR="0" rtl="0" algn="l">
              <a:lnSpc>
                <a:spcPct val="115000"/>
              </a:lnSpc>
              <a:spcBef>
                <a:spcPts val="1600"/>
              </a:spcBef>
              <a:spcAft>
                <a:spcPts val="0"/>
              </a:spcAft>
              <a:buClr>
                <a:srgbClr val="000000"/>
              </a:buClr>
              <a:buSzPts val="1400"/>
              <a:buFont typeface="Arial"/>
              <a:buNone/>
            </a:pPr>
            <a:r>
              <a:t/>
            </a:r>
            <a:endParaRPr b="1" i="0" sz="1800" u="none" cap="none" strike="noStrike">
              <a:solidFill>
                <a:srgbClr val="743673"/>
              </a:solidFill>
              <a:highlight>
                <a:schemeClr val="lt1"/>
              </a:highlight>
              <a:latin typeface="Raleway"/>
              <a:ea typeface="Raleway"/>
              <a:cs typeface="Raleway"/>
              <a:sym typeface="Raleway"/>
            </a:endParaRPr>
          </a:p>
          <a:p>
            <a:pPr indent="0" lvl="0" marL="0" marR="0" rtl="0" algn="l">
              <a:lnSpc>
                <a:spcPct val="115000"/>
              </a:lnSpc>
              <a:spcBef>
                <a:spcPts val="1600"/>
              </a:spcBef>
              <a:spcAft>
                <a:spcPts val="0"/>
              </a:spcAft>
              <a:buClr>
                <a:srgbClr val="000000"/>
              </a:buClr>
              <a:buSzPts val="1400"/>
              <a:buFont typeface="Arial"/>
              <a:buNone/>
            </a:pPr>
            <a:r>
              <a:t/>
            </a:r>
            <a:endParaRPr b="1" i="0" sz="1800" u="none" cap="none" strike="noStrike">
              <a:solidFill>
                <a:srgbClr val="743673"/>
              </a:solidFill>
              <a:highlight>
                <a:schemeClr val="lt1"/>
              </a:highlight>
              <a:latin typeface="Raleway"/>
              <a:ea typeface="Raleway"/>
              <a:cs typeface="Raleway"/>
              <a:sym typeface="Raleway"/>
            </a:endParaRPr>
          </a:p>
        </p:txBody>
      </p:sp>
      <p:sp>
        <p:nvSpPr>
          <p:cNvPr id="164" name="Google Shape;164;p10"/>
          <p:cNvSpPr txBox="1"/>
          <p:nvPr/>
        </p:nvSpPr>
        <p:spPr>
          <a:xfrm>
            <a:off x="695000" y="1634175"/>
            <a:ext cx="4361700" cy="2917200"/>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0"/>
              </a:spcBef>
              <a:spcAft>
                <a:spcPts val="0"/>
              </a:spcAft>
              <a:buClr>
                <a:schemeClr val="dk1"/>
              </a:buClr>
              <a:buSzPts val="1100"/>
              <a:buFont typeface="Arial"/>
              <a:buNone/>
            </a:pPr>
            <a:r>
              <a:rPr b="0" i="0" lang="en" sz="1200" u="none" cap="none" strike="noStrike">
                <a:solidFill>
                  <a:schemeClr val="dk1"/>
                </a:solidFill>
                <a:latin typeface="Raleway Medium"/>
                <a:ea typeface="Raleway Medium"/>
                <a:cs typeface="Raleway Medium"/>
                <a:sym typeface="Raleway Medium"/>
              </a:rPr>
              <a:t>Prinsip UX juga dapat ditemukan pada peradaban Yunani Kuno di abad ke-5 SM. Waktu itu, masyarakat Yunani Kuno merancang alat dan tempat kerja mereka berdasarkan prinsip ergonomis.</a:t>
            </a:r>
            <a:endParaRPr b="0" i="0" sz="1200" u="none" cap="none" strike="noStrike">
              <a:solidFill>
                <a:schemeClr val="dk1"/>
              </a:solidFill>
              <a:latin typeface="Raleway Medium"/>
              <a:ea typeface="Raleway Medium"/>
              <a:cs typeface="Raleway Medium"/>
              <a:sym typeface="Raleway Medium"/>
            </a:endParaRPr>
          </a:p>
          <a:p>
            <a:pPr indent="0" lvl="0" marL="0" marR="0" rtl="0" algn="just">
              <a:lnSpc>
                <a:spcPct val="115000"/>
              </a:lnSpc>
              <a:spcBef>
                <a:spcPts val="0"/>
              </a:spcBef>
              <a:spcAft>
                <a:spcPts val="0"/>
              </a:spcAft>
              <a:buClr>
                <a:schemeClr val="dk1"/>
              </a:buClr>
              <a:buSzPts val="1100"/>
              <a:buFont typeface="Arial"/>
              <a:buNone/>
            </a:pPr>
            <a:r>
              <a:t/>
            </a:r>
            <a:endParaRPr b="0" i="0" sz="1200" u="none" cap="none" strike="noStrike">
              <a:solidFill>
                <a:schemeClr val="dk1"/>
              </a:solidFill>
              <a:latin typeface="Raleway Medium"/>
              <a:ea typeface="Raleway Medium"/>
              <a:cs typeface="Raleway Medium"/>
              <a:sym typeface="Raleway Medium"/>
            </a:endParaRPr>
          </a:p>
          <a:p>
            <a:pPr indent="0" lvl="0" marL="0" marR="0" rtl="0" algn="just">
              <a:lnSpc>
                <a:spcPct val="115000"/>
              </a:lnSpc>
              <a:spcBef>
                <a:spcPts val="0"/>
              </a:spcBef>
              <a:spcAft>
                <a:spcPts val="0"/>
              </a:spcAft>
              <a:buClr>
                <a:schemeClr val="dk1"/>
              </a:buClr>
              <a:buSzPts val="1100"/>
              <a:buFont typeface="Arial"/>
              <a:buNone/>
            </a:pPr>
            <a:r>
              <a:rPr b="0" i="0" lang="en" sz="1200" u="none" cap="none" strike="noStrike">
                <a:solidFill>
                  <a:schemeClr val="dk1"/>
                </a:solidFill>
                <a:latin typeface="Raleway Medium"/>
                <a:ea typeface="Raleway Medium"/>
                <a:cs typeface="Raleway Medium"/>
                <a:sym typeface="Raleway Medium"/>
              </a:rPr>
              <a:t>Ergonomi adalah disiplin ilmu yang mempertimbangkan bagaimana manusia berinteraksi dengan elemen lain dari suatu sistem.</a:t>
            </a:r>
            <a:endParaRPr b="0" i="0" sz="1200" u="none" cap="none" strike="noStrike">
              <a:solidFill>
                <a:schemeClr val="dk1"/>
              </a:solidFill>
              <a:latin typeface="Raleway Medium"/>
              <a:ea typeface="Raleway Medium"/>
              <a:cs typeface="Raleway Medium"/>
              <a:sym typeface="Raleway Medium"/>
            </a:endParaRPr>
          </a:p>
          <a:p>
            <a:pPr indent="0" lvl="0" marL="0" marR="0" rtl="0" algn="just">
              <a:lnSpc>
                <a:spcPct val="115000"/>
              </a:lnSpc>
              <a:spcBef>
                <a:spcPts val="0"/>
              </a:spcBef>
              <a:spcAft>
                <a:spcPts val="0"/>
              </a:spcAft>
              <a:buClr>
                <a:schemeClr val="dk1"/>
              </a:buClr>
              <a:buSzPts val="1100"/>
              <a:buFont typeface="Arial"/>
              <a:buNone/>
            </a:pPr>
            <a:r>
              <a:t/>
            </a:r>
            <a:endParaRPr b="0" i="0" sz="1200" u="none" cap="none" strike="noStrike">
              <a:solidFill>
                <a:schemeClr val="dk1"/>
              </a:solidFill>
              <a:latin typeface="Raleway Medium"/>
              <a:ea typeface="Raleway Medium"/>
              <a:cs typeface="Raleway Medium"/>
              <a:sym typeface="Raleway Medium"/>
            </a:endParaRPr>
          </a:p>
          <a:p>
            <a:pPr indent="0" lvl="0" marL="0" marR="0" rtl="0" algn="just">
              <a:lnSpc>
                <a:spcPct val="115000"/>
              </a:lnSpc>
              <a:spcBef>
                <a:spcPts val="0"/>
              </a:spcBef>
              <a:spcAft>
                <a:spcPts val="0"/>
              </a:spcAft>
              <a:buClr>
                <a:schemeClr val="dk1"/>
              </a:buClr>
              <a:buSzPts val="1100"/>
              <a:buFont typeface="Arial"/>
              <a:buNone/>
            </a:pPr>
            <a:r>
              <a:rPr b="0" i="0" lang="en" sz="1200" u="none" cap="none" strike="noStrike">
                <a:solidFill>
                  <a:schemeClr val="dk1"/>
                </a:solidFill>
                <a:latin typeface="Raleway Medium"/>
                <a:ea typeface="Raleway Medium"/>
                <a:cs typeface="Raleway Medium"/>
                <a:sym typeface="Raleway Medium"/>
              </a:rPr>
              <a:t>Sederhananya, ergonomi ini digunakan untuk </a:t>
            </a:r>
            <a:r>
              <a:rPr b="1" i="0" lang="en" sz="1200" u="none" cap="none" strike="noStrike">
                <a:solidFill>
                  <a:schemeClr val="dk1"/>
                </a:solidFill>
                <a:latin typeface="Raleway"/>
                <a:ea typeface="Raleway"/>
                <a:cs typeface="Raleway"/>
                <a:sym typeface="Raleway"/>
              </a:rPr>
              <a:t>meningkatkan produktivitas, kenyamanan, dan keselamatan dalam bekerja. </a:t>
            </a:r>
            <a:endParaRPr b="1" i="0" sz="1200" u="none" cap="none" strike="noStrike">
              <a:solidFill>
                <a:schemeClr val="dk1"/>
              </a:solidFill>
              <a:latin typeface="Raleway"/>
              <a:ea typeface="Raleway"/>
              <a:cs typeface="Raleway"/>
              <a:sym typeface="Raleway"/>
            </a:endParaRPr>
          </a:p>
          <a:p>
            <a:pPr indent="0" lvl="0" marL="0" marR="0" rtl="0" algn="just">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Raleway Medium"/>
              <a:ea typeface="Raleway Medium"/>
              <a:cs typeface="Raleway Medium"/>
              <a:sym typeface="Raleway Medium"/>
            </a:endParaRPr>
          </a:p>
        </p:txBody>
      </p:sp>
      <p:pic>
        <p:nvPicPr>
          <p:cNvPr id="165" name="Google Shape;165;p10"/>
          <p:cNvPicPr preferRelativeResize="0"/>
          <p:nvPr/>
        </p:nvPicPr>
        <p:blipFill rotWithShape="1">
          <a:blip r:embed="rId3">
            <a:alphaModFix/>
          </a:blip>
          <a:srcRect b="0" l="0" r="0" t="0"/>
          <a:stretch/>
        </p:blipFill>
        <p:spPr>
          <a:xfrm>
            <a:off x="5205025" y="1532025"/>
            <a:ext cx="3822700" cy="2827827"/>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11"/>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71" name="Google Shape;171;p11"/>
          <p:cNvSpPr txBox="1"/>
          <p:nvPr>
            <p:ph type="title"/>
          </p:nvPr>
        </p:nvSpPr>
        <p:spPr>
          <a:xfrm>
            <a:off x="685800" y="321263"/>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Clr>
                <a:schemeClr val="dk1"/>
              </a:buClr>
              <a:buSzPts val="1100"/>
              <a:buFont typeface="Arial"/>
              <a:buNone/>
            </a:pPr>
            <a:r>
              <a:rPr lang="en"/>
              <a:t>Penggunaan User Experience dari Masa ke Masa</a:t>
            </a:r>
            <a:endParaRPr/>
          </a:p>
          <a:p>
            <a:pPr indent="0" lvl="0" marL="0" rtl="0" algn="l">
              <a:lnSpc>
                <a:spcPct val="100000"/>
              </a:lnSpc>
              <a:spcBef>
                <a:spcPts val="0"/>
              </a:spcBef>
              <a:spcAft>
                <a:spcPts val="0"/>
              </a:spcAft>
              <a:buSzPts val="1200"/>
              <a:buNone/>
            </a:pPr>
            <a:r>
              <a:t/>
            </a:r>
            <a:endParaRPr/>
          </a:p>
        </p:txBody>
      </p:sp>
      <p:sp>
        <p:nvSpPr>
          <p:cNvPr id="172" name="Google Shape;172;p11"/>
          <p:cNvSpPr txBox="1"/>
          <p:nvPr/>
        </p:nvSpPr>
        <p:spPr>
          <a:xfrm>
            <a:off x="685800" y="1322000"/>
            <a:ext cx="4222200" cy="3200400"/>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0"/>
              </a:spcBef>
              <a:spcAft>
                <a:spcPts val="0"/>
              </a:spcAft>
              <a:buClr>
                <a:srgbClr val="000000"/>
              </a:buClr>
              <a:buSzPts val="1200"/>
              <a:buFont typeface="Arial"/>
              <a:buNone/>
            </a:pPr>
            <a:r>
              <a:rPr b="0" i="0" lang="en" sz="1200" u="none" cap="none" strike="noStrike">
                <a:solidFill>
                  <a:schemeClr val="dk1"/>
                </a:solidFill>
                <a:latin typeface="Raleway Medium"/>
                <a:ea typeface="Raleway Medium"/>
                <a:cs typeface="Raleway Medium"/>
                <a:sym typeface="Raleway Medium"/>
              </a:rPr>
              <a:t>Menurut catatan Hippocrates, masyarakat Yunani Kuno menerapkan prinsip ergonomi dalam kehidupan mereka. Misalnya dalam praktek ahli bedah. </a:t>
            </a:r>
            <a:endParaRPr b="0" i="0" sz="1200" u="none" cap="none" strike="noStrike">
              <a:solidFill>
                <a:schemeClr val="dk1"/>
              </a:solidFill>
              <a:latin typeface="Raleway Medium"/>
              <a:ea typeface="Raleway Medium"/>
              <a:cs typeface="Raleway Medium"/>
              <a:sym typeface="Raleway Medium"/>
            </a:endParaRPr>
          </a:p>
          <a:p>
            <a:pPr indent="0" lvl="0" marL="0" marR="0" rtl="0" algn="just">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Raleway Medium"/>
              <a:ea typeface="Raleway Medium"/>
              <a:cs typeface="Raleway Medium"/>
              <a:sym typeface="Raleway Medium"/>
            </a:endParaRPr>
          </a:p>
          <a:p>
            <a:pPr indent="0" lvl="0" marL="0" marR="0" rtl="0" algn="just">
              <a:lnSpc>
                <a:spcPct val="115000"/>
              </a:lnSpc>
              <a:spcBef>
                <a:spcPts val="0"/>
              </a:spcBef>
              <a:spcAft>
                <a:spcPts val="0"/>
              </a:spcAft>
              <a:buClr>
                <a:srgbClr val="000000"/>
              </a:buClr>
              <a:buSzPts val="1200"/>
              <a:buFont typeface="Arial"/>
              <a:buNone/>
            </a:pPr>
            <a:r>
              <a:rPr b="0" i="0" lang="en" sz="1200" u="none" cap="none" strike="noStrike">
                <a:solidFill>
                  <a:schemeClr val="dk1"/>
                </a:solidFill>
                <a:latin typeface="Raleway Medium"/>
                <a:ea typeface="Raleway Medium"/>
                <a:cs typeface="Raleway Medium"/>
                <a:sym typeface="Raleway Medium"/>
              </a:rPr>
              <a:t>Hippocrates menjelaskan bagaimana tempat ahli bedah harus diatur sedemikian rupa. </a:t>
            </a:r>
            <a:r>
              <a:rPr b="1" i="0" lang="en" sz="1200" u="none" cap="none" strike="noStrike">
                <a:solidFill>
                  <a:schemeClr val="dk1"/>
                </a:solidFill>
                <a:latin typeface="Raleway"/>
                <a:ea typeface="Raleway"/>
                <a:cs typeface="Raleway"/>
                <a:sym typeface="Raleway"/>
              </a:rPr>
              <a:t>Seperti pengaturan alat-alat bedah harus diposisikan agar tidak menghalangi ahli bedah dan mudah dijangkau bila diperlukan. </a:t>
            </a:r>
            <a:endParaRPr b="1" i="0" sz="1200" u="none" cap="none" strike="noStrike">
              <a:solidFill>
                <a:schemeClr val="dk1"/>
              </a:solidFill>
              <a:latin typeface="Raleway"/>
              <a:ea typeface="Raleway"/>
              <a:cs typeface="Raleway"/>
              <a:sym typeface="Raleway"/>
            </a:endParaRPr>
          </a:p>
          <a:p>
            <a:pPr indent="0" lvl="0" marL="0" marR="0" rtl="0" algn="just">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Raleway Medium"/>
              <a:ea typeface="Raleway Medium"/>
              <a:cs typeface="Raleway Medium"/>
              <a:sym typeface="Raleway Medium"/>
            </a:endParaRPr>
          </a:p>
          <a:p>
            <a:pPr indent="0" lvl="0" marL="0" marR="0" rtl="0" algn="just">
              <a:lnSpc>
                <a:spcPct val="115000"/>
              </a:lnSpc>
              <a:spcBef>
                <a:spcPts val="0"/>
              </a:spcBef>
              <a:spcAft>
                <a:spcPts val="0"/>
              </a:spcAft>
              <a:buClr>
                <a:srgbClr val="000000"/>
              </a:buClr>
              <a:buSzPts val="1200"/>
              <a:buFont typeface="Arial"/>
              <a:buNone/>
            </a:pPr>
            <a:r>
              <a:rPr b="0" i="0" lang="en" sz="1200" u="none" cap="none" strike="noStrike">
                <a:solidFill>
                  <a:schemeClr val="dk1"/>
                </a:solidFill>
                <a:latin typeface="Raleway Medium"/>
                <a:ea typeface="Raleway Medium"/>
                <a:cs typeface="Raleway Medium"/>
                <a:sym typeface="Raleway Medium"/>
              </a:rPr>
              <a:t>Cara-cara kaya gini mirip dengan salah satu prinsip dalam UX, yaitu </a:t>
            </a:r>
            <a:r>
              <a:rPr b="1" i="0" lang="en" sz="1200" u="none" cap="none" strike="noStrike">
                <a:solidFill>
                  <a:schemeClr val="dk1"/>
                </a:solidFill>
                <a:uFill>
                  <a:noFill/>
                </a:uFill>
                <a:latin typeface="Raleway"/>
                <a:ea typeface="Raleway"/>
                <a:cs typeface="Raleway"/>
                <a:sym typeface="Raleway"/>
                <a:hlinkClick r:id="rId3">
                  <a:extLst>
                    <a:ext uri="{A12FA001-AC4F-418D-AE19-62706E023703}">
                      <ahyp:hlinkClr val="tx"/>
                    </a:ext>
                  </a:extLst>
                </a:hlinkClick>
              </a:rPr>
              <a:t>fitts law</a:t>
            </a:r>
            <a:r>
              <a:rPr b="0" i="0" lang="en" sz="1200" u="none" cap="none" strike="noStrike">
                <a:solidFill>
                  <a:schemeClr val="dk1"/>
                </a:solidFill>
                <a:latin typeface="Raleway Medium"/>
                <a:ea typeface="Raleway Medium"/>
                <a:cs typeface="Raleway Medium"/>
                <a:sym typeface="Raleway Medium"/>
              </a:rPr>
              <a:t>. </a:t>
            </a:r>
            <a:endParaRPr b="0" i="0" sz="1200" u="none" cap="none" strike="noStrike">
              <a:solidFill>
                <a:schemeClr val="dk1"/>
              </a:solidFill>
              <a:latin typeface="Raleway Medium"/>
              <a:ea typeface="Raleway Medium"/>
              <a:cs typeface="Raleway Medium"/>
              <a:sym typeface="Raleway Medium"/>
            </a:endParaRPr>
          </a:p>
        </p:txBody>
      </p:sp>
      <p:pic>
        <p:nvPicPr>
          <p:cNvPr id="173" name="Google Shape;173;p11"/>
          <p:cNvPicPr preferRelativeResize="0"/>
          <p:nvPr/>
        </p:nvPicPr>
        <p:blipFill rotWithShape="1">
          <a:blip r:embed="rId4">
            <a:alphaModFix/>
          </a:blip>
          <a:srcRect b="0" l="0" r="0" t="0"/>
          <a:stretch/>
        </p:blipFill>
        <p:spPr>
          <a:xfrm>
            <a:off x="5056800" y="1322000"/>
            <a:ext cx="3709548" cy="27078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2"/>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79" name="Google Shape;179;p12"/>
          <p:cNvSpPr txBox="1"/>
          <p:nvPr>
            <p:ph type="title"/>
          </p:nvPr>
        </p:nvSpPr>
        <p:spPr>
          <a:xfrm>
            <a:off x="695000" y="318813"/>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Clr>
                <a:schemeClr val="dk1"/>
              </a:buClr>
              <a:buSzPts val="1100"/>
              <a:buFont typeface="Arial"/>
              <a:buNone/>
            </a:pPr>
            <a:r>
              <a:rPr lang="en"/>
              <a:t>Penggunaan User Experience dari Masa ke Masa</a:t>
            </a:r>
            <a:endParaRPr/>
          </a:p>
          <a:p>
            <a:pPr indent="0" lvl="0" marL="0" rtl="0" algn="l">
              <a:lnSpc>
                <a:spcPct val="100000"/>
              </a:lnSpc>
              <a:spcBef>
                <a:spcPts val="0"/>
              </a:spcBef>
              <a:spcAft>
                <a:spcPts val="0"/>
              </a:spcAft>
              <a:buSzPts val="1200"/>
              <a:buNone/>
            </a:pPr>
            <a:r>
              <a:t/>
            </a:r>
            <a:endParaRPr/>
          </a:p>
        </p:txBody>
      </p:sp>
      <p:sp>
        <p:nvSpPr>
          <p:cNvPr id="180" name="Google Shape;180;p12"/>
          <p:cNvSpPr txBox="1"/>
          <p:nvPr/>
        </p:nvSpPr>
        <p:spPr>
          <a:xfrm>
            <a:off x="695025" y="1029000"/>
            <a:ext cx="4321500" cy="3936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600"/>
              </a:spcBef>
              <a:spcAft>
                <a:spcPts val="0"/>
              </a:spcAft>
              <a:buClr>
                <a:schemeClr val="dk1"/>
              </a:buClr>
              <a:buSzPts val="1400"/>
              <a:buFont typeface="Arial"/>
              <a:buNone/>
            </a:pPr>
            <a:r>
              <a:rPr b="1" i="0" lang="en" sz="1800" u="none" cap="none" strike="noStrike">
                <a:solidFill>
                  <a:srgbClr val="743673"/>
                </a:solidFill>
                <a:highlight>
                  <a:srgbClr val="FFFFFF"/>
                </a:highlight>
                <a:latin typeface="Raleway"/>
                <a:ea typeface="Raleway"/>
                <a:cs typeface="Raleway"/>
                <a:sym typeface="Raleway"/>
              </a:rPr>
              <a:t>Awal 1900-an: Frederick Winslow Taylor dan efisiensi tempat kerja</a:t>
            </a:r>
            <a:endParaRPr b="1" i="0" sz="1300" u="none" cap="none" strike="noStrike">
              <a:solidFill>
                <a:schemeClr val="dk1"/>
              </a:solidFill>
              <a:latin typeface="Raleway"/>
              <a:ea typeface="Raleway"/>
              <a:cs typeface="Raleway"/>
              <a:sym typeface="Raleway"/>
            </a:endParaRPr>
          </a:p>
          <a:p>
            <a:pPr indent="0" lvl="0" marL="0" marR="0" rtl="0" algn="l">
              <a:lnSpc>
                <a:spcPct val="115000"/>
              </a:lnSpc>
              <a:spcBef>
                <a:spcPts val="1600"/>
              </a:spcBef>
              <a:spcAft>
                <a:spcPts val="0"/>
              </a:spcAft>
              <a:buClr>
                <a:schemeClr val="dk1"/>
              </a:buClr>
              <a:buSzPts val="1400"/>
              <a:buFont typeface="Arial"/>
              <a:buNone/>
            </a:pPr>
            <a:r>
              <a:t/>
            </a:r>
            <a:endParaRPr b="1" i="0" sz="1800" u="none" cap="none" strike="noStrike">
              <a:solidFill>
                <a:srgbClr val="743673"/>
              </a:solidFill>
              <a:highlight>
                <a:srgbClr val="FFFFFF"/>
              </a:highlight>
              <a:latin typeface="Raleway"/>
              <a:ea typeface="Raleway"/>
              <a:cs typeface="Raleway"/>
              <a:sym typeface="Raleway"/>
            </a:endParaRPr>
          </a:p>
          <a:p>
            <a:pPr indent="0" lvl="0" marL="0" marR="0" rtl="0" algn="l">
              <a:lnSpc>
                <a:spcPct val="115000"/>
              </a:lnSpc>
              <a:spcBef>
                <a:spcPts val="1600"/>
              </a:spcBef>
              <a:spcAft>
                <a:spcPts val="0"/>
              </a:spcAft>
              <a:buClr>
                <a:schemeClr val="dk1"/>
              </a:buClr>
              <a:buSzPts val="1400"/>
              <a:buFont typeface="Arial"/>
              <a:buNone/>
            </a:pPr>
            <a:r>
              <a:t/>
            </a:r>
            <a:endParaRPr b="1" i="0" sz="1800" u="none" cap="none" strike="noStrike">
              <a:solidFill>
                <a:srgbClr val="743673"/>
              </a:solidFill>
              <a:highlight>
                <a:schemeClr val="lt1"/>
              </a:highlight>
              <a:latin typeface="Raleway"/>
              <a:ea typeface="Raleway"/>
              <a:cs typeface="Raleway"/>
              <a:sym typeface="Raleway"/>
            </a:endParaRPr>
          </a:p>
          <a:p>
            <a:pPr indent="0" lvl="0" marL="0" marR="0" rtl="0" algn="l">
              <a:lnSpc>
                <a:spcPct val="115000"/>
              </a:lnSpc>
              <a:spcBef>
                <a:spcPts val="1600"/>
              </a:spcBef>
              <a:spcAft>
                <a:spcPts val="0"/>
              </a:spcAft>
              <a:buClr>
                <a:srgbClr val="000000"/>
              </a:buClr>
              <a:buSzPts val="1400"/>
              <a:buFont typeface="Arial"/>
              <a:buNone/>
            </a:pPr>
            <a:r>
              <a:t/>
            </a:r>
            <a:endParaRPr b="1" i="0" sz="1800" u="none" cap="none" strike="noStrike">
              <a:solidFill>
                <a:srgbClr val="743673"/>
              </a:solidFill>
              <a:highlight>
                <a:schemeClr val="lt1"/>
              </a:highlight>
              <a:latin typeface="Raleway"/>
              <a:ea typeface="Raleway"/>
              <a:cs typeface="Raleway"/>
              <a:sym typeface="Raleway"/>
            </a:endParaRPr>
          </a:p>
          <a:p>
            <a:pPr indent="0" lvl="0" marL="0" marR="0" rtl="0" algn="l">
              <a:lnSpc>
                <a:spcPct val="115000"/>
              </a:lnSpc>
              <a:spcBef>
                <a:spcPts val="1600"/>
              </a:spcBef>
              <a:spcAft>
                <a:spcPts val="0"/>
              </a:spcAft>
              <a:buClr>
                <a:srgbClr val="000000"/>
              </a:buClr>
              <a:buSzPts val="1400"/>
              <a:buFont typeface="Arial"/>
              <a:buNone/>
            </a:pPr>
            <a:r>
              <a:t/>
            </a:r>
            <a:endParaRPr b="1" i="0" sz="1800" u="none" cap="none" strike="noStrike">
              <a:solidFill>
                <a:srgbClr val="743673"/>
              </a:solidFill>
              <a:highlight>
                <a:schemeClr val="lt1"/>
              </a:highlight>
              <a:latin typeface="Raleway"/>
              <a:ea typeface="Raleway"/>
              <a:cs typeface="Raleway"/>
              <a:sym typeface="Raleway"/>
            </a:endParaRPr>
          </a:p>
        </p:txBody>
      </p:sp>
      <p:sp>
        <p:nvSpPr>
          <p:cNvPr id="181" name="Google Shape;181;p12"/>
          <p:cNvSpPr txBox="1"/>
          <p:nvPr/>
        </p:nvSpPr>
        <p:spPr>
          <a:xfrm>
            <a:off x="695000" y="1876875"/>
            <a:ext cx="4321500" cy="2674500"/>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0"/>
              </a:spcBef>
              <a:spcAft>
                <a:spcPts val="0"/>
              </a:spcAft>
              <a:buClr>
                <a:schemeClr val="dk1"/>
              </a:buClr>
              <a:buSzPts val="1100"/>
              <a:buFont typeface="Arial"/>
              <a:buNone/>
            </a:pPr>
            <a:r>
              <a:rPr b="0" i="0" lang="en" sz="1200" u="none" cap="none" strike="noStrike">
                <a:solidFill>
                  <a:schemeClr val="dk1"/>
                </a:solidFill>
                <a:latin typeface="Raleway Medium"/>
                <a:ea typeface="Raleway Medium"/>
                <a:cs typeface="Raleway Medium"/>
                <a:sym typeface="Raleway Medium"/>
              </a:rPr>
              <a:t>Pada tahun 1911, Frederick Winslow Taylor, seorang insinyur mesin dan pelopor Taylorisme, menulis ‘The Principles of Scientific Management’ yang menjelaskan prinsip dan metode ilmiah untuk menentukan cara terbaik dalam menyelesaikan suatu pekerjaan.</a:t>
            </a:r>
            <a:endParaRPr b="0" i="0" sz="1200" u="none" cap="none" strike="noStrike">
              <a:solidFill>
                <a:schemeClr val="dk1"/>
              </a:solidFill>
              <a:latin typeface="Raleway Medium"/>
              <a:ea typeface="Raleway Medium"/>
              <a:cs typeface="Raleway Medium"/>
              <a:sym typeface="Raleway Medium"/>
            </a:endParaRPr>
          </a:p>
          <a:p>
            <a:pPr indent="0" lvl="0" marL="0" marR="0" rtl="0" algn="just">
              <a:lnSpc>
                <a:spcPct val="115000"/>
              </a:lnSpc>
              <a:spcBef>
                <a:spcPts val="0"/>
              </a:spcBef>
              <a:spcAft>
                <a:spcPts val="0"/>
              </a:spcAft>
              <a:buClr>
                <a:schemeClr val="dk1"/>
              </a:buClr>
              <a:buSzPts val="1100"/>
              <a:buFont typeface="Arial"/>
              <a:buNone/>
            </a:pPr>
            <a:r>
              <a:t/>
            </a:r>
            <a:endParaRPr b="0" i="0" sz="1200" u="none" cap="none" strike="noStrike">
              <a:solidFill>
                <a:schemeClr val="dk1"/>
              </a:solidFill>
              <a:latin typeface="Raleway Medium"/>
              <a:ea typeface="Raleway Medium"/>
              <a:cs typeface="Raleway Medium"/>
              <a:sym typeface="Raleway Medium"/>
            </a:endParaRPr>
          </a:p>
          <a:p>
            <a:pPr indent="0" lvl="0" marL="0" marR="0" rtl="0" algn="just">
              <a:lnSpc>
                <a:spcPct val="115000"/>
              </a:lnSpc>
              <a:spcBef>
                <a:spcPts val="0"/>
              </a:spcBef>
              <a:spcAft>
                <a:spcPts val="0"/>
              </a:spcAft>
              <a:buClr>
                <a:schemeClr val="dk1"/>
              </a:buClr>
              <a:buSzPts val="1100"/>
              <a:buFont typeface="Arial"/>
              <a:buNone/>
            </a:pPr>
            <a:r>
              <a:rPr b="0" i="0" lang="en" sz="1200" u="none" cap="none" strike="noStrike">
                <a:solidFill>
                  <a:schemeClr val="dk1"/>
                </a:solidFill>
                <a:latin typeface="Raleway Medium"/>
                <a:ea typeface="Raleway Medium"/>
                <a:cs typeface="Raleway Medium"/>
                <a:sym typeface="Raleway Medium"/>
              </a:rPr>
              <a:t>Taylor memiliki misi untuk membuat kerja manusia menjadi lebih mudah dan efisien. </a:t>
            </a:r>
            <a:endParaRPr b="0" i="0" sz="1200" u="none" cap="none" strike="noStrike">
              <a:solidFill>
                <a:schemeClr val="dk1"/>
              </a:solidFill>
              <a:latin typeface="Raleway Medium"/>
              <a:ea typeface="Raleway Medium"/>
              <a:cs typeface="Raleway Medium"/>
              <a:sym typeface="Raleway Medium"/>
            </a:endParaRPr>
          </a:p>
          <a:p>
            <a:pPr indent="0" lvl="0" marL="0" marR="0" rtl="0" algn="just">
              <a:lnSpc>
                <a:spcPct val="115000"/>
              </a:lnSpc>
              <a:spcBef>
                <a:spcPts val="0"/>
              </a:spcBef>
              <a:spcAft>
                <a:spcPts val="0"/>
              </a:spcAft>
              <a:buClr>
                <a:schemeClr val="dk1"/>
              </a:buClr>
              <a:buSzPts val="1100"/>
              <a:buFont typeface="Arial"/>
              <a:buNone/>
            </a:pPr>
            <a:r>
              <a:t/>
            </a:r>
            <a:endParaRPr b="0" i="0" sz="1200" u="none" cap="none" strike="noStrike">
              <a:solidFill>
                <a:schemeClr val="dk1"/>
              </a:solidFill>
              <a:latin typeface="Raleway Medium"/>
              <a:ea typeface="Raleway Medium"/>
              <a:cs typeface="Raleway Medium"/>
              <a:sym typeface="Raleway Medium"/>
            </a:endParaRPr>
          </a:p>
          <a:p>
            <a:pPr indent="0" lvl="0" marL="0" marR="0" rtl="0" algn="just">
              <a:lnSpc>
                <a:spcPct val="115000"/>
              </a:lnSpc>
              <a:spcBef>
                <a:spcPts val="0"/>
              </a:spcBef>
              <a:spcAft>
                <a:spcPts val="0"/>
              </a:spcAft>
              <a:buClr>
                <a:schemeClr val="dk1"/>
              </a:buClr>
              <a:buSzPts val="1100"/>
              <a:buFont typeface="Arial"/>
              <a:buNone/>
            </a:pPr>
            <a:r>
              <a:rPr b="0" i="0" lang="en" sz="1200" u="none" cap="none" strike="noStrike">
                <a:solidFill>
                  <a:schemeClr val="dk1"/>
                </a:solidFill>
                <a:latin typeface="Raleway Medium"/>
                <a:ea typeface="Raleway Medium"/>
                <a:cs typeface="Raleway Medium"/>
                <a:sym typeface="Raleway Medium"/>
              </a:rPr>
              <a:t>Misi Taylor ini sejalan sama UX Design, yaitu bagaimana </a:t>
            </a:r>
            <a:r>
              <a:rPr b="1" i="0" lang="en" sz="1200" u="none" cap="none" strike="noStrike">
                <a:solidFill>
                  <a:schemeClr val="dk1"/>
                </a:solidFill>
                <a:latin typeface="Raleway"/>
                <a:ea typeface="Raleway"/>
                <a:cs typeface="Raleway"/>
                <a:sym typeface="Raleway"/>
              </a:rPr>
              <a:t>menciptakan suatu produk yang efisien dan memudahkan manusia!</a:t>
            </a:r>
            <a:endParaRPr b="1" i="0" sz="1200" u="none" cap="none" strike="noStrike">
              <a:solidFill>
                <a:schemeClr val="dk1"/>
              </a:solidFill>
              <a:latin typeface="Raleway"/>
              <a:ea typeface="Raleway"/>
              <a:cs typeface="Raleway"/>
              <a:sym typeface="Raleway"/>
            </a:endParaRPr>
          </a:p>
          <a:p>
            <a:pPr indent="0" lvl="0" marL="0" marR="0" rtl="0" algn="just">
              <a:lnSpc>
                <a:spcPct val="115000"/>
              </a:lnSpc>
              <a:spcBef>
                <a:spcPts val="0"/>
              </a:spcBef>
              <a:spcAft>
                <a:spcPts val="0"/>
              </a:spcAft>
              <a:buClr>
                <a:schemeClr val="dk1"/>
              </a:buClr>
              <a:buSzPts val="1100"/>
              <a:buFont typeface="Arial"/>
              <a:buNone/>
            </a:pPr>
            <a:r>
              <a:t/>
            </a:r>
            <a:endParaRPr b="0" i="0" sz="1200" u="none" cap="none" strike="noStrike">
              <a:solidFill>
                <a:schemeClr val="dk1"/>
              </a:solidFill>
              <a:latin typeface="Raleway Medium"/>
              <a:ea typeface="Raleway Medium"/>
              <a:cs typeface="Raleway Medium"/>
              <a:sym typeface="Raleway Medium"/>
            </a:endParaRPr>
          </a:p>
          <a:p>
            <a:pPr indent="0" lvl="0" marL="0" marR="0" rtl="0" algn="just">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Raleway Medium"/>
              <a:ea typeface="Raleway Medium"/>
              <a:cs typeface="Raleway Medium"/>
              <a:sym typeface="Raleway Medium"/>
            </a:endParaRPr>
          </a:p>
        </p:txBody>
      </p:sp>
      <p:pic>
        <p:nvPicPr>
          <p:cNvPr id="182" name="Google Shape;182;p12"/>
          <p:cNvPicPr preferRelativeResize="0"/>
          <p:nvPr/>
        </p:nvPicPr>
        <p:blipFill rotWithShape="1">
          <a:blip r:embed="rId3">
            <a:alphaModFix/>
          </a:blip>
          <a:srcRect b="0" l="0" r="0" t="0"/>
          <a:stretch/>
        </p:blipFill>
        <p:spPr>
          <a:xfrm>
            <a:off x="5267000" y="1422599"/>
            <a:ext cx="3447674" cy="29521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13"/>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88" name="Google Shape;188;p13"/>
          <p:cNvSpPr txBox="1"/>
          <p:nvPr>
            <p:ph type="title"/>
          </p:nvPr>
        </p:nvSpPr>
        <p:spPr>
          <a:xfrm>
            <a:off x="695000" y="318813"/>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Clr>
                <a:schemeClr val="dk1"/>
              </a:buClr>
              <a:buSzPts val="1100"/>
              <a:buFont typeface="Arial"/>
              <a:buNone/>
            </a:pPr>
            <a:r>
              <a:rPr lang="en"/>
              <a:t>Penggunaan User Experience dari Masa ke Masa</a:t>
            </a:r>
            <a:endParaRPr/>
          </a:p>
          <a:p>
            <a:pPr indent="0" lvl="0" marL="0" rtl="0" algn="l">
              <a:lnSpc>
                <a:spcPct val="100000"/>
              </a:lnSpc>
              <a:spcBef>
                <a:spcPts val="0"/>
              </a:spcBef>
              <a:spcAft>
                <a:spcPts val="0"/>
              </a:spcAft>
              <a:buSzPts val="1200"/>
              <a:buNone/>
            </a:pPr>
            <a:r>
              <a:t/>
            </a:r>
            <a:endParaRPr/>
          </a:p>
        </p:txBody>
      </p:sp>
      <p:sp>
        <p:nvSpPr>
          <p:cNvPr id="189" name="Google Shape;189;p13"/>
          <p:cNvSpPr txBox="1"/>
          <p:nvPr/>
        </p:nvSpPr>
        <p:spPr>
          <a:xfrm>
            <a:off x="695025" y="1029000"/>
            <a:ext cx="4321500" cy="3936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600"/>
              </a:spcBef>
              <a:spcAft>
                <a:spcPts val="0"/>
              </a:spcAft>
              <a:buClr>
                <a:schemeClr val="dk1"/>
              </a:buClr>
              <a:buSzPts val="1400"/>
              <a:buFont typeface="Arial"/>
              <a:buNone/>
            </a:pPr>
            <a:r>
              <a:rPr b="1" i="0" lang="en" sz="1800" u="none" cap="none" strike="noStrike">
                <a:solidFill>
                  <a:srgbClr val="743673"/>
                </a:solidFill>
                <a:highlight>
                  <a:schemeClr val="lt1"/>
                </a:highlight>
                <a:latin typeface="Raleway"/>
                <a:ea typeface="Raleway"/>
                <a:cs typeface="Raleway"/>
                <a:sym typeface="Raleway"/>
              </a:rPr>
              <a:t>1940-an: Toyota dan pentingnya masukan para pengguna!</a:t>
            </a:r>
            <a:endParaRPr b="1" i="0" sz="1800" u="none" cap="none" strike="noStrike">
              <a:solidFill>
                <a:srgbClr val="743673"/>
              </a:solidFill>
              <a:highlight>
                <a:schemeClr val="lt1"/>
              </a:highlight>
              <a:latin typeface="Raleway"/>
              <a:ea typeface="Raleway"/>
              <a:cs typeface="Raleway"/>
              <a:sym typeface="Raleway"/>
            </a:endParaRPr>
          </a:p>
          <a:p>
            <a:pPr indent="0" lvl="0" marL="0" marR="0" rtl="0" algn="l">
              <a:lnSpc>
                <a:spcPct val="115000"/>
              </a:lnSpc>
              <a:spcBef>
                <a:spcPts val="1600"/>
              </a:spcBef>
              <a:spcAft>
                <a:spcPts val="0"/>
              </a:spcAft>
              <a:buClr>
                <a:schemeClr val="dk1"/>
              </a:buClr>
              <a:buSzPts val="1400"/>
              <a:buFont typeface="Arial"/>
              <a:buNone/>
            </a:pPr>
            <a:r>
              <a:t/>
            </a:r>
            <a:endParaRPr b="1" i="0" sz="1800" u="none" cap="none" strike="noStrike">
              <a:solidFill>
                <a:srgbClr val="743673"/>
              </a:solidFill>
              <a:highlight>
                <a:schemeClr val="lt1"/>
              </a:highlight>
              <a:latin typeface="Raleway"/>
              <a:ea typeface="Raleway"/>
              <a:cs typeface="Raleway"/>
              <a:sym typeface="Raleway"/>
            </a:endParaRPr>
          </a:p>
          <a:p>
            <a:pPr indent="0" lvl="0" marL="0" marR="0" rtl="0" algn="l">
              <a:lnSpc>
                <a:spcPct val="115000"/>
              </a:lnSpc>
              <a:spcBef>
                <a:spcPts val="1600"/>
              </a:spcBef>
              <a:spcAft>
                <a:spcPts val="0"/>
              </a:spcAft>
              <a:buClr>
                <a:schemeClr val="dk1"/>
              </a:buClr>
              <a:buSzPts val="1400"/>
              <a:buFont typeface="Arial"/>
              <a:buNone/>
            </a:pPr>
            <a:r>
              <a:t/>
            </a:r>
            <a:endParaRPr b="1" i="0" sz="1800" u="none" cap="none" strike="noStrike">
              <a:solidFill>
                <a:srgbClr val="743673"/>
              </a:solidFill>
              <a:highlight>
                <a:srgbClr val="FFFFFF"/>
              </a:highlight>
              <a:latin typeface="Raleway"/>
              <a:ea typeface="Raleway"/>
              <a:cs typeface="Raleway"/>
              <a:sym typeface="Raleway"/>
            </a:endParaRPr>
          </a:p>
          <a:p>
            <a:pPr indent="0" lvl="0" marL="0" marR="0" rtl="0" algn="l">
              <a:lnSpc>
                <a:spcPct val="115000"/>
              </a:lnSpc>
              <a:spcBef>
                <a:spcPts val="1600"/>
              </a:spcBef>
              <a:spcAft>
                <a:spcPts val="0"/>
              </a:spcAft>
              <a:buClr>
                <a:schemeClr val="dk1"/>
              </a:buClr>
              <a:buSzPts val="1400"/>
              <a:buFont typeface="Arial"/>
              <a:buNone/>
            </a:pPr>
            <a:r>
              <a:t/>
            </a:r>
            <a:endParaRPr b="1" i="0" sz="1800" u="none" cap="none" strike="noStrike">
              <a:solidFill>
                <a:srgbClr val="743673"/>
              </a:solidFill>
              <a:highlight>
                <a:srgbClr val="FFFFFF"/>
              </a:highlight>
              <a:latin typeface="Raleway"/>
              <a:ea typeface="Raleway"/>
              <a:cs typeface="Raleway"/>
              <a:sym typeface="Raleway"/>
            </a:endParaRPr>
          </a:p>
          <a:p>
            <a:pPr indent="0" lvl="0" marL="0" marR="0" rtl="0" algn="l">
              <a:lnSpc>
                <a:spcPct val="115000"/>
              </a:lnSpc>
              <a:spcBef>
                <a:spcPts val="1600"/>
              </a:spcBef>
              <a:spcAft>
                <a:spcPts val="0"/>
              </a:spcAft>
              <a:buClr>
                <a:schemeClr val="dk1"/>
              </a:buClr>
              <a:buSzPts val="1400"/>
              <a:buFont typeface="Arial"/>
              <a:buNone/>
            </a:pPr>
            <a:r>
              <a:t/>
            </a:r>
            <a:endParaRPr b="1" i="0" sz="1800" u="none" cap="none" strike="noStrike">
              <a:solidFill>
                <a:srgbClr val="743673"/>
              </a:solidFill>
              <a:highlight>
                <a:schemeClr val="lt1"/>
              </a:highlight>
              <a:latin typeface="Raleway"/>
              <a:ea typeface="Raleway"/>
              <a:cs typeface="Raleway"/>
              <a:sym typeface="Raleway"/>
            </a:endParaRPr>
          </a:p>
          <a:p>
            <a:pPr indent="0" lvl="0" marL="0" marR="0" rtl="0" algn="l">
              <a:lnSpc>
                <a:spcPct val="115000"/>
              </a:lnSpc>
              <a:spcBef>
                <a:spcPts val="1600"/>
              </a:spcBef>
              <a:spcAft>
                <a:spcPts val="0"/>
              </a:spcAft>
              <a:buClr>
                <a:srgbClr val="000000"/>
              </a:buClr>
              <a:buSzPts val="1400"/>
              <a:buFont typeface="Arial"/>
              <a:buNone/>
            </a:pPr>
            <a:r>
              <a:t/>
            </a:r>
            <a:endParaRPr b="1" i="0" sz="1800" u="none" cap="none" strike="noStrike">
              <a:solidFill>
                <a:srgbClr val="743673"/>
              </a:solidFill>
              <a:highlight>
                <a:schemeClr val="lt1"/>
              </a:highlight>
              <a:latin typeface="Raleway"/>
              <a:ea typeface="Raleway"/>
              <a:cs typeface="Raleway"/>
              <a:sym typeface="Raleway"/>
            </a:endParaRPr>
          </a:p>
          <a:p>
            <a:pPr indent="0" lvl="0" marL="0" marR="0" rtl="0" algn="l">
              <a:lnSpc>
                <a:spcPct val="115000"/>
              </a:lnSpc>
              <a:spcBef>
                <a:spcPts val="1600"/>
              </a:spcBef>
              <a:spcAft>
                <a:spcPts val="0"/>
              </a:spcAft>
              <a:buClr>
                <a:srgbClr val="000000"/>
              </a:buClr>
              <a:buSzPts val="1400"/>
              <a:buFont typeface="Arial"/>
              <a:buNone/>
            </a:pPr>
            <a:r>
              <a:t/>
            </a:r>
            <a:endParaRPr b="1" i="0" sz="1800" u="none" cap="none" strike="noStrike">
              <a:solidFill>
                <a:srgbClr val="743673"/>
              </a:solidFill>
              <a:highlight>
                <a:schemeClr val="lt1"/>
              </a:highlight>
              <a:latin typeface="Raleway"/>
              <a:ea typeface="Raleway"/>
              <a:cs typeface="Raleway"/>
              <a:sym typeface="Raleway"/>
            </a:endParaRPr>
          </a:p>
        </p:txBody>
      </p:sp>
      <p:sp>
        <p:nvSpPr>
          <p:cNvPr id="190" name="Google Shape;190;p13"/>
          <p:cNvSpPr txBox="1"/>
          <p:nvPr/>
        </p:nvSpPr>
        <p:spPr>
          <a:xfrm>
            <a:off x="695000" y="1876875"/>
            <a:ext cx="4321500" cy="2674500"/>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1600"/>
              </a:spcBef>
              <a:spcAft>
                <a:spcPts val="0"/>
              </a:spcAft>
              <a:buClr>
                <a:schemeClr val="dk1"/>
              </a:buClr>
              <a:buSzPts val="1100"/>
              <a:buFont typeface="Arial"/>
              <a:buNone/>
            </a:pPr>
            <a:r>
              <a:rPr b="0" i="0" lang="en" sz="1200" u="none" cap="none" strike="noStrike">
                <a:solidFill>
                  <a:schemeClr val="dk1"/>
                </a:solidFill>
                <a:latin typeface="Raleway Medium"/>
                <a:ea typeface="Raleway Medium"/>
                <a:cs typeface="Raleway Medium"/>
                <a:sym typeface="Raleway Medium"/>
              </a:rPr>
              <a:t>Pada tahun 1940-an, perusahaan otomotif Jepang, Toyota, mengembangkan sistem produksi yang berpusat pada pengguna.</a:t>
            </a:r>
            <a:endParaRPr b="0" i="0" sz="1200" u="none" cap="none" strike="noStrike">
              <a:solidFill>
                <a:schemeClr val="dk1"/>
              </a:solidFill>
              <a:latin typeface="Raleway Medium"/>
              <a:ea typeface="Raleway Medium"/>
              <a:cs typeface="Raleway Medium"/>
              <a:sym typeface="Raleway Medium"/>
            </a:endParaRPr>
          </a:p>
          <a:p>
            <a:pPr indent="0" lvl="0" marL="0" marR="0" rtl="0" algn="just">
              <a:lnSpc>
                <a:spcPct val="115000"/>
              </a:lnSpc>
              <a:spcBef>
                <a:spcPts val="0"/>
              </a:spcBef>
              <a:spcAft>
                <a:spcPts val="0"/>
              </a:spcAft>
              <a:buClr>
                <a:schemeClr val="dk1"/>
              </a:buClr>
              <a:buSzPts val="1100"/>
              <a:buFont typeface="Arial"/>
              <a:buNone/>
            </a:pPr>
            <a:r>
              <a:t/>
            </a:r>
            <a:endParaRPr b="0" i="0" sz="1200" u="none" cap="none" strike="noStrike">
              <a:solidFill>
                <a:srgbClr val="652F67"/>
              </a:solidFill>
              <a:latin typeface="Raleway Medium"/>
              <a:ea typeface="Raleway Medium"/>
              <a:cs typeface="Raleway Medium"/>
              <a:sym typeface="Raleway Medium"/>
            </a:endParaRPr>
          </a:p>
          <a:p>
            <a:pPr indent="0" lvl="0" marL="0" marR="0" rtl="0" algn="just">
              <a:lnSpc>
                <a:spcPct val="115000"/>
              </a:lnSpc>
              <a:spcBef>
                <a:spcPts val="0"/>
              </a:spcBef>
              <a:spcAft>
                <a:spcPts val="0"/>
              </a:spcAft>
              <a:buClr>
                <a:schemeClr val="dk1"/>
              </a:buClr>
              <a:buSzPts val="1100"/>
              <a:buFont typeface="Arial"/>
              <a:buNone/>
            </a:pPr>
            <a:r>
              <a:rPr b="0" i="0" lang="en" sz="1200" u="none" cap="none" strike="noStrike">
                <a:solidFill>
                  <a:schemeClr val="dk1"/>
                </a:solidFill>
                <a:latin typeface="Raleway Medium"/>
                <a:ea typeface="Raleway Medium"/>
                <a:cs typeface="Raleway Medium"/>
                <a:sym typeface="Raleway Medium"/>
              </a:rPr>
              <a:t>Sistem produksi yang dikembangkan pada waktu itu didasarkan pada </a:t>
            </a:r>
            <a:r>
              <a:rPr b="1" i="0" lang="en" sz="1200" u="none" cap="none" strike="noStrike">
                <a:solidFill>
                  <a:schemeClr val="dk1"/>
                </a:solidFill>
                <a:latin typeface="Raleway"/>
                <a:ea typeface="Raleway"/>
                <a:cs typeface="Raleway"/>
                <a:sym typeface="Raleway"/>
              </a:rPr>
              <a:t>rasa hormat dan pentingnya masukan dari pengguna.</a:t>
            </a:r>
            <a:endParaRPr b="1" i="0" sz="1200" u="none" cap="none" strike="noStrike">
              <a:solidFill>
                <a:schemeClr val="dk1"/>
              </a:solidFill>
              <a:latin typeface="Raleway"/>
              <a:ea typeface="Raleway"/>
              <a:cs typeface="Raleway"/>
              <a:sym typeface="Raleway"/>
            </a:endParaRPr>
          </a:p>
          <a:p>
            <a:pPr indent="0" lvl="0" marL="0" marR="0" rtl="0" algn="just">
              <a:lnSpc>
                <a:spcPct val="115000"/>
              </a:lnSpc>
              <a:spcBef>
                <a:spcPts val="0"/>
              </a:spcBef>
              <a:spcAft>
                <a:spcPts val="0"/>
              </a:spcAft>
              <a:buClr>
                <a:schemeClr val="dk1"/>
              </a:buClr>
              <a:buSzPts val="1100"/>
              <a:buFont typeface="Arial"/>
              <a:buNone/>
            </a:pPr>
            <a:r>
              <a:t/>
            </a:r>
            <a:endParaRPr b="0" i="0" sz="1200" u="none" cap="none" strike="noStrike">
              <a:solidFill>
                <a:schemeClr val="dk1"/>
              </a:solidFill>
              <a:latin typeface="Raleway Medium"/>
              <a:ea typeface="Raleway Medium"/>
              <a:cs typeface="Raleway Medium"/>
              <a:sym typeface="Raleway Medium"/>
            </a:endParaRPr>
          </a:p>
          <a:p>
            <a:pPr indent="0" lvl="0" marL="0" marR="0" rtl="0" algn="just">
              <a:lnSpc>
                <a:spcPct val="115000"/>
              </a:lnSpc>
              <a:spcBef>
                <a:spcPts val="0"/>
              </a:spcBef>
              <a:spcAft>
                <a:spcPts val="0"/>
              </a:spcAft>
              <a:buClr>
                <a:schemeClr val="dk1"/>
              </a:buClr>
              <a:buSzPts val="1100"/>
              <a:buFont typeface="Arial"/>
              <a:buNone/>
            </a:pPr>
            <a:r>
              <a:rPr b="0" i="0" lang="en" sz="1200" u="none" cap="none" strike="noStrike">
                <a:solidFill>
                  <a:schemeClr val="dk1"/>
                </a:solidFill>
                <a:latin typeface="Raleway Medium"/>
                <a:ea typeface="Raleway Medium"/>
                <a:cs typeface="Raleway Medium"/>
                <a:sym typeface="Raleway Medium"/>
              </a:rPr>
              <a:t>Misal, pekerja pabrik Toyota dapat menghentikan proses perakitan jika ada masukan atau saran dari pengguna. Hal ini sama seperti yang dilakukan UX Designer saat melakukan pengujian penggunaan produk.</a:t>
            </a:r>
            <a:endParaRPr b="0" i="0" sz="1200" u="none" cap="none" strike="noStrike">
              <a:solidFill>
                <a:schemeClr val="dk1"/>
              </a:solidFill>
              <a:latin typeface="Raleway Medium"/>
              <a:ea typeface="Raleway Medium"/>
              <a:cs typeface="Raleway Medium"/>
              <a:sym typeface="Raleway Medium"/>
            </a:endParaRPr>
          </a:p>
          <a:p>
            <a:pPr indent="0" lvl="0" marL="0" marR="0" rtl="0" algn="just">
              <a:lnSpc>
                <a:spcPct val="115000"/>
              </a:lnSpc>
              <a:spcBef>
                <a:spcPts val="0"/>
              </a:spcBef>
              <a:spcAft>
                <a:spcPts val="0"/>
              </a:spcAft>
              <a:buClr>
                <a:schemeClr val="dk1"/>
              </a:buClr>
              <a:buSzPts val="1100"/>
              <a:buFont typeface="Arial"/>
              <a:buNone/>
            </a:pPr>
            <a:r>
              <a:t/>
            </a:r>
            <a:endParaRPr b="0" i="0" sz="1200" u="none" cap="none" strike="noStrike">
              <a:solidFill>
                <a:schemeClr val="dk1"/>
              </a:solidFill>
              <a:latin typeface="Raleway Medium"/>
              <a:ea typeface="Raleway Medium"/>
              <a:cs typeface="Raleway Medium"/>
              <a:sym typeface="Raleway Medium"/>
            </a:endParaRPr>
          </a:p>
          <a:p>
            <a:pPr indent="0" lvl="0" marL="0" marR="0" rtl="0" algn="just">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Raleway Medium"/>
              <a:ea typeface="Raleway Medium"/>
              <a:cs typeface="Raleway Medium"/>
              <a:sym typeface="Raleway Medium"/>
            </a:endParaRPr>
          </a:p>
        </p:txBody>
      </p:sp>
      <p:pic>
        <p:nvPicPr>
          <p:cNvPr id="191" name="Google Shape;191;p13"/>
          <p:cNvPicPr preferRelativeResize="0"/>
          <p:nvPr/>
        </p:nvPicPr>
        <p:blipFill rotWithShape="1">
          <a:blip r:embed="rId3">
            <a:alphaModFix/>
          </a:blip>
          <a:srcRect b="0" l="0" r="0" t="8290"/>
          <a:stretch/>
        </p:blipFill>
        <p:spPr>
          <a:xfrm>
            <a:off x="5582325" y="1260800"/>
            <a:ext cx="2962601" cy="3040748"/>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14"/>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97" name="Google Shape;197;p14"/>
          <p:cNvSpPr txBox="1"/>
          <p:nvPr>
            <p:ph type="title"/>
          </p:nvPr>
        </p:nvSpPr>
        <p:spPr>
          <a:xfrm>
            <a:off x="695025" y="346063"/>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Clr>
                <a:schemeClr val="dk1"/>
              </a:buClr>
              <a:buSzPts val="1100"/>
              <a:buFont typeface="Arial"/>
              <a:buNone/>
            </a:pPr>
            <a:r>
              <a:rPr lang="en"/>
              <a:t>Penggunaan User Experience dari Masa ke Masa</a:t>
            </a:r>
            <a:endParaRPr/>
          </a:p>
          <a:p>
            <a:pPr indent="0" lvl="0" marL="0" rtl="0" algn="l">
              <a:lnSpc>
                <a:spcPct val="100000"/>
              </a:lnSpc>
              <a:spcBef>
                <a:spcPts val="0"/>
              </a:spcBef>
              <a:spcAft>
                <a:spcPts val="0"/>
              </a:spcAft>
              <a:buSzPts val="1200"/>
              <a:buNone/>
            </a:pPr>
            <a:r>
              <a:t/>
            </a:r>
            <a:endParaRPr/>
          </a:p>
        </p:txBody>
      </p:sp>
      <p:sp>
        <p:nvSpPr>
          <p:cNvPr id="198" name="Google Shape;198;p14"/>
          <p:cNvSpPr txBox="1"/>
          <p:nvPr/>
        </p:nvSpPr>
        <p:spPr>
          <a:xfrm>
            <a:off x="695025" y="1165350"/>
            <a:ext cx="4321500" cy="3936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600"/>
              </a:spcBef>
              <a:spcAft>
                <a:spcPts val="0"/>
              </a:spcAft>
              <a:buClr>
                <a:schemeClr val="dk1"/>
              </a:buClr>
              <a:buSzPts val="1100"/>
              <a:buFont typeface="Arial"/>
              <a:buNone/>
            </a:pPr>
            <a:r>
              <a:rPr b="1" i="0" lang="en" sz="1800" u="none" cap="none" strike="noStrike">
                <a:solidFill>
                  <a:srgbClr val="743673"/>
                </a:solidFill>
                <a:highlight>
                  <a:schemeClr val="lt1"/>
                </a:highlight>
                <a:latin typeface="Raleway"/>
                <a:ea typeface="Raleway"/>
                <a:cs typeface="Raleway"/>
                <a:sym typeface="Raleway"/>
              </a:rPr>
              <a:t>1955: Henry Dreyfuss dan seni mendesain untuk manusia </a:t>
            </a:r>
            <a:endParaRPr b="1" i="0" sz="1300" u="none" cap="none" strike="noStrike">
              <a:solidFill>
                <a:schemeClr val="dk1"/>
              </a:solidFill>
              <a:latin typeface="Raleway"/>
              <a:ea typeface="Raleway"/>
              <a:cs typeface="Raleway"/>
              <a:sym typeface="Raleway"/>
            </a:endParaRPr>
          </a:p>
          <a:p>
            <a:pPr indent="0" lvl="0" marL="0" marR="0" rtl="0" algn="l">
              <a:lnSpc>
                <a:spcPct val="115000"/>
              </a:lnSpc>
              <a:spcBef>
                <a:spcPts val="1600"/>
              </a:spcBef>
              <a:spcAft>
                <a:spcPts val="0"/>
              </a:spcAft>
              <a:buClr>
                <a:schemeClr val="dk1"/>
              </a:buClr>
              <a:buSzPts val="1400"/>
              <a:buFont typeface="Arial"/>
              <a:buNone/>
            </a:pPr>
            <a:r>
              <a:t/>
            </a:r>
            <a:endParaRPr b="1" i="0" sz="1800" u="none" cap="none" strike="noStrike">
              <a:solidFill>
                <a:srgbClr val="743673"/>
              </a:solidFill>
              <a:highlight>
                <a:schemeClr val="lt1"/>
              </a:highlight>
              <a:latin typeface="Raleway"/>
              <a:ea typeface="Raleway"/>
              <a:cs typeface="Raleway"/>
              <a:sym typeface="Raleway"/>
            </a:endParaRPr>
          </a:p>
          <a:p>
            <a:pPr indent="0" lvl="0" marL="0" marR="0" rtl="0" algn="l">
              <a:lnSpc>
                <a:spcPct val="115000"/>
              </a:lnSpc>
              <a:spcBef>
                <a:spcPts val="1600"/>
              </a:spcBef>
              <a:spcAft>
                <a:spcPts val="0"/>
              </a:spcAft>
              <a:buClr>
                <a:schemeClr val="dk1"/>
              </a:buClr>
              <a:buSzPts val="1400"/>
              <a:buFont typeface="Arial"/>
              <a:buNone/>
            </a:pPr>
            <a:r>
              <a:t/>
            </a:r>
            <a:endParaRPr b="1" i="0" sz="1800" u="none" cap="none" strike="noStrike">
              <a:solidFill>
                <a:srgbClr val="743673"/>
              </a:solidFill>
              <a:highlight>
                <a:schemeClr val="lt1"/>
              </a:highlight>
              <a:latin typeface="Raleway"/>
              <a:ea typeface="Raleway"/>
              <a:cs typeface="Raleway"/>
              <a:sym typeface="Raleway"/>
            </a:endParaRPr>
          </a:p>
          <a:p>
            <a:pPr indent="0" lvl="0" marL="0" marR="0" rtl="0" algn="l">
              <a:lnSpc>
                <a:spcPct val="115000"/>
              </a:lnSpc>
              <a:spcBef>
                <a:spcPts val="1600"/>
              </a:spcBef>
              <a:spcAft>
                <a:spcPts val="0"/>
              </a:spcAft>
              <a:buClr>
                <a:schemeClr val="dk1"/>
              </a:buClr>
              <a:buSzPts val="1400"/>
              <a:buFont typeface="Arial"/>
              <a:buNone/>
            </a:pPr>
            <a:r>
              <a:t/>
            </a:r>
            <a:endParaRPr b="1" i="0" sz="1800" u="none" cap="none" strike="noStrike">
              <a:solidFill>
                <a:srgbClr val="743673"/>
              </a:solidFill>
              <a:highlight>
                <a:srgbClr val="FFFFFF"/>
              </a:highlight>
              <a:latin typeface="Raleway"/>
              <a:ea typeface="Raleway"/>
              <a:cs typeface="Raleway"/>
              <a:sym typeface="Raleway"/>
            </a:endParaRPr>
          </a:p>
          <a:p>
            <a:pPr indent="0" lvl="0" marL="0" marR="0" rtl="0" algn="l">
              <a:lnSpc>
                <a:spcPct val="115000"/>
              </a:lnSpc>
              <a:spcBef>
                <a:spcPts val="1600"/>
              </a:spcBef>
              <a:spcAft>
                <a:spcPts val="0"/>
              </a:spcAft>
              <a:buClr>
                <a:schemeClr val="dk1"/>
              </a:buClr>
              <a:buSzPts val="1400"/>
              <a:buFont typeface="Arial"/>
              <a:buNone/>
            </a:pPr>
            <a:r>
              <a:t/>
            </a:r>
            <a:endParaRPr b="1" i="0" sz="1800" u="none" cap="none" strike="noStrike">
              <a:solidFill>
                <a:srgbClr val="743673"/>
              </a:solidFill>
              <a:highlight>
                <a:srgbClr val="FFFFFF"/>
              </a:highlight>
              <a:latin typeface="Raleway"/>
              <a:ea typeface="Raleway"/>
              <a:cs typeface="Raleway"/>
              <a:sym typeface="Raleway"/>
            </a:endParaRPr>
          </a:p>
          <a:p>
            <a:pPr indent="0" lvl="0" marL="0" marR="0" rtl="0" algn="l">
              <a:lnSpc>
                <a:spcPct val="115000"/>
              </a:lnSpc>
              <a:spcBef>
                <a:spcPts val="1600"/>
              </a:spcBef>
              <a:spcAft>
                <a:spcPts val="0"/>
              </a:spcAft>
              <a:buClr>
                <a:schemeClr val="dk1"/>
              </a:buClr>
              <a:buSzPts val="1400"/>
              <a:buFont typeface="Arial"/>
              <a:buNone/>
            </a:pPr>
            <a:r>
              <a:t/>
            </a:r>
            <a:endParaRPr b="1" i="0" sz="1800" u="none" cap="none" strike="noStrike">
              <a:solidFill>
                <a:srgbClr val="743673"/>
              </a:solidFill>
              <a:highlight>
                <a:schemeClr val="lt1"/>
              </a:highlight>
              <a:latin typeface="Raleway"/>
              <a:ea typeface="Raleway"/>
              <a:cs typeface="Raleway"/>
              <a:sym typeface="Raleway"/>
            </a:endParaRPr>
          </a:p>
          <a:p>
            <a:pPr indent="0" lvl="0" marL="0" marR="0" rtl="0" algn="l">
              <a:lnSpc>
                <a:spcPct val="115000"/>
              </a:lnSpc>
              <a:spcBef>
                <a:spcPts val="1600"/>
              </a:spcBef>
              <a:spcAft>
                <a:spcPts val="0"/>
              </a:spcAft>
              <a:buClr>
                <a:srgbClr val="000000"/>
              </a:buClr>
              <a:buSzPts val="1400"/>
              <a:buFont typeface="Arial"/>
              <a:buNone/>
            </a:pPr>
            <a:r>
              <a:t/>
            </a:r>
            <a:endParaRPr b="1" i="0" sz="1800" u="none" cap="none" strike="noStrike">
              <a:solidFill>
                <a:srgbClr val="743673"/>
              </a:solidFill>
              <a:highlight>
                <a:schemeClr val="lt1"/>
              </a:highlight>
              <a:latin typeface="Raleway"/>
              <a:ea typeface="Raleway"/>
              <a:cs typeface="Raleway"/>
              <a:sym typeface="Raleway"/>
            </a:endParaRPr>
          </a:p>
          <a:p>
            <a:pPr indent="0" lvl="0" marL="0" marR="0" rtl="0" algn="l">
              <a:lnSpc>
                <a:spcPct val="115000"/>
              </a:lnSpc>
              <a:spcBef>
                <a:spcPts val="1600"/>
              </a:spcBef>
              <a:spcAft>
                <a:spcPts val="0"/>
              </a:spcAft>
              <a:buClr>
                <a:srgbClr val="000000"/>
              </a:buClr>
              <a:buSzPts val="1400"/>
              <a:buFont typeface="Arial"/>
              <a:buNone/>
            </a:pPr>
            <a:r>
              <a:t/>
            </a:r>
            <a:endParaRPr b="1" i="0" sz="1800" u="none" cap="none" strike="noStrike">
              <a:solidFill>
                <a:srgbClr val="743673"/>
              </a:solidFill>
              <a:highlight>
                <a:schemeClr val="lt1"/>
              </a:highlight>
              <a:latin typeface="Raleway"/>
              <a:ea typeface="Raleway"/>
              <a:cs typeface="Raleway"/>
              <a:sym typeface="Raleway"/>
            </a:endParaRPr>
          </a:p>
        </p:txBody>
      </p:sp>
      <p:sp>
        <p:nvSpPr>
          <p:cNvPr id="199" name="Google Shape;199;p14"/>
          <p:cNvSpPr txBox="1"/>
          <p:nvPr/>
        </p:nvSpPr>
        <p:spPr>
          <a:xfrm>
            <a:off x="695025" y="1973700"/>
            <a:ext cx="4321500" cy="2674500"/>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1600"/>
              </a:spcBef>
              <a:spcAft>
                <a:spcPts val="0"/>
              </a:spcAft>
              <a:buClr>
                <a:schemeClr val="dk1"/>
              </a:buClr>
              <a:buSzPts val="1100"/>
              <a:buFont typeface="Arial"/>
              <a:buNone/>
            </a:pPr>
            <a:r>
              <a:rPr b="0" i="0" lang="en" sz="1200" u="none" cap="none" strike="noStrike">
                <a:solidFill>
                  <a:schemeClr val="dk1"/>
                </a:solidFill>
                <a:latin typeface="Raleway Medium"/>
                <a:ea typeface="Raleway Medium"/>
                <a:cs typeface="Raleway Medium"/>
                <a:sym typeface="Raleway Medium"/>
              </a:rPr>
              <a:t>Tokoh penting lainnya dalam sejarah UX Design adalah </a:t>
            </a:r>
            <a:r>
              <a:rPr b="1" i="0" lang="en" sz="1200" u="none" cap="none" strike="noStrike">
                <a:solidFill>
                  <a:schemeClr val="dk1"/>
                </a:solidFill>
                <a:uFill>
                  <a:noFill/>
                </a:uFill>
                <a:latin typeface="Raleway"/>
                <a:ea typeface="Raleway"/>
                <a:cs typeface="Raleway"/>
                <a:sym typeface="Raleway"/>
                <a:hlinkClick r:id="rId3">
                  <a:extLst>
                    <a:ext uri="{A12FA001-AC4F-418D-AE19-62706E023703}">
                      <ahyp:hlinkClr val="tx"/>
                    </a:ext>
                  </a:extLst>
                </a:hlinkClick>
              </a:rPr>
              <a:t>Henry Dreyfuss</a:t>
            </a:r>
            <a:r>
              <a:rPr b="0" i="0" lang="en" sz="1200" u="none" cap="none" strike="noStrike">
                <a:solidFill>
                  <a:schemeClr val="dk1"/>
                </a:solidFill>
                <a:latin typeface="Raleway Medium"/>
                <a:ea typeface="Raleway Medium"/>
                <a:cs typeface="Raleway Medium"/>
                <a:sym typeface="Raleway Medium"/>
              </a:rPr>
              <a:t>, seorang insinyur industri dari Amerika Serikat yang terkenal karena merancang produk-produk ikonik, seperti penyedot debu Hoover dan telepon meja.</a:t>
            </a:r>
            <a:endParaRPr b="0" i="0" sz="1200" u="none" cap="none" strike="noStrike">
              <a:solidFill>
                <a:schemeClr val="dk1"/>
              </a:solidFill>
              <a:latin typeface="Raleway Medium"/>
              <a:ea typeface="Raleway Medium"/>
              <a:cs typeface="Raleway Medium"/>
              <a:sym typeface="Raleway Medium"/>
            </a:endParaRPr>
          </a:p>
          <a:p>
            <a:pPr indent="0" lvl="0" marL="0" marR="0" rtl="0" algn="just">
              <a:lnSpc>
                <a:spcPct val="115000"/>
              </a:lnSpc>
              <a:spcBef>
                <a:spcPts val="0"/>
              </a:spcBef>
              <a:spcAft>
                <a:spcPts val="0"/>
              </a:spcAft>
              <a:buClr>
                <a:schemeClr val="dk1"/>
              </a:buClr>
              <a:buSzPts val="1100"/>
              <a:buFont typeface="Arial"/>
              <a:buNone/>
            </a:pPr>
            <a:r>
              <a:t/>
            </a:r>
            <a:endParaRPr b="0" i="0" sz="1200" u="none" cap="none" strike="noStrike">
              <a:solidFill>
                <a:schemeClr val="dk1"/>
              </a:solidFill>
              <a:latin typeface="Raleway Medium"/>
              <a:ea typeface="Raleway Medium"/>
              <a:cs typeface="Raleway Medium"/>
              <a:sym typeface="Raleway Medium"/>
            </a:endParaRPr>
          </a:p>
          <a:p>
            <a:pPr indent="0" lvl="0" marL="0" marR="0" rtl="0" algn="just">
              <a:lnSpc>
                <a:spcPct val="115000"/>
              </a:lnSpc>
              <a:spcBef>
                <a:spcPts val="0"/>
              </a:spcBef>
              <a:spcAft>
                <a:spcPts val="0"/>
              </a:spcAft>
              <a:buClr>
                <a:schemeClr val="dk1"/>
              </a:buClr>
              <a:buSzPts val="1100"/>
              <a:buFont typeface="Arial"/>
              <a:buNone/>
            </a:pPr>
            <a:r>
              <a:rPr b="0" i="0" lang="en" sz="1200" u="none" cap="none" strike="noStrike">
                <a:solidFill>
                  <a:schemeClr val="dk1"/>
                </a:solidFill>
                <a:latin typeface="Raleway Medium"/>
                <a:ea typeface="Raleway Medium"/>
                <a:cs typeface="Raleway Medium"/>
                <a:sym typeface="Raleway Medium"/>
              </a:rPr>
              <a:t>Gak cuma itu, di tahun 1955, Dreyfuss juga menulis buku</a:t>
            </a:r>
            <a:r>
              <a:rPr b="1" i="0" lang="en" sz="1200" u="none" cap="none" strike="noStrike">
                <a:solidFill>
                  <a:schemeClr val="dk1"/>
                </a:solidFill>
                <a:latin typeface="Raleway"/>
                <a:ea typeface="Raleway"/>
                <a:cs typeface="Raleway"/>
                <a:sym typeface="Raleway"/>
              </a:rPr>
              <a:t> '</a:t>
            </a:r>
            <a:r>
              <a:rPr b="1" i="0" lang="en" sz="1200" u="none" cap="none" strike="noStrike">
                <a:solidFill>
                  <a:schemeClr val="dk1"/>
                </a:solidFill>
                <a:uFill>
                  <a:noFill/>
                </a:uFill>
                <a:latin typeface="Raleway"/>
                <a:ea typeface="Raleway"/>
                <a:cs typeface="Raleway"/>
                <a:sym typeface="Raleway"/>
                <a:hlinkClick r:id="rId4">
                  <a:extLst>
                    <a:ext uri="{A12FA001-AC4F-418D-AE19-62706E023703}">
                      <ahyp:hlinkClr val="tx"/>
                    </a:ext>
                  </a:extLst>
                </a:hlinkClick>
              </a:rPr>
              <a:t>Designing for People</a:t>
            </a:r>
            <a:r>
              <a:rPr b="1" i="0" lang="en" sz="1200" u="none" cap="none" strike="noStrike">
                <a:solidFill>
                  <a:schemeClr val="dk1"/>
                </a:solidFill>
                <a:latin typeface="Raleway"/>
                <a:ea typeface="Raleway"/>
                <a:cs typeface="Raleway"/>
                <a:sym typeface="Raleway"/>
              </a:rPr>
              <a:t>’</a:t>
            </a:r>
            <a:r>
              <a:rPr b="0" i="0" lang="en" sz="1200" u="none" cap="none" strike="noStrike">
                <a:solidFill>
                  <a:schemeClr val="dk1"/>
                </a:solidFill>
                <a:latin typeface="Raleway Medium"/>
                <a:ea typeface="Raleway Medium"/>
                <a:cs typeface="Raleway Medium"/>
                <a:sym typeface="Raleway Medium"/>
              </a:rPr>
              <a:t> yang menjelaskan secara singkat tentang UX Design:</a:t>
            </a:r>
            <a:r>
              <a:rPr b="0" i="1" lang="en" sz="1200" u="none" cap="none" strike="noStrike">
                <a:solidFill>
                  <a:schemeClr val="dk1"/>
                </a:solidFill>
                <a:latin typeface="Raleway Medium"/>
                <a:ea typeface="Raleway Medium"/>
                <a:cs typeface="Raleway Medium"/>
                <a:sym typeface="Raleway Medium"/>
              </a:rPr>
              <a:t> </a:t>
            </a:r>
            <a:r>
              <a:rPr b="0" i="1" lang="en" sz="1200" u="none" cap="none" strike="noStrike">
                <a:solidFill>
                  <a:schemeClr val="dk1"/>
                </a:solidFill>
                <a:latin typeface="Raleway"/>
                <a:ea typeface="Raleway"/>
                <a:cs typeface="Raleway"/>
                <a:sym typeface="Raleway"/>
              </a:rPr>
              <a:t>“Kalo mau jadi desainer sukses, bikin produk yang menarik, nyaman dipake, dan bisa bikin orang happy!”.</a:t>
            </a:r>
            <a:endParaRPr b="0" i="1" sz="1200" u="none" cap="none" strike="noStrike">
              <a:solidFill>
                <a:schemeClr val="dk1"/>
              </a:solidFill>
              <a:latin typeface="Raleway Medium"/>
              <a:ea typeface="Raleway Medium"/>
              <a:cs typeface="Raleway Medium"/>
              <a:sym typeface="Raleway Medium"/>
            </a:endParaRPr>
          </a:p>
          <a:p>
            <a:pPr indent="0" lvl="0" marL="0" marR="0" rtl="0" algn="just">
              <a:lnSpc>
                <a:spcPct val="115000"/>
              </a:lnSpc>
              <a:spcBef>
                <a:spcPts val="0"/>
              </a:spcBef>
              <a:spcAft>
                <a:spcPts val="0"/>
              </a:spcAft>
              <a:buClr>
                <a:schemeClr val="dk1"/>
              </a:buClr>
              <a:buSzPts val="1100"/>
              <a:buFont typeface="Arial"/>
              <a:buNone/>
            </a:pPr>
            <a:r>
              <a:t/>
            </a:r>
            <a:endParaRPr b="0" i="0" sz="1200" u="none" cap="none" strike="noStrike">
              <a:solidFill>
                <a:srgbClr val="652F67"/>
              </a:solidFill>
              <a:latin typeface="Raleway Medium"/>
              <a:ea typeface="Raleway Medium"/>
              <a:cs typeface="Raleway Medium"/>
              <a:sym typeface="Raleway Medium"/>
            </a:endParaRPr>
          </a:p>
          <a:p>
            <a:pPr indent="0" lvl="0" marL="0" marR="0" rtl="0" algn="just">
              <a:lnSpc>
                <a:spcPct val="115000"/>
              </a:lnSpc>
              <a:spcBef>
                <a:spcPts val="0"/>
              </a:spcBef>
              <a:spcAft>
                <a:spcPts val="0"/>
              </a:spcAft>
              <a:buClr>
                <a:schemeClr val="dk1"/>
              </a:buClr>
              <a:buSzPts val="1100"/>
              <a:buFont typeface="Arial"/>
              <a:buNone/>
            </a:pPr>
            <a:r>
              <a:t/>
            </a:r>
            <a:endParaRPr b="1" i="0" sz="1200" u="none" cap="none" strike="noStrike">
              <a:solidFill>
                <a:srgbClr val="652F67"/>
              </a:solidFill>
              <a:latin typeface="Raleway"/>
              <a:ea typeface="Raleway"/>
              <a:cs typeface="Raleway"/>
              <a:sym typeface="Raleway"/>
            </a:endParaRPr>
          </a:p>
          <a:p>
            <a:pPr indent="0" lvl="0" marL="0" marR="0" rtl="0" algn="just">
              <a:lnSpc>
                <a:spcPct val="115000"/>
              </a:lnSpc>
              <a:spcBef>
                <a:spcPts val="0"/>
              </a:spcBef>
              <a:spcAft>
                <a:spcPts val="0"/>
              </a:spcAft>
              <a:buClr>
                <a:schemeClr val="dk1"/>
              </a:buClr>
              <a:buSzPts val="1100"/>
              <a:buFont typeface="Arial"/>
              <a:buNone/>
            </a:pPr>
            <a:r>
              <a:t/>
            </a:r>
            <a:endParaRPr b="0" i="0" sz="1200" u="none" cap="none" strike="noStrike">
              <a:solidFill>
                <a:schemeClr val="dk1"/>
              </a:solidFill>
              <a:latin typeface="Raleway Medium"/>
              <a:ea typeface="Raleway Medium"/>
              <a:cs typeface="Raleway Medium"/>
              <a:sym typeface="Raleway Medium"/>
            </a:endParaRPr>
          </a:p>
          <a:p>
            <a:pPr indent="0" lvl="0" marL="0" marR="0" rtl="0" algn="just">
              <a:lnSpc>
                <a:spcPct val="115000"/>
              </a:lnSpc>
              <a:spcBef>
                <a:spcPts val="0"/>
              </a:spcBef>
              <a:spcAft>
                <a:spcPts val="0"/>
              </a:spcAft>
              <a:buClr>
                <a:schemeClr val="dk1"/>
              </a:buClr>
              <a:buSzPts val="1100"/>
              <a:buFont typeface="Arial"/>
              <a:buNone/>
            </a:pPr>
            <a:r>
              <a:t/>
            </a:r>
            <a:endParaRPr b="0" i="0" sz="1200" u="none" cap="none" strike="noStrike">
              <a:solidFill>
                <a:schemeClr val="dk1"/>
              </a:solidFill>
              <a:latin typeface="Raleway Medium"/>
              <a:ea typeface="Raleway Medium"/>
              <a:cs typeface="Raleway Medium"/>
              <a:sym typeface="Raleway Medium"/>
            </a:endParaRPr>
          </a:p>
          <a:p>
            <a:pPr indent="0" lvl="0" marL="0" marR="0" rtl="0" algn="just">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Raleway Medium"/>
              <a:ea typeface="Raleway Medium"/>
              <a:cs typeface="Raleway Medium"/>
              <a:sym typeface="Raleway Medium"/>
            </a:endParaRPr>
          </a:p>
        </p:txBody>
      </p:sp>
      <p:pic>
        <p:nvPicPr>
          <p:cNvPr id="200" name="Google Shape;200;p14"/>
          <p:cNvPicPr preferRelativeResize="0"/>
          <p:nvPr/>
        </p:nvPicPr>
        <p:blipFill rotWithShape="1">
          <a:blip r:embed="rId5">
            <a:alphaModFix/>
          </a:blip>
          <a:srcRect b="0" l="0" r="0" t="0"/>
          <a:stretch/>
        </p:blipFill>
        <p:spPr>
          <a:xfrm>
            <a:off x="5166725" y="1616274"/>
            <a:ext cx="3605850" cy="2510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15"/>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206" name="Google Shape;206;p15"/>
          <p:cNvSpPr txBox="1"/>
          <p:nvPr>
            <p:ph type="title"/>
          </p:nvPr>
        </p:nvSpPr>
        <p:spPr>
          <a:xfrm>
            <a:off x="695000" y="318813"/>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Clr>
                <a:schemeClr val="dk1"/>
              </a:buClr>
              <a:buSzPts val="1100"/>
              <a:buFont typeface="Arial"/>
              <a:buNone/>
            </a:pPr>
            <a:r>
              <a:rPr lang="en"/>
              <a:t>Penggunaan User Experience dari Masa ke Masa</a:t>
            </a:r>
            <a:endParaRPr/>
          </a:p>
          <a:p>
            <a:pPr indent="0" lvl="0" marL="0" rtl="0" algn="l">
              <a:lnSpc>
                <a:spcPct val="100000"/>
              </a:lnSpc>
              <a:spcBef>
                <a:spcPts val="0"/>
              </a:spcBef>
              <a:spcAft>
                <a:spcPts val="0"/>
              </a:spcAft>
              <a:buSzPts val="1200"/>
              <a:buNone/>
            </a:pPr>
            <a:r>
              <a:t/>
            </a:r>
            <a:endParaRPr/>
          </a:p>
        </p:txBody>
      </p:sp>
      <p:sp>
        <p:nvSpPr>
          <p:cNvPr id="207" name="Google Shape;207;p15"/>
          <p:cNvSpPr txBox="1"/>
          <p:nvPr/>
        </p:nvSpPr>
        <p:spPr>
          <a:xfrm>
            <a:off x="695025" y="1029000"/>
            <a:ext cx="4321500" cy="6645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600"/>
              </a:spcBef>
              <a:spcAft>
                <a:spcPts val="0"/>
              </a:spcAft>
              <a:buClr>
                <a:schemeClr val="dk1"/>
              </a:buClr>
              <a:buSzPts val="1100"/>
              <a:buFont typeface="Arial"/>
              <a:buNone/>
            </a:pPr>
            <a:r>
              <a:rPr b="1" i="0" lang="en" sz="1800" u="none" cap="none" strike="noStrike">
                <a:solidFill>
                  <a:srgbClr val="743673"/>
                </a:solidFill>
                <a:highlight>
                  <a:schemeClr val="lt1"/>
                </a:highlight>
                <a:latin typeface="Raleway"/>
                <a:ea typeface="Raleway"/>
                <a:cs typeface="Raleway"/>
                <a:sym typeface="Raleway"/>
              </a:rPr>
              <a:t>1966: Walt Disney, UX designer pertama?</a:t>
            </a:r>
            <a:endParaRPr b="1" i="0" sz="1800" u="none" cap="none" strike="noStrike">
              <a:solidFill>
                <a:srgbClr val="743673"/>
              </a:solidFill>
              <a:highlight>
                <a:schemeClr val="lt1"/>
              </a:highlight>
              <a:latin typeface="Raleway"/>
              <a:ea typeface="Raleway"/>
              <a:cs typeface="Raleway"/>
              <a:sym typeface="Raleway"/>
            </a:endParaRPr>
          </a:p>
          <a:p>
            <a:pPr indent="0" lvl="0" marL="0" marR="0" rtl="0" algn="l">
              <a:lnSpc>
                <a:spcPct val="115000"/>
              </a:lnSpc>
              <a:spcBef>
                <a:spcPts val="1600"/>
              </a:spcBef>
              <a:spcAft>
                <a:spcPts val="0"/>
              </a:spcAft>
              <a:buClr>
                <a:schemeClr val="dk1"/>
              </a:buClr>
              <a:buSzPts val="1100"/>
              <a:buFont typeface="Arial"/>
              <a:buNone/>
            </a:pPr>
            <a:r>
              <a:t/>
            </a:r>
            <a:endParaRPr b="1" i="0" sz="1800" u="none" cap="none" strike="noStrike">
              <a:solidFill>
                <a:srgbClr val="743673"/>
              </a:solidFill>
              <a:highlight>
                <a:schemeClr val="lt1"/>
              </a:highlight>
              <a:latin typeface="Raleway"/>
              <a:ea typeface="Raleway"/>
              <a:cs typeface="Raleway"/>
              <a:sym typeface="Raleway"/>
            </a:endParaRPr>
          </a:p>
          <a:p>
            <a:pPr indent="0" lvl="0" marL="0" marR="0" rtl="0" algn="l">
              <a:lnSpc>
                <a:spcPct val="115000"/>
              </a:lnSpc>
              <a:spcBef>
                <a:spcPts val="1600"/>
              </a:spcBef>
              <a:spcAft>
                <a:spcPts val="0"/>
              </a:spcAft>
              <a:buClr>
                <a:schemeClr val="dk1"/>
              </a:buClr>
              <a:buSzPts val="1400"/>
              <a:buFont typeface="Arial"/>
              <a:buNone/>
            </a:pPr>
            <a:r>
              <a:t/>
            </a:r>
            <a:endParaRPr b="1" i="0" sz="1800" u="none" cap="none" strike="noStrike">
              <a:solidFill>
                <a:srgbClr val="743673"/>
              </a:solidFill>
              <a:highlight>
                <a:schemeClr val="lt1"/>
              </a:highlight>
              <a:latin typeface="Raleway"/>
              <a:ea typeface="Raleway"/>
              <a:cs typeface="Raleway"/>
              <a:sym typeface="Raleway"/>
            </a:endParaRPr>
          </a:p>
          <a:p>
            <a:pPr indent="0" lvl="0" marL="0" marR="0" rtl="0" algn="l">
              <a:lnSpc>
                <a:spcPct val="115000"/>
              </a:lnSpc>
              <a:spcBef>
                <a:spcPts val="1600"/>
              </a:spcBef>
              <a:spcAft>
                <a:spcPts val="0"/>
              </a:spcAft>
              <a:buClr>
                <a:schemeClr val="dk1"/>
              </a:buClr>
              <a:buSzPts val="1400"/>
              <a:buFont typeface="Arial"/>
              <a:buNone/>
            </a:pPr>
            <a:r>
              <a:t/>
            </a:r>
            <a:endParaRPr b="1" i="0" sz="1800" u="none" cap="none" strike="noStrike">
              <a:solidFill>
                <a:srgbClr val="743673"/>
              </a:solidFill>
              <a:highlight>
                <a:srgbClr val="FFFFFF"/>
              </a:highlight>
              <a:latin typeface="Raleway"/>
              <a:ea typeface="Raleway"/>
              <a:cs typeface="Raleway"/>
              <a:sym typeface="Raleway"/>
            </a:endParaRPr>
          </a:p>
          <a:p>
            <a:pPr indent="0" lvl="0" marL="0" marR="0" rtl="0" algn="l">
              <a:lnSpc>
                <a:spcPct val="115000"/>
              </a:lnSpc>
              <a:spcBef>
                <a:spcPts val="1600"/>
              </a:spcBef>
              <a:spcAft>
                <a:spcPts val="0"/>
              </a:spcAft>
              <a:buClr>
                <a:schemeClr val="dk1"/>
              </a:buClr>
              <a:buSzPts val="1400"/>
              <a:buFont typeface="Arial"/>
              <a:buNone/>
            </a:pPr>
            <a:r>
              <a:t/>
            </a:r>
            <a:endParaRPr b="1" i="0" sz="1800" u="none" cap="none" strike="noStrike">
              <a:solidFill>
                <a:srgbClr val="743673"/>
              </a:solidFill>
              <a:highlight>
                <a:srgbClr val="FFFFFF"/>
              </a:highlight>
              <a:latin typeface="Raleway"/>
              <a:ea typeface="Raleway"/>
              <a:cs typeface="Raleway"/>
              <a:sym typeface="Raleway"/>
            </a:endParaRPr>
          </a:p>
          <a:p>
            <a:pPr indent="0" lvl="0" marL="0" marR="0" rtl="0" algn="l">
              <a:lnSpc>
                <a:spcPct val="115000"/>
              </a:lnSpc>
              <a:spcBef>
                <a:spcPts val="1600"/>
              </a:spcBef>
              <a:spcAft>
                <a:spcPts val="0"/>
              </a:spcAft>
              <a:buClr>
                <a:schemeClr val="dk1"/>
              </a:buClr>
              <a:buSzPts val="1400"/>
              <a:buFont typeface="Arial"/>
              <a:buNone/>
            </a:pPr>
            <a:r>
              <a:t/>
            </a:r>
            <a:endParaRPr b="1" i="0" sz="1800" u="none" cap="none" strike="noStrike">
              <a:solidFill>
                <a:srgbClr val="743673"/>
              </a:solidFill>
              <a:highlight>
                <a:schemeClr val="lt1"/>
              </a:highlight>
              <a:latin typeface="Raleway"/>
              <a:ea typeface="Raleway"/>
              <a:cs typeface="Raleway"/>
              <a:sym typeface="Raleway"/>
            </a:endParaRPr>
          </a:p>
          <a:p>
            <a:pPr indent="0" lvl="0" marL="0" marR="0" rtl="0" algn="l">
              <a:lnSpc>
                <a:spcPct val="115000"/>
              </a:lnSpc>
              <a:spcBef>
                <a:spcPts val="1600"/>
              </a:spcBef>
              <a:spcAft>
                <a:spcPts val="0"/>
              </a:spcAft>
              <a:buClr>
                <a:srgbClr val="000000"/>
              </a:buClr>
              <a:buSzPts val="1400"/>
              <a:buFont typeface="Arial"/>
              <a:buNone/>
            </a:pPr>
            <a:r>
              <a:t/>
            </a:r>
            <a:endParaRPr b="1" i="0" sz="1800" u="none" cap="none" strike="noStrike">
              <a:solidFill>
                <a:srgbClr val="743673"/>
              </a:solidFill>
              <a:highlight>
                <a:schemeClr val="lt1"/>
              </a:highlight>
              <a:latin typeface="Raleway"/>
              <a:ea typeface="Raleway"/>
              <a:cs typeface="Raleway"/>
              <a:sym typeface="Raleway"/>
            </a:endParaRPr>
          </a:p>
          <a:p>
            <a:pPr indent="0" lvl="0" marL="0" marR="0" rtl="0" algn="l">
              <a:lnSpc>
                <a:spcPct val="115000"/>
              </a:lnSpc>
              <a:spcBef>
                <a:spcPts val="1600"/>
              </a:spcBef>
              <a:spcAft>
                <a:spcPts val="0"/>
              </a:spcAft>
              <a:buClr>
                <a:srgbClr val="000000"/>
              </a:buClr>
              <a:buSzPts val="1400"/>
              <a:buFont typeface="Arial"/>
              <a:buNone/>
            </a:pPr>
            <a:r>
              <a:t/>
            </a:r>
            <a:endParaRPr b="1" i="0" sz="1800" u="none" cap="none" strike="noStrike">
              <a:solidFill>
                <a:srgbClr val="743673"/>
              </a:solidFill>
              <a:highlight>
                <a:schemeClr val="lt1"/>
              </a:highlight>
              <a:latin typeface="Raleway"/>
              <a:ea typeface="Raleway"/>
              <a:cs typeface="Raleway"/>
              <a:sym typeface="Raleway"/>
            </a:endParaRPr>
          </a:p>
        </p:txBody>
      </p:sp>
      <p:sp>
        <p:nvSpPr>
          <p:cNvPr id="208" name="Google Shape;208;p15"/>
          <p:cNvSpPr txBox="1"/>
          <p:nvPr/>
        </p:nvSpPr>
        <p:spPr>
          <a:xfrm>
            <a:off x="695000" y="1876875"/>
            <a:ext cx="4411200" cy="2674500"/>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0"/>
              </a:spcBef>
              <a:spcAft>
                <a:spcPts val="0"/>
              </a:spcAft>
              <a:buClr>
                <a:schemeClr val="dk1"/>
              </a:buClr>
              <a:buSzPts val="1100"/>
              <a:buFont typeface="Arial"/>
              <a:buNone/>
            </a:pPr>
            <a:r>
              <a:rPr b="0" i="0" lang="en" sz="1200" u="none" cap="none" strike="noStrike">
                <a:solidFill>
                  <a:schemeClr val="dk1"/>
                </a:solidFill>
                <a:latin typeface="Raleway Medium"/>
                <a:ea typeface="Raleway Medium"/>
                <a:cs typeface="Raleway Medium"/>
                <a:sym typeface="Raleway Medium"/>
              </a:rPr>
              <a:t>Binarian, apakah kamu familiar dengan film seperti The Lion king, Cinderella, atau Frozen? Tahukah kamu jika rumah produksi dari film-film tersebut, yaitu </a:t>
            </a:r>
            <a:r>
              <a:rPr b="1" i="0" lang="en" sz="1200" u="none" cap="none" strike="noStrike">
                <a:solidFill>
                  <a:schemeClr val="dk1"/>
                </a:solidFill>
                <a:latin typeface="Raleway"/>
                <a:ea typeface="Raleway"/>
                <a:cs typeface="Raleway"/>
                <a:sym typeface="Raleway"/>
              </a:rPr>
              <a:t>Walt Disney, </a:t>
            </a:r>
            <a:r>
              <a:rPr b="0" i="0" lang="en" sz="1200" u="none" cap="none" strike="noStrike">
                <a:solidFill>
                  <a:schemeClr val="dk1"/>
                </a:solidFill>
                <a:latin typeface="Raleway Medium"/>
                <a:ea typeface="Raleway Medium"/>
                <a:cs typeface="Raleway Medium"/>
                <a:sym typeface="Raleway Medium"/>
              </a:rPr>
              <a:t>dianggap memiliki UX Designer pertama dalam sejarah?</a:t>
            </a:r>
            <a:endParaRPr b="0" i="0" sz="1200" u="none" cap="none" strike="noStrike">
              <a:solidFill>
                <a:schemeClr val="dk1"/>
              </a:solidFill>
              <a:latin typeface="Raleway Medium"/>
              <a:ea typeface="Raleway Medium"/>
              <a:cs typeface="Raleway Medium"/>
              <a:sym typeface="Raleway Medium"/>
            </a:endParaRPr>
          </a:p>
          <a:p>
            <a:pPr indent="0" lvl="0" marL="0" marR="0" rtl="0" algn="just">
              <a:lnSpc>
                <a:spcPct val="115000"/>
              </a:lnSpc>
              <a:spcBef>
                <a:spcPts val="0"/>
              </a:spcBef>
              <a:spcAft>
                <a:spcPts val="0"/>
              </a:spcAft>
              <a:buClr>
                <a:schemeClr val="dk1"/>
              </a:buClr>
              <a:buSzPts val="1100"/>
              <a:buFont typeface="Arial"/>
              <a:buNone/>
            </a:pPr>
            <a:r>
              <a:t/>
            </a:r>
            <a:endParaRPr b="0" i="0" sz="1200" u="none" cap="none" strike="noStrike">
              <a:solidFill>
                <a:schemeClr val="dk1"/>
              </a:solidFill>
              <a:latin typeface="Raleway Medium"/>
              <a:ea typeface="Raleway Medium"/>
              <a:cs typeface="Raleway Medium"/>
              <a:sym typeface="Raleway Medium"/>
            </a:endParaRPr>
          </a:p>
          <a:p>
            <a:pPr indent="0" lvl="0" marL="0" marR="0" rtl="0" algn="just">
              <a:lnSpc>
                <a:spcPct val="115000"/>
              </a:lnSpc>
              <a:spcBef>
                <a:spcPts val="0"/>
              </a:spcBef>
              <a:spcAft>
                <a:spcPts val="0"/>
              </a:spcAft>
              <a:buClr>
                <a:schemeClr val="dk1"/>
              </a:buClr>
              <a:buSzPts val="1100"/>
              <a:buFont typeface="Arial"/>
              <a:buNone/>
            </a:pPr>
            <a:r>
              <a:rPr b="0" i="0" lang="en" sz="1200" u="none" cap="none" strike="noStrike">
                <a:solidFill>
                  <a:schemeClr val="dk1"/>
                </a:solidFill>
                <a:latin typeface="Raleway Medium"/>
                <a:ea typeface="Raleway Medium"/>
                <a:cs typeface="Raleway Medium"/>
                <a:sym typeface="Raleway Medium"/>
              </a:rPr>
              <a:t>Yap, Walt Disney berhasil </a:t>
            </a:r>
            <a:r>
              <a:rPr b="1" i="0" lang="en" sz="1200" u="none" cap="none" strike="noStrike">
                <a:solidFill>
                  <a:schemeClr val="dk1"/>
                </a:solidFill>
                <a:latin typeface="Raleway"/>
                <a:ea typeface="Raleway"/>
                <a:cs typeface="Raleway"/>
                <a:sym typeface="Raleway"/>
              </a:rPr>
              <a:t>menciptakan Disney World yang imajinatif, intuitif, dan berhasil menggugah para penontonnya.</a:t>
            </a:r>
            <a:endParaRPr b="1" i="0" sz="1200" u="none" cap="none" strike="noStrike">
              <a:solidFill>
                <a:schemeClr val="dk1"/>
              </a:solidFill>
              <a:latin typeface="Raleway"/>
              <a:ea typeface="Raleway"/>
              <a:cs typeface="Raleway"/>
              <a:sym typeface="Raleway"/>
            </a:endParaRPr>
          </a:p>
          <a:p>
            <a:pPr indent="0" lvl="0" marL="0" marR="0" rtl="0" algn="just">
              <a:lnSpc>
                <a:spcPct val="115000"/>
              </a:lnSpc>
              <a:spcBef>
                <a:spcPts val="0"/>
              </a:spcBef>
              <a:spcAft>
                <a:spcPts val="0"/>
              </a:spcAft>
              <a:buClr>
                <a:schemeClr val="dk1"/>
              </a:buClr>
              <a:buSzPts val="1100"/>
              <a:buFont typeface="Arial"/>
              <a:buNone/>
            </a:pPr>
            <a:r>
              <a:t/>
            </a:r>
            <a:endParaRPr b="0" i="0" sz="1200" u="none" cap="none" strike="noStrike">
              <a:solidFill>
                <a:schemeClr val="dk1"/>
              </a:solidFill>
              <a:latin typeface="Raleway Medium"/>
              <a:ea typeface="Raleway Medium"/>
              <a:cs typeface="Raleway Medium"/>
              <a:sym typeface="Raleway Medium"/>
            </a:endParaRPr>
          </a:p>
          <a:p>
            <a:pPr indent="0" lvl="0" marL="0" marR="0" rtl="0" algn="just">
              <a:lnSpc>
                <a:spcPct val="115000"/>
              </a:lnSpc>
              <a:spcBef>
                <a:spcPts val="0"/>
              </a:spcBef>
              <a:spcAft>
                <a:spcPts val="0"/>
              </a:spcAft>
              <a:buClr>
                <a:srgbClr val="000000"/>
              </a:buClr>
              <a:buSzPts val="1200"/>
              <a:buFont typeface="Arial"/>
              <a:buNone/>
            </a:pPr>
            <a:r>
              <a:rPr b="0" i="0" lang="en" sz="1200" u="none" cap="none" strike="noStrike">
                <a:solidFill>
                  <a:schemeClr val="dk1"/>
                </a:solidFill>
                <a:latin typeface="Raleway Medium"/>
                <a:ea typeface="Raleway Medium"/>
                <a:cs typeface="Raleway Medium"/>
                <a:sym typeface="Raleway Medium"/>
              </a:rPr>
              <a:t>Hal itu tidak terlepas dari keberadaan tim insinyur Walt Disney yang berhasil menciptakan animasi-animasi dengan perpaduan warna dan karakter yang ciamik!</a:t>
            </a:r>
            <a:endParaRPr b="0" i="0" sz="1200" u="none" cap="none" strike="noStrike">
              <a:solidFill>
                <a:schemeClr val="dk1"/>
              </a:solidFill>
              <a:latin typeface="Raleway Medium"/>
              <a:ea typeface="Raleway Medium"/>
              <a:cs typeface="Raleway Medium"/>
              <a:sym typeface="Raleway Medium"/>
            </a:endParaRPr>
          </a:p>
        </p:txBody>
      </p:sp>
      <p:pic>
        <p:nvPicPr>
          <p:cNvPr id="209" name="Google Shape;209;p15"/>
          <p:cNvPicPr preferRelativeResize="0"/>
          <p:nvPr/>
        </p:nvPicPr>
        <p:blipFill rotWithShape="1">
          <a:blip r:embed="rId3">
            <a:alphaModFix/>
          </a:blip>
          <a:srcRect b="42847" l="28003" r="31049" t="0"/>
          <a:stretch/>
        </p:blipFill>
        <p:spPr>
          <a:xfrm>
            <a:off x="5106200" y="953620"/>
            <a:ext cx="3761449" cy="349898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16"/>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215" name="Google Shape;215;p16"/>
          <p:cNvSpPr txBox="1"/>
          <p:nvPr>
            <p:ph type="title"/>
          </p:nvPr>
        </p:nvSpPr>
        <p:spPr>
          <a:xfrm>
            <a:off x="685800" y="333663"/>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Clr>
                <a:schemeClr val="dk1"/>
              </a:buClr>
              <a:buSzPts val="1100"/>
              <a:buFont typeface="Arial"/>
              <a:buNone/>
            </a:pPr>
            <a:r>
              <a:rPr lang="en"/>
              <a:t>Penggunaan User Experience dari Masa ke Masa</a:t>
            </a:r>
            <a:endParaRPr/>
          </a:p>
          <a:p>
            <a:pPr indent="0" lvl="0" marL="0" rtl="0" algn="l">
              <a:lnSpc>
                <a:spcPct val="100000"/>
              </a:lnSpc>
              <a:spcBef>
                <a:spcPts val="0"/>
              </a:spcBef>
              <a:spcAft>
                <a:spcPts val="0"/>
              </a:spcAft>
              <a:buSzPts val="1200"/>
              <a:buNone/>
            </a:pPr>
            <a:r>
              <a:t/>
            </a:r>
            <a:endParaRPr/>
          </a:p>
        </p:txBody>
      </p:sp>
      <p:sp>
        <p:nvSpPr>
          <p:cNvPr id="216" name="Google Shape;216;p16"/>
          <p:cNvSpPr txBox="1"/>
          <p:nvPr/>
        </p:nvSpPr>
        <p:spPr>
          <a:xfrm>
            <a:off x="685800" y="1052400"/>
            <a:ext cx="4408200" cy="3200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600"/>
              </a:spcBef>
              <a:spcAft>
                <a:spcPts val="0"/>
              </a:spcAft>
              <a:buClr>
                <a:schemeClr val="dk1"/>
              </a:buClr>
              <a:buSzPts val="1400"/>
              <a:buFont typeface="Arial"/>
              <a:buNone/>
            </a:pPr>
            <a:r>
              <a:rPr b="1" i="0" lang="en" sz="1800" u="none" cap="none" strike="noStrike">
                <a:solidFill>
                  <a:srgbClr val="743673"/>
                </a:solidFill>
                <a:highlight>
                  <a:schemeClr val="lt1"/>
                </a:highlight>
                <a:latin typeface="Raleway"/>
                <a:ea typeface="Raleway"/>
                <a:cs typeface="Raleway"/>
                <a:sym typeface="Raleway"/>
              </a:rPr>
              <a:t>1970-an: Xerox, Apple, dan era PC</a:t>
            </a:r>
            <a:endParaRPr b="1" i="0" sz="1800" u="none" cap="none" strike="noStrike">
              <a:solidFill>
                <a:srgbClr val="743673"/>
              </a:solidFill>
              <a:highlight>
                <a:schemeClr val="lt1"/>
              </a:highlight>
              <a:latin typeface="Raleway"/>
              <a:ea typeface="Raleway"/>
              <a:cs typeface="Raleway"/>
              <a:sym typeface="Raleway"/>
            </a:endParaRPr>
          </a:p>
          <a:p>
            <a:pPr indent="0" lvl="0" marL="0" marR="0" rtl="0" algn="l">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Raleway Medium"/>
              <a:ea typeface="Raleway Medium"/>
              <a:cs typeface="Raleway Medium"/>
              <a:sym typeface="Raleway Medium"/>
            </a:endParaRPr>
          </a:p>
          <a:p>
            <a:pPr indent="0" lvl="0" marL="0" marR="0" rtl="0" algn="just">
              <a:lnSpc>
                <a:spcPct val="115000"/>
              </a:lnSpc>
              <a:spcBef>
                <a:spcPts val="0"/>
              </a:spcBef>
              <a:spcAft>
                <a:spcPts val="0"/>
              </a:spcAft>
              <a:buClr>
                <a:srgbClr val="000000"/>
              </a:buClr>
              <a:buSzPts val="1200"/>
              <a:buFont typeface="Arial"/>
              <a:buNone/>
            </a:pPr>
            <a:r>
              <a:rPr b="0" i="0" lang="en" sz="1200" u="none" cap="none" strike="noStrike">
                <a:solidFill>
                  <a:schemeClr val="dk1"/>
                </a:solidFill>
                <a:latin typeface="Raleway Medium"/>
                <a:ea typeface="Raleway Medium"/>
                <a:cs typeface="Raleway Medium"/>
                <a:sym typeface="Raleway Medium"/>
              </a:rPr>
              <a:t>Era personal computer (PC) dimulai pada tahun 1970-an. Pada tahun-tahun tersebut, para psikolog dan insinyur bekerja sama untuk meningkatkan User Experience. Lahir beberapa inovasi dalam dunia komputer, salah satunya dari pusat penelitian PARC Xerox, seperti penciptaan UI grafis dan mouse. </a:t>
            </a:r>
            <a:r>
              <a:rPr b="1" i="0" lang="en" sz="1200" u="none" cap="none" strike="noStrike">
                <a:solidFill>
                  <a:schemeClr val="dk1"/>
                </a:solidFill>
                <a:latin typeface="Raleway"/>
                <a:ea typeface="Raleway"/>
                <a:cs typeface="Raleway"/>
                <a:sym typeface="Raleway"/>
              </a:rPr>
              <a:t>Dari sinilah sejarah UI design dimulai, </a:t>
            </a:r>
            <a:r>
              <a:rPr b="0" i="0" lang="en" sz="1200" u="none" cap="none" strike="noStrike">
                <a:solidFill>
                  <a:schemeClr val="dk1"/>
                </a:solidFill>
                <a:latin typeface="Raleway Medium"/>
                <a:ea typeface="Raleway Medium"/>
                <a:cs typeface="Raleway Medium"/>
                <a:sym typeface="Raleway Medium"/>
              </a:rPr>
              <a:t>yang bakal kita bahas lebih detail pada bagian selanjutnya!</a:t>
            </a:r>
            <a:endParaRPr b="0" i="0" sz="1200" u="none" cap="none" strike="noStrike">
              <a:solidFill>
                <a:schemeClr val="dk1"/>
              </a:solidFill>
              <a:latin typeface="Raleway Medium"/>
              <a:ea typeface="Raleway Medium"/>
              <a:cs typeface="Raleway Medium"/>
              <a:sym typeface="Raleway Medium"/>
            </a:endParaRPr>
          </a:p>
          <a:p>
            <a:pPr indent="0" lvl="0" marL="0" marR="0" rtl="0" algn="just">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Raleway Medium"/>
              <a:ea typeface="Raleway Medium"/>
              <a:cs typeface="Raleway Medium"/>
              <a:sym typeface="Raleway Medium"/>
            </a:endParaRPr>
          </a:p>
          <a:p>
            <a:pPr indent="0" lvl="0" marL="0" marR="0" rtl="0" algn="just">
              <a:lnSpc>
                <a:spcPct val="115000"/>
              </a:lnSpc>
              <a:spcBef>
                <a:spcPts val="0"/>
              </a:spcBef>
              <a:spcAft>
                <a:spcPts val="0"/>
              </a:spcAft>
              <a:buClr>
                <a:srgbClr val="000000"/>
              </a:buClr>
              <a:buSzPts val="1200"/>
              <a:buFont typeface="Arial"/>
              <a:buNone/>
            </a:pPr>
            <a:r>
              <a:rPr b="0" i="0" lang="en" sz="1200" u="none" cap="none" strike="noStrike">
                <a:solidFill>
                  <a:schemeClr val="dk1"/>
                </a:solidFill>
                <a:latin typeface="Raleway Medium"/>
                <a:ea typeface="Raleway Medium"/>
                <a:cs typeface="Raleway Medium"/>
                <a:sym typeface="Raleway Medium"/>
              </a:rPr>
              <a:t>Gak cuma itu, di tahun 1984, Apple merilis PC massal pertama, yaitu Apple Macintosh yang menampilkan User Interface, layar dan mouse built-in. Sejak saat itu, Apple menjadi inovator sejati dalam pengembangan User Interface. </a:t>
            </a:r>
            <a:endParaRPr b="1" i="0" sz="1200" u="none" cap="none" strike="noStrike">
              <a:solidFill>
                <a:srgbClr val="421E44"/>
              </a:solidFill>
              <a:latin typeface="Raleway"/>
              <a:ea typeface="Raleway"/>
              <a:cs typeface="Raleway"/>
              <a:sym typeface="Raleway"/>
            </a:endParaRPr>
          </a:p>
        </p:txBody>
      </p:sp>
      <p:pic>
        <p:nvPicPr>
          <p:cNvPr id="217" name="Google Shape;217;p16">
            <a:hlinkClick r:id="rId3"/>
          </p:cNvPr>
          <p:cNvPicPr preferRelativeResize="0"/>
          <p:nvPr/>
        </p:nvPicPr>
        <p:blipFill rotWithShape="1">
          <a:blip r:embed="rId4">
            <a:alphaModFix/>
          </a:blip>
          <a:srcRect b="0" l="0" r="7808" t="0"/>
          <a:stretch/>
        </p:blipFill>
        <p:spPr>
          <a:xfrm>
            <a:off x="5170200" y="1544946"/>
            <a:ext cx="3359700" cy="2533803"/>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17"/>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223" name="Google Shape;223;p17"/>
          <p:cNvSpPr txBox="1"/>
          <p:nvPr>
            <p:ph type="title"/>
          </p:nvPr>
        </p:nvSpPr>
        <p:spPr>
          <a:xfrm>
            <a:off x="685800" y="321238"/>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Clr>
                <a:schemeClr val="dk1"/>
              </a:buClr>
              <a:buSzPts val="1100"/>
              <a:buFont typeface="Arial"/>
              <a:buNone/>
            </a:pPr>
            <a:r>
              <a:rPr lang="en"/>
              <a:t>Penggunaan User Experience dari Masa ke Masa</a:t>
            </a:r>
            <a:endParaRPr/>
          </a:p>
          <a:p>
            <a:pPr indent="0" lvl="0" marL="0" rtl="0" algn="l">
              <a:lnSpc>
                <a:spcPct val="100000"/>
              </a:lnSpc>
              <a:spcBef>
                <a:spcPts val="0"/>
              </a:spcBef>
              <a:spcAft>
                <a:spcPts val="0"/>
              </a:spcAft>
              <a:buSzPts val="1200"/>
              <a:buNone/>
            </a:pPr>
            <a:r>
              <a:t/>
            </a:r>
            <a:endParaRPr/>
          </a:p>
        </p:txBody>
      </p:sp>
      <p:sp>
        <p:nvSpPr>
          <p:cNvPr id="224" name="Google Shape;224;p17"/>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600"/>
              </a:spcBef>
              <a:spcAft>
                <a:spcPts val="0"/>
              </a:spcAft>
              <a:buClr>
                <a:schemeClr val="dk1"/>
              </a:buClr>
              <a:buSzPts val="1400"/>
              <a:buFont typeface="Arial"/>
              <a:buNone/>
            </a:pPr>
            <a:r>
              <a:rPr b="1" i="0" lang="en" sz="1800" u="none" cap="none" strike="noStrike">
                <a:solidFill>
                  <a:srgbClr val="743673"/>
                </a:solidFill>
                <a:highlight>
                  <a:schemeClr val="lt1"/>
                </a:highlight>
                <a:latin typeface="Raleway"/>
                <a:ea typeface="Raleway"/>
                <a:cs typeface="Raleway"/>
                <a:sym typeface="Raleway"/>
              </a:rPr>
              <a:t>1993: Donald Norman memperkenalkan istilah UX Design</a:t>
            </a:r>
            <a:endParaRPr b="0" i="0" sz="1200" u="none" cap="none" strike="noStrike">
              <a:solidFill>
                <a:schemeClr val="dk1"/>
              </a:solidFill>
              <a:latin typeface="Raleway Medium"/>
              <a:ea typeface="Raleway Medium"/>
              <a:cs typeface="Raleway Medium"/>
              <a:sym typeface="Raleway Medium"/>
            </a:endParaRPr>
          </a:p>
          <a:p>
            <a:pPr indent="0" lvl="0" marL="0" marR="0" rtl="0" algn="l">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Raleway Medium"/>
              <a:ea typeface="Raleway Medium"/>
              <a:cs typeface="Raleway Medium"/>
              <a:sym typeface="Raleway Medium"/>
            </a:endParaRPr>
          </a:p>
          <a:p>
            <a:pPr indent="0" lvl="0" marL="0" marR="0" rtl="0" algn="just">
              <a:lnSpc>
                <a:spcPct val="115000"/>
              </a:lnSpc>
              <a:spcBef>
                <a:spcPts val="0"/>
              </a:spcBef>
              <a:spcAft>
                <a:spcPts val="0"/>
              </a:spcAft>
              <a:buClr>
                <a:srgbClr val="000000"/>
              </a:buClr>
              <a:buSzPts val="1200"/>
              <a:buFont typeface="Arial"/>
              <a:buNone/>
            </a:pPr>
            <a:r>
              <a:rPr b="0" i="0" lang="en" sz="1200" u="none" cap="none" strike="noStrike">
                <a:solidFill>
                  <a:schemeClr val="dk1"/>
                </a:solidFill>
                <a:latin typeface="Raleway Medium"/>
                <a:ea typeface="Raleway Medium"/>
                <a:cs typeface="Raleway Medium"/>
                <a:sym typeface="Raleway Medium"/>
              </a:rPr>
              <a:t>Penggunaan UX Design di tahun 1990-an sudah sangat marak, namun belum memiliki label atau istilah.</a:t>
            </a:r>
            <a:endParaRPr b="0" i="0" sz="1200" u="none" cap="none" strike="noStrike">
              <a:solidFill>
                <a:schemeClr val="dk1"/>
              </a:solidFill>
              <a:latin typeface="Raleway Medium"/>
              <a:ea typeface="Raleway Medium"/>
              <a:cs typeface="Raleway Medium"/>
              <a:sym typeface="Raleway Medium"/>
            </a:endParaRPr>
          </a:p>
          <a:p>
            <a:pPr indent="0" lvl="0" marL="0" marR="0" rtl="0" algn="just">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Raleway Medium"/>
              <a:ea typeface="Raleway Medium"/>
              <a:cs typeface="Raleway Medium"/>
              <a:sym typeface="Raleway Medium"/>
            </a:endParaRPr>
          </a:p>
          <a:p>
            <a:pPr indent="0" lvl="0" marL="0" marR="0" rtl="0" algn="just">
              <a:lnSpc>
                <a:spcPct val="115000"/>
              </a:lnSpc>
              <a:spcBef>
                <a:spcPts val="0"/>
              </a:spcBef>
              <a:spcAft>
                <a:spcPts val="0"/>
              </a:spcAft>
              <a:buClr>
                <a:srgbClr val="000000"/>
              </a:buClr>
              <a:buSzPts val="1200"/>
              <a:buFont typeface="Arial"/>
              <a:buNone/>
            </a:pPr>
            <a:r>
              <a:rPr b="0" i="0" lang="en" sz="1200" u="none" cap="none" strike="noStrike">
                <a:solidFill>
                  <a:schemeClr val="dk1"/>
                </a:solidFill>
                <a:latin typeface="Raleway Medium"/>
                <a:ea typeface="Raleway Medium"/>
                <a:cs typeface="Raleway Medium"/>
                <a:sym typeface="Raleway Medium"/>
              </a:rPr>
              <a:t>Baru deh di tahun 1993, seorang psikolog dan ilmuwan kognitif, </a:t>
            </a:r>
            <a:r>
              <a:rPr b="1" i="0" lang="en" sz="1200" u="none" cap="none" strike="noStrike">
                <a:solidFill>
                  <a:schemeClr val="dk1"/>
                </a:solidFill>
                <a:uFill>
                  <a:noFill/>
                </a:uFill>
                <a:latin typeface="Raleway"/>
                <a:ea typeface="Raleway"/>
                <a:cs typeface="Raleway"/>
                <a:sym typeface="Raleway"/>
                <a:hlinkClick r:id="rId3">
                  <a:extLst>
                    <a:ext uri="{A12FA001-AC4F-418D-AE19-62706E023703}">
                      <ahyp:hlinkClr val="tx"/>
                    </a:ext>
                  </a:extLst>
                </a:hlinkClick>
              </a:rPr>
              <a:t>Donald Norman</a:t>
            </a:r>
            <a:r>
              <a:rPr b="1" i="0" lang="en" sz="1200" u="none" cap="none" strike="noStrike">
                <a:solidFill>
                  <a:schemeClr val="dk1"/>
                </a:solidFill>
                <a:latin typeface="Raleway"/>
                <a:ea typeface="Raleway"/>
                <a:cs typeface="Raleway"/>
                <a:sym typeface="Raleway"/>
              </a:rPr>
              <a:t>,</a:t>
            </a:r>
            <a:r>
              <a:rPr b="0" i="0" lang="en" sz="1200" u="none" cap="none" strike="noStrike">
                <a:solidFill>
                  <a:schemeClr val="dk1"/>
                </a:solidFill>
                <a:latin typeface="Raleway Medium"/>
                <a:ea typeface="Raleway Medium"/>
                <a:cs typeface="Raleway Medium"/>
                <a:sym typeface="Raleway Medium"/>
              </a:rPr>
              <a:t> memperkenalkan istilah UX Design. Norman menggunakan istilah atau label UX pada jabatannya saat bekerja di Apple Computers.</a:t>
            </a:r>
            <a:endParaRPr b="1" i="0" sz="1800" u="none" cap="none" strike="noStrike">
              <a:solidFill>
                <a:srgbClr val="743673"/>
              </a:solidFill>
              <a:highlight>
                <a:schemeClr val="lt1"/>
              </a:highlight>
              <a:latin typeface="Raleway"/>
              <a:ea typeface="Raleway"/>
              <a:cs typeface="Raleway"/>
              <a:sym typeface="Raleway"/>
            </a:endParaRPr>
          </a:p>
        </p:txBody>
      </p:sp>
      <p:pic>
        <p:nvPicPr>
          <p:cNvPr id="225" name="Google Shape;225;p17"/>
          <p:cNvPicPr preferRelativeResize="0"/>
          <p:nvPr/>
        </p:nvPicPr>
        <p:blipFill rotWithShape="1">
          <a:blip r:embed="rId4">
            <a:alphaModFix/>
          </a:blip>
          <a:srcRect b="0" l="0" r="0" t="0"/>
          <a:stretch/>
        </p:blipFill>
        <p:spPr>
          <a:xfrm>
            <a:off x="5207895" y="1188725"/>
            <a:ext cx="3345554" cy="3611873"/>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18"/>
          <p:cNvSpPr txBox="1"/>
          <p:nvPr>
            <p:ph type="title"/>
          </p:nvPr>
        </p:nvSpPr>
        <p:spPr>
          <a:xfrm>
            <a:off x="914400" y="765650"/>
            <a:ext cx="7315200" cy="1108200"/>
          </a:xfrm>
          <a:prstGeom prst="rect">
            <a:avLst/>
          </a:prstGeom>
          <a:noFill/>
          <a:ln>
            <a:noFill/>
          </a:ln>
        </p:spPr>
        <p:txBody>
          <a:bodyPr anchorCtr="0" anchor="ctr" bIns="91425" lIns="91425" spcFirstLastPara="1" rIns="91425" wrap="square" tIns="91425">
            <a:spAutoFit/>
          </a:bodyPr>
          <a:lstStyle/>
          <a:p>
            <a:pPr indent="0" lvl="0" marL="0" rtl="0" algn="ctr">
              <a:lnSpc>
                <a:spcPct val="100000"/>
              </a:lnSpc>
              <a:spcBef>
                <a:spcPts val="0"/>
              </a:spcBef>
              <a:spcAft>
                <a:spcPts val="0"/>
              </a:spcAft>
              <a:buSzPts val="2400"/>
              <a:buNone/>
            </a:pPr>
            <a:r>
              <a:rPr lang="en" sz="2000"/>
              <a:t>Nah, karna kamu udah tau gimana sejarah penggunaan UX dari masa ke masa, sekarang kita cek gimana </a:t>
            </a:r>
            <a:r>
              <a:rPr lang="en" sz="2000">
                <a:solidFill>
                  <a:schemeClr val="accent1"/>
                </a:solidFill>
              </a:rPr>
              <a:t>penggunaan User Interface (UI) dari masa ke masa!</a:t>
            </a:r>
            <a:endParaRPr sz="2000">
              <a:solidFill>
                <a:schemeClr val="accent1"/>
              </a:solidFill>
            </a:endParaRPr>
          </a:p>
        </p:txBody>
      </p:sp>
      <p:sp>
        <p:nvSpPr>
          <p:cNvPr id="231" name="Google Shape;231;p18"/>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pic>
        <p:nvPicPr>
          <p:cNvPr id="232" name="Google Shape;232;p18"/>
          <p:cNvPicPr preferRelativeResize="0"/>
          <p:nvPr/>
        </p:nvPicPr>
        <p:blipFill rotWithShape="1">
          <a:blip r:embed="rId3">
            <a:alphaModFix/>
          </a:blip>
          <a:srcRect b="0" l="0" r="0" t="0"/>
          <a:stretch/>
        </p:blipFill>
        <p:spPr>
          <a:xfrm>
            <a:off x="2733742" y="2072749"/>
            <a:ext cx="3885084" cy="307074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19"/>
          <p:cNvSpPr txBox="1"/>
          <p:nvPr>
            <p:ph type="title"/>
          </p:nvPr>
        </p:nvSpPr>
        <p:spPr>
          <a:xfrm>
            <a:off x="685800" y="395613"/>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SzPts val="1200"/>
              <a:buNone/>
            </a:pPr>
            <a:r>
              <a:rPr lang="en"/>
              <a:t>Penggunaan User Interface dari Masa ke Masa</a:t>
            </a:r>
            <a:endParaRPr/>
          </a:p>
          <a:p>
            <a:pPr indent="0" lvl="0" marL="0" rtl="0" algn="l">
              <a:lnSpc>
                <a:spcPct val="100000"/>
              </a:lnSpc>
              <a:spcBef>
                <a:spcPts val="0"/>
              </a:spcBef>
              <a:spcAft>
                <a:spcPts val="0"/>
              </a:spcAft>
              <a:buSzPts val="1200"/>
              <a:buNone/>
            </a:pPr>
            <a:r>
              <a:t/>
            </a:r>
            <a:endParaRPr/>
          </a:p>
          <a:p>
            <a:pPr indent="0" lvl="0" marL="0" rtl="0" algn="l">
              <a:lnSpc>
                <a:spcPct val="100000"/>
              </a:lnSpc>
              <a:spcBef>
                <a:spcPts val="0"/>
              </a:spcBef>
              <a:spcAft>
                <a:spcPts val="0"/>
              </a:spcAft>
              <a:buSzPts val="1200"/>
              <a:buNone/>
            </a:pPr>
            <a:r>
              <a:t/>
            </a:r>
            <a:endParaRPr/>
          </a:p>
        </p:txBody>
      </p:sp>
      <p:sp>
        <p:nvSpPr>
          <p:cNvPr id="238" name="Google Shape;238;p19"/>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pic>
        <p:nvPicPr>
          <p:cNvPr id="239" name="Google Shape;239;p19"/>
          <p:cNvPicPr preferRelativeResize="0"/>
          <p:nvPr/>
        </p:nvPicPr>
        <p:blipFill rotWithShape="1">
          <a:blip r:embed="rId3">
            <a:alphaModFix/>
          </a:blip>
          <a:srcRect b="0" l="0" r="0" t="0"/>
          <a:stretch/>
        </p:blipFill>
        <p:spPr>
          <a:xfrm>
            <a:off x="1401925" y="1772375"/>
            <a:ext cx="6570199" cy="1998674"/>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20"/>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245" name="Google Shape;245;p20"/>
          <p:cNvSpPr txBox="1"/>
          <p:nvPr>
            <p:ph type="title"/>
          </p:nvPr>
        </p:nvSpPr>
        <p:spPr>
          <a:xfrm>
            <a:off x="685800" y="246888"/>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SzPts val="1200"/>
              <a:buNone/>
            </a:pPr>
            <a:r>
              <a:rPr lang="en"/>
              <a:t>Penggunaan User Interface dari Masa ke Masa</a:t>
            </a:r>
            <a:endParaRPr/>
          </a:p>
        </p:txBody>
      </p:sp>
      <p:sp>
        <p:nvSpPr>
          <p:cNvPr id="246" name="Google Shape;246;p20"/>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600"/>
              </a:spcBef>
              <a:spcAft>
                <a:spcPts val="0"/>
              </a:spcAft>
              <a:buClr>
                <a:srgbClr val="000000"/>
              </a:buClr>
              <a:buSzPts val="1800"/>
              <a:buFont typeface="Arial"/>
              <a:buNone/>
            </a:pPr>
            <a:r>
              <a:rPr b="1" i="0" lang="en" sz="1800" u="none" cap="none" strike="noStrike">
                <a:solidFill>
                  <a:srgbClr val="743673"/>
                </a:solidFill>
                <a:highlight>
                  <a:schemeClr val="lt1"/>
                </a:highlight>
                <a:latin typeface="Raleway"/>
                <a:ea typeface="Raleway"/>
                <a:cs typeface="Raleway"/>
                <a:sym typeface="Raleway"/>
              </a:rPr>
              <a:t>1960 - 1980: Era komputer pribadi (PC)</a:t>
            </a:r>
            <a:endParaRPr b="1" i="0" sz="1800" u="none" cap="none" strike="noStrike">
              <a:solidFill>
                <a:srgbClr val="743673"/>
              </a:solidFill>
              <a:highlight>
                <a:schemeClr val="lt1"/>
              </a:highlight>
              <a:latin typeface="Raleway"/>
              <a:ea typeface="Raleway"/>
              <a:cs typeface="Raleway"/>
              <a:sym typeface="Raleway"/>
            </a:endParaRPr>
          </a:p>
          <a:p>
            <a:pPr indent="0" lvl="0" marL="0" marR="0" rtl="0" algn="l">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Raleway Medium"/>
              <a:ea typeface="Raleway Medium"/>
              <a:cs typeface="Raleway Medium"/>
              <a:sym typeface="Raleway Medium"/>
            </a:endParaRPr>
          </a:p>
          <a:p>
            <a:pPr indent="0" lvl="0" marL="0" marR="0" rtl="0" algn="just">
              <a:lnSpc>
                <a:spcPct val="115000"/>
              </a:lnSpc>
              <a:spcBef>
                <a:spcPts val="0"/>
              </a:spcBef>
              <a:spcAft>
                <a:spcPts val="0"/>
              </a:spcAft>
              <a:buClr>
                <a:srgbClr val="000000"/>
              </a:buClr>
              <a:buSzPts val="1200"/>
              <a:buFont typeface="Arial"/>
              <a:buNone/>
            </a:pPr>
            <a:r>
              <a:rPr b="0" i="0" lang="en" sz="1200" u="none" cap="none" strike="noStrike">
                <a:solidFill>
                  <a:schemeClr val="dk1"/>
                </a:solidFill>
                <a:latin typeface="Raleway Medium"/>
                <a:ea typeface="Raleway Medium"/>
                <a:cs typeface="Raleway Medium"/>
                <a:sym typeface="Raleway Medium"/>
              </a:rPr>
              <a:t>Kaya yang udah dibahas pada bagian sejarah UX, era PC dimulai pada tahun 1970-an. Pada era PC inilah, User Interface (UI) mulai marak digunakan. Seperti inovasi dari pusat penelitian PARC Xerox, melalui UI grafis dan mouse.</a:t>
            </a:r>
            <a:endParaRPr b="0" i="0" sz="1200" u="none" cap="none" strike="noStrike">
              <a:solidFill>
                <a:schemeClr val="dk1"/>
              </a:solidFill>
              <a:latin typeface="Raleway Medium"/>
              <a:ea typeface="Raleway Medium"/>
              <a:cs typeface="Raleway Medium"/>
              <a:sym typeface="Raleway Medium"/>
            </a:endParaRPr>
          </a:p>
          <a:p>
            <a:pPr indent="0" lvl="0" marL="0" marR="0" rtl="0" algn="just">
              <a:lnSpc>
                <a:spcPct val="115000"/>
              </a:lnSpc>
              <a:spcBef>
                <a:spcPts val="0"/>
              </a:spcBef>
              <a:spcAft>
                <a:spcPts val="0"/>
              </a:spcAft>
              <a:buClr>
                <a:schemeClr val="dk1"/>
              </a:buClr>
              <a:buSzPts val="1100"/>
              <a:buFont typeface="Arial"/>
              <a:buNone/>
            </a:pPr>
            <a:r>
              <a:t/>
            </a:r>
            <a:endParaRPr b="0" i="0" sz="1200" u="none" cap="none" strike="noStrike">
              <a:solidFill>
                <a:schemeClr val="dk1"/>
              </a:solidFill>
              <a:latin typeface="Raleway Medium"/>
              <a:ea typeface="Raleway Medium"/>
              <a:cs typeface="Raleway Medium"/>
              <a:sym typeface="Raleway Medium"/>
            </a:endParaRPr>
          </a:p>
          <a:p>
            <a:pPr indent="0" lvl="0" marL="0" marR="0" rtl="0" algn="just">
              <a:lnSpc>
                <a:spcPct val="115000"/>
              </a:lnSpc>
              <a:spcBef>
                <a:spcPts val="0"/>
              </a:spcBef>
              <a:spcAft>
                <a:spcPts val="0"/>
              </a:spcAft>
              <a:buClr>
                <a:schemeClr val="dk1"/>
              </a:buClr>
              <a:buSzPts val="1100"/>
              <a:buFont typeface="Arial"/>
              <a:buNone/>
            </a:pPr>
            <a:r>
              <a:rPr b="0" i="0" lang="en" sz="1200" u="none" cap="none" strike="noStrike">
                <a:solidFill>
                  <a:schemeClr val="dk1"/>
                </a:solidFill>
                <a:latin typeface="Raleway Medium"/>
                <a:ea typeface="Raleway Medium"/>
                <a:cs typeface="Raleway Medium"/>
                <a:sym typeface="Raleway Medium"/>
              </a:rPr>
              <a:t>Gak cuma itu, di tahun 1984, Apple merilis PC massal pertama, yaitu Apple Macintosh yang menampilkan User Interface. Sejak saat itu, </a:t>
            </a:r>
            <a:r>
              <a:rPr b="1" i="0" lang="en" sz="1200" u="none" cap="none" strike="noStrike">
                <a:solidFill>
                  <a:schemeClr val="dk1"/>
                </a:solidFill>
                <a:latin typeface="Raleway"/>
                <a:ea typeface="Raleway"/>
                <a:cs typeface="Raleway"/>
                <a:sym typeface="Raleway"/>
              </a:rPr>
              <a:t>Apple menjadi inovator sejati dalam pengembangan User Interface. </a:t>
            </a:r>
            <a:endParaRPr b="1" i="0" sz="1200" u="none" cap="none" strike="noStrike">
              <a:solidFill>
                <a:srgbClr val="743673"/>
              </a:solidFill>
              <a:highlight>
                <a:schemeClr val="lt1"/>
              </a:highlight>
              <a:latin typeface="Raleway"/>
              <a:ea typeface="Raleway"/>
              <a:cs typeface="Raleway"/>
              <a:sym typeface="Raleway"/>
            </a:endParaRPr>
          </a:p>
        </p:txBody>
      </p:sp>
      <p:pic>
        <p:nvPicPr>
          <p:cNvPr id="247" name="Google Shape;247;p20">
            <a:hlinkClick r:id="rId3"/>
          </p:cNvPr>
          <p:cNvPicPr preferRelativeResize="0"/>
          <p:nvPr/>
        </p:nvPicPr>
        <p:blipFill rotWithShape="1">
          <a:blip r:embed="rId4">
            <a:alphaModFix/>
          </a:blip>
          <a:srcRect b="5850" l="4465" r="7807" t="6035"/>
          <a:stretch/>
        </p:blipFill>
        <p:spPr>
          <a:xfrm>
            <a:off x="5574000" y="1188720"/>
            <a:ext cx="3017522" cy="27432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21"/>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253" name="Google Shape;253;p21"/>
          <p:cNvSpPr txBox="1"/>
          <p:nvPr>
            <p:ph type="title"/>
          </p:nvPr>
        </p:nvSpPr>
        <p:spPr>
          <a:xfrm>
            <a:off x="685800" y="321263"/>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Clr>
                <a:schemeClr val="dk1"/>
              </a:buClr>
              <a:buSzPts val="1100"/>
              <a:buFont typeface="Arial"/>
              <a:buNone/>
            </a:pPr>
            <a:r>
              <a:rPr lang="en"/>
              <a:t>Penggunaan User Interface dari Masa ke Masa</a:t>
            </a:r>
            <a:endParaRPr/>
          </a:p>
          <a:p>
            <a:pPr indent="0" lvl="0" marL="0" rtl="0" algn="l">
              <a:lnSpc>
                <a:spcPct val="100000"/>
              </a:lnSpc>
              <a:spcBef>
                <a:spcPts val="0"/>
              </a:spcBef>
              <a:spcAft>
                <a:spcPts val="0"/>
              </a:spcAft>
              <a:buSzPts val="1200"/>
              <a:buNone/>
            </a:pPr>
            <a:r>
              <a:t/>
            </a:r>
            <a:endParaRPr/>
          </a:p>
        </p:txBody>
      </p:sp>
      <p:sp>
        <p:nvSpPr>
          <p:cNvPr id="254" name="Google Shape;254;p21"/>
          <p:cNvSpPr txBox="1"/>
          <p:nvPr/>
        </p:nvSpPr>
        <p:spPr>
          <a:xfrm>
            <a:off x="685800" y="1040000"/>
            <a:ext cx="4160100" cy="3200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600"/>
              </a:spcBef>
              <a:spcAft>
                <a:spcPts val="0"/>
              </a:spcAft>
              <a:buClr>
                <a:srgbClr val="000000"/>
              </a:buClr>
              <a:buSzPts val="1800"/>
              <a:buFont typeface="Arial"/>
              <a:buNone/>
            </a:pPr>
            <a:r>
              <a:rPr b="1" i="0" lang="en" sz="1800" u="none" cap="none" strike="noStrike">
                <a:solidFill>
                  <a:srgbClr val="743673"/>
                </a:solidFill>
                <a:highlight>
                  <a:schemeClr val="lt1"/>
                </a:highlight>
                <a:latin typeface="Raleway"/>
                <a:ea typeface="Raleway"/>
                <a:cs typeface="Raleway"/>
                <a:sym typeface="Raleway"/>
              </a:rPr>
              <a:t>1984: Inspirasi dari Xerox</a:t>
            </a:r>
            <a:endParaRPr b="1" i="0" sz="1800" u="none" cap="none" strike="noStrike">
              <a:solidFill>
                <a:srgbClr val="743673"/>
              </a:solidFill>
              <a:highlight>
                <a:schemeClr val="lt1"/>
              </a:highlight>
              <a:latin typeface="Raleway"/>
              <a:ea typeface="Raleway"/>
              <a:cs typeface="Raleway"/>
              <a:sym typeface="Raleway"/>
            </a:endParaRPr>
          </a:p>
          <a:p>
            <a:pPr indent="0" lvl="0" marL="0" marR="0" rtl="0" algn="l">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Raleway Medium"/>
              <a:ea typeface="Raleway Medium"/>
              <a:cs typeface="Raleway Medium"/>
              <a:sym typeface="Raleway Medium"/>
            </a:endParaRPr>
          </a:p>
          <a:p>
            <a:pPr indent="0" lvl="0" marL="0" marR="0" rtl="0" algn="just">
              <a:lnSpc>
                <a:spcPct val="115000"/>
              </a:lnSpc>
              <a:spcBef>
                <a:spcPts val="0"/>
              </a:spcBef>
              <a:spcAft>
                <a:spcPts val="0"/>
              </a:spcAft>
              <a:buClr>
                <a:srgbClr val="000000"/>
              </a:buClr>
              <a:buSzPts val="1200"/>
              <a:buFont typeface="Arial"/>
              <a:buNone/>
            </a:pPr>
            <a:r>
              <a:rPr b="0" i="0" lang="en" sz="1200" u="none" cap="none" strike="noStrike">
                <a:solidFill>
                  <a:schemeClr val="dk1"/>
                </a:solidFill>
                <a:latin typeface="Raleway Medium"/>
                <a:ea typeface="Raleway Medium"/>
                <a:cs typeface="Raleway Medium"/>
                <a:sym typeface="Raleway Medium"/>
              </a:rPr>
              <a:t>Pada tahun 1979, pendiri Apple, Steve Jobs, mengunjungi PARC Xerox dan menemukan inspirasi dari GUI (Graphical User Interface) yang dikembangkan Xerox.</a:t>
            </a:r>
            <a:endParaRPr b="0" i="0" sz="1200" u="none" cap="none" strike="noStrike">
              <a:solidFill>
                <a:schemeClr val="dk1"/>
              </a:solidFill>
              <a:latin typeface="Raleway Medium"/>
              <a:ea typeface="Raleway Medium"/>
              <a:cs typeface="Raleway Medium"/>
              <a:sym typeface="Raleway Medium"/>
            </a:endParaRPr>
          </a:p>
          <a:p>
            <a:pPr indent="0" lvl="0" marL="0" marR="0" rtl="0" algn="just">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Raleway Medium"/>
              <a:ea typeface="Raleway Medium"/>
              <a:cs typeface="Raleway Medium"/>
              <a:sym typeface="Raleway Medium"/>
            </a:endParaRPr>
          </a:p>
          <a:p>
            <a:pPr indent="0" lvl="0" marL="0" marR="0" rtl="0" algn="just">
              <a:lnSpc>
                <a:spcPct val="115000"/>
              </a:lnSpc>
              <a:spcBef>
                <a:spcPts val="0"/>
              </a:spcBef>
              <a:spcAft>
                <a:spcPts val="0"/>
              </a:spcAft>
              <a:buClr>
                <a:srgbClr val="000000"/>
              </a:buClr>
              <a:buSzPts val="1200"/>
              <a:buFont typeface="Arial"/>
              <a:buNone/>
            </a:pPr>
            <a:r>
              <a:rPr b="0" i="0" lang="en" sz="1200" u="none" cap="none" strike="noStrike">
                <a:solidFill>
                  <a:schemeClr val="dk1"/>
                </a:solidFill>
                <a:latin typeface="Raleway Medium"/>
                <a:ea typeface="Raleway Medium"/>
                <a:cs typeface="Raleway Medium"/>
                <a:sym typeface="Raleway Medium"/>
              </a:rPr>
              <a:t>Kemudian, Jobs mengaplikasikan inspirasi tersebut untuk menciptakan PC Apple Macintosh pada tahun 1984. Penggunaan GUI di Macintosh memiliki tampilan lebih menarik dan simple dibandingkan GUI versi lainnya. </a:t>
            </a:r>
            <a:endParaRPr b="0" i="0" sz="1200" u="none" cap="none" strike="noStrike">
              <a:solidFill>
                <a:schemeClr val="dk1"/>
              </a:solidFill>
              <a:latin typeface="Raleway Medium"/>
              <a:ea typeface="Raleway Medium"/>
              <a:cs typeface="Raleway Medium"/>
              <a:sym typeface="Raleway Medium"/>
            </a:endParaRPr>
          </a:p>
          <a:p>
            <a:pPr indent="0" lvl="0" marL="0" marR="0" rtl="0" algn="just">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Raleway Medium"/>
              <a:ea typeface="Raleway Medium"/>
              <a:cs typeface="Raleway Medium"/>
              <a:sym typeface="Raleway Medium"/>
            </a:endParaRPr>
          </a:p>
          <a:p>
            <a:pPr indent="0" lvl="0" marL="0" marR="0" rtl="0" algn="just">
              <a:lnSpc>
                <a:spcPct val="115000"/>
              </a:lnSpc>
              <a:spcBef>
                <a:spcPts val="0"/>
              </a:spcBef>
              <a:spcAft>
                <a:spcPts val="0"/>
              </a:spcAft>
              <a:buClr>
                <a:srgbClr val="000000"/>
              </a:buClr>
              <a:buSzPts val="1200"/>
              <a:buFont typeface="Arial"/>
              <a:buNone/>
            </a:pPr>
            <a:r>
              <a:rPr b="0" i="0" lang="en" sz="1200" u="none" cap="none" strike="noStrike">
                <a:solidFill>
                  <a:schemeClr val="dk1"/>
                </a:solidFill>
                <a:latin typeface="Raleway Medium"/>
                <a:ea typeface="Raleway Medium"/>
                <a:cs typeface="Raleway Medium"/>
                <a:sym typeface="Raleway Medium"/>
              </a:rPr>
              <a:t>Misal, </a:t>
            </a:r>
            <a:r>
              <a:rPr b="1" i="0" lang="en" sz="1200" u="none" cap="none" strike="noStrike">
                <a:solidFill>
                  <a:schemeClr val="dk1"/>
                </a:solidFill>
                <a:latin typeface="Raleway"/>
                <a:ea typeface="Raleway"/>
                <a:cs typeface="Raleway"/>
                <a:sym typeface="Raleway"/>
              </a:rPr>
              <a:t>penggunaan ikon-ikon pada tampilan komputer. </a:t>
            </a:r>
            <a:r>
              <a:rPr b="0" i="0" lang="en" sz="1200" u="none" cap="none" strike="noStrike">
                <a:solidFill>
                  <a:schemeClr val="dk1"/>
                </a:solidFill>
                <a:latin typeface="Raleway Medium"/>
                <a:ea typeface="Raleway Medium"/>
                <a:cs typeface="Raleway Medium"/>
                <a:sym typeface="Raleway Medium"/>
              </a:rPr>
              <a:t>So, wajar aja kalo Apple disebut inovator sejati dalam pengembangan User Interface~</a:t>
            </a:r>
            <a:endParaRPr b="0" i="0" sz="1200" u="none" cap="none" strike="noStrike">
              <a:solidFill>
                <a:schemeClr val="dk1"/>
              </a:solidFill>
              <a:latin typeface="Raleway Medium"/>
              <a:ea typeface="Raleway Medium"/>
              <a:cs typeface="Raleway Medium"/>
              <a:sym typeface="Raleway Medium"/>
            </a:endParaRPr>
          </a:p>
          <a:p>
            <a:pPr indent="0" lvl="0" marL="0" marR="0" rtl="0" algn="l">
              <a:lnSpc>
                <a:spcPct val="115000"/>
              </a:lnSpc>
              <a:spcBef>
                <a:spcPts val="0"/>
              </a:spcBef>
              <a:spcAft>
                <a:spcPts val="0"/>
              </a:spcAft>
              <a:buClr>
                <a:srgbClr val="000000"/>
              </a:buClr>
              <a:buSzPts val="1800"/>
              <a:buFont typeface="Arial"/>
              <a:buNone/>
            </a:pPr>
            <a:r>
              <a:t/>
            </a:r>
            <a:endParaRPr b="1" i="0" sz="1800" u="none" cap="none" strike="noStrike">
              <a:solidFill>
                <a:srgbClr val="743673"/>
              </a:solidFill>
              <a:highlight>
                <a:schemeClr val="lt1"/>
              </a:highlight>
              <a:latin typeface="Raleway"/>
              <a:ea typeface="Raleway"/>
              <a:cs typeface="Raleway"/>
              <a:sym typeface="Raleway"/>
            </a:endParaRPr>
          </a:p>
        </p:txBody>
      </p:sp>
      <p:pic>
        <p:nvPicPr>
          <p:cNvPr id="255" name="Google Shape;255;p21">
            <a:hlinkClick r:id="rId3"/>
          </p:cNvPr>
          <p:cNvPicPr preferRelativeResize="0"/>
          <p:nvPr/>
        </p:nvPicPr>
        <p:blipFill rotWithShape="1">
          <a:blip r:embed="rId4">
            <a:alphaModFix/>
          </a:blip>
          <a:srcRect b="0" l="0" r="0" t="0"/>
          <a:stretch/>
        </p:blipFill>
        <p:spPr>
          <a:xfrm>
            <a:off x="6209412" y="3166225"/>
            <a:ext cx="2240775" cy="1481975"/>
          </a:xfrm>
          <a:prstGeom prst="rect">
            <a:avLst/>
          </a:prstGeom>
          <a:noFill/>
          <a:ln>
            <a:noFill/>
          </a:ln>
        </p:spPr>
      </p:pic>
      <p:pic>
        <p:nvPicPr>
          <p:cNvPr id="256" name="Google Shape;256;p21"/>
          <p:cNvPicPr preferRelativeResize="0"/>
          <p:nvPr/>
        </p:nvPicPr>
        <p:blipFill rotWithShape="1">
          <a:blip r:embed="rId5">
            <a:alphaModFix/>
          </a:blip>
          <a:srcRect b="0" l="0" r="0" t="0"/>
          <a:stretch/>
        </p:blipFill>
        <p:spPr>
          <a:xfrm>
            <a:off x="4843875" y="696525"/>
            <a:ext cx="3569802" cy="3462651"/>
          </a:xfrm>
          <a:prstGeom prst="rect">
            <a:avLst/>
          </a:prstGeom>
          <a:noFill/>
          <a:ln>
            <a:noFill/>
          </a:ln>
        </p:spPr>
      </p:pic>
      <p:pic>
        <p:nvPicPr>
          <p:cNvPr id="257" name="Google Shape;257;p21">
            <a:hlinkClick r:id="rId6"/>
          </p:cNvPr>
          <p:cNvPicPr preferRelativeResize="0"/>
          <p:nvPr/>
        </p:nvPicPr>
        <p:blipFill rotWithShape="1">
          <a:blip r:embed="rId7">
            <a:alphaModFix/>
          </a:blip>
          <a:srcRect b="0" l="0" r="0" t="0"/>
          <a:stretch/>
        </p:blipFill>
        <p:spPr>
          <a:xfrm>
            <a:off x="5169400" y="1040000"/>
            <a:ext cx="2931100" cy="19597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22"/>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263" name="Google Shape;263;p22"/>
          <p:cNvSpPr txBox="1"/>
          <p:nvPr>
            <p:ph type="title"/>
          </p:nvPr>
        </p:nvSpPr>
        <p:spPr>
          <a:xfrm>
            <a:off x="685800" y="246888"/>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SzPts val="1200"/>
              <a:buNone/>
            </a:pPr>
            <a:r>
              <a:rPr lang="en"/>
              <a:t>Penggunaan User Interface dari Masa ke Masa</a:t>
            </a:r>
            <a:endParaRPr/>
          </a:p>
        </p:txBody>
      </p:sp>
      <p:sp>
        <p:nvSpPr>
          <p:cNvPr id="264" name="Google Shape;264;p22"/>
          <p:cNvSpPr txBox="1"/>
          <p:nvPr/>
        </p:nvSpPr>
        <p:spPr>
          <a:xfrm>
            <a:off x="685800" y="1543500"/>
            <a:ext cx="4284300" cy="3200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600"/>
              </a:spcBef>
              <a:spcAft>
                <a:spcPts val="0"/>
              </a:spcAft>
              <a:buClr>
                <a:srgbClr val="000000"/>
              </a:buClr>
              <a:buSzPts val="1800"/>
              <a:buFont typeface="Arial"/>
              <a:buNone/>
            </a:pPr>
            <a:r>
              <a:rPr b="1" i="0" lang="en" sz="1800" u="none" cap="none" strike="noStrike">
                <a:solidFill>
                  <a:srgbClr val="743673"/>
                </a:solidFill>
                <a:highlight>
                  <a:schemeClr val="lt1"/>
                </a:highlight>
                <a:latin typeface="Raleway"/>
                <a:ea typeface="Raleway"/>
                <a:cs typeface="Raleway"/>
                <a:sym typeface="Raleway"/>
              </a:rPr>
              <a:t>1994-1997: Komputer mulai mengecil</a:t>
            </a:r>
            <a:endParaRPr b="0" i="0" sz="1300" u="none" cap="none" strike="noStrike">
              <a:solidFill>
                <a:schemeClr val="dk1"/>
              </a:solidFill>
              <a:latin typeface="Raleway Medium"/>
              <a:ea typeface="Raleway Medium"/>
              <a:cs typeface="Raleway Medium"/>
              <a:sym typeface="Raleway Medium"/>
            </a:endParaRPr>
          </a:p>
          <a:p>
            <a:pPr indent="0" lvl="0" marL="0" marR="0" rtl="0" algn="l">
              <a:lnSpc>
                <a:spcPct val="115000"/>
              </a:lnSpc>
              <a:spcBef>
                <a:spcPts val="0"/>
              </a:spcBef>
              <a:spcAft>
                <a:spcPts val="0"/>
              </a:spcAft>
              <a:buClr>
                <a:srgbClr val="000000"/>
              </a:buClr>
              <a:buSzPts val="1300"/>
              <a:buFont typeface="Arial"/>
              <a:buNone/>
            </a:pPr>
            <a:r>
              <a:t/>
            </a:r>
            <a:endParaRPr b="0" i="0" sz="1300" u="none" cap="none" strike="noStrike">
              <a:solidFill>
                <a:schemeClr val="dk1"/>
              </a:solidFill>
              <a:latin typeface="Raleway Medium"/>
              <a:ea typeface="Raleway Medium"/>
              <a:cs typeface="Raleway Medium"/>
              <a:sym typeface="Raleway Medium"/>
            </a:endParaRPr>
          </a:p>
          <a:p>
            <a:pPr indent="0" lvl="0" marL="0" marR="0" rtl="0" algn="just">
              <a:lnSpc>
                <a:spcPct val="115000"/>
              </a:lnSpc>
              <a:spcBef>
                <a:spcPts val="0"/>
              </a:spcBef>
              <a:spcAft>
                <a:spcPts val="0"/>
              </a:spcAft>
              <a:buClr>
                <a:srgbClr val="000000"/>
              </a:buClr>
              <a:buSzPts val="1200"/>
              <a:buFont typeface="Arial"/>
              <a:buNone/>
            </a:pPr>
            <a:r>
              <a:rPr b="1" i="0" lang="en" sz="1200" u="none" cap="none" strike="noStrike">
                <a:solidFill>
                  <a:schemeClr val="dk1"/>
                </a:solidFill>
                <a:latin typeface="Raleway"/>
                <a:ea typeface="Raleway"/>
                <a:cs typeface="Raleway"/>
                <a:sym typeface="Raleway"/>
              </a:rPr>
              <a:t>Pada tahun 1990-an, komputer terus mengalami perubahan. </a:t>
            </a:r>
            <a:r>
              <a:rPr b="0" i="0" lang="en" sz="1200" u="none" cap="none" strike="noStrike">
                <a:solidFill>
                  <a:schemeClr val="dk1"/>
                </a:solidFill>
                <a:latin typeface="Raleway Medium"/>
                <a:ea typeface="Raleway Medium"/>
                <a:cs typeface="Raleway Medium"/>
                <a:sym typeface="Raleway Medium"/>
              </a:rPr>
              <a:t>Dari PC cembung berukuran besar, laptop, hingga perangkat yang dapat digenggam. </a:t>
            </a:r>
            <a:endParaRPr b="0" i="0" sz="1200" u="none" cap="none" strike="noStrike">
              <a:solidFill>
                <a:schemeClr val="dk1"/>
              </a:solidFill>
              <a:latin typeface="Raleway Medium"/>
              <a:ea typeface="Raleway Medium"/>
              <a:cs typeface="Raleway Medium"/>
              <a:sym typeface="Raleway Medium"/>
            </a:endParaRPr>
          </a:p>
          <a:p>
            <a:pPr indent="0" lvl="0" marL="0" marR="0" rtl="0" algn="just">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Raleway Medium"/>
              <a:ea typeface="Raleway Medium"/>
              <a:cs typeface="Raleway Medium"/>
              <a:sym typeface="Raleway Medium"/>
            </a:endParaRPr>
          </a:p>
          <a:p>
            <a:pPr indent="0" lvl="0" marL="0" marR="0" rtl="0" algn="just">
              <a:lnSpc>
                <a:spcPct val="115000"/>
              </a:lnSpc>
              <a:spcBef>
                <a:spcPts val="0"/>
              </a:spcBef>
              <a:spcAft>
                <a:spcPts val="0"/>
              </a:spcAft>
              <a:buClr>
                <a:srgbClr val="000000"/>
              </a:buClr>
              <a:buSzPts val="1200"/>
              <a:buFont typeface="Arial"/>
              <a:buNone/>
            </a:pPr>
            <a:r>
              <a:rPr b="0" i="0" lang="en" sz="1200" u="none" cap="none" strike="noStrike">
                <a:solidFill>
                  <a:schemeClr val="dk1"/>
                </a:solidFill>
                <a:latin typeface="Raleway Medium"/>
                <a:ea typeface="Raleway Medium"/>
                <a:cs typeface="Raleway Medium"/>
                <a:sym typeface="Raleway Medium"/>
              </a:rPr>
              <a:t>Seperti PalmPilot, sebuah perangkat dengan User Interface yang keren, stylus pen, dan bisa touchscreen!</a:t>
            </a:r>
            <a:endParaRPr b="0" i="0" sz="1200" u="none" cap="none" strike="noStrike">
              <a:solidFill>
                <a:schemeClr val="dk1"/>
              </a:solidFill>
              <a:latin typeface="Raleway Medium"/>
              <a:ea typeface="Raleway Medium"/>
              <a:cs typeface="Raleway Medium"/>
              <a:sym typeface="Raleway Medium"/>
            </a:endParaRPr>
          </a:p>
        </p:txBody>
      </p:sp>
      <p:pic>
        <p:nvPicPr>
          <p:cNvPr id="265" name="Google Shape;265;p22">
            <a:hlinkClick r:id="rId3"/>
          </p:cNvPr>
          <p:cNvPicPr preferRelativeResize="0"/>
          <p:nvPr/>
        </p:nvPicPr>
        <p:blipFill rotWithShape="1">
          <a:blip r:embed="rId4">
            <a:alphaModFix/>
          </a:blip>
          <a:srcRect b="0" l="0" r="0" t="0"/>
          <a:stretch/>
        </p:blipFill>
        <p:spPr>
          <a:xfrm>
            <a:off x="5573625" y="1486225"/>
            <a:ext cx="3017526" cy="3017526"/>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23"/>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271" name="Google Shape;271;p23"/>
          <p:cNvSpPr txBox="1"/>
          <p:nvPr>
            <p:ph type="title"/>
          </p:nvPr>
        </p:nvSpPr>
        <p:spPr>
          <a:xfrm>
            <a:off x="685800" y="246888"/>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SzPts val="1200"/>
              <a:buNone/>
            </a:pPr>
            <a:r>
              <a:rPr lang="en"/>
              <a:t>Penggunaan User Interface dari Masa ke Masa</a:t>
            </a:r>
            <a:endParaRPr/>
          </a:p>
        </p:txBody>
      </p:sp>
      <p:sp>
        <p:nvSpPr>
          <p:cNvPr id="272" name="Google Shape;272;p23"/>
          <p:cNvSpPr txBox="1"/>
          <p:nvPr/>
        </p:nvSpPr>
        <p:spPr>
          <a:xfrm>
            <a:off x="685800" y="1188725"/>
            <a:ext cx="4383300" cy="3200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600"/>
              </a:spcBef>
              <a:spcAft>
                <a:spcPts val="0"/>
              </a:spcAft>
              <a:buClr>
                <a:srgbClr val="000000"/>
              </a:buClr>
              <a:buSzPts val="1800"/>
              <a:buFont typeface="Arial"/>
              <a:buNone/>
            </a:pPr>
            <a:r>
              <a:rPr b="1" i="0" lang="en" sz="1800" u="none" cap="none" strike="noStrike">
                <a:solidFill>
                  <a:srgbClr val="743673"/>
                </a:solidFill>
                <a:highlight>
                  <a:schemeClr val="lt1"/>
                </a:highlight>
                <a:latin typeface="Raleway"/>
                <a:ea typeface="Raleway"/>
                <a:cs typeface="Raleway"/>
                <a:sym typeface="Raleway"/>
              </a:rPr>
              <a:t>1997-an: Suara untuk interaksi</a:t>
            </a:r>
            <a:endParaRPr b="1" i="0" sz="1800" u="none" cap="none" strike="noStrike">
              <a:solidFill>
                <a:srgbClr val="743673"/>
              </a:solidFill>
              <a:highlight>
                <a:schemeClr val="lt1"/>
              </a:highlight>
              <a:latin typeface="Raleway"/>
              <a:ea typeface="Raleway"/>
              <a:cs typeface="Raleway"/>
              <a:sym typeface="Raleway"/>
            </a:endParaRPr>
          </a:p>
          <a:p>
            <a:pPr indent="0" lvl="0" marL="0" marR="0" rtl="0" algn="l">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Raleway Medium"/>
              <a:ea typeface="Raleway Medium"/>
              <a:cs typeface="Raleway Medium"/>
              <a:sym typeface="Raleway Medium"/>
            </a:endParaRPr>
          </a:p>
          <a:p>
            <a:pPr indent="0" lvl="0" marL="0" marR="0" rtl="0" algn="just">
              <a:lnSpc>
                <a:spcPct val="115000"/>
              </a:lnSpc>
              <a:spcBef>
                <a:spcPts val="0"/>
              </a:spcBef>
              <a:spcAft>
                <a:spcPts val="0"/>
              </a:spcAft>
              <a:buClr>
                <a:srgbClr val="000000"/>
              </a:buClr>
              <a:buSzPts val="1200"/>
              <a:buFont typeface="Arial"/>
              <a:buNone/>
            </a:pPr>
            <a:r>
              <a:rPr b="0" i="0" lang="en" sz="1200" u="none" cap="none" strike="noStrike">
                <a:solidFill>
                  <a:schemeClr val="dk1"/>
                </a:solidFill>
                <a:latin typeface="Raleway Medium"/>
                <a:ea typeface="Raleway Medium"/>
                <a:cs typeface="Raleway Medium"/>
                <a:sym typeface="Raleway Medium"/>
              </a:rPr>
              <a:t>Kamu pasti familiar dengan google assistant atau siri pada handphone kamu, kan? Tahukah kamu kalo penggunaan </a:t>
            </a:r>
            <a:r>
              <a:rPr b="1" i="0" lang="en" sz="1200" u="none" cap="none" strike="noStrike">
                <a:solidFill>
                  <a:schemeClr val="dk1"/>
                </a:solidFill>
                <a:latin typeface="Raleway"/>
                <a:ea typeface="Raleway"/>
                <a:cs typeface="Raleway"/>
                <a:sym typeface="Raleway"/>
              </a:rPr>
              <a:t>speech recognition</a:t>
            </a:r>
            <a:r>
              <a:rPr b="0" i="0" lang="en" sz="1200" u="none" cap="none" strike="noStrike">
                <a:solidFill>
                  <a:schemeClr val="dk1"/>
                </a:solidFill>
                <a:latin typeface="Raleway Medium"/>
                <a:ea typeface="Raleway Medium"/>
                <a:cs typeface="Raleway Medium"/>
                <a:sym typeface="Raleway Medium"/>
              </a:rPr>
              <a:t> kaya gitu udah ada sejak tahun 1997.</a:t>
            </a:r>
            <a:endParaRPr b="0" i="0" sz="1200" u="none" cap="none" strike="noStrike">
              <a:solidFill>
                <a:schemeClr val="dk1"/>
              </a:solidFill>
              <a:latin typeface="Raleway Medium"/>
              <a:ea typeface="Raleway Medium"/>
              <a:cs typeface="Raleway Medium"/>
              <a:sym typeface="Raleway Medium"/>
            </a:endParaRPr>
          </a:p>
          <a:p>
            <a:pPr indent="0" lvl="0" marL="0" marR="0" rtl="0" algn="just">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Raleway Medium"/>
              <a:ea typeface="Raleway Medium"/>
              <a:cs typeface="Raleway Medium"/>
              <a:sym typeface="Raleway Medium"/>
            </a:endParaRPr>
          </a:p>
          <a:p>
            <a:pPr indent="0" lvl="0" marL="0" marR="0" rtl="0" algn="just">
              <a:lnSpc>
                <a:spcPct val="115000"/>
              </a:lnSpc>
              <a:spcBef>
                <a:spcPts val="0"/>
              </a:spcBef>
              <a:spcAft>
                <a:spcPts val="0"/>
              </a:spcAft>
              <a:buClr>
                <a:srgbClr val="000000"/>
              </a:buClr>
              <a:buSzPts val="1200"/>
              <a:buFont typeface="Arial"/>
              <a:buNone/>
            </a:pPr>
            <a:r>
              <a:rPr b="0" i="0" lang="en" sz="1200" u="none" cap="none" strike="noStrike">
                <a:solidFill>
                  <a:schemeClr val="dk1"/>
                </a:solidFill>
                <a:latin typeface="Raleway Medium"/>
                <a:ea typeface="Raleway Medium"/>
                <a:cs typeface="Raleway Medium"/>
                <a:sym typeface="Raleway Medium"/>
              </a:rPr>
              <a:t>Dragon (sekarang Nuance), sebuah perusahaan  software Amerika Serikat, mengembangkan software bernama Dragon NaturallySpeaking yang memungkinkan komputer membaca suara dari penggunanya.</a:t>
            </a:r>
            <a:endParaRPr b="0" i="0" sz="1200" u="none" cap="none" strike="noStrike">
              <a:solidFill>
                <a:schemeClr val="dk1"/>
              </a:solidFill>
              <a:latin typeface="Raleway Medium"/>
              <a:ea typeface="Raleway Medium"/>
              <a:cs typeface="Raleway Medium"/>
              <a:sym typeface="Raleway Medium"/>
            </a:endParaRPr>
          </a:p>
          <a:p>
            <a:pPr indent="0" lvl="0" marL="0" marR="0" rtl="0" algn="just">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Raleway Medium"/>
              <a:ea typeface="Raleway Medium"/>
              <a:cs typeface="Raleway Medium"/>
              <a:sym typeface="Raleway Medium"/>
            </a:endParaRPr>
          </a:p>
          <a:p>
            <a:pPr indent="0" lvl="0" marL="0" marR="0" rtl="0" algn="just">
              <a:lnSpc>
                <a:spcPct val="115000"/>
              </a:lnSpc>
              <a:spcBef>
                <a:spcPts val="0"/>
              </a:spcBef>
              <a:spcAft>
                <a:spcPts val="0"/>
              </a:spcAft>
              <a:buClr>
                <a:srgbClr val="000000"/>
              </a:buClr>
              <a:buSzPts val="1200"/>
              <a:buFont typeface="Arial"/>
              <a:buNone/>
            </a:pPr>
            <a:r>
              <a:rPr b="0" i="0" lang="en" sz="1200" u="none" cap="none" strike="noStrike">
                <a:solidFill>
                  <a:schemeClr val="dk1"/>
                </a:solidFill>
                <a:latin typeface="Raleway Medium"/>
                <a:ea typeface="Raleway Medium"/>
                <a:cs typeface="Raleway Medium"/>
                <a:sym typeface="Raleway Medium"/>
              </a:rPr>
              <a:t>Sejak saat itu, </a:t>
            </a:r>
            <a:r>
              <a:rPr b="1" i="0" lang="en" sz="1200" u="none" cap="none" strike="noStrike">
                <a:solidFill>
                  <a:schemeClr val="dk1"/>
                </a:solidFill>
                <a:latin typeface="Raleway"/>
                <a:ea typeface="Raleway"/>
                <a:cs typeface="Raleway"/>
                <a:sym typeface="Raleway"/>
              </a:rPr>
              <a:t>penggunaan speech recognition menjadi populer pada komputer hingga telepon genggam. </a:t>
            </a:r>
            <a:endParaRPr b="1" i="0" sz="1200" u="none" cap="none" strike="noStrike">
              <a:solidFill>
                <a:schemeClr val="dk1"/>
              </a:solidFill>
              <a:latin typeface="Raleway"/>
              <a:ea typeface="Raleway"/>
              <a:cs typeface="Raleway"/>
              <a:sym typeface="Raleway"/>
            </a:endParaRPr>
          </a:p>
          <a:p>
            <a:pPr indent="0" lvl="0" marL="0" marR="0" rtl="0" algn="just">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Raleway Medium"/>
              <a:ea typeface="Raleway Medium"/>
              <a:cs typeface="Raleway Medium"/>
              <a:sym typeface="Raleway Medium"/>
            </a:endParaRPr>
          </a:p>
          <a:p>
            <a:pPr indent="0" lvl="0" marL="0" marR="0" rtl="0" algn="l">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Raleway Medium"/>
              <a:ea typeface="Raleway Medium"/>
              <a:cs typeface="Raleway Medium"/>
              <a:sym typeface="Raleway Medium"/>
            </a:endParaRPr>
          </a:p>
        </p:txBody>
      </p:sp>
      <p:pic>
        <p:nvPicPr>
          <p:cNvPr id="273" name="Google Shape;273;p23"/>
          <p:cNvPicPr preferRelativeResize="0"/>
          <p:nvPr/>
        </p:nvPicPr>
        <p:blipFill rotWithShape="1">
          <a:blip r:embed="rId3">
            <a:alphaModFix/>
          </a:blip>
          <a:srcRect b="0" l="0" r="0" t="0"/>
          <a:stretch/>
        </p:blipFill>
        <p:spPr>
          <a:xfrm>
            <a:off x="5961870" y="1188725"/>
            <a:ext cx="2654729" cy="3619727"/>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24"/>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279" name="Google Shape;279;p24"/>
          <p:cNvSpPr txBox="1"/>
          <p:nvPr>
            <p:ph type="title"/>
          </p:nvPr>
        </p:nvSpPr>
        <p:spPr>
          <a:xfrm>
            <a:off x="685800" y="246888"/>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SzPts val="1200"/>
              <a:buNone/>
            </a:pPr>
            <a:r>
              <a:rPr lang="en"/>
              <a:t>Penggunaan User Interface dari Masa ke Masa</a:t>
            </a:r>
            <a:endParaRPr/>
          </a:p>
        </p:txBody>
      </p:sp>
      <p:sp>
        <p:nvSpPr>
          <p:cNvPr id="280" name="Google Shape;280;p24"/>
          <p:cNvSpPr txBox="1"/>
          <p:nvPr/>
        </p:nvSpPr>
        <p:spPr>
          <a:xfrm>
            <a:off x="685800" y="1263095"/>
            <a:ext cx="4114800" cy="3200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600"/>
              </a:spcBef>
              <a:spcAft>
                <a:spcPts val="0"/>
              </a:spcAft>
              <a:buClr>
                <a:srgbClr val="000000"/>
              </a:buClr>
              <a:buSzPts val="1800"/>
              <a:buFont typeface="Arial"/>
              <a:buNone/>
            </a:pPr>
            <a:r>
              <a:rPr b="1" i="0" lang="en" sz="1800" u="none" cap="none" strike="noStrike">
                <a:solidFill>
                  <a:srgbClr val="743673"/>
                </a:solidFill>
                <a:highlight>
                  <a:schemeClr val="lt1"/>
                </a:highlight>
                <a:latin typeface="Raleway"/>
                <a:ea typeface="Raleway"/>
                <a:cs typeface="Raleway"/>
                <a:sym typeface="Raleway"/>
              </a:rPr>
              <a:t>2000-an: Pengembangan User Interface</a:t>
            </a:r>
            <a:endParaRPr b="1" i="0" sz="1800" u="none" cap="none" strike="noStrike">
              <a:solidFill>
                <a:srgbClr val="743673"/>
              </a:solidFill>
              <a:highlight>
                <a:schemeClr val="lt1"/>
              </a:highlight>
              <a:latin typeface="Raleway"/>
              <a:ea typeface="Raleway"/>
              <a:cs typeface="Raleway"/>
              <a:sym typeface="Raleway"/>
            </a:endParaRPr>
          </a:p>
          <a:p>
            <a:pPr indent="0" lvl="0" marL="0" marR="0" rtl="0" algn="just">
              <a:lnSpc>
                <a:spcPct val="115000"/>
              </a:lnSpc>
              <a:spcBef>
                <a:spcPts val="1600"/>
              </a:spcBef>
              <a:spcAft>
                <a:spcPts val="0"/>
              </a:spcAft>
              <a:buClr>
                <a:srgbClr val="000000"/>
              </a:buClr>
              <a:buSzPts val="1200"/>
              <a:buFont typeface="Arial"/>
              <a:buNone/>
            </a:pPr>
            <a:r>
              <a:rPr b="1" i="0" lang="en" sz="1200" u="none" cap="none" strike="noStrike">
                <a:solidFill>
                  <a:schemeClr val="dk1"/>
                </a:solidFill>
                <a:latin typeface="Raleway"/>
                <a:ea typeface="Raleway"/>
                <a:cs typeface="Raleway"/>
                <a:sym typeface="Raleway"/>
              </a:rPr>
              <a:t>Memasuki tahun 200o-an, User Interface makin canggih! </a:t>
            </a:r>
            <a:r>
              <a:rPr b="0" i="0" lang="en" sz="1200" u="none" cap="none" strike="noStrike">
                <a:solidFill>
                  <a:schemeClr val="dk1"/>
                </a:solidFill>
                <a:latin typeface="Raleway Medium"/>
                <a:ea typeface="Raleway Medium"/>
                <a:cs typeface="Raleway Medium"/>
                <a:sym typeface="Raleway Medium"/>
              </a:rPr>
              <a:t>Pengembangan UI ini sejalan dengan popularitas smartphone pada waktu itu.</a:t>
            </a:r>
            <a:endParaRPr b="0" i="0" sz="1200" u="none" cap="none" strike="noStrike">
              <a:solidFill>
                <a:schemeClr val="dk1"/>
              </a:solidFill>
              <a:latin typeface="Raleway Medium"/>
              <a:ea typeface="Raleway Medium"/>
              <a:cs typeface="Raleway Medium"/>
              <a:sym typeface="Raleway Medium"/>
            </a:endParaRPr>
          </a:p>
          <a:p>
            <a:pPr indent="0" lvl="0" marL="0" marR="0" rtl="0" algn="just">
              <a:lnSpc>
                <a:spcPct val="115000"/>
              </a:lnSpc>
              <a:spcBef>
                <a:spcPts val="1600"/>
              </a:spcBef>
              <a:spcAft>
                <a:spcPts val="0"/>
              </a:spcAft>
              <a:buClr>
                <a:srgbClr val="000000"/>
              </a:buClr>
              <a:buSzPts val="1200"/>
              <a:buFont typeface="Arial"/>
              <a:buNone/>
            </a:pPr>
            <a:r>
              <a:rPr b="0" i="0" lang="en" sz="1200" u="none" cap="none" strike="noStrike">
                <a:solidFill>
                  <a:schemeClr val="dk1"/>
                </a:solidFill>
                <a:latin typeface="Raleway Medium"/>
                <a:ea typeface="Raleway Medium"/>
                <a:cs typeface="Raleway Medium"/>
                <a:sym typeface="Raleway Medium"/>
              </a:rPr>
              <a:t>Pengembangan UI dan smartphone dipimpin oleh Apple melalui pengembangan iPhone pada tahun 2007 dan iPad pada tahun 2010 dengan fitur touchscreen.</a:t>
            </a:r>
            <a:endParaRPr b="0" i="0" sz="1100" u="none" cap="none" strike="noStrike">
              <a:solidFill>
                <a:schemeClr val="dk1"/>
              </a:solidFill>
              <a:latin typeface="Raleway Medium"/>
              <a:ea typeface="Raleway Medium"/>
              <a:cs typeface="Raleway Medium"/>
              <a:sym typeface="Raleway Medium"/>
            </a:endParaRPr>
          </a:p>
        </p:txBody>
      </p:sp>
      <p:pic>
        <p:nvPicPr>
          <p:cNvPr id="281" name="Google Shape;281;p24">
            <a:hlinkClick r:id="rId3"/>
          </p:cNvPr>
          <p:cNvPicPr preferRelativeResize="0"/>
          <p:nvPr/>
        </p:nvPicPr>
        <p:blipFill rotWithShape="1">
          <a:blip r:embed="rId4">
            <a:alphaModFix/>
          </a:blip>
          <a:srcRect b="0" l="0" r="7450" t="0"/>
          <a:stretch/>
        </p:blipFill>
        <p:spPr>
          <a:xfrm>
            <a:off x="5285924" y="1497200"/>
            <a:ext cx="3284426" cy="26555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25"/>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287" name="Google Shape;287;p25"/>
          <p:cNvSpPr txBox="1"/>
          <p:nvPr>
            <p:ph type="title"/>
          </p:nvPr>
        </p:nvSpPr>
        <p:spPr>
          <a:xfrm>
            <a:off x="685800" y="246888"/>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SzPts val="1200"/>
              <a:buNone/>
            </a:pPr>
            <a:r>
              <a:rPr lang="en"/>
              <a:t>Penggunaan User Interface dari Masa ke Masa</a:t>
            </a:r>
            <a:endParaRPr/>
          </a:p>
        </p:txBody>
      </p:sp>
      <p:sp>
        <p:nvSpPr>
          <p:cNvPr id="288" name="Google Shape;288;p25"/>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600"/>
              </a:spcBef>
              <a:spcAft>
                <a:spcPts val="0"/>
              </a:spcAft>
              <a:buClr>
                <a:srgbClr val="000000"/>
              </a:buClr>
              <a:buSzPts val="1800"/>
              <a:buFont typeface="Arial"/>
              <a:buNone/>
            </a:pPr>
            <a:r>
              <a:rPr b="1" i="0" lang="en" sz="1800" u="none" cap="none" strike="noStrike">
                <a:solidFill>
                  <a:srgbClr val="743673"/>
                </a:solidFill>
                <a:highlight>
                  <a:schemeClr val="lt1"/>
                </a:highlight>
                <a:latin typeface="Raleway"/>
                <a:ea typeface="Raleway"/>
                <a:cs typeface="Raleway"/>
                <a:sym typeface="Raleway"/>
              </a:rPr>
              <a:t>2011 - sampai sekarang</a:t>
            </a:r>
            <a:endParaRPr b="0" i="0" sz="1200" u="none" cap="none" strike="noStrike">
              <a:solidFill>
                <a:schemeClr val="dk1"/>
              </a:solidFill>
              <a:latin typeface="Raleway Medium"/>
              <a:ea typeface="Raleway Medium"/>
              <a:cs typeface="Raleway Medium"/>
              <a:sym typeface="Raleway Medium"/>
            </a:endParaRPr>
          </a:p>
          <a:p>
            <a:pPr indent="0" lvl="0" marL="0" marR="0" rtl="0" algn="just">
              <a:lnSpc>
                <a:spcPct val="115000"/>
              </a:lnSpc>
              <a:spcBef>
                <a:spcPts val="0"/>
              </a:spcBef>
              <a:spcAft>
                <a:spcPts val="0"/>
              </a:spcAft>
              <a:buClr>
                <a:srgbClr val="000000"/>
              </a:buClr>
              <a:buSzPts val="1300"/>
              <a:buFont typeface="Arial"/>
              <a:buNone/>
            </a:pPr>
            <a:r>
              <a:t/>
            </a:r>
            <a:endParaRPr b="0" i="0" sz="1300" u="none" cap="none" strike="noStrike">
              <a:solidFill>
                <a:schemeClr val="dk1"/>
              </a:solidFill>
              <a:latin typeface="Raleway Medium"/>
              <a:ea typeface="Raleway Medium"/>
              <a:cs typeface="Raleway Medium"/>
              <a:sym typeface="Raleway Medium"/>
            </a:endParaRPr>
          </a:p>
          <a:p>
            <a:pPr indent="0" lvl="0" marL="0" marR="0" rtl="0" algn="just">
              <a:lnSpc>
                <a:spcPct val="115000"/>
              </a:lnSpc>
              <a:spcBef>
                <a:spcPts val="0"/>
              </a:spcBef>
              <a:spcAft>
                <a:spcPts val="0"/>
              </a:spcAft>
              <a:buClr>
                <a:srgbClr val="000000"/>
              </a:buClr>
              <a:buSzPts val="1200"/>
              <a:buFont typeface="Arial"/>
              <a:buNone/>
            </a:pPr>
            <a:r>
              <a:rPr b="0" i="0" lang="en" sz="1200" u="none" cap="none" strike="noStrike">
                <a:solidFill>
                  <a:schemeClr val="dk1"/>
                </a:solidFill>
                <a:latin typeface="Raleway Medium"/>
                <a:ea typeface="Raleway Medium"/>
                <a:cs typeface="Raleway Medium"/>
                <a:sym typeface="Raleway Medium"/>
              </a:rPr>
              <a:t>Dan boomm! </a:t>
            </a:r>
            <a:r>
              <a:rPr b="1" i="0" lang="en" sz="1200" u="none" cap="none" strike="noStrike">
                <a:solidFill>
                  <a:schemeClr val="dk1"/>
                </a:solidFill>
                <a:latin typeface="Raleway"/>
                <a:ea typeface="Raleway"/>
                <a:cs typeface="Raleway"/>
                <a:sym typeface="Raleway"/>
              </a:rPr>
              <a:t>User Interface terus berkembang hingga saat ini.</a:t>
            </a:r>
            <a:r>
              <a:rPr b="0" i="0" lang="en" sz="1200" u="none" cap="none" strike="noStrike">
                <a:solidFill>
                  <a:schemeClr val="dk1"/>
                </a:solidFill>
                <a:latin typeface="Raleway Medium"/>
                <a:ea typeface="Raleway Medium"/>
                <a:cs typeface="Raleway Medium"/>
                <a:sym typeface="Raleway Medium"/>
              </a:rPr>
              <a:t> Mulai dari tampilan layar smartphone yang makin ciamik hingga fitur touchscreen yang makin canggih. Bahkan, nggak cuma pada smartphone, mesin ATM aja udah touchscreen, lho!</a:t>
            </a:r>
            <a:endParaRPr b="0" i="0" sz="1200" u="none" cap="none" strike="noStrike">
              <a:solidFill>
                <a:schemeClr val="dk1"/>
              </a:solidFill>
              <a:latin typeface="Raleway Medium"/>
              <a:ea typeface="Raleway Medium"/>
              <a:cs typeface="Raleway Medium"/>
              <a:sym typeface="Raleway Medium"/>
            </a:endParaRPr>
          </a:p>
          <a:p>
            <a:pPr indent="0" lvl="0" marL="0" marR="0" rtl="0" algn="just">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Raleway Medium"/>
              <a:ea typeface="Raleway Medium"/>
              <a:cs typeface="Raleway Medium"/>
              <a:sym typeface="Raleway Medium"/>
            </a:endParaRPr>
          </a:p>
          <a:p>
            <a:pPr indent="0" lvl="0" marL="0" marR="0" rtl="0" algn="just">
              <a:lnSpc>
                <a:spcPct val="115000"/>
              </a:lnSpc>
              <a:spcBef>
                <a:spcPts val="0"/>
              </a:spcBef>
              <a:spcAft>
                <a:spcPts val="0"/>
              </a:spcAft>
              <a:buClr>
                <a:srgbClr val="000000"/>
              </a:buClr>
              <a:buSzPts val="1200"/>
              <a:buFont typeface="Arial"/>
              <a:buNone/>
            </a:pPr>
            <a:r>
              <a:rPr b="0" i="0" lang="en" sz="1200" u="none" cap="none" strike="noStrike">
                <a:solidFill>
                  <a:schemeClr val="dk1"/>
                </a:solidFill>
                <a:latin typeface="Raleway Medium"/>
                <a:ea typeface="Raleway Medium"/>
                <a:cs typeface="Raleway Medium"/>
                <a:sym typeface="Raleway Medium"/>
              </a:rPr>
              <a:t>Nggak cuma itu, fitur speech atau voice recognition juga makin canggih. Seperti peluncuran Siri oleh Apple pada tahun 2011, Google Now pada tahun 2012, hingga Amazon Alexa pada tahun 2014.</a:t>
            </a:r>
            <a:endParaRPr b="0" i="0" sz="1200" u="none" cap="none" strike="noStrike">
              <a:solidFill>
                <a:schemeClr val="dk1"/>
              </a:solidFill>
              <a:latin typeface="Raleway Medium"/>
              <a:ea typeface="Raleway Medium"/>
              <a:cs typeface="Raleway Medium"/>
              <a:sym typeface="Raleway Medium"/>
            </a:endParaRPr>
          </a:p>
        </p:txBody>
      </p:sp>
      <p:pic>
        <p:nvPicPr>
          <p:cNvPr id="289" name="Google Shape;289;p25">
            <a:hlinkClick r:id="rId3"/>
          </p:cNvPr>
          <p:cNvPicPr preferRelativeResize="0"/>
          <p:nvPr/>
        </p:nvPicPr>
        <p:blipFill rotWithShape="1">
          <a:blip r:embed="rId4">
            <a:alphaModFix/>
          </a:blip>
          <a:srcRect b="0" l="2235" r="24477" t="0"/>
          <a:stretch/>
        </p:blipFill>
        <p:spPr>
          <a:xfrm>
            <a:off x="5552825" y="1497195"/>
            <a:ext cx="3017520" cy="2743198"/>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26"/>
          <p:cNvSpPr txBox="1"/>
          <p:nvPr>
            <p:ph type="title"/>
          </p:nvPr>
        </p:nvSpPr>
        <p:spPr>
          <a:xfrm>
            <a:off x="914400" y="790450"/>
            <a:ext cx="7315200" cy="1723800"/>
          </a:xfrm>
          <a:prstGeom prst="rect">
            <a:avLst/>
          </a:prstGeom>
          <a:noFill/>
          <a:ln>
            <a:noFill/>
          </a:ln>
        </p:spPr>
        <p:txBody>
          <a:bodyPr anchorCtr="0" anchor="ctr" bIns="91425" lIns="91425" spcFirstLastPara="1" rIns="91425" wrap="square" tIns="91425">
            <a:spAutoFit/>
          </a:bodyPr>
          <a:lstStyle/>
          <a:p>
            <a:pPr indent="0" lvl="0" marL="0" rtl="0" algn="ctr">
              <a:lnSpc>
                <a:spcPct val="100000"/>
              </a:lnSpc>
              <a:spcBef>
                <a:spcPts val="0"/>
              </a:spcBef>
              <a:spcAft>
                <a:spcPts val="0"/>
              </a:spcAft>
              <a:buSzPts val="2400"/>
              <a:buNone/>
            </a:pPr>
            <a:r>
              <a:rPr lang="en" sz="2000"/>
              <a:t>Nah, setelah tahu gimana penggunaan UI dan UX dari masa ke masa, kira-kira kamu bisa nyimpulin nggak, </a:t>
            </a:r>
            <a:endParaRPr sz="2000"/>
          </a:p>
          <a:p>
            <a:pPr indent="0" lvl="0" marL="0" rtl="0" algn="ctr">
              <a:lnSpc>
                <a:spcPct val="100000"/>
              </a:lnSpc>
              <a:spcBef>
                <a:spcPts val="0"/>
              </a:spcBef>
              <a:spcAft>
                <a:spcPts val="0"/>
              </a:spcAft>
              <a:buSzPts val="2400"/>
              <a:buNone/>
            </a:pPr>
            <a:r>
              <a:rPr lang="en" sz="2000">
                <a:solidFill>
                  <a:schemeClr val="accent1"/>
                </a:solidFill>
              </a:rPr>
              <a:t>apa yang dimaksud dengan UI dan UX?</a:t>
            </a:r>
            <a:endParaRPr sz="2000">
              <a:solidFill>
                <a:schemeClr val="accent1"/>
              </a:solidFill>
            </a:endParaRPr>
          </a:p>
          <a:p>
            <a:pPr indent="0" lvl="0" marL="0" rtl="0" algn="ctr">
              <a:lnSpc>
                <a:spcPct val="100000"/>
              </a:lnSpc>
              <a:spcBef>
                <a:spcPts val="0"/>
              </a:spcBef>
              <a:spcAft>
                <a:spcPts val="0"/>
              </a:spcAft>
              <a:buSzPts val="2400"/>
              <a:buNone/>
            </a:pPr>
            <a:r>
              <a:t/>
            </a:r>
            <a:endParaRPr sz="2000">
              <a:solidFill>
                <a:schemeClr val="accent1"/>
              </a:solidFill>
            </a:endParaRPr>
          </a:p>
          <a:p>
            <a:pPr indent="0" lvl="0" marL="0" rtl="0" algn="ctr">
              <a:lnSpc>
                <a:spcPct val="100000"/>
              </a:lnSpc>
              <a:spcBef>
                <a:spcPts val="0"/>
              </a:spcBef>
              <a:spcAft>
                <a:spcPts val="0"/>
              </a:spcAft>
              <a:buSzPts val="2400"/>
              <a:buNone/>
            </a:pPr>
            <a:r>
              <a:rPr lang="en" sz="2000"/>
              <a:t>Kalo masih bingung, cus kita cek!</a:t>
            </a:r>
            <a:endParaRPr sz="2000"/>
          </a:p>
        </p:txBody>
      </p:sp>
      <p:sp>
        <p:nvSpPr>
          <p:cNvPr id="295" name="Google Shape;295;p26"/>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pic>
        <p:nvPicPr>
          <p:cNvPr id="296" name="Google Shape;296;p26"/>
          <p:cNvPicPr preferRelativeResize="0"/>
          <p:nvPr/>
        </p:nvPicPr>
        <p:blipFill rotWithShape="1">
          <a:blip r:embed="rId3">
            <a:alphaModFix/>
          </a:blip>
          <a:srcRect b="0" l="0" r="0" t="0"/>
          <a:stretch/>
        </p:blipFill>
        <p:spPr>
          <a:xfrm>
            <a:off x="3561875" y="2638200"/>
            <a:ext cx="2020250" cy="2703399"/>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27"/>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302" name="Google Shape;302;p27"/>
          <p:cNvSpPr txBox="1"/>
          <p:nvPr>
            <p:ph type="title"/>
          </p:nvPr>
        </p:nvSpPr>
        <p:spPr>
          <a:xfrm>
            <a:off x="685800" y="246888"/>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SzPts val="1200"/>
              <a:buNone/>
            </a:pPr>
            <a:r>
              <a:rPr lang="en"/>
              <a:t>Definisi UI dan UX</a:t>
            </a:r>
            <a:endParaRPr/>
          </a:p>
        </p:txBody>
      </p:sp>
      <p:sp>
        <p:nvSpPr>
          <p:cNvPr id="303" name="Google Shape;303;p27"/>
          <p:cNvSpPr txBox="1"/>
          <p:nvPr/>
        </p:nvSpPr>
        <p:spPr>
          <a:xfrm>
            <a:off x="487625" y="1804650"/>
            <a:ext cx="3775800" cy="1686600"/>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1600"/>
              </a:spcBef>
              <a:spcAft>
                <a:spcPts val="0"/>
              </a:spcAft>
              <a:buClr>
                <a:srgbClr val="000000"/>
              </a:buClr>
              <a:buSzPts val="1800"/>
              <a:buFont typeface="Arial"/>
              <a:buNone/>
            </a:pPr>
            <a:r>
              <a:rPr b="1" i="0" lang="en" sz="1800" u="none" cap="none" strike="noStrike">
                <a:solidFill>
                  <a:srgbClr val="743673"/>
                </a:solidFill>
                <a:highlight>
                  <a:schemeClr val="lt1"/>
                </a:highlight>
                <a:latin typeface="Raleway"/>
                <a:ea typeface="Raleway"/>
                <a:cs typeface="Raleway"/>
                <a:sym typeface="Raleway"/>
              </a:rPr>
              <a:t>User Experience (UX)</a:t>
            </a:r>
            <a:endParaRPr b="0" i="0" sz="1200" u="none" cap="none" strike="noStrike">
              <a:solidFill>
                <a:schemeClr val="dk1"/>
              </a:solidFill>
              <a:latin typeface="Raleway Medium"/>
              <a:ea typeface="Raleway Medium"/>
              <a:cs typeface="Raleway Medium"/>
              <a:sym typeface="Raleway Medium"/>
            </a:endParaRPr>
          </a:p>
          <a:p>
            <a:pPr indent="0" lvl="0" marL="0" marR="0" rtl="0" algn="just">
              <a:lnSpc>
                <a:spcPct val="115000"/>
              </a:lnSpc>
              <a:spcBef>
                <a:spcPts val="0"/>
              </a:spcBef>
              <a:spcAft>
                <a:spcPts val="0"/>
              </a:spcAft>
              <a:buClr>
                <a:srgbClr val="000000"/>
              </a:buClr>
              <a:buSzPts val="1300"/>
              <a:buFont typeface="Arial"/>
              <a:buNone/>
            </a:pPr>
            <a:r>
              <a:t/>
            </a:r>
            <a:endParaRPr b="0" i="0" sz="1300" u="none" cap="none" strike="noStrike">
              <a:solidFill>
                <a:schemeClr val="dk1"/>
              </a:solidFill>
              <a:latin typeface="Raleway Medium"/>
              <a:ea typeface="Raleway Medium"/>
              <a:cs typeface="Raleway Medium"/>
              <a:sym typeface="Raleway Medium"/>
            </a:endParaRPr>
          </a:p>
          <a:p>
            <a:pPr indent="0" lvl="0" marL="0" marR="0" rtl="0" algn="just">
              <a:lnSpc>
                <a:spcPct val="115000"/>
              </a:lnSpc>
              <a:spcBef>
                <a:spcPts val="0"/>
              </a:spcBef>
              <a:spcAft>
                <a:spcPts val="0"/>
              </a:spcAft>
              <a:buClr>
                <a:srgbClr val="000000"/>
              </a:buClr>
              <a:buSzPts val="1200"/>
              <a:buFont typeface="Arial"/>
              <a:buNone/>
            </a:pPr>
            <a:r>
              <a:rPr b="0" i="0" lang="en" sz="1200" u="none" cap="none" strike="noStrike">
                <a:solidFill>
                  <a:schemeClr val="dk1"/>
                </a:solidFill>
                <a:latin typeface="Raleway Medium"/>
                <a:ea typeface="Raleway Medium"/>
                <a:cs typeface="Raleway Medium"/>
                <a:sym typeface="Raleway Medium"/>
              </a:rPr>
              <a:t>Secara istilah, UX berarti </a:t>
            </a:r>
            <a:r>
              <a:rPr b="1" i="0" lang="en" sz="1200" u="none" cap="none" strike="noStrike">
                <a:solidFill>
                  <a:schemeClr val="dk1"/>
                </a:solidFill>
                <a:latin typeface="Raleway"/>
                <a:ea typeface="Raleway"/>
                <a:cs typeface="Raleway"/>
                <a:sym typeface="Raleway"/>
              </a:rPr>
              <a:t>pengalaman pengguna</a:t>
            </a:r>
            <a:r>
              <a:rPr b="0" i="0" lang="en" sz="1200" u="none" cap="none" strike="noStrike">
                <a:solidFill>
                  <a:schemeClr val="dk1"/>
                </a:solidFill>
                <a:latin typeface="Raleway Medium"/>
                <a:ea typeface="Raleway Medium"/>
                <a:cs typeface="Raleway Medium"/>
                <a:sym typeface="Raleway Medium"/>
              </a:rPr>
              <a:t>. Yaitu bagaimana pengguna dari suatu produk berinteraksi dengan produk tersebut. Misal, Sabrina lebih nyaman menggunakan produk A karena simple, mudah digunakan, dan dapat sesuai dengan kebutuhannya.</a:t>
            </a:r>
            <a:endParaRPr b="0" i="0" sz="1200" u="none" cap="none" strike="noStrike">
              <a:solidFill>
                <a:schemeClr val="dk1"/>
              </a:solidFill>
              <a:latin typeface="Raleway Medium"/>
              <a:ea typeface="Raleway Medium"/>
              <a:cs typeface="Raleway Medium"/>
              <a:sym typeface="Raleway Medium"/>
            </a:endParaRPr>
          </a:p>
        </p:txBody>
      </p:sp>
      <p:sp>
        <p:nvSpPr>
          <p:cNvPr id="304" name="Google Shape;304;p27"/>
          <p:cNvSpPr txBox="1"/>
          <p:nvPr/>
        </p:nvSpPr>
        <p:spPr>
          <a:xfrm>
            <a:off x="4724400" y="1726300"/>
            <a:ext cx="3966000" cy="17502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1600"/>
              </a:spcBef>
              <a:spcAft>
                <a:spcPts val="0"/>
              </a:spcAft>
              <a:buClr>
                <a:srgbClr val="000000"/>
              </a:buClr>
              <a:buSzPts val="1800"/>
              <a:buFont typeface="Arial"/>
              <a:buNone/>
            </a:pPr>
            <a:r>
              <a:rPr b="1" i="0" lang="en" sz="1800" u="none" cap="none" strike="noStrike">
                <a:solidFill>
                  <a:srgbClr val="743673"/>
                </a:solidFill>
                <a:highlight>
                  <a:schemeClr val="lt1"/>
                </a:highlight>
                <a:latin typeface="Raleway"/>
                <a:ea typeface="Raleway"/>
                <a:cs typeface="Raleway"/>
                <a:sym typeface="Raleway"/>
              </a:rPr>
              <a:t>User Interface (UI)</a:t>
            </a:r>
            <a:endParaRPr b="0" i="0" sz="1200" u="none" cap="none" strike="noStrike">
              <a:solidFill>
                <a:schemeClr val="dk1"/>
              </a:solidFill>
              <a:latin typeface="Raleway Medium"/>
              <a:ea typeface="Raleway Medium"/>
              <a:cs typeface="Raleway Medium"/>
              <a:sym typeface="Raleway Medium"/>
            </a:endParaRPr>
          </a:p>
          <a:p>
            <a:pPr indent="0" lvl="0" marL="0" marR="0" rtl="0" algn="just">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Raleway Medium"/>
              <a:ea typeface="Raleway Medium"/>
              <a:cs typeface="Raleway Medium"/>
              <a:sym typeface="Raleway Medium"/>
            </a:endParaRPr>
          </a:p>
          <a:p>
            <a:pPr indent="0" lvl="0" marL="0" marR="0" rtl="0" algn="just">
              <a:lnSpc>
                <a:spcPct val="115000"/>
              </a:lnSpc>
              <a:spcBef>
                <a:spcPts val="0"/>
              </a:spcBef>
              <a:spcAft>
                <a:spcPts val="0"/>
              </a:spcAft>
              <a:buClr>
                <a:srgbClr val="000000"/>
              </a:buClr>
              <a:buSzPts val="1200"/>
              <a:buFont typeface="Arial"/>
              <a:buNone/>
            </a:pPr>
            <a:r>
              <a:rPr b="0" i="0" lang="en" sz="1200" u="none" cap="none" strike="noStrike">
                <a:solidFill>
                  <a:schemeClr val="dk1"/>
                </a:solidFill>
                <a:latin typeface="Raleway Medium"/>
                <a:ea typeface="Raleway Medium"/>
                <a:cs typeface="Raleway Medium"/>
                <a:sym typeface="Raleway Medium"/>
              </a:rPr>
              <a:t>Secara istilah, UI berarti </a:t>
            </a:r>
            <a:r>
              <a:rPr b="1" i="0" lang="en" sz="1200" u="none" cap="none" strike="noStrike">
                <a:solidFill>
                  <a:schemeClr val="dk1"/>
                </a:solidFill>
                <a:latin typeface="Raleway"/>
                <a:ea typeface="Raleway"/>
                <a:cs typeface="Raleway"/>
                <a:sym typeface="Raleway"/>
              </a:rPr>
              <a:t>antarmuka pengguna</a:t>
            </a:r>
            <a:r>
              <a:rPr b="0" i="0" lang="en" sz="1200" u="none" cap="none" strike="noStrike">
                <a:solidFill>
                  <a:schemeClr val="dk1"/>
                </a:solidFill>
                <a:latin typeface="Raleway Medium"/>
                <a:ea typeface="Raleway Medium"/>
                <a:cs typeface="Raleway Medium"/>
                <a:sym typeface="Raleway Medium"/>
              </a:rPr>
              <a:t> . Yaitu bentuk tampilan grafis yang ada pada perangkat atau produk yang dilihat dan berhubungan dengan pengguna. Misal, tampilan beranda aplikasi B sangat simple dan enak dipandang.</a:t>
            </a:r>
            <a:endParaRPr b="0" i="0" sz="1200" u="none" cap="none" strike="noStrike">
              <a:solidFill>
                <a:schemeClr val="dk1"/>
              </a:solidFill>
              <a:latin typeface="Raleway Medium"/>
              <a:ea typeface="Raleway Medium"/>
              <a:cs typeface="Raleway Medium"/>
              <a:sym typeface="Raleway Medium"/>
            </a:endParaRPr>
          </a:p>
        </p:txBody>
      </p:sp>
      <p:pic>
        <p:nvPicPr>
          <p:cNvPr id="305" name="Google Shape;305;p27"/>
          <p:cNvPicPr preferRelativeResize="0"/>
          <p:nvPr/>
        </p:nvPicPr>
        <p:blipFill rotWithShape="1">
          <a:blip r:embed="rId3">
            <a:alphaModFix/>
          </a:blip>
          <a:srcRect b="0" l="0" r="0" t="0"/>
          <a:stretch/>
        </p:blipFill>
        <p:spPr>
          <a:xfrm>
            <a:off x="4811150" y="1386564"/>
            <a:ext cx="2607200" cy="775250"/>
          </a:xfrm>
          <a:prstGeom prst="rect">
            <a:avLst/>
          </a:prstGeom>
          <a:noFill/>
          <a:ln>
            <a:noFill/>
          </a:ln>
        </p:spPr>
      </p:pic>
      <p:pic>
        <p:nvPicPr>
          <p:cNvPr id="306" name="Google Shape;306;p27"/>
          <p:cNvPicPr preferRelativeResize="0"/>
          <p:nvPr/>
        </p:nvPicPr>
        <p:blipFill rotWithShape="1">
          <a:blip r:embed="rId4">
            <a:alphaModFix/>
          </a:blip>
          <a:srcRect b="0" l="0" r="0" t="0"/>
          <a:stretch/>
        </p:blipFill>
        <p:spPr>
          <a:xfrm>
            <a:off x="487625" y="1386550"/>
            <a:ext cx="2607200" cy="775267"/>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28"/>
          <p:cNvSpPr txBox="1"/>
          <p:nvPr>
            <p:ph type="title"/>
          </p:nvPr>
        </p:nvSpPr>
        <p:spPr>
          <a:xfrm>
            <a:off x="914400" y="790450"/>
            <a:ext cx="7315200" cy="800400"/>
          </a:xfrm>
          <a:prstGeom prst="rect">
            <a:avLst/>
          </a:prstGeom>
          <a:noFill/>
          <a:ln>
            <a:noFill/>
          </a:ln>
        </p:spPr>
        <p:txBody>
          <a:bodyPr anchorCtr="0" anchor="ctr" bIns="91425" lIns="91425" spcFirstLastPara="1" rIns="91425" wrap="square" tIns="91425">
            <a:spAutoFit/>
          </a:bodyPr>
          <a:lstStyle/>
          <a:p>
            <a:pPr indent="0" lvl="0" marL="0" rtl="0" algn="ctr">
              <a:lnSpc>
                <a:spcPct val="100000"/>
              </a:lnSpc>
              <a:spcBef>
                <a:spcPts val="0"/>
              </a:spcBef>
              <a:spcAft>
                <a:spcPts val="0"/>
              </a:spcAft>
              <a:buSzPts val="2400"/>
              <a:buNone/>
            </a:pPr>
            <a:r>
              <a:rPr lang="en" sz="2000"/>
              <a:t>Dari definisi tadi, kamu udah kebayang kan </a:t>
            </a:r>
            <a:r>
              <a:rPr lang="en" sz="2000">
                <a:solidFill>
                  <a:schemeClr val="accent1"/>
                </a:solidFill>
              </a:rPr>
              <a:t>pentingnya UI/UX design dalam suatu produk!</a:t>
            </a:r>
            <a:endParaRPr sz="2000">
              <a:solidFill>
                <a:schemeClr val="accent1"/>
              </a:solidFill>
            </a:endParaRPr>
          </a:p>
        </p:txBody>
      </p:sp>
      <p:sp>
        <p:nvSpPr>
          <p:cNvPr id="312" name="Google Shape;312;p28"/>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pic>
        <p:nvPicPr>
          <p:cNvPr id="313" name="Google Shape;313;p28"/>
          <p:cNvPicPr preferRelativeResize="0"/>
          <p:nvPr/>
        </p:nvPicPr>
        <p:blipFill rotWithShape="1">
          <a:blip r:embed="rId3">
            <a:alphaModFix/>
          </a:blip>
          <a:srcRect b="0" l="0" r="0" t="0"/>
          <a:stretch/>
        </p:blipFill>
        <p:spPr>
          <a:xfrm>
            <a:off x="3209243" y="2072750"/>
            <a:ext cx="2725515" cy="30707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29"/>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319" name="Google Shape;319;p29"/>
          <p:cNvSpPr txBox="1"/>
          <p:nvPr>
            <p:ph type="title"/>
          </p:nvPr>
        </p:nvSpPr>
        <p:spPr>
          <a:xfrm>
            <a:off x="685800" y="246888"/>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SzPts val="1200"/>
              <a:buNone/>
            </a:pPr>
            <a:r>
              <a:rPr lang="en"/>
              <a:t>UI/UX Masa Sekarang</a:t>
            </a:r>
            <a:endParaRPr/>
          </a:p>
        </p:txBody>
      </p:sp>
      <p:sp>
        <p:nvSpPr>
          <p:cNvPr id="320" name="Google Shape;320;p29"/>
          <p:cNvSpPr txBox="1"/>
          <p:nvPr/>
        </p:nvSpPr>
        <p:spPr>
          <a:xfrm>
            <a:off x="609600" y="1447797"/>
            <a:ext cx="4114800" cy="3200400"/>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1600"/>
              </a:spcBef>
              <a:spcAft>
                <a:spcPts val="0"/>
              </a:spcAft>
              <a:buClr>
                <a:srgbClr val="000000"/>
              </a:buClr>
              <a:buSzPts val="1400"/>
              <a:buFont typeface="Arial"/>
              <a:buNone/>
            </a:pPr>
            <a:r>
              <a:rPr b="0" i="0" lang="en" sz="1200" u="none" cap="none" strike="noStrike">
                <a:solidFill>
                  <a:schemeClr val="dk1"/>
                </a:solidFill>
                <a:highlight>
                  <a:schemeClr val="lt1"/>
                </a:highlight>
                <a:latin typeface="Raleway Medium"/>
                <a:ea typeface="Raleway Medium"/>
                <a:cs typeface="Raleway Medium"/>
                <a:sym typeface="Raleway Medium"/>
              </a:rPr>
              <a:t>Yap! UI/UX Design penting banget buat mastiin kalo si pengguna bener-bener nyaman pas ngegunain suatu produk. Dan tentunya, bikin si pengguna jatuh cinta sama produk itu! </a:t>
            </a:r>
            <a:endParaRPr b="0" i="0" sz="1200" u="none" cap="none" strike="noStrike">
              <a:solidFill>
                <a:schemeClr val="dk1"/>
              </a:solidFill>
              <a:highlight>
                <a:schemeClr val="lt1"/>
              </a:highlight>
              <a:latin typeface="Raleway Medium"/>
              <a:ea typeface="Raleway Medium"/>
              <a:cs typeface="Raleway Medium"/>
              <a:sym typeface="Raleway Medium"/>
            </a:endParaRPr>
          </a:p>
          <a:p>
            <a:pPr indent="0" lvl="0" marL="0" marR="0" rtl="0" algn="l">
              <a:lnSpc>
                <a:spcPct val="115000"/>
              </a:lnSpc>
              <a:spcBef>
                <a:spcPts val="1600"/>
              </a:spcBef>
              <a:spcAft>
                <a:spcPts val="0"/>
              </a:spcAft>
              <a:buClr>
                <a:srgbClr val="000000"/>
              </a:buClr>
              <a:buSzPts val="1400"/>
              <a:buFont typeface="Arial"/>
              <a:buNone/>
            </a:pPr>
            <a:r>
              <a:rPr b="1" i="0" lang="en" sz="1800" u="none" cap="none" strike="noStrike">
                <a:solidFill>
                  <a:srgbClr val="743673"/>
                </a:solidFill>
                <a:highlight>
                  <a:schemeClr val="lt1"/>
                </a:highlight>
                <a:latin typeface="Raleway"/>
                <a:ea typeface="Raleway"/>
                <a:cs typeface="Raleway"/>
                <a:sym typeface="Raleway"/>
              </a:rPr>
              <a:t>Terus, gimana sih UI/UX di masa sekarang? </a:t>
            </a:r>
            <a:endParaRPr b="1" i="0" sz="1800" u="none" cap="none" strike="noStrike">
              <a:solidFill>
                <a:srgbClr val="743673"/>
              </a:solidFill>
              <a:highlight>
                <a:schemeClr val="lt1"/>
              </a:highlight>
              <a:latin typeface="Raleway"/>
              <a:ea typeface="Raleway"/>
              <a:cs typeface="Raleway"/>
              <a:sym typeface="Raleway"/>
            </a:endParaRPr>
          </a:p>
          <a:p>
            <a:pPr indent="0" lvl="0" marL="0" marR="0" rtl="0" algn="l">
              <a:lnSpc>
                <a:spcPct val="115000"/>
              </a:lnSpc>
              <a:spcBef>
                <a:spcPts val="1600"/>
              </a:spcBef>
              <a:spcAft>
                <a:spcPts val="0"/>
              </a:spcAft>
              <a:buClr>
                <a:srgbClr val="000000"/>
              </a:buClr>
              <a:buSzPts val="1400"/>
              <a:buFont typeface="Arial"/>
              <a:buNone/>
            </a:pPr>
            <a:r>
              <a:rPr b="0" i="0" lang="en" sz="1200" u="none" cap="none" strike="noStrike">
                <a:solidFill>
                  <a:schemeClr val="dk1"/>
                </a:solidFill>
                <a:highlight>
                  <a:schemeClr val="lt1"/>
                </a:highlight>
                <a:latin typeface="Raleway Medium"/>
                <a:ea typeface="Raleway Medium"/>
                <a:cs typeface="Raleway Medium"/>
                <a:sym typeface="Raleway Medium"/>
              </a:rPr>
              <a:t>Cus ke halaman selanjutnya~</a:t>
            </a:r>
            <a:endParaRPr b="0" i="0" sz="1200" u="none" cap="none" strike="noStrike">
              <a:solidFill>
                <a:schemeClr val="dk1"/>
              </a:solidFill>
              <a:highlight>
                <a:schemeClr val="lt1"/>
              </a:highlight>
              <a:latin typeface="Raleway Medium"/>
              <a:ea typeface="Raleway Medium"/>
              <a:cs typeface="Raleway Medium"/>
              <a:sym typeface="Raleway Medium"/>
            </a:endParaRPr>
          </a:p>
          <a:p>
            <a:pPr indent="0" lvl="0" marL="0" marR="0" rtl="0" algn="just">
              <a:lnSpc>
                <a:spcPct val="115000"/>
              </a:lnSpc>
              <a:spcBef>
                <a:spcPts val="1600"/>
              </a:spcBef>
              <a:spcAft>
                <a:spcPts val="0"/>
              </a:spcAft>
              <a:buClr>
                <a:srgbClr val="000000"/>
              </a:buClr>
              <a:buSzPts val="1400"/>
              <a:buFont typeface="Arial"/>
              <a:buNone/>
            </a:pPr>
            <a:r>
              <a:t/>
            </a:r>
            <a:endParaRPr b="0" i="0" sz="1400" u="none" cap="none" strike="noStrike">
              <a:solidFill>
                <a:schemeClr val="dk1"/>
              </a:solidFill>
              <a:highlight>
                <a:schemeClr val="lt1"/>
              </a:highlight>
              <a:latin typeface="Raleway"/>
              <a:ea typeface="Raleway"/>
              <a:cs typeface="Raleway"/>
              <a:sym typeface="Raleway"/>
            </a:endParaRPr>
          </a:p>
          <a:p>
            <a:pPr indent="0" lvl="0" marL="0" marR="0" rtl="0" algn="just">
              <a:lnSpc>
                <a:spcPct val="115000"/>
              </a:lnSpc>
              <a:spcBef>
                <a:spcPts val="1600"/>
              </a:spcBef>
              <a:spcAft>
                <a:spcPts val="0"/>
              </a:spcAft>
              <a:buClr>
                <a:srgbClr val="000000"/>
              </a:buClr>
              <a:buSzPts val="1400"/>
              <a:buFont typeface="Arial"/>
              <a:buNone/>
            </a:pPr>
            <a:r>
              <a:t/>
            </a:r>
            <a:endParaRPr b="0" i="0" sz="1200" u="none" cap="none" strike="noStrike">
              <a:solidFill>
                <a:schemeClr val="dk1"/>
              </a:solidFill>
              <a:latin typeface="Raleway Medium"/>
              <a:ea typeface="Raleway Medium"/>
              <a:cs typeface="Raleway Medium"/>
              <a:sym typeface="Raleway Medium"/>
            </a:endParaRPr>
          </a:p>
          <a:p>
            <a:pPr indent="0" lvl="0" marL="0" marR="0" rtl="0" algn="just">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Raleway Medium"/>
              <a:ea typeface="Raleway Medium"/>
              <a:cs typeface="Raleway Medium"/>
              <a:sym typeface="Raleway Medium"/>
            </a:endParaRPr>
          </a:p>
        </p:txBody>
      </p:sp>
      <p:pic>
        <p:nvPicPr>
          <p:cNvPr id="321" name="Google Shape;321;p29"/>
          <p:cNvPicPr preferRelativeResize="0"/>
          <p:nvPr/>
        </p:nvPicPr>
        <p:blipFill rotWithShape="1">
          <a:blip r:embed="rId3">
            <a:alphaModFix/>
          </a:blip>
          <a:srcRect b="0" l="0" r="0" t="0"/>
          <a:stretch/>
        </p:blipFill>
        <p:spPr>
          <a:xfrm>
            <a:off x="1412900" y="2071900"/>
            <a:ext cx="195700" cy="195700"/>
          </a:xfrm>
          <a:prstGeom prst="rect">
            <a:avLst/>
          </a:prstGeom>
          <a:noFill/>
          <a:ln>
            <a:noFill/>
          </a:ln>
        </p:spPr>
      </p:pic>
      <p:pic>
        <p:nvPicPr>
          <p:cNvPr id="322" name="Google Shape;322;p29"/>
          <p:cNvPicPr preferRelativeResize="0"/>
          <p:nvPr/>
        </p:nvPicPr>
        <p:blipFill rotWithShape="1">
          <a:blip r:embed="rId4">
            <a:alphaModFix/>
          </a:blip>
          <a:srcRect b="0" l="0" r="0" t="0"/>
          <a:stretch/>
        </p:blipFill>
        <p:spPr>
          <a:xfrm>
            <a:off x="5728600" y="1189000"/>
            <a:ext cx="2888001" cy="3619727"/>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30"/>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328" name="Google Shape;328;p30"/>
          <p:cNvSpPr txBox="1"/>
          <p:nvPr>
            <p:ph type="title"/>
          </p:nvPr>
        </p:nvSpPr>
        <p:spPr>
          <a:xfrm>
            <a:off x="685800" y="246888"/>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SzPts val="1200"/>
              <a:buNone/>
            </a:pPr>
            <a:r>
              <a:rPr lang="en"/>
              <a:t>UI/UX Masa Sekarang</a:t>
            </a:r>
            <a:endParaRPr/>
          </a:p>
        </p:txBody>
      </p:sp>
      <p:sp>
        <p:nvSpPr>
          <p:cNvPr id="329" name="Google Shape;329;p30"/>
          <p:cNvSpPr txBox="1"/>
          <p:nvPr/>
        </p:nvSpPr>
        <p:spPr>
          <a:xfrm>
            <a:off x="597225" y="1189675"/>
            <a:ext cx="4273500" cy="3200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600"/>
              </a:spcBef>
              <a:spcAft>
                <a:spcPts val="0"/>
              </a:spcAft>
              <a:buClr>
                <a:srgbClr val="000000"/>
              </a:buClr>
              <a:buSzPts val="1400"/>
              <a:buFont typeface="Arial"/>
              <a:buNone/>
            </a:pPr>
            <a:r>
              <a:rPr b="1" i="0" lang="en" sz="1800" u="none" cap="none" strike="noStrike">
                <a:solidFill>
                  <a:srgbClr val="743673"/>
                </a:solidFill>
                <a:highlight>
                  <a:schemeClr val="lt1"/>
                </a:highlight>
                <a:latin typeface="Raleway"/>
                <a:ea typeface="Raleway"/>
                <a:cs typeface="Raleway"/>
                <a:sym typeface="Raleway"/>
              </a:rPr>
              <a:t>UI di masa sekarang hadir dengan bentuk dan fitur yang sangat menarik.</a:t>
            </a:r>
            <a:endParaRPr b="1" i="0" sz="1800" u="none" cap="none" strike="noStrike">
              <a:solidFill>
                <a:srgbClr val="743673"/>
              </a:solidFill>
              <a:highlight>
                <a:schemeClr val="lt1"/>
              </a:highlight>
              <a:latin typeface="Raleway"/>
              <a:ea typeface="Raleway"/>
              <a:cs typeface="Raleway"/>
              <a:sym typeface="Raleway"/>
            </a:endParaRPr>
          </a:p>
          <a:p>
            <a:pPr indent="0" lvl="0" marL="0" marR="0" rtl="0" algn="just">
              <a:lnSpc>
                <a:spcPct val="115000"/>
              </a:lnSpc>
              <a:spcBef>
                <a:spcPts val="1600"/>
              </a:spcBef>
              <a:spcAft>
                <a:spcPts val="0"/>
              </a:spcAft>
              <a:buClr>
                <a:srgbClr val="000000"/>
              </a:buClr>
              <a:buSzPts val="1400"/>
              <a:buFont typeface="Arial"/>
              <a:buNone/>
            </a:pPr>
            <a:r>
              <a:rPr b="0" i="0" lang="en" sz="1200" u="none" cap="none" strike="noStrike">
                <a:solidFill>
                  <a:schemeClr val="dk1"/>
                </a:solidFill>
                <a:highlight>
                  <a:schemeClr val="lt1"/>
                </a:highlight>
                <a:latin typeface="Raleway Medium"/>
                <a:ea typeface="Raleway Medium"/>
                <a:cs typeface="Raleway Medium"/>
                <a:sym typeface="Raleway Medium"/>
              </a:rPr>
              <a:t>Seperti </a:t>
            </a:r>
            <a:r>
              <a:rPr b="1" i="0" lang="en" sz="1200" u="none" cap="none" strike="noStrike">
                <a:solidFill>
                  <a:schemeClr val="dk1"/>
                </a:solidFill>
                <a:highlight>
                  <a:schemeClr val="lt1"/>
                </a:highlight>
                <a:latin typeface="Raleway"/>
                <a:ea typeface="Raleway"/>
                <a:cs typeface="Raleway"/>
                <a:sym typeface="Raleway"/>
              </a:rPr>
              <a:t>ilustrasi </a:t>
            </a:r>
            <a:r>
              <a:rPr b="0" i="0" lang="en" sz="1200" u="none" cap="none" strike="noStrike">
                <a:solidFill>
                  <a:schemeClr val="dk1"/>
                </a:solidFill>
                <a:highlight>
                  <a:schemeClr val="lt1"/>
                </a:highlight>
                <a:latin typeface="Raleway Medium"/>
                <a:ea typeface="Raleway Medium"/>
                <a:cs typeface="Raleway Medium"/>
                <a:sym typeface="Raleway Medium"/>
              </a:rPr>
              <a:t>berupa gambar-gambar yang ciamik dan </a:t>
            </a:r>
            <a:r>
              <a:rPr b="1" i="0" lang="en" sz="1200" u="none" cap="none" strike="noStrike">
                <a:solidFill>
                  <a:schemeClr val="dk1"/>
                </a:solidFill>
                <a:highlight>
                  <a:schemeClr val="lt1"/>
                </a:highlight>
                <a:latin typeface="Raleway"/>
                <a:ea typeface="Raleway"/>
                <a:cs typeface="Raleway"/>
                <a:sym typeface="Raleway"/>
              </a:rPr>
              <a:t>animasi </a:t>
            </a:r>
            <a:r>
              <a:rPr b="0" i="0" lang="en" sz="1200" u="none" cap="none" strike="noStrike">
                <a:solidFill>
                  <a:schemeClr val="dk1"/>
                </a:solidFill>
                <a:highlight>
                  <a:schemeClr val="lt1"/>
                </a:highlight>
                <a:latin typeface="Raleway Medium"/>
                <a:ea typeface="Raleway Medium"/>
                <a:cs typeface="Raleway Medium"/>
                <a:sym typeface="Raleway Medium"/>
              </a:rPr>
              <a:t>atau </a:t>
            </a:r>
            <a:r>
              <a:rPr b="1" i="0" lang="en" sz="1200" u="none" cap="none" strike="noStrike">
                <a:solidFill>
                  <a:schemeClr val="dk1"/>
                </a:solidFill>
                <a:highlight>
                  <a:schemeClr val="lt1"/>
                </a:highlight>
                <a:latin typeface="Raleway"/>
                <a:ea typeface="Raleway"/>
                <a:cs typeface="Raleway"/>
                <a:sym typeface="Raleway"/>
              </a:rPr>
              <a:t>motion design</a:t>
            </a:r>
            <a:r>
              <a:rPr b="0" i="0" lang="en" sz="1200" u="none" cap="none" strike="noStrike">
                <a:solidFill>
                  <a:schemeClr val="dk1"/>
                </a:solidFill>
                <a:highlight>
                  <a:schemeClr val="lt1"/>
                </a:highlight>
                <a:latin typeface="Raleway Medium"/>
                <a:ea typeface="Raleway Medium"/>
                <a:cs typeface="Raleway Medium"/>
                <a:sym typeface="Raleway Medium"/>
              </a:rPr>
              <a:t> yang sangat menghibur!</a:t>
            </a:r>
            <a:endParaRPr b="0" i="0" sz="1200" u="none" cap="none" strike="noStrike">
              <a:solidFill>
                <a:schemeClr val="dk1"/>
              </a:solidFill>
              <a:highlight>
                <a:schemeClr val="lt1"/>
              </a:highlight>
              <a:latin typeface="Raleway Medium"/>
              <a:ea typeface="Raleway Medium"/>
              <a:cs typeface="Raleway Medium"/>
              <a:sym typeface="Raleway Medium"/>
            </a:endParaRPr>
          </a:p>
          <a:p>
            <a:pPr indent="0" lvl="0" marL="0" marR="0" rtl="0" algn="just">
              <a:lnSpc>
                <a:spcPct val="115000"/>
              </a:lnSpc>
              <a:spcBef>
                <a:spcPts val="1600"/>
              </a:spcBef>
              <a:spcAft>
                <a:spcPts val="0"/>
              </a:spcAft>
              <a:buClr>
                <a:srgbClr val="000000"/>
              </a:buClr>
              <a:buSzPts val="1400"/>
              <a:buFont typeface="Arial"/>
              <a:buNone/>
            </a:pPr>
            <a:r>
              <a:rPr b="0" i="0" lang="en" sz="1200" u="none" cap="none" strike="noStrike">
                <a:solidFill>
                  <a:schemeClr val="dk1"/>
                </a:solidFill>
                <a:highlight>
                  <a:schemeClr val="lt1"/>
                </a:highlight>
                <a:latin typeface="Raleway Medium"/>
                <a:ea typeface="Raleway Medium"/>
                <a:cs typeface="Raleway Medium"/>
                <a:sym typeface="Raleway Medium"/>
              </a:rPr>
              <a:t>Nggak cuma itu, juga ada fitur</a:t>
            </a:r>
            <a:r>
              <a:rPr b="1" i="0" lang="en" sz="1200" u="none" cap="none" strike="noStrike">
                <a:solidFill>
                  <a:schemeClr val="dk1"/>
                </a:solidFill>
                <a:highlight>
                  <a:schemeClr val="lt1"/>
                </a:highlight>
                <a:latin typeface="Raleway"/>
                <a:ea typeface="Raleway"/>
                <a:cs typeface="Raleway"/>
                <a:sym typeface="Raleway"/>
              </a:rPr>
              <a:t> font custom.</a:t>
            </a:r>
            <a:r>
              <a:rPr b="0" i="0" lang="en" sz="1200" u="none" cap="none" strike="noStrike">
                <a:solidFill>
                  <a:schemeClr val="dk1"/>
                </a:solidFill>
                <a:highlight>
                  <a:schemeClr val="lt1"/>
                </a:highlight>
                <a:latin typeface="Raleway Medium"/>
                <a:ea typeface="Raleway Medium"/>
                <a:cs typeface="Raleway Medium"/>
                <a:sym typeface="Raleway Medium"/>
              </a:rPr>
              <a:t> Kalo kamu </a:t>
            </a:r>
            <a:r>
              <a:rPr b="0" i="0" lang="en" sz="1300" u="none" cap="none" strike="noStrike">
                <a:solidFill>
                  <a:schemeClr val="dk1"/>
                </a:solidFill>
                <a:highlight>
                  <a:schemeClr val="lt1"/>
                </a:highlight>
                <a:latin typeface="Comic Sans MS"/>
                <a:ea typeface="Comic Sans MS"/>
                <a:cs typeface="Comic Sans MS"/>
                <a:sym typeface="Comic Sans MS"/>
              </a:rPr>
              <a:t>bosen sama model tulisan kaya gini di handphone kamu,</a:t>
            </a:r>
            <a:r>
              <a:rPr b="0" i="0" lang="en" sz="1300" u="none" cap="none" strike="noStrike">
                <a:solidFill>
                  <a:schemeClr val="dk1"/>
                </a:solidFill>
                <a:highlight>
                  <a:schemeClr val="lt1"/>
                </a:highlight>
                <a:latin typeface="Raleway Medium"/>
                <a:ea typeface="Raleway Medium"/>
                <a:cs typeface="Raleway Medium"/>
                <a:sym typeface="Raleway Medium"/>
              </a:rPr>
              <a:t> </a:t>
            </a:r>
            <a:r>
              <a:rPr b="0" i="0" lang="en" sz="1200" u="none" cap="none" strike="noStrike">
                <a:solidFill>
                  <a:schemeClr val="dk1"/>
                </a:solidFill>
                <a:highlight>
                  <a:schemeClr val="lt1"/>
                </a:highlight>
                <a:latin typeface="Raleway Medium"/>
                <a:ea typeface="Raleway Medium"/>
                <a:cs typeface="Raleway Medium"/>
                <a:sym typeface="Raleway Medium"/>
              </a:rPr>
              <a:t>bisa diganti sama yang lain!</a:t>
            </a:r>
            <a:endParaRPr b="0" i="0" sz="1200" u="none" cap="none" strike="noStrike">
              <a:solidFill>
                <a:schemeClr val="dk1"/>
              </a:solidFill>
              <a:highlight>
                <a:schemeClr val="lt1"/>
              </a:highlight>
              <a:latin typeface="Raleway Medium"/>
              <a:ea typeface="Raleway Medium"/>
              <a:cs typeface="Raleway Medium"/>
              <a:sym typeface="Raleway Medium"/>
            </a:endParaRPr>
          </a:p>
          <a:p>
            <a:pPr indent="0" lvl="0" marL="0" marR="0" rtl="0" algn="just">
              <a:lnSpc>
                <a:spcPct val="115000"/>
              </a:lnSpc>
              <a:spcBef>
                <a:spcPts val="1600"/>
              </a:spcBef>
              <a:spcAft>
                <a:spcPts val="0"/>
              </a:spcAft>
              <a:buClr>
                <a:srgbClr val="000000"/>
              </a:buClr>
              <a:buSzPts val="1400"/>
              <a:buFont typeface="Arial"/>
              <a:buNone/>
            </a:pPr>
            <a:r>
              <a:rPr b="0" i="0" lang="en" sz="1200" u="none" cap="none" strike="noStrike">
                <a:solidFill>
                  <a:schemeClr val="dk1"/>
                </a:solidFill>
                <a:highlight>
                  <a:schemeClr val="lt1"/>
                </a:highlight>
                <a:latin typeface="Raleway Medium"/>
                <a:ea typeface="Raleway Medium"/>
                <a:cs typeface="Raleway Medium"/>
                <a:sym typeface="Raleway Medium"/>
              </a:rPr>
              <a:t>Eitss, kalo kamu xilauu, gelapin dulu cahaya nya sob! Kan ada fitur</a:t>
            </a:r>
            <a:r>
              <a:rPr b="1" i="0" lang="en" sz="1200" u="none" cap="none" strike="noStrike">
                <a:solidFill>
                  <a:schemeClr val="dk1"/>
                </a:solidFill>
                <a:highlight>
                  <a:schemeClr val="lt1"/>
                </a:highlight>
                <a:latin typeface="Raleway"/>
                <a:ea typeface="Raleway"/>
                <a:cs typeface="Raleway"/>
                <a:sym typeface="Raleway"/>
              </a:rPr>
              <a:t> dark mode~</a:t>
            </a:r>
            <a:endParaRPr b="1" i="0" sz="1200" u="none" cap="none" strike="noStrike">
              <a:solidFill>
                <a:schemeClr val="dk1"/>
              </a:solidFill>
              <a:highlight>
                <a:schemeClr val="lt1"/>
              </a:highlight>
              <a:latin typeface="Raleway"/>
              <a:ea typeface="Raleway"/>
              <a:cs typeface="Raleway"/>
              <a:sym typeface="Raleway"/>
            </a:endParaRPr>
          </a:p>
          <a:p>
            <a:pPr indent="0" lvl="0" marL="0" marR="0" rtl="0" algn="l">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Raleway Medium"/>
              <a:ea typeface="Raleway Medium"/>
              <a:cs typeface="Raleway Medium"/>
              <a:sym typeface="Raleway Medium"/>
            </a:endParaRPr>
          </a:p>
        </p:txBody>
      </p:sp>
      <p:pic>
        <p:nvPicPr>
          <p:cNvPr id="330" name="Google Shape;330;p30"/>
          <p:cNvPicPr preferRelativeResize="0"/>
          <p:nvPr/>
        </p:nvPicPr>
        <p:blipFill rotWithShape="1">
          <a:blip r:embed="rId3">
            <a:alphaModFix/>
          </a:blip>
          <a:srcRect b="0" l="0" r="0" t="0"/>
          <a:stretch/>
        </p:blipFill>
        <p:spPr>
          <a:xfrm>
            <a:off x="5242754" y="1189675"/>
            <a:ext cx="3373846" cy="361092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31"/>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336" name="Google Shape;336;p31"/>
          <p:cNvSpPr txBox="1"/>
          <p:nvPr>
            <p:ph type="title"/>
          </p:nvPr>
        </p:nvSpPr>
        <p:spPr>
          <a:xfrm>
            <a:off x="685800" y="246888"/>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SzPts val="1200"/>
              <a:buNone/>
            </a:pPr>
            <a:r>
              <a:rPr lang="en"/>
              <a:t>UI/UX Masa Sekarang</a:t>
            </a:r>
            <a:endParaRPr/>
          </a:p>
        </p:txBody>
      </p:sp>
      <p:sp>
        <p:nvSpPr>
          <p:cNvPr id="337" name="Google Shape;337;p31"/>
          <p:cNvSpPr txBox="1"/>
          <p:nvPr/>
        </p:nvSpPr>
        <p:spPr>
          <a:xfrm>
            <a:off x="609600" y="1447797"/>
            <a:ext cx="4114800" cy="3200400"/>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0"/>
              </a:spcBef>
              <a:spcAft>
                <a:spcPts val="0"/>
              </a:spcAft>
              <a:buClr>
                <a:srgbClr val="000000"/>
              </a:buClr>
              <a:buSzPts val="1200"/>
              <a:buFont typeface="Arial"/>
              <a:buNone/>
            </a:pPr>
            <a:r>
              <a:rPr b="0" i="0" lang="en" sz="1200" u="none" cap="none" strike="noStrike">
                <a:solidFill>
                  <a:schemeClr val="dk1"/>
                </a:solidFill>
                <a:latin typeface="Raleway Medium"/>
                <a:ea typeface="Raleway Medium"/>
                <a:cs typeface="Raleway Medium"/>
                <a:sym typeface="Raleway Medium"/>
              </a:rPr>
              <a:t>Terus, juga ada yang namanya </a:t>
            </a:r>
            <a:r>
              <a:rPr b="1" i="0" lang="en" sz="1200" u="none" cap="none" strike="noStrike">
                <a:solidFill>
                  <a:schemeClr val="dk1"/>
                </a:solidFill>
                <a:uFill>
                  <a:noFill/>
                </a:uFill>
                <a:latin typeface="Raleway"/>
                <a:ea typeface="Raleway"/>
                <a:cs typeface="Raleway"/>
                <a:sym typeface="Raleway"/>
                <a:hlinkClick r:id="rId3">
                  <a:extLst>
                    <a:ext uri="{A12FA001-AC4F-418D-AE19-62706E023703}">
                      <ahyp:hlinkClr val="tx"/>
                    </a:ext>
                  </a:extLst>
                </a:hlinkClick>
              </a:rPr>
              <a:t>neumorfisme</a:t>
            </a:r>
            <a:r>
              <a:rPr b="1" i="0" lang="en" sz="1200" u="none" cap="none" strike="noStrike">
                <a:solidFill>
                  <a:schemeClr val="dk1"/>
                </a:solidFill>
                <a:latin typeface="Raleway"/>
                <a:ea typeface="Raleway"/>
                <a:cs typeface="Raleway"/>
                <a:sym typeface="Raleway"/>
              </a:rPr>
              <a:t>. </a:t>
            </a:r>
            <a:r>
              <a:rPr b="0" i="0" lang="en" sz="1200" u="none" cap="none" strike="noStrike">
                <a:solidFill>
                  <a:schemeClr val="dk1"/>
                </a:solidFill>
                <a:latin typeface="Raleway Medium"/>
                <a:ea typeface="Raleway Medium"/>
                <a:cs typeface="Raleway Medium"/>
                <a:sym typeface="Raleway Medium"/>
              </a:rPr>
              <a:t>Yaitu desain ikon aplikasi yang memadukan beragam tekstur, kedalaman, dan bayangan sehingga makin elegan dan enak dipandang. </a:t>
            </a:r>
            <a:endParaRPr b="0" i="0" sz="1200" u="none" cap="none" strike="noStrike">
              <a:solidFill>
                <a:schemeClr val="dk1"/>
              </a:solidFill>
              <a:latin typeface="Raleway Medium"/>
              <a:ea typeface="Raleway Medium"/>
              <a:cs typeface="Raleway Medium"/>
              <a:sym typeface="Raleway Medium"/>
            </a:endParaRPr>
          </a:p>
          <a:p>
            <a:pPr indent="0" lvl="0" marL="0" marR="0" rtl="0" algn="just">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Raleway Medium"/>
              <a:ea typeface="Raleway Medium"/>
              <a:cs typeface="Raleway Medium"/>
              <a:sym typeface="Raleway Medium"/>
            </a:endParaRPr>
          </a:p>
          <a:p>
            <a:pPr indent="0" lvl="0" marL="0" marR="0" rtl="0" algn="just">
              <a:lnSpc>
                <a:spcPct val="115000"/>
              </a:lnSpc>
              <a:spcBef>
                <a:spcPts val="0"/>
              </a:spcBef>
              <a:spcAft>
                <a:spcPts val="0"/>
              </a:spcAft>
              <a:buClr>
                <a:srgbClr val="000000"/>
              </a:buClr>
              <a:buSzPts val="1200"/>
              <a:buFont typeface="Arial"/>
              <a:buNone/>
            </a:pPr>
            <a:r>
              <a:rPr b="0" i="0" lang="en" sz="1200" u="none" cap="none" strike="noStrike">
                <a:solidFill>
                  <a:schemeClr val="dk1"/>
                </a:solidFill>
                <a:latin typeface="Raleway Medium"/>
                <a:ea typeface="Raleway Medium"/>
                <a:cs typeface="Raleway Medium"/>
                <a:sym typeface="Raleway Medium"/>
              </a:rPr>
              <a:t>Neumorfisme ini merupakan tren baru dalam User Interface yang dipopulerkan Apple pada tahun 2020.</a:t>
            </a:r>
            <a:endParaRPr b="0" i="0" sz="1200" u="none" cap="none" strike="noStrike">
              <a:solidFill>
                <a:schemeClr val="dk1"/>
              </a:solidFill>
              <a:latin typeface="Raleway Medium"/>
              <a:ea typeface="Raleway Medium"/>
              <a:cs typeface="Raleway Medium"/>
              <a:sym typeface="Raleway Medium"/>
            </a:endParaRPr>
          </a:p>
          <a:p>
            <a:pPr indent="0" lvl="0" marL="0" marR="0" rtl="0" algn="just">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Raleway Medium"/>
              <a:ea typeface="Raleway Medium"/>
              <a:cs typeface="Raleway Medium"/>
              <a:sym typeface="Raleway Medium"/>
            </a:endParaRPr>
          </a:p>
          <a:p>
            <a:pPr indent="0" lvl="0" marL="0" marR="0" rtl="0" algn="just">
              <a:lnSpc>
                <a:spcPct val="115000"/>
              </a:lnSpc>
              <a:spcBef>
                <a:spcPts val="1000"/>
              </a:spcBef>
              <a:spcAft>
                <a:spcPts val="0"/>
              </a:spcAft>
              <a:buClr>
                <a:srgbClr val="000000"/>
              </a:buClr>
              <a:buSzPts val="1200"/>
              <a:buFont typeface="Arial"/>
              <a:buNone/>
            </a:pPr>
            <a:r>
              <a:t/>
            </a:r>
            <a:endParaRPr b="0" i="0" sz="1200" u="none" cap="none" strike="noStrike">
              <a:solidFill>
                <a:schemeClr val="dk1"/>
              </a:solidFill>
              <a:latin typeface="Raleway Medium"/>
              <a:ea typeface="Raleway Medium"/>
              <a:cs typeface="Raleway Medium"/>
              <a:sym typeface="Raleway Medium"/>
            </a:endParaRPr>
          </a:p>
        </p:txBody>
      </p:sp>
      <p:pic>
        <p:nvPicPr>
          <p:cNvPr id="338" name="Google Shape;338;p31"/>
          <p:cNvPicPr preferRelativeResize="0"/>
          <p:nvPr/>
        </p:nvPicPr>
        <p:blipFill rotWithShape="1">
          <a:blip r:embed="rId4">
            <a:alphaModFix/>
          </a:blip>
          <a:srcRect b="0" l="0" r="0" t="0"/>
          <a:stretch/>
        </p:blipFill>
        <p:spPr>
          <a:xfrm>
            <a:off x="5514178" y="1153225"/>
            <a:ext cx="2245750" cy="3647375"/>
          </a:xfrm>
          <a:prstGeom prst="rect">
            <a:avLst/>
          </a:prstGeom>
          <a:noFill/>
          <a:ln>
            <a:noFill/>
          </a:ln>
        </p:spPr>
      </p:pic>
      <p:pic>
        <p:nvPicPr>
          <p:cNvPr id="339" name="Google Shape;339;p31">
            <a:hlinkClick r:id="rId5"/>
          </p:cNvPr>
          <p:cNvPicPr preferRelativeResize="0"/>
          <p:nvPr/>
        </p:nvPicPr>
        <p:blipFill rotWithShape="1">
          <a:blip r:embed="rId6">
            <a:alphaModFix/>
          </a:blip>
          <a:srcRect b="19790" l="50062" r="0" t="23291"/>
          <a:stretch/>
        </p:blipFill>
        <p:spPr>
          <a:xfrm>
            <a:off x="6055075" y="2782337"/>
            <a:ext cx="1347900" cy="806550"/>
          </a:xfrm>
          <a:prstGeom prst="rect">
            <a:avLst/>
          </a:prstGeom>
          <a:noFill/>
          <a:ln>
            <a:noFill/>
          </a:ln>
        </p:spPr>
      </p:pic>
      <p:pic>
        <p:nvPicPr>
          <p:cNvPr id="340" name="Google Shape;340;p31">
            <a:hlinkClick r:id="rId7"/>
          </p:cNvPr>
          <p:cNvPicPr preferRelativeResize="0"/>
          <p:nvPr/>
        </p:nvPicPr>
        <p:blipFill rotWithShape="1">
          <a:blip r:embed="rId6">
            <a:alphaModFix/>
          </a:blip>
          <a:srcRect b="23120" l="0" r="50062" t="23286"/>
          <a:stretch/>
        </p:blipFill>
        <p:spPr>
          <a:xfrm>
            <a:off x="6003000" y="2081937"/>
            <a:ext cx="1347900" cy="759474"/>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32"/>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346" name="Google Shape;346;p32"/>
          <p:cNvSpPr txBox="1"/>
          <p:nvPr>
            <p:ph type="title"/>
          </p:nvPr>
        </p:nvSpPr>
        <p:spPr>
          <a:xfrm>
            <a:off x="685800" y="246888"/>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SzPts val="1200"/>
              <a:buNone/>
            </a:pPr>
            <a:r>
              <a:rPr lang="en"/>
              <a:t>UI/UX Masa Sekarang</a:t>
            </a:r>
            <a:endParaRPr/>
          </a:p>
        </p:txBody>
      </p:sp>
      <p:sp>
        <p:nvSpPr>
          <p:cNvPr id="347" name="Google Shape;347;p32"/>
          <p:cNvSpPr txBox="1"/>
          <p:nvPr/>
        </p:nvSpPr>
        <p:spPr>
          <a:xfrm>
            <a:off x="597225" y="1189675"/>
            <a:ext cx="4039800" cy="3200400"/>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1600"/>
              </a:spcBef>
              <a:spcAft>
                <a:spcPts val="0"/>
              </a:spcAft>
              <a:buClr>
                <a:srgbClr val="000000"/>
              </a:buClr>
              <a:buSzPts val="1400"/>
              <a:buFont typeface="Arial"/>
              <a:buNone/>
            </a:pPr>
            <a:r>
              <a:rPr b="1" i="0" lang="en" sz="1800" u="none" cap="none" strike="noStrike">
                <a:solidFill>
                  <a:srgbClr val="743673"/>
                </a:solidFill>
                <a:highlight>
                  <a:schemeClr val="lt1"/>
                </a:highlight>
                <a:latin typeface="Raleway"/>
                <a:ea typeface="Raleway"/>
                <a:cs typeface="Raleway"/>
                <a:sym typeface="Raleway"/>
              </a:rPr>
              <a:t>UX nya juga nggak kalah keren! </a:t>
            </a:r>
            <a:endParaRPr b="1" i="0" sz="1800" u="none" cap="none" strike="noStrike">
              <a:solidFill>
                <a:srgbClr val="743673"/>
              </a:solidFill>
              <a:highlight>
                <a:schemeClr val="lt1"/>
              </a:highlight>
              <a:latin typeface="Raleway"/>
              <a:ea typeface="Raleway"/>
              <a:cs typeface="Raleway"/>
              <a:sym typeface="Raleway"/>
            </a:endParaRPr>
          </a:p>
          <a:p>
            <a:pPr indent="0" lvl="0" marL="0" marR="0" rtl="0" algn="just">
              <a:lnSpc>
                <a:spcPct val="115000"/>
              </a:lnSpc>
              <a:spcBef>
                <a:spcPts val="1600"/>
              </a:spcBef>
              <a:spcAft>
                <a:spcPts val="0"/>
              </a:spcAft>
              <a:buClr>
                <a:srgbClr val="000000"/>
              </a:buClr>
              <a:buSzPts val="1400"/>
              <a:buFont typeface="Arial"/>
              <a:buNone/>
            </a:pPr>
            <a:r>
              <a:rPr b="0" i="0" lang="en" sz="1200" u="none" cap="none" strike="noStrike">
                <a:solidFill>
                  <a:schemeClr val="dk1"/>
                </a:solidFill>
                <a:highlight>
                  <a:schemeClr val="lt1"/>
                </a:highlight>
                <a:latin typeface="Raleway Medium"/>
                <a:ea typeface="Raleway Medium"/>
                <a:cs typeface="Raleway Medium"/>
                <a:sym typeface="Raleway Medium"/>
              </a:rPr>
              <a:t>Nggak cuma UI, UX juga punya beragam inovasi di masa sekarang. Misal, penerapan </a:t>
            </a:r>
            <a:r>
              <a:rPr b="1" i="0" lang="en" sz="1200" u="none" cap="none" strike="noStrike">
                <a:solidFill>
                  <a:schemeClr val="dk1"/>
                </a:solidFill>
                <a:highlight>
                  <a:schemeClr val="lt1"/>
                </a:highlight>
                <a:uFill>
                  <a:noFill/>
                </a:uFill>
                <a:latin typeface="Raleway"/>
                <a:ea typeface="Raleway"/>
                <a:cs typeface="Raleway"/>
                <a:sym typeface="Raleway"/>
                <a:hlinkClick r:id="rId3">
                  <a:extLst>
                    <a:ext uri="{A12FA001-AC4F-418D-AE19-62706E023703}">
                      <ahyp:hlinkClr val="tx"/>
                    </a:ext>
                  </a:extLst>
                </a:hlinkClick>
              </a:rPr>
              <a:t>storytelling</a:t>
            </a:r>
            <a:r>
              <a:rPr b="1" i="0" lang="en" sz="1200" u="none" cap="none" strike="noStrike">
                <a:solidFill>
                  <a:schemeClr val="dk1"/>
                </a:solidFill>
                <a:highlight>
                  <a:schemeClr val="lt1"/>
                </a:highlight>
                <a:latin typeface="Raleway"/>
                <a:ea typeface="Raleway"/>
                <a:cs typeface="Raleway"/>
                <a:sym typeface="Raleway"/>
              </a:rPr>
              <a:t> </a:t>
            </a:r>
            <a:r>
              <a:rPr b="0" i="0" lang="en" sz="1200" u="none" cap="none" strike="noStrike">
                <a:solidFill>
                  <a:schemeClr val="dk1"/>
                </a:solidFill>
                <a:highlight>
                  <a:schemeClr val="lt1"/>
                </a:highlight>
                <a:latin typeface="Raleway Medium"/>
                <a:ea typeface="Raleway Medium"/>
                <a:cs typeface="Raleway Medium"/>
                <a:sym typeface="Raleway Medium"/>
              </a:rPr>
              <a:t>untuk menggugah orang secara emosional pada suatu produk. </a:t>
            </a:r>
            <a:endParaRPr b="0" i="0" sz="1200" u="none" cap="none" strike="noStrike">
              <a:solidFill>
                <a:schemeClr val="dk1"/>
              </a:solidFill>
              <a:highlight>
                <a:schemeClr val="lt1"/>
              </a:highlight>
              <a:latin typeface="Raleway Medium"/>
              <a:ea typeface="Raleway Medium"/>
              <a:cs typeface="Raleway Medium"/>
              <a:sym typeface="Raleway Medium"/>
            </a:endParaRPr>
          </a:p>
          <a:p>
            <a:pPr indent="0" lvl="0" marL="0" marR="0" rtl="0" algn="just">
              <a:lnSpc>
                <a:spcPct val="115000"/>
              </a:lnSpc>
              <a:spcBef>
                <a:spcPts val="1600"/>
              </a:spcBef>
              <a:spcAft>
                <a:spcPts val="0"/>
              </a:spcAft>
              <a:buClr>
                <a:srgbClr val="000000"/>
              </a:buClr>
              <a:buSzPts val="1400"/>
              <a:buFont typeface="Arial"/>
              <a:buNone/>
            </a:pPr>
            <a:r>
              <a:rPr b="0" i="0" lang="en" sz="1200" u="none" cap="none" strike="noStrike">
                <a:solidFill>
                  <a:schemeClr val="dk1"/>
                </a:solidFill>
                <a:highlight>
                  <a:schemeClr val="lt1"/>
                </a:highlight>
                <a:latin typeface="Raleway Medium"/>
                <a:ea typeface="Raleway Medium"/>
                <a:cs typeface="Raleway Medium"/>
                <a:sym typeface="Raleway Medium"/>
              </a:rPr>
              <a:t>Terus, kalo kamu lagi nge-scroll sesuatu di website, pasti ada progress bar yang bergerak kan? Yap~ itu adalah bentuk </a:t>
            </a:r>
            <a:r>
              <a:rPr b="1" i="0" lang="en" sz="1200" u="none" cap="none" strike="noStrike">
                <a:solidFill>
                  <a:schemeClr val="dk1"/>
                </a:solidFill>
                <a:highlight>
                  <a:schemeClr val="lt1"/>
                </a:highlight>
                <a:uFill>
                  <a:noFill/>
                </a:uFill>
                <a:latin typeface="Raleway"/>
                <a:ea typeface="Raleway"/>
                <a:cs typeface="Raleway"/>
                <a:sym typeface="Raleway"/>
                <a:hlinkClick r:id="rId4">
                  <a:extLst>
                    <a:ext uri="{A12FA001-AC4F-418D-AE19-62706E023703}">
                      <ahyp:hlinkClr val="tx"/>
                    </a:ext>
                  </a:extLst>
                </a:hlinkClick>
              </a:rPr>
              <a:t>microinteractions</a:t>
            </a:r>
            <a:r>
              <a:rPr b="1" i="0" lang="en" sz="1200" u="none" cap="none" strike="noStrike">
                <a:solidFill>
                  <a:schemeClr val="dk1"/>
                </a:solidFill>
                <a:highlight>
                  <a:schemeClr val="lt1"/>
                </a:highlight>
                <a:latin typeface="Raleway"/>
                <a:ea typeface="Raleway"/>
                <a:cs typeface="Raleway"/>
                <a:sym typeface="Raleway"/>
              </a:rPr>
              <a:t> </a:t>
            </a:r>
            <a:r>
              <a:rPr b="0" i="0" lang="en" sz="1200" u="none" cap="none" strike="noStrike">
                <a:solidFill>
                  <a:schemeClr val="dk1"/>
                </a:solidFill>
                <a:highlight>
                  <a:schemeClr val="lt1"/>
                </a:highlight>
                <a:latin typeface="Raleway Medium"/>
                <a:ea typeface="Raleway Medium"/>
                <a:cs typeface="Raleway Medium"/>
                <a:sym typeface="Raleway Medium"/>
              </a:rPr>
              <a:t>dimana kamu sebagai pengguna seolah berinteraksi dengan website atau aplikasi tersebut. Microinteractions ini merupakan salah satu bentuk inovasi dalam UX.</a:t>
            </a:r>
            <a:endParaRPr b="0" i="0" sz="1200" u="none" cap="none" strike="noStrike">
              <a:solidFill>
                <a:schemeClr val="dk1"/>
              </a:solidFill>
              <a:highlight>
                <a:schemeClr val="lt1"/>
              </a:highlight>
              <a:latin typeface="Raleway Medium"/>
              <a:ea typeface="Raleway Medium"/>
              <a:cs typeface="Raleway Medium"/>
              <a:sym typeface="Raleway Medium"/>
            </a:endParaRPr>
          </a:p>
          <a:p>
            <a:pPr indent="0" lvl="0" marL="0" marR="0" rtl="0" algn="l">
              <a:lnSpc>
                <a:spcPct val="115000"/>
              </a:lnSpc>
              <a:spcBef>
                <a:spcPts val="1600"/>
              </a:spcBef>
              <a:spcAft>
                <a:spcPts val="0"/>
              </a:spcAft>
              <a:buClr>
                <a:srgbClr val="000000"/>
              </a:buClr>
              <a:buSzPts val="1400"/>
              <a:buFont typeface="Arial"/>
              <a:buNone/>
            </a:pPr>
            <a:r>
              <a:t/>
            </a:r>
            <a:endParaRPr b="1" i="0" sz="1300" u="none" cap="none" strike="noStrike">
              <a:solidFill>
                <a:schemeClr val="dk1"/>
              </a:solidFill>
              <a:highlight>
                <a:schemeClr val="lt1"/>
              </a:highlight>
              <a:latin typeface="Raleway"/>
              <a:ea typeface="Raleway"/>
              <a:cs typeface="Raleway"/>
              <a:sym typeface="Raleway"/>
            </a:endParaRPr>
          </a:p>
          <a:p>
            <a:pPr indent="0" lvl="0" marL="0" marR="0" rtl="0" algn="just">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Raleway Medium"/>
              <a:ea typeface="Raleway Medium"/>
              <a:cs typeface="Raleway Medium"/>
              <a:sym typeface="Raleway Medium"/>
            </a:endParaRPr>
          </a:p>
        </p:txBody>
      </p:sp>
      <p:pic>
        <p:nvPicPr>
          <p:cNvPr id="348" name="Google Shape;348;p32"/>
          <p:cNvPicPr preferRelativeResize="0"/>
          <p:nvPr/>
        </p:nvPicPr>
        <p:blipFill rotWithShape="1">
          <a:blip r:embed="rId5">
            <a:alphaModFix/>
          </a:blip>
          <a:srcRect b="0" l="0" r="0" t="0"/>
          <a:stretch/>
        </p:blipFill>
        <p:spPr>
          <a:xfrm>
            <a:off x="5099166" y="1372550"/>
            <a:ext cx="3517435" cy="2485226"/>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33"/>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354" name="Google Shape;354;p33"/>
          <p:cNvSpPr txBox="1"/>
          <p:nvPr>
            <p:ph type="title"/>
          </p:nvPr>
        </p:nvSpPr>
        <p:spPr>
          <a:xfrm>
            <a:off x="685800" y="246888"/>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SzPts val="1200"/>
              <a:buNone/>
            </a:pPr>
            <a:r>
              <a:rPr lang="en"/>
              <a:t>UI/UX Masa Sekarang</a:t>
            </a:r>
            <a:endParaRPr/>
          </a:p>
        </p:txBody>
      </p:sp>
      <p:sp>
        <p:nvSpPr>
          <p:cNvPr id="355" name="Google Shape;355;p33"/>
          <p:cNvSpPr txBox="1"/>
          <p:nvPr/>
        </p:nvSpPr>
        <p:spPr>
          <a:xfrm>
            <a:off x="609600" y="978975"/>
            <a:ext cx="3765600" cy="3200400"/>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0"/>
              </a:spcBef>
              <a:spcAft>
                <a:spcPts val="0"/>
              </a:spcAft>
              <a:buClr>
                <a:srgbClr val="000000"/>
              </a:buClr>
              <a:buSzPts val="1200"/>
              <a:buFont typeface="Arial"/>
              <a:buNone/>
            </a:pPr>
            <a:r>
              <a:t/>
            </a:r>
            <a:endParaRPr b="0" i="0" sz="1200" u="none" cap="none" strike="noStrike">
              <a:solidFill>
                <a:srgbClr val="743673"/>
              </a:solidFill>
              <a:highlight>
                <a:schemeClr val="lt1"/>
              </a:highlight>
              <a:latin typeface="Raleway Medium"/>
              <a:ea typeface="Raleway Medium"/>
              <a:cs typeface="Raleway Medium"/>
              <a:sym typeface="Raleway Medium"/>
            </a:endParaRPr>
          </a:p>
          <a:p>
            <a:pPr indent="0" lvl="0" marL="0" marR="0" rtl="0" algn="just">
              <a:lnSpc>
                <a:spcPct val="115000"/>
              </a:lnSpc>
              <a:spcBef>
                <a:spcPts val="1000"/>
              </a:spcBef>
              <a:spcAft>
                <a:spcPts val="0"/>
              </a:spcAft>
              <a:buClr>
                <a:srgbClr val="000000"/>
              </a:buClr>
              <a:buSzPts val="1200"/>
              <a:buFont typeface="Arial"/>
              <a:buNone/>
            </a:pPr>
            <a:r>
              <a:t/>
            </a:r>
            <a:endParaRPr b="0" i="0" sz="1200" u="none" cap="none" strike="noStrike">
              <a:solidFill>
                <a:srgbClr val="743673"/>
              </a:solidFill>
              <a:highlight>
                <a:schemeClr val="lt1"/>
              </a:highlight>
              <a:latin typeface="Raleway Medium"/>
              <a:ea typeface="Raleway Medium"/>
              <a:cs typeface="Raleway Medium"/>
              <a:sym typeface="Raleway Medium"/>
            </a:endParaRPr>
          </a:p>
          <a:p>
            <a:pPr indent="0" lvl="0" marL="0" marR="0" rtl="0" algn="just">
              <a:lnSpc>
                <a:spcPct val="115000"/>
              </a:lnSpc>
              <a:spcBef>
                <a:spcPts val="1000"/>
              </a:spcBef>
              <a:spcAft>
                <a:spcPts val="0"/>
              </a:spcAft>
              <a:buClr>
                <a:srgbClr val="000000"/>
              </a:buClr>
              <a:buSzPts val="1200"/>
              <a:buFont typeface="Arial"/>
              <a:buNone/>
            </a:pPr>
            <a:r>
              <a:rPr b="0" i="0" lang="en" sz="1200" u="none" cap="none" strike="noStrike">
                <a:solidFill>
                  <a:schemeClr val="dk1"/>
                </a:solidFill>
                <a:latin typeface="Raleway Medium"/>
                <a:ea typeface="Raleway Medium"/>
                <a:cs typeface="Raleway Medium"/>
                <a:sym typeface="Raleway Medium"/>
              </a:rPr>
              <a:t>Ada yang nggak kalah keren nih pada inovasi UX di masa sekarang, yaitu fitur</a:t>
            </a:r>
            <a:r>
              <a:rPr b="1" i="0" lang="en" sz="1200" u="none" cap="none" strike="noStrike">
                <a:solidFill>
                  <a:schemeClr val="dk1"/>
                </a:solidFill>
                <a:latin typeface="Raleway"/>
                <a:ea typeface="Raleway"/>
                <a:cs typeface="Raleway"/>
                <a:sym typeface="Raleway"/>
              </a:rPr>
              <a:t> </a:t>
            </a:r>
            <a:r>
              <a:rPr b="1" i="0" lang="en" sz="1200" u="none" cap="none" strike="noStrike">
                <a:solidFill>
                  <a:schemeClr val="dk1"/>
                </a:solidFill>
                <a:uFill>
                  <a:noFill/>
                </a:uFill>
                <a:latin typeface="Raleway"/>
                <a:ea typeface="Raleway"/>
                <a:cs typeface="Raleway"/>
                <a:sym typeface="Raleway"/>
                <a:hlinkClick r:id="rId3">
                  <a:extLst>
                    <a:ext uri="{A12FA001-AC4F-418D-AE19-62706E023703}">
                      <ahyp:hlinkClr val="tx"/>
                    </a:ext>
                  </a:extLst>
                </a:hlinkClick>
              </a:rPr>
              <a:t>air gesture control</a:t>
            </a:r>
            <a:r>
              <a:rPr b="1" i="0" lang="en" sz="1200" u="none" cap="none" strike="noStrike">
                <a:solidFill>
                  <a:schemeClr val="dk1"/>
                </a:solidFill>
                <a:latin typeface="Raleway"/>
                <a:ea typeface="Raleway"/>
                <a:cs typeface="Raleway"/>
                <a:sym typeface="Raleway"/>
              </a:rPr>
              <a:t>.</a:t>
            </a:r>
            <a:endParaRPr b="1" i="0" sz="1200" u="none" cap="none" strike="noStrike">
              <a:solidFill>
                <a:schemeClr val="dk1"/>
              </a:solidFill>
              <a:latin typeface="Raleway"/>
              <a:ea typeface="Raleway"/>
              <a:cs typeface="Raleway"/>
              <a:sym typeface="Raleway"/>
            </a:endParaRPr>
          </a:p>
          <a:p>
            <a:pPr indent="0" lvl="0" marL="0" marR="0" rtl="0" algn="just">
              <a:lnSpc>
                <a:spcPct val="115000"/>
              </a:lnSpc>
              <a:spcBef>
                <a:spcPts val="1000"/>
              </a:spcBef>
              <a:spcAft>
                <a:spcPts val="1000"/>
              </a:spcAft>
              <a:buClr>
                <a:srgbClr val="000000"/>
              </a:buClr>
              <a:buSzPts val="1200"/>
              <a:buFont typeface="Arial"/>
              <a:buNone/>
            </a:pPr>
            <a:r>
              <a:rPr b="0" i="0" lang="en" sz="1200" u="none" cap="none" strike="noStrike">
                <a:solidFill>
                  <a:schemeClr val="dk1"/>
                </a:solidFill>
                <a:latin typeface="Raleway Medium"/>
                <a:ea typeface="Raleway Medium"/>
                <a:cs typeface="Raleway Medium"/>
                <a:sym typeface="Raleway Medium"/>
              </a:rPr>
              <a:t>Fitur ini memungkinkan pengguna untuk menggunakan perangkat tanpa menyentuh. Magic banget euy~</a:t>
            </a:r>
            <a:endParaRPr b="0" i="0" sz="1200" u="none" cap="none" strike="noStrike">
              <a:solidFill>
                <a:schemeClr val="dk1"/>
              </a:solidFill>
              <a:latin typeface="Raleway Medium"/>
              <a:ea typeface="Raleway Medium"/>
              <a:cs typeface="Raleway Medium"/>
              <a:sym typeface="Raleway Medium"/>
            </a:endParaRPr>
          </a:p>
        </p:txBody>
      </p:sp>
      <p:pic>
        <p:nvPicPr>
          <p:cNvPr id="356" name="Google Shape;356;p33"/>
          <p:cNvPicPr preferRelativeResize="0"/>
          <p:nvPr/>
        </p:nvPicPr>
        <p:blipFill rotWithShape="1">
          <a:blip r:embed="rId4">
            <a:alphaModFix/>
          </a:blip>
          <a:srcRect b="0" l="0" r="0" t="0"/>
          <a:stretch/>
        </p:blipFill>
        <p:spPr>
          <a:xfrm>
            <a:off x="4637100" y="1238125"/>
            <a:ext cx="4080527" cy="3562474"/>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34"/>
          <p:cNvSpPr txBox="1"/>
          <p:nvPr>
            <p:ph type="title"/>
          </p:nvPr>
        </p:nvSpPr>
        <p:spPr>
          <a:xfrm>
            <a:off x="914400" y="1112400"/>
            <a:ext cx="7315200" cy="7221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400"/>
              <a:buNone/>
            </a:pPr>
            <a:r>
              <a:rPr lang="en" sz="2000"/>
              <a:t>Saatnya kita </a:t>
            </a:r>
            <a:endParaRPr sz="2000"/>
          </a:p>
          <a:p>
            <a:pPr indent="0" lvl="0" marL="0" rtl="0" algn="ctr">
              <a:lnSpc>
                <a:spcPct val="100000"/>
              </a:lnSpc>
              <a:spcBef>
                <a:spcPts val="0"/>
              </a:spcBef>
              <a:spcAft>
                <a:spcPts val="0"/>
              </a:spcAft>
              <a:buSzPts val="2400"/>
              <a:buNone/>
            </a:pPr>
            <a:r>
              <a:rPr lang="en" sz="3000">
                <a:solidFill>
                  <a:schemeClr val="accent1"/>
                </a:solidFill>
              </a:rPr>
              <a:t>Quiz!</a:t>
            </a:r>
            <a:endParaRPr sz="3000">
              <a:solidFill>
                <a:schemeClr val="accent1"/>
              </a:solidFill>
            </a:endParaRPr>
          </a:p>
        </p:txBody>
      </p:sp>
      <p:sp>
        <p:nvSpPr>
          <p:cNvPr id="362" name="Google Shape;362;p34"/>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pic>
        <p:nvPicPr>
          <p:cNvPr id="363" name="Google Shape;363;p34"/>
          <p:cNvPicPr preferRelativeResize="0"/>
          <p:nvPr/>
        </p:nvPicPr>
        <p:blipFill rotWithShape="1">
          <a:blip r:embed="rId3">
            <a:alphaModFix/>
          </a:blip>
          <a:srcRect b="30829" l="0" r="0" t="0"/>
          <a:stretch/>
        </p:blipFill>
        <p:spPr>
          <a:xfrm>
            <a:off x="1745237" y="2162900"/>
            <a:ext cx="5653526" cy="29806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35"/>
          <p:cNvSpPr txBox="1"/>
          <p:nvPr>
            <p:ph type="title"/>
          </p:nvPr>
        </p:nvSpPr>
        <p:spPr>
          <a:xfrm>
            <a:off x="685800" y="246888"/>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SzPts val="1200"/>
              <a:buNone/>
            </a:pPr>
            <a:r>
              <a:rPr lang="en"/>
              <a:t>Quiz</a:t>
            </a:r>
            <a:endParaRPr/>
          </a:p>
        </p:txBody>
      </p:sp>
      <p:sp>
        <p:nvSpPr>
          <p:cNvPr id="369" name="Google Shape;369;p35"/>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0"/>
              </a:spcBef>
              <a:spcAft>
                <a:spcPts val="0"/>
              </a:spcAft>
              <a:buClr>
                <a:srgbClr val="000000"/>
              </a:buClr>
              <a:buSzPts val="2800"/>
              <a:buFont typeface="Arial"/>
              <a:buNone/>
            </a:pPr>
            <a:r>
              <a:rPr b="1" i="0" lang="en" sz="2800" u="none" cap="none" strike="noStrike">
                <a:solidFill>
                  <a:schemeClr val="accent1"/>
                </a:solidFill>
                <a:latin typeface="Raleway"/>
                <a:ea typeface="Raleway"/>
                <a:cs typeface="Raleway"/>
                <a:sym typeface="Raleway"/>
              </a:rPr>
              <a:t>1.</a:t>
            </a:r>
            <a:r>
              <a:rPr b="1" i="0" lang="en" sz="1800" u="none" cap="none" strike="noStrike">
                <a:solidFill>
                  <a:schemeClr val="lt1"/>
                </a:solidFill>
                <a:latin typeface="Raleway"/>
                <a:ea typeface="Raleway"/>
                <a:cs typeface="Raleway"/>
                <a:sym typeface="Raleway"/>
              </a:rPr>
              <a:t> Berikut ini, yang bukan merupakan bentuk penerapan UI di masa sekarang adalah…</a:t>
            </a:r>
            <a:endParaRPr b="1" i="0" sz="1800" u="none" cap="none" strike="noStrike">
              <a:solidFill>
                <a:schemeClr val="lt1"/>
              </a:solidFill>
              <a:latin typeface="Raleway"/>
              <a:ea typeface="Raleway"/>
              <a:cs typeface="Raleway"/>
              <a:sym typeface="Raleway"/>
            </a:endParaRPr>
          </a:p>
          <a:p>
            <a:pPr indent="0" lvl="0" marL="0" marR="0" rtl="0" algn="just">
              <a:lnSpc>
                <a:spcPct val="115000"/>
              </a:lnSpc>
              <a:spcBef>
                <a:spcPts val="0"/>
              </a:spcBef>
              <a:spcAft>
                <a:spcPts val="0"/>
              </a:spcAft>
              <a:buClr>
                <a:srgbClr val="000000"/>
              </a:buClr>
              <a:buSzPts val="1300"/>
              <a:buFont typeface="Arial"/>
              <a:buNone/>
            </a:pPr>
            <a:r>
              <a:t/>
            </a:r>
            <a:endParaRPr b="0" i="0" sz="1300" u="none" cap="none" strike="noStrike">
              <a:solidFill>
                <a:schemeClr val="lt1"/>
              </a:solidFill>
              <a:latin typeface="Raleway Medium"/>
              <a:ea typeface="Raleway Medium"/>
              <a:cs typeface="Raleway Medium"/>
              <a:sym typeface="Raleway Medium"/>
            </a:endParaRPr>
          </a:p>
          <a:p>
            <a:pPr indent="-304800" lvl="0" marL="457200" marR="0" rtl="0" algn="just">
              <a:lnSpc>
                <a:spcPct val="115000"/>
              </a:lnSpc>
              <a:spcBef>
                <a:spcPts val="0"/>
              </a:spcBef>
              <a:spcAft>
                <a:spcPts val="0"/>
              </a:spcAft>
              <a:buClr>
                <a:schemeClr val="lt1"/>
              </a:buClr>
              <a:buSzPts val="1200"/>
              <a:buFont typeface="Raleway Medium"/>
              <a:buAutoNum type="alphaUcPeriod"/>
            </a:pPr>
            <a:r>
              <a:rPr b="0" i="0" lang="en" sz="1200" u="none" cap="none" strike="noStrike">
                <a:solidFill>
                  <a:schemeClr val="lt1"/>
                </a:solidFill>
                <a:latin typeface="Raleway Medium"/>
                <a:ea typeface="Raleway Medium"/>
                <a:cs typeface="Raleway Medium"/>
                <a:sym typeface="Raleway Medium"/>
              </a:rPr>
              <a:t>Karena bosan pada bentuk font di handphonenya, Sabrina memanfaatkan fitur font custom untuk mengubahnya.</a:t>
            </a:r>
            <a:endParaRPr b="0" i="0" sz="1200" u="none" cap="none" strike="noStrike">
              <a:solidFill>
                <a:schemeClr val="lt1"/>
              </a:solidFill>
              <a:latin typeface="Raleway Medium"/>
              <a:ea typeface="Raleway Medium"/>
              <a:cs typeface="Raleway Medium"/>
              <a:sym typeface="Raleway Medium"/>
            </a:endParaRPr>
          </a:p>
          <a:p>
            <a:pPr indent="-304800" lvl="0" marL="457200" marR="0" rtl="0" algn="just">
              <a:lnSpc>
                <a:spcPct val="115000"/>
              </a:lnSpc>
              <a:spcBef>
                <a:spcPts val="1000"/>
              </a:spcBef>
              <a:spcAft>
                <a:spcPts val="0"/>
              </a:spcAft>
              <a:buClr>
                <a:schemeClr val="lt1"/>
              </a:buClr>
              <a:buSzPts val="1200"/>
              <a:buFont typeface="Raleway Medium"/>
              <a:buAutoNum type="alphaUcPeriod"/>
            </a:pPr>
            <a:r>
              <a:rPr b="0" i="0" lang="en" sz="1200" u="none" cap="none" strike="noStrike">
                <a:solidFill>
                  <a:schemeClr val="lt1"/>
                </a:solidFill>
                <a:latin typeface="Raleway Medium"/>
                <a:ea typeface="Raleway Medium"/>
                <a:cs typeface="Raleway Medium"/>
                <a:sym typeface="Raleway Medium"/>
              </a:rPr>
              <a:t>Mas Gun membuka lock smartphone miliknya hanya dengan menggerakkan tangan, tanpa menyentuh. </a:t>
            </a:r>
            <a:endParaRPr b="0" i="0" sz="1200" u="none" cap="none" strike="noStrike">
              <a:solidFill>
                <a:schemeClr val="lt1"/>
              </a:solidFill>
              <a:latin typeface="Raleway Medium"/>
              <a:ea typeface="Raleway Medium"/>
              <a:cs typeface="Raleway Medium"/>
              <a:sym typeface="Raleway Medium"/>
            </a:endParaRPr>
          </a:p>
          <a:p>
            <a:pPr indent="-304800" lvl="0" marL="457200" marR="0" rtl="0" algn="just">
              <a:lnSpc>
                <a:spcPct val="115000"/>
              </a:lnSpc>
              <a:spcBef>
                <a:spcPts val="1000"/>
              </a:spcBef>
              <a:spcAft>
                <a:spcPts val="1000"/>
              </a:spcAft>
              <a:buClr>
                <a:schemeClr val="lt1"/>
              </a:buClr>
              <a:buSzPts val="1200"/>
              <a:buFont typeface="Raleway Medium"/>
              <a:buAutoNum type="alphaUcPeriod"/>
            </a:pPr>
            <a:r>
              <a:rPr b="0" i="0" lang="en" sz="1200" u="none" cap="none" strike="noStrike">
                <a:solidFill>
                  <a:schemeClr val="lt1"/>
                </a:solidFill>
                <a:latin typeface="Raleway Medium"/>
                <a:ea typeface="Raleway Medium"/>
                <a:cs typeface="Raleway Medium"/>
                <a:sym typeface="Raleway Medium"/>
              </a:rPr>
              <a:t>Seorang admin toko online menggunakan mode gelap pada smartphone agar matanya tidak mudah lelah saat bekerja.</a:t>
            </a:r>
            <a:endParaRPr b="0" i="0" sz="1200" u="none" cap="none" strike="noStrike">
              <a:solidFill>
                <a:schemeClr val="lt1"/>
              </a:solidFill>
              <a:latin typeface="Raleway Medium"/>
              <a:ea typeface="Raleway Medium"/>
              <a:cs typeface="Raleway Medium"/>
              <a:sym typeface="Raleway Medium"/>
            </a:endParaRPr>
          </a:p>
        </p:txBody>
      </p:sp>
      <p:sp>
        <p:nvSpPr>
          <p:cNvPr id="370" name="Google Shape;370;p35"/>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36"/>
          <p:cNvSpPr txBox="1"/>
          <p:nvPr>
            <p:ph type="title"/>
          </p:nvPr>
        </p:nvSpPr>
        <p:spPr>
          <a:xfrm>
            <a:off x="685800" y="246888"/>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SzPts val="1200"/>
              <a:buNone/>
            </a:pPr>
            <a:r>
              <a:rPr lang="en"/>
              <a:t>Pembahasan Quiz</a:t>
            </a:r>
            <a:endParaRPr/>
          </a:p>
        </p:txBody>
      </p:sp>
      <p:sp>
        <p:nvSpPr>
          <p:cNvPr id="376" name="Google Shape;376;p36"/>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0"/>
              </a:spcBef>
              <a:spcAft>
                <a:spcPts val="0"/>
              </a:spcAft>
              <a:buClr>
                <a:srgbClr val="000000"/>
              </a:buClr>
              <a:buSzPts val="2800"/>
              <a:buFont typeface="Arial"/>
              <a:buNone/>
            </a:pPr>
            <a:r>
              <a:rPr b="1" i="0" lang="en" sz="2800" u="none" cap="none" strike="noStrike">
                <a:solidFill>
                  <a:schemeClr val="accent1"/>
                </a:solidFill>
                <a:latin typeface="Raleway"/>
                <a:ea typeface="Raleway"/>
                <a:cs typeface="Raleway"/>
                <a:sym typeface="Raleway"/>
              </a:rPr>
              <a:t>1.</a:t>
            </a:r>
            <a:r>
              <a:rPr b="1" i="0" lang="en" sz="1800" u="none" cap="none" strike="noStrike">
                <a:solidFill>
                  <a:schemeClr val="lt1"/>
                </a:solidFill>
                <a:latin typeface="Raleway"/>
                <a:ea typeface="Raleway"/>
                <a:cs typeface="Raleway"/>
                <a:sym typeface="Raleway"/>
              </a:rPr>
              <a:t> Berikut ini, yang bukan merupakan bentuk penerapan UI di masa sekarang adalah…</a:t>
            </a:r>
            <a:endParaRPr b="1" i="0" sz="1800" u="none" cap="none" strike="noStrike">
              <a:solidFill>
                <a:schemeClr val="lt1"/>
              </a:solidFill>
              <a:latin typeface="Raleway"/>
              <a:ea typeface="Raleway"/>
              <a:cs typeface="Raleway"/>
              <a:sym typeface="Raleway"/>
            </a:endParaRPr>
          </a:p>
          <a:p>
            <a:pPr indent="0" lvl="0" marL="0" marR="0" rtl="0" algn="l">
              <a:lnSpc>
                <a:spcPct val="115000"/>
              </a:lnSpc>
              <a:spcBef>
                <a:spcPts val="0"/>
              </a:spcBef>
              <a:spcAft>
                <a:spcPts val="0"/>
              </a:spcAft>
              <a:buClr>
                <a:srgbClr val="000000"/>
              </a:buClr>
              <a:buSzPts val="1300"/>
              <a:buFont typeface="Arial"/>
              <a:buNone/>
            </a:pPr>
            <a:r>
              <a:t/>
            </a:r>
            <a:endParaRPr b="0" i="0" sz="1300" u="none" cap="none" strike="noStrike">
              <a:solidFill>
                <a:schemeClr val="lt1"/>
              </a:solidFill>
              <a:latin typeface="Raleway Medium"/>
              <a:ea typeface="Raleway Medium"/>
              <a:cs typeface="Raleway Medium"/>
              <a:sym typeface="Raleway Medium"/>
            </a:endParaRPr>
          </a:p>
          <a:p>
            <a:pPr indent="-304800" lvl="0" marL="457200" marR="0" rtl="0" algn="just">
              <a:lnSpc>
                <a:spcPct val="115000"/>
              </a:lnSpc>
              <a:spcBef>
                <a:spcPts val="0"/>
              </a:spcBef>
              <a:spcAft>
                <a:spcPts val="0"/>
              </a:spcAft>
              <a:buClr>
                <a:srgbClr val="A667A5"/>
              </a:buClr>
              <a:buSzPts val="1200"/>
              <a:buFont typeface="Raleway Medium"/>
              <a:buAutoNum type="alphaUcPeriod"/>
            </a:pPr>
            <a:r>
              <a:rPr b="0" i="0" lang="en" sz="1200" u="none" cap="none" strike="noStrike">
                <a:solidFill>
                  <a:srgbClr val="A667A5"/>
                </a:solidFill>
                <a:latin typeface="Raleway Medium"/>
                <a:ea typeface="Raleway Medium"/>
                <a:cs typeface="Raleway Medium"/>
                <a:sym typeface="Raleway Medium"/>
              </a:rPr>
              <a:t>Karena bosan pada bentuk font di handphonenya, Sabrina memanfaatkan fitur font custom untuk mengubahnya.</a:t>
            </a:r>
            <a:endParaRPr b="0" i="0" sz="1200" u="none" cap="none" strike="noStrike">
              <a:solidFill>
                <a:srgbClr val="A667A5"/>
              </a:solidFill>
              <a:latin typeface="Raleway Medium"/>
              <a:ea typeface="Raleway Medium"/>
              <a:cs typeface="Raleway Medium"/>
              <a:sym typeface="Raleway Medium"/>
            </a:endParaRPr>
          </a:p>
          <a:p>
            <a:pPr indent="-304800" lvl="0" marL="457200" marR="0" rtl="0" algn="just">
              <a:lnSpc>
                <a:spcPct val="115000"/>
              </a:lnSpc>
              <a:spcBef>
                <a:spcPts val="1000"/>
              </a:spcBef>
              <a:spcAft>
                <a:spcPts val="0"/>
              </a:spcAft>
              <a:buClr>
                <a:schemeClr val="lt1"/>
              </a:buClr>
              <a:buSzPts val="1200"/>
              <a:buFont typeface="Raleway Medium"/>
              <a:buAutoNum type="alphaUcPeriod"/>
            </a:pPr>
            <a:r>
              <a:rPr b="0" i="0" lang="en" sz="1200" u="none" cap="none" strike="noStrike">
                <a:solidFill>
                  <a:schemeClr val="lt1"/>
                </a:solidFill>
                <a:latin typeface="Raleway Medium"/>
                <a:ea typeface="Raleway Medium"/>
                <a:cs typeface="Raleway Medium"/>
                <a:sym typeface="Raleway Medium"/>
              </a:rPr>
              <a:t>Mas Gun membuka lock smartphone miliknya hanya dengan menggerakkan tangan, tanpa menyentuh. </a:t>
            </a:r>
            <a:endParaRPr b="0" i="0" sz="1200" u="none" cap="none" strike="noStrike">
              <a:solidFill>
                <a:schemeClr val="lt1"/>
              </a:solidFill>
              <a:latin typeface="Raleway Medium"/>
              <a:ea typeface="Raleway Medium"/>
              <a:cs typeface="Raleway Medium"/>
              <a:sym typeface="Raleway Medium"/>
            </a:endParaRPr>
          </a:p>
          <a:p>
            <a:pPr indent="-304800" lvl="0" marL="457200" marR="0" rtl="0" algn="just">
              <a:lnSpc>
                <a:spcPct val="115000"/>
              </a:lnSpc>
              <a:spcBef>
                <a:spcPts val="1000"/>
              </a:spcBef>
              <a:spcAft>
                <a:spcPts val="1000"/>
              </a:spcAft>
              <a:buClr>
                <a:srgbClr val="A667A5"/>
              </a:buClr>
              <a:buSzPts val="1200"/>
              <a:buFont typeface="Raleway Medium"/>
              <a:buAutoNum type="alphaUcPeriod"/>
            </a:pPr>
            <a:r>
              <a:rPr b="0" i="0" lang="en" sz="1200" u="none" cap="none" strike="noStrike">
                <a:solidFill>
                  <a:srgbClr val="A667A5"/>
                </a:solidFill>
                <a:latin typeface="Raleway Medium"/>
                <a:ea typeface="Raleway Medium"/>
                <a:cs typeface="Raleway Medium"/>
                <a:sym typeface="Raleway Medium"/>
              </a:rPr>
              <a:t>Seorang admin toko online menggunakan mode gelap pada smartphone agar matanya tidak mudah lelah saat bekerja.</a:t>
            </a:r>
            <a:endParaRPr b="0" i="0" sz="1200" u="none" cap="none" strike="noStrike">
              <a:solidFill>
                <a:srgbClr val="A667A5"/>
              </a:solidFill>
              <a:latin typeface="Raleway Medium"/>
              <a:ea typeface="Raleway Medium"/>
              <a:cs typeface="Raleway Medium"/>
              <a:sym typeface="Raleway Medium"/>
            </a:endParaRPr>
          </a:p>
        </p:txBody>
      </p:sp>
      <p:sp>
        <p:nvSpPr>
          <p:cNvPr id="377" name="Google Shape;377;p36"/>
          <p:cNvSpPr/>
          <p:nvPr/>
        </p:nvSpPr>
        <p:spPr>
          <a:xfrm>
            <a:off x="685800" y="4053000"/>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marR="0" rtl="0" algn="just">
              <a:lnSpc>
                <a:spcPct val="115000"/>
              </a:lnSpc>
              <a:spcBef>
                <a:spcPts val="0"/>
              </a:spcBef>
              <a:spcAft>
                <a:spcPts val="0"/>
              </a:spcAft>
              <a:buClr>
                <a:srgbClr val="000000"/>
              </a:buClr>
              <a:buSzPts val="1200"/>
              <a:buFont typeface="Arial"/>
              <a:buNone/>
            </a:pPr>
            <a:r>
              <a:rPr b="1" i="0" lang="en" sz="1200" u="none" cap="none" strike="noStrike">
                <a:solidFill>
                  <a:srgbClr val="733572"/>
                </a:solidFill>
                <a:latin typeface="Raleway"/>
                <a:ea typeface="Raleway"/>
                <a:cs typeface="Raleway"/>
                <a:sym typeface="Raleway"/>
              </a:rPr>
              <a:t>Penggunaan gerakan tangan atau air gesture control dalam pengoperasian smartphone merupakan bentuk penerapan User Experience (UX).</a:t>
            </a:r>
            <a:endParaRPr b="1" i="0" sz="1200" u="none" cap="none" strike="noStrike">
              <a:solidFill>
                <a:srgbClr val="733572"/>
              </a:solidFill>
              <a:latin typeface="Raleway"/>
              <a:ea typeface="Raleway"/>
              <a:cs typeface="Raleway"/>
              <a:sym typeface="Raleway"/>
            </a:endParaRPr>
          </a:p>
        </p:txBody>
      </p:sp>
      <p:sp>
        <p:nvSpPr>
          <p:cNvPr id="378" name="Google Shape;378;p36"/>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37"/>
          <p:cNvSpPr txBox="1"/>
          <p:nvPr>
            <p:ph type="title"/>
          </p:nvPr>
        </p:nvSpPr>
        <p:spPr>
          <a:xfrm>
            <a:off x="685800" y="246888"/>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SzPts val="1200"/>
              <a:buNone/>
            </a:pPr>
            <a:r>
              <a:rPr lang="en"/>
              <a:t>Quiz</a:t>
            </a:r>
            <a:endParaRPr/>
          </a:p>
        </p:txBody>
      </p:sp>
      <p:sp>
        <p:nvSpPr>
          <p:cNvPr id="384" name="Google Shape;384;p37"/>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0"/>
              </a:spcBef>
              <a:spcAft>
                <a:spcPts val="0"/>
              </a:spcAft>
              <a:buClr>
                <a:srgbClr val="000000"/>
              </a:buClr>
              <a:buSzPts val="2800"/>
              <a:buFont typeface="Arial"/>
              <a:buNone/>
            </a:pPr>
            <a:r>
              <a:rPr b="1" i="0" lang="en" sz="2800" u="none" cap="none" strike="noStrike">
                <a:solidFill>
                  <a:schemeClr val="accent1"/>
                </a:solidFill>
                <a:latin typeface="Raleway"/>
                <a:ea typeface="Raleway"/>
                <a:cs typeface="Raleway"/>
                <a:sym typeface="Raleway"/>
              </a:rPr>
              <a:t>2.</a:t>
            </a:r>
            <a:r>
              <a:rPr b="1" i="0" lang="en" sz="1800" u="none" cap="none" strike="noStrike">
                <a:solidFill>
                  <a:schemeClr val="lt1"/>
                </a:solidFill>
                <a:latin typeface="Raleway"/>
                <a:ea typeface="Raleway"/>
                <a:cs typeface="Raleway"/>
                <a:sym typeface="Raleway"/>
              </a:rPr>
              <a:t> Menurut kamu, bagaimana hakikat yang benar dalam </a:t>
            </a:r>
            <a:r>
              <a:rPr b="1" i="1" lang="en" sz="1800" u="none" cap="none" strike="noStrike">
                <a:solidFill>
                  <a:schemeClr val="lt1"/>
                </a:solidFill>
                <a:latin typeface="Raleway"/>
                <a:ea typeface="Raleway"/>
                <a:cs typeface="Raleway"/>
                <a:sym typeface="Raleway"/>
              </a:rPr>
              <a:t>User Experience</a:t>
            </a:r>
            <a:r>
              <a:rPr b="1" i="0" lang="en" sz="1800" u="none" cap="none" strike="noStrike">
                <a:solidFill>
                  <a:schemeClr val="lt1"/>
                </a:solidFill>
                <a:latin typeface="Raleway"/>
                <a:ea typeface="Raleway"/>
                <a:cs typeface="Raleway"/>
                <a:sym typeface="Raleway"/>
              </a:rPr>
              <a:t>?</a:t>
            </a:r>
            <a:endParaRPr b="1" i="0" sz="1800" u="none" cap="none" strike="noStrike">
              <a:solidFill>
                <a:schemeClr val="lt1"/>
              </a:solidFill>
              <a:latin typeface="Raleway"/>
              <a:ea typeface="Raleway"/>
              <a:cs typeface="Raleway"/>
              <a:sym typeface="Raleway"/>
            </a:endParaRPr>
          </a:p>
          <a:p>
            <a:pPr indent="0" lvl="0" marL="0" marR="0" rtl="0" algn="just">
              <a:lnSpc>
                <a:spcPct val="115000"/>
              </a:lnSpc>
              <a:spcBef>
                <a:spcPts val="0"/>
              </a:spcBef>
              <a:spcAft>
                <a:spcPts val="0"/>
              </a:spcAft>
              <a:buClr>
                <a:srgbClr val="000000"/>
              </a:buClr>
              <a:buSzPts val="1200"/>
              <a:buFont typeface="Arial"/>
              <a:buNone/>
            </a:pPr>
            <a:r>
              <a:t/>
            </a:r>
            <a:endParaRPr b="0" i="0" sz="1200" u="none" cap="none" strike="noStrike">
              <a:solidFill>
                <a:schemeClr val="lt1"/>
              </a:solidFill>
              <a:latin typeface="Raleway Medium"/>
              <a:ea typeface="Raleway Medium"/>
              <a:cs typeface="Raleway Medium"/>
              <a:sym typeface="Raleway Medium"/>
            </a:endParaRPr>
          </a:p>
          <a:p>
            <a:pPr indent="-304800" lvl="0" marL="457200" marR="0" rtl="0" algn="just">
              <a:lnSpc>
                <a:spcPct val="115000"/>
              </a:lnSpc>
              <a:spcBef>
                <a:spcPts val="0"/>
              </a:spcBef>
              <a:spcAft>
                <a:spcPts val="0"/>
              </a:spcAft>
              <a:buClr>
                <a:schemeClr val="lt1"/>
              </a:buClr>
              <a:buSzPts val="1200"/>
              <a:buFont typeface="Raleway Medium"/>
              <a:buAutoNum type="alphaUcPeriod"/>
            </a:pPr>
            <a:r>
              <a:rPr b="0" i="0" lang="en" sz="1200" u="none" cap="none" strike="noStrike">
                <a:solidFill>
                  <a:schemeClr val="lt1"/>
                </a:solidFill>
                <a:latin typeface="Raleway Medium"/>
                <a:ea typeface="Raleway Medium"/>
                <a:cs typeface="Raleway Medium"/>
                <a:sym typeface="Raleway Medium"/>
              </a:rPr>
              <a:t>User experience yang baik membuat pengguna harus melalui proses yang cukup panjang untuk mendapatkan apa yang mereka inginkan.</a:t>
            </a:r>
            <a:endParaRPr b="0" i="0" sz="1200" u="none" cap="none" strike="noStrike">
              <a:solidFill>
                <a:schemeClr val="lt1"/>
              </a:solidFill>
              <a:latin typeface="Raleway Medium"/>
              <a:ea typeface="Raleway Medium"/>
              <a:cs typeface="Raleway Medium"/>
              <a:sym typeface="Raleway Medium"/>
            </a:endParaRPr>
          </a:p>
          <a:p>
            <a:pPr indent="-304800" lvl="0" marL="457200" marR="0" rtl="0" algn="just">
              <a:lnSpc>
                <a:spcPct val="115000"/>
              </a:lnSpc>
              <a:spcBef>
                <a:spcPts val="1000"/>
              </a:spcBef>
              <a:spcAft>
                <a:spcPts val="0"/>
              </a:spcAft>
              <a:buClr>
                <a:schemeClr val="lt1"/>
              </a:buClr>
              <a:buSzPts val="1200"/>
              <a:buFont typeface="Raleway Medium"/>
              <a:buAutoNum type="alphaUcPeriod"/>
            </a:pPr>
            <a:r>
              <a:rPr b="0" i="0" lang="en" sz="1200" u="none" cap="none" strike="noStrike">
                <a:solidFill>
                  <a:schemeClr val="lt1"/>
                </a:solidFill>
                <a:latin typeface="Raleway Medium"/>
                <a:ea typeface="Raleway Medium"/>
                <a:cs typeface="Raleway Medium"/>
                <a:sym typeface="Raleway Medium"/>
              </a:rPr>
              <a:t>User experience yang baik menggunakan desain elemen yang berubah-ubah.</a:t>
            </a:r>
            <a:endParaRPr b="0" i="0" sz="1200" u="none" cap="none" strike="noStrike">
              <a:solidFill>
                <a:schemeClr val="lt1"/>
              </a:solidFill>
              <a:latin typeface="Raleway Medium"/>
              <a:ea typeface="Raleway Medium"/>
              <a:cs typeface="Raleway Medium"/>
              <a:sym typeface="Raleway Medium"/>
            </a:endParaRPr>
          </a:p>
          <a:p>
            <a:pPr indent="-304800" lvl="0" marL="457200" marR="0" rtl="0" algn="just">
              <a:lnSpc>
                <a:spcPct val="115000"/>
              </a:lnSpc>
              <a:spcBef>
                <a:spcPts val="1000"/>
              </a:spcBef>
              <a:spcAft>
                <a:spcPts val="0"/>
              </a:spcAft>
              <a:buClr>
                <a:schemeClr val="lt1"/>
              </a:buClr>
              <a:buSzPts val="1200"/>
              <a:buFont typeface="Raleway Medium"/>
              <a:buAutoNum type="alphaUcPeriod"/>
            </a:pPr>
            <a:r>
              <a:rPr b="0" i="0" lang="en" sz="1200" u="none" cap="none" strike="noStrike">
                <a:solidFill>
                  <a:schemeClr val="lt1"/>
                </a:solidFill>
                <a:latin typeface="Raleway Medium"/>
                <a:ea typeface="Raleway Medium"/>
                <a:cs typeface="Raleway Medium"/>
                <a:sym typeface="Raleway Medium"/>
              </a:rPr>
              <a:t>User experience yang baik menggunakan proses yang tidak akan menyulitkan penggunanya dalam mencapai tujuan.</a:t>
            </a:r>
            <a:endParaRPr b="0" i="0" sz="1200" u="none" cap="none" strike="noStrike">
              <a:solidFill>
                <a:schemeClr val="lt1"/>
              </a:solidFill>
              <a:latin typeface="Raleway Medium"/>
              <a:ea typeface="Raleway Medium"/>
              <a:cs typeface="Raleway Medium"/>
              <a:sym typeface="Raleway Medium"/>
            </a:endParaRPr>
          </a:p>
          <a:p>
            <a:pPr indent="0" lvl="0" marL="0" marR="0" rtl="0" algn="just">
              <a:lnSpc>
                <a:spcPct val="115000"/>
              </a:lnSpc>
              <a:spcBef>
                <a:spcPts val="1000"/>
              </a:spcBef>
              <a:spcAft>
                <a:spcPts val="0"/>
              </a:spcAft>
              <a:buClr>
                <a:srgbClr val="000000"/>
              </a:buClr>
              <a:buSzPts val="1200"/>
              <a:buFont typeface="Arial"/>
              <a:buNone/>
            </a:pPr>
            <a:r>
              <a:t/>
            </a:r>
            <a:endParaRPr b="0" i="0" sz="1200" u="none" cap="none" strike="noStrike">
              <a:solidFill>
                <a:schemeClr val="lt1"/>
              </a:solidFill>
              <a:latin typeface="Raleway Medium"/>
              <a:ea typeface="Raleway Medium"/>
              <a:cs typeface="Raleway Medium"/>
              <a:sym typeface="Raleway Medium"/>
            </a:endParaRPr>
          </a:p>
        </p:txBody>
      </p:sp>
      <p:sp>
        <p:nvSpPr>
          <p:cNvPr id="385" name="Google Shape;385;p37"/>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38"/>
          <p:cNvSpPr txBox="1"/>
          <p:nvPr>
            <p:ph type="title"/>
          </p:nvPr>
        </p:nvSpPr>
        <p:spPr>
          <a:xfrm>
            <a:off x="685800" y="246888"/>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SzPts val="1200"/>
              <a:buNone/>
            </a:pPr>
            <a:r>
              <a:rPr lang="en"/>
              <a:t>Pembahasan Quiz</a:t>
            </a:r>
            <a:endParaRPr/>
          </a:p>
        </p:txBody>
      </p:sp>
      <p:sp>
        <p:nvSpPr>
          <p:cNvPr id="391" name="Google Shape;391;p38"/>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0"/>
              </a:spcBef>
              <a:spcAft>
                <a:spcPts val="0"/>
              </a:spcAft>
              <a:buClr>
                <a:srgbClr val="000000"/>
              </a:buClr>
              <a:buSzPts val="2800"/>
              <a:buFont typeface="Arial"/>
              <a:buNone/>
            </a:pPr>
            <a:r>
              <a:rPr b="1" i="0" lang="en" sz="2800" u="none" cap="none" strike="noStrike">
                <a:solidFill>
                  <a:schemeClr val="accent1"/>
                </a:solidFill>
                <a:latin typeface="Raleway"/>
                <a:ea typeface="Raleway"/>
                <a:cs typeface="Raleway"/>
                <a:sym typeface="Raleway"/>
              </a:rPr>
              <a:t>2.</a:t>
            </a:r>
            <a:r>
              <a:rPr b="1" i="0" lang="en" sz="1800" u="none" cap="none" strike="noStrike">
                <a:solidFill>
                  <a:schemeClr val="lt1"/>
                </a:solidFill>
                <a:latin typeface="Raleway"/>
                <a:ea typeface="Raleway"/>
                <a:cs typeface="Raleway"/>
                <a:sym typeface="Raleway"/>
              </a:rPr>
              <a:t> Menurut kamu, bagaimana hakikat yang benar dalam </a:t>
            </a:r>
            <a:r>
              <a:rPr b="1" i="1" lang="en" sz="1800" u="none" cap="none" strike="noStrike">
                <a:solidFill>
                  <a:schemeClr val="lt1"/>
                </a:solidFill>
                <a:latin typeface="Raleway"/>
                <a:ea typeface="Raleway"/>
                <a:cs typeface="Raleway"/>
                <a:sym typeface="Raleway"/>
              </a:rPr>
              <a:t>User Experience</a:t>
            </a:r>
            <a:r>
              <a:rPr b="1" i="0" lang="en" sz="1800" u="none" cap="none" strike="noStrike">
                <a:solidFill>
                  <a:schemeClr val="lt1"/>
                </a:solidFill>
                <a:latin typeface="Raleway"/>
                <a:ea typeface="Raleway"/>
                <a:cs typeface="Raleway"/>
                <a:sym typeface="Raleway"/>
              </a:rPr>
              <a:t>?</a:t>
            </a:r>
            <a:endParaRPr b="1" i="0" sz="1800" u="none" cap="none" strike="noStrike">
              <a:solidFill>
                <a:schemeClr val="lt1"/>
              </a:solidFill>
              <a:latin typeface="Raleway"/>
              <a:ea typeface="Raleway"/>
              <a:cs typeface="Raleway"/>
              <a:sym typeface="Raleway"/>
            </a:endParaRPr>
          </a:p>
          <a:p>
            <a:pPr indent="0" lvl="0" marL="0" marR="0" rtl="0" algn="just">
              <a:lnSpc>
                <a:spcPct val="115000"/>
              </a:lnSpc>
              <a:spcBef>
                <a:spcPts val="0"/>
              </a:spcBef>
              <a:spcAft>
                <a:spcPts val="0"/>
              </a:spcAft>
              <a:buClr>
                <a:srgbClr val="000000"/>
              </a:buClr>
              <a:buSzPts val="1300"/>
              <a:buFont typeface="Arial"/>
              <a:buNone/>
            </a:pPr>
            <a:r>
              <a:t/>
            </a:r>
            <a:endParaRPr b="0" i="0" sz="1300" u="none" cap="none" strike="noStrike">
              <a:solidFill>
                <a:schemeClr val="lt1"/>
              </a:solidFill>
              <a:latin typeface="Raleway Medium"/>
              <a:ea typeface="Raleway Medium"/>
              <a:cs typeface="Raleway Medium"/>
              <a:sym typeface="Raleway Medium"/>
            </a:endParaRPr>
          </a:p>
          <a:p>
            <a:pPr indent="-304800" lvl="0" marL="457200" marR="0" rtl="0" algn="just">
              <a:lnSpc>
                <a:spcPct val="115000"/>
              </a:lnSpc>
              <a:spcBef>
                <a:spcPts val="0"/>
              </a:spcBef>
              <a:spcAft>
                <a:spcPts val="0"/>
              </a:spcAft>
              <a:buClr>
                <a:srgbClr val="A667A5"/>
              </a:buClr>
              <a:buSzPts val="1200"/>
              <a:buFont typeface="Raleway Medium"/>
              <a:buAutoNum type="alphaUcPeriod"/>
            </a:pPr>
            <a:r>
              <a:rPr b="0" i="0" lang="en" sz="1200" u="none" cap="none" strike="noStrike">
                <a:solidFill>
                  <a:srgbClr val="A667A5"/>
                </a:solidFill>
                <a:latin typeface="Raleway Medium"/>
                <a:ea typeface="Raleway Medium"/>
                <a:cs typeface="Raleway Medium"/>
                <a:sym typeface="Raleway Medium"/>
              </a:rPr>
              <a:t>User experience yang baik membuat pengguna harus melalui proses yang cukup panjang untuk mendapatkan apa yang mereka inginkan.</a:t>
            </a:r>
            <a:endParaRPr b="0" i="0" sz="1200" u="none" cap="none" strike="noStrike">
              <a:solidFill>
                <a:srgbClr val="A667A5"/>
              </a:solidFill>
              <a:latin typeface="Raleway Medium"/>
              <a:ea typeface="Raleway Medium"/>
              <a:cs typeface="Raleway Medium"/>
              <a:sym typeface="Raleway Medium"/>
            </a:endParaRPr>
          </a:p>
          <a:p>
            <a:pPr indent="-304800" lvl="0" marL="457200" marR="0" rtl="0" algn="just">
              <a:lnSpc>
                <a:spcPct val="115000"/>
              </a:lnSpc>
              <a:spcBef>
                <a:spcPts val="1000"/>
              </a:spcBef>
              <a:spcAft>
                <a:spcPts val="0"/>
              </a:spcAft>
              <a:buClr>
                <a:srgbClr val="A667A5"/>
              </a:buClr>
              <a:buSzPts val="1200"/>
              <a:buFont typeface="Raleway Medium"/>
              <a:buAutoNum type="alphaUcPeriod"/>
            </a:pPr>
            <a:r>
              <a:rPr b="0" i="0" lang="en" sz="1200" u="none" cap="none" strike="noStrike">
                <a:solidFill>
                  <a:srgbClr val="A667A5"/>
                </a:solidFill>
                <a:latin typeface="Raleway Medium"/>
                <a:ea typeface="Raleway Medium"/>
                <a:cs typeface="Raleway Medium"/>
                <a:sym typeface="Raleway Medium"/>
              </a:rPr>
              <a:t>User experience yang baik menggunakan desain elemen yang berubah-ubah.</a:t>
            </a:r>
            <a:endParaRPr b="0" i="0" sz="1200" u="none" cap="none" strike="noStrike">
              <a:solidFill>
                <a:srgbClr val="A667A5"/>
              </a:solidFill>
              <a:latin typeface="Raleway Medium"/>
              <a:ea typeface="Raleway Medium"/>
              <a:cs typeface="Raleway Medium"/>
              <a:sym typeface="Raleway Medium"/>
            </a:endParaRPr>
          </a:p>
          <a:p>
            <a:pPr indent="-304800" lvl="0" marL="457200" marR="0" rtl="0" algn="just">
              <a:lnSpc>
                <a:spcPct val="115000"/>
              </a:lnSpc>
              <a:spcBef>
                <a:spcPts val="1000"/>
              </a:spcBef>
              <a:spcAft>
                <a:spcPts val="0"/>
              </a:spcAft>
              <a:buClr>
                <a:schemeClr val="lt1"/>
              </a:buClr>
              <a:buSzPts val="1200"/>
              <a:buFont typeface="Raleway Medium"/>
              <a:buAutoNum type="alphaUcPeriod"/>
            </a:pPr>
            <a:r>
              <a:rPr b="0" i="0" lang="en" sz="1200" u="none" cap="none" strike="noStrike">
                <a:solidFill>
                  <a:schemeClr val="lt1"/>
                </a:solidFill>
                <a:latin typeface="Raleway Medium"/>
                <a:ea typeface="Raleway Medium"/>
                <a:cs typeface="Raleway Medium"/>
                <a:sym typeface="Raleway Medium"/>
              </a:rPr>
              <a:t>User experience yang baik menggunakan proses yang tidak akan menyulitkan penggunanya dalam mencapai tujuan.</a:t>
            </a:r>
            <a:endParaRPr b="0" i="0" sz="1200" u="none" cap="none" strike="noStrike">
              <a:solidFill>
                <a:srgbClr val="A667A5"/>
              </a:solidFill>
              <a:latin typeface="Raleway Medium"/>
              <a:ea typeface="Raleway Medium"/>
              <a:cs typeface="Raleway Medium"/>
              <a:sym typeface="Raleway Medium"/>
            </a:endParaRPr>
          </a:p>
          <a:p>
            <a:pPr indent="0" lvl="0" marL="0" marR="0" rtl="0" algn="just">
              <a:lnSpc>
                <a:spcPct val="115000"/>
              </a:lnSpc>
              <a:spcBef>
                <a:spcPts val="1000"/>
              </a:spcBef>
              <a:spcAft>
                <a:spcPts val="0"/>
              </a:spcAft>
              <a:buClr>
                <a:srgbClr val="000000"/>
              </a:buClr>
              <a:buSzPts val="1300"/>
              <a:buFont typeface="Arial"/>
              <a:buNone/>
            </a:pPr>
            <a:r>
              <a:t/>
            </a:r>
            <a:endParaRPr b="0" i="0" sz="1300" u="none" cap="none" strike="noStrike">
              <a:solidFill>
                <a:srgbClr val="A667A5"/>
              </a:solidFill>
              <a:latin typeface="Raleway Medium"/>
              <a:ea typeface="Raleway Medium"/>
              <a:cs typeface="Raleway Medium"/>
              <a:sym typeface="Raleway Medium"/>
            </a:endParaRPr>
          </a:p>
          <a:p>
            <a:pPr indent="0" lvl="0" marL="0" marR="0" rtl="0" algn="just">
              <a:lnSpc>
                <a:spcPct val="115000"/>
              </a:lnSpc>
              <a:spcBef>
                <a:spcPts val="0"/>
              </a:spcBef>
              <a:spcAft>
                <a:spcPts val="0"/>
              </a:spcAft>
              <a:buClr>
                <a:srgbClr val="000000"/>
              </a:buClr>
              <a:buSzPts val="1200"/>
              <a:buFont typeface="Arial"/>
              <a:buNone/>
            </a:pPr>
            <a:r>
              <a:t/>
            </a:r>
            <a:endParaRPr b="0" i="0" sz="1200" u="none" cap="none" strike="noStrike">
              <a:solidFill>
                <a:schemeClr val="lt1"/>
              </a:solidFill>
              <a:latin typeface="Raleway Medium"/>
              <a:ea typeface="Raleway Medium"/>
              <a:cs typeface="Raleway Medium"/>
              <a:sym typeface="Raleway Medium"/>
            </a:endParaRPr>
          </a:p>
        </p:txBody>
      </p:sp>
      <p:sp>
        <p:nvSpPr>
          <p:cNvPr id="392" name="Google Shape;392;p38"/>
          <p:cNvSpPr/>
          <p:nvPr/>
        </p:nvSpPr>
        <p:spPr>
          <a:xfrm>
            <a:off x="685800" y="3794750"/>
            <a:ext cx="7772400" cy="7269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just">
              <a:lnSpc>
                <a:spcPct val="115000"/>
              </a:lnSpc>
              <a:spcBef>
                <a:spcPts val="0"/>
              </a:spcBef>
              <a:spcAft>
                <a:spcPts val="0"/>
              </a:spcAft>
              <a:buClr>
                <a:srgbClr val="000000"/>
              </a:buClr>
              <a:buSzPts val="1200"/>
              <a:buFont typeface="Arial"/>
              <a:buNone/>
            </a:pPr>
            <a:r>
              <a:rPr b="1" i="0" lang="en" sz="1200" u="none" cap="none" strike="noStrike">
                <a:solidFill>
                  <a:srgbClr val="652F67"/>
                </a:solidFill>
                <a:latin typeface="Raleway"/>
                <a:ea typeface="Raleway"/>
                <a:cs typeface="Raleway"/>
                <a:sym typeface="Raleway"/>
              </a:rPr>
              <a:t>User experience adalah bagaimana pengalaman pengguna dalam berinteraksi dan menggunakan produk digital. User experience yang baik tentunya tidak akan menyulitkan pengguna untuk mencapai tujuan mereka.</a:t>
            </a:r>
            <a:endParaRPr b="1" i="0" sz="1200" u="none" cap="none" strike="noStrike">
              <a:solidFill>
                <a:srgbClr val="652F67"/>
              </a:solidFill>
              <a:latin typeface="Raleway"/>
              <a:ea typeface="Raleway"/>
              <a:cs typeface="Raleway"/>
              <a:sym typeface="Raleway"/>
            </a:endParaRPr>
          </a:p>
        </p:txBody>
      </p:sp>
      <p:sp>
        <p:nvSpPr>
          <p:cNvPr id="393" name="Google Shape;393;p38"/>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39"/>
          <p:cNvSpPr txBox="1"/>
          <p:nvPr>
            <p:ph type="title"/>
          </p:nvPr>
        </p:nvSpPr>
        <p:spPr>
          <a:xfrm>
            <a:off x="685800" y="246888"/>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SzPts val="1200"/>
              <a:buNone/>
            </a:pPr>
            <a:r>
              <a:rPr lang="en"/>
              <a:t>Quiz</a:t>
            </a:r>
            <a:endParaRPr/>
          </a:p>
        </p:txBody>
      </p:sp>
      <p:sp>
        <p:nvSpPr>
          <p:cNvPr id="399" name="Google Shape;399;p39"/>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0"/>
              </a:spcBef>
              <a:spcAft>
                <a:spcPts val="0"/>
              </a:spcAft>
              <a:buClr>
                <a:srgbClr val="000000"/>
              </a:buClr>
              <a:buSzPts val="2800"/>
              <a:buFont typeface="Arial"/>
              <a:buNone/>
            </a:pPr>
            <a:r>
              <a:rPr b="1" i="0" lang="en" sz="2800" u="none" cap="none" strike="noStrike">
                <a:solidFill>
                  <a:schemeClr val="accent1"/>
                </a:solidFill>
                <a:latin typeface="Raleway"/>
                <a:ea typeface="Raleway"/>
                <a:cs typeface="Raleway"/>
                <a:sym typeface="Raleway"/>
              </a:rPr>
              <a:t>3.</a:t>
            </a:r>
            <a:r>
              <a:rPr b="1" i="0" lang="en" sz="1800" u="none" cap="none" strike="noStrike">
                <a:solidFill>
                  <a:schemeClr val="lt1"/>
                </a:solidFill>
                <a:latin typeface="Raleway"/>
                <a:ea typeface="Raleway"/>
                <a:cs typeface="Raleway"/>
                <a:sym typeface="Raleway"/>
              </a:rPr>
              <a:t> Penggunaan UI animation dalam identitas sebuah produk untuk menggugah pengguna secara emosional merupakan bentuk penerapan dari…</a:t>
            </a:r>
            <a:endParaRPr b="1" i="0" sz="1800" u="none" cap="none" strike="noStrike">
              <a:solidFill>
                <a:schemeClr val="lt1"/>
              </a:solidFill>
              <a:latin typeface="Raleway"/>
              <a:ea typeface="Raleway"/>
              <a:cs typeface="Raleway"/>
              <a:sym typeface="Raleway"/>
            </a:endParaRPr>
          </a:p>
          <a:p>
            <a:pPr indent="0" lvl="0" marL="0" marR="0" rtl="0" algn="just">
              <a:lnSpc>
                <a:spcPct val="115000"/>
              </a:lnSpc>
              <a:spcBef>
                <a:spcPts val="0"/>
              </a:spcBef>
              <a:spcAft>
                <a:spcPts val="0"/>
              </a:spcAft>
              <a:buClr>
                <a:srgbClr val="000000"/>
              </a:buClr>
              <a:buSzPts val="1800"/>
              <a:buFont typeface="Arial"/>
              <a:buNone/>
            </a:pPr>
            <a:r>
              <a:t/>
            </a:r>
            <a:endParaRPr b="1" i="0" sz="1800" u="none" cap="none" strike="noStrike">
              <a:solidFill>
                <a:schemeClr val="lt1"/>
              </a:solidFill>
              <a:latin typeface="Raleway"/>
              <a:ea typeface="Raleway"/>
              <a:cs typeface="Raleway"/>
              <a:sym typeface="Raleway"/>
            </a:endParaRPr>
          </a:p>
          <a:p>
            <a:pPr indent="-304800" lvl="0" marL="457200" marR="0" rtl="0" algn="just">
              <a:lnSpc>
                <a:spcPct val="115000"/>
              </a:lnSpc>
              <a:spcBef>
                <a:spcPts val="0"/>
              </a:spcBef>
              <a:spcAft>
                <a:spcPts val="0"/>
              </a:spcAft>
              <a:buClr>
                <a:schemeClr val="lt1"/>
              </a:buClr>
              <a:buSzPts val="1200"/>
              <a:buFont typeface="Raleway Medium"/>
              <a:buAutoNum type="alphaUcPeriod"/>
            </a:pPr>
            <a:r>
              <a:rPr b="0" i="0" lang="en" sz="1200" u="none" cap="none" strike="noStrike">
                <a:solidFill>
                  <a:schemeClr val="lt1"/>
                </a:solidFill>
                <a:latin typeface="Raleway Medium"/>
                <a:ea typeface="Raleway Medium"/>
                <a:cs typeface="Raleway Medium"/>
                <a:sym typeface="Raleway Medium"/>
              </a:rPr>
              <a:t>Navigation</a:t>
            </a:r>
            <a:endParaRPr b="0" i="0" sz="1200" u="none" cap="none" strike="noStrike">
              <a:solidFill>
                <a:schemeClr val="lt1"/>
              </a:solidFill>
              <a:latin typeface="Raleway Medium"/>
              <a:ea typeface="Raleway Medium"/>
              <a:cs typeface="Raleway Medium"/>
              <a:sym typeface="Raleway Medium"/>
            </a:endParaRPr>
          </a:p>
          <a:p>
            <a:pPr indent="-304800" lvl="0" marL="457200" marR="0" rtl="0" algn="just">
              <a:lnSpc>
                <a:spcPct val="115000"/>
              </a:lnSpc>
              <a:spcBef>
                <a:spcPts val="1000"/>
              </a:spcBef>
              <a:spcAft>
                <a:spcPts val="0"/>
              </a:spcAft>
              <a:buClr>
                <a:schemeClr val="lt1"/>
              </a:buClr>
              <a:buSzPts val="1200"/>
              <a:buFont typeface="Raleway Medium"/>
              <a:buAutoNum type="alphaUcPeriod"/>
            </a:pPr>
            <a:r>
              <a:rPr b="0" i="0" lang="en" sz="1200" u="none" cap="none" strike="noStrike">
                <a:solidFill>
                  <a:schemeClr val="lt1"/>
                </a:solidFill>
                <a:latin typeface="Raleway Medium"/>
                <a:ea typeface="Raleway Medium"/>
                <a:cs typeface="Raleway Medium"/>
                <a:sym typeface="Raleway Medium"/>
              </a:rPr>
              <a:t>Storytelling dan branding</a:t>
            </a:r>
            <a:endParaRPr b="0" i="0" sz="1200" u="none" cap="none" strike="noStrike">
              <a:solidFill>
                <a:schemeClr val="lt1"/>
              </a:solidFill>
              <a:latin typeface="Raleway Medium"/>
              <a:ea typeface="Raleway Medium"/>
              <a:cs typeface="Raleway Medium"/>
              <a:sym typeface="Raleway Medium"/>
            </a:endParaRPr>
          </a:p>
          <a:p>
            <a:pPr indent="-304800" lvl="0" marL="457200" marR="0" rtl="0" algn="just">
              <a:lnSpc>
                <a:spcPct val="115000"/>
              </a:lnSpc>
              <a:spcBef>
                <a:spcPts val="1000"/>
              </a:spcBef>
              <a:spcAft>
                <a:spcPts val="0"/>
              </a:spcAft>
              <a:buClr>
                <a:schemeClr val="lt1"/>
              </a:buClr>
              <a:buSzPts val="1200"/>
              <a:buFont typeface="Raleway Medium"/>
              <a:buAutoNum type="alphaUcPeriod"/>
            </a:pPr>
            <a:r>
              <a:rPr b="0" i="0" lang="en" sz="1200" u="none" cap="none" strike="noStrike">
                <a:solidFill>
                  <a:schemeClr val="lt1"/>
                </a:solidFill>
                <a:latin typeface="Raleway Medium"/>
                <a:ea typeface="Raleway Medium"/>
                <a:cs typeface="Raleway Medium"/>
                <a:sym typeface="Raleway Medium"/>
              </a:rPr>
              <a:t>Micro-interaction</a:t>
            </a:r>
            <a:endParaRPr b="0" i="0" sz="1200" u="none" cap="none" strike="noStrike">
              <a:solidFill>
                <a:schemeClr val="lt1"/>
              </a:solidFill>
              <a:latin typeface="Raleway Medium"/>
              <a:ea typeface="Raleway Medium"/>
              <a:cs typeface="Raleway Medium"/>
              <a:sym typeface="Raleway Medium"/>
            </a:endParaRPr>
          </a:p>
          <a:p>
            <a:pPr indent="0" lvl="0" marL="0" marR="0" rtl="0" algn="just">
              <a:lnSpc>
                <a:spcPct val="115000"/>
              </a:lnSpc>
              <a:spcBef>
                <a:spcPts val="1000"/>
              </a:spcBef>
              <a:spcAft>
                <a:spcPts val="0"/>
              </a:spcAft>
              <a:buClr>
                <a:srgbClr val="000000"/>
              </a:buClr>
              <a:buSzPts val="1200"/>
              <a:buFont typeface="Arial"/>
              <a:buNone/>
            </a:pPr>
            <a:r>
              <a:t/>
            </a:r>
            <a:endParaRPr b="0" i="0" sz="1200" u="none" cap="none" strike="noStrike">
              <a:solidFill>
                <a:schemeClr val="lt1"/>
              </a:solidFill>
              <a:latin typeface="Raleway Medium"/>
              <a:ea typeface="Raleway Medium"/>
              <a:cs typeface="Raleway Medium"/>
              <a:sym typeface="Raleway Medium"/>
            </a:endParaRPr>
          </a:p>
        </p:txBody>
      </p:sp>
      <p:sp>
        <p:nvSpPr>
          <p:cNvPr id="400" name="Google Shape;400;p39"/>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40"/>
          <p:cNvSpPr txBox="1"/>
          <p:nvPr>
            <p:ph type="title"/>
          </p:nvPr>
        </p:nvSpPr>
        <p:spPr>
          <a:xfrm>
            <a:off x="685800" y="246888"/>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SzPts val="1200"/>
              <a:buNone/>
            </a:pPr>
            <a:r>
              <a:rPr lang="en"/>
              <a:t>Pembahasan Quiz</a:t>
            </a:r>
            <a:endParaRPr/>
          </a:p>
        </p:txBody>
      </p:sp>
      <p:sp>
        <p:nvSpPr>
          <p:cNvPr id="406" name="Google Shape;406;p40"/>
          <p:cNvSpPr txBox="1"/>
          <p:nvPr/>
        </p:nvSpPr>
        <p:spPr>
          <a:xfrm>
            <a:off x="685800" y="1198745"/>
            <a:ext cx="7772400" cy="3200400"/>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0"/>
              </a:spcBef>
              <a:spcAft>
                <a:spcPts val="0"/>
              </a:spcAft>
              <a:buClr>
                <a:srgbClr val="000000"/>
              </a:buClr>
              <a:buSzPts val="2800"/>
              <a:buFont typeface="Arial"/>
              <a:buNone/>
            </a:pPr>
            <a:r>
              <a:rPr b="1" i="0" lang="en" sz="2800" u="none" cap="none" strike="noStrike">
                <a:solidFill>
                  <a:schemeClr val="accent1"/>
                </a:solidFill>
                <a:latin typeface="Raleway"/>
                <a:ea typeface="Raleway"/>
                <a:cs typeface="Raleway"/>
                <a:sym typeface="Raleway"/>
              </a:rPr>
              <a:t>3.</a:t>
            </a:r>
            <a:r>
              <a:rPr b="1" i="0" lang="en" sz="1800" u="none" cap="none" strike="noStrike">
                <a:solidFill>
                  <a:schemeClr val="lt1"/>
                </a:solidFill>
                <a:latin typeface="Raleway"/>
                <a:ea typeface="Raleway"/>
                <a:cs typeface="Raleway"/>
                <a:sym typeface="Raleway"/>
              </a:rPr>
              <a:t> Penggunaan UI animation dalam identitas sebuah produk untuk menggugah pengguna secara emosional merupakan bentuk penerapan dari…</a:t>
            </a:r>
            <a:endParaRPr b="1" i="0" sz="1800" u="none" cap="none" strike="noStrike">
              <a:solidFill>
                <a:schemeClr val="lt1"/>
              </a:solidFill>
              <a:latin typeface="Raleway"/>
              <a:ea typeface="Raleway"/>
              <a:cs typeface="Raleway"/>
              <a:sym typeface="Raleway"/>
            </a:endParaRPr>
          </a:p>
          <a:p>
            <a:pPr indent="0" lvl="0" marL="0" marR="0" rtl="0" algn="just">
              <a:lnSpc>
                <a:spcPct val="115000"/>
              </a:lnSpc>
              <a:spcBef>
                <a:spcPts val="0"/>
              </a:spcBef>
              <a:spcAft>
                <a:spcPts val="0"/>
              </a:spcAft>
              <a:buClr>
                <a:srgbClr val="000000"/>
              </a:buClr>
              <a:buSzPts val="1800"/>
              <a:buFont typeface="Arial"/>
              <a:buNone/>
            </a:pPr>
            <a:r>
              <a:t/>
            </a:r>
            <a:endParaRPr b="0" i="0" sz="1800" u="none" cap="none" strike="noStrike">
              <a:solidFill>
                <a:schemeClr val="lt1"/>
              </a:solidFill>
              <a:latin typeface="Raleway Medium"/>
              <a:ea typeface="Raleway Medium"/>
              <a:cs typeface="Raleway Medium"/>
              <a:sym typeface="Raleway Medium"/>
            </a:endParaRPr>
          </a:p>
          <a:p>
            <a:pPr indent="-304800" lvl="0" marL="457200" marR="0" rtl="0" algn="just">
              <a:lnSpc>
                <a:spcPct val="115000"/>
              </a:lnSpc>
              <a:spcBef>
                <a:spcPts val="0"/>
              </a:spcBef>
              <a:spcAft>
                <a:spcPts val="0"/>
              </a:spcAft>
              <a:buClr>
                <a:srgbClr val="A667A5"/>
              </a:buClr>
              <a:buSzPts val="1200"/>
              <a:buFont typeface="Raleway Medium"/>
              <a:buAutoNum type="alphaUcPeriod"/>
            </a:pPr>
            <a:r>
              <a:rPr b="0" i="0" lang="en" sz="1200" u="none" cap="none" strike="noStrike">
                <a:solidFill>
                  <a:srgbClr val="A667A5"/>
                </a:solidFill>
                <a:latin typeface="Raleway Medium"/>
                <a:ea typeface="Raleway Medium"/>
                <a:cs typeface="Raleway Medium"/>
                <a:sym typeface="Raleway Medium"/>
              </a:rPr>
              <a:t>Navigation</a:t>
            </a:r>
            <a:endParaRPr b="0" i="0" sz="1200" u="none" cap="none" strike="noStrike">
              <a:solidFill>
                <a:srgbClr val="A667A5"/>
              </a:solidFill>
              <a:latin typeface="Raleway Medium"/>
              <a:ea typeface="Raleway Medium"/>
              <a:cs typeface="Raleway Medium"/>
              <a:sym typeface="Raleway Medium"/>
            </a:endParaRPr>
          </a:p>
          <a:p>
            <a:pPr indent="-304800" lvl="0" marL="457200" marR="0" rtl="0" algn="just">
              <a:lnSpc>
                <a:spcPct val="115000"/>
              </a:lnSpc>
              <a:spcBef>
                <a:spcPts val="1000"/>
              </a:spcBef>
              <a:spcAft>
                <a:spcPts val="0"/>
              </a:spcAft>
              <a:buClr>
                <a:schemeClr val="lt1"/>
              </a:buClr>
              <a:buSzPts val="1200"/>
              <a:buFont typeface="Raleway"/>
              <a:buAutoNum type="alphaUcPeriod"/>
            </a:pPr>
            <a:r>
              <a:rPr b="1" i="0" lang="en" sz="1200" u="none" cap="none" strike="noStrike">
                <a:solidFill>
                  <a:schemeClr val="lt1"/>
                </a:solidFill>
                <a:latin typeface="Raleway"/>
                <a:ea typeface="Raleway"/>
                <a:cs typeface="Raleway"/>
                <a:sym typeface="Raleway"/>
              </a:rPr>
              <a:t>Storytelling dan branding</a:t>
            </a:r>
            <a:endParaRPr b="1" i="0" sz="1200" u="none" cap="none" strike="noStrike">
              <a:solidFill>
                <a:schemeClr val="lt1"/>
              </a:solidFill>
              <a:latin typeface="Raleway"/>
              <a:ea typeface="Raleway"/>
              <a:cs typeface="Raleway"/>
              <a:sym typeface="Raleway"/>
            </a:endParaRPr>
          </a:p>
          <a:p>
            <a:pPr indent="-304800" lvl="0" marL="457200" marR="0" rtl="0" algn="just">
              <a:lnSpc>
                <a:spcPct val="115000"/>
              </a:lnSpc>
              <a:spcBef>
                <a:spcPts val="1000"/>
              </a:spcBef>
              <a:spcAft>
                <a:spcPts val="0"/>
              </a:spcAft>
              <a:buClr>
                <a:srgbClr val="A667A5"/>
              </a:buClr>
              <a:buSzPts val="1200"/>
              <a:buFont typeface="Raleway Medium"/>
              <a:buAutoNum type="alphaUcPeriod"/>
            </a:pPr>
            <a:r>
              <a:rPr b="0" i="0" lang="en" sz="1200" u="none" cap="none" strike="noStrike">
                <a:solidFill>
                  <a:srgbClr val="A667A5"/>
                </a:solidFill>
                <a:latin typeface="Raleway Medium"/>
                <a:ea typeface="Raleway Medium"/>
                <a:cs typeface="Raleway Medium"/>
                <a:sym typeface="Raleway Medium"/>
              </a:rPr>
              <a:t>Micro-interaction</a:t>
            </a:r>
            <a:endParaRPr b="1" i="0" sz="1200" u="none" cap="none" strike="noStrike">
              <a:solidFill>
                <a:srgbClr val="A667A5"/>
              </a:solidFill>
              <a:latin typeface="Raleway"/>
              <a:ea typeface="Raleway"/>
              <a:cs typeface="Raleway"/>
              <a:sym typeface="Raleway"/>
            </a:endParaRPr>
          </a:p>
          <a:p>
            <a:pPr indent="0" lvl="0" marL="0" marR="0" rtl="0" algn="just">
              <a:lnSpc>
                <a:spcPct val="115000"/>
              </a:lnSpc>
              <a:spcBef>
                <a:spcPts val="1000"/>
              </a:spcBef>
              <a:spcAft>
                <a:spcPts val="0"/>
              </a:spcAft>
              <a:buClr>
                <a:srgbClr val="000000"/>
              </a:buClr>
              <a:buSzPts val="1200"/>
              <a:buFont typeface="Arial"/>
              <a:buNone/>
            </a:pPr>
            <a:r>
              <a:t/>
            </a:r>
            <a:endParaRPr b="0" i="0" sz="1200" u="none" cap="none" strike="noStrike">
              <a:solidFill>
                <a:schemeClr val="lt1"/>
              </a:solidFill>
              <a:latin typeface="Raleway Medium"/>
              <a:ea typeface="Raleway Medium"/>
              <a:cs typeface="Raleway Medium"/>
              <a:sym typeface="Raleway Medium"/>
            </a:endParaRPr>
          </a:p>
        </p:txBody>
      </p:sp>
      <p:sp>
        <p:nvSpPr>
          <p:cNvPr id="407" name="Google Shape;407;p40"/>
          <p:cNvSpPr/>
          <p:nvPr/>
        </p:nvSpPr>
        <p:spPr>
          <a:xfrm>
            <a:off x="685800" y="3804950"/>
            <a:ext cx="7772400" cy="843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just">
              <a:lnSpc>
                <a:spcPct val="115000"/>
              </a:lnSpc>
              <a:spcBef>
                <a:spcPts val="0"/>
              </a:spcBef>
              <a:spcAft>
                <a:spcPts val="0"/>
              </a:spcAft>
              <a:buClr>
                <a:srgbClr val="000000"/>
              </a:buClr>
              <a:buSzPts val="1200"/>
              <a:buFont typeface="Arial"/>
              <a:buNone/>
            </a:pPr>
            <a:r>
              <a:rPr b="1" i="0" lang="en" sz="1200" u="none" cap="none" strike="noStrike">
                <a:solidFill>
                  <a:srgbClr val="652F67"/>
                </a:solidFill>
                <a:latin typeface="Raleway"/>
                <a:ea typeface="Raleway"/>
                <a:cs typeface="Raleway"/>
                <a:sym typeface="Raleway"/>
              </a:rPr>
              <a:t>Storytelling dan branding adalah jenis UI animation yang sering ditemukan di welcome screen ketika kamu membuka sebuah aplikasi. Animasi ini menunjukan identitas sebuah produk dan bertujuan untuk menggugah pengguna secara emosional. </a:t>
            </a:r>
            <a:endParaRPr b="1" i="0" sz="1200" u="none" cap="none" strike="noStrike">
              <a:solidFill>
                <a:srgbClr val="652F67"/>
              </a:solidFill>
              <a:latin typeface="Raleway"/>
              <a:ea typeface="Raleway"/>
              <a:cs typeface="Raleway"/>
              <a:sym typeface="Raleway"/>
            </a:endParaRPr>
          </a:p>
        </p:txBody>
      </p:sp>
      <p:sp>
        <p:nvSpPr>
          <p:cNvPr id="408" name="Google Shape;408;p40"/>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41"/>
          <p:cNvSpPr txBox="1"/>
          <p:nvPr>
            <p:ph type="title"/>
          </p:nvPr>
        </p:nvSpPr>
        <p:spPr>
          <a:xfrm>
            <a:off x="685800" y="246888"/>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SzPts val="1200"/>
              <a:buNone/>
            </a:pPr>
            <a:r>
              <a:rPr lang="en"/>
              <a:t>Quiz</a:t>
            </a:r>
            <a:endParaRPr/>
          </a:p>
        </p:txBody>
      </p:sp>
      <p:sp>
        <p:nvSpPr>
          <p:cNvPr id="414" name="Google Shape;414;p41"/>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0"/>
              </a:spcBef>
              <a:spcAft>
                <a:spcPts val="0"/>
              </a:spcAft>
              <a:buClr>
                <a:srgbClr val="000000"/>
              </a:buClr>
              <a:buSzPts val="2800"/>
              <a:buFont typeface="Arial"/>
              <a:buNone/>
            </a:pPr>
            <a:r>
              <a:rPr b="1" i="0" lang="en" sz="2800" u="none" cap="none" strike="noStrike">
                <a:solidFill>
                  <a:schemeClr val="accent1"/>
                </a:solidFill>
                <a:latin typeface="Raleway"/>
                <a:ea typeface="Raleway"/>
                <a:cs typeface="Raleway"/>
                <a:sym typeface="Raleway"/>
              </a:rPr>
              <a:t>4.</a:t>
            </a:r>
            <a:r>
              <a:rPr b="1" i="0" lang="en" sz="1800" u="none" cap="none" strike="noStrike">
                <a:solidFill>
                  <a:schemeClr val="lt1"/>
                </a:solidFill>
                <a:latin typeface="Raleway"/>
                <a:ea typeface="Raleway"/>
                <a:cs typeface="Raleway"/>
                <a:sym typeface="Raleway"/>
              </a:rPr>
              <a:t> Berikut ini, pernyataan yang tepat terkait user experience adalah…</a:t>
            </a:r>
            <a:endParaRPr b="1" i="0" sz="1800" u="none" cap="none" strike="noStrike">
              <a:solidFill>
                <a:schemeClr val="lt1"/>
              </a:solidFill>
              <a:latin typeface="Raleway"/>
              <a:ea typeface="Raleway"/>
              <a:cs typeface="Raleway"/>
              <a:sym typeface="Raleway"/>
            </a:endParaRPr>
          </a:p>
          <a:p>
            <a:pPr indent="0" lvl="0" marL="0" marR="0" rtl="0" algn="just">
              <a:lnSpc>
                <a:spcPct val="115000"/>
              </a:lnSpc>
              <a:spcBef>
                <a:spcPts val="0"/>
              </a:spcBef>
              <a:spcAft>
                <a:spcPts val="0"/>
              </a:spcAft>
              <a:buClr>
                <a:srgbClr val="000000"/>
              </a:buClr>
              <a:buSzPts val="1800"/>
              <a:buFont typeface="Arial"/>
              <a:buNone/>
            </a:pPr>
            <a:r>
              <a:t/>
            </a:r>
            <a:endParaRPr b="0" i="0" sz="1800" u="none" cap="none" strike="noStrike">
              <a:solidFill>
                <a:schemeClr val="lt1"/>
              </a:solidFill>
              <a:latin typeface="Raleway Medium"/>
              <a:ea typeface="Raleway Medium"/>
              <a:cs typeface="Raleway Medium"/>
              <a:sym typeface="Raleway Medium"/>
            </a:endParaRPr>
          </a:p>
          <a:p>
            <a:pPr indent="-304800" lvl="0" marL="457200" marR="0" rtl="0" algn="just">
              <a:lnSpc>
                <a:spcPct val="115000"/>
              </a:lnSpc>
              <a:spcBef>
                <a:spcPts val="0"/>
              </a:spcBef>
              <a:spcAft>
                <a:spcPts val="0"/>
              </a:spcAft>
              <a:buClr>
                <a:schemeClr val="lt1"/>
              </a:buClr>
              <a:buSzPts val="1200"/>
              <a:buFont typeface="Raleway Medium"/>
              <a:buAutoNum type="alphaUcPeriod"/>
            </a:pPr>
            <a:r>
              <a:rPr b="0" i="0" lang="en" sz="1200" u="none" cap="none" strike="noStrike">
                <a:solidFill>
                  <a:schemeClr val="lt1"/>
                </a:solidFill>
                <a:latin typeface="Raleway Medium"/>
                <a:ea typeface="Raleway Medium"/>
                <a:cs typeface="Raleway Medium"/>
                <a:sym typeface="Raleway Medium"/>
              </a:rPr>
              <a:t>User experience adalah bagaimana pengguna dapat berinteraksi dengan produk.</a:t>
            </a:r>
            <a:endParaRPr b="0" i="0" sz="1200" u="none" cap="none" strike="noStrike">
              <a:solidFill>
                <a:schemeClr val="lt1"/>
              </a:solidFill>
              <a:latin typeface="Raleway Medium"/>
              <a:ea typeface="Raleway Medium"/>
              <a:cs typeface="Raleway Medium"/>
              <a:sym typeface="Raleway Medium"/>
            </a:endParaRPr>
          </a:p>
          <a:p>
            <a:pPr indent="-304800" lvl="0" marL="457200" marR="0" rtl="0" algn="just">
              <a:lnSpc>
                <a:spcPct val="115000"/>
              </a:lnSpc>
              <a:spcBef>
                <a:spcPts val="1000"/>
              </a:spcBef>
              <a:spcAft>
                <a:spcPts val="0"/>
              </a:spcAft>
              <a:buClr>
                <a:schemeClr val="lt1"/>
              </a:buClr>
              <a:buSzPts val="1200"/>
              <a:buFont typeface="Raleway Medium"/>
              <a:buAutoNum type="alphaUcPeriod"/>
            </a:pPr>
            <a:r>
              <a:rPr b="0" i="0" lang="en" sz="1200" u="none" cap="none" strike="noStrike">
                <a:solidFill>
                  <a:schemeClr val="lt1"/>
                </a:solidFill>
                <a:latin typeface="Raleway Medium"/>
                <a:ea typeface="Raleway Medium"/>
                <a:cs typeface="Raleway Medium"/>
                <a:sym typeface="Raleway Medium"/>
              </a:rPr>
              <a:t>User experience adalah tampilan grafis yang berhubungan langsung dengan pengguna.</a:t>
            </a:r>
            <a:endParaRPr b="0" i="0" sz="1200" u="none" cap="none" strike="noStrike">
              <a:solidFill>
                <a:schemeClr val="lt1"/>
              </a:solidFill>
              <a:latin typeface="Raleway Medium"/>
              <a:ea typeface="Raleway Medium"/>
              <a:cs typeface="Raleway Medium"/>
              <a:sym typeface="Raleway Medium"/>
            </a:endParaRPr>
          </a:p>
          <a:p>
            <a:pPr indent="-304800" lvl="0" marL="457200" marR="0" rtl="0" algn="just">
              <a:lnSpc>
                <a:spcPct val="115000"/>
              </a:lnSpc>
              <a:spcBef>
                <a:spcPts val="1000"/>
              </a:spcBef>
              <a:spcAft>
                <a:spcPts val="0"/>
              </a:spcAft>
              <a:buClr>
                <a:schemeClr val="lt1"/>
              </a:buClr>
              <a:buSzPts val="1200"/>
              <a:buFont typeface="Raleway Medium"/>
              <a:buAutoNum type="alphaUcPeriod"/>
            </a:pPr>
            <a:r>
              <a:rPr b="0" i="0" lang="en" sz="1200" u="none" cap="none" strike="noStrike">
                <a:solidFill>
                  <a:schemeClr val="lt1"/>
                </a:solidFill>
                <a:latin typeface="Raleway Medium"/>
                <a:ea typeface="Raleway Medium"/>
                <a:cs typeface="Raleway Medium"/>
                <a:sym typeface="Raleway Medium"/>
              </a:rPr>
              <a:t>User experience adalah proses yang dialami pengguna saat melakukan sebuah aktivitas.</a:t>
            </a:r>
            <a:endParaRPr b="0" i="0" sz="1200" u="none" cap="none" strike="noStrike">
              <a:solidFill>
                <a:schemeClr val="lt1"/>
              </a:solidFill>
              <a:latin typeface="Raleway Medium"/>
              <a:ea typeface="Raleway Medium"/>
              <a:cs typeface="Raleway Medium"/>
              <a:sym typeface="Raleway Medium"/>
            </a:endParaRPr>
          </a:p>
          <a:p>
            <a:pPr indent="0" lvl="0" marL="0" marR="0" rtl="0" algn="l">
              <a:lnSpc>
                <a:spcPct val="115000"/>
              </a:lnSpc>
              <a:spcBef>
                <a:spcPts val="1000"/>
              </a:spcBef>
              <a:spcAft>
                <a:spcPts val="0"/>
              </a:spcAft>
              <a:buClr>
                <a:srgbClr val="000000"/>
              </a:buClr>
              <a:buSzPts val="1200"/>
              <a:buFont typeface="Arial"/>
              <a:buNone/>
            </a:pPr>
            <a:r>
              <a:t/>
            </a:r>
            <a:endParaRPr b="0" i="0" sz="1200" u="none" cap="none" strike="noStrike">
              <a:solidFill>
                <a:schemeClr val="lt1"/>
              </a:solidFill>
              <a:latin typeface="Raleway Medium"/>
              <a:ea typeface="Raleway Medium"/>
              <a:cs typeface="Raleway Medium"/>
              <a:sym typeface="Raleway Medium"/>
            </a:endParaRPr>
          </a:p>
        </p:txBody>
      </p:sp>
      <p:sp>
        <p:nvSpPr>
          <p:cNvPr id="415" name="Google Shape;415;p41"/>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42"/>
          <p:cNvSpPr txBox="1"/>
          <p:nvPr>
            <p:ph type="title"/>
          </p:nvPr>
        </p:nvSpPr>
        <p:spPr>
          <a:xfrm>
            <a:off x="685800" y="246888"/>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SzPts val="1200"/>
              <a:buNone/>
            </a:pPr>
            <a:r>
              <a:rPr lang="en"/>
              <a:t>Quiz</a:t>
            </a:r>
            <a:endParaRPr/>
          </a:p>
        </p:txBody>
      </p:sp>
      <p:sp>
        <p:nvSpPr>
          <p:cNvPr id="421" name="Google Shape;421;p42"/>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0"/>
              </a:spcBef>
              <a:spcAft>
                <a:spcPts val="0"/>
              </a:spcAft>
              <a:buClr>
                <a:srgbClr val="000000"/>
              </a:buClr>
              <a:buSzPts val="2800"/>
              <a:buFont typeface="Arial"/>
              <a:buNone/>
            </a:pPr>
            <a:r>
              <a:rPr b="1" i="0" lang="en" sz="2800" u="none" cap="none" strike="noStrike">
                <a:solidFill>
                  <a:schemeClr val="accent1"/>
                </a:solidFill>
                <a:latin typeface="Raleway"/>
                <a:ea typeface="Raleway"/>
                <a:cs typeface="Raleway"/>
                <a:sym typeface="Raleway"/>
              </a:rPr>
              <a:t>4.</a:t>
            </a:r>
            <a:r>
              <a:rPr b="1" i="0" lang="en" sz="1800" u="none" cap="none" strike="noStrike">
                <a:solidFill>
                  <a:schemeClr val="lt1"/>
                </a:solidFill>
                <a:latin typeface="Raleway"/>
                <a:ea typeface="Raleway"/>
                <a:cs typeface="Raleway"/>
                <a:sym typeface="Raleway"/>
              </a:rPr>
              <a:t> Berikut ini, pernyataan yang tepat terkait user experience adalah…</a:t>
            </a:r>
            <a:endParaRPr b="1" i="0" sz="1800" u="none" cap="none" strike="noStrike">
              <a:solidFill>
                <a:schemeClr val="lt1"/>
              </a:solidFill>
              <a:latin typeface="Raleway"/>
              <a:ea typeface="Raleway"/>
              <a:cs typeface="Raleway"/>
              <a:sym typeface="Raleway"/>
            </a:endParaRPr>
          </a:p>
          <a:p>
            <a:pPr indent="0" lvl="0" marL="0" marR="0" rtl="0" algn="just">
              <a:lnSpc>
                <a:spcPct val="115000"/>
              </a:lnSpc>
              <a:spcBef>
                <a:spcPts val="0"/>
              </a:spcBef>
              <a:spcAft>
                <a:spcPts val="0"/>
              </a:spcAft>
              <a:buClr>
                <a:srgbClr val="000000"/>
              </a:buClr>
              <a:buSzPts val="1800"/>
              <a:buFont typeface="Arial"/>
              <a:buNone/>
            </a:pPr>
            <a:r>
              <a:t/>
            </a:r>
            <a:endParaRPr b="0" i="0" sz="1800" u="none" cap="none" strike="noStrike">
              <a:solidFill>
                <a:schemeClr val="lt1"/>
              </a:solidFill>
              <a:latin typeface="Raleway Medium"/>
              <a:ea typeface="Raleway Medium"/>
              <a:cs typeface="Raleway Medium"/>
              <a:sym typeface="Raleway Medium"/>
            </a:endParaRPr>
          </a:p>
          <a:p>
            <a:pPr indent="-304800" lvl="0" marL="457200" marR="0" rtl="0" algn="just">
              <a:lnSpc>
                <a:spcPct val="115000"/>
              </a:lnSpc>
              <a:spcBef>
                <a:spcPts val="0"/>
              </a:spcBef>
              <a:spcAft>
                <a:spcPts val="0"/>
              </a:spcAft>
              <a:buClr>
                <a:schemeClr val="lt1"/>
              </a:buClr>
              <a:buSzPts val="1200"/>
              <a:buFont typeface="Raleway Medium"/>
              <a:buAutoNum type="alphaUcPeriod"/>
            </a:pPr>
            <a:r>
              <a:rPr b="0" i="0" lang="en" sz="1200" u="none" cap="none" strike="noStrike">
                <a:solidFill>
                  <a:schemeClr val="lt1"/>
                </a:solidFill>
                <a:latin typeface="Raleway Medium"/>
                <a:ea typeface="Raleway Medium"/>
                <a:cs typeface="Raleway Medium"/>
                <a:sym typeface="Raleway Medium"/>
              </a:rPr>
              <a:t>User experience adalah bagaimana pengguna dapat berinteraksi dengan produk.</a:t>
            </a:r>
            <a:endParaRPr b="0" i="0" sz="1200" u="none" cap="none" strike="noStrike">
              <a:solidFill>
                <a:schemeClr val="lt1"/>
              </a:solidFill>
              <a:latin typeface="Raleway Medium"/>
              <a:ea typeface="Raleway Medium"/>
              <a:cs typeface="Raleway Medium"/>
              <a:sym typeface="Raleway Medium"/>
            </a:endParaRPr>
          </a:p>
          <a:p>
            <a:pPr indent="-304800" lvl="0" marL="457200" marR="0" rtl="0" algn="just">
              <a:lnSpc>
                <a:spcPct val="115000"/>
              </a:lnSpc>
              <a:spcBef>
                <a:spcPts val="1000"/>
              </a:spcBef>
              <a:spcAft>
                <a:spcPts val="0"/>
              </a:spcAft>
              <a:buClr>
                <a:srgbClr val="A667A5"/>
              </a:buClr>
              <a:buSzPts val="1200"/>
              <a:buFont typeface="Raleway Medium"/>
              <a:buAutoNum type="alphaUcPeriod"/>
            </a:pPr>
            <a:r>
              <a:rPr b="0" i="0" lang="en" sz="1200" u="none" cap="none" strike="noStrike">
                <a:solidFill>
                  <a:srgbClr val="A667A5"/>
                </a:solidFill>
                <a:latin typeface="Raleway Medium"/>
                <a:ea typeface="Raleway Medium"/>
                <a:cs typeface="Raleway Medium"/>
                <a:sym typeface="Raleway Medium"/>
              </a:rPr>
              <a:t>User experience adalah tampilan grafis yang berhubungan langsung dengan pengguna.</a:t>
            </a:r>
            <a:endParaRPr b="0" i="0" sz="1200" u="none" cap="none" strike="noStrike">
              <a:solidFill>
                <a:srgbClr val="A667A5"/>
              </a:solidFill>
              <a:latin typeface="Raleway Medium"/>
              <a:ea typeface="Raleway Medium"/>
              <a:cs typeface="Raleway Medium"/>
              <a:sym typeface="Raleway Medium"/>
            </a:endParaRPr>
          </a:p>
          <a:p>
            <a:pPr indent="-304800" lvl="0" marL="457200" marR="0" rtl="0" algn="just">
              <a:lnSpc>
                <a:spcPct val="115000"/>
              </a:lnSpc>
              <a:spcBef>
                <a:spcPts val="1000"/>
              </a:spcBef>
              <a:spcAft>
                <a:spcPts val="0"/>
              </a:spcAft>
              <a:buClr>
                <a:srgbClr val="A667A5"/>
              </a:buClr>
              <a:buSzPts val="1200"/>
              <a:buFont typeface="Raleway Medium"/>
              <a:buAutoNum type="alphaUcPeriod"/>
            </a:pPr>
            <a:r>
              <a:rPr b="0" i="0" lang="en" sz="1200" u="none" cap="none" strike="noStrike">
                <a:solidFill>
                  <a:srgbClr val="A667A5"/>
                </a:solidFill>
                <a:latin typeface="Raleway Medium"/>
                <a:ea typeface="Raleway Medium"/>
                <a:cs typeface="Raleway Medium"/>
                <a:sym typeface="Raleway Medium"/>
              </a:rPr>
              <a:t>User experience adalah proses yang dialami pengguna saat melakukan sebuah aktivitas.</a:t>
            </a:r>
            <a:endParaRPr b="1" i="0" sz="1200" u="none" cap="none" strike="noStrike">
              <a:solidFill>
                <a:srgbClr val="A667A5"/>
              </a:solidFill>
              <a:latin typeface="Raleway"/>
              <a:ea typeface="Raleway"/>
              <a:cs typeface="Raleway"/>
              <a:sym typeface="Raleway"/>
            </a:endParaRPr>
          </a:p>
          <a:p>
            <a:pPr indent="0" lvl="0" marL="0" marR="0" rtl="0" algn="just">
              <a:lnSpc>
                <a:spcPct val="115000"/>
              </a:lnSpc>
              <a:spcBef>
                <a:spcPts val="1000"/>
              </a:spcBef>
              <a:spcAft>
                <a:spcPts val="0"/>
              </a:spcAft>
              <a:buClr>
                <a:srgbClr val="000000"/>
              </a:buClr>
              <a:buSzPts val="1200"/>
              <a:buFont typeface="Arial"/>
              <a:buNone/>
            </a:pPr>
            <a:r>
              <a:t/>
            </a:r>
            <a:endParaRPr b="0" i="0" sz="1200" u="none" cap="none" strike="noStrike">
              <a:solidFill>
                <a:schemeClr val="lt1"/>
              </a:solidFill>
              <a:latin typeface="Raleway Medium"/>
              <a:ea typeface="Raleway Medium"/>
              <a:cs typeface="Raleway Medium"/>
              <a:sym typeface="Raleway Medium"/>
            </a:endParaRPr>
          </a:p>
        </p:txBody>
      </p:sp>
      <p:sp>
        <p:nvSpPr>
          <p:cNvPr id="422" name="Google Shape;422;p42"/>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423" name="Google Shape;423;p42"/>
          <p:cNvSpPr/>
          <p:nvPr/>
        </p:nvSpPr>
        <p:spPr>
          <a:xfrm>
            <a:off x="793950" y="3367250"/>
            <a:ext cx="7556100" cy="3936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652F67"/>
              </a:solidFill>
              <a:latin typeface="Raleway"/>
              <a:ea typeface="Raleway"/>
              <a:cs typeface="Raleway"/>
              <a:sym typeface="Raleway"/>
            </a:endParaRPr>
          </a:p>
          <a:p>
            <a:pPr indent="0" lvl="0" marL="0" marR="0" rtl="0" algn="ctr">
              <a:lnSpc>
                <a:spcPct val="115000"/>
              </a:lnSpc>
              <a:spcBef>
                <a:spcPts val="1000"/>
              </a:spcBef>
              <a:spcAft>
                <a:spcPts val="0"/>
              </a:spcAft>
              <a:buClr>
                <a:srgbClr val="000000"/>
              </a:buClr>
              <a:buSzPts val="1200"/>
              <a:buFont typeface="Arial"/>
              <a:buNone/>
            </a:pPr>
            <a:r>
              <a:rPr b="1" i="0" lang="en" sz="1200" u="none" cap="none" strike="noStrike">
                <a:solidFill>
                  <a:srgbClr val="652F67"/>
                </a:solidFill>
                <a:latin typeface="Raleway"/>
                <a:ea typeface="Raleway"/>
                <a:cs typeface="Raleway"/>
                <a:sym typeface="Raleway"/>
              </a:rPr>
              <a:t>User experience adalah bagaimana pengguna dapat berinteraksi dengan produk.</a:t>
            </a:r>
            <a:endParaRPr b="1" i="0" sz="1200" u="none" cap="none" strike="noStrike">
              <a:solidFill>
                <a:srgbClr val="652F67"/>
              </a:solidFill>
              <a:latin typeface="Raleway"/>
              <a:ea typeface="Raleway"/>
              <a:cs typeface="Raleway"/>
              <a:sym typeface="Raleway"/>
            </a:endParaRPr>
          </a:p>
          <a:p>
            <a:pPr indent="0" lvl="0" marL="0" marR="0" rtl="0" algn="ctr">
              <a:lnSpc>
                <a:spcPct val="115000"/>
              </a:lnSpc>
              <a:spcBef>
                <a:spcPts val="1000"/>
              </a:spcBef>
              <a:spcAft>
                <a:spcPts val="0"/>
              </a:spcAft>
              <a:buClr>
                <a:srgbClr val="000000"/>
              </a:buClr>
              <a:buSzPts val="1200"/>
              <a:buFont typeface="Arial"/>
              <a:buNone/>
            </a:pPr>
            <a:r>
              <a:t/>
            </a:r>
            <a:endParaRPr b="1" i="0" sz="1200" u="none" cap="none" strike="noStrike">
              <a:solidFill>
                <a:srgbClr val="652F67"/>
              </a:solidFill>
              <a:latin typeface="Raleway"/>
              <a:ea typeface="Raleway"/>
              <a:cs typeface="Raleway"/>
              <a:sym typeface="Raleway"/>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43"/>
          <p:cNvSpPr txBox="1"/>
          <p:nvPr>
            <p:ph type="title"/>
          </p:nvPr>
        </p:nvSpPr>
        <p:spPr>
          <a:xfrm>
            <a:off x="685800" y="246888"/>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SzPts val="1200"/>
              <a:buNone/>
            </a:pPr>
            <a:r>
              <a:rPr lang="en"/>
              <a:t>Quiz</a:t>
            </a:r>
            <a:endParaRPr/>
          </a:p>
        </p:txBody>
      </p:sp>
      <p:sp>
        <p:nvSpPr>
          <p:cNvPr id="429" name="Google Shape;429;p43"/>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0"/>
              </a:spcBef>
              <a:spcAft>
                <a:spcPts val="0"/>
              </a:spcAft>
              <a:buClr>
                <a:srgbClr val="000000"/>
              </a:buClr>
              <a:buSzPts val="2800"/>
              <a:buFont typeface="Arial"/>
              <a:buNone/>
            </a:pPr>
            <a:r>
              <a:rPr b="1" i="0" lang="en" sz="2800" u="none" cap="none" strike="noStrike">
                <a:solidFill>
                  <a:schemeClr val="accent1"/>
                </a:solidFill>
                <a:latin typeface="Raleway"/>
                <a:ea typeface="Raleway"/>
                <a:cs typeface="Raleway"/>
                <a:sym typeface="Raleway"/>
              </a:rPr>
              <a:t>5.</a:t>
            </a:r>
            <a:r>
              <a:rPr b="1" i="0" lang="en" sz="1800" u="none" cap="none" strike="noStrike">
                <a:solidFill>
                  <a:schemeClr val="lt1"/>
                </a:solidFill>
                <a:latin typeface="Raleway"/>
                <a:ea typeface="Raleway"/>
                <a:cs typeface="Raleway"/>
                <a:sym typeface="Raleway"/>
              </a:rPr>
              <a:t> Apa yang akan user rasakan jika UX dalam suatu produk dirancang dengan baik?</a:t>
            </a:r>
            <a:endParaRPr b="1" i="0" sz="1800" u="none" cap="none" strike="noStrike">
              <a:solidFill>
                <a:schemeClr val="lt1"/>
              </a:solidFill>
              <a:latin typeface="Raleway"/>
              <a:ea typeface="Raleway"/>
              <a:cs typeface="Raleway"/>
              <a:sym typeface="Raleway"/>
            </a:endParaRPr>
          </a:p>
          <a:p>
            <a:pPr indent="0" lvl="0" marL="0" marR="0" rtl="0" algn="just">
              <a:lnSpc>
                <a:spcPct val="115000"/>
              </a:lnSpc>
              <a:spcBef>
                <a:spcPts val="0"/>
              </a:spcBef>
              <a:spcAft>
                <a:spcPts val="0"/>
              </a:spcAft>
              <a:buClr>
                <a:srgbClr val="000000"/>
              </a:buClr>
              <a:buSzPts val="1800"/>
              <a:buFont typeface="Arial"/>
              <a:buNone/>
            </a:pPr>
            <a:r>
              <a:t/>
            </a:r>
            <a:endParaRPr b="0" i="0" sz="1800" u="none" cap="none" strike="noStrike">
              <a:solidFill>
                <a:schemeClr val="lt1"/>
              </a:solidFill>
              <a:latin typeface="Raleway Medium"/>
              <a:ea typeface="Raleway Medium"/>
              <a:cs typeface="Raleway Medium"/>
              <a:sym typeface="Raleway Medium"/>
            </a:endParaRPr>
          </a:p>
          <a:p>
            <a:pPr indent="-304800" lvl="0" marL="457200" marR="0" rtl="0" algn="just">
              <a:lnSpc>
                <a:spcPct val="115000"/>
              </a:lnSpc>
              <a:spcBef>
                <a:spcPts val="0"/>
              </a:spcBef>
              <a:spcAft>
                <a:spcPts val="0"/>
              </a:spcAft>
              <a:buClr>
                <a:schemeClr val="lt1"/>
              </a:buClr>
              <a:buSzPts val="1200"/>
              <a:buFont typeface="Raleway Medium"/>
              <a:buAutoNum type="alphaUcPeriod"/>
            </a:pPr>
            <a:r>
              <a:rPr b="0" i="0" lang="en" sz="1200" u="none" cap="none" strike="noStrike">
                <a:solidFill>
                  <a:schemeClr val="lt1"/>
                </a:solidFill>
                <a:latin typeface="Raleway Medium"/>
                <a:ea typeface="Raleway Medium"/>
                <a:cs typeface="Raleway Medium"/>
                <a:sym typeface="Raleway Medium"/>
              </a:rPr>
              <a:t>Terdapat banyak pilihan layanan dalam satu aplikasi yang dapat memudahkan user.</a:t>
            </a:r>
            <a:endParaRPr b="0" i="0" sz="1200" u="none" cap="none" strike="noStrike">
              <a:solidFill>
                <a:schemeClr val="lt1"/>
              </a:solidFill>
              <a:latin typeface="Raleway Medium"/>
              <a:ea typeface="Raleway Medium"/>
              <a:cs typeface="Raleway Medium"/>
              <a:sym typeface="Raleway Medium"/>
            </a:endParaRPr>
          </a:p>
          <a:p>
            <a:pPr indent="-304800" lvl="0" marL="457200" marR="0" rtl="0" algn="just">
              <a:lnSpc>
                <a:spcPct val="115000"/>
              </a:lnSpc>
              <a:spcBef>
                <a:spcPts val="1000"/>
              </a:spcBef>
              <a:spcAft>
                <a:spcPts val="0"/>
              </a:spcAft>
              <a:buClr>
                <a:schemeClr val="lt1"/>
              </a:buClr>
              <a:buSzPts val="1200"/>
              <a:buFont typeface="Raleway Medium"/>
              <a:buAutoNum type="alphaUcPeriod"/>
            </a:pPr>
            <a:r>
              <a:rPr b="0" i="0" lang="en" sz="1200" u="none" cap="none" strike="noStrike">
                <a:solidFill>
                  <a:schemeClr val="lt1"/>
                </a:solidFill>
                <a:latin typeface="Raleway Medium"/>
                <a:ea typeface="Raleway Medium"/>
                <a:cs typeface="Raleway Medium"/>
                <a:sym typeface="Raleway Medium"/>
              </a:rPr>
              <a:t>Tampilan grafis aplikasi yang nyaman dan enak dilihat.</a:t>
            </a:r>
            <a:endParaRPr b="0" i="0" sz="1200" u="none" cap="none" strike="noStrike">
              <a:solidFill>
                <a:schemeClr val="lt1"/>
              </a:solidFill>
              <a:latin typeface="Raleway Medium"/>
              <a:ea typeface="Raleway Medium"/>
              <a:cs typeface="Raleway Medium"/>
              <a:sym typeface="Raleway Medium"/>
            </a:endParaRPr>
          </a:p>
          <a:p>
            <a:pPr indent="-304800" lvl="0" marL="457200" marR="0" rtl="0" algn="just">
              <a:lnSpc>
                <a:spcPct val="115000"/>
              </a:lnSpc>
              <a:spcBef>
                <a:spcPts val="1000"/>
              </a:spcBef>
              <a:spcAft>
                <a:spcPts val="0"/>
              </a:spcAft>
              <a:buClr>
                <a:schemeClr val="lt1"/>
              </a:buClr>
              <a:buSzPts val="1200"/>
              <a:buFont typeface="Raleway Medium"/>
              <a:buAutoNum type="alphaUcPeriod"/>
            </a:pPr>
            <a:r>
              <a:rPr b="0" i="0" lang="en" sz="1200" u="none" cap="none" strike="noStrike">
                <a:solidFill>
                  <a:schemeClr val="lt1"/>
                </a:solidFill>
                <a:latin typeface="Raleway Medium"/>
                <a:ea typeface="Raleway Medium"/>
                <a:cs typeface="Raleway Medium"/>
                <a:sym typeface="Raleway Medium"/>
              </a:rPr>
              <a:t>Pengalaman yang menyenangkan dan kemudahan saat mengoperasikan suatu produk.</a:t>
            </a:r>
            <a:endParaRPr b="0" i="0" sz="1200" u="none" cap="none" strike="noStrike">
              <a:solidFill>
                <a:schemeClr val="lt1"/>
              </a:solidFill>
              <a:latin typeface="Raleway Medium"/>
              <a:ea typeface="Raleway Medium"/>
              <a:cs typeface="Raleway Medium"/>
              <a:sym typeface="Raleway Medium"/>
            </a:endParaRPr>
          </a:p>
          <a:p>
            <a:pPr indent="0" lvl="0" marL="0" marR="0" rtl="0" algn="just">
              <a:lnSpc>
                <a:spcPct val="115000"/>
              </a:lnSpc>
              <a:spcBef>
                <a:spcPts val="1000"/>
              </a:spcBef>
              <a:spcAft>
                <a:spcPts val="1000"/>
              </a:spcAft>
              <a:buClr>
                <a:srgbClr val="000000"/>
              </a:buClr>
              <a:buSzPts val="1200"/>
              <a:buFont typeface="Arial"/>
              <a:buNone/>
            </a:pPr>
            <a:r>
              <a:t/>
            </a:r>
            <a:endParaRPr b="0" i="0" sz="1200" u="none" cap="none" strike="noStrike">
              <a:solidFill>
                <a:schemeClr val="lt1"/>
              </a:solidFill>
              <a:latin typeface="Raleway Medium"/>
              <a:ea typeface="Raleway Medium"/>
              <a:cs typeface="Raleway Medium"/>
              <a:sym typeface="Raleway Medium"/>
            </a:endParaRPr>
          </a:p>
        </p:txBody>
      </p:sp>
      <p:sp>
        <p:nvSpPr>
          <p:cNvPr id="430" name="Google Shape;430;p43"/>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44"/>
          <p:cNvSpPr txBox="1"/>
          <p:nvPr>
            <p:ph type="title"/>
          </p:nvPr>
        </p:nvSpPr>
        <p:spPr>
          <a:xfrm>
            <a:off x="685800" y="246888"/>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SzPts val="1200"/>
              <a:buNone/>
            </a:pPr>
            <a:r>
              <a:rPr lang="en"/>
              <a:t>Quiz</a:t>
            </a:r>
            <a:endParaRPr/>
          </a:p>
        </p:txBody>
      </p:sp>
      <p:sp>
        <p:nvSpPr>
          <p:cNvPr id="436" name="Google Shape;436;p44"/>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0"/>
              </a:spcBef>
              <a:spcAft>
                <a:spcPts val="0"/>
              </a:spcAft>
              <a:buClr>
                <a:srgbClr val="000000"/>
              </a:buClr>
              <a:buSzPts val="2800"/>
              <a:buFont typeface="Arial"/>
              <a:buNone/>
            </a:pPr>
            <a:r>
              <a:rPr b="1" i="0" lang="en" sz="2800" u="none" cap="none" strike="noStrike">
                <a:solidFill>
                  <a:schemeClr val="accent1"/>
                </a:solidFill>
                <a:latin typeface="Raleway"/>
                <a:ea typeface="Raleway"/>
                <a:cs typeface="Raleway"/>
                <a:sym typeface="Raleway"/>
              </a:rPr>
              <a:t>5.</a:t>
            </a:r>
            <a:r>
              <a:rPr b="1" i="0" lang="en" sz="1800" u="none" cap="none" strike="noStrike">
                <a:solidFill>
                  <a:schemeClr val="lt1"/>
                </a:solidFill>
                <a:latin typeface="Raleway"/>
                <a:ea typeface="Raleway"/>
                <a:cs typeface="Raleway"/>
                <a:sym typeface="Raleway"/>
              </a:rPr>
              <a:t> Apa yang akan user rasakan jika UX dalam suatu produk dirancang dengan baik?</a:t>
            </a:r>
            <a:endParaRPr b="1" i="0" sz="1800" u="none" cap="none" strike="noStrike">
              <a:solidFill>
                <a:schemeClr val="lt1"/>
              </a:solidFill>
              <a:latin typeface="Raleway"/>
              <a:ea typeface="Raleway"/>
              <a:cs typeface="Raleway"/>
              <a:sym typeface="Raleway"/>
            </a:endParaRPr>
          </a:p>
          <a:p>
            <a:pPr indent="0" lvl="0" marL="0" marR="0" rtl="0" algn="l">
              <a:lnSpc>
                <a:spcPct val="115000"/>
              </a:lnSpc>
              <a:spcBef>
                <a:spcPts val="0"/>
              </a:spcBef>
              <a:spcAft>
                <a:spcPts val="0"/>
              </a:spcAft>
              <a:buClr>
                <a:srgbClr val="000000"/>
              </a:buClr>
              <a:buSzPts val="1800"/>
              <a:buFont typeface="Arial"/>
              <a:buNone/>
            </a:pPr>
            <a:r>
              <a:t/>
            </a:r>
            <a:endParaRPr b="1" i="0" sz="1800" u="none" cap="none" strike="noStrike">
              <a:solidFill>
                <a:schemeClr val="lt1"/>
              </a:solidFill>
              <a:latin typeface="Raleway"/>
              <a:ea typeface="Raleway"/>
              <a:cs typeface="Raleway"/>
              <a:sym typeface="Raleway"/>
            </a:endParaRPr>
          </a:p>
          <a:p>
            <a:pPr indent="-304800" lvl="0" marL="457200" marR="0" rtl="0" algn="just">
              <a:lnSpc>
                <a:spcPct val="115000"/>
              </a:lnSpc>
              <a:spcBef>
                <a:spcPts val="0"/>
              </a:spcBef>
              <a:spcAft>
                <a:spcPts val="0"/>
              </a:spcAft>
              <a:buClr>
                <a:srgbClr val="A667A5"/>
              </a:buClr>
              <a:buSzPts val="1200"/>
              <a:buFont typeface="Raleway Medium"/>
              <a:buAutoNum type="alphaUcPeriod"/>
            </a:pPr>
            <a:r>
              <a:rPr b="0" i="0" lang="en" sz="1200" u="none" cap="none" strike="noStrike">
                <a:solidFill>
                  <a:srgbClr val="A667A5"/>
                </a:solidFill>
                <a:latin typeface="Raleway Medium"/>
                <a:ea typeface="Raleway Medium"/>
                <a:cs typeface="Raleway Medium"/>
                <a:sym typeface="Raleway Medium"/>
              </a:rPr>
              <a:t>Terdapat banyak pilihan layanan dalam satu aplikasi yang dapat memudahkan user.</a:t>
            </a:r>
            <a:endParaRPr b="0" i="0" sz="1200" u="none" cap="none" strike="noStrike">
              <a:solidFill>
                <a:srgbClr val="A667A5"/>
              </a:solidFill>
              <a:latin typeface="Raleway Medium"/>
              <a:ea typeface="Raleway Medium"/>
              <a:cs typeface="Raleway Medium"/>
              <a:sym typeface="Raleway Medium"/>
            </a:endParaRPr>
          </a:p>
          <a:p>
            <a:pPr indent="-304800" lvl="0" marL="457200" marR="0" rtl="0" algn="just">
              <a:lnSpc>
                <a:spcPct val="115000"/>
              </a:lnSpc>
              <a:spcBef>
                <a:spcPts val="1000"/>
              </a:spcBef>
              <a:spcAft>
                <a:spcPts val="0"/>
              </a:spcAft>
              <a:buClr>
                <a:srgbClr val="A667A5"/>
              </a:buClr>
              <a:buSzPts val="1200"/>
              <a:buFont typeface="Raleway Medium"/>
              <a:buAutoNum type="alphaUcPeriod"/>
            </a:pPr>
            <a:r>
              <a:rPr b="0" i="0" lang="en" sz="1200" u="none" cap="none" strike="noStrike">
                <a:solidFill>
                  <a:srgbClr val="A667A5"/>
                </a:solidFill>
                <a:latin typeface="Raleway Medium"/>
                <a:ea typeface="Raleway Medium"/>
                <a:cs typeface="Raleway Medium"/>
                <a:sym typeface="Raleway Medium"/>
              </a:rPr>
              <a:t>Tampilan grafis aplikasi yang nyaman dan enak dilihat.</a:t>
            </a:r>
            <a:endParaRPr b="0" i="0" sz="1200" u="none" cap="none" strike="noStrike">
              <a:solidFill>
                <a:srgbClr val="A667A5"/>
              </a:solidFill>
              <a:latin typeface="Raleway Medium"/>
              <a:ea typeface="Raleway Medium"/>
              <a:cs typeface="Raleway Medium"/>
              <a:sym typeface="Raleway Medium"/>
            </a:endParaRPr>
          </a:p>
          <a:p>
            <a:pPr indent="-304800" lvl="0" marL="457200" marR="0" rtl="0" algn="just">
              <a:lnSpc>
                <a:spcPct val="115000"/>
              </a:lnSpc>
              <a:spcBef>
                <a:spcPts val="1000"/>
              </a:spcBef>
              <a:spcAft>
                <a:spcPts val="0"/>
              </a:spcAft>
              <a:buClr>
                <a:schemeClr val="lt1"/>
              </a:buClr>
              <a:buSzPts val="1200"/>
              <a:buFont typeface="Raleway Medium"/>
              <a:buAutoNum type="alphaUcPeriod"/>
            </a:pPr>
            <a:r>
              <a:rPr b="0" i="0" lang="en" sz="1200" u="none" cap="none" strike="noStrike">
                <a:solidFill>
                  <a:schemeClr val="lt1"/>
                </a:solidFill>
                <a:latin typeface="Raleway Medium"/>
                <a:ea typeface="Raleway Medium"/>
                <a:cs typeface="Raleway Medium"/>
                <a:sym typeface="Raleway Medium"/>
              </a:rPr>
              <a:t>Pengalaman yang menyenangkan dan kemudahan saat mengoperasikan suatu produk.</a:t>
            </a:r>
            <a:endParaRPr b="0" i="0" sz="1200" u="none" cap="none" strike="noStrike">
              <a:solidFill>
                <a:schemeClr val="lt1"/>
              </a:solidFill>
              <a:latin typeface="Raleway Medium"/>
              <a:ea typeface="Raleway Medium"/>
              <a:cs typeface="Raleway Medium"/>
              <a:sym typeface="Raleway Medium"/>
            </a:endParaRPr>
          </a:p>
          <a:p>
            <a:pPr indent="0" lvl="0" marL="0" marR="0" rtl="0" algn="l">
              <a:lnSpc>
                <a:spcPct val="115000"/>
              </a:lnSpc>
              <a:spcBef>
                <a:spcPts val="1000"/>
              </a:spcBef>
              <a:spcAft>
                <a:spcPts val="0"/>
              </a:spcAft>
              <a:buClr>
                <a:srgbClr val="000000"/>
              </a:buClr>
              <a:buSzPts val="1800"/>
              <a:buFont typeface="Arial"/>
              <a:buNone/>
            </a:pPr>
            <a:r>
              <a:t/>
            </a:r>
            <a:endParaRPr b="0" i="0" sz="1800" u="none" cap="none" strike="noStrike">
              <a:solidFill>
                <a:schemeClr val="lt1"/>
              </a:solidFill>
              <a:latin typeface="Raleway Medium"/>
              <a:ea typeface="Raleway Medium"/>
              <a:cs typeface="Raleway Medium"/>
              <a:sym typeface="Raleway Medium"/>
            </a:endParaRPr>
          </a:p>
        </p:txBody>
      </p:sp>
      <p:sp>
        <p:nvSpPr>
          <p:cNvPr id="437" name="Google Shape;437;p44"/>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438" name="Google Shape;438;p44"/>
          <p:cNvSpPr/>
          <p:nvPr/>
        </p:nvSpPr>
        <p:spPr>
          <a:xfrm>
            <a:off x="685800" y="3528350"/>
            <a:ext cx="7772400" cy="5952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just">
              <a:lnSpc>
                <a:spcPct val="115000"/>
              </a:lnSpc>
              <a:spcBef>
                <a:spcPts val="0"/>
              </a:spcBef>
              <a:spcAft>
                <a:spcPts val="0"/>
              </a:spcAft>
              <a:buClr>
                <a:srgbClr val="000000"/>
              </a:buClr>
              <a:buSzPts val="1200"/>
              <a:buFont typeface="Arial"/>
              <a:buNone/>
            </a:pPr>
            <a:r>
              <a:rPr b="1" i="0" lang="en" sz="1200" u="none" cap="none" strike="noStrike">
                <a:solidFill>
                  <a:srgbClr val="652F67"/>
                </a:solidFill>
                <a:latin typeface="Raleway"/>
                <a:ea typeface="Raleway"/>
                <a:cs typeface="Raleway"/>
                <a:sym typeface="Raleway"/>
              </a:rPr>
              <a:t>User experience suatu produk harus dirancang dengan baik agar user mendapat pengalaman yang menyenangkan dan kemudahan saat mengoperasikan produk tersebut.</a:t>
            </a:r>
            <a:endParaRPr b="1" i="0" sz="1200" u="none" cap="none" strike="noStrike">
              <a:solidFill>
                <a:srgbClr val="652F67"/>
              </a:solidFill>
              <a:latin typeface="Raleway"/>
              <a:ea typeface="Raleway"/>
              <a:cs typeface="Raleway"/>
              <a:sym typeface="Raleway"/>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45"/>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444" name="Google Shape;444;p45"/>
          <p:cNvSpPr txBox="1"/>
          <p:nvPr>
            <p:ph type="title"/>
          </p:nvPr>
        </p:nvSpPr>
        <p:spPr>
          <a:xfrm>
            <a:off x="685800" y="246888"/>
            <a:ext cx="4572000" cy="2559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SzPts val="1200"/>
              <a:buNone/>
            </a:pPr>
            <a:r>
              <a:rPr lang="en"/>
              <a:t>Referensi</a:t>
            </a:r>
            <a:endParaRPr/>
          </a:p>
        </p:txBody>
      </p:sp>
      <p:pic>
        <p:nvPicPr>
          <p:cNvPr id="445" name="Google Shape;445;p45"/>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446" name="Google Shape;446;p45"/>
          <p:cNvSpPr txBox="1"/>
          <p:nvPr/>
        </p:nvSpPr>
        <p:spPr>
          <a:xfrm>
            <a:off x="685800" y="1143003"/>
            <a:ext cx="4114800" cy="36576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600"/>
              </a:spcBef>
              <a:spcAft>
                <a:spcPts val="0"/>
              </a:spcAft>
              <a:buClr>
                <a:srgbClr val="000000"/>
              </a:buClr>
              <a:buSzPts val="1400"/>
              <a:buFont typeface="Arial"/>
              <a:buNone/>
            </a:pPr>
            <a:r>
              <a:rPr b="1" i="0" lang="en" sz="1800" u="none" cap="none" strike="noStrike">
                <a:solidFill>
                  <a:srgbClr val="743673"/>
                </a:solidFill>
                <a:highlight>
                  <a:schemeClr val="lt1"/>
                </a:highlight>
                <a:latin typeface="Raleway"/>
                <a:ea typeface="Raleway"/>
                <a:cs typeface="Raleway"/>
                <a:sym typeface="Raleway"/>
              </a:rPr>
              <a:t>Referensi dan bacaan lebih lanjut~</a:t>
            </a:r>
            <a:endParaRPr b="1" i="0" sz="1800" u="none" cap="none" strike="noStrike">
              <a:solidFill>
                <a:srgbClr val="743673"/>
              </a:solidFill>
              <a:highlight>
                <a:schemeClr val="lt1"/>
              </a:highlight>
              <a:latin typeface="Raleway"/>
              <a:ea typeface="Raleway"/>
              <a:cs typeface="Raleway"/>
              <a:sym typeface="Raleway"/>
            </a:endParaRPr>
          </a:p>
          <a:p>
            <a:pPr indent="0" lvl="0" marL="0" marR="0" rtl="0" algn="just">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Raleway Medium"/>
              <a:ea typeface="Raleway Medium"/>
              <a:cs typeface="Raleway Medium"/>
              <a:sym typeface="Raleway Medium"/>
            </a:endParaRPr>
          </a:p>
          <a:p>
            <a:pPr indent="0" lvl="0" marL="0" marR="0" rtl="0" algn="l">
              <a:lnSpc>
                <a:spcPct val="115000"/>
              </a:lnSpc>
              <a:spcBef>
                <a:spcPts val="0"/>
              </a:spcBef>
              <a:spcAft>
                <a:spcPts val="0"/>
              </a:spcAft>
              <a:buClr>
                <a:srgbClr val="000000"/>
              </a:buClr>
              <a:buSzPts val="1200"/>
              <a:buFont typeface="Arial"/>
              <a:buNone/>
            </a:pPr>
            <a:r>
              <a:rPr b="0" i="0" lang="en" sz="1200" u="none" cap="none" strike="noStrike">
                <a:solidFill>
                  <a:schemeClr val="dk1"/>
                </a:solidFill>
                <a:latin typeface="Raleway Medium"/>
                <a:ea typeface="Raleway Medium"/>
                <a:cs typeface="Raleway Medium"/>
                <a:sym typeface="Raleway Medium"/>
              </a:rPr>
              <a:t>1. </a:t>
            </a:r>
            <a:r>
              <a:rPr b="0" i="0" lang="en" sz="1200" u="sng" cap="none" strike="noStrike">
                <a:solidFill>
                  <a:schemeClr val="dk1"/>
                </a:solidFill>
                <a:latin typeface="Raleway Medium"/>
                <a:ea typeface="Raleway Medium"/>
                <a:cs typeface="Raleway Medium"/>
                <a:sym typeface="Raleway Medium"/>
                <a:hlinkClick r:id="rId4">
                  <a:extLst>
                    <a:ext uri="{A12FA001-AC4F-418D-AE19-62706E023703}">
                      <ahyp:hlinkClr val="tx"/>
                    </a:ext>
                  </a:extLst>
                </a:hlinkClick>
              </a:rPr>
              <a:t>The Fascinating History of UX Design: A Definitive Timeline by careerfoundry</a:t>
            </a:r>
            <a:r>
              <a:rPr b="0" i="0" lang="en" sz="1200" u="sng" cap="none" strike="noStrike">
                <a:solidFill>
                  <a:schemeClr val="dk1"/>
                </a:solidFill>
                <a:latin typeface="Raleway Medium"/>
                <a:ea typeface="Raleway Medium"/>
                <a:cs typeface="Raleway Medium"/>
                <a:sym typeface="Raleway Medium"/>
              </a:rPr>
              <a:t>.</a:t>
            </a:r>
            <a:endParaRPr b="0" i="0" sz="1200" u="sng" cap="none" strike="noStrike">
              <a:solidFill>
                <a:schemeClr val="dk1"/>
              </a:solidFill>
              <a:latin typeface="Raleway Medium"/>
              <a:ea typeface="Raleway Medium"/>
              <a:cs typeface="Raleway Medium"/>
              <a:sym typeface="Raleway Medium"/>
            </a:endParaRPr>
          </a:p>
          <a:p>
            <a:pPr indent="0" lvl="0" marL="0" marR="0" rtl="0" algn="l">
              <a:lnSpc>
                <a:spcPct val="115000"/>
              </a:lnSpc>
              <a:spcBef>
                <a:spcPts val="1000"/>
              </a:spcBef>
              <a:spcAft>
                <a:spcPts val="0"/>
              </a:spcAft>
              <a:buClr>
                <a:srgbClr val="000000"/>
              </a:buClr>
              <a:buSzPts val="1200"/>
              <a:buFont typeface="Arial"/>
              <a:buNone/>
            </a:pPr>
            <a:r>
              <a:rPr b="0" i="0" lang="en" sz="1200" u="none" cap="none" strike="noStrike">
                <a:solidFill>
                  <a:schemeClr val="dk1"/>
                </a:solidFill>
                <a:latin typeface="Raleway Medium"/>
                <a:ea typeface="Raleway Medium"/>
                <a:cs typeface="Raleway Medium"/>
                <a:sym typeface="Raleway Medium"/>
              </a:rPr>
              <a:t>2. </a:t>
            </a:r>
            <a:r>
              <a:rPr b="0" i="0" lang="en" sz="1200" u="sng" cap="none" strike="noStrike">
                <a:solidFill>
                  <a:schemeClr val="dk1"/>
                </a:solidFill>
                <a:latin typeface="Raleway Medium"/>
                <a:ea typeface="Raleway Medium"/>
                <a:cs typeface="Raleway Medium"/>
                <a:sym typeface="Raleway Medium"/>
                <a:hlinkClick r:id="rId5">
                  <a:extLst>
                    <a:ext uri="{A12FA001-AC4F-418D-AE19-62706E023703}">
                      <ahyp:hlinkClr val="tx"/>
                    </a:ext>
                  </a:extLst>
                </a:hlinkClick>
              </a:rPr>
              <a:t>What is User Interface (UI) Design? History and Principles of UI Design by yukti.io</a:t>
            </a:r>
            <a:r>
              <a:rPr b="0" i="0" lang="en" sz="1200" u="sng" cap="none" strike="noStrike">
                <a:solidFill>
                  <a:schemeClr val="dk1"/>
                </a:solidFill>
                <a:latin typeface="Raleway Medium"/>
                <a:ea typeface="Raleway Medium"/>
                <a:cs typeface="Raleway Medium"/>
                <a:sym typeface="Raleway Medium"/>
              </a:rPr>
              <a:t>.</a:t>
            </a:r>
            <a:endParaRPr b="0" i="0" sz="1200" u="sng" cap="none" strike="noStrike">
              <a:solidFill>
                <a:schemeClr val="dk1"/>
              </a:solidFill>
              <a:latin typeface="Raleway Medium"/>
              <a:ea typeface="Raleway Medium"/>
              <a:cs typeface="Raleway Medium"/>
              <a:sym typeface="Raleway Medium"/>
            </a:endParaRPr>
          </a:p>
          <a:p>
            <a:pPr indent="0" lvl="0" marL="0" marR="0" rtl="0" algn="l">
              <a:lnSpc>
                <a:spcPct val="115000"/>
              </a:lnSpc>
              <a:spcBef>
                <a:spcPts val="1000"/>
              </a:spcBef>
              <a:spcAft>
                <a:spcPts val="0"/>
              </a:spcAft>
              <a:buClr>
                <a:srgbClr val="000000"/>
              </a:buClr>
              <a:buSzPts val="1200"/>
              <a:buFont typeface="Arial"/>
              <a:buNone/>
            </a:pPr>
            <a:r>
              <a:rPr b="0" i="0" lang="en" sz="1200" u="none" cap="none" strike="noStrike">
                <a:solidFill>
                  <a:schemeClr val="dk1"/>
                </a:solidFill>
                <a:latin typeface="Raleway Medium"/>
                <a:ea typeface="Raleway Medium"/>
                <a:cs typeface="Raleway Medium"/>
                <a:sym typeface="Raleway Medium"/>
              </a:rPr>
              <a:t>3. </a:t>
            </a:r>
            <a:r>
              <a:rPr b="0" i="0" lang="en" sz="1200" u="sng" cap="none" strike="noStrike">
                <a:solidFill>
                  <a:schemeClr val="dk1"/>
                </a:solidFill>
                <a:latin typeface="Raleway Medium"/>
                <a:ea typeface="Raleway Medium"/>
                <a:cs typeface="Raleway Medium"/>
                <a:sym typeface="Raleway Medium"/>
                <a:hlinkClick r:id="rId6">
                  <a:extLst>
                    <a:ext uri="{A12FA001-AC4F-418D-AE19-62706E023703}">
                      <ahyp:hlinkClr val="tx"/>
                    </a:ext>
                  </a:extLst>
                </a:hlinkClick>
              </a:rPr>
              <a:t>The Godfather of UX: Don Norman &amp; User-Centered Design by crm</a:t>
            </a:r>
            <a:r>
              <a:rPr b="0" i="0" lang="en" sz="1200" u="sng" cap="none" strike="noStrike">
                <a:solidFill>
                  <a:schemeClr val="dk1"/>
                </a:solidFill>
                <a:latin typeface="Raleway Medium"/>
                <a:ea typeface="Raleway Medium"/>
                <a:cs typeface="Raleway Medium"/>
                <a:sym typeface="Raleway Medium"/>
              </a:rPr>
              <a:t>.</a:t>
            </a:r>
            <a:endParaRPr b="0" i="0" sz="1200" u="sng" cap="none" strike="noStrike">
              <a:solidFill>
                <a:schemeClr val="dk1"/>
              </a:solidFill>
              <a:latin typeface="Raleway Medium"/>
              <a:ea typeface="Raleway Medium"/>
              <a:cs typeface="Raleway Medium"/>
              <a:sym typeface="Raleway Medium"/>
            </a:endParaRPr>
          </a:p>
          <a:p>
            <a:pPr indent="0" lvl="0" marL="0" marR="0" rtl="0" algn="l">
              <a:lnSpc>
                <a:spcPct val="115000"/>
              </a:lnSpc>
              <a:spcBef>
                <a:spcPts val="1000"/>
              </a:spcBef>
              <a:spcAft>
                <a:spcPts val="1000"/>
              </a:spcAft>
              <a:buClr>
                <a:srgbClr val="000000"/>
              </a:buClr>
              <a:buSzPts val="1200"/>
              <a:buFont typeface="Arial"/>
              <a:buNone/>
            </a:pPr>
            <a:r>
              <a:rPr b="0" i="0" lang="en" sz="1200" u="none" cap="none" strike="noStrike">
                <a:solidFill>
                  <a:schemeClr val="dk1"/>
                </a:solidFill>
                <a:latin typeface="Raleway Medium"/>
                <a:ea typeface="Raleway Medium"/>
                <a:cs typeface="Raleway Medium"/>
                <a:sym typeface="Raleway Medium"/>
              </a:rPr>
              <a:t>4. </a:t>
            </a:r>
            <a:r>
              <a:rPr b="0" i="0" lang="en" sz="1200" u="sng" cap="none" strike="noStrike">
                <a:solidFill>
                  <a:schemeClr val="dk1"/>
                </a:solidFill>
                <a:latin typeface="Raleway Medium"/>
                <a:ea typeface="Raleway Medium"/>
                <a:cs typeface="Raleway Medium"/>
                <a:sym typeface="Raleway Medium"/>
                <a:hlinkClick r:id="rId7">
                  <a:extLst>
                    <a:ext uri="{A12FA001-AC4F-418D-AE19-62706E023703}">
                      <ahyp:hlinkClr val="tx"/>
                    </a:ext>
                  </a:extLst>
                </a:hlinkClick>
              </a:rPr>
              <a:t>Walt Disney: The World’s First UX Designer by</a:t>
            </a:r>
            <a:r>
              <a:rPr b="0" i="0" lang="en" sz="1200" u="sng" cap="none" strike="noStrike">
                <a:solidFill>
                  <a:schemeClr val="dk1"/>
                </a:solidFill>
                <a:latin typeface="Raleway Medium"/>
                <a:ea typeface="Raleway Medium"/>
                <a:cs typeface="Raleway Medium"/>
                <a:sym typeface="Raleway Medium"/>
              </a:rPr>
              <a:t> UX Magazine.</a:t>
            </a:r>
            <a:endParaRPr b="0" i="0" sz="1200" u="sng" cap="none" strike="noStrike">
              <a:solidFill>
                <a:schemeClr val="dk1"/>
              </a:solidFill>
              <a:latin typeface="Raleway Medium"/>
              <a:ea typeface="Raleway Medium"/>
              <a:cs typeface="Raleway Medium"/>
              <a:sym typeface="Raleway Medium"/>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43673"/>
        </a:solidFill>
      </p:bgPr>
    </p:bg>
    <p:spTree>
      <p:nvGrpSpPr>
        <p:cNvPr id="450" name="Shape 450"/>
        <p:cNvGrpSpPr/>
        <p:nvPr/>
      </p:nvGrpSpPr>
      <p:grpSpPr>
        <a:xfrm>
          <a:off x="0" y="0"/>
          <a:ext cx="0" cy="0"/>
          <a:chOff x="0" y="0"/>
          <a:chExt cx="0" cy="0"/>
        </a:xfrm>
      </p:grpSpPr>
      <p:sp>
        <p:nvSpPr>
          <p:cNvPr id="451" name="Google Shape;451;p46"/>
          <p:cNvSpPr/>
          <p:nvPr/>
        </p:nvSpPr>
        <p:spPr>
          <a:xfrm flipH="1" rot="5400000">
            <a:off x="4303949" y="-4204126"/>
            <a:ext cx="536100" cy="9144000"/>
          </a:xfrm>
          <a:prstGeom prst="rect">
            <a:avLst/>
          </a:prstGeom>
          <a:solidFill>
            <a:srgbClr val="9B6DB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452" name="Google Shape;452;p46"/>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453" name="Google Shape;453;p46"/>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454" name="Google Shape;454;p46"/>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455" name="Google Shape;455;p46"/>
          <p:cNvSpPr txBox="1"/>
          <p:nvPr/>
        </p:nvSpPr>
        <p:spPr>
          <a:xfrm>
            <a:off x="573578" y="251687"/>
            <a:ext cx="72960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FFFFFF"/>
              </a:buClr>
              <a:buSzPts val="1100"/>
              <a:buFont typeface="Montserrat"/>
              <a:buNone/>
            </a:pPr>
            <a:r>
              <a:rPr b="1" i="0" lang="en" sz="1100" u="none" cap="none" strike="noStrike">
                <a:solidFill>
                  <a:srgbClr val="FFFFFF"/>
                </a:solidFill>
                <a:latin typeface="Montserrat"/>
                <a:ea typeface="Montserrat"/>
                <a:cs typeface="Montserrat"/>
                <a:sym typeface="Montserrat"/>
              </a:rPr>
              <a:t>Penutup</a:t>
            </a:r>
            <a:endParaRPr b="1" i="0" sz="1100" u="none" cap="none" strike="noStrike">
              <a:solidFill>
                <a:srgbClr val="FFFFFF"/>
              </a:solidFill>
              <a:latin typeface="Montserrat"/>
              <a:ea typeface="Montserrat"/>
              <a:cs typeface="Montserrat"/>
              <a:sym typeface="Montserrat"/>
            </a:endParaRPr>
          </a:p>
        </p:txBody>
      </p:sp>
      <p:sp>
        <p:nvSpPr>
          <p:cNvPr id="456" name="Google Shape;456;p46"/>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457" name="Google Shape;457;p46"/>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pic>
        <p:nvPicPr>
          <p:cNvPr id="458" name="Google Shape;458;p46"/>
          <p:cNvPicPr preferRelativeResize="0"/>
          <p:nvPr/>
        </p:nvPicPr>
        <p:blipFill rotWithShape="1">
          <a:blip r:embed="rId3">
            <a:alphaModFix/>
          </a:blip>
          <a:srcRect b="0" l="0" r="0" t="0"/>
          <a:stretch/>
        </p:blipFill>
        <p:spPr>
          <a:xfrm>
            <a:off x="8535950" y="105991"/>
            <a:ext cx="463928" cy="463928"/>
          </a:xfrm>
          <a:prstGeom prst="rect">
            <a:avLst/>
          </a:prstGeom>
          <a:noFill/>
          <a:ln>
            <a:noFill/>
          </a:ln>
        </p:spPr>
      </p:pic>
      <p:sp>
        <p:nvSpPr>
          <p:cNvPr id="459" name="Google Shape;459;p46"/>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460" name="Google Shape;460;p46"/>
          <p:cNvSpPr txBox="1"/>
          <p:nvPr/>
        </p:nvSpPr>
        <p:spPr>
          <a:xfrm>
            <a:off x="573575" y="1450100"/>
            <a:ext cx="4407900" cy="24417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4000"/>
              <a:buFont typeface="Arial"/>
              <a:buNone/>
            </a:pPr>
            <a:r>
              <a:rPr b="1" i="0" lang="en" sz="1800" u="none" cap="none" strike="noStrike">
                <a:solidFill>
                  <a:srgbClr val="FFFFFF"/>
                </a:solidFill>
                <a:latin typeface="Montserrat"/>
                <a:ea typeface="Montserrat"/>
                <a:cs typeface="Montserrat"/>
                <a:sym typeface="Montserrat"/>
              </a:rPr>
              <a:t>Nah, selesai sudah pembahasan kita di Chapter 1 Topic 1 ini.</a:t>
            </a:r>
            <a:endParaRPr b="1" i="0" sz="1800" u="none" cap="none" strike="noStrike">
              <a:solidFill>
                <a:srgbClr val="FFFFFF"/>
              </a:solidFill>
              <a:latin typeface="Montserrat"/>
              <a:ea typeface="Montserrat"/>
              <a:cs typeface="Montserrat"/>
              <a:sym typeface="Montserrat"/>
            </a:endParaRPr>
          </a:p>
          <a:p>
            <a:pPr indent="0" lvl="0" marL="0" marR="0" rtl="0" algn="l">
              <a:lnSpc>
                <a:spcPct val="115000"/>
              </a:lnSpc>
              <a:spcBef>
                <a:spcPts val="1000"/>
              </a:spcBef>
              <a:spcAft>
                <a:spcPts val="0"/>
              </a:spcAft>
              <a:buClr>
                <a:srgbClr val="000000"/>
              </a:buClr>
              <a:buSzPts val="4000"/>
              <a:buFont typeface="Arial"/>
              <a:buNone/>
            </a:pPr>
            <a:r>
              <a:rPr b="1" i="0" lang="en" sz="1800" u="none" cap="none" strike="noStrike">
                <a:solidFill>
                  <a:srgbClr val="FFFFFF"/>
                </a:solidFill>
                <a:latin typeface="Montserrat"/>
                <a:ea typeface="Montserrat"/>
                <a:cs typeface="Montserrat"/>
                <a:sym typeface="Montserrat"/>
              </a:rPr>
              <a:t>Selanjutnya, kita bakal bahas soal UI/UX dan Dunia Digital.</a:t>
            </a:r>
            <a:endParaRPr b="1" i="0" sz="1800" u="none" cap="none" strike="noStrike">
              <a:solidFill>
                <a:srgbClr val="FFFFFF"/>
              </a:solidFill>
              <a:latin typeface="Montserrat"/>
              <a:ea typeface="Montserrat"/>
              <a:cs typeface="Montserrat"/>
              <a:sym typeface="Montserrat"/>
            </a:endParaRPr>
          </a:p>
          <a:p>
            <a:pPr indent="0" lvl="0" marL="0" marR="0" rtl="0" algn="l">
              <a:lnSpc>
                <a:spcPct val="115000"/>
              </a:lnSpc>
              <a:spcBef>
                <a:spcPts val="1000"/>
              </a:spcBef>
              <a:spcAft>
                <a:spcPts val="1000"/>
              </a:spcAft>
              <a:buClr>
                <a:srgbClr val="000000"/>
              </a:buClr>
              <a:buSzPts val="4000"/>
              <a:buFont typeface="Arial"/>
              <a:buNone/>
            </a:pPr>
            <a:r>
              <a:rPr b="1" i="0" lang="en" sz="1800" u="none" cap="none" strike="noStrike">
                <a:solidFill>
                  <a:srgbClr val="FFFFFF"/>
                </a:solidFill>
                <a:latin typeface="Montserrat"/>
                <a:ea typeface="Montserrat"/>
                <a:cs typeface="Montserrat"/>
                <a:sym typeface="Montserrat"/>
              </a:rPr>
              <a:t>Penasaran kayak gimana? Cus langsung ke topik selanjutnya~</a:t>
            </a:r>
            <a:endParaRPr b="1" i="1" sz="1800" u="none" cap="none" strike="noStrike">
              <a:solidFill>
                <a:srgbClr val="FFFFFF"/>
              </a:solidFill>
              <a:latin typeface="Montserrat"/>
              <a:ea typeface="Montserrat"/>
              <a:cs typeface="Montserrat"/>
              <a:sym typeface="Montserrat"/>
            </a:endParaRPr>
          </a:p>
        </p:txBody>
      </p:sp>
      <p:pic>
        <p:nvPicPr>
          <p:cNvPr id="461" name="Google Shape;461;p46"/>
          <p:cNvPicPr preferRelativeResize="0"/>
          <p:nvPr/>
        </p:nvPicPr>
        <p:blipFill rotWithShape="1">
          <a:blip r:embed="rId4">
            <a:alphaModFix/>
          </a:blip>
          <a:srcRect b="0" l="0" r="0" t="0"/>
          <a:stretch/>
        </p:blipFill>
        <p:spPr>
          <a:xfrm>
            <a:off x="4101881" y="720675"/>
            <a:ext cx="5687844" cy="4338199"/>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465" name="Shape 465"/>
        <p:cNvGrpSpPr/>
        <p:nvPr/>
      </p:nvGrpSpPr>
      <p:grpSpPr>
        <a:xfrm>
          <a:off x="0" y="0"/>
          <a:ext cx="0" cy="0"/>
          <a:chOff x="0" y="0"/>
          <a:chExt cx="0" cy="0"/>
        </a:xfrm>
      </p:grpSpPr>
      <p:sp>
        <p:nvSpPr>
          <p:cNvPr id="466" name="Google Shape;466;p47"/>
          <p:cNvSpPr/>
          <p:nvPr/>
        </p:nvSpPr>
        <p:spPr>
          <a:xfrm>
            <a:off x="0" y="3825400"/>
            <a:ext cx="9144000" cy="1389600"/>
          </a:xfrm>
          <a:prstGeom prst="rect">
            <a:avLst/>
          </a:prstGeom>
          <a:solidFill>
            <a:srgbClr val="F4B71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67" name="Google Shape;467;p47"/>
          <p:cNvPicPr preferRelativeResize="0"/>
          <p:nvPr/>
        </p:nvPicPr>
        <p:blipFill rotWithShape="1">
          <a:blip r:embed="rId3">
            <a:alphaModFix/>
          </a:blip>
          <a:srcRect b="0" l="0" r="0" t="0"/>
          <a:stretch/>
        </p:blipFill>
        <p:spPr>
          <a:xfrm>
            <a:off x="1734062" y="469363"/>
            <a:ext cx="5675881" cy="4204774"/>
          </a:xfrm>
          <a:prstGeom prst="rect">
            <a:avLst/>
          </a:prstGeom>
          <a:noFill/>
          <a:ln>
            <a:noFill/>
          </a:ln>
        </p:spPr>
      </p:pic>
      <p:pic>
        <p:nvPicPr>
          <p:cNvPr id="468" name="Google Shape;468;p47"/>
          <p:cNvPicPr preferRelativeResize="0"/>
          <p:nvPr/>
        </p:nvPicPr>
        <p:blipFill rotWithShape="1">
          <a:blip r:embed="rId4">
            <a:alphaModFix/>
          </a:blip>
          <a:srcRect b="0" l="0" r="13247" t="0"/>
          <a:stretch/>
        </p:blipFill>
        <p:spPr>
          <a:xfrm>
            <a:off x="7987325" y="4075701"/>
            <a:ext cx="709350" cy="817600"/>
          </a:xfrm>
          <a:prstGeom prst="rect">
            <a:avLst/>
          </a:prstGeom>
          <a:noFill/>
          <a:ln>
            <a:noFill/>
          </a:ln>
        </p:spPr>
      </p:pic>
      <p:pic>
        <p:nvPicPr>
          <p:cNvPr id="469" name="Google Shape;469;p47"/>
          <p:cNvPicPr preferRelativeResize="0"/>
          <p:nvPr/>
        </p:nvPicPr>
        <p:blipFill rotWithShape="1">
          <a:blip r:embed="rId5">
            <a:alphaModFix/>
          </a:blip>
          <a:srcRect b="0" l="0" r="0" t="0"/>
          <a:stretch/>
        </p:blipFill>
        <p:spPr>
          <a:xfrm>
            <a:off x="3811100" y="5813863"/>
            <a:ext cx="1991475" cy="689575"/>
          </a:xfrm>
          <a:prstGeom prst="rect">
            <a:avLst/>
          </a:prstGeom>
          <a:noFill/>
          <a:ln>
            <a:noFill/>
          </a:ln>
        </p:spPr>
      </p:pic>
      <p:pic>
        <p:nvPicPr>
          <p:cNvPr id="470" name="Google Shape;470;p47"/>
          <p:cNvPicPr preferRelativeResize="0"/>
          <p:nvPr/>
        </p:nvPicPr>
        <p:blipFill rotWithShape="1">
          <a:blip r:embed="rId6">
            <a:alphaModFix/>
          </a:blip>
          <a:srcRect b="0" l="0" r="0" t="0"/>
          <a:stretch/>
        </p:blipFill>
        <p:spPr>
          <a:xfrm>
            <a:off x="487625" y="4141560"/>
            <a:ext cx="1991475" cy="68588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