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Raleway SemiBold"/>
      <p:regular r:id="rId51"/>
      <p:bold r:id="rId52"/>
      <p:italic r:id="rId53"/>
      <p:boldItalic r:id="rId54"/>
    </p:embeddedFont>
    <p:embeddedFont>
      <p:font typeface="Raleway ExtraBold"/>
      <p:bold r:id="rId55"/>
      <p:boldItalic r:id="rId56"/>
    </p:embeddedFont>
    <p:embeddedFont>
      <p:font typeface="Montserrat"/>
      <p:regular r:id="rId57"/>
      <p:bold r:id="rId58"/>
      <p:italic r:id="rId59"/>
      <p:boldItalic r:id="rId60"/>
    </p:embeddedFont>
    <p:embeddedFont>
      <p:font typeface="Lato Black"/>
      <p:bold r:id="rId61"/>
      <p:boldItalic r:id="rId62"/>
    </p:embeddedFont>
    <p:embeddedFont>
      <p:font typeface="Raleway Medium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  <p:ext uri="GoogleSlidesCustomDataVersion2">
      <go:slidesCustomData xmlns:go="http://customooxmlschemas.google.com/" r:id="rId67" roundtripDataSignature="AMtx7mityKrC5uCyHa6JVCNv+ozfhtV3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atoBlack-boldItalic.fntdata"/><Relationship Id="rId61" Type="http://schemas.openxmlformats.org/officeDocument/2006/relationships/font" Target="fonts/LatoBlack-bold.fntdata"/><Relationship Id="rId20" Type="http://schemas.openxmlformats.org/officeDocument/2006/relationships/slide" Target="slides/slide15.xml"/><Relationship Id="rId64" Type="http://schemas.openxmlformats.org/officeDocument/2006/relationships/font" Target="fonts/RalewayMedium-bold.fntdata"/><Relationship Id="rId63" Type="http://schemas.openxmlformats.org/officeDocument/2006/relationships/font" Target="fonts/RalewayMedium-regular.fntdata"/><Relationship Id="rId22" Type="http://schemas.openxmlformats.org/officeDocument/2006/relationships/slide" Target="slides/slide17.xml"/><Relationship Id="rId66" Type="http://schemas.openxmlformats.org/officeDocument/2006/relationships/font" Target="fonts/RalewayMedium-boldItalic.fntdata"/><Relationship Id="rId21" Type="http://schemas.openxmlformats.org/officeDocument/2006/relationships/slide" Target="slides/slide16.xml"/><Relationship Id="rId65" Type="http://schemas.openxmlformats.org/officeDocument/2006/relationships/font" Target="fonts/Raleway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Montserra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SemiBold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RalewaySemiBold-italic.fntdata"/><Relationship Id="rId52" Type="http://schemas.openxmlformats.org/officeDocument/2006/relationships/font" Target="fonts/RalewaySemiBold-bold.fntdata"/><Relationship Id="rId11" Type="http://schemas.openxmlformats.org/officeDocument/2006/relationships/slide" Target="slides/slide6.xml"/><Relationship Id="rId55" Type="http://schemas.openxmlformats.org/officeDocument/2006/relationships/font" Target="fonts/RalewayExtraBold-bold.fntdata"/><Relationship Id="rId10" Type="http://schemas.openxmlformats.org/officeDocument/2006/relationships/slide" Target="slides/slide5.xml"/><Relationship Id="rId54" Type="http://schemas.openxmlformats.org/officeDocument/2006/relationships/font" Target="fonts/RalewaySemiBold-bold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56" Type="http://schemas.openxmlformats.org/officeDocument/2006/relationships/font" Target="fonts/RalewayExtraBold-boldItalic.fntdata"/><Relationship Id="rId15" Type="http://schemas.openxmlformats.org/officeDocument/2006/relationships/slide" Target="slides/slide10.xml"/><Relationship Id="rId59" Type="http://schemas.openxmlformats.org/officeDocument/2006/relationships/font" Target="fonts/Montserrat-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ammoqadam?utm_source=unsplash&amp;utm_medium=referral&amp;utm_content=creditCopyText" TargetMode="External"/><Relationship Id="rId3" Type="http://schemas.openxmlformats.org/officeDocument/2006/relationships/hyperlink" Target="https://unsplash.com/@sammoqadam?utm_source=unsplash&amp;utm_medium=referral&amp;utm_content=creditCopyText" TargetMode="External"/><Relationship Id="rId4" Type="http://schemas.openxmlformats.org/officeDocument/2006/relationships/hyperlink" Target="https://unsplash.com/s/photos/digital-world?utm_source=unsplash&amp;utm_medium=referral&amp;utm_content=creditCopyText" TargetMode="External"/><Relationship Id="rId5" Type="http://schemas.openxmlformats.org/officeDocument/2006/relationships/hyperlink" Target="https://unsplash.com/s/photos/digital-world?utm_source=unsplash&amp;utm_medium=referral&amp;utm_content=creditCopyText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ammoqadam?utm_source=unsplash&amp;utm_medium=referral&amp;utm_content=creditCopyText" TargetMode="External"/><Relationship Id="rId3" Type="http://schemas.openxmlformats.org/officeDocument/2006/relationships/hyperlink" Target="https://unsplash.com/@sammoqadam?utm_source=unsplash&amp;utm_medium=referral&amp;utm_content=creditCopyText" TargetMode="External"/><Relationship Id="rId4" Type="http://schemas.openxmlformats.org/officeDocument/2006/relationships/hyperlink" Target="https://unsplash.com/s/photos/digital-world?utm_source=unsplash&amp;utm_medium=referral&amp;utm_content=creditCopyText" TargetMode="External"/><Relationship Id="rId5" Type="http://schemas.openxmlformats.org/officeDocument/2006/relationships/hyperlink" Target="https://unsplash.com/s/photos/digital-world?utm_source=unsplash&amp;utm_medium=referral&amp;utm_content=creditCopyText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ammoqadam?utm_source=unsplash&amp;utm_medium=referral&amp;utm_content=creditCopyText" TargetMode="External"/><Relationship Id="rId3" Type="http://schemas.openxmlformats.org/officeDocument/2006/relationships/hyperlink" Target="https://unsplash.com/@sammoqadam?utm_source=unsplash&amp;utm_medium=referral&amp;utm_content=creditCopyText" TargetMode="External"/><Relationship Id="rId4" Type="http://schemas.openxmlformats.org/officeDocument/2006/relationships/hyperlink" Target="https://unsplash.com/s/photos/digital-world?utm_source=unsplash&amp;utm_medium=referral&amp;utm_content=creditCopyText" TargetMode="External"/><Relationship Id="rId5" Type="http://schemas.openxmlformats.org/officeDocument/2006/relationships/hyperlink" Target="https://unsplash.com/s/photos/digital-world?utm_source=unsplash&amp;utm_medium=referral&amp;utm_content=creditCopyText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amich_18?utm_source=unsplash&amp;utm_medium=referral&amp;utm_content=creditCopyText" TargetMode="External"/><Relationship Id="rId3" Type="http://schemas.openxmlformats.org/officeDocument/2006/relationships/hyperlink" Target="https://unsplash.com/@samich_18?utm_source=unsplash&amp;utm_medium=referral&amp;utm_content=creditCopyText" TargetMode="External"/><Relationship Id="rId4" Type="http://schemas.openxmlformats.org/officeDocument/2006/relationships/hyperlink" Target="https://unsplash.com/s/photos/online?utm_source=unsplash&amp;utm_medium=referral&amp;utm_content=creditCopyText" TargetMode="External"/><Relationship Id="rId5" Type="http://schemas.openxmlformats.org/officeDocument/2006/relationships/hyperlink" Target="https://unsplash.com/s/photos/online?utm_source=unsplash&amp;utm_medium=referral&amp;utm_content=creditCopyText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amich_18?utm_source=unsplash&amp;utm_medium=referral&amp;utm_content=creditCopyText" TargetMode="External"/><Relationship Id="rId3" Type="http://schemas.openxmlformats.org/officeDocument/2006/relationships/hyperlink" Target="https://unsplash.com/@samich_18?utm_source=unsplash&amp;utm_medium=referral&amp;utm_content=creditCopyText" TargetMode="External"/><Relationship Id="rId4" Type="http://schemas.openxmlformats.org/officeDocument/2006/relationships/hyperlink" Target="https://unsplash.com/s/photos/online?utm_source=unsplash&amp;utm_medium=referral&amp;utm_content=creditCopyText" TargetMode="External"/><Relationship Id="rId5" Type="http://schemas.openxmlformats.org/officeDocument/2006/relationships/hyperlink" Target="https://unsplash.com/s/photos/online?utm_source=unsplash&amp;utm_medium=referral&amp;utm_content=creditCopyTex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@jasongoodman_youxventures?utm_source=unsplash&amp;utm_medium=referral&amp;utm_content=creditCopyText" TargetMode="External"/><Relationship Id="rId4" Type="http://schemas.openxmlformats.org/officeDocument/2006/relationships/hyperlink" Target="https://unsplash.com/s/photos/ui-ux-design?utm_source=unsplash&amp;utm_medium=referral&amp;utm_content=creditCopyText" TargetMode="External"/><Relationship Id="rId5" Type="http://schemas.openxmlformats.org/officeDocument/2006/relationships/hyperlink" Target="https://unsplash.com/s/photos/ui-ux-design?utm_source=unsplash&amp;utm_medium=referral&amp;utm_content=creditCopyText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@jasongoodman_youxventures?utm_source=unsplash&amp;utm_medium=referral&amp;utm_content=creditCopyText" TargetMode="External"/><Relationship Id="rId4" Type="http://schemas.openxmlformats.org/officeDocument/2006/relationships/hyperlink" Target="https://unsplash.com/s/photos/ux-researcher?utm_source=unsplash&amp;utm_medium=referral&amp;utm_content=creditCopyText" TargetMode="External"/><Relationship Id="rId5" Type="http://schemas.openxmlformats.org/officeDocument/2006/relationships/hyperlink" Target="https://unsplash.com/s/photos/ux-researcher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craftedbygc?utm_source=unsplash&amp;utm_medium=referral&amp;utm_content=creditCopyText" TargetMode="External"/><Relationship Id="rId3" Type="http://schemas.openxmlformats.org/officeDocument/2006/relationships/hyperlink" Target="https://unsplash.com/@craftedbygc?utm_source=unsplash&amp;utm_medium=referral&amp;utm_content=creditCopyText" TargetMode="External"/><Relationship Id="rId4" Type="http://schemas.openxmlformats.org/officeDocument/2006/relationships/hyperlink" Target="https://unsplash.com/s/photos/ux-writer?utm_source=unsplash&amp;utm_medium=referral&amp;utm_content=creditCopyText" TargetMode="External"/><Relationship Id="rId5" Type="http://schemas.openxmlformats.org/officeDocument/2006/relationships/hyperlink" Target="https://unsplash.com/s/photos/ux-writer?utm_source=unsplash&amp;utm_medium=referral&amp;utm_content=creditCopyText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@jasongoodman_youxventures?utm_source=unsplash&amp;utm_medium=referral&amp;utm_content=creditCopyText" TargetMode="External"/><Relationship Id="rId4" Type="http://schemas.openxmlformats.org/officeDocument/2006/relationships/hyperlink" Target="https://unsplash.com/s/photos/information-architecture?utm_source=unsplash&amp;utm_medium=referral&amp;utm_content=creditCopyText" TargetMode="External"/><Relationship Id="rId5" Type="http://schemas.openxmlformats.org/officeDocument/2006/relationships/hyperlink" Target="https://unsplash.com/s/photos/information-architecture?utm_source=unsplash&amp;utm_medium=referral&amp;utm_content=creditCopyText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uxstore?utm_source=unsplash&amp;utm_medium=referral&amp;utm_content=creditCopyText" TargetMode="External"/><Relationship Id="rId3" Type="http://schemas.openxmlformats.org/officeDocument/2006/relationships/hyperlink" Target="https://unsplash.com/@uxstore?utm_source=unsplash&amp;utm_medium=referral&amp;utm_content=creditCopyText" TargetMode="External"/><Relationship Id="rId4" Type="http://schemas.openxmlformats.org/officeDocument/2006/relationships/hyperlink" Target="https://unsplash.com/s/photos/ui-ux-design?utm_source=unsplash&amp;utm_medium=referral&amp;utm_content=creditCopyText" TargetMode="External"/><Relationship Id="rId5" Type="http://schemas.openxmlformats.org/officeDocument/2006/relationships/hyperlink" Target="https://unsplash.com/s/photos/ui-ux-design?utm_source=unsplash&amp;utm_medium=referral&amp;utm_content=creditCopyText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danielkorpai?utm_source=unsplash&amp;utm_medium=referral&amp;utm_content=creditCopyText" TargetMode="External"/><Relationship Id="rId3" Type="http://schemas.openxmlformats.org/officeDocument/2006/relationships/hyperlink" Target="https://unsplash.com/@danielkorpai?utm_source=unsplash&amp;utm_medium=referral&amp;utm_content=creditCopyText" TargetMode="External"/><Relationship Id="rId4" Type="http://schemas.openxmlformats.org/officeDocument/2006/relationships/hyperlink" Target="https://unsplash.com/s/photos/ux-design?utm_source=unsplash&amp;utm_medium=referral&amp;utm_content=creditCopyText" TargetMode="External"/><Relationship Id="rId5" Type="http://schemas.openxmlformats.org/officeDocument/2006/relationships/hyperlink" Target="https://unsplash.com/s/photos/ux-design?utm_source=unsplash&amp;utm_medium=referral&amp;utm_content=creditCopyText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campaign_creators?utm_source=unsplash&amp;utm_medium=referral&amp;utm_content=creditCopyText" TargetMode="External"/><Relationship Id="rId3" Type="http://schemas.openxmlformats.org/officeDocument/2006/relationships/hyperlink" Target="https://unsplash.com/@campaign_creators?utm_source=unsplash&amp;utm_medium=referral&amp;utm_content=creditCopyText" TargetMode="External"/><Relationship Id="rId4" Type="http://schemas.openxmlformats.org/officeDocument/2006/relationships/hyperlink" Target="https://unsplash.com/s/photos/meeting?utm_source=unsplash&amp;utm_medium=referral&amp;utm_content=creditCopyText" TargetMode="External"/><Relationship Id="rId5" Type="http://schemas.openxmlformats.org/officeDocument/2006/relationships/hyperlink" Target="https://unsplash.com/s/photos/meeting?utm_source=unsplash&amp;utm_medium=referral&amp;utm_content=creditCopyText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lvarordesign?utm_source=unsplash&amp;utm_medium=referral&amp;utm_content=creditCopyText" TargetMode="External"/><Relationship Id="rId3" Type="http://schemas.openxmlformats.org/officeDocument/2006/relationships/hyperlink" Target="https://unsplash.com/@alvarordesign?utm_source=unsplash&amp;utm_medium=referral&amp;utm_content=creditCopyText" TargetMode="External"/><Relationship Id="rId4" Type="http://schemas.openxmlformats.org/officeDocument/2006/relationships/hyperlink" Target="https://unsplash.com/s/photos/interaction-designer?utm_source=unsplash&amp;utm_medium=referral&amp;utm_content=creditCopyText" TargetMode="External"/><Relationship Id="rId5" Type="http://schemas.openxmlformats.org/officeDocument/2006/relationships/hyperlink" Target="https://unsplash.com/s/photos/interaction-designer?utm_source=unsplash&amp;utm_medium=referral&amp;utm_content=creditCopyText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Sam Moqadam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Sam Moqadam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Sam Moqadam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Samantha Borges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Samantha Borges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Green Chameleon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UX Store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Daniel Korpai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Campaign Creators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Alvaro Reyes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" name="Google Shape;13;p4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4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0" name="Google Shape;20;p4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4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" name="Google Shape;2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45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6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46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46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6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6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6"/>
          <p:cNvSpPr txBox="1"/>
          <p:nvPr/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" name="Google Shape;43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5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Relationship Id="rId4" Type="http://schemas.openxmlformats.org/officeDocument/2006/relationships/hyperlink" Target="https://www.mckinsey.com/business-functions/mckinsey-digital/our-insights/strategy-for-a-digital-world" TargetMode="External"/><Relationship Id="rId5" Type="http://schemas.openxmlformats.org/officeDocument/2006/relationships/hyperlink" Target="https://uxdesign.cc/the-3-types-of-uxers-519dbbc2211c" TargetMode="External"/><Relationship Id="rId6" Type="http://schemas.openxmlformats.org/officeDocument/2006/relationships/hyperlink" Target="https://www.paldesk.com/user-experience-ux-digital-world/" TargetMode="External"/><Relationship Id="rId7" Type="http://schemas.openxmlformats.org/officeDocument/2006/relationships/hyperlink" Target="https://www.paldesk.com/user-experience-ux-digital-world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2386875" y="2551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700" u="none" cap="none" strike="noStrik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UI/UX dan Dunia Digital </a:t>
            </a:r>
            <a:endParaRPr b="0" i="0" sz="2700" u="none" cap="none" strike="noStrike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Silver </a:t>
            </a:r>
            <a:r>
              <a:rPr b="0" i="0" lang="en" sz="14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- Chapter 1 - Topic 2</a:t>
            </a:r>
            <a:endParaRPr b="0" i="0" sz="14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87" name="Google Shape;87;p1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Pengantar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06600" y="3913500"/>
            <a:ext cx="79308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topik kedua ini, kita bakal kenalan sama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dunia digital dan gimana UI/UX berperan di dalamnya.  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Cus langsung aja~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06600" y="3290550"/>
            <a:ext cx="79308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topik pertama, kita udah belajar tentang latar belakang dan sejarah penggunaan UI/UX dari masa ke masa. Jadi, kamu pasti udah tau kan kalo UI/UX itu digunain dimana? Yap~ dalam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dunia digital.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41386" l="0" r="0" t="0"/>
          <a:stretch/>
        </p:blipFill>
        <p:spPr>
          <a:xfrm>
            <a:off x="1808300" y="601775"/>
            <a:ext cx="5527398" cy="246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Pengantar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685800" y="1043352"/>
            <a:ext cx="41148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Detailnya, kita bakal bahas hal-hal berikut ini: </a:t>
            </a:r>
            <a:endParaRPr b="0" i="0" sz="1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685800" y="2020300"/>
            <a:ext cx="3512250" cy="2507725"/>
            <a:chOff x="4369875" y="1725800"/>
            <a:chExt cx="3512250" cy="2507725"/>
          </a:xfrm>
        </p:grpSpPr>
        <p:sp>
          <p:nvSpPr>
            <p:cNvPr id="106" name="Google Shape;106;p3"/>
            <p:cNvSpPr/>
            <p:nvPr/>
          </p:nvSpPr>
          <p:spPr>
            <a:xfrm>
              <a:off x="4369875" y="1958450"/>
              <a:ext cx="255900" cy="255900"/>
            </a:xfrm>
            <a:prstGeom prst="ellipse">
              <a:avLst/>
            </a:prstGeom>
            <a:solidFill>
              <a:srgbClr val="F2AB2F"/>
            </a:solidFill>
            <a:ln cap="flat" cmpd="sng" w="9525">
              <a:solidFill>
                <a:srgbClr val="F2AB2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4369875" y="2525300"/>
              <a:ext cx="255900" cy="255900"/>
            </a:xfrm>
            <a:prstGeom prst="ellipse">
              <a:avLst/>
            </a:prstGeom>
            <a:solidFill>
              <a:srgbClr val="F2AB2F"/>
            </a:solidFill>
            <a:ln cap="flat" cmpd="sng" w="9525">
              <a:solidFill>
                <a:srgbClr val="F2AB2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369875" y="3092150"/>
              <a:ext cx="255900" cy="255900"/>
            </a:xfrm>
            <a:prstGeom prst="ellipse">
              <a:avLst/>
            </a:prstGeom>
            <a:solidFill>
              <a:srgbClr val="F2AB2F"/>
            </a:solidFill>
            <a:ln cap="flat" cmpd="sng" w="9525">
              <a:solidFill>
                <a:srgbClr val="F2AB2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369875" y="3659000"/>
              <a:ext cx="255900" cy="255900"/>
            </a:xfrm>
            <a:prstGeom prst="ellipse">
              <a:avLst/>
            </a:prstGeom>
            <a:solidFill>
              <a:srgbClr val="F2AB2F"/>
            </a:solidFill>
            <a:ln cap="flat" cmpd="sng" w="9525">
              <a:solidFill>
                <a:srgbClr val="F2AB2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4853925" y="1725800"/>
              <a:ext cx="2214000" cy="7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Apa itu Dunia Digital?</a:t>
              </a:r>
              <a:endParaRPr b="0" i="0" sz="12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4853925" y="2447000"/>
              <a:ext cx="3028200" cy="7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Peran UI/UX dalam Dunia Digital</a:t>
              </a:r>
              <a:endParaRPr b="0" i="0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4853925" y="2937800"/>
              <a:ext cx="3028200" cy="7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Perbedaan UI dan UX</a:t>
              </a:r>
              <a:endParaRPr b="0" i="0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4853925" y="3512325"/>
              <a:ext cx="3028200" cy="7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200" u="none" cap="none" strike="noStrike">
                  <a:solidFill>
                    <a:schemeClr val="dk1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Pekerjaan-Pekerjaan terkait UI/UX</a:t>
              </a:r>
              <a:endParaRPr b="0" i="0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2" y="914400"/>
            <a:ext cx="2702448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914400" y="55335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Kalo denger kata </a:t>
            </a:r>
            <a:r>
              <a:rPr lang="en" sz="2000">
                <a:solidFill>
                  <a:schemeClr val="accent4"/>
                </a:solidFill>
              </a:rPr>
              <a:t>digital, </a:t>
            </a:r>
            <a:r>
              <a:rPr lang="en" sz="2000"/>
              <a:t>apa sih yang kebayang 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di benak kamu?</a:t>
            </a:r>
            <a:endParaRPr sz="2000">
              <a:solidFill>
                <a:srgbClr val="F2AB2F"/>
              </a:solidFill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88" y="1580250"/>
            <a:ext cx="7261230" cy="35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Apa itu Dunia Digital?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685800" y="1297225"/>
            <a:ext cx="4259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Sebagian dari kita pasti kebayang soal HP, Laptop, atau aplikasi online! </a:t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12252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Yap~ Nggak salah kok! Ungkapan kata digital memang merujuk pada penggunaan teknologi semacam itu.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Dunia digital itu sendiri berarti,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penggambaran tentang aktivitas manusia modern yang melakukan kegiatan sehari-hari melalui pemanfaatan teknologi.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7100" y="916222"/>
            <a:ext cx="3979499" cy="3884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Apa itu Dunia Digital?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685800" y="1585975"/>
            <a:ext cx="437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Dunia digital itu cuma penggambaran, bukan berarti jadi dunia sendiri yaa~</a:t>
            </a:r>
            <a:endParaRPr b="1" i="0" sz="18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 era yang udah modern dan serba online kaya sekarang, dunia digital jadi bagian yang nggak terpisahkan dari kehidupan manusia. Ya nggak sih?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00" y="914400"/>
            <a:ext cx="3058855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Apa itu Dunia Digital?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685800" y="1509775"/>
            <a:ext cx="3540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Coba deh kamu renungin!</a:t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Mulai dari bangun tidur sampe tidur lagi, ada berapa kegiatan kamu yang ngelibatin dunia digital?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9169" y="914400"/>
            <a:ext cx="414743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914400" y="728475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Kenyamanan kamu saat beraktivitas di dunia digital, nggak terlepas dari peran UI dan UX design, lho!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accent1"/>
                </a:solidFill>
              </a:rPr>
              <a:t>UI dan UX punya peran penting dalam dunia digital. 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Kayak gimana sih perannya? Cus kita cek!</a:t>
            </a:r>
            <a:endParaRPr sz="2000"/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35745" l="23709" r="26059" t="0"/>
          <a:stretch/>
        </p:blipFill>
        <p:spPr>
          <a:xfrm>
            <a:off x="3092563" y="2131775"/>
            <a:ext cx="3089075" cy="3011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Peran UI/UX dalam Dunia Digital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685800" y="15334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Sebelum kita bahas gimana peran UI/UX dalam dunia digital, kamu perlu tahu dulu tiga aspek dalam dunia digital, yaitu:</a:t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Goods (Barang)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Services (Layanan)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Human (Manusia)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2600" y="914400"/>
            <a:ext cx="4231229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Peran UI/UX dalam Dunia Digital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685800" y="1559575"/>
            <a:ext cx="342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Goods (barang) dan services (layanan) adalah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produk.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Sementara human (manusia) adalah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pengguna sekaligus pembuat 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dari produk tersebut.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8775" y="1335800"/>
            <a:ext cx="3893228" cy="31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1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Peran UI/UX dalam Dunia Digital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685800" y="1229925"/>
            <a:ext cx="4160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Sebuah produk tentu melalui proses pembuatan. </a:t>
            </a:r>
            <a:r>
              <a:rPr b="1" i="0" lang="en" sz="18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Nah, UI/UX berperan dalam proses pembuatan tersebut.</a:t>
            </a:r>
            <a:endParaRPr b="1" i="0" sz="18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Misalnya produk smartphone dengan tampilan grafis seperti ikon aplikasi dan fitur-fitur yang keren hingga membuat pengguna nyaman saat menggunakan.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Tampilan yang keren dan kenyamanan pengguna merupakan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hasil kerja para UI dan UX Designer.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Sehingga, bisa disimpulkan bahwa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UI dan UX berperan penting dalam dunia digital.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4056" y="914400"/>
            <a:ext cx="3472544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914388" y="44180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Bytheway, kamu tahu nggak </a:t>
            </a:r>
            <a:r>
              <a:rPr lang="en" sz="2000">
                <a:solidFill>
                  <a:schemeClr val="accent1"/>
                </a:solidFill>
              </a:rPr>
              <a:t>apa bedanya UI dan UX? 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Kalo belum, yuk kita cari tahu!</a:t>
            </a:r>
            <a:endParaRPr sz="2000"/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35529" l="20336" r="25419" t="0"/>
          <a:stretch/>
        </p:blipFill>
        <p:spPr>
          <a:xfrm>
            <a:off x="2654562" y="1669575"/>
            <a:ext cx="3834875" cy="347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1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Perbedaan UI dan UX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685800" y="1267425"/>
            <a:ext cx="403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Biar gampang, kita bahas pakai contoh kasus ya~</a:t>
            </a:r>
            <a:endParaRPr b="0" i="0" sz="13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586650" y="2036000"/>
            <a:ext cx="41376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Sebuah perusahaan cepat saji mau membuat desain baru untuk opsi pembayaran di beranda aplikasi pemesanan mereka.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Bos perusahaan kemudian minta ke UI dan UX Designer untuk berdiskusi dan menentukan model yang pas untuk tombol opsi pembayaran pada aplikasi pemesanan sesuai kebutuhan bisnis dan kebutuhan pengguna.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4287" y="1266025"/>
            <a:ext cx="3968998" cy="335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1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Perbedaan UI dan UX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63300" y="1036338"/>
            <a:ext cx="4990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652F67"/>
                </a:solidFill>
                <a:latin typeface="Raleway"/>
                <a:ea typeface="Raleway"/>
                <a:cs typeface="Raleway"/>
                <a:sym typeface="Raleway"/>
              </a:rPr>
              <a:t>Dalam proses diskusi, UI dan UX Designer punya fokus dan pertanyaan yang berbeda.</a:t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563300" y="1903400"/>
            <a:ext cx="46890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UI Designer bertanya hal-hal kayak gini: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“Warna tombol opsi pembayaran ini bagusnya apa ya?"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"Bentuknya lebih bagus kotak atau bulat?"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"Layoutnya bagus ditempatin di mana ya?”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Sedangkan, UX Designer bertanya hal-hal kayak gini: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“Emang tombol opsi pembayaran ini dibutuhkan ya?"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"Tombol opsi pembayaran ini gunanya buat apa?"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"Masalah apa yang bisa dijawab sama tombol opsi pembayaran ini?”</a:t>
            </a:r>
            <a:endParaRPr b="0"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7725" y="1885825"/>
            <a:ext cx="3752975" cy="248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1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Perbedaan UI dan UX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570000" y="1162275"/>
            <a:ext cx="3966300" cy="30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Dari kasus tersebut, bisa diliat kalo UI dan UX Designer sebenarnya punya tujuan yang sama, yaitu bagaimana mendesain sebuah tombol opsi pembayaran yang sesuai dengan kebutuhan bisnis dan pengguna.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Walaupun tujuannya sama, tapi keduanya punya fokus yang berbeda.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Seorang UI Designer berfokus pada desain tampilan dari tombol opsi pembayaran tersebut.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Sedangkan seorang UX Designer berfokus pada desain tujuan dan kegunaan dari tombol opsi pembayaran tersebut.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6" name="Google Shape;2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7100" y="1324637"/>
            <a:ext cx="4297923" cy="277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Perbedaan UI dan UX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570000" y="1162275"/>
            <a:ext cx="3755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berfokus pada keindahan tampilan produk, misalnya gimana tampilan grafis dan layout. Supaya lebih eye-catching dan memiliki ciri khas tersendiri.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4885525" y="1162275"/>
            <a:ext cx="36576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UX berfokus pada bagaimana menciptakan kenyamanan bagi pengguna. Kalo pengguna menggunakan suatu produk, ia harus merasa senang.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15" name="Google Shape;2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925" y="2292300"/>
            <a:ext cx="2393171" cy="250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3301" y="2292300"/>
            <a:ext cx="2102900" cy="250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Perbedaan UI dan UX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85800" y="1083100"/>
            <a:ext cx="357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Saatnya menjodohkan! 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😎</a:t>
            </a:r>
            <a:endParaRPr b="1" i="0" sz="17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udah paham kan bedanya UI dan UX? Sekarang coba deh kamu jodohkan contoh-contoh di samping. Kira-kira yang mana contoh UI dan yang mana contoh UX ya!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Eitss~ Jangan intip halaman selanjutnya sebelum kamu jawab!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24" name="Google Shape;2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425" y="1186024"/>
            <a:ext cx="4410276" cy="327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Dunia Digital di Masa Sekarang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85800" y="1335913"/>
            <a:ext cx="3627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Ini dia jawabannya!</a:t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Berapa nih jawaban kamu yang benar?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Sampai disini, semoga kamu benar-benar paham tentang perbedaan keduanya, ya!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32" name="Google Shape;2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421" y="1186025"/>
            <a:ext cx="4410281" cy="327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612150" y="776425"/>
            <a:ext cx="79197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Tertarik untuk belajar UI/UX lebih dalam? 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Banyak lho </a:t>
            </a:r>
            <a:r>
              <a:rPr lang="en" sz="2000">
                <a:solidFill>
                  <a:schemeClr val="accent1"/>
                </a:solidFill>
              </a:rPr>
              <a:t>pekerjaan-pekerjaan terkait UI/UX. 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/>
              <a:t>Yuk kita intip!</a:t>
            </a:r>
            <a:endParaRPr sz="2000">
              <a:solidFill>
                <a:schemeClr val="accent1"/>
              </a:solidFill>
            </a:endParaRPr>
          </a:p>
        </p:txBody>
      </p:sp>
      <p:pic>
        <p:nvPicPr>
          <p:cNvPr id="238" name="Google Shape;238;p19"/>
          <p:cNvPicPr preferRelativeResize="0"/>
          <p:nvPr/>
        </p:nvPicPr>
        <p:blipFill rotWithShape="1">
          <a:blip r:embed="rId3">
            <a:alphaModFix/>
          </a:blip>
          <a:srcRect b="34725" l="0" r="0" t="0"/>
          <a:stretch/>
        </p:blipFill>
        <p:spPr>
          <a:xfrm>
            <a:off x="1015625" y="1604650"/>
            <a:ext cx="7112750" cy="353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Berikut nih beberapa pekerjaan terkait UI dan UX!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UX Researcher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UX Writer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Information Architect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UI/UX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Visual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UX Strategist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7. Interaction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Kita cek satu persatu, yuk!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868613"/>
            <a:ext cx="3840613" cy="3840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85800" y="112674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1. UX Researcher</a:t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UX Researcher bertugas mengumpulkan data dari pengguna atau calon pengguna,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tentang bagaimana pengalaman, perasaan, dan kebutuhan mereka terhadap suatu produk.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Data tersebut akan diserahkan pada tim produk untuk membantu mereka memahami pengguna. Sehingga, dapat diciptakan produk yang benar-benar sesuai dengan keinginan dan kebutuhan pengguna.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Kalo kamu suka dan jago dalam penelitian, pekerjaan ini cocok nih buat kamu!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915732"/>
            <a:ext cx="3816000" cy="3726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85800" y="1188725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2. UX Writer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Ketika kamu melakukan kesalahan dalam menggunakan suatu aplikasi, biasanya bakal muncul tulisan ‘error’ atau ‘try again’.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Tulisan-tulisan kayak gitu dikerjain sama seorang UX Writer, lho!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UX Writer bertugas membuat teks atau elemen-elemen tulisan dalam sebuah produk. 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Sehingga pengguna dapat memahami produk yang sedang digunakan.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0875" y="1041100"/>
            <a:ext cx="3558773" cy="36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3. Information Architect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Kalo kamu buka aplikasi online, pasti bakalan nemu kategorisasi menu kan? Kayak aplikasi belanja online di samping ini, ada menu buat beli barang, beli makan, sampe beli pulsa.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Kategorisasi menu kayak gini disusun sama seorang Information Architect, lho!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Information Architect (IA) bertugas mengatur dan mengkategorisasikan informasi pada suatu situs atau aplikasi agar memudahkan pengguna menemukan apa yang mereka cari.</a:t>
            </a:r>
            <a:endParaRPr b="1" i="0" sz="1200" u="none" cap="none" strike="noStrike">
              <a:solidFill>
                <a:srgbClr val="51225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9398" y="914400"/>
            <a:ext cx="3497203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4. UI/UX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Pekerjaan sebagai UI dan UX Designer sering disatukan dalam satu istilah, yaitu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UI/UX Designer. 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Karena, UI dan UX Designer harus saling bekerjasama dan nggak bisa dipisahin satu sama lain.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Dalam proses kerjanya, bakal ada dua orang dengan fokus yang berbeda,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seorang UI Designer akan berfokus membuat tampilan grafis yang eye-catching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sedangkan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seorang UX Designer akan berfokus merancang tampilan yang nyaman bagi pengguna.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350" y="1068800"/>
            <a:ext cx="3927352" cy="344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2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5. Visual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Kalo UI Designer bertugas merancang tampilan grafis suatu situs atau aplikasi,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Visual Designer bertugas mengeksekusinya!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Seorang Visual Designer akan bekerjasama bareng UI Designer untuk membuat tampilan grafis jadi estetis dan enak dipandang~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110225"/>
            <a:ext cx="4038598" cy="3357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2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85800" y="1188725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6. UX Strategist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Kayak yang udah kamu tahu, fokus utama dari UX adalah kenyamanan dan kepentingan pengguna. Tapi, bukan berarti abai sama kepentingan bisnis, lho!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Ada yang namanya UX Strategist,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orang yang bertugas menyelaraskan kepentingan pengguna dengan kepentingan bisnis.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Seorang UX Strategist bekerja mencari strategi agar kepentingan pengguna tidak merugikan kepentingan bisnis, dan sebaliknya.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94" name="Google Shape;2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188725"/>
            <a:ext cx="4038600" cy="3138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2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Pekerjaan-Pekerjaan terkait UI/UX 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685800" y="1188726"/>
            <a:ext cx="4114800" cy="3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7. Interaction Designer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Kalo kamu lagi nge-scroll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aleway Medium"/>
                <a:ea typeface="Raleway Medium"/>
                <a:cs typeface="Raleway Medium"/>
                <a:sym typeface="Raleway Medium"/>
              </a:rPr>
              <a:t>sesuatu di website, pasti ada progress bar yang bergerak kan? Progress bar kayak gitu ngebuat kamu serasa berinteraksi sama website tersebut.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Fitur-fitur yang memungkinkan interaksi antara produk dengan pengguna merupakan hasil kerja seorang </a:t>
            </a: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Interaction Designer.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166" y="1372550"/>
            <a:ext cx="3517435" cy="248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/>
        </p:nvSpPr>
        <p:spPr>
          <a:xfrm>
            <a:off x="914400" y="101355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Saatnya kita </a:t>
            </a:r>
            <a:endParaRPr b="1" i="0" sz="20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Quiz!</a:t>
            </a:r>
            <a:endParaRPr b="1" i="0" sz="3000" u="none" cap="none" strike="noStrike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8" name="Google Shape;308;p28"/>
          <p:cNvPicPr preferRelativeResize="0"/>
          <p:nvPr/>
        </p:nvPicPr>
        <p:blipFill rotWithShape="1">
          <a:blip r:embed="rId3">
            <a:alphaModFix/>
          </a:blip>
          <a:srcRect b="35463" l="16341" r="18912" t="0"/>
          <a:stretch/>
        </p:blipFill>
        <p:spPr>
          <a:xfrm>
            <a:off x="2421325" y="2177750"/>
            <a:ext cx="3903698" cy="296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Berikut ini, tiga aspek dalam dunia digital adalah…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Goods, services, human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Goods, products, human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Services, human, people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Services, goods, products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Berikut ini, tiga aspek dalam dunia digital adalah…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Goods, services, human</a:t>
            </a:r>
            <a:endParaRPr b="1" i="0" sz="12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Goods, products, human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Services, human, people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Services, goods, products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685800" y="35953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Terdapat tiga aspek dalam dunia digital, yaitu goods (barang), services (layanan), dan human (manusia).</a:t>
            </a:r>
            <a:endParaRPr b="1" i="0" sz="12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Menurut kamu, manakah pernyataan di bawah ini yang kurang tepat terkait perbedaan UI dan UX...</a:t>
            </a:r>
            <a:endParaRPr b="1" i="0" sz="28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adalah tampilannya dan UX adalah cara kerjanya.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berfokus pada kenyamanan pengguna, sedangkan UX berfokus pada grafis.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adalah bagaimana pengguna melihat produk, sedangkan UI adalah bagaimana pengguna berinteraksi dengan produk.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Pembahasan Quiz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Menurut kamu, manakah pernyataan di bawah ini yang kurang tepat terkait perbedaan UI dan UX...</a:t>
            </a:r>
            <a:endParaRPr b="1" i="0" sz="28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adalah tampilannya dan UX adalah cara kerjanya.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berfokus pada kenyamanan pengguna, sedangkan UX berfokus pada grafis.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adalah bagaimana pengguna melihat produk, sedangkan UI adalah bagaimana pengguna berinteraksi dengan produk.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685800" y="3793925"/>
            <a:ext cx="7772400" cy="6927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UI berfokus pada tampilan produk, seperti tampilan grafis dan layout. Sedangkan UX berfokus pada bagaimana menciptakan kenyamanan bagi pengguna.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Menurut kamu, manakah pernyataan di bawah ini yang kurang tepat tentang pekerjaan terkait UI/UX…</a:t>
            </a:r>
            <a:endParaRPr b="1" i="0" sz="28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Designer merancang tampilan grafis yang eye-catching bagi pengguna.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Information Architect bertugas menemukan sweet spot antara kebutuhan pengguna dan tujuan bisnis. 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Interaction Designer membuat fitur yang memungkinkan interaksi antara produk dengan pengguna. 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Pembahasan Quiz</a:t>
            </a:r>
            <a:endParaRPr/>
          </a:p>
        </p:txBody>
      </p:sp>
      <p:sp>
        <p:nvSpPr>
          <p:cNvPr id="346" name="Google Shape;346;p34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Menurut kamu, manakah pernyataan di bawah ini yang kurang tepat tentang pekerjaan terkait UI/UX…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UI Designer merancang tampilan grafis yang eye-catching bagi pengguna.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Information Architect bertugas menemukan sweet spot antara kebutuhan pengguna dan tujuan bisnis. 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Interaction Designer membuat fitur yang memungkinkan interaksi antara produk dengan pengguna. 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685800" y="36100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Yang bertugas menemukan sweet spot antara kebutuhan pengguna dan tujuan bisnis adalah UX Strategist.</a:t>
            </a:r>
            <a:endParaRPr b="1" i="0" sz="12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4.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Seorang UI Designer bertugas membuat elemen visual yang interaktif, maka tugas yang harus dilakukan UX Writer adalah...</a:t>
            </a:r>
            <a:endParaRPr b="1" i="0" sz="2800" u="none" cap="none" strike="noStrike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ilustrasi yang sesuai.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elemen tulisan yang sesuai.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elemen visual lebih baik.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desain pengalaman yang sesuai.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4.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Seorang UI Designer bertugas membuat elemen visual yang interaktif, maka tugas yang harus dilakukan UX Writer adalah…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ilustrasi yang sesuai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" sz="1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membuat elemen tulisan yang sesuai.</a:t>
            </a:r>
            <a:endParaRPr b="1" i="0" sz="12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elemen visual lebih baik.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desain pengalaman yang sesuai 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685800" y="38930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UI Designer membuat elemen visual yang interaktif bagi antarmuka pengguna, dan seorang UX Writer bertugas membuat elemen tulisan yang sesuai.</a:t>
            </a:r>
            <a:endParaRPr b="1" i="0" sz="12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5.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Di bawah ini, aktivitas dan garapan seorang UX Designer adalah, kecuali…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&amp; analysis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Interactivity &amp; animation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Competitor analysis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Wireframing 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72" name="Google Shape;372;p38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5.</a:t>
            </a:r>
            <a:r>
              <a:rPr b="1" i="0" lang="en" sz="18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Di bawah ini, aktivitas dan garapan seorang UX Designer adalah, kecuali…</a:t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&amp; analysis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Interactivity &amp; animation</a:t>
            </a:r>
            <a:endParaRPr b="0" i="0" sz="1200" u="none" cap="none" strike="noStrike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Competitor analysis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" sz="1200" u="none" cap="none" strike="noStrike">
                <a:solidFill>
                  <a:srgbClr val="A667A5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Wireframing </a:t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A667A5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632100" y="3822475"/>
            <a:ext cx="3606900" cy="664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UI: Visual design, interactivity &amp; animation, device responsiveness, brand implementation.</a:t>
            </a:r>
            <a:endParaRPr b="1" i="0" sz="1200" u="none" cap="none" strike="noStrike">
              <a:solidFill>
                <a:srgbClr val="73357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851600" y="3822475"/>
            <a:ext cx="3606600" cy="664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rPr>
              <a:t>UX: Strategy &amp; content, competitor analysis, wireframing, research &amp; analysis.</a:t>
            </a:r>
            <a:endParaRPr b="1" i="0" sz="1400" u="none" cap="none" strike="noStrike">
              <a:solidFill>
                <a:srgbClr val="733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3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Referensi dan bacaan lebih lanjut</a:t>
            </a:r>
            <a:endParaRPr/>
          </a:p>
        </p:txBody>
      </p:sp>
      <p:pic>
        <p:nvPicPr>
          <p:cNvPr id="381" name="Google Shape;3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 txBox="1"/>
          <p:nvPr/>
        </p:nvSpPr>
        <p:spPr>
          <a:xfrm>
            <a:off x="685800" y="1143003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Referensi dan bacaan lebih lanjut~</a:t>
            </a:r>
            <a:endParaRPr b="1" i="0" sz="1800" u="none" cap="none" strike="noStrike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333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Strategy for a digital world by McKinsey</a:t>
            </a: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</a:t>
            </a:r>
            <a:endParaRPr b="0" i="0" sz="1200" u="sng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33350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 Types of UXers by UX Collective</a:t>
            </a: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r>
              <a:rPr b="0" i="0" lang="en" sz="1200" u="none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33350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Raleway Medium"/>
                <a:ea typeface="Raleway Medium"/>
                <a:cs typeface="Raleway Medium"/>
                <a:sym typeface="Raleway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User Experience (UX) in the Digital World by paldesk</a:t>
            </a:r>
            <a:r>
              <a:rPr b="0" i="0" lang="en" sz="1200" u="sng" cap="none" strike="noStrike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endParaRPr b="0" i="0" sz="1200" u="sng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0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0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0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573575" y="1983775"/>
            <a:ext cx="40845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selesai sudah pembahasan kita di Chapter 1 Topic 2 ini.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Selanjutnya, kita bakal bahas mengapa UI/UX itu penting.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Penasaran kayak gimana? Cus langsung ke topik selanjutnya~</a:t>
            </a:r>
            <a:endParaRPr b="1" i="1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97" name="Google Shape;39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1881" y="720675"/>
            <a:ext cx="5687844" cy="43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1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225" y="6174213"/>
            <a:ext cx="1991475" cy="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