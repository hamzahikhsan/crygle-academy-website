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embeddedFontLst>
    <p:embeddedFont>
      <p:font typeface="Raleway"/>
      <p:regular r:id="rId48"/>
      <p:bold r:id="rId49"/>
      <p:italic r:id="rId50"/>
      <p:boldItalic r:id="rId51"/>
    </p:embeddedFont>
    <p:embeddedFont>
      <p:font typeface="Montserrat"/>
      <p:regular r:id="rId52"/>
      <p:bold r:id="rId53"/>
      <p:italic r:id="rId54"/>
      <p:boldItalic r:id="rId55"/>
    </p:embeddedFont>
    <p:embeddedFont>
      <p:font typeface="Montserrat Medium"/>
      <p:regular r:id="rId56"/>
      <p:bold r:id="rId57"/>
      <p:italic r:id="rId58"/>
      <p:boldItalic r:id="rId59"/>
    </p:embeddedFont>
    <p:embeddedFont>
      <p:font typeface="Lato Black"/>
      <p:bold r:id="rId60"/>
      <p:boldItalic r:id="rId61"/>
    </p:embeddedFont>
    <p:embeddedFont>
      <p:font typeface="Raleway Medium"/>
      <p:regular r:id="rId62"/>
      <p:bold r:id="rId63"/>
      <p:italic r:id="rId64"/>
      <p:boldItalic r:id="rId65"/>
    </p:embeddedFont>
    <p:embeddedFont>
      <p:font typeface="Montserrat ExtraBold"/>
      <p:bold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824">
          <p15:clr>
            <a:srgbClr val="9AA0A6"/>
          </p15:clr>
        </p15:guide>
        <p15:guide id="7" pos="5428">
          <p15:clr>
            <a:srgbClr val="9AA0A6"/>
          </p15:clr>
        </p15:guide>
      </p15:sldGuideLst>
    </p:ext>
    <p:ext uri="GoogleSlidesCustomDataVersion2">
      <go:slidesCustomData xmlns:go="http://customooxmlschemas.google.com/" r:id="rId68" roundtripDataSignature="AMtx7miLyYIlNEXb7oJiGKexfGUEWbIf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82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aleway-regular.fntdata"/><Relationship Id="rId47" Type="http://schemas.openxmlformats.org/officeDocument/2006/relationships/slide" Target="slides/slide42.xml"/><Relationship Id="rId49" Type="http://schemas.openxmlformats.org/officeDocument/2006/relationships/font" Target="fonts/Raleway-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alewayMedium-regular.fntdata"/><Relationship Id="rId61" Type="http://schemas.openxmlformats.org/officeDocument/2006/relationships/font" Target="fonts/LatoBlack-boldItalic.fntdata"/><Relationship Id="rId20" Type="http://schemas.openxmlformats.org/officeDocument/2006/relationships/slide" Target="slides/slide15.xml"/><Relationship Id="rId64" Type="http://schemas.openxmlformats.org/officeDocument/2006/relationships/font" Target="fonts/RalewayMedium-italic.fntdata"/><Relationship Id="rId63" Type="http://schemas.openxmlformats.org/officeDocument/2006/relationships/font" Target="fonts/RalewayMedium-bold.fntdata"/><Relationship Id="rId22" Type="http://schemas.openxmlformats.org/officeDocument/2006/relationships/slide" Target="slides/slide17.xml"/><Relationship Id="rId66" Type="http://schemas.openxmlformats.org/officeDocument/2006/relationships/font" Target="fonts/MontserratExtraBold-bold.fntdata"/><Relationship Id="rId21" Type="http://schemas.openxmlformats.org/officeDocument/2006/relationships/slide" Target="slides/slide16.xml"/><Relationship Id="rId65" Type="http://schemas.openxmlformats.org/officeDocument/2006/relationships/font" Target="fonts/RalewayMedium-boldItalic.fntdata"/><Relationship Id="rId24" Type="http://schemas.openxmlformats.org/officeDocument/2006/relationships/slide" Target="slides/slide19.xml"/><Relationship Id="rId68" Type="http://customschemas.google.com/relationships/presentationmetadata" Target="metadata"/><Relationship Id="rId23" Type="http://schemas.openxmlformats.org/officeDocument/2006/relationships/slide" Target="slides/slide18.xml"/><Relationship Id="rId67" Type="http://schemas.openxmlformats.org/officeDocument/2006/relationships/font" Target="fonts/MontserratExtraBold-boldItalic.fntdata"/><Relationship Id="rId60" Type="http://schemas.openxmlformats.org/officeDocument/2006/relationships/font" Target="fonts/LatoBlack-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aleway-boldItalic.fntdata"/><Relationship Id="rId50" Type="http://schemas.openxmlformats.org/officeDocument/2006/relationships/font" Target="fonts/Raleway-italic.fntdata"/><Relationship Id="rId53" Type="http://schemas.openxmlformats.org/officeDocument/2006/relationships/font" Target="fonts/Montserrat-bold.fntdata"/><Relationship Id="rId52" Type="http://schemas.openxmlformats.org/officeDocument/2006/relationships/font" Target="fonts/Montserrat-regular.fntdata"/><Relationship Id="rId11" Type="http://schemas.openxmlformats.org/officeDocument/2006/relationships/slide" Target="slides/slide6.xml"/><Relationship Id="rId55" Type="http://schemas.openxmlformats.org/officeDocument/2006/relationships/font" Target="fonts/Montserrat-boldItalic.fntdata"/><Relationship Id="rId10" Type="http://schemas.openxmlformats.org/officeDocument/2006/relationships/slide" Target="slides/slide5.xml"/><Relationship Id="rId54" Type="http://schemas.openxmlformats.org/officeDocument/2006/relationships/font" Target="fonts/Montserrat-italic.fntdata"/><Relationship Id="rId13" Type="http://schemas.openxmlformats.org/officeDocument/2006/relationships/slide" Target="slides/slide8.xml"/><Relationship Id="rId57" Type="http://schemas.openxmlformats.org/officeDocument/2006/relationships/font" Target="fonts/MontserratMedium-bold.fntdata"/><Relationship Id="rId12" Type="http://schemas.openxmlformats.org/officeDocument/2006/relationships/slide" Target="slides/slide7.xml"/><Relationship Id="rId56" Type="http://schemas.openxmlformats.org/officeDocument/2006/relationships/font" Target="fonts/MontserratMedium-regular.fntdata"/><Relationship Id="rId15" Type="http://schemas.openxmlformats.org/officeDocument/2006/relationships/slide" Target="slides/slide10.xml"/><Relationship Id="rId59" Type="http://schemas.openxmlformats.org/officeDocument/2006/relationships/font" Target="fonts/MontserratMedium-boldItalic.fntdata"/><Relationship Id="rId14" Type="http://schemas.openxmlformats.org/officeDocument/2006/relationships/slide" Target="slides/slide9.xml"/><Relationship Id="rId58" Type="http://schemas.openxmlformats.org/officeDocument/2006/relationships/font" Target="fonts/MontserratMedium-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Perlu penjelasan lebih lanjut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https://makemac.grid.id/read/211981848/13-tahun-lalu-steve-jobs-resmi-kenalkan-iphone-generasi-pertama?page=all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https://makemac.grid.id/read/211981848/13-tahun-lalu-steve-jobs-resmi-kenalkan-iphone-generasi-pertama?page=all</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https://makemac.grid.id/read/211981848/13-tahun-lalu-steve-jobs-resmi-kenalkan-iphone-generasi-pertama?page=all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Perlu penjelasan lebih lanjut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https://makemac.grid.id/read/211981848/13-tahun-lalu-steve-jobs-resmi-kenalkan-iphone-generasi-pertama?page=all</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Video from https://youtu.be/_r0VX-aU_T8</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https://www.spurwingcomms.com/single-post/2019/05/14/the-5-values-of-design-thinking</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2" name="Google Shape;392;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 name="Shape 10"/>
        <p:cNvGrpSpPr/>
        <p:nvPr/>
      </p:nvGrpSpPr>
      <p:grpSpPr>
        <a:xfrm>
          <a:off x="0" y="0"/>
          <a:ext cx="0" cy="0"/>
          <a:chOff x="0" y="0"/>
          <a:chExt cx="0" cy="0"/>
        </a:xfrm>
      </p:grpSpPr>
      <p:sp>
        <p:nvSpPr>
          <p:cNvPr id="11" name="Google Shape;11;p45"/>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2" name="Google Shape;12;p45"/>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3" name="Google Shape;13;p4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4" name="Google Shape;14;p4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6" name="Google Shape;16;p4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19" name="Google Shape;19;p45"/>
          <p:cNvGrpSpPr/>
          <p:nvPr/>
        </p:nvGrpSpPr>
        <p:grpSpPr>
          <a:xfrm>
            <a:off x="283668" y="259895"/>
            <a:ext cx="226001" cy="222980"/>
            <a:chOff x="283668" y="251687"/>
            <a:chExt cx="226001" cy="222980"/>
          </a:xfrm>
        </p:grpSpPr>
        <p:sp>
          <p:nvSpPr>
            <p:cNvPr id="20" name="Google Shape;20;p4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1" name="Google Shape;21;p4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2" name="Google Shape;22;p4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3" name="Google Shape;23;p45"/>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45"/>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lvl1pPr lvl="0" algn="l">
              <a:lnSpc>
                <a:spcPct val="100000"/>
              </a:lnSpc>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5" name="Google Shape;25;p4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26" name="Shape 26"/>
        <p:cNvGrpSpPr/>
        <p:nvPr/>
      </p:nvGrpSpPr>
      <p:grpSpPr>
        <a:xfrm>
          <a:off x="0" y="0"/>
          <a:ext cx="0" cy="0"/>
          <a:chOff x="0" y="0"/>
          <a:chExt cx="0" cy="0"/>
        </a:xfrm>
      </p:grpSpPr>
      <p:sp>
        <p:nvSpPr>
          <p:cNvPr id="27" name="Google Shape;27;p46"/>
          <p:cNvSpPr txBox="1"/>
          <p:nvPr>
            <p:ph type="title"/>
          </p:nvPr>
        </p:nvSpPr>
        <p:spPr>
          <a:xfrm>
            <a:off x="914400" y="2210700"/>
            <a:ext cx="7315200" cy="722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8" name="Google Shape;28;p46"/>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47"/>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47"/>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47"/>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47"/>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47"/>
          <p:cNvGrpSpPr/>
          <p:nvPr/>
        </p:nvGrpSpPr>
        <p:grpSpPr>
          <a:xfrm>
            <a:off x="283668" y="259895"/>
            <a:ext cx="226001" cy="222980"/>
            <a:chOff x="283668" y="251687"/>
            <a:chExt cx="226001" cy="222980"/>
          </a:xfrm>
        </p:grpSpPr>
        <p:sp>
          <p:nvSpPr>
            <p:cNvPr id="35" name="Google Shape;35;p47"/>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47"/>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47"/>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47"/>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lvl1pPr lvl="0" algn="l">
              <a:lnSpc>
                <a:spcPct val="100000"/>
              </a:lnSpc>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39" name="Google Shape;39;p47"/>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47"/>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41" name="Shape 41"/>
        <p:cNvGrpSpPr/>
        <p:nvPr/>
      </p:nvGrpSpPr>
      <p:grpSpPr>
        <a:xfrm>
          <a:off x="0" y="0"/>
          <a:ext cx="0" cy="0"/>
          <a:chOff x="0" y="0"/>
          <a:chExt cx="0" cy="0"/>
        </a:xfrm>
      </p:grpSpPr>
      <p:sp>
        <p:nvSpPr>
          <p:cNvPr id="42" name="Google Shape;42;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 name="Google Shape;43;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4" name="Google Shape;4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7" name="Google Shape;47;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8" name="Shape 48"/>
        <p:cNvGrpSpPr/>
        <p:nvPr/>
      </p:nvGrpSpPr>
      <p:grpSpPr>
        <a:xfrm>
          <a:off x="0" y="0"/>
          <a:ext cx="0" cy="0"/>
          <a:chOff x="0" y="0"/>
          <a:chExt cx="0" cy="0"/>
        </a:xfrm>
      </p:grpSpPr>
      <p:sp>
        <p:nvSpPr>
          <p:cNvPr id="49" name="Google Shape;49;p5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0" name="Google Shape;50;p5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1" name="Google Shape;51;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2" name="Shape 52"/>
        <p:cNvGrpSpPr/>
        <p:nvPr/>
      </p:nvGrpSpPr>
      <p:grpSpPr>
        <a:xfrm>
          <a:off x="0" y="0"/>
          <a:ext cx="0" cy="0"/>
          <a:chOff x="0" y="0"/>
          <a:chExt cx="0" cy="0"/>
        </a:xfrm>
      </p:grpSpPr>
      <p:sp>
        <p:nvSpPr>
          <p:cNvPr id="53" name="Google Shape;53;p5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4" name="Google Shape;54;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5" name="Shape 55"/>
        <p:cNvGrpSpPr/>
        <p:nvPr/>
      </p:nvGrpSpPr>
      <p:grpSpPr>
        <a:xfrm>
          <a:off x="0" y="0"/>
          <a:ext cx="0" cy="0"/>
          <a:chOff x="0" y="0"/>
          <a:chExt cx="0" cy="0"/>
        </a:xfrm>
      </p:grpSpPr>
      <p:sp>
        <p:nvSpPr>
          <p:cNvPr id="56" name="Google Shape;56;p5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5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8" name="Google Shape;58;p5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9" name="Google Shape;59;p5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0" name="Google Shape;60;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1" name="Shape 61"/>
        <p:cNvGrpSpPr/>
        <p:nvPr/>
      </p:nvGrpSpPr>
      <p:grpSpPr>
        <a:xfrm>
          <a:off x="0" y="0"/>
          <a:ext cx="0" cy="0"/>
          <a:chOff x="0" y="0"/>
          <a:chExt cx="0" cy="0"/>
        </a:xfrm>
      </p:grpSpPr>
      <p:sp>
        <p:nvSpPr>
          <p:cNvPr id="62" name="Google Shape;62;p5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63" name="Google Shape;63;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4" name="Shape 64"/>
        <p:cNvGrpSpPr/>
        <p:nvPr/>
      </p:nvGrpSpPr>
      <p:grpSpPr>
        <a:xfrm>
          <a:off x="0" y="0"/>
          <a:ext cx="0" cy="0"/>
          <a:chOff x="0" y="0"/>
          <a:chExt cx="0" cy="0"/>
        </a:xfrm>
      </p:grpSpPr>
      <p:sp>
        <p:nvSpPr>
          <p:cNvPr id="65" name="Google Shape;65;p5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6" name="Google Shape;66;p5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67" name="Google Shape;67;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unsplash.com/@jdiegoph?utm_source=unsplash&amp;utm_medium=referral&amp;utm_content=creditCopyText" TargetMode="Externa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www.youtube.com/watch?v=_r0VX-aU_T8" TargetMode="External"/><Relationship Id="rId4" Type="http://schemas.openxmlformats.org/officeDocument/2006/relationships/image" Target="../media/image2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www.spurwingcomms.com/single-post/2019/05/14/the-5-values-of-design-thinking" TargetMode="External"/><Relationship Id="rId4" Type="http://schemas.openxmlformats.org/officeDocument/2006/relationships/image" Target="../media/image26.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1.png"/><Relationship Id="rId4" Type="http://schemas.openxmlformats.org/officeDocument/2006/relationships/hyperlink" Target="https://www.interaction-design.org/literature/topics/design-thinking" TargetMode="External"/><Relationship Id="rId5" Type="http://schemas.openxmlformats.org/officeDocument/2006/relationships/hyperlink" Target="https://www.interaction-design.org/literature/article/5-stages-in-the-design-thinking-process" TargetMode="External"/><Relationship Id="rId6" Type="http://schemas.openxmlformats.org/officeDocument/2006/relationships/hyperlink" Target="https://hbr.org/2018/09/why-design-thinking-work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22.png"/><Relationship Id="rId4" Type="http://schemas.openxmlformats.org/officeDocument/2006/relationships/image" Target="../media/image20.png"/><Relationship Id="rId5" Type="http://schemas.openxmlformats.org/officeDocument/2006/relationships/image" Target="../media/image23.png"/><Relationship Id="rId6"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73" name="Shape 73"/>
        <p:cNvGrpSpPr/>
        <p:nvPr/>
      </p:nvGrpSpPr>
      <p:grpSpPr>
        <a:xfrm>
          <a:off x="0" y="0"/>
          <a:ext cx="0" cy="0"/>
          <a:chOff x="0" y="0"/>
          <a:chExt cx="0" cy="0"/>
        </a:xfrm>
      </p:grpSpPr>
      <p:sp>
        <p:nvSpPr>
          <p:cNvPr id="74" name="Google Shape;74;p1"/>
          <p:cNvSpPr txBox="1"/>
          <p:nvPr/>
        </p:nvSpPr>
        <p:spPr>
          <a:xfrm>
            <a:off x="2386850" y="2491200"/>
            <a:ext cx="5869200" cy="12144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en" sz="2700" u="none" cap="none" strike="noStrike">
                <a:solidFill>
                  <a:schemeClr val="lt1"/>
                </a:solidFill>
                <a:latin typeface="Montserrat"/>
                <a:ea typeface="Montserrat"/>
                <a:cs typeface="Montserrat"/>
                <a:sym typeface="Montserrat"/>
              </a:rPr>
              <a:t>Design Thinking</a:t>
            </a:r>
            <a:r>
              <a:rPr b="0" i="0" lang="en" sz="2700" u="none" cap="none" strike="noStrike">
                <a:solidFill>
                  <a:schemeClr val="lt1"/>
                </a:solidFill>
                <a:latin typeface="Montserrat ExtraBold"/>
                <a:ea typeface="Montserrat ExtraBold"/>
                <a:cs typeface="Montserrat ExtraBold"/>
                <a:sym typeface="Montserrat ExtraBold"/>
              </a:rPr>
              <a:t> </a:t>
            </a:r>
            <a:endParaRPr b="0" i="0" sz="2700" u="none" cap="none" strike="noStrike">
              <a:solidFill>
                <a:schemeClr val="lt1"/>
              </a:solidFill>
              <a:latin typeface="Montserrat ExtraBold"/>
              <a:ea typeface="Montserrat ExtraBold"/>
              <a:cs typeface="Montserrat ExtraBold"/>
              <a:sym typeface="Montserrat ExtraBold"/>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lt1"/>
                </a:solidFill>
                <a:latin typeface="Montserrat ExtraBold"/>
                <a:ea typeface="Montserrat ExtraBold"/>
                <a:cs typeface="Montserrat ExtraBold"/>
                <a:sym typeface="Montserrat ExtraBold"/>
              </a:rPr>
              <a:t>Silver </a:t>
            </a:r>
            <a:r>
              <a:rPr b="0" i="0" lang="en" sz="1400" u="none" cap="none" strike="noStrike">
                <a:solidFill>
                  <a:schemeClr val="lt1"/>
                </a:solidFill>
                <a:latin typeface="Montserrat"/>
                <a:ea typeface="Montserrat"/>
                <a:cs typeface="Montserrat"/>
                <a:sym typeface="Montserrat"/>
              </a:rPr>
              <a:t>- Chapter 1 - Topic 4</a:t>
            </a:r>
            <a:endParaRPr b="1" i="0" sz="2400" u="none" cap="none" strike="noStrike">
              <a:solidFill>
                <a:srgbClr val="FFFFFF"/>
              </a:solidFill>
              <a:latin typeface="Raleway"/>
              <a:ea typeface="Raleway"/>
              <a:cs typeface="Raleway"/>
              <a:sym typeface="Raleway"/>
            </a:endParaRPr>
          </a:p>
        </p:txBody>
      </p:sp>
      <p:cxnSp>
        <p:nvCxnSpPr>
          <p:cNvPr id="75" name="Google Shape;75;p1"/>
          <p:cNvCxnSpPr/>
          <p:nvPr/>
        </p:nvCxnSpPr>
        <p:spPr>
          <a:xfrm flipH="1" rot="10800000">
            <a:off x="705500" y="3560750"/>
            <a:ext cx="7727400" cy="57300"/>
          </a:xfrm>
          <a:prstGeom prst="straightConnector1">
            <a:avLst/>
          </a:prstGeom>
          <a:noFill/>
          <a:ln cap="flat" cmpd="sng" w="9525">
            <a:solidFill>
              <a:srgbClr val="FFFFFF"/>
            </a:solidFill>
            <a:prstDash val="solid"/>
            <a:round/>
            <a:headEnd len="sm" w="sm" type="none"/>
            <a:tailEnd len="sm" w="sm" type="none"/>
          </a:ln>
        </p:spPr>
      </p:cxnSp>
      <p:pic>
        <p:nvPicPr>
          <p:cNvPr id="76" name="Google Shape;76;p1"/>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77" name="Google Shape;77;p1"/>
          <p:cNvSpPr txBox="1"/>
          <p:nvPr>
            <p:ph idx="4294967295"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83" name="Google Shape;83;p2"/>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84" name="Google Shape;84;p2"/>
          <p:cNvSpPr txBox="1"/>
          <p:nvPr/>
        </p:nvSpPr>
        <p:spPr>
          <a:xfrm>
            <a:off x="606600" y="3851525"/>
            <a:ext cx="7930800" cy="11283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Desain UI/UX yang bagus itu ada metode nya, lho! Yang disebut </a:t>
            </a:r>
            <a:r>
              <a:rPr b="1" i="0" lang="en" sz="1000" u="none" cap="none" strike="noStrike">
                <a:solidFill>
                  <a:schemeClr val="dk1"/>
                </a:solidFill>
                <a:latin typeface="Montserrat"/>
                <a:ea typeface="Montserrat"/>
                <a:cs typeface="Montserrat"/>
                <a:sym typeface="Montserrat"/>
              </a:rPr>
              <a:t>design thinking. </a:t>
            </a:r>
            <a:r>
              <a:rPr b="0" i="0" lang="en" sz="1000" u="none" cap="none" strike="noStrike">
                <a:solidFill>
                  <a:schemeClr val="dk1"/>
                </a:solidFill>
                <a:latin typeface="Montserrat"/>
                <a:ea typeface="Montserrat"/>
                <a:cs typeface="Montserrat"/>
                <a:sym typeface="Montserrat"/>
              </a:rPr>
              <a:t>Nah, pada topik keempat ini, kita bakal bahas tentang </a:t>
            </a:r>
            <a:r>
              <a:rPr b="1" i="0" lang="en" sz="1000" u="none" cap="none" strike="noStrike">
                <a:solidFill>
                  <a:schemeClr val="dk1"/>
                </a:solidFill>
                <a:latin typeface="Montserrat"/>
                <a:ea typeface="Montserrat"/>
                <a:cs typeface="Montserrat"/>
                <a:sym typeface="Montserrat"/>
              </a:rPr>
              <a:t>design thinking.</a:t>
            </a:r>
            <a:r>
              <a:rPr b="0" i="0" lang="en" sz="1000" u="none" cap="none" strike="noStrike">
                <a:solidFill>
                  <a:schemeClr val="dk1"/>
                </a:solidFill>
                <a:latin typeface="Montserrat"/>
                <a:ea typeface="Montserrat"/>
                <a:cs typeface="Montserrat"/>
                <a:sym typeface="Montserrat"/>
              </a:rPr>
              <a:t> Cus langsung aja~ </a:t>
            </a:r>
            <a:endParaRPr b="0" i="0" sz="1000" u="none" cap="none" strike="noStrike">
              <a:solidFill>
                <a:schemeClr val="dk1"/>
              </a:solidFill>
              <a:latin typeface="Montserrat"/>
              <a:ea typeface="Montserrat"/>
              <a:cs typeface="Montserrat"/>
              <a:sym typeface="Montserrat"/>
            </a:endParaRPr>
          </a:p>
        </p:txBody>
      </p:sp>
      <p:sp>
        <p:nvSpPr>
          <p:cNvPr id="85" name="Google Shape;85;p2"/>
          <p:cNvSpPr txBox="1"/>
          <p:nvPr/>
        </p:nvSpPr>
        <p:spPr>
          <a:xfrm>
            <a:off x="606600" y="3290550"/>
            <a:ext cx="7930800" cy="9795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Pada topik ketiga, kita udah belajar tentang </a:t>
            </a:r>
            <a:r>
              <a:rPr b="1" i="0" lang="en" sz="1000" u="none" cap="none" strike="noStrike">
                <a:solidFill>
                  <a:schemeClr val="dk1"/>
                </a:solidFill>
                <a:latin typeface="Montserrat"/>
                <a:ea typeface="Montserrat"/>
                <a:cs typeface="Montserrat"/>
                <a:sym typeface="Montserrat"/>
              </a:rPr>
              <a:t>pentingnya desain UI/UX dalam sebuah produk. </a:t>
            </a:r>
            <a:r>
              <a:rPr b="0" i="0" lang="en" sz="1000" u="none" cap="none" strike="noStrike">
                <a:solidFill>
                  <a:schemeClr val="dk1"/>
                </a:solidFill>
                <a:latin typeface="Montserrat"/>
                <a:ea typeface="Montserrat"/>
                <a:cs typeface="Montserrat"/>
                <a:sym typeface="Montserrat"/>
              </a:rPr>
              <a:t>Kalo desain UI/UX nya bagus, maka produknya akan bagus. Sebaliknya, kalo desain UI/UX buruk, maka produk yang dihasilkan juga akan buruk. </a:t>
            </a:r>
            <a:endParaRPr b="0" i="0" sz="1000" u="none" cap="none" strike="noStrike">
              <a:solidFill>
                <a:schemeClr val="dk1"/>
              </a:solidFill>
              <a:latin typeface="Montserrat"/>
              <a:ea typeface="Montserrat"/>
              <a:cs typeface="Montserrat"/>
              <a:sym typeface="Montserrat"/>
            </a:endParaRPr>
          </a:p>
        </p:txBody>
      </p:sp>
      <p:pic>
        <p:nvPicPr>
          <p:cNvPr id="86" name="Google Shape;86;p2"/>
          <p:cNvPicPr preferRelativeResize="0"/>
          <p:nvPr/>
        </p:nvPicPr>
        <p:blipFill rotWithShape="1">
          <a:blip r:embed="rId3">
            <a:alphaModFix/>
          </a:blip>
          <a:srcRect b="41386" l="0" r="0" t="0"/>
          <a:stretch/>
        </p:blipFill>
        <p:spPr>
          <a:xfrm>
            <a:off x="1808300" y="725725"/>
            <a:ext cx="5527398" cy="24694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3"/>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92" name="Google Shape;92;p3"/>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93" name="Google Shape;93;p3"/>
          <p:cNvSpPr txBox="1"/>
          <p:nvPr/>
        </p:nvSpPr>
        <p:spPr>
          <a:xfrm>
            <a:off x="685800" y="1043352"/>
            <a:ext cx="4114800" cy="1148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i="0" lang="en" sz="1600" u="none" cap="none" strike="noStrike">
                <a:solidFill>
                  <a:srgbClr val="743673"/>
                </a:solidFill>
                <a:highlight>
                  <a:schemeClr val="lt1"/>
                </a:highlight>
                <a:latin typeface="Montserrat"/>
                <a:ea typeface="Montserrat"/>
                <a:cs typeface="Montserrat"/>
                <a:sym typeface="Montserrat"/>
              </a:rPr>
              <a:t>Detailnya, kita bakal bahas hal-hal berikut ini: </a:t>
            </a:r>
            <a:endParaRPr b="1" i="0" sz="1600" u="none" cap="none" strike="noStrike">
              <a:solidFill>
                <a:srgbClr val="743673"/>
              </a:solidFill>
              <a:latin typeface="Montserrat"/>
              <a:ea typeface="Montserrat"/>
              <a:cs typeface="Montserrat"/>
              <a:sym typeface="Montserrat"/>
            </a:endParaRPr>
          </a:p>
        </p:txBody>
      </p:sp>
      <p:pic>
        <p:nvPicPr>
          <p:cNvPr id="94" name="Google Shape;94;p3"/>
          <p:cNvPicPr preferRelativeResize="0"/>
          <p:nvPr/>
        </p:nvPicPr>
        <p:blipFill rotWithShape="1">
          <a:blip r:embed="rId3">
            <a:alphaModFix/>
          </a:blip>
          <a:srcRect b="0" l="0" r="0" t="0"/>
          <a:stretch/>
        </p:blipFill>
        <p:spPr>
          <a:xfrm>
            <a:off x="5458996" y="1043350"/>
            <a:ext cx="2612779" cy="3757249"/>
          </a:xfrm>
          <a:prstGeom prst="rect">
            <a:avLst/>
          </a:prstGeom>
          <a:noFill/>
          <a:ln>
            <a:noFill/>
          </a:ln>
        </p:spPr>
      </p:pic>
      <p:grpSp>
        <p:nvGrpSpPr>
          <p:cNvPr id="95" name="Google Shape;95;p3"/>
          <p:cNvGrpSpPr/>
          <p:nvPr/>
        </p:nvGrpSpPr>
        <p:grpSpPr>
          <a:xfrm>
            <a:off x="685800" y="2020350"/>
            <a:ext cx="3951450" cy="1242398"/>
            <a:chOff x="4369875" y="1725793"/>
            <a:chExt cx="3951450" cy="1314706"/>
          </a:xfrm>
        </p:grpSpPr>
        <p:sp>
          <p:nvSpPr>
            <p:cNvPr id="96" name="Google Shape;96;p3"/>
            <p:cNvSpPr/>
            <p:nvPr/>
          </p:nvSpPr>
          <p:spPr>
            <a:xfrm>
              <a:off x="4369875" y="19584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97" name="Google Shape;97;p3"/>
            <p:cNvSpPr/>
            <p:nvPr/>
          </p:nvSpPr>
          <p:spPr>
            <a:xfrm>
              <a:off x="4369875" y="25253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98" name="Google Shape;98;p3"/>
            <p:cNvSpPr txBox="1"/>
            <p:nvPr/>
          </p:nvSpPr>
          <p:spPr>
            <a:xfrm>
              <a:off x="4853925" y="1725793"/>
              <a:ext cx="2883000" cy="7212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0"/>
                </a:spcBef>
                <a:spcAft>
                  <a:spcPts val="0"/>
                </a:spcAft>
                <a:buClr>
                  <a:schemeClr val="dk1"/>
                </a:buClr>
                <a:buSzPts val="1100"/>
                <a:buFont typeface="Arial"/>
                <a:buNone/>
              </a:pPr>
              <a:r>
                <a:rPr b="0" i="0" lang="en" sz="1200" u="none" cap="none" strike="noStrike">
                  <a:solidFill>
                    <a:schemeClr val="dk1"/>
                  </a:solidFill>
                  <a:latin typeface="Montserrat Medium"/>
                  <a:ea typeface="Montserrat Medium"/>
                  <a:cs typeface="Montserrat Medium"/>
                  <a:sym typeface="Montserrat Medium"/>
                </a:rPr>
                <a:t>Apa itu Design Thinking?</a:t>
              </a:r>
              <a:endParaRPr b="0" i="0" sz="1200" u="none" cap="none" strike="noStrike">
                <a:solidFill>
                  <a:srgbClr val="000000"/>
                </a:solidFill>
                <a:latin typeface="Montserrat Medium"/>
                <a:ea typeface="Montserrat Medium"/>
                <a:cs typeface="Montserrat Medium"/>
                <a:sym typeface="Montserrat Medium"/>
              </a:endParaRPr>
            </a:p>
          </p:txBody>
        </p:sp>
        <p:sp>
          <p:nvSpPr>
            <p:cNvPr id="99" name="Google Shape;99;p3"/>
            <p:cNvSpPr txBox="1"/>
            <p:nvPr/>
          </p:nvSpPr>
          <p:spPr>
            <a:xfrm>
              <a:off x="4853925" y="2319299"/>
              <a:ext cx="3467400" cy="721200"/>
            </a:xfrm>
            <a:prstGeom prst="rect">
              <a:avLst/>
            </a:prstGeom>
            <a:noFill/>
            <a:ln>
              <a:noFill/>
            </a:ln>
          </p:spPr>
          <p:txBody>
            <a:bodyPr anchorCtr="0" anchor="ctr" bIns="0" lIns="0" spcFirstLastPara="1" rIns="6925"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 sz="1200" u="none" cap="none" strike="noStrike">
                  <a:solidFill>
                    <a:schemeClr val="dk1"/>
                  </a:solidFill>
                  <a:latin typeface="Montserrat Medium"/>
                  <a:ea typeface="Montserrat Medium"/>
                  <a:cs typeface="Montserrat Medium"/>
                  <a:sym typeface="Montserrat Medium"/>
                </a:rPr>
                <a:t>Kegunaan Design Thinking</a:t>
              </a:r>
              <a:endParaRPr b="0" i="0" sz="1200" u="none" cap="none" strike="noStrike">
                <a:solidFill>
                  <a:schemeClr val="dk1"/>
                </a:solidFill>
                <a:latin typeface="Montserrat Medium"/>
                <a:ea typeface="Montserrat Medium"/>
                <a:cs typeface="Montserrat Medium"/>
                <a:sym typeface="Montserrat Medium"/>
              </a:endParaRPr>
            </a:p>
          </p:txBody>
        </p:sp>
      </p:grpSp>
      <p:sp>
        <p:nvSpPr>
          <p:cNvPr id="100" name="Google Shape;100;p3"/>
          <p:cNvSpPr/>
          <p:nvPr/>
        </p:nvSpPr>
        <p:spPr>
          <a:xfrm>
            <a:off x="685800" y="3334536"/>
            <a:ext cx="255900" cy="2418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01" name="Google Shape;101;p3"/>
          <p:cNvSpPr txBox="1"/>
          <p:nvPr/>
        </p:nvSpPr>
        <p:spPr>
          <a:xfrm>
            <a:off x="1087175" y="3270775"/>
            <a:ext cx="30000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Montserrat Medium"/>
                <a:ea typeface="Montserrat Medium"/>
                <a:cs typeface="Montserrat Medium"/>
                <a:sym typeface="Montserrat Medium"/>
              </a:rPr>
              <a:t>Lima Fase dalam Design Thinking</a:t>
            </a:r>
            <a:endParaRPr b="0" i="0" sz="1200" u="none" cap="none" strike="noStrike">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ph type="title"/>
          </p:nvPr>
        </p:nvSpPr>
        <p:spPr>
          <a:xfrm>
            <a:off x="914400" y="393850"/>
            <a:ext cx="7315200" cy="1908600"/>
          </a:xfrm>
          <a:prstGeom prst="rect">
            <a:avLst/>
          </a:prstGeom>
          <a:noFill/>
          <a:ln>
            <a:noFill/>
          </a:ln>
        </p:spPr>
        <p:txBody>
          <a:bodyPr anchorCtr="0" anchor="ctr" bIns="91425" lIns="91425" spcFirstLastPara="1" rIns="91425" wrap="square" tIns="91425">
            <a:spAutoFit/>
          </a:bodyPr>
          <a:lstStyle/>
          <a:p>
            <a:pPr indent="0" lvl="0" marL="0" rtl="0" algn="ctr">
              <a:lnSpc>
                <a:spcPct val="100000"/>
              </a:lnSpc>
              <a:spcBef>
                <a:spcPts val="0"/>
              </a:spcBef>
              <a:spcAft>
                <a:spcPts val="0"/>
              </a:spcAft>
              <a:buSzPts val="2400"/>
              <a:buNone/>
            </a:pPr>
            <a:r>
              <a:t/>
            </a:r>
            <a:endParaRPr sz="1400">
              <a:latin typeface="Montserrat"/>
              <a:ea typeface="Montserrat"/>
              <a:cs typeface="Montserrat"/>
              <a:sym typeface="Montserrat"/>
            </a:endParaRPr>
          </a:p>
          <a:p>
            <a:pPr indent="0" lvl="0" marL="0" rtl="0" algn="ctr">
              <a:lnSpc>
                <a:spcPct val="100000"/>
              </a:lnSpc>
              <a:spcBef>
                <a:spcPts val="0"/>
              </a:spcBef>
              <a:spcAft>
                <a:spcPts val="0"/>
              </a:spcAft>
              <a:buSzPts val="2400"/>
              <a:buNone/>
            </a:pPr>
            <a:r>
              <a:rPr lang="en" sz="1400">
                <a:latin typeface="Montserrat"/>
                <a:ea typeface="Montserrat"/>
                <a:cs typeface="Montserrat"/>
                <a:sym typeface="Montserrat"/>
              </a:rPr>
              <a:t>Kamu familiar kan sama istilah metode? Yap~ Metode itu cara yang ditempuh untuk mencapai tujuan tertentu. Kalo dalam penelitian, kita mengenal yang namanya metode kualitatif dan kuantitatif. </a:t>
            </a:r>
            <a:endParaRPr sz="1400">
              <a:latin typeface="Montserrat"/>
              <a:ea typeface="Montserrat"/>
              <a:cs typeface="Montserrat"/>
              <a:sym typeface="Montserrat"/>
            </a:endParaRPr>
          </a:p>
          <a:p>
            <a:pPr indent="0" lvl="0" marL="0" rtl="0" algn="ctr">
              <a:lnSpc>
                <a:spcPct val="100000"/>
              </a:lnSpc>
              <a:spcBef>
                <a:spcPts val="0"/>
              </a:spcBef>
              <a:spcAft>
                <a:spcPts val="0"/>
              </a:spcAft>
              <a:buSzPts val="2400"/>
              <a:buNone/>
            </a:pPr>
            <a:r>
              <a:t/>
            </a:r>
            <a:endParaRPr sz="1400">
              <a:latin typeface="Montserrat"/>
              <a:ea typeface="Montserrat"/>
              <a:cs typeface="Montserrat"/>
              <a:sym typeface="Montserrat"/>
            </a:endParaRPr>
          </a:p>
          <a:p>
            <a:pPr indent="0" lvl="0" marL="0" rtl="0" algn="ctr">
              <a:lnSpc>
                <a:spcPct val="100000"/>
              </a:lnSpc>
              <a:spcBef>
                <a:spcPts val="0"/>
              </a:spcBef>
              <a:spcAft>
                <a:spcPts val="0"/>
              </a:spcAft>
              <a:buSzPts val="2400"/>
              <a:buNone/>
            </a:pPr>
            <a:r>
              <a:rPr lang="en" sz="1400">
                <a:latin typeface="Montserrat"/>
                <a:ea typeface="Montserrat"/>
                <a:cs typeface="Montserrat"/>
                <a:sym typeface="Montserrat"/>
              </a:rPr>
              <a:t>Dalam desain produk, ada metodenya tersendiri. Yang disebut </a:t>
            </a:r>
            <a:r>
              <a:rPr lang="en" sz="1400">
                <a:solidFill>
                  <a:schemeClr val="accent1"/>
                </a:solidFill>
                <a:latin typeface="Montserrat"/>
                <a:ea typeface="Montserrat"/>
                <a:cs typeface="Montserrat"/>
                <a:sym typeface="Montserrat"/>
              </a:rPr>
              <a:t>Design Thinking.</a:t>
            </a:r>
            <a:endParaRPr sz="1400">
              <a:solidFill>
                <a:schemeClr val="accent1"/>
              </a:solidFill>
              <a:latin typeface="Montserrat"/>
              <a:ea typeface="Montserrat"/>
              <a:cs typeface="Montserrat"/>
              <a:sym typeface="Montserrat"/>
            </a:endParaRPr>
          </a:p>
          <a:p>
            <a:pPr indent="0" lvl="0" marL="0" rtl="0" algn="ctr">
              <a:lnSpc>
                <a:spcPct val="100000"/>
              </a:lnSpc>
              <a:spcBef>
                <a:spcPts val="0"/>
              </a:spcBef>
              <a:spcAft>
                <a:spcPts val="0"/>
              </a:spcAft>
              <a:buSzPts val="2400"/>
              <a:buNone/>
            </a:pPr>
            <a:r>
              <a:t/>
            </a:r>
            <a:endParaRPr sz="1400">
              <a:solidFill>
                <a:schemeClr val="accent1"/>
              </a:solidFill>
              <a:latin typeface="Montserrat"/>
              <a:ea typeface="Montserrat"/>
              <a:cs typeface="Montserrat"/>
              <a:sym typeface="Montserrat"/>
            </a:endParaRPr>
          </a:p>
        </p:txBody>
      </p:sp>
      <p:sp>
        <p:nvSpPr>
          <p:cNvPr id="107" name="Google Shape;107;p4"/>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108" name="Google Shape;108;p4"/>
          <p:cNvPicPr preferRelativeResize="0"/>
          <p:nvPr/>
        </p:nvPicPr>
        <p:blipFill rotWithShape="1">
          <a:blip r:embed="rId3">
            <a:alphaModFix/>
          </a:blip>
          <a:srcRect b="0" l="0" r="0" t="0"/>
          <a:stretch/>
        </p:blipFill>
        <p:spPr>
          <a:xfrm>
            <a:off x="3132075" y="2228625"/>
            <a:ext cx="2465274" cy="29148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5"/>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14" name="Google Shape;114;p5"/>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Apa itu Design Thinking?</a:t>
            </a:r>
            <a:endParaRPr>
              <a:latin typeface="Montserrat"/>
              <a:ea typeface="Montserrat"/>
              <a:cs typeface="Montserrat"/>
              <a:sym typeface="Montserrat"/>
            </a:endParaRPr>
          </a:p>
        </p:txBody>
      </p:sp>
      <p:sp>
        <p:nvSpPr>
          <p:cNvPr id="115" name="Google Shape;115;p5"/>
          <p:cNvSpPr txBox="1"/>
          <p:nvPr/>
        </p:nvSpPr>
        <p:spPr>
          <a:xfrm>
            <a:off x="685800" y="1260000"/>
            <a:ext cx="4259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i="0" lang="en" sz="1600" u="none" cap="none" strike="noStrike">
                <a:solidFill>
                  <a:srgbClr val="743673"/>
                </a:solidFill>
                <a:highlight>
                  <a:schemeClr val="lt1"/>
                </a:highlight>
                <a:latin typeface="Montserrat"/>
                <a:ea typeface="Montserrat"/>
                <a:cs typeface="Montserrat"/>
                <a:sym typeface="Montserrat"/>
              </a:rPr>
              <a:t>Apa sih Design Thinking itu?</a:t>
            </a:r>
            <a:endParaRPr b="1" i="0" sz="1600" u="none" cap="none" strike="noStrike">
              <a:solidFill>
                <a:srgbClr val="743673"/>
              </a:solidFill>
              <a:highlight>
                <a:schemeClr val="lt1"/>
              </a:highlight>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Kayak yang udah kita bahas sebelumnya, </a:t>
            </a:r>
            <a:r>
              <a:rPr b="1" i="0" lang="en" sz="1000" u="none" cap="none" strike="noStrike">
                <a:solidFill>
                  <a:schemeClr val="dk1"/>
                </a:solidFill>
                <a:latin typeface="Montserrat"/>
                <a:ea typeface="Montserrat"/>
                <a:cs typeface="Montserrat"/>
                <a:sym typeface="Montserrat"/>
              </a:rPr>
              <a:t>design thinking itu metode atau cara-cara yang ditempuh ketika mendesain produk.</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1" i="0" lang="en" sz="1000" u="none" cap="none" strike="noStrike">
                <a:solidFill>
                  <a:srgbClr val="F2AB2F"/>
                </a:solidFill>
                <a:latin typeface="Montserrat"/>
                <a:ea typeface="Montserrat"/>
                <a:cs typeface="Montserrat"/>
                <a:sym typeface="Montserrat"/>
              </a:rPr>
              <a:t>Biar enak dipahami, coba kita pakai analogi martabak yaa~</a:t>
            </a:r>
            <a:endParaRPr b="1" i="0" sz="1000" u="none" cap="none" strike="noStrike">
              <a:solidFill>
                <a:srgbClr val="F2AB2F"/>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Misal, kamu ingin membuat sebuah adonan martabak rasa keju. Untuk memperoleh martabak yang enak, tentu ada proses-proses yang harus kamu tempuh. Mulai dari menyiapkan adonan, memanaskan wajan, memasak adonan, mengangkat adonan dari wajan, mengoleskan mentega, memarut keju, dan menghidangkannya.</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Step by step kayak gini yang disebut</a:t>
            </a:r>
            <a:r>
              <a:rPr b="1" i="0" lang="en" sz="1000" u="none" cap="none" strike="noStrike">
                <a:solidFill>
                  <a:schemeClr val="dk1"/>
                </a:solidFill>
                <a:latin typeface="Montserrat"/>
                <a:ea typeface="Montserrat"/>
                <a:cs typeface="Montserrat"/>
                <a:sym typeface="Montserrat"/>
              </a:rPr>
              <a:t> design thinking dalam mendesain suatu produk.</a:t>
            </a:r>
            <a:endParaRPr b="0" i="0" sz="1000" u="none" cap="none" strike="noStrike">
              <a:solidFill>
                <a:schemeClr val="dk1"/>
              </a:solidFill>
              <a:latin typeface="Montserrat"/>
              <a:ea typeface="Montserrat"/>
              <a:cs typeface="Montserrat"/>
              <a:sym typeface="Montserrat"/>
            </a:endParaRPr>
          </a:p>
        </p:txBody>
      </p:sp>
      <p:pic>
        <p:nvPicPr>
          <p:cNvPr id="116" name="Google Shape;116;p5">
            <a:hlinkClick r:id="rId3"/>
          </p:cNvPr>
          <p:cNvPicPr preferRelativeResize="0"/>
          <p:nvPr/>
        </p:nvPicPr>
        <p:blipFill rotWithShape="1">
          <a:blip r:embed="rId4">
            <a:alphaModFix/>
          </a:blip>
          <a:srcRect b="0" l="0" r="0" t="0"/>
          <a:stretch/>
        </p:blipFill>
        <p:spPr>
          <a:xfrm flipH="1">
            <a:off x="5681878" y="917100"/>
            <a:ext cx="2658800" cy="388620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6"/>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22" name="Google Shape;122;p6"/>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Apa itu Design Thinking?</a:t>
            </a:r>
            <a:endParaRPr>
              <a:latin typeface="Montserrat"/>
              <a:ea typeface="Montserrat"/>
              <a:cs typeface="Montserrat"/>
              <a:sym typeface="Montserrat"/>
            </a:endParaRPr>
          </a:p>
        </p:txBody>
      </p:sp>
      <p:sp>
        <p:nvSpPr>
          <p:cNvPr id="123" name="Google Shape;123;p6"/>
          <p:cNvSpPr txBox="1"/>
          <p:nvPr/>
        </p:nvSpPr>
        <p:spPr>
          <a:xfrm>
            <a:off x="685800" y="1600200"/>
            <a:ext cx="3951300" cy="18057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Lengkapnya, </a:t>
            </a:r>
            <a:r>
              <a:rPr b="1" i="0" lang="en" sz="1000" u="none" cap="none" strike="noStrike">
                <a:solidFill>
                  <a:schemeClr val="dk1"/>
                </a:solidFill>
                <a:latin typeface="Montserrat"/>
                <a:ea typeface="Montserrat"/>
                <a:cs typeface="Montserrat"/>
                <a:sym typeface="Montserrat"/>
              </a:rPr>
              <a:t>design thinking adalah serangkaian proses kognitif, strategis, dan praktis dalam desain suatu produk. Digunakan untuk memecahkan masalah dan menciptakan solusi inovatif dengan memahami pengguna dan kebutuhannya.</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1" i="0" lang="en" sz="1000" u="none" cap="none" strike="noStrike">
                <a:solidFill>
                  <a:schemeClr val="dk1"/>
                </a:solidFill>
                <a:latin typeface="Montserrat"/>
                <a:ea typeface="Montserrat"/>
                <a:cs typeface="Montserrat"/>
                <a:sym typeface="Montserrat"/>
              </a:rPr>
              <a:t>Design thinking adalah kunci dalam desain suatu produk.</a:t>
            </a:r>
            <a:r>
              <a:rPr b="0" i="0" lang="en" sz="1000" u="none" cap="none" strike="noStrike">
                <a:solidFill>
                  <a:schemeClr val="dk1"/>
                </a:solidFill>
                <a:latin typeface="Montserrat"/>
                <a:ea typeface="Montserrat"/>
                <a:cs typeface="Montserrat"/>
                <a:sym typeface="Montserrat"/>
              </a:rPr>
              <a:t> Jika seorang desainer produk tidak berorientasi pada design thinking, maka produk yang dihasilkan akan cenderung buruk.</a:t>
            </a:r>
            <a:endParaRPr b="0" i="0" sz="1000" u="none" cap="none" strike="noStrike">
              <a:solidFill>
                <a:schemeClr val="dk1"/>
              </a:solidFill>
              <a:latin typeface="Montserrat"/>
              <a:ea typeface="Montserrat"/>
              <a:cs typeface="Montserrat"/>
              <a:sym typeface="Montserrat"/>
            </a:endParaRPr>
          </a:p>
        </p:txBody>
      </p:sp>
      <p:pic>
        <p:nvPicPr>
          <p:cNvPr id="124" name="Google Shape;124;p6"/>
          <p:cNvPicPr preferRelativeResize="0"/>
          <p:nvPr/>
        </p:nvPicPr>
        <p:blipFill rotWithShape="1">
          <a:blip r:embed="rId3">
            <a:alphaModFix/>
          </a:blip>
          <a:srcRect b="0" l="0" r="0" t="0"/>
          <a:stretch/>
        </p:blipFill>
        <p:spPr>
          <a:xfrm>
            <a:off x="4772400" y="1321225"/>
            <a:ext cx="3844199" cy="30652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7"/>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30" name="Google Shape;130;p7"/>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Kegunaan Design Thinking</a:t>
            </a:r>
            <a:endParaRPr>
              <a:latin typeface="Montserrat"/>
              <a:ea typeface="Montserrat"/>
              <a:cs typeface="Montserrat"/>
              <a:sym typeface="Montserrat"/>
            </a:endParaRPr>
          </a:p>
        </p:txBody>
      </p:sp>
      <p:sp>
        <p:nvSpPr>
          <p:cNvPr id="131" name="Google Shape;131;p7"/>
          <p:cNvSpPr txBox="1"/>
          <p:nvPr/>
        </p:nvSpPr>
        <p:spPr>
          <a:xfrm>
            <a:off x="685800" y="1260000"/>
            <a:ext cx="4259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i="0" lang="en" sz="1600" u="none" cap="none" strike="noStrike">
                <a:solidFill>
                  <a:srgbClr val="743673"/>
                </a:solidFill>
                <a:highlight>
                  <a:schemeClr val="lt1"/>
                </a:highlight>
                <a:latin typeface="Montserrat"/>
                <a:ea typeface="Montserrat"/>
                <a:cs typeface="Montserrat"/>
                <a:sym typeface="Montserrat"/>
              </a:rPr>
              <a:t>Design Thinking adalah Koentji. </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1" i="0" lang="en" sz="1200" u="none" cap="none" strike="noStrike">
                <a:solidFill>
                  <a:schemeClr val="dk1"/>
                </a:solidFill>
                <a:latin typeface="Montserrat"/>
                <a:ea typeface="Montserrat"/>
                <a:cs typeface="Montserrat"/>
                <a:sym typeface="Montserrat"/>
              </a:rPr>
              <a:t>Penerapan design thinking memiliki beberapa kegunaan, yaitu:</a:t>
            </a:r>
            <a:endParaRPr b="1" i="0" sz="1200" u="none" cap="none" strike="noStrike">
              <a:solidFill>
                <a:schemeClr val="dk1"/>
              </a:solidFill>
              <a:latin typeface="Montserrat"/>
              <a:ea typeface="Montserrat"/>
              <a:cs typeface="Montserrat"/>
              <a:sym typeface="Montserrat"/>
            </a:endParaRPr>
          </a:p>
          <a:p>
            <a:pPr indent="-311150" lvl="0" marL="457200" marR="0" rtl="0" algn="just">
              <a:lnSpc>
                <a:spcPct val="115000"/>
              </a:lnSpc>
              <a:spcBef>
                <a:spcPts val="1000"/>
              </a:spcBef>
              <a:spcAft>
                <a:spcPts val="0"/>
              </a:spcAft>
              <a:buClr>
                <a:schemeClr val="dk1"/>
              </a:buClr>
              <a:buSzPts val="1300"/>
              <a:buFont typeface="Montserrat"/>
              <a:buAutoNum type="arabicPeriod"/>
            </a:pPr>
            <a:r>
              <a:rPr b="0" i="0" lang="en" sz="1300" u="none" cap="none" strike="noStrike">
                <a:solidFill>
                  <a:schemeClr val="dk1"/>
                </a:solidFill>
                <a:latin typeface="Montserrat"/>
                <a:ea typeface="Montserrat"/>
                <a:cs typeface="Montserrat"/>
                <a:sym typeface="Montserrat"/>
              </a:rPr>
              <a:t>Memahami kebutuhan pengguna.</a:t>
            </a:r>
            <a:endParaRPr b="0" i="0" sz="1300" u="none" cap="none" strike="noStrike">
              <a:solidFill>
                <a:schemeClr val="dk1"/>
              </a:solidFill>
              <a:latin typeface="Montserrat"/>
              <a:ea typeface="Montserrat"/>
              <a:cs typeface="Montserrat"/>
              <a:sym typeface="Montserrat"/>
            </a:endParaRPr>
          </a:p>
          <a:p>
            <a:pPr indent="-311150" lvl="0" marL="457200" marR="0" rtl="0" algn="just">
              <a:lnSpc>
                <a:spcPct val="115000"/>
              </a:lnSpc>
              <a:spcBef>
                <a:spcPts val="1000"/>
              </a:spcBef>
              <a:spcAft>
                <a:spcPts val="0"/>
              </a:spcAft>
              <a:buClr>
                <a:schemeClr val="dk1"/>
              </a:buClr>
              <a:buSzPts val="1300"/>
              <a:buFont typeface="Montserrat"/>
              <a:buAutoNum type="arabicPeriod"/>
            </a:pPr>
            <a:r>
              <a:rPr b="0" i="0" lang="en" sz="1300" u="none" cap="none" strike="noStrike">
                <a:solidFill>
                  <a:schemeClr val="dk1"/>
                </a:solidFill>
                <a:latin typeface="Montserrat"/>
                <a:ea typeface="Montserrat"/>
                <a:cs typeface="Montserrat"/>
                <a:sym typeface="Montserrat"/>
              </a:rPr>
              <a:t>Menghasilkan produk yang indah dipandang dan mudah digunakan.</a:t>
            </a:r>
            <a:endParaRPr b="0" i="0" sz="1300" u="none" cap="none" strike="noStrike">
              <a:solidFill>
                <a:schemeClr val="dk1"/>
              </a:solidFill>
              <a:latin typeface="Montserrat"/>
              <a:ea typeface="Montserrat"/>
              <a:cs typeface="Montserrat"/>
              <a:sym typeface="Montserrat"/>
            </a:endParaRPr>
          </a:p>
          <a:p>
            <a:pPr indent="-311150" lvl="0" marL="457200" marR="0" rtl="0" algn="just">
              <a:lnSpc>
                <a:spcPct val="115000"/>
              </a:lnSpc>
              <a:spcBef>
                <a:spcPts val="1000"/>
              </a:spcBef>
              <a:spcAft>
                <a:spcPts val="0"/>
              </a:spcAft>
              <a:buClr>
                <a:schemeClr val="dk1"/>
              </a:buClr>
              <a:buSzPts val="1300"/>
              <a:buFont typeface="Montserrat"/>
              <a:buAutoNum type="arabicPeriod"/>
            </a:pPr>
            <a:r>
              <a:rPr b="0" i="0" lang="en" sz="1300" u="none" cap="none" strike="noStrike">
                <a:solidFill>
                  <a:schemeClr val="dk1"/>
                </a:solidFill>
                <a:latin typeface="Montserrat"/>
                <a:ea typeface="Montserrat"/>
                <a:cs typeface="Montserrat"/>
                <a:sym typeface="Montserrat"/>
              </a:rPr>
              <a:t>Menghasilkan produk yang dapat menjadi solusi permasalahan manusia.</a:t>
            </a:r>
            <a:endParaRPr b="0" i="0" sz="1300" u="none" cap="none" strike="noStrike">
              <a:solidFill>
                <a:schemeClr val="dk1"/>
              </a:solidFill>
              <a:latin typeface="Montserrat"/>
              <a:ea typeface="Montserrat"/>
              <a:cs typeface="Montserrat"/>
              <a:sym typeface="Montserrat"/>
            </a:endParaRPr>
          </a:p>
          <a:p>
            <a:pPr indent="-311150" lvl="0" marL="457200" marR="0" rtl="0" algn="just">
              <a:lnSpc>
                <a:spcPct val="115000"/>
              </a:lnSpc>
              <a:spcBef>
                <a:spcPts val="1000"/>
              </a:spcBef>
              <a:spcAft>
                <a:spcPts val="1000"/>
              </a:spcAft>
              <a:buClr>
                <a:schemeClr val="dk1"/>
              </a:buClr>
              <a:buSzPts val="1300"/>
              <a:buFont typeface="Montserrat"/>
              <a:buAutoNum type="arabicPeriod"/>
            </a:pPr>
            <a:r>
              <a:rPr b="0" i="0" lang="en" sz="1300" u="none" cap="none" strike="noStrike">
                <a:solidFill>
                  <a:schemeClr val="dk1"/>
                </a:solidFill>
                <a:latin typeface="Montserrat"/>
                <a:ea typeface="Montserrat"/>
                <a:cs typeface="Montserrat"/>
                <a:sym typeface="Montserrat"/>
              </a:rPr>
              <a:t>Mengurangi resiko penolakan produk oleh pengguna.</a:t>
            </a:r>
            <a:endParaRPr b="0" i="0" sz="1300" u="none" cap="none" strike="noStrike">
              <a:solidFill>
                <a:schemeClr val="dk1"/>
              </a:solidFill>
              <a:latin typeface="Montserrat"/>
              <a:ea typeface="Montserrat"/>
              <a:cs typeface="Montserrat"/>
              <a:sym typeface="Montserrat"/>
            </a:endParaRPr>
          </a:p>
        </p:txBody>
      </p:sp>
      <p:pic>
        <p:nvPicPr>
          <p:cNvPr id="132" name="Google Shape;132;p7"/>
          <p:cNvPicPr preferRelativeResize="0"/>
          <p:nvPr/>
        </p:nvPicPr>
        <p:blipFill rotWithShape="1">
          <a:blip r:embed="rId3">
            <a:alphaModFix/>
          </a:blip>
          <a:srcRect b="0" l="0" r="0" t="0"/>
          <a:stretch/>
        </p:blipFill>
        <p:spPr>
          <a:xfrm>
            <a:off x="5281196" y="879025"/>
            <a:ext cx="2551430" cy="38861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8"/>
          <p:cNvSpPr txBox="1"/>
          <p:nvPr>
            <p:ph type="title"/>
          </p:nvPr>
        </p:nvSpPr>
        <p:spPr>
          <a:xfrm>
            <a:off x="914400" y="976375"/>
            <a:ext cx="7315200" cy="400200"/>
          </a:xfrm>
          <a:prstGeom prst="rect">
            <a:avLst/>
          </a:prstGeom>
          <a:noFill/>
          <a:ln>
            <a:noFill/>
          </a:ln>
        </p:spPr>
        <p:txBody>
          <a:bodyPr anchorCtr="0" anchor="ctr" bIns="91425" lIns="91425" spcFirstLastPara="1" rIns="91425" wrap="square" tIns="91425">
            <a:spAutoFit/>
          </a:bodyPr>
          <a:lstStyle/>
          <a:p>
            <a:pPr indent="0" lvl="0" marL="0" rtl="0" algn="ctr">
              <a:lnSpc>
                <a:spcPct val="100000"/>
              </a:lnSpc>
              <a:spcBef>
                <a:spcPts val="0"/>
              </a:spcBef>
              <a:spcAft>
                <a:spcPts val="0"/>
              </a:spcAft>
              <a:buSzPts val="2400"/>
              <a:buNone/>
            </a:pPr>
            <a:r>
              <a:rPr lang="en" sz="1400">
                <a:latin typeface="Montserrat"/>
                <a:ea typeface="Montserrat"/>
                <a:cs typeface="Montserrat"/>
                <a:sym typeface="Montserrat"/>
              </a:rPr>
              <a:t>Design thinking memiliki</a:t>
            </a:r>
            <a:r>
              <a:rPr lang="en" sz="1400">
                <a:solidFill>
                  <a:srgbClr val="F2AB2F"/>
                </a:solidFill>
                <a:latin typeface="Montserrat"/>
                <a:ea typeface="Montserrat"/>
                <a:cs typeface="Montserrat"/>
                <a:sym typeface="Montserrat"/>
              </a:rPr>
              <a:t> lima fase</a:t>
            </a:r>
            <a:r>
              <a:rPr lang="en" sz="1400">
                <a:latin typeface="Montserrat"/>
                <a:ea typeface="Montserrat"/>
                <a:cs typeface="Montserrat"/>
                <a:sym typeface="Montserrat"/>
              </a:rPr>
              <a:t> sebagai berikut~</a:t>
            </a:r>
            <a:endParaRPr sz="1400">
              <a:solidFill>
                <a:schemeClr val="accent1"/>
              </a:solidFill>
              <a:latin typeface="Montserrat"/>
              <a:ea typeface="Montserrat"/>
              <a:cs typeface="Montserrat"/>
              <a:sym typeface="Montserrat"/>
            </a:endParaRPr>
          </a:p>
        </p:txBody>
      </p:sp>
      <p:sp>
        <p:nvSpPr>
          <p:cNvPr id="138" name="Google Shape;138;p8"/>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139" name="Google Shape;139;p8"/>
          <p:cNvPicPr preferRelativeResize="0"/>
          <p:nvPr/>
        </p:nvPicPr>
        <p:blipFill rotWithShape="1">
          <a:blip r:embed="rId3">
            <a:alphaModFix/>
          </a:blip>
          <a:srcRect b="0" l="0" r="0" t="0"/>
          <a:stretch/>
        </p:blipFill>
        <p:spPr>
          <a:xfrm>
            <a:off x="2470657" y="1376575"/>
            <a:ext cx="4202685" cy="37347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9"/>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45" name="Google Shape;145;p9"/>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Lima Fase dalam Design Thinking</a:t>
            </a:r>
            <a:endParaRPr>
              <a:latin typeface="Montserrat"/>
              <a:ea typeface="Montserrat"/>
              <a:cs typeface="Montserrat"/>
              <a:sym typeface="Montserrat"/>
            </a:endParaRPr>
          </a:p>
        </p:txBody>
      </p:sp>
      <p:sp>
        <p:nvSpPr>
          <p:cNvPr id="146" name="Google Shape;146;p9"/>
          <p:cNvSpPr txBox="1"/>
          <p:nvPr/>
        </p:nvSpPr>
        <p:spPr>
          <a:xfrm>
            <a:off x="685800" y="1260000"/>
            <a:ext cx="45072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i="0" lang="en" sz="1600" u="none" cap="none" strike="noStrike">
                <a:solidFill>
                  <a:srgbClr val="743673"/>
                </a:solidFill>
                <a:highlight>
                  <a:schemeClr val="lt1"/>
                </a:highlight>
                <a:latin typeface="Montserrat"/>
                <a:ea typeface="Montserrat"/>
                <a:cs typeface="Montserrat"/>
                <a:sym typeface="Montserrat"/>
              </a:rPr>
              <a:t>Berikut lima fase dalam design thinking:</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Medium"/>
              <a:ea typeface="Montserrat Medium"/>
              <a:cs typeface="Montserrat Medium"/>
              <a:sym typeface="Montserrat Medium"/>
            </a:endParaRPr>
          </a:p>
          <a:p>
            <a:pPr indent="-304800" lvl="0" marL="457200" marR="0" rtl="0" algn="just">
              <a:lnSpc>
                <a:spcPct val="115000"/>
              </a:lnSpc>
              <a:spcBef>
                <a:spcPts val="0"/>
              </a:spcBef>
              <a:spcAft>
                <a:spcPts val="0"/>
              </a:spcAft>
              <a:buClr>
                <a:schemeClr val="dk1"/>
              </a:buClr>
              <a:buSzPts val="1200"/>
              <a:buFont typeface="Montserrat Medium"/>
              <a:buAutoNum type="arabicPeriod"/>
            </a:pPr>
            <a:r>
              <a:rPr b="0" i="0" lang="en" sz="1200" u="none" cap="none" strike="noStrike">
                <a:solidFill>
                  <a:schemeClr val="dk1"/>
                </a:solidFill>
                <a:latin typeface="Montserrat Medium"/>
                <a:ea typeface="Montserrat Medium"/>
                <a:cs typeface="Montserrat Medium"/>
                <a:sym typeface="Montserrat Medium"/>
              </a:rPr>
              <a:t>Emphatise</a:t>
            </a:r>
            <a:endParaRPr b="0" i="0" sz="1200" u="none" cap="none" strike="noStrike">
              <a:solidFill>
                <a:schemeClr val="dk1"/>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chemeClr val="dk1"/>
              </a:buClr>
              <a:buSzPts val="1200"/>
              <a:buFont typeface="Montserrat Medium"/>
              <a:buAutoNum type="arabicPeriod"/>
            </a:pPr>
            <a:r>
              <a:rPr b="0" i="0" lang="en" sz="1200" u="none" cap="none" strike="noStrike">
                <a:solidFill>
                  <a:schemeClr val="dk1"/>
                </a:solidFill>
                <a:latin typeface="Montserrat Medium"/>
                <a:ea typeface="Montserrat Medium"/>
                <a:cs typeface="Montserrat Medium"/>
                <a:sym typeface="Montserrat Medium"/>
              </a:rPr>
              <a:t>Define</a:t>
            </a:r>
            <a:endParaRPr b="0" i="0" sz="1200" u="none" cap="none" strike="noStrike">
              <a:solidFill>
                <a:schemeClr val="dk1"/>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chemeClr val="dk1"/>
              </a:buClr>
              <a:buSzPts val="1200"/>
              <a:buFont typeface="Montserrat Medium"/>
              <a:buAutoNum type="arabicPeriod"/>
            </a:pPr>
            <a:r>
              <a:rPr b="0" i="0" lang="en" sz="1200" u="none" cap="none" strike="noStrike">
                <a:solidFill>
                  <a:schemeClr val="dk1"/>
                </a:solidFill>
                <a:latin typeface="Montserrat Medium"/>
                <a:ea typeface="Montserrat Medium"/>
                <a:cs typeface="Montserrat Medium"/>
                <a:sym typeface="Montserrat Medium"/>
              </a:rPr>
              <a:t>Ideate</a:t>
            </a:r>
            <a:endParaRPr b="0" i="0" sz="1200" u="none" cap="none" strike="noStrike">
              <a:solidFill>
                <a:schemeClr val="dk1"/>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chemeClr val="dk1"/>
              </a:buClr>
              <a:buSzPts val="1200"/>
              <a:buFont typeface="Montserrat Medium"/>
              <a:buAutoNum type="arabicPeriod"/>
            </a:pPr>
            <a:r>
              <a:rPr b="0" i="0" lang="en" sz="1200" u="none" cap="none" strike="noStrike">
                <a:solidFill>
                  <a:schemeClr val="dk1"/>
                </a:solidFill>
                <a:latin typeface="Montserrat Medium"/>
                <a:ea typeface="Montserrat Medium"/>
                <a:cs typeface="Montserrat Medium"/>
                <a:sym typeface="Montserrat Medium"/>
              </a:rPr>
              <a:t>Prototype</a:t>
            </a:r>
            <a:endParaRPr b="0" i="0" sz="1200" u="none" cap="none" strike="noStrike">
              <a:solidFill>
                <a:schemeClr val="dk1"/>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chemeClr val="dk1"/>
              </a:buClr>
              <a:buSzPts val="1200"/>
              <a:buFont typeface="Montserrat Medium"/>
              <a:buAutoNum type="arabicPeriod"/>
            </a:pPr>
            <a:r>
              <a:rPr b="0" i="0" lang="en" sz="1200" u="none" cap="none" strike="noStrike">
                <a:solidFill>
                  <a:schemeClr val="dk1"/>
                </a:solidFill>
                <a:latin typeface="Montserrat Medium"/>
                <a:ea typeface="Montserrat Medium"/>
                <a:cs typeface="Montserrat Medium"/>
                <a:sym typeface="Montserrat Medium"/>
              </a:rPr>
              <a:t>Test</a:t>
            </a:r>
            <a:endParaRPr b="0" i="0" sz="1200" u="none" cap="none" strike="noStrike">
              <a:solidFill>
                <a:schemeClr val="dk1"/>
              </a:solidFill>
              <a:latin typeface="Montserrat Medium"/>
              <a:ea typeface="Montserrat Medium"/>
              <a:cs typeface="Montserrat Medium"/>
              <a:sym typeface="Montserrat Medium"/>
            </a:endParaRPr>
          </a:p>
          <a:p>
            <a:pPr indent="0" lvl="0" marL="457200" marR="0" rtl="0" algn="just">
              <a:lnSpc>
                <a:spcPct val="115000"/>
              </a:lnSpc>
              <a:spcBef>
                <a:spcPts val="1000"/>
              </a:spcBef>
              <a:spcAft>
                <a:spcPts val="0"/>
              </a:spcAft>
              <a:buClr>
                <a:srgbClr val="000000"/>
              </a:buClr>
              <a:buSzPts val="800"/>
              <a:buFont typeface="Arial"/>
              <a:buNone/>
            </a:pPr>
            <a:r>
              <a:t/>
            </a:r>
            <a:endParaRPr b="0" i="0" sz="800" u="none" cap="none" strike="noStrike">
              <a:solidFill>
                <a:schemeClr val="dk1"/>
              </a:solidFill>
              <a:latin typeface="Montserrat Medium"/>
              <a:ea typeface="Montserrat Medium"/>
              <a:cs typeface="Montserrat Medium"/>
              <a:sym typeface="Montserrat Medium"/>
            </a:endParaRPr>
          </a:p>
          <a:p>
            <a:pPr indent="0" lvl="0" marL="0" marR="0" rtl="0" algn="just">
              <a:lnSpc>
                <a:spcPct val="115000"/>
              </a:lnSpc>
              <a:spcBef>
                <a:spcPts val="1000"/>
              </a:spcBef>
              <a:spcAft>
                <a:spcPts val="1000"/>
              </a:spcAft>
              <a:buClr>
                <a:srgbClr val="000000"/>
              </a:buClr>
              <a:buSzPts val="1000"/>
              <a:buFont typeface="Arial"/>
              <a:buNone/>
            </a:pPr>
            <a:r>
              <a:rPr b="0" i="0" lang="en" sz="1000" u="none" cap="none" strike="noStrike">
                <a:solidFill>
                  <a:schemeClr val="dk1"/>
                </a:solidFill>
                <a:latin typeface="Montserrat Medium"/>
                <a:ea typeface="Montserrat Medium"/>
                <a:cs typeface="Montserrat Medium"/>
                <a:sym typeface="Montserrat Medium"/>
              </a:rPr>
              <a:t>Kita bahas satu-persatu, yuk! :)</a:t>
            </a:r>
            <a:endParaRPr b="0" i="0" sz="1000" u="none" cap="none" strike="noStrike">
              <a:solidFill>
                <a:schemeClr val="dk1"/>
              </a:solidFill>
              <a:latin typeface="Montserrat Medium"/>
              <a:ea typeface="Montserrat Medium"/>
              <a:cs typeface="Montserrat Medium"/>
              <a:sym typeface="Montserrat Medium"/>
            </a:endParaRPr>
          </a:p>
        </p:txBody>
      </p:sp>
      <p:pic>
        <p:nvPicPr>
          <p:cNvPr id="147" name="Google Shape;147;p9"/>
          <p:cNvPicPr preferRelativeResize="0"/>
          <p:nvPr/>
        </p:nvPicPr>
        <p:blipFill rotWithShape="1">
          <a:blip r:embed="rId3">
            <a:alphaModFix/>
          </a:blip>
          <a:srcRect b="0" l="0" r="0" t="0"/>
          <a:stretch/>
        </p:blipFill>
        <p:spPr>
          <a:xfrm>
            <a:off x="4637099" y="1600200"/>
            <a:ext cx="3979500" cy="273856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0"/>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53" name="Google Shape;153;p10"/>
          <p:cNvSpPr txBox="1"/>
          <p:nvPr>
            <p:ph type="title"/>
          </p:nvPr>
        </p:nvSpPr>
        <p:spPr>
          <a:xfrm>
            <a:off x="685800" y="333663"/>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Montserrat"/>
                <a:ea typeface="Montserrat"/>
                <a:cs typeface="Montserrat"/>
                <a:sym typeface="Montserrat"/>
              </a:rPr>
              <a:t>Lima Fase dalam Design Thinking</a:t>
            </a:r>
            <a:endParaRPr>
              <a:latin typeface="Montserrat"/>
              <a:ea typeface="Montserrat"/>
              <a:cs typeface="Montserrat"/>
              <a:sym typeface="Montserrat"/>
            </a:endParaRPr>
          </a:p>
          <a:p>
            <a:pPr indent="0" lvl="0" marL="0" rtl="0" algn="l">
              <a:lnSpc>
                <a:spcPct val="100000"/>
              </a:lnSpc>
              <a:spcBef>
                <a:spcPts val="0"/>
              </a:spcBef>
              <a:spcAft>
                <a:spcPts val="0"/>
              </a:spcAft>
              <a:buSzPts val="1200"/>
              <a:buNone/>
            </a:pPr>
            <a:r>
              <a:t/>
            </a:r>
            <a:endParaRPr/>
          </a:p>
        </p:txBody>
      </p:sp>
      <p:sp>
        <p:nvSpPr>
          <p:cNvPr id="154" name="Google Shape;154;p10"/>
          <p:cNvSpPr txBox="1"/>
          <p:nvPr/>
        </p:nvSpPr>
        <p:spPr>
          <a:xfrm>
            <a:off x="685800" y="1387020"/>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600"/>
              <a:buFont typeface="Arial"/>
              <a:buNone/>
            </a:pPr>
            <a:r>
              <a:rPr b="1" i="0" lang="en" sz="1600" u="none" cap="none" strike="noStrike">
                <a:solidFill>
                  <a:srgbClr val="743673"/>
                </a:solidFill>
                <a:highlight>
                  <a:schemeClr val="lt1"/>
                </a:highlight>
                <a:latin typeface="Montserrat"/>
                <a:ea typeface="Montserrat"/>
                <a:cs typeface="Montserrat"/>
                <a:sym typeface="Montserrat"/>
              </a:rPr>
              <a:t>1. Empathise</a:t>
            </a:r>
            <a:endParaRPr b="1" i="0" sz="10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Fase pertama dari proses design thinking adalah </a:t>
            </a:r>
            <a:r>
              <a:rPr b="1" i="0" lang="en" sz="1000" u="none" cap="none" strike="noStrike">
                <a:solidFill>
                  <a:schemeClr val="dk1"/>
                </a:solidFill>
                <a:latin typeface="Montserrat"/>
                <a:ea typeface="Montserrat"/>
                <a:cs typeface="Montserrat"/>
                <a:sym typeface="Montserrat"/>
              </a:rPr>
              <a:t>memahami permasalahan yang ada. </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Cara memahami permasalahan bisa melalui </a:t>
            </a:r>
            <a:r>
              <a:rPr b="1" i="0" lang="en" sz="1000" u="none" cap="none" strike="noStrike">
                <a:solidFill>
                  <a:schemeClr val="dk1"/>
                </a:solidFill>
                <a:latin typeface="Montserrat"/>
                <a:ea typeface="Montserrat"/>
                <a:cs typeface="Montserrat"/>
                <a:sym typeface="Montserrat"/>
              </a:rPr>
              <a:t>observasi </a:t>
            </a:r>
            <a:r>
              <a:rPr b="0" i="0" lang="en" sz="1000" u="none" cap="none" strike="noStrike">
                <a:solidFill>
                  <a:schemeClr val="dk1"/>
                </a:solidFill>
                <a:latin typeface="Montserrat"/>
                <a:ea typeface="Montserrat"/>
                <a:cs typeface="Montserrat"/>
                <a:sym typeface="Montserrat"/>
              </a:rPr>
              <a:t>(mengamati secara langsung) atau melalui </a:t>
            </a:r>
            <a:r>
              <a:rPr b="1" i="0" lang="en" sz="1000" u="none" cap="none" strike="noStrike">
                <a:solidFill>
                  <a:schemeClr val="dk1"/>
                </a:solidFill>
                <a:latin typeface="Montserrat"/>
                <a:ea typeface="Montserrat"/>
                <a:cs typeface="Montserrat"/>
                <a:sym typeface="Montserrat"/>
              </a:rPr>
              <a:t>wawancara </a:t>
            </a:r>
            <a:r>
              <a:rPr b="0" i="0" lang="en" sz="1000" u="none" cap="none" strike="noStrike">
                <a:solidFill>
                  <a:schemeClr val="dk1"/>
                </a:solidFill>
                <a:latin typeface="Montserrat"/>
                <a:ea typeface="Montserrat"/>
                <a:cs typeface="Montserrat"/>
                <a:sym typeface="Montserrat"/>
              </a:rPr>
              <a:t>secara one-on-one dengan user untuk memahami kesan mereka terhadap suatu produk.</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p:txBody>
      </p:sp>
      <p:pic>
        <p:nvPicPr>
          <p:cNvPr id="155" name="Google Shape;155;p10"/>
          <p:cNvPicPr preferRelativeResize="0"/>
          <p:nvPr/>
        </p:nvPicPr>
        <p:blipFill rotWithShape="1">
          <a:blip r:embed="rId3">
            <a:alphaModFix/>
          </a:blip>
          <a:srcRect b="0" l="0" r="0" t="0"/>
          <a:stretch/>
        </p:blipFill>
        <p:spPr>
          <a:xfrm>
            <a:off x="5091125" y="1387025"/>
            <a:ext cx="3525473" cy="293847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1"/>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61" name="Google Shape;161;p11"/>
          <p:cNvSpPr txBox="1"/>
          <p:nvPr>
            <p:ph type="title"/>
          </p:nvPr>
        </p:nvSpPr>
        <p:spPr>
          <a:xfrm>
            <a:off x="685800" y="333663"/>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Lima Fase dalam Design Thinking</a:t>
            </a:r>
            <a:endParaRPr>
              <a:latin typeface="Montserrat"/>
              <a:ea typeface="Montserrat"/>
              <a:cs typeface="Montserrat"/>
              <a:sym typeface="Montserrat"/>
            </a:endParaRPr>
          </a:p>
          <a:p>
            <a:pPr indent="0" lvl="0" marL="0" rtl="0" algn="l">
              <a:lnSpc>
                <a:spcPct val="100000"/>
              </a:lnSpc>
              <a:spcBef>
                <a:spcPts val="0"/>
              </a:spcBef>
              <a:spcAft>
                <a:spcPts val="0"/>
              </a:spcAft>
              <a:buSzPts val="1200"/>
              <a:buNone/>
            </a:pPr>
            <a:r>
              <a:t/>
            </a:r>
            <a:endParaRPr/>
          </a:p>
        </p:txBody>
      </p:sp>
      <p:sp>
        <p:nvSpPr>
          <p:cNvPr id="162" name="Google Shape;162;p11"/>
          <p:cNvSpPr txBox="1"/>
          <p:nvPr/>
        </p:nvSpPr>
        <p:spPr>
          <a:xfrm>
            <a:off x="685800" y="1387020"/>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chemeClr val="dk1"/>
              </a:buClr>
              <a:buSzPts val="1100"/>
              <a:buFont typeface="Arial"/>
              <a:buNone/>
            </a:pPr>
            <a:r>
              <a:rPr b="1" i="0" lang="en" sz="1600" u="none" cap="none" strike="noStrike">
                <a:solidFill>
                  <a:srgbClr val="743673"/>
                </a:solidFill>
                <a:highlight>
                  <a:schemeClr val="lt1"/>
                </a:highlight>
                <a:latin typeface="Montserrat"/>
                <a:ea typeface="Montserrat"/>
                <a:cs typeface="Montserrat"/>
                <a:sym typeface="Montserrat"/>
              </a:rPr>
              <a:t>2. Define</a:t>
            </a:r>
            <a:endParaRPr b="1" i="0" sz="10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rPr b="0" i="0" lang="en" sz="1000" u="none" cap="none" strike="noStrike">
                <a:solidFill>
                  <a:schemeClr val="dk1"/>
                </a:solidFill>
                <a:latin typeface="Montserrat"/>
                <a:ea typeface="Montserrat"/>
                <a:cs typeface="Montserrat"/>
                <a:sym typeface="Montserrat"/>
              </a:rPr>
              <a:t>Setelah memperoleh data mengenai kesan dan kebutuhan user melalui observasi maupun wawancara, selanjutnya seorang desainer UI/UX melakukan proses </a:t>
            </a:r>
            <a:r>
              <a:rPr b="1" i="0" lang="en" sz="1000" u="none" cap="none" strike="noStrike">
                <a:solidFill>
                  <a:schemeClr val="dk1"/>
                </a:solidFill>
                <a:latin typeface="Montserrat"/>
                <a:ea typeface="Montserrat"/>
                <a:cs typeface="Montserrat"/>
                <a:sym typeface="Montserrat"/>
              </a:rPr>
              <a:t>define</a:t>
            </a:r>
            <a:r>
              <a:rPr b="0" i="0" lang="en" sz="1000" u="none" cap="none" strike="noStrike">
                <a:solidFill>
                  <a:schemeClr val="dk1"/>
                </a:solidFill>
                <a:latin typeface="Montserrat"/>
                <a:ea typeface="Montserrat"/>
                <a:cs typeface="Montserrat"/>
                <a:sym typeface="Montserrat"/>
              </a:rPr>
              <a:t> </a:t>
            </a:r>
            <a:r>
              <a:rPr b="1" i="0" lang="en" sz="1000" u="none" cap="none" strike="noStrike">
                <a:solidFill>
                  <a:schemeClr val="dk1"/>
                </a:solidFill>
                <a:latin typeface="Montserrat"/>
                <a:ea typeface="Montserrat"/>
                <a:cs typeface="Montserrat"/>
                <a:sym typeface="Montserrat"/>
              </a:rPr>
              <a:t>(memilah data sehingga dapat dipetakan inti permasalahan).</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Pemetaan inti permasalahan harus dilakukan dari sudut pandang user. Misal, memetakan inti permasalahan dengan kalimat “orang dewasa di kota A perlu trotoar yang lebar agar nyaman dipakai untuk jogging”. Alih-alih menggunakan kalimat “kita perlu membuat trotoar yang lebar”.</a:t>
            </a:r>
            <a:endParaRPr b="1" i="0" sz="1600" u="none" cap="none" strike="noStrike">
              <a:solidFill>
                <a:srgbClr val="743673"/>
              </a:solidFill>
              <a:highlight>
                <a:schemeClr val="lt1"/>
              </a:highlight>
              <a:latin typeface="Montserrat"/>
              <a:ea typeface="Montserrat"/>
              <a:cs typeface="Montserrat"/>
              <a:sym typeface="Montserrat"/>
            </a:endParaRPr>
          </a:p>
        </p:txBody>
      </p:sp>
      <p:pic>
        <p:nvPicPr>
          <p:cNvPr id="163" name="Google Shape;163;p11"/>
          <p:cNvPicPr preferRelativeResize="0"/>
          <p:nvPr/>
        </p:nvPicPr>
        <p:blipFill rotWithShape="1">
          <a:blip r:embed="rId3">
            <a:alphaModFix/>
          </a:blip>
          <a:srcRect b="0" l="0" r="0" t="0"/>
          <a:stretch/>
        </p:blipFill>
        <p:spPr>
          <a:xfrm>
            <a:off x="5104650" y="1387025"/>
            <a:ext cx="3511950" cy="29286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2"/>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69" name="Google Shape;169;p12"/>
          <p:cNvSpPr txBox="1"/>
          <p:nvPr>
            <p:ph type="title"/>
          </p:nvPr>
        </p:nvSpPr>
        <p:spPr>
          <a:xfrm>
            <a:off x="685800" y="333663"/>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Lima Fase dalam Design Thinking</a:t>
            </a:r>
            <a:endParaRPr>
              <a:latin typeface="Montserrat"/>
              <a:ea typeface="Montserrat"/>
              <a:cs typeface="Montserrat"/>
              <a:sym typeface="Montserrat"/>
            </a:endParaRPr>
          </a:p>
          <a:p>
            <a:pPr indent="0" lvl="0" marL="0" rtl="0" algn="l">
              <a:lnSpc>
                <a:spcPct val="100000"/>
              </a:lnSpc>
              <a:spcBef>
                <a:spcPts val="0"/>
              </a:spcBef>
              <a:spcAft>
                <a:spcPts val="0"/>
              </a:spcAft>
              <a:buSzPts val="1200"/>
              <a:buNone/>
            </a:pPr>
            <a:r>
              <a:t/>
            </a:r>
            <a:endParaRPr/>
          </a:p>
        </p:txBody>
      </p:sp>
      <p:sp>
        <p:nvSpPr>
          <p:cNvPr id="170" name="Google Shape;170;p12"/>
          <p:cNvSpPr txBox="1"/>
          <p:nvPr/>
        </p:nvSpPr>
        <p:spPr>
          <a:xfrm>
            <a:off x="685800" y="1387020"/>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600"/>
              <a:buFont typeface="Arial"/>
              <a:buNone/>
            </a:pPr>
            <a:r>
              <a:rPr b="1" i="0" lang="en" sz="1600" u="none" cap="none" strike="noStrike">
                <a:solidFill>
                  <a:srgbClr val="743673"/>
                </a:solidFill>
                <a:highlight>
                  <a:schemeClr val="lt1"/>
                </a:highlight>
                <a:latin typeface="Montserrat"/>
                <a:ea typeface="Montserrat"/>
                <a:cs typeface="Montserrat"/>
                <a:sym typeface="Montserrat"/>
              </a:rPr>
              <a:t>3. Ideate</a:t>
            </a:r>
            <a:endParaRPr b="1" i="0" sz="10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Setelah masalah dipetakan dalam fase define, selanjutnya desainer UI/UX melakukan </a:t>
            </a:r>
            <a:r>
              <a:rPr b="1" i="0" lang="en" sz="1000" u="none" cap="none" strike="noStrike">
                <a:solidFill>
                  <a:schemeClr val="dk1"/>
                </a:solidFill>
                <a:latin typeface="Montserrat"/>
                <a:ea typeface="Montserrat"/>
                <a:cs typeface="Montserrat"/>
                <a:sym typeface="Montserrat"/>
              </a:rPr>
              <a:t>brainstorming, mindmapping, dan ideasi untuk menciptakan suatu produk yang mampu menjawab permasalahan user. </a:t>
            </a:r>
            <a:r>
              <a:rPr b="0" i="0" lang="en" sz="1000" u="none" cap="none" strike="noStrike">
                <a:solidFill>
                  <a:schemeClr val="dk1"/>
                </a:solidFill>
                <a:latin typeface="Montserrat"/>
                <a:ea typeface="Montserrat"/>
                <a:cs typeface="Montserrat"/>
                <a:sym typeface="Montserrat"/>
              </a:rPr>
              <a:t>Fase brainstorming ini disebut </a:t>
            </a:r>
            <a:r>
              <a:rPr b="1" i="0" lang="en" sz="1000" u="none" cap="none" strike="noStrike">
                <a:solidFill>
                  <a:schemeClr val="dk1"/>
                </a:solidFill>
                <a:latin typeface="Montserrat"/>
                <a:ea typeface="Montserrat"/>
                <a:cs typeface="Montserrat"/>
                <a:sym typeface="Montserrat"/>
              </a:rPr>
              <a:t>ideate.</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Pada fase ini, seorang desainer UI/UX dituntut untuk berpikir out of the box, kreatif, dan inovatif.</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600"/>
              <a:buFont typeface="Arial"/>
              <a:buNone/>
            </a:pPr>
            <a:r>
              <a:t/>
            </a:r>
            <a:endParaRPr b="1" i="0" sz="1600" u="none" cap="none" strike="noStrike">
              <a:solidFill>
                <a:srgbClr val="743673"/>
              </a:solidFill>
              <a:highlight>
                <a:schemeClr val="lt1"/>
              </a:highlight>
              <a:latin typeface="Montserrat"/>
              <a:ea typeface="Montserrat"/>
              <a:cs typeface="Montserrat"/>
              <a:sym typeface="Montserrat"/>
            </a:endParaRPr>
          </a:p>
        </p:txBody>
      </p:sp>
      <p:pic>
        <p:nvPicPr>
          <p:cNvPr id="171" name="Google Shape;171;p12"/>
          <p:cNvPicPr preferRelativeResize="0"/>
          <p:nvPr/>
        </p:nvPicPr>
        <p:blipFill rotWithShape="1">
          <a:blip r:embed="rId3">
            <a:alphaModFix/>
          </a:blip>
          <a:srcRect b="0" l="0" r="0" t="0"/>
          <a:stretch/>
        </p:blipFill>
        <p:spPr>
          <a:xfrm>
            <a:off x="4881725" y="1345000"/>
            <a:ext cx="3926601" cy="2868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3"/>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77" name="Google Shape;177;p13"/>
          <p:cNvSpPr txBox="1"/>
          <p:nvPr>
            <p:ph type="title"/>
          </p:nvPr>
        </p:nvSpPr>
        <p:spPr>
          <a:xfrm>
            <a:off x="685800" y="333663"/>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Lima Fase dalam Design Thinking</a:t>
            </a:r>
            <a:endParaRPr>
              <a:latin typeface="Montserrat"/>
              <a:ea typeface="Montserrat"/>
              <a:cs typeface="Montserrat"/>
              <a:sym typeface="Montserrat"/>
            </a:endParaRPr>
          </a:p>
          <a:p>
            <a:pPr indent="0" lvl="0" marL="0" rtl="0" algn="l">
              <a:lnSpc>
                <a:spcPct val="100000"/>
              </a:lnSpc>
              <a:spcBef>
                <a:spcPts val="0"/>
              </a:spcBef>
              <a:spcAft>
                <a:spcPts val="0"/>
              </a:spcAft>
              <a:buSzPts val="1200"/>
              <a:buNone/>
            </a:pPr>
            <a:r>
              <a:t/>
            </a:r>
            <a:endParaRPr/>
          </a:p>
        </p:txBody>
      </p:sp>
      <p:sp>
        <p:nvSpPr>
          <p:cNvPr id="178" name="Google Shape;178;p13"/>
          <p:cNvSpPr txBox="1"/>
          <p:nvPr/>
        </p:nvSpPr>
        <p:spPr>
          <a:xfrm>
            <a:off x="685800" y="1387020"/>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600"/>
              <a:buFont typeface="Arial"/>
              <a:buNone/>
            </a:pPr>
            <a:r>
              <a:rPr b="1" i="0" lang="en" sz="1600" u="none" cap="none" strike="noStrike">
                <a:solidFill>
                  <a:srgbClr val="743673"/>
                </a:solidFill>
                <a:highlight>
                  <a:schemeClr val="lt1"/>
                </a:highlight>
                <a:latin typeface="Montserrat"/>
                <a:ea typeface="Montserrat"/>
                <a:cs typeface="Montserrat"/>
                <a:sym typeface="Montserrat"/>
              </a:rPr>
              <a:t>4. Prototype</a:t>
            </a:r>
            <a:endParaRPr b="1" i="0" sz="10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Setelah brainstorming dan ideasi selesai, selanjutnya </a:t>
            </a:r>
            <a:r>
              <a:rPr b="1" i="0" lang="en" sz="1000" u="none" cap="none" strike="noStrike">
                <a:solidFill>
                  <a:schemeClr val="dk1"/>
                </a:solidFill>
                <a:latin typeface="Montserrat"/>
                <a:ea typeface="Montserrat"/>
                <a:cs typeface="Montserrat"/>
                <a:sym typeface="Montserrat"/>
              </a:rPr>
              <a:t>produk mulai dirancang dalam fase prototype. </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Desainer UI/UX dan tim produksi bekerja sama untuk merancang produk sesuai hasil ideasi.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600"/>
              <a:buFont typeface="Arial"/>
              <a:buNone/>
            </a:pPr>
            <a:r>
              <a:t/>
            </a:r>
            <a:endParaRPr b="1" i="0" sz="1600" u="none" cap="none" strike="noStrike">
              <a:solidFill>
                <a:srgbClr val="743673"/>
              </a:solidFill>
              <a:highlight>
                <a:schemeClr val="lt1"/>
              </a:highlight>
              <a:latin typeface="Montserrat"/>
              <a:ea typeface="Montserrat"/>
              <a:cs typeface="Montserrat"/>
              <a:sym typeface="Montserrat"/>
            </a:endParaRPr>
          </a:p>
        </p:txBody>
      </p:sp>
      <p:pic>
        <p:nvPicPr>
          <p:cNvPr id="179" name="Google Shape;179;p13"/>
          <p:cNvPicPr preferRelativeResize="0"/>
          <p:nvPr/>
        </p:nvPicPr>
        <p:blipFill rotWithShape="1">
          <a:blip r:embed="rId3">
            <a:alphaModFix/>
          </a:blip>
          <a:srcRect b="0" l="0" r="0" t="0"/>
          <a:stretch/>
        </p:blipFill>
        <p:spPr>
          <a:xfrm>
            <a:off x="4976400" y="1387025"/>
            <a:ext cx="3640201" cy="2812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4"/>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85" name="Google Shape;185;p14"/>
          <p:cNvSpPr txBox="1"/>
          <p:nvPr>
            <p:ph type="title"/>
          </p:nvPr>
        </p:nvSpPr>
        <p:spPr>
          <a:xfrm>
            <a:off x="685800" y="333663"/>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Lima Fase dalam Design Thinking</a:t>
            </a:r>
            <a:endParaRPr>
              <a:latin typeface="Montserrat"/>
              <a:ea typeface="Montserrat"/>
              <a:cs typeface="Montserrat"/>
              <a:sym typeface="Montserrat"/>
            </a:endParaRPr>
          </a:p>
          <a:p>
            <a:pPr indent="0" lvl="0" marL="0" rtl="0" algn="l">
              <a:lnSpc>
                <a:spcPct val="100000"/>
              </a:lnSpc>
              <a:spcBef>
                <a:spcPts val="0"/>
              </a:spcBef>
              <a:spcAft>
                <a:spcPts val="0"/>
              </a:spcAft>
              <a:buSzPts val="1200"/>
              <a:buNone/>
            </a:pPr>
            <a:r>
              <a:t/>
            </a:r>
            <a:endParaRPr/>
          </a:p>
        </p:txBody>
      </p:sp>
      <p:sp>
        <p:nvSpPr>
          <p:cNvPr id="186" name="Google Shape;186;p14"/>
          <p:cNvSpPr txBox="1"/>
          <p:nvPr/>
        </p:nvSpPr>
        <p:spPr>
          <a:xfrm>
            <a:off x="685800" y="1387020"/>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600"/>
              <a:buFont typeface="Arial"/>
              <a:buNone/>
            </a:pPr>
            <a:r>
              <a:rPr b="1" i="0" lang="en" sz="1600" u="none" cap="none" strike="noStrike">
                <a:solidFill>
                  <a:srgbClr val="743673"/>
                </a:solidFill>
                <a:highlight>
                  <a:schemeClr val="lt1"/>
                </a:highlight>
                <a:latin typeface="Montserrat"/>
                <a:ea typeface="Montserrat"/>
                <a:cs typeface="Montserrat"/>
                <a:sym typeface="Montserrat"/>
              </a:rPr>
              <a:t>5. Test</a:t>
            </a:r>
            <a:endParaRPr b="1" i="0" sz="10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Setelah produk selesai, selanjutnya akan diuji kelayakannya di internal tim atau pada tim lain. </a:t>
            </a:r>
            <a:r>
              <a:rPr b="1" i="0" lang="en" sz="1000" u="none" cap="none" strike="noStrike">
                <a:solidFill>
                  <a:schemeClr val="dk1"/>
                </a:solidFill>
                <a:latin typeface="Montserrat"/>
                <a:ea typeface="Montserrat"/>
                <a:cs typeface="Montserrat"/>
                <a:sym typeface="Montserrat"/>
              </a:rPr>
              <a:t>Proses pengujian ini disebut fase testing. </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Tujuannya, untuk mengetahui kelayakan dan kegunaan produk sebelum disebarluaskan pada user.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Tahap ini penting banget nih, sob! Buat mastiin kalo produk bener-bener layak digunakan.</a:t>
            </a:r>
            <a:endParaRPr b="0" i="0" sz="1000" u="none" cap="none" strike="noStrike">
              <a:solidFill>
                <a:schemeClr val="dk1"/>
              </a:solidFill>
              <a:latin typeface="Montserrat"/>
              <a:ea typeface="Montserrat"/>
              <a:cs typeface="Montserrat"/>
              <a:sym typeface="Montserrat"/>
            </a:endParaRPr>
          </a:p>
        </p:txBody>
      </p:sp>
      <p:pic>
        <p:nvPicPr>
          <p:cNvPr id="187" name="Google Shape;187;p14"/>
          <p:cNvPicPr preferRelativeResize="0"/>
          <p:nvPr/>
        </p:nvPicPr>
        <p:blipFill rotWithShape="1">
          <a:blip r:embed="rId3">
            <a:alphaModFix/>
          </a:blip>
          <a:srcRect b="0" l="0" r="0" t="0"/>
          <a:stretch/>
        </p:blipFill>
        <p:spPr>
          <a:xfrm>
            <a:off x="4800600" y="1387033"/>
            <a:ext cx="3816003" cy="278746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5"/>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93" name="Google Shape;193;p15"/>
          <p:cNvSpPr txBox="1"/>
          <p:nvPr>
            <p:ph type="title"/>
          </p:nvPr>
        </p:nvSpPr>
        <p:spPr>
          <a:xfrm>
            <a:off x="685800" y="333663"/>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Lima Fase dalam Design Thinking</a:t>
            </a:r>
            <a:endParaRPr>
              <a:latin typeface="Montserrat"/>
              <a:ea typeface="Montserrat"/>
              <a:cs typeface="Montserrat"/>
              <a:sym typeface="Montserrat"/>
            </a:endParaRPr>
          </a:p>
          <a:p>
            <a:pPr indent="0" lvl="0" marL="0" rtl="0" algn="l">
              <a:lnSpc>
                <a:spcPct val="100000"/>
              </a:lnSpc>
              <a:spcBef>
                <a:spcPts val="0"/>
              </a:spcBef>
              <a:spcAft>
                <a:spcPts val="0"/>
              </a:spcAft>
              <a:buSzPts val="1200"/>
              <a:buNone/>
            </a:pPr>
            <a:r>
              <a:t/>
            </a:r>
            <a:endParaRPr/>
          </a:p>
        </p:txBody>
      </p:sp>
      <p:sp>
        <p:nvSpPr>
          <p:cNvPr id="194" name="Google Shape;194;p15"/>
          <p:cNvSpPr txBox="1"/>
          <p:nvPr/>
        </p:nvSpPr>
        <p:spPr>
          <a:xfrm>
            <a:off x="685800" y="1387025"/>
            <a:ext cx="39513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600"/>
              <a:buFont typeface="Arial"/>
              <a:buNone/>
            </a:pPr>
            <a:r>
              <a:rPr b="1" i="0" lang="en" sz="1600" u="none" cap="none" strike="noStrike">
                <a:solidFill>
                  <a:srgbClr val="743673"/>
                </a:solidFill>
                <a:highlight>
                  <a:schemeClr val="lt1"/>
                </a:highlight>
                <a:latin typeface="Montserrat"/>
                <a:ea typeface="Montserrat"/>
                <a:cs typeface="Montserrat"/>
                <a:sym typeface="Montserrat"/>
              </a:rPr>
              <a:t>Penting untuk di catat! </a:t>
            </a:r>
            <a:endParaRPr b="1" i="0" sz="1600" u="none" cap="none" strike="noStrike">
              <a:solidFill>
                <a:srgbClr val="743673"/>
              </a:solidFill>
              <a:highlight>
                <a:schemeClr val="lt1"/>
              </a:highlight>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600"/>
              <a:buFont typeface="Arial"/>
              <a:buNone/>
            </a:pPr>
            <a:r>
              <a:t/>
            </a:r>
            <a:endParaRPr b="1" i="0" sz="1600" u="none" cap="none" strike="noStrike">
              <a:solidFill>
                <a:srgbClr val="F2AB2F"/>
              </a:solidFill>
              <a:highlight>
                <a:schemeClr val="lt1"/>
              </a:highlight>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1" i="0" lang="en" sz="1000" u="none" cap="none" strike="noStrike">
                <a:solidFill>
                  <a:srgbClr val="F2AB2F"/>
                </a:solidFill>
                <a:latin typeface="Montserrat"/>
                <a:ea typeface="Montserrat"/>
                <a:cs typeface="Montserrat"/>
                <a:sym typeface="Montserrat"/>
              </a:rPr>
              <a:t>Lima fase di atas nggak harus linear.</a:t>
            </a:r>
            <a:endParaRPr b="1" i="0" sz="1000" u="none" cap="none" strike="noStrike">
              <a:solidFill>
                <a:srgbClr val="F2AB2F"/>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Maksudnya, lima fase design thinking itu nggak harus berjalan step by step atau sesuai urutan dari fase 1 sampai 5. Tapi, bisa aja nggak berurutan.</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Misal, pada fase emphatise, inti masalah user udah langsung keliatan, jadi fase define dapat di-skip dan langsung dilanjut pada fase ideate. Atau, ketika sampai pada fase test, produk ternyata tidak layak dan tidak sesuai dengan kebutuhan user. Sehingga harus diulang lagi fase define untuk memetakan kembali masalah user.</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Jadi, </a:t>
            </a:r>
            <a:r>
              <a:rPr b="1" i="0" lang="en" sz="1000" u="none" cap="none" strike="noStrike">
                <a:solidFill>
                  <a:schemeClr val="dk1"/>
                </a:solidFill>
                <a:latin typeface="Montserrat"/>
                <a:ea typeface="Montserrat"/>
                <a:cs typeface="Montserrat"/>
                <a:sym typeface="Montserrat"/>
              </a:rPr>
              <a:t>fase design thinking ini dapat berjalan tidak linear, tetapi fleksibel, dan iteratif (berulang).</a:t>
            </a:r>
            <a:endParaRPr b="1" i="0" sz="1000" u="none" cap="none" strike="noStrike">
              <a:solidFill>
                <a:schemeClr val="dk1"/>
              </a:solidFill>
              <a:latin typeface="Montserrat"/>
              <a:ea typeface="Montserrat"/>
              <a:cs typeface="Montserrat"/>
              <a:sym typeface="Montserrat"/>
            </a:endParaRPr>
          </a:p>
        </p:txBody>
      </p:sp>
      <p:pic>
        <p:nvPicPr>
          <p:cNvPr id="195" name="Google Shape;195;p15"/>
          <p:cNvPicPr preferRelativeResize="0"/>
          <p:nvPr/>
        </p:nvPicPr>
        <p:blipFill rotWithShape="1">
          <a:blip r:embed="rId3">
            <a:alphaModFix/>
          </a:blip>
          <a:srcRect b="0" l="0" r="0" t="0"/>
          <a:stretch/>
        </p:blipFill>
        <p:spPr>
          <a:xfrm>
            <a:off x="4829800" y="2014986"/>
            <a:ext cx="4100900" cy="180616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6"/>
          <p:cNvSpPr txBox="1"/>
          <p:nvPr>
            <p:ph type="title"/>
          </p:nvPr>
        </p:nvSpPr>
        <p:spPr>
          <a:xfrm>
            <a:off x="914400" y="1268775"/>
            <a:ext cx="7315200" cy="722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400"/>
              <a:buNone/>
            </a:pPr>
            <a:r>
              <a:rPr lang="en" sz="1400">
                <a:latin typeface="Montserrat"/>
                <a:ea typeface="Montserrat"/>
                <a:cs typeface="Montserrat"/>
                <a:sym typeface="Montserrat"/>
              </a:rPr>
              <a:t>Gimana? Udah paham kan tentang </a:t>
            </a:r>
            <a:r>
              <a:rPr lang="en" sz="1400">
                <a:solidFill>
                  <a:srgbClr val="F2AB2F"/>
                </a:solidFill>
                <a:latin typeface="Montserrat"/>
                <a:ea typeface="Montserrat"/>
                <a:cs typeface="Montserrat"/>
                <a:sym typeface="Montserrat"/>
              </a:rPr>
              <a:t>design thinking?</a:t>
            </a:r>
            <a:endParaRPr sz="1400">
              <a:solidFill>
                <a:srgbClr val="F2AB2F"/>
              </a:solidFill>
              <a:latin typeface="Montserrat"/>
              <a:ea typeface="Montserrat"/>
              <a:cs typeface="Montserrat"/>
              <a:sym typeface="Montserrat"/>
            </a:endParaRPr>
          </a:p>
          <a:p>
            <a:pPr indent="0" lvl="0" marL="0" rtl="0" algn="ctr">
              <a:lnSpc>
                <a:spcPct val="100000"/>
              </a:lnSpc>
              <a:spcBef>
                <a:spcPts val="0"/>
              </a:spcBef>
              <a:spcAft>
                <a:spcPts val="0"/>
              </a:spcAft>
              <a:buSzPts val="2400"/>
              <a:buNone/>
            </a:pPr>
            <a:r>
              <a:t/>
            </a:r>
            <a:endParaRPr sz="1400">
              <a:latin typeface="Montserrat"/>
              <a:ea typeface="Montserrat"/>
              <a:cs typeface="Montserrat"/>
              <a:sym typeface="Montserrat"/>
            </a:endParaRPr>
          </a:p>
          <a:p>
            <a:pPr indent="0" lvl="0" marL="0" rtl="0" algn="ctr">
              <a:lnSpc>
                <a:spcPct val="100000"/>
              </a:lnSpc>
              <a:spcBef>
                <a:spcPts val="0"/>
              </a:spcBef>
              <a:spcAft>
                <a:spcPts val="0"/>
              </a:spcAft>
              <a:buSzPts val="2400"/>
              <a:buNone/>
            </a:pPr>
            <a:r>
              <a:rPr lang="en" sz="1400">
                <a:latin typeface="Montserrat"/>
                <a:ea typeface="Montserrat"/>
                <a:cs typeface="Montserrat"/>
                <a:sym typeface="Montserrat"/>
              </a:rPr>
              <a:t>Biar makin paham,</a:t>
            </a:r>
            <a:r>
              <a:rPr lang="en" sz="1400">
                <a:solidFill>
                  <a:srgbClr val="F2AB2F"/>
                </a:solidFill>
                <a:latin typeface="Montserrat"/>
                <a:ea typeface="Montserrat"/>
                <a:cs typeface="Montserrat"/>
                <a:sym typeface="Montserrat"/>
              </a:rPr>
              <a:t> </a:t>
            </a:r>
            <a:r>
              <a:rPr lang="en" sz="1400">
                <a:latin typeface="Montserrat"/>
                <a:ea typeface="Montserrat"/>
                <a:cs typeface="Montserrat"/>
                <a:sym typeface="Montserrat"/>
              </a:rPr>
              <a:t>mari kita tonton video berikut ini!</a:t>
            </a:r>
            <a:endParaRPr sz="1400">
              <a:solidFill>
                <a:srgbClr val="F2AB2F"/>
              </a:solidFill>
              <a:latin typeface="Montserrat"/>
              <a:ea typeface="Montserrat"/>
              <a:cs typeface="Montserrat"/>
              <a:sym typeface="Montserrat"/>
            </a:endParaRPr>
          </a:p>
        </p:txBody>
      </p:sp>
      <p:sp>
        <p:nvSpPr>
          <p:cNvPr id="201" name="Google Shape;201;p16"/>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202" name="Google Shape;202;p16"/>
          <p:cNvPicPr preferRelativeResize="0"/>
          <p:nvPr/>
        </p:nvPicPr>
        <p:blipFill rotWithShape="1">
          <a:blip r:embed="rId3">
            <a:alphaModFix/>
          </a:blip>
          <a:srcRect b="0" l="0" r="0" t="0"/>
          <a:stretch/>
        </p:blipFill>
        <p:spPr>
          <a:xfrm>
            <a:off x="3369257" y="2295675"/>
            <a:ext cx="2405486" cy="28478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7"/>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08" name="Google Shape;208;p17"/>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Lima Fase dalam Design Thinking</a:t>
            </a:r>
            <a:endParaRPr>
              <a:latin typeface="Montserrat"/>
              <a:ea typeface="Montserrat"/>
              <a:cs typeface="Montserrat"/>
              <a:sym typeface="Montserrat"/>
            </a:endParaRPr>
          </a:p>
        </p:txBody>
      </p:sp>
      <p:pic>
        <p:nvPicPr>
          <p:cNvPr descr="Design Thinking is a 5-step process to come up with meaningful ideas that solve real problems for a particular group of people.  The process is taught in top design and business schools around the world. It has brought many businesses lots of happy customers and helped entrepreneurs from all around the world, to solve problems with innovative new solutions. #learn #designthinking&#10;&#10;Never miss a new video with our mailing list:&#10;http://eepurl.com/dNU4BQ &#10;&#10;Join and support us!&#10;www.patreon.com/sprouts &#10;www.sproutsschools.com &#10;&#10;Crash Course: &#10;https://dschool.stanford.edu/resources/virtual-crash-course-video&#10;&#10;Guide for Facilitators:&#10;https://dschool.stanford.edu/resources/gear-up-how-to-kick-off-a-crash-course&#10;&#10;Entire Script:&#10;Step 1: Empathize &#10;The purpose of step one is to conduct interviews that give you an idea about what people really care about. We need to empathize with their situation. &#10;For example, if you want to help old people, you might find that they want to keep the ability to walk around. In your conversations, they might share with you different ways they can do that. Later into the interview you'll want to dig a little deeper, look for personal stories or situations where things became difficult. Ideally, you redo the process with many people with the same problem. &#10;&#10;Step 2: Define the Problem &#10;Looking at the interviews, you can now understand the actual needs that people are trying to fulfill with certain activities. One way to do that is to underline the verbs or activities that the people mentioned when talking about their problems: like going for a walk, meeting old friends for tea, or simply going grocery shopping around the corner store. You might realize it's not so much about going out, but more about staying in touch. After your analysis, formulate a problem statement: “Some elderly are afraid to be lonely. The want to stay connected.” &#10;&#10;Step 3: Ideate &#10;Now focus only on the problem statement and come up with ideas that solve the problem. The point is not to get a perfect idea, but rather to come up with as many ideas: like unique virtual reality experiences, senior friendly hover boards or a modified pushcart. Whatever it is, sketch up your best ideas and show them to the people you are trying to help, so you get their feedback.&#10;&#10;Step 4: Prototype &#10;Now take a moment to reflect on what you have learned from your conversations about the different ideas. Ask yourself, how does your idea fit in the context of people's actual lives. Your solution could be a combination of a new idea and what is already being used. Then connect the dots, sketch up your final solution and go build a real prototype that's just good enough to be tested. &#10;&#10;Step 5: Test &#10;Now test your prototype with actual users. Don't defend your idea in case people don't like it, the point is to learn what works and what didn't, so any feedback is great. Then go back to ideation or prototyping and apply your learning. Repeat the process until you have a prototype that works and solves the real problem. Now you are ready to change the world or open shop. &#10;&#10;To experience design thinking first hand, do the free virtual design thinking crash course from Stanford’s D-School right now. You will learn to design a new gift giving experience. Find the link and a guide for facilitators in the description below. After you are done, share your experience and gift idea in the comment To learn more about creative and critical thinking, check out our other sprouts videos. And if you want to support our channel, visit http://patreon.com/sprouts." id="209" name="Google Shape;209;p17" title="The Design Thinking Process">
            <a:hlinkClick r:id="rId3"/>
          </p:cNvPr>
          <p:cNvPicPr preferRelativeResize="0"/>
          <p:nvPr/>
        </p:nvPicPr>
        <p:blipFill rotWithShape="1">
          <a:blip r:embed="rId4">
            <a:alphaModFix/>
          </a:blip>
          <a:srcRect b="0" l="0" r="0" t="0"/>
          <a:stretch/>
        </p:blipFill>
        <p:spPr>
          <a:xfrm>
            <a:off x="2286000" y="857238"/>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1000"/>
                                        <p:tgtEl>
                                          <p:spTgt spid="2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8"/>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15" name="Google Shape;215;p18"/>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Lima Fase dalam Design Thinking</a:t>
            </a:r>
            <a:endParaRPr/>
          </a:p>
        </p:txBody>
      </p:sp>
      <p:pic>
        <p:nvPicPr>
          <p:cNvPr id="216" name="Google Shape;216;p18">
            <a:hlinkClick r:id="rId3"/>
          </p:cNvPr>
          <p:cNvPicPr preferRelativeResize="0"/>
          <p:nvPr/>
        </p:nvPicPr>
        <p:blipFill rotWithShape="1">
          <a:blip r:embed="rId4">
            <a:alphaModFix/>
          </a:blip>
          <a:srcRect b="0" l="0" r="0" t="0"/>
          <a:stretch/>
        </p:blipFill>
        <p:spPr>
          <a:xfrm>
            <a:off x="843000" y="710738"/>
            <a:ext cx="7143750" cy="42862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9"/>
          <p:cNvSpPr txBox="1"/>
          <p:nvPr>
            <p:ph type="title"/>
          </p:nvPr>
        </p:nvSpPr>
        <p:spPr>
          <a:xfrm>
            <a:off x="843725" y="1555400"/>
            <a:ext cx="7315200" cy="722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sz="2000">
                <a:latin typeface="Montserrat"/>
                <a:ea typeface="Montserrat"/>
                <a:cs typeface="Montserrat"/>
                <a:sym typeface="Montserrat"/>
              </a:rPr>
              <a:t>Saatnya kita </a:t>
            </a:r>
            <a:endParaRPr sz="2000">
              <a:latin typeface="Montserrat"/>
              <a:ea typeface="Montserrat"/>
              <a:cs typeface="Montserrat"/>
              <a:sym typeface="Montserrat"/>
            </a:endParaRPr>
          </a:p>
          <a:p>
            <a:pPr indent="0" lvl="0" marL="0" rtl="0" algn="ctr">
              <a:lnSpc>
                <a:spcPct val="100000"/>
              </a:lnSpc>
              <a:spcBef>
                <a:spcPts val="0"/>
              </a:spcBef>
              <a:spcAft>
                <a:spcPts val="0"/>
              </a:spcAft>
              <a:buClr>
                <a:schemeClr val="dk1"/>
              </a:buClr>
              <a:buSzPts val="1100"/>
              <a:buFont typeface="Arial"/>
              <a:buNone/>
            </a:pPr>
            <a:r>
              <a:rPr lang="en" sz="3000">
                <a:solidFill>
                  <a:schemeClr val="accent1"/>
                </a:solidFill>
                <a:latin typeface="Montserrat"/>
                <a:ea typeface="Montserrat"/>
                <a:cs typeface="Montserrat"/>
                <a:sym typeface="Montserrat"/>
              </a:rPr>
              <a:t>Quiz!</a:t>
            </a:r>
            <a:endParaRPr sz="3000">
              <a:solidFill>
                <a:schemeClr val="accent1"/>
              </a:solidFill>
              <a:latin typeface="Montserrat"/>
              <a:ea typeface="Montserrat"/>
              <a:cs typeface="Montserrat"/>
              <a:sym typeface="Montserrat"/>
            </a:endParaRPr>
          </a:p>
          <a:p>
            <a:pPr indent="0" lvl="0" marL="0" rtl="0" algn="ctr">
              <a:lnSpc>
                <a:spcPct val="100000"/>
              </a:lnSpc>
              <a:spcBef>
                <a:spcPts val="0"/>
              </a:spcBef>
              <a:spcAft>
                <a:spcPts val="0"/>
              </a:spcAft>
              <a:buSzPts val="2400"/>
              <a:buNone/>
            </a:pPr>
            <a:r>
              <a:t/>
            </a:r>
            <a:endParaRPr/>
          </a:p>
        </p:txBody>
      </p:sp>
      <p:sp>
        <p:nvSpPr>
          <p:cNvPr id="222" name="Google Shape;222;p19"/>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223" name="Google Shape;223;p19"/>
          <p:cNvPicPr preferRelativeResize="0"/>
          <p:nvPr/>
        </p:nvPicPr>
        <p:blipFill rotWithShape="1">
          <a:blip r:embed="rId3">
            <a:alphaModFix/>
          </a:blip>
          <a:srcRect b="35462" l="16341" r="18911" t="0"/>
          <a:stretch/>
        </p:blipFill>
        <p:spPr>
          <a:xfrm>
            <a:off x="2503575" y="2371650"/>
            <a:ext cx="3648476" cy="277184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0"/>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229" name="Google Shape;229;p2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chemeClr val="accent1"/>
                </a:solidFill>
                <a:latin typeface="Montserrat"/>
                <a:ea typeface="Montserrat"/>
                <a:cs typeface="Montserrat"/>
                <a:sym typeface="Montserrat"/>
              </a:rPr>
              <a:t>1.</a:t>
            </a:r>
            <a:r>
              <a:rPr b="1" i="0" lang="en" sz="1800" u="none" cap="none" strike="noStrike">
                <a:solidFill>
                  <a:schemeClr val="lt1"/>
                </a:solidFill>
                <a:latin typeface="Montserrat"/>
                <a:ea typeface="Montserrat"/>
                <a:cs typeface="Montserrat"/>
                <a:sym typeface="Montserrat"/>
              </a:rPr>
              <a:t> Fase pertama dalam proses design thinking adalah…</a:t>
            </a:r>
            <a:endParaRPr b="1" i="0" sz="18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Define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Empathize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Prototype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100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Ideate</a:t>
            </a:r>
            <a:endParaRPr b="0" i="0" sz="1200" u="none" cap="none" strike="noStrike">
              <a:solidFill>
                <a:schemeClr val="lt1"/>
              </a:solidFill>
              <a:latin typeface="Montserrat Medium"/>
              <a:ea typeface="Montserrat Medium"/>
              <a:cs typeface="Montserrat Medium"/>
              <a:sym typeface="Montserrat Medium"/>
            </a:endParaRPr>
          </a:p>
        </p:txBody>
      </p:sp>
      <p:sp>
        <p:nvSpPr>
          <p:cNvPr id="230" name="Google Shape;230;p20"/>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1"/>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Pembahasan Quiz</a:t>
            </a:r>
            <a:endParaRPr>
              <a:latin typeface="Montserrat"/>
              <a:ea typeface="Montserrat"/>
              <a:cs typeface="Montserrat"/>
              <a:sym typeface="Montserrat"/>
            </a:endParaRPr>
          </a:p>
        </p:txBody>
      </p:sp>
      <p:sp>
        <p:nvSpPr>
          <p:cNvPr id="236" name="Google Shape;236;p2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1" i="0" lang="en" sz="1800" u="none" cap="none" strike="noStrike">
                <a:solidFill>
                  <a:schemeClr val="accent1"/>
                </a:solidFill>
                <a:latin typeface="Montserrat"/>
                <a:ea typeface="Montserrat"/>
                <a:cs typeface="Montserrat"/>
                <a:sym typeface="Montserrat"/>
              </a:rPr>
              <a:t>1.</a:t>
            </a:r>
            <a:r>
              <a:rPr b="1" i="0" lang="en" sz="1800" u="none" cap="none" strike="noStrike">
                <a:solidFill>
                  <a:schemeClr val="lt1"/>
                </a:solidFill>
                <a:latin typeface="Montserrat"/>
                <a:ea typeface="Montserrat"/>
                <a:cs typeface="Montserrat"/>
                <a:sym typeface="Montserrat"/>
              </a:rPr>
              <a:t> Fase pertama dalam proses design thinking adalah…</a:t>
            </a:r>
            <a:endParaRPr b="1" i="0" sz="18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Define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Empathize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Prototype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Ideate</a:t>
            </a:r>
            <a:endParaRPr b="0" i="0" sz="1200" u="none" cap="none" strike="noStrike">
              <a:solidFill>
                <a:srgbClr val="A667A5"/>
              </a:solidFill>
              <a:latin typeface="Montserrat Medium"/>
              <a:ea typeface="Montserrat Medium"/>
              <a:cs typeface="Montserrat Medium"/>
              <a:sym typeface="Montserrat Medium"/>
            </a:endParaRPr>
          </a:p>
          <a:p>
            <a:pPr indent="0" lvl="0" marL="0" marR="0" rtl="0" algn="l">
              <a:lnSpc>
                <a:spcPct val="115000"/>
              </a:lnSpc>
              <a:spcBef>
                <a:spcPts val="100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p:txBody>
      </p:sp>
      <p:sp>
        <p:nvSpPr>
          <p:cNvPr id="237" name="Google Shape;237;p21"/>
          <p:cNvSpPr/>
          <p:nvPr/>
        </p:nvSpPr>
        <p:spPr>
          <a:xfrm>
            <a:off x="685800" y="341402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200"/>
              <a:buFont typeface="Arial"/>
              <a:buNone/>
            </a:pPr>
            <a:r>
              <a:rPr b="1" i="0" lang="en" sz="1200" u="none" cap="none" strike="noStrike">
                <a:solidFill>
                  <a:srgbClr val="733572"/>
                </a:solidFill>
                <a:latin typeface="Montserrat"/>
                <a:ea typeface="Montserrat"/>
                <a:cs typeface="Montserrat"/>
                <a:sym typeface="Montserrat"/>
              </a:rPr>
              <a:t>Fase pertama dalam proses design thinking adalah Empathize, dilanjutkan dengan Define - Ideate - Prototype - Test.</a:t>
            </a:r>
            <a:endParaRPr b="1" i="0" sz="1200" u="none" cap="none" strike="noStrike">
              <a:solidFill>
                <a:srgbClr val="733572"/>
              </a:solidFill>
              <a:latin typeface="Montserrat"/>
              <a:ea typeface="Montserrat"/>
              <a:cs typeface="Montserrat"/>
              <a:sym typeface="Montserrat"/>
            </a:endParaRPr>
          </a:p>
        </p:txBody>
      </p:sp>
      <p:sp>
        <p:nvSpPr>
          <p:cNvPr id="238" name="Google Shape;238;p21"/>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2"/>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244" name="Google Shape;244;p2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chemeClr val="accent1"/>
                </a:solidFill>
                <a:latin typeface="Montserrat"/>
                <a:ea typeface="Montserrat"/>
                <a:cs typeface="Montserrat"/>
                <a:sym typeface="Montserrat"/>
              </a:rPr>
              <a:t>2.</a:t>
            </a:r>
            <a:r>
              <a:rPr b="1" i="0" lang="en" sz="1800" u="none" cap="none" strike="noStrike">
                <a:solidFill>
                  <a:schemeClr val="lt1"/>
                </a:solidFill>
                <a:latin typeface="Montserrat"/>
                <a:ea typeface="Montserrat"/>
                <a:cs typeface="Montserrat"/>
                <a:sym typeface="Montserrat"/>
              </a:rPr>
              <a:t> Fase ketiga dalam proses design thinking adalah…</a:t>
            </a:r>
            <a:endParaRPr b="1" i="0" sz="18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Empathize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Test</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Prototype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100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Ideate</a:t>
            </a:r>
            <a:endParaRPr b="0" i="0" sz="1200" u="none" cap="none" strike="noStrike">
              <a:solidFill>
                <a:schemeClr val="lt1"/>
              </a:solidFill>
              <a:latin typeface="Montserrat Medium"/>
              <a:ea typeface="Montserrat Medium"/>
              <a:cs typeface="Montserrat Medium"/>
              <a:sym typeface="Montserrat Medium"/>
            </a:endParaRPr>
          </a:p>
        </p:txBody>
      </p:sp>
      <p:sp>
        <p:nvSpPr>
          <p:cNvPr id="245" name="Google Shape;245;p22"/>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3"/>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Pembahasan Quiz</a:t>
            </a:r>
            <a:endParaRPr>
              <a:latin typeface="Montserrat"/>
              <a:ea typeface="Montserrat"/>
              <a:cs typeface="Montserrat"/>
              <a:sym typeface="Montserrat"/>
            </a:endParaRPr>
          </a:p>
        </p:txBody>
      </p:sp>
      <p:sp>
        <p:nvSpPr>
          <p:cNvPr id="251" name="Google Shape;251;p2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chemeClr val="accent1"/>
                </a:solidFill>
                <a:latin typeface="Montserrat"/>
                <a:ea typeface="Montserrat"/>
                <a:cs typeface="Montserrat"/>
                <a:sym typeface="Montserrat"/>
              </a:rPr>
              <a:t>2.</a:t>
            </a:r>
            <a:r>
              <a:rPr b="1" i="0" lang="en" sz="1800" u="none" cap="none" strike="noStrike">
                <a:solidFill>
                  <a:schemeClr val="lt1"/>
                </a:solidFill>
                <a:latin typeface="Montserrat"/>
                <a:ea typeface="Montserrat"/>
                <a:cs typeface="Montserrat"/>
                <a:sym typeface="Montserrat"/>
              </a:rPr>
              <a:t> Fase ketiga dalam proses design thinking adalah…</a:t>
            </a:r>
            <a:endParaRPr b="1" i="0" sz="18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Empathize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Test</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Prototype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Ideate</a:t>
            </a:r>
            <a:endParaRPr b="0" i="0" sz="1200" u="none" cap="none" strike="noStrike">
              <a:solidFill>
                <a:schemeClr val="lt1"/>
              </a:solidFill>
              <a:latin typeface="Montserrat Medium"/>
              <a:ea typeface="Montserrat Medium"/>
              <a:cs typeface="Montserrat Medium"/>
              <a:sym typeface="Montserrat Medium"/>
            </a:endParaRPr>
          </a:p>
          <a:p>
            <a:pPr indent="0" lvl="0" marL="0" marR="0" rtl="0" algn="l">
              <a:lnSpc>
                <a:spcPct val="115000"/>
              </a:lnSpc>
              <a:spcBef>
                <a:spcPts val="1000"/>
              </a:spcBef>
              <a:spcAft>
                <a:spcPts val="0"/>
              </a:spcAft>
              <a:buClr>
                <a:srgbClr val="000000"/>
              </a:buClr>
              <a:buSzPts val="1800"/>
              <a:buFont typeface="Arial"/>
              <a:buNone/>
            </a:pPr>
            <a:r>
              <a:t/>
            </a:r>
            <a:endParaRPr b="1" i="0" sz="18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p:txBody>
      </p:sp>
      <p:sp>
        <p:nvSpPr>
          <p:cNvPr id="252" name="Google Shape;252;p23"/>
          <p:cNvSpPr/>
          <p:nvPr/>
        </p:nvSpPr>
        <p:spPr>
          <a:xfrm>
            <a:off x="685800" y="341402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200"/>
              <a:buFont typeface="Arial"/>
              <a:buNone/>
            </a:pPr>
            <a:r>
              <a:rPr b="1" i="0" lang="en" sz="1200" u="none" cap="none" strike="noStrike">
                <a:solidFill>
                  <a:srgbClr val="733572"/>
                </a:solidFill>
                <a:latin typeface="Montserrat"/>
                <a:ea typeface="Montserrat"/>
                <a:cs typeface="Montserrat"/>
                <a:sym typeface="Montserrat"/>
              </a:rPr>
              <a:t>Fase ketiga dalam proses design thinking adalah Ideate. Urutannya adalah: Emphatize - Define - Ideate - Prototype - Test.</a:t>
            </a:r>
            <a:endParaRPr b="1" i="0" sz="1200" u="none" cap="none" strike="noStrike">
              <a:solidFill>
                <a:srgbClr val="733572"/>
              </a:solidFill>
              <a:latin typeface="Montserrat"/>
              <a:ea typeface="Montserrat"/>
              <a:cs typeface="Montserrat"/>
              <a:sym typeface="Montserrat"/>
            </a:endParaRPr>
          </a:p>
        </p:txBody>
      </p:sp>
      <p:sp>
        <p:nvSpPr>
          <p:cNvPr id="253" name="Google Shape;253;p23"/>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4"/>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259" name="Google Shape;259;p2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chemeClr val="accent1"/>
                </a:solidFill>
                <a:latin typeface="Montserrat"/>
                <a:ea typeface="Montserrat"/>
                <a:cs typeface="Montserrat"/>
                <a:sym typeface="Montserrat"/>
              </a:rPr>
              <a:t>3.</a:t>
            </a:r>
            <a:r>
              <a:rPr b="1" i="0" lang="en" sz="1800" u="none" cap="none" strike="noStrike">
                <a:solidFill>
                  <a:schemeClr val="lt1"/>
                </a:solidFill>
                <a:latin typeface="Montserrat"/>
                <a:ea typeface="Montserrat"/>
                <a:cs typeface="Montserrat"/>
                <a:sym typeface="Montserrat"/>
              </a:rPr>
              <a:t> Fase kelima dalam proses design thinking adalah…</a:t>
            </a:r>
            <a:endParaRPr b="1" i="0" sz="18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Empathize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Define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Prototype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100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Test</a:t>
            </a:r>
            <a:endParaRPr b="0" i="0" sz="1200" u="none" cap="none" strike="noStrike">
              <a:solidFill>
                <a:schemeClr val="lt1"/>
              </a:solidFill>
              <a:latin typeface="Montserrat Medium"/>
              <a:ea typeface="Montserrat Medium"/>
              <a:cs typeface="Montserrat Medium"/>
              <a:sym typeface="Montserrat Medium"/>
            </a:endParaRPr>
          </a:p>
        </p:txBody>
      </p:sp>
      <p:sp>
        <p:nvSpPr>
          <p:cNvPr id="260" name="Google Shape;260;p24"/>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5"/>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Pembahasan Quiz</a:t>
            </a:r>
            <a:endParaRPr>
              <a:latin typeface="Montserrat"/>
              <a:ea typeface="Montserrat"/>
              <a:cs typeface="Montserrat"/>
              <a:sym typeface="Montserrat"/>
            </a:endParaRPr>
          </a:p>
        </p:txBody>
      </p:sp>
      <p:sp>
        <p:nvSpPr>
          <p:cNvPr id="266" name="Google Shape;266;p2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chemeClr val="accent1"/>
                </a:solidFill>
                <a:latin typeface="Montserrat"/>
                <a:ea typeface="Montserrat"/>
                <a:cs typeface="Montserrat"/>
                <a:sym typeface="Montserrat"/>
              </a:rPr>
              <a:t>3.</a:t>
            </a:r>
            <a:r>
              <a:rPr b="1" i="0" lang="en" sz="1800" u="none" cap="none" strike="noStrike">
                <a:solidFill>
                  <a:schemeClr val="lt1"/>
                </a:solidFill>
                <a:latin typeface="Montserrat"/>
                <a:ea typeface="Montserrat"/>
                <a:cs typeface="Montserrat"/>
                <a:sym typeface="Montserrat"/>
              </a:rPr>
              <a:t> Fase kelima dalam proses design thinking adalah…</a:t>
            </a:r>
            <a:endParaRPr b="1" i="0" sz="18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Empathize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Define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Prototype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Test</a:t>
            </a:r>
            <a:endParaRPr b="0" i="0" sz="1200" u="none" cap="none" strike="noStrike">
              <a:solidFill>
                <a:schemeClr val="lt1"/>
              </a:solidFill>
              <a:latin typeface="Montserrat Medium"/>
              <a:ea typeface="Montserrat Medium"/>
              <a:cs typeface="Montserrat Medium"/>
              <a:sym typeface="Montserrat Medium"/>
            </a:endParaRPr>
          </a:p>
          <a:p>
            <a:pPr indent="0" lvl="0" marL="0" marR="0" rtl="0" algn="l">
              <a:lnSpc>
                <a:spcPct val="115000"/>
              </a:lnSpc>
              <a:spcBef>
                <a:spcPts val="1000"/>
              </a:spcBef>
              <a:spcAft>
                <a:spcPts val="0"/>
              </a:spcAft>
              <a:buClr>
                <a:srgbClr val="000000"/>
              </a:buClr>
              <a:buSzPts val="1800"/>
              <a:buFont typeface="Arial"/>
              <a:buNone/>
            </a:pPr>
            <a:r>
              <a:t/>
            </a:r>
            <a:endParaRPr b="1" i="0" sz="18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800"/>
              <a:buFont typeface="Arial"/>
              <a:buNone/>
            </a:pPr>
            <a:r>
              <a:t/>
            </a:r>
            <a:endParaRPr b="1" i="0" sz="18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p:txBody>
      </p:sp>
      <p:sp>
        <p:nvSpPr>
          <p:cNvPr id="267" name="Google Shape;267;p25"/>
          <p:cNvSpPr/>
          <p:nvPr/>
        </p:nvSpPr>
        <p:spPr>
          <a:xfrm>
            <a:off x="685800" y="341402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200"/>
              <a:buFont typeface="Arial"/>
              <a:buNone/>
            </a:pPr>
            <a:r>
              <a:rPr b="1" i="0" lang="en" sz="1200" u="none" cap="none" strike="noStrike">
                <a:solidFill>
                  <a:srgbClr val="733572"/>
                </a:solidFill>
                <a:latin typeface="Montserrat"/>
                <a:ea typeface="Montserrat"/>
                <a:cs typeface="Montserrat"/>
                <a:sym typeface="Montserrat"/>
              </a:rPr>
              <a:t>Fase kelima dalam proses design thinking adalah Test. Urutannya adalah: Emphatize - Define - Ideate - Prototype - Test.</a:t>
            </a:r>
            <a:endParaRPr b="1" i="0" sz="1200" u="none" cap="none" strike="noStrike">
              <a:solidFill>
                <a:srgbClr val="733572"/>
              </a:solidFill>
              <a:latin typeface="Montserrat"/>
              <a:ea typeface="Montserrat"/>
              <a:cs typeface="Montserrat"/>
              <a:sym typeface="Montserrat"/>
            </a:endParaRPr>
          </a:p>
        </p:txBody>
      </p:sp>
      <p:sp>
        <p:nvSpPr>
          <p:cNvPr id="268" name="Google Shape;268;p25"/>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6"/>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274" name="Google Shape;274;p2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1700"/>
              <a:buFont typeface="Arial"/>
              <a:buNone/>
            </a:pPr>
            <a:r>
              <a:rPr b="1" i="0" lang="en" sz="1700" u="none" cap="none" strike="noStrike">
                <a:solidFill>
                  <a:schemeClr val="accent1"/>
                </a:solidFill>
                <a:latin typeface="Montserrat"/>
                <a:ea typeface="Montserrat"/>
                <a:cs typeface="Montserrat"/>
                <a:sym typeface="Montserrat"/>
              </a:rPr>
              <a:t>4.</a:t>
            </a:r>
            <a:r>
              <a:rPr b="1" i="0" lang="en" sz="1700" u="none" cap="none" strike="noStrike">
                <a:solidFill>
                  <a:schemeClr val="lt1"/>
                </a:solidFill>
                <a:latin typeface="Montserrat"/>
                <a:ea typeface="Montserrat"/>
                <a:cs typeface="Montserrat"/>
                <a:sym typeface="Montserrat"/>
              </a:rPr>
              <a:t> Aktivitas kunci pada fase ….. adalah memahami permasalahan. </a:t>
            </a:r>
            <a:endParaRPr b="1" i="0" sz="17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Empathize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Test</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Prototype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Ideate</a:t>
            </a:r>
            <a:endParaRPr b="0" i="0" sz="1200" u="none" cap="none" strike="noStrike">
              <a:solidFill>
                <a:schemeClr val="lt1"/>
              </a:solidFill>
              <a:latin typeface="Montserrat Medium"/>
              <a:ea typeface="Montserrat Medium"/>
              <a:cs typeface="Montserrat Medium"/>
              <a:sym typeface="Montserrat Medium"/>
            </a:endParaRPr>
          </a:p>
        </p:txBody>
      </p:sp>
      <p:sp>
        <p:nvSpPr>
          <p:cNvPr id="275" name="Google Shape;275;p26"/>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7"/>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Pembahasan Quiz</a:t>
            </a:r>
            <a:endParaRPr>
              <a:latin typeface="Montserrat"/>
              <a:ea typeface="Montserrat"/>
              <a:cs typeface="Montserrat"/>
              <a:sym typeface="Montserrat"/>
            </a:endParaRPr>
          </a:p>
        </p:txBody>
      </p:sp>
      <p:sp>
        <p:nvSpPr>
          <p:cNvPr id="281" name="Google Shape;281;p2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dk1"/>
              </a:buClr>
              <a:buSzPts val="1100"/>
              <a:buFont typeface="Arial"/>
              <a:buNone/>
            </a:pPr>
            <a:r>
              <a:rPr b="1" i="0" lang="en" sz="1700" u="none" cap="none" strike="noStrike">
                <a:solidFill>
                  <a:schemeClr val="accent1"/>
                </a:solidFill>
                <a:latin typeface="Montserrat"/>
                <a:ea typeface="Montserrat"/>
                <a:cs typeface="Montserrat"/>
                <a:sym typeface="Montserrat"/>
              </a:rPr>
              <a:t>4.</a:t>
            </a:r>
            <a:r>
              <a:rPr b="1" i="0" lang="en" sz="1700" u="none" cap="none" strike="noStrike">
                <a:solidFill>
                  <a:schemeClr val="lt1"/>
                </a:solidFill>
                <a:latin typeface="Montserrat"/>
                <a:ea typeface="Montserrat"/>
                <a:cs typeface="Montserrat"/>
                <a:sym typeface="Montserrat"/>
              </a:rPr>
              <a:t> Aktivitas kunci pada fase ….. adalah memahami permasalahan. </a:t>
            </a:r>
            <a:endParaRPr b="1" i="0" sz="17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Empathize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Test</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Prototype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Ideate</a:t>
            </a:r>
            <a:endParaRPr b="0" i="0" sz="1200" u="none" cap="none" strike="noStrike">
              <a:solidFill>
                <a:srgbClr val="A667A5"/>
              </a:solidFill>
              <a:latin typeface="Montserrat Medium"/>
              <a:ea typeface="Montserrat Medium"/>
              <a:cs typeface="Montserrat Medium"/>
              <a:sym typeface="Montserrat Medium"/>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rgbClr val="A667A5"/>
              </a:solidFill>
              <a:latin typeface="Raleway"/>
              <a:ea typeface="Raleway"/>
              <a:cs typeface="Raleway"/>
              <a:sym typeface="Raleway"/>
            </a:endParaRPr>
          </a:p>
        </p:txBody>
      </p:sp>
      <p:sp>
        <p:nvSpPr>
          <p:cNvPr id="282" name="Google Shape;282;p27"/>
          <p:cNvSpPr/>
          <p:nvPr/>
        </p:nvSpPr>
        <p:spPr>
          <a:xfrm>
            <a:off x="685800" y="3604050"/>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200"/>
              <a:buFont typeface="Arial"/>
              <a:buNone/>
            </a:pPr>
            <a:r>
              <a:rPr b="1" i="0" lang="en" sz="1200" u="none" cap="none" strike="noStrike">
                <a:solidFill>
                  <a:srgbClr val="733572"/>
                </a:solidFill>
                <a:latin typeface="Montserrat"/>
                <a:ea typeface="Montserrat"/>
                <a:cs typeface="Montserrat"/>
                <a:sym typeface="Montserrat"/>
              </a:rPr>
              <a:t>Design thinking dimulai dengan memahami permasalahan pengguna. Proses ini merupakan aktivitas yang dilakukan pada fase emphatize. </a:t>
            </a:r>
            <a:endParaRPr b="1" i="0" sz="1200" u="none" cap="none" strike="noStrike">
              <a:solidFill>
                <a:srgbClr val="733572"/>
              </a:solidFill>
              <a:latin typeface="Montserrat"/>
              <a:ea typeface="Montserrat"/>
              <a:cs typeface="Montserrat"/>
              <a:sym typeface="Montserrat"/>
            </a:endParaRPr>
          </a:p>
        </p:txBody>
      </p:sp>
      <p:sp>
        <p:nvSpPr>
          <p:cNvPr id="283" name="Google Shape;283;p27"/>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8"/>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289" name="Google Shape;289;p2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dk1"/>
              </a:buClr>
              <a:buSzPts val="1100"/>
              <a:buFont typeface="Arial"/>
              <a:buNone/>
            </a:pPr>
            <a:r>
              <a:rPr b="1" i="0" lang="en" sz="1700" u="none" cap="none" strike="noStrike">
                <a:solidFill>
                  <a:schemeClr val="accent1"/>
                </a:solidFill>
                <a:latin typeface="Montserrat"/>
                <a:ea typeface="Montserrat"/>
                <a:cs typeface="Montserrat"/>
                <a:sym typeface="Montserrat"/>
              </a:rPr>
              <a:t>5.</a:t>
            </a:r>
            <a:r>
              <a:rPr b="1" i="0" lang="en" sz="1700" u="none" cap="none" strike="noStrike">
                <a:solidFill>
                  <a:schemeClr val="lt1"/>
                </a:solidFill>
                <a:latin typeface="Montserrat"/>
                <a:ea typeface="Montserrat"/>
                <a:cs typeface="Montserrat"/>
                <a:sym typeface="Montserrat"/>
              </a:rPr>
              <a:t> Aktivitas kunci pada fase ….. adalah menghasilkan ide melalui proses brainstorming. </a:t>
            </a:r>
            <a:endParaRPr b="1" i="0" sz="17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Empathize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Test</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Prototype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Ideate</a:t>
            </a:r>
            <a:endParaRPr b="0" i="0" sz="1200" u="none" cap="none" strike="noStrike">
              <a:solidFill>
                <a:schemeClr val="lt1"/>
              </a:solidFill>
              <a:latin typeface="Montserrat Medium"/>
              <a:ea typeface="Montserrat Medium"/>
              <a:cs typeface="Montserrat Medium"/>
              <a:sym typeface="Montserrat Medium"/>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p:txBody>
      </p:sp>
      <p:sp>
        <p:nvSpPr>
          <p:cNvPr id="290" name="Google Shape;290;p28"/>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9"/>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Pembahasan Quiz</a:t>
            </a:r>
            <a:endParaRPr/>
          </a:p>
        </p:txBody>
      </p:sp>
      <p:sp>
        <p:nvSpPr>
          <p:cNvPr id="296" name="Google Shape;296;p2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dk1"/>
              </a:buClr>
              <a:buSzPts val="1100"/>
              <a:buFont typeface="Arial"/>
              <a:buNone/>
            </a:pPr>
            <a:r>
              <a:rPr b="1" i="0" lang="en" sz="1700" u="none" cap="none" strike="noStrike">
                <a:solidFill>
                  <a:schemeClr val="accent1"/>
                </a:solidFill>
                <a:latin typeface="Montserrat"/>
                <a:ea typeface="Montserrat"/>
                <a:cs typeface="Montserrat"/>
                <a:sym typeface="Montserrat"/>
              </a:rPr>
              <a:t>5.</a:t>
            </a:r>
            <a:r>
              <a:rPr b="1" i="0" lang="en" sz="1700" u="none" cap="none" strike="noStrike">
                <a:solidFill>
                  <a:schemeClr val="lt1"/>
                </a:solidFill>
                <a:latin typeface="Montserrat"/>
                <a:ea typeface="Montserrat"/>
                <a:cs typeface="Montserrat"/>
                <a:sym typeface="Montserrat"/>
              </a:rPr>
              <a:t> Aktivitas kunci pada fase ….. adalah menghasilkan ide melalui proses brainstorming. </a:t>
            </a:r>
            <a:endParaRPr b="1" i="0" sz="17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Empathize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Test</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Prototype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Ideate</a:t>
            </a:r>
            <a:endParaRPr b="0" i="0" sz="1200" u="none" cap="none" strike="noStrike">
              <a:solidFill>
                <a:schemeClr val="lt1"/>
              </a:solidFill>
              <a:latin typeface="Montserrat Medium"/>
              <a:ea typeface="Montserrat Medium"/>
              <a:cs typeface="Montserrat Medium"/>
              <a:sym typeface="Montserrat Medium"/>
            </a:endParaRPr>
          </a:p>
          <a:p>
            <a:pPr indent="0" lvl="0" marL="0" marR="0" rtl="0" algn="l">
              <a:lnSpc>
                <a:spcPct val="115000"/>
              </a:lnSpc>
              <a:spcBef>
                <a:spcPts val="0"/>
              </a:spcBef>
              <a:spcAft>
                <a:spcPts val="0"/>
              </a:spcAft>
              <a:buClr>
                <a:schemeClr val="dk1"/>
              </a:buClr>
              <a:buSzPts val="1100"/>
              <a:buFont typeface="Arial"/>
              <a:buNone/>
            </a:pPr>
            <a:r>
              <a:t/>
            </a:r>
            <a:endParaRPr b="1" i="0" sz="2800" u="none" cap="none" strike="noStrike">
              <a:solidFill>
                <a:schemeClr val="accent1"/>
              </a:solidFill>
              <a:latin typeface="Raleway"/>
              <a:ea typeface="Raleway"/>
              <a:cs typeface="Raleway"/>
              <a:sym typeface="Raleway"/>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p:txBody>
      </p:sp>
      <p:sp>
        <p:nvSpPr>
          <p:cNvPr id="297" name="Google Shape;297;p29"/>
          <p:cNvSpPr/>
          <p:nvPr/>
        </p:nvSpPr>
        <p:spPr>
          <a:xfrm>
            <a:off x="685800" y="38569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1" i="0" lang="en" sz="1200" u="none" cap="none" strike="noStrike">
                <a:solidFill>
                  <a:srgbClr val="733572"/>
                </a:solidFill>
                <a:latin typeface="Montserrat"/>
                <a:ea typeface="Montserrat"/>
                <a:cs typeface="Montserrat"/>
                <a:sym typeface="Montserrat"/>
              </a:rPr>
              <a:t>Ideasi dan brainstorming merupakan aktivitas pada fase ideate. </a:t>
            </a:r>
            <a:endParaRPr b="1" i="0" sz="1200" u="none" cap="none" strike="noStrike">
              <a:solidFill>
                <a:srgbClr val="733572"/>
              </a:solidFill>
              <a:latin typeface="Montserrat"/>
              <a:ea typeface="Montserrat"/>
              <a:cs typeface="Montserrat"/>
              <a:sym typeface="Montserrat"/>
            </a:endParaRPr>
          </a:p>
        </p:txBody>
      </p:sp>
      <p:sp>
        <p:nvSpPr>
          <p:cNvPr id="298" name="Google Shape;298;p29"/>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0"/>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304" name="Google Shape;304;p3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1700"/>
              <a:buFont typeface="Arial"/>
              <a:buNone/>
            </a:pPr>
            <a:r>
              <a:rPr b="1" i="0" lang="en" sz="1700" u="none" cap="none" strike="noStrike">
                <a:solidFill>
                  <a:schemeClr val="accent1"/>
                </a:solidFill>
                <a:latin typeface="Montserrat"/>
                <a:ea typeface="Montserrat"/>
                <a:cs typeface="Montserrat"/>
                <a:sym typeface="Montserrat"/>
              </a:rPr>
              <a:t>6.</a:t>
            </a:r>
            <a:r>
              <a:rPr b="1" i="0" lang="en" sz="1700" u="none" cap="none" strike="noStrike">
                <a:solidFill>
                  <a:schemeClr val="lt1"/>
                </a:solidFill>
                <a:latin typeface="Montserrat"/>
                <a:ea typeface="Montserrat"/>
                <a:cs typeface="Montserrat"/>
                <a:sym typeface="Montserrat"/>
              </a:rPr>
              <a:t> Aktivitas kunci pada fase ….. adalah perancangan produk.</a:t>
            </a:r>
            <a:endParaRPr b="1" i="0" sz="17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Empathize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Test</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Prototype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Ideate</a:t>
            </a:r>
            <a:endParaRPr b="0" i="0" sz="1200" u="none" cap="none" strike="noStrike">
              <a:solidFill>
                <a:schemeClr val="lt1"/>
              </a:solidFill>
              <a:latin typeface="Montserrat Medium"/>
              <a:ea typeface="Montserrat Medium"/>
              <a:cs typeface="Montserrat Medium"/>
              <a:sym typeface="Montserrat Medium"/>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p:txBody>
      </p:sp>
      <p:sp>
        <p:nvSpPr>
          <p:cNvPr id="305" name="Google Shape;305;p30"/>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1"/>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Pembahasan Quiz</a:t>
            </a:r>
            <a:endParaRPr/>
          </a:p>
        </p:txBody>
      </p:sp>
      <p:sp>
        <p:nvSpPr>
          <p:cNvPr id="311" name="Google Shape;311;p3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dk1"/>
              </a:buClr>
              <a:buSzPts val="1100"/>
              <a:buFont typeface="Arial"/>
              <a:buNone/>
            </a:pPr>
            <a:r>
              <a:rPr b="1" i="0" lang="en" sz="1700" u="none" cap="none" strike="noStrike">
                <a:solidFill>
                  <a:schemeClr val="accent1"/>
                </a:solidFill>
                <a:latin typeface="Montserrat"/>
                <a:ea typeface="Montserrat"/>
                <a:cs typeface="Montserrat"/>
                <a:sym typeface="Montserrat"/>
              </a:rPr>
              <a:t>6.</a:t>
            </a:r>
            <a:r>
              <a:rPr b="1" i="0" lang="en" sz="1700" u="none" cap="none" strike="noStrike">
                <a:solidFill>
                  <a:schemeClr val="lt1"/>
                </a:solidFill>
                <a:latin typeface="Montserrat"/>
                <a:ea typeface="Montserrat"/>
                <a:cs typeface="Montserrat"/>
                <a:sym typeface="Montserrat"/>
              </a:rPr>
              <a:t> Aktivitas kunci pada fase ….. adalah perancangan produk.</a:t>
            </a:r>
            <a:endParaRPr b="1" i="0" sz="17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Empathize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Test</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Prototype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Ideate</a:t>
            </a:r>
            <a:endParaRPr b="0" i="0" sz="1200" u="none" cap="none" strike="noStrike">
              <a:solidFill>
                <a:srgbClr val="A667A5"/>
              </a:solidFill>
              <a:latin typeface="Montserrat Medium"/>
              <a:ea typeface="Montserrat Medium"/>
              <a:cs typeface="Montserrat Medium"/>
              <a:sym typeface="Montserrat Medium"/>
            </a:endParaRPr>
          </a:p>
          <a:p>
            <a:pPr indent="0" lvl="0" marL="0" marR="0" rtl="0" algn="l">
              <a:lnSpc>
                <a:spcPct val="115000"/>
              </a:lnSpc>
              <a:spcBef>
                <a:spcPts val="0"/>
              </a:spcBef>
              <a:spcAft>
                <a:spcPts val="0"/>
              </a:spcAft>
              <a:buClr>
                <a:schemeClr val="dk1"/>
              </a:buClr>
              <a:buSzPts val="1100"/>
              <a:buFont typeface="Arial"/>
              <a:buNone/>
            </a:pPr>
            <a:r>
              <a:t/>
            </a:r>
            <a:endParaRPr b="1" i="0" sz="2800" u="none" cap="none" strike="noStrike">
              <a:solidFill>
                <a:schemeClr val="accent1"/>
              </a:solidFill>
              <a:latin typeface="Raleway"/>
              <a:ea typeface="Raleway"/>
              <a:cs typeface="Raleway"/>
              <a:sym typeface="Raleway"/>
            </a:endParaRPr>
          </a:p>
          <a:p>
            <a:pPr indent="0" lvl="0" marL="0" marR="0" rtl="0" algn="l">
              <a:lnSpc>
                <a:spcPct val="115000"/>
              </a:lnSpc>
              <a:spcBef>
                <a:spcPts val="1000"/>
              </a:spcBef>
              <a:spcAft>
                <a:spcPts val="0"/>
              </a:spcAft>
              <a:buClr>
                <a:srgbClr val="000000"/>
              </a:buClr>
              <a:buSzPts val="1700"/>
              <a:buFont typeface="Arial"/>
              <a:buNone/>
            </a:pPr>
            <a:r>
              <a:t/>
            </a:r>
            <a:endParaRPr b="1" i="0" sz="17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p:txBody>
      </p:sp>
      <p:sp>
        <p:nvSpPr>
          <p:cNvPr id="312" name="Google Shape;312;p31"/>
          <p:cNvSpPr/>
          <p:nvPr/>
        </p:nvSpPr>
        <p:spPr>
          <a:xfrm>
            <a:off x="685800" y="3683450"/>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1" i="0" lang="en" sz="1200" u="none" cap="none" strike="noStrike">
                <a:solidFill>
                  <a:srgbClr val="733572"/>
                </a:solidFill>
                <a:latin typeface="Montserrat"/>
                <a:ea typeface="Montserrat"/>
                <a:cs typeface="Montserrat"/>
                <a:sym typeface="Montserrat"/>
              </a:rPr>
              <a:t>Perancangan produk berdasarkan hasil ideasi merupakan aktivitas pada fase prototype.</a:t>
            </a:r>
            <a:endParaRPr b="1" i="0" sz="1200" u="none" cap="none" strike="noStrike">
              <a:solidFill>
                <a:srgbClr val="733572"/>
              </a:solidFill>
              <a:latin typeface="Montserrat"/>
              <a:ea typeface="Montserrat"/>
              <a:cs typeface="Montserrat"/>
              <a:sym typeface="Montserrat"/>
            </a:endParaRPr>
          </a:p>
        </p:txBody>
      </p:sp>
      <p:sp>
        <p:nvSpPr>
          <p:cNvPr id="313" name="Google Shape;313;p31"/>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2"/>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Quiz</a:t>
            </a:r>
            <a:endParaRPr/>
          </a:p>
        </p:txBody>
      </p:sp>
      <p:sp>
        <p:nvSpPr>
          <p:cNvPr id="319" name="Google Shape;319;p3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dk1"/>
              </a:buClr>
              <a:buSzPts val="1100"/>
              <a:buFont typeface="Arial"/>
              <a:buNone/>
            </a:pPr>
            <a:r>
              <a:rPr b="1" i="0" lang="en" sz="1700" u="none" cap="none" strike="noStrike">
                <a:solidFill>
                  <a:schemeClr val="accent1"/>
                </a:solidFill>
                <a:latin typeface="Montserrat"/>
                <a:ea typeface="Montserrat"/>
                <a:cs typeface="Montserrat"/>
                <a:sym typeface="Montserrat"/>
              </a:rPr>
              <a:t>7.</a:t>
            </a:r>
            <a:r>
              <a:rPr b="1" i="0" lang="en" sz="1700" u="none" cap="none" strike="noStrike">
                <a:solidFill>
                  <a:schemeClr val="lt1"/>
                </a:solidFill>
                <a:latin typeface="Montserrat"/>
                <a:ea typeface="Montserrat"/>
                <a:cs typeface="Montserrat"/>
                <a:sym typeface="Montserrat"/>
              </a:rPr>
              <a:t> Aktivitas kunci pada fase ….. adalah pengujian produk yang telah dihasilkan. Tujuannya untuk mengetahui kelayakan sebelum dipasarkan.</a:t>
            </a:r>
            <a:endParaRPr b="1" i="0" sz="17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Empathize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Test</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Prototype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Ideate</a:t>
            </a:r>
            <a:endParaRPr b="0" i="0" sz="1200" u="none" cap="none" strike="noStrike">
              <a:solidFill>
                <a:schemeClr val="lt1"/>
              </a:solidFill>
              <a:latin typeface="Montserrat Medium"/>
              <a:ea typeface="Montserrat Medium"/>
              <a:cs typeface="Montserrat Medium"/>
              <a:sym typeface="Montserrat Medium"/>
            </a:endParaRPr>
          </a:p>
          <a:p>
            <a:pPr indent="0" lvl="0" marL="0" marR="0" rtl="0" algn="l">
              <a:lnSpc>
                <a:spcPct val="115000"/>
              </a:lnSpc>
              <a:spcBef>
                <a:spcPts val="0"/>
              </a:spcBef>
              <a:spcAft>
                <a:spcPts val="0"/>
              </a:spcAft>
              <a:buClr>
                <a:schemeClr val="dk1"/>
              </a:buClr>
              <a:buSzPts val="1100"/>
              <a:buFont typeface="Arial"/>
              <a:buNone/>
            </a:pPr>
            <a:r>
              <a:t/>
            </a:r>
            <a:endParaRPr b="1" i="0" sz="2800" u="none" cap="none" strike="noStrike">
              <a:solidFill>
                <a:schemeClr val="accent1"/>
              </a:solidFill>
              <a:latin typeface="Raleway"/>
              <a:ea typeface="Raleway"/>
              <a:cs typeface="Raleway"/>
              <a:sym typeface="Raleway"/>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p:txBody>
      </p:sp>
      <p:sp>
        <p:nvSpPr>
          <p:cNvPr id="320" name="Google Shape;320;p32"/>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3"/>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Montserrat"/>
                <a:ea typeface="Montserrat"/>
                <a:cs typeface="Montserrat"/>
                <a:sym typeface="Montserrat"/>
              </a:rPr>
              <a:t>Pembahasan Quiz</a:t>
            </a:r>
            <a:endParaRPr/>
          </a:p>
        </p:txBody>
      </p:sp>
      <p:sp>
        <p:nvSpPr>
          <p:cNvPr id="326" name="Google Shape;326;p3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dk1"/>
              </a:buClr>
              <a:buSzPts val="1100"/>
              <a:buFont typeface="Arial"/>
              <a:buNone/>
            </a:pPr>
            <a:r>
              <a:rPr b="1" i="0" lang="en" sz="1700" u="none" cap="none" strike="noStrike">
                <a:solidFill>
                  <a:schemeClr val="accent1"/>
                </a:solidFill>
                <a:latin typeface="Montserrat"/>
                <a:ea typeface="Montserrat"/>
                <a:cs typeface="Montserrat"/>
                <a:sym typeface="Montserrat"/>
              </a:rPr>
              <a:t>7.</a:t>
            </a:r>
            <a:r>
              <a:rPr b="1" i="0" lang="en" sz="1700" u="none" cap="none" strike="noStrike">
                <a:solidFill>
                  <a:schemeClr val="lt1"/>
                </a:solidFill>
                <a:latin typeface="Montserrat"/>
                <a:ea typeface="Montserrat"/>
                <a:cs typeface="Montserrat"/>
                <a:sym typeface="Montserrat"/>
              </a:rPr>
              <a:t> Aktivitas kunci pada fase ….. adalah pengujian produk yang telah dihasilkan. Tujuannya untuk mengetahui kelayakan sebelum dipasarkan.</a:t>
            </a:r>
            <a:endParaRPr b="1" i="0" sz="17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Empathize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Test</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Prototype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Ideate</a:t>
            </a:r>
            <a:endParaRPr b="0" i="0" sz="1200" u="none" cap="none" strike="noStrike">
              <a:solidFill>
                <a:srgbClr val="A667A5"/>
              </a:solidFill>
              <a:latin typeface="Montserrat Medium"/>
              <a:ea typeface="Montserrat Medium"/>
              <a:cs typeface="Montserrat Medium"/>
              <a:sym typeface="Montserrat Medium"/>
            </a:endParaRPr>
          </a:p>
          <a:p>
            <a:pPr indent="0" lvl="0" marL="0" marR="0" rtl="0" algn="l">
              <a:lnSpc>
                <a:spcPct val="115000"/>
              </a:lnSpc>
              <a:spcBef>
                <a:spcPts val="0"/>
              </a:spcBef>
              <a:spcAft>
                <a:spcPts val="0"/>
              </a:spcAft>
              <a:buClr>
                <a:schemeClr val="dk1"/>
              </a:buClr>
              <a:buSzPts val="1100"/>
              <a:buFont typeface="Arial"/>
              <a:buNone/>
            </a:pPr>
            <a:r>
              <a:t/>
            </a:r>
            <a:endParaRPr b="1" i="0" sz="2800" u="none" cap="none" strike="noStrike">
              <a:solidFill>
                <a:schemeClr val="accent1"/>
              </a:solidFill>
              <a:latin typeface="Raleway"/>
              <a:ea typeface="Raleway"/>
              <a:cs typeface="Raleway"/>
              <a:sym typeface="Raleway"/>
            </a:endParaRPr>
          </a:p>
          <a:p>
            <a:pPr indent="0" lvl="0" marL="0" marR="0" rtl="0" algn="l">
              <a:lnSpc>
                <a:spcPct val="115000"/>
              </a:lnSpc>
              <a:spcBef>
                <a:spcPts val="0"/>
              </a:spcBef>
              <a:spcAft>
                <a:spcPts val="0"/>
              </a:spcAft>
              <a:buClr>
                <a:schemeClr val="dk1"/>
              </a:buClr>
              <a:buSzPts val="1100"/>
              <a:buFont typeface="Arial"/>
              <a:buNone/>
            </a:pPr>
            <a:r>
              <a:t/>
            </a:r>
            <a:endParaRPr b="1" i="0" sz="2800" u="none" cap="none" strike="noStrike">
              <a:solidFill>
                <a:schemeClr val="accent1"/>
              </a:solidFill>
              <a:latin typeface="Raleway"/>
              <a:ea typeface="Raleway"/>
              <a:cs typeface="Raleway"/>
              <a:sym typeface="Raleway"/>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p:txBody>
      </p:sp>
      <p:sp>
        <p:nvSpPr>
          <p:cNvPr id="327" name="Google Shape;327;p33"/>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28" name="Google Shape;328;p33"/>
          <p:cNvSpPr/>
          <p:nvPr/>
        </p:nvSpPr>
        <p:spPr>
          <a:xfrm>
            <a:off x="685800" y="4053000"/>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200"/>
              <a:buFont typeface="Arial"/>
              <a:buNone/>
            </a:pPr>
            <a:r>
              <a:rPr b="1" i="0" lang="en" sz="1200" u="none" cap="none" strike="noStrike">
                <a:solidFill>
                  <a:srgbClr val="733572"/>
                </a:solidFill>
                <a:latin typeface="Montserrat"/>
                <a:ea typeface="Montserrat"/>
                <a:cs typeface="Montserrat"/>
                <a:sym typeface="Montserrat"/>
              </a:rPr>
              <a:t>Pengujian produk adalah fase keempat dalam design thinking. Fase yang dimaksud adalah fase test.</a:t>
            </a:r>
            <a:endParaRPr b="1" i="0" sz="1200" u="none" cap="none" strike="noStrike">
              <a:solidFill>
                <a:srgbClr val="733572"/>
              </a:solidFill>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4"/>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Montserrat"/>
                <a:ea typeface="Montserrat"/>
                <a:cs typeface="Montserrat"/>
                <a:sym typeface="Montserrat"/>
              </a:rPr>
              <a:t>Quiz</a:t>
            </a:r>
            <a:endParaRPr/>
          </a:p>
        </p:txBody>
      </p:sp>
      <p:sp>
        <p:nvSpPr>
          <p:cNvPr id="334" name="Google Shape;334;p3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chemeClr val="accent1"/>
                </a:solidFill>
                <a:latin typeface="Montserrat"/>
                <a:ea typeface="Montserrat"/>
                <a:cs typeface="Montserrat"/>
                <a:sym typeface="Montserrat"/>
              </a:rPr>
              <a:t>8.</a:t>
            </a:r>
            <a:r>
              <a:rPr b="1" i="0" lang="en" sz="1800" u="none" cap="none" strike="noStrike">
                <a:solidFill>
                  <a:schemeClr val="lt1"/>
                </a:solidFill>
                <a:latin typeface="Montserrat"/>
                <a:ea typeface="Montserrat"/>
                <a:cs typeface="Montserrat"/>
                <a:sym typeface="Montserrat"/>
              </a:rPr>
              <a:t> Mengapa design thinking bukanlah fase yang berurutan?</a:t>
            </a:r>
            <a:endParaRPr b="1" i="0" sz="18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Karena para desainer tidak memerlukan metode dalam melakukan proses desain.</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Karena aktivitas pada setiap fase design thinking dapat terjadi secara paralel dan iteratif.</a:t>
            </a:r>
            <a:endParaRPr b="0" i="0" sz="1200" u="none" cap="none" strike="noStrike">
              <a:solidFill>
                <a:schemeClr val="lt1"/>
              </a:solidFill>
              <a:latin typeface="Montserrat Medium"/>
              <a:ea typeface="Montserrat Medium"/>
              <a:cs typeface="Montserrat Medium"/>
              <a:sym typeface="Montserrat Medium"/>
            </a:endParaRPr>
          </a:p>
          <a:p>
            <a:pPr indent="0" lvl="0" marL="0" marR="0" rtl="0" algn="l">
              <a:lnSpc>
                <a:spcPct val="115000"/>
              </a:lnSpc>
              <a:spcBef>
                <a:spcPts val="1000"/>
              </a:spcBef>
              <a:spcAft>
                <a:spcPts val="0"/>
              </a:spcAft>
              <a:buClr>
                <a:srgbClr val="000000"/>
              </a:buClr>
              <a:buSzPts val="1200"/>
              <a:buFont typeface="Arial"/>
              <a:buNone/>
            </a:pPr>
            <a:r>
              <a:t/>
            </a:r>
            <a:endParaRPr b="0" i="0" sz="1200" u="none" cap="none" strike="noStrike">
              <a:solidFill>
                <a:schemeClr val="lt1"/>
              </a:solidFill>
              <a:latin typeface="Raleway Medium"/>
              <a:ea typeface="Raleway Medium"/>
              <a:cs typeface="Raleway Medium"/>
              <a:sym typeface="Raleway Medium"/>
            </a:endParaRPr>
          </a:p>
        </p:txBody>
      </p:sp>
      <p:sp>
        <p:nvSpPr>
          <p:cNvPr id="335" name="Google Shape;335;p34"/>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5"/>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Pembahasan Quiz</a:t>
            </a:r>
            <a:endParaRPr/>
          </a:p>
        </p:txBody>
      </p:sp>
      <p:sp>
        <p:nvSpPr>
          <p:cNvPr id="341" name="Google Shape;341;p3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chemeClr val="accent1"/>
                </a:solidFill>
                <a:latin typeface="Montserrat"/>
                <a:ea typeface="Montserrat"/>
                <a:cs typeface="Montserrat"/>
                <a:sym typeface="Montserrat"/>
              </a:rPr>
              <a:t>8.</a:t>
            </a:r>
            <a:r>
              <a:rPr b="1" i="0" lang="en" sz="1800" u="none" cap="none" strike="noStrike">
                <a:solidFill>
                  <a:schemeClr val="lt1"/>
                </a:solidFill>
                <a:latin typeface="Montserrat"/>
                <a:ea typeface="Montserrat"/>
                <a:cs typeface="Montserrat"/>
                <a:sym typeface="Montserrat"/>
              </a:rPr>
              <a:t> Mengapa design thinking bukanlah fase yang berurutan?</a:t>
            </a:r>
            <a:endParaRPr b="1" i="0" sz="18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Karena para desainer tidak memerlukan metode dalam melakukan proses desain.</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Karena aktivitas pada setiap fase design thinking dapat terjadi secara paralel dan iteratif.</a:t>
            </a:r>
            <a:endParaRPr b="0" i="0" sz="1200" u="none" cap="none" strike="noStrike">
              <a:solidFill>
                <a:schemeClr val="lt1"/>
              </a:solidFill>
              <a:latin typeface="Montserrat Medium"/>
              <a:ea typeface="Montserrat Medium"/>
              <a:cs typeface="Montserrat Medium"/>
              <a:sym typeface="Montserrat Medium"/>
            </a:endParaRPr>
          </a:p>
          <a:p>
            <a:pPr indent="0" lvl="0" marL="0" marR="0" rtl="0" algn="l">
              <a:lnSpc>
                <a:spcPct val="115000"/>
              </a:lnSpc>
              <a:spcBef>
                <a:spcPts val="100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lt1"/>
              </a:solidFill>
              <a:latin typeface="Raleway Medium"/>
              <a:ea typeface="Raleway Medium"/>
              <a:cs typeface="Raleway Medium"/>
              <a:sym typeface="Raleway Medium"/>
            </a:endParaRPr>
          </a:p>
        </p:txBody>
      </p:sp>
      <p:sp>
        <p:nvSpPr>
          <p:cNvPr id="342" name="Google Shape;342;p35"/>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43" name="Google Shape;343;p35"/>
          <p:cNvSpPr/>
          <p:nvPr/>
        </p:nvSpPr>
        <p:spPr>
          <a:xfrm>
            <a:off x="685800" y="2827825"/>
            <a:ext cx="7772400" cy="828300"/>
          </a:xfrm>
          <a:prstGeom prst="rect">
            <a:avLst/>
          </a:prstGeom>
          <a:solidFill>
            <a:srgbClr val="F2AB2F"/>
          </a:solidFill>
          <a:ln>
            <a:noFill/>
          </a:ln>
        </p:spPr>
        <p:txBody>
          <a:bodyPr anchorCtr="0" anchor="ctr"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200"/>
              <a:buFont typeface="Arial"/>
              <a:buNone/>
            </a:pPr>
            <a:r>
              <a:rPr b="1" i="0" lang="en" sz="1200" u="none" cap="none" strike="noStrike">
                <a:solidFill>
                  <a:srgbClr val="733572"/>
                </a:solidFill>
                <a:latin typeface="Montserrat"/>
                <a:ea typeface="Montserrat"/>
                <a:cs typeface="Montserrat"/>
                <a:sym typeface="Montserrat"/>
              </a:rPr>
              <a:t>Lima fase dalam design thinking tidak selalu berurutan. Fase ini dapat terjadi secara paralel (non-linear) tergantung kebutuhan tim desainer. Fase-fase design thinking juga dapat terjadi secara berulang (iteratif) sesuai dengan kebutuhan.</a:t>
            </a:r>
            <a:endParaRPr b="1" i="0" sz="1200" u="none" cap="none" strike="noStrike">
              <a:solidFill>
                <a:srgbClr val="733572"/>
              </a:solidFill>
              <a:latin typeface="Montserrat"/>
              <a:ea typeface="Montserrat"/>
              <a:cs typeface="Montserrat"/>
              <a:sym typeface="Montserra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6"/>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Montserrat"/>
                <a:ea typeface="Montserrat"/>
                <a:cs typeface="Montserrat"/>
                <a:sym typeface="Montserrat"/>
              </a:rPr>
              <a:t>Quiz</a:t>
            </a:r>
            <a:endParaRPr/>
          </a:p>
        </p:txBody>
      </p:sp>
      <p:sp>
        <p:nvSpPr>
          <p:cNvPr id="349" name="Google Shape;349;p3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1600"/>
              <a:buFont typeface="Arial"/>
              <a:buNone/>
            </a:pPr>
            <a:r>
              <a:rPr b="1" i="0" lang="en" sz="1600" u="none" cap="none" strike="noStrike">
                <a:solidFill>
                  <a:schemeClr val="accent1"/>
                </a:solidFill>
                <a:latin typeface="Montserrat"/>
                <a:ea typeface="Montserrat"/>
                <a:cs typeface="Montserrat"/>
                <a:sym typeface="Montserrat"/>
              </a:rPr>
              <a:t>9.</a:t>
            </a:r>
            <a:r>
              <a:rPr b="1" i="0" lang="en" sz="1600" u="none" cap="none" strike="noStrike">
                <a:solidFill>
                  <a:schemeClr val="lt1"/>
                </a:solidFill>
                <a:latin typeface="Montserrat"/>
                <a:ea typeface="Montserrat"/>
                <a:cs typeface="Montserrat"/>
                <a:sym typeface="Montserrat"/>
              </a:rPr>
              <a:t> Berikut ini, pengertian design thinking yang benar adalah, kecuali…</a:t>
            </a:r>
            <a:endParaRPr b="1" i="0" sz="16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Design thinking adalah metodologi desain yang menyediakan pendekatan berbasis solusi untuk memecahkan masalah. </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Design thinking adalah cara berpikir baru yang revolusioner tentang cara kerja pasar, bagaimana konsumen, perusahaan atau merek, pesaing, dan lainnya berinteraksi dan menciptakan nilai.</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Design thinking adalah istilah yang digunakan untuk mewakili serangkaian proses kognitif, strategis, dan praktis dalam proses desain.</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100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Proses design thinking bersifat iteratif, fleksibel, dan berfokus pada kolaborasi antara desainer dan pengguna.</a:t>
            </a:r>
            <a:endParaRPr b="0" i="0" sz="1200" u="none" cap="none" strike="noStrike">
              <a:solidFill>
                <a:schemeClr val="lt1"/>
              </a:solidFill>
              <a:latin typeface="Montserrat Medium"/>
              <a:ea typeface="Montserrat Medium"/>
              <a:cs typeface="Montserrat Medium"/>
              <a:sym typeface="Montserrat Medium"/>
            </a:endParaRPr>
          </a:p>
        </p:txBody>
      </p:sp>
      <p:sp>
        <p:nvSpPr>
          <p:cNvPr id="350" name="Google Shape;350;p36"/>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7"/>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Pembahasan Quiz</a:t>
            </a:r>
            <a:endParaRPr/>
          </a:p>
        </p:txBody>
      </p:sp>
      <p:sp>
        <p:nvSpPr>
          <p:cNvPr id="356" name="Google Shape;356;p3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dk1"/>
              </a:buClr>
              <a:buSzPts val="1100"/>
              <a:buFont typeface="Arial"/>
              <a:buNone/>
            </a:pPr>
            <a:r>
              <a:rPr b="1" i="0" lang="en" sz="1600" u="none" cap="none" strike="noStrike">
                <a:solidFill>
                  <a:schemeClr val="accent1"/>
                </a:solidFill>
                <a:latin typeface="Montserrat"/>
                <a:ea typeface="Montserrat"/>
                <a:cs typeface="Montserrat"/>
                <a:sym typeface="Montserrat"/>
              </a:rPr>
              <a:t>9.</a:t>
            </a:r>
            <a:r>
              <a:rPr b="1" i="0" lang="en" sz="1600" u="none" cap="none" strike="noStrike">
                <a:solidFill>
                  <a:schemeClr val="lt1"/>
                </a:solidFill>
                <a:latin typeface="Montserrat"/>
                <a:ea typeface="Montserrat"/>
                <a:cs typeface="Montserrat"/>
                <a:sym typeface="Montserrat"/>
              </a:rPr>
              <a:t> Berikut ini, pengertian design thinking yang benar adalah, kecuali…</a:t>
            </a:r>
            <a:endParaRPr b="1" i="0" sz="16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rgbClr val="A667A5"/>
              </a:solidFill>
              <a:latin typeface="Raleway Medium"/>
              <a:ea typeface="Raleway Medium"/>
              <a:cs typeface="Raleway Medium"/>
              <a:sym typeface="Raleway Medium"/>
            </a:endParaRPr>
          </a:p>
          <a:p>
            <a:pPr indent="-304800" lvl="0" marL="457200" marR="0" rtl="0" algn="just">
              <a:lnSpc>
                <a:spcPct val="115000"/>
              </a:lnSpc>
              <a:spcBef>
                <a:spcPts val="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Design thinking adalah metodologi desain yang menyediakan pendekatan berbasis solusi untuk memecahkan masalah. </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Design thinking adalah cara berpikir baru yang revolusioner tentang cara kerja pasar, bagaimana konsumen, perusahaan atau merek, pesaing, dan lainnya berinteraksi dan menciptakan nilai.</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Design thinking adalah istilah yang digunakan untuk mewakili serangkaian proses kognitif, strategis, dan praktis dalam proses desain.</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Proses design thinking bersifat iteratif, fleksibel, dan berfokus pada kolaborasi antara desainer dan pengguna.</a:t>
            </a:r>
            <a:endParaRPr b="0" i="0" sz="1200" u="none" cap="none" strike="noStrike">
              <a:solidFill>
                <a:srgbClr val="A667A5"/>
              </a:solidFill>
              <a:latin typeface="Montserrat Medium"/>
              <a:ea typeface="Montserrat Medium"/>
              <a:cs typeface="Montserrat Medium"/>
              <a:sym typeface="Montserrat Medium"/>
            </a:endParaRPr>
          </a:p>
          <a:p>
            <a:pPr indent="0" lvl="0" marL="0" marR="0" rtl="0" algn="l">
              <a:lnSpc>
                <a:spcPct val="115000"/>
              </a:lnSpc>
              <a:spcBef>
                <a:spcPts val="100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p:txBody>
      </p:sp>
      <p:sp>
        <p:nvSpPr>
          <p:cNvPr id="357" name="Google Shape;357;p37"/>
          <p:cNvSpPr/>
          <p:nvPr/>
        </p:nvSpPr>
        <p:spPr>
          <a:xfrm>
            <a:off x="685800" y="4205400"/>
            <a:ext cx="7772400" cy="739800"/>
          </a:xfrm>
          <a:prstGeom prst="rect">
            <a:avLst/>
          </a:prstGeom>
          <a:solidFill>
            <a:srgbClr val="F2AB2F"/>
          </a:solidFill>
          <a:ln>
            <a:noFill/>
          </a:ln>
        </p:spPr>
        <p:txBody>
          <a:bodyPr anchorCtr="0" anchor="ctr"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200"/>
              <a:buFont typeface="Arial"/>
              <a:buNone/>
            </a:pPr>
            <a:r>
              <a:rPr b="1" i="0" lang="en" sz="1200" u="none" cap="none" strike="noStrike">
                <a:solidFill>
                  <a:srgbClr val="733572"/>
                </a:solidFill>
                <a:latin typeface="Montserrat"/>
                <a:ea typeface="Montserrat"/>
                <a:cs typeface="Montserrat"/>
                <a:sym typeface="Montserrat"/>
              </a:rPr>
              <a:t>Design thinking adalah metodologi desain yang melibatkan serangkaian proses kognitif, strategis, dan praktis, serta dilakukan secara interatif. Dari empat opsi di atas, opsi B bukan merupakan pernyataan yang benar.</a:t>
            </a:r>
            <a:endParaRPr b="1" i="0" sz="1200" u="none" cap="none" strike="noStrike">
              <a:solidFill>
                <a:srgbClr val="733572"/>
              </a:solidFill>
              <a:latin typeface="Montserrat"/>
              <a:ea typeface="Montserrat"/>
              <a:cs typeface="Montserrat"/>
              <a:sym typeface="Montserrat"/>
            </a:endParaRPr>
          </a:p>
        </p:txBody>
      </p:sp>
      <p:sp>
        <p:nvSpPr>
          <p:cNvPr id="358" name="Google Shape;358;p37"/>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8"/>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Montserrat"/>
                <a:ea typeface="Montserrat"/>
                <a:cs typeface="Montserrat"/>
                <a:sym typeface="Montserrat"/>
              </a:rPr>
              <a:t>Quiz</a:t>
            </a:r>
            <a:endParaRPr/>
          </a:p>
        </p:txBody>
      </p:sp>
      <p:sp>
        <p:nvSpPr>
          <p:cNvPr id="364" name="Google Shape;364;p3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chemeClr val="accent1"/>
                </a:solidFill>
                <a:latin typeface="Montserrat"/>
                <a:ea typeface="Montserrat"/>
                <a:cs typeface="Montserrat"/>
                <a:sym typeface="Montserrat"/>
              </a:rPr>
              <a:t>10.</a:t>
            </a:r>
            <a:r>
              <a:rPr b="1" i="0" lang="en" sz="1800" u="none" cap="none" strike="noStrike">
                <a:solidFill>
                  <a:schemeClr val="lt1"/>
                </a:solidFill>
                <a:latin typeface="Montserrat"/>
                <a:ea typeface="Montserrat"/>
                <a:cs typeface="Montserrat"/>
                <a:sym typeface="Montserrat"/>
              </a:rPr>
              <a:t> Berikut ini, kegunaan design thinking adalah… </a:t>
            </a:r>
            <a:endParaRPr b="1" i="0" sz="18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Memahami kebutuhan pengguna.</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Menambah risiko terkait dengan peluncuran produk.</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Melakukan iterasi dengan lebih lama.</a:t>
            </a:r>
            <a:endParaRPr b="0" i="0" sz="1200" u="none" cap="none" strike="noStrike">
              <a:solidFill>
                <a:schemeClr val="lt1"/>
              </a:solidFill>
              <a:latin typeface="Montserrat Medium"/>
              <a:ea typeface="Montserrat Medium"/>
              <a:cs typeface="Montserrat Medium"/>
              <a:sym typeface="Montserrat Medium"/>
            </a:endParaRPr>
          </a:p>
          <a:p>
            <a:pPr indent="0" lvl="0" marL="0" marR="0" rtl="0" algn="l">
              <a:lnSpc>
                <a:spcPct val="115000"/>
              </a:lnSpc>
              <a:spcBef>
                <a:spcPts val="1000"/>
              </a:spcBef>
              <a:spcAft>
                <a:spcPts val="0"/>
              </a:spcAft>
              <a:buClr>
                <a:srgbClr val="000000"/>
              </a:buClr>
              <a:buSzPts val="1200"/>
              <a:buFont typeface="Arial"/>
              <a:buNone/>
            </a:pPr>
            <a:r>
              <a:t/>
            </a:r>
            <a:endParaRPr b="0" i="0" sz="1200" u="none" cap="none" strike="noStrike">
              <a:solidFill>
                <a:schemeClr val="lt1"/>
              </a:solidFill>
              <a:latin typeface="Raleway Medium"/>
              <a:ea typeface="Raleway Medium"/>
              <a:cs typeface="Raleway Medium"/>
              <a:sym typeface="Raleway Medium"/>
            </a:endParaRPr>
          </a:p>
        </p:txBody>
      </p:sp>
      <p:sp>
        <p:nvSpPr>
          <p:cNvPr id="365" name="Google Shape;365;p38"/>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9"/>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Pembahasan Quiz</a:t>
            </a:r>
            <a:endParaRPr/>
          </a:p>
        </p:txBody>
      </p:sp>
      <p:sp>
        <p:nvSpPr>
          <p:cNvPr id="371" name="Google Shape;371;p3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1" i="0" lang="en" sz="1800" u="none" cap="none" strike="noStrike">
                <a:solidFill>
                  <a:schemeClr val="accent1"/>
                </a:solidFill>
                <a:latin typeface="Montserrat"/>
                <a:ea typeface="Montserrat"/>
                <a:cs typeface="Montserrat"/>
                <a:sym typeface="Montserrat"/>
              </a:rPr>
              <a:t>10.</a:t>
            </a:r>
            <a:r>
              <a:rPr b="1" i="0" lang="en" sz="1800" u="none" cap="none" strike="noStrike">
                <a:solidFill>
                  <a:schemeClr val="lt1"/>
                </a:solidFill>
                <a:latin typeface="Montserrat"/>
                <a:ea typeface="Montserrat"/>
                <a:cs typeface="Montserrat"/>
                <a:sym typeface="Montserrat"/>
              </a:rPr>
              <a:t> Berikut ini, kegunaan design thinking adalah… </a:t>
            </a:r>
            <a:endParaRPr b="1" i="0" sz="18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Memahami kebutuhan pengguna.</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Menambah risiko terkait dengan peluncuran produk.</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Melakukan iterasi dengan lebih lama.</a:t>
            </a:r>
            <a:endParaRPr b="0" i="0" sz="1200" u="none" cap="none" strike="noStrike">
              <a:solidFill>
                <a:srgbClr val="A667A5"/>
              </a:solidFill>
              <a:latin typeface="Montserrat Medium"/>
              <a:ea typeface="Montserrat Medium"/>
              <a:cs typeface="Montserrat Medium"/>
              <a:sym typeface="Montserrat Medium"/>
            </a:endParaRPr>
          </a:p>
          <a:p>
            <a:pPr indent="0" lvl="0" marL="0" marR="0" rtl="0" algn="l">
              <a:lnSpc>
                <a:spcPct val="115000"/>
              </a:lnSpc>
              <a:spcBef>
                <a:spcPts val="1000"/>
              </a:spcBef>
              <a:spcAft>
                <a:spcPts val="0"/>
              </a:spcAft>
              <a:buClr>
                <a:schemeClr val="dk1"/>
              </a:buClr>
              <a:buSzPts val="1100"/>
              <a:buFont typeface="Arial"/>
              <a:buNone/>
            </a:pPr>
            <a:r>
              <a:t/>
            </a:r>
            <a:endParaRPr b="0" i="0" sz="1200" u="none" cap="none" strike="noStrike">
              <a:solidFill>
                <a:schemeClr val="lt1"/>
              </a:solidFill>
              <a:latin typeface="Raleway Medium"/>
              <a:ea typeface="Raleway Medium"/>
              <a:cs typeface="Raleway Medium"/>
              <a:sym typeface="Raleway Medium"/>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lt1"/>
              </a:solidFill>
              <a:latin typeface="Raleway Medium"/>
              <a:ea typeface="Raleway Medium"/>
              <a:cs typeface="Raleway Medium"/>
              <a:sym typeface="Raleway Medium"/>
            </a:endParaRPr>
          </a:p>
        </p:txBody>
      </p:sp>
      <p:sp>
        <p:nvSpPr>
          <p:cNvPr id="372" name="Google Shape;372;p39"/>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73" name="Google Shape;373;p39"/>
          <p:cNvSpPr/>
          <p:nvPr/>
        </p:nvSpPr>
        <p:spPr>
          <a:xfrm>
            <a:off x="685800" y="3089825"/>
            <a:ext cx="7772400" cy="1299300"/>
          </a:xfrm>
          <a:prstGeom prst="rect">
            <a:avLst/>
          </a:prstGeom>
          <a:solidFill>
            <a:srgbClr val="F2AB2F"/>
          </a:solidFill>
          <a:ln>
            <a:noFill/>
          </a:ln>
        </p:spPr>
        <p:txBody>
          <a:bodyPr anchorCtr="0" anchor="ctr" bIns="91425" lIns="91425" spcFirstLastPara="1" rIns="91425" wrap="square" tIns="91425">
            <a:noAutofit/>
          </a:bodyPr>
          <a:lstStyle/>
          <a:p>
            <a:pPr indent="0" lvl="0" marL="0" marR="0" rtl="0" algn="just">
              <a:lnSpc>
                <a:spcPct val="115000"/>
              </a:lnSpc>
              <a:spcBef>
                <a:spcPts val="0"/>
              </a:spcBef>
              <a:spcAft>
                <a:spcPts val="0"/>
              </a:spcAft>
              <a:buClr>
                <a:schemeClr val="dk1"/>
              </a:buClr>
              <a:buSzPts val="1100"/>
              <a:buFont typeface="Arial"/>
              <a:buNone/>
            </a:pPr>
            <a:r>
              <a:rPr b="1" i="0" lang="en" sz="1200" u="none" cap="none" strike="noStrike">
                <a:solidFill>
                  <a:srgbClr val="743673"/>
                </a:solidFill>
                <a:latin typeface="Montserrat"/>
                <a:ea typeface="Montserrat"/>
                <a:cs typeface="Montserrat"/>
                <a:sym typeface="Montserrat"/>
              </a:rPr>
              <a:t>Penerapan design thinking memiliki beberapa kegunaan, yaitu:</a:t>
            </a:r>
            <a:endParaRPr b="1" i="0" sz="1200" u="none" cap="none" strike="noStrike">
              <a:solidFill>
                <a:srgbClr val="743673"/>
              </a:solidFill>
              <a:latin typeface="Montserrat"/>
              <a:ea typeface="Montserrat"/>
              <a:cs typeface="Montserrat"/>
              <a:sym typeface="Montserrat"/>
            </a:endParaRPr>
          </a:p>
          <a:p>
            <a:pPr indent="-304800" lvl="0" marL="457200" marR="0" rtl="0" algn="just">
              <a:lnSpc>
                <a:spcPct val="115000"/>
              </a:lnSpc>
              <a:spcBef>
                <a:spcPts val="0"/>
              </a:spcBef>
              <a:spcAft>
                <a:spcPts val="0"/>
              </a:spcAft>
              <a:buClr>
                <a:srgbClr val="743673"/>
              </a:buClr>
              <a:buSzPts val="1200"/>
              <a:buFont typeface="Montserrat"/>
              <a:buAutoNum type="arabicPeriod"/>
            </a:pPr>
            <a:r>
              <a:rPr b="1" i="0" lang="en" sz="1200" u="none" cap="none" strike="noStrike">
                <a:solidFill>
                  <a:srgbClr val="743673"/>
                </a:solidFill>
                <a:latin typeface="Montserrat"/>
                <a:ea typeface="Montserrat"/>
                <a:cs typeface="Montserrat"/>
                <a:sym typeface="Montserrat"/>
              </a:rPr>
              <a:t>Memahami kebutuhan pengguna.</a:t>
            </a:r>
            <a:endParaRPr b="1" i="0" sz="1200" u="none" cap="none" strike="noStrike">
              <a:solidFill>
                <a:srgbClr val="743673"/>
              </a:solidFill>
              <a:latin typeface="Montserrat"/>
              <a:ea typeface="Montserrat"/>
              <a:cs typeface="Montserrat"/>
              <a:sym typeface="Montserrat"/>
            </a:endParaRPr>
          </a:p>
          <a:p>
            <a:pPr indent="-304800" lvl="0" marL="457200" marR="0" rtl="0" algn="just">
              <a:lnSpc>
                <a:spcPct val="115000"/>
              </a:lnSpc>
              <a:spcBef>
                <a:spcPts val="0"/>
              </a:spcBef>
              <a:spcAft>
                <a:spcPts val="0"/>
              </a:spcAft>
              <a:buClr>
                <a:srgbClr val="743673"/>
              </a:buClr>
              <a:buSzPts val="1200"/>
              <a:buFont typeface="Montserrat"/>
              <a:buAutoNum type="arabicPeriod"/>
            </a:pPr>
            <a:r>
              <a:rPr b="1" i="0" lang="en" sz="1200" u="none" cap="none" strike="noStrike">
                <a:solidFill>
                  <a:srgbClr val="743673"/>
                </a:solidFill>
                <a:latin typeface="Montserrat"/>
                <a:ea typeface="Montserrat"/>
                <a:cs typeface="Montserrat"/>
                <a:sym typeface="Montserrat"/>
              </a:rPr>
              <a:t>Menghasilkan produk yang indah dipandang dan mudah digunakan.</a:t>
            </a:r>
            <a:endParaRPr b="1" i="0" sz="1200" u="none" cap="none" strike="noStrike">
              <a:solidFill>
                <a:srgbClr val="743673"/>
              </a:solidFill>
              <a:latin typeface="Montserrat"/>
              <a:ea typeface="Montserrat"/>
              <a:cs typeface="Montserrat"/>
              <a:sym typeface="Montserrat"/>
            </a:endParaRPr>
          </a:p>
          <a:p>
            <a:pPr indent="-304800" lvl="0" marL="457200" marR="0" rtl="0" algn="just">
              <a:lnSpc>
                <a:spcPct val="115000"/>
              </a:lnSpc>
              <a:spcBef>
                <a:spcPts val="0"/>
              </a:spcBef>
              <a:spcAft>
                <a:spcPts val="0"/>
              </a:spcAft>
              <a:buClr>
                <a:srgbClr val="743673"/>
              </a:buClr>
              <a:buSzPts val="1200"/>
              <a:buFont typeface="Montserrat"/>
              <a:buAutoNum type="arabicPeriod"/>
            </a:pPr>
            <a:r>
              <a:rPr b="1" i="0" lang="en" sz="1200" u="none" cap="none" strike="noStrike">
                <a:solidFill>
                  <a:srgbClr val="743673"/>
                </a:solidFill>
                <a:latin typeface="Montserrat"/>
                <a:ea typeface="Montserrat"/>
                <a:cs typeface="Montserrat"/>
                <a:sym typeface="Montserrat"/>
              </a:rPr>
              <a:t>Menghasilkan produk yang dapat menjadi solusi permasalahan manusia.</a:t>
            </a:r>
            <a:endParaRPr b="1" i="0" sz="1200" u="none" cap="none" strike="noStrike">
              <a:solidFill>
                <a:srgbClr val="743673"/>
              </a:solidFill>
              <a:latin typeface="Montserrat"/>
              <a:ea typeface="Montserrat"/>
              <a:cs typeface="Montserrat"/>
              <a:sym typeface="Montserrat"/>
            </a:endParaRPr>
          </a:p>
          <a:p>
            <a:pPr indent="-304800" lvl="0" marL="457200" marR="0" rtl="0" algn="just">
              <a:lnSpc>
                <a:spcPct val="115000"/>
              </a:lnSpc>
              <a:spcBef>
                <a:spcPts val="0"/>
              </a:spcBef>
              <a:spcAft>
                <a:spcPts val="0"/>
              </a:spcAft>
              <a:buClr>
                <a:srgbClr val="743673"/>
              </a:buClr>
              <a:buSzPts val="1200"/>
              <a:buFont typeface="Montserrat"/>
              <a:buAutoNum type="arabicPeriod"/>
            </a:pPr>
            <a:r>
              <a:rPr b="1" i="0" lang="en" sz="1200" u="none" cap="none" strike="noStrike">
                <a:solidFill>
                  <a:srgbClr val="743673"/>
                </a:solidFill>
                <a:latin typeface="Montserrat"/>
                <a:ea typeface="Montserrat"/>
                <a:cs typeface="Montserrat"/>
                <a:sym typeface="Montserrat"/>
              </a:rPr>
              <a:t>Mengurangi resiko penolakan produk oleh pengguna.</a:t>
            </a:r>
            <a:endParaRPr b="1" i="0" sz="1200" u="none" cap="none" strike="noStrike">
              <a:solidFill>
                <a:srgbClr val="743673"/>
              </a:solidFill>
              <a:latin typeface="Montserrat"/>
              <a:ea typeface="Montserrat"/>
              <a:cs typeface="Montserrat"/>
              <a:sym typeface="Montserra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0"/>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79" name="Google Shape;379;p40"/>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380" name="Google Shape;380;p40"/>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381" name="Google Shape;381;p40"/>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just">
              <a:lnSpc>
                <a:spcPct val="115000"/>
              </a:lnSpc>
              <a:spcBef>
                <a:spcPts val="1600"/>
              </a:spcBef>
              <a:spcAft>
                <a:spcPts val="0"/>
              </a:spcAft>
              <a:buClr>
                <a:srgbClr val="000000"/>
              </a:buClr>
              <a:buSzPts val="1400"/>
              <a:buFont typeface="Arial"/>
              <a:buNone/>
            </a:pPr>
            <a:r>
              <a:rPr b="1" i="0" lang="en" sz="1800" u="none" cap="none" strike="noStrike">
                <a:solidFill>
                  <a:srgbClr val="743673"/>
                </a:solidFill>
                <a:highlight>
                  <a:schemeClr val="lt1"/>
                </a:highlight>
                <a:latin typeface="Raleway"/>
                <a:ea typeface="Raleway"/>
                <a:cs typeface="Raleway"/>
                <a:sym typeface="Raleway"/>
              </a:rPr>
              <a:t>Referensi dan bacaan lebih lanjut~</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Medium"/>
                <a:ea typeface="Montserrat Medium"/>
                <a:cs typeface="Montserrat Medium"/>
                <a:sym typeface="Montserrat Medium"/>
              </a:rPr>
              <a:t>1) </a:t>
            </a:r>
            <a:r>
              <a:rPr b="0" i="0" lang="en" sz="1000" u="sng" cap="none" strike="noStrike">
                <a:solidFill>
                  <a:schemeClr val="dk1"/>
                </a:solidFill>
                <a:latin typeface="Montserrat Medium"/>
                <a:ea typeface="Montserrat Medium"/>
                <a:cs typeface="Montserrat Medium"/>
                <a:sym typeface="Montserrat Medium"/>
                <a:hlinkClick r:id="rId4">
                  <a:extLst>
                    <a:ext uri="{A12FA001-AC4F-418D-AE19-62706E023703}">
                      <ahyp:hlinkClr val="tx"/>
                    </a:ext>
                  </a:extLst>
                </a:hlinkClick>
              </a:rPr>
              <a:t>Design Thinking by Interaction Design Foundation</a:t>
            </a:r>
            <a:endParaRPr b="0" i="0" sz="1000" u="none" cap="none" strike="noStrike">
              <a:solidFill>
                <a:schemeClr val="dk1"/>
              </a:solidFill>
              <a:latin typeface="Montserrat Medium"/>
              <a:ea typeface="Montserrat Medium"/>
              <a:cs typeface="Montserrat Medium"/>
              <a:sym typeface="Montserrat Medium"/>
            </a:endParaRPr>
          </a:p>
          <a:p>
            <a:pPr indent="0" lvl="0" marL="0" marR="0" rtl="0" algn="just">
              <a:lnSpc>
                <a:spcPct val="115000"/>
              </a:lnSpc>
              <a:spcBef>
                <a:spcPts val="1000"/>
              </a:spcBef>
              <a:spcAft>
                <a:spcPts val="0"/>
              </a:spcAft>
              <a:buClr>
                <a:srgbClr val="000000"/>
              </a:buClr>
              <a:buSzPts val="1000"/>
              <a:buFont typeface="Arial"/>
              <a:buNone/>
            </a:pPr>
            <a:r>
              <a:rPr b="0" i="0" lang="en" sz="1000" u="none" cap="none" strike="noStrike">
                <a:solidFill>
                  <a:schemeClr val="dk1"/>
                </a:solidFill>
                <a:latin typeface="Montserrat Medium"/>
                <a:ea typeface="Montserrat Medium"/>
                <a:cs typeface="Montserrat Medium"/>
                <a:sym typeface="Montserrat Medium"/>
              </a:rPr>
              <a:t>2) </a:t>
            </a:r>
            <a:r>
              <a:rPr b="0" i="0" lang="en" sz="1000" u="sng" cap="none" strike="noStrike">
                <a:solidFill>
                  <a:schemeClr val="dk1"/>
                </a:solidFill>
                <a:latin typeface="Montserrat Medium"/>
                <a:ea typeface="Montserrat Medium"/>
                <a:cs typeface="Montserrat Medium"/>
                <a:sym typeface="Montserrat Medium"/>
                <a:hlinkClick r:id="rId5">
                  <a:extLst>
                    <a:ext uri="{A12FA001-AC4F-418D-AE19-62706E023703}">
                      <ahyp:hlinkClr val="tx"/>
                    </a:ext>
                  </a:extLst>
                </a:hlinkClick>
              </a:rPr>
              <a:t>5 Stages in The Design Thinking Process by Interaction Design Foundation</a:t>
            </a:r>
            <a:endParaRPr b="0" i="0" sz="1000" u="none" cap="none" strike="noStrike">
              <a:solidFill>
                <a:schemeClr val="dk1"/>
              </a:solidFill>
              <a:latin typeface="Montserrat Medium"/>
              <a:ea typeface="Montserrat Medium"/>
              <a:cs typeface="Montserrat Medium"/>
              <a:sym typeface="Montserrat Medium"/>
            </a:endParaRPr>
          </a:p>
          <a:p>
            <a:pPr indent="0" lvl="0" marL="0" marR="0" rtl="0" algn="just">
              <a:lnSpc>
                <a:spcPct val="115000"/>
              </a:lnSpc>
              <a:spcBef>
                <a:spcPts val="1000"/>
              </a:spcBef>
              <a:spcAft>
                <a:spcPts val="1000"/>
              </a:spcAft>
              <a:buClr>
                <a:srgbClr val="000000"/>
              </a:buClr>
              <a:buSzPts val="1000"/>
              <a:buFont typeface="Arial"/>
              <a:buNone/>
            </a:pPr>
            <a:r>
              <a:rPr b="0" i="0" lang="en" sz="1000" u="none" cap="none" strike="noStrike">
                <a:solidFill>
                  <a:schemeClr val="dk1"/>
                </a:solidFill>
                <a:latin typeface="Montserrat Medium"/>
                <a:ea typeface="Montserrat Medium"/>
                <a:cs typeface="Montserrat Medium"/>
                <a:sym typeface="Montserrat Medium"/>
              </a:rPr>
              <a:t>3) </a:t>
            </a:r>
            <a:r>
              <a:rPr b="0" i="0" lang="en" sz="1000" u="sng" cap="none" strike="noStrike">
                <a:solidFill>
                  <a:schemeClr val="dk1"/>
                </a:solidFill>
                <a:latin typeface="Montserrat Medium"/>
                <a:ea typeface="Montserrat Medium"/>
                <a:cs typeface="Montserrat Medium"/>
                <a:sym typeface="Montserrat Medium"/>
                <a:hlinkClick r:id="rId6">
                  <a:extLst>
                    <a:ext uri="{A12FA001-AC4F-418D-AE19-62706E023703}">
                      <ahyp:hlinkClr val="tx"/>
                    </a:ext>
                  </a:extLst>
                </a:hlinkClick>
              </a:rPr>
              <a:t>Why Design Thinking Works by Harvard Business Review</a:t>
            </a:r>
            <a:endParaRPr b="0" i="0" sz="1000" u="none" cap="none" strike="noStrike">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1"/>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387" name="Google Shape;387;p41"/>
          <p:cNvSpPr txBox="1"/>
          <p:nvPr/>
        </p:nvSpPr>
        <p:spPr>
          <a:xfrm>
            <a:off x="685800" y="1600200"/>
            <a:ext cx="42099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dk1"/>
              </a:buClr>
              <a:buSzPts val="4000"/>
              <a:buFont typeface="Arial"/>
              <a:buNone/>
            </a:pPr>
            <a:r>
              <a:rPr b="1" i="0" lang="en" sz="1400" u="none" cap="none" strike="noStrike">
                <a:solidFill>
                  <a:schemeClr val="lt1"/>
                </a:solidFill>
                <a:latin typeface="Montserrat"/>
                <a:ea typeface="Montserrat"/>
                <a:cs typeface="Montserrat"/>
                <a:sym typeface="Montserrat"/>
              </a:rPr>
              <a:t>Nah, selesai sudah pembahasan kita di Chapter 1 Topic 4 ini. Pembahasan ini sekaligus menutup chapter 1, lho!</a:t>
            </a:r>
            <a:endParaRPr b="1" i="0" sz="1400" u="none" cap="none" strike="noStrike">
              <a:solidFill>
                <a:schemeClr val="lt1"/>
              </a:solidFill>
              <a:latin typeface="Montserrat"/>
              <a:ea typeface="Montserrat"/>
              <a:cs typeface="Montserrat"/>
              <a:sym typeface="Montserrat"/>
            </a:endParaRPr>
          </a:p>
          <a:p>
            <a:pPr indent="0" lvl="0" marL="0" marR="0" rtl="0" algn="just">
              <a:lnSpc>
                <a:spcPct val="115000"/>
              </a:lnSpc>
              <a:spcBef>
                <a:spcPts val="1000"/>
              </a:spcBef>
              <a:spcAft>
                <a:spcPts val="0"/>
              </a:spcAft>
              <a:buClr>
                <a:schemeClr val="dk1"/>
              </a:buClr>
              <a:buSzPts val="4000"/>
              <a:buFont typeface="Arial"/>
              <a:buNone/>
            </a:pPr>
            <a:r>
              <a:rPr b="1" i="0" lang="en" sz="1400" u="none" cap="none" strike="noStrike">
                <a:solidFill>
                  <a:schemeClr val="lt1"/>
                </a:solidFill>
                <a:latin typeface="Montserrat"/>
                <a:ea typeface="Montserrat"/>
                <a:cs typeface="Montserrat"/>
                <a:sym typeface="Montserrat"/>
              </a:rPr>
              <a:t>Penasaran tentang </a:t>
            </a:r>
            <a:r>
              <a:rPr b="1" i="0" lang="en" sz="1400" u="none" cap="none" strike="noStrike">
                <a:solidFill>
                  <a:srgbClr val="F2AB2F"/>
                </a:solidFill>
                <a:latin typeface="Montserrat"/>
                <a:ea typeface="Montserrat"/>
                <a:cs typeface="Montserrat"/>
                <a:sym typeface="Montserrat"/>
              </a:rPr>
              <a:t>design thinking yang lebih detail lagi?</a:t>
            </a:r>
            <a:r>
              <a:rPr b="1" i="0" lang="en" sz="1400" u="none" cap="none" strike="noStrike">
                <a:solidFill>
                  <a:schemeClr val="lt1"/>
                </a:solidFill>
                <a:latin typeface="Montserrat"/>
                <a:ea typeface="Montserrat"/>
                <a:cs typeface="Montserrat"/>
                <a:sym typeface="Montserrat"/>
              </a:rPr>
              <a:t> Kita bakal kupas tuntas di pembahasan selanjutnya!</a:t>
            </a:r>
            <a:endParaRPr b="1" i="0" sz="1400" u="none" cap="none" strike="noStrike">
              <a:solidFill>
                <a:schemeClr val="lt1"/>
              </a:solidFill>
              <a:latin typeface="Montserrat"/>
              <a:ea typeface="Montserrat"/>
              <a:cs typeface="Montserrat"/>
              <a:sym typeface="Montserrat"/>
            </a:endParaRPr>
          </a:p>
          <a:p>
            <a:pPr indent="0" lvl="0" marL="0" marR="0" rtl="0" algn="just">
              <a:lnSpc>
                <a:spcPct val="115000"/>
              </a:lnSpc>
              <a:spcBef>
                <a:spcPts val="1000"/>
              </a:spcBef>
              <a:spcAft>
                <a:spcPts val="0"/>
              </a:spcAft>
              <a:buClr>
                <a:schemeClr val="dk1"/>
              </a:buClr>
              <a:buSzPts val="4000"/>
              <a:buFont typeface="Arial"/>
              <a:buNone/>
            </a:pPr>
            <a:r>
              <a:rPr b="1" i="0" lang="en" sz="1400" u="none" cap="none" strike="noStrike">
                <a:solidFill>
                  <a:schemeClr val="lt1"/>
                </a:solidFill>
                <a:latin typeface="Montserrat"/>
                <a:ea typeface="Montserrat"/>
                <a:cs typeface="Montserrat"/>
                <a:sym typeface="Montserrat"/>
              </a:rPr>
              <a:t>Sayonara~</a:t>
            </a:r>
            <a:endParaRPr b="1" i="1" sz="1400" u="none" cap="none" strike="noStrike">
              <a:solidFill>
                <a:schemeClr val="lt1"/>
              </a:solidFill>
              <a:latin typeface="Montserrat"/>
              <a:ea typeface="Montserrat"/>
              <a:cs typeface="Montserrat"/>
              <a:sym typeface="Montserrat"/>
            </a:endParaRPr>
          </a:p>
          <a:p>
            <a:pPr indent="0" lvl="0" marL="0" marR="0" rtl="0" algn="just">
              <a:lnSpc>
                <a:spcPct val="115000"/>
              </a:lnSpc>
              <a:spcBef>
                <a:spcPts val="1000"/>
              </a:spcBef>
              <a:spcAft>
                <a:spcPts val="0"/>
              </a:spcAft>
              <a:buClr>
                <a:schemeClr val="dk1"/>
              </a:buClr>
              <a:buSzPts val="4000"/>
              <a:buFont typeface="Arial"/>
              <a:buNone/>
            </a:pPr>
            <a:r>
              <a:t/>
            </a:r>
            <a:endParaRPr b="1" i="0" sz="1400" u="none" cap="none" strike="noStrike">
              <a:solidFill>
                <a:schemeClr val="lt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400"/>
              <a:buFont typeface="Arial"/>
              <a:buNone/>
            </a:pPr>
            <a:r>
              <a:t/>
            </a:r>
            <a:endParaRPr b="1" i="0" sz="1400" u="none" cap="none" strike="noStrike">
              <a:solidFill>
                <a:schemeClr val="accent1"/>
              </a:solidFill>
              <a:latin typeface="Montserrat"/>
              <a:ea typeface="Montserrat"/>
              <a:cs typeface="Montserrat"/>
              <a:sym typeface="Montserrat"/>
            </a:endParaRPr>
          </a:p>
        </p:txBody>
      </p:sp>
      <p:sp>
        <p:nvSpPr>
          <p:cNvPr id="388" name="Google Shape;388;p41"/>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389" name="Google Shape;389;p41"/>
          <p:cNvPicPr preferRelativeResize="0"/>
          <p:nvPr/>
        </p:nvPicPr>
        <p:blipFill rotWithShape="1">
          <a:blip r:embed="rId3">
            <a:alphaModFix/>
          </a:blip>
          <a:srcRect b="0" l="0" r="0" t="0"/>
          <a:stretch/>
        </p:blipFill>
        <p:spPr>
          <a:xfrm>
            <a:off x="4101881" y="720675"/>
            <a:ext cx="5687844" cy="433819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393" name="Shape 393"/>
        <p:cNvGrpSpPr/>
        <p:nvPr/>
      </p:nvGrpSpPr>
      <p:grpSpPr>
        <a:xfrm>
          <a:off x="0" y="0"/>
          <a:ext cx="0" cy="0"/>
          <a:chOff x="0" y="0"/>
          <a:chExt cx="0" cy="0"/>
        </a:xfrm>
      </p:grpSpPr>
      <p:sp>
        <p:nvSpPr>
          <p:cNvPr id="394" name="Google Shape;394;p42"/>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95" name="Google Shape;395;p42"/>
          <p:cNvPicPr preferRelativeResize="0"/>
          <p:nvPr/>
        </p:nvPicPr>
        <p:blipFill rotWithShape="1">
          <a:blip r:embed="rId3">
            <a:alphaModFix/>
          </a:blip>
          <a:srcRect b="0" l="0" r="13247" t="0"/>
          <a:stretch/>
        </p:blipFill>
        <p:spPr>
          <a:xfrm>
            <a:off x="7987325" y="4075701"/>
            <a:ext cx="709350" cy="817600"/>
          </a:xfrm>
          <a:prstGeom prst="rect">
            <a:avLst/>
          </a:prstGeom>
          <a:noFill/>
          <a:ln>
            <a:noFill/>
          </a:ln>
        </p:spPr>
      </p:pic>
      <p:pic>
        <p:nvPicPr>
          <p:cNvPr id="396" name="Google Shape;396;p42"/>
          <p:cNvPicPr preferRelativeResize="0"/>
          <p:nvPr/>
        </p:nvPicPr>
        <p:blipFill rotWithShape="1">
          <a:blip r:embed="rId4">
            <a:alphaModFix/>
          </a:blip>
          <a:srcRect b="0" l="0" r="0" t="0"/>
          <a:stretch/>
        </p:blipFill>
        <p:spPr>
          <a:xfrm>
            <a:off x="10903550" y="914410"/>
            <a:ext cx="1991475" cy="685884"/>
          </a:xfrm>
          <a:prstGeom prst="rect">
            <a:avLst/>
          </a:prstGeom>
          <a:noFill/>
          <a:ln>
            <a:noFill/>
          </a:ln>
        </p:spPr>
      </p:pic>
      <p:pic>
        <p:nvPicPr>
          <p:cNvPr id="397" name="Google Shape;397;p42"/>
          <p:cNvPicPr preferRelativeResize="0"/>
          <p:nvPr/>
        </p:nvPicPr>
        <p:blipFill rotWithShape="1">
          <a:blip r:embed="rId5">
            <a:alphaModFix/>
          </a:blip>
          <a:srcRect b="0" l="0" r="0" t="0"/>
          <a:stretch/>
        </p:blipFill>
        <p:spPr>
          <a:xfrm>
            <a:off x="428225" y="4140630"/>
            <a:ext cx="1991475" cy="687732"/>
          </a:xfrm>
          <a:prstGeom prst="rect">
            <a:avLst/>
          </a:prstGeom>
          <a:noFill/>
          <a:ln>
            <a:noFill/>
          </a:ln>
        </p:spPr>
      </p:pic>
      <p:pic>
        <p:nvPicPr>
          <p:cNvPr id="398" name="Google Shape;398;p42"/>
          <p:cNvPicPr preferRelativeResize="0"/>
          <p:nvPr/>
        </p:nvPicPr>
        <p:blipFill rotWithShape="1">
          <a:blip r:embed="rId6">
            <a:alphaModFix/>
          </a:blip>
          <a:srcRect b="0" l="0" r="0" t="0"/>
          <a:stretch/>
        </p:blipFill>
        <p:spPr>
          <a:xfrm>
            <a:off x="1734050" y="469336"/>
            <a:ext cx="5675902" cy="420482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