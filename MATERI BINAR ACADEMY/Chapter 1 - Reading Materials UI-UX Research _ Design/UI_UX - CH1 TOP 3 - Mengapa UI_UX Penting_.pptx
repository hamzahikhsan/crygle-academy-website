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aleway"/>
      <p:regular r:id="rId35"/>
      <p:bold r:id="rId36"/>
      <p:italic r:id="rId37"/>
      <p:boldItalic r:id="rId38"/>
    </p:embeddedFont>
    <p:embeddedFont>
      <p:font typeface="Raleway SemiBold"/>
      <p:regular r:id="rId39"/>
      <p:bold r:id="rId40"/>
      <p:italic r:id="rId41"/>
      <p:boldItalic r:id="rId42"/>
    </p:embeddedFont>
    <p:embeddedFont>
      <p:font typeface="Montserrat"/>
      <p:regular r:id="rId43"/>
      <p:bold r:id="rId44"/>
      <p:italic r:id="rId45"/>
      <p:boldItalic r:id="rId46"/>
    </p:embeddedFont>
    <p:embeddedFont>
      <p:font typeface="Montserrat Medium"/>
      <p:regular r:id="rId47"/>
      <p:bold r:id="rId48"/>
      <p:italic r:id="rId49"/>
      <p:boldItalic r:id="rId50"/>
    </p:embeddedFont>
    <p:embeddedFont>
      <p:font typeface="Lato Black"/>
      <p:bold r:id="rId51"/>
      <p:boldItalic r:id="rId52"/>
    </p:embeddedFont>
    <p:embeddedFont>
      <p:font typeface="Raleway Medium"/>
      <p:regular r:id="rId53"/>
      <p:bold r:id="rId54"/>
      <p:italic r:id="rId55"/>
      <p:boldItalic r:id="rId56"/>
    </p:embeddedFont>
    <p:embeddedFont>
      <p:font typeface="Montserrat ExtraBold"/>
      <p:bold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guide id="8" pos="331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 pos="331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SemiBold-bold.fntdata"/><Relationship Id="rId42" Type="http://schemas.openxmlformats.org/officeDocument/2006/relationships/font" Target="fonts/RalewaySemiBold-boldItalic.fntdata"/><Relationship Id="rId41" Type="http://schemas.openxmlformats.org/officeDocument/2006/relationships/font" Target="fonts/RalewaySemiBold-italic.fntdata"/><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Medium-bold.fntdata"/><Relationship Id="rId47" Type="http://schemas.openxmlformats.org/officeDocument/2006/relationships/font" Target="fonts/MontserratMedium-regular.fntdata"/><Relationship Id="rId49" Type="http://schemas.openxmlformats.org/officeDocument/2006/relationships/font" Target="fonts/Montserrat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aleway-regular.fntdata"/><Relationship Id="rId34" Type="http://schemas.openxmlformats.org/officeDocument/2006/relationships/slide" Target="slides/slide29.xml"/><Relationship Id="rId37" Type="http://schemas.openxmlformats.org/officeDocument/2006/relationships/font" Target="fonts/Raleway-italic.fntdata"/><Relationship Id="rId36" Type="http://schemas.openxmlformats.org/officeDocument/2006/relationships/font" Target="fonts/Raleway-bold.fntdata"/><Relationship Id="rId39" Type="http://schemas.openxmlformats.org/officeDocument/2006/relationships/font" Target="fonts/RalewaySemiBold-regular.fntdata"/><Relationship Id="rId38" Type="http://schemas.openxmlformats.org/officeDocument/2006/relationships/font" Target="fonts/Raleway-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lack-bold.fntdata"/><Relationship Id="rId50" Type="http://schemas.openxmlformats.org/officeDocument/2006/relationships/font" Target="fonts/MontserratMedium-boldItalic.fntdata"/><Relationship Id="rId53" Type="http://schemas.openxmlformats.org/officeDocument/2006/relationships/font" Target="fonts/RalewayMedium-regular.fntdata"/><Relationship Id="rId52" Type="http://schemas.openxmlformats.org/officeDocument/2006/relationships/font" Target="fonts/LatoBlack-boldItalic.fntdata"/><Relationship Id="rId11" Type="http://schemas.openxmlformats.org/officeDocument/2006/relationships/slide" Target="slides/slide6.xml"/><Relationship Id="rId55" Type="http://schemas.openxmlformats.org/officeDocument/2006/relationships/font" Target="fonts/RalewayMedium-italic.fntdata"/><Relationship Id="rId10" Type="http://schemas.openxmlformats.org/officeDocument/2006/relationships/slide" Target="slides/slide5.xml"/><Relationship Id="rId54" Type="http://schemas.openxmlformats.org/officeDocument/2006/relationships/font" Target="fonts/RalewayMedium-bold.fntdata"/><Relationship Id="rId13" Type="http://schemas.openxmlformats.org/officeDocument/2006/relationships/slide" Target="slides/slide8.xml"/><Relationship Id="rId57" Type="http://schemas.openxmlformats.org/officeDocument/2006/relationships/font" Target="fonts/MontserratExtraBold-bold.fntdata"/><Relationship Id="rId12" Type="http://schemas.openxmlformats.org/officeDocument/2006/relationships/slide" Target="slides/slide7.xml"/><Relationship Id="rId56" Type="http://schemas.openxmlformats.org/officeDocument/2006/relationships/font" Target="fonts/RalewayMedium-boldItalic.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MontserratExtraBold-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lga_kononenko?utm_source=unsplash&amp;utm_medium=referral&amp;utm_content=creditCopyText" TargetMode="External"/><Relationship Id="rId3" Type="http://schemas.openxmlformats.org/officeDocument/2006/relationships/hyperlink" Target="https://unsplash.com/@olga_kononenko?utm_source=unsplash&amp;utm_medium=referral&amp;utm_content=creditCopyText" TargetMode="External"/><Relationship Id="rId4" Type="http://schemas.openxmlformats.org/officeDocument/2006/relationships/hyperlink" Target="https://unsplash.com/s/photos/patient?utm_source=unsplash&amp;utm_medium=referral&amp;utm_content=creditCopyText" TargetMode="External"/><Relationship Id="rId5" Type="http://schemas.openxmlformats.org/officeDocument/2006/relationships/hyperlink" Target="https://unsplash.com/s/photos/patient?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12de5da0f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12de5da0f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12de5da0f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12de5da0f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Perlu penjelasan lebih lanjut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0b227ce7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0b227ce7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0e8d20d0b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0e8d20d0b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0b227ce75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0b227ce75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https://makemac.grid.id/read/211981848/13-tahun-lalu-steve-jobs-resmi-kenalkan-iphone-generasi-pertama?page=all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0e8d20d0b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0e8d20d0b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https://www.interaction-design.org/literature/article/design-failures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0e8d20d0b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0e8d20d0b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Olga Kononenko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0e8d20d0b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0e8d20d0b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https://uxstudioteam.com/ux-blog/bad-ux-design/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2de5da0f2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2de5da0f2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https://uxstudioteam.com/ux-blog/bad-ux-design/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0b227ce755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0b227ce75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e54dbc4a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e54dbc4a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0e8d20d0b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0e8d20d0b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12c9d1826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12c9d1826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2c9d18266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2c9d1826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12c9d1826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12c9d1826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12c9d18266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12c9d1826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12e406b6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12e406b6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https://www.interaction-design.org/literature/article/design-failures</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12e406b67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12e406b67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https://www.interaction-design.org/literature/article/design-failures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12e406b67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12e406b67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https://www.interaction-design.org/literature/article/design-failures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12e406b67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12e406b67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https://www.interaction-design.org/literature/article/design-failures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2e406b67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12e406b67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https://www.interaction-design.org/literature/article/design-failures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12e406b67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12e406b67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https://pleated-jeans.com/</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2e406b67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12e406b67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https://www.interaction-design.org/literature/article/design-failures</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12c9d181f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12c9d181f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33c82d9d5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33c82d9d5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https://www.interaction-design.org/literature/article/design-failures</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latin typeface="Raleway SemiBold"/>
                <a:ea typeface="Raleway SemiBold"/>
                <a:cs typeface="Raleway SemiBold"/>
                <a:sym typeface="Raleway SemiBold"/>
              </a:defRPr>
            </a:lvl1pPr>
            <a:lvl2pPr lvl="1" rtl="0">
              <a:buNone/>
              <a:defRPr>
                <a:solidFill>
                  <a:schemeClr val="lt1"/>
                </a:solidFill>
                <a:latin typeface="Raleway SemiBold"/>
                <a:ea typeface="Raleway SemiBold"/>
                <a:cs typeface="Raleway SemiBold"/>
                <a:sym typeface="Raleway SemiBold"/>
              </a:defRPr>
            </a:lvl2pPr>
            <a:lvl3pPr lvl="2" rtl="0">
              <a:buNone/>
              <a:defRPr>
                <a:solidFill>
                  <a:schemeClr val="lt1"/>
                </a:solidFill>
                <a:latin typeface="Raleway SemiBold"/>
                <a:ea typeface="Raleway SemiBold"/>
                <a:cs typeface="Raleway SemiBold"/>
                <a:sym typeface="Raleway SemiBold"/>
              </a:defRPr>
            </a:lvl3pPr>
            <a:lvl4pPr lvl="3" rtl="0">
              <a:buNone/>
              <a:defRPr>
                <a:solidFill>
                  <a:schemeClr val="lt1"/>
                </a:solidFill>
                <a:latin typeface="Raleway SemiBold"/>
                <a:ea typeface="Raleway SemiBold"/>
                <a:cs typeface="Raleway SemiBold"/>
                <a:sym typeface="Raleway SemiBold"/>
              </a:defRPr>
            </a:lvl4pPr>
            <a:lvl5pPr lvl="4" rtl="0">
              <a:buNone/>
              <a:defRPr>
                <a:solidFill>
                  <a:schemeClr val="lt1"/>
                </a:solidFill>
                <a:latin typeface="Raleway SemiBold"/>
                <a:ea typeface="Raleway SemiBold"/>
                <a:cs typeface="Raleway SemiBold"/>
                <a:sym typeface="Raleway SemiBold"/>
              </a:defRPr>
            </a:lvl5pPr>
            <a:lvl6pPr lvl="5" rtl="0">
              <a:buNone/>
              <a:defRPr>
                <a:solidFill>
                  <a:schemeClr val="lt1"/>
                </a:solidFill>
                <a:latin typeface="Raleway SemiBold"/>
                <a:ea typeface="Raleway SemiBold"/>
                <a:cs typeface="Raleway SemiBold"/>
                <a:sym typeface="Raleway SemiBold"/>
              </a:defRPr>
            </a:lvl6pPr>
            <a:lvl7pPr lvl="6" rtl="0">
              <a:buNone/>
              <a:defRPr>
                <a:solidFill>
                  <a:schemeClr val="lt1"/>
                </a:solidFill>
                <a:latin typeface="Raleway SemiBold"/>
                <a:ea typeface="Raleway SemiBold"/>
                <a:cs typeface="Raleway SemiBold"/>
                <a:sym typeface="Raleway SemiBold"/>
              </a:defRPr>
            </a:lvl7pPr>
            <a:lvl8pPr lvl="7" rtl="0">
              <a:buNone/>
              <a:defRPr>
                <a:solidFill>
                  <a:schemeClr val="lt1"/>
                </a:solidFill>
                <a:latin typeface="Raleway SemiBold"/>
                <a:ea typeface="Raleway SemiBold"/>
                <a:cs typeface="Raleway SemiBold"/>
                <a:sym typeface="Raleway SemiBold"/>
              </a:defRPr>
            </a:lvl8pPr>
            <a:lvl9pPr lvl="8" rtl="0">
              <a:buNone/>
              <a:defRPr>
                <a:solidFill>
                  <a:schemeClr val="lt1"/>
                </a:solidFill>
                <a:latin typeface="Raleway SemiBold"/>
                <a:ea typeface="Raleway SemiBold"/>
                <a:cs typeface="Raleway SemiBold"/>
                <a:sym typeface="Raleway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latin typeface="Raleway SemiBold"/>
                <a:ea typeface="Raleway SemiBold"/>
                <a:cs typeface="Raleway SemiBold"/>
                <a:sym typeface="Raleway SemiBold"/>
              </a:defRPr>
            </a:lvl1pPr>
            <a:lvl2pPr lvl="1" rtl="0">
              <a:buNone/>
              <a:defRPr>
                <a:solidFill>
                  <a:schemeClr val="lt1"/>
                </a:solidFill>
                <a:latin typeface="Raleway SemiBold"/>
                <a:ea typeface="Raleway SemiBold"/>
                <a:cs typeface="Raleway SemiBold"/>
                <a:sym typeface="Raleway SemiBold"/>
              </a:defRPr>
            </a:lvl2pPr>
            <a:lvl3pPr lvl="2" rtl="0">
              <a:buNone/>
              <a:defRPr>
                <a:solidFill>
                  <a:schemeClr val="lt1"/>
                </a:solidFill>
                <a:latin typeface="Raleway SemiBold"/>
                <a:ea typeface="Raleway SemiBold"/>
                <a:cs typeface="Raleway SemiBold"/>
                <a:sym typeface="Raleway SemiBold"/>
              </a:defRPr>
            </a:lvl3pPr>
            <a:lvl4pPr lvl="3" rtl="0">
              <a:buNone/>
              <a:defRPr>
                <a:solidFill>
                  <a:schemeClr val="lt1"/>
                </a:solidFill>
                <a:latin typeface="Raleway SemiBold"/>
                <a:ea typeface="Raleway SemiBold"/>
                <a:cs typeface="Raleway SemiBold"/>
                <a:sym typeface="Raleway SemiBold"/>
              </a:defRPr>
            </a:lvl4pPr>
            <a:lvl5pPr lvl="4" rtl="0">
              <a:buNone/>
              <a:defRPr>
                <a:solidFill>
                  <a:schemeClr val="lt1"/>
                </a:solidFill>
                <a:latin typeface="Raleway SemiBold"/>
                <a:ea typeface="Raleway SemiBold"/>
                <a:cs typeface="Raleway SemiBold"/>
                <a:sym typeface="Raleway SemiBold"/>
              </a:defRPr>
            </a:lvl5pPr>
            <a:lvl6pPr lvl="5" rtl="0">
              <a:buNone/>
              <a:defRPr>
                <a:solidFill>
                  <a:schemeClr val="lt1"/>
                </a:solidFill>
                <a:latin typeface="Raleway SemiBold"/>
                <a:ea typeface="Raleway SemiBold"/>
                <a:cs typeface="Raleway SemiBold"/>
                <a:sym typeface="Raleway SemiBold"/>
              </a:defRPr>
            </a:lvl6pPr>
            <a:lvl7pPr lvl="6" rtl="0">
              <a:buNone/>
              <a:defRPr>
                <a:solidFill>
                  <a:schemeClr val="lt1"/>
                </a:solidFill>
                <a:latin typeface="Raleway SemiBold"/>
                <a:ea typeface="Raleway SemiBold"/>
                <a:cs typeface="Raleway SemiBold"/>
                <a:sym typeface="Raleway SemiBold"/>
              </a:defRPr>
            </a:lvl7pPr>
            <a:lvl8pPr lvl="7" rtl="0">
              <a:buNone/>
              <a:defRPr>
                <a:solidFill>
                  <a:schemeClr val="lt1"/>
                </a:solidFill>
                <a:latin typeface="Raleway SemiBold"/>
                <a:ea typeface="Raleway SemiBold"/>
                <a:cs typeface="Raleway SemiBold"/>
                <a:sym typeface="Raleway SemiBold"/>
              </a:defRPr>
            </a:lvl8pPr>
            <a:lvl9pPr lvl="8" rtl="0">
              <a:buNone/>
              <a:defRPr>
                <a:solidFill>
                  <a:schemeClr val="lt1"/>
                </a:solidFill>
                <a:latin typeface="Raleway SemiBold"/>
                <a:ea typeface="Raleway SemiBold"/>
                <a:cs typeface="Raleway SemiBold"/>
                <a:sym typeface="Raleway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makemac.grid.id/read/211981848/13-tahun-lalu-steve-jobs-resmi-kenalkan-iphone-generasi-pertama?page=all" TargetMode="Externa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id1lib.org/ireader/5007024" TargetMode="External"/><Relationship Id="rId4" Type="http://schemas.openxmlformats.org/officeDocument/2006/relationships/hyperlink" Target="https://unsplash.com/@olga_kononenko?utm_source=unsplash&amp;utm_medium=referral&amp;utm_content=creditCopyText" TargetMode="External"/><Relationship Id="rId5"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xstudioteam.com/ux-blog/bad-ux-design/" TargetMode="Externa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xstudioteam.com/ux-blog/bad-ux-design/" TargetMode="External"/><Relationship Id="rId4" Type="http://schemas.openxmlformats.org/officeDocument/2006/relationships/image" Target="../media/image4.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hyperlink" Target="https://bootcamp.uxdesign.cc/watch-out-a-bad-interface-design-kills-seriously-3326f5b038f9" TargetMode="External"/><Relationship Id="rId9" Type="http://schemas.openxmlformats.org/officeDocument/2006/relationships/hyperlink" Target="https://www.core77.com/posts/54026/When-Bad-UI-Design-Kills-Is-Poor-Shift-Lever-Design-to-Blame-for-Death-of-Star-Trek-Actor" TargetMode="External"/><Relationship Id="rId5" Type="http://schemas.openxmlformats.org/officeDocument/2006/relationships/hyperlink" Target="https://www.nytimes.com/2003/11/30/magazine/the-guts-of-a-new-machine.html" TargetMode="External"/><Relationship Id="rId6" Type="http://schemas.openxmlformats.org/officeDocument/2006/relationships/hyperlink" Target="https://www.interaction-design.org/literature/article/design-failures" TargetMode="External"/><Relationship Id="rId7" Type="http://schemas.openxmlformats.org/officeDocument/2006/relationships/hyperlink" Target="https://medium.com/tragic-design/how-bad-ux-killed-jenny-ef915419879e" TargetMode="External"/><Relationship Id="rId8" Type="http://schemas.openxmlformats.org/officeDocument/2006/relationships/hyperlink" Target="https://medium.com/@anandvaitheeswaran/user-experience-and-three-mile-island-accident-783344597213"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4"/>
          <p:cNvSpPr txBox="1"/>
          <p:nvPr/>
        </p:nvSpPr>
        <p:spPr>
          <a:xfrm>
            <a:off x="2362075" y="2780225"/>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Mengapa UI/UX Penting?</a:t>
            </a:r>
            <a:r>
              <a:rPr lang="en" sz="2700">
                <a:solidFill>
                  <a:schemeClr val="lt1"/>
                </a:solidFill>
                <a:latin typeface="Montserrat ExtraBold"/>
                <a:ea typeface="Montserrat ExtraBold"/>
                <a:cs typeface="Montserrat ExtraBold"/>
                <a:sym typeface="Montserrat ExtraBold"/>
              </a:rPr>
              <a:t> </a:t>
            </a:r>
            <a:endParaRPr sz="27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1 - Topic 3</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75" name="Google Shape;75;p14"/>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76" name="Google Shape;76;p14"/>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83" name="Google Shape;83;p15"/>
          <p:cNvSpPr txBox="1"/>
          <p:nvPr/>
        </p:nvSpPr>
        <p:spPr>
          <a:xfrm>
            <a:off x="606600" y="3851525"/>
            <a:ext cx="7930800" cy="11283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a:t>
            </a:r>
            <a:r>
              <a:rPr lang="en" sz="1000">
                <a:solidFill>
                  <a:schemeClr val="dk1"/>
                </a:solidFill>
                <a:latin typeface="Montserrat"/>
                <a:ea typeface="Montserrat"/>
                <a:cs typeface="Montserrat"/>
                <a:sym typeface="Montserrat"/>
              </a:rPr>
              <a:t>ada topik ketiga ini, kita bakal cari tahu lebih dalam </a:t>
            </a:r>
            <a:r>
              <a:rPr b="1" lang="en" sz="1000">
                <a:solidFill>
                  <a:schemeClr val="dk1"/>
                </a:solidFill>
                <a:latin typeface="Montserrat"/>
                <a:ea typeface="Montserrat"/>
                <a:cs typeface="Montserrat"/>
                <a:sym typeface="Montserrat"/>
              </a:rPr>
              <a:t>mengapa UI/UX itu penting.</a:t>
            </a:r>
            <a:r>
              <a:rPr lang="en" sz="1000">
                <a:solidFill>
                  <a:schemeClr val="dk1"/>
                </a:solidFill>
                <a:latin typeface="Montserrat"/>
                <a:ea typeface="Montserrat"/>
                <a:cs typeface="Montserrat"/>
                <a:sym typeface="Montserrat"/>
              </a:rPr>
              <a:t> Pentingnya buat apa sih? Penasaran? Cus langsung aja~ </a:t>
            </a:r>
            <a:endParaRPr sz="1000">
              <a:solidFill>
                <a:schemeClr val="dk1"/>
              </a:solidFill>
              <a:latin typeface="Montserrat"/>
              <a:ea typeface="Montserrat"/>
              <a:cs typeface="Montserrat"/>
              <a:sym typeface="Montserrat"/>
            </a:endParaRPr>
          </a:p>
        </p:txBody>
      </p:sp>
      <p:sp>
        <p:nvSpPr>
          <p:cNvPr id="84" name="Google Shape;84;p15"/>
          <p:cNvSpPr txBox="1"/>
          <p:nvPr/>
        </p:nvSpPr>
        <p:spPr>
          <a:xfrm>
            <a:off x="606600" y="3290550"/>
            <a:ext cx="7930800" cy="9795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topik kedua, kita udah belajar tentang </a:t>
            </a:r>
            <a:r>
              <a:rPr b="1" lang="en" sz="1000">
                <a:solidFill>
                  <a:schemeClr val="dk1"/>
                </a:solidFill>
                <a:latin typeface="Montserrat"/>
                <a:ea typeface="Montserrat"/>
                <a:cs typeface="Montserrat"/>
                <a:sym typeface="Montserrat"/>
              </a:rPr>
              <a:t>dunia digital dan gimana UI/UX berperan di dalamnya.</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Jadi, kamu pasti udah tahu kan kalo UI/UX itu penting banget dalam dunia digital. </a:t>
            </a:r>
            <a:endParaRPr sz="1000">
              <a:solidFill>
                <a:schemeClr val="dk1"/>
              </a:solidFill>
              <a:latin typeface="Montserrat"/>
              <a:ea typeface="Montserrat"/>
              <a:cs typeface="Montserrat"/>
              <a:sym typeface="Montserrat"/>
            </a:endParaRPr>
          </a:p>
        </p:txBody>
      </p:sp>
      <p:pic>
        <p:nvPicPr>
          <p:cNvPr id="85" name="Google Shape;85;p15"/>
          <p:cNvPicPr preferRelativeResize="0"/>
          <p:nvPr/>
        </p:nvPicPr>
        <p:blipFill rotWithShape="1">
          <a:blip r:embed="rId3">
            <a:alphaModFix/>
          </a:blip>
          <a:srcRect b="41386" l="0" r="0" t="0"/>
          <a:stretch/>
        </p:blipFill>
        <p:spPr>
          <a:xfrm>
            <a:off x="1808300" y="725725"/>
            <a:ext cx="5527398" cy="24694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92" name="Google Shape;92;p16"/>
          <p:cNvSpPr txBox="1"/>
          <p:nvPr/>
        </p:nvSpPr>
        <p:spPr>
          <a:xfrm>
            <a:off x="685800" y="1043352"/>
            <a:ext cx="4114800" cy="1148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Detailnya, kita bakal bahas hal-hal berikut ini: </a:t>
            </a:r>
            <a:endParaRPr b="1" sz="1600">
              <a:solidFill>
                <a:srgbClr val="743673"/>
              </a:solidFill>
              <a:latin typeface="Montserrat"/>
              <a:ea typeface="Montserrat"/>
              <a:cs typeface="Montserrat"/>
              <a:sym typeface="Montserrat"/>
            </a:endParaRPr>
          </a:p>
        </p:txBody>
      </p:sp>
      <p:pic>
        <p:nvPicPr>
          <p:cNvPr id="93" name="Google Shape;93;p16"/>
          <p:cNvPicPr preferRelativeResize="0"/>
          <p:nvPr/>
        </p:nvPicPr>
        <p:blipFill>
          <a:blip r:embed="rId3">
            <a:alphaModFix/>
          </a:blip>
          <a:stretch>
            <a:fillRect/>
          </a:stretch>
        </p:blipFill>
        <p:spPr>
          <a:xfrm>
            <a:off x="5458996" y="1043350"/>
            <a:ext cx="2612779" cy="3757249"/>
          </a:xfrm>
          <a:prstGeom prst="rect">
            <a:avLst/>
          </a:prstGeom>
          <a:noFill/>
          <a:ln>
            <a:noFill/>
          </a:ln>
        </p:spPr>
      </p:pic>
      <p:grpSp>
        <p:nvGrpSpPr>
          <p:cNvPr id="94" name="Google Shape;94;p16"/>
          <p:cNvGrpSpPr/>
          <p:nvPr/>
        </p:nvGrpSpPr>
        <p:grpSpPr>
          <a:xfrm>
            <a:off x="685800" y="2020350"/>
            <a:ext cx="3951450" cy="1363084"/>
            <a:chOff x="4369875" y="1725793"/>
            <a:chExt cx="3951450" cy="1442417"/>
          </a:xfrm>
        </p:grpSpPr>
        <p:sp>
          <p:nvSpPr>
            <p:cNvPr id="95" name="Google Shape;95;p16"/>
            <p:cNvSpPr/>
            <p:nvPr/>
          </p:nvSpPr>
          <p:spPr>
            <a:xfrm>
              <a:off x="4369875" y="19584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96" name="Google Shape;96;p16"/>
            <p:cNvSpPr/>
            <p:nvPr/>
          </p:nvSpPr>
          <p:spPr>
            <a:xfrm>
              <a:off x="4369875" y="2525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97" name="Google Shape;97;p16"/>
            <p:cNvSpPr txBox="1"/>
            <p:nvPr/>
          </p:nvSpPr>
          <p:spPr>
            <a:xfrm>
              <a:off x="4853925" y="1725793"/>
              <a:ext cx="2883000" cy="7212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Montserrat Medium"/>
                  <a:ea typeface="Montserrat Medium"/>
                  <a:cs typeface="Montserrat Medium"/>
                  <a:sym typeface="Montserrat Medium"/>
                </a:rPr>
                <a:t>Desain dalam Sebuah Produk</a:t>
              </a:r>
              <a:endParaRPr sz="1200">
                <a:solidFill>
                  <a:srgbClr val="000000"/>
                </a:solidFill>
                <a:latin typeface="Montserrat Medium"/>
                <a:ea typeface="Montserrat Medium"/>
                <a:cs typeface="Montserrat Medium"/>
                <a:sym typeface="Montserrat Medium"/>
              </a:endParaRPr>
            </a:p>
          </p:txBody>
        </p:sp>
        <p:sp>
          <p:nvSpPr>
            <p:cNvPr id="98" name="Google Shape;98;p16"/>
            <p:cNvSpPr txBox="1"/>
            <p:nvPr/>
          </p:nvSpPr>
          <p:spPr>
            <a:xfrm>
              <a:off x="4853925" y="2447010"/>
              <a:ext cx="3467400" cy="721200"/>
            </a:xfrm>
            <a:prstGeom prst="rect">
              <a:avLst/>
            </a:prstGeom>
            <a:noFill/>
            <a:ln>
              <a:noFill/>
            </a:ln>
          </p:spPr>
          <p:txBody>
            <a:bodyPr anchorCtr="0" anchor="ctr" bIns="0" lIns="0" spcFirstLastPara="1" rIns="6925"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Montserrat Medium"/>
                  <a:ea typeface="Montserrat Medium"/>
                  <a:cs typeface="Montserrat Medium"/>
                  <a:sym typeface="Montserrat Medium"/>
                </a:rPr>
                <a:t>Kasus-kasus Desain</a:t>
              </a:r>
              <a:r>
                <a:rPr lang="en" sz="1200">
                  <a:solidFill>
                    <a:schemeClr val="dk1"/>
                  </a:solidFill>
                  <a:latin typeface="Montserrat Medium"/>
                  <a:ea typeface="Montserrat Medium"/>
                  <a:cs typeface="Montserrat Medium"/>
                  <a:sym typeface="Montserrat Medium"/>
                </a:rPr>
                <a:t> UI/UX</a:t>
              </a:r>
              <a:r>
                <a:rPr lang="en" sz="1200">
                  <a:solidFill>
                    <a:schemeClr val="dk1"/>
                  </a:solidFill>
                  <a:latin typeface="Montserrat Medium"/>
                  <a:ea typeface="Montserrat Medium"/>
                  <a:cs typeface="Montserrat Medium"/>
                  <a:sym typeface="Montserrat Medium"/>
                </a:rPr>
                <a:t> dalam Kehidupan Sehari-hari</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ph type="title"/>
          </p:nvPr>
        </p:nvSpPr>
        <p:spPr>
          <a:xfrm>
            <a:off x="914400" y="765675"/>
            <a:ext cx="7315200" cy="10467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1400">
                <a:latin typeface="Montserrat"/>
                <a:ea typeface="Montserrat"/>
                <a:cs typeface="Montserrat"/>
                <a:sym typeface="Montserrat"/>
              </a:rPr>
              <a:t>Pertama, </a:t>
            </a:r>
            <a:r>
              <a:rPr lang="en" sz="1400">
                <a:latin typeface="Montserrat"/>
                <a:ea typeface="Montserrat"/>
                <a:cs typeface="Montserrat"/>
                <a:sym typeface="Montserrat"/>
              </a:rPr>
              <a:t>mari kita cari tahu apa yang membuat </a:t>
            </a:r>
            <a:endParaRPr sz="1400">
              <a:latin typeface="Montserrat"/>
              <a:ea typeface="Montserrat"/>
              <a:cs typeface="Montserrat"/>
              <a:sym typeface="Montserrat"/>
            </a:endParaRPr>
          </a:p>
          <a:p>
            <a:pPr indent="0" lvl="0" marL="0" rtl="0" algn="ctr">
              <a:spcBef>
                <a:spcPts val="0"/>
              </a:spcBef>
              <a:spcAft>
                <a:spcPts val="0"/>
              </a:spcAft>
              <a:buNone/>
            </a:pPr>
            <a:r>
              <a:rPr lang="en" sz="1400">
                <a:solidFill>
                  <a:schemeClr val="accent1"/>
                </a:solidFill>
                <a:latin typeface="Montserrat"/>
                <a:ea typeface="Montserrat"/>
                <a:cs typeface="Montserrat"/>
                <a:sym typeface="Montserrat"/>
              </a:rPr>
              <a:t>UI/UX itu penting?</a:t>
            </a:r>
            <a:endParaRPr sz="1400">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400">
              <a:latin typeface="Montserrat"/>
              <a:ea typeface="Montserrat"/>
              <a:cs typeface="Montserrat"/>
              <a:sym typeface="Montserrat"/>
            </a:endParaRPr>
          </a:p>
          <a:p>
            <a:pPr indent="0" lvl="0" marL="0" rtl="0" algn="ctr">
              <a:spcBef>
                <a:spcPts val="0"/>
              </a:spcBef>
              <a:spcAft>
                <a:spcPts val="0"/>
              </a:spcAft>
              <a:buNone/>
            </a:pPr>
            <a:r>
              <a:t/>
            </a:r>
            <a:endParaRPr sz="1400">
              <a:solidFill>
                <a:schemeClr val="accent1"/>
              </a:solidFill>
              <a:latin typeface="Montserrat"/>
              <a:ea typeface="Montserrat"/>
              <a:cs typeface="Montserrat"/>
              <a:sym typeface="Montserrat"/>
            </a:endParaRPr>
          </a:p>
        </p:txBody>
      </p:sp>
      <p:sp>
        <p:nvSpPr>
          <p:cNvPr id="104" name="Google Shape;104;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5" name="Google Shape;105;p17"/>
          <p:cNvPicPr preferRelativeResize="0"/>
          <p:nvPr/>
        </p:nvPicPr>
        <p:blipFill>
          <a:blip r:embed="rId3">
            <a:alphaModFix/>
          </a:blip>
          <a:stretch>
            <a:fillRect/>
          </a:stretch>
        </p:blipFill>
        <p:spPr>
          <a:xfrm>
            <a:off x="2883238" y="2117175"/>
            <a:ext cx="3377532" cy="30263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18"/>
          <p:cNvSpPr txBox="1"/>
          <p:nvPr>
            <p:ph type="title"/>
          </p:nvPr>
        </p:nvSpPr>
        <p:spPr>
          <a:xfrm>
            <a:off x="685800" y="35843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Desain dalam Sebuah Produk</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2" name="Google Shape;112;p18"/>
          <p:cNvSpPr txBox="1"/>
          <p:nvPr/>
        </p:nvSpPr>
        <p:spPr>
          <a:xfrm>
            <a:off x="685800" y="1695700"/>
            <a:ext cx="40386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Kayak yang udah kita bahas pada topik sebelumnya, UI/UX itu berhubungan dengan desain sebuah produk.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Desain yang baik tentu menghasilkan produk yang baik pula.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Kalo desainnya buruk, maka produk yang dihasilkan juga akan buruk.</a:t>
            </a:r>
            <a:endParaRPr sz="1000">
              <a:solidFill>
                <a:schemeClr val="dk1"/>
              </a:solidFill>
              <a:latin typeface="Montserrat"/>
              <a:ea typeface="Montserrat"/>
              <a:cs typeface="Montserrat"/>
              <a:sym typeface="Montserrat"/>
            </a:endParaRPr>
          </a:p>
        </p:txBody>
      </p:sp>
      <p:pic>
        <p:nvPicPr>
          <p:cNvPr id="113" name="Google Shape;113;p18"/>
          <p:cNvPicPr preferRelativeResize="0"/>
          <p:nvPr/>
        </p:nvPicPr>
        <p:blipFill>
          <a:blip r:embed="rId3">
            <a:alphaModFix/>
          </a:blip>
          <a:stretch>
            <a:fillRect/>
          </a:stretch>
        </p:blipFill>
        <p:spPr>
          <a:xfrm>
            <a:off x="5140025" y="1059174"/>
            <a:ext cx="3679950" cy="3518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 name="Google Shape;119;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Desain dalam Sebuah Produk</a:t>
            </a:r>
            <a:endParaRPr>
              <a:latin typeface="Montserrat"/>
              <a:ea typeface="Montserrat"/>
              <a:cs typeface="Montserrat"/>
              <a:sym typeface="Montserrat"/>
            </a:endParaRPr>
          </a:p>
        </p:txBody>
      </p:sp>
      <p:sp>
        <p:nvSpPr>
          <p:cNvPr id="120" name="Google Shape;120;p19"/>
          <p:cNvSpPr txBox="1"/>
          <p:nvPr/>
        </p:nvSpPr>
        <p:spPr>
          <a:xfrm>
            <a:off x="685800" y="1447800"/>
            <a:ext cx="4123200" cy="208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600">
                <a:solidFill>
                  <a:srgbClr val="743673"/>
                </a:solidFill>
                <a:highlight>
                  <a:schemeClr val="lt1"/>
                </a:highlight>
                <a:latin typeface="Montserrat"/>
                <a:ea typeface="Montserrat"/>
                <a:cs typeface="Montserrat"/>
                <a:sym typeface="Montserrat"/>
              </a:rPr>
              <a:t>Nah, baik buruknya desain ditentukan oleh UI dan UX.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Kalo UI dan UX Designer mampu mendesain tampilan UI dan memastikan kenyamanan pengguna, maka produk yang dihasilkan akan terlihat keren dan nyaman digunakan.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Sebaliknya, Kalo UI dan UX Designer gagal mendesain tampilan UI dengan baik hingga pengguna tidak nyaman, maka produk tersebut akan terlihat buruk. </a:t>
            </a:r>
            <a:endParaRPr sz="1000">
              <a:solidFill>
                <a:schemeClr val="dk1"/>
              </a:solidFill>
              <a:latin typeface="Montserrat"/>
              <a:ea typeface="Montserrat"/>
              <a:cs typeface="Montserrat"/>
              <a:sym typeface="Montserrat"/>
            </a:endParaRPr>
          </a:p>
        </p:txBody>
      </p:sp>
      <p:pic>
        <p:nvPicPr>
          <p:cNvPr id="121" name="Google Shape;121;p19"/>
          <p:cNvPicPr preferRelativeResize="0"/>
          <p:nvPr/>
        </p:nvPicPr>
        <p:blipFill>
          <a:blip r:embed="rId3">
            <a:alphaModFix/>
          </a:blip>
          <a:stretch>
            <a:fillRect/>
          </a:stretch>
        </p:blipFill>
        <p:spPr>
          <a:xfrm>
            <a:off x="4963906" y="1447800"/>
            <a:ext cx="3652695" cy="33527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0"/>
          <p:cNvSpPr txBox="1"/>
          <p:nvPr/>
        </p:nvSpPr>
        <p:spPr>
          <a:xfrm>
            <a:off x="793225" y="805625"/>
            <a:ext cx="7249200" cy="853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600"/>
              </a:spcBef>
              <a:spcAft>
                <a:spcPts val="0"/>
              </a:spcAft>
              <a:buNone/>
            </a:pPr>
            <a:r>
              <a:rPr b="1" lang="en">
                <a:solidFill>
                  <a:schemeClr val="lt1"/>
                </a:solidFill>
                <a:latin typeface="Montserrat"/>
                <a:ea typeface="Montserrat"/>
                <a:cs typeface="Montserrat"/>
                <a:sym typeface="Montserrat"/>
              </a:rPr>
              <a:t>Sampai disini, udah paham kan </a:t>
            </a:r>
            <a:r>
              <a:rPr b="1" lang="en">
                <a:solidFill>
                  <a:schemeClr val="accent1"/>
                </a:solidFill>
                <a:latin typeface="Montserrat"/>
                <a:ea typeface="Montserrat"/>
                <a:cs typeface="Montserrat"/>
                <a:sym typeface="Montserrat"/>
              </a:rPr>
              <a:t>mengapa UI/UX itu penting?</a:t>
            </a:r>
            <a:endParaRPr b="1">
              <a:solidFill>
                <a:schemeClr val="accent1"/>
              </a:solidFill>
              <a:latin typeface="Montserrat"/>
              <a:ea typeface="Montserrat"/>
              <a:cs typeface="Montserrat"/>
              <a:sym typeface="Montserrat"/>
            </a:endParaRPr>
          </a:p>
          <a:p>
            <a:pPr indent="0" lvl="0" marL="0" rtl="0" algn="ctr">
              <a:lnSpc>
                <a:spcPct val="115000"/>
              </a:lnSpc>
              <a:spcBef>
                <a:spcPts val="1600"/>
              </a:spcBef>
              <a:spcAft>
                <a:spcPts val="0"/>
              </a:spcAft>
              <a:buNone/>
            </a:pPr>
            <a:r>
              <a:rPr b="1" lang="en">
                <a:solidFill>
                  <a:schemeClr val="lt1"/>
                </a:solidFill>
                <a:latin typeface="Montserrat"/>
                <a:ea typeface="Montserrat"/>
                <a:cs typeface="Montserrat"/>
                <a:sym typeface="Montserrat"/>
              </a:rPr>
              <a:t>Biar lebih paham, coba perhatikan kasus-kasus berikut ya!</a:t>
            </a:r>
            <a:endParaRPr b="1">
              <a:solidFill>
                <a:schemeClr val="lt1"/>
              </a:solidFill>
              <a:latin typeface="Montserrat"/>
              <a:ea typeface="Montserrat"/>
              <a:cs typeface="Montserrat"/>
              <a:sym typeface="Montserrat"/>
            </a:endParaRPr>
          </a:p>
        </p:txBody>
      </p:sp>
      <p:pic>
        <p:nvPicPr>
          <p:cNvPr id="128" name="Google Shape;128;p20"/>
          <p:cNvPicPr preferRelativeResize="0"/>
          <p:nvPr/>
        </p:nvPicPr>
        <p:blipFill>
          <a:blip r:embed="rId3">
            <a:alphaModFix/>
          </a:blip>
          <a:stretch>
            <a:fillRect/>
          </a:stretch>
        </p:blipFill>
        <p:spPr>
          <a:xfrm>
            <a:off x="3318157" y="1963625"/>
            <a:ext cx="2507687" cy="31798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Kasus-kasus Desain UI/UX dalam Kehidupan Sehari-hari</a:t>
            </a:r>
            <a:endParaRPr>
              <a:latin typeface="Montserrat"/>
              <a:ea typeface="Montserrat"/>
              <a:cs typeface="Montserrat"/>
              <a:sym typeface="Montserrat"/>
            </a:endParaRPr>
          </a:p>
        </p:txBody>
      </p:sp>
      <p:sp>
        <p:nvSpPr>
          <p:cNvPr id="135" name="Google Shape;135;p21"/>
          <p:cNvSpPr txBox="1"/>
          <p:nvPr/>
        </p:nvSpPr>
        <p:spPr>
          <a:xfrm>
            <a:off x="685800" y="1260000"/>
            <a:ext cx="4259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Apple: Desain UI dan UX terbaik~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Terdapat lebih dari 1 miliar pengguna Apple iPhone di dunia! Hal ini nggak terlepas dari desainnya yang menarik.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Sejak diluncurkan pada tahun 2007, iPhone konsisten berinovasi dalam tampilan UI dan fitur-fitur yang membuat nyaman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mendesain produknya, Apple menerapkan apa yang disebut </a:t>
            </a:r>
            <a:r>
              <a:rPr b="1" lang="en" sz="1000">
                <a:solidFill>
                  <a:schemeClr val="dk1"/>
                </a:solidFill>
                <a:latin typeface="Montserrat"/>
                <a:ea typeface="Montserrat"/>
                <a:cs typeface="Montserrat"/>
                <a:sym typeface="Montserrat"/>
              </a:rPr>
              <a:t>design thinking. </a:t>
            </a:r>
            <a:r>
              <a:rPr lang="en" sz="1000">
                <a:solidFill>
                  <a:schemeClr val="dk1"/>
                </a:solidFill>
                <a:latin typeface="Montserrat"/>
                <a:ea typeface="Montserrat"/>
                <a:cs typeface="Montserrat"/>
                <a:sym typeface="Montserrat"/>
              </a:rPr>
              <a:t>Kata CEO-nya, Steve Jobs, </a:t>
            </a:r>
            <a:r>
              <a:rPr i="1" lang="en" sz="1000">
                <a:solidFill>
                  <a:schemeClr val="dk1"/>
                </a:solidFill>
                <a:latin typeface="Montserrat"/>
                <a:ea typeface="Montserrat"/>
                <a:cs typeface="Montserrat"/>
                <a:sym typeface="Montserrat"/>
              </a:rPr>
              <a:t>desain produk bukan hanya seperti apa rupa dan rasa nya, tapi juga gimana cara kerjanya. </a:t>
            </a:r>
            <a:endParaRPr i="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a:t>
            </a:r>
            <a:r>
              <a:rPr b="1" lang="en" sz="1000">
                <a:solidFill>
                  <a:schemeClr val="dk1"/>
                </a:solidFill>
                <a:latin typeface="Montserrat"/>
                <a:ea typeface="Montserrat"/>
                <a:cs typeface="Montserrat"/>
                <a:sym typeface="Montserrat"/>
              </a:rPr>
              <a:t>Apple benar-benar menerapkan UI dan UX secara baik dan seimbang. </a:t>
            </a:r>
            <a:r>
              <a:rPr lang="en" sz="1000">
                <a:solidFill>
                  <a:schemeClr val="dk1"/>
                </a:solidFill>
                <a:latin typeface="Montserrat"/>
                <a:ea typeface="Montserrat"/>
                <a:cs typeface="Montserrat"/>
                <a:sym typeface="Montserrat"/>
              </a:rPr>
              <a:t>Pantesan bisa keren~</a:t>
            </a:r>
            <a:endParaRPr sz="1000">
              <a:solidFill>
                <a:schemeClr val="dk1"/>
              </a:solidFill>
              <a:latin typeface="Montserrat"/>
              <a:ea typeface="Montserrat"/>
              <a:cs typeface="Montserrat"/>
              <a:sym typeface="Montserrat"/>
            </a:endParaRPr>
          </a:p>
        </p:txBody>
      </p:sp>
      <p:pic>
        <p:nvPicPr>
          <p:cNvPr id="136" name="Google Shape;136;p21">
            <a:hlinkClick r:id="rId3"/>
          </p:cNvPr>
          <p:cNvPicPr preferRelativeResize="0"/>
          <p:nvPr/>
        </p:nvPicPr>
        <p:blipFill rotWithShape="1">
          <a:blip r:embed="rId4">
            <a:alphaModFix/>
          </a:blip>
          <a:srcRect b="0" l="13467" r="13459" t="0"/>
          <a:stretch/>
        </p:blipFill>
        <p:spPr>
          <a:xfrm>
            <a:off x="5364300" y="1147674"/>
            <a:ext cx="3252300" cy="2956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Kasus-kasus Desain UI/UX dalam Kehidupan Sehari-hari</a:t>
            </a:r>
            <a:endParaRPr>
              <a:latin typeface="Montserrat"/>
              <a:ea typeface="Montserrat"/>
              <a:cs typeface="Montserrat"/>
              <a:sym typeface="Montserrat"/>
            </a:endParaRPr>
          </a:p>
        </p:txBody>
      </p:sp>
      <p:sp>
        <p:nvSpPr>
          <p:cNvPr id="143" name="Google Shape;143;p22"/>
          <p:cNvSpPr txBox="1"/>
          <p:nvPr/>
        </p:nvSpPr>
        <p:spPr>
          <a:xfrm>
            <a:off x="685800" y="1257863"/>
            <a:ext cx="41850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Nggak cuma soal estetika, desain juga soal fungsi. </a:t>
            </a:r>
            <a:endParaRPr b="1" sz="1600">
              <a:solidFill>
                <a:srgbClr val="743673"/>
              </a:solidFill>
              <a:highlight>
                <a:schemeClr val="lt1"/>
              </a:highlight>
              <a:latin typeface="Montserrat"/>
              <a:ea typeface="Montserrat"/>
              <a:cs typeface="Montserrat"/>
              <a:sym typeface="Montserrat"/>
            </a:endParaRPr>
          </a:p>
          <a:p>
            <a:pPr indent="0" lvl="0" marL="0" marR="0" rtl="0" algn="just">
              <a:lnSpc>
                <a:spcPct val="115000"/>
              </a:lnSpc>
              <a:spcBef>
                <a:spcPts val="1600"/>
              </a:spcBef>
              <a:spcAft>
                <a:spcPts val="0"/>
              </a:spcAft>
              <a:buClr>
                <a:srgbClr val="000000"/>
              </a:buClr>
              <a:buSzPts val="1400"/>
              <a:buFont typeface="Arial"/>
              <a:buNone/>
            </a:pPr>
            <a:r>
              <a:rPr lang="en" sz="1000">
                <a:solidFill>
                  <a:schemeClr val="dk1"/>
                </a:solidFill>
                <a:highlight>
                  <a:schemeClr val="lt1"/>
                </a:highlight>
                <a:latin typeface="Montserrat"/>
                <a:ea typeface="Montserrat"/>
                <a:cs typeface="Montserrat"/>
                <a:sym typeface="Montserrat"/>
              </a:rPr>
              <a:t>Coba deh kamu perhatiin tombol lift di samping? Estetik sih (karna warna-warni), tapi ngebingungin kan? Setiap angka ada dua tombol. Keduanya punya fungsi yang berbeda nggak ya?</a:t>
            </a:r>
            <a:endParaRPr sz="1000">
              <a:solidFill>
                <a:schemeClr val="dk1"/>
              </a:solidFill>
              <a:highlight>
                <a:schemeClr val="lt1"/>
              </a:highlight>
              <a:latin typeface="Montserrat"/>
              <a:ea typeface="Montserrat"/>
              <a:cs typeface="Montserrat"/>
              <a:sym typeface="Montserrat"/>
            </a:endParaRPr>
          </a:p>
          <a:p>
            <a:pPr indent="0" lvl="0" marL="0" marR="0" rtl="0" algn="just">
              <a:lnSpc>
                <a:spcPct val="115000"/>
              </a:lnSpc>
              <a:spcBef>
                <a:spcPts val="1600"/>
              </a:spcBef>
              <a:spcAft>
                <a:spcPts val="0"/>
              </a:spcAft>
              <a:buClr>
                <a:srgbClr val="000000"/>
              </a:buClr>
              <a:buSzPts val="1400"/>
              <a:buFont typeface="Arial"/>
              <a:buNone/>
            </a:pPr>
            <a:r>
              <a:rPr lang="en" sz="1000">
                <a:solidFill>
                  <a:schemeClr val="dk1"/>
                </a:solidFill>
                <a:highlight>
                  <a:schemeClr val="lt1"/>
                </a:highlight>
                <a:latin typeface="Montserrat"/>
                <a:ea typeface="Montserrat"/>
                <a:cs typeface="Montserrat"/>
                <a:sym typeface="Montserrat"/>
              </a:rPr>
              <a:t>Estetika tampilan produk memang cukup penting dalam sebuah desain, agar pengguna dapat tergugah. Tapi, </a:t>
            </a:r>
            <a:r>
              <a:rPr b="1" lang="en" sz="1000">
                <a:solidFill>
                  <a:schemeClr val="dk1"/>
                </a:solidFill>
                <a:highlight>
                  <a:schemeClr val="lt1"/>
                </a:highlight>
                <a:latin typeface="Montserrat"/>
                <a:ea typeface="Montserrat"/>
                <a:cs typeface="Montserrat"/>
                <a:sym typeface="Montserrat"/>
              </a:rPr>
              <a:t>yang nggak kalah penting adalah cara kerja atau bagaimana produk itu dapat difungsikan. </a:t>
            </a:r>
            <a:r>
              <a:rPr lang="en" sz="1000">
                <a:solidFill>
                  <a:schemeClr val="dk1"/>
                </a:solidFill>
                <a:highlight>
                  <a:schemeClr val="lt1"/>
                </a:highlight>
                <a:latin typeface="Montserrat"/>
                <a:ea typeface="Montserrat"/>
                <a:cs typeface="Montserrat"/>
                <a:sym typeface="Montserrat"/>
              </a:rPr>
              <a:t>Pokoknya, nggak boleh bikin bingung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44" name="Google Shape;144;p22"/>
          <p:cNvPicPr preferRelativeResize="0"/>
          <p:nvPr/>
        </p:nvPicPr>
        <p:blipFill rotWithShape="1">
          <a:blip r:embed="rId3">
            <a:alphaModFix/>
          </a:blip>
          <a:srcRect b="9753" l="0" r="0" t="8627"/>
          <a:stretch/>
        </p:blipFill>
        <p:spPr>
          <a:xfrm>
            <a:off x="5435775" y="1164550"/>
            <a:ext cx="2800325" cy="3387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Kasus-kasus Desain UI/UX dalam Kehidupan Sehari-hari</a:t>
            </a:r>
            <a:endParaRPr>
              <a:latin typeface="Montserrat"/>
              <a:ea typeface="Montserrat"/>
              <a:cs typeface="Montserrat"/>
              <a:sym typeface="Montserrat"/>
            </a:endParaRPr>
          </a:p>
        </p:txBody>
      </p:sp>
      <p:sp>
        <p:nvSpPr>
          <p:cNvPr id="151" name="Google Shape;151;p23"/>
          <p:cNvSpPr txBox="1"/>
          <p:nvPr/>
        </p:nvSpPr>
        <p:spPr>
          <a:xfrm>
            <a:off x="685800" y="1264125"/>
            <a:ext cx="40386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Gara-gara desain UI buruk, seorang pasien meninggal dunia!</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7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Cerita ini ditulis oleh J</a:t>
            </a:r>
            <a:r>
              <a:rPr lang="en" sz="1000">
                <a:solidFill>
                  <a:schemeClr val="dk1"/>
                </a:solidFill>
                <a:latin typeface="Montserrat"/>
                <a:ea typeface="Montserrat"/>
                <a:cs typeface="Montserrat"/>
                <a:sym typeface="Montserrat"/>
              </a:rPr>
              <a:t>onathan Shariat, seorang peneliti dunia desain dalam bukunya berjudul ‘</a:t>
            </a:r>
            <a:r>
              <a:rPr lang="en" sz="1000">
                <a:solidFill>
                  <a:schemeClr val="dk1"/>
                </a:solidFill>
                <a:uFill>
                  <a:noFill/>
                </a:uFill>
                <a:latin typeface="Montserrat"/>
                <a:ea typeface="Montserrat"/>
                <a:cs typeface="Montserrat"/>
                <a:sym typeface="Montserrat"/>
                <a:hlinkClick r:id="rId3">
                  <a:extLst>
                    <a:ext uri="{A12FA001-AC4F-418D-AE19-62706E023703}">
                      <ahyp:hlinkClr val="tx"/>
                    </a:ext>
                  </a:extLst>
                </a:hlinkClick>
              </a:rPr>
              <a:t>Tragic Design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Shariat menceritakan kisah seorang pasien kanker berinisial ‘Jenny’ yang sedang mendapat perawatan di rumah sakit.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Jenny membutuhkan perawatan yang intensif. Ia membutuhkan pra dan pasca hidrasi selama tiga hari selama masa pengobatan. Para perawat mencatat rekam medis dan data-data perawatan Jenny dalam sebuah situs medis. Tujuannya, agar para perawat mudah melacak status pengobatan sang pasien.</a:t>
            </a:r>
            <a:endParaRPr sz="1000">
              <a:solidFill>
                <a:schemeClr val="dk1"/>
              </a:solidFill>
              <a:latin typeface="Montserrat"/>
              <a:ea typeface="Montserrat"/>
              <a:cs typeface="Montserrat"/>
              <a:sym typeface="Montserrat"/>
            </a:endParaRPr>
          </a:p>
        </p:txBody>
      </p:sp>
      <p:pic>
        <p:nvPicPr>
          <p:cNvPr id="152" name="Google Shape;152;p23">
            <a:hlinkClick r:id="rId4"/>
          </p:cNvPr>
          <p:cNvPicPr preferRelativeResize="0"/>
          <p:nvPr/>
        </p:nvPicPr>
        <p:blipFill rotWithShape="1">
          <a:blip r:embed="rId5">
            <a:alphaModFix/>
          </a:blip>
          <a:srcRect b="0" l="13343" r="13343" t="0"/>
          <a:stretch/>
        </p:blipFill>
        <p:spPr>
          <a:xfrm>
            <a:off x="5257800" y="1331588"/>
            <a:ext cx="3194772" cy="29043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8" name="Google Shape;158;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Kasus-kasus Desain UI/UX dalam Kehidupan Sehari-hari</a:t>
            </a:r>
            <a:endParaRPr>
              <a:latin typeface="Montserrat"/>
              <a:ea typeface="Montserrat"/>
              <a:cs typeface="Montserrat"/>
              <a:sym typeface="Montserrat"/>
            </a:endParaRPr>
          </a:p>
        </p:txBody>
      </p:sp>
      <p:sp>
        <p:nvSpPr>
          <p:cNvPr id="159" name="Google Shape;159;p24"/>
          <p:cNvSpPr txBox="1"/>
          <p:nvPr/>
        </p:nvSpPr>
        <p:spPr>
          <a:xfrm>
            <a:off x="685800" y="1277225"/>
            <a:ext cx="40386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lang="en" sz="1000">
                <a:solidFill>
                  <a:schemeClr val="dk1"/>
                </a:solidFill>
                <a:latin typeface="Montserrat"/>
                <a:ea typeface="Montserrat"/>
                <a:cs typeface="Montserrat"/>
                <a:sym typeface="Montserrat"/>
              </a:rPr>
              <a:t>Meskipun para perawat rutin mencatat rekam medis Jenny dalam situs tersebut, entah bagaimana mereka melewatkan informasi penting tentang persyaratan hidrasi selama tiga hari. </a:t>
            </a:r>
            <a:r>
              <a:rPr b="1" lang="en" sz="1000">
                <a:solidFill>
                  <a:schemeClr val="dk1"/>
                </a:solidFill>
                <a:latin typeface="Montserrat"/>
                <a:ea typeface="Montserrat"/>
                <a:cs typeface="Montserrat"/>
                <a:sym typeface="Montserrat"/>
              </a:rPr>
              <a:t>Alhasil, Jenny meninggal dunia karena keracunan dan dehidrasi.</a:t>
            </a:r>
            <a:endParaRPr b="1" sz="1000">
              <a:solidFill>
                <a:schemeClr val="dk1"/>
              </a:solidFill>
              <a:latin typeface="Montserrat"/>
              <a:ea typeface="Montserrat"/>
              <a:cs typeface="Montserrat"/>
              <a:sym typeface="Montserrat"/>
            </a:endParaRPr>
          </a:p>
          <a:p>
            <a:pPr indent="0" lvl="0" marL="0" marR="0" rtl="0" algn="just">
              <a:lnSpc>
                <a:spcPct val="115000"/>
              </a:lnSpc>
              <a:spcBef>
                <a:spcPts val="1600"/>
              </a:spcBef>
              <a:spcAft>
                <a:spcPts val="0"/>
              </a:spcAft>
              <a:buClr>
                <a:srgbClr val="000000"/>
              </a:buClr>
              <a:buSzPts val="1400"/>
              <a:buFont typeface="Arial"/>
              <a:buNone/>
            </a:pPr>
            <a:r>
              <a:rPr lang="en" sz="1000">
                <a:solidFill>
                  <a:schemeClr val="dk1"/>
                </a:solidFill>
                <a:latin typeface="Montserrat"/>
                <a:ea typeface="Montserrat"/>
                <a:cs typeface="Montserrat"/>
                <a:sym typeface="Montserrat"/>
              </a:rPr>
              <a:t>Seorang perawat mengaku, </a:t>
            </a:r>
            <a:r>
              <a:rPr b="1" lang="en" sz="1000">
                <a:solidFill>
                  <a:schemeClr val="dk1"/>
                </a:solidFill>
                <a:latin typeface="Montserrat"/>
                <a:ea typeface="Montserrat"/>
                <a:cs typeface="Montserrat"/>
                <a:sym typeface="Montserrat"/>
              </a:rPr>
              <a:t>ia kebingungan ketika mengoperasikan situs medis tersebut karena tampilannya yang rumit. </a:t>
            </a:r>
            <a:r>
              <a:rPr lang="en" sz="1000">
                <a:solidFill>
                  <a:schemeClr val="dk1"/>
                </a:solidFill>
                <a:latin typeface="Montserrat"/>
                <a:ea typeface="Montserrat"/>
                <a:cs typeface="Montserrat"/>
                <a:sym typeface="Montserrat"/>
              </a:rPr>
              <a:t>Sehingga, ia melewatkan informasi tentang persyaratan hidrasi.</a:t>
            </a:r>
            <a:endParaRPr sz="1000">
              <a:solidFill>
                <a:schemeClr val="dk1"/>
              </a:solidFill>
              <a:latin typeface="Montserrat"/>
              <a:ea typeface="Montserrat"/>
              <a:cs typeface="Montserrat"/>
              <a:sym typeface="Montserrat"/>
            </a:endParaRPr>
          </a:p>
          <a:p>
            <a:pPr indent="0" lvl="0" marL="0" marR="0" rtl="0" algn="just">
              <a:lnSpc>
                <a:spcPct val="115000"/>
              </a:lnSpc>
              <a:spcBef>
                <a:spcPts val="1600"/>
              </a:spcBef>
              <a:spcAft>
                <a:spcPts val="0"/>
              </a:spcAft>
              <a:buClr>
                <a:srgbClr val="000000"/>
              </a:buClr>
              <a:buSzPts val="1400"/>
              <a:buFont typeface="Arial"/>
              <a:buNone/>
            </a:pPr>
            <a:r>
              <a:rPr lang="en" sz="1000">
                <a:solidFill>
                  <a:schemeClr val="dk1"/>
                </a:solidFill>
                <a:latin typeface="Montserrat"/>
                <a:ea typeface="Montserrat"/>
                <a:cs typeface="Montserrat"/>
                <a:sym typeface="Montserrat"/>
              </a:rPr>
              <a:t>Dari kasus ini, bisa disimpulkan bahwa </a:t>
            </a:r>
            <a:r>
              <a:rPr b="1" lang="en" sz="1000">
                <a:solidFill>
                  <a:schemeClr val="dk1"/>
                </a:solidFill>
                <a:latin typeface="Montserrat"/>
                <a:ea typeface="Montserrat"/>
                <a:cs typeface="Montserrat"/>
                <a:sym typeface="Montserrat"/>
              </a:rPr>
              <a:t>desain UI yang buruk bisa berakibat fatal bagi pengguna</a:t>
            </a:r>
            <a:r>
              <a:rPr b="1" lang="en" sz="1000">
                <a:solidFill>
                  <a:schemeClr val="dk1"/>
                </a:solidFill>
                <a:latin typeface="Montserrat"/>
                <a:ea typeface="Montserrat"/>
                <a:cs typeface="Montserrat"/>
                <a:sym typeface="Montserrat"/>
              </a:rPr>
              <a:t>.</a:t>
            </a:r>
            <a:endParaRPr b="1" sz="1000">
              <a:solidFill>
                <a:schemeClr val="dk1"/>
              </a:solidFill>
              <a:latin typeface="Montserrat"/>
              <a:ea typeface="Montserrat"/>
              <a:cs typeface="Montserrat"/>
              <a:sym typeface="Montserrat"/>
            </a:endParaRPr>
          </a:p>
        </p:txBody>
      </p:sp>
      <p:pic>
        <p:nvPicPr>
          <p:cNvPr id="160" name="Google Shape;160;p24">
            <a:hlinkClick r:id="rId3"/>
          </p:cNvPr>
          <p:cNvPicPr preferRelativeResize="0"/>
          <p:nvPr/>
        </p:nvPicPr>
        <p:blipFill>
          <a:blip r:embed="rId4">
            <a:alphaModFix/>
          </a:blip>
          <a:stretch>
            <a:fillRect/>
          </a:stretch>
        </p:blipFill>
        <p:spPr>
          <a:xfrm>
            <a:off x="5121025" y="1481387"/>
            <a:ext cx="3320025" cy="249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Kasus-kasus Desain UI/UX dalam Kehidupan Sehari-hari</a:t>
            </a:r>
            <a:endParaRPr>
              <a:latin typeface="Montserrat"/>
              <a:ea typeface="Montserrat"/>
              <a:cs typeface="Montserrat"/>
              <a:sym typeface="Montserrat"/>
            </a:endParaRPr>
          </a:p>
        </p:txBody>
      </p:sp>
      <p:sp>
        <p:nvSpPr>
          <p:cNvPr id="167" name="Google Shape;167;p25"/>
          <p:cNvSpPr txBox="1"/>
          <p:nvPr/>
        </p:nvSpPr>
        <p:spPr>
          <a:xfrm>
            <a:off x="685800" y="1260025"/>
            <a:ext cx="42471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600">
                <a:solidFill>
                  <a:srgbClr val="512252"/>
                </a:solidFill>
                <a:latin typeface="Montserrat"/>
                <a:ea typeface="Montserrat"/>
                <a:cs typeface="Montserrat"/>
                <a:sym typeface="Montserrat"/>
              </a:rPr>
              <a:t>Kasus lain yang nggak kalah seram~</a:t>
            </a:r>
            <a:endParaRPr b="1" sz="1600">
              <a:solidFill>
                <a:srgbClr val="512252"/>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tanggal 28 Maret 1979, pembangkit listrik tenaga nuklir di Three Mile Island, Pennsylvania Timur, Amerika Serikat, mengalami </a:t>
            </a:r>
            <a:r>
              <a:rPr i="1" lang="en" sz="1000">
                <a:solidFill>
                  <a:schemeClr val="dk1"/>
                </a:solidFill>
                <a:latin typeface="Montserrat"/>
                <a:ea typeface="Montserrat"/>
                <a:cs typeface="Montserrat"/>
                <a:sym typeface="Montserrat"/>
              </a:rPr>
              <a:t>partial meltdown</a:t>
            </a:r>
            <a:r>
              <a:rPr lang="en" sz="1000">
                <a:solidFill>
                  <a:schemeClr val="dk1"/>
                </a:solidFill>
                <a:latin typeface="Montserrat"/>
                <a:ea typeface="Montserrat"/>
                <a:cs typeface="Montserrat"/>
                <a:sym typeface="Montserrat"/>
              </a:rPr>
              <a:t> dan memicu kecelakaan nuklir terburuk dalam sejarah AS.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Masalah dimulai ketika katup pelepas tidak ditutup dengan benar. Namun, instrumen katup di ruang kontrol tidak menunjukkan indikasi apakah katup telah ditutup atau tidak. Instrumen di ruang kontrol tersebut tidak didesain dengan interface yang baik yang mengindikasikan posisi katup.</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Sehingga, staf pabrik tidak menyadari bahwa katup dalam posisi terbuka. </a:t>
            </a:r>
            <a:endParaRPr sz="1000">
              <a:solidFill>
                <a:schemeClr val="dk1"/>
              </a:solidFill>
              <a:latin typeface="Montserrat"/>
              <a:ea typeface="Montserrat"/>
              <a:cs typeface="Montserrat"/>
              <a:sym typeface="Montserrat"/>
            </a:endParaRPr>
          </a:p>
          <a:p>
            <a:pPr indent="0" lvl="0" marL="0" marR="0" rtl="0" algn="just">
              <a:lnSpc>
                <a:spcPct val="115000"/>
              </a:lnSpc>
              <a:spcBef>
                <a:spcPts val="1600"/>
              </a:spcBef>
              <a:spcAft>
                <a:spcPts val="0"/>
              </a:spcAft>
              <a:buClr>
                <a:srgbClr val="000000"/>
              </a:buClr>
              <a:buSzPts val="1400"/>
              <a:buFont typeface="Arial"/>
              <a:buNone/>
            </a:pPr>
            <a:r>
              <a:t/>
            </a:r>
            <a:endParaRPr sz="1200">
              <a:solidFill>
                <a:schemeClr val="dk1"/>
              </a:solidFill>
              <a:latin typeface="Raleway Medium"/>
              <a:ea typeface="Raleway Medium"/>
              <a:cs typeface="Raleway Medium"/>
              <a:sym typeface="Raleway Medium"/>
            </a:endParaRPr>
          </a:p>
        </p:txBody>
      </p:sp>
      <p:pic>
        <p:nvPicPr>
          <p:cNvPr id="168" name="Google Shape;168;p25">
            <a:hlinkClick r:id="rId3"/>
          </p:cNvPr>
          <p:cNvPicPr preferRelativeResize="0"/>
          <p:nvPr/>
        </p:nvPicPr>
        <p:blipFill rotWithShape="1">
          <a:blip r:embed="rId4">
            <a:alphaModFix/>
          </a:blip>
          <a:srcRect b="0" l="12874" r="12874" t="0"/>
          <a:stretch/>
        </p:blipFill>
        <p:spPr>
          <a:xfrm>
            <a:off x="5407650" y="1325687"/>
            <a:ext cx="3017518"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Kasus-kasus Desain UI/UX dalam Kehidupan Sehari-hari</a:t>
            </a:r>
            <a:endParaRPr>
              <a:latin typeface="Montserrat"/>
              <a:ea typeface="Montserrat"/>
              <a:cs typeface="Montserrat"/>
              <a:sym typeface="Montserrat"/>
            </a:endParaRPr>
          </a:p>
        </p:txBody>
      </p:sp>
      <p:sp>
        <p:nvSpPr>
          <p:cNvPr id="175" name="Google Shape;175;p26"/>
          <p:cNvSpPr txBox="1"/>
          <p:nvPr/>
        </p:nvSpPr>
        <p:spPr>
          <a:xfrm>
            <a:off x="685800" y="1097125"/>
            <a:ext cx="4222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600">
                <a:solidFill>
                  <a:srgbClr val="743673"/>
                </a:solidFill>
                <a:latin typeface="Montserrat"/>
                <a:ea typeface="Montserrat"/>
                <a:cs typeface="Montserrat"/>
                <a:sym typeface="Montserrat"/>
              </a:rPr>
              <a:t>Desain UI/UX yang baik sangat penting di masa sekarang.</a:t>
            </a:r>
            <a:endParaRPr b="1" sz="1600">
              <a:solidFill>
                <a:srgbClr val="743673"/>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masa sekarang, hampir semua aktivitas yang kita lakukan melibatkan perangkat digital. Mulai dari order makanan sampai transaksi keuangan.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Teknologi dan digitalisasi kayak sekarang ini benar-benar membuat hidup kita jadi nyaman dan lebih mudah.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a:t>
            </a:r>
            <a:r>
              <a:rPr b="1" lang="en" sz="1000">
                <a:solidFill>
                  <a:schemeClr val="dk1"/>
                </a:solidFill>
                <a:latin typeface="Montserrat"/>
                <a:ea typeface="Montserrat"/>
                <a:cs typeface="Montserrat"/>
                <a:sym typeface="Montserrat"/>
              </a:rPr>
              <a:t>teknologi yang tidak didesain dengan baik beresiko menimbulkan bahaya yang serius.</a:t>
            </a:r>
            <a:r>
              <a:rPr lang="en" sz="1000">
                <a:solidFill>
                  <a:schemeClr val="dk1"/>
                </a:solidFill>
                <a:latin typeface="Montserrat"/>
                <a:ea typeface="Montserrat"/>
                <a:cs typeface="Montserrat"/>
                <a:sym typeface="Montserrat"/>
              </a:rPr>
              <a:t> Misalnya, </a:t>
            </a:r>
            <a:r>
              <a:rPr b="1" lang="en" sz="1000">
                <a:solidFill>
                  <a:schemeClr val="dk1"/>
                </a:solidFill>
                <a:latin typeface="Montserrat"/>
                <a:ea typeface="Montserrat"/>
                <a:cs typeface="Montserrat"/>
                <a:sym typeface="Montserrat"/>
              </a:rPr>
              <a:t>sebuah aplikasi perbankan.</a:t>
            </a:r>
            <a:r>
              <a:rPr lang="en" sz="1000">
                <a:solidFill>
                  <a:schemeClr val="dk1"/>
                </a:solidFill>
                <a:latin typeface="Montserrat"/>
                <a:ea typeface="Montserrat"/>
                <a:cs typeface="Montserrat"/>
                <a:sym typeface="Montserrat"/>
              </a:rPr>
              <a:t> Kalo aplikasi perbankan tidak dilengkapi dengan fitur password, fingerprint, atau face id saat proses login, maka dapat disalahgunakan oleh pihak yang tidak bertanggung jawab.</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p:txBody>
      </p:sp>
      <p:pic>
        <p:nvPicPr>
          <p:cNvPr id="176" name="Google Shape;176;p2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type="title"/>
          </p:nvPr>
        </p:nvSpPr>
        <p:spPr>
          <a:xfrm>
            <a:off x="843725" y="1555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000">
                <a:latin typeface="Montserrat"/>
                <a:ea typeface="Montserrat"/>
                <a:cs typeface="Montserrat"/>
                <a:sym typeface="Montserrat"/>
              </a:rPr>
              <a:t>Saatnya kita </a:t>
            </a:r>
            <a:endParaRPr sz="2000">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sz="3000">
                <a:solidFill>
                  <a:schemeClr val="accent1"/>
                </a:solidFill>
                <a:latin typeface="Montserrat"/>
                <a:ea typeface="Montserrat"/>
                <a:cs typeface="Montserrat"/>
                <a:sym typeface="Montserrat"/>
              </a:rPr>
              <a:t>Quiz!</a:t>
            </a:r>
            <a:endParaRPr sz="3000">
              <a:solidFill>
                <a:schemeClr val="accent1"/>
              </a:solidFill>
              <a:latin typeface="Montserrat"/>
              <a:ea typeface="Montserrat"/>
              <a:cs typeface="Montserrat"/>
              <a:sym typeface="Montserrat"/>
            </a:endParaRPr>
          </a:p>
          <a:p>
            <a:pPr indent="0" lvl="0" marL="0" rtl="0" algn="ctr">
              <a:spcBef>
                <a:spcPts val="0"/>
              </a:spcBef>
              <a:spcAft>
                <a:spcPts val="0"/>
              </a:spcAft>
              <a:buNone/>
            </a:pPr>
            <a:r>
              <a:t/>
            </a:r>
            <a:endParaRPr/>
          </a:p>
        </p:txBody>
      </p:sp>
      <p:sp>
        <p:nvSpPr>
          <p:cNvPr id="182" name="Google Shape;18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3" name="Google Shape;183;p27"/>
          <p:cNvPicPr preferRelativeResize="0"/>
          <p:nvPr/>
        </p:nvPicPr>
        <p:blipFill rotWithShape="1">
          <a:blip r:embed="rId3">
            <a:alphaModFix/>
          </a:blip>
          <a:srcRect b="35463" l="16341" r="18912" t="0"/>
          <a:stretch/>
        </p:blipFill>
        <p:spPr>
          <a:xfrm>
            <a:off x="2503575" y="2371650"/>
            <a:ext cx="3648476" cy="27718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189" name="Google Shape;189;p2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1.</a:t>
            </a:r>
            <a:r>
              <a:rPr b="1" lang="en" sz="1800">
                <a:solidFill>
                  <a:schemeClr val="lt1"/>
                </a:solidFill>
                <a:latin typeface="Montserrat"/>
                <a:ea typeface="Montserrat"/>
                <a:cs typeface="Montserrat"/>
                <a:sym typeface="Montserrat"/>
              </a:rPr>
              <a:t> Berikut ini, pernyataan yang benar tentang desain, kecuali…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yang hebat -&gt; menghasilkan produk terbaik.</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yang baik -&gt; menarik perhatian.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yang buruk -&gt; </a:t>
            </a:r>
            <a:r>
              <a:rPr lang="en" sz="1200">
                <a:solidFill>
                  <a:schemeClr val="lt1"/>
                </a:solidFill>
                <a:latin typeface="Montserrat Medium"/>
                <a:ea typeface="Montserrat Medium"/>
                <a:cs typeface="Montserrat Medium"/>
                <a:sym typeface="Montserrat Medium"/>
              </a:rPr>
              <a:t>dapat membunuh Anda.</a:t>
            </a:r>
            <a:endParaRPr sz="1200">
              <a:solidFill>
                <a:schemeClr val="lt1"/>
              </a:solidFill>
              <a:latin typeface="Montserrat Medium"/>
              <a:ea typeface="Montserrat Medium"/>
              <a:cs typeface="Montserrat Medium"/>
              <a:sym typeface="Montserrat Medium"/>
            </a:endParaRPr>
          </a:p>
        </p:txBody>
      </p:sp>
      <p:sp>
        <p:nvSpPr>
          <p:cNvPr id="190" name="Google Shape;19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196" name="Google Shape;196;p2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1.</a:t>
            </a:r>
            <a:r>
              <a:rPr b="1" lang="en" sz="1800">
                <a:solidFill>
                  <a:schemeClr val="lt1"/>
                </a:solidFill>
                <a:latin typeface="Montserrat"/>
                <a:ea typeface="Montserrat"/>
                <a:cs typeface="Montserrat"/>
                <a:sym typeface="Montserrat"/>
              </a:rPr>
              <a:t> Berikut ini, pernyataan yang benar tentang desain, kecuali…</a:t>
            </a:r>
            <a:endParaRPr b="1" sz="2800">
              <a:solidFill>
                <a:schemeClr val="accen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Desain yang hebat -&gt; menghasilkan produk terbaik.</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yang baik -&gt; menarik perhatian.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Desain yang buruk -&gt; dapat membunuh Anda.</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197" name="Google Shape;197;p29"/>
          <p:cNvSpPr/>
          <p:nvPr/>
        </p:nvSpPr>
        <p:spPr>
          <a:xfrm>
            <a:off x="685800" y="32102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Desain yang baik -&gt; tidak hanya menarik perhatian, tapi dapat difungsikan dengan baik.</a:t>
            </a:r>
            <a:endParaRPr b="1" sz="1200">
              <a:solidFill>
                <a:srgbClr val="733572"/>
              </a:solidFill>
              <a:latin typeface="Montserrat"/>
              <a:ea typeface="Montserrat"/>
              <a:cs typeface="Montserrat"/>
              <a:sym typeface="Montserrat"/>
            </a:endParaRPr>
          </a:p>
        </p:txBody>
      </p:sp>
      <p:sp>
        <p:nvSpPr>
          <p:cNvPr id="198" name="Google Shape;19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04" name="Google Shape;204;p3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Raleway"/>
                <a:ea typeface="Raleway"/>
                <a:cs typeface="Raleway"/>
                <a:sym typeface="Raleway"/>
              </a:rPr>
              <a:t> </a:t>
            </a:r>
            <a:r>
              <a:rPr b="1" lang="en" sz="1600">
                <a:solidFill>
                  <a:schemeClr val="lt1"/>
                </a:solidFill>
                <a:latin typeface="Montserrat"/>
                <a:ea typeface="Montserrat"/>
                <a:cs typeface="Montserrat"/>
                <a:sym typeface="Montserrat"/>
              </a:rPr>
              <a:t>Desain bukan hanya seperti apa ….. dan ….. nya. Desain adalah cara ….. nya” — Steve Jobs.</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rupa, kerja, rasa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rupa, rasa, kerja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bagus, kerja, </a:t>
            </a:r>
            <a:r>
              <a:rPr lang="en" sz="1200">
                <a:solidFill>
                  <a:schemeClr val="lt1"/>
                </a:solidFill>
                <a:latin typeface="Montserrat Medium"/>
                <a:ea typeface="Montserrat Medium"/>
                <a:cs typeface="Montserrat Medium"/>
                <a:sym typeface="Montserrat Medium"/>
              </a:rPr>
              <a:t>rupa</a:t>
            </a:r>
            <a:endParaRPr sz="1200">
              <a:solidFill>
                <a:schemeClr val="lt1"/>
              </a:solidFill>
              <a:latin typeface="Montserrat Medium"/>
              <a:ea typeface="Montserrat Medium"/>
              <a:cs typeface="Montserrat Medium"/>
              <a:sym typeface="Montserrat Medium"/>
            </a:endParaRPr>
          </a:p>
        </p:txBody>
      </p:sp>
      <p:sp>
        <p:nvSpPr>
          <p:cNvPr id="205" name="Google Shape;205;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11" name="Google Shape;211;p3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2.</a:t>
            </a:r>
            <a:r>
              <a:rPr b="1" lang="en" sz="1600">
                <a:solidFill>
                  <a:schemeClr val="lt1"/>
                </a:solidFill>
                <a:latin typeface="Raleway"/>
                <a:ea typeface="Raleway"/>
                <a:cs typeface="Raleway"/>
                <a:sym typeface="Raleway"/>
              </a:rPr>
              <a:t> </a:t>
            </a:r>
            <a:r>
              <a:rPr b="1" lang="en" sz="1600">
                <a:solidFill>
                  <a:schemeClr val="lt1"/>
                </a:solidFill>
                <a:latin typeface="Montserrat"/>
                <a:ea typeface="Montserrat"/>
                <a:cs typeface="Montserrat"/>
                <a:sym typeface="Montserrat"/>
              </a:rPr>
              <a:t>Desain bukan hanya seperti apa ….. dan ….. nya. Desain adalah cara ….. nya” — Steve Jobs.</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rupa, kerja, rasa</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rupa, rasa, kerja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bagus, kerja, rupa</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212" name="Google Shape;212;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1"/>
          <p:cNvSpPr/>
          <p:nvPr/>
        </p:nvSpPr>
        <p:spPr>
          <a:xfrm>
            <a:off x="685800" y="34406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“Desain bukan hanya seperti apa rupa dan rasanya. Desain adalah cara kerjanya”. </a:t>
            </a:r>
            <a:endParaRPr b="1" sz="1200">
              <a:solidFill>
                <a:srgbClr val="733572"/>
              </a:solidFill>
              <a:latin typeface="Montserrat"/>
              <a:ea typeface="Montserrat"/>
              <a:cs typeface="Montserrat"/>
              <a:sym typeface="Montserrat"/>
            </a:endParaRPr>
          </a:p>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 Steve Jobs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19" name="Google Shape;219;p3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accent1"/>
                </a:solidFill>
                <a:latin typeface="Montserrat"/>
                <a:ea typeface="Montserrat"/>
                <a:cs typeface="Montserrat"/>
                <a:sym typeface="Montserrat"/>
              </a:rPr>
              <a:t>.</a:t>
            </a:r>
            <a:r>
              <a:rPr b="1" lang="en" sz="1800">
                <a:solidFill>
                  <a:schemeClr val="lt1"/>
                </a:solidFill>
                <a:latin typeface="Raleway"/>
                <a:ea typeface="Raleway"/>
                <a:cs typeface="Raleway"/>
                <a:sym typeface="Raleway"/>
              </a:rPr>
              <a:t> </a:t>
            </a:r>
            <a:r>
              <a:rPr b="1" lang="en" sz="1800">
                <a:solidFill>
                  <a:schemeClr val="lt1"/>
                </a:solidFill>
                <a:latin typeface="Montserrat"/>
                <a:ea typeface="Montserrat"/>
                <a:cs typeface="Montserrat"/>
                <a:sym typeface="Montserrat"/>
              </a:rPr>
              <a:t>Menurut kamu, manakah yang bukan manfaat dari desain UX yang baik… </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UX yang baik dapat memberikan kecepatan dalam pekerjaan sehari-hari.</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UX yang baik dapat memberikan kenyamanan</a:t>
            </a:r>
            <a:r>
              <a:rPr lang="en" sz="1200">
                <a:solidFill>
                  <a:schemeClr val="lt1"/>
                </a:solidFill>
                <a:latin typeface="Montserrat Medium"/>
                <a:ea typeface="Montserrat Medium"/>
                <a:cs typeface="Montserrat Medium"/>
                <a:sym typeface="Montserrat Medium"/>
              </a:rPr>
              <a:t> dalam pekerjaan sehari-hari.</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UX yang baik memberikan kesalahgunaan</a:t>
            </a:r>
            <a:r>
              <a:rPr lang="en" sz="1200">
                <a:solidFill>
                  <a:schemeClr val="lt1"/>
                </a:solidFill>
                <a:latin typeface="Montserrat Medium"/>
                <a:ea typeface="Montserrat Medium"/>
                <a:cs typeface="Montserrat Medium"/>
                <a:sym typeface="Montserrat Medium"/>
              </a:rPr>
              <a:t> dalam pekerjaan sehari-hari</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220" name="Google Shape;22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26" name="Google Shape;226;p3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3.</a:t>
            </a:r>
            <a:r>
              <a:rPr b="1" lang="en" sz="1800">
                <a:solidFill>
                  <a:schemeClr val="lt1"/>
                </a:solidFill>
                <a:latin typeface="Montserrat"/>
                <a:ea typeface="Montserrat"/>
                <a:cs typeface="Montserrat"/>
                <a:sym typeface="Montserrat"/>
              </a:rPr>
              <a:t> Menurut kamu, manakah yang bukan manfaat dari desain UX yang baik… </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Desain UX yang baik dapat memberikan kecepatan dalam pekerjaan sehari-hari.</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Desain UX yang baik dapat memberikan kenyamanan dalam pekerjaan sehari-hari.</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Desain UX yang baik memberikan kesalahgunaan dalam pekerjaan sehari-hari</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Clr>
                <a:schemeClr val="dk1"/>
              </a:buClr>
              <a:buSzPts val="1100"/>
              <a:buFont typeface="Arial"/>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p:txBody>
      </p:sp>
      <p:sp>
        <p:nvSpPr>
          <p:cNvPr id="227" name="Google Shape;22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3"/>
          <p:cNvSpPr/>
          <p:nvPr/>
        </p:nvSpPr>
        <p:spPr>
          <a:xfrm>
            <a:off x="685800" y="3544925"/>
            <a:ext cx="7772400" cy="844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Manfaat dari suatu desain UX yang baik diantaranya dapat memberikan kecepatan dalam pekerjaan sehari-hari, memberikan kenyamanan dalam pekerjaan sehari-hari, dan tidak menimbulkan kesalahgunaan atau disfungsi dalam penggunaannya oleh user.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234" name="Google Shape;234;p3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4.</a:t>
            </a:r>
            <a:r>
              <a:rPr b="1" lang="en" sz="1800">
                <a:solidFill>
                  <a:schemeClr val="lt1"/>
                </a:solidFill>
                <a:latin typeface="Montserrat"/>
                <a:ea typeface="Montserrat"/>
                <a:cs typeface="Montserrat"/>
                <a:sym typeface="Montserrat"/>
              </a:rPr>
              <a:t> Diskusikan bersama, apa yang kurang tepat dengan desain pada gambar dibawah ini!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200">
              <a:solidFill>
                <a:schemeClr val="lt1"/>
              </a:solidFill>
              <a:latin typeface="Montserrat"/>
              <a:ea typeface="Montserrat"/>
              <a:cs typeface="Montserrat"/>
              <a:sym typeface="Montserrat"/>
            </a:endParaRPr>
          </a:p>
        </p:txBody>
      </p:sp>
      <p:pic>
        <p:nvPicPr>
          <p:cNvPr id="235" name="Google Shape;235;p34"/>
          <p:cNvPicPr preferRelativeResize="0"/>
          <p:nvPr/>
        </p:nvPicPr>
        <p:blipFill rotWithShape="1">
          <a:blip r:embed="rId3">
            <a:alphaModFix/>
          </a:blip>
          <a:srcRect b="32242" l="0" r="0" t="17237"/>
          <a:stretch/>
        </p:blipFill>
        <p:spPr>
          <a:xfrm>
            <a:off x="3331250" y="1976600"/>
            <a:ext cx="4657151" cy="2562801"/>
          </a:xfrm>
          <a:prstGeom prst="rect">
            <a:avLst/>
          </a:prstGeom>
          <a:noFill/>
          <a:ln>
            <a:noFill/>
          </a:ln>
        </p:spPr>
      </p:pic>
      <p:sp>
        <p:nvSpPr>
          <p:cNvPr id="236" name="Google Shape;236;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242" name="Google Shape;242;p3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5</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Diskusikan bersama, apa yang kurang tepat dengan desain pada gambar dibawah ini!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p:txBody>
      </p:sp>
      <p:pic>
        <p:nvPicPr>
          <p:cNvPr id="243" name="Google Shape;243;p35"/>
          <p:cNvPicPr preferRelativeResize="0"/>
          <p:nvPr/>
        </p:nvPicPr>
        <p:blipFill rotWithShape="1">
          <a:blip r:embed="rId3">
            <a:alphaModFix/>
          </a:blip>
          <a:srcRect b="24470" l="0" r="0" t="8558"/>
          <a:stretch/>
        </p:blipFill>
        <p:spPr>
          <a:xfrm>
            <a:off x="3331250" y="1976600"/>
            <a:ext cx="4657151" cy="2562801"/>
          </a:xfrm>
          <a:prstGeom prst="rect">
            <a:avLst/>
          </a:prstGeom>
          <a:noFill/>
          <a:ln>
            <a:noFill/>
          </a:ln>
        </p:spPr>
      </p:pic>
      <p:sp>
        <p:nvSpPr>
          <p:cNvPr id="244" name="Google Shape;24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250" name="Google Shape;250;p3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6</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Diskusikan bersama, apa yang kurang tepat dengan desain pada gambar dibawah ini!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p:txBody>
      </p:sp>
      <p:pic>
        <p:nvPicPr>
          <p:cNvPr id="251" name="Google Shape;251;p36"/>
          <p:cNvPicPr preferRelativeResize="0"/>
          <p:nvPr/>
        </p:nvPicPr>
        <p:blipFill rotWithShape="1">
          <a:blip r:embed="rId3">
            <a:alphaModFix/>
          </a:blip>
          <a:srcRect b="9831" l="0" r="0" t="48978"/>
          <a:stretch/>
        </p:blipFill>
        <p:spPr>
          <a:xfrm>
            <a:off x="3331250" y="1976600"/>
            <a:ext cx="4657151" cy="2562800"/>
          </a:xfrm>
          <a:prstGeom prst="rect">
            <a:avLst/>
          </a:prstGeom>
          <a:noFill/>
          <a:ln>
            <a:noFill/>
          </a:ln>
        </p:spPr>
      </p:pic>
      <p:sp>
        <p:nvSpPr>
          <p:cNvPr id="252" name="Google Shape;252;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258" name="Google Shape;258;p3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7</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Diskusikan bersama, apa yang kurang tepat dengan desain pada gambar dibawah ini!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p:txBody>
      </p:sp>
      <p:pic>
        <p:nvPicPr>
          <p:cNvPr id="259" name="Google Shape;259;p37"/>
          <p:cNvPicPr preferRelativeResize="0"/>
          <p:nvPr/>
        </p:nvPicPr>
        <p:blipFill rotWithShape="1">
          <a:blip r:embed="rId3">
            <a:alphaModFix/>
          </a:blip>
          <a:srcRect b="32029" l="0" r="0" t="32026"/>
          <a:stretch/>
        </p:blipFill>
        <p:spPr>
          <a:xfrm>
            <a:off x="3331250" y="1976600"/>
            <a:ext cx="4657152" cy="2562801"/>
          </a:xfrm>
          <a:prstGeom prst="rect">
            <a:avLst/>
          </a:prstGeom>
          <a:noFill/>
          <a:ln>
            <a:noFill/>
          </a:ln>
        </p:spPr>
      </p:pic>
      <p:sp>
        <p:nvSpPr>
          <p:cNvPr id="260" name="Google Shape;260;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266" name="Google Shape;266;p3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8</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Diskusikan bersama, apa yang kurang tepat dengan desain pada gambar dibawah ini!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p:txBody>
      </p:sp>
      <p:pic>
        <p:nvPicPr>
          <p:cNvPr id="267" name="Google Shape;267;p38"/>
          <p:cNvPicPr preferRelativeResize="0"/>
          <p:nvPr/>
        </p:nvPicPr>
        <p:blipFill rotWithShape="1">
          <a:blip r:embed="rId3">
            <a:alphaModFix/>
          </a:blip>
          <a:srcRect b="8622" l="0" r="0" t="8622"/>
          <a:stretch/>
        </p:blipFill>
        <p:spPr>
          <a:xfrm>
            <a:off x="3331250" y="1976600"/>
            <a:ext cx="4657152" cy="2562800"/>
          </a:xfrm>
          <a:prstGeom prst="rect">
            <a:avLst/>
          </a:prstGeom>
          <a:noFill/>
          <a:ln>
            <a:noFill/>
          </a:ln>
        </p:spPr>
      </p:pic>
      <p:sp>
        <p:nvSpPr>
          <p:cNvPr id="268" name="Google Shape;268;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274" name="Google Shape;274;p3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9</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Diskusikan bersama, apa yang kurang tepat dengan desain pada gambar dibawah ini!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p:txBody>
      </p:sp>
      <p:pic>
        <p:nvPicPr>
          <p:cNvPr id="275" name="Google Shape;275;p39"/>
          <p:cNvPicPr preferRelativeResize="0"/>
          <p:nvPr/>
        </p:nvPicPr>
        <p:blipFill rotWithShape="1">
          <a:blip r:embed="rId3">
            <a:alphaModFix/>
          </a:blip>
          <a:srcRect b="6416" l="-110837" r="0" t="6407"/>
          <a:stretch/>
        </p:blipFill>
        <p:spPr>
          <a:xfrm>
            <a:off x="3331250" y="1976600"/>
            <a:ext cx="4657152" cy="2562800"/>
          </a:xfrm>
          <a:prstGeom prst="rect">
            <a:avLst/>
          </a:prstGeom>
          <a:noFill/>
          <a:ln>
            <a:noFill/>
          </a:ln>
        </p:spPr>
      </p:pic>
      <p:sp>
        <p:nvSpPr>
          <p:cNvPr id="276" name="Google Shape;276;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282" name="Google Shape;282;p4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10.</a:t>
            </a:r>
            <a:r>
              <a:rPr b="1" lang="en" sz="1800">
                <a:solidFill>
                  <a:schemeClr val="lt1"/>
                </a:solidFill>
                <a:latin typeface="Montserrat"/>
                <a:ea typeface="Montserrat"/>
                <a:cs typeface="Montserrat"/>
                <a:sym typeface="Montserrat"/>
              </a:rPr>
              <a:t> Diskusikan bersama, apa yang kurang tepat dengan desain pada gambar dibawah ini!</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p:txBody>
      </p:sp>
      <p:sp>
        <p:nvSpPr>
          <p:cNvPr id="283" name="Google Shape;283;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84" name="Google Shape;284;p40"/>
          <p:cNvPicPr preferRelativeResize="0"/>
          <p:nvPr/>
        </p:nvPicPr>
        <p:blipFill rotWithShape="1">
          <a:blip r:embed="rId3">
            <a:alphaModFix/>
          </a:blip>
          <a:srcRect b="11737" l="0" r="0" t="11745"/>
          <a:stretch/>
        </p:blipFill>
        <p:spPr>
          <a:xfrm>
            <a:off x="3393225" y="2085400"/>
            <a:ext cx="4657152" cy="2562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291" name="Google Shape;291;p4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292" name="Google Shape;292;p41"/>
          <p:cNvSpPr txBox="1"/>
          <p:nvPr/>
        </p:nvSpPr>
        <p:spPr>
          <a:xfrm>
            <a:off x="685800" y="1272003"/>
            <a:ext cx="4114800" cy="3657600"/>
          </a:xfrm>
          <a:prstGeom prst="rect">
            <a:avLst/>
          </a:prstGeom>
          <a:noFill/>
          <a:ln>
            <a:noFill/>
          </a:ln>
        </p:spPr>
        <p:txBody>
          <a:bodyPr anchorCtr="0" anchor="t" bIns="0" lIns="0" spcFirstLastPara="1" rIns="4125"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1) </a:t>
            </a: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Watch out! A bad UX design kills! Seriously. By Bootcamp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2) </a:t>
            </a: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The Guts of a New Machine by The New York Times Magazine</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3) </a:t>
            </a:r>
            <a:r>
              <a:rPr lang="en" sz="1000" u="sng">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Design Failures by Interaction Design Foundation</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4) </a:t>
            </a:r>
            <a:r>
              <a:rPr lang="en" sz="1000" u="sng">
                <a:solidFill>
                  <a:schemeClr val="dk1"/>
                </a:solidFill>
                <a:latin typeface="Montserrat Medium"/>
                <a:ea typeface="Montserrat Medium"/>
                <a:cs typeface="Montserrat Medium"/>
                <a:sym typeface="Montserrat Medium"/>
                <a:hlinkClick r:id="rId7">
                  <a:extLst>
                    <a:ext uri="{A12FA001-AC4F-418D-AE19-62706E023703}">
                      <ahyp:hlinkClr val="tx"/>
                    </a:ext>
                  </a:extLst>
                </a:hlinkClick>
              </a:rPr>
              <a:t>How bad UX killed Jenny on medium</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5) </a:t>
            </a:r>
            <a:r>
              <a:rPr lang="en" sz="1000" u="sng">
                <a:solidFill>
                  <a:schemeClr val="dk1"/>
                </a:solidFill>
                <a:latin typeface="Montserrat Medium"/>
                <a:ea typeface="Montserrat Medium"/>
                <a:cs typeface="Montserrat Medium"/>
                <a:sym typeface="Montserrat Medium"/>
                <a:hlinkClick r:id="rId8">
                  <a:extLst>
                    <a:ext uri="{A12FA001-AC4F-418D-AE19-62706E023703}">
                      <ahyp:hlinkClr val="tx"/>
                    </a:ext>
                  </a:extLst>
                </a:hlinkClick>
              </a:rPr>
              <a:t>User Experience and Three mile Island accident on medium</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1000"/>
              </a:spcAft>
              <a:buNone/>
            </a:pPr>
            <a:r>
              <a:rPr lang="en" sz="1000">
                <a:solidFill>
                  <a:schemeClr val="dk1"/>
                </a:solidFill>
                <a:latin typeface="Montserrat Medium"/>
                <a:ea typeface="Montserrat Medium"/>
                <a:cs typeface="Montserrat Medium"/>
                <a:sym typeface="Montserrat Medium"/>
              </a:rPr>
              <a:t>6) </a:t>
            </a:r>
            <a:r>
              <a:rPr lang="en" sz="1000" u="sng">
                <a:solidFill>
                  <a:schemeClr val="dk1"/>
                </a:solidFill>
                <a:latin typeface="Montserrat Medium"/>
                <a:ea typeface="Montserrat Medium"/>
                <a:cs typeface="Montserrat Medium"/>
                <a:sym typeface="Montserrat Medium"/>
                <a:hlinkClick r:id="rId9">
                  <a:extLst>
                    <a:ext uri="{A12FA001-AC4F-418D-AE19-62706E023703}">
                      <ahyp:hlinkClr val="tx"/>
                    </a:ext>
                  </a:extLst>
                </a:hlinkClick>
              </a:rPr>
              <a:t>When Bad UI Design Kills: Is Poor Shift Lever Design to Blame for Death of Star Trek Actor? by core77 </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298" name="Google Shape;298;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42"/>
          <p:cNvSpPr txBox="1"/>
          <p:nvPr/>
        </p:nvSpPr>
        <p:spPr>
          <a:xfrm>
            <a:off x="611425" y="1632900"/>
            <a:ext cx="3937200" cy="2271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selesai sudah pembahasan kita di Chapter 1 Topic 3 ini.</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a:solidFill>
                  <a:schemeClr val="lt1"/>
                </a:solidFill>
                <a:latin typeface="Montserrat"/>
                <a:ea typeface="Montserrat"/>
                <a:cs typeface="Montserrat"/>
                <a:sym typeface="Montserrat"/>
              </a:rPr>
              <a:t>Selanjutnya, kita bakal kenalan dengan </a:t>
            </a:r>
            <a:r>
              <a:rPr b="1" lang="en">
                <a:solidFill>
                  <a:srgbClr val="F4B71C"/>
                </a:solidFill>
                <a:latin typeface="Montserrat"/>
                <a:ea typeface="Montserrat"/>
                <a:cs typeface="Montserrat"/>
                <a:sym typeface="Montserrat"/>
              </a:rPr>
              <a:t>design thinking.</a:t>
            </a:r>
            <a:endParaRPr b="1">
              <a:solidFill>
                <a:srgbClr val="F4B71C"/>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a:solidFill>
                  <a:schemeClr val="lt1"/>
                </a:solidFill>
                <a:latin typeface="Montserrat"/>
                <a:ea typeface="Montserrat"/>
                <a:cs typeface="Montserrat"/>
                <a:sym typeface="Montserrat"/>
              </a:rPr>
              <a:t>Penasaran kayak gimana? Cus langsung ke topik selanjutnya~</a:t>
            </a:r>
            <a:endParaRPr b="1" i="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a:solidFill>
                <a:schemeClr val="lt1"/>
              </a:solidFill>
              <a:latin typeface="Montserrat"/>
              <a:ea typeface="Montserrat"/>
              <a:cs typeface="Montserrat"/>
              <a:sym typeface="Montserrat"/>
            </a:endParaRPr>
          </a:p>
        </p:txBody>
      </p:sp>
      <p:pic>
        <p:nvPicPr>
          <p:cNvPr id="300" name="Google Shape;300;p42"/>
          <p:cNvPicPr preferRelativeResize="0"/>
          <p:nvPr/>
        </p:nvPicPr>
        <p:blipFill>
          <a:blip r:embed="rId3">
            <a:alphaModFix/>
          </a:blip>
          <a:stretch>
            <a:fillRect/>
          </a:stretch>
        </p:blipFill>
        <p:spPr>
          <a:xfrm>
            <a:off x="4101881" y="720675"/>
            <a:ext cx="5687844" cy="4338199"/>
          </a:xfrm>
          <a:prstGeom prst="rect">
            <a:avLst/>
          </a:prstGeom>
          <a:noFill/>
          <a:ln>
            <a:noFill/>
          </a:ln>
        </p:spPr>
      </p:pic>
      <p:sp>
        <p:nvSpPr>
          <p:cNvPr id="301" name="Google Shape;301;p42"/>
          <p:cNvSpPr/>
          <p:nvPr/>
        </p:nvSpPr>
        <p:spPr>
          <a:xfrm>
            <a:off x="0" y="0"/>
            <a:ext cx="9144000" cy="5143500"/>
          </a:xfrm>
          <a:prstGeom prst="rect">
            <a:avLst/>
          </a:prstGeom>
          <a:solidFill>
            <a:srgbClr val="652F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42"/>
          <p:cNvPicPr preferRelativeResize="0"/>
          <p:nvPr/>
        </p:nvPicPr>
        <p:blipFill>
          <a:blip r:embed="rId4">
            <a:alphaModFix/>
          </a:blip>
          <a:stretch>
            <a:fillRect/>
          </a:stretch>
        </p:blipFill>
        <p:spPr>
          <a:xfrm>
            <a:off x="1734062" y="469363"/>
            <a:ext cx="5675881" cy="4204774"/>
          </a:xfrm>
          <a:prstGeom prst="rect">
            <a:avLst/>
          </a:prstGeom>
          <a:noFill/>
          <a:ln>
            <a:noFill/>
          </a:ln>
        </p:spPr>
      </p:pic>
      <p:pic>
        <p:nvPicPr>
          <p:cNvPr id="304" name="Google Shape;304;p42"/>
          <p:cNvPicPr preferRelativeResize="0"/>
          <p:nvPr/>
        </p:nvPicPr>
        <p:blipFill rotWithShape="1">
          <a:blip r:embed="rId5">
            <a:alphaModFix/>
          </a:blip>
          <a:srcRect b="0" l="0" r="13247" t="0"/>
          <a:stretch/>
        </p:blipFill>
        <p:spPr>
          <a:xfrm>
            <a:off x="7987325" y="4075701"/>
            <a:ext cx="709350" cy="817600"/>
          </a:xfrm>
          <a:prstGeom prst="rect">
            <a:avLst/>
          </a:prstGeom>
          <a:noFill/>
          <a:ln>
            <a:noFill/>
          </a:ln>
        </p:spPr>
      </p:pic>
      <p:pic>
        <p:nvPicPr>
          <p:cNvPr id="305" name="Google Shape;305;p42"/>
          <p:cNvPicPr preferRelativeResize="0"/>
          <p:nvPr/>
        </p:nvPicPr>
        <p:blipFill>
          <a:blip r:embed="rId6">
            <a:alphaModFix/>
          </a:blip>
          <a:stretch>
            <a:fillRect/>
          </a:stretch>
        </p:blipFill>
        <p:spPr>
          <a:xfrm>
            <a:off x="485550" y="4178538"/>
            <a:ext cx="1978749" cy="683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