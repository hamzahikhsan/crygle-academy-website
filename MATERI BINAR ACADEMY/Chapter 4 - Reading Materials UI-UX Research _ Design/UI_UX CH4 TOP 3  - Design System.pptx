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84.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91.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8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88.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2"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Lst>
  <p:sldSz cy="5143500" cx="9144000"/>
  <p:notesSz cx="6858000" cy="9144000"/>
  <p:embeddedFontLst>
    <p:embeddedFont>
      <p:font typeface="Raleway"/>
      <p:regular r:id="rId97"/>
      <p:bold r:id="rId98"/>
      <p:italic r:id="rId99"/>
      <p:boldItalic r:id="rId100"/>
    </p:embeddedFont>
    <p:embeddedFont>
      <p:font typeface="Montserrat"/>
      <p:regular r:id="rId101"/>
      <p:bold r:id="rId102"/>
      <p:italic r:id="rId103"/>
      <p:boldItalic r:id="rId104"/>
    </p:embeddedFont>
    <p:embeddedFont>
      <p:font typeface="Montserrat Medium"/>
      <p:regular r:id="rId105"/>
      <p:bold r:id="rId106"/>
      <p:italic r:id="rId107"/>
      <p:boldItalic r:id="rId108"/>
    </p:embeddedFont>
    <p:embeddedFont>
      <p:font typeface="Lato Black"/>
      <p:bold r:id="rId109"/>
      <p:boldItalic r:id="rId11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024">
          <p15:clr>
            <a:srgbClr val="A4A3A4"/>
          </p15:clr>
        </p15:guide>
        <p15:guide id="2" pos="2921">
          <p15:clr>
            <a:srgbClr val="A4A3A4"/>
          </p15:clr>
        </p15:guide>
        <p15:guide id="3" orient="horz" pos="576">
          <p15:clr>
            <a:srgbClr val="9AA0A6"/>
          </p15:clr>
        </p15:guide>
        <p15:guide id="4" pos="2976">
          <p15:clr>
            <a:srgbClr val="9AA0A6"/>
          </p15:clr>
        </p15:guide>
        <p15:guide id="5" pos="307">
          <p15:clr>
            <a:srgbClr val="9AA0A6"/>
          </p15:clr>
        </p15:guide>
        <p15:guide id="6" pos="4934">
          <p15:clr>
            <a:srgbClr val="9AA0A6"/>
          </p15:clr>
        </p15:guide>
        <p15:guide id="7" pos="5428">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024" orient="horz"/>
        <p:guide pos="2921"/>
        <p:guide pos="576" orient="horz"/>
        <p:guide pos="2976"/>
        <p:guide pos="307"/>
        <p:guide pos="4934"/>
        <p:guide pos="5428"/>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07" Type="http://schemas.openxmlformats.org/officeDocument/2006/relationships/font" Target="fonts/MontserratMedium-italic.fntdata"/><Relationship Id="rId106" Type="http://schemas.openxmlformats.org/officeDocument/2006/relationships/font" Target="fonts/MontserratMedium-bold.fntdata"/><Relationship Id="rId105" Type="http://schemas.openxmlformats.org/officeDocument/2006/relationships/font" Target="fonts/MontserratMedium-regular.fntdata"/><Relationship Id="rId104" Type="http://schemas.openxmlformats.org/officeDocument/2006/relationships/font" Target="fonts/Montserrat-boldItalic.fntdata"/><Relationship Id="rId109" Type="http://schemas.openxmlformats.org/officeDocument/2006/relationships/font" Target="fonts/LatoBlack-bold.fntdata"/><Relationship Id="rId108" Type="http://schemas.openxmlformats.org/officeDocument/2006/relationships/font" Target="fonts/MontserratMedium-boldItalic.fntdata"/><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103" Type="http://schemas.openxmlformats.org/officeDocument/2006/relationships/font" Target="fonts/Montserrat-italic.fntdata"/><Relationship Id="rId102" Type="http://schemas.openxmlformats.org/officeDocument/2006/relationships/font" Target="fonts/Montserrat-bold.fntdata"/><Relationship Id="rId101" Type="http://schemas.openxmlformats.org/officeDocument/2006/relationships/font" Target="fonts/Montserrat-regular.fntdata"/><Relationship Id="rId100" Type="http://schemas.openxmlformats.org/officeDocument/2006/relationships/font" Target="fonts/Raleway-boldItalic.fntdata"/><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font" Target="fonts/Raleway-regular.fntdata"/><Relationship Id="rId96" Type="http://schemas.openxmlformats.org/officeDocument/2006/relationships/slide" Target="slides/slide91.xml"/><Relationship Id="rId11" Type="http://schemas.openxmlformats.org/officeDocument/2006/relationships/slide" Target="slides/slide6.xml"/><Relationship Id="rId99" Type="http://schemas.openxmlformats.org/officeDocument/2006/relationships/font" Target="fonts/Raleway-italic.fntdata"/><Relationship Id="rId10" Type="http://schemas.openxmlformats.org/officeDocument/2006/relationships/slide" Target="slides/slide5.xml"/><Relationship Id="rId98" Type="http://schemas.openxmlformats.org/officeDocument/2006/relationships/font" Target="fonts/Raleway-bold.fntdata"/><Relationship Id="rId13" Type="http://schemas.openxmlformats.org/officeDocument/2006/relationships/slide" Target="slides/slide8.xml"/><Relationship Id="rId12" Type="http://schemas.openxmlformats.org/officeDocument/2006/relationships/slide" Target="slides/slide7.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5" Type="http://schemas.openxmlformats.org/officeDocument/2006/relationships/slide" Target="slides/slide10.xml"/><Relationship Id="rId110" Type="http://schemas.openxmlformats.org/officeDocument/2006/relationships/font" Target="fonts/LatoBlack-boldItalic.fntdata"/><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65" Type="http://schemas.openxmlformats.org/officeDocument/2006/relationships/slide" Target="slides/slide60.xml"/><Relationship Id="rId68" Type="http://schemas.openxmlformats.org/officeDocument/2006/relationships/slide" Target="slides/slide63.xml"/><Relationship Id="rId67" Type="http://schemas.openxmlformats.org/officeDocument/2006/relationships/slide" Target="slides/slide62.xml"/><Relationship Id="rId60" Type="http://schemas.openxmlformats.org/officeDocument/2006/relationships/slide" Target="slides/slide55.xml"/><Relationship Id="rId69" Type="http://schemas.openxmlformats.org/officeDocument/2006/relationships/slide" Target="slides/slide6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54" Type="http://schemas.openxmlformats.org/officeDocument/2006/relationships/slide" Target="slides/slide49.xml"/><Relationship Id="rId57" Type="http://schemas.openxmlformats.org/officeDocument/2006/relationships/slide" Target="slides/slide52.xml"/><Relationship Id="rId56" Type="http://schemas.openxmlformats.org/officeDocument/2006/relationships/slide" Target="slides/slide51.xml"/><Relationship Id="rId59" Type="http://schemas.openxmlformats.org/officeDocument/2006/relationships/slide" Target="slides/slide54.xml"/><Relationship Id="rId58"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7b9cd5a793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7b9cd5a793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11a22824457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11a22824457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10b12bec43e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10b12bec43e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119d9922b9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119d9922b9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119d9922b9e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119d9922b9e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10b12bec43e_0_8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10b12bec43e_0_8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112d223e636_0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112d223e636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https://dribbble.com/shots/14438280-Brandbook</a:t>
            </a:r>
            <a:endParaRPr>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114d5361cc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114d5361cc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https://dribbble.com/shots/14438280-Brandbook</a:t>
            </a:r>
            <a:endParaRPr>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114d8665379_0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114d8665379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https://dribbble.com/shots/14438280-Brandbook</a:t>
            </a:r>
            <a:endParaRPr>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11e9758d9ae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11e9758d9ae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https://dribbble.com/shots/14438280-Brandbook</a:t>
            </a:r>
            <a:endParaRPr>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11e9758d9ae_1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11e9758d9ae_1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https://dribbble.com/shots/14438280-Brandbook</a:t>
            </a:r>
            <a:endParaRPr>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11e9758d9ae_1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11e9758d9ae_1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https://dribbble.com/shots/14438280-Brandbook</a:t>
            </a:r>
            <a:endParaRPr>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112d223e636_0_2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112d223e636_0_2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a:solidFill>
                  <a:schemeClr val="dk1"/>
                </a:solidFill>
              </a:rPr>
              <a:t>https://dribbble.com/shots/9092588-VisualEyes-Design-System</a:t>
            </a:r>
            <a:endParaRPr>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111c9ae9e7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111c9ae9e7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https://dribbble.com/shots/9092588-VisualEyes-Design-System</a:t>
            </a:r>
            <a:endParaRPr>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111c9ae9e70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111c9ae9e70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114d8665379_0_1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114d8665379_0_1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a:solidFill>
                  <a:schemeClr val="dk1"/>
                </a:solidFill>
              </a:rPr>
              <a:t>https://material.io/design/layout/understanding-layout.html#principles</a:t>
            </a:r>
            <a:endParaRPr>
              <a:solidFill>
                <a:schemeClr val="dk1"/>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114d8665379_0_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114d8665379_0_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https://material.io/design/layout/understanding-layout.html#principles</a:t>
            </a:r>
            <a:endParaRPr>
              <a:solidFill>
                <a:schemeClr val="dk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119d9922b9e_0_1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119d9922b9e_0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https://material.io/design/layout/understanding-layout.html#principles</a:t>
            </a:r>
            <a:endParaRPr>
              <a:solidFill>
                <a:schemeClr val="dk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114d8665379_0_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114d8665379_0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https://material.io/design/layout/understanding-layout.html#principles</a:t>
            </a:r>
            <a:endParaRPr>
              <a:solidFill>
                <a:schemeClr val="dk1"/>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11e1397225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11e1397225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https://material.io/design/layout/understanding-layout.html#principles</a:t>
            </a:r>
            <a:endParaRPr>
              <a:solidFill>
                <a:schemeClr val="dk1"/>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119d9922b9e_0_1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 name="Google Shape;270;g119d9922b9e_0_1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114d8665379_0_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114d8665379_0_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https://material.io/design/layout/understanding-layout.html#principles</a:t>
            </a:r>
            <a:endParaRPr>
              <a:solidFill>
                <a:schemeClr val="dk1"/>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114d8665379_0_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114d8665379_0_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https://material.io/design/layout/understanding-layout.html#principles</a:t>
            </a:r>
            <a:endParaRPr>
              <a:solidFill>
                <a:schemeClr val="dk1"/>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114d8665379_0_1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114d8665379_0_1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https://material.io/design/layout/understanding-layout.html#principles</a:t>
            </a:r>
            <a:endParaRPr>
              <a:solidFill>
                <a:schemeClr val="dk1"/>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114d8665379_0_2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114d8665379_0_2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https://material.io/design/layout/understanding-layout.html#principles</a:t>
            </a:r>
            <a:endParaRPr>
              <a:solidFill>
                <a:schemeClr val="dk1"/>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111c9ae9e70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111c9ae9e70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114d8665379_0_2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8" name="Google Shape;318;g114d8665379_0_2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a:solidFill>
                  <a:schemeClr val="dk1"/>
                </a:solidFill>
              </a:rPr>
              <a:t>https://material.io/design/color/the-color-system.html#color-usage-and-palettes</a:t>
            </a:r>
            <a:endParaRPr>
              <a:solidFill>
                <a:schemeClr val="dk1"/>
              </a:solidFil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114d8665379_0_2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114d8665379_0_2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a:solidFill>
                  <a:schemeClr val="dk1"/>
                </a:solidFill>
              </a:rPr>
              <a:t>https://material.io/design/color/the-color-system.html#color-usage-and-palettes</a:t>
            </a:r>
            <a:endParaRPr>
              <a:solidFill>
                <a:schemeClr val="dk1"/>
              </a:solidFil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114d8665379_0_2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4" name="Google Shape;334;g114d8665379_0_2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https://material.io/design/color/the-color-system.html#color-usage-and-palettes</a:t>
            </a:r>
            <a:endParaRPr>
              <a:solidFill>
                <a:schemeClr val="dk1"/>
              </a:solidFil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114d8665379_0_2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2" name="Google Shape;342;g114d8665379_0_2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https://material.io/design/color/the-color-system.html#color-usage-and-palettes</a:t>
            </a:r>
            <a:endParaRPr>
              <a:solidFill>
                <a:schemeClr val="dk1"/>
              </a:solidFil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114d8665379_0_2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0" name="Google Shape;350;g114d8665379_0_2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https://material.io/design/color/the-color-system.html#color-usage-and-palettes</a:t>
            </a:r>
            <a:endParaRPr>
              <a:solidFill>
                <a:schemeClr val="dk1"/>
              </a:solidFil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114d8665379_0_2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8" name="Google Shape;358;g114d8665379_0_2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https://material.io/design/color/the-color-system.html#color-usage-and-palettes</a:t>
            </a:r>
            <a:endParaRPr>
              <a:solidFill>
                <a:schemeClr val="dk1"/>
              </a:solidFil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114d8665379_0_2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6" name="Google Shape;366;g114d8665379_0_2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https://material.io/design/color/the-color-system.html#color-usage-and-palettes</a:t>
            </a:r>
            <a:endParaRPr>
              <a:solidFill>
                <a:schemeClr val="dk1"/>
              </a:solidFil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114d8665379_0_2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4" name="Google Shape;374;g114d8665379_0_2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https://material.io/design/color/the-color-system.html#color-usage-and-palettes</a:t>
            </a:r>
            <a:endParaRPr>
              <a:solidFill>
                <a:schemeClr val="dk1"/>
              </a:solidFil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111c9ae9e70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2" name="Google Shape;382;g111c9ae9e70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114d8665379_0_2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0" name="Google Shape;390;g114d8665379_0_2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a:solidFill>
                  <a:schemeClr val="dk1"/>
                </a:solidFill>
              </a:rPr>
              <a:t>https://dribbble.com/shots/16437841-Man-and-the-machine</a:t>
            </a:r>
            <a:endParaRPr>
              <a:solidFill>
                <a:schemeClr val="dk1"/>
              </a:solidFil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114d8665379_0_2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8" name="Google Shape;398;g114d8665379_0_2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a:solidFill>
                  <a:schemeClr val="dk1"/>
                </a:solidFill>
              </a:rPr>
              <a:t>https://material.io/design/typography/the-type-system.html#type-scale</a:t>
            </a:r>
            <a:endParaRPr>
              <a:solidFill>
                <a:schemeClr val="dk1"/>
              </a:solidFil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g11a22824457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6" name="Google Shape;406;g11a22824457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https://material.io/design/typography/the-type-system.html#type-scale</a:t>
            </a:r>
            <a:endParaRPr>
              <a:solidFill>
                <a:schemeClr val="dk1"/>
              </a:solidFil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g11a22824457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4" name="Google Shape;414;g11a22824457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https://material.io/design/typography/the-type-system.html#type-scale</a:t>
            </a:r>
            <a:endParaRPr>
              <a:solidFill>
                <a:schemeClr val="dk1"/>
              </a:solidFil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g114d8665379_0_3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2" name="Google Shape;422;g114d8665379_0_3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Image from https://dribbble.com/shots/16437841-Man-and-the-machine</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g114d8665379_0_3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1" name="Google Shape;431;g114d8665379_0_3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https://dribbble.com/shots/16437841-Man-and-the-machine</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11a22824457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8" name="Google Shape;438;g11a22824457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g114d8665379_0_3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6" name="Google Shape;446;g114d8665379_0_3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a:solidFill>
                  <a:schemeClr val="dk1"/>
                </a:solidFill>
              </a:rPr>
              <a:t>https://uxdesign.cc/a-better-way-to-create-typography-design-systems-689c851dc616</a:t>
            </a:r>
            <a:endParaRPr>
              <a:solidFill>
                <a:schemeClr val="dk1"/>
              </a:solidFill>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gd1eaf9238c_2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4" name="Google Shape;454;gd1eaf9238c_2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a:solidFill>
                  <a:schemeClr val="dk1"/>
                </a:solidFill>
              </a:rPr>
              <a:t>https://material.io/design/typography/the-type-system.html#type-scale</a:t>
            </a:r>
            <a:endParaRPr>
              <a:solidFill>
                <a:schemeClr val="dk1"/>
              </a:solidFill>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gd1eaf9238c_2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2" name="Google Shape;462;gd1eaf9238c_2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a:solidFill>
                  <a:schemeClr val="dk1"/>
                </a:solidFill>
              </a:rPr>
              <a:t>https://type-scale.com/</a:t>
            </a:r>
            <a:endParaRPr>
              <a:solidFill>
                <a:schemeClr val="dk1"/>
              </a:solidFill>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gd1eaf9238c_2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0" name="Google Shape;470;gd1eaf9238c_2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a:solidFill>
                  <a:schemeClr val="dk1"/>
                </a:solidFill>
              </a:rPr>
              <a:t>https://fonts.google.com/</a:t>
            </a:r>
            <a:endParaRPr>
              <a:solidFill>
                <a:schemeClr val="dk1"/>
              </a:solidFill>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gd1eaf9238c_2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8" name="Google Shape;478;gd1eaf9238c_2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a:solidFill>
                  <a:schemeClr val="dk1"/>
                </a:solidFill>
              </a:rPr>
              <a:t>https://www.fontfabric.com/</a:t>
            </a:r>
            <a:endParaRPr>
              <a:solidFill>
                <a:schemeClr val="dk1"/>
              </a:solidFill>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gd1eaf9238c_2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6" name="Google Shape;486;gd1eaf9238c_2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a:solidFill>
                  <a:schemeClr val="dk1"/>
                </a:solidFill>
              </a:rPr>
              <a:t>https://www.layoutgridcalculator.com/typographic-scale/</a:t>
            </a:r>
            <a:endParaRPr>
              <a:solidFill>
                <a:schemeClr val="dk1"/>
              </a:solidFill>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gd1eaf9238c_2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4" name="Google Shape;494;gd1eaf9238c_2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a:solidFill>
                  <a:schemeClr val="dk1"/>
                </a:solidFill>
              </a:rPr>
              <a:t>https://fontjoy.com/</a:t>
            </a:r>
            <a:endParaRPr>
              <a:solidFill>
                <a:schemeClr val="dk1"/>
              </a:solidFill>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g111c9ae9e70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2" name="Google Shape;502;g111c9ae9e70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gd1eaf9238c_2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0" name="Google Shape;510;gd1eaf9238c_2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https://dribbble.com/shots/16437841-Man-and-the-machine</a:t>
            </a:r>
            <a:endParaRPr>
              <a:solidFill>
                <a:schemeClr val="dk1"/>
              </a:solidFill>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gd1eaf9238c_2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8" name="Google Shape;518;gd1eaf9238c_2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https://material.io/design/typography/the-type-system.html#type-scale</a:t>
            </a:r>
            <a:endParaRPr>
              <a:solidFill>
                <a:schemeClr val="dk1"/>
              </a:solidFill>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gd1eaf9238c_2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6" name="Google Shape;526;gd1eaf9238c_2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a:t>
            </a:r>
            <a:r>
              <a:rPr lang="en">
                <a:solidFill>
                  <a:schemeClr val="dk1"/>
                </a:solidFill>
              </a:rPr>
              <a:t>https://material.io/design/environment/elevation.html#elevation-in-material-design</a:t>
            </a:r>
            <a:endParaRPr>
              <a:solidFill>
                <a:schemeClr val="dk1"/>
              </a:solidFill>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g111c9ae9e70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4" name="Google Shape;534;g111c9ae9e70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gd1eaf9238c_2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2" name="Google Shape;542;gd1eaf9238c_2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a:solidFill>
                  <a:schemeClr val="dk1"/>
                </a:solidFill>
              </a:rPr>
              <a:t>https://material.io/design/iconography/product-icons.html#specs</a:t>
            </a:r>
            <a:endParaRPr>
              <a:solidFill>
                <a:schemeClr val="dk1"/>
              </a:solidFill>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g11a22824457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0" name="Google Shape;550;g11a22824457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https://material.io/design/iconography/product-icons.html#specs</a:t>
            </a:r>
            <a:endParaRPr>
              <a:solidFill>
                <a:schemeClr val="dk1"/>
              </a:solidFill>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g11a22824457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8" name="Google Shape;558;g11a22824457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https://material.io/design/iconography/product-icons.html#specs</a:t>
            </a:r>
            <a:endParaRPr>
              <a:solidFill>
                <a:schemeClr val="dk1"/>
              </a:solidFill>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g111c9ae9e70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9" name="Google Shape;569;g111c9ae9e70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5" name="Shape 575"/>
        <p:cNvGrpSpPr/>
        <p:nvPr/>
      </p:nvGrpSpPr>
      <p:grpSpPr>
        <a:xfrm>
          <a:off x="0" y="0"/>
          <a:ext cx="0" cy="0"/>
          <a:chOff x="0" y="0"/>
          <a:chExt cx="0" cy="0"/>
        </a:xfrm>
      </p:grpSpPr>
      <p:sp>
        <p:nvSpPr>
          <p:cNvPr id="576" name="Google Shape;576;gd1eaf9238c_2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7" name="Google Shape;577;gd1eaf9238c_2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a:solidFill>
                  <a:schemeClr val="dk1"/>
                </a:solidFill>
              </a:rPr>
              <a:t>https://material.io/design/interaction/states.html#usage</a:t>
            </a:r>
            <a:endParaRPr>
              <a:solidFill>
                <a:schemeClr val="dk1"/>
              </a:solidFill>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gd1eaf9238c_2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5" name="Google Shape;585;gd1eaf9238c_2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https://material.io/design/typography/the-type-system.html#type-scale</a:t>
            </a:r>
            <a:endParaRPr>
              <a:solidFill>
                <a:schemeClr val="dk1"/>
              </a:solidFill>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gd1eaf9238c_2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3" name="Google Shape;593;gd1eaf9238c_2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fromhttps://material.io/design/environment/elevation.html#elevation-in-material-design</a:t>
            </a:r>
            <a:endParaRPr>
              <a:solidFill>
                <a:schemeClr val="dk1"/>
              </a:solidFill>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g111c9ae9e70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3" name="Google Shape;603;g111c9ae9e70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gd1eaf9238c_2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1" name="Google Shape;611;gd1eaf9238c_2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a:solidFill>
                  <a:schemeClr val="dk1"/>
                </a:solidFill>
              </a:rPr>
              <a:t>https://material.io/design/layout/spacing-methods.html#spacing</a:t>
            </a:r>
            <a:endParaRPr>
              <a:solidFill>
                <a:schemeClr val="dk1"/>
              </a:solidFill>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gd1eaf9238c_2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9" name="Google Shape;619;gd1eaf9238c_2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Image from https://material.io/design/layout/spacing-methods.html#spacing</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gd1eaf9238c_2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7" name="Google Shape;627;gd1eaf9238c_2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https://material.io/design/environment/elevation.html#elevation-in-material-design</a:t>
            </a:r>
            <a:endParaRPr>
              <a:solidFill>
                <a:schemeClr val="dk1"/>
              </a:solidFill>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3" name="Shape 633"/>
        <p:cNvGrpSpPr/>
        <p:nvPr/>
      </p:nvGrpSpPr>
      <p:grpSpPr>
        <a:xfrm>
          <a:off x="0" y="0"/>
          <a:ext cx="0" cy="0"/>
          <a:chOff x="0" y="0"/>
          <a:chExt cx="0" cy="0"/>
        </a:xfrm>
      </p:grpSpPr>
      <p:sp>
        <p:nvSpPr>
          <p:cNvPr id="634" name="Google Shape;634;g111c9ae9e70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5" name="Google Shape;635;g111c9ae9e70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1" name="Shape 641"/>
        <p:cNvGrpSpPr/>
        <p:nvPr/>
      </p:nvGrpSpPr>
      <p:grpSpPr>
        <a:xfrm>
          <a:off x="0" y="0"/>
          <a:ext cx="0" cy="0"/>
          <a:chOff x="0" y="0"/>
          <a:chExt cx="0" cy="0"/>
        </a:xfrm>
      </p:grpSpPr>
      <p:sp>
        <p:nvSpPr>
          <p:cNvPr id="642" name="Google Shape;642;gd1eaf9238c_2_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3" name="Google Shape;643;gd1eaf9238c_2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a:solidFill>
                  <a:schemeClr val="dk1"/>
                </a:solidFill>
              </a:rPr>
              <a:t>https://material.io/components/buttons</a:t>
            </a:r>
            <a:endParaRPr>
              <a:solidFill>
                <a:schemeClr val="dk1"/>
              </a:solidFill>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gd1eaf9238c_2_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1" name="Google Shape;651;gd1eaf9238c_2_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a:solidFill>
                  <a:schemeClr val="dk1"/>
                </a:solidFill>
              </a:rPr>
              <a:t>https://material.io/components/buttons</a:t>
            </a:r>
            <a:endParaRPr>
              <a:solidFill>
                <a:schemeClr val="dk1"/>
              </a:solidFill>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7" name="Shape 657"/>
        <p:cNvGrpSpPr/>
        <p:nvPr/>
      </p:nvGrpSpPr>
      <p:grpSpPr>
        <a:xfrm>
          <a:off x="0" y="0"/>
          <a:ext cx="0" cy="0"/>
          <a:chOff x="0" y="0"/>
          <a:chExt cx="0" cy="0"/>
        </a:xfrm>
      </p:grpSpPr>
      <p:sp>
        <p:nvSpPr>
          <p:cNvPr id="658" name="Google Shape;658;gd1eaf9238c_2_1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9" name="Google Shape;659;gd1eaf9238c_2_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a:solidFill>
                  <a:schemeClr val="dk1"/>
                </a:solidFill>
              </a:rPr>
              <a:t>https://material.io/components/cards#anatomy</a:t>
            </a:r>
            <a:endParaRPr>
              <a:solidFill>
                <a:schemeClr val="dk1"/>
              </a:solidFill>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5" name="Shape 665"/>
        <p:cNvGrpSpPr/>
        <p:nvPr/>
      </p:nvGrpSpPr>
      <p:grpSpPr>
        <a:xfrm>
          <a:off x="0" y="0"/>
          <a:ext cx="0" cy="0"/>
          <a:chOff x="0" y="0"/>
          <a:chExt cx="0" cy="0"/>
        </a:xfrm>
      </p:grpSpPr>
      <p:sp>
        <p:nvSpPr>
          <p:cNvPr id="666" name="Google Shape;666;gd1eaf9238c_2_1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7" name="Google Shape;667;gd1eaf9238c_2_1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a:solidFill>
                  <a:schemeClr val="dk1"/>
                </a:solidFill>
              </a:rPr>
              <a:t>https://material.io/components/cards</a:t>
            </a:r>
            <a:endParaRPr>
              <a:solidFill>
                <a:schemeClr val="dk1"/>
              </a:solidFill>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3" name="Shape 673"/>
        <p:cNvGrpSpPr/>
        <p:nvPr/>
      </p:nvGrpSpPr>
      <p:grpSpPr>
        <a:xfrm>
          <a:off x="0" y="0"/>
          <a:ext cx="0" cy="0"/>
          <a:chOff x="0" y="0"/>
          <a:chExt cx="0" cy="0"/>
        </a:xfrm>
      </p:grpSpPr>
      <p:sp>
        <p:nvSpPr>
          <p:cNvPr id="674" name="Google Shape;674;gd1eaf9238c_2_1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5" name="Google Shape;675;gd1eaf9238c_2_1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a:solidFill>
                  <a:schemeClr val="dk1"/>
                </a:solidFill>
              </a:rPr>
              <a:t>https://material.io/components/dividers#usage</a:t>
            </a:r>
            <a:endParaRPr>
              <a:solidFill>
                <a:schemeClr val="dk1"/>
              </a:solidFill>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gd1eaf9238c_2_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3" name="Google Shape;683;gd1eaf9238c_2_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a:solidFill>
                  <a:schemeClr val="dk1"/>
                </a:solidFill>
              </a:rPr>
              <a:t>https://material.io/components/dividers#types</a:t>
            </a:r>
            <a:endParaRPr>
              <a:solidFill>
                <a:schemeClr val="dk1"/>
              </a:solidFill>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gd1eaf9238c_2_2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1" name="Google Shape;691;gd1eaf9238c_2_2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a:solidFill>
                  <a:schemeClr val="dk1"/>
                </a:solidFill>
              </a:rPr>
              <a:t>https://material.io/components/dividers#types</a:t>
            </a:r>
            <a:endParaRPr>
              <a:solidFill>
                <a:schemeClr val="dk1"/>
              </a:solidFill>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7" name="Shape 697"/>
        <p:cNvGrpSpPr/>
        <p:nvPr/>
      </p:nvGrpSpPr>
      <p:grpSpPr>
        <a:xfrm>
          <a:off x="0" y="0"/>
          <a:ext cx="0" cy="0"/>
          <a:chOff x="0" y="0"/>
          <a:chExt cx="0" cy="0"/>
        </a:xfrm>
      </p:grpSpPr>
      <p:sp>
        <p:nvSpPr>
          <p:cNvPr id="698" name="Google Shape;698;g11127d2a46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9" name="Google Shape;699;g11127d2a46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g10e8c3a84c0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6" name="Google Shape;706;g10e8c3a84c0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1" name="Shape 711"/>
        <p:cNvGrpSpPr/>
        <p:nvPr/>
      </p:nvGrpSpPr>
      <p:grpSpPr>
        <a:xfrm>
          <a:off x="0" y="0"/>
          <a:ext cx="0" cy="0"/>
          <a:chOff x="0" y="0"/>
          <a:chExt cx="0" cy="0"/>
        </a:xfrm>
      </p:grpSpPr>
      <p:sp>
        <p:nvSpPr>
          <p:cNvPr id="712" name="Google Shape;712;gd1eaf9238c_2_2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3" name="Google Shape;713;gd1eaf9238c_2_2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9" name="Shape 719"/>
        <p:cNvGrpSpPr/>
        <p:nvPr/>
      </p:nvGrpSpPr>
      <p:grpSpPr>
        <a:xfrm>
          <a:off x="0" y="0"/>
          <a:ext cx="0" cy="0"/>
          <a:chOff x="0" y="0"/>
          <a:chExt cx="0" cy="0"/>
        </a:xfrm>
      </p:grpSpPr>
      <p:sp>
        <p:nvSpPr>
          <p:cNvPr id="720" name="Google Shape;720;gd1eaf9238c_2_2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1" name="Google Shape;721;gd1eaf9238c_2_2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6" name="Shape 726"/>
        <p:cNvGrpSpPr/>
        <p:nvPr/>
      </p:nvGrpSpPr>
      <p:grpSpPr>
        <a:xfrm>
          <a:off x="0" y="0"/>
          <a:ext cx="0" cy="0"/>
          <a:chOff x="0" y="0"/>
          <a:chExt cx="0" cy="0"/>
        </a:xfrm>
      </p:grpSpPr>
      <p:sp>
        <p:nvSpPr>
          <p:cNvPr id="727" name="Google Shape;727;gd1eaf9238c_2_2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8" name="Google Shape;728;gd1eaf9238c_2_2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4" name="Shape 734"/>
        <p:cNvGrpSpPr/>
        <p:nvPr/>
      </p:nvGrpSpPr>
      <p:grpSpPr>
        <a:xfrm>
          <a:off x="0" y="0"/>
          <a:ext cx="0" cy="0"/>
          <a:chOff x="0" y="0"/>
          <a:chExt cx="0" cy="0"/>
        </a:xfrm>
      </p:grpSpPr>
      <p:sp>
        <p:nvSpPr>
          <p:cNvPr id="735" name="Google Shape;735;gd1eaf9238c_2_2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6" name="Google Shape;736;gd1eaf9238c_2_2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1" name="Shape 741"/>
        <p:cNvGrpSpPr/>
        <p:nvPr/>
      </p:nvGrpSpPr>
      <p:grpSpPr>
        <a:xfrm>
          <a:off x="0" y="0"/>
          <a:ext cx="0" cy="0"/>
          <a:chOff x="0" y="0"/>
          <a:chExt cx="0" cy="0"/>
        </a:xfrm>
      </p:grpSpPr>
      <p:sp>
        <p:nvSpPr>
          <p:cNvPr id="742" name="Google Shape;742;gd1eaf9238c_2_2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3" name="Google Shape;743;gd1eaf9238c_2_2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9" name="Shape 749"/>
        <p:cNvGrpSpPr/>
        <p:nvPr/>
      </p:nvGrpSpPr>
      <p:grpSpPr>
        <a:xfrm>
          <a:off x="0" y="0"/>
          <a:ext cx="0" cy="0"/>
          <a:chOff x="0" y="0"/>
          <a:chExt cx="0" cy="0"/>
        </a:xfrm>
      </p:grpSpPr>
      <p:sp>
        <p:nvSpPr>
          <p:cNvPr id="750" name="Google Shape;750;gd1eaf9238c_2_2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1" name="Google Shape;751;gd1eaf9238c_2_2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6" name="Shape 756"/>
        <p:cNvGrpSpPr/>
        <p:nvPr/>
      </p:nvGrpSpPr>
      <p:grpSpPr>
        <a:xfrm>
          <a:off x="0" y="0"/>
          <a:ext cx="0" cy="0"/>
          <a:chOff x="0" y="0"/>
          <a:chExt cx="0" cy="0"/>
        </a:xfrm>
      </p:grpSpPr>
      <p:sp>
        <p:nvSpPr>
          <p:cNvPr id="757" name="Google Shape;757;gd1eaf9238c_2_2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8" name="Google Shape;758;gd1eaf9238c_2_2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4" name="Shape 764"/>
        <p:cNvGrpSpPr/>
        <p:nvPr/>
      </p:nvGrpSpPr>
      <p:grpSpPr>
        <a:xfrm>
          <a:off x="0" y="0"/>
          <a:ext cx="0" cy="0"/>
          <a:chOff x="0" y="0"/>
          <a:chExt cx="0" cy="0"/>
        </a:xfrm>
      </p:grpSpPr>
      <p:sp>
        <p:nvSpPr>
          <p:cNvPr id="765" name="Google Shape;765;gd1eaf9238c_2_2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6" name="Google Shape;766;gd1eaf9238c_2_2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1" name="Shape 771"/>
        <p:cNvGrpSpPr/>
        <p:nvPr/>
      </p:nvGrpSpPr>
      <p:grpSpPr>
        <a:xfrm>
          <a:off x="0" y="0"/>
          <a:ext cx="0" cy="0"/>
          <a:chOff x="0" y="0"/>
          <a:chExt cx="0" cy="0"/>
        </a:xfrm>
      </p:grpSpPr>
      <p:sp>
        <p:nvSpPr>
          <p:cNvPr id="772" name="Google Shape;772;gd1eaf9238c_2_2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3" name="Google Shape;773;gd1eaf9238c_2_2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9" name="Shape 779"/>
        <p:cNvGrpSpPr/>
        <p:nvPr/>
      </p:nvGrpSpPr>
      <p:grpSpPr>
        <a:xfrm>
          <a:off x="0" y="0"/>
          <a:ext cx="0" cy="0"/>
          <a:chOff x="0" y="0"/>
          <a:chExt cx="0" cy="0"/>
        </a:xfrm>
      </p:grpSpPr>
      <p:sp>
        <p:nvSpPr>
          <p:cNvPr id="780" name="Google Shape;780;gd1eaf9238c_2_2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1" name="Google Shape;781;gd1eaf9238c_2_2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6" name="Shape 786"/>
        <p:cNvGrpSpPr/>
        <p:nvPr/>
      </p:nvGrpSpPr>
      <p:grpSpPr>
        <a:xfrm>
          <a:off x="0" y="0"/>
          <a:ext cx="0" cy="0"/>
          <a:chOff x="0" y="0"/>
          <a:chExt cx="0" cy="0"/>
        </a:xfrm>
      </p:grpSpPr>
      <p:sp>
        <p:nvSpPr>
          <p:cNvPr id="787" name="Google Shape;787;gd1eaf9238c_2_2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8" name="Google Shape;788;gd1eaf9238c_2_2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4" name="Shape 794"/>
        <p:cNvGrpSpPr/>
        <p:nvPr/>
      </p:nvGrpSpPr>
      <p:grpSpPr>
        <a:xfrm>
          <a:off x="0" y="0"/>
          <a:ext cx="0" cy="0"/>
          <a:chOff x="0" y="0"/>
          <a:chExt cx="0" cy="0"/>
        </a:xfrm>
      </p:grpSpPr>
      <p:sp>
        <p:nvSpPr>
          <p:cNvPr id="795" name="Google Shape;795;gd1eaf9238c_2_2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6" name="Google Shape;796;gd1eaf9238c_2_2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1" name="Shape 801"/>
        <p:cNvGrpSpPr/>
        <p:nvPr/>
      </p:nvGrpSpPr>
      <p:grpSpPr>
        <a:xfrm>
          <a:off x="0" y="0"/>
          <a:ext cx="0" cy="0"/>
          <a:chOff x="0" y="0"/>
          <a:chExt cx="0" cy="0"/>
        </a:xfrm>
      </p:grpSpPr>
      <p:sp>
        <p:nvSpPr>
          <p:cNvPr id="802" name="Google Shape;802;gd1eaf9238c_2_2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3" name="Google Shape;803;gd1eaf9238c_2_2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9" name="Shape 809"/>
        <p:cNvGrpSpPr/>
        <p:nvPr/>
      </p:nvGrpSpPr>
      <p:grpSpPr>
        <a:xfrm>
          <a:off x="0" y="0"/>
          <a:ext cx="0" cy="0"/>
          <a:chOff x="0" y="0"/>
          <a:chExt cx="0" cy="0"/>
        </a:xfrm>
      </p:grpSpPr>
      <p:sp>
        <p:nvSpPr>
          <p:cNvPr id="810" name="Google Shape;810;g112c66a922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1" name="Google Shape;811;g112c66a922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7" name="Shape 817"/>
        <p:cNvGrpSpPr/>
        <p:nvPr/>
      </p:nvGrpSpPr>
      <p:grpSpPr>
        <a:xfrm>
          <a:off x="0" y="0"/>
          <a:ext cx="0" cy="0"/>
          <a:chOff x="0" y="0"/>
          <a:chExt cx="0" cy="0"/>
        </a:xfrm>
      </p:grpSpPr>
      <p:sp>
        <p:nvSpPr>
          <p:cNvPr id="818" name="Google Shape;818;g11a22824457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9" name="Google Shape;819;g11a22824457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5" name="Shape 825"/>
        <p:cNvGrpSpPr/>
        <p:nvPr/>
      </p:nvGrpSpPr>
      <p:grpSpPr>
        <a:xfrm>
          <a:off x="0" y="0"/>
          <a:ext cx="0" cy="0"/>
          <a:chOff x="0" y="0"/>
          <a:chExt cx="0" cy="0"/>
        </a:xfrm>
      </p:grpSpPr>
      <p:sp>
        <p:nvSpPr>
          <p:cNvPr id="826" name="Google Shape;826;g10e54dbc4a4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7" name="Google Shape;827;g10e54dbc4a4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733572"/>
        </a:solidFill>
      </p:bgPr>
    </p:bg>
    <p:spTree>
      <p:nvGrpSpPr>
        <p:cNvPr id="9" name="Shape 9"/>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rgbClr val="733572"/>
        </a:solidFill>
      </p:bgPr>
    </p:bg>
    <p:spTree>
      <p:nvGrpSpPr>
        <p:cNvPr id="10" name="Shape 10"/>
        <p:cNvGrpSpPr/>
        <p:nvPr/>
      </p:nvGrpSpPr>
      <p:grpSpPr>
        <a:xfrm>
          <a:off x="0" y="0"/>
          <a:ext cx="0" cy="0"/>
          <a:chOff x="0" y="0"/>
          <a:chExt cx="0" cy="0"/>
        </a:xfrm>
      </p:grpSpPr>
      <p:sp>
        <p:nvSpPr>
          <p:cNvPr id="11" name="Google Shape;11;p3"/>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400"/>
              <a:buFont typeface="Raleway"/>
              <a:buNone/>
              <a:defRPr b="1" sz="2400">
                <a:solidFill>
                  <a:schemeClr val="lt1"/>
                </a:solidFill>
                <a:latin typeface="Raleway"/>
                <a:ea typeface="Raleway"/>
                <a:cs typeface="Raleway"/>
                <a:sym typeface="Raleway"/>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2" name="Google Shape;12;p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chemeClr val="lt1"/>
                </a:solidFill>
                <a:latin typeface="Raleway"/>
                <a:ea typeface="Raleway"/>
                <a:cs typeface="Raleway"/>
                <a:sym typeface="Raleway"/>
              </a:defRPr>
            </a:lvl1pPr>
            <a:lvl2pPr lvl="1" rtl="0">
              <a:buNone/>
              <a:defRPr b="1">
                <a:solidFill>
                  <a:schemeClr val="lt1"/>
                </a:solidFill>
                <a:latin typeface="Raleway"/>
                <a:ea typeface="Raleway"/>
                <a:cs typeface="Raleway"/>
                <a:sym typeface="Raleway"/>
              </a:defRPr>
            </a:lvl2pPr>
            <a:lvl3pPr lvl="2" rtl="0">
              <a:buNone/>
              <a:defRPr b="1">
                <a:solidFill>
                  <a:schemeClr val="lt1"/>
                </a:solidFill>
                <a:latin typeface="Raleway"/>
                <a:ea typeface="Raleway"/>
                <a:cs typeface="Raleway"/>
                <a:sym typeface="Raleway"/>
              </a:defRPr>
            </a:lvl3pPr>
            <a:lvl4pPr lvl="3" rtl="0">
              <a:buNone/>
              <a:defRPr b="1">
                <a:solidFill>
                  <a:schemeClr val="lt1"/>
                </a:solidFill>
                <a:latin typeface="Raleway"/>
                <a:ea typeface="Raleway"/>
                <a:cs typeface="Raleway"/>
                <a:sym typeface="Raleway"/>
              </a:defRPr>
            </a:lvl4pPr>
            <a:lvl5pPr lvl="4" rtl="0">
              <a:buNone/>
              <a:defRPr b="1">
                <a:solidFill>
                  <a:schemeClr val="lt1"/>
                </a:solidFill>
                <a:latin typeface="Raleway"/>
                <a:ea typeface="Raleway"/>
                <a:cs typeface="Raleway"/>
                <a:sym typeface="Raleway"/>
              </a:defRPr>
            </a:lvl5pPr>
            <a:lvl6pPr lvl="5" rtl="0">
              <a:buNone/>
              <a:defRPr b="1">
                <a:solidFill>
                  <a:schemeClr val="lt1"/>
                </a:solidFill>
                <a:latin typeface="Raleway"/>
                <a:ea typeface="Raleway"/>
                <a:cs typeface="Raleway"/>
                <a:sym typeface="Raleway"/>
              </a:defRPr>
            </a:lvl6pPr>
            <a:lvl7pPr lvl="6" rtl="0">
              <a:buNone/>
              <a:defRPr b="1">
                <a:solidFill>
                  <a:schemeClr val="lt1"/>
                </a:solidFill>
                <a:latin typeface="Raleway"/>
                <a:ea typeface="Raleway"/>
                <a:cs typeface="Raleway"/>
                <a:sym typeface="Raleway"/>
              </a:defRPr>
            </a:lvl7pPr>
            <a:lvl8pPr lvl="7" rtl="0">
              <a:buNone/>
              <a:defRPr b="1">
                <a:solidFill>
                  <a:schemeClr val="lt1"/>
                </a:solidFill>
                <a:latin typeface="Raleway"/>
                <a:ea typeface="Raleway"/>
                <a:cs typeface="Raleway"/>
                <a:sym typeface="Raleway"/>
              </a:defRPr>
            </a:lvl8pPr>
            <a:lvl9pPr lvl="8" rtl="0">
              <a:buNone/>
              <a:defRPr b="1">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4"/>
          <p:cNvSpPr/>
          <p:nvPr/>
        </p:nvSpPr>
        <p:spPr>
          <a:xfrm flipH="1" rot="5400000">
            <a:off x="4303949" y="-4204126"/>
            <a:ext cx="536100" cy="9144000"/>
          </a:xfrm>
          <a:prstGeom prst="rect">
            <a:avLst/>
          </a:prstGeom>
          <a:solidFill>
            <a:srgbClr val="9B6DB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5" name="Google Shape;15;p4"/>
          <p:cNvSpPr txBox="1"/>
          <p:nvPr/>
        </p:nvSpPr>
        <p:spPr>
          <a:xfrm>
            <a:off x="573578" y="251687"/>
            <a:ext cx="72960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FFFFFF"/>
              </a:buClr>
              <a:buSzPts val="1100"/>
              <a:buFont typeface="Montserrat"/>
              <a:buNone/>
            </a:pPr>
            <a:r>
              <a:rPr b="0" i="0" lang="en" sz="1100" u="none" cap="none" strike="noStrike">
                <a:solidFill>
                  <a:srgbClr val="FFFFFF"/>
                </a:solidFill>
                <a:latin typeface="Lato Black"/>
                <a:ea typeface="Lato Black"/>
                <a:cs typeface="Lato Black"/>
                <a:sym typeface="Lato Black"/>
              </a:rPr>
              <a:t>PM 101</a:t>
            </a:r>
            <a:endParaRPr b="0" i="0" sz="1100" u="none" cap="none" strike="noStrike">
              <a:solidFill>
                <a:srgbClr val="FFFFFF"/>
              </a:solidFill>
              <a:latin typeface="Lato Black"/>
              <a:ea typeface="Lato Black"/>
              <a:cs typeface="Lato Black"/>
              <a:sym typeface="Lato Black"/>
            </a:endParaRPr>
          </a:p>
        </p:txBody>
      </p:sp>
      <p:sp>
        <p:nvSpPr>
          <p:cNvPr id="16" name="Google Shape;16;p4"/>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7" name="Google Shape;17;p4"/>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8" name="Google Shape;18;p4"/>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9" name="Google Shape;19;p4"/>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0" name="Google Shape;20;p4"/>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1" name="Google Shape;21;p4"/>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22" name="Google Shape;22;p4"/>
          <p:cNvGrpSpPr/>
          <p:nvPr/>
        </p:nvGrpSpPr>
        <p:grpSpPr>
          <a:xfrm>
            <a:off x="283668" y="259895"/>
            <a:ext cx="226001" cy="222980"/>
            <a:chOff x="283668" y="251687"/>
            <a:chExt cx="226001" cy="222980"/>
          </a:xfrm>
        </p:grpSpPr>
        <p:sp>
          <p:nvSpPr>
            <p:cNvPr id="23" name="Google Shape;23;p4"/>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4" name="Google Shape;24;p4"/>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5" name="Google Shape;25;p4"/>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26" name="Google Shape;26;p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rgbClr val="733572"/>
                </a:solidFill>
                <a:latin typeface="Raleway"/>
                <a:ea typeface="Raleway"/>
                <a:cs typeface="Raleway"/>
                <a:sym typeface="Raleway"/>
              </a:defRPr>
            </a:lvl1pPr>
            <a:lvl2pPr lvl="1" rtl="0">
              <a:buNone/>
              <a:defRPr b="1">
                <a:solidFill>
                  <a:srgbClr val="733572"/>
                </a:solidFill>
                <a:latin typeface="Raleway"/>
                <a:ea typeface="Raleway"/>
                <a:cs typeface="Raleway"/>
                <a:sym typeface="Raleway"/>
              </a:defRPr>
            </a:lvl2pPr>
            <a:lvl3pPr lvl="2" rtl="0">
              <a:buNone/>
              <a:defRPr b="1">
                <a:solidFill>
                  <a:srgbClr val="733572"/>
                </a:solidFill>
                <a:latin typeface="Raleway"/>
                <a:ea typeface="Raleway"/>
                <a:cs typeface="Raleway"/>
                <a:sym typeface="Raleway"/>
              </a:defRPr>
            </a:lvl3pPr>
            <a:lvl4pPr lvl="3" rtl="0">
              <a:buNone/>
              <a:defRPr b="1">
                <a:solidFill>
                  <a:srgbClr val="733572"/>
                </a:solidFill>
                <a:latin typeface="Raleway"/>
                <a:ea typeface="Raleway"/>
                <a:cs typeface="Raleway"/>
                <a:sym typeface="Raleway"/>
              </a:defRPr>
            </a:lvl4pPr>
            <a:lvl5pPr lvl="4" rtl="0">
              <a:buNone/>
              <a:defRPr b="1">
                <a:solidFill>
                  <a:srgbClr val="733572"/>
                </a:solidFill>
                <a:latin typeface="Raleway"/>
                <a:ea typeface="Raleway"/>
                <a:cs typeface="Raleway"/>
                <a:sym typeface="Raleway"/>
              </a:defRPr>
            </a:lvl5pPr>
            <a:lvl6pPr lvl="5" rtl="0">
              <a:buNone/>
              <a:defRPr b="1">
                <a:solidFill>
                  <a:srgbClr val="733572"/>
                </a:solidFill>
                <a:latin typeface="Raleway"/>
                <a:ea typeface="Raleway"/>
                <a:cs typeface="Raleway"/>
                <a:sym typeface="Raleway"/>
              </a:defRPr>
            </a:lvl6pPr>
            <a:lvl7pPr lvl="6" rtl="0">
              <a:buNone/>
              <a:defRPr b="1">
                <a:solidFill>
                  <a:srgbClr val="733572"/>
                </a:solidFill>
                <a:latin typeface="Raleway"/>
                <a:ea typeface="Raleway"/>
                <a:cs typeface="Raleway"/>
                <a:sym typeface="Raleway"/>
              </a:defRPr>
            </a:lvl7pPr>
            <a:lvl8pPr lvl="7" rtl="0">
              <a:buNone/>
              <a:defRPr b="1">
                <a:solidFill>
                  <a:srgbClr val="733572"/>
                </a:solidFill>
                <a:latin typeface="Raleway"/>
                <a:ea typeface="Raleway"/>
                <a:cs typeface="Raleway"/>
                <a:sym typeface="Raleway"/>
              </a:defRPr>
            </a:lvl8pPr>
            <a:lvl9pPr lvl="8" rtl="0">
              <a:buNone/>
              <a:defRPr b="1">
                <a:solidFill>
                  <a:srgbClr val="73357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
        <p:nvSpPr>
          <p:cNvPr id="27" name="Google Shape;27;p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8" name="Google Shape;28;p4"/>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rgbClr val="733572"/>
        </a:solidFill>
      </p:bgPr>
    </p:bg>
    <p:spTree>
      <p:nvGrpSpPr>
        <p:cNvPr id="29" name="Shape 29"/>
        <p:cNvGrpSpPr/>
        <p:nvPr/>
      </p:nvGrpSpPr>
      <p:grpSpPr>
        <a:xfrm>
          <a:off x="0" y="0"/>
          <a:ext cx="0" cy="0"/>
          <a:chOff x="0" y="0"/>
          <a:chExt cx="0" cy="0"/>
        </a:xfrm>
      </p:grpSpPr>
      <p:sp>
        <p:nvSpPr>
          <p:cNvPr id="30" name="Google Shape;30;p5"/>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1" name="Google Shape;31;p5"/>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2" name="Google Shape;32;p5"/>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3" name="Google Shape;33;p5"/>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34" name="Google Shape;34;p5"/>
          <p:cNvGrpSpPr/>
          <p:nvPr/>
        </p:nvGrpSpPr>
        <p:grpSpPr>
          <a:xfrm>
            <a:off x="283668" y="259895"/>
            <a:ext cx="226001" cy="222980"/>
            <a:chOff x="283668" y="251687"/>
            <a:chExt cx="226001" cy="222980"/>
          </a:xfrm>
        </p:grpSpPr>
        <p:sp>
          <p:nvSpPr>
            <p:cNvPr id="35" name="Google Shape;35;p5"/>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6" name="Google Shape;36;p5"/>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7" name="Google Shape;37;p5"/>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38" name="Google Shape;38;p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9" name="Google Shape;39;p5"/>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
        <p:nvSpPr>
          <p:cNvPr id="40" name="Google Shape;40;p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chemeClr val="lt1"/>
                </a:solidFill>
                <a:latin typeface="Raleway"/>
                <a:ea typeface="Raleway"/>
                <a:cs typeface="Raleway"/>
                <a:sym typeface="Raleway"/>
              </a:defRPr>
            </a:lvl1pPr>
            <a:lvl2pPr lvl="1" rtl="0">
              <a:buNone/>
              <a:defRPr b="1">
                <a:solidFill>
                  <a:schemeClr val="lt1"/>
                </a:solidFill>
                <a:latin typeface="Raleway"/>
                <a:ea typeface="Raleway"/>
                <a:cs typeface="Raleway"/>
                <a:sym typeface="Raleway"/>
              </a:defRPr>
            </a:lvl2pPr>
            <a:lvl3pPr lvl="2" rtl="0">
              <a:buNone/>
              <a:defRPr b="1">
                <a:solidFill>
                  <a:schemeClr val="lt1"/>
                </a:solidFill>
                <a:latin typeface="Raleway"/>
                <a:ea typeface="Raleway"/>
                <a:cs typeface="Raleway"/>
                <a:sym typeface="Raleway"/>
              </a:defRPr>
            </a:lvl3pPr>
            <a:lvl4pPr lvl="3" rtl="0">
              <a:buNone/>
              <a:defRPr b="1">
                <a:solidFill>
                  <a:schemeClr val="lt1"/>
                </a:solidFill>
                <a:latin typeface="Raleway"/>
                <a:ea typeface="Raleway"/>
                <a:cs typeface="Raleway"/>
                <a:sym typeface="Raleway"/>
              </a:defRPr>
            </a:lvl4pPr>
            <a:lvl5pPr lvl="4" rtl="0">
              <a:buNone/>
              <a:defRPr b="1">
                <a:solidFill>
                  <a:schemeClr val="lt1"/>
                </a:solidFill>
                <a:latin typeface="Raleway"/>
                <a:ea typeface="Raleway"/>
                <a:cs typeface="Raleway"/>
                <a:sym typeface="Raleway"/>
              </a:defRPr>
            </a:lvl5pPr>
            <a:lvl6pPr lvl="5" rtl="0">
              <a:buNone/>
              <a:defRPr b="1">
                <a:solidFill>
                  <a:schemeClr val="lt1"/>
                </a:solidFill>
                <a:latin typeface="Raleway"/>
                <a:ea typeface="Raleway"/>
                <a:cs typeface="Raleway"/>
                <a:sym typeface="Raleway"/>
              </a:defRPr>
            </a:lvl6pPr>
            <a:lvl7pPr lvl="6" rtl="0">
              <a:buNone/>
              <a:defRPr b="1">
                <a:solidFill>
                  <a:schemeClr val="lt1"/>
                </a:solidFill>
                <a:latin typeface="Raleway"/>
                <a:ea typeface="Raleway"/>
                <a:cs typeface="Raleway"/>
                <a:sym typeface="Raleway"/>
              </a:defRPr>
            </a:lvl7pPr>
            <a:lvl8pPr lvl="7" rtl="0">
              <a:buNone/>
              <a:defRPr b="1">
                <a:solidFill>
                  <a:schemeClr val="lt1"/>
                </a:solidFill>
                <a:latin typeface="Raleway"/>
                <a:ea typeface="Raleway"/>
                <a:cs typeface="Raleway"/>
                <a:sym typeface="Raleway"/>
              </a:defRPr>
            </a:lvl8pPr>
            <a:lvl9pPr lvl="8" rtl="0">
              <a:buNone/>
              <a:defRPr b="1">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 name="Shape 41"/>
        <p:cNvGrpSpPr/>
        <p:nvPr/>
      </p:nvGrpSpPr>
      <p:grpSpPr>
        <a:xfrm>
          <a:off x="0" y="0"/>
          <a:ext cx="0" cy="0"/>
          <a:chOff x="0" y="0"/>
          <a:chExt cx="0" cy="0"/>
        </a:xfrm>
      </p:grpSpPr>
      <p:sp>
        <p:nvSpPr>
          <p:cNvPr id="42" name="Google Shape;42;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3" name="Google Shape;43;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4" name="Shape 44"/>
        <p:cNvGrpSpPr/>
        <p:nvPr/>
      </p:nvGrpSpPr>
      <p:grpSpPr>
        <a:xfrm>
          <a:off x="0" y="0"/>
          <a:ext cx="0" cy="0"/>
          <a:chOff x="0" y="0"/>
          <a:chExt cx="0" cy="0"/>
        </a:xfrm>
      </p:grpSpPr>
      <p:sp>
        <p:nvSpPr>
          <p:cNvPr id="45" name="Google Shape;45;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47" name="Google Shape;47;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8" name="Shape 48"/>
        <p:cNvGrpSpPr/>
        <p:nvPr/>
      </p:nvGrpSpPr>
      <p:grpSpPr>
        <a:xfrm>
          <a:off x="0" y="0"/>
          <a:ext cx="0" cy="0"/>
          <a:chOff x="0" y="0"/>
          <a:chExt cx="0" cy="0"/>
        </a:xfrm>
      </p:grpSpPr>
      <p:sp>
        <p:nvSpPr>
          <p:cNvPr id="49" name="Google Shape;49;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50" name="Google Shape;50;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1" name="Shape 51"/>
        <p:cNvGrpSpPr/>
        <p:nvPr/>
      </p:nvGrpSpPr>
      <p:grpSpPr>
        <a:xfrm>
          <a:off x="0" y="0"/>
          <a:ext cx="0" cy="0"/>
          <a:chOff x="0" y="0"/>
          <a:chExt cx="0" cy="0"/>
        </a:xfrm>
      </p:grpSpPr>
      <p:sp>
        <p:nvSpPr>
          <p:cNvPr id="52" name="Google Shape;52;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54" name="Google Shape;54;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5" name="Google Shape;55;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56" name="Google Shape;56;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7" name="Shape 57"/>
        <p:cNvGrpSpPr/>
        <p:nvPr/>
      </p:nvGrpSpPr>
      <p:grpSpPr>
        <a:xfrm>
          <a:off x="0" y="0"/>
          <a:ext cx="0" cy="0"/>
          <a:chOff x="0" y="0"/>
          <a:chExt cx="0" cy="0"/>
        </a:xfrm>
      </p:grpSpPr>
      <p:sp>
        <p:nvSpPr>
          <p:cNvPr id="58" name="Google Shape;58;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59" name="Google Shape;59;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0" name="Shape 60"/>
        <p:cNvGrpSpPr/>
        <p:nvPr/>
      </p:nvGrpSpPr>
      <p:grpSpPr>
        <a:xfrm>
          <a:off x="0" y="0"/>
          <a:ext cx="0" cy="0"/>
          <a:chOff x="0" y="0"/>
          <a:chExt cx="0" cy="0"/>
        </a:xfrm>
      </p:grpSpPr>
      <p:sp>
        <p:nvSpPr>
          <p:cNvPr id="61" name="Google Shape;61;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62" name="Google Shape;62;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63" name="Google Shape;63;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4" name="Shape 64"/>
        <p:cNvGrpSpPr/>
        <p:nvPr/>
      </p:nvGrpSpPr>
      <p:grpSpPr>
        <a:xfrm>
          <a:off x="0" y="0"/>
          <a:ext cx="0" cy="0"/>
          <a:chOff x="0" y="0"/>
          <a:chExt cx="0" cy="0"/>
        </a:xfrm>
      </p:grpSpPr>
      <p:sp>
        <p:nvSpPr>
          <p:cNvPr id="65" name="Google Shape;65;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66" name="Shape 66"/>
        <p:cNvGrpSpPr/>
        <p:nvPr/>
      </p:nvGrpSpPr>
      <p:grpSpPr>
        <a:xfrm>
          <a:off x="0" y="0"/>
          <a:ext cx="0" cy="0"/>
          <a:chOff x="0" y="0"/>
          <a:chExt cx="0" cy="0"/>
        </a:xfrm>
      </p:grpSpPr>
      <p:sp>
        <p:nvSpPr>
          <p:cNvPr id="67" name="Google Shape;67;p1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8" name="Google Shape;68;p1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69" name="Google Shape;69;p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70" name="Shape 70"/>
        <p:cNvGrpSpPr/>
        <p:nvPr/>
      </p:nvGrpSpPr>
      <p:grpSpPr>
        <a:xfrm>
          <a:off x="0" y="0"/>
          <a:ext cx="0" cy="0"/>
          <a:chOff x="0" y="0"/>
          <a:chExt cx="0" cy="0"/>
        </a:xfrm>
      </p:grpSpPr>
      <p:sp>
        <p:nvSpPr>
          <p:cNvPr id="71" name="Google Shape;71;p14"/>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72" name="Google Shape;72;p14"/>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73" name="Google Shape;73;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2">
    <p:spTree>
      <p:nvGrpSpPr>
        <p:cNvPr id="74" name="Shape 74"/>
        <p:cNvGrpSpPr/>
        <p:nvPr/>
      </p:nvGrpSpPr>
      <p:grpSpPr>
        <a:xfrm>
          <a:off x="0" y="0"/>
          <a:ext cx="0" cy="0"/>
          <a:chOff x="0" y="0"/>
          <a:chExt cx="0" cy="0"/>
        </a:xfrm>
      </p:grpSpPr>
      <p:sp>
        <p:nvSpPr>
          <p:cNvPr id="75" name="Google Shape;75;p15"/>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76" name="Google Shape;76;p15"/>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77" name="Google Shape;77;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1.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hyperlink" Target="https://material.io/design/layout/understanding-layout.html#principles" TargetMode="External"/><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hyperlink" Target="https://material.io/design/layout/understanding-layout.html#principles" TargetMode="Externa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hyperlink" Target="https://material.io/design/layout/understanding-layout.html#principles" TargetMode="Externa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hyperlink" Target="https://material.io/design/layout/understanding-layout.html#principles" TargetMode="External"/><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hyperlink" Target="https://material.io/design/layout/understanding-layout.html#principles" TargetMode="External"/><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image" Target="../media/image1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hyperlink" Target="https://material.io/design/layout/understanding-layout.html#principles" TargetMode="External"/><Relationship Id="rId4" Type="http://schemas.openxmlformats.org/officeDocument/2006/relationships/image" Target="../media/image3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hyperlink" Target="https://material.io/design/layout/understanding-layout.html#principles" TargetMode="External"/><Relationship Id="rId4" Type="http://schemas.openxmlformats.org/officeDocument/2006/relationships/image" Target="../media/image4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hyperlink" Target="https://material.io/design/layout/understanding-layout.html#principles" TargetMode="External"/><Relationship Id="rId4" Type="http://schemas.openxmlformats.org/officeDocument/2006/relationships/image" Target="../media/image4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hyperlink" Target="https://material.io/design/layout/understanding-layout.html#principles" TargetMode="External"/><Relationship Id="rId4" Type="http://schemas.openxmlformats.org/officeDocument/2006/relationships/image" Target="../media/image4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 Id="rId3" Type="http://schemas.openxmlformats.org/officeDocument/2006/relationships/image" Target="../media/image2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hyperlink" Target="https://material.io/design/layout/understanding-layout.html#principles" TargetMode="External"/><Relationship Id="rId4" Type="http://schemas.openxmlformats.org/officeDocument/2006/relationships/image" Target="../media/image1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2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2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2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2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2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2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 Id="rId3" Type="http://schemas.openxmlformats.org/officeDocument/2006/relationships/image" Target="../media/image2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hyperlink" Target="https://dribbble.com/shots/16437841-Man-and-the-machine" TargetMode="External"/><Relationship Id="rId4" Type="http://schemas.openxmlformats.org/officeDocument/2006/relationships/image" Target="../media/image2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hyperlink" Target="https://material.io/design/typography/the-type-system.html#type-scale" TargetMode="External"/><Relationship Id="rId4" Type="http://schemas.openxmlformats.org/officeDocument/2006/relationships/image" Target="../media/image2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hyperlink" Target="https://material.io/design/typography/the-type-system.html#type-scale" TargetMode="External"/><Relationship Id="rId4" Type="http://schemas.openxmlformats.org/officeDocument/2006/relationships/image" Target="../media/image2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hyperlink" Target="https://material.io/design/typography/the-type-system.html#type-scale" TargetMode="External"/><Relationship Id="rId4" Type="http://schemas.openxmlformats.org/officeDocument/2006/relationships/image" Target="../media/image2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hyperlink" Target="https://dribbble.com/shots/16437841-Man-and-the-machine" TargetMode="External"/><Relationship Id="rId4" Type="http://schemas.openxmlformats.org/officeDocument/2006/relationships/image" Target="../media/image25.png"/><Relationship Id="rId5" Type="http://schemas.openxmlformats.org/officeDocument/2006/relationships/hyperlink" Target="https://dribbble.com/shots/16437841-Man-and-the-machine"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3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 Id="rId3" Type="http://schemas.openxmlformats.org/officeDocument/2006/relationships/image" Target="../media/image35.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hyperlink" Target="https://uxdesign.cc/a-better-way-to-create-typography-design-systems-689c851dc616" TargetMode="External"/><Relationship Id="rId4" Type="http://schemas.openxmlformats.org/officeDocument/2006/relationships/image" Target="../media/image45.gif"/></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hyperlink" Target="https://material.io/design/typography/the-type-system.html#type-scale" TargetMode="External"/><Relationship Id="rId4" Type="http://schemas.openxmlformats.org/officeDocument/2006/relationships/image" Target="../media/image33.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hyperlink" Target="https://type-scale.com/" TargetMode="External"/><Relationship Id="rId4" Type="http://schemas.openxmlformats.org/officeDocument/2006/relationships/image" Target="../media/image34.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hyperlink" Target="https://fonts.google.com/" TargetMode="External"/><Relationship Id="rId4" Type="http://schemas.openxmlformats.org/officeDocument/2006/relationships/image" Target="../media/image4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hyperlink" Target="https://www.fontfabric.com/" TargetMode="External"/><Relationship Id="rId4" Type="http://schemas.openxmlformats.org/officeDocument/2006/relationships/image" Target="../media/image3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hyperlink" Target="https://www.layoutgridcalculator.com/typographic-scale/" TargetMode="External"/><Relationship Id="rId4" Type="http://schemas.openxmlformats.org/officeDocument/2006/relationships/image" Target="../media/image43.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hyperlink" Target="https://fontjoy.com/" TargetMode="External"/><Relationship Id="rId4" Type="http://schemas.openxmlformats.org/officeDocument/2006/relationships/image" Target="../media/image36.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0.xml"/><Relationship Id="rId3" Type="http://schemas.openxmlformats.org/officeDocument/2006/relationships/image" Target="../media/image37.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hyperlink" Target="https://dribbble.com/shots/16437841-Man-and-the-machine" TargetMode="External"/><Relationship Id="rId4" Type="http://schemas.openxmlformats.org/officeDocument/2006/relationships/image" Target="../media/image5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hyperlink" Target="https://material.io/design/typography/the-type-system.html#type-scale" TargetMode="External"/><Relationship Id="rId4" Type="http://schemas.openxmlformats.org/officeDocument/2006/relationships/image" Target="../media/image44.gif"/></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hyperlink" Target="https://material.io/design/environment/elevation.html#elevation-in-material-design" TargetMode="External"/><Relationship Id="rId4" Type="http://schemas.openxmlformats.org/officeDocument/2006/relationships/image" Target="../media/image40.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4.xml"/><Relationship Id="rId3" Type="http://schemas.openxmlformats.org/officeDocument/2006/relationships/image" Target="../media/image42.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image" Target="../media/image39.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image" Target="../media/image16.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 Id="rId3" Type="http://schemas.openxmlformats.org/officeDocument/2006/relationships/hyperlink" Target="https://material.io/design/iconography/product-icons.html#specs" TargetMode="External"/><Relationship Id="rId4" Type="http://schemas.openxmlformats.org/officeDocument/2006/relationships/image" Target="../media/image38.png"/><Relationship Id="rId5" Type="http://schemas.openxmlformats.org/officeDocument/2006/relationships/hyperlink" Target="https://material.io/design/iconography/system-icons.html#design-principles" TargetMode="External"/><Relationship Id="rId6" Type="http://schemas.openxmlformats.org/officeDocument/2006/relationships/image" Target="../media/image58.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8.xml"/><Relationship Id="rId3" Type="http://schemas.openxmlformats.org/officeDocument/2006/relationships/image" Target="../media/image47.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 Id="rId3" Type="http://schemas.openxmlformats.org/officeDocument/2006/relationships/image" Target="../media/image50.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 Id="rId3" Type="http://schemas.openxmlformats.org/officeDocument/2006/relationships/hyperlink" Target="https://material.io/design/typography/the-type-system.html#type-scale" TargetMode="External"/><Relationship Id="rId4" Type="http://schemas.openxmlformats.org/officeDocument/2006/relationships/image" Target="../media/image56.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 Id="rId3" Type="http://schemas.openxmlformats.org/officeDocument/2006/relationships/hyperlink" Target="https://material.io/design/environment/elevation.html#elevation-in-material-design" TargetMode="External"/><Relationship Id="rId4" Type="http://schemas.openxmlformats.org/officeDocument/2006/relationships/image" Target="../media/image49.png"/><Relationship Id="rId5" Type="http://schemas.openxmlformats.org/officeDocument/2006/relationships/hyperlink" Target="https://material.io/design/environment/elevation.html#elevation-in-material-design" TargetMode="Externa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2.xml"/><Relationship Id="rId3" Type="http://schemas.openxmlformats.org/officeDocument/2006/relationships/image" Target="../media/image48.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 Id="rId3" Type="http://schemas.openxmlformats.org/officeDocument/2006/relationships/hyperlink" Target="https://material.io/design/layout/spacing-methods.html#spacing" TargetMode="External"/><Relationship Id="rId4" Type="http://schemas.openxmlformats.org/officeDocument/2006/relationships/image" Target="../media/image52.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 Id="rId3" Type="http://schemas.openxmlformats.org/officeDocument/2006/relationships/hyperlink" Target="https://material.io/design/layout/spacing-methods.html" TargetMode="External"/><Relationship Id="rId4" Type="http://schemas.openxmlformats.org/officeDocument/2006/relationships/image" Target="../media/image66.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 Id="rId3" Type="http://schemas.openxmlformats.org/officeDocument/2006/relationships/hyperlink" Target="https://material.io/design/layout/spacing-methods.html" TargetMode="External"/><Relationship Id="rId4" Type="http://schemas.openxmlformats.org/officeDocument/2006/relationships/image" Target="../media/image54.gif"/></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6.xml"/><Relationship Id="rId3" Type="http://schemas.openxmlformats.org/officeDocument/2006/relationships/image" Target="../media/image59.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 Id="rId3" Type="http://schemas.openxmlformats.org/officeDocument/2006/relationships/hyperlink" Target="https://material.io/components/buttons" TargetMode="External"/><Relationship Id="rId4" Type="http://schemas.openxmlformats.org/officeDocument/2006/relationships/image" Target="../media/image55.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 Id="rId3" Type="http://schemas.openxmlformats.org/officeDocument/2006/relationships/hyperlink" Target="https://material.io/components/buttons" TargetMode="External"/><Relationship Id="rId4" Type="http://schemas.openxmlformats.org/officeDocument/2006/relationships/image" Target="../media/image65.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 Id="rId3" Type="http://schemas.openxmlformats.org/officeDocument/2006/relationships/hyperlink" Target="https://material.io/components/cards#anatomy" TargetMode="External"/><Relationship Id="rId4" Type="http://schemas.openxmlformats.org/officeDocument/2006/relationships/image" Target="../media/image69.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 Id="rId3" Type="http://schemas.openxmlformats.org/officeDocument/2006/relationships/hyperlink" Target="https://material.io/components/cards" TargetMode="External"/><Relationship Id="rId4" Type="http://schemas.openxmlformats.org/officeDocument/2006/relationships/hyperlink" Target="https://material.io/components/cards" TargetMode="External"/><Relationship Id="rId5" Type="http://schemas.openxmlformats.org/officeDocument/2006/relationships/image" Target="../media/image67.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 Id="rId3" Type="http://schemas.openxmlformats.org/officeDocument/2006/relationships/hyperlink" Target="https://material.io/components/dividers#usage" TargetMode="External"/><Relationship Id="rId4" Type="http://schemas.openxmlformats.org/officeDocument/2006/relationships/image" Target="../media/image53.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 Id="rId3" Type="http://schemas.openxmlformats.org/officeDocument/2006/relationships/hyperlink" Target="https://material.io/components/dividers#types" TargetMode="External"/><Relationship Id="rId4" Type="http://schemas.openxmlformats.org/officeDocument/2006/relationships/image" Target="../media/image68.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 Id="rId3" Type="http://schemas.openxmlformats.org/officeDocument/2006/relationships/hyperlink" Target="https://material.io/components/dividers#types" TargetMode="External"/><Relationship Id="rId4" Type="http://schemas.openxmlformats.org/officeDocument/2006/relationships/image" Target="../media/image70.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 Id="rId3" Type="http://schemas.openxmlformats.org/officeDocument/2006/relationships/image" Target="../media/image57.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0" Type="http://schemas.openxmlformats.org/officeDocument/2006/relationships/hyperlink" Target="https://material.io/components" TargetMode="External"/><Relationship Id="rId1" Type="http://schemas.openxmlformats.org/officeDocument/2006/relationships/slideLayout" Target="../slideLayouts/slideLayout3.xml"/><Relationship Id="rId2" Type="http://schemas.openxmlformats.org/officeDocument/2006/relationships/notesSlide" Target="../notesSlides/notesSlide89.xml"/><Relationship Id="rId3" Type="http://schemas.openxmlformats.org/officeDocument/2006/relationships/image" Target="../media/image7.png"/><Relationship Id="rId4" Type="http://schemas.openxmlformats.org/officeDocument/2006/relationships/hyperlink" Target="https://uxdesign.cc/everything-you-need-to-know-about-design-systems-54b109851969" TargetMode="External"/><Relationship Id="rId9" Type="http://schemas.openxmlformats.org/officeDocument/2006/relationships/hyperlink" Target="https://material.io/design/introduction" TargetMode="External"/><Relationship Id="rId5" Type="http://schemas.openxmlformats.org/officeDocument/2006/relationships/hyperlink" Target="https://uxdesign.cc/everything-you-need-to-know-about-design-systems-54b109851969" TargetMode="External"/><Relationship Id="rId6" Type="http://schemas.openxmlformats.org/officeDocument/2006/relationships/hyperlink" Target="https://uxplanet.org/why-are-design-systems-so-important-dda6225be5d7" TargetMode="External"/><Relationship Id="rId7" Type="http://schemas.openxmlformats.org/officeDocument/2006/relationships/hyperlink" Target="https://uxdesign.cc/a-better-way-to-create-typography-design-systems-689c851dc616" TargetMode="External"/><Relationship Id="rId8" Type="http://schemas.openxmlformats.org/officeDocument/2006/relationships/hyperlink" Target="https://uxdesign.cc/a-better-way-to-create-typography-design-systems-689c851dc616" TargetMode="Externa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0.xml"/><Relationship Id="rId3" Type="http://schemas.openxmlformats.org/officeDocument/2006/relationships/image" Target="../media/image60.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1.xml"/><Relationship Id="rId3" Type="http://schemas.openxmlformats.org/officeDocument/2006/relationships/image" Target="../media/image64.png"/><Relationship Id="rId4" Type="http://schemas.openxmlformats.org/officeDocument/2006/relationships/image" Target="../media/image62.png"/><Relationship Id="rId5" Type="http://schemas.openxmlformats.org/officeDocument/2006/relationships/image" Target="../media/image6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81" name="Shape 81"/>
        <p:cNvGrpSpPr/>
        <p:nvPr/>
      </p:nvGrpSpPr>
      <p:grpSpPr>
        <a:xfrm>
          <a:off x="0" y="0"/>
          <a:ext cx="0" cy="0"/>
          <a:chOff x="0" y="0"/>
          <a:chExt cx="0" cy="0"/>
        </a:xfrm>
      </p:grpSpPr>
      <p:sp>
        <p:nvSpPr>
          <p:cNvPr id="82" name="Google Shape;82;p16"/>
          <p:cNvSpPr txBox="1"/>
          <p:nvPr/>
        </p:nvSpPr>
        <p:spPr>
          <a:xfrm>
            <a:off x="2386875" y="2507550"/>
            <a:ext cx="5869200" cy="10092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2400">
                <a:solidFill>
                  <a:srgbClr val="FFFFFF"/>
                </a:solidFill>
                <a:latin typeface="Raleway"/>
                <a:ea typeface="Raleway"/>
                <a:cs typeface="Raleway"/>
                <a:sym typeface="Raleway"/>
              </a:rPr>
              <a:t>Design System</a:t>
            </a:r>
            <a:endParaRPr b="1" sz="2400">
              <a:solidFill>
                <a:srgbClr val="FFFFFF"/>
              </a:solidFill>
              <a:latin typeface="Raleway"/>
              <a:ea typeface="Raleway"/>
              <a:cs typeface="Raleway"/>
              <a:sym typeface="Raleway"/>
            </a:endParaRPr>
          </a:p>
          <a:p>
            <a:pPr indent="0" lvl="0" marL="0" rtl="0" algn="l">
              <a:spcBef>
                <a:spcPts val="0"/>
              </a:spcBef>
              <a:spcAft>
                <a:spcPts val="0"/>
              </a:spcAft>
              <a:buClr>
                <a:schemeClr val="dk1"/>
              </a:buClr>
              <a:buSzPts val="1100"/>
              <a:buFont typeface="Arial"/>
              <a:buNone/>
            </a:pPr>
            <a:r>
              <a:rPr b="1" lang="en">
                <a:solidFill>
                  <a:schemeClr val="lt1"/>
                </a:solidFill>
                <a:latin typeface="Raleway"/>
                <a:ea typeface="Raleway"/>
                <a:cs typeface="Raleway"/>
                <a:sym typeface="Raleway"/>
              </a:rPr>
              <a:t>Gold - </a:t>
            </a:r>
            <a:r>
              <a:rPr lang="en">
                <a:solidFill>
                  <a:schemeClr val="lt1"/>
                </a:solidFill>
                <a:latin typeface="Raleway"/>
                <a:ea typeface="Raleway"/>
                <a:cs typeface="Raleway"/>
                <a:sym typeface="Raleway"/>
              </a:rPr>
              <a:t>Chapter 4 - Topic 3</a:t>
            </a:r>
            <a:endParaRPr>
              <a:solidFill>
                <a:srgbClr val="FFFFFF"/>
              </a:solidFill>
              <a:latin typeface="Raleway"/>
              <a:ea typeface="Raleway"/>
              <a:cs typeface="Raleway"/>
              <a:sym typeface="Raleway"/>
            </a:endParaRPr>
          </a:p>
        </p:txBody>
      </p:sp>
      <p:cxnSp>
        <p:nvCxnSpPr>
          <p:cNvPr id="83" name="Google Shape;83;p16"/>
          <p:cNvCxnSpPr/>
          <p:nvPr/>
        </p:nvCxnSpPr>
        <p:spPr>
          <a:xfrm flipH="1" rot="10800000">
            <a:off x="705500" y="3560750"/>
            <a:ext cx="7727400" cy="57300"/>
          </a:xfrm>
          <a:prstGeom prst="straightConnector1">
            <a:avLst/>
          </a:prstGeom>
          <a:noFill/>
          <a:ln cap="flat" cmpd="sng" w="9525">
            <a:solidFill>
              <a:srgbClr val="FFFFFF"/>
            </a:solidFill>
            <a:prstDash val="solid"/>
            <a:round/>
            <a:headEnd len="med" w="med" type="none"/>
            <a:tailEnd len="med" w="med" type="none"/>
          </a:ln>
        </p:spPr>
      </p:cxnSp>
      <p:pic>
        <p:nvPicPr>
          <p:cNvPr id="84" name="Google Shape;84;p16"/>
          <p:cNvPicPr preferRelativeResize="0"/>
          <p:nvPr/>
        </p:nvPicPr>
        <p:blipFill rotWithShape="1">
          <a:blip r:embed="rId3">
            <a:alphaModFix/>
          </a:blip>
          <a:srcRect b="0" l="0" r="0" t="0"/>
          <a:stretch/>
        </p:blipFill>
        <p:spPr>
          <a:xfrm>
            <a:off x="1037425" y="1951500"/>
            <a:ext cx="1181925" cy="1439600"/>
          </a:xfrm>
          <a:prstGeom prst="rect">
            <a:avLst/>
          </a:prstGeom>
          <a:noFill/>
          <a:ln>
            <a:noFill/>
          </a:ln>
        </p:spPr>
      </p:pic>
      <p:sp>
        <p:nvSpPr>
          <p:cNvPr id="85" name="Google Shape;85;p16"/>
          <p:cNvSpPr txBox="1"/>
          <p:nvPr>
            <p:ph idx="4294967295"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7"/>
          <p:cNvSpPr txBox="1"/>
          <p:nvPr/>
        </p:nvSpPr>
        <p:spPr>
          <a:xfrm>
            <a:off x="1296900" y="575850"/>
            <a:ext cx="65502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600">
                <a:solidFill>
                  <a:schemeClr val="lt1"/>
                </a:solidFill>
                <a:latin typeface="Montserrat"/>
                <a:ea typeface="Montserrat"/>
                <a:cs typeface="Montserrat"/>
                <a:sym typeface="Montserrat"/>
              </a:rPr>
              <a:t>Selamat datang di </a:t>
            </a:r>
            <a:r>
              <a:rPr b="1" lang="en" sz="1600">
                <a:solidFill>
                  <a:srgbClr val="F2AB2F"/>
                </a:solidFill>
                <a:latin typeface="Montserrat"/>
                <a:ea typeface="Montserrat"/>
                <a:cs typeface="Montserrat"/>
                <a:sym typeface="Montserrat"/>
              </a:rPr>
              <a:t>Chapter 4 Topik 3</a:t>
            </a:r>
            <a:r>
              <a:rPr b="1" lang="en" sz="1600">
                <a:solidFill>
                  <a:schemeClr val="lt1"/>
                </a:solidFill>
                <a:latin typeface="Montserrat"/>
                <a:ea typeface="Montserrat"/>
                <a:cs typeface="Montserrat"/>
                <a:sym typeface="Montserrat"/>
              </a:rPr>
              <a:t> online course</a:t>
            </a:r>
            <a:br>
              <a:rPr b="1" lang="en" sz="1600">
                <a:solidFill>
                  <a:schemeClr val="lt1"/>
                </a:solidFill>
                <a:latin typeface="Montserrat"/>
                <a:ea typeface="Montserrat"/>
                <a:cs typeface="Montserrat"/>
                <a:sym typeface="Montserrat"/>
              </a:rPr>
            </a:br>
            <a:r>
              <a:rPr b="1" lang="en" sz="1600">
                <a:solidFill>
                  <a:srgbClr val="F2AB2F"/>
                </a:solidFill>
                <a:latin typeface="Montserrat"/>
                <a:ea typeface="Montserrat"/>
                <a:cs typeface="Montserrat"/>
                <a:sym typeface="Montserrat"/>
              </a:rPr>
              <a:t>UI/UX Research/Design</a:t>
            </a:r>
            <a:r>
              <a:rPr b="1" lang="en" sz="1600">
                <a:solidFill>
                  <a:schemeClr val="lt1"/>
                </a:solidFill>
                <a:latin typeface="Montserrat"/>
                <a:ea typeface="Montserrat"/>
                <a:cs typeface="Montserrat"/>
                <a:sym typeface="Montserrat"/>
              </a:rPr>
              <a:t> dari Binar Academy!</a:t>
            </a:r>
            <a:endParaRPr b="1" sz="1600">
              <a:solidFill>
                <a:schemeClr val="lt1"/>
              </a:solidFill>
              <a:latin typeface="Montserrat"/>
              <a:ea typeface="Montserrat"/>
              <a:cs typeface="Montserrat"/>
              <a:sym typeface="Montserrat"/>
            </a:endParaRPr>
          </a:p>
        </p:txBody>
      </p:sp>
      <p:pic>
        <p:nvPicPr>
          <p:cNvPr id="91" name="Google Shape;91;p17"/>
          <p:cNvPicPr preferRelativeResize="0"/>
          <p:nvPr/>
        </p:nvPicPr>
        <p:blipFill rotWithShape="1">
          <a:blip r:embed="rId3">
            <a:alphaModFix/>
          </a:blip>
          <a:srcRect b="0" l="0" r="0" t="0"/>
          <a:stretch/>
        </p:blipFill>
        <p:spPr>
          <a:xfrm>
            <a:off x="2660288" y="1807025"/>
            <a:ext cx="3823424" cy="29161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97" name="Google Shape;97;p1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Pengantar</a:t>
            </a:r>
            <a:endParaRPr>
              <a:latin typeface="Montserrat"/>
              <a:ea typeface="Montserrat"/>
              <a:cs typeface="Montserrat"/>
              <a:sym typeface="Montserrat"/>
            </a:endParaRPr>
          </a:p>
        </p:txBody>
      </p:sp>
      <p:sp>
        <p:nvSpPr>
          <p:cNvPr id="98" name="Google Shape;98;p18"/>
          <p:cNvSpPr txBox="1"/>
          <p:nvPr/>
        </p:nvSpPr>
        <p:spPr>
          <a:xfrm>
            <a:off x="1185600" y="2815800"/>
            <a:ext cx="6772800" cy="1832400"/>
          </a:xfrm>
          <a:prstGeom prst="rect">
            <a:avLst/>
          </a:prstGeom>
          <a:noFill/>
          <a:ln>
            <a:noFill/>
          </a:ln>
        </p:spPr>
        <p:txBody>
          <a:bodyPr anchorCtr="0" anchor="ctr"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Seperti janji kita kemarin, kali ini kita akan mengulas lebih dalam mengenai </a:t>
            </a:r>
            <a:r>
              <a:rPr b="1" lang="en" sz="1000">
                <a:solidFill>
                  <a:schemeClr val="dk1"/>
                </a:solidFill>
                <a:latin typeface="Montserrat"/>
                <a:ea typeface="Montserrat"/>
                <a:cs typeface="Montserrat"/>
                <a:sym typeface="Montserrat"/>
              </a:rPr>
              <a:t>design system</a:t>
            </a:r>
            <a:r>
              <a:rPr lang="en" sz="1000">
                <a:solidFill>
                  <a:schemeClr val="dk1"/>
                </a:solidFill>
                <a:latin typeface="Montserrat"/>
                <a:ea typeface="Montserrat"/>
                <a:cs typeface="Montserrat"/>
                <a:sym typeface="Montserrat"/>
              </a:rPr>
              <a:t>. Masih ingat kan mengapa proses ini penting dalam fase prototyping? Agar kita bisa mencapai efisiensi, menghindari inkonsistensi, dan skalabilitas yang lebih tinggi.</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Yuk langsung kita simak aja ~</a:t>
            </a:r>
            <a:endParaRPr sz="1000">
              <a:solidFill>
                <a:schemeClr val="dk1"/>
              </a:solidFill>
              <a:latin typeface="Montserrat"/>
              <a:ea typeface="Montserrat"/>
              <a:cs typeface="Montserrat"/>
              <a:sym typeface="Montserrat"/>
            </a:endParaRPr>
          </a:p>
        </p:txBody>
      </p:sp>
      <p:pic>
        <p:nvPicPr>
          <p:cNvPr id="99" name="Google Shape;99;p18"/>
          <p:cNvPicPr preferRelativeResize="0"/>
          <p:nvPr/>
        </p:nvPicPr>
        <p:blipFill rotWithShape="1">
          <a:blip r:embed="rId3">
            <a:alphaModFix/>
          </a:blip>
          <a:srcRect b="41386" l="0" r="0" t="0"/>
          <a:stretch/>
        </p:blipFill>
        <p:spPr>
          <a:xfrm>
            <a:off x="2016436" y="914400"/>
            <a:ext cx="5111127" cy="228347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05" name="Google Shape;105;p1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Pengantar</a:t>
            </a:r>
            <a:endParaRPr/>
          </a:p>
        </p:txBody>
      </p:sp>
      <p:pic>
        <p:nvPicPr>
          <p:cNvPr id="106" name="Google Shape;106;p19"/>
          <p:cNvPicPr preferRelativeResize="0"/>
          <p:nvPr/>
        </p:nvPicPr>
        <p:blipFill rotWithShape="1">
          <a:blip r:embed="rId3">
            <a:alphaModFix/>
          </a:blip>
          <a:srcRect b="0" l="0" r="0" t="0"/>
          <a:stretch/>
        </p:blipFill>
        <p:spPr>
          <a:xfrm>
            <a:off x="5638796" y="1097113"/>
            <a:ext cx="2743199" cy="3511629"/>
          </a:xfrm>
          <a:prstGeom prst="rect">
            <a:avLst/>
          </a:prstGeom>
          <a:noFill/>
          <a:ln>
            <a:noFill/>
          </a:ln>
        </p:spPr>
      </p:pic>
      <p:sp>
        <p:nvSpPr>
          <p:cNvPr id="107" name="Google Shape;107;p19"/>
          <p:cNvSpPr txBox="1"/>
          <p:nvPr/>
        </p:nvSpPr>
        <p:spPr>
          <a:xfrm>
            <a:off x="813400" y="1363038"/>
            <a:ext cx="3519900" cy="9615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600"/>
              </a:spcBef>
              <a:spcAft>
                <a:spcPts val="0"/>
              </a:spcAft>
              <a:buClr>
                <a:srgbClr val="000000"/>
              </a:buClr>
              <a:buSzPts val="1400"/>
              <a:buFont typeface="Arial"/>
              <a:buNone/>
            </a:pPr>
            <a:r>
              <a:rPr b="1" lang="en" sz="1600">
                <a:solidFill>
                  <a:srgbClr val="743673"/>
                </a:solidFill>
                <a:latin typeface="Montserrat"/>
                <a:ea typeface="Montserrat"/>
                <a:cs typeface="Montserrat"/>
                <a:sym typeface="Montserrat"/>
              </a:rPr>
              <a:t>Detailnya, kita akan membahas seputar:</a:t>
            </a:r>
            <a:endParaRPr sz="1200">
              <a:solidFill>
                <a:schemeClr val="dk1"/>
              </a:solidFill>
              <a:latin typeface="Montserrat"/>
              <a:ea typeface="Montserrat"/>
              <a:cs typeface="Montserrat"/>
              <a:sym typeface="Montserrat"/>
            </a:endParaRPr>
          </a:p>
        </p:txBody>
      </p:sp>
      <p:sp>
        <p:nvSpPr>
          <p:cNvPr id="108" name="Google Shape;108;p19"/>
          <p:cNvSpPr/>
          <p:nvPr/>
        </p:nvSpPr>
        <p:spPr>
          <a:xfrm>
            <a:off x="813400" y="2373050"/>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sp>
        <p:nvSpPr>
          <p:cNvPr id="109" name="Google Shape;109;p19"/>
          <p:cNvSpPr/>
          <p:nvPr/>
        </p:nvSpPr>
        <p:spPr>
          <a:xfrm>
            <a:off x="813400" y="2778925"/>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sp>
        <p:nvSpPr>
          <p:cNvPr id="110" name="Google Shape;110;p19"/>
          <p:cNvSpPr/>
          <p:nvPr/>
        </p:nvSpPr>
        <p:spPr>
          <a:xfrm>
            <a:off x="813400" y="3184800"/>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sp>
        <p:nvSpPr>
          <p:cNvPr id="111" name="Google Shape;111;p19"/>
          <p:cNvSpPr/>
          <p:nvPr/>
        </p:nvSpPr>
        <p:spPr>
          <a:xfrm>
            <a:off x="813400" y="3590675"/>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sp>
        <p:nvSpPr>
          <p:cNvPr id="112" name="Google Shape;112;p19"/>
          <p:cNvSpPr/>
          <p:nvPr/>
        </p:nvSpPr>
        <p:spPr>
          <a:xfrm>
            <a:off x="813400" y="3996550"/>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sp>
        <p:nvSpPr>
          <p:cNvPr id="113" name="Google Shape;113;p19"/>
          <p:cNvSpPr txBox="1"/>
          <p:nvPr/>
        </p:nvSpPr>
        <p:spPr>
          <a:xfrm>
            <a:off x="1204675" y="2316363"/>
            <a:ext cx="3000000" cy="3693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lang="en" sz="1200">
                <a:solidFill>
                  <a:schemeClr val="dk1"/>
                </a:solidFill>
                <a:latin typeface="Montserrat"/>
                <a:ea typeface="Montserrat"/>
                <a:cs typeface="Montserrat"/>
                <a:sym typeface="Montserrat"/>
              </a:rPr>
              <a:t>Mengapa design system penting?</a:t>
            </a:r>
            <a:endParaRPr/>
          </a:p>
        </p:txBody>
      </p:sp>
      <p:sp>
        <p:nvSpPr>
          <p:cNvPr id="114" name="Google Shape;114;p19"/>
          <p:cNvSpPr txBox="1"/>
          <p:nvPr/>
        </p:nvSpPr>
        <p:spPr>
          <a:xfrm>
            <a:off x="1204675" y="2722238"/>
            <a:ext cx="3000000" cy="3693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lang="en" sz="1200">
                <a:solidFill>
                  <a:schemeClr val="dk1"/>
                </a:solidFill>
                <a:latin typeface="Montserrat"/>
                <a:ea typeface="Montserrat"/>
                <a:cs typeface="Montserrat"/>
                <a:sym typeface="Montserrat"/>
              </a:rPr>
              <a:t>Layouts</a:t>
            </a:r>
            <a:endParaRPr/>
          </a:p>
        </p:txBody>
      </p:sp>
      <p:sp>
        <p:nvSpPr>
          <p:cNvPr id="115" name="Google Shape;115;p19"/>
          <p:cNvSpPr txBox="1"/>
          <p:nvPr/>
        </p:nvSpPr>
        <p:spPr>
          <a:xfrm>
            <a:off x="1204675" y="3128113"/>
            <a:ext cx="3000000" cy="3693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lang="en" sz="1200">
                <a:solidFill>
                  <a:schemeClr val="dk1"/>
                </a:solidFill>
                <a:latin typeface="Montserrat"/>
                <a:ea typeface="Montserrat"/>
                <a:cs typeface="Montserrat"/>
                <a:sym typeface="Montserrat"/>
              </a:rPr>
              <a:t>Colour system</a:t>
            </a:r>
            <a:endParaRPr/>
          </a:p>
        </p:txBody>
      </p:sp>
      <p:sp>
        <p:nvSpPr>
          <p:cNvPr id="116" name="Google Shape;116;p19"/>
          <p:cNvSpPr txBox="1"/>
          <p:nvPr/>
        </p:nvSpPr>
        <p:spPr>
          <a:xfrm>
            <a:off x="1217475" y="3533988"/>
            <a:ext cx="3000000" cy="3693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lang="en" sz="1200">
                <a:solidFill>
                  <a:schemeClr val="dk1"/>
                </a:solidFill>
                <a:latin typeface="Montserrat"/>
                <a:ea typeface="Montserrat"/>
                <a:cs typeface="Montserrat"/>
                <a:sym typeface="Montserrat"/>
              </a:rPr>
              <a:t>Type</a:t>
            </a:r>
            <a:r>
              <a:rPr lang="en" sz="1200">
                <a:solidFill>
                  <a:schemeClr val="dk1"/>
                </a:solidFill>
                <a:latin typeface="Montserrat"/>
                <a:ea typeface="Montserrat"/>
                <a:cs typeface="Montserrat"/>
                <a:sym typeface="Montserrat"/>
              </a:rPr>
              <a:t> system</a:t>
            </a:r>
            <a:endParaRPr/>
          </a:p>
        </p:txBody>
      </p:sp>
      <p:sp>
        <p:nvSpPr>
          <p:cNvPr id="117" name="Google Shape;117;p19"/>
          <p:cNvSpPr txBox="1"/>
          <p:nvPr/>
        </p:nvSpPr>
        <p:spPr>
          <a:xfrm>
            <a:off x="1217475" y="3939863"/>
            <a:ext cx="3000000" cy="3693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lang="en" sz="1200">
                <a:solidFill>
                  <a:schemeClr val="dk1"/>
                </a:solidFill>
                <a:latin typeface="Montserrat"/>
                <a:ea typeface="Montserrat"/>
                <a:cs typeface="Montserrat"/>
                <a:sym typeface="Montserrat"/>
              </a:rPr>
              <a:t>Elevation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23" name="Google Shape;123;p2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Pengantar</a:t>
            </a:r>
            <a:endParaRPr/>
          </a:p>
        </p:txBody>
      </p:sp>
      <p:pic>
        <p:nvPicPr>
          <p:cNvPr id="124" name="Google Shape;124;p20"/>
          <p:cNvPicPr preferRelativeResize="0"/>
          <p:nvPr/>
        </p:nvPicPr>
        <p:blipFill rotWithShape="1">
          <a:blip r:embed="rId3">
            <a:alphaModFix/>
          </a:blip>
          <a:srcRect b="0" l="0" r="0" t="0"/>
          <a:stretch/>
        </p:blipFill>
        <p:spPr>
          <a:xfrm>
            <a:off x="5638796" y="1097113"/>
            <a:ext cx="2743199" cy="3511629"/>
          </a:xfrm>
          <a:prstGeom prst="rect">
            <a:avLst/>
          </a:prstGeom>
          <a:noFill/>
          <a:ln>
            <a:noFill/>
          </a:ln>
        </p:spPr>
      </p:pic>
      <p:sp>
        <p:nvSpPr>
          <p:cNvPr id="125" name="Google Shape;125;p20"/>
          <p:cNvSpPr/>
          <p:nvPr/>
        </p:nvSpPr>
        <p:spPr>
          <a:xfrm>
            <a:off x="820825" y="2154263"/>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sp>
        <p:nvSpPr>
          <p:cNvPr id="126" name="Google Shape;126;p20"/>
          <p:cNvSpPr/>
          <p:nvPr/>
        </p:nvSpPr>
        <p:spPr>
          <a:xfrm>
            <a:off x="820825" y="2560138"/>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sp>
        <p:nvSpPr>
          <p:cNvPr id="127" name="Google Shape;127;p20"/>
          <p:cNvSpPr/>
          <p:nvPr/>
        </p:nvSpPr>
        <p:spPr>
          <a:xfrm>
            <a:off x="820825" y="2966013"/>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sp>
        <p:nvSpPr>
          <p:cNvPr id="128" name="Google Shape;128;p20"/>
          <p:cNvSpPr/>
          <p:nvPr/>
        </p:nvSpPr>
        <p:spPr>
          <a:xfrm>
            <a:off x="820825" y="3371888"/>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sp>
        <p:nvSpPr>
          <p:cNvPr id="129" name="Google Shape;129;p20"/>
          <p:cNvSpPr txBox="1"/>
          <p:nvPr/>
        </p:nvSpPr>
        <p:spPr>
          <a:xfrm>
            <a:off x="1224900" y="2909325"/>
            <a:ext cx="3000000" cy="3693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lang="en" sz="1200">
                <a:solidFill>
                  <a:schemeClr val="dk1"/>
                </a:solidFill>
                <a:latin typeface="Montserrat"/>
                <a:ea typeface="Montserrat"/>
                <a:cs typeface="Montserrat"/>
                <a:sym typeface="Montserrat"/>
              </a:rPr>
              <a:t>Metode spacing</a:t>
            </a:r>
            <a:endParaRPr/>
          </a:p>
        </p:txBody>
      </p:sp>
      <p:sp>
        <p:nvSpPr>
          <p:cNvPr id="130" name="Google Shape;130;p20"/>
          <p:cNvSpPr txBox="1"/>
          <p:nvPr/>
        </p:nvSpPr>
        <p:spPr>
          <a:xfrm>
            <a:off x="1224900" y="2097575"/>
            <a:ext cx="3000000" cy="3693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lang="en" sz="1200">
                <a:solidFill>
                  <a:schemeClr val="dk1"/>
                </a:solidFill>
                <a:latin typeface="Montserrat"/>
                <a:ea typeface="Montserrat"/>
                <a:cs typeface="Montserrat"/>
                <a:sym typeface="Montserrat"/>
              </a:rPr>
              <a:t>Product dan system icons</a:t>
            </a:r>
            <a:endParaRPr/>
          </a:p>
        </p:txBody>
      </p:sp>
      <p:sp>
        <p:nvSpPr>
          <p:cNvPr id="131" name="Google Shape;131;p20"/>
          <p:cNvSpPr txBox="1"/>
          <p:nvPr/>
        </p:nvSpPr>
        <p:spPr>
          <a:xfrm>
            <a:off x="1224900" y="2503450"/>
            <a:ext cx="3000000" cy="3693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lang="en" sz="1200">
                <a:solidFill>
                  <a:schemeClr val="dk1"/>
                </a:solidFill>
                <a:latin typeface="Montserrat"/>
                <a:ea typeface="Montserrat"/>
                <a:cs typeface="Montserrat"/>
                <a:sym typeface="Montserrat"/>
              </a:rPr>
              <a:t>States</a:t>
            </a:r>
            <a:endParaRPr/>
          </a:p>
        </p:txBody>
      </p:sp>
      <p:sp>
        <p:nvSpPr>
          <p:cNvPr id="132" name="Google Shape;132;p20"/>
          <p:cNvSpPr txBox="1"/>
          <p:nvPr/>
        </p:nvSpPr>
        <p:spPr>
          <a:xfrm>
            <a:off x="1224900" y="3315200"/>
            <a:ext cx="3000000" cy="3693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lang="en" sz="1200">
                <a:solidFill>
                  <a:schemeClr val="dk1"/>
                </a:solidFill>
                <a:latin typeface="Montserrat"/>
                <a:ea typeface="Montserrat"/>
                <a:cs typeface="Montserrat"/>
                <a:sym typeface="Montserrat"/>
              </a:rPr>
              <a:t>Buttons, cards, dan dividers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Mengapa design system penting?</a:t>
            </a:r>
            <a:endParaRPr>
              <a:latin typeface="Montserrat"/>
              <a:ea typeface="Montserrat"/>
              <a:cs typeface="Montserrat"/>
              <a:sym typeface="Montserrat"/>
            </a:endParaRPr>
          </a:p>
        </p:txBody>
      </p:sp>
      <p:sp>
        <p:nvSpPr>
          <p:cNvPr id="138" name="Google Shape;138;p2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39" name="Google Shape;139;p21"/>
          <p:cNvSpPr txBox="1"/>
          <p:nvPr/>
        </p:nvSpPr>
        <p:spPr>
          <a:xfrm>
            <a:off x="487625" y="1380450"/>
            <a:ext cx="4572000" cy="23826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b="1" lang="en">
                <a:solidFill>
                  <a:schemeClr val="lt1"/>
                </a:solidFill>
                <a:latin typeface="Montserrat"/>
                <a:ea typeface="Montserrat"/>
                <a:cs typeface="Montserrat"/>
                <a:sym typeface="Montserrat"/>
              </a:rPr>
              <a:t>Kemarin, kita baru membahas sekilas mengenai design system. Kali ini, kita akan mengulasnya lebih dalam agar pemahaman yang kita miliki </a:t>
            </a:r>
            <a:r>
              <a:rPr b="1" lang="en">
                <a:solidFill>
                  <a:schemeClr val="lt1"/>
                </a:solidFill>
                <a:latin typeface="Montserrat"/>
                <a:ea typeface="Montserrat"/>
                <a:cs typeface="Montserrat"/>
                <a:sym typeface="Montserrat"/>
              </a:rPr>
              <a:t>tambah</a:t>
            </a:r>
            <a:r>
              <a:rPr b="1" lang="en">
                <a:solidFill>
                  <a:schemeClr val="lt1"/>
                </a:solidFill>
                <a:latin typeface="Montserrat"/>
                <a:ea typeface="Montserrat"/>
                <a:cs typeface="Montserrat"/>
                <a:sym typeface="Montserrat"/>
              </a:rPr>
              <a:t> mantap.</a:t>
            </a:r>
            <a:endParaRPr b="1">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None/>
            </a:pPr>
            <a:r>
              <a:rPr b="1" lang="en">
                <a:solidFill>
                  <a:schemeClr val="lt1"/>
                </a:solidFill>
                <a:latin typeface="Montserrat"/>
                <a:ea typeface="Montserrat"/>
                <a:cs typeface="Montserrat"/>
                <a:sym typeface="Montserrat"/>
              </a:rPr>
              <a:t>Emangnya, peran </a:t>
            </a:r>
            <a:r>
              <a:rPr b="1" lang="en">
                <a:solidFill>
                  <a:srgbClr val="F2AB2F"/>
                </a:solidFill>
                <a:latin typeface="Montserrat"/>
                <a:ea typeface="Montserrat"/>
                <a:cs typeface="Montserrat"/>
                <a:sym typeface="Montserrat"/>
              </a:rPr>
              <a:t>design system </a:t>
            </a:r>
            <a:r>
              <a:rPr b="1" lang="en">
                <a:solidFill>
                  <a:schemeClr val="lt1"/>
                </a:solidFill>
                <a:latin typeface="Montserrat"/>
                <a:ea typeface="Montserrat"/>
                <a:cs typeface="Montserrat"/>
                <a:sym typeface="Montserrat"/>
              </a:rPr>
              <a:t>itu sepenting apa sih dalam proses desain?</a:t>
            </a:r>
            <a:endParaRPr b="1">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None/>
            </a:pPr>
            <a:r>
              <a:rPr b="1" lang="en">
                <a:solidFill>
                  <a:schemeClr val="lt1"/>
                </a:solidFill>
                <a:latin typeface="Montserrat"/>
                <a:ea typeface="Montserrat"/>
                <a:cs typeface="Montserrat"/>
                <a:sym typeface="Montserrat"/>
              </a:rPr>
              <a:t>Yuk temukan jawabannya bersama ~</a:t>
            </a:r>
            <a:endParaRPr b="1">
              <a:solidFill>
                <a:schemeClr val="lt1"/>
              </a:solidFill>
              <a:latin typeface="Montserrat"/>
              <a:ea typeface="Montserrat"/>
              <a:cs typeface="Montserrat"/>
              <a:sym typeface="Montserrat"/>
            </a:endParaRPr>
          </a:p>
        </p:txBody>
      </p:sp>
      <p:pic>
        <p:nvPicPr>
          <p:cNvPr id="140" name="Google Shape;140;p21"/>
          <p:cNvPicPr preferRelativeResize="0"/>
          <p:nvPr/>
        </p:nvPicPr>
        <p:blipFill rotWithShape="1">
          <a:blip r:embed="rId3">
            <a:alphaModFix/>
          </a:blip>
          <a:srcRect b="0" l="0" r="0" t="0"/>
          <a:stretch/>
        </p:blipFill>
        <p:spPr>
          <a:xfrm flipH="1">
            <a:off x="4833575" y="914400"/>
            <a:ext cx="3886200" cy="38862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46" name="Google Shape;146;p2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Mengapa design system penting?</a:t>
            </a:r>
            <a:endParaRPr/>
          </a:p>
        </p:txBody>
      </p:sp>
      <p:sp>
        <p:nvSpPr>
          <p:cNvPr id="147" name="Google Shape;147;p22"/>
          <p:cNvSpPr txBox="1"/>
          <p:nvPr/>
        </p:nvSpPr>
        <p:spPr>
          <a:xfrm>
            <a:off x="487625" y="1280150"/>
            <a:ext cx="4149600" cy="30705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rgbClr val="743673"/>
                </a:solidFill>
                <a:latin typeface="Montserrat"/>
                <a:ea typeface="Montserrat"/>
                <a:cs typeface="Montserrat"/>
                <a:sym typeface="Montserrat"/>
              </a:rPr>
              <a:t>Sebelumnya, kita r</a:t>
            </a:r>
            <a:r>
              <a:rPr b="1" lang="en" sz="1600">
                <a:solidFill>
                  <a:srgbClr val="743673"/>
                </a:solidFill>
                <a:latin typeface="Montserrat"/>
                <a:ea typeface="Montserrat"/>
                <a:cs typeface="Montserrat"/>
                <a:sym typeface="Montserrat"/>
              </a:rPr>
              <a:t>ecap sedikit yuk!</a:t>
            </a:r>
            <a:endParaRPr b="1" sz="1600">
              <a:solidFill>
                <a:srgbClr val="743673"/>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Design system merupakan sebuah sumber atau </a:t>
            </a:r>
            <a:r>
              <a:rPr b="1" lang="en" sz="1000">
                <a:solidFill>
                  <a:schemeClr val="dk1"/>
                </a:solidFill>
                <a:latin typeface="Montserrat"/>
                <a:ea typeface="Montserrat"/>
                <a:cs typeface="Montserrat"/>
                <a:sym typeface="Montserrat"/>
              </a:rPr>
              <a:t>kelompok elemen</a:t>
            </a:r>
            <a:r>
              <a:rPr lang="en" sz="1000">
                <a:solidFill>
                  <a:schemeClr val="dk1"/>
                </a:solidFill>
                <a:latin typeface="Montserrat"/>
                <a:ea typeface="Montserrat"/>
                <a:cs typeface="Montserrat"/>
                <a:sym typeface="Montserrat"/>
              </a:rPr>
              <a:t> yang berisikan </a:t>
            </a:r>
            <a:r>
              <a:rPr b="1" lang="en" sz="1000">
                <a:solidFill>
                  <a:schemeClr val="dk1"/>
                </a:solidFill>
                <a:latin typeface="Montserrat"/>
                <a:ea typeface="Montserrat"/>
                <a:cs typeface="Montserrat"/>
                <a:sym typeface="Montserrat"/>
              </a:rPr>
              <a:t>komponen-komponen</a:t>
            </a:r>
            <a:r>
              <a:rPr lang="en" sz="1000">
                <a:solidFill>
                  <a:schemeClr val="dk1"/>
                </a:solidFill>
                <a:latin typeface="Montserrat"/>
                <a:ea typeface="Montserrat"/>
                <a:cs typeface="Montserrat"/>
                <a:sym typeface="Montserrat"/>
              </a:rPr>
              <a:t> dan </a:t>
            </a:r>
            <a:r>
              <a:rPr b="1" lang="en" sz="1000">
                <a:solidFill>
                  <a:schemeClr val="dk1"/>
                </a:solidFill>
                <a:latin typeface="Montserrat"/>
                <a:ea typeface="Montserrat"/>
                <a:cs typeface="Montserrat"/>
                <a:sym typeface="Montserrat"/>
              </a:rPr>
              <a:t>aset desain</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rgbClr val="222222"/>
                </a:solidFill>
                <a:latin typeface="Montserrat"/>
                <a:ea typeface="Montserrat"/>
                <a:cs typeface="Montserrat"/>
                <a:sym typeface="Montserrat"/>
              </a:rPr>
              <a:t>Design system berisikan identitas dari produk atau brand, principle dan best practice. Kemudian diturunkan dalam komponen-komponen interface yang biasa digunakan oleh desainer dalam merancang produk atau feature yang nantinya akan digunakan oleh user. </a:t>
            </a:r>
            <a:endParaRPr sz="1000">
              <a:solidFill>
                <a:schemeClr val="dk1"/>
              </a:solidFill>
              <a:latin typeface="Montserrat"/>
              <a:ea typeface="Montserrat"/>
              <a:cs typeface="Montserrat"/>
              <a:sym typeface="Montserrat"/>
            </a:endParaRPr>
          </a:p>
        </p:txBody>
      </p:sp>
      <p:pic>
        <p:nvPicPr>
          <p:cNvPr id="148" name="Google Shape;148;p22"/>
          <p:cNvPicPr preferRelativeResize="0"/>
          <p:nvPr/>
        </p:nvPicPr>
        <p:blipFill>
          <a:blip r:embed="rId3">
            <a:alphaModFix/>
          </a:blip>
          <a:stretch>
            <a:fillRect/>
          </a:stretch>
        </p:blipFill>
        <p:spPr>
          <a:xfrm>
            <a:off x="5180050" y="914400"/>
            <a:ext cx="2658875" cy="38862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54" name="Google Shape;154;p2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Mengapa design system penting?</a:t>
            </a:r>
            <a:endParaRPr/>
          </a:p>
        </p:txBody>
      </p:sp>
      <p:sp>
        <p:nvSpPr>
          <p:cNvPr id="155" name="Google Shape;155;p23"/>
          <p:cNvSpPr txBox="1"/>
          <p:nvPr/>
        </p:nvSpPr>
        <p:spPr>
          <a:xfrm>
            <a:off x="487625" y="1355400"/>
            <a:ext cx="4149600" cy="24327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M</a:t>
            </a:r>
            <a:r>
              <a:rPr b="1" lang="en" sz="1600">
                <a:solidFill>
                  <a:srgbClr val="743673"/>
                </a:solidFill>
                <a:highlight>
                  <a:schemeClr val="lt1"/>
                </a:highlight>
                <a:latin typeface="Montserrat"/>
                <a:ea typeface="Montserrat"/>
                <a:cs typeface="Montserrat"/>
                <a:sym typeface="Montserrat"/>
              </a:rPr>
              <a:t>engapa design system penting?</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Design system penting untuk keperluan perancangan &amp; pengembangan produk baik dari sisi desain maupun code programming.</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Selain itu, sesuai tujuannya design system menjadi begitu penting karena beberapa hal di bawah ini:</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1) Menghilangkan inkonsistensi</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2) Mempercepat proses desain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3) </a:t>
            </a:r>
            <a:r>
              <a:rPr lang="en" sz="1000">
                <a:solidFill>
                  <a:schemeClr val="dk1"/>
                </a:solidFill>
                <a:latin typeface="Montserrat"/>
                <a:ea typeface="Montserrat"/>
                <a:cs typeface="Montserrat"/>
                <a:sym typeface="Montserrat"/>
              </a:rPr>
              <a:t>Mengurangi beban kognitif</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Nah, mari kita telusuri satu per satu.</a:t>
            </a:r>
            <a:endParaRPr sz="1000">
              <a:solidFill>
                <a:schemeClr val="dk1"/>
              </a:solidFill>
              <a:latin typeface="Montserrat"/>
              <a:ea typeface="Montserrat"/>
              <a:cs typeface="Montserrat"/>
              <a:sym typeface="Montserrat"/>
            </a:endParaRPr>
          </a:p>
        </p:txBody>
      </p:sp>
      <p:pic>
        <p:nvPicPr>
          <p:cNvPr id="156" name="Google Shape;156;p23"/>
          <p:cNvPicPr preferRelativeResize="0"/>
          <p:nvPr/>
        </p:nvPicPr>
        <p:blipFill>
          <a:blip r:embed="rId3">
            <a:alphaModFix/>
          </a:blip>
          <a:stretch>
            <a:fillRect/>
          </a:stretch>
        </p:blipFill>
        <p:spPr>
          <a:xfrm>
            <a:off x="5257800" y="914400"/>
            <a:ext cx="2116685" cy="388619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62" name="Google Shape;162;p2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Mengapa design system penting?</a:t>
            </a:r>
            <a:endParaRPr/>
          </a:p>
        </p:txBody>
      </p:sp>
      <p:grpSp>
        <p:nvGrpSpPr>
          <p:cNvPr id="163" name="Google Shape;163;p24"/>
          <p:cNvGrpSpPr/>
          <p:nvPr/>
        </p:nvGrpSpPr>
        <p:grpSpPr>
          <a:xfrm>
            <a:off x="3150108" y="1099591"/>
            <a:ext cx="2183980" cy="3393161"/>
            <a:chOff x="3071457" y="2013875"/>
            <a:chExt cx="1944600" cy="1569600"/>
          </a:xfrm>
        </p:grpSpPr>
        <p:sp>
          <p:nvSpPr>
            <p:cNvPr id="164" name="Google Shape;164;p24"/>
            <p:cNvSpPr/>
            <p:nvPr/>
          </p:nvSpPr>
          <p:spPr>
            <a:xfrm flipH="1" rot="10800000">
              <a:off x="3071457" y="2013875"/>
              <a:ext cx="1944600" cy="1569600"/>
            </a:xfrm>
            <a:prstGeom prst="round2DiagRect">
              <a:avLst>
                <a:gd fmla="val 0" name="adj1"/>
                <a:gd fmla="val 17764" name="adj2"/>
              </a:avLst>
            </a:prstGeom>
            <a:solidFill>
              <a:srgbClr val="A667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aleway"/>
                <a:ea typeface="Raleway"/>
                <a:cs typeface="Raleway"/>
                <a:sym typeface="Raleway"/>
              </a:endParaRPr>
            </a:p>
          </p:txBody>
        </p:sp>
        <p:sp>
          <p:nvSpPr>
            <p:cNvPr id="165" name="Google Shape;165;p24"/>
            <p:cNvSpPr txBox="1"/>
            <p:nvPr/>
          </p:nvSpPr>
          <p:spPr>
            <a:xfrm>
              <a:off x="3316102" y="2122781"/>
              <a:ext cx="1451700" cy="242100"/>
            </a:xfrm>
            <a:prstGeom prst="rect">
              <a:avLst/>
            </a:prstGeom>
            <a:solidFill>
              <a:srgbClr val="A667A5"/>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solidFill>
                    <a:schemeClr val="lt1"/>
                  </a:solidFill>
                  <a:latin typeface="Montserrat"/>
                  <a:ea typeface="Montserrat"/>
                  <a:cs typeface="Montserrat"/>
                  <a:sym typeface="Montserrat"/>
                </a:rPr>
                <a:t>Mempercepat proses desain</a:t>
              </a:r>
              <a:endParaRPr b="1" sz="1100">
                <a:solidFill>
                  <a:srgbClr val="FFFFFF"/>
                </a:solidFill>
                <a:latin typeface="Raleway"/>
                <a:ea typeface="Raleway"/>
                <a:cs typeface="Raleway"/>
                <a:sym typeface="Raleway"/>
              </a:endParaRPr>
            </a:p>
          </p:txBody>
        </p:sp>
        <p:sp>
          <p:nvSpPr>
            <p:cNvPr id="166" name="Google Shape;166;p24"/>
            <p:cNvSpPr txBox="1"/>
            <p:nvPr/>
          </p:nvSpPr>
          <p:spPr>
            <a:xfrm>
              <a:off x="3316100" y="2349781"/>
              <a:ext cx="1451700" cy="1139100"/>
            </a:xfrm>
            <a:prstGeom prst="rect">
              <a:avLst/>
            </a:prstGeom>
            <a:solidFill>
              <a:srgbClr val="A667A5"/>
            </a:solidFill>
            <a:ln>
              <a:noFill/>
            </a:ln>
          </p:spPr>
          <p:txBody>
            <a:bodyPr anchorCtr="0" anchor="t" bIns="91425" lIns="91425" spcFirstLastPara="1" rIns="91425" wrap="square" tIns="91425">
              <a:spAutoFit/>
            </a:bodyPr>
            <a:lstStyle/>
            <a:p>
              <a:pPr indent="0" lvl="0" marL="0" rtl="0" algn="l">
                <a:lnSpc>
                  <a:spcPct val="115000"/>
                </a:lnSpc>
                <a:spcBef>
                  <a:spcPts val="0"/>
                </a:spcBef>
                <a:spcAft>
                  <a:spcPts val="1600"/>
                </a:spcAft>
                <a:buNone/>
              </a:pPr>
              <a:r>
                <a:rPr lang="en" sz="1000">
                  <a:solidFill>
                    <a:schemeClr val="lt1"/>
                  </a:solidFill>
                  <a:latin typeface="Raleway"/>
                  <a:ea typeface="Raleway"/>
                  <a:cs typeface="Raleway"/>
                  <a:sym typeface="Raleway"/>
                </a:rPr>
                <a:t>Membuat sistem desain yang terpadu akan mempercepat proses desain sekaligus membantu membangun jembatan antara tim. Desain yang baik adalah sebuah bahasa, dan ketika semua orang berbicara dalam bahasa yang sama, saat itulah segala sesuatunya dilakukan dengan baik.</a:t>
              </a:r>
              <a:endParaRPr sz="1000">
                <a:solidFill>
                  <a:srgbClr val="FFFFFF"/>
                </a:solidFill>
                <a:latin typeface="Raleway"/>
                <a:ea typeface="Raleway"/>
                <a:cs typeface="Raleway"/>
                <a:sym typeface="Raleway"/>
              </a:endParaRPr>
            </a:p>
          </p:txBody>
        </p:sp>
      </p:grpSp>
      <p:grpSp>
        <p:nvGrpSpPr>
          <p:cNvPr id="167" name="Google Shape;167;p24"/>
          <p:cNvGrpSpPr/>
          <p:nvPr/>
        </p:nvGrpSpPr>
        <p:grpSpPr>
          <a:xfrm>
            <a:off x="762048" y="1099443"/>
            <a:ext cx="2390497" cy="3393161"/>
            <a:chOff x="1126863" y="2013875"/>
            <a:chExt cx="1944600" cy="1569600"/>
          </a:xfrm>
        </p:grpSpPr>
        <p:sp>
          <p:nvSpPr>
            <p:cNvPr id="168" name="Google Shape;168;p24"/>
            <p:cNvSpPr/>
            <p:nvPr/>
          </p:nvSpPr>
          <p:spPr>
            <a:xfrm>
              <a:off x="1126863" y="2013875"/>
              <a:ext cx="1944600" cy="1569600"/>
            </a:xfrm>
            <a:prstGeom prst="round2DiagRect">
              <a:avLst>
                <a:gd fmla="val 0" name="adj1"/>
                <a:gd fmla="val 17764" name="adj2"/>
              </a:avLst>
            </a:prstGeom>
            <a:solidFill>
              <a:srgbClr val="7436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aleway"/>
                <a:ea typeface="Raleway"/>
                <a:cs typeface="Raleway"/>
                <a:sym typeface="Raleway"/>
              </a:endParaRPr>
            </a:p>
          </p:txBody>
        </p:sp>
        <p:sp>
          <p:nvSpPr>
            <p:cNvPr id="169" name="Google Shape;169;p24"/>
            <p:cNvSpPr txBox="1"/>
            <p:nvPr/>
          </p:nvSpPr>
          <p:spPr>
            <a:xfrm>
              <a:off x="1351627" y="2124400"/>
              <a:ext cx="1451700" cy="24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solidFill>
                    <a:schemeClr val="lt1"/>
                  </a:solidFill>
                  <a:latin typeface="Montserrat"/>
                  <a:ea typeface="Montserrat"/>
                  <a:cs typeface="Montserrat"/>
                  <a:sym typeface="Montserrat"/>
                </a:rPr>
                <a:t>Menghilangkan inkonsistensi</a:t>
              </a:r>
              <a:endParaRPr b="1" sz="1100">
                <a:solidFill>
                  <a:srgbClr val="FFFFFF"/>
                </a:solidFill>
                <a:latin typeface="Raleway"/>
                <a:ea typeface="Raleway"/>
                <a:cs typeface="Raleway"/>
                <a:sym typeface="Raleway"/>
              </a:endParaRPr>
            </a:p>
          </p:txBody>
        </p:sp>
        <p:sp>
          <p:nvSpPr>
            <p:cNvPr id="170" name="Google Shape;170;p24"/>
            <p:cNvSpPr txBox="1"/>
            <p:nvPr/>
          </p:nvSpPr>
          <p:spPr>
            <a:xfrm>
              <a:off x="1351626" y="2349559"/>
              <a:ext cx="1619700" cy="1070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lang="en" sz="1000">
                  <a:solidFill>
                    <a:schemeClr val="lt1"/>
                  </a:solidFill>
                  <a:latin typeface="Montserrat"/>
                  <a:ea typeface="Montserrat"/>
                  <a:cs typeface="Montserrat"/>
                  <a:sym typeface="Montserrat"/>
                </a:rPr>
                <a:t>Desain memerlukan konsistensi agar pengguna mengerti maksud desain dengan baik dan cepat.</a:t>
              </a:r>
              <a:endParaRPr sz="1000">
                <a:solidFill>
                  <a:schemeClr val="lt1"/>
                </a:solidFill>
                <a:latin typeface="Montserrat"/>
                <a:ea typeface="Montserrat"/>
                <a:cs typeface="Montserrat"/>
                <a:sym typeface="Montserrat"/>
              </a:endParaRPr>
            </a:p>
            <a:p>
              <a:pPr indent="0" lvl="0" marL="0" rtl="0" algn="l">
                <a:lnSpc>
                  <a:spcPct val="115000"/>
                </a:lnSpc>
                <a:spcBef>
                  <a:spcPts val="1600"/>
                </a:spcBef>
                <a:spcAft>
                  <a:spcPts val="1600"/>
                </a:spcAft>
                <a:buNone/>
              </a:pPr>
              <a:r>
                <a:rPr lang="en" sz="1000">
                  <a:solidFill>
                    <a:schemeClr val="lt1"/>
                  </a:solidFill>
                  <a:latin typeface="Montserrat"/>
                  <a:ea typeface="Montserrat"/>
                  <a:cs typeface="Montserrat"/>
                  <a:sym typeface="Montserrat"/>
                </a:rPr>
                <a:t>Nah, design system memberikan standar tertentu pada elemen-elemen dalam produk yang sedang dibuat. Sehingga, inkonsistensi dapat dihindari.</a:t>
              </a:r>
              <a:endParaRPr sz="1050">
                <a:solidFill>
                  <a:srgbClr val="FFFFFF"/>
                </a:solidFill>
                <a:latin typeface="Raleway"/>
                <a:ea typeface="Raleway"/>
                <a:cs typeface="Raleway"/>
                <a:sym typeface="Raleway"/>
              </a:endParaRPr>
            </a:p>
          </p:txBody>
        </p:sp>
      </p:grpSp>
      <p:grpSp>
        <p:nvGrpSpPr>
          <p:cNvPr id="171" name="Google Shape;171;p24"/>
          <p:cNvGrpSpPr/>
          <p:nvPr/>
        </p:nvGrpSpPr>
        <p:grpSpPr>
          <a:xfrm>
            <a:off x="5326800" y="1099514"/>
            <a:ext cx="3001200" cy="3393161"/>
            <a:chOff x="5015938" y="2013875"/>
            <a:chExt cx="3001200" cy="1569600"/>
          </a:xfrm>
        </p:grpSpPr>
        <p:sp>
          <p:nvSpPr>
            <p:cNvPr id="172" name="Google Shape;172;p24"/>
            <p:cNvSpPr/>
            <p:nvPr/>
          </p:nvSpPr>
          <p:spPr>
            <a:xfrm>
              <a:off x="5015938" y="2013875"/>
              <a:ext cx="3001200" cy="1569600"/>
            </a:xfrm>
            <a:prstGeom prst="round2DiagRect">
              <a:avLst>
                <a:gd fmla="val 0" name="adj1"/>
                <a:gd fmla="val 17764" name="adj2"/>
              </a:avLst>
            </a:prstGeom>
            <a:solidFill>
              <a:srgbClr val="5E2B62">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aleway"/>
                <a:ea typeface="Raleway"/>
                <a:cs typeface="Raleway"/>
                <a:sym typeface="Raleway"/>
              </a:endParaRPr>
            </a:p>
            <a:p>
              <a:pPr indent="0" lvl="0" marL="0" rtl="0" algn="l">
                <a:spcBef>
                  <a:spcPts val="0"/>
                </a:spcBef>
                <a:spcAft>
                  <a:spcPts val="0"/>
                </a:spcAft>
                <a:buNone/>
              </a:pPr>
              <a:r>
                <a:t/>
              </a:r>
              <a:endParaRPr>
                <a:latin typeface="Raleway"/>
                <a:ea typeface="Raleway"/>
                <a:cs typeface="Raleway"/>
                <a:sym typeface="Raleway"/>
              </a:endParaRPr>
            </a:p>
            <a:p>
              <a:pPr indent="0" lvl="0" marL="0" rtl="0" algn="l">
                <a:spcBef>
                  <a:spcPts val="0"/>
                </a:spcBef>
                <a:spcAft>
                  <a:spcPts val="0"/>
                </a:spcAft>
                <a:buNone/>
              </a:pPr>
              <a:r>
                <a:t/>
              </a:r>
              <a:endParaRPr>
                <a:latin typeface="Raleway"/>
                <a:ea typeface="Raleway"/>
                <a:cs typeface="Raleway"/>
                <a:sym typeface="Raleway"/>
              </a:endParaRPr>
            </a:p>
            <a:p>
              <a:pPr indent="0" lvl="0" marL="0" rtl="0" algn="l">
                <a:spcBef>
                  <a:spcPts val="0"/>
                </a:spcBef>
                <a:spcAft>
                  <a:spcPts val="0"/>
                </a:spcAft>
                <a:buNone/>
              </a:pPr>
              <a:r>
                <a:t/>
              </a:r>
              <a:endParaRPr>
                <a:latin typeface="Raleway"/>
                <a:ea typeface="Raleway"/>
                <a:cs typeface="Raleway"/>
                <a:sym typeface="Raleway"/>
              </a:endParaRPr>
            </a:p>
          </p:txBody>
        </p:sp>
        <p:sp>
          <p:nvSpPr>
            <p:cNvPr id="173" name="Google Shape;173;p24"/>
            <p:cNvSpPr txBox="1"/>
            <p:nvPr/>
          </p:nvSpPr>
          <p:spPr>
            <a:xfrm>
              <a:off x="5360226" y="2122782"/>
              <a:ext cx="2417100" cy="163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solidFill>
                    <a:srgbClr val="FFFFFF"/>
                  </a:solidFill>
                  <a:latin typeface="Montserrat"/>
                  <a:ea typeface="Montserrat"/>
                  <a:cs typeface="Montserrat"/>
                  <a:sym typeface="Montserrat"/>
                </a:rPr>
                <a:t>Mengurangi beban kognitif</a:t>
              </a:r>
              <a:endParaRPr b="1" sz="1100">
                <a:solidFill>
                  <a:srgbClr val="FFFFFF"/>
                </a:solidFill>
                <a:latin typeface="Montserrat"/>
                <a:ea typeface="Montserrat"/>
                <a:cs typeface="Montserrat"/>
                <a:sym typeface="Montserrat"/>
              </a:endParaRPr>
            </a:p>
          </p:txBody>
        </p:sp>
        <p:sp>
          <p:nvSpPr>
            <p:cNvPr id="174" name="Google Shape;174;p24"/>
            <p:cNvSpPr txBox="1"/>
            <p:nvPr/>
          </p:nvSpPr>
          <p:spPr>
            <a:xfrm>
              <a:off x="5322737" y="2264076"/>
              <a:ext cx="2492100" cy="512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000">
                  <a:solidFill>
                    <a:srgbClr val="FFFFFF"/>
                  </a:solidFill>
                  <a:latin typeface="Montserrat"/>
                  <a:ea typeface="Montserrat"/>
                  <a:cs typeface="Montserrat"/>
                  <a:sym typeface="Montserrat"/>
                </a:rPr>
                <a:t>Dengan menciptakan pengalaman yang konsisten bagi pengguna, kita dapat mengurangi beban kognitif mereka saat beralih dari pengalaman aplikasi seluler ke browser desktop.</a:t>
              </a:r>
              <a:endParaRPr sz="1000">
                <a:solidFill>
                  <a:srgbClr val="FFFFFF"/>
                </a:solidFill>
                <a:latin typeface="Montserrat"/>
                <a:ea typeface="Montserrat"/>
                <a:cs typeface="Montserrat"/>
                <a:sym typeface="Montserrat"/>
              </a:endParaRPr>
            </a:p>
            <a:p>
              <a:pPr indent="0" lvl="0" marL="0" rtl="0" algn="just">
                <a:lnSpc>
                  <a:spcPct val="115000"/>
                </a:lnSpc>
                <a:spcBef>
                  <a:spcPts val="1600"/>
                </a:spcBef>
                <a:spcAft>
                  <a:spcPts val="1600"/>
                </a:spcAft>
                <a:buNone/>
              </a:pPr>
              <a:r>
                <a:rPr lang="en" sz="1000">
                  <a:solidFill>
                    <a:srgbClr val="FFFFFF"/>
                  </a:solidFill>
                  <a:latin typeface="Montserrat"/>
                  <a:ea typeface="Montserrat"/>
                  <a:cs typeface="Montserrat"/>
                  <a:sym typeface="Montserrat"/>
                </a:rPr>
                <a:t>Bayangkan misalnya kamu melihat Google Kalender di ponsel, beberapa menit kemudian kamu memeriksanya di browser. Ketika mereka terlihat dan berperilaku berbeda, kamu mungkin akan </a:t>
              </a:r>
              <a:r>
                <a:rPr lang="en" sz="1000">
                  <a:solidFill>
                    <a:srgbClr val="FFFFFF"/>
                  </a:solidFill>
                  <a:latin typeface="Montserrat"/>
                  <a:ea typeface="Montserrat"/>
                  <a:cs typeface="Montserrat"/>
                  <a:sym typeface="Montserrat"/>
                </a:rPr>
                <a:t>bingung</a:t>
              </a:r>
              <a:r>
                <a:rPr lang="en" sz="1000">
                  <a:solidFill>
                    <a:srgbClr val="FFFFFF"/>
                  </a:solidFill>
                  <a:latin typeface="Montserrat"/>
                  <a:ea typeface="Montserrat"/>
                  <a:cs typeface="Montserrat"/>
                  <a:sym typeface="Montserrat"/>
                </a:rPr>
                <a:t> dan bahkan sedikit </a:t>
              </a:r>
              <a:r>
                <a:rPr lang="en" sz="1000">
                  <a:solidFill>
                    <a:srgbClr val="FFFFFF"/>
                  </a:solidFill>
                  <a:latin typeface="Montserrat"/>
                  <a:ea typeface="Montserrat"/>
                  <a:cs typeface="Montserrat"/>
                  <a:sym typeface="Montserrat"/>
                </a:rPr>
                <a:t>frustasi</a:t>
              </a:r>
              <a:r>
                <a:rPr lang="en" sz="1000">
                  <a:solidFill>
                    <a:srgbClr val="FFFFFF"/>
                  </a:solidFill>
                  <a:latin typeface="Montserrat"/>
                  <a:ea typeface="Montserrat"/>
                  <a:cs typeface="Montserrat"/>
                  <a:sym typeface="Montserrat"/>
                </a:rPr>
                <a:t>.</a:t>
              </a:r>
              <a:endParaRPr sz="1000">
                <a:solidFill>
                  <a:srgbClr val="FFFFFF"/>
                </a:solidFill>
                <a:latin typeface="Montserrat"/>
                <a:ea typeface="Montserrat"/>
                <a:cs typeface="Montserrat"/>
                <a:sym typeface="Montserrat"/>
              </a:endParaRPr>
            </a:p>
          </p:txBody>
        </p:sp>
      </p:grpSp>
      <p:grpSp>
        <p:nvGrpSpPr>
          <p:cNvPr id="175" name="Google Shape;175;p24"/>
          <p:cNvGrpSpPr/>
          <p:nvPr/>
        </p:nvGrpSpPr>
        <p:grpSpPr>
          <a:xfrm>
            <a:off x="5196344" y="1845200"/>
            <a:ext cx="261571" cy="282492"/>
            <a:chOff x="4858109" y="2631368"/>
            <a:chExt cx="316442" cy="315000"/>
          </a:xfrm>
        </p:grpSpPr>
        <p:sp>
          <p:nvSpPr>
            <p:cNvPr id="176" name="Google Shape;176;p24"/>
            <p:cNvSpPr/>
            <p:nvPr/>
          </p:nvSpPr>
          <p:spPr>
            <a:xfrm>
              <a:off x="4859551" y="2631368"/>
              <a:ext cx="315000" cy="3150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aleway"/>
                <a:ea typeface="Raleway"/>
                <a:cs typeface="Raleway"/>
                <a:sym typeface="Raleway"/>
              </a:endParaRPr>
            </a:p>
          </p:txBody>
        </p:sp>
        <p:sp>
          <p:nvSpPr>
            <p:cNvPr id="177" name="Google Shape;177;p24"/>
            <p:cNvSpPr/>
            <p:nvPr/>
          </p:nvSpPr>
          <p:spPr>
            <a:xfrm>
              <a:off x="4858109" y="2739300"/>
              <a:ext cx="239100" cy="99000"/>
            </a:xfrm>
            <a:prstGeom prst="rightArrow">
              <a:avLst>
                <a:gd fmla="val 32020" name="adj1"/>
                <a:gd fmla="val 66970" name="adj2"/>
              </a:avLst>
            </a:prstGeom>
            <a:solidFill>
              <a:srgbClr val="7335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br>
                <a:rPr lang="en">
                  <a:latin typeface="Raleway"/>
                  <a:ea typeface="Raleway"/>
                  <a:cs typeface="Raleway"/>
                  <a:sym typeface="Raleway"/>
                </a:rPr>
              </a:br>
              <a:endParaRPr>
                <a:latin typeface="Raleway"/>
                <a:ea typeface="Raleway"/>
                <a:cs typeface="Raleway"/>
                <a:sym typeface="Raleway"/>
              </a:endParaRPr>
            </a:p>
          </p:txBody>
        </p:sp>
      </p:grpSp>
      <p:sp>
        <p:nvSpPr>
          <p:cNvPr id="178" name="Google Shape;178;p24"/>
          <p:cNvSpPr/>
          <p:nvPr/>
        </p:nvSpPr>
        <p:spPr>
          <a:xfrm>
            <a:off x="3024478" y="1845248"/>
            <a:ext cx="260400" cy="2826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aleway"/>
              <a:ea typeface="Raleway"/>
              <a:cs typeface="Raleway"/>
              <a:sym typeface="Raleway"/>
            </a:endParaRPr>
          </a:p>
        </p:txBody>
      </p:sp>
      <p:sp>
        <p:nvSpPr>
          <p:cNvPr id="179" name="Google Shape;179;p24"/>
          <p:cNvSpPr/>
          <p:nvPr/>
        </p:nvSpPr>
        <p:spPr>
          <a:xfrm>
            <a:off x="3029560" y="1941994"/>
            <a:ext cx="197700" cy="88800"/>
          </a:xfrm>
          <a:prstGeom prst="rightArrow">
            <a:avLst>
              <a:gd fmla="val 32020" name="adj1"/>
              <a:gd fmla="val 66970" name="adj2"/>
            </a:avLst>
          </a:prstGeom>
          <a:solidFill>
            <a:srgbClr val="7335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br>
              <a:rPr lang="en">
                <a:latin typeface="Raleway"/>
                <a:ea typeface="Raleway"/>
                <a:cs typeface="Raleway"/>
                <a:sym typeface="Raleway"/>
              </a:rPr>
            </a:br>
            <a:endParaRPr>
              <a:latin typeface="Raleway"/>
              <a:ea typeface="Raleway"/>
              <a:cs typeface="Raleway"/>
              <a:sym typeface="Raleway"/>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2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85" name="Google Shape;185;p2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Mengapa design system penting?</a:t>
            </a:r>
            <a:endParaRPr/>
          </a:p>
        </p:txBody>
      </p:sp>
      <p:sp>
        <p:nvSpPr>
          <p:cNvPr id="186" name="Google Shape;186;p25"/>
          <p:cNvSpPr txBox="1"/>
          <p:nvPr/>
        </p:nvSpPr>
        <p:spPr>
          <a:xfrm>
            <a:off x="487625" y="1355400"/>
            <a:ext cx="4149600" cy="24327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Kita analogikan ya gaiss, agar lebih mudah.</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Misalkan kamu ingin membuat 20 buku gambar, bagaimana caranya? cara pertama kamu menggambar buku gambar itu satu persatu hingga menjadi 20 buku gambar.</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Cara kedua adalah kamu menggambar 1 buku gambar kemudian kamu duplikat dengan cara photocopy sebanyak 19 buku gambar yang ditotal menjadi 20 buku gambar.</a:t>
            </a:r>
            <a:endParaRPr sz="1000">
              <a:solidFill>
                <a:schemeClr val="dk1"/>
              </a:solidFill>
              <a:latin typeface="Montserrat"/>
              <a:ea typeface="Montserrat"/>
              <a:cs typeface="Montserrat"/>
              <a:sym typeface="Montserrat"/>
            </a:endParaRPr>
          </a:p>
        </p:txBody>
      </p:sp>
      <p:pic>
        <p:nvPicPr>
          <p:cNvPr id="187" name="Google Shape;187;p25"/>
          <p:cNvPicPr preferRelativeResize="0"/>
          <p:nvPr/>
        </p:nvPicPr>
        <p:blipFill>
          <a:blip r:embed="rId3">
            <a:alphaModFix/>
          </a:blip>
          <a:stretch>
            <a:fillRect/>
          </a:stretch>
        </p:blipFill>
        <p:spPr>
          <a:xfrm>
            <a:off x="5567775" y="909851"/>
            <a:ext cx="3095524" cy="365604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2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93" name="Google Shape;193;p2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Mengapa design system penting?</a:t>
            </a:r>
            <a:endParaRPr/>
          </a:p>
        </p:txBody>
      </p:sp>
      <p:sp>
        <p:nvSpPr>
          <p:cNvPr id="194" name="Google Shape;194;p26"/>
          <p:cNvSpPr txBox="1"/>
          <p:nvPr/>
        </p:nvSpPr>
        <p:spPr>
          <a:xfrm>
            <a:off x="487625" y="1355400"/>
            <a:ext cx="4149600" cy="24327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Dari analogi tadi dapat dilihat perbedaannya, bahwa dengan mesin photocopy kamu dapat lebih mudah dan hemat waktu dibandingkan dengan menggambar satu per satu menjadi 20 buku gambar.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Design system adalah mesin photocopy yang membuat pekerjaanmu menjadi lebih mudah, cepat, dan komposisi yang sama.</a:t>
            </a:r>
            <a:endParaRPr sz="1000">
              <a:solidFill>
                <a:schemeClr val="dk1"/>
              </a:solidFill>
              <a:latin typeface="Montserrat"/>
              <a:ea typeface="Montserrat"/>
              <a:cs typeface="Montserrat"/>
              <a:sym typeface="Montserrat"/>
            </a:endParaRPr>
          </a:p>
        </p:txBody>
      </p:sp>
      <p:pic>
        <p:nvPicPr>
          <p:cNvPr id="195" name="Google Shape;195;p26"/>
          <p:cNvPicPr preferRelativeResize="0"/>
          <p:nvPr/>
        </p:nvPicPr>
        <p:blipFill>
          <a:blip r:embed="rId3">
            <a:alphaModFix/>
          </a:blip>
          <a:stretch>
            <a:fillRect/>
          </a:stretch>
        </p:blipFill>
        <p:spPr>
          <a:xfrm>
            <a:off x="5611200" y="914400"/>
            <a:ext cx="2060710" cy="388619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2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01" name="Google Shape;201;p2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Mengapa design system penting?</a:t>
            </a:r>
            <a:endParaRPr/>
          </a:p>
        </p:txBody>
      </p:sp>
      <p:sp>
        <p:nvSpPr>
          <p:cNvPr id="202" name="Google Shape;202;p27"/>
          <p:cNvSpPr txBox="1"/>
          <p:nvPr/>
        </p:nvSpPr>
        <p:spPr>
          <a:xfrm>
            <a:off x="487625" y="1355400"/>
            <a:ext cx="4149600" cy="24327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Kamu tidak perlu lagi mengulangi pekerjaan dengan berulang dari nol. Karena design system memiliki fungsi yang sama, kamu hanya perlu membuat satu kali komponen yang nantinya dapat digunakan secara berulangan tanpa adanya perbedaan.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Ketika kamu ingin membuat suatu produk yang baru tidak perlu membuat komponen tersebut dari nol, kamu hanya perlu mengambil komponen yang sudah dibuat di dalam design system.</a:t>
            </a:r>
            <a:endParaRPr sz="1000">
              <a:solidFill>
                <a:schemeClr val="dk1"/>
              </a:solidFill>
              <a:latin typeface="Montserrat"/>
              <a:ea typeface="Montserrat"/>
              <a:cs typeface="Montserrat"/>
              <a:sym typeface="Montserrat"/>
            </a:endParaRPr>
          </a:p>
        </p:txBody>
      </p:sp>
      <p:pic>
        <p:nvPicPr>
          <p:cNvPr id="203" name="Google Shape;203;p27"/>
          <p:cNvPicPr preferRelativeResize="0"/>
          <p:nvPr/>
        </p:nvPicPr>
        <p:blipFill>
          <a:blip r:embed="rId3">
            <a:alphaModFix/>
          </a:blip>
          <a:stretch>
            <a:fillRect/>
          </a:stretch>
        </p:blipFill>
        <p:spPr>
          <a:xfrm>
            <a:off x="5084000" y="908574"/>
            <a:ext cx="3426749" cy="332635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09" name="Google Shape;209;p2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Design system</a:t>
            </a:r>
            <a:endParaRPr>
              <a:latin typeface="Montserrat"/>
              <a:ea typeface="Montserrat"/>
              <a:cs typeface="Montserrat"/>
              <a:sym typeface="Montserrat"/>
            </a:endParaRPr>
          </a:p>
        </p:txBody>
      </p:sp>
      <p:sp>
        <p:nvSpPr>
          <p:cNvPr id="210" name="Google Shape;210;p28"/>
          <p:cNvSpPr txBox="1"/>
          <p:nvPr/>
        </p:nvSpPr>
        <p:spPr>
          <a:xfrm>
            <a:off x="487625" y="1185675"/>
            <a:ext cx="41496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Clr>
                <a:schemeClr val="dk1"/>
              </a:buClr>
              <a:buSzPts val="1100"/>
              <a:buFont typeface="Arial"/>
              <a:buNone/>
            </a:pPr>
            <a:r>
              <a:rPr b="1" lang="en" sz="1600">
                <a:solidFill>
                  <a:srgbClr val="743673"/>
                </a:solidFill>
                <a:highlight>
                  <a:schemeClr val="lt1"/>
                </a:highlight>
                <a:latin typeface="Montserrat"/>
                <a:ea typeface="Montserrat"/>
                <a:cs typeface="Montserrat"/>
                <a:sym typeface="Montserrat"/>
              </a:rPr>
              <a:t>Mari kita ingat lagi, design system terdiri dari apa aja?</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Nah, seperti yang udah kita bahas kemarin, dua elemen yang menyusun design system yaitu </a:t>
            </a:r>
            <a:r>
              <a:rPr b="1" lang="en" sz="1000">
                <a:solidFill>
                  <a:schemeClr val="dk1"/>
                </a:solidFill>
                <a:latin typeface="Montserrat"/>
                <a:ea typeface="Montserrat"/>
                <a:cs typeface="Montserrat"/>
                <a:sym typeface="Montserrat"/>
              </a:rPr>
              <a:t>elemen berwujud </a:t>
            </a:r>
            <a:r>
              <a:rPr lang="en" sz="1000">
                <a:solidFill>
                  <a:schemeClr val="dk1"/>
                </a:solidFill>
                <a:latin typeface="Montserrat"/>
                <a:ea typeface="Montserrat"/>
                <a:cs typeface="Montserrat"/>
                <a:sym typeface="Montserrat"/>
              </a:rPr>
              <a:t>dan </a:t>
            </a:r>
            <a:r>
              <a:rPr b="1" lang="en" sz="1000">
                <a:solidFill>
                  <a:schemeClr val="dk1"/>
                </a:solidFill>
                <a:latin typeface="Montserrat"/>
                <a:ea typeface="Montserrat"/>
                <a:cs typeface="Montserrat"/>
                <a:sym typeface="Montserrat"/>
              </a:rPr>
              <a:t>tidak berwujud</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Clr>
                <a:schemeClr val="dk1"/>
              </a:buClr>
              <a:buSzPts val="1100"/>
              <a:buFont typeface="Arial"/>
              <a:buNone/>
            </a:pPr>
            <a:r>
              <a:rPr b="1" lang="en" sz="1000">
                <a:solidFill>
                  <a:schemeClr val="dk1"/>
                </a:solidFill>
                <a:latin typeface="Montserrat"/>
                <a:ea typeface="Montserrat"/>
                <a:cs typeface="Montserrat"/>
                <a:sym typeface="Montserrat"/>
              </a:rPr>
              <a:t>Elemen berwujud </a:t>
            </a:r>
            <a:r>
              <a:rPr lang="en" sz="1000">
                <a:solidFill>
                  <a:schemeClr val="dk1"/>
                </a:solidFill>
                <a:latin typeface="Montserrat"/>
                <a:ea typeface="Montserrat"/>
                <a:cs typeface="Montserrat"/>
                <a:sym typeface="Montserrat"/>
              </a:rPr>
              <a:t>merupakan alat untuk desainer dan developer, misalnya komponen dan pattern.</a:t>
            </a:r>
            <a:endParaRPr sz="10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b="1" lang="en" sz="1000">
                <a:solidFill>
                  <a:schemeClr val="dk1"/>
                </a:solidFill>
                <a:latin typeface="Montserrat"/>
                <a:ea typeface="Montserrat"/>
                <a:cs typeface="Montserrat"/>
                <a:sym typeface="Montserrat"/>
              </a:rPr>
              <a:t>Elemen tidak berwujud </a:t>
            </a:r>
            <a:r>
              <a:rPr lang="en" sz="1000">
                <a:solidFill>
                  <a:schemeClr val="dk1"/>
                </a:solidFill>
                <a:latin typeface="Montserrat"/>
                <a:ea typeface="Montserrat"/>
                <a:cs typeface="Montserrat"/>
                <a:sym typeface="Montserrat"/>
              </a:rPr>
              <a:t>merujuk pada sesuatu yang abstrak, seperti nilai merek, cara kerja bersama, pola pikir, keyakinan bersama, dan sebagainya. Karena tidak berwujud, elemen ini cenderung sulit untuk dikomunikasikan.</a:t>
            </a:r>
            <a:endParaRPr sz="10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000">
              <a:solidFill>
                <a:schemeClr val="dk1"/>
              </a:solidFill>
              <a:latin typeface="Montserrat Medium"/>
              <a:ea typeface="Montserrat Medium"/>
              <a:cs typeface="Montserrat Medium"/>
              <a:sym typeface="Montserrat Medium"/>
            </a:endParaRPr>
          </a:p>
        </p:txBody>
      </p:sp>
      <p:pic>
        <p:nvPicPr>
          <p:cNvPr id="211" name="Google Shape;211;p28"/>
          <p:cNvPicPr preferRelativeResize="0"/>
          <p:nvPr/>
        </p:nvPicPr>
        <p:blipFill>
          <a:blip r:embed="rId3">
            <a:alphaModFix/>
          </a:blip>
          <a:stretch>
            <a:fillRect/>
          </a:stretch>
        </p:blipFill>
        <p:spPr>
          <a:xfrm>
            <a:off x="5229500" y="914400"/>
            <a:ext cx="2901900" cy="388619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2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17" name="Google Shape;217;p2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Design system</a:t>
            </a:r>
            <a:endParaRPr>
              <a:latin typeface="Montserrat"/>
              <a:ea typeface="Montserrat"/>
              <a:cs typeface="Montserrat"/>
              <a:sym typeface="Montserrat"/>
            </a:endParaRPr>
          </a:p>
        </p:txBody>
      </p:sp>
      <p:sp>
        <p:nvSpPr>
          <p:cNvPr id="218" name="Google Shape;218;p29"/>
          <p:cNvSpPr txBox="1"/>
          <p:nvPr/>
        </p:nvSpPr>
        <p:spPr>
          <a:xfrm>
            <a:off x="487625" y="1185675"/>
            <a:ext cx="41496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Pada topik sebelumnya, kita juga udah menyinggung isi design system guideline.</a:t>
            </a:r>
            <a:endParaRPr b="1" sz="1600">
              <a:solidFill>
                <a:srgbClr val="743673"/>
              </a:solidFill>
              <a:highlight>
                <a:schemeClr val="lt1"/>
              </a:highlight>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Design system guideline biasanya terdiri dari lima hal di samping.</a:t>
            </a:r>
            <a:endParaRPr sz="1000">
              <a:solidFill>
                <a:schemeClr val="dk1"/>
              </a:solidFill>
              <a:latin typeface="Montserrat"/>
              <a:ea typeface="Montserrat"/>
              <a:cs typeface="Montserrat"/>
              <a:sym typeface="Montserrat"/>
            </a:endParaRPr>
          </a:p>
          <a:p>
            <a:pPr indent="0" lvl="0" marL="0" rtl="0" algn="just">
              <a:lnSpc>
                <a:spcPct val="115000"/>
              </a:lnSpc>
              <a:spcBef>
                <a:spcPts val="1000"/>
              </a:spcBef>
              <a:spcAft>
                <a:spcPts val="0"/>
              </a:spcAft>
              <a:buNone/>
            </a:pPr>
            <a:r>
              <a:rPr lang="en" sz="1000">
                <a:solidFill>
                  <a:schemeClr val="dk1"/>
                </a:solidFill>
                <a:latin typeface="Montserrat"/>
                <a:ea typeface="Montserrat"/>
                <a:cs typeface="Montserrat"/>
                <a:sym typeface="Montserrat"/>
              </a:rPr>
              <a:t>Nah, kali ini kita akan menggali lebih dalam elemen-elemen yang umumnya terdapat pada poin 3 dan 4. Let’s go, bestie!</a:t>
            </a:r>
            <a:endParaRPr sz="1000">
              <a:solidFill>
                <a:schemeClr val="dk1"/>
              </a:solidFill>
              <a:latin typeface="Montserrat Medium"/>
              <a:ea typeface="Montserrat Medium"/>
              <a:cs typeface="Montserrat Medium"/>
              <a:sym typeface="Montserrat Medium"/>
            </a:endParaRPr>
          </a:p>
        </p:txBody>
      </p:sp>
      <p:pic>
        <p:nvPicPr>
          <p:cNvPr id="219" name="Google Shape;219;p29"/>
          <p:cNvPicPr preferRelativeResize="0"/>
          <p:nvPr/>
        </p:nvPicPr>
        <p:blipFill>
          <a:blip r:embed="rId3">
            <a:alphaModFix/>
          </a:blip>
          <a:stretch>
            <a:fillRect/>
          </a:stretch>
        </p:blipFill>
        <p:spPr>
          <a:xfrm>
            <a:off x="4855150" y="1218726"/>
            <a:ext cx="3821195" cy="3134287"/>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3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Layouts</a:t>
            </a:r>
            <a:endParaRPr>
              <a:latin typeface="Montserrat"/>
              <a:ea typeface="Montserrat"/>
              <a:cs typeface="Montserrat"/>
              <a:sym typeface="Montserrat"/>
            </a:endParaRPr>
          </a:p>
        </p:txBody>
      </p:sp>
      <p:sp>
        <p:nvSpPr>
          <p:cNvPr id="225" name="Google Shape;225;p3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26" name="Google Shape;226;p30"/>
          <p:cNvSpPr txBox="1"/>
          <p:nvPr/>
        </p:nvSpPr>
        <p:spPr>
          <a:xfrm>
            <a:off x="487625" y="1281425"/>
            <a:ext cx="4572000" cy="18870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b="1" lang="en">
                <a:solidFill>
                  <a:schemeClr val="lt1"/>
                </a:solidFill>
                <a:latin typeface="Montserrat"/>
                <a:ea typeface="Montserrat"/>
                <a:cs typeface="Montserrat"/>
                <a:sym typeface="Montserrat"/>
              </a:rPr>
              <a:t>Salah satu cara untuk mencapai konsistensi dalam desain </a:t>
            </a:r>
            <a:r>
              <a:rPr b="1" lang="en">
                <a:solidFill>
                  <a:schemeClr val="lt1"/>
                </a:solidFill>
                <a:latin typeface="Montserrat"/>
                <a:ea typeface="Montserrat"/>
                <a:cs typeface="Montserrat"/>
                <a:sym typeface="Montserrat"/>
              </a:rPr>
              <a:t>adalah</a:t>
            </a:r>
            <a:r>
              <a:rPr b="1" lang="en">
                <a:solidFill>
                  <a:schemeClr val="lt1"/>
                </a:solidFill>
                <a:latin typeface="Montserrat"/>
                <a:ea typeface="Montserrat"/>
                <a:cs typeface="Montserrat"/>
                <a:sym typeface="Montserrat"/>
              </a:rPr>
              <a:t> mengatur elemen berwujud, yakni komponen dan pola.</a:t>
            </a:r>
            <a:endParaRPr b="1">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None/>
            </a:pPr>
            <a:r>
              <a:rPr b="1" lang="en">
                <a:solidFill>
                  <a:schemeClr val="lt1"/>
                </a:solidFill>
                <a:latin typeface="Montserrat"/>
                <a:ea typeface="Montserrat"/>
                <a:cs typeface="Montserrat"/>
                <a:sym typeface="Montserrat"/>
              </a:rPr>
              <a:t>Nah, perlu banget untuk kamu mempelajari satu per satu komponen maupun polanya. Pertama, mari kita kenalan dengan </a:t>
            </a:r>
            <a:r>
              <a:rPr b="1" lang="en">
                <a:solidFill>
                  <a:srgbClr val="F2AB2F"/>
                </a:solidFill>
                <a:latin typeface="Montserrat"/>
                <a:ea typeface="Montserrat"/>
                <a:cs typeface="Montserrat"/>
                <a:sym typeface="Montserrat"/>
              </a:rPr>
              <a:t>layouts</a:t>
            </a:r>
            <a:r>
              <a:rPr b="1" lang="en">
                <a:solidFill>
                  <a:schemeClr val="lt1"/>
                </a:solidFill>
                <a:latin typeface="Montserrat"/>
                <a:ea typeface="Montserrat"/>
                <a:cs typeface="Montserrat"/>
                <a:sym typeface="Montserrat"/>
              </a:rPr>
              <a:t> ~</a:t>
            </a:r>
            <a:endParaRPr>
              <a:solidFill>
                <a:schemeClr val="lt1"/>
              </a:solidFill>
            </a:endParaRPr>
          </a:p>
        </p:txBody>
      </p:sp>
      <p:pic>
        <p:nvPicPr>
          <p:cNvPr id="227" name="Google Shape;227;p30"/>
          <p:cNvPicPr preferRelativeResize="0"/>
          <p:nvPr/>
        </p:nvPicPr>
        <p:blipFill>
          <a:blip r:embed="rId3">
            <a:alphaModFix/>
          </a:blip>
          <a:stretch>
            <a:fillRect/>
          </a:stretch>
        </p:blipFill>
        <p:spPr>
          <a:xfrm>
            <a:off x="5562874" y="914400"/>
            <a:ext cx="2622005" cy="38862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3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33" name="Google Shape;233;p3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Layouts</a:t>
            </a:r>
            <a:endParaRPr>
              <a:latin typeface="Montserrat"/>
              <a:ea typeface="Montserrat"/>
              <a:cs typeface="Montserrat"/>
              <a:sym typeface="Montserrat"/>
            </a:endParaRPr>
          </a:p>
        </p:txBody>
      </p:sp>
      <p:sp>
        <p:nvSpPr>
          <p:cNvPr id="234" name="Google Shape;234;p31"/>
          <p:cNvSpPr txBox="1"/>
          <p:nvPr/>
        </p:nvSpPr>
        <p:spPr>
          <a:xfrm>
            <a:off x="487625" y="1185672"/>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Layouts</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Layouts atau tata letak merupakan template struktural yang mendukung konsistensi antar aplikasi dengan cara menentukan grids, spacing, dan section.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Wilayah layout adalah dasar untuk menyusun pengalaman interaktif.</a:t>
            </a:r>
            <a:endParaRPr sz="1000">
              <a:solidFill>
                <a:schemeClr val="dk1"/>
              </a:solidFill>
              <a:latin typeface="Montserrat Medium"/>
              <a:ea typeface="Montserrat Medium"/>
              <a:cs typeface="Montserrat Medium"/>
              <a:sym typeface="Montserrat Medium"/>
            </a:endParaRPr>
          </a:p>
        </p:txBody>
      </p:sp>
      <p:pic>
        <p:nvPicPr>
          <p:cNvPr id="235" name="Google Shape;235;p31">
            <a:hlinkClick r:id="rId3"/>
          </p:cNvPr>
          <p:cNvPicPr preferRelativeResize="0"/>
          <p:nvPr/>
        </p:nvPicPr>
        <p:blipFill>
          <a:blip r:embed="rId4">
            <a:alphaModFix/>
          </a:blip>
          <a:stretch>
            <a:fillRect/>
          </a:stretch>
        </p:blipFill>
        <p:spPr>
          <a:xfrm>
            <a:off x="4724400" y="1314100"/>
            <a:ext cx="4055626" cy="307197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3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41" name="Google Shape;241;p3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Layouts</a:t>
            </a:r>
            <a:endParaRPr>
              <a:latin typeface="Montserrat"/>
              <a:ea typeface="Montserrat"/>
              <a:cs typeface="Montserrat"/>
              <a:sym typeface="Montserrat"/>
            </a:endParaRPr>
          </a:p>
        </p:txBody>
      </p:sp>
      <p:sp>
        <p:nvSpPr>
          <p:cNvPr id="242" name="Google Shape;242;p32"/>
          <p:cNvSpPr txBox="1"/>
          <p:nvPr/>
        </p:nvSpPr>
        <p:spPr>
          <a:xfrm>
            <a:off x="487625" y="1193125"/>
            <a:ext cx="2643600" cy="10281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Tata letak layar memiliki 3 wilayah utama, yaitu:</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arenR"/>
            </a:pPr>
            <a:r>
              <a:rPr lang="en" sz="1000">
                <a:solidFill>
                  <a:schemeClr val="dk1"/>
                </a:solidFill>
                <a:latin typeface="Montserrat"/>
                <a:ea typeface="Montserrat"/>
                <a:cs typeface="Montserrat"/>
                <a:sym typeface="Montserrat"/>
              </a:rPr>
              <a:t>App bars</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arenR"/>
            </a:pPr>
            <a:r>
              <a:rPr lang="en" sz="1000">
                <a:solidFill>
                  <a:schemeClr val="dk1"/>
                </a:solidFill>
                <a:latin typeface="Montserrat"/>
                <a:ea typeface="Montserrat"/>
                <a:cs typeface="Montserrat"/>
                <a:sym typeface="Montserrat"/>
              </a:rPr>
              <a:t>Navigasi</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arenR"/>
            </a:pPr>
            <a:r>
              <a:rPr lang="en" sz="1000">
                <a:solidFill>
                  <a:schemeClr val="dk1"/>
                </a:solidFill>
                <a:latin typeface="Montserrat"/>
                <a:ea typeface="Montserrat"/>
                <a:cs typeface="Montserrat"/>
                <a:sym typeface="Montserrat"/>
              </a:rPr>
              <a:t>Body</a:t>
            </a:r>
            <a:endParaRPr sz="1000">
              <a:solidFill>
                <a:schemeClr val="dk1"/>
              </a:solidFill>
              <a:latin typeface="Montserrat Medium"/>
              <a:ea typeface="Montserrat Medium"/>
              <a:cs typeface="Montserrat Medium"/>
              <a:sym typeface="Montserrat Medium"/>
            </a:endParaRPr>
          </a:p>
        </p:txBody>
      </p:sp>
      <p:pic>
        <p:nvPicPr>
          <p:cNvPr id="243" name="Google Shape;243;p32">
            <a:hlinkClick r:id="rId3"/>
          </p:cNvPr>
          <p:cNvPicPr preferRelativeResize="0"/>
          <p:nvPr/>
        </p:nvPicPr>
        <p:blipFill rotWithShape="1">
          <a:blip r:embed="rId4">
            <a:alphaModFix/>
          </a:blip>
          <a:srcRect b="0" l="2754" r="12757" t="0"/>
          <a:stretch/>
        </p:blipFill>
        <p:spPr>
          <a:xfrm>
            <a:off x="3725200" y="1127750"/>
            <a:ext cx="4892775" cy="27432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49" name="Google Shape;249;p3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Layouts</a:t>
            </a:r>
            <a:endParaRPr>
              <a:latin typeface="Montserrat"/>
              <a:ea typeface="Montserrat"/>
              <a:cs typeface="Montserrat"/>
              <a:sym typeface="Montserrat"/>
            </a:endParaRPr>
          </a:p>
        </p:txBody>
      </p:sp>
      <p:sp>
        <p:nvSpPr>
          <p:cNvPr id="250" name="Google Shape;250;p33"/>
          <p:cNvSpPr txBox="1"/>
          <p:nvPr/>
        </p:nvSpPr>
        <p:spPr>
          <a:xfrm>
            <a:off x="487625" y="1185675"/>
            <a:ext cx="29226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rgbClr val="F2AB2F"/>
                </a:solidFill>
                <a:latin typeface="Montserrat"/>
                <a:ea typeface="Montserrat"/>
                <a:cs typeface="Montserrat"/>
                <a:sym typeface="Montserrat"/>
              </a:rPr>
              <a:t>1. </a:t>
            </a:r>
            <a:r>
              <a:rPr b="1" lang="en" sz="1600">
                <a:solidFill>
                  <a:srgbClr val="F2AB2F"/>
                </a:solidFill>
                <a:latin typeface="Montserrat"/>
                <a:ea typeface="Montserrat"/>
                <a:cs typeface="Montserrat"/>
                <a:sym typeface="Montserrat"/>
              </a:rPr>
              <a:t>App Bars</a:t>
            </a:r>
            <a:endParaRPr b="1" sz="1600">
              <a:solidFill>
                <a:srgbClr val="F2AB2F"/>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AppBar merupakan salah satu bagian yang umumnya digunakan pada sebuah aplikasi sebagai menu petunjuk untuk memudahkan pengguna aplikasi.</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AppBar biasanya menyediakan tampilan seperti daftar menu, judul aplikasi ataupun tombol-tombol aksi contohnya tombol pencarian, notifikasi ataupun menu lainnya.</a:t>
            </a:r>
            <a:endParaRPr sz="1000">
              <a:solidFill>
                <a:schemeClr val="dk1"/>
              </a:solidFill>
              <a:latin typeface="Montserrat"/>
              <a:ea typeface="Montserrat"/>
              <a:cs typeface="Montserrat"/>
              <a:sym typeface="Montserrat"/>
            </a:endParaRPr>
          </a:p>
        </p:txBody>
      </p:sp>
      <p:pic>
        <p:nvPicPr>
          <p:cNvPr id="251" name="Google Shape;251;p33">
            <a:hlinkClick r:id="rId3"/>
          </p:cNvPr>
          <p:cNvPicPr preferRelativeResize="0"/>
          <p:nvPr/>
        </p:nvPicPr>
        <p:blipFill rotWithShape="1">
          <a:blip r:embed="rId4">
            <a:alphaModFix/>
          </a:blip>
          <a:srcRect b="0" l="2754" r="12757" t="0"/>
          <a:stretch/>
        </p:blipFill>
        <p:spPr>
          <a:xfrm>
            <a:off x="3725200" y="1127750"/>
            <a:ext cx="4892775" cy="27432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3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57" name="Google Shape;257;p3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Layouts</a:t>
            </a:r>
            <a:endParaRPr>
              <a:latin typeface="Montserrat"/>
              <a:ea typeface="Montserrat"/>
              <a:cs typeface="Montserrat"/>
              <a:sym typeface="Montserrat"/>
            </a:endParaRPr>
          </a:p>
        </p:txBody>
      </p:sp>
      <p:sp>
        <p:nvSpPr>
          <p:cNvPr id="258" name="Google Shape;258;p34"/>
          <p:cNvSpPr txBox="1"/>
          <p:nvPr/>
        </p:nvSpPr>
        <p:spPr>
          <a:xfrm>
            <a:off x="490800" y="1185675"/>
            <a:ext cx="29226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rgbClr val="F2AB2F"/>
                </a:solidFill>
                <a:latin typeface="Montserrat"/>
                <a:ea typeface="Montserrat"/>
                <a:cs typeface="Montserrat"/>
                <a:sym typeface="Montserrat"/>
              </a:rPr>
              <a:t>2. Navigasi</a:t>
            </a:r>
            <a:endParaRPr b="1" sz="1600">
              <a:solidFill>
                <a:srgbClr val="F2AB2F"/>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Wilayah navigasi menampung komponen dan elemen visual yang membantu pengguna untuk memberikan arahan antara tujuan dalam aplikasi, atau mengakses tindakan penting.</a:t>
            </a:r>
            <a:endParaRPr sz="1000">
              <a:solidFill>
                <a:schemeClr val="dk1"/>
              </a:solidFill>
              <a:latin typeface="Montserrat Medium"/>
              <a:ea typeface="Montserrat Medium"/>
              <a:cs typeface="Montserrat Medium"/>
              <a:sym typeface="Montserrat Medium"/>
            </a:endParaRPr>
          </a:p>
        </p:txBody>
      </p:sp>
      <p:pic>
        <p:nvPicPr>
          <p:cNvPr id="259" name="Google Shape;259;p34">
            <a:hlinkClick r:id="rId3"/>
          </p:cNvPr>
          <p:cNvPicPr preferRelativeResize="0"/>
          <p:nvPr/>
        </p:nvPicPr>
        <p:blipFill rotWithShape="1">
          <a:blip r:embed="rId4">
            <a:alphaModFix/>
          </a:blip>
          <a:srcRect b="0" l="7755" r="7755" t="0"/>
          <a:stretch/>
        </p:blipFill>
        <p:spPr>
          <a:xfrm>
            <a:off x="3725200" y="1127750"/>
            <a:ext cx="4892775" cy="27432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3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65" name="Google Shape;265;p3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Layouts</a:t>
            </a:r>
            <a:endParaRPr>
              <a:latin typeface="Montserrat"/>
              <a:ea typeface="Montserrat"/>
              <a:cs typeface="Montserrat"/>
              <a:sym typeface="Montserrat"/>
            </a:endParaRPr>
          </a:p>
        </p:txBody>
      </p:sp>
      <p:sp>
        <p:nvSpPr>
          <p:cNvPr id="266" name="Google Shape;266;p35"/>
          <p:cNvSpPr txBox="1"/>
          <p:nvPr/>
        </p:nvSpPr>
        <p:spPr>
          <a:xfrm>
            <a:off x="487625" y="1185675"/>
            <a:ext cx="28419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rgbClr val="F2AB2F"/>
                </a:solidFill>
                <a:latin typeface="Montserrat"/>
                <a:ea typeface="Montserrat"/>
                <a:cs typeface="Montserrat"/>
                <a:sym typeface="Montserrat"/>
              </a:rPr>
              <a:t>3. </a:t>
            </a:r>
            <a:r>
              <a:rPr b="1" lang="en" sz="1600">
                <a:solidFill>
                  <a:srgbClr val="F2AB2F"/>
                </a:solidFill>
                <a:latin typeface="Montserrat"/>
                <a:ea typeface="Montserrat"/>
                <a:cs typeface="Montserrat"/>
                <a:sym typeface="Montserrat"/>
              </a:rPr>
              <a:t>Body</a:t>
            </a:r>
            <a:endParaRPr b="1" sz="1600">
              <a:solidFill>
                <a:srgbClr val="F2AB2F"/>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Wilayah body digunakan untuk menampilkan sebagian besar konten dalam aplikasi. Wilayah ini biasanya berisi komponen seperti daftar, cards, tombol, dan gambar.</a:t>
            </a:r>
            <a:endParaRPr sz="1000">
              <a:solidFill>
                <a:schemeClr val="dk1"/>
              </a:solidFill>
              <a:latin typeface="Montserrat Medium"/>
              <a:ea typeface="Montserrat Medium"/>
              <a:cs typeface="Montserrat Medium"/>
              <a:sym typeface="Montserrat Medium"/>
            </a:endParaRPr>
          </a:p>
        </p:txBody>
      </p:sp>
      <p:pic>
        <p:nvPicPr>
          <p:cNvPr id="267" name="Google Shape;267;p35">
            <a:hlinkClick r:id="rId3"/>
          </p:cNvPr>
          <p:cNvPicPr preferRelativeResize="0"/>
          <p:nvPr/>
        </p:nvPicPr>
        <p:blipFill rotWithShape="1">
          <a:blip r:embed="rId4">
            <a:alphaModFix/>
          </a:blip>
          <a:srcRect b="0" l="2754" r="12757" t="0"/>
          <a:stretch/>
        </p:blipFill>
        <p:spPr>
          <a:xfrm>
            <a:off x="3725200" y="1127750"/>
            <a:ext cx="4892775" cy="27432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3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273" name="Google Shape;273;p3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Layouts</a:t>
            </a:r>
            <a:endParaRPr/>
          </a:p>
        </p:txBody>
      </p:sp>
      <p:sp>
        <p:nvSpPr>
          <p:cNvPr id="274" name="Google Shape;274;p36"/>
          <p:cNvSpPr txBox="1"/>
          <p:nvPr/>
        </p:nvSpPr>
        <p:spPr>
          <a:xfrm>
            <a:off x="487625" y="1526100"/>
            <a:ext cx="4572000" cy="20913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a:solidFill>
                  <a:schemeClr val="lt1"/>
                </a:solidFill>
                <a:latin typeface="Montserrat"/>
                <a:ea typeface="Montserrat"/>
                <a:cs typeface="Montserrat"/>
                <a:sym typeface="Montserrat"/>
              </a:rPr>
              <a:t>Setelah mengetahui wilayah utama tata letak, selanjutnya kita pahami </a:t>
            </a:r>
            <a:r>
              <a:rPr b="1" lang="en">
                <a:solidFill>
                  <a:srgbClr val="F2AB2F"/>
                </a:solidFill>
                <a:latin typeface="Montserrat"/>
                <a:ea typeface="Montserrat"/>
                <a:cs typeface="Montserrat"/>
                <a:sym typeface="Montserrat"/>
              </a:rPr>
              <a:t>prosedur layouting</a:t>
            </a:r>
            <a:r>
              <a:rPr b="1" lang="en">
                <a:solidFill>
                  <a:schemeClr val="lt1"/>
                </a:solidFill>
                <a:latin typeface="Montserrat"/>
                <a:ea typeface="Montserrat"/>
                <a:cs typeface="Montserrat"/>
                <a:sym typeface="Montserrat"/>
              </a:rPr>
              <a:t> agar semakin memudahkan saat memulai desain.</a:t>
            </a:r>
            <a:endParaRPr b="1">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None/>
            </a:pPr>
            <a:r>
              <a:rPr b="1" lang="en">
                <a:solidFill>
                  <a:schemeClr val="lt1"/>
                </a:solidFill>
                <a:latin typeface="Montserrat"/>
                <a:ea typeface="Montserrat"/>
                <a:cs typeface="Montserrat"/>
                <a:sym typeface="Montserrat"/>
              </a:rPr>
              <a:t>Jadi, langkah apa </a:t>
            </a:r>
            <a:r>
              <a:rPr b="1" lang="en">
                <a:solidFill>
                  <a:schemeClr val="lt1"/>
                </a:solidFill>
                <a:latin typeface="Montserrat"/>
                <a:ea typeface="Montserrat"/>
                <a:cs typeface="Montserrat"/>
                <a:sym typeface="Montserrat"/>
              </a:rPr>
              <a:t>saja</a:t>
            </a:r>
            <a:r>
              <a:rPr b="1" lang="en">
                <a:solidFill>
                  <a:schemeClr val="lt1"/>
                </a:solidFill>
                <a:latin typeface="Montserrat"/>
                <a:ea typeface="Montserrat"/>
                <a:cs typeface="Montserrat"/>
                <a:sym typeface="Montserrat"/>
              </a:rPr>
              <a:t> yang perlu dilakukan? Yuk kita simak satu per satu!</a:t>
            </a:r>
            <a:endParaRPr b="1">
              <a:solidFill>
                <a:schemeClr val="lt1"/>
              </a:solidFill>
              <a:latin typeface="Montserrat"/>
              <a:ea typeface="Montserrat"/>
              <a:cs typeface="Montserrat"/>
              <a:sym typeface="Montserrat"/>
            </a:endParaRPr>
          </a:p>
        </p:txBody>
      </p:sp>
      <p:pic>
        <p:nvPicPr>
          <p:cNvPr id="275" name="Google Shape;275;p36"/>
          <p:cNvPicPr preferRelativeResize="0"/>
          <p:nvPr/>
        </p:nvPicPr>
        <p:blipFill>
          <a:blip r:embed="rId3">
            <a:alphaModFix/>
          </a:blip>
          <a:stretch>
            <a:fillRect/>
          </a:stretch>
        </p:blipFill>
        <p:spPr>
          <a:xfrm>
            <a:off x="5420600" y="914400"/>
            <a:ext cx="2658875" cy="38862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3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81" name="Google Shape;281;p3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Layouts</a:t>
            </a:r>
            <a:endParaRPr>
              <a:latin typeface="Montserrat"/>
              <a:ea typeface="Montserrat"/>
              <a:cs typeface="Montserrat"/>
              <a:sym typeface="Montserrat"/>
            </a:endParaRPr>
          </a:p>
        </p:txBody>
      </p:sp>
      <p:sp>
        <p:nvSpPr>
          <p:cNvPr id="282" name="Google Shape;282;p37"/>
          <p:cNvSpPr txBox="1"/>
          <p:nvPr/>
        </p:nvSpPr>
        <p:spPr>
          <a:xfrm>
            <a:off x="685800" y="1185675"/>
            <a:ext cx="26436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Clr>
                <a:schemeClr val="dk1"/>
              </a:buClr>
              <a:buSzPts val="1100"/>
              <a:buFont typeface="Arial"/>
              <a:buNone/>
            </a:pPr>
            <a:r>
              <a:rPr b="1" lang="en" sz="1600">
                <a:solidFill>
                  <a:srgbClr val="F2AB2F"/>
                </a:solidFill>
                <a:latin typeface="Montserrat"/>
                <a:ea typeface="Montserrat"/>
                <a:cs typeface="Montserrat"/>
                <a:sym typeface="Montserrat"/>
              </a:rPr>
              <a:t>Pengelompokan visual</a:t>
            </a:r>
            <a:endParaRPr>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0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Langkah pertama untuk membuat tatanan dalam layout adalah </a:t>
            </a:r>
            <a:r>
              <a:rPr b="1" lang="en" sz="1000">
                <a:solidFill>
                  <a:schemeClr val="dk1"/>
                </a:solidFill>
                <a:latin typeface="Montserrat"/>
                <a:ea typeface="Montserrat"/>
                <a:cs typeface="Montserrat"/>
                <a:sym typeface="Montserrat"/>
              </a:rPr>
              <a:t>pengelompokan visual</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Elemen dalam tata letak yang memiliki konten atau fungsi serupa dapat dikelompokkan bersama dan dipisahkan dari elemen lain.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Misalnya nih, visual berbentuk kotak dimasukkan dalam kelompok yang sama, sedangkan bentuk bulat di kelompok lainnya.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Medium"/>
              <a:ea typeface="Montserrat Medium"/>
              <a:cs typeface="Montserrat Medium"/>
              <a:sym typeface="Montserrat Medium"/>
            </a:endParaRPr>
          </a:p>
        </p:txBody>
      </p:sp>
      <p:pic>
        <p:nvPicPr>
          <p:cNvPr id="283" name="Google Shape;283;p37">
            <a:hlinkClick r:id="rId3"/>
          </p:cNvPr>
          <p:cNvPicPr preferRelativeResize="0"/>
          <p:nvPr/>
        </p:nvPicPr>
        <p:blipFill rotWithShape="1">
          <a:blip r:embed="rId4">
            <a:alphaModFix/>
          </a:blip>
          <a:srcRect b="0" l="7755" r="7755" t="0"/>
          <a:stretch/>
        </p:blipFill>
        <p:spPr>
          <a:xfrm>
            <a:off x="3725200" y="1127750"/>
            <a:ext cx="4892775" cy="27432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3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89" name="Google Shape;289;p3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Layouts</a:t>
            </a:r>
            <a:endParaRPr>
              <a:latin typeface="Montserrat"/>
              <a:ea typeface="Montserrat"/>
              <a:cs typeface="Montserrat"/>
              <a:sym typeface="Montserrat"/>
            </a:endParaRPr>
          </a:p>
        </p:txBody>
      </p:sp>
      <p:sp>
        <p:nvSpPr>
          <p:cNvPr id="290" name="Google Shape;290;p38"/>
          <p:cNvSpPr txBox="1"/>
          <p:nvPr/>
        </p:nvSpPr>
        <p:spPr>
          <a:xfrm>
            <a:off x="685800" y="1185675"/>
            <a:ext cx="28440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rgbClr val="F2AB2F"/>
                </a:solidFill>
                <a:latin typeface="Montserrat"/>
                <a:ea typeface="Montserrat"/>
                <a:cs typeface="Montserrat"/>
                <a:sym typeface="Montserrat"/>
              </a:rPr>
              <a:t>Penahanan</a:t>
            </a:r>
            <a:endParaRPr b="1" sz="1600">
              <a:solidFill>
                <a:srgbClr val="F2AB2F"/>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Setelah </a:t>
            </a:r>
            <a:r>
              <a:rPr b="1" lang="en" sz="1000">
                <a:solidFill>
                  <a:schemeClr val="dk1"/>
                </a:solidFill>
                <a:latin typeface="Montserrat"/>
                <a:ea typeface="Montserrat"/>
                <a:cs typeface="Montserrat"/>
                <a:sym typeface="Montserrat"/>
              </a:rPr>
              <a:t>pengelompokan visual</a:t>
            </a:r>
            <a:r>
              <a:rPr lang="en" sz="1000">
                <a:solidFill>
                  <a:schemeClr val="dk1"/>
                </a:solidFill>
                <a:latin typeface="Montserrat"/>
                <a:ea typeface="Montserrat"/>
                <a:cs typeface="Montserrat"/>
                <a:sym typeface="Montserrat"/>
              </a:rPr>
              <a:t>, selanjutnya perlu mempertimbangkan elemen apa saja yang terkait melalui konteks, seperti gambar dan keterangannya, atau informasi pendukung.</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Elemen-elemen yang terkait secara konteks ini dapat dikelompokkan menggunakan konsep containment atau </a:t>
            </a:r>
            <a:r>
              <a:rPr b="1" lang="en" sz="1000">
                <a:solidFill>
                  <a:schemeClr val="dk1"/>
                </a:solidFill>
                <a:latin typeface="Montserrat"/>
                <a:ea typeface="Montserrat"/>
                <a:cs typeface="Montserrat"/>
                <a:sym typeface="Montserrat"/>
              </a:rPr>
              <a:t>penahanan</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Penahanan diterapkan melalui penciptaan batas-batas antar kelompok.</a:t>
            </a:r>
            <a:endParaRPr sz="1000">
              <a:solidFill>
                <a:schemeClr val="dk1"/>
              </a:solidFill>
              <a:latin typeface="Montserrat Medium"/>
              <a:ea typeface="Montserrat Medium"/>
              <a:cs typeface="Montserrat Medium"/>
              <a:sym typeface="Montserrat Medium"/>
            </a:endParaRPr>
          </a:p>
        </p:txBody>
      </p:sp>
      <p:pic>
        <p:nvPicPr>
          <p:cNvPr id="291" name="Google Shape;291;p38">
            <a:hlinkClick r:id="rId3"/>
          </p:cNvPr>
          <p:cNvPicPr preferRelativeResize="0"/>
          <p:nvPr/>
        </p:nvPicPr>
        <p:blipFill rotWithShape="1">
          <a:blip r:embed="rId4">
            <a:alphaModFix/>
          </a:blip>
          <a:srcRect b="-17384" l="0" r="0" t="0"/>
          <a:stretch/>
        </p:blipFill>
        <p:spPr>
          <a:xfrm>
            <a:off x="3725200" y="1127750"/>
            <a:ext cx="4892774" cy="27432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3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97" name="Google Shape;297;p3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Layouts</a:t>
            </a:r>
            <a:endParaRPr>
              <a:latin typeface="Montserrat"/>
              <a:ea typeface="Montserrat"/>
              <a:cs typeface="Montserrat"/>
              <a:sym typeface="Montserrat"/>
            </a:endParaRPr>
          </a:p>
        </p:txBody>
      </p:sp>
      <p:sp>
        <p:nvSpPr>
          <p:cNvPr id="298" name="Google Shape;298;p39"/>
          <p:cNvSpPr txBox="1"/>
          <p:nvPr/>
        </p:nvSpPr>
        <p:spPr>
          <a:xfrm>
            <a:off x="685800" y="1185675"/>
            <a:ext cx="26436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Ada dua metode penahan, yaitu;</a:t>
            </a:r>
            <a:r>
              <a:rPr lang="en" sz="1000">
                <a:solidFill>
                  <a:schemeClr val="dk1"/>
                </a:solidFill>
                <a:latin typeface="Montserrat"/>
                <a:ea typeface="Montserrat"/>
                <a:cs typeface="Montserrat"/>
                <a:sym typeface="Montserrat"/>
              </a:rPr>
              <a:t> </a:t>
            </a:r>
            <a:endParaRPr sz="10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rgbClr val="F2AB2F"/>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b="1" lang="en" sz="1200">
                <a:solidFill>
                  <a:srgbClr val="F2AB2F"/>
                </a:solidFill>
                <a:latin typeface="Montserrat"/>
                <a:ea typeface="Montserrat"/>
                <a:cs typeface="Montserrat"/>
                <a:sym typeface="Montserrat"/>
              </a:rPr>
              <a:t>1.) </a:t>
            </a:r>
            <a:r>
              <a:rPr b="1" lang="en" sz="1200">
                <a:solidFill>
                  <a:srgbClr val="F2AB2F"/>
                </a:solidFill>
                <a:latin typeface="Montserrat"/>
                <a:ea typeface="Montserrat"/>
                <a:cs typeface="Montserrat"/>
                <a:sym typeface="Montserrat"/>
              </a:rPr>
              <a:t>Implisit, gambar di kiri</a:t>
            </a:r>
            <a:endParaRPr b="1" sz="1200">
              <a:solidFill>
                <a:srgbClr val="F2AB2F"/>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Penahan implisit berarti </a:t>
            </a:r>
            <a:r>
              <a:rPr b="1" lang="en" sz="1000">
                <a:solidFill>
                  <a:schemeClr val="dk1"/>
                </a:solidFill>
                <a:latin typeface="Montserrat"/>
                <a:ea typeface="Montserrat"/>
                <a:cs typeface="Montserrat"/>
                <a:sym typeface="Montserrat"/>
              </a:rPr>
              <a:t>mengurangi ruang terbuka di sekitar elemen terkait dengan mendekatkannya</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Pada saat yang sama, ruang di luar pengelompokan ini ditingkatkan untuk menciptakan batas konseptual yang berbeda.</a:t>
            </a:r>
            <a:endParaRPr sz="1000">
              <a:solidFill>
                <a:schemeClr val="dk1"/>
              </a:solidFill>
              <a:latin typeface="Montserrat Medium"/>
              <a:ea typeface="Montserrat Medium"/>
              <a:cs typeface="Montserrat Medium"/>
              <a:sym typeface="Montserrat Medium"/>
            </a:endParaRPr>
          </a:p>
        </p:txBody>
      </p:sp>
      <p:pic>
        <p:nvPicPr>
          <p:cNvPr id="299" name="Google Shape;299;p39">
            <a:hlinkClick r:id="rId3"/>
          </p:cNvPr>
          <p:cNvPicPr preferRelativeResize="0"/>
          <p:nvPr/>
        </p:nvPicPr>
        <p:blipFill rotWithShape="1">
          <a:blip r:embed="rId4">
            <a:alphaModFix/>
          </a:blip>
          <a:srcRect b="-17384" l="0" r="0" t="0"/>
          <a:stretch/>
        </p:blipFill>
        <p:spPr>
          <a:xfrm>
            <a:off x="3725200" y="1127750"/>
            <a:ext cx="4892774" cy="27432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4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05" name="Google Shape;305;p4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Layouts</a:t>
            </a:r>
            <a:endParaRPr>
              <a:latin typeface="Montserrat"/>
              <a:ea typeface="Montserrat"/>
              <a:cs typeface="Montserrat"/>
              <a:sym typeface="Montserrat"/>
            </a:endParaRPr>
          </a:p>
        </p:txBody>
      </p:sp>
      <p:sp>
        <p:nvSpPr>
          <p:cNvPr id="306" name="Google Shape;306;p40"/>
          <p:cNvSpPr txBox="1"/>
          <p:nvPr/>
        </p:nvSpPr>
        <p:spPr>
          <a:xfrm>
            <a:off x="685800" y="1185675"/>
            <a:ext cx="26436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200">
                <a:solidFill>
                  <a:srgbClr val="F2AB2F"/>
                </a:solidFill>
                <a:latin typeface="Montserrat"/>
                <a:ea typeface="Montserrat"/>
                <a:cs typeface="Montserrat"/>
                <a:sym typeface="Montserrat"/>
              </a:rPr>
              <a:t>2.) </a:t>
            </a:r>
            <a:r>
              <a:rPr b="1" lang="en" sz="1200">
                <a:solidFill>
                  <a:srgbClr val="F2AB2F"/>
                </a:solidFill>
                <a:latin typeface="Montserrat"/>
                <a:ea typeface="Montserrat"/>
                <a:cs typeface="Montserrat"/>
                <a:sym typeface="Montserrat"/>
              </a:rPr>
              <a:t>Eksplisit, gambar di kanan</a:t>
            </a:r>
            <a:endParaRPr b="1" sz="1200">
              <a:solidFill>
                <a:srgbClr val="F2AB2F"/>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Penahanan eksplisit dapat dibuat dengan </a:t>
            </a:r>
            <a:r>
              <a:rPr b="1" lang="en" sz="1000">
                <a:solidFill>
                  <a:schemeClr val="dk1"/>
                </a:solidFill>
                <a:latin typeface="Montserrat"/>
                <a:ea typeface="Montserrat"/>
                <a:cs typeface="Montserrat"/>
                <a:sym typeface="Montserrat"/>
              </a:rPr>
              <a:t>menambahkan garis besar atau tingkat elevasi ke sekelompok elemen terkait</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Misalnya, membuat kartu dari dari gambar dan keterangannya.</a:t>
            </a:r>
            <a:endParaRPr sz="1000">
              <a:solidFill>
                <a:schemeClr val="dk1"/>
              </a:solidFill>
              <a:latin typeface="Montserrat Medium"/>
              <a:ea typeface="Montserrat Medium"/>
              <a:cs typeface="Montserrat Medium"/>
              <a:sym typeface="Montserrat Medium"/>
            </a:endParaRPr>
          </a:p>
        </p:txBody>
      </p:sp>
      <p:pic>
        <p:nvPicPr>
          <p:cNvPr id="307" name="Google Shape;307;p40">
            <a:hlinkClick r:id="rId3"/>
          </p:cNvPr>
          <p:cNvPicPr preferRelativeResize="0"/>
          <p:nvPr/>
        </p:nvPicPr>
        <p:blipFill rotWithShape="1">
          <a:blip r:embed="rId4">
            <a:alphaModFix/>
          </a:blip>
          <a:srcRect b="-17384" l="0" r="0" t="0"/>
          <a:stretch/>
        </p:blipFill>
        <p:spPr>
          <a:xfrm>
            <a:off x="3725200" y="1127750"/>
            <a:ext cx="4892774" cy="27432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4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Colour System</a:t>
            </a:r>
            <a:endParaRPr>
              <a:latin typeface="Montserrat"/>
              <a:ea typeface="Montserrat"/>
              <a:cs typeface="Montserrat"/>
              <a:sym typeface="Montserrat"/>
            </a:endParaRPr>
          </a:p>
        </p:txBody>
      </p:sp>
      <p:sp>
        <p:nvSpPr>
          <p:cNvPr id="313" name="Google Shape;313;p4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14" name="Google Shape;314;p41"/>
          <p:cNvSpPr txBox="1"/>
          <p:nvPr/>
        </p:nvSpPr>
        <p:spPr>
          <a:xfrm>
            <a:off x="487625" y="1380450"/>
            <a:ext cx="4572000" cy="23826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b="1" lang="en">
                <a:solidFill>
                  <a:schemeClr val="lt1"/>
                </a:solidFill>
                <a:latin typeface="Montserrat"/>
                <a:ea typeface="Montserrat"/>
                <a:cs typeface="Montserrat"/>
                <a:sym typeface="Montserrat"/>
              </a:rPr>
              <a:t>Katakanlah layouting adalah menata letak-letak tanaman di sebuah taman. Kini, kita perlu memikirkan nuansa taman seperti apa yang ingin diberikan melalui warna-warna tumbuhannya.</a:t>
            </a:r>
            <a:endParaRPr b="1">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None/>
            </a:pPr>
            <a:r>
              <a:rPr b="1" lang="en">
                <a:solidFill>
                  <a:schemeClr val="lt1"/>
                </a:solidFill>
                <a:latin typeface="Montserrat"/>
                <a:ea typeface="Montserrat"/>
                <a:cs typeface="Montserrat"/>
                <a:sym typeface="Montserrat"/>
              </a:rPr>
              <a:t>Nah, agar pemilihan warna sesuai dengan keinginanmu atau klien, kita perlu mengenal </a:t>
            </a:r>
            <a:r>
              <a:rPr b="1" lang="en">
                <a:solidFill>
                  <a:srgbClr val="F2AB2F"/>
                </a:solidFill>
                <a:latin typeface="Montserrat"/>
                <a:ea typeface="Montserrat"/>
                <a:cs typeface="Montserrat"/>
                <a:sym typeface="Montserrat"/>
              </a:rPr>
              <a:t>colour system</a:t>
            </a:r>
            <a:r>
              <a:rPr b="1" lang="en">
                <a:solidFill>
                  <a:schemeClr val="lt1"/>
                </a:solidFill>
                <a:latin typeface="Montserrat"/>
                <a:ea typeface="Montserrat"/>
                <a:cs typeface="Montserrat"/>
                <a:sym typeface="Montserrat"/>
              </a:rPr>
              <a:t>.</a:t>
            </a:r>
            <a:endParaRPr b="1">
              <a:solidFill>
                <a:schemeClr val="lt1"/>
              </a:solidFill>
              <a:latin typeface="Montserrat"/>
              <a:ea typeface="Montserrat"/>
              <a:cs typeface="Montserrat"/>
              <a:sym typeface="Montserrat"/>
            </a:endParaRPr>
          </a:p>
        </p:txBody>
      </p:sp>
      <p:pic>
        <p:nvPicPr>
          <p:cNvPr id="315" name="Google Shape;315;p41"/>
          <p:cNvPicPr preferRelativeResize="0"/>
          <p:nvPr/>
        </p:nvPicPr>
        <p:blipFill>
          <a:blip r:embed="rId3">
            <a:alphaModFix/>
          </a:blip>
          <a:stretch>
            <a:fillRect/>
          </a:stretch>
        </p:blipFill>
        <p:spPr>
          <a:xfrm>
            <a:off x="5257800" y="914400"/>
            <a:ext cx="3366744" cy="3886199"/>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4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21" name="Google Shape;321;p4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Colour system</a:t>
            </a:r>
            <a:endParaRPr>
              <a:latin typeface="Montserrat"/>
              <a:ea typeface="Montserrat"/>
              <a:cs typeface="Montserrat"/>
              <a:sym typeface="Montserrat"/>
            </a:endParaRPr>
          </a:p>
        </p:txBody>
      </p:sp>
      <p:sp>
        <p:nvSpPr>
          <p:cNvPr id="322" name="Google Shape;322;p42"/>
          <p:cNvSpPr txBox="1"/>
          <p:nvPr/>
        </p:nvSpPr>
        <p:spPr>
          <a:xfrm>
            <a:off x="487625" y="1185675"/>
            <a:ext cx="39513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Apa itu colour system?</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Colour system atau sistem warna membantu kamu menerapkan warna ke UI dengan standar yang sama.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Dalam sistem ini, kamu memilih warna primer dan sekunder untuk mewakili merek klien atau produk milikmu. Varian gelap dan terang dari setiap warna kemudian dapat diterapkan ke UI dengan cara yang dibedakan.</a:t>
            </a:r>
            <a:endParaRPr sz="1000">
              <a:solidFill>
                <a:schemeClr val="dk1"/>
              </a:solidFill>
              <a:latin typeface="Montserrat Medium"/>
              <a:ea typeface="Montserrat Medium"/>
              <a:cs typeface="Montserrat Medium"/>
              <a:sym typeface="Montserrat Medium"/>
            </a:endParaRPr>
          </a:p>
        </p:txBody>
      </p:sp>
      <p:pic>
        <p:nvPicPr>
          <p:cNvPr id="323" name="Google Shape;323;p42"/>
          <p:cNvPicPr preferRelativeResize="0"/>
          <p:nvPr/>
        </p:nvPicPr>
        <p:blipFill>
          <a:blip r:embed="rId3">
            <a:alphaModFix/>
          </a:blip>
          <a:stretch>
            <a:fillRect/>
          </a:stretch>
        </p:blipFill>
        <p:spPr>
          <a:xfrm>
            <a:off x="4724400" y="1185675"/>
            <a:ext cx="4034901" cy="33596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4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29" name="Google Shape;329;p4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Colour system</a:t>
            </a:r>
            <a:endParaRPr>
              <a:latin typeface="Montserrat"/>
              <a:ea typeface="Montserrat"/>
              <a:cs typeface="Montserrat"/>
              <a:sym typeface="Montserrat"/>
            </a:endParaRPr>
          </a:p>
        </p:txBody>
      </p:sp>
      <p:sp>
        <p:nvSpPr>
          <p:cNvPr id="330" name="Google Shape;330;p43"/>
          <p:cNvSpPr txBox="1"/>
          <p:nvPr/>
        </p:nvSpPr>
        <p:spPr>
          <a:xfrm>
            <a:off x="685800" y="1185675"/>
            <a:ext cx="26436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rgbClr val="733572"/>
                </a:solidFill>
                <a:latin typeface="Montserrat"/>
                <a:ea typeface="Montserrat"/>
                <a:cs typeface="Montserrat"/>
                <a:sym typeface="Montserrat"/>
              </a:rPr>
              <a:t>Mari kita amati gambar di samping</a:t>
            </a:r>
            <a:endParaRPr b="1" sz="1600">
              <a:solidFill>
                <a:srgbClr val="733572"/>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Tema warna dirancang agar harmonis, memastikan teks dapat terbaca jelas, dan membedakan elemen serta permukaan UI satu sama lain.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Nah, gambar di samping merupakan contoh warna primer, sekunder, dan varian gelap-terang.</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Warna primer</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Warna sekunder</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Varian gelap dan terang</a:t>
            </a:r>
            <a:endParaRPr sz="1000">
              <a:solidFill>
                <a:schemeClr val="dk1"/>
              </a:solidFill>
              <a:latin typeface="Montserrat Medium"/>
              <a:ea typeface="Montserrat Medium"/>
              <a:cs typeface="Montserrat Medium"/>
              <a:sym typeface="Montserrat Medium"/>
            </a:endParaRPr>
          </a:p>
        </p:txBody>
      </p:sp>
      <p:pic>
        <p:nvPicPr>
          <p:cNvPr id="331" name="Google Shape;331;p43">
            <a:hlinkClick r:id="rId3"/>
          </p:cNvPr>
          <p:cNvPicPr preferRelativeResize="0"/>
          <p:nvPr/>
        </p:nvPicPr>
        <p:blipFill rotWithShape="1">
          <a:blip r:embed="rId4">
            <a:alphaModFix/>
          </a:blip>
          <a:srcRect b="0" l="5413" r="5404" t="0"/>
          <a:stretch/>
        </p:blipFill>
        <p:spPr>
          <a:xfrm>
            <a:off x="3725200" y="1127750"/>
            <a:ext cx="4892775" cy="2743201"/>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4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37" name="Google Shape;337;p4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Colour system</a:t>
            </a:r>
            <a:endParaRPr>
              <a:latin typeface="Montserrat"/>
              <a:ea typeface="Montserrat"/>
              <a:cs typeface="Montserrat"/>
              <a:sym typeface="Montserrat"/>
            </a:endParaRPr>
          </a:p>
        </p:txBody>
      </p:sp>
      <p:sp>
        <p:nvSpPr>
          <p:cNvPr id="338" name="Google Shape;338;p44"/>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Membuat colour system</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Membuat colour system tidaklah rumit, hanya saja </a:t>
            </a:r>
            <a:r>
              <a:rPr b="1" lang="en" sz="1000">
                <a:solidFill>
                  <a:schemeClr val="dk1"/>
                </a:solidFill>
                <a:latin typeface="Montserrat"/>
                <a:ea typeface="Montserrat"/>
                <a:cs typeface="Montserrat"/>
                <a:sym typeface="Montserrat"/>
              </a:rPr>
              <a:t>memerlukan penyesuaian dengan brand dan direksi yang telah ada dalam produk.</a:t>
            </a:r>
            <a:endParaRPr b="1"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Kalau kamu masih awam dengan urusan warna, kita bisa cek nih beberapa situs setelah ini untuk mengetahui cara bermain-main dengan warna dan memilih sesuai kebutuhan desainmu.</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Yuk kita cekidott ~</a:t>
            </a:r>
            <a:endParaRPr sz="1000">
              <a:solidFill>
                <a:schemeClr val="dk1"/>
              </a:solidFill>
              <a:latin typeface="Montserrat Medium"/>
              <a:ea typeface="Montserrat Medium"/>
              <a:cs typeface="Montserrat Medium"/>
              <a:sym typeface="Montserrat Medium"/>
            </a:endParaRPr>
          </a:p>
        </p:txBody>
      </p:sp>
      <p:pic>
        <p:nvPicPr>
          <p:cNvPr id="339" name="Google Shape;339;p44"/>
          <p:cNvPicPr preferRelativeResize="0"/>
          <p:nvPr/>
        </p:nvPicPr>
        <p:blipFill>
          <a:blip r:embed="rId3">
            <a:alphaModFix/>
          </a:blip>
          <a:stretch>
            <a:fillRect/>
          </a:stretch>
        </p:blipFill>
        <p:spPr>
          <a:xfrm>
            <a:off x="4953650" y="914400"/>
            <a:ext cx="3428338" cy="3886199"/>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4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45" name="Google Shape;345;p4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Colour system</a:t>
            </a:r>
            <a:endParaRPr>
              <a:latin typeface="Montserrat"/>
              <a:ea typeface="Montserrat"/>
              <a:cs typeface="Montserrat"/>
              <a:sym typeface="Montserrat"/>
            </a:endParaRPr>
          </a:p>
        </p:txBody>
      </p:sp>
      <p:sp>
        <p:nvSpPr>
          <p:cNvPr id="346" name="Google Shape;346;p45"/>
          <p:cNvSpPr txBox="1"/>
          <p:nvPr/>
        </p:nvSpPr>
        <p:spPr>
          <a:xfrm>
            <a:off x="685800" y="1185675"/>
            <a:ext cx="26436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Clr>
                <a:schemeClr val="dk1"/>
              </a:buClr>
              <a:buSzPts val="1100"/>
              <a:buFont typeface="Arial"/>
              <a:buNone/>
            </a:pPr>
            <a:r>
              <a:rPr b="1" lang="en" sz="1600">
                <a:solidFill>
                  <a:srgbClr val="743673"/>
                </a:solidFill>
                <a:highlight>
                  <a:schemeClr val="lt1"/>
                </a:highlight>
                <a:latin typeface="Montserrat"/>
                <a:ea typeface="Montserrat"/>
                <a:cs typeface="Montserrat"/>
                <a:sym typeface="Montserrat"/>
              </a:rPr>
              <a:t>Coolors.co</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Coolors adalah generator skema warna berbasis web yang memungkinkan desainer untuk membuat, menyimpan, berbagi, dan mengekspor palet warna untuk desain UI/UX mereka.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Memiliki interface yang sederhana dan guideline untuk menggunakannya, bisa dibilang kalau Coolors memudahkan pemula bermain dengan warna primer, sekunder, serta variasi gelap dan terang.</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p:txBody>
      </p:sp>
      <p:pic>
        <p:nvPicPr>
          <p:cNvPr id="347" name="Google Shape;347;p45"/>
          <p:cNvPicPr preferRelativeResize="0"/>
          <p:nvPr/>
        </p:nvPicPr>
        <p:blipFill rotWithShape="1">
          <a:blip r:embed="rId3">
            <a:alphaModFix/>
          </a:blip>
          <a:srcRect b="0" l="-1098" r="292" t="0"/>
          <a:stretch/>
        </p:blipFill>
        <p:spPr>
          <a:xfrm>
            <a:off x="3725200" y="1127750"/>
            <a:ext cx="5205499" cy="2743199"/>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4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53" name="Google Shape;353;p4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Colour system</a:t>
            </a:r>
            <a:endParaRPr>
              <a:latin typeface="Montserrat"/>
              <a:ea typeface="Montserrat"/>
              <a:cs typeface="Montserrat"/>
              <a:sym typeface="Montserrat"/>
            </a:endParaRPr>
          </a:p>
        </p:txBody>
      </p:sp>
      <p:sp>
        <p:nvSpPr>
          <p:cNvPr id="354" name="Google Shape;354;p46"/>
          <p:cNvSpPr txBox="1"/>
          <p:nvPr/>
        </p:nvSpPr>
        <p:spPr>
          <a:xfrm>
            <a:off x="685800" y="1185675"/>
            <a:ext cx="26436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Canva color </a:t>
            </a:r>
            <a:r>
              <a:rPr b="1" lang="en" sz="1600">
                <a:solidFill>
                  <a:srgbClr val="743673"/>
                </a:solidFill>
                <a:highlight>
                  <a:schemeClr val="lt1"/>
                </a:highlight>
                <a:latin typeface="Montserrat"/>
                <a:ea typeface="Montserrat"/>
                <a:cs typeface="Montserrat"/>
                <a:sym typeface="Montserrat"/>
              </a:rPr>
              <a:t>palette</a:t>
            </a:r>
            <a:r>
              <a:rPr b="1" lang="en" sz="1600">
                <a:solidFill>
                  <a:srgbClr val="743673"/>
                </a:solidFill>
                <a:highlight>
                  <a:schemeClr val="lt1"/>
                </a:highlight>
                <a:latin typeface="Montserrat"/>
                <a:ea typeface="Montserrat"/>
                <a:cs typeface="Montserrat"/>
                <a:sym typeface="Montserrat"/>
              </a:rPr>
              <a:t> generator</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Kalau kamu ingin memakai palet warna yang sesuai dengan gambar favoritmu, kamu bisa mencoba platform satu ini.</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Caranya gampang banget. Kamu tinggal mengunggah gambar tersebut ke Canva Color Palette Generator, kemudian muncul deh palet warnanya.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p:txBody>
      </p:sp>
      <p:pic>
        <p:nvPicPr>
          <p:cNvPr id="355" name="Google Shape;355;p46"/>
          <p:cNvPicPr preferRelativeResize="0"/>
          <p:nvPr/>
        </p:nvPicPr>
        <p:blipFill rotWithShape="1">
          <a:blip r:embed="rId3">
            <a:alphaModFix/>
          </a:blip>
          <a:srcRect b="364" l="-380" r="380" t="1074"/>
          <a:stretch/>
        </p:blipFill>
        <p:spPr>
          <a:xfrm>
            <a:off x="3725200" y="1127750"/>
            <a:ext cx="5205499" cy="2743199"/>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4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61" name="Google Shape;361;p4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Colour system</a:t>
            </a:r>
            <a:endParaRPr>
              <a:latin typeface="Montserrat"/>
              <a:ea typeface="Montserrat"/>
              <a:cs typeface="Montserrat"/>
              <a:sym typeface="Montserrat"/>
            </a:endParaRPr>
          </a:p>
        </p:txBody>
      </p:sp>
      <p:sp>
        <p:nvSpPr>
          <p:cNvPr id="362" name="Google Shape;362;p47"/>
          <p:cNvSpPr txBox="1"/>
          <p:nvPr/>
        </p:nvSpPr>
        <p:spPr>
          <a:xfrm>
            <a:off x="685800" y="1185675"/>
            <a:ext cx="26436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Color Hunt</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Color Hunt merupakan platform pilihan palet warna gratis yang memungkinkan desainer hingga seniman memilih berbagai jenis palet warna.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Mereka menyediakan beberapa filter pencarian seperti palet terbaru, populer, acak, dan koleksi pilihan mereka. Selain itu, kamu juga bisa memilih berdasarkan kategori, seperti vintage, kids, warm, dan sebagainya.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p:txBody>
      </p:sp>
      <p:pic>
        <p:nvPicPr>
          <p:cNvPr id="363" name="Google Shape;363;p47"/>
          <p:cNvPicPr preferRelativeResize="0"/>
          <p:nvPr/>
        </p:nvPicPr>
        <p:blipFill rotWithShape="1">
          <a:blip r:embed="rId3">
            <a:alphaModFix/>
          </a:blip>
          <a:srcRect b="357" l="-380" r="380" t="357"/>
          <a:stretch/>
        </p:blipFill>
        <p:spPr>
          <a:xfrm>
            <a:off x="3725200" y="1127750"/>
            <a:ext cx="5205499" cy="2743199"/>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4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69" name="Google Shape;369;p4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Colour system</a:t>
            </a:r>
            <a:endParaRPr>
              <a:latin typeface="Montserrat"/>
              <a:ea typeface="Montserrat"/>
              <a:cs typeface="Montserrat"/>
              <a:sym typeface="Montserrat"/>
            </a:endParaRPr>
          </a:p>
        </p:txBody>
      </p:sp>
      <p:sp>
        <p:nvSpPr>
          <p:cNvPr id="370" name="Google Shape;370;p48"/>
          <p:cNvSpPr txBox="1"/>
          <p:nvPr/>
        </p:nvSpPr>
        <p:spPr>
          <a:xfrm>
            <a:off x="685800" y="1185675"/>
            <a:ext cx="26436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Colormind</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Colormind memungkinkan kita melihat langsung demo palet warna yang dipilih untuk menyederhanakan proses desain warna.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Kamu tinggal pilih palet warnanya, kemudian tombol-tombol terkait, misalnya navigasi, tab, dan komponen UI lainnya akan ditampilkan dengan menerapkan palet warna pilihanmu tadi.</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p:txBody>
      </p:sp>
      <p:pic>
        <p:nvPicPr>
          <p:cNvPr id="371" name="Google Shape;371;p48"/>
          <p:cNvPicPr preferRelativeResize="0"/>
          <p:nvPr/>
        </p:nvPicPr>
        <p:blipFill rotWithShape="1">
          <a:blip r:embed="rId3">
            <a:alphaModFix/>
          </a:blip>
          <a:srcRect b="445" l="0" r="0" t="445"/>
          <a:stretch/>
        </p:blipFill>
        <p:spPr>
          <a:xfrm>
            <a:off x="3725200" y="1127750"/>
            <a:ext cx="5205499" cy="2743199"/>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4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77" name="Google Shape;377;p4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Colour system</a:t>
            </a:r>
            <a:endParaRPr>
              <a:latin typeface="Montserrat"/>
              <a:ea typeface="Montserrat"/>
              <a:cs typeface="Montserrat"/>
              <a:sym typeface="Montserrat"/>
            </a:endParaRPr>
          </a:p>
        </p:txBody>
      </p:sp>
      <p:sp>
        <p:nvSpPr>
          <p:cNvPr id="378" name="Google Shape;378;p49"/>
          <p:cNvSpPr txBox="1"/>
          <p:nvPr/>
        </p:nvSpPr>
        <p:spPr>
          <a:xfrm>
            <a:off x="685800" y="1185675"/>
            <a:ext cx="30393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WebAIM Contrast Checker</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Platform satu ini cukup membantu kita untuk lebih ramah kepada orang yang buta warna atau memiliki gangguan penglihatan. Sebab, warna dan nuansa cahaya tertentu dapat berefek pada fisik mereka.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Nah, situs ini bertugas memeriksa kontras sehingga membantu kita menentukan aksesibilitas ukuran teks, kontras warna, dan pemeriksaan elemen visual.</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p:txBody>
      </p:sp>
      <p:pic>
        <p:nvPicPr>
          <p:cNvPr id="379" name="Google Shape;379;p49"/>
          <p:cNvPicPr preferRelativeResize="0"/>
          <p:nvPr/>
        </p:nvPicPr>
        <p:blipFill rotWithShape="1">
          <a:blip r:embed="rId3">
            <a:alphaModFix/>
          </a:blip>
          <a:srcRect b="227" l="-380" r="380" t="938"/>
          <a:stretch/>
        </p:blipFill>
        <p:spPr>
          <a:xfrm>
            <a:off x="3725200" y="1127750"/>
            <a:ext cx="5205499" cy="274320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5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Type</a:t>
            </a:r>
            <a:r>
              <a:rPr lang="en">
                <a:latin typeface="Montserrat"/>
                <a:ea typeface="Montserrat"/>
                <a:cs typeface="Montserrat"/>
                <a:sym typeface="Montserrat"/>
              </a:rPr>
              <a:t> System</a:t>
            </a:r>
            <a:endParaRPr>
              <a:latin typeface="Montserrat"/>
              <a:ea typeface="Montserrat"/>
              <a:cs typeface="Montserrat"/>
              <a:sym typeface="Montserrat"/>
            </a:endParaRPr>
          </a:p>
        </p:txBody>
      </p:sp>
      <p:sp>
        <p:nvSpPr>
          <p:cNvPr id="385" name="Google Shape;385;p5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86" name="Google Shape;386;p50"/>
          <p:cNvSpPr txBox="1"/>
          <p:nvPr/>
        </p:nvSpPr>
        <p:spPr>
          <a:xfrm>
            <a:off x="487625" y="1380450"/>
            <a:ext cx="4572000" cy="26304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b="1" lang="en">
                <a:solidFill>
                  <a:schemeClr val="lt1"/>
                </a:solidFill>
                <a:latin typeface="Montserrat"/>
                <a:ea typeface="Montserrat"/>
                <a:cs typeface="Montserrat"/>
                <a:sym typeface="Montserrat"/>
              </a:rPr>
              <a:t>Selayaknya layout, colour system juga perlu diperhatikan konsistensinya, ya bestie. </a:t>
            </a:r>
            <a:r>
              <a:rPr b="1" lang="en">
                <a:solidFill>
                  <a:schemeClr val="lt1"/>
                </a:solidFill>
                <a:latin typeface="Montserrat"/>
                <a:ea typeface="Montserrat"/>
                <a:cs typeface="Montserrat"/>
                <a:sym typeface="Montserrat"/>
              </a:rPr>
              <a:t>Mengapa? </a:t>
            </a:r>
            <a:r>
              <a:rPr b="1" lang="en">
                <a:solidFill>
                  <a:schemeClr val="lt1"/>
                </a:solidFill>
                <a:latin typeface="Montserrat"/>
                <a:ea typeface="Montserrat"/>
                <a:cs typeface="Montserrat"/>
                <a:sym typeface="Montserrat"/>
              </a:rPr>
              <a:t>Agar identitas yang ditampilkan semakin kuat. Kalau kata Syahrini, cobalah untuk setia, bestie ~</a:t>
            </a:r>
            <a:endParaRPr b="1">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None/>
            </a:pPr>
            <a:r>
              <a:rPr b="1" lang="en">
                <a:solidFill>
                  <a:schemeClr val="lt1"/>
                </a:solidFill>
                <a:latin typeface="Montserrat"/>
                <a:ea typeface="Montserrat"/>
                <a:cs typeface="Montserrat"/>
                <a:sym typeface="Montserrat"/>
              </a:rPr>
              <a:t>Nah, setelah tata letak dan warna beres, kita perlu membuat </a:t>
            </a:r>
            <a:r>
              <a:rPr b="1" lang="en">
                <a:solidFill>
                  <a:srgbClr val="F2AB2F"/>
                </a:solidFill>
                <a:latin typeface="Montserrat"/>
                <a:ea typeface="Montserrat"/>
                <a:cs typeface="Montserrat"/>
                <a:sym typeface="Montserrat"/>
              </a:rPr>
              <a:t>type system</a:t>
            </a:r>
            <a:r>
              <a:rPr b="1" lang="en">
                <a:solidFill>
                  <a:schemeClr val="lt1"/>
                </a:solidFill>
                <a:latin typeface="Montserrat"/>
                <a:ea typeface="Montserrat"/>
                <a:cs typeface="Montserrat"/>
                <a:sym typeface="Montserrat"/>
              </a:rPr>
              <a:t> nih, sebab visual dalam desain tidak hanya gambar dan bentuk tetapi juga teks. Let’s go!</a:t>
            </a:r>
            <a:endParaRPr b="1">
              <a:solidFill>
                <a:schemeClr val="lt1"/>
              </a:solidFill>
              <a:latin typeface="Montserrat"/>
              <a:ea typeface="Montserrat"/>
              <a:cs typeface="Montserrat"/>
              <a:sym typeface="Montserrat"/>
            </a:endParaRPr>
          </a:p>
        </p:txBody>
      </p:sp>
      <p:pic>
        <p:nvPicPr>
          <p:cNvPr id="387" name="Google Shape;387;p50"/>
          <p:cNvPicPr preferRelativeResize="0"/>
          <p:nvPr/>
        </p:nvPicPr>
        <p:blipFill>
          <a:blip r:embed="rId3">
            <a:alphaModFix/>
          </a:blip>
          <a:stretch>
            <a:fillRect/>
          </a:stretch>
        </p:blipFill>
        <p:spPr>
          <a:xfrm>
            <a:off x="5367725" y="914400"/>
            <a:ext cx="2210612" cy="3886201"/>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5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93" name="Google Shape;393;p5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Type</a:t>
            </a:r>
            <a:r>
              <a:rPr lang="en">
                <a:latin typeface="Montserrat"/>
                <a:ea typeface="Montserrat"/>
                <a:cs typeface="Montserrat"/>
                <a:sym typeface="Montserrat"/>
              </a:rPr>
              <a:t> system</a:t>
            </a:r>
            <a:endParaRPr>
              <a:latin typeface="Montserrat"/>
              <a:ea typeface="Montserrat"/>
              <a:cs typeface="Montserrat"/>
              <a:sym typeface="Montserrat"/>
            </a:endParaRPr>
          </a:p>
        </p:txBody>
      </p:sp>
      <p:sp>
        <p:nvSpPr>
          <p:cNvPr id="394" name="Google Shape;394;p51"/>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Type</a:t>
            </a:r>
            <a:r>
              <a:rPr b="1" lang="en" sz="1600">
                <a:solidFill>
                  <a:srgbClr val="743673"/>
                </a:solidFill>
                <a:highlight>
                  <a:schemeClr val="lt1"/>
                </a:highlight>
                <a:latin typeface="Montserrat"/>
                <a:ea typeface="Montserrat"/>
                <a:cs typeface="Montserrat"/>
                <a:sym typeface="Montserrat"/>
              </a:rPr>
              <a:t> system</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Type system atau sistem tata huruf menggunakan </a:t>
            </a:r>
            <a:r>
              <a:rPr b="1" lang="en" sz="1000">
                <a:solidFill>
                  <a:schemeClr val="dk1"/>
                </a:solidFill>
                <a:latin typeface="Montserrat"/>
                <a:ea typeface="Montserrat"/>
                <a:cs typeface="Montserrat"/>
                <a:sym typeface="Montserrat"/>
              </a:rPr>
              <a:t>tipografi untuk mempresentasikan desain dan konten kamu sejelas dan seefisien mungkin</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Nah, kalau color system membutuhkan serangkaian palet warna, </a:t>
            </a:r>
            <a:r>
              <a:rPr b="1" lang="en" sz="1000">
                <a:solidFill>
                  <a:schemeClr val="dk1"/>
                </a:solidFill>
                <a:latin typeface="Montserrat"/>
                <a:ea typeface="Montserrat"/>
                <a:cs typeface="Montserrat"/>
                <a:sym typeface="Montserrat"/>
              </a:rPr>
              <a:t>type system membutuhkan sebuah type scale </a:t>
            </a:r>
            <a:r>
              <a:rPr lang="en" sz="1000">
                <a:solidFill>
                  <a:schemeClr val="dk1"/>
                </a:solidFill>
                <a:latin typeface="Montserrat"/>
                <a:ea typeface="Montserrat"/>
                <a:cs typeface="Montserrat"/>
                <a:sym typeface="Montserrat"/>
              </a:rPr>
              <a:t>sebagai acuannya nih, gengs.</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Medium"/>
                <a:ea typeface="Montserrat Medium"/>
                <a:cs typeface="Montserrat Medium"/>
                <a:sym typeface="Montserrat Medium"/>
              </a:rPr>
              <a:t> </a:t>
            </a:r>
            <a:endParaRPr sz="1200">
              <a:solidFill>
                <a:schemeClr val="dk1"/>
              </a:solidFill>
              <a:latin typeface="Montserrat Medium"/>
              <a:ea typeface="Montserrat Medium"/>
              <a:cs typeface="Montserrat Medium"/>
              <a:sym typeface="Montserrat Medium"/>
            </a:endParaRPr>
          </a:p>
        </p:txBody>
      </p:sp>
      <p:pic>
        <p:nvPicPr>
          <p:cNvPr id="395" name="Google Shape;395;p51">
            <a:hlinkClick r:id="rId3"/>
          </p:cNvPr>
          <p:cNvPicPr preferRelativeResize="0"/>
          <p:nvPr/>
        </p:nvPicPr>
        <p:blipFill rotWithShape="1">
          <a:blip r:embed="rId4">
            <a:alphaModFix/>
          </a:blip>
          <a:srcRect b="0" l="2491" r="15007" t="0"/>
          <a:stretch/>
        </p:blipFill>
        <p:spPr>
          <a:xfrm>
            <a:off x="5486400" y="1280150"/>
            <a:ext cx="3017524" cy="2743202"/>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5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01" name="Google Shape;401;p5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Type system</a:t>
            </a:r>
            <a:endParaRPr/>
          </a:p>
        </p:txBody>
      </p:sp>
      <p:sp>
        <p:nvSpPr>
          <p:cNvPr id="402" name="Google Shape;402;p52"/>
          <p:cNvSpPr txBox="1"/>
          <p:nvPr/>
        </p:nvSpPr>
        <p:spPr>
          <a:xfrm>
            <a:off x="685800" y="1185675"/>
            <a:ext cx="26436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rgbClr val="733572"/>
                </a:solidFill>
                <a:latin typeface="Montserrat"/>
                <a:ea typeface="Montserrat"/>
                <a:cs typeface="Montserrat"/>
                <a:sym typeface="Montserrat"/>
              </a:rPr>
              <a:t>Tapi, apa itu type scale?</a:t>
            </a:r>
            <a:endParaRPr sz="10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0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Type scale atau typography scale merujuk pada </a:t>
            </a:r>
            <a:r>
              <a:rPr b="1" lang="en" sz="1000">
                <a:solidFill>
                  <a:schemeClr val="dk1"/>
                </a:solidFill>
                <a:latin typeface="Montserrat"/>
                <a:ea typeface="Montserrat"/>
                <a:cs typeface="Montserrat"/>
                <a:sym typeface="Montserrat"/>
              </a:rPr>
              <a:t>skala atau ukuran yang digunakan dalam teks</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Oiya, ukuran tidak hanya mengacu pada ukuran font. Tetapi juga meliputi berat font (misalnya, light, regular, medium), spasi, dan penggunaan huruf besar atau kecil.</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Hal ini penting dipertimbangkan agar font yang digunakan dapat </a:t>
            </a:r>
            <a:r>
              <a:rPr b="1" lang="en" sz="1000">
                <a:solidFill>
                  <a:schemeClr val="dk1"/>
                </a:solidFill>
                <a:latin typeface="Montserrat"/>
                <a:ea typeface="Montserrat"/>
                <a:cs typeface="Montserrat"/>
                <a:sym typeface="Montserrat"/>
              </a:rPr>
              <a:t>mencapai keselarasan berdasarkan rasio</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p:txBody>
      </p:sp>
      <p:pic>
        <p:nvPicPr>
          <p:cNvPr id="403" name="Google Shape;403;p52">
            <a:hlinkClick r:id="rId3"/>
          </p:cNvPr>
          <p:cNvPicPr preferRelativeResize="0"/>
          <p:nvPr/>
        </p:nvPicPr>
        <p:blipFill rotWithShape="1">
          <a:blip r:embed="rId4">
            <a:alphaModFix/>
          </a:blip>
          <a:srcRect b="41933" l="0" r="0" t="-133"/>
          <a:stretch/>
        </p:blipFill>
        <p:spPr>
          <a:xfrm>
            <a:off x="3725200" y="1127750"/>
            <a:ext cx="4892775" cy="274320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5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09" name="Google Shape;409;p5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Type system</a:t>
            </a:r>
            <a:endParaRPr/>
          </a:p>
        </p:txBody>
      </p:sp>
      <p:sp>
        <p:nvSpPr>
          <p:cNvPr id="410" name="Google Shape;410;p53"/>
          <p:cNvSpPr txBox="1"/>
          <p:nvPr/>
        </p:nvSpPr>
        <p:spPr>
          <a:xfrm>
            <a:off x="685800" y="1185675"/>
            <a:ext cx="26436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rgbClr val="733572"/>
                </a:solidFill>
                <a:latin typeface="Montserrat"/>
                <a:ea typeface="Montserrat"/>
                <a:cs typeface="Montserrat"/>
                <a:sym typeface="Montserrat"/>
              </a:rPr>
              <a:t>Mari kita simak contoh satu ini</a:t>
            </a:r>
            <a:endParaRPr sz="10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0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Pada gambar di samping, font Roboto digunakan untuk semua judul, subjudul, isi, dan keterangan.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Namun, dalam penggunaannya didasarkan pada hierarki atau jenjang urutan yang beragam.</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p:txBody>
      </p:sp>
      <p:pic>
        <p:nvPicPr>
          <p:cNvPr id="411" name="Google Shape;411;p53">
            <a:hlinkClick r:id="rId3"/>
          </p:cNvPr>
          <p:cNvPicPr preferRelativeResize="0"/>
          <p:nvPr/>
        </p:nvPicPr>
        <p:blipFill rotWithShape="1">
          <a:blip r:embed="rId4">
            <a:alphaModFix/>
          </a:blip>
          <a:srcRect b="41933" l="0" r="0" t="-133"/>
          <a:stretch/>
        </p:blipFill>
        <p:spPr>
          <a:xfrm>
            <a:off x="3725200" y="1127750"/>
            <a:ext cx="4892775" cy="274320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5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17" name="Google Shape;417;p5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Type system</a:t>
            </a:r>
            <a:endParaRPr>
              <a:latin typeface="Montserrat"/>
              <a:ea typeface="Montserrat"/>
              <a:cs typeface="Montserrat"/>
              <a:sym typeface="Montserrat"/>
            </a:endParaRPr>
          </a:p>
        </p:txBody>
      </p:sp>
      <p:sp>
        <p:nvSpPr>
          <p:cNvPr id="418" name="Google Shape;418;p54"/>
          <p:cNvSpPr txBox="1"/>
          <p:nvPr/>
        </p:nvSpPr>
        <p:spPr>
          <a:xfrm>
            <a:off x="685800" y="1461000"/>
            <a:ext cx="2643600" cy="22215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Dapat kita lihat bahwa hierarki tersebut dikomunikasikan melalui perbedaan berat font (light, regular, medium), ukuran font, spasi, dan penggunaan huruf besar atau kecil.</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Nah, keselarasan rasio itulah yang dapat menciptakan pengalaman tipografi yang padu.</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a:solidFill>
                  <a:schemeClr val="dk1"/>
                </a:solidFill>
                <a:latin typeface="Montserrat"/>
                <a:ea typeface="Montserrat"/>
                <a:cs typeface="Montserrat"/>
                <a:sym typeface="Montserrat"/>
              </a:rPr>
              <a:t>Bayangin</a:t>
            </a:r>
            <a:r>
              <a:rPr lang="en" sz="1000">
                <a:solidFill>
                  <a:schemeClr val="dk1"/>
                </a:solidFill>
                <a:latin typeface="Montserrat"/>
                <a:ea typeface="Montserrat"/>
                <a:cs typeface="Montserrat"/>
                <a:sym typeface="Montserrat"/>
              </a:rPr>
              <a:t> deh, </a:t>
            </a:r>
            <a:r>
              <a:rPr lang="en" sz="700">
                <a:solidFill>
                  <a:schemeClr val="dk1"/>
                </a:solidFill>
                <a:latin typeface="Montserrat"/>
                <a:ea typeface="Montserrat"/>
                <a:cs typeface="Montserrat"/>
                <a:sym typeface="Montserrat"/>
              </a:rPr>
              <a:t>pengguna</a:t>
            </a:r>
            <a:r>
              <a:rPr lang="en" sz="1000">
                <a:solidFill>
                  <a:schemeClr val="dk1"/>
                </a:solidFill>
                <a:latin typeface="Montserrat"/>
                <a:ea typeface="Montserrat"/>
                <a:cs typeface="Montserrat"/>
                <a:sym typeface="Montserrat"/>
              </a:rPr>
              <a:t> akan </a:t>
            </a:r>
            <a:r>
              <a:rPr b="1" lang="en" sz="1000">
                <a:solidFill>
                  <a:schemeClr val="dk1"/>
                </a:solidFill>
                <a:latin typeface="Montserrat"/>
                <a:ea typeface="Montserrat"/>
                <a:cs typeface="Montserrat"/>
                <a:sym typeface="Montserrat"/>
              </a:rPr>
              <a:t>pusing </a:t>
            </a:r>
            <a:r>
              <a:rPr lang="en" sz="1000">
                <a:solidFill>
                  <a:schemeClr val="dk1"/>
                </a:solidFill>
                <a:latin typeface="Montserrat"/>
                <a:ea typeface="Montserrat"/>
                <a:cs typeface="Montserrat"/>
                <a:sym typeface="Montserrat"/>
              </a:rPr>
              <a:t>kan </a:t>
            </a:r>
            <a:r>
              <a:rPr lang="en" sz="1100">
                <a:solidFill>
                  <a:schemeClr val="dk1"/>
                </a:solidFill>
                <a:latin typeface="Montserrat"/>
                <a:ea typeface="Montserrat"/>
                <a:cs typeface="Montserrat"/>
                <a:sym typeface="Montserrat"/>
              </a:rPr>
              <a:t>kalau</a:t>
            </a:r>
            <a:r>
              <a:rPr lang="en" sz="1000">
                <a:solidFill>
                  <a:schemeClr val="dk1"/>
                </a:solidFill>
                <a:latin typeface="Montserrat"/>
                <a:ea typeface="Montserrat"/>
                <a:cs typeface="Montserrat"/>
                <a:sym typeface="Montserrat"/>
              </a:rPr>
              <a:t> desain </a:t>
            </a:r>
            <a:r>
              <a:rPr lang="en" sz="1200">
                <a:solidFill>
                  <a:schemeClr val="dk1"/>
                </a:solidFill>
                <a:latin typeface="Montserrat"/>
                <a:ea typeface="Montserrat"/>
                <a:cs typeface="Montserrat"/>
                <a:sym typeface="Montserrat"/>
              </a:rPr>
              <a:t>teksnya</a:t>
            </a:r>
            <a:r>
              <a:rPr lang="en" sz="1000">
                <a:solidFill>
                  <a:schemeClr val="dk1"/>
                </a:solidFill>
                <a:latin typeface="Montserrat"/>
                <a:ea typeface="Montserrat"/>
                <a:cs typeface="Montserrat"/>
                <a:sym typeface="Montserrat"/>
              </a:rPr>
              <a:t> kaya </a:t>
            </a:r>
            <a:r>
              <a:rPr lang="en" sz="800">
                <a:solidFill>
                  <a:schemeClr val="dk1"/>
                </a:solidFill>
                <a:latin typeface="Montserrat"/>
                <a:ea typeface="Montserrat"/>
                <a:cs typeface="Montserrat"/>
                <a:sym typeface="Montserrat"/>
              </a:rPr>
              <a:t>gini?</a:t>
            </a:r>
            <a:r>
              <a:rPr lang="en" sz="1000">
                <a:solidFill>
                  <a:schemeClr val="dk1"/>
                </a:solidFill>
                <a:latin typeface="Montserrat Medium"/>
                <a:ea typeface="Montserrat Medium"/>
                <a:cs typeface="Montserrat Medium"/>
                <a:sym typeface="Montserrat Medium"/>
              </a:rPr>
              <a:t> </a:t>
            </a:r>
            <a:r>
              <a:rPr lang="en" sz="1000">
                <a:solidFill>
                  <a:schemeClr val="dk1"/>
                </a:solidFill>
                <a:latin typeface="Montserrat"/>
                <a:ea typeface="Montserrat"/>
                <a:cs typeface="Montserrat"/>
                <a:sym typeface="Montserrat"/>
              </a:rPr>
              <a:t>😫</a:t>
            </a:r>
            <a:endParaRPr sz="1000">
              <a:solidFill>
                <a:schemeClr val="dk1"/>
              </a:solidFill>
              <a:latin typeface="Montserrat Medium"/>
              <a:ea typeface="Montserrat Medium"/>
              <a:cs typeface="Montserrat Medium"/>
              <a:sym typeface="Montserrat Medium"/>
            </a:endParaRPr>
          </a:p>
        </p:txBody>
      </p:sp>
      <p:pic>
        <p:nvPicPr>
          <p:cNvPr id="419" name="Google Shape;419;p54">
            <a:hlinkClick r:id="rId3"/>
          </p:cNvPr>
          <p:cNvPicPr preferRelativeResize="0"/>
          <p:nvPr/>
        </p:nvPicPr>
        <p:blipFill rotWithShape="1">
          <a:blip r:embed="rId4">
            <a:alphaModFix/>
          </a:blip>
          <a:srcRect b="41933" l="0" r="0" t="-133"/>
          <a:stretch/>
        </p:blipFill>
        <p:spPr>
          <a:xfrm>
            <a:off x="3725200" y="1127750"/>
            <a:ext cx="4892775" cy="274320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p5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25" name="Google Shape;425;p5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Type system</a:t>
            </a:r>
            <a:endParaRPr>
              <a:latin typeface="Montserrat"/>
              <a:ea typeface="Montserrat"/>
              <a:cs typeface="Montserrat"/>
              <a:sym typeface="Montserrat"/>
            </a:endParaRPr>
          </a:p>
        </p:txBody>
      </p:sp>
      <p:sp>
        <p:nvSpPr>
          <p:cNvPr id="426" name="Google Shape;426;p55"/>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Gimana ya caranya membuat type system?</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Untuk membuat type system, ada tiga langkah dan satu catatan yang bisa dilakukan agar desain kamu lebih maksimal.</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Apa aja ya kira-kira? Yuk kita simak yang satu ini, gengs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p:txBody>
      </p:sp>
      <p:pic>
        <p:nvPicPr>
          <p:cNvPr id="427" name="Google Shape;427;p55">
            <a:hlinkClick r:id="rId3"/>
          </p:cNvPr>
          <p:cNvPicPr preferRelativeResize="0"/>
          <p:nvPr/>
        </p:nvPicPr>
        <p:blipFill rotWithShape="1">
          <a:blip r:embed="rId4">
            <a:alphaModFix/>
          </a:blip>
          <a:srcRect b="0" l="2491" r="15007" t="0"/>
          <a:stretch/>
        </p:blipFill>
        <p:spPr>
          <a:xfrm>
            <a:off x="5486400" y="1280150"/>
            <a:ext cx="3017524" cy="2743202"/>
          </a:xfrm>
          <a:prstGeom prst="rect">
            <a:avLst/>
          </a:prstGeom>
          <a:noFill/>
          <a:ln>
            <a:noFill/>
          </a:ln>
        </p:spPr>
      </p:pic>
      <p:pic>
        <p:nvPicPr>
          <p:cNvPr id="428" name="Google Shape;428;p55">
            <a:hlinkClick r:id="rId5"/>
          </p:cNvPr>
          <p:cNvPicPr preferRelativeResize="0"/>
          <p:nvPr/>
        </p:nvPicPr>
        <p:blipFill rotWithShape="1">
          <a:blip r:embed="rId4">
            <a:alphaModFix/>
          </a:blip>
          <a:srcRect b="0" l="2491" r="15007" t="0"/>
          <a:stretch/>
        </p:blipFill>
        <p:spPr>
          <a:xfrm>
            <a:off x="5486400" y="1280150"/>
            <a:ext cx="3017524" cy="2743202"/>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5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latin typeface="Montserrat"/>
                <a:ea typeface="Montserrat"/>
                <a:cs typeface="Montserrat"/>
                <a:sym typeface="Montserrat"/>
              </a:rPr>
              <a:t>‹#›</a:t>
            </a:fld>
            <a:endParaRPr>
              <a:latin typeface="Montserrat"/>
              <a:ea typeface="Montserrat"/>
              <a:cs typeface="Montserrat"/>
              <a:sym typeface="Montserrat"/>
            </a:endParaRPr>
          </a:p>
        </p:txBody>
      </p:sp>
      <p:sp>
        <p:nvSpPr>
          <p:cNvPr id="434" name="Google Shape;434;p5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Type system</a:t>
            </a:r>
            <a:endParaRPr>
              <a:latin typeface="Montserrat"/>
              <a:ea typeface="Montserrat"/>
              <a:cs typeface="Montserrat"/>
              <a:sym typeface="Montserrat"/>
            </a:endParaRPr>
          </a:p>
        </p:txBody>
      </p:sp>
      <p:pic>
        <p:nvPicPr>
          <p:cNvPr id="435" name="Google Shape;435;p56"/>
          <p:cNvPicPr preferRelativeResize="0"/>
          <p:nvPr/>
        </p:nvPicPr>
        <p:blipFill>
          <a:blip r:embed="rId3">
            <a:alphaModFix/>
          </a:blip>
          <a:stretch>
            <a:fillRect/>
          </a:stretch>
        </p:blipFill>
        <p:spPr>
          <a:xfrm>
            <a:off x="200024" y="1234800"/>
            <a:ext cx="8743951" cy="3005724"/>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5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441" name="Google Shape;441;p5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Type system</a:t>
            </a:r>
            <a:endParaRPr/>
          </a:p>
        </p:txBody>
      </p:sp>
      <p:sp>
        <p:nvSpPr>
          <p:cNvPr id="442" name="Google Shape;442;p57"/>
          <p:cNvSpPr txBox="1"/>
          <p:nvPr/>
        </p:nvSpPr>
        <p:spPr>
          <a:xfrm>
            <a:off x="487625" y="1590400"/>
            <a:ext cx="4572000" cy="16392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b="1" lang="en">
                <a:solidFill>
                  <a:schemeClr val="lt1"/>
                </a:solidFill>
                <a:latin typeface="Montserrat"/>
                <a:ea typeface="Montserrat"/>
                <a:cs typeface="Montserrat"/>
                <a:sym typeface="Montserrat"/>
              </a:rPr>
              <a:t>Seperti halnya palet warna, ada beberapa situs yang bisa membantu kita untuk mempermudah proses pembuatan type system nih, gengs.</a:t>
            </a:r>
            <a:endParaRPr b="1">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None/>
            </a:pPr>
            <a:r>
              <a:rPr b="1" lang="en">
                <a:solidFill>
                  <a:schemeClr val="lt1"/>
                </a:solidFill>
                <a:latin typeface="Montserrat"/>
                <a:ea typeface="Montserrat"/>
                <a:cs typeface="Montserrat"/>
                <a:sym typeface="Montserrat"/>
              </a:rPr>
              <a:t>Ada apa aja ya? Mari kita cekidott ~</a:t>
            </a:r>
            <a:endParaRPr b="1">
              <a:solidFill>
                <a:schemeClr val="lt1"/>
              </a:solidFill>
              <a:latin typeface="Montserrat"/>
              <a:ea typeface="Montserrat"/>
              <a:cs typeface="Montserrat"/>
              <a:sym typeface="Montserrat"/>
            </a:endParaRPr>
          </a:p>
        </p:txBody>
      </p:sp>
      <p:pic>
        <p:nvPicPr>
          <p:cNvPr id="443" name="Google Shape;443;p57"/>
          <p:cNvPicPr preferRelativeResize="0"/>
          <p:nvPr/>
        </p:nvPicPr>
        <p:blipFill>
          <a:blip r:embed="rId3">
            <a:alphaModFix/>
          </a:blip>
          <a:stretch>
            <a:fillRect/>
          </a:stretch>
        </p:blipFill>
        <p:spPr>
          <a:xfrm>
            <a:off x="5318254" y="914401"/>
            <a:ext cx="2384196" cy="3886201"/>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5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49" name="Google Shape;449;p5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Type</a:t>
            </a:r>
            <a:r>
              <a:rPr lang="en">
                <a:latin typeface="Montserrat"/>
                <a:ea typeface="Montserrat"/>
                <a:cs typeface="Montserrat"/>
                <a:sym typeface="Montserrat"/>
              </a:rPr>
              <a:t> system</a:t>
            </a:r>
            <a:endParaRPr>
              <a:latin typeface="Montserrat"/>
              <a:ea typeface="Montserrat"/>
              <a:cs typeface="Montserrat"/>
              <a:sym typeface="Montserrat"/>
            </a:endParaRPr>
          </a:p>
        </p:txBody>
      </p:sp>
      <p:sp>
        <p:nvSpPr>
          <p:cNvPr id="450" name="Google Shape;450;p58"/>
          <p:cNvSpPr txBox="1"/>
          <p:nvPr/>
        </p:nvSpPr>
        <p:spPr>
          <a:xfrm>
            <a:off x="685800" y="1185675"/>
            <a:ext cx="26436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Archetype</a:t>
            </a:r>
            <a:endParaRPr b="1" sz="1600">
              <a:solidFill>
                <a:srgbClr val="743673"/>
              </a:solidFill>
              <a:highlight>
                <a:schemeClr val="lt1"/>
              </a:highlight>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None/>
            </a:pPr>
            <a:r>
              <a:rPr lang="en" sz="1000">
                <a:solidFill>
                  <a:schemeClr val="dk1"/>
                </a:solidFill>
                <a:latin typeface="Montserrat"/>
                <a:ea typeface="Montserrat"/>
                <a:cs typeface="Montserrat"/>
                <a:sym typeface="Montserrat"/>
              </a:rPr>
              <a:t>Archetype membantu kita mencapai hal-hal berikut:</a:t>
            </a:r>
            <a:endParaRPr sz="1000">
              <a:solidFill>
                <a:schemeClr val="dk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292100" lvl="0" marL="457200" rtl="0" algn="l">
              <a:lnSpc>
                <a:spcPct val="115000"/>
              </a:lnSpc>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Memilih pasangan font.</a:t>
            </a:r>
            <a:endParaRPr sz="1000">
              <a:solidFill>
                <a:schemeClr val="dk1"/>
              </a:solidFill>
              <a:latin typeface="Montserrat"/>
              <a:ea typeface="Montserrat"/>
              <a:cs typeface="Montserrat"/>
              <a:sym typeface="Montserrat"/>
            </a:endParaRPr>
          </a:p>
          <a:p>
            <a:pPr indent="-292100" lvl="0" marL="457200" rtl="0" algn="l">
              <a:lnSpc>
                <a:spcPct val="115000"/>
              </a:lnSpc>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Menghemat waktu membuat penataan gaya dan spasi berbasis aturan untuk berbagai elemen tipografi yang diperlukan pada sistem desain (sambil melihat tampilannya di browser).</a:t>
            </a:r>
            <a:endParaRPr sz="1000">
              <a:solidFill>
                <a:schemeClr val="dk1"/>
              </a:solidFill>
              <a:latin typeface="Montserrat"/>
              <a:ea typeface="Montserrat"/>
              <a:cs typeface="Montserrat"/>
              <a:sym typeface="Montserrat"/>
            </a:endParaRPr>
          </a:p>
          <a:p>
            <a:pPr indent="-292100" lvl="0" marL="457200" rtl="0" algn="l">
              <a:lnSpc>
                <a:spcPct val="115000"/>
              </a:lnSpc>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Menghasilkan CSS.</a:t>
            </a:r>
            <a:endParaRPr sz="1000">
              <a:solidFill>
                <a:schemeClr val="dk1"/>
              </a:solidFill>
              <a:latin typeface="Montserrat"/>
              <a:ea typeface="Montserrat"/>
              <a:cs typeface="Montserrat"/>
              <a:sym typeface="Montserrat"/>
            </a:endParaRPr>
          </a:p>
          <a:p>
            <a:pPr indent="-292100" lvl="0" marL="457200" rtl="0" algn="l">
              <a:lnSpc>
                <a:spcPct val="115000"/>
              </a:lnSpc>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Ekspor langsung ke Sketch untuk digunakan sebagai bagian dari dokumen sistem desain kamu.</a:t>
            </a:r>
            <a:endParaRPr sz="1000">
              <a:solidFill>
                <a:schemeClr val="dk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p:txBody>
      </p:sp>
      <p:pic>
        <p:nvPicPr>
          <p:cNvPr id="451" name="Google Shape;451;p58">
            <a:hlinkClick r:id="rId3"/>
          </p:cNvPr>
          <p:cNvPicPr preferRelativeResize="0"/>
          <p:nvPr/>
        </p:nvPicPr>
        <p:blipFill rotWithShape="1">
          <a:blip r:embed="rId4">
            <a:alphaModFix/>
          </a:blip>
          <a:srcRect b="0" l="0" r="0" t="0"/>
          <a:stretch/>
        </p:blipFill>
        <p:spPr>
          <a:xfrm>
            <a:off x="3507275" y="1087600"/>
            <a:ext cx="5205499" cy="297580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5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57" name="Google Shape;457;p5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Type system</a:t>
            </a:r>
            <a:endParaRPr>
              <a:latin typeface="Montserrat"/>
              <a:ea typeface="Montserrat"/>
              <a:cs typeface="Montserrat"/>
              <a:sym typeface="Montserrat"/>
            </a:endParaRPr>
          </a:p>
        </p:txBody>
      </p:sp>
      <p:sp>
        <p:nvSpPr>
          <p:cNvPr id="458" name="Google Shape;458;p59"/>
          <p:cNvSpPr txBox="1"/>
          <p:nvPr/>
        </p:nvSpPr>
        <p:spPr>
          <a:xfrm>
            <a:off x="685800" y="1185675"/>
            <a:ext cx="26436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Type Scale Generator</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Didukung oleh Google Font, type scale generator adalah alat untuk membuat skala tipe dan kode yang sesuai.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Setiap font yang kamu pilih akan secara otomatis diubah ukurannya dan dioptimalkan berdasarkan panduan tipografi Material Design agar mudah dibaca.</a:t>
            </a:r>
            <a:endParaRPr sz="1000">
              <a:solidFill>
                <a:schemeClr val="dk1"/>
              </a:solidFill>
              <a:latin typeface="Montserrat"/>
              <a:ea typeface="Montserrat"/>
              <a:cs typeface="Montserrat"/>
              <a:sym typeface="Montserrat"/>
            </a:endParaRPr>
          </a:p>
        </p:txBody>
      </p:sp>
      <p:pic>
        <p:nvPicPr>
          <p:cNvPr id="459" name="Google Shape;459;p59">
            <a:hlinkClick r:id="rId3"/>
          </p:cNvPr>
          <p:cNvPicPr preferRelativeResize="0"/>
          <p:nvPr/>
        </p:nvPicPr>
        <p:blipFill rotWithShape="1">
          <a:blip r:embed="rId4">
            <a:alphaModFix/>
          </a:blip>
          <a:srcRect b="0" l="-810" r="14544" t="0"/>
          <a:stretch/>
        </p:blipFill>
        <p:spPr>
          <a:xfrm>
            <a:off x="3725200" y="1127750"/>
            <a:ext cx="5205499" cy="2975801"/>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6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65" name="Google Shape;465;p6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Type system</a:t>
            </a:r>
            <a:endParaRPr>
              <a:latin typeface="Montserrat"/>
              <a:ea typeface="Montserrat"/>
              <a:cs typeface="Montserrat"/>
              <a:sym typeface="Montserrat"/>
            </a:endParaRPr>
          </a:p>
        </p:txBody>
      </p:sp>
      <p:sp>
        <p:nvSpPr>
          <p:cNvPr id="466" name="Google Shape;466;p60"/>
          <p:cNvSpPr txBox="1"/>
          <p:nvPr/>
        </p:nvSpPr>
        <p:spPr>
          <a:xfrm>
            <a:off x="685800" y="1185675"/>
            <a:ext cx="26436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Type Scale Calculator</a:t>
            </a:r>
            <a:endParaRPr b="1" sz="1600">
              <a:solidFill>
                <a:srgbClr val="743673"/>
              </a:solidFill>
              <a:highlight>
                <a:schemeClr val="lt1"/>
              </a:highlight>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Type Scale Calculator memberi desainer kemudahan untuk menetapkan elemen tipografi yang berbeda, seperti judul, subjudul, legenda, dan lain-lain dalam urutan.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p:txBody>
      </p:sp>
      <p:pic>
        <p:nvPicPr>
          <p:cNvPr id="467" name="Google Shape;467;p60">
            <a:hlinkClick r:id="rId3"/>
          </p:cNvPr>
          <p:cNvPicPr preferRelativeResize="0"/>
          <p:nvPr/>
        </p:nvPicPr>
        <p:blipFill rotWithShape="1">
          <a:blip r:embed="rId4">
            <a:alphaModFix/>
          </a:blip>
          <a:srcRect b="0" l="3660" r="3669" t="0"/>
          <a:stretch/>
        </p:blipFill>
        <p:spPr>
          <a:xfrm>
            <a:off x="3725200" y="1127750"/>
            <a:ext cx="5205499" cy="2975800"/>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6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73" name="Google Shape;473;p6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Type system</a:t>
            </a:r>
            <a:endParaRPr>
              <a:latin typeface="Montserrat"/>
              <a:ea typeface="Montserrat"/>
              <a:cs typeface="Montserrat"/>
              <a:sym typeface="Montserrat"/>
            </a:endParaRPr>
          </a:p>
        </p:txBody>
      </p:sp>
      <p:sp>
        <p:nvSpPr>
          <p:cNvPr id="474" name="Google Shape;474;p61"/>
          <p:cNvSpPr txBox="1"/>
          <p:nvPr/>
        </p:nvSpPr>
        <p:spPr>
          <a:xfrm>
            <a:off x="685800" y="1185675"/>
            <a:ext cx="26436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Google Fonts</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Dengan Google Fonts, kamu dapat berbagi dan mengintegrasikan tipografi ke dalam proyek desain apapun dengan mulus dimanapun kamu berada.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Semua font dalam katalog Google Fonts gratis dan open-source. Mereka membantu desainer untuk membuat tipografi yang indah dan dapat diakses oleh siapa saja.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p:txBody>
      </p:sp>
      <p:pic>
        <p:nvPicPr>
          <p:cNvPr id="475" name="Google Shape;475;p61">
            <a:hlinkClick r:id="rId3"/>
          </p:cNvPr>
          <p:cNvPicPr preferRelativeResize="0"/>
          <p:nvPr/>
        </p:nvPicPr>
        <p:blipFill rotWithShape="1">
          <a:blip r:embed="rId4">
            <a:alphaModFix/>
          </a:blip>
          <a:srcRect b="0" l="3916" r="3925" t="0"/>
          <a:stretch/>
        </p:blipFill>
        <p:spPr>
          <a:xfrm>
            <a:off x="3725200" y="1127750"/>
            <a:ext cx="5205499" cy="2975801"/>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sp>
        <p:nvSpPr>
          <p:cNvPr id="480" name="Google Shape;480;p6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81" name="Google Shape;481;p6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Type system</a:t>
            </a:r>
            <a:endParaRPr>
              <a:latin typeface="Montserrat"/>
              <a:ea typeface="Montserrat"/>
              <a:cs typeface="Montserrat"/>
              <a:sym typeface="Montserrat"/>
            </a:endParaRPr>
          </a:p>
        </p:txBody>
      </p:sp>
      <p:sp>
        <p:nvSpPr>
          <p:cNvPr id="482" name="Google Shape;482;p62"/>
          <p:cNvSpPr txBox="1"/>
          <p:nvPr/>
        </p:nvSpPr>
        <p:spPr>
          <a:xfrm>
            <a:off x="685800" y="1185675"/>
            <a:ext cx="26436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Font Fabric</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Font Fabric menyediakan koleksi font yang mengagumkan dan menawarkan berbagai gaya unik.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Klien mereka termasuk merek global terkenal seperti Nike, Lipton, Hyundai, CNET, Nestlé, Transavia, dan tim sepak bola nasional Amerika Serikat.</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p:txBody>
      </p:sp>
      <p:pic>
        <p:nvPicPr>
          <p:cNvPr id="483" name="Google Shape;483;p62">
            <a:hlinkClick r:id="rId3"/>
          </p:cNvPr>
          <p:cNvPicPr preferRelativeResize="0"/>
          <p:nvPr/>
        </p:nvPicPr>
        <p:blipFill rotWithShape="1">
          <a:blip r:embed="rId4">
            <a:alphaModFix/>
          </a:blip>
          <a:srcRect b="0" l="3789" r="3789" t="0"/>
          <a:stretch/>
        </p:blipFill>
        <p:spPr>
          <a:xfrm>
            <a:off x="3725200" y="1127750"/>
            <a:ext cx="5205499" cy="2975800"/>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6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89" name="Google Shape;489;p6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Type system</a:t>
            </a:r>
            <a:endParaRPr>
              <a:latin typeface="Montserrat"/>
              <a:ea typeface="Montserrat"/>
              <a:cs typeface="Montserrat"/>
              <a:sym typeface="Montserrat"/>
            </a:endParaRPr>
          </a:p>
        </p:txBody>
      </p:sp>
      <p:sp>
        <p:nvSpPr>
          <p:cNvPr id="490" name="Google Shape;490;p63"/>
          <p:cNvSpPr txBox="1"/>
          <p:nvPr/>
        </p:nvSpPr>
        <p:spPr>
          <a:xfrm>
            <a:off x="685800" y="1185675"/>
            <a:ext cx="26436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Layout Grid Calculator</a:t>
            </a:r>
            <a:endParaRPr b="1" sz="1600">
              <a:solidFill>
                <a:srgbClr val="743673"/>
              </a:solidFill>
              <a:highlight>
                <a:schemeClr val="lt1"/>
              </a:highlight>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Layout Grid Calculator adalah plug-in Adobe InDesign yang membantu kamu membuat grid tipografi dan grid baseline baseline yang sempurna.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Kalkulator ini  juga membantu kamu memilih ukuran font yang tepat dari type scale harmonis.</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p:txBody>
      </p:sp>
      <p:pic>
        <p:nvPicPr>
          <p:cNvPr id="491" name="Google Shape;491;p63">
            <a:hlinkClick r:id="rId3"/>
          </p:cNvPr>
          <p:cNvPicPr preferRelativeResize="0"/>
          <p:nvPr/>
        </p:nvPicPr>
        <p:blipFill rotWithShape="1">
          <a:blip r:embed="rId4">
            <a:alphaModFix/>
          </a:blip>
          <a:srcRect b="0" l="3410" r="3401" t="0"/>
          <a:stretch/>
        </p:blipFill>
        <p:spPr>
          <a:xfrm>
            <a:off x="3725200" y="1127750"/>
            <a:ext cx="5205499" cy="2975801"/>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6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97" name="Google Shape;497;p6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Type system</a:t>
            </a:r>
            <a:endParaRPr>
              <a:latin typeface="Montserrat"/>
              <a:ea typeface="Montserrat"/>
              <a:cs typeface="Montserrat"/>
              <a:sym typeface="Montserrat"/>
            </a:endParaRPr>
          </a:p>
        </p:txBody>
      </p:sp>
      <p:sp>
        <p:nvSpPr>
          <p:cNvPr id="498" name="Google Shape;498;p64"/>
          <p:cNvSpPr txBox="1"/>
          <p:nvPr/>
        </p:nvSpPr>
        <p:spPr>
          <a:xfrm>
            <a:off x="685800" y="1185675"/>
            <a:ext cx="26436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Fontjoy</a:t>
            </a:r>
            <a:endParaRPr b="1" sz="1600">
              <a:solidFill>
                <a:srgbClr val="743673"/>
              </a:solidFill>
              <a:highlight>
                <a:schemeClr val="lt1"/>
              </a:highlight>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Font Joy adalah alat tipografi yang harus disimpan oleh setiap desainer dalam perangkat kreatif mereka.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Menggunakan machine learning, alat ini memberi kebebasan untuk melakukan eksperimen dengan berbagai kombinasi font dan menemukan tipografi kontras terbaik yang saling melengkapi untuk meninggalkan kesan yang baik.</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p:txBody>
      </p:sp>
      <p:pic>
        <p:nvPicPr>
          <p:cNvPr id="499" name="Google Shape;499;p64">
            <a:hlinkClick r:id="rId3"/>
          </p:cNvPr>
          <p:cNvPicPr preferRelativeResize="0"/>
          <p:nvPr/>
        </p:nvPicPr>
        <p:blipFill rotWithShape="1">
          <a:blip r:embed="rId4">
            <a:alphaModFix/>
          </a:blip>
          <a:srcRect b="0" l="3703" r="3703" t="0"/>
          <a:stretch/>
        </p:blipFill>
        <p:spPr>
          <a:xfrm>
            <a:off x="3725200" y="1127750"/>
            <a:ext cx="5205499" cy="2975800"/>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04" name="Google Shape;504;p6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Elevation</a:t>
            </a:r>
            <a:endParaRPr>
              <a:latin typeface="Montserrat"/>
              <a:ea typeface="Montserrat"/>
              <a:cs typeface="Montserrat"/>
              <a:sym typeface="Montserrat"/>
            </a:endParaRPr>
          </a:p>
        </p:txBody>
      </p:sp>
      <p:sp>
        <p:nvSpPr>
          <p:cNvPr id="505" name="Google Shape;505;p6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06" name="Google Shape;506;p65"/>
          <p:cNvSpPr txBox="1"/>
          <p:nvPr/>
        </p:nvSpPr>
        <p:spPr>
          <a:xfrm>
            <a:off x="487625" y="1628250"/>
            <a:ext cx="4572000" cy="16392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b="1" lang="en">
                <a:solidFill>
                  <a:schemeClr val="lt1"/>
                </a:solidFill>
                <a:latin typeface="Montserrat"/>
                <a:ea typeface="Montserrat"/>
                <a:cs typeface="Montserrat"/>
                <a:sym typeface="Montserrat"/>
              </a:rPr>
              <a:t>Nah, ketika ketiga komponen tadi sudah kita pahami prosedur pemilihan dan penggunaannya, kita bisa beralih ke</a:t>
            </a:r>
            <a:r>
              <a:rPr b="1" lang="en">
                <a:solidFill>
                  <a:srgbClr val="F2AB2F"/>
                </a:solidFill>
                <a:latin typeface="Montserrat"/>
                <a:ea typeface="Montserrat"/>
                <a:cs typeface="Montserrat"/>
                <a:sym typeface="Montserrat"/>
              </a:rPr>
              <a:t> elevation</a:t>
            </a:r>
            <a:r>
              <a:rPr b="1" lang="en">
                <a:solidFill>
                  <a:schemeClr val="lt1"/>
                </a:solidFill>
                <a:latin typeface="Montserrat"/>
                <a:ea typeface="Montserrat"/>
                <a:cs typeface="Montserrat"/>
                <a:sym typeface="Montserrat"/>
              </a:rPr>
              <a:t>.</a:t>
            </a:r>
            <a:endParaRPr b="1">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None/>
            </a:pPr>
            <a:r>
              <a:rPr b="1" lang="en">
                <a:solidFill>
                  <a:schemeClr val="lt1"/>
                </a:solidFill>
                <a:latin typeface="Montserrat"/>
                <a:ea typeface="Montserrat"/>
                <a:cs typeface="Montserrat"/>
                <a:sym typeface="Montserrat"/>
              </a:rPr>
              <a:t>Proses ini akan sangat membantu kita untuk menyusun prototipe design system.</a:t>
            </a:r>
            <a:endParaRPr b="1">
              <a:solidFill>
                <a:schemeClr val="lt1"/>
              </a:solidFill>
              <a:latin typeface="Montserrat"/>
              <a:ea typeface="Montserrat"/>
              <a:cs typeface="Montserrat"/>
              <a:sym typeface="Montserrat"/>
            </a:endParaRPr>
          </a:p>
        </p:txBody>
      </p:sp>
      <p:pic>
        <p:nvPicPr>
          <p:cNvPr id="507" name="Google Shape;507;p65"/>
          <p:cNvPicPr preferRelativeResize="0"/>
          <p:nvPr/>
        </p:nvPicPr>
        <p:blipFill>
          <a:blip r:embed="rId3">
            <a:alphaModFix/>
          </a:blip>
          <a:stretch>
            <a:fillRect/>
          </a:stretch>
        </p:blipFill>
        <p:spPr>
          <a:xfrm>
            <a:off x="5595625" y="914400"/>
            <a:ext cx="2394216" cy="3886200"/>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sp>
        <p:nvSpPr>
          <p:cNvPr id="512" name="Google Shape;512;p6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13" name="Google Shape;513;p6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Elevation</a:t>
            </a:r>
            <a:endParaRPr>
              <a:latin typeface="Montserrat"/>
              <a:ea typeface="Montserrat"/>
              <a:cs typeface="Montserrat"/>
              <a:sym typeface="Montserrat"/>
            </a:endParaRPr>
          </a:p>
        </p:txBody>
      </p:sp>
      <p:sp>
        <p:nvSpPr>
          <p:cNvPr id="514" name="Google Shape;514;p66"/>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Apa itu e</a:t>
            </a:r>
            <a:r>
              <a:rPr b="1" lang="en" sz="1600">
                <a:solidFill>
                  <a:srgbClr val="743673"/>
                </a:solidFill>
                <a:highlight>
                  <a:schemeClr val="lt1"/>
                </a:highlight>
                <a:latin typeface="Montserrat"/>
                <a:ea typeface="Montserrat"/>
                <a:cs typeface="Montserrat"/>
                <a:sym typeface="Montserrat"/>
              </a:rPr>
              <a:t>levation?</a:t>
            </a:r>
            <a:endParaRPr b="1" sz="1600">
              <a:solidFill>
                <a:srgbClr val="743673"/>
              </a:solidFill>
              <a:highlight>
                <a:schemeClr val="lt1"/>
              </a:highlight>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Elevation adalah jarak relatif antara dua permukaan sepanjang sumbu z.</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Elevation dapat direfleksikan menggunakan bayangan (shadow) atau isyarat visual lainnya, seperti isian permukaan (surface fills) atau opasitas (opacity).</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p:txBody>
      </p:sp>
      <p:pic>
        <p:nvPicPr>
          <p:cNvPr id="515" name="Google Shape;515;p66">
            <a:hlinkClick r:id="rId3"/>
          </p:cNvPr>
          <p:cNvPicPr preferRelativeResize="0"/>
          <p:nvPr/>
        </p:nvPicPr>
        <p:blipFill rotWithShape="1">
          <a:blip r:embed="rId4">
            <a:alphaModFix/>
          </a:blip>
          <a:srcRect b="0" l="4103" r="30554" t="0"/>
          <a:stretch/>
        </p:blipFill>
        <p:spPr>
          <a:xfrm>
            <a:off x="5486400" y="1280150"/>
            <a:ext cx="3017523" cy="2743202"/>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6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21" name="Google Shape;521;p6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Elevation</a:t>
            </a:r>
            <a:endParaRPr/>
          </a:p>
        </p:txBody>
      </p:sp>
      <p:sp>
        <p:nvSpPr>
          <p:cNvPr id="522" name="Google Shape;522;p67"/>
          <p:cNvSpPr txBox="1"/>
          <p:nvPr/>
        </p:nvSpPr>
        <p:spPr>
          <a:xfrm>
            <a:off x="685800" y="1185675"/>
            <a:ext cx="26436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600">
                <a:solidFill>
                  <a:srgbClr val="733572"/>
                </a:solidFill>
                <a:latin typeface="Montserrat"/>
                <a:ea typeface="Montserrat"/>
                <a:cs typeface="Montserrat"/>
                <a:sym typeface="Montserrat"/>
              </a:rPr>
              <a:t>Coba perhatikan gambar di samping..</a:t>
            </a:r>
            <a:endParaRPr b="1" sz="1600">
              <a:solidFill>
                <a:srgbClr val="733572"/>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000">
              <a:solidFill>
                <a:schemeClr val="dk1"/>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None/>
            </a:pPr>
            <a:r>
              <a:rPr lang="en" sz="1000">
                <a:solidFill>
                  <a:schemeClr val="dk1"/>
                </a:solidFill>
                <a:latin typeface="Montserrat"/>
                <a:ea typeface="Montserrat"/>
                <a:cs typeface="Montserrat"/>
                <a:sym typeface="Montserrat"/>
              </a:rPr>
              <a:t>Nilai pada komponen-komponen contoh di samping:</a:t>
            </a:r>
            <a:endParaRPr sz="1000">
              <a:solidFill>
                <a:schemeClr val="dk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l">
              <a:lnSpc>
                <a:spcPct val="115000"/>
              </a:lnSpc>
              <a:spcBef>
                <a:spcPts val="0"/>
              </a:spcBef>
              <a:spcAft>
                <a:spcPts val="0"/>
              </a:spcAft>
              <a:buNone/>
            </a:pPr>
            <a:r>
              <a:rPr lang="en" sz="1000">
                <a:solidFill>
                  <a:schemeClr val="dk1"/>
                </a:solidFill>
                <a:latin typeface="Montserrat"/>
                <a:ea typeface="Montserrat"/>
                <a:cs typeface="Montserrat"/>
                <a:sym typeface="Montserrat"/>
              </a:rPr>
              <a:t>1. Nav drawer: 16dp</a:t>
            </a:r>
            <a:endParaRPr sz="1000">
              <a:solidFill>
                <a:schemeClr val="dk1"/>
              </a:solidFill>
              <a:latin typeface="Montserrat"/>
              <a:ea typeface="Montserrat"/>
              <a:cs typeface="Montserrat"/>
              <a:sym typeface="Montserrat"/>
            </a:endParaRPr>
          </a:p>
          <a:p>
            <a:pPr indent="0" lvl="0" marL="0" rtl="0" algn="l">
              <a:lnSpc>
                <a:spcPct val="115000"/>
              </a:lnSpc>
              <a:spcBef>
                <a:spcPts val="0"/>
              </a:spcBef>
              <a:spcAft>
                <a:spcPts val="0"/>
              </a:spcAft>
              <a:buNone/>
            </a:pPr>
            <a:r>
              <a:rPr lang="en" sz="1000">
                <a:solidFill>
                  <a:schemeClr val="dk1"/>
                </a:solidFill>
                <a:latin typeface="Montserrat"/>
                <a:ea typeface="Montserrat"/>
                <a:cs typeface="Montserrat"/>
                <a:sym typeface="Montserrat"/>
              </a:rPr>
              <a:t>2. App bar: 4dp</a:t>
            </a:r>
            <a:endParaRPr sz="1000">
              <a:solidFill>
                <a:schemeClr val="dk1"/>
              </a:solidFill>
              <a:latin typeface="Montserrat"/>
              <a:ea typeface="Montserrat"/>
              <a:cs typeface="Montserrat"/>
              <a:sym typeface="Montserrat"/>
            </a:endParaRPr>
          </a:p>
          <a:p>
            <a:pPr indent="0" lvl="0" marL="0" rtl="0" algn="l">
              <a:lnSpc>
                <a:spcPct val="115000"/>
              </a:lnSpc>
              <a:spcBef>
                <a:spcPts val="0"/>
              </a:spcBef>
              <a:spcAft>
                <a:spcPts val="0"/>
              </a:spcAft>
              <a:buNone/>
            </a:pPr>
            <a:r>
              <a:rPr lang="en" sz="1000">
                <a:solidFill>
                  <a:schemeClr val="dk1"/>
                </a:solidFill>
                <a:latin typeface="Montserrat"/>
                <a:ea typeface="Montserrat"/>
                <a:cs typeface="Montserrat"/>
                <a:sym typeface="Montserrat"/>
              </a:rPr>
              <a:t>3. Card: 1dp to 8dp</a:t>
            </a:r>
            <a:endParaRPr sz="1000">
              <a:solidFill>
                <a:schemeClr val="dk1"/>
              </a:solidFill>
              <a:latin typeface="Montserrat"/>
              <a:ea typeface="Montserrat"/>
              <a:cs typeface="Montserrat"/>
              <a:sym typeface="Montserrat"/>
            </a:endParaRPr>
          </a:p>
          <a:p>
            <a:pPr indent="0" lvl="0" marL="0" rtl="0" algn="l">
              <a:lnSpc>
                <a:spcPct val="115000"/>
              </a:lnSpc>
              <a:spcBef>
                <a:spcPts val="0"/>
              </a:spcBef>
              <a:spcAft>
                <a:spcPts val="0"/>
              </a:spcAft>
              <a:buNone/>
            </a:pPr>
            <a:r>
              <a:rPr lang="en" sz="1000">
                <a:solidFill>
                  <a:schemeClr val="dk1"/>
                </a:solidFill>
                <a:latin typeface="Montserrat"/>
                <a:ea typeface="Montserrat"/>
                <a:cs typeface="Montserrat"/>
                <a:sym typeface="Montserrat"/>
              </a:rPr>
              <a:t>4. FAB: 6dp</a:t>
            </a:r>
            <a:endParaRPr sz="1000">
              <a:solidFill>
                <a:schemeClr val="dk1"/>
              </a:solidFill>
              <a:latin typeface="Montserrat"/>
              <a:ea typeface="Montserrat"/>
              <a:cs typeface="Montserrat"/>
              <a:sym typeface="Montserrat"/>
            </a:endParaRPr>
          </a:p>
          <a:p>
            <a:pPr indent="0" lvl="0" marL="0" rtl="0" algn="l">
              <a:lnSpc>
                <a:spcPct val="115000"/>
              </a:lnSpc>
              <a:spcBef>
                <a:spcPts val="0"/>
              </a:spcBef>
              <a:spcAft>
                <a:spcPts val="0"/>
              </a:spcAft>
              <a:buNone/>
            </a:pPr>
            <a:r>
              <a:rPr lang="en" sz="1000">
                <a:solidFill>
                  <a:schemeClr val="dk1"/>
                </a:solidFill>
                <a:latin typeface="Montserrat"/>
                <a:ea typeface="Montserrat"/>
                <a:cs typeface="Montserrat"/>
                <a:sym typeface="Montserrat"/>
              </a:rPr>
              <a:t>5. Button: 2dp to 8dp</a:t>
            </a:r>
            <a:endParaRPr sz="1000">
              <a:solidFill>
                <a:schemeClr val="dk1"/>
              </a:solidFill>
              <a:latin typeface="Montserrat"/>
              <a:ea typeface="Montserrat"/>
              <a:cs typeface="Montserrat"/>
              <a:sym typeface="Montserrat"/>
            </a:endParaRPr>
          </a:p>
          <a:p>
            <a:pPr indent="0" lvl="0" marL="0" rtl="0" algn="l">
              <a:lnSpc>
                <a:spcPct val="115000"/>
              </a:lnSpc>
              <a:spcBef>
                <a:spcPts val="0"/>
              </a:spcBef>
              <a:spcAft>
                <a:spcPts val="0"/>
              </a:spcAft>
              <a:buNone/>
            </a:pPr>
            <a:r>
              <a:rPr lang="en" sz="1000">
                <a:solidFill>
                  <a:schemeClr val="dk1"/>
                </a:solidFill>
                <a:latin typeface="Montserrat"/>
                <a:ea typeface="Montserrat"/>
                <a:cs typeface="Montserrat"/>
                <a:sym typeface="Montserrat"/>
              </a:rPr>
              <a:t>6. Dialog: 24dp</a:t>
            </a:r>
            <a:endParaRPr sz="1000">
              <a:solidFill>
                <a:schemeClr val="dk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p:txBody>
      </p:sp>
      <p:pic>
        <p:nvPicPr>
          <p:cNvPr id="523" name="Google Shape;523;p67">
            <a:hlinkClick r:id="rId3"/>
          </p:cNvPr>
          <p:cNvPicPr preferRelativeResize="0"/>
          <p:nvPr/>
        </p:nvPicPr>
        <p:blipFill rotWithShape="1">
          <a:blip r:embed="rId4">
            <a:alphaModFix/>
          </a:blip>
          <a:srcRect b="5508" l="0" r="0" t="5499"/>
          <a:stretch/>
        </p:blipFill>
        <p:spPr>
          <a:xfrm>
            <a:off x="3725200" y="1127750"/>
            <a:ext cx="4892775" cy="2743200"/>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6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29" name="Google Shape;529;p6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Elevation</a:t>
            </a:r>
            <a:endParaRPr>
              <a:latin typeface="Montserrat"/>
              <a:ea typeface="Montserrat"/>
              <a:cs typeface="Montserrat"/>
              <a:sym typeface="Montserrat"/>
            </a:endParaRPr>
          </a:p>
        </p:txBody>
      </p:sp>
      <p:sp>
        <p:nvSpPr>
          <p:cNvPr id="530" name="Google Shape;530;p68"/>
          <p:cNvSpPr txBox="1"/>
          <p:nvPr/>
        </p:nvSpPr>
        <p:spPr>
          <a:xfrm>
            <a:off x="685800" y="1185675"/>
            <a:ext cx="26436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Permukaan pada ketinggian atau elevation yang sama dapat muncul secara berbeda ketika permukaan lain berada di belakangnya.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Kedua permukaan A dan B berada pada ketinggian 8 dp yang sama. Mereka memberikan bayangan yang berbeda karena Permukaan B berada di depan permukaan lain (C) yang sudah memiliki ketinggian.</a:t>
            </a:r>
            <a:endParaRPr sz="1000">
              <a:solidFill>
                <a:schemeClr val="dk1"/>
              </a:solidFill>
              <a:latin typeface="Montserrat"/>
              <a:ea typeface="Montserrat"/>
              <a:cs typeface="Montserrat"/>
              <a:sym typeface="Montserrat"/>
            </a:endParaRPr>
          </a:p>
          <a:p>
            <a:pPr indent="0" lvl="0" marL="45720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Perbedaan ketinggian antara permukaan (A), (B), dan (C), jika dilihat dari samping.</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p:txBody>
      </p:sp>
      <p:pic>
        <p:nvPicPr>
          <p:cNvPr id="531" name="Google Shape;531;p68">
            <a:hlinkClick r:id="rId3"/>
          </p:cNvPr>
          <p:cNvPicPr preferRelativeResize="0"/>
          <p:nvPr/>
        </p:nvPicPr>
        <p:blipFill rotWithShape="1">
          <a:blip r:embed="rId4">
            <a:alphaModFix/>
          </a:blip>
          <a:srcRect b="0" l="-151" r="10969" t="0"/>
          <a:stretch/>
        </p:blipFill>
        <p:spPr>
          <a:xfrm>
            <a:off x="3725200" y="1127750"/>
            <a:ext cx="4892775" cy="2743199"/>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sp>
        <p:nvSpPr>
          <p:cNvPr id="536" name="Google Shape;536;p6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Product dan system icons</a:t>
            </a:r>
            <a:endParaRPr>
              <a:latin typeface="Montserrat"/>
              <a:ea typeface="Montserrat"/>
              <a:cs typeface="Montserrat"/>
              <a:sym typeface="Montserrat"/>
            </a:endParaRPr>
          </a:p>
        </p:txBody>
      </p:sp>
      <p:sp>
        <p:nvSpPr>
          <p:cNvPr id="537" name="Google Shape;537;p6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38" name="Google Shape;538;p69"/>
          <p:cNvSpPr txBox="1"/>
          <p:nvPr/>
        </p:nvSpPr>
        <p:spPr>
          <a:xfrm>
            <a:off x="487625" y="1626500"/>
            <a:ext cx="4572000" cy="23826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b="1" lang="en">
                <a:solidFill>
                  <a:schemeClr val="lt1"/>
                </a:solidFill>
                <a:latin typeface="Montserrat"/>
                <a:ea typeface="Montserrat"/>
                <a:cs typeface="Montserrat"/>
                <a:sym typeface="Montserrat"/>
              </a:rPr>
              <a:t>Kembali membayangkan taman, ketika tata letaknya beres, warna sudah sesuai, skala besar-kecilnya serta tingkat elevasinya pas, kita perlu memikirkan </a:t>
            </a:r>
            <a:r>
              <a:rPr b="1" lang="en">
                <a:solidFill>
                  <a:srgbClr val="F2AB2F"/>
                </a:solidFill>
                <a:latin typeface="Montserrat"/>
                <a:ea typeface="Montserrat"/>
                <a:cs typeface="Montserrat"/>
                <a:sym typeface="Montserrat"/>
              </a:rPr>
              <a:t>ikon</a:t>
            </a:r>
            <a:r>
              <a:rPr b="1" lang="en">
                <a:solidFill>
                  <a:schemeClr val="lt1"/>
                </a:solidFill>
                <a:latin typeface="Montserrat"/>
                <a:ea typeface="Montserrat"/>
                <a:cs typeface="Montserrat"/>
                <a:sym typeface="Montserrat"/>
              </a:rPr>
              <a:t> dari taman tersebut.</a:t>
            </a:r>
            <a:endParaRPr b="1">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None/>
            </a:pPr>
            <a:r>
              <a:rPr b="1" lang="en">
                <a:solidFill>
                  <a:schemeClr val="lt1"/>
                </a:solidFill>
                <a:latin typeface="Montserrat"/>
                <a:ea typeface="Montserrat"/>
                <a:cs typeface="Montserrat"/>
                <a:sym typeface="Montserrat"/>
              </a:rPr>
              <a:t>Agar para tamu yang mengunjungi taman kita nantinya bisa merasakan pengalaman yang sesuai dengan ekspektasi mereka.</a:t>
            </a:r>
            <a:endParaRPr b="1">
              <a:solidFill>
                <a:schemeClr val="lt1"/>
              </a:solidFill>
              <a:latin typeface="Montserrat"/>
              <a:ea typeface="Montserrat"/>
              <a:cs typeface="Montserrat"/>
              <a:sym typeface="Montserrat"/>
            </a:endParaRPr>
          </a:p>
        </p:txBody>
      </p:sp>
      <p:pic>
        <p:nvPicPr>
          <p:cNvPr id="539" name="Google Shape;539;p69"/>
          <p:cNvPicPr preferRelativeResize="0"/>
          <p:nvPr/>
        </p:nvPicPr>
        <p:blipFill>
          <a:blip r:embed="rId3">
            <a:alphaModFix/>
          </a:blip>
          <a:stretch>
            <a:fillRect/>
          </a:stretch>
        </p:blipFill>
        <p:spPr>
          <a:xfrm>
            <a:off x="5359850" y="914400"/>
            <a:ext cx="2721923" cy="3886199"/>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3" name="Shape 543"/>
        <p:cNvGrpSpPr/>
        <p:nvPr/>
      </p:nvGrpSpPr>
      <p:grpSpPr>
        <a:xfrm>
          <a:off x="0" y="0"/>
          <a:ext cx="0" cy="0"/>
          <a:chOff x="0" y="0"/>
          <a:chExt cx="0" cy="0"/>
        </a:xfrm>
      </p:grpSpPr>
      <p:sp>
        <p:nvSpPr>
          <p:cNvPr id="544" name="Google Shape;544;p7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45" name="Google Shape;545;p7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Product dan system icons</a:t>
            </a:r>
            <a:endParaRPr>
              <a:latin typeface="Montserrat"/>
              <a:ea typeface="Montserrat"/>
              <a:cs typeface="Montserrat"/>
              <a:sym typeface="Montserrat"/>
            </a:endParaRPr>
          </a:p>
        </p:txBody>
      </p:sp>
      <p:sp>
        <p:nvSpPr>
          <p:cNvPr id="546" name="Google Shape;546;p70"/>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Apa itu icons?</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Menurut definisinya, ikon merupakan </a:t>
            </a:r>
            <a:r>
              <a:rPr b="1" lang="en" sz="1000">
                <a:solidFill>
                  <a:schemeClr val="dk1"/>
                </a:solidFill>
                <a:latin typeface="Montserrat"/>
                <a:ea typeface="Montserrat"/>
                <a:cs typeface="Montserrat"/>
                <a:sym typeface="Montserrat"/>
              </a:rPr>
              <a:t>representasi visual dari suatu objek, tindakan, atau ide</a:t>
            </a:r>
            <a:r>
              <a:rPr lang="en" sz="1000">
                <a:solidFill>
                  <a:schemeClr val="dk1"/>
                </a:solidFill>
                <a:latin typeface="Montserrat"/>
                <a:ea typeface="Montserrat"/>
                <a:cs typeface="Montserrat"/>
                <a:sym typeface="Montserrat"/>
              </a:rPr>
              <a:t>. Ikon mengomunikasikan ide inti dan maksud dari suatu produk dengan cara yang sederhana, berani, dan ramah.</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Dalam sebuah design system, icon dibedakan menjadi dua hal, yakni product icon dan system icon.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Memangnya, apa bedanya product icon dan system icon? Yuk kita simak jawabannya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p:txBody>
      </p:sp>
      <p:pic>
        <p:nvPicPr>
          <p:cNvPr id="547" name="Google Shape;547;p70"/>
          <p:cNvPicPr preferRelativeResize="0"/>
          <p:nvPr/>
        </p:nvPicPr>
        <p:blipFill>
          <a:blip r:embed="rId3">
            <a:alphaModFix/>
          </a:blip>
          <a:stretch>
            <a:fillRect/>
          </a:stretch>
        </p:blipFill>
        <p:spPr>
          <a:xfrm>
            <a:off x="5155175" y="914400"/>
            <a:ext cx="3165398" cy="3886201"/>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sp>
        <p:nvSpPr>
          <p:cNvPr id="552" name="Google Shape;552;p7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53" name="Google Shape;553;p7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Product dan system icons</a:t>
            </a:r>
            <a:endParaRPr>
              <a:latin typeface="Montserrat"/>
              <a:ea typeface="Montserrat"/>
              <a:cs typeface="Montserrat"/>
              <a:sym typeface="Montserrat"/>
            </a:endParaRPr>
          </a:p>
        </p:txBody>
      </p:sp>
      <p:sp>
        <p:nvSpPr>
          <p:cNvPr id="554" name="Google Shape;554;p71"/>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Clr>
                <a:schemeClr val="dk1"/>
              </a:buClr>
              <a:buSzPts val="1100"/>
              <a:buFont typeface="Arial"/>
              <a:buNone/>
            </a:pPr>
            <a:r>
              <a:rPr b="1" lang="en" sz="1600">
                <a:solidFill>
                  <a:srgbClr val="743673"/>
                </a:solidFill>
                <a:highlight>
                  <a:schemeClr val="lt1"/>
                </a:highlight>
                <a:latin typeface="Montserrat"/>
                <a:ea typeface="Montserrat"/>
                <a:cs typeface="Montserrat"/>
                <a:sym typeface="Montserrat"/>
              </a:rPr>
              <a:t>Product icon vs System icon</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Ikon produk adalah </a:t>
            </a:r>
            <a:r>
              <a:rPr b="1" lang="en" sz="1000">
                <a:solidFill>
                  <a:schemeClr val="dk1"/>
                </a:solidFill>
                <a:latin typeface="Montserrat"/>
                <a:ea typeface="Montserrat"/>
                <a:cs typeface="Montserrat"/>
                <a:sym typeface="Montserrat"/>
              </a:rPr>
              <a:t>ekspresi visual dari produk, layanan, dan alat merek</a:t>
            </a:r>
            <a:r>
              <a:rPr lang="en" sz="1000">
                <a:solidFill>
                  <a:schemeClr val="dk1"/>
                </a:solidFill>
                <a:latin typeface="Montserrat"/>
                <a:ea typeface="Montserrat"/>
                <a:cs typeface="Montserrat"/>
                <a:sym typeface="Montserrat"/>
              </a:rPr>
              <a:t>. Meskipun setiap ikon berbeda secara visual, semua ikon produk untuk sebuah merek harus disatukan melalui konsep dan eksekusi</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Sedangkan ikon sistem melambangkan </a:t>
            </a:r>
            <a:r>
              <a:rPr b="1" lang="en" sz="1000">
                <a:solidFill>
                  <a:schemeClr val="dk1"/>
                </a:solidFill>
                <a:latin typeface="Montserrat"/>
                <a:ea typeface="Montserrat"/>
                <a:cs typeface="Montserrat"/>
                <a:sym typeface="Montserrat"/>
              </a:rPr>
              <a:t>tindakan umum, file, perangkat, dan direktori</a:t>
            </a:r>
            <a:r>
              <a:rPr lang="en" sz="1000">
                <a:solidFill>
                  <a:schemeClr val="dk1"/>
                </a:solidFill>
                <a:latin typeface="Montserrat"/>
                <a:ea typeface="Montserrat"/>
                <a:cs typeface="Montserrat"/>
                <a:sym typeface="Montserrat"/>
              </a:rPr>
              <a:t>. Sehingga, setiap ikon direduksi menjadi bentuk minimal dan berfokus untuk mengekspresikan karakteristik penting.</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Untuk lebih jelasnya, mari kita lihat bedanya dari contoh setelah ini ya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p:txBody>
      </p:sp>
      <p:pic>
        <p:nvPicPr>
          <p:cNvPr id="555" name="Google Shape;555;p71"/>
          <p:cNvPicPr preferRelativeResize="0"/>
          <p:nvPr/>
        </p:nvPicPr>
        <p:blipFill>
          <a:blip r:embed="rId3">
            <a:alphaModFix/>
          </a:blip>
          <a:stretch>
            <a:fillRect/>
          </a:stretch>
        </p:blipFill>
        <p:spPr>
          <a:xfrm>
            <a:off x="5415050" y="914400"/>
            <a:ext cx="2060710" cy="3886199"/>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9" name="Shape 559"/>
        <p:cNvGrpSpPr/>
        <p:nvPr/>
      </p:nvGrpSpPr>
      <p:grpSpPr>
        <a:xfrm>
          <a:off x="0" y="0"/>
          <a:ext cx="0" cy="0"/>
          <a:chOff x="0" y="0"/>
          <a:chExt cx="0" cy="0"/>
        </a:xfrm>
      </p:grpSpPr>
      <p:sp>
        <p:nvSpPr>
          <p:cNvPr id="560" name="Google Shape;560;p7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61" name="Google Shape;561;p7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Product dan system icons</a:t>
            </a:r>
            <a:endParaRPr>
              <a:latin typeface="Montserrat"/>
              <a:ea typeface="Montserrat"/>
              <a:cs typeface="Montserrat"/>
              <a:sym typeface="Montserrat"/>
            </a:endParaRPr>
          </a:p>
        </p:txBody>
      </p:sp>
      <p:sp>
        <p:nvSpPr>
          <p:cNvPr id="562" name="Google Shape;562;p72"/>
          <p:cNvSpPr txBox="1"/>
          <p:nvPr/>
        </p:nvSpPr>
        <p:spPr>
          <a:xfrm>
            <a:off x="2514600" y="1103172"/>
            <a:ext cx="4114800" cy="255900"/>
          </a:xfrm>
          <a:prstGeom prst="rect">
            <a:avLst/>
          </a:prstGeom>
          <a:noFill/>
          <a:ln>
            <a:noFill/>
          </a:ln>
        </p:spPr>
        <p:txBody>
          <a:bodyPr anchorCtr="0" anchor="t" bIns="0" lIns="0" spcFirstLastPara="1" rIns="0" wrap="square" tIns="0">
            <a:noAutofit/>
          </a:bodyPr>
          <a:lstStyle/>
          <a:p>
            <a:pPr indent="0" lvl="0" marL="0" rtl="0" algn="ctr">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Product icon vs System icon</a:t>
            </a:r>
            <a:endParaRPr sz="1200">
              <a:solidFill>
                <a:schemeClr val="dk1"/>
              </a:solidFill>
              <a:latin typeface="Montserrat Medium"/>
              <a:ea typeface="Montserrat Medium"/>
              <a:cs typeface="Montserrat Medium"/>
              <a:sym typeface="Montserrat Medium"/>
            </a:endParaRPr>
          </a:p>
        </p:txBody>
      </p:sp>
      <p:pic>
        <p:nvPicPr>
          <p:cNvPr id="563" name="Google Shape;563;p72">
            <a:hlinkClick r:id="rId3"/>
          </p:cNvPr>
          <p:cNvPicPr preferRelativeResize="0"/>
          <p:nvPr/>
        </p:nvPicPr>
        <p:blipFill rotWithShape="1">
          <a:blip r:embed="rId4">
            <a:alphaModFix/>
          </a:blip>
          <a:srcRect b="0" l="7755" r="7755" t="0"/>
          <a:stretch/>
        </p:blipFill>
        <p:spPr>
          <a:xfrm>
            <a:off x="952350" y="1560775"/>
            <a:ext cx="2978700" cy="1670051"/>
          </a:xfrm>
          <a:prstGeom prst="rect">
            <a:avLst/>
          </a:prstGeom>
          <a:noFill/>
          <a:ln>
            <a:noFill/>
          </a:ln>
        </p:spPr>
      </p:pic>
      <p:pic>
        <p:nvPicPr>
          <p:cNvPr id="564" name="Google Shape;564;p72">
            <a:hlinkClick r:id="rId5"/>
          </p:cNvPr>
          <p:cNvPicPr preferRelativeResize="0"/>
          <p:nvPr/>
        </p:nvPicPr>
        <p:blipFill rotWithShape="1">
          <a:blip r:embed="rId6">
            <a:alphaModFix/>
          </a:blip>
          <a:srcRect b="0" l="2079" r="2089" t="0"/>
          <a:stretch/>
        </p:blipFill>
        <p:spPr>
          <a:xfrm>
            <a:off x="5257796" y="1560775"/>
            <a:ext cx="2978703" cy="1670051"/>
          </a:xfrm>
          <a:prstGeom prst="rect">
            <a:avLst/>
          </a:prstGeom>
          <a:noFill/>
          <a:ln>
            <a:noFill/>
          </a:ln>
        </p:spPr>
      </p:pic>
      <p:sp>
        <p:nvSpPr>
          <p:cNvPr id="565" name="Google Shape;565;p72"/>
          <p:cNvSpPr txBox="1"/>
          <p:nvPr/>
        </p:nvSpPr>
        <p:spPr>
          <a:xfrm>
            <a:off x="941700" y="3432525"/>
            <a:ext cx="3000000" cy="6927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Gambar di atas adalah contoh product icon, di mana ikon-ikon tersebut merupakan ekspresi visual dari produk atau layanan.</a:t>
            </a:r>
            <a:endParaRPr/>
          </a:p>
        </p:txBody>
      </p:sp>
      <p:sp>
        <p:nvSpPr>
          <p:cNvPr id="566" name="Google Shape;566;p72"/>
          <p:cNvSpPr txBox="1"/>
          <p:nvPr/>
        </p:nvSpPr>
        <p:spPr>
          <a:xfrm>
            <a:off x="5247150" y="3479300"/>
            <a:ext cx="3000000" cy="10467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Sedangkan gambar ini merupakan contoh dari system icon, di mana bentuk-bentuk yang ditampilkan dirancang sederhana, modern, ramah, dan terkadang unik</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0" name="Shape 570"/>
        <p:cNvGrpSpPr/>
        <p:nvPr/>
      </p:nvGrpSpPr>
      <p:grpSpPr>
        <a:xfrm>
          <a:off x="0" y="0"/>
          <a:ext cx="0" cy="0"/>
          <a:chOff x="0" y="0"/>
          <a:chExt cx="0" cy="0"/>
        </a:xfrm>
      </p:grpSpPr>
      <p:sp>
        <p:nvSpPr>
          <p:cNvPr id="571" name="Google Shape;571;p7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States</a:t>
            </a:r>
            <a:endParaRPr/>
          </a:p>
        </p:txBody>
      </p:sp>
      <p:sp>
        <p:nvSpPr>
          <p:cNvPr id="572" name="Google Shape;572;p7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73" name="Google Shape;573;p73"/>
          <p:cNvSpPr txBox="1"/>
          <p:nvPr/>
        </p:nvSpPr>
        <p:spPr>
          <a:xfrm>
            <a:off x="487625" y="1628250"/>
            <a:ext cx="4572000" cy="18870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b="1" lang="en">
                <a:solidFill>
                  <a:schemeClr val="lt1"/>
                </a:solidFill>
                <a:latin typeface="Montserrat"/>
                <a:ea typeface="Montserrat"/>
                <a:cs typeface="Montserrat"/>
                <a:sym typeface="Montserrat"/>
              </a:rPr>
              <a:t>Beberapa hal yang sudah kita pelajari barusan adalah elemen-elemen yang dengan segera akan tertangkap oleh mata.</a:t>
            </a:r>
            <a:endParaRPr b="1">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None/>
            </a:pPr>
            <a:r>
              <a:rPr b="1" lang="en">
                <a:solidFill>
                  <a:schemeClr val="lt1"/>
                </a:solidFill>
                <a:latin typeface="Montserrat"/>
                <a:ea typeface="Montserrat"/>
                <a:cs typeface="Montserrat"/>
                <a:sym typeface="Montserrat"/>
              </a:rPr>
              <a:t>Nah, kali ini kita akan memasuki ranah-ranah yang lebih detail nih, gengs. Kita mulai dengan </a:t>
            </a:r>
            <a:r>
              <a:rPr b="1" lang="en">
                <a:solidFill>
                  <a:srgbClr val="F2AB2F"/>
                </a:solidFill>
                <a:latin typeface="Montserrat"/>
                <a:ea typeface="Montserrat"/>
                <a:cs typeface="Montserrat"/>
                <a:sym typeface="Montserrat"/>
              </a:rPr>
              <a:t>states</a:t>
            </a:r>
            <a:r>
              <a:rPr b="1" lang="en">
                <a:solidFill>
                  <a:schemeClr val="lt1"/>
                </a:solidFill>
                <a:latin typeface="Montserrat"/>
                <a:ea typeface="Montserrat"/>
                <a:cs typeface="Montserrat"/>
                <a:sym typeface="Montserrat"/>
              </a:rPr>
              <a:t> yuk ~</a:t>
            </a:r>
            <a:endParaRPr b="1">
              <a:solidFill>
                <a:schemeClr val="lt1"/>
              </a:solidFill>
              <a:latin typeface="Montserrat"/>
              <a:ea typeface="Montserrat"/>
              <a:cs typeface="Montserrat"/>
              <a:sym typeface="Montserrat"/>
            </a:endParaRPr>
          </a:p>
        </p:txBody>
      </p:sp>
      <p:pic>
        <p:nvPicPr>
          <p:cNvPr id="574" name="Google Shape;574;p73"/>
          <p:cNvPicPr preferRelativeResize="0"/>
          <p:nvPr/>
        </p:nvPicPr>
        <p:blipFill>
          <a:blip r:embed="rId3">
            <a:alphaModFix/>
          </a:blip>
          <a:stretch>
            <a:fillRect/>
          </a:stretch>
        </p:blipFill>
        <p:spPr>
          <a:xfrm>
            <a:off x="5092425" y="879875"/>
            <a:ext cx="3524166" cy="3920725"/>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8" name="Shape 578"/>
        <p:cNvGrpSpPr/>
        <p:nvPr/>
      </p:nvGrpSpPr>
      <p:grpSpPr>
        <a:xfrm>
          <a:off x="0" y="0"/>
          <a:ext cx="0" cy="0"/>
          <a:chOff x="0" y="0"/>
          <a:chExt cx="0" cy="0"/>
        </a:xfrm>
      </p:grpSpPr>
      <p:sp>
        <p:nvSpPr>
          <p:cNvPr id="579" name="Google Shape;579;p7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80" name="Google Shape;580;p7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States</a:t>
            </a:r>
            <a:endParaRPr>
              <a:latin typeface="Montserrat"/>
              <a:ea typeface="Montserrat"/>
              <a:cs typeface="Montserrat"/>
              <a:sym typeface="Montserrat"/>
            </a:endParaRPr>
          </a:p>
        </p:txBody>
      </p:sp>
      <p:sp>
        <p:nvSpPr>
          <p:cNvPr id="581" name="Google Shape;581;p74"/>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Apa itu states?</a:t>
            </a:r>
            <a:endParaRPr b="1" sz="1600">
              <a:solidFill>
                <a:srgbClr val="743673"/>
              </a:solidFill>
              <a:highlight>
                <a:schemeClr val="lt1"/>
              </a:highlight>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States dalam Bahasa Indonesia berarti keadaan. Bila dijabarkan, states adalah </a:t>
            </a:r>
            <a:r>
              <a:rPr b="1" lang="en" sz="1000">
                <a:solidFill>
                  <a:schemeClr val="dk1"/>
                </a:solidFill>
                <a:latin typeface="Montserrat"/>
                <a:ea typeface="Montserrat"/>
                <a:cs typeface="Montserrat"/>
                <a:sym typeface="Montserrat"/>
              </a:rPr>
              <a:t>sebuah keadaan yang mengkomunikasikan status elemen UI kepada pengguna</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Sebagai catatan, setiap keadaan harus serupa secara visual dan tidak mengubah komponen secara drastis. Tetapi, ia harus memiliki keterjangkauan yang jelas untuk membedakannya dari keadaan lain dan tata letak di sekitarnya.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p:txBody>
      </p:sp>
      <p:pic>
        <p:nvPicPr>
          <p:cNvPr id="582" name="Google Shape;582;p74"/>
          <p:cNvPicPr preferRelativeResize="0"/>
          <p:nvPr/>
        </p:nvPicPr>
        <p:blipFill>
          <a:blip r:embed="rId3">
            <a:alphaModFix/>
          </a:blip>
          <a:stretch>
            <a:fillRect/>
          </a:stretch>
        </p:blipFill>
        <p:spPr>
          <a:xfrm>
            <a:off x="5172975" y="916325"/>
            <a:ext cx="3080119" cy="3884273"/>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6" name="Shape 586"/>
        <p:cNvGrpSpPr/>
        <p:nvPr/>
      </p:nvGrpSpPr>
      <p:grpSpPr>
        <a:xfrm>
          <a:off x="0" y="0"/>
          <a:ext cx="0" cy="0"/>
          <a:chOff x="0" y="0"/>
          <a:chExt cx="0" cy="0"/>
        </a:xfrm>
      </p:grpSpPr>
      <p:sp>
        <p:nvSpPr>
          <p:cNvPr id="587" name="Google Shape;587;p7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88" name="Google Shape;588;p7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States</a:t>
            </a:r>
            <a:endParaRPr>
              <a:latin typeface="Montserrat"/>
              <a:ea typeface="Montserrat"/>
              <a:cs typeface="Montserrat"/>
              <a:sym typeface="Montserrat"/>
            </a:endParaRPr>
          </a:p>
        </p:txBody>
      </p:sp>
      <p:sp>
        <p:nvSpPr>
          <p:cNvPr id="589" name="Google Shape;589;p75"/>
          <p:cNvSpPr txBox="1"/>
          <p:nvPr/>
        </p:nvSpPr>
        <p:spPr>
          <a:xfrm>
            <a:off x="685800" y="1185675"/>
            <a:ext cx="26436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600">
                <a:solidFill>
                  <a:srgbClr val="733572"/>
                </a:solidFill>
                <a:latin typeface="Montserrat"/>
                <a:ea typeface="Montserrat"/>
                <a:cs typeface="Montserrat"/>
                <a:sym typeface="Montserrat"/>
              </a:rPr>
              <a:t>Contohnya gini..</a:t>
            </a:r>
            <a:endParaRPr b="1" sz="1600">
              <a:solidFill>
                <a:srgbClr val="733572"/>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0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Sebuah states harus memiliki keterjangkauan yang jelas untuk membedakan dirinya satu sama lain dan UI di sekitarnya, maka perlu ditekankan sesuai dengan tingkat prioritas mereka.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States yang umum:</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 Active, disabled</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 On, off</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 Default, hovered, clicked, pressed</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 Unselected, selected</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 Default, focused, typing, filled in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p:txBody>
      </p:sp>
      <p:pic>
        <p:nvPicPr>
          <p:cNvPr id="590" name="Google Shape;590;p75">
            <a:hlinkClick r:id="rId3"/>
          </p:cNvPr>
          <p:cNvPicPr preferRelativeResize="0"/>
          <p:nvPr/>
        </p:nvPicPr>
        <p:blipFill rotWithShape="1">
          <a:blip r:embed="rId4">
            <a:alphaModFix/>
          </a:blip>
          <a:srcRect b="11954" l="0" r="0" t="11954"/>
          <a:stretch/>
        </p:blipFill>
        <p:spPr>
          <a:xfrm>
            <a:off x="3725200" y="1127750"/>
            <a:ext cx="4892775" cy="2743200"/>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4" name="Shape 594"/>
        <p:cNvGrpSpPr/>
        <p:nvPr/>
      </p:nvGrpSpPr>
      <p:grpSpPr>
        <a:xfrm>
          <a:off x="0" y="0"/>
          <a:ext cx="0" cy="0"/>
          <a:chOff x="0" y="0"/>
          <a:chExt cx="0" cy="0"/>
        </a:xfrm>
      </p:grpSpPr>
      <p:sp>
        <p:nvSpPr>
          <p:cNvPr id="595" name="Google Shape;595;p7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96" name="Google Shape;596;p7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States</a:t>
            </a:r>
            <a:endParaRPr/>
          </a:p>
        </p:txBody>
      </p:sp>
      <p:sp>
        <p:nvSpPr>
          <p:cNvPr id="597" name="Google Shape;597;p76"/>
          <p:cNvSpPr txBox="1"/>
          <p:nvPr/>
        </p:nvSpPr>
        <p:spPr>
          <a:xfrm>
            <a:off x="685800" y="2010150"/>
            <a:ext cx="2643600" cy="11232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Oiya, </a:t>
            </a:r>
            <a:r>
              <a:rPr b="1" lang="en" sz="1000">
                <a:solidFill>
                  <a:schemeClr val="dk1"/>
                </a:solidFill>
                <a:latin typeface="Montserrat"/>
                <a:ea typeface="Montserrat"/>
                <a:cs typeface="Montserrat"/>
                <a:sym typeface="Montserrat"/>
              </a:rPr>
              <a:t>states dapat dikombinasikan</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Misalnya, hover dapat dikombinasikan dengan state focused, active, selected, atau pressed.</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p:txBody>
      </p:sp>
      <p:grpSp>
        <p:nvGrpSpPr>
          <p:cNvPr id="598" name="Google Shape;598;p76"/>
          <p:cNvGrpSpPr/>
          <p:nvPr/>
        </p:nvGrpSpPr>
        <p:grpSpPr>
          <a:xfrm>
            <a:off x="3725200" y="1127750"/>
            <a:ext cx="4892775" cy="2945524"/>
            <a:chOff x="3725200" y="1127750"/>
            <a:chExt cx="4892775" cy="2945524"/>
          </a:xfrm>
        </p:grpSpPr>
        <p:pic>
          <p:nvPicPr>
            <p:cNvPr id="599" name="Google Shape;599;p76">
              <a:hlinkClick r:id="rId3"/>
            </p:cNvPr>
            <p:cNvPicPr preferRelativeResize="0"/>
            <p:nvPr/>
          </p:nvPicPr>
          <p:blipFill rotWithShape="1">
            <a:blip r:embed="rId4">
              <a:alphaModFix/>
            </a:blip>
            <a:srcRect b="11954" l="0" r="0" t="11954"/>
            <a:stretch/>
          </p:blipFill>
          <p:spPr>
            <a:xfrm>
              <a:off x="3725200" y="1127750"/>
              <a:ext cx="4892775" cy="2743200"/>
            </a:xfrm>
            <a:prstGeom prst="rect">
              <a:avLst/>
            </a:prstGeom>
            <a:noFill/>
            <a:ln>
              <a:noFill/>
            </a:ln>
          </p:spPr>
        </p:pic>
        <p:pic>
          <p:nvPicPr>
            <p:cNvPr id="600" name="Google Shape;600;p76">
              <a:hlinkClick r:id="rId5"/>
            </p:cNvPr>
            <p:cNvPicPr preferRelativeResize="0"/>
            <p:nvPr/>
          </p:nvPicPr>
          <p:blipFill rotWithShape="1">
            <a:blip r:embed="rId4">
              <a:alphaModFix/>
            </a:blip>
            <a:srcRect b="0" l="0" r="0" t="59220"/>
            <a:stretch/>
          </p:blipFill>
          <p:spPr>
            <a:xfrm>
              <a:off x="3725200" y="2603100"/>
              <a:ext cx="4892775" cy="1470174"/>
            </a:xfrm>
            <a:prstGeom prst="rect">
              <a:avLst/>
            </a:prstGeom>
            <a:noFill/>
            <a:ln>
              <a:noFill/>
            </a:ln>
          </p:spPr>
        </p:pic>
      </p:gr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4" name="Shape 604"/>
        <p:cNvGrpSpPr/>
        <p:nvPr/>
      </p:nvGrpSpPr>
      <p:grpSpPr>
        <a:xfrm>
          <a:off x="0" y="0"/>
          <a:ext cx="0" cy="0"/>
          <a:chOff x="0" y="0"/>
          <a:chExt cx="0" cy="0"/>
        </a:xfrm>
      </p:grpSpPr>
      <p:sp>
        <p:nvSpPr>
          <p:cNvPr id="605" name="Google Shape;605;p7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Metode Spacing</a:t>
            </a:r>
            <a:endParaRPr>
              <a:latin typeface="Montserrat"/>
              <a:ea typeface="Montserrat"/>
              <a:cs typeface="Montserrat"/>
              <a:sym typeface="Montserrat"/>
            </a:endParaRPr>
          </a:p>
        </p:txBody>
      </p:sp>
      <p:sp>
        <p:nvSpPr>
          <p:cNvPr id="606" name="Google Shape;606;p7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07" name="Google Shape;607;p77"/>
          <p:cNvSpPr txBox="1"/>
          <p:nvPr/>
        </p:nvSpPr>
        <p:spPr>
          <a:xfrm>
            <a:off x="486600" y="1611025"/>
            <a:ext cx="4572000" cy="11436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b="1" lang="en">
                <a:solidFill>
                  <a:schemeClr val="lt1"/>
                </a:solidFill>
                <a:latin typeface="Montserrat"/>
                <a:ea typeface="Montserrat"/>
                <a:cs typeface="Montserrat"/>
                <a:sym typeface="Montserrat"/>
              </a:rPr>
              <a:t>Kalau kemarin kita sempat membahas grid, lalu kali ini telah mengulas layout, d</a:t>
            </a:r>
            <a:r>
              <a:rPr b="1" lang="en">
                <a:solidFill>
                  <a:schemeClr val="lt1"/>
                </a:solidFill>
                <a:latin typeface="Montserrat"/>
                <a:ea typeface="Montserrat"/>
                <a:cs typeface="Montserrat"/>
                <a:sym typeface="Montserrat"/>
              </a:rPr>
              <a:t>etail </a:t>
            </a:r>
            <a:r>
              <a:rPr b="1" lang="en">
                <a:solidFill>
                  <a:schemeClr val="lt1"/>
                </a:solidFill>
                <a:latin typeface="Montserrat"/>
                <a:ea typeface="Montserrat"/>
                <a:cs typeface="Montserrat"/>
                <a:sym typeface="Montserrat"/>
              </a:rPr>
              <a:t>selanjutnya yang tidak kalah penting adalah </a:t>
            </a:r>
            <a:r>
              <a:rPr b="1" lang="en">
                <a:solidFill>
                  <a:srgbClr val="F2AB2F"/>
                </a:solidFill>
                <a:latin typeface="Montserrat"/>
                <a:ea typeface="Montserrat"/>
                <a:cs typeface="Montserrat"/>
                <a:sym typeface="Montserrat"/>
              </a:rPr>
              <a:t>metode spacing</a:t>
            </a:r>
            <a:r>
              <a:rPr b="1" lang="en">
                <a:solidFill>
                  <a:schemeClr val="lt1"/>
                </a:solidFill>
                <a:latin typeface="Montserrat"/>
                <a:ea typeface="Montserrat"/>
                <a:cs typeface="Montserrat"/>
                <a:sym typeface="Montserrat"/>
              </a:rPr>
              <a:t>. </a:t>
            </a:r>
            <a:endParaRPr b="1">
              <a:solidFill>
                <a:schemeClr val="lt1"/>
              </a:solidFill>
              <a:latin typeface="Montserrat"/>
              <a:ea typeface="Montserrat"/>
              <a:cs typeface="Montserrat"/>
              <a:sym typeface="Montserrat"/>
            </a:endParaRPr>
          </a:p>
        </p:txBody>
      </p:sp>
      <p:pic>
        <p:nvPicPr>
          <p:cNvPr id="608" name="Google Shape;608;p77"/>
          <p:cNvPicPr preferRelativeResize="0"/>
          <p:nvPr/>
        </p:nvPicPr>
        <p:blipFill>
          <a:blip r:embed="rId3">
            <a:alphaModFix/>
          </a:blip>
          <a:stretch>
            <a:fillRect/>
          </a:stretch>
        </p:blipFill>
        <p:spPr>
          <a:xfrm>
            <a:off x="5123475" y="914400"/>
            <a:ext cx="3493132" cy="3886199"/>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p7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14" name="Google Shape;614;p7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Metode spacing</a:t>
            </a:r>
            <a:endParaRPr>
              <a:latin typeface="Montserrat"/>
              <a:ea typeface="Montserrat"/>
              <a:cs typeface="Montserrat"/>
              <a:sym typeface="Montserrat"/>
            </a:endParaRPr>
          </a:p>
        </p:txBody>
      </p:sp>
      <p:sp>
        <p:nvSpPr>
          <p:cNvPr id="615" name="Google Shape;615;p78"/>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Apa itu metode spacing?</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Metode spacing merupakan seperangkat aturan tentang bagaimana menempatkan elemen dalam tata letak dan komponen.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Metode spacing menggunakan grids, keylines, padding, dan spasi tambahan untuk </a:t>
            </a:r>
            <a:r>
              <a:rPr b="1" lang="en" sz="1000">
                <a:solidFill>
                  <a:schemeClr val="dk1"/>
                </a:solidFill>
                <a:latin typeface="Montserrat"/>
                <a:ea typeface="Montserrat"/>
                <a:cs typeface="Montserrat"/>
                <a:sym typeface="Montserrat"/>
              </a:rPr>
              <a:t>menyesuaikan rasio, wadah, dan target sentuh</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p:txBody>
      </p:sp>
      <p:pic>
        <p:nvPicPr>
          <p:cNvPr id="616" name="Google Shape;616;p78">
            <a:hlinkClick r:id="rId3"/>
          </p:cNvPr>
          <p:cNvPicPr preferRelativeResize="0"/>
          <p:nvPr/>
        </p:nvPicPr>
        <p:blipFill rotWithShape="1">
          <a:blip r:embed="rId4">
            <a:alphaModFix/>
          </a:blip>
          <a:srcRect b="0" l="31492" r="31496" t="0"/>
          <a:stretch/>
        </p:blipFill>
        <p:spPr>
          <a:xfrm>
            <a:off x="5486400" y="1280150"/>
            <a:ext cx="3017523" cy="2743202"/>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0" name="Shape 620"/>
        <p:cNvGrpSpPr/>
        <p:nvPr/>
      </p:nvGrpSpPr>
      <p:grpSpPr>
        <a:xfrm>
          <a:off x="0" y="0"/>
          <a:ext cx="0" cy="0"/>
          <a:chOff x="0" y="0"/>
          <a:chExt cx="0" cy="0"/>
        </a:xfrm>
      </p:grpSpPr>
      <p:sp>
        <p:nvSpPr>
          <p:cNvPr id="621" name="Google Shape;621;p7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22" name="Google Shape;622;p7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Metode spacing</a:t>
            </a:r>
            <a:endParaRPr>
              <a:latin typeface="Montserrat"/>
              <a:ea typeface="Montserrat"/>
              <a:cs typeface="Montserrat"/>
              <a:sym typeface="Montserrat"/>
            </a:endParaRPr>
          </a:p>
        </p:txBody>
      </p:sp>
      <p:sp>
        <p:nvSpPr>
          <p:cNvPr id="623" name="Google Shape;623;p79"/>
          <p:cNvSpPr txBox="1"/>
          <p:nvPr/>
        </p:nvSpPr>
        <p:spPr>
          <a:xfrm>
            <a:off x="685800" y="1185675"/>
            <a:ext cx="28440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Metode spacing lebih terperinci daripada grids dalam tata letak (layout) responsif.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Nah, ada tiga metode spacing yang paling umum digunakan yaitu </a:t>
            </a:r>
            <a:r>
              <a:rPr b="1" lang="en" sz="1000">
                <a:solidFill>
                  <a:schemeClr val="dk1"/>
                </a:solidFill>
                <a:latin typeface="Montserrat"/>
                <a:ea typeface="Montserrat"/>
                <a:cs typeface="Montserrat"/>
                <a:sym typeface="Montserrat"/>
              </a:rPr>
              <a:t>padding</a:t>
            </a:r>
            <a:r>
              <a:rPr lang="en" sz="1000">
                <a:solidFill>
                  <a:schemeClr val="dk1"/>
                </a:solidFill>
                <a:latin typeface="Montserrat"/>
                <a:ea typeface="Montserrat"/>
                <a:cs typeface="Montserrat"/>
                <a:sym typeface="Montserrat"/>
              </a:rPr>
              <a:t>, </a:t>
            </a:r>
            <a:r>
              <a:rPr b="1" lang="en" sz="1000">
                <a:solidFill>
                  <a:schemeClr val="dk1"/>
                </a:solidFill>
                <a:latin typeface="Montserrat"/>
                <a:ea typeface="Montserrat"/>
                <a:cs typeface="Montserrat"/>
                <a:sym typeface="Montserrat"/>
              </a:rPr>
              <a:t>dimensions</a:t>
            </a:r>
            <a:r>
              <a:rPr lang="en" sz="1000">
                <a:solidFill>
                  <a:schemeClr val="dk1"/>
                </a:solidFill>
                <a:latin typeface="Montserrat"/>
                <a:ea typeface="Montserrat"/>
                <a:cs typeface="Montserrat"/>
                <a:sym typeface="Montserrat"/>
              </a:rPr>
              <a:t>, dan </a:t>
            </a:r>
            <a:r>
              <a:rPr b="1" lang="en" sz="1000">
                <a:solidFill>
                  <a:schemeClr val="dk1"/>
                </a:solidFill>
                <a:latin typeface="Montserrat"/>
                <a:ea typeface="Montserrat"/>
                <a:cs typeface="Montserrat"/>
                <a:sym typeface="Montserrat"/>
              </a:rPr>
              <a:t>alignment</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a:pPr>
            <a:r>
              <a:rPr b="1" lang="en" sz="1000">
                <a:solidFill>
                  <a:schemeClr val="dk1"/>
                </a:solidFill>
                <a:latin typeface="Montserrat"/>
                <a:ea typeface="Montserrat"/>
                <a:cs typeface="Montserrat"/>
                <a:sym typeface="Montserrat"/>
              </a:rPr>
              <a:t>Padding</a:t>
            </a:r>
            <a:r>
              <a:rPr lang="en" sz="1000">
                <a:solidFill>
                  <a:schemeClr val="dk1"/>
                </a:solidFill>
                <a:latin typeface="Montserrat"/>
                <a:ea typeface="Montserrat"/>
                <a:cs typeface="Montserrat"/>
                <a:sym typeface="Montserrat"/>
              </a:rPr>
              <a:t> adalah spasi di antara elemen-elemen di dalam sebuah komponen.</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a:pPr>
            <a:r>
              <a:rPr b="1" lang="en" sz="1000">
                <a:solidFill>
                  <a:schemeClr val="dk1"/>
                </a:solidFill>
                <a:latin typeface="Montserrat"/>
                <a:ea typeface="Montserrat"/>
                <a:cs typeface="Montserrat"/>
                <a:sym typeface="Montserrat"/>
              </a:rPr>
              <a:t>Dimension </a:t>
            </a:r>
            <a:r>
              <a:rPr lang="en" sz="1000">
                <a:solidFill>
                  <a:schemeClr val="dk1"/>
                </a:solidFill>
                <a:latin typeface="Montserrat"/>
                <a:ea typeface="Montserrat"/>
                <a:cs typeface="Montserrat"/>
                <a:sym typeface="Montserrat"/>
              </a:rPr>
              <a:t>menggambarkan lebar dan panjang dari komponen elemen-elemen.</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a:pPr>
            <a:r>
              <a:rPr b="1" lang="en" sz="1000">
                <a:solidFill>
                  <a:schemeClr val="dk1"/>
                </a:solidFill>
                <a:latin typeface="Montserrat"/>
                <a:ea typeface="Montserrat"/>
                <a:cs typeface="Montserrat"/>
                <a:sym typeface="Montserrat"/>
              </a:rPr>
              <a:t>Alignment</a:t>
            </a:r>
            <a:r>
              <a:rPr lang="en" sz="1000">
                <a:solidFill>
                  <a:schemeClr val="dk1"/>
                </a:solidFill>
                <a:latin typeface="Montserrat"/>
                <a:ea typeface="Montserrat"/>
                <a:cs typeface="Montserrat"/>
                <a:sym typeface="Montserrat"/>
              </a:rPr>
              <a:t> merupakan penempatan elemen-elemen di dalam sebuah komponen.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p:txBody>
      </p:sp>
      <p:pic>
        <p:nvPicPr>
          <p:cNvPr id="624" name="Google Shape;624;p79">
            <a:hlinkClick r:id="rId3"/>
          </p:cNvPr>
          <p:cNvPicPr preferRelativeResize="0"/>
          <p:nvPr/>
        </p:nvPicPr>
        <p:blipFill rotWithShape="1">
          <a:blip r:embed="rId4">
            <a:alphaModFix/>
          </a:blip>
          <a:srcRect b="0" l="670" r="670" t="0"/>
          <a:stretch/>
        </p:blipFill>
        <p:spPr>
          <a:xfrm>
            <a:off x="3725200" y="1127750"/>
            <a:ext cx="4892776" cy="2743200"/>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8" name="Shape 628"/>
        <p:cNvGrpSpPr/>
        <p:nvPr/>
      </p:nvGrpSpPr>
      <p:grpSpPr>
        <a:xfrm>
          <a:off x="0" y="0"/>
          <a:ext cx="0" cy="0"/>
          <a:chOff x="0" y="0"/>
          <a:chExt cx="0" cy="0"/>
        </a:xfrm>
      </p:grpSpPr>
      <p:sp>
        <p:nvSpPr>
          <p:cNvPr id="629" name="Google Shape;629;p8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30" name="Google Shape;630;p8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Metode spacing</a:t>
            </a:r>
            <a:endParaRPr>
              <a:latin typeface="Montserrat"/>
              <a:ea typeface="Montserrat"/>
              <a:cs typeface="Montserrat"/>
              <a:sym typeface="Montserrat"/>
            </a:endParaRPr>
          </a:p>
        </p:txBody>
      </p:sp>
      <p:sp>
        <p:nvSpPr>
          <p:cNvPr id="631" name="Google Shape;631;p80"/>
          <p:cNvSpPr txBox="1"/>
          <p:nvPr/>
        </p:nvSpPr>
        <p:spPr>
          <a:xfrm>
            <a:off x="685800" y="1185675"/>
            <a:ext cx="28017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Untuk menyelaraskan penempatan elemen yang konsisten di luar grids pada layout, tersebutlah alat bernama </a:t>
            </a:r>
            <a:r>
              <a:rPr b="1" lang="en" sz="1000">
                <a:solidFill>
                  <a:schemeClr val="dk1"/>
                </a:solidFill>
                <a:latin typeface="Montserrat"/>
                <a:ea typeface="Montserrat"/>
                <a:cs typeface="Montserrat"/>
                <a:sym typeface="Montserrat"/>
              </a:rPr>
              <a:t>keyline.</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Ia adalah garis vertikal yang menunjukkan di mana elemen ditempatkan ketika mereka tidak sejajar dengan grid.</a:t>
            </a:r>
            <a:endParaRPr sz="1000">
              <a:solidFill>
                <a:schemeClr val="dk1"/>
              </a:solidFill>
              <a:latin typeface="Montserrat Medium"/>
              <a:ea typeface="Montserrat Medium"/>
              <a:cs typeface="Montserrat Medium"/>
              <a:sym typeface="Montserrat Medium"/>
            </a:endParaRPr>
          </a:p>
        </p:txBody>
      </p:sp>
      <p:pic>
        <p:nvPicPr>
          <p:cNvPr id="632" name="Google Shape;632;p80">
            <a:hlinkClick r:id="rId3"/>
          </p:cNvPr>
          <p:cNvPicPr preferRelativeResize="0"/>
          <p:nvPr/>
        </p:nvPicPr>
        <p:blipFill rotWithShape="1">
          <a:blip r:embed="rId4">
            <a:alphaModFix/>
          </a:blip>
          <a:srcRect b="0" l="5413" r="5404" t="0"/>
          <a:stretch/>
        </p:blipFill>
        <p:spPr>
          <a:xfrm>
            <a:off x="3725200" y="1127750"/>
            <a:ext cx="4892775" cy="2743200"/>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6" name="Shape 636"/>
        <p:cNvGrpSpPr/>
        <p:nvPr/>
      </p:nvGrpSpPr>
      <p:grpSpPr>
        <a:xfrm>
          <a:off x="0" y="0"/>
          <a:ext cx="0" cy="0"/>
          <a:chOff x="0" y="0"/>
          <a:chExt cx="0" cy="0"/>
        </a:xfrm>
      </p:grpSpPr>
      <p:sp>
        <p:nvSpPr>
          <p:cNvPr id="637" name="Google Shape;637;p8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Buttons, Cards dan Dividers</a:t>
            </a:r>
            <a:endParaRPr>
              <a:latin typeface="Montserrat"/>
              <a:ea typeface="Montserrat"/>
              <a:cs typeface="Montserrat"/>
              <a:sym typeface="Montserrat"/>
            </a:endParaRPr>
          </a:p>
        </p:txBody>
      </p:sp>
      <p:sp>
        <p:nvSpPr>
          <p:cNvPr id="638" name="Google Shape;638;p8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39" name="Google Shape;639;p81"/>
          <p:cNvSpPr txBox="1"/>
          <p:nvPr/>
        </p:nvSpPr>
        <p:spPr>
          <a:xfrm>
            <a:off x="487625" y="1628250"/>
            <a:ext cx="4572000" cy="18870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b="1" lang="en">
                <a:solidFill>
                  <a:schemeClr val="lt1"/>
                </a:solidFill>
                <a:latin typeface="Montserrat"/>
                <a:ea typeface="Montserrat"/>
                <a:cs typeface="Montserrat"/>
                <a:sym typeface="Montserrat"/>
              </a:rPr>
              <a:t>Klik. Klik. Klik. Klik.</a:t>
            </a:r>
            <a:endParaRPr b="1">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None/>
            </a:pPr>
            <a:r>
              <a:rPr b="1" lang="en">
                <a:solidFill>
                  <a:schemeClr val="lt1"/>
                </a:solidFill>
                <a:latin typeface="Montserrat"/>
                <a:ea typeface="Montserrat"/>
                <a:cs typeface="Montserrat"/>
                <a:sym typeface="Montserrat"/>
              </a:rPr>
              <a:t>Komponen-komponen kecil yang perannya menghubungkan satu halaman ke halaman lainnya ini perlu kita tentukan dengan cermat, gengs. Yuk kita simak cara menentukan </a:t>
            </a:r>
            <a:r>
              <a:rPr b="1" lang="en">
                <a:solidFill>
                  <a:srgbClr val="F2AB2F"/>
                </a:solidFill>
                <a:latin typeface="Montserrat"/>
                <a:ea typeface="Montserrat"/>
                <a:cs typeface="Montserrat"/>
                <a:sym typeface="Montserrat"/>
              </a:rPr>
              <a:t>buttons</a:t>
            </a:r>
            <a:r>
              <a:rPr b="1" lang="en">
                <a:solidFill>
                  <a:schemeClr val="lt1"/>
                </a:solidFill>
                <a:latin typeface="Montserrat"/>
                <a:ea typeface="Montserrat"/>
                <a:cs typeface="Montserrat"/>
                <a:sym typeface="Montserrat"/>
              </a:rPr>
              <a:t>, </a:t>
            </a:r>
            <a:r>
              <a:rPr b="1" lang="en">
                <a:solidFill>
                  <a:srgbClr val="F2AB2F"/>
                </a:solidFill>
                <a:latin typeface="Montserrat"/>
                <a:ea typeface="Montserrat"/>
                <a:cs typeface="Montserrat"/>
                <a:sym typeface="Montserrat"/>
              </a:rPr>
              <a:t>cards</a:t>
            </a:r>
            <a:r>
              <a:rPr b="1" lang="en">
                <a:solidFill>
                  <a:schemeClr val="lt1"/>
                </a:solidFill>
                <a:latin typeface="Montserrat"/>
                <a:ea typeface="Montserrat"/>
                <a:cs typeface="Montserrat"/>
                <a:sym typeface="Montserrat"/>
              </a:rPr>
              <a:t>, dan </a:t>
            </a:r>
            <a:r>
              <a:rPr b="1" lang="en">
                <a:solidFill>
                  <a:srgbClr val="F2AB2F"/>
                </a:solidFill>
                <a:latin typeface="Montserrat"/>
                <a:ea typeface="Montserrat"/>
                <a:cs typeface="Montserrat"/>
                <a:sym typeface="Montserrat"/>
              </a:rPr>
              <a:t>dividers</a:t>
            </a:r>
            <a:r>
              <a:rPr b="1" lang="en">
                <a:solidFill>
                  <a:schemeClr val="lt1"/>
                </a:solidFill>
                <a:latin typeface="Montserrat"/>
                <a:ea typeface="Montserrat"/>
                <a:cs typeface="Montserrat"/>
                <a:sym typeface="Montserrat"/>
              </a:rPr>
              <a:t>.</a:t>
            </a:r>
            <a:endParaRPr b="1">
              <a:solidFill>
                <a:srgbClr val="F2AB2F"/>
              </a:solidFill>
              <a:latin typeface="Montserrat"/>
              <a:ea typeface="Montserrat"/>
              <a:cs typeface="Montserrat"/>
              <a:sym typeface="Montserrat"/>
            </a:endParaRPr>
          </a:p>
        </p:txBody>
      </p:sp>
      <p:pic>
        <p:nvPicPr>
          <p:cNvPr id="640" name="Google Shape;640;p81"/>
          <p:cNvPicPr preferRelativeResize="0"/>
          <p:nvPr/>
        </p:nvPicPr>
        <p:blipFill>
          <a:blip r:embed="rId3">
            <a:alphaModFix/>
          </a:blip>
          <a:stretch>
            <a:fillRect/>
          </a:stretch>
        </p:blipFill>
        <p:spPr>
          <a:xfrm>
            <a:off x="5059625" y="914400"/>
            <a:ext cx="3612260" cy="3886200"/>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4" name="Shape 644"/>
        <p:cNvGrpSpPr/>
        <p:nvPr/>
      </p:nvGrpSpPr>
      <p:grpSpPr>
        <a:xfrm>
          <a:off x="0" y="0"/>
          <a:ext cx="0" cy="0"/>
          <a:chOff x="0" y="0"/>
          <a:chExt cx="0" cy="0"/>
        </a:xfrm>
      </p:grpSpPr>
      <p:sp>
        <p:nvSpPr>
          <p:cNvPr id="645" name="Google Shape;645;p8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46" name="Google Shape;646;p8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Buttons, Cards dan Dividers</a:t>
            </a:r>
            <a:endParaRPr>
              <a:latin typeface="Montserrat"/>
              <a:ea typeface="Montserrat"/>
              <a:cs typeface="Montserrat"/>
              <a:sym typeface="Montserrat"/>
            </a:endParaRPr>
          </a:p>
        </p:txBody>
      </p:sp>
      <p:sp>
        <p:nvSpPr>
          <p:cNvPr id="647" name="Google Shape;647;p82"/>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Mengenal buttons</a:t>
            </a:r>
            <a:endParaRPr b="1" sz="1600">
              <a:solidFill>
                <a:srgbClr val="743673"/>
              </a:solidFill>
              <a:highlight>
                <a:schemeClr val="lt1"/>
              </a:highlight>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Button atau tombol memungkinkan pengguna untuk mengambil tindakan, dan membuat pilihan, dengan satu ketukan.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Tombol </a:t>
            </a:r>
            <a:r>
              <a:rPr b="1" lang="en" sz="1000">
                <a:solidFill>
                  <a:schemeClr val="dk1"/>
                </a:solidFill>
                <a:latin typeface="Montserrat"/>
                <a:ea typeface="Montserrat"/>
                <a:cs typeface="Montserrat"/>
                <a:sym typeface="Montserrat"/>
              </a:rPr>
              <a:t>mengkomunikasikan tindakan yang dapat dilakukan pengguna</a:t>
            </a:r>
            <a:r>
              <a:rPr lang="en" sz="1000">
                <a:solidFill>
                  <a:schemeClr val="dk1"/>
                </a:solidFill>
                <a:latin typeface="Montserrat"/>
                <a:ea typeface="Montserrat"/>
                <a:cs typeface="Montserrat"/>
                <a:sym typeface="Montserrat"/>
              </a:rPr>
              <a:t>. Mereka biasanya ditempatkan pada: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1) Dialog box</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2) Windows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3) Formulir</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4) Cards / Kartu-kartu</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5) Toolbar</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p:txBody>
      </p:sp>
      <p:pic>
        <p:nvPicPr>
          <p:cNvPr id="648" name="Google Shape;648;p82">
            <a:hlinkClick r:id="rId3"/>
          </p:cNvPr>
          <p:cNvPicPr preferRelativeResize="0"/>
          <p:nvPr/>
        </p:nvPicPr>
        <p:blipFill rotWithShape="1">
          <a:blip r:embed="rId4">
            <a:alphaModFix/>
          </a:blip>
          <a:srcRect b="7791" l="0" r="0" t="7791"/>
          <a:stretch/>
        </p:blipFill>
        <p:spPr>
          <a:xfrm>
            <a:off x="5486400" y="1280150"/>
            <a:ext cx="3017523" cy="2743201"/>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sp>
        <p:nvSpPr>
          <p:cNvPr id="653" name="Google Shape;653;p8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54" name="Google Shape;654;p8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Buttons, Cards dan Dividers</a:t>
            </a:r>
            <a:endParaRPr>
              <a:latin typeface="Montserrat"/>
              <a:ea typeface="Montserrat"/>
              <a:cs typeface="Montserrat"/>
              <a:sym typeface="Montserrat"/>
            </a:endParaRPr>
          </a:p>
        </p:txBody>
      </p:sp>
      <p:sp>
        <p:nvSpPr>
          <p:cNvPr id="655" name="Google Shape;655;p83"/>
          <p:cNvSpPr txBox="1"/>
          <p:nvPr/>
        </p:nvSpPr>
        <p:spPr>
          <a:xfrm>
            <a:off x="587700" y="1283750"/>
            <a:ext cx="29211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Mari kita mainkan demo berikut dengan menekan link pada gambar.</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Demo tersebut memungkinkan kamu melihat pratinjau komponen tombol, variasinya, dan opsi konfigurasi. Setiap tab menampilkan jenis tombol yang berbeda.</a:t>
            </a:r>
            <a:endParaRPr sz="1000">
              <a:solidFill>
                <a:schemeClr val="dk1"/>
              </a:solidFill>
              <a:latin typeface="Montserrat"/>
              <a:ea typeface="Montserrat"/>
              <a:cs typeface="Montserrat"/>
              <a:sym typeface="Montserrat"/>
            </a:endParaRPr>
          </a:p>
        </p:txBody>
      </p:sp>
      <p:pic>
        <p:nvPicPr>
          <p:cNvPr id="656" name="Google Shape;656;p83">
            <a:hlinkClick r:id="rId3"/>
          </p:cNvPr>
          <p:cNvPicPr preferRelativeResize="0"/>
          <p:nvPr/>
        </p:nvPicPr>
        <p:blipFill rotWithShape="1">
          <a:blip r:embed="rId4">
            <a:alphaModFix/>
          </a:blip>
          <a:srcRect b="0" l="-171" r="25461" t="0"/>
          <a:stretch/>
        </p:blipFill>
        <p:spPr>
          <a:xfrm>
            <a:off x="3725200" y="1127750"/>
            <a:ext cx="4892776" cy="2743201"/>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0" name="Shape 660"/>
        <p:cNvGrpSpPr/>
        <p:nvPr/>
      </p:nvGrpSpPr>
      <p:grpSpPr>
        <a:xfrm>
          <a:off x="0" y="0"/>
          <a:ext cx="0" cy="0"/>
          <a:chOff x="0" y="0"/>
          <a:chExt cx="0" cy="0"/>
        </a:xfrm>
      </p:grpSpPr>
      <p:sp>
        <p:nvSpPr>
          <p:cNvPr id="661" name="Google Shape;661;p8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62" name="Google Shape;662;p8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Buttons, Cards dan Dividers</a:t>
            </a:r>
            <a:endParaRPr>
              <a:latin typeface="Montserrat"/>
              <a:ea typeface="Montserrat"/>
              <a:cs typeface="Montserrat"/>
              <a:sym typeface="Montserrat"/>
            </a:endParaRPr>
          </a:p>
        </p:txBody>
      </p:sp>
      <p:sp>
        <p:nvSpPr>
          <p:cNvPr id="663" name="Google Shape;663;p84"/>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Memahami cards</a:t>
            </a:r>
            <a:endParaRPr b="1" sz="1600">
              <a:solidFill>
                <a:srgbClr val="743673"/>
              </a:solidFill>
              <a:highlight>
                <a:schemeClr val="lt1"/>
              </a:highlight>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Card atau kartu adalah </a:t>
            </a:r>
            <a:r>
              <a:rPr b="1" lang="en" sz="1000">
                <a:solidFill>
                  <a:schemeClr val="dk1"/>
                </a:solidFill>
                <a:latin typeface="Montserrat"/>
                <a:ea typeface="Montserrat"/>
                <a:cs typeface="Montserrat"/>
                <a:sym typeface="Montserrat"/>
              </a:rPr>
              <a:t>permukaan yang menampilkan konten dan tindakan pada satu topik</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Mereka harus mudah dipindai oleh pengguna untuk mendapatkan informasi yang relevan dan dapat ditindaklanjuti. Elemen, seperti teks dan gambar, harus ditempatkan di atasnya dengan cara yang menunjukkan hierarki secara jelas.</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p:txBody>
      </p:sp>
      <p:pic>
        <p:nvPicPr>
          <p:cNvPr id="664" name="Google Shape;664;p84">
            <a:hlinkClick r:id="rId3"/>
          </p:cNvPr>
          <p:cNvPicPr preferRelativeResize="0"/>
          <p:nvPr/>
        </p:nvPicPr>
        <p:blipFill rotWithShape="1">
          <a:blip r:embed="rId4">
            <a:alphaModFix/>
          </a:blip>
          <a:srcRect b="0" l="6844" r="6844" t="0"/>
          <a:stretch/>
        </p:blipFill>
        <p:spPr>
          <a:xfrm>
            <a:off x="5486400" y="1280150"/>
            <a:ext cx="3017524" cy="2743202"/>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8" name="Shape 668"/>
        <p:cNvGrpSpPr/>
        <p:nvPr/>
      </p:nvGrpSpPr>
      <p:grpSpPr>
        <a:xfrm>
          <a:off x="0" y="0"/>
          <a:ext cx="0" cy="0"/>
          <a:chOff x="0" y="0"/>
          <a:chExt cx="0" cy="0"/>
        </a:xfrm>
      </p:grpSpPr>
      <p:sp>
        <p:nvSpPr>
          <p:cNvPr id="669" name="Google Shape;669;p8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70" name="Google Shape;670;p8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Buttons, Cards dan Dividers</a:t>
            </a:r>
            <a:endParaRPr>
              <a:latin typeface="Montserrat"/>
              <a:ea typeface="Montserrat"/>
              <a:cs typeface="Montserrat"/>
              <a:sym typeface="Montserrat"/>
            </a:endParaRPr>
          </a:p>
        </p:txBody>
      </p:sp>
      <p:sp>
        <p:nvSpPr>
          <p:cNvPr id="671" name="Google Shape;671;p85"/>
          <p:cNvSpPr txBox="1"/>
          <p:nvPr/>
        </p:nvSpPr>
        <p:spPr>
          <a:xfrm>
            <a:off x="587725" y="1261950"/>
            <a:ext cx="28995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Mari kita mainkan demo berikut dengan menekan </a:t>
            </a:r>
            <a:r>
              <a:rPr lang="en" sz="1000" u="sng">
                <a:solidFill>
                  <a:schemeClr val="hlink"/>
                </a:solidFill>
                <a:latin typeface="Montserrat"/>
                <a:ea typeface="Montserrat"/>
                <a:cs typeface="Montserrat"/>
                <a:sym typeface="Montserrat"/>
                <a:hlinkClick r:id="rId3"/>
              </a:rPr>
              <a:t>link</a:t>
            </a:r>
            <a:r>
              <a:rPr lang="en" sz="1000">
                <a:solidFill>
                  <a:schemeClr val="dk1"/>
                </a:solidFill>
                <a:latin typeface="Montserrat"/>
                <a:ea typeface="Montserrat"/>
                <a:cs typeface="Montserrat"/>
                <a:sym typeface="Montserrat"/>
              </a:rPr>
              <a:t> pada gambar.</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Demo tersebut memungkinkan kamu melihat pratinjau komponen kartu, variasinya, dan opsi konfigurasi. Setiap tab menampilkan jenis kartu yang berbeda.</a:t>
            </a:r>
            <a:endParaRPr sz="1000">
              <a:solidFill>
                <a:schemeClr val="dk1"/>
              </a:solidFill>
              <a:latin typeface="Montserrat Medium"/>
              <a:ea typeface="Montserrat Medium"/>
              <a:cs typeface="Montserrat Medium"/>
              <a:sym typeface="Montserrat Medium"/>
            </a:endParaRPr>
          </a:p>
        </p:txBody>
      </p:sp>
      <p:pic>
        <p:nvPicPr>
          <p:cNvPr id="672" name="Google Shape;672;p85">
            <a:hlinkClick r:id="rId4"/>
          </p:cNvPr>
          <p:cNvPicPr preferRelativeResize="0"/>
          <p:nvPr/>
        </p:nvPicPr>
        <p:blipFill rotWithShape="1">
          <a:blip r:embed="rId5">
            <a:alphaModFix/>
          </a:blip>
          <a:srcRect b="16971" l="0" r="0" t="-1911"/>
          <a:stretch/>
        </p:blipFill>
        <p:spPr>
          <a:xfrm>
            <a:off x="3725200" y="1127750"/>
            <a:ext cx="4892775" cy="2743201"/>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6" name="Shape 676"/>
        <p:cNvGrpSpPr/>
        <p:nvPr/>
      </p:nvGrpSpPr>
      <p:grpSpPr>
        <a:xfrm>
          <a:off x="0" y="0"/>
          <a:ext cx="0" cy="0"/>
          <a:chOff x="0" y="0"/>
          <a:chExt cx="0" cy="0"/>
        </a:xfrm>
      </p:grpSpPr>
      <p:sp>
        <p:nvSpPr>
          <p:cNvPr id="677" name="Google Shape;677;p8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78" name="Google Shape;678;p8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Buttons, Cards dan Dividers</a:t>
            </a:r>
            <a:endParaRPr>
              <a:latin typeface="Montserrat"/>
              <a:ea typeface="Montserrat"/>
              <a:cs typeface="Montserrat"/>
              <a:sym typeface="Montserrat"/>
            </a:endParaRPr>
          </a:p>
        </p:txBody>
      </p:sp>
      <p:sp>
        <p:nvSpPr>
          <p:cNvPr id="679" name="Google Shape;679;p86"/>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Mendalami dividers</a:t>
            </a:r>
            <a:endParaRPr b="1" sz="1600">
              <a:solidFill>
                <a:srgbClr val="743673"/>
              </a:solidFill>
              <a:highlight>
                <a:schemeClr val="lt1"/>
              </a:highlight>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Dividers atau pembagi adalah garis tipis yang mengelompokkan konten dalam sebuah daftar dan tata letak. Pembagi </a:t>
            </a:r>
            <a:r>
              <a:rPr b="1" lang="en" sz="1000">
                <a:solidFill>
                  <a:schemeClr val="dk1"/>
                </a:solidFill>
                <a:latin typeface="Montserrat"/>
                <a:ea typeface="Montserrat"/>
                <a:cs typeface="Montserrat"/>
                <a:sym typeface="Montserrat"/>
              </a:rPr>
              <a:t>memisahkan konten ke dalam kelompok yang jelas</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p:txBody>
      </p:sp>
      <p:pic>
        <p:nvPicPr>
          <p:cNvPr id="680" name="Google Shape;680;p86">
            <a:hlinkClick r:id="rId3"/>
          </p:cNvPr>
          <p:cNvPicPr preferRelativeResize="0"/>
          <p:nvPr/>
        </p:nvPicPr>
        <p:blipFill rotWithShape="1">
          <a:blip r:embed="rId4">
            <a:alphaModFix/>
          </a:blip>
          <a:srcRect b="0" l="13300" r="13300" t="0"/>
          <a:stretch/>
        </p:blipFill>
        <p:spPr>
          <a:xfrm>
            <a:off x="5486400" y="1280150"/>
            <a:ext cx="3017523" cy="2743202"/>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4" name="Shape 684"/>
        <p:cNvGrpSpPr/>
        <p:nvPr/>
      </p:nvGrpSpPr>
      <p:grpSpPr>
        <a:xfrm>
          <a:off x="0" y="0"/>
          <a:ext cx="0" cy="0"/>
          <a:chOff x="0" y="0"/>
          <a:chExt cx="0" cy="0"/>
        </a:xfrm>
      </p:grpSpPr>
      <p:sp>
        <p:nvSpPr>
          <p:cNvPr id="685" name="Google Shape;685;p8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86" name="Google Shape;686;p8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Buttons, Cards dan Dividers</a:t>
            </a:r>
            <a:endParaRPr>
              <a:latin typeface="Montserrat"/>
              <a:ea typeface="Montserrat"/>
              <a:cs typeface="Montserrat"/>
              <a:sym typeface="Montserrat"/>
            </a:endParaRPr>
          </a:p>
        </p:txBody>
      </p:sp>
      <p:sp>
        <p:nvSpPr>
          <p:cNvPr id="687" name="Google Shape;687;p87"/>
          <p:cNvSpPr txBox="1"/>
          <p:nvPr/>
        </p:nvSpPr>
        <p:spPr>
          <a:xfrm>
            <a:off x="685800" y="1185675"/>
            <a:ext cx="26436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Ada dua tipe pembagi yaitu:</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b="1" lang="en" sz="1200">
                <a:solidFill>
                  <a:srgbClr val="F2AB2F"/>
                </a:solidFill>
                <a:latin typeface="Montserrat"/>
                <a:ea typeface="Montserrat"/>
                <a:cs typeface="Montserrat"/>
                <a:sym typeface="Montserrat"/>
              </a:rPr>
              <a:t>1) Full-bleed dividers</a:t>
            </a:r>
            <a:endParaRPr b="1" sz="1200">
              <a:solidFill>
                <a:srgbClr val="F2AB2F"/>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Pembagi full-bleed memisahkan konten menjadi beberapa bagian, seperti:</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1) Memisahkan daftar dan elemen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    tata letak</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2) Menunjukkan di mana suatu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    elemen dapat berkembang</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p:txBody>
      </p:sp>
      <p:pic>
        <p:nvPicPr>
          <p:cNvPr id="688" name="Google Shape;688;p87">
            <a:hlinkClick r:id="rId3"/>
          </p:cNvPr>
          <p:cNvPicPr preferRelativeResize="0"/>
          <p:nvPr/>
        </p:nvPicPr>
        <p:blipFill rotWithShape="1">
          <a:blip r:embed="rId4">
            <a:alphaModFix/>
          </a:blip>
          <a:srcRect b="11866" l="0" r="0" t="11866"/>
          <a:stretch/>
        </p:blipFill>
        <p:spPr>
          <a:xfrm>
            <a:off x="3725200" y="1127750"/>
            <a:ext cx="4892776" cy="2743200"/>
          </a:xfrm>
          <a:prstGeom prst="rect">
            <a:avLst/>
          </a:prstGeom>
          <a:noFill/>
          <a:ln>
            <a:noFill/>
          </a:ln>
        </p:spPr>
      </p:pic>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sp>
        <p:nvSpPr>
          <p:cNvPr id="693" name="Google Shape;693;p8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94" name="Google Shape;694;p8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Buttons, Cards dan Dividers</a:t>
            </a:r>
            <a:endParaRPr>
              <a:latin typeface="Montserrat"/>
              <a:ea typeface="Montserrat"/>
              <a:cs typeface="Montserrat"/>
              <a:sym typeface="Montserrat"/>
            </a:endParaRPr>
          </a:p>
        </p:txBody>
      </p:sp>
      <p:sp>
        <p:nvSpPr>
          <p:cNvPr id="695" name="Google Shape;695;p88"/>
          <p:cNvSpPr txBox="1"/>
          <p:nvPr/>
        </p:nvSpPr>
        <p:spPr>
          <a:xfrm>
            <a:off x="685800" y="1185675"/>
            <a:ext cx="26436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200">
                <a:solidFill>
                  <a:srgbClr val="F2AB2F"/>
                </a:solidFill>
                <a:latin typeface="Montserrat"/>
                <a:ea typeface="Montserrat"/>
                <a:cs typeface="Montserrat"/>
                <a:sym typeface="Montserrat"/>
              </a:rPr>
              <a:t>2) Inset dividers</a:t>
            </a:r>
            <a:endParaRPr b="1" sz="1200">
              <a:solidFill>
                <a:srgbClr val="F2AB2F"/>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Pembagi sisipan atau inset dividers memisahkan konten terkait, seperti email di utas email.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Mereka perlu digunakan dengan elemen penahan seperti ikon atau avatar, dan rata kiri dengan judul pada app bar.</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p:txBody>
      </p:sp>
      <p:pic>
        <p:nvPicPr>
          <p:cNvPr id="696" name="Google Shape;696;p88">
            <a:hlinkClick r:id="rId3"/>
          </p:cNvPr>
          <p:cNvPicPr preferRelativeResize="0"/>
          <p:nvPr/>
        </p:nvPicPr>
        <p:blipFill rotWithShape="1">
          <a:blip r:embed="rId4">
            <a:alphaModFix/>
          </a:blip>
          <a:srcRect b="8990" l="0" r="0" t="8982"/>
          <a:stretch/>
        </p:blipFill>
        <p:spPr>
          <a:xfrm>
            <a:off x="3725200" y="1127750"/>
            <a:ext cx="4892775" cy="2743201"/>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0" name="Shape 700"/>
        <p:cNvGrpSpPr/>
        <p:nvPr/>
      </p:nvGrpSpPr>
      <p:grpSpPr>
        <a:xfrm>
          <a:off x="0" y="0"/>
          <a:ext cx="0" cy="0"/>
          <a:chOff x="0" y="0"/>
          <a:chExt cx="0" cy="0"/>
        </a:xfrm>
      </p:grpSpPr>
      <p:sp>
        <p:nvSpPr>
          <p:cNvPr id="701" name="Google Shape;701;p89"/>
          <p:cNvSpPr txBox="1"/>
          <p:nvPr>
            <p:ph type="title"/>
          </p:nvPr>
        </p:nvSpPr>
        <p:spPr>
          <a:xfrm>
            <a:off x="914400" y="55335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000">
                <a:latin typeface="Montserrat"/>
                <a:ea typeface="Montserrat"/>
                <a:cs typeface="Montserrat"/>
                <a:sym typeface="Montserrat"/>
              </a:rPr>
              <a:t>Saatnya kita</a:t>
            </a:r>
            <a:endParaRPr sz="2000">
              <a:latin typeface="Montserrat"/>
              <a:ea typeface="Montserrat"/>
              <a:cs typeface="Montserrat"/>
              <a:sym typeface="Montserrat"/>
            </a:endParaRPr>
          </a:p>
          <a:p>
            <a:pPr indent="0" lvl="0" marL="0" rtl="0" algn="ctr">
              <a:spcBef>
                <a:spcPts val="0"/>
              </a:spcBef>
              <a:spcAft>
                <a:spcPts val="0"/>
              </a:spcAft>
              <a:buNone/>
            </a:pPr>
            <a:r>
              <a:rPr lang="en" sz="3000">
                <a:solidFill>
                  <a:schemeClr val="accent1"/>
                </a:solidFill>
                <a:latin typeface="Montserrat"/>
                <a:ea typeface="Montserrat"/>
                <a:cs typeface="Montserrat"/>
                <a:sym typeface="Montserrat"/>
              </a:rPr>
              <a:t>Quiz!</a:t>
            </a:r>
            <a:endParaRPr sz="3000">
              <a:solidFill>
                <a:schemeClr val="accent1"/>
              </a:solidFill>
              <a:latin typeface="Montserrat"/>
              <a:ea typeface="Montserrat"/>
              <a:cs typeface="Montserrat"/>
              <a:sym typeface="Montserrat"/>
            </a:endParaRPr>
          </a:p>
        </p:txBody>
      </p:sp>
      <p:sp>
        <p:nvSpPr>
          <p:cNvPr id="702" name="Google Shape;702;p8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703" name="Google Shape;703;p89"/>
          <p:cNvPicPr preferRelativeResize="0"/>
          <p:nvPr/>
        </p:nvPicPr>
        <p:blipFill rotWithShape="1">
          <a:blip r:embed="rId3">
            <a:alphaModFix/>
          </a:blip>
          <a:srcRect b="35463" l="16341" r="18912" t="0"/>
          <a:stretch/>
        </p:blipFill>
        <p:spPr>
          <a:xfrm>
            <a:off x="2421325" y="2177750"/>
            <a:ext cx="3903698" cy="2965752"/>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7" name="Shape 707"/>
        <p:cNvGrpSpPr/>
        <p:nvPr/>
      </p:nvGrpSpPr>
      <p:grpSpPr>
        <a:xfrm>
          <a:off x="0" y="0"/>
          <a:ext cx="0" cy="0"/>
          <a:chOff x="0" y="0"/>
          <a:chExt cx="0" cy="0"/>
        </a:xfrm>
      </p:grpSpPr>
      <p:sp>
        <p:nvSpPr>
          <p:cNvPr id="708" name="Google Shape;708;p9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709" name="Google Shape;709;p90"/>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600">
                <a:solidFill>
                  <a:schemeClr val="accent1"/>
                </a:solidFill>
                <a:latin typeface="Montserrat"/>
                <a:ea typeface="Montserrat"/>
                <a:cs typeface="Montserrat"/>
                <a:sym typeface="Montserrat"/>
              </a:rPr>
              <a:t>1.</a:t>
            </a:r>
            <a:r>
              <a:rPr b="1" lang="en" sz="1600">
                <a:solidFill>
                  <a:schemeClr val="lt1"/>
                </a:solidFill>
                <a:latin typeface="Montserrat"/>
                <a:ea typeface="Montserrat"/>
                <a:cs typeface="Montserrat"/>
                <a:sym typeface="Montserrat"/>
              </a:rPr>
              <a:t> Berikut adalah alasan mengapa design system penting, kecuali…</a:t>
            </a:r>
            <a:endParaRPr b="1" sz="16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Menghilangkan inkonsistensi</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Mempercepat proses desain</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Menambah beban kognitif</a:t>
            </a:r>
            <a:endParaRPr sz="1200">
              <a:solidFill>
                <a:schemeClr val="lt1"/>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None/>
            </a:pPr>
            <a:r>
              <a:t/>
            </a:r>
            <a:endParaRPr sz="1200">
              <a:solidFill>
                <a:schemeClr val="lt1"/>
              </a:solidFill>
              <a:latin typeface="Montserrat Medium"/>
              <a:ea typeface="Montserrat Medium"/>
              <a:cs typeface="Montserrat Medium"/>
              <a:sym typeface="Montserrat Medium"/>
            </a:endParaRPr>
          </a:p>
        </p:txBody>
      </p:sp>
      <p:sp>
        <p:nvSpPr>
          <p:cNvPr id="710" name="Google Shape;710;p9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4" name="Shape 714"/>
        <p:cNvGrpSpPr/>
        <p:nvPr/>
      </p:nvGrpSpPr>
      <p:grpSpPr>
        <a:xfrm>
          <a:off x="0" y="0"/>
          <a:ext cx="0" cy="0"/>
          <a:chOff x="0" y="0"/>
          <a:chExt cx="0" cy="0"/>
        </a:xfrm>
      </p:grpSpPr>
      <p:sp>
        <p:nvSpPr>
          <p:cNvPr id="715" name="Google Shape;715;p9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716" name="Google Shape;716;p91"/>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600">
                <a:solidFill>
                  <a:schemeClr val="accent1"/>
                </a:solidFill>
                <a:latin typeface="Montserrat"/>
                <a:ea typeface="Montserrat"/>
                <a:cs typeface="Montserrat"/>
                <a:sym typeface="Montserrat"/>
              </a:rPr>
              <a:t>1.</a:t>
            </a:r>
            <a:r>
              <a:rPr b="1" lang="en" sz="1600">
                <a:solidFill>
                  <a:schemeClr val="lt1"/>
                </a:solidFill>
                <a:latin typeface="Montserrat"/>
                <a:ea typeface="Montserrat"/>
                <a:cs typeface="Montserrat"/>
                <a:sym typeface="Montserrat"/>
              </a:rPr>
              <a:t> Berikut adalah alasan - alasan mengapa design system penting, kecuali…</a:t>
            </a:r>
            <a:endParaRPr b="1" sz="16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a:solidFill>
                <a:srgbClr val="A667A5"/>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Menghilangkan inkonsistensi</a:t>
            </a:r>
            <a:endParaRPr sz="1200">
              <a:solidFill>
                <a:srgbClr val="A667A5"/>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Mempercepat proses desain</a:t>
            </a:r>
            <a:endParaRPr sz="1200">
              <a:solidFill>
                <a:srgbClr val="A667A5"/>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a:buAutoNum type="alphaUcPeriod"/>
            </a:pPr>
            <a:r>
              <a:rPr b="1" lang="en" sz="1200">
                <a:solidFill>
                  <a:schemeClr val="lt1"/>
                </a:solidFill>
                <a:latin typeface="Montserrat"/>
                <a:ea typeface="Montserrat"/>
                <a:cs typeface="Montserrat"/>
                <a:sym typeface="Montserrat"/>
              </a:rPr>
              <a:t>Menambah beban kognitif</a:t>
            </a:r>
            <a:endParaRPr b="1" sz="12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a:solidFill>
                <a:schemeClr val="lt1"/>
              </a:solidFill>
              <a:latin typeface="Montserrat Medium"/>
              <a:ea typeface="Montserrat Medium"/>
              <a:cs typeface="Montserrat Medium"/>
              <a:sym typeface="Montserrat Medium"/>
            </a:endParaRPr>
          </a:p>
        </p:txBody>
      </p:sp>
      <p:sp>
        <p:nvSpPr>
          <p:cNvPr id="717" name="Google Shape;717;p9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latin typeface="Montserrat"/>
                <a:ea typeface="Montserrat"/>
                <a:cs typeface="Montserrat"/>
                <a:sym typeface="Montserrat"/>
              </a:rPr>
              <a:t>‹#›</a:t>
            </a:fld>
            <a:endParaRPr>
              <a:latin typeface="Montserrat"/>
              <a:ea typeface="Montserrat"/>
              <a:cs typeface="Montserrat"/>
              <a:sym typeface="Montserrat"/>
            </a:endParaRPr>
          </a:p>
        </p:txBody>
      </p:sp>
      <p:sp>
        <p:nvSpPr>
          <p:cNvPr id="718" name="Google Shape;718;p91"/>
          <p:cNvSpPr/>
          <p:nvPr/>
        </p:nvSpPr>
        <p:spPr>
          <a:xfrm>
            <a:off x="685800" y="3155575"/>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200">
                <a:solidFill>
                  <a:srgbClr val="733572"/>
                </a:solidFill>
                <a:latin typeface="Montserrat"/>
                <a:ea typeface="Montserrat"/>
                <a:cs typeface="Montserrat"/>
                <a:sym typeface="Montserrat"/>
              </a:rPr>
              <a:t>Dengan adanya sebuah design system, beban kognitif pengguna berkurang bukan bertambah.</a:t>
            </a:r>
            <a:endParaRPr b="1" sz="1200">
              <a:solidFill>
                <a:srgbClr val="733572"/>
              </a:solidFill>
              <a:latin typeface="Montserrat"/>
              <a:ea typeface="Montserrat"/>
              <a:cs typeface="Montserrat"/>
              <a:sym typeface="Montserrat"/>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2" name="Shape 722"/>
        <p:cNvGrpSpPr/>
        <p:nvPr/>
      </p:nvGrpSpPr>
      <p:grpSpPr>
        <a:xfrm>
          <a:off x="0" y="0"/>
          <a:ext cx="0" cy="0"/>
          <a:chOff x="0" y="0"/>
          <a:chExt cx="0" cy="0"/>
        </a:xfrm>
      </p:grpSpPr>
      <p:sp>
        <p:nvSpPr>
          <p:cNvPr id="723" name="Google Shape;723;p9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724" name="Google Shape;724;p92"/>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600">
                <a:solidFill>
                  <a:schemeClr val="accent1"/>
                </a:solidFill>
                <a:latin typeface="Montserrat"/>
                <a:ea typeface="Montserrat"/>
                <a:cs typeface="Montserrat"/>
                <a:sym typeface="Montserrat"/>
              </a:rPr>
              <a:t>2.</a:t>
            </a:r>
            <a:r>
              <a:rPr b="1" lang="en" sz="1600">
                <a:solidFill>
                  <a:schemeClr val="lt1"/>
                </a:solidFill>
                <a:latin typeface="Montserrat"/>
                <a:ea typeface="Montserrat"/>
                <a:cs typeface="Montserrat"/>
                <a:sym typeface="Montserrat"/>
              </a:rPr>
              <a:t> Pernyataan yang tepat mengenai pengelompokkan visual adalah…</a:t>
            </a:r>
            <a:endParaRPr b="1" sz="16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Elemen dalam tata letak yang memiliki konten atau fungsi serupa yang dikelompokkan bersama dan dipisahkan dari elemen lain.</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Kelompok warna primer dan sekunder yang harmonis.</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Garis tipis yang mengelompokkan konten dalam daftar dan tata letak.</a:t>
            </a:r>
            <a:endParaRPr sz="1200">
              <a:solidFill>
                <a:schemeClr val="lt1"/>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None/>
            </a:pPr>
            <a:r>
              <a:t/>
            </a:r>
            <a:endParaRPr sz="1200">
              <a:solidFill>
                <a:schemeClr val="lt1"/>
              </a:solidFill>
              <a:latin typeface="Montserrat Medium"/>
              <a:ea typeface="Montserrat Medium"/>
              <a:cs typeface="Montserrat Medium"/>
              <a:sym typeface="Montserrat Medium"/>
            </a:endParaRPr>
          </a:p>
        </p:txBody>
      </p:sp>
      <p:sp>
        <p:nvSpPr>
          <p:cNvPr id="725" name="Google Shape;725;p9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latin typeface="Montserrat"/>
                <a:ea typeface="Montserrat"/>
                <a:cs typeface="Montserrat"/>
                <a:sym typeface="Montserrat"/>
              </a:rPr>
              <a:t>‹#›</a:t>
            </a:fld>
            <a:endParaRPr>
              <a:latin typeface="Montserrat"/>
              <a:ea typeface="Montserrat"/>
              <a:cs typeface="Montserrat"/>
              <a:sym typeface="Montserrat"/>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9" name="Shape 729"/>
        <p:cNvGrpSpPr/>
        <p:nvPr/>
      </p:nvGrpSpPr>
      <p:grpSpPr>
        <a:xfrm>
          <a:off x="0" y="0"/>
          <a:ext cx="0" cy="0"/>
          <a:chOff x="0" y="0"/>
          <a:chExt cx="0" cy="0"/>
        </a:xfrm>
      </p:grpSpPr>
      <p:sp>
        <p:nvSpPr>
          <p:cNvPr id="730" name="Google Shape;730;p9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731" name="Google Shape;731;p93"/>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600">
                <a:solidFill>
                  <a:schemeClr val="accent1"/>
                </a:solidFill>
                <a:latin typeface="Montserrat"/>
                <a:ea typeface="Montserrat"/>
                <a:cs typeface="Montserrat"/>
                <a:sym typeface="Montserrat"/>
              </a:rPr>
              <a:t>2</a:t>
            </a:r>
            <a:r>
              <a:rPr b="1" lang="en" sz="1600">
                <a:solidFill>
                  <a:schemeClr val="accent1"/>
                </a:solidFill>
                <a:latin typeface="Montserrat"/>
                <a:ea typeface="Montserrat"/>
                <a:cs typeface="Montserrat"/>
                <a:sym typeface="Montserrat"/>
              </a:rPr>
              <a:t>.</a:t>
            </a:r>
            <a:r>
              <a:rPr b="1" lang="en" sz="1600">
                <a:solidFill>
                  <a:schemeClr val="lt1"/>
                </a:solidFill>
                <a:latin typeface="Montserrat"/>
                <a:ea typeface="Montserrat"/>
                <a:cs typeface="Montserrat"/>
                <a:sym typeface="Montserrat"/>
              </a:rPr>
              <a:t> </a:t>
            </a:r>
            <a:r>
              <a:rPr b="1" lang="en" sz="1600">
                <a:solidFill>
                  <a:schemeClr val="lt1"/>
                </a:solidFill>
                <a:latin typeface="Montserrat"/>
                <a:ea typeface="Montserrat"/>
                <a:cs typeface="Montserrat"/>
                <a:sym typeface="Montserrat"/>
              </a:rPr>
              <a:t>Pernyataan yang tepat mengenai pengelompokkan visual adalah…</a:t>
            </a:r>
            <a:endParaRPr b="1" sz="16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a:buAutoNum type="alphaUcPeriod"/>
            </a:pPr>
            <a:r>
              <a:rPr b="1" lang="en" sz="1200">
                <a:solidFill>
                  <a:schemeClr val="lt1"/>
                </a:solidFill>
                <a:latin typeface="Montserrat"/>
                <a:ea typeface="Montserrat"/>
                <a:cs typeface="Montserrat"/>
                <a:sym typeface="Montserrat"/>
              </a:rPr>
              <a:t>Elemen dalam tata letak yang memiliki konten atau fungsi serupa yang dikelompokkan bersama dan dipisahkan dari elemen lain.</a:t>
            </a:r>
            <a:endParaRPr b="1" sz="1200">
              <a:solidFill>
                <a:srgbClr val="A667A5"/>
              </a:solidFill>
              <a:latin typeface="Montserrat"/>
              <a:ea typeface="Montserrat"/>
              <a:cs typeface="Montserrat"/>
              <a:sym typeface="Montserrat"/>
            </a:endParaRPr>
          </a:p>
          <a:p>
            <a:pPr indent="-304800" lvl="0" marL="457200" rtl="0" algn="l">
              <a:lnSpc>
                <a:spcPct val="115000"/>
              </a:lnSpc>
              <a:spcBef>
                <a:spcPts val="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Kelompok warna primer dan sekunder yang harmonis.</a:t>
            </a:r>
            <a:endParaRPr sz="1200">
              <a:solidFill>
                <a:srgbClr val="A667A5"/>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G</a:t>
            </a:r>
            <a:r>
              <a:rPr lang="en" sz="1200">
                <a:solidFill>
                  <a:srgbClr val="A667A5"/>
                </a:solidFill>
                <a:latin typeface="Montserrat Medium"/>
                <a:ea typeface="Montserrat Medium"/>
                <a:cs typeface="Montserrat Medium"/>
                <a:sym typeface="Montserrat Medium"/>
              </a:rPr>
              <a:t>aris tipis yang mengelompokkan konten dalam daftar dan tata letak.</a:t>
            </a:r>
            <a:endParaRPr sz="1200">
              <a:solidFill>
                <a:srgbClr val="A667A5"/>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None/>
            </a:pPr>
            <a:r>
              <a:t/>
            </a:r>
            <a:endParaRPr sz="1200">
              <a:solidFill>
                <a:srgbClr val="A667A5"/>
              </a:solidFill>
              <a:latin typeface="Montserrat Medium"/>
              <a:ea typeface="Montserrat Medium"/>
              <a:cs typeface="Montserrat Medium"/>
              <a:sym typeface="Montserrat Medium"/>
            </a:endParaRPr>
          </a:p>
        </p:txBody>
      </p:sp>
      <p:sp>
        <p:nvSpPr>
          <p:cNvPr id="732" name="Google Shape;732;p9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latin typeface="Montserrat"/>
                <a:ea typeface="Montserrat"/>
                <a:cs typeface="Montserrat"/>
                <a:sym typeface="Montserrat"/>
              </a:rPr>
              <a:t>‹#›</a:t>
            </a:fld>
            <a:endParaRPr>
              <a:latin typeface="Montserrat"/>
              <a:ea typeface="Montserrat"/>
              <a:cs typeface="Montserrat"/>
              <a:sym typeface="Montserrat"/>
            </a:endParaRPr>
          </a:p>
        </p:txBody>
      </p:sp>
      <p:sp>
        <p:nvSpPr>
          <p:cNvPr id="733" name="Google Shape;733;p93"/>
          <p:cNvSpPr/>
          <p:nvPr/>
        </p:nvSpPr>
        <p:spPr>
          <a:xfrm>
            <a:off x="685800" y="3079375"/>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200">
                <a:solidFill>
                  <a:srgbClr val="733572"/>
                </a:solidFill>
                <a:latin typeface="Montserrat"/>
                <a:ea typeface="Montserrat"/>
                <a:cs typeface="Montserrat"/>
                <a:sym typeface="Montserrat"/>
              </a:rPr>
              <a:t>Opsi B adalah colour palette, dan opsi C adalah divider. Opsi A adalah definisi dari pengelompokkan visual.</a:t>
            </a:r>
            <a:endParaRPr b="1" sz="1200">
              <a:solidFill>
                <a:srgbClr val="733572"/>
              </a:solidFill>
              <a:latin typeface="Montserrat"/>
              <a:ea typeface="Montserrat"/>
              <a:cs typeface="Montserrat"/>
              <a:sym typeface="Montserrat"/>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7" name="Shape 737"/>
        <p:cNvGrpSpPr/>
        <p:nvPr/>
      </p:nvGrpSpPr>
      <p:grpSpPr>
        <a:xfrm>
          <a:off x="0" y="0"/>
          <a:ext cx="0" cy="0"/>
          <a:chOff x="0" y="0"/>
          <a:chExt cx="0" cy="0"/>
        </a:xfrm>
      </p:grpSpPr>
      <p:sp>
        <p:nvSpPr>
          <p:cNvPr id="738" name="Google Shape;738;p9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739" name="Google Shape;739;p94"/>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600">
                <a:solidFill>
                  <a:schemeClr val="accent1"/>
                </a:solidFill>
                <a:latin typeface="Montserrat"/>
                <a:ea typeface="Montserrat"/>
                <a:cs typeface="Montserrat"/>
                <a:sym typeface="Montserrat"/>
              </a:rPr>
              <a:t>3</a:t>
            </a:r>
            <a:r>
              <a:rPr b="1" lang="en" sz="1600">
                <a:solidFill>
                  <a:schemeClr val="accent1"/>
                </a:solidFill>
                <a:latin typeface="Montserrat"/>
                <a:ea typeface="Montserrat"/>
                <a:cs typeface="Montserrat"/>
                <a:sym typeface="Montserrat"/>
              </a:rPr>
              <a:t>.</a:t>
            </a:r>
            <a:r>
              <a:rPr b="1" lang="en" sz="1600">
                <a:solidFill>
                  <a:schemeClr val="lt1"/>
                </a:solidFill>
                <a:latin typeface="Montserrat"/>
                <a:ea typeface="Montserrat"/>
                <a:cs typeface="Montserrat"/>
                <a:sym typeface="Montserrat"/>
              </a:rPr>
              <a:t> Berikut adalah beberapa alat yang dapat membantu membuat sebuah </a:t>
            </a:r>
            <a:r>
              <a:rPr b="1" lang="en" sz="1600">
                <a:solidFill>
                  <a:schemeClr val="lt1"/>
                </a:solidFill>
                <a:latin typeface="Montserrat"/>
                <a:ea typeface="Montserrat"/>
                <a:cs typeface="Montserrat"/>
                <a:sym typeface="Montserrat"/>
              </a:rPr>
              <a:t>colour</a:t>
            </a:r>
            <a:r>
              <a:rPr b="1" lang="en" sz="1600">
                <a:solidFill>
                  <a:schemeClr val="lt1"/>
                </a:solidFill>
                <a:latin typeface="Montserrat"/>
                <a:ea typeface="Montserrat"/>
                <a:cs typeface="Montserrat"/>
                <a:sym typeface="Montserrat"/>
              </a:rPr>
              <a:t> system, kecuali…</a:t>
            </a:r>
            <a:endParaRPr b="1" sz="16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Coolors.co</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Archetype</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Color Hunt</a:t>
            </a:r>
            <a:endParaRPr sz="1200">
              <a:solidFill>
                <a:schemeClr val="lt1"/>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None/>
            </a:pPr>
            <a:r>
              <a:t/>
            </a:r>
            <a:endParaRPr sz="1200">
              <a:solidFill>
                <a:schemeClr val="lt1"/>
              </a:solidFill>
              <a:latin typeface="Montserrat Medium"/>
              <a:ea typeface="Montserrat Medium"/>
              <a:cs typeface="Montserrat Medium"/>
              <a:sym typeface="Montserrat Medium"/>
            </a:endParaRPr>
          </a:p>
        </p:txBody>
      </p:sp>
      <p:sp>
        <p:nvSpPr>
          <p:cNvPr id="740" name="Google Shape;740;p9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latin typeface="Montserrat"/>
                <a:ea typeface="Montserrat"/>
                <a:cs typeface="Montserrat"/>
                <a:sym typeface="Montserrat"/>
              </a:rPr>
              <a:t>‹#›</a:t>
            </a:fld>
            <a:endParaRPr>
              <a:latin typeface="Montserrat"/>
              <a:ea typeface="Montserrat"/>
              <a:cs typeface="Montserrat"/>
              <a:sym typeface="Montserrat"/>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4" name="Shape 744"/>
        <p:cNvGrpSpPr/>
        <p:nvPr/>
      </p:nvGrpSpPr>
      <p:grpSpPr>
        <a:xfrm>
          <a:off x="0" y="0"/>
          <a:ext cx="0" cy="0"/>
          <a:chOff x="0" y="0"/>
          <a:chExt cx="0" cy="0"/>
        </a:xfrm>
      </p:grpSpPr>
      <p:sp>
        <p:nvSpPr>
          <p:cNvPr id="745" name="Google Shape;745;p9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746" name="Google Shape;746;p95"/>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600">
                <a:solidFill>
                  <a:schemeClr val="accent1"/>
                </a:solidFill>
                <a:latin typeface="Montserrat"/>
                <a:ea typeface="Montserrat"/>
                <a:cs typeface="Montserrat"/>
                <a:sym typeface="Montserrat"/>
              </a:rPr>
              <a:t>3.</a:t>
            </a:r>
            <a:r>
              <a:rPr b="1" lang="en" sz="1600">
                <a:solidFill>
                  <a:schemeClr val="lt1"/>
                </a:solidFill>
                <a:latin typeface="Montserrat"/>
                <a:ea typeface="Montserrat"/>
                <a:cs typeface="Montserrat"/>
                <a:sym typeface="Montserrat"/>
              </a:rPr>
              <a:t> Berikut adalah beberapa alat yang dapat membantu membuat sebuah colour system, kecuali…</a:t>
            </a:r>
            <a:endParaRPr b="1" sz="16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Coolors.co</a:t>
            </a:r>
            <a:endParaRPr sz="1200">
              <a:solidFill>
                <a:srgbClr val="A667A5"/>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a:buAutoNum type="alphaUcPeriod"/>
            </a:pPr>
            <a:r>
              <a:rPr b="1" lang="en" sz="1200">
                <a:solidFill>
                  <a:schemeClr val="lt1"/>
                </a:solidFill>
                <a:latin typeface="Montserrat"/>
                <a:ea typeface="Montserrat"/>
                <a:cs typeface="Montserrat"/>
                <a:sym typeface="Montserrat"/>
              </a:rPr>
              <a:t>Archetype</a:t>
            </a:r>
            <a:endParaRPr b="1" sz="12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Color Hunt</a:t>
            </a:r>
            <a:endParaRPr sz="1200">
              <a:solidFill>
                <a:srgbClr val="A667A5"/>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None/>
            </a:pPr>
            <a:r>
              <a:t/>
            </a:r>
            <a:endParaRPr sz="1200">
              <a:solidFill>
                <a:schemeClr val="lt1"/>
              </a:solidFill>
              <a:latin typeface="Montserrat Medium"/>
              <a:ea typeface="Montserrat Medium"/>
              <a:cs typeface="Montserrat Medium"/>
              <a:sym typeface="Montserrat Medium"/>
            </a:endParaRPr>
          </a:p>
        </p:txBody>
      </p:sp>
      <p:sp>
        <p:nvSpPr>
          <p:cNvPr id="747" name="Google Shape;747;p9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latin typeface="Montserrat"/>
                <a:ea typeface="Montserrat"/>
                <a:cs typeface="Montserrat"/>
                <a:sym typeface="Montserrat"/>
              </a:rPr>
              <a:t>‹#›</a:t>
            </a:fld>
            <a:endParaRPr>
              <a:latin typeface="Montserrat"/>
              <a:ea typeface="Montserrat"/>
              <a:cs typeface="Montserrat"/>
              <a:sym typeface="Montserrat"/>
            </a:endParaRPr>
          </a:p>
        </p:txBody>
      </p:sp>
      <p:sp>
        <p:nvSpPr>
          <p:cNvPr id="748" name="Google Shape;748;p95"/>
          <p:cNvSpPr/>
          <p:nvPr/>
        </p:nvSpPr>
        <p:spPr>
          <a:xfrm>
            <a:off x="685800" y="3079375"/>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200">
                <a:solidFill>
                  <a:srgbClr val="733572"/>
                </a:solidFill>
                <a:latin typeface="Montserrat"/>
                <a:ea typeface="Montserrat"/>
                <a:cs typeface="Montserrat"/>
                <a:sym typeface="Montserrat"/>
              </a:rPr>
              <a:t>Archetype dapat digunakan untuk memilih pasangan font.</a:t>
            </a:r>
            <a:endParaRPr b="1" sz="1200">
              <a:solidFill>
                <a:srgbClr val="733572"/>
              </a:solidFill>
              <a:latin typeface="Montserrat"/>
              <a:ea typeface="Montserrat"/>
              <a:cs typeface="Montserrat"/>
              <a:sym typeface="Montserrat"/>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2" name="Shape 752"/>
        <p:cNvGrpSpPr/>
        <p:nvPr/>
      </p:nvGrpSpPr>
      <p:grpSpPr>
        <a:xfrm>
          <a:off x="0" y="0"/>
          <a:ext cx="0" cy="0"/>
          <a:chOff x="0" y="0"/>
          <a:chExt cx="0" cy="0"/>
        </a:xfrm>
      </p:grpSpPr>
      <p:sp>
        <p:nvSpPr>
          <p:cNvPr id="753" name="Google Shape;753;p9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754" name="Google Shape;754;p96"/>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600">
                <a:solidFill>
                  <a:schemeClr val="accent1"/>
                </a:solidFill>
                <a:latin typeface="Montserrat"/>
                <a:ea typeface="Montserrat"/>
                <a:cs typeface="Montserrat"/>
                <a:sym typeface="Montserrat"/>
              </a:rPr>
              <a:t>3.</a:t>
            </a:r>
            <a:r>
              <a:rPr b="1" lang="en" sz="1600">
                <a:solidFill>
                  <a:schemeClr val="lt1"/>
                </a:solidFill>
                <a:latin typeface="Montserrat"/>
                <a:ea typeface="Montserrat"/>
                <a:cs typeface="Montserrat"/>
                <a:sym typeface="Montserrat"/>
              </a:rPr>
              <a:t> Berikut adalah beberapa alat yang dapat membantu membuat sebuah type system, kecuali…</a:t>
            </a:r>
            <a:endParaRPr b="1" sz="16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Font Fabric</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Layout Grid Calculator</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Contrast Checker</a:t>
            </a:r>
            <a:endParaRPr sz="1200">
              <a:solidFill>
                <a:schemeClr val="lt1"/>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None/>
            </a:pPr>
            <a:r>
              <a:t/>
            </a:r>
            <a:endParaRPr sz="1200">
              <a:solidFill>
                <a:schemeClr val="lt1"/>
              </a:solidFill>
              <a:latin typeface="Montserrat Medium"/>
              <a:ea typeface="Montserrat Medium"/>
              <a:cs typeface="Montserrat Medium"/>
              <a:sym typeface="Montserrat Medium"/>
            </a:endParaRPr>
          </a:p>
        </p:txBody>
      </p:sp>
      <p:sp>
        <p:nvSpPr>
          <p:cNvPr id="755" name="Google Shape;755;p9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latin typeface="Montserrat"/>
                <a:ea typeface="Montserrat"/>
                <a:cs typeface="Montserrat"/>
                <a:sym typeface="Montserrat"/>
              </a:rPr>
              <a:t>‹#›</a:t>
            </a:fld>
            <a:endParaRPr>
              <a:latin typeface="Montserrat"/>
              <a:ea typeface="Montserrat"/>
              <a:cs typeface="Montserrat"/>
              <a:sym typeface="Montserrat"/>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9" name="Shape 759"/>
        <p:cNvGrpSpPr/>
        <p:nvPr/>
      </p:nvGrpSpPr>
      <p:grpSpPr>
        <a:xfrm>
          <a:off x="0" y="0"/>
          <a:ext cx="0" cy="0"/>
          <a:chOff x="0" y="0"/>
          <a:chExt cx="0" cy="0"/>
        </a:xfrm>
      </p:grpSpPr>
      <p:sp>
        <p:nvSpPr>
          <p:cNvPr id="760" name="Google Shape;760;p9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761" name="Google Shape;761;p97"/>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600">
                <a:solidFill>
                  <a:schemeClr val="accent1"/>
                </a:solidFill>
                <a:latin typeface="Montserrat"/>
                <a:ea typeface="Montserrat"/>
                <a:cs typeface="Montserrat"/>
                <a:sym typeface="Montserrat"/>
              </a:rPr>
              <a:t>3.</a:t>
            </a:r>
            <a:r>
              <a:rPr b="1" lang="en" sz="1600">
                <a:solidFill>
                  <a:schemeClr val="lt1"/>
                </a:solidFill>
                <a:latin typeface="Montserrat"/>
                <a:ea typeface="Montserrat"/>
                <a:cs typeface="Montserrat"/>
                <a:sym typeface="Montserrat"/>
              </a:rPr>
              <a:t> Berikut adalah beberapa alat yang dapat membantu membuat sebuah type system, kecuali…</a:t>
            </a:r>
            <a:endParaRPr b="1" sz="16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a:solidFill>
                <a:srgbClr val="A667A5"/>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Font Fabric</a:t>
            </a:r>
            <a:endParaRPr sz="1200">
              <a:solidFill>
                <a:srgbClr val="A667A5"/>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Layout Grid Calculator</a:t>
            </a:r>
            <a:endParaRPr sz="1200">
              <a:solidFill>
                <a:srgbClr val="A667A5"/>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a:buAutoNum type="alphaUcPeriod"/>
            </a:pPr>
            <a:r>
              <a:rPr b="1" lang="en" sz="1200">
                <a:solidFill>
                  <a:schemeClr val="lt1"/>
                </a:solidFill>
                <a:latin typeface="Montserrat"/>
                <a:ea typeface="Montserrat"/>
                <a:cs typeface="Montserrat"/>
                <a:sym typeface="Montserrat"/>
              </a:rPr>
              <a:t>Contrast Checker</a:t>
            </a:r>
            <a:endParaRPr b="1" sz="12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a:solidFill>
                <a:schemeClr val="lt1"/>
              </a:solidFill>
              <a:latin typeface="Montserrat Medium"/>
              <a:ea typeface="Montserrat Medium"/>
              <a:cs typeface="Montserrat Medium"/>
              <a:sym typeface="Montserrat Medium"/>
            </a:endParaRPr>
          </a:p>
        </p:txBody>
      </p:sp>
      <p:sp>
        <p:nvSpPr>
          <p:cNvPr id="762" name="Google Shape;762;p9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latin typeface="Montserrat"/>
                <a:ea typeface="Montserrat"/>
                <a:cs typeface="Montserrat"/>
                <a:sym typeface="Montserrat"/>
              </a:rPr>
              <a:t>‹#›</a:t>
            </a:fld>
            <a:endParaRPr>
              <a:latin typeface="Montserrat"/>
              <a:ea typeface="Montserrat"/>
              <a:cs typeface="Montserrat"/>
              <a:sym typeface="Montserrat"/>
            </a:endParaRPr>
          </a:p>
        </p:txBody>
      </p:sp>
      <p:sp>
        <p:nvSpPr>
          <p:cNvPr id="763" name="Google Shape;763;p97"/>
          <p:cNvSpPr/>
          <p:nvPr/>
        </p:nvSpPr>
        <p:spPr>
          <a:xfrm>
            <a:off x="685800" y="3079375"/>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200">
                <a:solidFill>
                  <a:srgbClr val="733572"/>
                </a:solidFill>
                <a:latin typeface="Montserrat"/>
                <a:ea typeface="Montserrat"/>
                <a:cs typeface="Montserrat"/>
                <a:sym typeface="Montserrat"/>
              </a:rPr>
              <a:t>Contrast checker adalah alat yang mengukur dan menilai kontras dari sepasang warna.</a:t>
            </a:r>
            <a:endParaRPr b="1" sz="1200">
              <a:solidFill>
                <a:srgbClr val="733572"/>
              </a:solidFill>
              <a:latin typeface="Montserrat"/>
              <a:ea typeface="Montserrat"/>
              <a:cs typeface="Montserrat"/>
              <a:sym typeface="Montserrat"/>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7" name="Shape 767"/>
        <p:cNvGrpSpPr/>
        <p:nvPr/>
      </p:nvGrpSpPr>
      <p:grpSpPr>
        <a:xfrm>
          <a:off x="0" y="0"/>
          <a:ext cx="0" cy="0"/>
          <a:chOff x="0" y="0"/>
          <a:chExt cx="0" cy="0"/>
        </a:xfrm>
      </p:grpSpPr>
      <p:sp>
        <p:nvSpPr>
          <p:cNvPr id="768" name="Google Shape;768;p9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769" name="Google Shape;769;p98"/>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600">
                <a:solidFill>
                  <a:schemeClr val="accent1"/>
                </a:solidFill>
                <a:latin typeface="Montserrat"/>
                <a:ea typeface="Montserrat"/>
                <a:cs typeface="Montserrat"/>
                <a:sym typeface="Montserrat"/>
              </a:rPr>
              <a:t>4</a:t>
            </a:r>
            <a:r>
              <a:rPr b="1" lang="en" sz="1600">
                <a:solidFill>
                  <a:schemeClr val="accent1"/>
                </a:solidFill>
                <a:latin typeface="Montserrat"/>
                <a:ea typeface="Montserrat"/>
                <a:cs typeface="Montserrat"/>
                <a:sym typeface="Montserrat"/>
              </a:rPr>
              <a:t>.</a:t>
            </a:r>
            <a:r>
              <a:rPr b="1" lang="en" sz="1600">
                <a:solidFill>
                  <a:schemeClr val="lt1"/>
                </a:solidFill>
                <a:latin typeface="Montserrat"/>
                <a:ea typeface="Montserrat"/>
                <a:cs typeface="Montserrat"/>
                <a:sym typeface="Montserrat"/>
              </a:rPr>
              <a:t> Berikut adalah</a:t>
            </a:r>
            <a:r>
              <a:rPr b="1" lang="en" sz="1600">
                <a:solidFill>
                  <a:schemeClr val="lt1"/>
                </a:solidFill>
                <a:latin typeface="Montserrat"/>
                <a:ea typeface="Montserrat"/>
                <a:cs typeface="Montserrat"/>
                <a:sym typeface="Montserrat"/>
              </a:rPr>
              <a:t> metode spacing yang umum digunakan, kecuali…</a:t>
            </a:r>
            <a:endParaRPr b="1" sz="16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Padding</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Alignment</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Placing</a:t>
            </a:r>
            <a:endParaRPr sz="1200">
              <a:solidFill>
                <a:schemeClr val="lt1"/>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None/>
            </a:pPr>
            <a:r>
              <a:t/>
            </a:r>
            <a:endParaRPr sz="1200">
              <a:solidFill>
                <a:schemeClr val="lt1"/>
              </a:solidFill>
              <a:latin typeface="Montserrat Medium"/>
              <a:ea typeface="Montserrat Medium"/>
              <a:cs typeface="Montserrat Medium"/>
              <a:sym typeface="Montserrat Medium"/>
            </a:endParaRPr>
          </a:p>
        </p:txBody>
      </p:sp>
      <p:sp>
        <p:nvSpPr>
          <p:cNvPr id="770" name="Google Shape;770;p9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latin typeface="Montserrat"/>
                <a:ea typeface="Montserrat"/>
                <a:cs typeface="Montserrat"/>
                <a:sym typeface="Montserrat"/>
              </a:rPr>
              <a:t>‹#›</a:t>
            </a:fld>
            <a:endParaRPr>
              <a:latin typeface="Montserrat"/>
              <a:ea typeface="Montserrat"/>
              <a:cs typeface="Montserrat"/>
              <a:sym typeface="Montserrat"/>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4" name="Shape 774"/>
        <p:cNvGrpSpPr/>
        <p:nvPr/>
      </p:nvGrpSpPr>
      <p:grpSpPr>
        <a:xfrm>
          <a:off x="0" y="0"/>
          <a:ext cx="0" cy="0"/>
          <a:chOff x="0" y="0"/>
          <a:chExt cx="0" cy="0"/>
        </a:xfrm>
      </p:grpSpPr>
      <p:sp>
        <p:nvSpPr>
          <p:cNvPr id="775" name="Google Shape;775;p9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776" name="Google Shape;776;p99"/>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600">
                <a:solidFill>
                  <a:schemeClr val="accent1"/>
                </a:solidFill>
                <a:latin typeface="Montserrat"/>
                <a:ea typeface="Montserrat"/>
                <a:cs typeface="Montserrat"/>
                <a:sym typeface="Montserrat"/>
              </a:rPr>
              <a:t>4.</a:t>
            </a:r>
            <a:r>
              <a:rPr b="1" lang="en" sz="1600">
                <a:solidFill>
                  <a:schemeClr val="lt1"/>
                </a:solidFill>
                <a:latin typeface="Montserrat"/>
                <a:ea typeface="Montserrat"/>
                <a:cs typeface="Montserrat"/>
                <a:sym typeface="Montserrat"/>
              </a:rPr>
              <a:t> Berikut adalah metode spacing yang umum digunakan, kecuali…</a:t>
            </a:r>
            <a:endParaRPr b="1" sz="16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Padding</a:t>
            </a:r>
            <a:endParaRPr sz="1200">
              <a:solidFill>
                <a:srgbClr val="A667A5"/>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Alignment</a:t>
            </a:r>
            <a:endParaRPr sz="1200">
              <a:solidFill>
                <a:srgbClr val="A667A5"/>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a:buAutoNum type="alphaUcPeriod"/>
            </a:pPr>
            <a:r>
              <a:rPr b="1" lang="en" sz="1200">
                <a:solidFill>
                  <a:schemeClr val="lt1"/>
                </a:solidFill>
                <a:latin typeface="Montserrat"/>
                <a:ea typeface="Montserrat"/>
                <a:cs typeface="Montserrat"/>
                <a:sym typeface="Montserrat"/>
              </a:rPr>
              <a:t>Placing</a:t>
            </a:r>
            <a:endParaRPr b="1" sz="12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a:solidFill>
                <a:schemeClr val="lt1"/>
              </a:solidFill>
              <a:latin typeface="Montserrat Medium"/>
              <a:ea typeface="Montserrat Medium"/>
              <a:cs typeface="Montserrat Medium"/>
              <a:sym typeface="Montserrat Medium"/>
            </a:endParaRPr>
          </a:p>
        </p:txBody>
      </p:sp>
      <p:sp>
        <p:nvSpPr>
          <p:cNvPr id="777" name="Google Shape;777;p9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latin typeface="Montserrat"/>
                <a:ea typeface="Montserrat"/>
                <a:cs typeface="Montserrat"/>
                <a:sym typeface="Montserrat"/>
              </a:rPr>
              <a:t>‹#›</a:t>
            </a:fld>
            <a:endParaRPr>
              <a:latin typeface="Montserrat"/>
              <a:ea typeface="Montserrat"/>
              <a:cs typeface="Montserrat"/>
              <a:sym typeface="Montserrat"/>
            </a:endParaRPr>
          </a:p>
        </p:txBody>
      </p:sp>
      <p:sp>
        <p:nvSpPr>
          <p:cNvPr id="778" name="Google Shape;778;p99"/>
          <p:cNvSpPr/>
          <p:nvPr/>
        </p:nvSpPr>
        <p:spPr>
          <a:xfrm>
            <a:off x="685800" y="2721750"/>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200">
                <a:solidFill>
                  <a:srgbClr val="733572"/>
                </a:solidFill>
                <a:latin typeface="Montserrat"/>
                <a:ea typeface="Montserrat"/>
                <a:cs typeface="Montserrat"/>
                <a:sym typeface="Montserrat"/>
              </a:rPr>
              <a:t>Ada tiga metode spacing yang paling umum digunakan yaitu padding, dimensions dan alignment.</a:t>
            </a:r>
            <a:endParaRPr b="1" sz="1200">
              <a:solidFill>
                <a:srgbClr val="733572"/>
              </a:solidFill>
              <a:latin typeface="Montserrat"/>
              <a:ea typeface="Montserrat"/>
              <a:cs typeface="Montserrat"/>
              <a:sym typeface="Montserrat"/>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2" name="Shape 782"/>
        <p:cNvGrpSpPr/>
        <p:nvPr/>
      </p:nvGrpSpPr>
      <p:grpSpPr>
        <a:xfrm>
          <a:off x="0" y="0"/>
          <a:ext cx="0" cy="0"/>
          <a:chOff x="0" y="0"/>
          <a:chExt cx="0" cy="0"/>
        </a:xfrm>
      </p:grpSpPr>
      <p:sp>
        <p:nvSpPr>
          <p:cNvPr id="783" name="Google Shape;783;p10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784" name="Google Shape;784;p100"/>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600">
                <a:solidFill>
                  <a:schemeClr val="accent1"/>
                </a:solidFill>
                <a:latin typeface="Montserrat"/>
                <a:ea typeface="Montserrat"/>
                <a:cs typeface="Montserrat"/>
                <a:sym typeface="Montserrat"/>
              </a:rPr>
              <a:t>5</a:t>
            </a:r>
            <a:r>
              <a:rPr b="1" lang="en" sz="1600">
                <a:solidFill>
                  <a:schemeClr val="accent1"/>
                </a:solidFill>
                <a:latin typeface="Montserrat"/>
                <a:ea typeface="Montserrat"/>
                <a:cs typeface="Montserrat"/>
                <a:sym typeface="Montserrat"/>
              </a:rPr>
              <a:t>.</a:t>
            </a:r>
            <a:r>
              <a:rPr b="1" lang="en" sz="1600">
                <a:solidFill>
                  <a:schemeClr val="lt1"/>
                </a:solidFill>
                <a:latin typeface="Montserrat"/>
                <a:ea typeface="Montserrat"/>
                <a:cs typeface="Montserrat"/>
                <a:sym typeface="Montserrat"/>
              </a:rPr>
              <a:t> Ada dua tipe dividers yaitu…</a:t>
            </a:r>
            <a:endParaRPr b="1" sz="16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Inset dan Full Bleed</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Inbleed dan Full Bleed</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Inset dan Outset</a:t>
            </a:r>
            <a:endParaRPr sz="1200">
              <a:solidFill>
                <a:schemeClr val="lt1"/>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None/>
            </a:pPr>
            <a:r>
              <a:t/>
            </a:r>
            <a:endParaRPr sz="1200">
              <a:solidFill>
                <a:schemeClr val="lt1"/>
              </a:solidFill>
              <a:latin typeface="Montserrat Medium"/>
              <a:ea typeface="Montserrat Medium"/>
              <a:cs typeface="Montserrat Medium"/>
              <a:sym typeface="Montserrat Medium"/>
            </a:endParaRPr>
          </a:p>
        </p:txBody>
      </p:sp>
      <p:sp>
        <p:nvSpPr>
          <p:cNvPr id="785" name="Google Shape;785;p10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latin typeface="Montserrat"/>
                <a:ea typeface="Montserrat"/>
                <a:cs typeface="Montserrat"/>
                <a:sym typeface="Montserrat"/>
              </a:rPr>
              <a:t>‹#›</a:t>
            </a:fld>
            <a:endParaRPr>
              <a:latin typeface="Montserrat"/>
              <a:ea typeface="Montserrat"/>
              <a:cs typeface="Montserrat"/>
              <a:sym typeface="Montserrat"/>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9" name="Shape 789"/>
        <p:cNvGrpSpPr/>
        <p:nvPr/>
      </p:nvGrpSpPr>
      <p:grpSpPr>
        <a:xfrm>
          <a:off x="0" y="0"/>
          <a:ext cx="0" cy="0"/>
          <a:chOff x="0" y="0"/>
          <a:chExt cx="0" cy="0"/>
        </a:xfrm>
      </p:grpSpPr>
      <p:sp>
        <p:nvSpPr>
          <p:cNvPr id="790" name="Google Shape;790;p10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791" name="Google Shape;791;p101"/>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600">
                <a:solidFill>
                  <a:schemeClr val="accent1"/>
                </a:solidFill>
                <a:latin typeface="Montserrat"/>
                <a:ea typeface="Montserrat"/>
                <a:cs typeface="Montserrat"/>
                <a:sym typeface="Montserrat"/>
              </a:rPr>
              <a:t>5.</a:t>
            </a:r>
            <a:r>
              <a:rPr b="1" lang="en" sz="1600">
                <a:solidFill>
                  <a:schemeClr val="lt1"/>
                </a:solidFill>
                <a:latin typeface="Montserrat"/>
                <a:ea typeface="Montserrat"/>
                <a:cs typeface="Montserrat"/>
                <a:sym typeface="Montserrat"/>
              </a:rPr>
              <a:t> Ada dua tipe dividers yaitu…</a:t>
            </a:r>
            <a:endParaRPr b="1" sz="16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a:buAutoNum type="alphaUcPeriod"/>
            </a:pPr>
            <a:r>
              <a:rPr b="1" lang="en" sz="1200">
                <a:solidFill>
                  <a:schemeClr val="lt1"/>
                </a:solidFill>
                <a:latin typeface="Montserrat"/>
                <a:ea typeface="Montserrat"/>
                <a:cs typeface="Montserrat"/>
                <a:sym typeface="Montserrat"/>
              </a:rPr>
              <a:t>Inset dan Full Bleed</a:t>
            </a:r>
            <a:endParaRPr b="1" sz="12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Inbleed dan Full Bleed</a:t>
            </a:r>
            <a:endParaRPr sz="1200">
              <a:solidFill>
                <a:srgbClr val="A667A5"/>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Inset dan Outset</a:t>
            </a:r>
            <a:endParaRPr sz="1200">
              <a:solidFill>
                <a:srgbClr val="A667A5"/>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None/>
            </a:pPr>
            <a:r>
              <a:t/>
            </a:r>
            <a:endParaRPr sz="1200">
              <a:solidFill>
                <a:schemeClr val="lt1"/>
              </a:solidFill>
              <a:latin typeface="Montserrat Medium"/>
              <a:ea typeface="Montserrat Medium"/>
              <a:cs typeface="Montserrat Medium"/>
              <a:sym typeface="Montserrat Medium"/>
            </a:endParaRPr>
          </a:p>
        </p:txBody>
      </p:sp>
      <p:sp>
        <p:nvSpPr>
          <p:cNvPr id="792" name="Google Shape;792;p10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latin typeface="Montserrat"/>
                <a:ea typeface="Montserrat"/>
                <a:cs typeface="Montserrat"/>
                <a:sym typeface="Montserrat"/>
              </a:rPr>
              <a:t>‹#›</a:t>
            </a:fld>
            <a:endParaRPr>
              <a:latin typeface="Montserrat"/>
              <a:ea typeface="Montserrat"/>
              <a:cs typeface="Montserrat"/>
              <a:sym typeface="Montserrat"/>
            </a:endParaRPr>
          </a:p>
        </p:txBody>
      </p:sp>
      <p:sp>
        <p:nvSpPr>
          <p:cNvPr id="793" name="Google Shape;793;p101"/>
          <p:cNvSpPr/>
          <p:nvPr/>
        </p:nvSpPr>
        <p:spPr>
          <a:xfrm>
            <a:off x="685800" y="2774575"/>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200">
                <a:solidFill>
                  <a:srgbClr val="733572"/>
                </a:solidFill>
                <a:latin typeface="Montserrat"/>
                <a:ea typeface="Montserrat"/>
                <a:cs typeface="Montserrat"/>
                <a:sym typeface="Montserrat"/>
              </a:rPr>
              <a:t>Dua tipe dividers yaitu full bleed dividers dan inset dividers.</a:t>
            </a:r>
            <a:endParaRPr b="1" sz="1200">
              <a:solidFill>
                <a:srgbClr val="733572"/>
              </a:solidFill>
              <a:latin typeface="Montserrat"/>
              <a:ea typeface="Montserrat"/>
              <a:cs typeface="Montserrat"/>
              <a:sym typeface="Montserrat"/>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7" name="Shape 797"/>
        <p:cNvGrpSpPr/>
        <p:nvPr/>
      </p:nvGrpSpPr>
      <p:grpSpPr>
        <a:xfrm>
          <a:off x="0" y="0"/>
          <a:ext cx="0" cy="0"/>
          <a:chOff x="0" y="0"/>
          <a:chExt cx="0" cy="0"/>
        </a:xfrm>
      </p:grpSpPr>
      <p:sp>
        <p:nvSpPr>
          <p:cNvPr id="798" name="Google Shape;798;p10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799" name="Google Shape;799;p102"/>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600">
                <a:solidFill>
                  <a:schemeClr val="accent1"/>
                </a:solidFill>
                <a:latin typeface="Montserrat"/>
                <a:ea typeface="Montserrat"/>
                <a:cs typeface="Montserrat"/>
                <a:sym typeface="Montserrat"/>
              </a:rPr>
              <a:t>6</a:t>
            </a:r>
            <a:r>
              <a:rPr b="1" lang="en" sz="1600">
                <a:solidFill>
                  <a:schemeClr val="accent1"/>
                </a:solidFill>
                <a:latin typeface="Montserrat"/>
                <a:ea typeface="Montserrat"/>
                <a:cs typeface="Montserrat"/>
                <a:sym typeface="Montserrat"/>
              </a:rPr>
              <a:t>.</a:t>
            </a:r>
            <a:r>
              <a:rPr b="1" lang="en" sz="1600">
                <a:solidFill>
                  <a:schemeClr val="lt1"/>
                </a:solidFill>
                <a:latin typeface="Montserrat"/>
                <a:ea typeface="Montserrat"/>
                <a:cs typeface="Montserrat"/>
                <a:sym typeface="Montserrat"/>
              </a:rPr>
              <a:t> </a:t>
            </a:r>
            <a:r>
              <a:rPr b="1" lang="en" sz="1600">
                <a:solidFill>
                  <a:schemeClr val="lt1"/>
                </a:solidFill>
                <a:latin typeface="Montserrat"/>
                <a:ea typeface="Montserrat"/>
                <a:cs typeface="Montserrat"/>
                <a:sym typeface="Montserrat"/>
              </a:rPr>
              <a:t>Ikon sistem adalah ekspresi visual dari merek dan produk, termasuk layanan dan alatnya. Pernyataan tersebut adalah…</a:t>
            </a:r>
            <a:endParaRPr b="1" sz="16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Benar</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Salah</a:t>
            </a:r>
            <a:endParaRPr sz="1200">
              <a:solidFill>
                <a:schemeClr val="lt1"/>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None/>
            </a:pPr>
            <a:r>
              <a:t/>
            </a:r>
            <a:endParaRPr sz="1200">
              <a:solidFill>
                <a:schemeClr val="lt1"/>
              </a:solidFill>
              <a:latin typeface="Montserrat Medium"/>
              <a:ea typeface="Montserrat Medium"/>
              <a:cs typeface="Montserrat Medium"/>
              <a:sym typeface="Montserrat Medium"/>
            </a:endParaRPr>
          </a:p>
        </p:txBody>
      </p:sp>
      <p:sp>
        <p:nvSpPr>
          <p:cNvPr id="800" name="Google Shape;800;p10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latin typeface="Montserrat"/>
                <a:ea typeface="Montserrat"/>
                <a:cs typeface="Montserrat"/>
                <a:sym typeface="Montserrat"/>
              </a:rPr>
              <a:t>‹#›</a:t>
            </a:fld>
            <a:endParaRPr>
              <a:latin typeface="Montserrat"/>
              <a:ea typeface="Montserrat"/>
              <a:cs typeface="Montserrat"/>
              <a:sym typeface="Montserrat"/>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4" name="Shape 804"/>
        <p:cNvGrpSpPr/>
        <p:nvPr/>
      </p:nvGrpSpPr>
      <p:grpSpPr>
        <a:xfrm>
          <a:off x="0" y="0"/>
          <a:ext cx="0" cy="0"/>
          <a:chOff x="0" y="0"/>
          <a:chExt cx="0" cy="0"/>
        </a:xfrm>
      </p:grpSpPr>
      <p:sp>
        <p:nvSpPr>
          <p:cNvPr id="805" name="Google Shape;805;p10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806" name="Google Shape;806;p103"/>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600">
                <a:solidFill>
                  <a:schemeClr val="accent1"/>
                </a:solidFill>
                <a:latin typeface="Montserrat"/>
                <a:ea typeface="Montserrat"/>
                <a:cs typeface="Montserrat"/>
                <a:sym typeface="Montserrat"/>
              </a:rPr>
              <a:t>6.</a:t>
            </a:r>
            <a:r>
              <a:rPr b="1" lang="en" sz="1600">
                <a:solidFill>
                  <a:schemeClr val="lt1"/>
                </a:solidFill>
                <a:latin typeface="Montserrat"/>
                <a:ea typeface="Montserrat"/>
                <a:cs typeface="Montserrat"/>
                <a:sym typeface="Montserrat"/>
              </a:rPr>
              <a:t> Ikon sistem adalah ekspresi visual dari merek dan produk, termasuk layanan dan alatnya. Pernyataan tersebut adalah…</a:t>
            </a:r>
            <a:endParaRPr b="1" sz="16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Benar</a:t>
            </a:r>
            <a:endParaRPr sz="1200">
              <a:solidFill>
                <a:srgbClr val="A667A5"/>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a:buAutoNum type="alphaUcPeriod"/>
            </a:pPr>
            <a:r>
              <a:rPr b="1" lang="en" sz="1200">
                <a:solidFill>
                  <a:schemeClr val="lt1"/>
                </a:solidFill>
                <a:latin typeface="Montserrat"/>
                <a:ea typeface="Montserrat"/>
                <a:cs typeface="Montserrat"/>
                <a:sym typeface="Montserrat"/>
              </a:rPr>
              <a:t>Salah</a:t>
            </a:r>
            <a:endParaRPr b="1" sz="12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a:solidFill>
                <a:schemeClr val="lt1"/>
              </a:solidFill>
              <a:latin typeface="Montserrat Medium"/>
              <a:ea typeface="Montserrat Medium"/>
              <a:cs typeface="Montserrat Medium"/>
              <a:sym typeface="Montserrat Medium"/>
            </a:endParaRPr>
          </a:p>
        </p:txBody>
      </p:sp>
      <p:sp>
        <p:nvSpPr>
          <p:cNvPr id="807" name="Google Shape;807;p10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latin typeface="Montserrat"/>
                <a:ea typeface="Montserrat"/>
                <a:cs typeface="Montserrat"/>
                <a:sym typeface="Montserrat"/>
              </a:rPr>
              <a:t>‹#›</a:t>
            </a:fld>
            <a:endParaRPr>
              <a:latin typeface="Montserrat"/>
              <a:ea typeface="Montserrat"/>
              <a:cs typeface="Montserrat"/>
              <a:sym typeface="Montserrat"/>
            </a:endParaRPr>
          </a:p>
        </p:txBody>
      </p:sp>
      <p:sp>
        <p:nvSpPr>
          <p:cNvPr id="808" name="Google Shape;808;p103"/>
          <p:cNvSpPr/>
          <p:nvPr/>
        </p:nvSpPr>
        <p:spPr>
          <a:xfrm>
            <a:off x="685800" y="2850775"/>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200">
                <a:solidFill>
                  <a:srgbClr val="733572"/>
                </a:solidFill>
                <a:latin typeface="Montserrat"/>
                <a:ea typeface="Montserrat"/>
                <a:cs typeface="Montserrat"/>
                <a:sym typeface="Montserrat"/>
              </a:rPr>
              <a:t>Pernyataan tersebut adalah deskripsi dari ikon produk.</a:t>
            </a:r>
            <a:endParaRPr b="1" sz="1200">
              <a:solidFill>
                <a:srgbClr val="733572"/>
              </a:solidFill>
              <a:latin typeface="Montserrat"/>
              <a:ea typeface="Montserrat"/>
              <a:cs typeface="Montserrat"/>
              <a:sym typeface="Montserrat"/>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2" name="Shape 812"/>
        <p:cNvGrpSpPr/>
        <p:nvPr/>
      </p:nvGrpSpPr>
      <p:grpSpPr>
        <a:xfrm>
          <a:off x="0" y="0"/>
          <a:ext cx="0" cy="0"/>
          <a:chOff x="0" y="0"/>
          <a:chExt cx="0" cy="0"/>
        </a:xfrm>
      </p:grpSpPr>
      <p:sp>
        <p:nvSpPr>
          <p:cNvPr id="813" name="Google Shape;813;p10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latin typeface="Montserrat"/>
                <a:ea typeface="Montserrat"/>
                <a:cs typeface="Montserrat"/>
                <a:sym typeface="Montserrat"/>
              </a:rPr>
              <a:t>‹#›</a:t>
            </a:fld>
            <a:endParaRPr>
              <a:latin typeface="Montserrat"/>
              <a:ea typeface="Montserrat"/>
              <a:cs typeface="Montserrat"/>
              <a:sym typeface="Montserrat"/>
            </a:endParaRPr>
          </a:p>
        </p:txBody>
      </p:sp>
      <p:sp>
        <p:nvSpPr>
          <p:cNvPr id="814" name="Google Shape;814;p10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Referensi dan bacaan lebih lanjut</a:t>
            </a:r>
            <a:endParaRPr>
              <a:latin typeface="Montserrat"/>
              <a:ea typeface="Montserrat"/>
              <a:cs typeface="Montserrat"/>
              <a:sym typeface="Montserrat"/>
            </a:endParaRPr>
          </a:p>
        </p:txBody>
      </p:sp>
      <p:pic>
        <p:nvPicPr>
          <p:cNvPr id="815" name="Google Shape;815;p104"/>
          <p:cNvPicPr preferRelativeResize="0"/>
          <p:nvPr/>
        </p:nvPicPr>
        <p:blipFill rotWithShape="1">
          <a:blip r:embed="rId3">
            <a:alphaModFix/>
          </a:blip>
          <a:srcRect b="0" l="0" r="0" t="0"/>
          <a:stretch/>
        </p:blipFill>
        <p:spPr>
          <a:xfrm>
            <a:off x="5638796" y="1097113"/>
            <a:ext cx="2743199" cy="3511629"/>
          </a:xfrm>
          <a:prstGeom prst="rect">
            <a:avLst/>
          </a:prstGeom>
          <a:noFill/>
          <a:ln>
            <a:noFill/>
          </a:ln>
        </p:spPr>
      </p:pic>
      <p:sp>
        <p:nvSpPr>
          <p:cNvPr id="816" name="Google Shape;816;p104"/>
          <p:cNvSpPr txBox="1"/>
          <p:nvPr/>
        </p:nvSpPr>
        <p:spPr>
          <a:xfrm>
            <a:off x="685800" y="1024128"/>
            <a:ext cx="4114800" cy="36576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600"/>
              </a:spcBef>
              <a:spcAft>
                <a:spcPts val="0"/>
              </a:spcAft>
              <a:buClr>
                <a:srgbClr val="000000"/>
              </a:buClr>
              <a:buSzPts val="1400"/>
              <a:buFont typeface="Arial"/>
              <a:buNone/>
            </a:pPr>
            <a:r>
              <a:rPr b="1" lang="en" sz="1600">
                <a:solidFill>
                  <a:srgbClr val="743673"/>
                </a:solidFill>
                <a:highlight>
                  <a:schemeClr val="lt1"/>
                </a:highlight>
                <a:latin typeface="Montserrat"/>
                <a:ea typeface="Montserrat"/>
                <a:cs typeface="Montserrat"/>
                <a:sym typeface="Montserrat"/>
              </a:rPr>
              <a:t>Referensi dan bacaan lebih lanjut</a:t>
            </a:r>
            <a:endParaRPr b="1" sz="1600">
              <a:solidFill>
                <a:srgbClr val="743673"/>
              </a:solidFill>
              <a:highlight>
                <a:schemeClr val="lt1"/>
              </a:highlight>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None/>
            </a:pPr>
            <a:r>
              <a:rPr lang="en" sz="1000">
                <a:solidFill>
                  <a:schemeClr val="dk1"/>
                </a:solidFill>
                <a:latin typeface="Montserrat Medium"/>
                <a:ea typeface="Montserrat Medium"/>
                <a:cs typeface="Montserrat Medium"/>
                <a:sym typeface="Montserrat Medium"/>
              </a:rPr>
              <a:t>1) </a:t>
            </a:r>
            <a:r>
              <a:rPr lang="en" sz="1000" u="sng">
                <a:solidFill>
                  <a:schemeClr val="dk1"/>
                </a:solidFill>
                <a:latin typeface="Montserrat Medium"/>
                <a:ea typeface="Montserrat Medium"/>
                <a:cs typeface="Montserrat Medium"/>
                <a:sym typeface="Montserrat Medium"/>
                <a:hlinkClick r:id="rId4">
                  <a:extLst>
                    <a:ext uri="{A12FA001-AC4F-418D-AE19-62706E023703}">
                      <ahyp:hlinkClr val="tx"/>
                    </a:ext>
                  </a:extLst>
                </a:hlinkClick>
              </a:rPr>
              <a:t>Everything you need to know about Design Systems by </a:t>
            </a:r>
            <a:endParaRPr sz="1000">
              <a:solidFill>
                <a:schemeClr val="dk1"/>
              </a:solidFill>
              <a:latin typeface="Montserrat"/>
              <a:ea typeface="Montserrat"/>
              <a:cs typeface="Montserrat"/>
              <a:sym typeface="Montserrat"/>
            </a:endParaRPr>
          </a:p>
          <a:p>
            <a:pPr indent="0" lvl="0" marL="0" rtl="0" algn="l">
              <a:lnSpc>
                <a:spcPct val="115000"/>
              </a:lnSpc>
              <a:spcBef>
                <a:spcPts val="0"/>
              </a:spcBef>
              <a:spcAft>
                <a:spcPts val="0"/>
              </a:spcAft>
              <a:buNone/>
            </a:pPr>
            <a:r>
              <a:rPr lang="en" sz="1000">
                <a:solidFill>
                  <a:schemeClr val="dk1"/>
                </a:solidFill>
                <a:latin typeface="Montserrat"/>
                <a:ea typeface="Montserrat"/>
                <a:cs typeface="Montserrat"/>
                <a:sym typeface="Montserrat"/>
              </a:rPr>
              <a:t>   </a:t>
            </a:r>
            <a:r>
              <a:rPr lang="en" sz="1000" u="sng">
                <a:solidFill>
                  <a:schemeClr val="dk1"/>
                </a:solidFill>
                <a:latin typeface="Montserrat Medium"/>
                <a:ea typeface="Montserrat Medium"/>
                <a:cs typeface="Montserrat Medium"/>
                <a:sym typeface="Montserrat Medium"/>
                <a:hlinkClick r:id="rId5">
                  <a:extLst>
                    <a:ext uri="{A12FA001-AC4F-418D-AE19-62706E023703}">
                      <ahyp:hlinkClr val="tx"/>
                    </a:ext>
                  </a:extLst>
                </a:hlinkClick>
              </a:rPr>
              <a:t>UX Collective </a:t>
            </a:r>
            <a:endParaRPr sz="1000">
              <a:solidFill>
                <a:schemeClr val="dk1"/>
              </a:solidFill>
              <a:latin typeface="Montserrat"/>
              <a:ea typeface="Montserrat"/>
              <a:cs typeface="Montserrat"/>
              <a:sym typeface="Montserrat"/>
            </a:endParaRPr>
          </a:p>
          <a:p>
            <a:pPr indent="0" lvl="0" marL="0" rtl="0" algn="l">
              <a:lnSpc>
                <a:spcPct val="115000"/>
              </a:lnSpc>
              <a:spcBef>
                <a:spcPts val="0"/>
              </a:spcBef>
              <a:spcAft>
                <a:spcPts val="0"/>
              </a:spcAft>
              <a:buNone/>
            </a:pPr>
            <a:r>
              <a:rPr lang="en" sz="1000">
                <a:solidFill>
                  <a:schemeClr val="dk1"/>
                </a:solidFill>
                <a:latin typeface="Montserrat"/>
                <a:ea typeface="Montserrat"/>
                <a:cs typeface="Montserrat"/>
                <a:sym typeface="Montserrat"/>
              </a:rPr>
              <a:t>2) </a:t>
            </a:r>
            <a:r>
              <a:rPr lang="en" sz="1000" u="sng">
                <a:solidFill>
                  <a:schemeClr val="dk1"/>
                </a:solidFill>
                <a:latin typeface="Montserrat"/>
                <a:ea typeface="Montserrat"/>
                <a:cs typeface="Montserrat"/>
                <a:sym typeface="Montserrat"/>
                <a:hlinkClick r:id="rId6">
                  <a:extLst>
                    <a:ext uri="{A12FA001-AC4F-418D-AE19-62706E023703}">
                      <ahyp:hlinkClr val="tx"/>
                    </a:ext>
                  </a:extLst>
                </a:hlinkClick>
              </a:rPr>
              <a:t>Why are Design Systems so Important? By UX Planet</a:t>
            </a:r>
            <a:endParaRPr sz="1000">
              <a:solidFill>
                <a:schemeClr val="dk1"/>
              </a:solidFill>
              <a:latin typeface="Montserrat"/>
              <a:ea typeface="Montserrat"/>
              <a:cs typeface="Montserrat"/>
              <a:sym typeface="Montserrat"/>
            </a:endParaRPr>
          </a:p>
          <a:p>
            <a:pPr indent="0" lvl="0" marL="0" rtl="0" algn="l">
              <a:lnSpc>
                <a:spcPct val="115000"/>
              </a:lnSpc>
              <a:spcBef>
                <a:spcPts val="0"/>
              </a:spcBef>
              <a:spcAft>
                <a:spcPts val="0"/>
              </a:spcAft>
              <a:buNone/>
            </a:pPr>
            <a:r>
              <a:rPr lang="en" sz="1000">
                <a:solidFill>
                  <a:schemeClr val="dk1"/>
                </a:solidFill>
                <a:latin typeface="Montserrat"/>
                <a:ea typeface="Montserrat"/>
                <a:cs typeface="Montserrat"/>
                <a:sym typeface="Montserrat"/>
              </a:rPr>
              <a:t>3) </a:t>
            </a:r>
            <a:r>
              <a:rPr lang="en" sz="1000" u="sng">
                <a:solidFill>
                  <a:schemeClr val="dk1"/>
                </a:solidFill>
                <a:latin typeface="Montserrat"/>
                <a:ea typeface="Montserrat"/>
                <a:cs typeface="Montserrat"/>
                <a:sym typeface="Montserrat"/>
                <a:hlinkClick r:id="rId7">
                  <a:extLst>
                    <a:ext uri="{A12FA001-AC4F-418D-AE19-62706E023703}">
                      <ahyp:hlinkClr val="tx"/>
                    </a:ext>
                  </a:extLst>
                </a:hlinkClick>
              </a:rPr>
              <a:t>A better way to create typography design systems by </a:t>
            </a:r>
            <a:endParaRPr sz="1000">
              <a:solidFill>
                <a:schemeClr val="dk1"/>
              </a:solidFill>
              <a:latin typeface="Montserrat"/>
              <a:ea typeface="Montserrat"/>
              <a:cs typeface="Montserrat"/>
              <a:sym typeface="Montserrat"/>
            </a:endParaRPr>
          </a:p>
          <a:p>
            <a:pPr indent="0" lvl="0" marL="0" rtl="0" algn="l">
              <a:lnSpc>
                <a:spcPct val="115000"/>
              </a:lnSpc>
              <a:spcBef>
                <a:spcPts val="0"/>
              </a:spcBef>
              <a:spcAft>
                <a:spcPts val="0"/>
              </a:spcAft>
              <a:buNone/>
            </a:pPr>
            <a:r>
              <a:rPr lang="en" sz="1000">
                <a:solidFill>
                  <a:schemeClr val="dk1"/>
                </a:solidFill>
                <a:latin typeface="Montserrat"/>
                <a:ea typeface="Montserrat"/>
                <a:cs typeface="Montserrat"/>
                <a:sym typeface="Montserrat"/>
              </a:rPr>
              <a:t>    </a:t>
            </a:r>
            <a:r>
              <a:rPr lang="en" sz="1000" u="sng">
                <a:solidFill>
                  <a:schemeClr val="dk1"/>
                </a:solidFill>
                <a:latin typeface="Montserrat"/>
                <a:ea typeface="Montserrat"/>
                <a:cs typeface="Montserrat"/>
                <a:sym typeface="Montserrat"/>
                <a:hlinkClick r:id="rId8">
                  <a:extLst>
                    <a:ext uri="{A12FA001-AC4F-418D-AE19-62706E023703}">
                      <ahyp:hlinkClr val="tx"/>
                    </a:ext>
                  </a:extLst>
                </a:hlinkClick>
              </a:rPr>
              <a:t>UX Collective </a:t>
            </a:r>
            <a:endParaRPr sz="1000">
              <a:solidFill>
                <a:schemeClr val="dk1"/>
              </a:solidFill>
              <a:latin typeface="Montserrat"/>
              <a:ea typeface="Montserrat"/>
              <a:cs typeface="Montserrat"/>
              <a:sym typeface="Montserrat"/>
            </a:endParaRPr>
          </a:p>
          <a:p>
            <a:pPr indent="0" lvl="0" marL="0" rtl="0" algn="l">
              <a:lnSpc>
                <a:spcPct val="115000"/>
              </a:lnSpc>
              <a:spcBef>
                <a:spcPts val="0"/>
              </a:spcBef>
              <a:spcAft>
                <a:spcPts val="0"/>
              </a:spcAft>
              <a:buNone/>
            </a:pPr>
            <a:r>
              <a:rPr lang="en" sz="1000">
                <a:solidFill>
                  <a:schemeClr val="dk1"/>
                </a:solidFill>
                <a:latin typeface="Montserrat"/>
                <a:ea typeface="Montserrat"/>
                <a:cs typeface="Montserrat"/>
                <a:sym typeface="Montserrat"/>
              </a:rPr>
              <a:t>4) </a:t>
            </a:r>
            <a:r>
              <a:rPr lang="en" sz="1000" u="sng">
                <a:solidFill>
                  <a:schemeClr val="dk1"/>
                </a:solidFill>
                <a:latin typeface="Montserrat"/>
                <a:ea typeface="Montserrat"/>
                <a:cs typeface="Montserrat"/>
                <a:sym typeface="Montserrat"/>
                <a:hlinkClick r:id="rId9">
                  <a:extLst>
                    <a:ext uri="{A12FA001-AC4F-418D-AE19-62706E023703}">
                      <ahyp:hlinkClr val="tx"/>
                    </a:ext>
                  </a:extLst>
                </a:hlinkClick>
              </a:rPr>
              <a:t>Material Design </a:t>
            </a:r>
            <a:endParaRPr sz="1000">
              <a:solidFill>
                <a:schemeClr val="dk1"/>
              </a:solidFill>
              <a:latin typeface="Montserrat"/>
              <a:ea typeface="Montserrat"/>
              <a:cs typeface="Montserrat"/>
              <a:sym typeface="Montserrat"/>
            </a:endParaRPr>
          </a:p>
          <a:p>
            <a:pPr indent="0" lvl="0" marL="0" rtl="0" algn="l">
              <a:lnSpc>
                <a:spcPct val="115000"/>
              </a:lnSpc>
              <a:spcBef>
                <a:spcPts val="0"/>
              </a:spcBef>
              <a:spcAft>
                <a:spcPts val="0"/>
              </a:spcAft>
              <a:buNone/>
            </a:pPr>
            <a:r>
              <a:rPr lang="en" sz="1000">
                <a:solidFill>
                  <a:schemeClr val="dk1"/>
                </a:solidFill>
                <a:latin typeface="Montserrat"/>
                <a:ea typeface="Montserrat"/>
                <a:cs typeface="Montserrat"/>
                <a:sym typeface="Montserrat"/>
              </a:rPr>
              <a:t>5) </a:t>
            </a:r>
            <a:r>
              <a:rPr lang="en" sz="1000" u="sng">
                <a:solidFill>
                  <a:schemeClr val="dk1"/>
                </a:solidFill>
                <a:latin typeface="Montserrat"/>
                <a:ea typeface="Montserrat"/>
                <a:cs typeface="Montserrat"/>
                <a:sym typeface="Montserrat"/>
                <a:hlinkClick r:id="rId10">
                  <a:extLst>
                    <a:ext uri="{A12FA001-AC4F-418D-AE19-62706E023703}">
                      <ahyp:hlinkClr val="tx"/>
                    </a:ext>
                  </a:extLst>
                </a:hlinkClick>
              </a:rPr>
              <a:t>Material Components</a:t>
            </a:r>
            <a:endParaRPr sz="1000">
              <a:solidFill>
                <a:schemeClr val="dk1"/>
              </a:solidFill>
              <a:latin typeface="Montserrat"/>
              <a:ea typeface="Montserrat"/>
              <a:cs typeface="Montserrat"/>
              <a:sym typeface="Montserrat"/>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0" name="Shape 820"/>
        <p:cNvGrpSpPr/>
        <p:nvPr/>
      </p:nvGrpSpPr>
      <p:grpSpPr>
        <a:xfrm>
          <a:off x="0" y="0"/>
          <a:ext cx="0" cy="0"/>
          <a:chOff x="0" y="0"/>
          <a:chExt cx="0" cy="0"/>
        </a:xfrm>
      </p:grpSpPr>
      <p:sp>
        <p:nvSpPr>
          <p:cNvPr id="821" name="Google Shape;821;p10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822" name="Google Shape;822;p10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Penutup</a:t>
            </a:r>
            <a:endParaRPr>
              <a:latin typeface="Montserrat"/>
              <a:ea typeface="Montserrat"/>
              <a:cs typeface="Montserrat"/>
              <a:sym typeface="Montserrat"/>
            </a:endParaRPr>
          </a:p>
        </p:txBody>
      </p:sp>
      <p:sp>
        <p:nvSpPr>
          <p:cNvPr id="823" name="Google Shape;823;p105"/>
          <p:cNvSpPr txBox="1"/>
          <p:nvPr/>
        </p:nvSpPr>
        <p:spPr>
          <a:xfrm>
            <a:off x="487625" y="1752150"/>
            <a:ext cx="4403100" cy="16392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b="1" lang="en">
                <a:solidFill>
                  <a:schemeClr val="lt1"/>
                </a:solidFill>
                <a:latin typeface="Montserrat"/>
                <a:ea typeface="Montserrat"/>
                <a:cs typeface="Montserrat"/>
                <a:sym typeface="Montserrat"/>
              </a:rPr>
              <a:t>Yooosh! Pendalaman materi </a:t>
            </a:r>
            <a:r>
              <a:rPr b="1" lang="en">
                <a:solidFill>
                  <a:srgbClr val="F2AB2F"/>
                </a:solidFill>
                <a:latin typeface="Montserrat"/>
                <a:ea typeface="Montserrat"/>
                <a:cs typeface="Montserrat"/>
                <a:sym typeface="Montserrat"/>
              </a:rPr>
              <a:t>design system </a:t>
            </a:r>
            <a:r>
              <a:rPr b="1" lang="en">
                <a:solidFill>
                  <a:schemeClr val="lt1"/>
                </a:solidFill>
                <a:latin typeface="Montserrat"/>
                <a:ea typeface="Montserrat"/>
                <a:cs typeface="Montserrat"/>
                <a:sym typeface="Montserrat"/>
              </a:rPr>
              <a:t>udah selesai nih, bestie.</a:t>
            </a:r>
            <a:endParaRPr b="1">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None/>
            </a:pPr>
            <a:r>
              <a:rPr b="1" lang="en">
                <a:solidFill>
                  <a:schemeClr val="lt1"/>
                </a:solidFill>
                <a:latin typeface="Montserrat"/>
                <a:ea typeface="Montserrat"/>
                <a:cs typeface="Montserrat"/>
                <a:sym typeface="Montserrat"/>
              </a:rPr>
              <a:t>Besok kita akan melanjutkan bahasan mengenai </a:t>
            </a:r>
            <a:r>
              <a:rPr b="1" lang="en">
                <a:solidFill>
                  <a:srgbClr val="F2AB2F"/>
                </a:solidFill>
                <a:latin typeface="Montserrat"/>
                <a:ea typeface="Montserrat"/>
                <a:cs typeface="Montserrat"/>
                <a:sym typeface="Montserrat"/>
              </a:rPr>
              <a:t>prototype part 2</a:t>
            </a:r>
            <a:r>
              <a:rPr b="1" lang="en">
                <a:solidFill>
                  <a:schemeClr val="lt1"/>
                </a:solidFill>
                <a:latin typeface="Montserrat"/>
                <a:ea typeface="Montserrat"/>
                <a:cs typeface="Montserrat"/>
                <a:sym typeface="Montserrat"/>
              </a:rPr>
              <a:t>. Sampai ketemu besok ya ~</a:t>
            </a:r>
            <a:endParaRPr b="1">
              <a:solidFill>
                <a:schemeClr val="lt1"/>
              </a:solidFill>
              <a:latin typeface="Montserrat"/>
              <a:ea typeface="Montserrat"/>
              <a:cs typeface="Montserrat"/>
              <a:sym typeface="Montserrat"/>
            </a:endParaRPr>
          </a:p>
        </p:txBody>
      </p:sp>
      <p:pic>
        <p:nvPicPr>
          <p:cNvPr id="824" name="Google Shape;824;p105"/>
          <p:cNvPicPr preferRelativeResize="0"/>
          <p:nvPr/>
        </p:nvPicPr>
        <p:blipFill>
          <a:blip r:embed="rId3">
            <a:alphaModFix/>
          </a:blip>
          <a:stretch>
            <a:fillRect/>
          </a:stretch>
        </p:blipFill>
        <p:spPr>
          <a:xfrm flipH="1">
            <a:off x="3807356" y="676725"/>
            <a:ext cx="5687844" cy="4338199"/>
          </a:xfrm>
          <a:prstGeom prst="rect">
            <a:avLst/>
          </a:prstGeom>
          <a:noFill/>
          <a:ln>
            <a:noFill/>
          </a:ln>
        </p:spPr>
      </p:pic>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828" name="Shape 828"/>
        <p:cNvGrpSpPr/>
        <p:nvPr/>
      </p:nvGrpSpPr>
      <p:grpSpPr>
        <a:xfrm>
          <a:off x="0" y="0"/>
          <a:ext cx="0" cy="0"/>
          <a:chOff x="0" y="0"/>
          <a:chExt cx="0" cy="0"/>
        </a:xfrm>
      </p:grpSpPr>
      <p:sp>
        <p:nvSpPr>
          <p:cNvPr id="829" name="Google Shape;829;p106"/>
          <p:cNvSpPr/>
          <p:nvPr/>
        </p:nvSpPr>
        <p:spPr>
          <a:xfrm>
            <a:off x="0" y="3825400"/>
            <a:ext cx="9144000" cy="1389600"/>
          </a:xfrm>
          <a:prstGeom prst="rect">
            <a:avLst/>
          </a:prstGeom>
          <a:solidFill>
            <a:srgbClr val="F4B71C"/>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30" name="Google Shape;830;p106"/>
          <p:cNvPicPr preferRelativeResize="0"/>
          <p:nvPr/>
        </p:nvPicPr>
        <p:blipFill>
          <a:blip r:embed="rId3">
            <a:alphaModFix/>
          </a:blip>
          <a:stretch>
            <a:fillRect/>
          </a:stretch>
        </p:blipFill>
        <p:spPr>
          <a:xfrm>
            <a:off x="1734062" y="469363"/>
            <a:ext cx="5675881" cy="4204774"/>
          </a:xfrm>
          <a:prstGeom prst="rect">
            <a:avLst/>
          </a:prstGeom>
          <a:noFill/>
          <a:ln>
            <a:noFill/>
          </a:ln>
        </p:spPr>
      </p:pic>
      <p:pic>
        <p:nvPicPr>
          <p:cNvPr id="831" name="Google Shape;831;p106"/>
          <p:cNvPicPr preferRelativeResize="0"/>
          <p:nvPr/>
        </p:nvPicPr>
        <p:blipFill rotWithShape="1">
          <a:blip r:embed="rId4">
            <a:alphaModFix/>
          </a:blip>
          <a:srcRect b="0" l="0" r="13247" t="0"/>
          <a:stretch/>
        </p:blipFill>
        <p:spPr>
          <a:xfrm>
            <a:off x="7987325" y="4075701"/>
            <a:ext cx="709350" cy="817600"/>
          </a:xfrm>
          <a:prstGeom prst="rect">
            <a:avLst/>
          </a:prstGeom>
          <a:noFill/>
          <a:ln>
            <a:noFill/>
          </a:ln>
        </p:spPr>
      </p:pic>
      <p:pic>
        <p:nvPicPr>
          <p:cNvPr id="832" name="Google Shape;832;p106"/>
          <p:cNvPicPr preferRelativeResize="0"/>
          <p:nvPr/>
        </p:nvPicPr>
        <p:blipFill>
          <a:blip r:embed="rId5">
            <a:alphaModFix/>
          </a:blip>
          <a:stretch>
            <a:fillRect/>
          </a:stretch>
        </p:blipFill>
        <p:spPr>
          <a:xfrm>
            <a:off x="487625" y="4141560"/>
            <a:ext cx="1991475" cy="68588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