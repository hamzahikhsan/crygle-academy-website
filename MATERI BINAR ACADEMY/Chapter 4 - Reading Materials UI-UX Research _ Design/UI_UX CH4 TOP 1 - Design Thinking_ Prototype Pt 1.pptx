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</p:sldIdLst>
  <p:sldSz cy="5143500" cx="9144000"/>
  <p:notesSz cx="6858000" cy="9144000"/>
  <p:embeddedFontLst>
    <p:embeddedFont>
      <p:font typeface="Raleway"/>
      <p:regular r:id="rId73"/>
      <p:bold r:id="rId74"/>
      <p:italic r:id="rId75"/>
      <p:boldItalic r:id="rId76"/>
    </p:embeddedFont>
    <p:embeddedFont>
      <p:font typeface="Montserrat"/>
      <p:regular r:id="rId77"/>
      <p:bold r:id="rId78"/>
      <p:italic r:id="rId79"/>
      <p:boldItalic r:id="rId80"/>
    </p:embeddedFont>
    <p:embeddedFont>
      <p:font typeface="Montserrat Medium"/>
      <p:regular r:id="rId81"/>
      <p:bold r:id="rId82"/>
      <p:italic r:id="rId83"/>
      <p:boldItalic r:id="rId84"/>
    </p:embeddedFont>
    <p:embeddedFont>
      <p:font typeface="Lato Black"/>
      <p:bold r:id="rId85"/>
      <p:boldItalic r:id="rId86"/>
    </p:embeddedFont>
    <p:embeddedFont>
      <p:font typeface="Raleway Medium"/>
      <p:regular r:id="rId87"/>
      <p:bold r:id="rId88"/>
      <p:italic r:id="rId89"/>
      <p:boldItalic r:id="rId9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  <p:ext uri="http://customooxmlschemas.google.com/">
      <go:slidesCustomData xmlns:go="http://customooxmlschemas.google.com/" r:id="rId91" roundtripDataSignature="AMtx7mh9wMkTkF/bxO9a75agS5ZpVIgmE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MontserratMedium-boldItalic.fntdata"/><Relationship Id="rId83" Type="http://schemas.openxmlformats.org/officeDocument/2006/relationships/font" Target="fonts/MontserratMedium-italic.fntdata"/><Relationship Id="rId42" Type="http://schemas.openxmlformats.org/officeDocument/2006/relationships/slide" Target="slides/slide37.xml"/><Relationship Id="rId86" Type="http://schemas.openxmlformats.org/officeDocument/2006/relationships/font" Target="fonts/LatoBlack-boldItalic.fntdata"/><Relationship Id="rId41" Type="http://schemas.openxmlformats.org/officeDocument/2006/relationships/slide" Target="slides/slide36.xml"/><Relationship Id="rId85" Type="http://schemas.openxmlformats.org/officeDocument/2006/relationships/font" Target="fonts/LatoBlack-bold.fntdata"/><Relationship Id="rId44" Type="http://schemas.openxmlformats.org/officeDocument/2006/relationships/slide" Target="slides/slide39.xml"/><Relationship Id="rId88" Type="http://schemas.openxmlformats.org/officeDocument/2006/relationships/font" Target="fonts/RalewayMedium-bold.fntdata"/><Relationship Id="rId43" Type="http://schemas.openxmlformats.org/officeDocument/2006/relationships/slide" Target="slides/slide38.xml"/><Relationship Id="rId87" Type="http://schemas.openxmlformats.org/officeDocument/2006/relationships/font" Target="fonts/RalewayMedium-regular.fntdata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9" Type="http://schemas.openxmlformats.org/officeDocument/2006/relationships/font" Target="fonts/RalewayMedium-italic.fntdata"/><Relationship Id="rId80" Type="http://schemas.openxmlformats.org/officeDocument/2006/relationships/font" Target="fonts/Montserrat-boldItalic.fntdata"/><Relationship Id="rId82" Type="http://schemas.openxmlformats.org/officeDocument/2006/relationships/font" Target="fonts/MontserratMedium-bold.fntdata"/><Relationship Id="rId81" Type="http://schemas.openxmlformats.org/officeDocument/2006/relationships/font" Target="fonts/Montserrat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Raleway-regular.fntdata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font" Target="fonts/Raleway-italic.fntdata"/><Relationship Id="rId30" Type="http://schemas.openxmlformats.org/officeDocument/2006/relationships/slide" Target="slides/slide25.xml"/><Relationship Id="rId74" Type="http://schemas.openxmlformats.org/officeDocument/2006/relationships/font" Target="fonts/Raleway-bold.fntdata"/><Relationship Id="rId33" Type="http://schemas.openxmlformats.org/officeDocument/2006/relationships/slide" Target="slides/slide28.xml"/><Relationship Id="rId77" Type="http://schemas.openxmlformats.org/officeDocument/2006/relationships/font" Target="fonts/Montserrat-regular.fntdata"/><Relationship Id="rId32" Type="http://schemas.openxmlformats.org/officeDocument/2006/relationships/slide" Target="slides/slide27.xml"/><Relationship Id="rId76" Type="http://schemas.openxmlformats.org/officeDocument/2006/relationships/font" Target="fonts/Raleway-boldItalic.fntdata"/><Relationship Id="rId35" Type="http://schemas.openxmlformats.org/officeDocument/2006/relationships/slide" Target="slides/slide30.xml"/><Relationship Id="rId79" Type="http://schemas.openxmlformats.org/officeDocument/2006/relationships/font" Target="fonts/Montserrat-italic.fntdata"/><Relationship Id="rId34" Type="http://schemas.openxmlformats.org/officeDocument/2006/relationships/slide" Target="slides/slide29.xml"/><Relationship Id="rId78" Type="http://schemas.openxmlformats.org/officeDocument/2006/relationships/font" Target="fonts/Montserrat-bold.fntdata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91" Type="http://customschemas.google.com/relationships/presentationmetadata" Target="metadata"/><Relationship Id="rId90" Type="http://schemas.openxmlformats.org/officeDocument/2006/relationships/font" Target="fonts/RalewayMedium-boldItalic.fntdata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amayli?utm_source=unsplash&amp;utm_medium=referral&amp;utm_content=creditCopyText" TargetMode="External"/><Relationship Id="rId3" Type="http://schemas.openxmlformats.org/officeDocument/2006/relationships/hyperlink" Target="https://unsplash.com/@amayli?utm_source=unsplash&amp;utm_medium=referral&amp;utm_content=creditCopyText" TargetMode="External"/><Relationship Id="rId4" Type="http://schemas.openxmlformats.org/officeDocument/2006/relationships/hyperlink" Target="https://unsplash.com/s/photos/prototyping?utm_source=unsplash&amp;utm_medium=referral&amp;utm_content=creditCopyText" TargetMode="External"/><Relationship Id="rId5" Type="http://schemas.openxmlformats.org/officeDocument/2006/relationships/hyperlink" Target="https://unsplash.com/s/photos/prototyping?utm_source=unsplash&amp;utm_medium=referral&amp;utm_content=creditCopyText" TargetMode="Externa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amayli?utm_source=unsplash&amp;utm_medium=referral&amp;utm_content=creditCopyText" TargetMode="External"/><Relationship Id="rId3" Type="http://schemas.openxmlformats.org/officeDocument/2006/relationships/hyperlink" Target="https://unsplash.com/@amayli?utm_source=unsplash&amp;utm_medium=referral&amp;utm_content=creditCopyText" TargetMode="External"/><Relationship Id="rId4" Type="http://schemas.openxmlformats.org/officeDocument/2006/relationships/hyperlink" Target="https://unsplash.com/s/photos/prototyping?utm_source=unsplash&amp;utm_medium=referral&amp;utm_content=creditCopyText" TargetMode="External"/><Relationship Id="rId5" Type="http://schemas.openxmlformats.org/officeDocument/2006/relationships/hyperlink" Target="https://unsplash.com/s/photos/prototyping?utm_source=unsplash&amp;utm_medium=referral&amp;utm_content=creditCopyText" TargetMode="Externa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sigmund?utm_source=unsplash&amp;utm_medium=referral&amp;utm_content=creditCopyText" TargetMode="External"/><Relationship Id="rId3" Type="http://schemas.openxmlformats.org/officeDocument/2006/relationships/hyperlink" Target="https://unsplash.com/@sigmund?utm_source=unsplash&amp;utm_medium=referral&amp;utm_content=creditCopyText" TargetMode="External"/><Relationship Id="rId4" Type="http://schemas.openxmlformats.org/officeDocument/2006/relationships/hyperlink" Target="https://unsplash.com/s/photos/prototyping?utm_source=unsplash&amp;utm_medium=referral&amp;utm_content=creditCopyText" TargetMode="External"/><Relationship Id="rId5" Type="http://schemas.openxmlformats.org/officeDocument/2006/relationships/hyperlink" Target="https://unsplash.com/s/photos/prototyping?utm_source=unsplash&amp;utm_medium=referral&amp;utm_content=creditCopyText" TargetMode="Externa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amayli?utm_source=unsplash&amp;utm_medium=referral&amp;utm_content=creditCopyText" TargetMode="External"/><Relationship Id="rId3" Type="http://schemas.openxmlformats.org/officeDocument/2006/relationships/hyperlink" Target="https://unsplash.com/@amayli?utm_source=unsplash&amp;utm_medium=referral&amp;utm_content=creditCopyText" TargetMode="External"/><Relationship Id="rId4" Type="http://schemas.openxmlformats.org/officeDocument/2006/relationships/hyperlink" Target="https://unsplash.com/s/photos/prototype?utm_source=unsplash&amp;utm_medium=referral&amp;utm_content=creditCopyText" TargetMode="External"/><Relationship Id="rId5" Type="http://schemas.openxmlformats.org/officeDocument/2006/relationships/hyperlink" Target="https://unsplash.com/s/photos/prototype?utm_source=unsplash&amp;utm_medium=referral&amp;utm_content=creditCopyText" TargetMode="Externa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amayli?utm_source=unsplash&amp;utm_medium=referral&amp;utm_content=creditCopyText" TargetMode="External"/><Relationship Id="rId3" Type="http://schemas.openxmlformats.org/officeDocument/2006/relationships/hyperlink" Target="https://unsplash.com/@amayli?utm_source=unsplash&amp;utm_medium=referral&amp;utm_content=creditCopyText" TargetMode="External"/><Relationship Id="rId4" Type="http://schemas.openxmlformats.org/officeDocument/2006/relationships/hyperlink" Target="https://unsplash.com/s/photos/prototype?utm_source=unsplash&amp;utm_medium=referral&amp;utm_content=creditCopyText" TargetMode="External"/><Relationship Id="rId5" Type="http://schemas.openxmlformats.org/officeDocument/2006/relationships/hyperlink" Target="https://unsplash.com/s/photos/prototype?utm_source=unsplash&amp;utm_medium=referral&amp;utm_content=creditCopyText" TargetMode="Externa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amayli?utm_source=unsplash&amp;utm_medium=referral&amp;utm_content=creditCopyText" TargetMode="External"/><Relationship Id="rId3" Type="http://schemas.openxmlformats.org/officeDocument/2006/relationships/hyperlink" Target="https://unsplash.com/@amayli?utm_source=unsplash&amp;utm_medium=referral&amp;utm_content=creditCopyText" TargetMode="External"/><Relationship Id="rId4" Type="http://schemas.openxmlformats.org/officeDocument/2006/relationships/hyperlink" Target="https://unsplash.com/s/photos/prototype?utm_source=unsplash&amp;utm_medium=referral&amp;utm_content=creditCopyText" TargetMode="External"/><Relationship Id="rId5" Type="http://schemas.openxmlformats.org/officeDocument/2006/relationships/hyperlink" Target="https://unsplash.com/s/photos/prototype?utm_source=unsplash&amp;utm_medium=referral&amp;utm_content=creditCopyText" TargetMode="Externa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amayli?utm_source=unsplash&amp;utm_medium=referral&amp;utm_content=creditCopyText" TargetMode="External"/><Relationship Id="rId3" Type="http://schemas.openxmlformats.org/officeDocument/2006/relationships/hyperlink" Target="https://unsplash.com/@amayli?utm_source=unsplash&amp;utm_medium=referral&amp;utm_content=creditCopyText" TargetMode="External"/><Relationship Id="rId4" Type="http://schemas.openxmlformats.org/officeDocument/2006/relationships/hyperlink" Target="https://unsplash.com/s/photos/prototyping?utm_source=unsplash&amp;utm_medium=referral&amp;utm_content=creditCopyText" TargetMode="External"/><Relationship Id="rId5" Type="http://schemas.openxmlformats.org/officeDocument/2006/relationships/hyperlink" Target="https://unsplash.com/s/photos/prototyping?utm_source=unsplash&amp;utm_medium=referral&amp;utm_content=creditCopyText" TargetMode="Externa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sigmund?utm_source=unsplash&amp;utm_medium=referral&amp;utm_content=creditCopyText" TargetMode="External"/><Relationship Id="rId3" Type="http://schemas.openxmlformats.org/officeDocument/2006/relationships/hyperlink" Target="https://unsplash.com/@sigmund?utm_source=unsplash&amp;utm_medium=referral&amp;utm_content=creditCopyText" TargetMode="External"/><Relationship Id="rId4" Type="http://schemas.openxmlformats.org/officeDocument/2006/relationships/hyperlink" Target="https://unsplash.com/s/photos/prototyping?utm_source=unsplash&amp;utm_medium=referral&amp;utm_content=creditCopyText" TargetMode="External"/><Relationship Id="rId5" Type="http://schemas.openxmlformats.org/officeDocument/2006/relationships/hyperlink" Target="https://unsplash.com/s/photos/prototyping?utm_source=unsplash&amp;utm_medium=referral&amp;utm_content=creditCopyText" TargetMode="Externa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sigmund?utm_source=unsplash&amp;utm_medium=referral&amp;utm_content=creditCopyText" TargetMode="External"/><Relationship Id="rId3" Type="http://schemas.openxmlformats.org/officeDocument/2006/relationships/hyperlink" Target="https://unsplash.com/@sigmund?utm_source=unsplash&amp;utm_medium=referral&amp;utm_content=creditCopyText" TargetMode="External"/><Relationship Id="rId4" Type="http://schemas.openxmlformats.org/officeDocument/2006/relationships/hyperlink" Target="https://unsplash.com/s/photos/prototyping?utm_source=unsplash&amp;utm_medium=referral&amp;utm_content=creditCopyText" TargetMode="External"/><Relationship Id="rId5" Type="http://schemas.openxmlformats.org/officeDocument/2006/relationships/hyperlink" Target="https://unsplash.com/s/photos/prototyping?utm_source=unsplash&amp;utm_medium=referral&amp;utm_content=creditCopyText" TargetMode="Externa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amayli?utm_source=unsplash&amp;utm_medium=referral&amp;utm_content=creditCopyText" TargetMode="External"/><Relationship Id="rId3" Type="http://schemas.openxmlformats.org/officeDocument/2006/relationships/hyperlink" Target="https://unsplash.com/@amayli?utm_source=unsplash&amp;utm_medium=referral&amp;utm_content=creditCopyText" TargetMode="External"/><Relationship Id="rId4" Type="http://schemas.openxmlformats.org/officeDocument/2006/relationships/hyperlink" Target="https://unsplash.com/s/photos/prototype?utm_source=unsplash&amp;utm_medium=referral&amp;utm_content=creditCopyText" TargetMode="External"/><Relationship Id="rId5" Type="http://schemas.openxmlformats.org/officeDocument/2006/relationships/hyperlink" Target="https://unsplash.com/s/photos/prototype?utm_source=unsplash&amp;utm_medium=referral&amp;utm_content=creditCopyText" TargetMode="Externa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amayli?utm_source=unsplash&amp;utm_medium=referral&amp;utm_content=creditCopyText" TargetMode="External"/><Relationship Id="rId3" Type="http://schemas.openxmlformats.org/officeDocument/2006/relationships/hyperlink" Target="https://unsplash.com/@amayli?utm_source=unsplash&amp;utm_medium=referral&amp;utm_content=creditCopyText" TargetMode="External"/><Relationship Id="rId4" Type="http://schemas.openxmlformats.org/officeDocument/2006/relationships/hyperlink" Target="https://unsplash.com/s/photos/prototype?utm_source=unsplash&amp;utm_medium=referral&amp;utm_content=creditCopyText" TargetMode="External"/><Relationship Id="rId5" Type="http://schemas.openxmlformats.org/officeDocument/2006/relationships/hyperlink" Target="https://unsplash.com/s/photos/prototype?utm_source=unsplash&amp;utm_medium=referral&amp;utm_content=creditCopyText" TargetMode="Externa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sigmund?utm_source=unsplash&amp;utm_medium=referral&amp;utm_content=creditCopyText" TargetMode="External"/><Relationship Id="rId3" Type="http://schemas.openxmlformats.org/officeDocument/2006/relationships/hyperlink" Target="https://unsplash.com/@sigmund?utm_source=unsplash&amp;utm_medium=referral&amp;utm_content=creditCopyText" TargetMode="External"/><Relationship Id="rId4" Type="http://schemas.openxmlformats.org/officeDocument/2006/relationships/hyperlink" Target="https://unsplash.com/s/photos/prototype?utm_source=unsplash&amp;utm_medium=referral&amp;utm_content=creditCopyText" TargetMode="External"/><Relationship Id="rId5" Type="http://schemas.openxmlformats.org/officeDocument/2006/relationships/hyperlink" Target="https://unsplash.com/s/photos/prototype?utm_source=unsplash&amp;utm_medium=referral&amp;utm_content=creditCopyText" TargetMode="Externa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sigmund?utm_source=unsplash&amp;utm_medium=referral&amp;utm_content=creditCopyText" TargetMode="External"/><Relationship Id="rId3" Type="http://schemas.openxmlformats.org/officeDocument/2006/relationships/hyperlink" Target="https://unsplash.com/@sigmund?utm_source=unsplash&amp;utm_medium=referral&amp;utm_content=creditCopyText" TargetMode="External"/><Relationship Id="rId4" Type="http://schemas.openxmlformats.org/officeDocument/2006/relationships/hyperlink" Target="https://unsplash.com/s/photos/prototype?utm_source=unsplash&amp;utm_medium=referral&amp;utm_content=creditCopyText" TargetMode="External"/><Relationship Id="rId5" Type="http://schemas.openxmlformats.org/officeDocument/2006/relationships/hyperlink" Target="https://unsplash.com/s/photos/prototype?utm_source=unsplash&amp;utm_medium=referral&amp;utm_content=creditCopyText" TargetMode="Externa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louismornaud?utm_source=unsplash&amp;utm_medium=referral&amp;utm_content=creditCopyText" TargetMode="External"/><Relationship Id="rId3" Type="http://schemas.openxmlformats.org/officeDocument/2006/relationships/hyperlink" Target="https://unsplash.com/@louismornaud?utm_source=unsplash&amp;utm_medium=referral&amp;utm_content=creditCopyText" TargetMode="External"/><Relationship Id="rId4" Type="http://schemas.openxmlformats.org/officeDocument/2006/relationships/hyperlink" Target="https://unsplash.com/s/photos/prototype?utm_source=unsplash&amp;utm_medium=referral&amp;utm_content=creditCopyText" TargetMode="External"/><Relationship Id="rId5" Type="http://schemas.openxmlformats.org/officeDocument/2006/relationships/hyperlink" Target="https://unsplash.com/s/photos/prototype?utm_source=unsplash&amp;utm_medium=referral&amp;utm_content=creditCopyText" TargetMode="Externa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hamishkale_?utm_source=unsplash&amp;utm_medium=referral&amp;utm_content=creditCopyText" TargetMode="External"/><Relationship Id="rId3" Type="http://schemas.openxmlformats.org/officeDocument/2006/relationships/hyperlink" Target="https://unsplash.com/@hamishkale_?utm_source=unsplash&amp;utm_medium=referral&amp;utm_content=creditCopyText" TargetMode="External"/><Relationship Id="rId4" Type="http://schemas.openxmlformats.org/officeDocument/2006/relationships/hyperlink" Target="https://unsplash.com/s/photos/drama?utm_source=unsplash&amp;utm_medium=referral&amp;utm_content=creditCopyText" TargetMode="External"/><Relationship Id="rId5" Type="http://schemas.openxmlformats.org/officeDocument/2006/relationships/hyperlink" Target="https://unsplash.com/s/photos/drama?utm_source=unsplash&amp;utm_medium=referral&amp;utm_content=creditCopyText" TargetMode="Externa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ralstonhsmith?utm_source=unsplash&amp;utm_medium=referral&amp;utm_content=creditCopyText" TargetMode="External"/><Relationship Id="rId3" Type="http://schemas.openxmlformats.org/officeDocument/2006/relationships/hyperlink" Target="https://unsplash.com/@ralstonhsmith?utm_source=unsplash&amp;utm_medium=referral&amp;utm_content=creditCopyText" TargetMode="External"/><Relationship Id="rId4" Type="http://schemas.openxmlformats.org/officeDocument/2006/relationships/hyperlink" Target="https://unsplash.com/s/photos/video-prototype?utm_source=unsplash&amp;utm_medium=referral&amp;utm_content=creditCopyText" TargetMode="External"/><Relationship Id="rId5" Type="http://schemas.openxmlformats.org/officeDocument/2006/relationships/hyperlink" Target="https://unsplash.com/s/photos/video-prototype?utm_source=unsplash&amp;utm_medium=referral&amp;utm_content=creditCopyText" TargetMode="Externa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nate_dumlao?utm_source=unsplash&amp;utm_medium=referral&amp;utm_content=creditCopyText" TargetMode="External"/><Relationship Id="rId3" Type="http://schemas.openxmlformats.org/officeDocument/2006/relationships/hyperlink" Target="https://unsplash.com/@nate_dumlao?utm_source=unsplash&amp;utm_medium=referral&amp;utm_content=creditCopyText" TargetMode="External"/><Relationship Id="rId4" Type="http://schemas.openxmlformats.org/officeDocument/2006/relationships/hyperlink" Target="https://unsplash.com/s/photos/on-the-phone?utm_source=unsplash&amp;utm_medium=referral&amp;utm_content=creditCopyText" TargetMode="External"/><Relationship Id="rId5" Type="http://schemas.openxmlformats.org/officeDocument/2006/relationships/hyperlink" Target="https://unsplash.com/s/photos/on-the-phone?utm_source=unsplash&amp;utm_medium=referral&amp;utm_content=creditCopyText" TargetMode="Externa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tezos?utm_source=unsplash&amp;utm_medium=referral&amp;utm_content=creditCopyText" TargetMode="External"/><Relationship Id="rId3" Type="http://schemas.openxmlformats.org/officeDocument/2006/relationships/hyperlink" Target="https://unsplash.com/@tezos?utm_source=unsplash&amp;utm_medium=referral&amp;utm_content=creditCopyText" TargetMode="External"/><Relationship Id="rId4" Type="http://schemas.openxmlformats.org/officeDocument/2006/relationships/hyperlink" Target="https://unsplash.com/s/photos/technology?utm_source=unsplash&amp;utm_medium=referral&amp;utm_content=creditCopyText" TargetMode="External"/><Relationship Id="rId5" Type="http://schemas.openxmlformats.org/officeDocument/2006/relationships/hyperlink" Target="https://unsplash.com/s/photos/technology?utm_source=unsplash&amp;utm_medium=referral&amp;utm_content=creditCopyText" TargetMode="Externa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fazurrehman?utm_source=unsplash&amp;utm_medium=referral&amp;utm_content=creditCopyText" TargetMode="External"/><Relationship Id="rId3" Type="http://schemas.openxmlformats.org/officeDocument/2006/relationships/hyperlink" Target="https://unsplash.com/@fazurrehman?utm_source=unsplash&amp;utm_medium=referral&amp;utm_content=creditCopyText" TargetMode="External"/><Relationship Id="rId4" Type="http://schemas.openxmlformats.org/officeDocument/2006/relationships/hyperlink" Target="https://unsplash.com/s/photos/wireframe?utm_source=unsplash&amp;utm_medium=referral&amp;utm_content=creditCopyText" TargetMode="External"/><Relationship Id="rId5" Type="http://schemas.openxmlformats.org/officeDocument/2006/relationships/hyperlink" Target="https://unsplash.com/s/photos/wireframe?utm_source=unsplash&amp;utm_medium=referral&amp;utm_content=creditCopyText" TargetMode="Externa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fazurrehman?utm_source=unsplash&amp;utm_medium=referral&amp;utm_content=creditCopyText" TargetMode="External"/><Relationship Id="rId3" Type="http://schemas.openxmlformats.org/officeDocument/2006/relationships/hyperlink" Target="https://unsplash.com/@fazurrehman?utm_source=unsplash&amp;utm_medium=referral&amp;utm_content=creditCopyText" TargetMode="External"/><Relationship Id="rId4" Type="http://schemas.openxmlformats.org/officeDocument/2006/relationships/hyperlink" Target="https://unsplash.com/s/photos/wireframe?utm_source=unsplash&amp;utm_medium=referral&amp;utm_content=creditCopyText" TargetMode="External"/><Relationship Id="rId5" Type="http://schemas.openxmlformats.org/officeDocument/2006/relationships/hyperlink" Target="https://unsplash.com/s/photos/wireframe?utm_source=unsplash&amp;utm_medium=referral&amp;utm_content=creditCopyText" TargetMode="Externa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fazurrehman?utm_source=unsplash&amp;utm_medium=referral&amp;utm_content=creditCopyText" TargetMode="External"/><Relationship Id="rId3" Type="http://schemas.openxmlformats.org/officeDocument/2006/relationships/hyperlink" Target="https://unsplash.com/@fazurrehman?utm_source=unsplash&amp;utm_medium=referral&amp;utm_content=creditCopyText" TargetMode="External"/><Relationship Id="rId4" Type="http://schemas.openxmlformats.org/officeDocument/2006/relationships/hyperlink" Target="https://unsplash.com/s/photos/wireframe?utm_source=unsplash&amp;utm_medium=referral&amp;utm_content=creditCopyText" TargetMode="External"/><Relationship Id="rId5" Type="http://schemas.openxmlformats.org/officeDocument/2006/relationships/hyperlink" Target="https://unsplash.com/s/photos/wireframe?utm_source=unsplash&amp;utm_medium=referral&amp;utm_content=creditCopyText" TargetMode="Externa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fazurrehman?utm_source=unsplash&amp;utm_medium=referral&amp;utm_content=creditCopyText" TargetMode="External"/><Relationship Id="rId3" Type="http://schemas.openxmlformats.org/officeDocument/2006/relationships/hyperlink" Target="https://unsplash.com/@fazurrehman?utm_source=unsplash&amp;utm_medium=referral&amp;utm_content=creditCopyText" TargetMode="External"/><Relationship Id="rId4" Type="http://schemas.openxmlformats.org/officeDocument/2006/relationships/hyperlink" Target="https://unsplash.com/s/photos/wireframe?utm_source=unsplash&amp;utm_medium=referral&amp;utm_content=creditCopyText" TargetMode="External"/><Relationship Id="rId5" Type="http://schemas.openxmlformats.org/officeDocument/2006/relationships/hyperlink" Target="https://unsplash.com/s/photos/wireframe?utm_source=unsplash&amp;utm_medium=referral&amp;utm_content=creditCopyText" TargetMode="Externa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techdailyca?utm_source=unsplash&amp;utm_medium=referral&amp;utm_content=creditCopyText" TargetMode="External"/><Relationship Id="rId3" Type="http://schemas.openxmlformats.org/officeDocument/2006/relationships/hyperlink" Target="https://unsplash.com/@techdailyca?utm_source=unsplash&amp;utm_medium=referral&amp;utm_content=creditCopyText" TargetMode="External"/><Relationship Id="rId4" Type="http://schemas.openxmlformats.org/officeDocument/2006/relationships/hyperlink" Target="https://unsplash.com/s/photos/prototype-interactive?utm_source=unsplash&amp;utm_medium=referral&amp;utm_content=creditCopyText" TargetMode="External"/><Relationship Id="rId5" Type="http://schemas.openxmlformats.org/officeDocument/2006/relationships/hyperlink" Target="https://unsplash.com/s/photos/prototype-interactive?utm_source=unsplash&amp;utm_medium=referral&amp;utm_content=creditCopyText" TargetMode="Externa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techdailyca?utm_source=unsplash&amp;utm_medium=referral&amp;utm_content=creditCopyText" TargetMode="External"/><Relationship Id="rId3" Type="http://schemas.openxmlformats.org/officeDocument/2006/relationships/hyperlink" Target="https://unsplash.com/@techdailyca?utm_source=unsplash&amp;utm_medium=referral&amp;utm_content=creditCopyText" TargetMode="External"/><Relationship Id="rId4" Type="http://schemas.openxmlformats.org/officeDocument/2006/relationships/hyperlink" Target="https://unsplash.com/s/photos/prototype-interactive?utm_source=unsplash&amp;utm_medium=referral&amp;utm_content=creditCopyText" TargetMode="External"/><Relationship Id="rId5" Type="http://schemas.openxmlformats.org/officeDocument/2006/relationships/hyperlink" Target="https://unsplash.com/s/photos/prototype-interactive?utm_source=unsplash&amp;utm_medium=referral&amp;utm_content=creditCopyText" TargetMode="Externa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techdailyca?utm_source=unsplash&amp;utm_medium=referral&amp;utm_content=creditCopyText" TargetMode="External"/><Relationship Id="rId3" Type="http://schemas.openxmlformats.org/officeDocument/2006/relationships/hyperlink" Target="https://unsplash.com/@techdailyca?utm_source=unsplash&amp;utm_medium=referral&amp;utm_content=creditCopyText" TargetMode="External"/><Relationship Id="rId4" Type="http://schemas.openxmlformats.org/officeDocument/2006/relationships/hyperlink" Target="https://unsplash.com/s/photos/prototype-interactive?utm_source=unsplash&amp;utm_medium=referral&amp;utm_content=creditCopyText" TargetMode="External"/><Relationship Id="rId5" Type="http://schemas.openxmlformats.org/officeDocument/2006/relationships/hyperlink" Target="https://unsplash.com/s/photos/prototype-interactive?utm_source=unsplash&amp;utm_medium=referral&amp;utm_content=creditCopyText" TargetMode="Externa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techdailyca?utm_source=unsplash&amp;utm_medium=referral&amp;utm_content=creditCopyText" TargetMode="External"/><Relationship Id="rId3" Type="http://schemas.openxmlformats.org/officeDocument/2006/relationships/hyperlink" Target="https://unsplash.com/@techdailyca?utm_source=unsplash&amp;utm_medium=referral&amp;utm_content=creditCopyText" TargetMode="External"/><Relationship Id="rId4" Type="http://schemas.openxmlformats.org/officeDocument/2006/relationships/hyperlink" Target="https://unsplash.com/s/photos/prototype-interactive?utm_source=unsplash&amp;utm_medium=referral&amp;utm_content=creditCopyText" TargetMode="External"/><Relationship Id="rId5" Type="http://schemas.openxmlformats.org/officeDocument/2006/relationships/hyperlink" Target="https://unsplash.com/s/photos/prototype-interactive?utm_source=unsplash&amp;utm_medium=referral&amp;utm_content=creditCopyText" TargetMode="Externa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alexbemore?utm_source=unsplash&amp;utm_medium=referral&amp;utm_content=creditCopyText" TargetMode="External"/><Relationship Id="rId3" Type="http://schemas.openxmlformats.org/officeDocument/2006/relationships/hyperlink" Target="https://unsplash.com/@alexbemore?utm_source=unsplash&amp;utm_medium=referral&amp;utm_content=creditCopyText" TargetMode="External"/><Relationship Id="rId4" Type="http://schemas.openxmlformats.org/officeDocument/2006/relationships/hyperlink" Target="https://unsplash.com/s/photos/figma?utm_source=unsplash&amp;utm_medium=referral&amp;utm_content=creditCopyText" TargetMode="External"/><Relationship Id="rId5" Type="http://schemas.openxmlformats.org/officeDocument/2006/relationships/hyperlink" Target="https://unsplash.com/s/photos/figma?utm_source=unsplash&amp;utm_medium=referral&amp;utm_content=creditCopyText" TargetMode="Externa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ebdesign.tutsplus.com/courses/introduction-to-figma/lessons/working-with-projects-files-and-pages-in-figma" TargetMode="Externa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ebdesign.tutsplus.com/courses/introduction-to-figma/lessons/using-the-figma-ui" TargetMode="Externa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ebdesign.tutsplus.com/courses/introduction-to-figma/lessons/working-with-frames-shapes-and-text-in-figma" TargetMode="Externa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ebdesign.tutsplus.com/courses/introduction-to-figma/lessons/creating-vector-networks-with-the-pen-tool" TargetMode="Externa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ebdesign.tutsplus.com/courses/introduction-to-figma/lessons/working-with-grids-in-figma" TargetMode="Externa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ebdesign.tutsplus.com/courses/introduction-to-figma/lessons/using-figma-plugins" TargetMode="Externa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Amélie Mourichon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19bdd89fb2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g119bdd89fb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Amélie Mourichon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Sigmund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11a1c4845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11a1c4845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Amélie Mourichon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119bdd89fb2_0_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119bdd89fb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Amélie Mourichon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119bdd89fb2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g119bdd89fb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Amélie Mourichon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Amélie Mourichon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Author/Copyright holder: Teo Yu Siang and Interaction Design Foundation. Copyright licence: CC BY-NC-SA 3.0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Sigmund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11a1c484501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11a1c48450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Sigmund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19bdd89fb2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119bdd89fb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Amélie Mourichon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Amélie Mourichon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Sigmund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Sigmund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Video from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Louis Mornaud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Image from https://www.workshopper.com/post/design-thinking-phase-4-everything-you-need-to-know-about-prototyping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Image from https://www.workshopper.com/post/design-thinking-phase-4-everything-you-need-to-know-about-prototyping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Hamish Kale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Ralston Smith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Nathan Dumlao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Tezos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4" name="Google Shape;354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Faizur Rehman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119e41673b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119e41673b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Faizur Rehman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19e41673b3_1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119e41673b3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Faizur Rehman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119e41673b3_1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g119e41673b3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Faizur Rehman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6" name="Google Shape;386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Tech Daily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119e41673b3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g119e41673b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Tech Daily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19e8fa7a1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g119e8fa7a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Tech Daily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19e8fa7a17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0" name="Google Shape;410;g119e8fa7a17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Tech Daily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" name="Google Shape;42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1" name="Google Shape;441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Photo by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Alexander Shatov</a:t>
            </a:r>
            <a:r>
              <a:rPr lang="en-US">
                <a:solidFill>
                  <a:schemeClr val="dk1"/>
                </a:solidFill>
              </a:rPr>
              <a:t> on</a:t>
            </a:r>
            <a:r>
              <a:rPr lang="en-US">
                <a:solidFill>
                  <a:schemeClr val="dk1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US" u="sng">
                <a:solidFill>
                  <a:schemeClr val="hlink"/>
                </a:solidFill>
                <a:hlinkClick r:id="rId5"/>
              </a:rPr>
              <a:t>Unsplash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0" name="Google Shape;450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Video from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https://webdesign.tutsplus.com/courses/introduction-to-figma/lessons/working-with-projects-files-and-pages-in-figma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Go to the website to play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8" name="Google Shape;458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Video from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https://webdesign.tutsplus.com/courses/introduction-to-figma/lessons/using-the-figma-ui</a:t>
            </a:r>
            <a:r>
              <a:rPr lang="en-US">
                <a:solidFill>
                  <a:schemeClr val="dk1"/>
                </a:solidFill>
              </a:rPr>
              <a:t> 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Go to the website to play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Video from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https://webdesign.tutsplus.com/courses/introduction-to-figma/lessons/working-with-frames-shapes-and-text-in-figma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Go to the website to play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Video from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https://webdesign.tutsplus.com/courses/introduction-to-figma/lessons/creating-vector-networks-with-the-pen-tool</a:t>
            </a:r>
            <a:r>
              <a:rPr lang="en-US">
                <a:solidFill>
                  <a:schemeClr val="dk1"/>
                </a:solidFill>
              </a:rPr>
              <a:t> </a:t>
            </a:r>
            <a:br>
              <a:rPr lang="en-US">
                <a:solidFill>
                  <a:schemeClr val="dk1"/>
                </a:solidFill>
              </a:rPr>
            </a:br>
            <a:r>
              <a:rPr lang="en-US">
                <a:solidFill>
                  <a:schemeClr val="dk1"/>
                </a:solidFill>
              </a:rPr>
              <a:t>Go to the website to play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Video from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https://webdesign.tutsplus.com/courses/introduction-to-figma/lessons/working-with-grids-in-figma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Go to the website to play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0" name="Google Shape;49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Video from </a:t>
            </a:r>
            <a:r>
              <a:rPr lang="en-US" u="sng">
                <a:solidFill>
                  <a:schemeClr val="hlink"/>
                </a:solidFill>
                <a:hlinkClick r:id="rId2"/>
              </a:rPr>
              <a:t>https://webdesign.tutsplus.com/courses/introduction-to-figma/lessons/using-figma-plugins</a:t>
            </a: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>
                <a:solidFill>
                  <a:schemeClr val="dk1"/>
                </a:solidFill>
              </a:rPr>
              <a:t>Go to the website to play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4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9" name="Google Shape;529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6" name="Google Shape;536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2" name="Google Shape;542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2" name="Google Shape;562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8" name="Google Shape;568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5" name="Google Shape;575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5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5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4" name="Google Shape;594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1" name="Google Shape;601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5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7" name="Google Shape;617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63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6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6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6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" name="Google Shape;16;p6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6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6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6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6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6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6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3" name="Google Shape;23;p6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6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6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6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6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6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6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6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65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65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65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65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6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6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0" name="Google Shape;50;p6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" name="Google Shape;51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4" name="Google Shape;54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" name="Google Shape;58;p7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7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7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3" name="Google Shape;63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7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6" name="Google Shape;66;p7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7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7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6" name="Google Shape;76;p7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7" name="Google Shape;77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3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7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4">
  <p:cSld name="TITLE_4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4" name="Google Shape;84;p7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5" name="Google Shape;85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://www.youtube.com/watch?v=PJebP81wTXc" TargetMode="External"/><Relationship Id="rId4" Type="http://schemas.openxmlformats.org/officeDocument/2006/relationships/image" Target="../media/image19.jpg"/><Relationship Id="rId5" Type="http://schemas.openxmlformats.org/officeDocument/2006/relationships/hyperlink" Target="http://www.youtube.com/watch?v=PJebP81wTXc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unsplash.com/@tezos?utm_source=unsplash&amp;utm_medium=referral&amp;utm_content=creditCopyText" TargetMode="External"/><Relationship Id="rId4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0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unsplash.com/@techdailyca?utm_source=unsplash&amp;utm_medium=referral&amp;utm_content=creditCopyText" TargetMode="External"/><Relationship Id="rId4" Type="http://schemas.openxmlformats.org/officeDocument/2006/relationships/image" Target="../media/image3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40.png"/></Relationships>
</file>

<file path=ppt/slides/_rels/slide4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7.png"/><Relationship Id="rId10" Type="http://schemas.openxmlformats.org/officeDocument/2006/relationships/image" Target="../media/image33.png"/><Relationship Id="rId13" Type="http://schemas.openxmlformats.org/officeDocument/2006/relationships/image" Target="../media/image36.png"/><Relationship Id="rId12" Type="http://schemas.openxmlformats.org/officeDocument/2006/relationships/image" Target="../media/image35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www.adobe.com/products/xd.html" TargetMode="External"/><Relationship Id="rId4" Type="http://schemas.openxmlformats.org/officeDocument/2006/relationships/hyperlink" Target="https://www.sketch.com/" TargetMode="External"/><Relationship Id="rId9" Type="http://schemas.openxmlformats.org/officeDocument/2006/relationships/hyperlink" Target="https://proto.io/" TargetMode="External"/><Relationship Id="rId15" Type="http://schemas.openxmlformats.org/officeDocument/2006/relationships/image" Target="../media/image38.png"/><Relationship Id="rId14" Type="http://schemas.openxmlformats.org/officeDocument/2006/relationships/image" Target="../media/image39.png"/><Relationship Id="rId16" Type="http://schemas.openxmlformats.org/officeDocument/2006/relationships/image" Target="../media/image42.jpg"/><Relationship Id="rId5" Type="http://schemas.openxmlformats.org/officeDocument/2006/relationships/hyperlink" Target="https://www.figma.com/" TargetMode="External"/><Relationship Id="rId6" Type="http://schemas.openxmlformats.org/officeDocument/2006/relationships/hyperlink" Target="https://www.google.com/slides/about/" TargetMode="External"/><Relationship Id="rId7" Type="http://schemas.openxmlformats.org/officeDocument/2006/relationships/hyperlink" Target="https://www.invisionapp.com/" TargetMode="External"/><Relationship Id="rId8" Type="http://schemas.openxmlformats.org/officeDocument/2006/relationships/hyperlink" Target="https://www.axure.com/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8.png"/><Relationship Id="rId4" Type="http://schemas.openxmlformats.org/officeDocument/2006/relationships/hyperlink" Target="https://www.figma.com/" TargetMode="External"/><Relationship Id="rId5" Type="http://schemas.openxmlformats.org/officeDocument/2006/relationships/image" Target="../media/image39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ebdesign.tutsplus.com/courses/introduction-to-figma/lessons/working-with-projects-files-and-pages-in-figma" TargetMode="External"/><Relationship Id="rId4" Type="http://schemas.openxmlformats.org/officeDocument/2006/relationships/image" Target="../media/image4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ebdesign.tutsplus.com/courses/introduction-to-figma/lessons/using-the-figma-ui" TargetMode="External"/><Relationship Id="rId4" Type="http://schemas.openxmlformats.org/officeDocument/2006/relationships/image" Target="../media/image4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hyperlink" Target="https://webdesign.tutsplus.com/courses/introduction-to-figma/lessons/working-with-frames-shapes-and-text-in-figma" TargetMode="External"/><Relationship Id="rId4" Type="http://schemas.openxmlformats.org/officeDocument/2006/relationships/image" Target="../media/image4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hyperlink" Target="https://webdesign.tutsplus.com/courses/introduction-to-figma/lessons/creating-vector-networks-with-the-pen-tool" TargetMode="External"/><Relationship Id="rId4" Type="http://schemas.openxmlformats.org/officeDocument/2006/relationships/image" Target="../media/image46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hyperlink" Target="https://webdesign.tutsplus.com/courses/introduction-to-figma/lessons/working-with-grids-in-figma" TargetMode="External"/><Relationship Id="rId4" Type="http://schemas.openxmlformats.org/officeDocument/2006/relationships/image" Target="../media/image4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hyperlink" Target="https://webdesign.tutsplus.com/courses/introduction-to-figma/lessons/using-figma-plugins" TargetMode="External"/><Relationship Id="rId4" Type="http://schemas.openxmlformats.org/officeDocument/2006/relationships/image" Target="../media/image4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hyperlink" Target="https://www.youtube.com/watch?v=Gu1so3pz4bA" TargetMode="External"/><Relationship Id="rId4" Type="http://schemas.openxmlformats.org/officeDocument/2006/relationships/hyperlink" Target="https://www.youtube.com/watch?v=TYhp4s-vjK4&amp;list=PLvnhVb8yYRQ3TDOsSgN0pf0XqG6E56IYM" TargetMode="External"/><Relationship Id="rId5" Type="http://schemas.openxmlformats.org/officeDocument/2006/relationships/hyperlink" Target="https://www.youtube.com/watch?v=Gu1so3pz4bA" TargetMode="External"/><Relationship Id="rId6" Type="http://schemas.openxmlformats.org/officeDocument/2006/relationships/image" Target="../media/image50.png"/><Relationship Id="rId7" Type="http://schemas.openxmlformats.org/officeDocument/2006/relationships/hyperlink" Target="https://www.youtube.com/watch?v=TYhp4s-vjK4&amp;list=PLvnhVb8yYRQ3TDOsSgN0pf0XqG6E56IYM" TargetMode="External"/><Relationship Id="rId8" Type="http://schemas.openxmlformats.org/officeDocument/2006/relationships/image" Target="../media/image4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hyperlink" Target="https://www.youtube.com/watch?v=HBpF6eQdcW8" TargetMode="External"/><Relationship Id="rId4" Type="http://schemas.openxmlformats.org/officeDocument/2006/relationships/hyperlink" Target="https://www.youtube.com/watch?v=wE-eGh8gWAk&amp;list=PLkaFTR_oezJ4JfjsuyDfTTp4Cbff7Dbso" TargetMode="External"/><Relationship Id="rId5" Type="http://schemas.openxmlformats.org/officeDocument/2006/relationships/hyperlink" Target="https://www.youtube.com/watch?v=HBpF6eQdcW8" TargetMode="External"/><Relationship Id="rId6" Type="http://schemas.openxmlformats.org/officeDocument/2006/relationships/image" Target="../media/image52.png"/><Relationship Id="rId7" Type="http://schemas.openxmlformats.org/officeDocument/2006/relationships/hyperlink" Target="https://www.youtube.com/watch?v=wE-eGh8gWAk&amp;list=PLkaFTR_oezJ4JfjsuyDfTTp4Cbff7Dbso" TargetMode="External"/><Relationship Id="rId8" Type="http://schemas.openxmlformats.org/officeDocument/2006/relationships/image" Target="../media/image5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workshopper.com/post/design-thinking-phase-4-everything-you-need-to-know-about-prototyping" TargetMode="External"/><Relationship Id="rId10" Type="http://schemas.openxmlformats.org/officeDocument/2006/relationships/hyperlink" Target="https://www.interaction-design.org/literature/article/stage-4-in-the-design-thinking-process-prototype" TargetMode="External"/><Relationship Id="rId13" Type="http://schemas.openxmlformats.org/officeDocument/2006/relationships/hyperlink" Target="https://www.reforge.com/brief/the-4-different-types-of-product-prototypes#9pIWKToQyqTn3SJqEiUchg" TargetMode="External"/><Relationship Id="rId12" Type="http://schemas.openxmlformats.org/officeDocument/2006/relationships/hyperlink" Target="https://www.workshopper.com/post/design-thinking-phase-4-everything-you-need-to-know-about-prototyping" TargetMode="External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56.png"/><Relationship Id="rId4" Type="http://schemas.openxmlformats.org/officeDocument/2006/relationships/hyperlink" Target="https://www.interaction-design.org/literature/topics/design-thinking" TargetMode="External"/><Relationship Id="rId9" Type="http://schemas.openxmlformats.org/officeDocument/2006/relationships/hyperlink" Target="https://www.interaction-design.org/literature/article/stage-4-in-the-design-thinking-process-prototype" TargetMode="External"/><Relationship Id="rId15" Type="http://schemas.openxmlformats.org/officeDocument/2006/relationships/hyperlink" Target="https://webdesign.tutsplus.com/courses/introduction-to-figma" TargetMode="External"/><Relationship Id="rId14" Type="http://schemas.openxmlformats.org/officeDocument/2006/relationships/hyperlink" Target="https://webdesign.tutsplus.com/courses/introduction-to-figma" TargetMode="External"/><Relationship Id="rId16" Type="http://schemas.openxmlformats.org/officeDocument/2006/relationships/hyperlink" Target="https://webdesign.tutsplus.com/courses/introduction-to-figma" TargetMode="External"/><Relationship Id="rId5" Type="http://schemas.openxmlformats.org/officeDocument/2006/relationships/hyperlink" Target="https://www.interaction-design.org/literature/article/5-stages-in-the-design-thinking-process" TargetMode="External"/><Relationship Id="rId6" Type="http://schemas.openxmlformats.org/officeDocument/2006/relationships/hyperlink" Target="https://www.interaction-design.org/literature/article/5-stages-in-the-design-thinking-process" TargetMode="External"/><Relationship Id="rId7" Type="http://schemas.openxmlformats.org/officeDocument/2006/relationships/hyperlink" Target="https://www.interaction-design.org/literature/article/5-stages-in-the-design-thinking-process" TargetMode="External"/><Relationship Id="rId8" Type="http://schemas.openxmlformats.org/officeDocument/2006/relationships/hyperlink" Target="https://www.interaction-design.org/literature/topics/prototyping" TargetMode="Externa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60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59.png"/><Relationship Id="rId4" Type="http://schemas.openxmlformats.org/officeDocument/2006/relationships/image" Target="../media/image57.png"/><Relationship Id="rId5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 txBox="1"/>
          <p:nvPr/>
        </p:nvSpPr>
        <p:spPr>
          <a:xfrm>
            <a:off x="2386875" y="2507550"/>
            <a:ext cx="5869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Design Thinking: Prototype </a:t>
            </a:r>
            <a:r>
              <a:rPr b="0" i="0" lang="en-US" sz="2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(Part 1)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Gold</a:t>
            </a:r>
            <a:r>
              <a:rPr b="1" i="0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- </a:t>
            </a:r>
            <a:r>
              <a:rPr b="0" i="0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Chapter 4 - Topic 1</a:t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1" name="Google Shape;91;p1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25" y="1951500"/>
            <a:ext cx="1181925" cy="143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>
            <p:ph idx="4294967295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/>
          <p:nvPr>
            <p:ph type="title"/>
          </p:nvPr>
        </p:nvSpPr>
        <p:spPr>
          <a:xfrm>
            <a:off x="914400" y="634621"/>
            <a:ext cx="73152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</a:pPr>
            <a:r>
              <a:rPr lang="en-US" sz="1600">
                <a:latin typeface="Montserrat"/>
                <a:ea typeface="Montserrat"/>
                <a:cs typeface="Montserrat"/>
                <a:sym typeface="Montserrat"/>
              </a:rPr>
              <a:t>Selamat datang di </a:t>
            </a:r>
            <a:r>
              <a:rPr lang="en-US" sz="1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Chapter 4 Topik 1</a:t>
            </a:r>
            <a:r>
              <a:rPr lang="en-US" sz="1600">
                <a:latin typeface="Montserrat"/>
                <a:ea typeface="Montserrat"/>
                <a:cs typeface="Montserrat"/>
                <a:sym typeface="Montserrat"/>
              </a:rPr>
              <a:t> online course</a:t>
            </a:r>
            <a:br>
              <a:rPr lang="en-US" sz="16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1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UI/UX Research/Design</a:t>
            </a:r>
            <a:r>
              <a:rPr lang="en-US" sz="1600">
                <a:latin typeface="Montserrat"/>
                <a:ea typeface="Montserrat"/>
                <a:cs typeface="Montserrat"/>
                <a:sym typeface="Montserrat"/>
              </a:rPr>
              <a:t> dari Binar Academy!</a:t>
            </a:r>
            <a:endParaRPr sz="16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" name="Google Shape;10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60288" y="1807025"/>
            <a:ext cx="3823424" cy="291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6" name="Google Shape;106;p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Pengantar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1025128" y="3429277"/>
            <a:ext cx="7093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Di chapter 3, kita udah belajar design thinking fase define dan ideation, serta peralatan-peralatan dalam UI/UX design.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Masih ingat kan, </a:t>
            </a: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gaes</a:t>
            </a:r>
            <a:r>
              <a:rPr b="0" i="0" lang="en-U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/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Nah, di chapter 4 ini, kita bakal lanjut ke penerapan design thinking fase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prototyping</a:t>
            </a:r>
            <a:r>
              <a:rPr b="0" i="0" lang="en-U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 Pada </a:t>
            </a:r>
            <a:r>
              <a:rPr b="1" i="0" lang="en-U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topik pertama</a:t>
            </a:r>
            <a:r>
              <a:rPr b="1" lang="en-US" sz="100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000">
                <a:latin typeface="Montserrat"/>
                <a:ea typeface="Montserrat"/>
                <a:cs typeface="Montserrat"/>
                <a:sym typeface="Montserrat"/>
              </a:rPr>
              <a:t>ini</a:t>
            </a:r>
            <a:r>
              <a:rPr b="1" i="0" lang="en-U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i="0" lang="en-U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kita akan mengulas tentang</a:t>
            </a:r>
            <a:r>
              <a:rPr b="1" i="0" lang="en-U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prototyping</a:t>
            </a:r>
            <a:r>
              <a:rPr b="0" i="0" lang="en-U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r>
              <a:rPr b="1" i="0" lang="en-U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i="0" lang="en-US" sz="10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Lets go~</a:t>
            </a:r>
            <a:endParaRPr b="0" i="0" sz="10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8" name="Google Shape;108;p3"/>
          <p:cNvPicPr preferRelativeResize="0"/>
          <p:nvPr/>
        </p:nvPicPr>
        <p:blipFill rotWithShape="1">
          <a:blip r:embed="rId3">
            <a:alphaModFix/>
          </a:blip>
          <a:srcRect b="41386" l="0" r="0" t="0"/>
          <a:stretch/>
        </p:blipFill>
        <p:spPr>
          <a:xfrm>
            <a:off x="1960700" y="819725"/>
            <a:ext cx="5527398" cy="2469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4" name="Google Shape;114;p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Pengantar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796" y="1097113"/>
            <a:ext cx="2743199" cy="351162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4"/>
          <p:cNvSpPr txBox="1"/>
          <p:nvPr/>
        </p:nvSpPr>
        <p:spPr>
          <a:xfrm>
            <a:off x="609600" y="1061450"/>
            <a:ext cx="4114800" cy="63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lang="en-US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Detailnya, bahasan kita mencakup:</a:t>
            </a:r>
            <a:endParaRPr b="0" i="1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609600" y="1815050"/>
            <a:ext cx="255900" cy="255900"/>
          </a:xfrm>
          <a:prstGeom prst="ellipse">
            <a:avLst/>
          </a:prstGeom>
          <a:solidFill>
            <a:srgbClr val="F2AB2F"/>
          </a:solidFill>
          <a:ln cap="flat" cmpd="sng" w="9525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18" name="Google Shape;118;p4"/>
          <p:cNvSpPr txBox="1"/>
          <p:nvPr/>
        </p:nvSpPr>
        <p:spPr>
          <a:xfrm>
            <a:off x="1077500" y="1746200"/>
            <a:ext cx="302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 Medium"/>
                <a:ea typeface="Montserrat Medium"/>
                <a:cs typeface="Montserrat Medium"/>
                <a:sym typeface="Montserrat Medium"/>
              </a:rPr>
              <a:t>Apa itu prototyping?</a:t>
            </a:r>
            <a:endParaRPr sz="12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09600" y="2315975"/>
            <a:ext cx="255900" cy="255900"/>
          </a:xfrm>
          <a:prstGeom prst="ellipse">
            <a:avLst/>
          </a:prstGeom>
          <a:solidFill>
            <a:srgbClr val="F2AB2F"/>
          </a:solidFill>
          <a:ln cap="flat" cmpd="sng" w="9525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20" name="Google Shape;120;p4"/>
          <p:cNvSpPr txBox="1"/>
          <p:nvPr/>
        </p:nvSpPr>
        <p:spPr>
          <a:xfrm>
            <a:off x="1077500" y="2247125"/>
            <a:ext cx="302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 Medium"/>
                <a:ea typeface="Montserrat Medium"/>
                <a:cs typeface="Montserrat Medium"/>
                <a:sym typeface="Montserrat Medium"/>
              </a:rPr>
              <a:t>Mengapa fase prototyping penting?</a:t>
            </a:r>
            <a:endParaRPr sz="12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1077500" y="2748038"/>
            <a:ext cx="302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 Medium"/>
                <a:ea typeface="Montserrat Medium"/>
                <a:cs typeface="Montserrat Medium"/>
                <a:sym typeface="Montserrat Medium"/>
              </a:rPr>
              <a:t>Kegiatan pada fase prototyping</a:t>
            </a:r>
            <a:endParaRPr sz="12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2" name="Google Shape;122;p4"/>
          <p:cNvSpPr txBox="1"/>
          <p:nvPr/>
        </p:nvSpPr>
        <p:spPr>
          <a:xfrm>
            <a:off x="1077500" y="3248975"/>
            <a:ext cx="3646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 Medium"/>
                <a:ea typeface="Montserrat Medium"/>
                <a:cs typeface="Montserrat Medium"/>
                <a:sym typeface="Montserrat Medium"/>
              </a:rPr>
              <a:t>Macam-macam prototyping berdasarkan alat</a:t>
            </a:r>
            <a:endParaRPr sz="12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3" name="Google Shape;123;p4"/>
          <p:cNvSpPr txBox="1"/>
          <p:nvPr/>
        </p:nvSpPr>
        <p:spPr>
          <a:xfrm>
            <a:off x="1077500" y="3749900"/>
            <a:ext cx="302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 Medium"/>
                <a:ea typeface="Montserrat Medium"/>
                <a:cs typeface="Montserrat Medium"/>
                <a:sym typeface="Montserrat Medium"/>
              </a:rPr>
              <a:t>Macam-macam prototyping berdasarkan kompleksitas teknologi</a:t>
            </a:r>
            <a:endParaRPr sz="12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1077500" y="4250825"/>
            <a:ext cx="30282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Montserrat Medium"/>
                <a:ea typeface="Montserrat Medium"/>
                <a:cs typeface="Montserrat Medium"/>
                <a:sym typeface="Montserrat Medium"/>
              </a:rPr>
              <a:t>Menggunakan peralatan prototyping</a:t>
            </a:r>
            <a:endParaRPr sz="1200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09600" y="2816900"/>
            <a:ext cx="255900" cy="255900"/>
          </a:xfrm>
          <a:prstGeom prst="ellipse">
            <a:avLst/>
          </a:prstGeom>
          <a:solidFill>
            <a:srgbClr val="F2AB2F"/>
          </a:solidFill>
          <a:ln cap="flat" cmpd="sng" w="9525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26" name="Google Shape;126;p4"/>
          <p:cNvSpPr/>
          <p:nvPr/>
        </p:nvSpPr>
        <p:spPr>
          <a:xfrm>
            <a:off x="609600" y="3317825"/>
            <a:ext cx="255900" cy="255900"/>
          </a:xfrm>
          <a:prstGeom prst="ellipse">
            <a:avLst/>
          </a:prstGeom>
          <a:solidFill>
            <a:srgbClr val="F2AB2F"/>
          </a:solidFill>
          <a:ln cap="flat" cmpd="sng" w="9525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27" name="Google Shape;127;p4"/>
          <p:cNvSpPr/>
          <p:nvPr/>
        </p:nvSpPr>
        <p:spPr>
          <a:xfrm>
            <a:off x="609600" y="3818750"/>
            <a:ext cx="255900" cy="255900"/>
          </a:xfrm>
          <a:prstGeom prst="ellipse">
            <a:avLst/>
          </a:prstGeom>
          <a:solidFill>
            <a:srgbClr val="F2AB2F"/>
          </a:solidFill>
          <a:ln cap="flat" cmpd="sng" w="9525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128" name="Google Shape;128;p4"/>
          <p:cNvSpPr/>
          <p:nvPr/>
        </p:nvSpPr>
        <p:spPr>
          <a:xfrm>
            <a:off x="609600" y="4319675"/>
            <a:ext cx="255900" cy="255900"/>
          </a:xfrm>
          <a:prstGeom prst="ellipse">
            <a:avLst/>
          </a:prstGeom>
          <a:solidFill>
            <a:srgbClr val="F2AB2F"/>
          </a:solidFill>
          <a:ln cap="flat" cmpd="sng" w="9525">
            <a:solidFill>
              <a:srgbClr val="F2AB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" name="Google Shape;134;p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Apa itu prototyping?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6"/>
          <p:cNvSpPr txBox="1"/>
          <p:nvPr/>
        </p:nvSpPr>
        <p:spPr>
          <a:xfrm>
            <a:off x="487375" y="1694500"/>
            <a:ext cx="4149600" cy="8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Tiga fase design thinking </a:t>
            </a: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sudah</a:t>
            </a: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kita pelajari, sekarang saatnya mengenal fase ke empat yaitu </a:t>
            </a:r>
            <a:r>
              <a:rPr b="1" lang="en-US" sz="1400" u="none" cap="none" strike="noStrike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prototype</a:t>
            </a: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b="1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4550" y="1326975"/>
            <a:ext cx="2880242" cy="3150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Apa itu prototyping?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3" name="Google Shape;143;p7"/>
          <p:cNvSpPr txBox="1"/>
          <p:nvPr/>
        </p:nvSpPr>
        <p:spPr>
          <a:xfrm>
            <a:off x="487375" y="1188725"/>
            <a:ext cx="4149600" cy="27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Pertama-tama kita harus tahu, apa itu </a:t>
            </a: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prototyp</a:t>
            </a:r>
            <a:r>
              <a:rPr b="1" lang="en-US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?</a:t>
            </a:r>
            <a:endParaRPr b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Prototype dalam Bahasa Indonesia disebut sebagai </a:t>
            </a: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purwa rupa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Ia merupakan bentuk draft dari produk yang bisa ditunjukkan kepada user ataupun klien, agar mereka bisa merasakan dan melakukan eksplorasi konsep fitur dari produk yang kita buat.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Berbeda dengan wireframe dan mockup, prototype bentuknya simulasi. Ia bisa direspon dan memungkinkan seseorang untuk merasakan langsung bagaimana rasanya menggunakan produk ini.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4" name="Google Shape;144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399" y="1109960"/>
            <a:ext cx="3892552" cy="3450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119bdd89fb2_0_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0" name="Google Shape;150;g119bdd89fb2_0_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Apa itu prototyping?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g119bdd89fb2_0_0"/>
          <p:cNvSpPr txBox="1"/>
          <p:nvPr/>
        </p:nvSpPr>
        <p:spPr>
          <a:xfrm>
            <a:off x="487375" y="1188725"/>
            <a:ext cx="4149600" cy="22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b="1" lang="en-US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etelah kita tahu definisi prototype, kemudian ada </a:t>
            </a: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antar</a:t>
            </a:r>
            <a:r>
              <a:rPr b="1" lang="en-US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muka </a:t>
            </a: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prototyp</a:t>
            </a:r>
            <a:r>
              <a:rPr b="1" lang="en-US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e</a:t>
            </a:r>
            <a:endParaRPr b="0" sz="16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sz="1200" u="none" cap="none" strike="noStrike">
              <a:solidFill>
                <a:schemeClr val="dk1"/>
              </a:solidFill>
              <a:latin typeface="Raleway Medium"/>
              <a:ea typeface="Raleway Medium"/>
              <a:cs typeface="Raleway Medium"/>
              <a:sym typeface="Raleway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Antarmuka Prototipe </a:t>
            </a: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(interface prototype) merupakan sebuah </a:t>
            </a:r>
            <a:r>
              <a:rPr b="1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hipotesis </a:t>
            </a: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atau</a:t>
            </a:r>
            <a:r>
              <a:rPr b="1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potensi solusi desain</a:t>
            </a: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yang kamu pertimbangkan </a:t>
            </a: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untuk</a:t>
            </a:r>
            <a:r>
              <a:rPr b="1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menyelesaikan masalah desain tertentu</a:t>
            </a: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Cara menguji hipotesis (prototipe)</a:t>
            </a: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paling mudah adalah dengan </a:t>
            </a:r>
            <a:r>
              <a:rPr b="1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melihat bagaimana para pengguna menggunakannya.</a:t>
            </a:r>
            <a:endParaRPr/>
          </a:p>
        </p:txBody>
      </p:sp>
      <p:pic>
        <p:nvPicPr>
          <p:cNvPr id="152" name="Google Shape;152;g119bdd89fb2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399" y="1109960"/>
            <a:ext cx="3892552" cy="34509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Apa itu prototyping?</a:t>
            </a:r>
            <a:endParaRPr/>
          </a:p>
        </p:txBody>
      </p:sp>
      <p:sp>
        <p:nvSpPr>
          <p:cNvPr id="159" name="Google Shape;159;p8"/>
          <p:cNvSpPr txBox="1"/>
          <p:nvPr/>
        </p:nvSpPr>
        <p:spPr>
          <a:xfrm>
            <a:off x="574800" y="1604688"/>
            <a:ext cx="4149600" cy="19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Prototyping 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merupakan</a:t>
            </a: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2"/>
                  </a:ext>
                </a:extLst>
              </a:rPr>
              <a:t> bagian penting dari desain pengalaman pengguna (UX) yang biasanya muncul setelah fase ideation, di mana kamu dan tim telah </a:t>
            </a: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3"/>
                  </a:ext>
                </a:extLst>
              </a:rPr>
              <a:t>membuat</a:t>
            </a: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 serta memilih ide yang dapat memenuhi kebutuhan pengguna.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:go="http://customooxmlschemas.google.com/" textRoundtripDataId="5"/>
                </a:ext>
              </a:extLst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:go="http://customooxmlschemas.google.com/" textRoundtripDataId="6"/>
                </a:ext>
              </a:extLst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7"/>
                  </a:ext>
                </a:extLst>
              </a:rPr>
              <a:t>Di fase ini, kamu perlu </a:t>
            </a:r>
            <a:r>
              <a:rPr b="1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8"/>
                  </a:ext>
                </a:extLst>
              </a:rPr>
              <a:t>membuat eksperimentasi</a:t>
            </a: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9"/>
                  </a:ext>
                </a:extLst>
              </a:rPr>
              <a:t> sederhana dari produk yang kamu usulkan. </a:t>
            </a: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10"/>
                  </a:ext>
                </a:extLst>
              </a:rPr>
              <a:t>Sehingga kamu bisa </a:t>
            </a:r>
            <a:r>
              <a:rPr b="1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11"/>
                  </a:ext>
                </a:extLst>
              </a:rPr>
              <a:t>memeriksa seberapa cocok</a:t>
            </a: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12"/>
                  </a:ext>
                </a:extLst>
              </a:rPr>
              <a:t> </a:t>
            </a:r>
            <a:r>
              <a:rPr b="1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13"/>
                  </a:ext>
                </a:extLst>
              </a:rPr>
              <a:t>produk tersebut</a:t>
            </a: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14"/>
                  </a:ext>
                </a:extLst>
              </a:rPr>
              <a:t> untuk memenuhi keinginan atau kebutuhan pengguna melalui feedback yang diberikan.</a:t>
            </a:r>
            <a:endParaRPr/>
          </a:p>
        </p:txBody>
      </p:sp>
      <p:pic>
        <p:nvPicPr>
          <p:cNvPr id="160" name="Google Shape;16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3750" y="1129200"/>
            <a:ext cx="3693201" cy="329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1a1c484501_0_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" name="Google Shape;166;g11a1c484501_0_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Apa itu prototyping?</a:t>
            </a:r>
            <a:endParaRPr/>
          </a:p>
        </p:txBody>
      </p:sp>
      <p:sp>
        <p:nvSpPr>
          <p:cNvPr id="167" name="Google Shape;167;g11a1c484501_0_0"/>
          <p:cNvSpPr txBox="1"/>
          <p:nvPr/>
        </p:nvSpPr>
        <p:spPr>
          <a:xfrm>
            <a:off x="685800" y="1450225"/>
            <a:ext cx="40386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15"/>
                  </a:ext>
                </a:extLst>
              </a:rPr>
              <a:t>Oiya, kamu perlu mempertimbangkan pembuatan prototipe sejak awal.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:go="http://customooxmlschemas.google.com/" textRoundtripDataId="16"/>
                </a:ext>
              </a:extLst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:go="http://customooxmlschemas.google.com/" textRoundtripDataId="17"/>
                </a:ext>
              </a:extLst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18"/>
                  </a:ext>
                </a:extLst>
              </a:rPr>
              <a:t>Mengapa? Alasannya cukup mendasar, 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19"/>
                  </a:ext>
                </a:extLst>
              </a:rPr>
              <a:t>a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20"/>
                  </a:ext>
                </a:extLst>
              </a:rPr>
              <a:t>gar </a:t>
            </a: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21"/>
                  </a:ext>
                </a:extLst>
              </a:rPr>
              <a:t>feedback dari para pengguna 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22"/>
                  </a:ext>
                </a:extLst>
              </a:rPr>
              <a:t>yang terkumpul nantinya dapat </a:t>
            </a: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23"/>
                  </a:ext>
                </a:extLst>
              </a:rPr>
              <a:t>memandu jalannya pengembangan produk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24"/>
                  </a:ext>
                </a:extLst>
              </a:rPr>
              <a:t>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8" name="Google Shape;168;g11a1c48450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2950" y="914400"/>
            <a:ext cx="2116688" cy="388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4" name="Google Shape;174;p1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Apa itu prototyping?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13"/>
          <p:cNvSpPr txBox="1"/>
          <p:nvPr/>
        </p:nvSpPr>
        <p:spPr>
          <a:xfrm>
            <a:off x="487375" y="1277450"/>
            <a:ext cx="4149600" cy="28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652F67"/>
                </a:solidFill>
                <a:latin typeface="Montserrat"/>
                <a:ea typeface="Montserrat"/>
                <a:cs typeface="Montserrat"/>
                <a:sym typeface="Montserrat"/>
              </a:rPr>
              <a:t>Analoginya seperti arsitek~</a:t>
            </a:r>
            <a:endParaRPr b="1" sz="1600">
              <a:solidFill>
                <a:srgbClr val="652F6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Dengan menggunakan maket, si pemilik rumah dan tim pengembang bisa melihat bentuk desain bangunan yang menyerupai aslinya, bagaimana kondisi lingkungan bangunan, baik interior maupun eksteriornya.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Kalau ada yang kurang sreg dengan desainnya, evaluasi dan perombakan desain bisa lebih mudah dilakukan.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76" name="Google Shape;17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114312"/>
            <a:ext cx="3892550" cy="3456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119bdd89fb2_0_2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2" name="Google Shape;182;g119bdd89fb2_0_2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Apa itu prototyping?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g119bdd89fb2_0_23"/>
          <p:cNvSpPr txBox="1"/>
          <p:nvPr/>
        </p:nvSpPr>
        <p:spPr>
          <a:xfrm>
            <a:off x="487375" y="1277450"/>
            <a:ext cx="4149600" cy="28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652F67"/>
                </a:solidFill>
                <a:latin typeface="Montserrat"/>
                <a:ea typeface="Montserrat"/>
                <a:cs typeface="Montserrat"/>
                <a:sym typeface="Montserrat"/>
              </a:rPr>
              <a:t>Hal ini sama dengan prototype suatu produk~</a:t>
            </a:r>
            <a:endParaRPr b="1" sz="1600">
              <a:solidFill>
                <a:srgbClr val="652F67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Dengan dibuatnya prototype, kita lebih mudah mengevaluasi kualitas desain dengan memberi kesempatan pada user untuk mencoba desain aplikasi secara langsung.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Selain itu, evaluasi juga bisa dilakukan secara menyeluruh dari segi User Experience Design (UX) maupun segi tampilan User Interface Design (UI).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84" name="Google Shape;184;g119bdd89fb2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205513"/>
            <a:ext cx="4114801" cy="3015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119bdd89fb2_0_1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g119bdd89fb2_0_1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Apa itu prototyping?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g119bdd89fb2_0_16"/>
          <p:cNvSpPr txBox="1"/>
          <p:nvPr/>
        </p:nvSpPr>
        <p:spPr>
          <a:xfrm>
            <a:off x="487375" y="1135800"/>
            <a:ext cx="4149600" cy="28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Prototype itu bukan produk!</a:t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Bedanya dengan produk akhir, </a:t>
            </a: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belum ada proses development dan coding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yang terjadi di tahap prototype. Mengapa begitu?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Alasannya sederhana, yaitu untuk menghemat biaya produksi. Setelah prototype diuji, baru deh produksi bisa digarap dengan serius~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92" name="Google Shape;192;g119bdd89fb2_0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6175" y="914400"/>
            <a:ext cx="2958292" cy="38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Apa itu prototyping?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574800" y="1287325"/>
            <a:ext cx="4149600" cy="200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Nah, prototipe sendiri ada berbagai macam jenisnya. Dalam pemilihannya nanti, akan bergantung pada: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5425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AutoNum type="arabicPeriod"/>
            </a:pPr>
            <a:r>
              <a:rPr b="0" i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Tujuan pengujian</a:t>
            </a:r>
            <a:endParaRPr/>
          </a:p>
          <a:p>
            <a:pPr indent="-225425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AutoNum type="arabicPeriod"/>
            </a:pPr>
            <a:r>
              <a:rPr b="0" i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Kelengkapan desain</a:t>
            </a:r>
            <a:endParaRPr/>
          </a:p>
          <a:p>
            <a:pPr indent="-225425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AutoNum type="arabicPeriod"/>
            </a:pPr>
            <a:r>
              <a:rPr b="0" i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Alat yang digunakan untuk membuat prototipe</a:t>
            </a:r>
            <a:endParaRPr/>
          </a:p>
          <a:p>
            <a:pPr indent="-225425" lvl="0" marL="4572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AutoNum type="arabicPeriod"/>
            </a:pPr>
            <a:r>
              <a:rPr b="0" i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Sumber daya yang tersedia</a:t>
            </a:r>
            <a:endParaRPr/>
          </a:p>
          <a:p>
            <a:pPr indent="-165100" lvl="0" marL="228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Selanjutnya, akan kita bahas lebih mendalam di halaman berikutnya ya.</a:t>
            </a:r>
            <a:endParaRPr/>
          </a:p>
        </p:txBody>
      </p:sp>
      <p:pic>
        <p:nvPicPr>
          <p:cNvPr id="200" name="Google Shape;20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0050" y="914400"/>
            <a:ext cx="2658875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6" name="Google Shape;206;p1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Apa itu prototyping?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7" name="Google Shape;207;p10"/>
          <p:cNvSpPr txBox="1"/>
          <p:nvPr/>
        </p:nvSpPr>
        <p:spPr>
          <a:xfrm>
            <a:off x="487375" y="1294650"/>
            <a:ext cx="4149600" cy="19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Misalnya gini, tim desain mulai menghasilkan sejumlah versi prototipe nih. Para praktisi nanti bisa 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menyelidiki</a:t>
            </a:r>
            <a:r>
              <a:rPr b="0" i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lebih lanjut solusi dari masalah yang ditemukan pada tahap sebelumnya.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Jadi, aktivitas kunci pada tahap ini adalah </a:t>
            </a:r>
            <a:r>
              <a:rPr b="1" i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mewujudkan ide menjadi kenyataan dengan cara membuat prototipe kasar</a:t>
            </a:r>
            <a:r>
              <a:rPr b="0" i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Biar apa? Biar tahu caranya membuat dan mewujudkan ide menjadi lebih baik, bestie~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8" name="Google Shape;20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6475" y="1926100"/>
            <a:ext cx="3824924" cy="198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4" name="Google Shape;214;p1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Mengapa fase prototyping penting?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11"/>
          <p:cNvSpPr txBox="1"/>
          <p:nvPr/>
        </p:nvSpPr>
        <p:spPr>
          <a:xfrm>
            <a:off x="487375" y="1694500"/>
            <a:ext cx="41499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Setelah </a:t>
            </a: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kita tahu apa</a:t>
            </a: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itu prototyping, terus gimana? Mengapa fase </a:t>
            </a:r>
            <a:r>
              <a:rPr b="1" lang="en-US" sz="1400" u="none" cap="none" strike="noStrike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prototyping</a:t>
            </a: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penting?</a:t>
            </a:r>
            <a:endParaRPr b="1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Yuk simak dulu sebelum ngegas ~</a:t>
            </a:r>
            <a:endParaRPr b="1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16" name="Google Shape;21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5800" y="914400"/>
            <a:ext cx="2686927" cy="38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p1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Mengapa fase prototyping penting?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487375" y="1369575"/>
            <a:ext cx="4149600" cy="24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Mengapa fase </a:t>
            </a: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25"/>
                  </a:ext>
                </a:extLst>
              </a:rPr>
              <a:t>prototyping</a:t>
            </a: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 penting?</a:t>
            </a:r>
            <a:endParaRPr b="1" sz="16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26"/>
                  </a:ext>
                </a:extLst>
              </a:rPr>
              <a:t>Fase prototyping adalah fase percobaan yang krusial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27"/>
                  </a:ext>
                </a:extLst>
              </a:rPr>
              <a:t>. Sebab fase ini dimaksudkan untuk</a:t>
            </a: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28"/>
                  </a:ext>
                </a:extLst>
              </a:rPr>
              <a:t> </a:t>
            </a:r>
            <a:r>
              <a:rPr b="1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29"/>
                  </a:ext>
                </a:extLst>
              </a:rPr>
              <a:t>mengidentifikasi solusi terbaik</a:t>
            </a: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30"/>
                  </a:ext>
                </a:extLst>
              </a:rPr>
              <a:t> 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31"/>
                  </a:ext>
                </a:extLst>
              </a:rPr>
              <a:t>atas</a:t>
            </a: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32"/>
                  </a:ext>
                </a:extLst>
              </a:rPr>
              <a:t> masalah yang muncul selama proses-proses sebelumnya.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:go="http://customooxmlschemas.google.com/" textRoundtripDataId="33"/>
                </a:ext>
              </a:extLst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:go="http://customooxmlschemas.google.com/" textRoundtripDataId="34"/>
                </a:ext>
              </a:extLst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35"/>
                  </a:ext>
                </a:extLst>
              </a:rPr>
              <a:t>Selain itu tujuan dibuatnya prototype adalah menjadi </a:t>
            </a: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36"/>
                  </a:ext>
                </a:extLst>
              </a:rPr>
              <a:t>medium pengujian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37"/>
                  </a:ext>
                </a:extLst>
              </a:rPr>
              <a:t>, seberapa baik dan efektifkah rancangan desain yang kita buat termasuk perpindahan tampilan ataupun flow penggunaan yang dilakukan user dan tim.</a:t>
            </a:r>
            <a:endParaRPr/>
          </a:p>
        </p:txBody>
      </p:sp>
      <p:pic>
        <p:nvPicPr>
          <p:cNvPr id="224" name="Google Shape;224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6313" y="914400"/>
            <a:ext cx="2969977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11a1c484501_0_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" name="Google Shape;230;g11a1c484501_0_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Mengapa fase prototyping penting?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g11a1c484501_0_7"/>
          <p:cNvSpPr txBox="1"/>
          <p:nvPr/>
        </p:nvSpPr>
        <p:spPr>
          <a:xfrm>
            <a:off x="487375" y="1369575"/>
            <a:ext cx="41496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Nah, b</a:t>
            </a: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38"/>
                  </a:ext>
                </a:extLst>
              </a:rPr>
              <a:t>eberapa potensi solusi yang muncul kemudian dapat diimplementasikan ke dalam prototipe. Sehingga, prototipe awal bisa diselidiki satu per satu, ditingkatkan, dan diperiksa ulang.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:go="http://customooxmlschemas.google.com/" textRoundtripDataId="39"/>
                </a:ext>
              </a:extLst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:go="http://customooxmlschemas.google.com/" textRoundtripDataId="40"/>
                </a:ext>
              </a:extLst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  <a:extLst>
                <a:ext uri="http://customooxmlschemas.google.com/">
                  <go:slidesCustomData xmlns:go="http://customooxmlschemas.google.com/" textRoundtripDataId="41"/>
                </a:ext>
              </a:extLst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42"/>
                  </a:ext>
                </a:extLst>
              </a:rPr>
              <a:t>Sampai akhirnya tim desain memiliki gagasan lebih baik tentang kendala sebuah produk, serta memiliki pandangan lebih jelas tentang interaksi user dengan potensi produk.</a:t>
            </a:r>
            <a:endParaRPr/>
          </a:p>
        </p:txBody>
      </p:sp>
      <p:pic>
        <p:nvPicPr>
          <p:cNvPr id="232" name="Google Shape;232;g11a1c484501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6313" y="914400"/>
            <a:ext cx="2969977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19bdd89fb2_0_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" name="Google Shape;238;g119bdd89fb2_0_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Mengapa fase prototyping penting?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g119bdd89fb2_0_7"/>
          <p:cNvSpPr txBox="1"/>
          <p:nvPr/>
        </p:nvSpPr>
        <p:spPr>
          <a:xfrm>
            <a:off x="487375" y="1135800"/>
            <a:ext cx="4149600" cy="28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Keuntungan membuat prototipe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sz="1200"/>
          </a:p>
          <a:p>
            <a:pPr indent="-228600" lvl="0" marL="228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AutoNum type="arabicPeriod"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Memiliki dasar kuat untuk memperbaiki ide, sehingga mampu memberikan gambaran yang lebih jelas kepada stakeholders tentang potensi manfaat, resiko, dan biaya terkait.</a:t>
            </a:r>
            <a:endParaRPr sz="1000"/>
          </a:p>
          <a:p>
            <a:pPr indent="-165100" lvl="0" marL="228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28600" lvl="0" marL="2286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Montserrat"/>
              <a:buAutoNum type="arabicPeriod"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Kamu bisa mengantisipasi perubahan lebih awal, sehingga tidak terjebak pada satu versi ideal yang keliru, yang dapat menimbulkan biaya besar karena kelalaian.</a:t>
            </a:r>
            <a:endParaRPr sz="1000"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Oiya, jangan sampai kamu terjebak pada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persepsi</a:t>
            </a: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sendiri terhadap UX, dimana suatu desain tampaknya memiliki UX yang optimal tetapi sebenarnya masih memiliki banyak celah untuk diperbaiki.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40" name="Google Shape;240;g119bdd89fb2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354475"/>
            <a:ext cx="4149598" cy="3045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6" name="Google Shape;246;p1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Mengapa fase</a:t>
            </a:r>
            <a:r>
              <a:rPr lang="en-US"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43"/>
                  </a:ext>
                </a:extLst>
              </a:rPr>
              <a:t> prototyping</a:t>
            </a: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 penting?</a:t>
            </a:r>
            <a:endParaRPr/>
          </a:p>
        </p:txBody>
      </p:sp>
      <p:sp>
        <p:nvSpPr>
          <p:cNvPr id="247" name="Google Shape;247;p14"/>
          <p:cNvSpPr txBox="1"/>
          <p:nvPr/>
        </p:nvSpPr>
        <p:spPr>
          <a:xfrm>
            <a:off x="487375" y="1188725"/>
            <a:ext cx="4149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15900" lvl="0" marL="2667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 startAt="3"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Dengan memberikan prototipe pada pengguna untuk mendapatkan feedback, kamu dapat mengetahui apakah perlu adanya perbaikan dan menentukan solusi atau varian mana yang bekerja paling baik.</a:t>
            </a:r>
            <a:endParaRPr sz="1000"/>
          </a:p>
          <a:p>
            <a:pPr indent="-152400" lvl="0" marL="2667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0" marL="2667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 startAt="3"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Memiliki alat untuk bereksperimen dengan kebutuhan dan masalah user. Oleh karena itu, kamu bisa mendapatkan wawasan baru tentang area yang kurang jelas di dunia user.</a:t>
            </a:r>
            <a:endParaRPr sz="1000"/>
          </a:p>
          <a:p>
            <a:pPr indent="-152400" lvl="0" marL="2667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0" marL="2667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 startAt="3"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Memberikan rasa kepemilikan kepada stakeholders terkait. Sehingga mendorong investasi emosional dalam kesuksesan akhir produk.</a:t>
            </a:r>
            <a:endParaRPr sz="1000"/>
          </a:p>
          <a:p>
            <a:pPr indent="-152400" lvl="0" marL="2667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15900" lvl="0" marL="2667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 startAt="3"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Meminimalisir jumlah kesalahan yang harus diperbaiki sebelum rilis produk.</a:t>
            </a:r>
            <a:endParaRPr sz="1000"/>
          </a:p>
        </p:txBody>
      </p:sp>
      <p:pic>
        <p:nvPicPr>
          <p:cNvPr id="248" name="Google Shape;24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2" y="1061133"/>
            <a:ext cx="3892550" cy="3455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4" name="Google Shape;254;p1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Kegiatan pada fase </a:t>
            </a:r>
            <a:r>
              <a:rPr lang="en-US"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44"/>
                  </a:ext>
                </a:extLst>
              </a:rPr>
              <a:t>prototyping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55" name="Google Shape;25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0900" y="914400"/>
            <a:ext cx="2755103" cy="388619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5"/>
          <p:cNvSpPr txBox="1"/>
          <p:nvPr/>
        </p:nvSpPr>
        <p:spPr>
          <a:xfrm>
            <a:off x="487375" y="1694500"/>
            <a:ext cx="4770300" cy="20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Nah,</a:t>
            </a: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sudah paham kan</a:t>
            </a: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terkait pentingnya prototyping?</a:t>
            </a: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okee bestie kalau begitu.. Prototyping pada dasarnya </a:t>
            </a: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untuk </a:t>
            </a:r>
            <a:r>
              <a:rPr b="1" lang="en-US" sz="1400" u="none" cap="none" strike="noStrike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menemukan solusi terbaik atas masalah-masalah yang muncul dari proses sebelumnya</a:t>
            </a: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Kira-kira</a:t>
            </a: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, kegiatan di fase ini ngapain aja ya?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Cekidot, bestie ~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1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Kegiatan pada fase prototyping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16"/>
          <p:cNvSpPr txBox="1"/>
          <p:nvPr/>
        </p:nvSpPr>
        <p:spPr>
          <a:xfrm>
            <a:off x="487375" y="1188725"/>
            <a:ext cx="4149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Membuat </a:t>
            </a:r>
            <a:r>
              <a:rPr b="1" lang="en-US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prototype</a:t>
            </a:r>
            <a:endParaRPr b="1" sz="16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sz="12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Satu-satunya kegiatan pada fase ini adalah</a:t>
            </a:r>
            <a:r>
              <a:rPr b="1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membuat prototipe.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Tapi, perlu diingat kalau umumnya </a:t>
            </a: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kita perlu </a:t>
            </a:r>
            <a:r>
              <a:rPr b="1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membuat lebih dari satu versi prototipe</a:t>
            </a: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untuk menggambarkan berbagai ide atau potensi solusi.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Ada beragam jenis prototipe yang akan kita telusuri pada sesi ini, tapi secara umum langkah-langkah pembuatannya sama.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64" name="Google Shape;26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8725" y="1487399"/>
            <a:ext cx="3578225" cy="2603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p1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Kegiatan pada fase prototyping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71" name="Google Shape;27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650" y="1645266"/>
            <a:ext cx="8764052" cy="18529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7" name="Google Shape;277;p1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Kegiatan pada fase </a:t>
            </a: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prototyping</a:t>
            </a:r>
            <a:endParaRPr/>
          </a:p>
        </p:txBody>
      </p:sp>
      <p:pic>
        <p:nvPicPr>
          <p:cNvPr descr="Learn how to design web and mobile app prototypes, how to test them and what to look for in a prototyping tool in this complete guide." id="278" name="Google Shape;278;p18" title="The ultimate guide to prototyping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09100" y="846300"/>
            <a:ext cx="5837725" cy="3882925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18"/>
          <p:cNvSpPr txBox="1"/>
          <p:nvPr/>
        </p:nvSpPr>
        <p:spPr>
          <a:xfrm>
            <a:off x="193150" y="914400"/>
            <a:ext cx="20298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Kita simak </a:t>
            </a:r>
            <a:r>
              <a:rPr b="1" lang="en-US" sz="16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video</a:t>
            </a:r>
            <a:r>
              <a:rPr b="1" lang="en-US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 berikut terkait</a:t>
            </a:r>
            <a:r>
              <a:rPr b="1" lang="en-US" sz="1600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 cara membuat prototipe #1</a:t>
            </a:r>
            <a:endParaRPr b="1" sz="1600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5" name="Google Shape;285;p1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Macam-macam prototyping berdasarkan alat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6" name="Google Shape;286;p19"/>
          <p:cNvSpPr txBox="1"/>
          <p:nvPr/>
        </p:nvSpPr>
        <p:spPr>
          <a:xfrm>
            <a:off x="538221" y="1694511"/>
            <a:ext cx="4819500" cy="17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Ide yang baik adalah ide yang coba diwujudkan. Sepakat dong kalau prototyping sangat membantu untuk mempolesnya lebih baik?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Nah, prototipe sendiri ada banyak macamnya nih, gengs. Kita pelajari dulu </a:t>
            </a:r>
            <a:r>
              <a:rPr b="1" lang="en-US" sz="14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prototipe berdasarkan alatnya</a:t>
            </a: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yuk!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87" name="Google Shape;28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375" y="914400"/>
            <a:ext cx="2442549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" name="Google Shape;293;p2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Macam-macam prototyping berdasarkan alat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20"/>
          <p:cNvSpPr txBox="1"/>
          <p:nvPr/>
        </p:nvSpPr>
        <p:spPr>
          <a:xfrm>
            <a:off x="487375" y="1188725"/>
            <a:ext cx="4149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1) Paper </a:t>
            </a: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45"/>
                  </a:ext>
                </a:extLst>
              </a:rPr>
              <a:t>prototypes</a:t>
            </a:r>
            <a:endParaRPr b="1" sz="16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Prototipe kertas (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paper prototype</a:t>
            </a: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) dibuat dengan cara menggambar sketsa elemen dan fitur interaktif ke dalam beberapa lembar kertas berbeda untuk menciptakan tampilan dan pengalaman yang lebih nyata serta mendalam.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Protoripe jenis ini </a:t>
            </a:r>
            <a:r>
              <a:rPr b="1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bagus untuk mengeksplorasi kemungkinan desain</a:t>
            </a: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Kamu bisa mencoba sebanyak yang kamu mau. Tapi kalau kamu enggak berhasil memakai model ini, ya enggak apa-apa, kertasnya disimpan atau 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di loakin</a:t>
            </a: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aja dan mulai dari awal. 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95" name="Google Shape;29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7675" y="914400"/>
            <a:ext cx="2855306" cy="388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1" name="Google Shape;301;p2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Macam-macam prototyping berdasarkan alat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21"/>
          <p:cNvSpPr txBox="1"/>
          <p:nvPr/>
        </p:nvSpPr>
        <p:spPr>
          <a:xfrm>
            <a:off x="487375" y="1188725"/>
            <a:ext cx="4149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2) Storyboards</a:t>
            </a:r>
            <a:endParaRPr b="1" sz="16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Storyboarding adalah teknik yang berasal dari industri film. Selayaknya film, </a:t>
            </a:r>
            <a:r>
              <a:rPr b="1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kekuatan storyboard terletak pada penyusunan cerita untuk menggambarkan keseluruhan prototipe</a:t>
            </a: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Hal ini mempermudah kamu untuk memandu stakeholders dan user melalui suatu perjalanan pengalaman pengguna yang tersusun ke dalam cerita.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03" name="Google Shape;3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6974" y="914400"/>
            <a:ext cx="3191236" cy="388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9" name="Google Shape;309;p2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Macam-macam prototyping berdasarkan alat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0" name="Google Shape;310;p22"/>
          <p:cNvSpPr txBox="1"/>
          <p:nvPr/>
        </p:nvSpPr>
        <p:spPr>
          <a:xfrm>
            <a:off x="487375" y="1188725"/>
            <a:ext cx="4149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3) Lego prototypes</a:t>
            </a:r>
            <a:endParaRPr b="1" sz="16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 u="none" cap="none" strike="noStrik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Lego juga untuk orang dewasa!</a:t>
            </a:r>
            <a:endParaRPr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Menggunakan lego bisa sangat membantu dalam membuat prototipe, sebab ia mampu </a:t>
            </a: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menstimulasi</a:t>
            </a:r>
            <a:r>
              <a:rPr b="1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imajinasi</a:t>
            </a: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Mudah dan murah, dapat disatukan dan dibongkar dalam waktu singkat.</a:t>
            </a:r>
            <a:endParaRPr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Lewat lego, kamu bisa melakukan simulasi perjalanan pengguna.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1" name="Google Shape;31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7096" y="914401"/>
            <a:ext cx="4029829" cy="38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2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7" name="Google Shape;317;p2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Macam-macam prototyping berdasarkan alat</a:t>
            </a:r>
            <a:endParaRPr/>
          </a:p>
        </p:txBody>
      </p:sp>
      <p:sp>
        <p:nvSpPr>
          <p:cNvPr id="318" name="Google Shape;318;p23"/>
          <p:cNvSpPr txBox="1"/>
          <p:nvPr/>
        </p:nvSpPr>
        <p:spPr>
          <a:xfrm>
            <a:off x="487375" y="1253852"/>
            <a:ext cx="4114800" cy="26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4) Role playing</a:t>
            </a:r>
            <a:endParaRPr b="1" sz="16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Permainan peran (role playing) dianggap sebagai prototipe pengalaman, di mana memungkinkan tim desain kamu menjelajahi secara fisik terkait sistem yang ditargetkan.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Dengan memerankan adegan atau situasi yang coba ditingkatkan, </a:t>
            </a:r>
            <a:r>
              <a:rPr b="1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mampu membantu tim kamu untuk mendapatkan pemahaman yang lebih baik tentang apa yang berhasil dan tidak. 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Selain itu, role playing juga memungkinkan kita untuk merefleksikan produk dengan lebih jelas karena pengalaman fisik akan lekat teringat.</a:t>
            </a:r>
            <a:endParaRPr/>
          </a:p>
        </p:txBody>
      </p:sp>
      <p:pic>
        <p:nvPicPr>
          <p:cNvPr id="319" name="Google Shape;319;p23"/>
          <p:cNvPicPr preferRelativeResize="0"/>
          <p:nvPr/>
        </p:nvPicPr>
        <p:blipFill rotWithShape="1">
          <a:blip r:embed="rId3">
            <a:alphaModFix/>
          </a:blip>
          <a:srcRect b="0" l="840" r="-840" t="0"/>
          <a:stretch/>
        </p:blipFill>
        <p:spPr>
          <a:xfrm>
            <a:off x="4759779" y="1504200"/>
            <a:ext cx="4233075" cy="254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5" name="Google Shape;325;p2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Macam-macam prototypes berdasarkan alat</a:t>
            </a:r>
            <a:endParaRPr/>
          </a:p>
        </p:txBody>
      </p:sp>
      <p:sp>
        <p:nvSpPr>
          <p:cNvPr id="326" name="Google Shape;326;p24"/>
          <p:cNvSpPr txBox="1"/>
          <p:nvPr/>
        </p:nvSpPr>
        <p:spPr>
          <a:xfrm>
            <a:off x="487375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5) Video prototypes</a:t>
            </a:r>
            <a:endParaRPr b="1" sz="16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Prototipe video sering digunakan untuk mempresentasikan produk dalam bentuk video animasi yang mewakili suatu proyek.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Para desainer sering menunjukkan prototipe video atau prototipe dari produk lain untuk </a:t>
            </a:r>
            <a:r>
              <a:rPr b="1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membantu orang lain </a:t>
            </a: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(misalnya sesama desainer, manajemen, atau bahkan konsumen) untuk </a:t>
            </a:r>
            <a:r>
              <a:rPr b="1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memvisualisasikan produk</a:t>
            </a: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7" name="Google Shape;32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8720" y="1212161"/>
            <a:ext cx="3982450" cy="31535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3" name="Google Shape;333;p2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Macam-macam prototypes berdasarkan alat</a:t>
            </a:r>
            <a:endParaRPr/>
          </a:p>
        </p:txBody>
      </p:sp>
      <p:sp>
        <p:nvSpPr>
          <p:cNvPr id="334" name="Google Shape;334;p25"/>
          <p:cNvSpPr txBox="1"/>
          <p:nvPr/>
        </p:nvSpPr>
        <p:spPr>
          <a:xfrm>
            <a:off x="487375" y="971550"/>
            <a:ext cx="4114800" cy="38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6)  Feasibility Prototypes dan Working Model</a:t>
            </a:r>
            <a:endParaRPr b="1" sz="16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Prototipe kelayakan atau feasibility prototypes digunakan untuk </a:t>
            </a:r>
            <a:r>
              <a:rPr b="1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menguji fitur tertentu yang baru ditambahkan dalam proses desain</a:t>
            </a: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Prototipe ini memungkinkan desainer untuk menambah desain setelah membuat prototipe awal, baik digunakan secara digital maupun untuk model fisik.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Jika seorang desainer tiba-tiba menyadari bahwa mereka kehilangan bagian penting dari produk, working model dibuat untuk diadaptasi ketika ide-ide baru muncul.</a:t>
            </a:r>
            <a:endParaRPr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5" name="Google Shape;3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205513"/>
            <a:ext cx="4114801" cy="3015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" name="Google Shape;341;p27"/>
          <p:cNvSpPr txBox="1"/>
          <p:nvPr>
            <p:ph type="title"/>
          </p:nvPr>
        </p:nvSpPr>
        <p:spPr>
          <a:xfrm>
            <a:off x="685800" y="246888"/>
            <a:ext cx="5560142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Macam-macam prototypes berdasarkan kompleksitas teknologi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27"/>
          <p:cNvSpPr txBox="1"/>
          <p:nvPr/>
        </p:nvSpPr>
        <p:spPr>
          <a:xfrm>
            <a:off x="493975" y="1200450"/>
            <a:ext cx="4451400" cy="25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Jadi, nggak ada alasan lagi buat kamu memulai uji </a:t>
            </a: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coba</a:t>
            </a: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di fase prototyping. Suka gambar, bisa pakai kertas. Suka dengan mainan, bisa pakai lego. Tinggal pilih aja</a:t>
            </a: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ya</a:t>
            </a: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bestie. Tapi ingat ya, </a:t>
            </a: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sesuaikan</a:t>
            </a: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dengan kebutuhan.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Selain itu, </a:t>
            </a:r>
            <a:r>
              <a:rPr b="1" lang="en-US" sz="1400" u="none" cap="none" strike="noStrike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jenis prototipe</a:t>
            </a: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juga ada yang terbagi berdasarkan</a:t>
            </a:r>
            <a:r>
              <a:rPr b="1" lang="en-US" sz="1400" u="none" cap="none" strike="noStrike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 kompleksitas teknologi</a:t>
            </a: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 Cekidott ~ </a:t>
            </a:r>
            <a:endParaRPr/>
          </a:p>
        </p:txBody>
      </p:sp>
      <p:pic>
        <p:nvPicPr>
          <p:cNvPr id="343" name="Google Shape;34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6225" y="914400"/>
            <a:ext cx="2658875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9" name="Google Shape;349;p29"/>
          <p:cNvSpPr txBox="1"/>
          <p:nvPr>
            <p:ph type="title"/>
          </p:nvPr>
        </p:nvSpPr>
        <p:spPr>
          <a:xfrm>
            <a:off x="685800" y="246900"/>
            <a:ext cx="577215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Macam-macam prototypes berdasarkan kompleksitas teknologi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29"/>
          <p:cNvSpPr txBox="1"/>
          <p:nvPr/>
        </p:nvSpPr>
        <p:spPr>
          <a:xfrm>
            <a:off x="487375" y="1188725"/>
            <a:ext cx="4149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Ragam prototypes berdasarkan kompleksitas teknologi</a:t>
            </a:r>
            <a:endParaRPr b="1" sz="16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Prototipe menghasilkan cara tercepat dan termurah untuk menguji hipotesis kamu. Tetapi ketika orang memikirkan "prototipe", mereka cenderung memikirkan jenis prototipe yang high-fidelity.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Ada dua </a:t>
            </a: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jenis prototipe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yang masing-masing cocok untuk menguji hipotesis.</a:t>
            </a:r>
            <a:endParaRPr/>
          </a:p>
        </p:txBody>
      </p:sp>
      <p:pic>
        <p:nvPicPr>
          <p:cNvPr id="351" name="Google Shape;351;p29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4350" y="914400"/>
            <a:ext cx="2818088" cy="3886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" name="Google Shape;357;p31"/>
          <p:cNvSpPr txBox="1"/>
          <p:nvPr>
            <p:ph type="title"/>
          </p:nvPr>
        </p:nvSpPr>
        <p:spPr>
          <a:xfrm>
            <a:off x="685799" y="246900"/>
            <a:ext cx="5343525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Macam-macam prototypes berdasarkan kompleksitas teknologi</a:t>
            </a:r>
            <a:endParaRPr/>
          </a:p>
        </p:txBody>
      </p:sp>
      <p:sp>
        <p:nvSpPr>
          <p:cNvPr id="358" name="Google Shape;358;p31"/>
          <p:cNvSpPr txBox="1"/>
          <p:nvPr/>
        </p:nvSpPr>
        <p:spPr>
          <a:xfrm>
            <a:off x="487375" y="11996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1</a:t>
            </a: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) Low-Fidelity User Prototypes</a:t>
            </a:r>
            <a:endParaRPr b="1" sz="16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Low-fidelity prototype merupakan prototipe yang mempunyai tingkat presisi ataupun tingkat detail yang rendah.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Ini merupakan cara cepat untuk membuat visualisasi dari konsep produk.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Jenis prototipe ini hanya berfokus pada pengecekan fungsi dan juga interaksi antar screen.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59" name="Google Shape;35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5150" y="1265987"/>
            <a:ext cx="3892552" cy="3067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19e41673b3_0_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5" name="Google Shape;365;g119e41673b3_0_0"/>
          <p:cNvSpPr txBox="1"/>
          <p:nvPr>
            <p:ph type="title"/>
          </p:nvPr>
        </p:nvSpPr>
        <p:spPr>
          <a:xfrm>
            <a:off x="685799" y="246900"/>
            <a:ext cx="534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Macam-macam prototypes berdasarkan kompleksitas teknologi</a:t>
            </a:r>
            <a:endParaRPr/>
          </a:p>
        </p:txBody>
      </p:sp>
      <p:sp>
        <p:nvSpPr>
          <p:cNvPr id="366" name="Google Shape;366;g119e41673b3_0_0"/>
          <p:cNvSpPr txBox="1"/>
          <p:nvPr/>
        </p:nvSpPr>
        <p:spPr>
          <a:xfrm>
            <a:off x="487375" y="1188725"/>
            <a:ext cx="4149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Ada 2 cara untuk membuat sebuah Low Fidelity Prototype, yaitu </a:t>
            </a: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Paper Prototyping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dan juga </a:t>
            </a: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Clickable Wireframe.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Paper Prototyping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dibuat hanya dengan media sederhana seperti kertas dan spidol.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Kalau </a:t>
            </a: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Clickable Prototype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membutuhkan software seperti Adobe XD, Figma, Sketch, Invision, Marvell app, dan lain sebagainya.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7" name="Google Shape;367;g119e41673b3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914400"/>
            <a:ext cx="3776134" cy="38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119e41673b3_1_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3" name="Google Shape;373;g119e41673b3_1_0"/>
          <p:cNvSpPr txBox="1"/>
          <p:nvPr>
            <p:ph type="title"/>
          </p:nvPr>
        </p:nvSpPr>
        <p:spPr>
          <a:xfrm>
            <a:off x="685799" y="246900"/>
            <a:ext cx="534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Macam-macam prototypes berdasarkan kompleksitas teknologi</a:t>
            </a:r>
            <a:endParaRPr/>
          </a:p>
        </p:txBody>
      </p:sp>
      <p:sp>
        <p:nvSpPr>
          <p:cNvPr id="374" name="Google Shape;374;g119e41673b3_1_0"/>
          <p:cNvSpPr txBox="1"/>
          <p:nvPr/>
        </p:nvSpPr>
        <p:spPr>
          <a:xfrm>
            <a:off x="7620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sz="16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FFAB40"/>
                </a:solidFill>
                <a:latin typeface="Montserrat"/>
                <a:ea typeface="Montserrat"/>
                <a:cs typeface="Montserrat"/>
                <a:sym typeface="Montserrat"/>
              </a:rPr>
              <a:t>Kelebihan Low-Fidelity Prototype</a:t>
            </a:r>
            <a:endParaRPr b="1" sz="1000">
              <a:solidFill>
                <a:srgbClr val="FFAB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Membantu kita menemukan masalah dan menyelesaikannya lebih cepat pada fase awal.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Low-fidelity prototype lebih mudah dibuat sehingga menghemat waktu dan energi.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Mendapatkan feedback lebih awal dan proses iterasi berjalan lebih cepat.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75" name="Google Shape;375;g119e41673b3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5575" y="963388"/>
            <a:ext cx="3051375" cy="3028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119e41673b3_1_1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1" name="Google Shape;381;g119e41673b3_1_10"/>
          <p:cNvSpPr txBox="1"/>
          <p:nvPr>
            <p:ph type="title"/>
          </p:nvPr>
        </p:nvSpPr>
        <p:spPr>
          <a:xfrm>
            <a:off x="685799" y="246900"/>
            <a:ext cx="5343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Macam-macam prototypes berdasarkan kompleksitas teknologi</a:t>
            </a:r>
            <a:endParaRPr/>
          </a:p>
        </p:txBody>
      </p:sp>
      <p:sp>
        <p:nvSpPr>
          <p:cNvPr id="382" name="Google Shape;382;g119e41673b3_1_10"/>
          <p:cNvSpPr txBox="1"/>
          <p:nvPr/>
        </p:nvSpPr>
        <p:spPr>
          <a:xfrm>
            <a:off x="7620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sz="10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FFAB40"/>
                </a:solidFill>
                <a:latin typeface="Montserrat"/>
                <a:ea typeface="Montserrat"/>
                <a:cs typeface="Montserrat"/>
                <a:sym typeface="Montserrat"/>
              </a:rPr>
              <a:t>Kekurangan Low-Fidelity Prototype</a:t>
            </a:r>
            <a:endParaRPr b="1" sz="1000">
              <a:solidFill>
                <a:srgbClr val="FFAB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Paper Prototype sulit dioperasikan untuk usability testing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karena perpindahan screen diikuti dengan pergantian kertas yang sudah didesain menyerupai halaman app, sehingga pengalaman user kurang nyata.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Tampilan proses transisi yang interaktif pada screen menjadi terbatas.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AB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83" name="Google Shape;383;g119e41673b3_1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4975" y="1155788"/>
            <a:ext cx="2750000" cy="28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3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9" name="Google Shape;389;p32"/>
          <p:cNvSpPr txBox="1"/>
          <p:nvPr>
            <p:ph type="title"/>
          </p:nvPr>
        </p:nvSpPr>
        <p:spPr>
          <a:xfrm>
            <a:off x="685800" y="246900"/>
            <a:ext cx="5322094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Macam-macam prototypes berdasarkan kompleksitas teknologi</a:t>
            </a:r>
            <a:endParaRPr/>
          </a:p>
        </p:txBody>
      </p:sp>
      <p:sp>
        <p:nvSpPr>
          <p:cNvPr id="390" name="Google Shape;390;p32"/>
          <p:cNvSpPr txBox="1"/>
          <p:nvPr/>
        </p:nvSpPr>
        <p:spPr>
          <a:xfrm>
            <a:off x="487375" y="1188725"/>
            <a:ext cx="41496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) High-Fidelity User Prototypes</a:t>
            </a:r>
            <a:endParaRPr b="1" sz="16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Selain berfokus untuk menjelaskan interaksi antar tampilan, </a:t>
            </a: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high-fidelity prototype juga mengedepankan tampilan visual dari interface design untuk setiap konten yang ada di dalam produk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High-fidelity prototype adalah desain yang sudah melalui proses coding sederhana, sehingga fitur-fitur di dalamnya bisa dicoba (clickable) oleh user ketika melakukan evaluasi.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1" name="Google Shape;391;p32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58800" y="914400"/>
            <a:ext cx="1901368" cy="388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19e41673b3_0_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7" name="Google Shape;397;g119e41673b3_0_8"/>
          <p:cNvSpPr txBox="1"/>
          <p:nvPr>
            <p:ph type="title"/>
          </p:nvPr>
        </p:nvSpPr>
        <p:spPr>
          <a:xfrm>
            <a:off x="685800" y="246900"/>
            <a:ext cx="532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Macam-macam prototypes berdasarkan kompleksitas teknologi</a:t>
            </a:r>
            <a:endParaRPr/>
          </a:p>
        </p:txBody>
      </p:sp>
      <p:sp>
        <p:nvSpPr>
          <p:cNvPr id="398" name="Google Shape;398;g119e41673b3_0_8"/>
          <p:cNvSpPr txBox="1"/>
          <p:nvPr/>
        </p:nvSpPr>
        <p:spPr>
          <a:xfrm>
            <a:off x="487375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1" sz="10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Ada 2 cara untuk membuat sebuah high-fidelity prototype, yaitu: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Menggunakan software desain atau mockup apps.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Mengubah tampilan mockup ke dalam struktur code (programming) sehingga bisa terbaca oleh browser ataupun aplikasi.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99" name="Google Shape;399;g119e41673b3_0_8"/>
          <p:cNvPicPr preferRelativeResize="0"/>
          <p:nvPr/>
        </p:nvPicPr>
        <p:blipFill rotWithShape="1">
          <a:blip r:embed="rId3">
            <a:alphaModFix/>
          </a:blip>
          <a:srcRect b="0" l="0" r="15461" t="0"/>
          <a:stretch/>
        </p:blipFill>
        <p:spPr>
          <a:xfrm>
            <a:off x="4838400" y="1148325"/>
            <a:ext cx="3581972" cy="328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19e8fa7a17_0_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05" name="Google Shape;405;g119e8fa7a17_0_0"/>
          <p:cNvSpPr txBox="1"/>
          <p:nvPr>
            <p:ph type="title"/>
          </p:nvPr>
        </p:nvSpPr>
        <p:spPr>
          <a:xfrm>
            <a:off x="685800" y="246900"/>
            <a:ext cx="532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Macam-macam prototypes berdasarkan kompleksitas teknologi</a:t>
            </a:r>
            <a:endParaRPr/>
          </a:p>
        </p:txBody>
      </p:sp>
      <p:sp>
        <p:nvSpPr>
          <p:cNvPr id="406" name="Google Shape;406;g119e8fa7a17_0_0"/>
          <p:cNvSpPr txBox="1"/>
          <p:nvPr/>
        </p:nvSpPr>
        <p:spPr>
          <a:xfrm>
            <a:off x="7620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FFAB40"/>
                </a:solidFill>
                <a:latin typeface="Montserrat"/>
                <a:ea typeface="Montserrat"/>
                <a:cs typeface="Montserrat"/>
                <a:sym typeface="Montserrat"/>
              </a:rPr>
              <a:t>Kelebihan High-Fidelity Prototype</a:t>
            </a:r>
            <a:endParaRPr b="1" sz="1000">
              <a:solidFill>
                <a:srgbClr val="FFAB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Prototype ini memberikan gambaran secara real kepada user akan bentuk akhir dari produk yang sedang user gunakan.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Efek atau transisi bisa ditampilkan dengan lebih interaktif pada elemen UI.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Memberikan nilai plus ketika didemonstrasikan kepada klien maupun stakeholders. Mereka mendapatkan gambaran yang jelas bagaimana produk yang kita rancang semestinya berjalan.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07" name="Google Shape;407;g119e8fa7a17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5575" y="963388"/>
            <a:ext cx="3051375" cy="3028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119e8fa7a17_0_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3" name="Google Shape;413;g119e8fa7a17_0_8"/>
          <p:cNvSpPr txBox="1"/>
          <p:nvPr>
            <p:ph type="title"/>
          </p:nvPr>
        </p:nvSpPr>
        <p:spPr>
          <a:xfrm>
            <a:off x="685800" y="246900"/>
            <a:ext cx="532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Macam-macam prototypes berdasarkan kompleksitas teknologi</a:t>
            </a:r>
            <a:endParaRPr/>
          </a:p>
        </p:txBody>
      </p:sp>
      <p:sp>
        <p:nvSpPr>
          <p:cNvPr id="414" name="Google Shape;414;g119e8fa7a17_0_8"/>
          <p:cNvSpPr txBox="1"/>
          <p:nvPr/>
        </p:nvSpPr>
        <p:spPr>
          <a:xfrm>
            <a:off x="751100" y="120757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rgbClr val="FFAB40"/>
                </a:solidFill>
                <a:latin typeface="Montserrat"/>
                <a:ea typeface="Montserrat"/>
                <a:cs typeface="Montserrat"/>
                <a:sym typeface="Montserrat"/>
              </a:rPr>
              <a:t>Kekurangan High-Fidelity Prototype</a:t>
            </a:r>
            <a:endParaRPr b="1" sz="1000">
              <a:solidFill>
                <a:srgbClr val="FFAB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Pembuatannya butuh waktu dan ketelitian ekstra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daripada low-fidelity prototype, terlebih untuk menambahkan efek transisi yang interaktif pada komponen UI yang ada pada screen.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FFAB4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15" name="Google Shape;415;g119e8fa7a17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84975" y="1155788"/>
            <a:ext cx="2750000" cy="28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1" name="Google Shape;421;p3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Menggunakan alat </a:t>
            </a:r>
            <a:r>
              <a:rPr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prototyping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2" name="Google Shape;422;p34"/>
          <p:cNvSpPr txBox="1"/>
          <p:nvPr/>
        </p:nvSpPr>
        <p:spPr>
          <a:xfrm>
            <a:off x="487371" y="1694511"/>
            <a:ext cx="4819500" cy="15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“Oke, udah mulai paham kalau fase prototyping enggak boleh dilewatkan. Tapi, membuat prototype bisa pakai apa ya?”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Tenang, ada banyak jalan menuju Roma. Begitu pula, ada banyak </a:t>
            </a:r>
            <a:r>
              <a:rPr b="1" lang="en-US" sz="1400" u="none" cap="none" strike="noStrike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alat untuk membuat prototype</a:t>
            </a:r>
            <a:r>
              <a:rPr b="1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pic>
        <p:nvPicPr>
          <p:cNvPr id="423" name="Google Shape;42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58651" y="914400"/>
            <a:ext cx="2295188" cy="3886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9" name="Google Shape;429;p35"/>
          <p:cNvSpPr txBox="1"/>
          <p:nvPr>
            <p:ph type="title"/>
          </p:nvPr>
        </p:nvSpPr>
        <p:spPr>
          <a:xfrm>
            <a:off x="685800" y="246900"/>
            <a:ext cx="5068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Menggunakan alat prototyping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0" name="Google Shape;430;p35"/>
          <p:cNvSpPr txBox="1"/>
          <p:nvPr/>
        </p:nvSpPr>
        <p:spPr>
          <a:xfrm>
            <a:off x="7620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Peralatan Prototyping</a:t>
            </a:r>
            <a:endParaRPr b="1" sz="16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Seperti yang telah kita diskusikan sebelumnya, ada beberapa tools yang biasa digunakan untuk membuat Prototypes: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1) </a:t>
            </a:r>
            <a:r>
              <a:rPr b="0" lang="en-US" sz="10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Adobe XD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2) </a:t>
            </a:r>
            <a:r>
              <a:rPr b="0" lang="en-US" sz="10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Sketch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3) </a:t>
            </a:r>
            <a:r>
              <a:rPr b="0" lang="en-US" sz="10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5"/>
              </a:rPr>
              <a:t>Figma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4) </a:t>
            </a:r>
            <a:r>
              <a:rPr b="0" lang="en-US" sz="10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6"/>
              </a:rPr>
              <a:t>Google Slides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5) </a:t>
            </a:r>
            <a:r>
              <a:rPr b="0" lang="en-US" sz="10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7"/>
              </a:rPr>
              <a:t>InVision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6) </a:t>
            </a:r>
            <a:r>
              <a:rPr b="0" lang="en-US" sz="10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8"/>
              </a:rPr>
              <a:t>Axure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7) </a:t>
            </a:r>
            <a:r>
              <a:rPr b="0" lang="en-US" sz="10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9"/>
              </a:rPr>
              <a:t>Proto.io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8) Kertas dan pulpen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431" name="Google Shape;431;p35"/>
          <p:cNvGrpSpPr/>
          <p:nvPr/>
        </p:nvGrpSpPr>
        <p:grpSpPr>
          <a:xfrm>
            <a:off x="5240229" y="1583763"/>
            <a:ext cx="3294167" cy="3042767"/>
            <a:chOff x="4979350" y="1260450"/>
            <a:chExt cx="3536791" cy="3384612"/>
          </a:xfrm>
        </p:grpSpPr>
        <p:pic>
          <p:nvPicPr>
            <p:cNvPr id="432" name="Google Shape;432;p35"/>
            <p:cNvPicPr preferRelativeResize="0"/>
            <p:nvPr/>
          </p:nvPicPr>
          <p:blipFill rotWithShape="1">
            <a:blip r:embed="rId10">
              <a:alphaModFix/>
            </a:blip>
            <a:srcRect b="4442" l="5420" r="5419" t="11410"/>
            <a:stretch/>
          </p:blipFill>
          <p:spPr>
            <a:xfrm>
              <a:off x="6110550" y="1271275"/>
              <a:ext cx="1222850" cy="1201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35"/>
            <p:cNvPicPr preferRelativeResize="0"/>
            <p:nvPr/>
          </p:nvPicPr>
          <p:blipFill rotWithShape="1">
            <a:blip r:embed="rId11">
              <a:alphaModFix/>
            </a:blip>
            <a:srcRect b="-19560" l="9002" r="9010" t="-19560"/>
            <a:stretch/>
          </p:blipFill>
          <p:spPr>
            <a:xfrm>
              <a:off x="6036175" y="3273462"/>
              <a:ext cx="1371599" cy="1371600"/>
            </a:xfrm>
            <a:prstGeom prst="rect">
              <a:avLst/>
            </a:prstGeom>
            <a:noFill/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</p:pic>
        <p:pic>
          <p:nvPicPr>
            <p:cNvPr id="434" name="Google Shape;434;p35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4979350" y="1260450"/>
              <a:ext cx="1222851" cy="12228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5" name="Google Shape;435;p35"/>
            <p:cNvPicPr preferRelativeResize="0"/>
            <p:nvPr/>
          </p:nvPicPr>
          <p:blipFill rotWithShape="1">
            <a:blip r:embed="rId13">
              <a:alphaModFix/>
            </a:blip>
            <a:srcRect b="-22025" l="-15323" r="-15309" t="-22025"/>
            <a:stretch/>
          </p:blipFill>
          <p:spPr>
            <a:xfrm>
              <a:off x="5008291" y="2472485"/>
              <a:ext cx="1164975" cy="116495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6" name="Google Shape;436;p35"/>
            <p:cNvPicPr preferRelativeResize="0"/>
            <p:nvPr/>
          </p:nvPicPr>
          <p:blipFill rotWithShape="1">
            <a:blip r:embed="rId14">
              <a:alphaModFix/>
            </a:blip>
            <a:srcRect b="0" l="22587" r="22587" t="0"/>
            <a:stretch/>
          </p:blipFill>
          <p:spPr>
            <a:xfrm>
              <a:off x="7333400" y="1289388"/>
              <a:ext cx="1164975" cy="11649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7" name="Google Shape;437;p35"/>
            <p:cNvPicPr preferRelativeResize="0"/>
            <p:nvPr/>
          </p:nvPicPr>
          <p:blipFill rotWithShape="1">
            <a:blip r:embed="rId15">
              <a:alphaModFix/>
            </a:blip>
            <a:srcRect b="0" l="65832" r="0" t="0"/>
            <a:stretch/>
          </p:blipFill>
          <p:spPr>
            <a:xfrm>
              <a:off x="7351167" y="2472473"/>
              <a:ext cx="1164974" cy="11649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8" name="Google Shape;438;p35"/>
            <p:cNvPicPr preferRelativeResize="0"/>
            <p:nvPr/>
          </p:nvPicPr>
          <p:blipFill rotWithShape="1">
            <a:blip r:embed="rId16">
              <a:alphaModFix/>
            </a:blip>
            <a:srcRect b="18300" l="1672" r="1671" t="0"/>
            <a:stretch/>
          </p:blipFill>
          <p:spPr>
            <a:xfrm>
              <a:off x="6165256" y="2472474"/>
              <a:ext cx="1164976" cy="116497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4297" y="914400"/>
            <a:ext cx="3195660" cy="3886202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5" name="Google Shape;445;p36"/>
          <p:cNvSpPr txBox="1"/>
          <p:nvPr>
            <p:ph type="title"/>
          </p:nvPr>
        </p:nvSpPr>
        <p:spPr>
          <a:xfrm>
            <a:off x="685800" y="246900"/>
            <a:ext cx="5068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Menggunakan alat prototyping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46" name="Google Shape;446;p36"/>
          <p:cNvSpPr txBox="1"/>
          <p:nvPr/>
        </p:nvSpPr>
        <p:spPr>
          <a:xfrm>
            <a:off x="762000" y="1188720"/>
            <a:ext cx="4114800" cy="2743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Menggunakan Figma se</a:t>
            </a:r>
            <a:r>
              <a:rPr b="1" lang="en-US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bagai alat prototyping yang populer saat ini~</a:t>
            </a:r>
            <a:endParaRPr b="1" sz="16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sng" cap="none" strike="noStrike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Figma</a:t>
            </a: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adalah editor grafik vektor dan alat prototyping berbasis web, dengan fitur offline tambahan yang diaktifkan oleh aplikasi desktop untuk 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mac OS</a:t>
            </a: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dan Windows.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Selain itu, aplikasi seluler Figma yang berjudul Figma Mirror untuk Android dan iOS, memungkinkan kita melihat serta berinteraksi dengan prototipe secara real-time melalui perangkat seluler.</a:t>
            </a:r>
            <a:endParaRPr/>
          </a:p>
        </p:txBody>
      </p:sp>
      <p:pic>
        <p:nvPicPr>
          <p:cNvPr id="447" name="Google Shape;447;p36"/>
          <p:cNvPicPr preferRelativeResize="0"/>
          <p:nvPr/>
        </p:nvPicPr>
        <p:blipFill rotWithShape="1">
          <a:blip r:embed="rId5">
            <a:alphaModFix/>
          </a:blip>
          <a:srcRect b="0" l="22587" r="22587" t="0"/>
          <a:stretch/>
        </p:blipFill>
        <p:spPr>
          <a:xfrm>
            <a:off x="5505898" y="2172076"/>
            <a:ext cx="804475" cy="776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3" name="Google Shape;453;p37"/>
          <p:cNvSpPr txBox="1"/>
          <p:nvPr>
            <p:ph type="title"/>
          </p:nvPr>
        </p:nvSpPr>
        <p:spPr>
          <a:xfrm>
            <a:off x="685800" y="246900"/>
            <a:ext cx="5068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Menggunakan alat prototyping</a:t>
            </a:r>
            <a:endParaRPr/>
          </a:p>
        </p:txBody>
      </p:sp>
      <p:sp>
        <p:nvSpPr>
          <p:cNvPr id="454" name="Google Shape;454;p37"/>
          <p:cNvSpPr txBox="1"/>
          <p:nvPr/>
        </p:nvSpPr>
        <p:spPr>
          <a:xfrm>
            <a:off x="762000" y="1188725"/>
            <a:ext cx="7620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1. Proyek, File, dan Halaman di Figma</a:t>
            </a:r>
            <a:endParaRPr b="1" sz="16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Mengenal bagaimana kita mengatur dokumen-dokumen kita dalam Figma.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55" name="Google Shape;455;p3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135250"/>
            <a:ext cx="4148326" cy="2347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1" name="Google Shape;461;p38"/>
          <p:cNvSpPr txBox="1"/>
          <p:nvPr>
            <p:ph type="title"/>
          </p:nvPr>
        </p:nvSpPr>
        <p:spPr>
          <a:xfrm>
            <a:off x="685800" y="246900"/>
            <a:ext cx="5068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Menggunakan alat prototyping</a:t>
            </a:r>
            <a:endParaRPr/>
          </a:p>
        </p:txBody>
      </p:sp>
      <p:sp>
        <p:nvSpPr>
          <p:cNvPr id="462" name="Google Shape;462;p38"/>
          <p:cNvSpPr txBox="1"/>
          <p:nvPr/>
        </p:nvSpPr>
        <p:spPr>
          <a:xfrm>
            <a:off x="762000" y="1026493"/>
            <a:ext cx="7620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2. Antarmuka Figma</a:t>
            </a:r>
            <a:endParaRPr b="1" sz="16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Kita akan melihat lebih dekat antarmuka pengguna dan koleksi alat Figma. Kita akan mempelajari apa yang dilakukan setiap panel, tombol, dan area ruang kerja. 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63" name="Google Shape;463;p3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435" r="426" t="0"/>
          <a:stretch/>
        </p:blipFill>
        <p:spPr>
          <a:xfrm>
            <a:off x="762000" y="2004325"/>
            <a:ext cx="5068498" cy="2868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3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9" name="Google Shape;469;p39"/>
          <p:cNvSpPr txBox="1"/>
          <p:nvPr>
            <p:ph type="title"/>
          </p:nvPr>
        </p:nvSpPr>
        <p:spPr>
          <a:xfrm>
            <a:off x="685800" y="246900"/>
            <a:ext cx="5068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Menggunakan alat prototyping</a:t>
            </a:r>
            <a:endParaRPr/>
          </a:p>
        </p:txBody>
      </p:sp>
      <p:sp>
        <p:nvSpPr>
          <p:cNvPr id="470" name="Google Shape;470;p39"/>
          <p:cNvSpPr txBox="1"/>
          <p:nvPr/>
        </p:nvSpPr>
        <p:spPr>
          <a:xfrm>
            <a:off x="762000" y="1048615"/>
            <a:ext cx="7814187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3. Frames, Shapes, dan Teks di Figma</a:t>
            </a:r>
            <a:endParaRPr b="1" sz="16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Kita akan mulai menggunakan alat paling dasar (dan bisa dibilang paling berguna) di Figma: </a:t>
            </a:r>
            <a:r>
              <a:rPr b="1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bingkai, bentuk, dan teks.</a:t>
            </a:r>
            <a:endParaRPr b="1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71" name="Google Shape;471;p3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435" r="426" t="0"/>
          <a:stretch/>
        </p:blipFill>
        <p:spPr>
          <a:xfrm>
            <a:off x="762000" y="1901400"/>
            <a:ext cx="5068498" cy="28683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7" name="Google Shape;477;p40"/>
          <p:cNvSpPr txBox="1"/>
          <p:nvPr>
            <p:ph type="title"/>
          </p:nvPr>
        </p:nvSpPr>
        <p:spPr>
          <a:xfrm>
            <a:off x="685800" y="246900"/>
            <a:ext cx="5068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Menggunakan alat prototyping</a:t>
            </a:r>
            <a:endParaRPr/>
          </a:p>
        </p:txBody>
      </p:sp>
      <p:sp>
        <p:nvSpPr>
          <p:cNvPr id="478" name="Google Shape;478;p40"/>
          <p:cNvSpPr txBox="1"/>
          <p:nvPr/>
        </p:nvSpPr>
        <p:spPr>
          <a:xfrm>
            <a:off x="762000" y="971550"/>
            <a:ext cx="7620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4. Membuat Jaringan Vektor dengan Pen Tool</a:t>
            </a:r>
            <a:endParaRPr b="1" sz="16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Kita akan belajar tentang jaringan vektor dan Pen Tool.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Jaringan vektor adalah fitur unik di Figma, dan membutuhkan penggunaan Pen Tool untuk membuatnya.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79" name="Google Shape;479;p4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57" r="258" t="0"/>
          <a:stretch/>
        </p:blipFill>
        <p:spPr>
          <a:xfrm>
            <a:off x="762000" y="1975350"/>
            <a:ext cx="4992302" cy="2825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85" name="Google Shape;485;p41"/>
          <p:cNvSpPr txBox="1"/>
          <p:nvPr>
            <p:ph type="title"/>
          </p:nvPr>
        </p:nvSpPr>
        <p:spPr>
          <a:xfrm>
            <a:off x="685800" y="246900"/>
            <a:ext cx="5068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Menggunakan alat prototyping</a:t>
            </a:r>
            <a:endParaRPr/>
          </a:p>
        </p:txBody>
      </p:sp>
      <p:sp>
        <p:nvSpPr>
          <p:cNvPr id="486" name="Google Shape;486;p41"/>
          <p:cNvSpPr txBox="1"/>
          <p:nvPr/>
        </p:nvSpPr>
        <p:spPr>
          <a:xfrm>
            <a:off x="762000" y="1010300"/>
            <a:ext cx="7620000" cy="20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5. Grids dalam Figma</a:t>
            </a:r>
            <a:endParaRPr b="1" sz="16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Kamu akan belajar cara menggunakan Figma untuk membuat grids.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Grids sangat berguna untuk desain antarmuka dan juga sangat berharga saat membuat ikon.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Yuk mulai, bestie~</a:t>
            </a:r>
            <a:endParaRPr/>
          </a:p>
        </p:txBody>
      </p:sp>
      <p:pic>
        <p:nvPicPr>
          <p:cNvPr id="487" name="Google Shape;487;p4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298" r="308" t="0"/>
          <a:stretch/>
        </p:blipFill>
        <p:spPr>
          <a:xfrm>
            <a:off x="762000" y="2135100"/>
            <a:ext cx="4937252" cy="2794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3" name="Google Shape;493;p42"/>
          <p:cNvSpPr txBox="1"/>
          <p:nvPr>
            <p:ph type="title"/>
          </p:nvPr>
        </p:nvSpPr>
        <p:spPr>
          <a:xfrm>
            <a:off x="685800" y="246900"/>
            <a:ext cx="5068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Menggunakan alat prototyping</a:t>
            </a:r>
            <a:endParaRPr/>
          </a:p>
        </p:txBody>
      </p:sp>
      <p:sp>
        <p:nvSpPr>
          <p:cNvPr id="494" name="Google Shape;494;p42"/>
          <p:cNvSpPr txBox="1"/>
          <p:nvPr/>
        </p:nvSpPr>
        <p:spPr>
          <a:xfrm>
            <a:off x="762000" y="1085486"/>
            <a:ext cx="7620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6. Plugins dalam Figma</a:t>
            </a:r>
            <a:endParaRPr b="1" sz="16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Kamu akan belajar cara mencari dan menggunakan plugins di Figma.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Plugins dapat membantu kamu mendesain dengan cepat. 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95" name="Google Shape;495;p4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562" r="553" t="0"/>
          <a:stretch/>
        </p:blipFill>
        <p:spPr>
          <a:xfrm>
            <a:off x="723900" y="1975350"/>
            <a:ext cx="4992302" cy="28252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1" name="Google Shape;501;p43"/>
          <p:cNvSpPr txBox="1"/>
          <p:nvPr>
            <p:ph type="title"/>
          </p:nvPr>
        </p:nvSpPr>
        <p:spPr>
          <a:xfrm>
            <a:off x="685800" y="246900"/>
            <a:ext cx="5068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Menggunakan alat prototyping</a:t>
            </a:r>
            <a:endParaRPr/>
          </a:p>
        </p:txBody>
      </p:sp>
      <p:sp>
        <p:nvSpPr>
          <p:cNvPr id="502" name="Google Shape;502;p43"/>
          <p:cNvSpPr txBox="1"/>
          <p:nvPr/>
        </p:nvSpPr>
        <p:spPr>
          <a:xfrm>
            <a:off x="7620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Beberapa channel dalam Bahasa Inggris untuk memperdalam kemampuan menggunakan Figma</a:t>
            </a:r>
            <a:endParaRPr b="1" sz="16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lang="en-U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Crash Course: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Figma 2021 Crash Course by Example - Design Courses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Full Playlist Course: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Introduction to Figma - 2021 Beginners Tutorial (Everything You Need to Know in 20 minutes) - Mizko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3" name="Google Shape;503;p43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04700" y="966338"/>
            <a:ext cx="3111899" cy="1674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43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504700" y="2784152"/>
            <a:ext cx="3111899" cy="1674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0" name="Google Shape;510;p44"/>
          <p:cNvSpPr txBox="1"/>
          <p:nvPr>
            <p:ph type="title"/>
          </p:nvPr>
        </p:nvSpPr>
        <p:spPr>
          <a:xfrm>
            <a:off x="685800" y="246900"/>
            <a:ext cx="5068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Menggunakan alat prototyping</a:t>
            </a:r>
            <a:endParaRPr/>
          </a:p>
        </p:txBody>
      </p:sp>
      <p:sp>
        <p:nvSpPr>
          <p:cNvPr id="511" name="Google Shape;511;p44"/>
          <p:cNvSpPr txBox="1"/>
          <p:nvPr/>
        </p:nvSpPr>
        <p:spPr>
          <a:xfrm>
            <a:off x="762000" y="1188720"/>
            <a:ext cx="4114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Beberapa channel dalam Bahasa Indonesia untuk memperdalam kemampuan menggunakan Figma</a:t>
            </a:r>
            <a:endParaRPr b="1" sz="16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lang="en-US" sz="1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Crash Course: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Tutorial Bikin Web Desain di Figma, Cuma Butuh 15 Menit! - Yoko Bomb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Full Playlist Course: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lang="en-US" sz="10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Tutorial Figma - BuildWith Angga</a:t>
            </a:r>
            <a:endParaRPr b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12" name="Google Shape;512;p44">
            <a:hlinkClick r:id="rId5"/>
          </p:cNvPr>
          <p:cNvPicPr preferRelativeResize="0"/>
          <p:nvPr/>
        </p:nvPicPr>
        <p:blipFill rotWithShape="1">
          <a:blip r:embed="rId6">
            <a:alphaModFix/>
          </a:blip>
          <a:srcRect b="1932" l="0" r="0" t="1932"/>
          <a:stretch/>
        </p:blipFill>
        <p:spPr>
          <a:xfrm>
            <a:off x="5504700" y="966338"/>
            <a:ext cx="3111900" cy="1674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44">
            <a:hlinkClick r:id="rId7"/>
          </p:cNvPr>
          <p:cNvPicPr preferRelativeResize="0"/>
          <p:nvPr/>
        </p:nvPicPr>
        <p:blipFill rotWithShape="1">
          <a:blip r:embed="rId8">
            <a:alphaModFix/>
          </a:blip>
          <a:srcRect b="660" l="359" r="-360" t="661"/>
          <a:stretch/>
        </p:blipFill>
        <p:spPr>
          <a:xfrm>
            <a:off x="5504700" y="2784152"/>
            <a:ext cx="3111899" cy="16749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5"/>
          <p:cNvSpPr txBox="1"/>
          <p:nvPr>
            <p:ph type="title"/>
          </p:nvPr>
        </p:nvSpPr>
        <p:spPr>
          <a:xfrm>
            <a:off x="848032" y="536758"/>
            <a:ext cx="7315200" cy="7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000"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46"/>
                  </a:ext>
                </a:extLst>
              </a:rPr>
              <a:t>Saatnya kita</a:t>
            </a:r>
            <a:br>
              <a:rPr lang="en-US" sz="1600"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47"/>
                  </a:ext>
                </a:extLst>
              </a:rPr>
            </a:br>
            <a:r>
              <a:rPr lang="en-US" sz="3000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  <a:extLst>
                  <a:ext uri="http://customooxmlschemas.google.com/">
                    <go:slidesCustomData xmlns:go="http://customooxmlschemas.google.com/" textRoundtripDataId="48"/>
                  </a:ext>
                </a:extLst>
              </a:rPr>
              <a:t>Quiz!</a:t>
            </a:r>
            <a:endParaRPr sz="3000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9" name="Google Shape;519;p4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0" name="Google Shape;520;p45"/>
          <p:cNvPicPr preferRelativeResize="0"/>
          <p:nvPr/>
        </p:nvPicPr>
        <p:blipFill rotWithShape="1">
          <a:blip r:embed="rId3">
            <a:alphaModFix/>
          </a:blip>
          <a:srcRect b="35463" l="16341" r="18912" t="0"/>
          <a:stretch/>
        </p:blipFill>
        <p:spPr>
          <a:xfrm>
            <a:off x="2421325" y="2177750"/>
            <a:ext cx="3903698" cy="2965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6" name="Google Shape;526;p46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r>
              <a:rPr b="1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Berikut adalah keuntungan membuat prototipe, kecuali..</a:t>
            </a:r>
            <a:endParaRPr b="1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Memiliki dasar yang kuat untuk memperbaiki ide.</a:t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Dapat mengadaptasi perubahan lebih awal.</a:t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Dapat menemukan solusi yang ideal tanpa perlu pengujian.</a:t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Memiliki alat untuk bereksperimen dengan kebutuhan dan masalah pengguna.</a:t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532" name="Google Shape;532;p47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r>
              <a:rPr b="1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Berikut adalah keuntungan membuat prototipe, kecuali..</a:t>
            </a:r>
            <a:endParaRPr b="1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rgbClr val="A667A5"/>
                </a:solidFill>
                <a:latin typeface="Montserrat"/>
                <a:ea typeface="Montserrat"/>
                <a:cs typeface="Montserrat"/>
                <a:sym typeface="Montserrat"/>
              </a:rPr>
              <a:t>Memiliki dasar yang kuat untuk memperbaiki ide.</a:t>
            </a:r>
            <a:endParaRPr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rgbClr val="A667A5"/>
                </a:solidFill>
                <a:latin typeface="Montserrat"/>
                <a:ea typeface="Montserrat"/>
                <a:cs typeface="Montserrat"/>
                <a:sym typeface="Montserrat"/>
              </a:rPr>
              <a:t>Dapat mengadaptasi perubahan lebih awal.</a:t>
            </a:r>
            <a:endParaRPr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AutoNum type="alphaUcPeriod"/>
            </a:pPr>
            <a:r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Dapat menemukan solusi yang ideal tanpa perlu pengujian.</a:t>
            </a:r>
            <a:endParaRPr/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rgbClr val="A667A5"/>
                </a:solidFill>
                <a:latin typeface="Montserrat"/>
                <a:ea typeface="Montserrat"/>
                <a:cs typeface="Montserrat"/>
                <a:sym typeface="Montserrat"/>
              </a:rPr>
              <a:t>Memiliki alat untuk bereksperimen dengan kebutuhan dan masalah pengguna.</a:t>
            </a:r>
            <a:endParaRPr b="0" i="0" sz="1200" u="none" cap="none" strike="noStrike">
              <a:solidFill>
                <a:srgbClr val="A667A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3" name="Google Shape;533;p47"/>
          <p:cNvSpPr/>
          <p:nvPr/>
        </p:nvSpPr>
        <p:spPr>
          <a:xfrm>
            <a:off x="685800" y="3186374"/>
            <a:ext cx="7772400" cy="5952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Dengan membuat sebuah prototipe kita memang dapat menemukan solusi yang ideal, akan tetapi tetap diperlukan pengujian prototipe untuk menemukan solusi tersebut. </a:t>
            </a:r>
            <a:endParaRPr b="1" i="0" sz="1200" u="none" cap="none" strike="noStrike">
              <a:solidFill>
                <a:srgbClr val="73357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4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539" name="Google Shape;539;p48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r>
              <a:rPr b="1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Berikut adalah hal-hal yang diperlukan untuk membuat prototipe, kecuali..</a:t>
            </a:r>
            <a:endParaRPr b="1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Wireframes</a:t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Information Architecture</a:t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Ideas</a:t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4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545" name="Google Shape;545;p49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r>
              <a:rPr b="1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Berikut adalah hal-hal yang diperlukan untuk membuat prototipe, kecuali…</a:t>
            </a:r>
            <a:endParaRPr b="1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AutoNum type="alphaUcPeriod"/>
            </a:pPr>
            <a:r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Solutions</a:t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rgbClr val="A667A5"/>
                </a:solidFill>
                <a:latin typeface="Montserrat"/>
                <a:ea typeface="Montserrat"/>
                <a:cs typeface="Montserrat"/>
                <a:sym typeface="Montserrat"/>
              </a:rPr>
              <a:t>Wireframes</a:t>
            </a:r>
            <a:endParaRPr b="0" i="0" sz="1200" u="none" cap="none" strike="noStrike">
              <a:solidFill>
                <a:srgbClr val="A667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rgbClr val="A667A5"/>
                </a:solidFill>
                <a:latin typeface="Montserrat"/>
                <a:ea typeface="Montserrat"/>
                <a:cs typeface="Montserrat"/>
                <a:sym typeface="Montserrat"/>
              </a:rPr>
              <a:t>Information Architecture</a:t>
            </a:r>
            <a:endParaRPr b="0" i="0" sz="1200" u="none" cap="none" strike="noStrike">
              <a:solidFill>
                <a:srgbClr val="A667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rgbClr val="A667A5"/>
                </a:solidFill>
                <a:latin typeface="Montserrat"/>
                <a:ea typeface="Montserrat"/>
                <a:cs typeface="Montserrat"/>
                <a:sym typeface="Montserrat"/>
              </a:rPr>
              <a:t>Ideas</a:t>
            </a:r>
            <a:endParaRPr b="0" i="0" sz="1200" u="none" cap="none" strike="noStrike">
              <a:solidFill>
                <a:srgbClr val="A667A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6" name="Google Shape;546;p49"/>
          <p:cNvSpPr/>
          <p:nvPr/>
        </p:nvSpPr>
        <p:spPr>
          <a:xfrm>
            <a:off x="685800" y="3491174"/>
            <a:ext cx="7772400" cy="844852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Pada fase prototyping, pembuat prototipe dilakukan untuk mencari solusi yang paling ideal dari ide-ide yang telah dikemukakan. Tidaklah perlu untuk menemukan solusi yang pasti pada fase ini. </a:t>
            </a:r>
            <a:endParaRPr b="1" i="0" sz="1200" u="none" cap="none" strike="noStrike">
              <a:solidFill>
                <a:srgbClr val="73357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552" name="Google Shape;552;p50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3.</a:t>
            </a:r>
            <a:r>
              <a:rPr b="1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Teknik prototyping yang berasal dari industri film adalah…</a:t>
            </a:r>
            <a:endParaRPr b="1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Lego prototyping</a:t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Storyboarding</a:t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Feasibility prototyping</a:t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Video prototyping</a:t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558" name="Google Shape;558;p51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3.</a:t>
            </a:r>
            <a:r>
              <a:rPr b="1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Teknik prototyping yang berasal dari industri film adalah…</a:t>
            </a:r>
            <a:endParaRPr b="1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rgbClr val="A667A5"/>
                </a:solidFill>
                <a:latin typeface="Montserrat"/>
                <a:ea typeface="Montserrat"/>
                <a:cs typeface="Montserrat"/>
                <a:sym typeface="Montserrat"/>
              </a:rPr>
              <a:t>Lego prototyping</a:t>
            </a:r>
            <a:endParaRPr b="0" i="0" sz="1200" u="none" cap="none" strike="noStrike">
              <a:solidFill>
                <a:srgbClr val="A667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AutoNum type="alphaUcPeriod"/>
            </a:pPr>
            <a:r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Storyboarding</a:t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rgbClr val="A667A5"/>
                </a:solidFill>
                <a:latin typeface="Montserrat"/>
                <a:ea typeface="Montserrat"/>
                <a:cs typeface="Montserrat"/>
                <a:sym typeface="Montserrat"/>
              </a:rPr>
              <a:t>Feasibility prototyping</a:t>
            </a:r>
            <a:endParaRPr b="0" i="0" sz="1200" u="none" cap="none" strike="noStrike">
              <a:solidFill>
                <a:srgbClr val="A667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rgbClr val="A667A5"/>
                </a:solidFill>
                <a:latin typeface="Montserrat"/>
                <a:ea typeface="Montserrat"/>
                <a:cs typeface="Montserrat"/>
                <a:sym typeface="Montserrat"/>
              </a:rPr>
              <a:t>Video prototyping</a:t>
            </a:r>
            <a:endParaRPr b="0" i="0" sz="1200" u="none" cap="none" strike="noStrike">
              <a:solidFill>
                <a:srgbClr val="A667A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9" name="Google Shape;559;p51"/>
          <p:cNvSpPr/>
          <p:nvPr/>
        </p:nvSpPr>
        <p:spPr>
          <a:xfrm>
            <a:off x="685800" y="3186374"/>
            <a:ext cx="7772400" cy="5952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Storyboarding adalah teknik yang berasal dari industri film dan memungkinkan kita dengan cepat dan murah memandu pemangku kepentingan dan pengguna melalui suatu produk.</a:t>
            </a:r>
            <a:endParaRPr b="1" i="0" sz="1200" u="none" cap="none" strike="noStrike">
              <a:solidFill>
                <a:srgbClr val="73357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5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565" name="Google Shape;565;p52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4.</a:t>
            </a:r>
            <a:r>
              <a:rPr b="1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Berikut adalah macam-macam prototypes berdasarkan kompleksitas teknologi, kecuali…</a:t>
            </a:r>
            <a:endParaRPr b="1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High fidelity prototype</a:t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Low fidelity prototype</a:t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Live data prototype</a:t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Video prototype</a:t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53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571" name="Google Shape;571;p53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4.</a:t>
            </a:r>
            <a:r>
              <a:rPr b="1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Berikut adalah macam-macam prototypes berdasarkan kompleksitas teknologi, kecuali…</a:t>
            </a:r>
            <a:endParaRPr b="1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rgbClr val="A667A5"/>
                </a:solidFill>
                <a:latin typeface="Montserrat"/>
                <a:ea typeface="Montserrat"/>
                <a:cs typeface="Montserrat"/>
                <a:sym typeface="Montserrat"/>
              </a:rPr>
              <a:t>High fidelity prototype</a:t>
            </a:r>
            <a:endParaRPr b="0" i="0" sz="1200" u="none" cap="none" strike="noStrike">
              <a:solidFill>
                <a:srgbClr val="A667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rgbClr val="A667A5"/>
                </a:solidFill>
                <a:latin typeface="Montserrat"/>
                <a:ea typeface="Montserrat"/>
                <a:cs typeface="Montserrat"/>
                <a:sym typeface="Montserrat"/>
              </a:rPr>
              <a:t>Low fidelity prototype</a:t>
            </a:r>
            <a:endParaRPr b="0" i="0" sz="1200" u="none" cap="none" strike="noStrike">
              <a:solidFill>
                <a:srgbClr val="A667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rgbClr val="A667A5"/>
                </a:solidFill>
                <a:latin typeface="Montserrat"/>
                <a:ea typeface="Montserrat"/>
                <a:cs typeface="Montserrat"/>
                <a:sym typeface="Montserrat"/>
              </a:rPr>
              <a:t>Live data prototype</a:t>
            </a:r>
            <a:endParaRPr b="0" i="0" sz="1200" u="none" cap="none" strike="noStrike">
              <a:solidFill>
                <a:srgbClr val="A667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AutoNum type="alphaUcPeriod"/>
            </a:pPr>
            <a:r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Video prototype</a:t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72" name="Google Shape;572;p53"/>
          <p:cNvSpPr/>
          <p:nvPr/>
        </p:nvSpPr>
        <p:spPr>
          <a:xfrm>
            <a:off x="685800" y="3491174"/>
            <a:ext cx="7772400" cy="5952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Video prototype adalah macam prototype yang dibedakan oleh alat yang digunakan.</a:t>
            </a:r>
            <a:endParaRPr b="1" i="0" sz="1200" u="none" cap="none" strike="noStrike">
              <a:solidFill>
                <a:srgbClr val="73357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5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578" name="Google Shape;578;p54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5.</a:t>
            </a:r>
            <a:r>
              <a:rPr b="1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Kegunaan utama low</a:t>
            </a:r>
            <a:r>
              <a:rPr b="1" lang="en-US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-</a:t>
            </a:r>
            <a:r>
              <a:rPr b="1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fidelity prototype adalah...</a:t>
            </a:r>
            <a:endParaRPr b="1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Sebagai wireframe</a:t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Menguji alur kerja</a:t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Mengidentifikasi masalah kegunaan lebih awal</a:t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Menunjukkan model yang realistis</a:t>
            </a:r>
            <a:endParaRPr b="0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5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584" name="Google Shape;584;p55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5.</a:t>
            </a:r>
            <a:r>
              <a:rPr b="1" i="0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Kegunaan utama low-fidelity prototype adalah...</a:t>
            </a:r>
            <a:endParaRPr b="1" i="0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rgbClr val="A667A5"/>
                </a:solidFill>
                <a:latin typeface="Montserrat"/>
                <a:ea typeface="Montserrat"/>
                <a:cs typeface="Montserrat"/>
                <a:sym typeface="Montserrat"/>
              </a:rPr>
              <a:t>Sebagai wireframe</a:t>
            </a:r>
            <a:endParaRPr b="0" i="0" sz="1200" u="none" cap="none" strike="noStrike">
              <a:solidFill>
                <a:srgbClr val="A667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rgbClr val="A667A5"/>
                </a:solidFill>
                <a:latin typeface="Montserrat"/>
                <a:ea typeface="Montserrat"/>
                <a:cs typeface="Montserrat"/>
                <a:sym typeface="Montserrat"/>
              </a:rPr>
              <a:t>Menguji alur kerja</a:t>
            </a:r>
            <a:endParaRPr b="0" i="0" sz="1200" u="none" cap="none" strike="noStrike">
              <a:solidFill>
                <a:srgbClr val="A667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i="0" lang="en-US" sz="1200" u="none" cap="none" strike="noStrike">
                <a:solidFill>
                  <a:srgbClr val="A667A5"/>
                </a:solidFill>
                <a:latin typeface="Montserrat"/>
                <a:ea typeface="Montserrat"/>
                <a:cs typeface="Montserrat"/>
                <a:sym typeface="Montserrat"/>
              </a:rPr>
              <a:t>Mengidentifikasi masalah kegunaan lebih awal</a:t>
            </a:r>
            <a:endParaRPr b="0" i="0" sz="1200" u="none" cap="none" strike="noStrike">
              <a:solidFill>
                <a:srgbClr val="A667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AutoNum type="alphaUcPeriod"/>
            </a:pPr>
            <a:r>
              <a:rPr b="1" i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Menunjukkan model yang realistis</a:t>
            </a:r>
            <a:endParaRPr b="1" i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5" name="Google Shape;585;p55"/>
          <p:cNvSpPr/>
          <p:nvPr/>
        </p:nvSpPr>
        <p:spPr>
          <a:xfrm>
            <a:off x="685800" y="3186374"/>
            <a:ext cx="7772400" cy="5952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Menunjukkan model yang realistis adalah salah satu kegunaan dari high-fidelity prototypes.</a:t>
            </a:r>
            <a:endParaRPr b="1" i="0" sz="1200" u="none" cap="none" strike="noStrike">
              <a:solidFill>
                <a:srgbClr val="73357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5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591" name="Google Shape;591;p56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6.</a:t>
            </a:r>
            <a:r>
              <a:rPr b="1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Berikut adalah kegunaan-kegunaan Figma, kecuali...</a:t>
            </a:r>
            <a:endParaRPr b="1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sz="18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Wireframing</a:t>
            </a:r>
            <a:endParaRPr b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Membuat ve</a:t>
            </a:r>
            <a:r>
              <a:rPr lang="en-US"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</a:t>
            </a:r>
            <a:r>
              <a:rPr b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tor</a:t>
            </a:r>
            <a:endParaRPr b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Membuat video</a:t>
            </a:r>
            <a:endParaRPr b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 Medium"/>
              <a:buAutoNum type="alphaUcPeriod"/>
            </a:pPr>
            <a:r>
              <a:rPr b="0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Prototyping</a:t>
            </a:r>
            <a:endParaRPr b="0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5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Quiz</a:t>
            </a:r>
            <a:endParaRPr/>
          </a:p>
        </p:txBody>
      </p:sp>
      <p:sp>
        <p:nvSpPr>
          <p:cNvPr id="597" name="Google Shape;597;p57"/>
          <p:cNvSpPr txBox="1"/>
          <p:nvPr/>
        </p:nvSpPr>
        <p:spPr>
          <a:xfrm>
            <a:off x="685800" y="1188720"/>
            <a:ext cx="7772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US" sz="16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6.</a:t>
            </a:r>
            <a:r>
              <a:rPr b="1" lang="en-US" sz="16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Berikut adalah kegunaan-kegunaan Figma, kecuali...</a:t>
            </a:r>
            <a:endParaRPr b="1" sz="16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sz="1800" u="none" cap="none" strike="noStrike">
              <a:solidFill>
                <a:srgbClr val="A667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lang="en-US" sz="1200" u="none" cap="none" strike="noStrike">
                <a:solidFill>
                  <a:srgbClr val="A667A5"/>
                </a:solidFill>
                <a:latin typeface="Montserrat"/>
                <a:ea typeface="Montserrat"/>
                <a:cs typeface="Montserrat"/>
                <a:sym typeface="Montserrat"/>
              </a:rPr>
              <a:t>Wireframing</a:t>
            </a:r>
            <a:endParaRPr b="0" sz="1200" u="none" cap="none" strike="noStrike">
              <a:solidFill>
                <a:srgbClr val="A667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lang="en-US" sz="1200" u="none" cap="none" strike="noStrike">
                <a:solidFill>
                  <a:srgbClr val="A667A5"/>
                </a:solidFill>
                <a:latin typeface="Montserrat"/>
                <a:ea typeface="Montserrat"/>
                <a:cs typeface="Montserrat"/>
                <a:sym typeface="Montserrat"/>
              </a:rPr>
              <a:t>Membuat vector</a:t>
            </a:r>
            <a:endParaRPr b="0" sz="1200" u="none" cap="none" strike="noStrike">
              <a:solidFill>
                <a:srgbClr val="A667A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AutoNum type="alphaUcPeriod"/>
            </a:pPr>
            <a:r>
              <a:rPr b="1" lang="en-US" sz="12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Membuat video</a:t>
            </a:r>
            <a:endParaRPr b="1" sz="12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67A5"/>
              </a:buClr>
              <a:buSzPts val="1200"/>
              <a:buFont typeface="Raleway Medium"/>
              <a:buAutoNum type="alphaUcPeriod"/>
            </a:pPr>
            <a:r>
              <a:rPr b="0" lang="en-US" sz="1200" u="none" cap="none" strike="noStrike">
                <a:solidFill>
                  <a:srgbClr val="A667A5"/>
                </a:solidFill>
                <a:latin typeface="Montserrat"/>
                <a:ea typeface="Montserrat"/>
                <a:cs typeface="Montserrat"/>
                <a:sym typeface="Montserrat"/>
              </a:rPr>
              <a:t>Prototyping</a:t>
            </a:r>
            <a:endParaRPr b="0" sz="1200" u="none" cap="none" strike="noStrike">
              <a:solidFill>
                <a:srgbClr val="A667A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8" name="Google Shape;598;p57"/>
          <p:cNvSpPr/>
          <p:nvPr/>
        </p:nvSpPr>
        <p:spPr>
          <a:xfrm>
            <a:off x="685800" y="3186374"/>
            <a:ext cx="7772400" cy="595200"/>
          </a:xfrm>
          <a:prstGeom prst="rect">
            <a:avLst/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Kita dapat membuat sebuah prototype frame-by-frame dalam </a:t>
            </a:r>
            <a:r>
              <a:rPr b="1" i="1" lang="en-US" sz="1200" u="none" cap="none" strike="noStrike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Figma</a:t>
            </a:r>
            <a:r>
              <a:rPr b="1" i="0" lang="en-US" sz="1200" u="none" cap="none" strike="noStrike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, akan tetapi kita tidak mengedit video dan mengolah video dalam </a:t>
            </a:r>
            <a:r>
              <a:rPr b="1" i="1" lang="en-US" sz="1200" u="none" cap="none" strike="noStrike">
                <a:solidFill>
                  <a:srgbClr val="733572"/>
                </a:solidFill>
                <a:latin typeface="Montserrat"/>
                <a:ea typeface="Montserrat"/>
                <a:cs typeface="Montserrat"/>
                <a:sym typeface="Montserrat"/>
              </a:rPr>
              <a:t>Figma.</a:t>
            </a:r>
            <a:endParaRPr b="1" i="1" sz="1200" u="none" cap="none" strike="noStrike">
              <a:solidFill>
                <a:srgbClr val="73357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5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4" name="Google Shape;604;p5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>
                <a:latin typeface="Montserrat"/>
                <a:ea typeface="Montserrat"/>
                <a:cs typeface="Montserrat"/>
                <a:sym typeface="Montserrat"/>
              </a:rPr>
              <a:t>Referensi dan bacaan lebih lanjut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05" name="Google Shape;60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8796" y="1097113"/>
            <a:ext cx="2743199" cy="3511629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58"/>
          <p:cNvSpPr txBox="1"/>
          <p:nvPr/>
        </p:nvSpPr>
        <p:spPr>
          <a:xfrm>
            <a:off x="685800" y="1024128"/>
            <a:ext cx="4114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200" u="none" cap="none" strike="noStrike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Referensi dan bacaan lebih lanjut</a:t>
            </a:r>
            <a:endParaRPr b="1" i="0" sz="1200" u="none" cap="none" strike="noStrike">
              <a:solidFill>
                <a:srgbClr val="743673"/>
              </a:solidFill>
              <a:highlight>
                <a:schemeClr val="lt1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1) </a:t>
            </a:r>
            <a:r>
              <a:rPr b="0" i="0" lang="en-US" sz="10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Design Thinking by Interaction Design Foundation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2) </a:t>
            </a:r>
            <a:r>
              <a:rPr b="0" i="0" lang="en-US" sz="10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5 Stages in The Design Thinking Process by Interaction 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   </a:t>
            </a:r>
            <a:r>
              <a:rPr b="0" i="0" lang="en-US" sz="10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Design Foundation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3) </a:t>
            </a:r>
            <a:r>
              <a:rPr b="0" i="0" lang="en-US" sz="10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Prototyping by Interaction Design Foundation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4) </a:t>
            </a:r>
            <a:r>
              <a:rPr b="0" i="0" lang="en-US" sz="10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Stage 4 in the Design Thinking Process: Prototype by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r>
              <a:rPr b="0" i="0" lang="en-US" sz="10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Interaction Design Foundation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5) </a:t>
            </a:r>
            <a:r>
              <a:rPr b="0" i="0" lang="en-US" sz="10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Design Thinking Phase 4 - Everything you Need to 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</a:t>
            </a:r>
            <a:r>
              <a:rPr b="0" i="0" lang="en-US" sz="10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1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Know About Prototyping by workshopper.com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6) </a:t>
            </a:r>
            <a:r>
              <a:rPr b="0" i="0" lang="en-US" sz="10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1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The 4 different types of product prototypes by Reforge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7) </a:t>
            </a:r>
            <a:r>
              <a:rPr b="0" i="0" lang="en-US" sz="10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1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Introduction to Figma by Adi Purdila on </a:t>
            </a:r>
            <a:r>
              <a:rPr lang="en-US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1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envato tuts+</a:t>
            </a:r>
            <a:r>
              <a:rPr b="0" i="0" lang="en-US" sz="1000" u="sng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5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2" name="Google Shape;612;p5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</a:pPr>
            <a:r>
              <a:rPr lang="en-US"/>
              <a:t>Penutup</a:t>
            </a:r>
            <a:endParaRPr/>
          </a:p>
        </p:txBody>
      </p:sp>
      <p:sp>
        <p:nvSpPr>
          <p:cNvPr id="613" name="Google Shape;613;p59"/>
          <p:cNvSpPr txBox="1"/>
          <p:nvPr/>
        </p:nvSpPr>
        <p:spPr>
          <a:xfrm>
            <a:off x="538225" y="1694500"/>
            <a:ext cx="4301100" cy="22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Gimana, bestie? Udah mulai ngerti kan tentang </a:t>
            </a:r>
            <a:r>
              <a:rPr b="1" i="0" lang="en-US" sz="1400" u="none" cap="none" strike="noStrike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prototype</a:t>
            </a:r>
            <a:r>
              <a:rPr b="1" i="0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? Tenang aja, ini baru part 1.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Selanjutnya, kita akan membahas</a:t>
            </a:r>
            <a:r>
              <a:rPr b="1" lang="en-US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bagaimana caranya</a:t>
            </a:r>
            <a:r>
              <a:rPr b="1" i="0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lang="en-US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memulai proses desain</a:t>
            </a:r>
            <a:r>
              <a:rPr b="1" i="0" lang="en-US" sz="1400" u="none" cap="none" strike="noStrike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b="1" i="0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yang nggak kalah seru nan penting!</a:t>
            </a:r>
            <a:endParaRPr/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Sampai ketemu besok ya ~</a:t>
            </a:r>
            <a:endParaRPr/>
          </a:p>
        </p:txBody>
      </p:sp>
      <p:pic>
        <p:nvPicPr>
          <p:cNvPr id="614" name="Google Shape;614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807356" y="676725"/>
            <a:ext cx="5687844" cy="4338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60"/>
          <p:cNvSpPr/>
          <p:nvPr/>
        </p:nvSpPr>
        <p:spPr>
          <a:xfrm>
            <a:off x="0" y="3825400"/>
            <a:ext cx="9144000" cy="1389600"/>
          </a:xfrm>
          <a:prstGeom prst="rect">
            <a:avLst/>
          </a:prstGeom>
          <a:solidFill>
            <a:srgbClr val="F4B71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0" name="Google Shape;620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4062" y="469363"/>
            <a:ext cx="5675881" cy="420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60"/>
          <p:cNvPicPr preferRelativeResize="0"/>
          <p:nvPr/>
        </p:nvPicPr>
        <p:blipFill rotWithShape="1">
          <a:blip r:embed="rId4">
            <a:alphaModFix/>
          </a:blip>
          <a:srcRect b="0" l="0" r="13247" t="0"/>
          <a:stretch/>
        </p:blipFill>
        <p:spPr>
          <a:xfrm>
            <a:off x="7987325" y="4075701"/>
            <a:ext cx="709350" cy="817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2" name="Google Shape;622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7625" y="4141560"/>
            <a:ext cx="1991475" cy="685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