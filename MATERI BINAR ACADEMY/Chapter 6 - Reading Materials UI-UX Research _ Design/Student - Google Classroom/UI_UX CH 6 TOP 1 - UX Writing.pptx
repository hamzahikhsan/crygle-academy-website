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embeddedFontLst>
    <p:embeddedFont>
      <p:font typeface="Raleway"/>
      <p:regular r:id="rId61"/>
      <p:bold r:id="rId62"/>
      <p:italic r:id="rId63"/>
      <p:boldItalic r:id="rId64"/>
    </p:embeddedFont>
    <p:embeddedFont>
      <p:font typeface="Montserrat"/>
      <p:regular r:id="rId65"/>
      <p:bold r:id="rId66"/>
      <p:italic r:id="rId67"/>
      <p:boldItalic r:id="rId68"/>
    </p:embeddedFont>
    <p:embeddedFont>
      <p:font typeface="Montserrat Medium"/>
      <p:regular r:id="rId69"/>
      <p:bold r:id="rId70"/>
      <p:italic r:id="rId71"/>
      <p:boldItalic r:id="rId72"/>
    </p:embeddedFont>
    <p:embeddedFont>
      <p:font typeface="Lato Black"/>
      <p:bold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LatoBlack-bold.fntdata"/><Relationship Id="rId72" Type="http://schemas.openxmlformats.org/officeDocument/2006/relationships/font" Target="fonts/MontserratMedium-boldItalic.fntdata"/><Relationship Id="rId31" Type="http://schemas.openxmlformats.org/officeDocument/2006/relationships/slide" Target="slides/slide26.xml"/><Relationship Id="rId30" Type="http://schemas.openxmlformats.org/officeDocument/2006/relationships/slide" Target="slides/slide25.xml"/><Relationship Id="rId74" Type="http://schemas.openxmlformats.org/officeDocument/2006/relationships/font" Target="fonts/LatoBlack-boldItalic.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MontserratMedium-italic.fntdata"/><Relationship Id="rId70" Type="http://schemas.openxmlformats.org/officeDocument/2006/relationships/font" Target="fonts/MontserratMedium-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bold.fntdata"/><Relationship Id="rId61" Type="http://schemas.openxmlformats.org/officeDocument/2006/relationships/font" Target="fonts/Raleway-regular.fntdata"/><Relationship Id="rId20" Type="http://schemas.openxmlformats.org/officeDocument/2006/relationships/slide" Target="slides/slide15.xml"/><Relationship Id="rId64" Type="http://schemas.openxmlformats.org/officeDocument/2006/relationships/font" Target="fonts/Raleway-boldItalic.fntdata"/><Relationship Id="rId63" Type="http://schemas.openxmlformats.org/officeDocument/2006/relationships/font" Target="fonts/Raleway-italic.fntdata"/><Relationship Id="rId22" Type="http://schemas.openxmlformats.org/officeDocument/2006/relationships/slide" Target="slides/slide17.xml"/><Relationship Id="rId66" Type="http://schemas.openxmlformats.org/officeDocument/2006/relationships/font" Target="fonts/Montserrat-bold.fntdata"/><Relationship Id="rId21" Type="http://schemas.openxmlformats.org/officeDocument/2006/relationships/slide" Target="slides/slide16.xml"/><Relationship Id="rId65" Type="http://schemas.openxmlformats.org/officeDocument/2006/relationships/font" Target="fonts/Montserrat-regular.fntdata"/><Relationship Id="rId24" Type="http://schemas.openxmlformats.org/officeDocument/2006/relationships/slide" Target="slides/slide19.xml"/><Relationship Id="rId68" Type="http://schemas.openxmlformats.org/officeDocument/2006/relationships/font" Target="fonts/Montserrat-boldItalic.fntdata"/><Relationship Id="rId23" Type="http://schemas.openxmlformats.org/officeDocument/2006/relationships/slide" Target="slides/slide18.xml"/><Relationship Id="rId67" Type="http://schemas.openxmlformats.org/officeDocument/2006/relationships/font" Target="fonts/Montserrat-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ontserratMedium-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unttim?utm_source=unsplash&amp;utm_medium=referral&amp;utm_content=creditCopyText" TargetMode="External"/><Relationship Id="rId3" Type="http://schemas.openxmlformats.org/officeDocument/2006/relationships/hyperlink" Target="https://unsplash.com/@punttim?utm_source=unsplash&amp;utm_medium=referral&amp;utm_content=creditCopyText" TargetMode="External"/><Relationship Id="rId4" Type="http://schemas.openxmlformats.org/officeDocument/2006/relationships/hyperlink" Target="https://unsplash.com/s/photos/confused?utm_source=unsplash&amp;utm_medium=referral&amp;utm_content=creditCopyText" TargetMode="External"/><Relationship Id="rId5" Type="http://schemas.openxmlformats.org/officeDocument/2006/relationships/hyperlink" Target="https://unsplash.com/s/photos/confused?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unttim?utm_source=unsplash&amp;utm_medium=referral&amp;utm_content=creditCopyText" TargetMode="External"/><Relationship Id="rId3" Type="http://schemas.openxmlformats.org/officeDocument/2006/relationships/hyperlink" Target="https://unsplash.com/@punttim?utm_source=unsplash&amp;utm_medium=referral&amp;utm_content=creditCopyText" TargetMode="External"/><Relationship Id="rId4" Type="http://schemas.openxmlformats.org/officeDocument/2006/relationships/hyperlink" Target="https://unsplash.com/s/photos/confused?utm_source=unsplash&amp;utm_medium=referral&amp;utm_content=creditCopyText" TargetMode="External"/><Relationship Id="rId5" Type="http://schemas.openxmlformats.org/officeDocument/2006/relationships/hyperlink" Target="https://unsplash.com/s/photos/confused?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albigwords.com/bad-ux-writing-mistakes"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albigwords.com/bad-ux-writing-mistakes"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rowrevenue.io/ux-writing/"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rowrevenue.io/ux-writing/"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ustinmind.com/blog/ux-writing/"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ustinmind.com/blog/ux-writing/"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ustinmind.com/blog/ux-writing/"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eshoots?utm_source=unsplash&amp;utm_medium=referral&amp;utm_content=creditCopyText" TargetMode="External"/><Relationship Id="rId3" Type="http://schemas.openxmlformats.org/officeDocument/2006/relationships/hyperlink" Target="https://unsplash.com/@jeshoots?utm_source=unsplash&amp;utm_medium=referral&amp;utm_content=creditCopyText" TargetMode="External"/><Relationship Id="rId4" Type="http://schemas.openxmlformats.org/officeDocument/2006/relationships/hyperlink" Target="https://unsplash.com/s/photos/confused?utm_source=unsplash&amp;utm_medium=referral&amp;utm_content=creditCopyText" TargetMode="External"/><Relationship Id="rId5" Type="http://schemas.openxmlformats.org/officeDocument/2006/relationships/hyperlink" Target="https://unsplash.com/s/photos/confused?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eshoots?utm_source=unsplash&amp;utm_medium=referral&amp;utm_content=creditCopyText" TargetMode="External"/><Relationship Id="rId3" Type="http://schemas.openxmlformats.org/officeDocument/2006/relationships/hyperlink" Target="https://unsplash.com/@jeshoots?utm_source=unsplash&amp;utm_medium=referral&amp;utm_content=creditCopyText" TargetMode="External"/><Relationship Id="rId4" Type="http://schemas.openxmlformats.org/officeDocument/2006/relationships/hyperlink" Target="https://unsplash.com/s/photos/confused?utm_source=unsplash&amp;utm_medium=referral&amp;utm_content=creditCopyText" TargetMode="External"/><Relationship Id="rId5" Type="http://schemas.openxmlformats.org/officeDocument/2006/relationships/hyperlink" Target="https://unsplash.com/s/photos/confused?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content?utm_source=unsplash&amp;utm_medium=referral&amp;utm_content=creditCopyText" TargetMode="External"/><Relationship Id="rId5" Type="http://schemas.openxmlformats.org/officeDocument/2006/relationships/hyperlink" Target="https://unsplash.com/s/photos/content?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content?utm_source=unsplash&amp;utm_medium=referral&amp;utm_content=creditCopyText" TargetMode="External"/><Relationship Id="rId5" Type="http://schemas.openxmlformats.org/officeDocument/2006/relationships/hyperlink" Target="https://unsplash.com/s/photos/content?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content?utm_source=unsplash&amp;utm_medium=referral&amp;utm_content=creditCopyText" TargetMode="External"/><Relationship Id="rId5" Type="http://schemas.openxmlformats.org/officeDocument/2006/relationships/hyperlink" Target="https://unsplash.com/s/photos/content?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bman?utm_source=unsplash&amp;utm_medium=referral&amp;utm_content=creditCopyText" TargetMode="External"/><Relationship Id="rId3" Type="http://schemas.openxmlformats.org/officeDocument/2006/relationships/hyperlink" Target="https://unsplash.com/@robman?utm_source=unsplash&amp;utm_medium=referral&amp;utm_content=creditCopyText" TargetMode="External"/><Relationship Id="rId4" Type="http://schemas.openxmlformats.org/officeDocument/2006/relationships/hyperlink" Target="https://unsplash.com/s/photos/users?utm_source=unsplash&amp;utm_medium=referral&amp;utm_content=creditCopyText" TargetMode="External"/><Relationship Id="rId5" Type="http://schemas.openxmlformats.org/officeDocument/2006/relationships/hyperlink" Target="https://unsplash.com/s/photos/users?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munix?utm_source=unsplash&amp;utm_medium=referral&amp;utm_content=creditCopyText" TargetMode="External"/><Relationship Id="rId3" Type="http://schemas.openxmlformats.org/officeDocument/2006/relationships/hyperlink" Target="https://unsplash.com/@lamunix?utm_source=unsplash&amp;utm_medium=referral&amp;utm_content=creditCopyText" TargetMode="External"/><Relationship Id="rId4" Type="http://schemas.openxmlformats.org/officeDocument/2006/relationships/hyperlink" Target="https://unsplash.com/s/photos/question?utm_source=unsplash&amp;utm_medium=referral&amp;utm_content=creditCopyText" TargetMode="External"/><Relationship Id="rId5" Type="http://schemas.openxmlformats.org/officeDocument/2006/relationships/hyperlink" Target="https://unsplash.com/s/photos/question?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amnaus?utm_source=unsplash&amp;utm_medium=referral&amp;utm_content=creditCopyText" TargetMode="External"/><Relationship Id="rId3" Type="http://schemas.openxmlformats.org/officeDocument/2006/relationships/hyperlink" Target="https://unsplash.com/@bramnaus?utm_source=unsplash&amp;utm_medium=referral&amp;utm_content=creditCopyText" TargetMode="External"/><Relationship Id="rId4" Type="http://schemas.openxmlformats.org/officeDocument/2006/relationships/hyperlink" Target="https://unsplash.com/s/photos/article?utm_source=unsplash&amp;utm_medium=referral&amp;utm_content=creditCopyText" TargetMode="External"/><Relationship Id="rId5" Type="http://schemas.openxmlformats.org/officeDocument/2006/relationships/hyperlink" Target="https://unsplash.com/s/photos/article?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amnaus?utm_source=unsplash&amp;utm_medium=referral&amp;utm_content=creditCopyText" TargetMode="External"/><Relationship Id="rId3" Type="http://schemas.openxmlformats.org/officeDocument/2006/relationships/hyperlink" Target="https://unsplash.com/@bramnaus?utm_source=unsplash&amp;utm_medium=referral&amp;utm_content=creditCopyText" TargetMode="External"/><Relationship Id="rId4" Type="http://schemas.openxmlformats.org/officeDocument/2006/relationships/hyperlink" Target="https://unsplash.com/s/photos/article?utm_source=unsplash&amp;utm_medium=referral&amp;utm_content=creditCopyText" TargetMode="External"/><Relationship Id="rId5" Type="http://schemas.openxmlformats.org/officeDocument/2006/relationships/hyperlink" Target="https://unsplash.com/s/photos/article?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ookecagle?utm_source=unsplash&amp;utm_medium=referral&amp;utm_content=creditCopyText" TargetMode="External"/><Relationship Id="rId3" Type="http://schemas.openxmlformats.org/officeDocument/2006/relationships/hyperlink" Target="https://unsplash.com/@brookecagle?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athercontent.com/blog/content-101-ux-writing"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athercontent.com/blog/content-101-ux-writing"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athercontent.com/blog/content-101-ux-writing"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athercontent.com/blog/content-101-ux-writing"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bman?utm_source=unsplash&amp;utm_medium=referral&amp;utm_content=creditCopyText" TargetMode="External"/><Relationship Id="rId3" Type="http://schemas.openxmlformats.org/officeDocument/2006/relationships/hyperlink" Target="https://unsplash.com/@robman?utm_source=unsplash&amp;utm_medium=referral&amp;utm_content=creditCopyText" TargetMode="External"/><Relationship Id="rId4" Type="http://schemas.openxmlformats.org/officeDocument/2006/relationships/hyperlink" Target="https://unsplash.com/s/photos/users?utm_source=unsplash&amp;utm_medium=referral&amp;utm_content=creditCopyText" TargetMode="External"/><Relationship Id="rId5" Type="http://schemas.openxmlformats.org/officeDocument/2006/relationships/hyperlink" Target="https://unsplash.com/s/photos/users?utm_source=unsplash&amp;utm_medium=referral&amp;utm_content=creditCopyText"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bman?utm_source=unsplash&amp;utm_medium=referral&amp;utm_content=creditCopyText" TargetMode="External"/><Relationship Id="rId3" Type="http://schemas.openxmlformats.org/officeDocument/2006/relationships/hyperlink" Target="https://unsplash.com/@robman?utm_source=unsplash&amp;utm_medium=referral&amp;utm_content=creditCopyText" TargetMode="External"/><Relationship Id="rId4" Type="http://schemas.openxmlformats.org/officeDocument/2006/relationships/hyperlink" Target="https://unsplash.com/s/photos/users?utm_source=unsplash&amp;utm_medium=referral&amp;utm_content=creditCopyText" TargetMode="External"/><Relationship Id="rId5" Type="http://schemas.openxmlformats.org/officeDocument/2006/relationships/hyperlink" Target="https://unsplash.com/s/photos/users?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0cfb7e8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0cfb7e8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20cfb7e88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20cfb7e88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20cfb7e88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20cfb7e88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1882651c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1882651c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23cd5c11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23cd5c11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1882651c6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1882651c6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Tim Gouw</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23e3a93b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23e3a93b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Tim Gouw</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1882651c6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1882651c6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https://realbigwords.com/bad-ux-writing-mistakes</a:t>
            </a:r>
            <a:r>
              <a:rPr lang="en">
                <a:solidFill>
                  <a:schemeClr val="dk1"/>
                </a:solidFill>
              </a:rPr>
              <a:t>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23cd5c118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23cd5c118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https://realbigwords.com/bad-ux-writing-mistakes</a:t>
            </a:r>
            <a:r>
              <a:rPr lang="en">
                <a:solidFill>
                  <a:schemeClr val="dk1"/>
                </a:solidFill>
              </a:rPr>
              <a:t>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1882651c6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1882651c6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https://growrevenue.io/ux-writing/</a:t>
            </a:r>
            <a:r>
              <a:rPr lang="en">
                <a:solidFill>
                  <a:schemeClr val="dk1"/>
                </a:solidFill>
              </a:rPr>
              <a:t>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23cd5c118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23cd5c118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https://growrevenue.io/ux-writing/</a:t>
            </a:r>
            <a:r>
              <a:rPr lang="en">
                <a:solidFill>
                  <a:schemeClr val="dk1"/>
                </a:solidFill>
              </a:rPr>
              <a:t>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1882651c6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1882651c6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https://www.justinmind.com/blog/ux-writing/</a:t>
            </a:r>
            <a:r>
              <a:rPr lang="en">
                <a:solidFill>
                  <a:schemeClr val="dk1"/>
                </a:solidFill>
              </a:rPr>
              <a:t>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20c54bed8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20c54bed8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https://www.justinmind.com/blog/ux-writing/</a:t>
            </a:r>
            <a:r>
              <a:rPr lang="en">
                <a:solidFill>
                  <a:schemeClr val="dk1"/>
                </a:solidFill>
              </a:rPr>
              <a:t>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22199377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22199377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https://www.justinmind.com/blog/ux-writing/</a:t>
            </a:r>
            <a:r>
              <a:rPr lang="en">
                <a:solidFill>
                  <a:schemeClr val="dk1"/>
                </a:solidFill>
              </a:rPr>
              <a:t>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1882651c6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1882651c6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JESHOOTS.COM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23cd5c118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23cd5c118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JESHOOTS.COM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1882651c61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1882651c61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1882651c6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1882651c6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1882651c6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1882651c6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20c54bed8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20c54bed8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1882651c6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1882651c6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1882651c6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1882651c6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Rob Hampson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1882651c61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1882651c61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1882651c61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1882651c61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Ana Municio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1882651c6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1882651c6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Bram Naus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211107b85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211107b8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Bram Naus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1882651c61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1882651c61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1882651c61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1882651c61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1882651c61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1882651c61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23cd5c118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23cd5c118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1882651c6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1882651c6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23cd5c118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23cd5c118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0df2df5133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10df2df5133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882651c61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882651c61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Brooke Cagle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1882651c61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11882651c6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1882651c61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1882651c61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https://gathercontent.com/blog/content-101-ux-writing</a:t>
            </a:r>
            <a:r>
              <a:rPr lang="en">
                <a:solidFill>
                  <a:schemeClr val="dk1"/>
                </a:solidFill>
              </a:rPr>
              <a:t>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23cd5c118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23cd5c118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https://gathercontent.com/blog/content-101-ux-writing</a:t>
            </a:r>
            <a:r>
              <a:rPr lang="en">
                <a:solidFill>
                  <a:schemeClr val="dk1"/>
                </a:solidFill>
              </a:rPr>
              <a:t>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1882651c61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1882651c61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https://gathercontent.com/blog/content-101-ux-writing</a:t>
            </a:r>
            <a:r>
              <a:rPr lang="en">
                <a:solidFill>
                  <a:schemeClr val="dk1"/>
                </a:solidFill>
              </a:rPr>
              <a:t>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23cd5c118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23cd5c118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https://gathercontent.com/blog/content-101-ux-writing</a:t>
            </a:r>
            <a:r>
              <a:rPr lang="en">
                <a:solidFill>
                  <a:schemeClr val="dk1"/>
                </a:solidFill>
              </a:rPr>
              <a:t>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1882651c61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1882651c61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21297c7f8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21297c7f8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1882651c61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1882651c61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Rob Hampson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23cd5c118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23cd5c118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Rob Hampson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1882651c61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1882651c61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1882651c61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1882651c61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1882651c61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11882651c61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11882651c61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11882651c61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11882651c61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11882651c61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21297c7f8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21297c7f8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5.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5.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7.png"/><Relationship Id="rId4" Type="http://schemas.openxmlformats.org/officeDocument/2006/relationships/image" Target="../media/image4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6.png"/></Relationships>
</file>

<file path=ppt/slides/_rels/slide53.xml.rels><?xml version="1.0" encoding="UTF-8" standalone="yes"?><Relationships xmlns="http://schemas.openxmlformats.org/package/2006/relationships"><Relationship Id="rId10" Type="http://schemas.openxmlformats.org/officeDocument/2006/relationships/hyperlink" Target="https://www.mobilespoon.net/2018/11/ux-writing-comprehensive-guide-for.html" TargetMode="External"/><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0.png"/><Relationship Id="rId4" Type="http://schemas.openxmlformats.org/officeDocument/2006/relationships/hyperlink" Target="https://gathercontent.com/blog/content-101-ux-writing" TargetMode="External"/><Relationship Id="rId9" Type="http://schemas.openxmlformats.org/officeDocument/2006/relationships/hyperlink" Target="https://growrevenue.io/ux-writing/" TargetMode="External"/><Relationship Id="rId5" Type="http://schemas.openxmlformats.org/officeDocument/2006/relationships/hyperlink" Target="https://xd.adobe.com/ideas/process/information-architecture/ux-writing-guidelines/" TargetMode="External"/><Relationship Id="rId6" Type="http://schemas.openxmlformats.org/officeDocument/2006/relationships/hyperlink" Target="https://uxmovement.com/buttons/5-rules-for-choosing-the-right-words-on-button-labels/" TargetMode="External"/><Relationship Id="rId7" Type="http://schemas.openxmlformats.org/officeDocument/2006/relationships/hyperlink" Target="https://blog.tubikstudio.com/user-experience-tips-ux-writing/" TargetMode="External"/><Relationship Id="rId8" Type="http://schemas.openxmlformats.org/officeDocument/2006/relationships/hyperlink" Target="https://realbigwords.com/bad-ux-writing-mistakes"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38.png"/><Relationship Id="rId4" Type="http://schemas.openxmlformats.org/officeDocument/2006/relationships/image" Target="../media/image43.png"/><Relationship Id="rId5" Type="http://schemas.openxmlformats.org/officeDocument/2006/relationships/image" Target="../media/image45.png"/><Relationship Id="rId6"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UX Writing</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Chapter 6 - Topic 1</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6 Topic 1</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07" name="Google Shape;107;p21"/>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4" name="Google Shape;114;p22"/>
          <p:cNvSpPr txBox="1"/>
          <p:nvPr/>
        </p:nvSpPr>
        <p:spPr>
          <a:xfrm>
            <a:off x="631050" y="1816875"/>
            <a:ext cx="4681500" cy="1400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000">
                <a:latin typeface="Montserrat"/>
                <a:ea typeface="Montserrat"/>
                <a:cs typeface="Montserrat"/>
                <a:sym typeface="Montserrat"/>
              </a:rPr>
              <a:t>Nggak kerasa kita udah sampai di chapter 6 ya, gengs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rPr lang="en" sz="1000">
                <a:latin typeface="Montserrat"/>
                <a:ea typeface="Montserrat"/>
                <a:cs typeface="Montserrat"/>
                <a:sym typeface="Montserrat"/>
              </a:rPr>
              <a:t>Kali ini, kita akan mempelajari hal yang nggak kalah penting dari desain sebuah produk. Apakah itu?</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rPr lang="en" sz="1000">
                <a:latin typeface="Montserrat"/>
                <a:ea typeface="Montserrat"/>
                <a:cs typeface="Montserrat"/>
                <a:sym typeface="Montserrat"/>
              </a:rPr>
              <a:t>Betuuuul! Kali ini kita akan belajar terkait penulisan dalam UX. Udah nggak sabar kan? Yuk langsung aja ~</a:t>
            </a:r>
            <a:endParaRPr sz="1000">
              <a:latin typeface="Montserrat"/>
              <a:ea typeface="Montserrat"/>
              <a:cs typeface="Montserrat"/>
              <a:sym typeface="Montserrat"/>
            </a:endParaRPr>
          </a:p>
        </p:txBody>
      </p:sp>
      <p:pic>
        <p:nvPicPr>
          <p:cNvPr id="115" name="Google Shape;115;p22"/>
          <p:cNvPicPr preferRelativeResize="0"/>
          <p:nvPr/>
        </p:nvPicPr>
        <p:blipFill rotWithShape="1">
          <a:blip r:embed="rId3">
            <a:alphaModFix/>
          </a:blip>
          <a:srcRect b="0" l="0" r="0" t="0"/>
          <a:stretch/>
        </p:blipFill>
        <p:spPr>
          <a:xfrm>
            <a:off x="5638796" y="1064438"/>
            <a:ext cx="2743199" cy="351162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Agenda</a:t>
            </a:r>
            <a:endParaRPr>
              <a:latin typeface="Montserrat"/>
              <a:ea typeface="Montserrat"/>
              <a:cs typeface="Montserrat"/>
              <a:sym typeface="Montserrat"/>
            </a:endParaRPr>
          </a:p>
        </p:txBody>
      </p:sp>
      <p:pic>
        <p:nvPicPr>
          <p:cNvPr id="122" name="Google Shape;122;p2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23" name="Google Shape;123;p23"/>
          <p:cNvSpPr txBox="1"/>
          <p:nvPr/>
        </p:nvSpPr>
        <p:spPr>
          <a:xfrm>
            <a:off x="685800" y="1305163"/>
            <a:ext cx="4114800" cy="6864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rgbClr val="FFFFFF"/>
                </a:highlight>
                <a:latin typeface="Montserrat"/>
                <a:ea typeface="Montserrat"/>
                <a:cs typeface="Montserrat"/>
                <a:sym typeface="Montserrat"/>
              </a:rPr>
              <a:t>Detailnya, kita akan membahas:</a:t>
            </a:r>
            <a:endParaRPr sz="1200">
              <a:solidFill>
                <a:srgbClr val="000000"/>
              </a:solidFill>
              <a:latin typeface="Montserrat Medium"/>
              <a:ea typeface="Montserrat Medium"/>
              <a:cs typeface="Montserrat Medium"/>
              <a:sym typeface="Montserrat Medium"/>
            </a:endParaRPr>
          </a:p>
        </p:txBody>
      </p:sp>
      <p:sp>
        <p:nvSpPr>
          <p:cNvPr id="124" name="Google Shape;124;p23"/>
          <p:cNvSpPr/>
          <p:nvPr/>
        </p:nvSpPr>
        <p:spPr>
          <a:xfrm>
            <a:off x="685800" y="21625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5" name="Google Shape;125;p23"/>
          <p:cNvSpPr/>
          <p:nvPr/>
        </p:nvSpPr>
        <p:spPr>
          <a:xfrm>
            <a:off x="685800" y="26236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6" name="Google Shape;126;p23"/>
          <p:cNvSpPr/>
          <p:nvPr/>
        </p:nvSpPr>
        <p:spPr>
          <a:xfrm>
            <a:off x="685800" y="30848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7" name="Google Shape;127;p23"/>
          <p:cNvSpPr/>
          <p:nvPr/>
        </p:nvSpPr>
        <p:spPr>
          <a:xfrm>
            <a:off x="685800" y="35459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8" name="Google Shape;128;p23"/>
          <p:cNvSpPr txBox="1"/>
          <p:nvPr/>
        </p:nvSpPr>
        <p:spPr>
          <a:xfrm>
            <a:off x="1182350" y="20936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UX Writing</a:t>
            </a:r>
            <a:endParaRPr sz="1200">
              <a:solidFill>
                <a:srgbClr val="000000"/>
              </a:solidFill>
              <a:latin typeface="Montserrat"/>
              <a:ea typeface="Montserrat"/>
              <a:cs typeface="Montserrat"/>
              <a:sym typeface="Montserrat"/>
            </a:endParaRPr>
          </a:p>
        </p:txBody>
      </p:sp>
      <p:sp>
        <p:nvSpPr>
          <p:cNvPr id="129" name="Google Shape;129;p23"/>
          <p:cNvSpPr txBox="1"/>
          <p:nvPr/>
        </p:nvSpPr>
        <p:spPr>
          <a:xfrm>
            <a:off x="1182350" y="255480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Jenis-jenis konten UX</a:t>
            </a:r>
            <a:endParaRPr sz="1200">
              <a:solidFill>
                <a:srgbClr val="000000"/>
              </a:solidFill>
              <a:latin typeface="Montserrat"/>
              <a:ea typeface="Montserrat"/>
              <a:cs typeface="Montserrat"/>
              <a:sym typeface="Montserrat"/>
            </a:endParaRPr>
          </a:p>
        </p:txBody>
      </p:sp>
      <p:sp>
        <p:nvSpPr>
          <p:cNvPr id="130" name="Google Shape;130;p23"/>
          <p:cNvSpPr txBox="1"/>
          <p:nvPr/>
        </p:nvSpPr>
        <p:spPr>
          <a:xfrm>
            <a:off x="1182350" y="30159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Prinsip penulisan UX yang baik</a:t>
            </a:r>
            <a:endParaRPr sz="1200">
              <a:solidFill>
                <a:srgbClr val="000000"/>
              </a:solidFill>
              <a:latin typeface="Montserrat"/>
              <a:ea typeface="Montserrat"/>
              <a:cs typeface="Montserrat"/>
              <a:sym typeface="Montserrat"/>
            </a:endParaRPr>
          </a:p>
        </p:txBody>
      </p:sp>
      <p:sp>
        <p:nvSpPr>
          <p:cNvPr id="131" name="Google Shape;131;p23"/>
          <p:cNvSpPr txBox="1"/>
          <p:nvPr/>
        </p:nvSpPr>
        <p:spPr>
          <a:xfrm>
            <a:off x="1182350" y="3477113"/>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Metodologi penulisan UX</a:t>
            </a:r>
            <a:endParaRPr sz="1200">
              <a:solidFill>
                <a:srgbClr val="000000"/>
              </a:solidFill>
              <a:latin typeface="Montserrat"/>
              <a:ea typeface="Montserrat"/>
              <a:cs typeface="Montserrat"/>
              <a:sym typeface="Montserrat"/>
            </a:endParaRPr>
          </a:p>
        </p:txBody>
      </p:sp>
      <p:sp>
        <p:nvSpPr>
          <p:cNvPr id="132" name="Google Shape;132;p23"/>
          <p:cNvSpPr/>
          <p:nvPr/>
        </p:nvSpPr>
        <p:spPr>
          <a:xfrm>
            <a:off x="685800" y="40759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3" name="Google Shape;133;p23"/>
          <p:cNvSpPr txBox="1"/>
          <p:nvPr/>
        </p:nvSpPr>
        <p:spPr>
          <a:xfrm>
            <a:off x="1182350" y="4007088"/>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Contoh penulisan UX yang baik</a:t>
            </a:r>
            <a:endParaRPr sz="1200">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39" name="Google Shape;139;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0" name="Google Shape;140;p24"/>
          <p:cNvSpPr txBox="1"/>
          <p:nvPr/>
        </p:nvSpPr>
        <p:spPr>
          <a:xfrm>
            <a:off x="685800" y="1725150"/>
            <a:ext cx="4055700" cy="188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Hari-hari ini, produk tulisan semakin beragam. Salah satu yang cukup dekat dengan UI/UX dan mendukung desain kita adalah copywriting.</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Yuk kita pelajari apa itu </a:t>
            </a:r>
            <a:r>
              <a:rPr b="1" lang="en">
                <a:solidFill>
                  <a:srgbClr val="F2AB2F"/>
                </a:solidFill>
                <a:latin typeface="Montserrat"/>
                <a:ea typeface="Montserrat"/>
                <a:cs typeface="Montserrat"/>
                <a:sym typeface="Montserrat"/>
              </a:rPr>
              <a:t>UX writing</a:t>
            </a:r>
            <a:r>
              <a:rPr b="1" lang="en">
                <a:solidFill>
                  <a:schemeClr val="lt1"/>
                </a:solidFill>
                <a:latin typeface="Montserrat"/>
                <a:ea typeface="Montserrat"/>
                <a:cs typeface="Montserrat"/>
                <a:sym typeface="Montserrat"/>
              </a:rPr>
              <a:t> dan mengapa hal ini penting ~</a:t>
            </a:r>
            <a:endParaRPr b="1">
              <a:solidFill>
                <a:schemeClr val="lt1"/>
              </a:solidFill>
              <a:latin typeface="Montserrat"/>
              <a:ea typeface="Montserrat"/>
              <a:cs typeface="Montserrat"/>
              <a:sym typeface="Montserrat"/>
            </a:endParaRPr>
          </a:p>
        </p:txBody>
      </p:sp>
      <p:pic>
        <p:nvPicPr>
          <p:cNvPr id="141" name="Google Shape;141;p24"/>
          <p:cNvPicPr preferRelativeResize="0"/>
          <p:nvPr/>
        </p:nvPicPr>
        <p:blipFill>
          <a:blip r:embed="rId3">
            <a:alphaModFix/>
          </a:blip>
          <a:stretch>
            <a:fillRect/>
          </a:stretch>
        </p:blipFill>
        <p:spPr>
          <a:xfrm>
            <a:off x="5471000" y="1146150"/>
            <a:ext cx="1758626" cy="36544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48" name="Google Shape;148;p25"/>
          <p:cNvSpPr txBox="1"/>
          <p:nvPr/>
        </p:nvSpPr>
        <p:spPr>
          <a:xfrm>
            <a:off x="685800" y="1842750"/>
            <a:ext cx="3951300" cy="1458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Latar Belakang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“Words are a powerful force.”</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Belakangan ini, copywriting atau penulisan untuk produk digital berkembang menjadi spesialisasinya sendiri yakni penulisan UX (UX writing). Tapi, apa itu copywriting?</a:t>
            </a:r>
            <a:endParaRPr sz="1000">
              <a:solidFill>
                <a:schemeClr val="dk1"/>
              </a:solidFill>
              <a:latin typeface="Montserrat Medium"/>
              <a:ea typeface="Montserrat Medium"/>
              <a:cs typeface="Montserrat Medium"/>
              <a:sym typeface="Montserrat Medium"/>
            </a:endParaRPr>
          </a:p>
        </p:txBody>
      </p:sp>
      <p:pic>
        <p:nvPicPr>
          <p:cNvPr id="149" name="Google Shape;149;p25"/>
          <p:cNvPicPr preferRelativeResize="0"/>
          <p:nvPr/>
        </p:nvPicPr>
        <p:blipFill>
          <a:blip r:embed="rId3">
            <a:alphaModFix/>
          </a:blip>
          <a:stretch>
            <a:fillRect/>
          </a:stretch>
        </p:blipFill>
        <p:spPr>
          <a:xfrm>
            <a:off x="4724400" y="959988"/>
            <a:ext cx="3971741" cy="38406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733572"/>
                </a:solidFill>
              </a:rPr>
              <a:t>‹#›</a:t>
            </a:fld>
            <a:endParaRPr>
              <a:solidFill>
                <a:srgbClr val="733572"/>
              </a:solidFill>
            </a:endParaRPr>
          </a:p>
        </p:txBody>
      </p:sp>
      <p:sp>
        <p:nvSpPr>
          <p:cNvPr id="155" name="Google Shape;15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56" name="Google Shape;156;p26"/>
          <p:cNvSpPr txBox="1"/>
          <p:nvPr/>
        </p:nvSpPr>
        <p:spPr>
          <a:xfrm>
            <a:off x="685800" y="1933200"/>
            <a:ext cx="3951300" cy="1277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Copy atau salinan adalah</a:t>
            </a:r>
            <a:r>
              <a:rPr b="1" lang="en" sz="1000">
                <a:solidFill>
                  <a:schemeClr val="dk1"/>
                </a:solidFill>
                <a:latin typeface="Montserrat"/>
                <a:ea typeface="Montserrat"/>
                <a:cs typeface="Montserrat"/>
                <a:sym typeface="Montserrat"/>
              </a:rPr>
              <a:t> faktor penting yang memandu dan membantu pengguna menyelesaikan aktivitas dalam sebuah produk</a:t>
            </a:r>
            <a:r>
              <a:rPr lang="en" sz="1000">
                <a:solidFill>
                  <a:schemeClr val="dk1"/>
                </a:solidFill>
                <a:latin typeface="Montserrat"/>
                <a:ea typeface="Montserrat"/>
                <a:cs typeface="Montserrat"/>
                <a:sym typeface="Montserrat"/>
              </a:rPr>
              <a:t>. Sehingga, bidang desain produk menempatkan banyak fokus pada pemolesan salinan.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Psstt.. Copywriter sekarang jadi jenis pekerjaan yang semakin dikenal dan banyak perusahaan besar mencari lho ~</a:t>
            </a:r>
            <a:endParaRPr sz="1000">
              <a:solidFill>
                <a:schemeClr val="dk1"/>
              </a:solidFill>
              <a:latin typeface="Montserrat"/>
              <a:ea typeface="Montserrat"/>
              <a:cs typeface="Montserrat"/>
              <a:sym typeface="Montserrat"/>
            </a:endParaRPr>
          </a:p>
        </p:txBody>
      </p:sp>
      <p:pic>
        <p:nvPicPr>
          <p:cNvPr id="157" name="Google Shape;157;p26"/>
          <p:cNvPicPr preferRelativeResize="0"/>
          <p:nvPr/>
        </p:nvPicPr>
        <p:blipFill>
          <a:blip r:embed="rId3">
            <a:alphaModFix/>
          </a:blip>
          <a:stretch>
            <a:fillRect/>
          </a:stretch>
        </p:blipFill>
        <p:spPr>
          <a:xfrm>
            <a:off x="4979100" y="1063028"/>
            <a:ext cx="2702814" cy="37375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3" name="Google Shape;163;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64" name="Google Shape;164;p27"/>
          <p:cNvSpPr txBox="1"/>
          <p:nvPr/>
        </p:nvSpPr>
        <p:spPr>
          <a:xfrm>
            <a:off x="685800" y="2049300"/>
            <a:ext cx="3951300" cy="104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UX writing?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UX writing atau penulisan UX merupakan </a:t>
            </a:r>
            <a:r>
              <a:rPr b="1" lang="en" sz="1000">
                <a:solidFill>
                  <a:schemeClr val="dk1"/>
                </a:solidFill>
                <a:latin typeface="Montserrat"/>
                <a:ea typeface="Montserrat"/>
                <a:cs typeface="Montserrat"/>
                <a:sym typeface="Montserrat"/>
              </a:rPr>
              <a:t>praktik mendesain kata-kata</a:t>
            </a:r>
            <a:r>
              <a:rPr lang="en" sz="1000">
                <a:solidFill>
                  <a:schemeClr val="dk1"/>
                </a:solidFill>
                <a:latin typeface="Montserrat"/>
                <a:ea typeface="Montserrat"/>
                <a:cs typeface="Montserrat"/>
                <a:sym typeface="Montserrat"/>
              </a:rPr>
              <a:t> yang dilihat, dibaca, atau didengar oleh pengguna saat berinteraksi dengan perangkat lunak. </a:t>
            </a:r>
            <a:endParaRPr sz="1000">
              <a:solidFill>
                <a:schemeClr val="dk1"/>
              </a:solidFill>
              <a:latin typeface="Montserrat"/>
              <a:ea typeface="Montserrat"/>
              <a:cs typeface="Montserrat"/>
              <a:sym typeface="Montserrat"/>
            </a:endParaRPr>
          </a:p>
        </p:txBody>
      </p:sp>
      <p:pic>
        <p:nvPicPr>
          <p:cNvPr id="165" name="Google Shape;165;p27"/>
          <p:cNvPicPr preferRelativeResize="0"/>
          <p:nvPr/>
        </p:nvPicPr>
        <p:blipFill>
          <a:blip r:embed="rId3">
            <a:alphaModFix/>
          </a:blip>
          <a:stretch>
            <a:fillRect/>
          </a:stretch>
        </p:blipFill>
        <p:spPr>
          <a:xfrm>
            <a:off x="4724412" y="1218500"/>
            <a:ext cx="3704023" cy="3486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1" name="Google Shape;17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72" name="Google Shape;172;p28"/>
          <p:cNvSpPr txBox="1"/>
          <p:nvPr/>
        </p:nvSpPr>
        <p:spPr>
          <a:xfrm>
            <a:off x="685800" y="1927950"/>
            <a:ext cx="3951300" cy="1287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Cakupan tulisan yang diproduksi oleh copywriter yakni microcopy dan macrocopy.</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rgbClr val="F2AB2F"/>
                </a:solidFill>
                <a:latin typeface="Montserrat"/>
                <a:ea typeface="Montserrat"/>
                <a:cs typeface="Montserrat"/>
                <a:sym typeface="Montserrat"/>
              </a:rPr>
              <a:t>Microcopy</a:t>
            </a:r>
            <a:r>
              <a:rPr lang="en" sz="1000">
                <a:solidFill>
                  <a:schemeClr val="dk1"/>
                </a:solidFill>
                <a:latin typeface="Montserrat"/>
                <a:ea typeface="Montserrat"/>
                <a:cs typeface="Montserrat"/>
                <a:sym typeface="Montserrat"/>
              </a:rPr>
              <a:t> biasanya seputar label untuk tombol, opsi menu, dan error messages.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rgbClr val="F2AB2F"/>
                </a:solidFill>
                <a:latin typeface="Montserrat"/>
                <a:ea typeface="Montserrat"/>
                <a:cs typeface="Montserrat"/>
                <a:sym typeface="Montserrat"/>
              </a:rPr>
              <a:t>Macrocopy</a:t>
            </a:r>
            <a:r>
              <a:rPr lang="en" sz="1000">
                <a:solidFill>
                  <a:srgbClr val="F2AB2F"/>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berkutat pada pesan informasi, undangan, serta teks pada halaman konfirmasi.</a:t>
            </a:r>
            <a:endParaRPr sz="1000">
              <a:solidFill>
                <a:schemeClr val="dk1"/>
              </a:solidFill>
              <a:latin typeface="Montserrat"/>
              <a:ea typeface="Montserrat"/>
              <a:cs typeface="Montserrat"/>
              <a:sym typeface="Montserrat"/>
            </a:endParaRPr>
          </a:p>
        </p:txBody>
      </p:sp>
      <p:pic>
        <p:nvPicPr>
          <p:cNvPr id="173" name="Google Shape;173;p28"/>
          <p:cNvPicPr preferRelativeResize="0"/>
          <p:nvPr/>
        </p:nvPicPr>
        <p:blipFill>
          <a:blip r:embed="rId3">
            <a:alphaModFix/>
          </a:blip>
          <a:stretch>
            <a:fillRect/>
          </a:stretch>
        </p:blipFill>
        <p:spPr>
          <a:xfrm>
            <a:off x="4906925" y="1132000"/>
            <a:ext cx="3077375" cy="3668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9" name="Google Shape;179;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80" name="Google Shape;180;p29"/>
          <p:cNvSpPr txBox="1"/>
          <p:nvPr/>
        </p:nvSpPr>
        <p:spPr>
          <a:xfrm>
            <a:off x="685800" y="1457850"/>
            <a:ext cx="4114800" cy="2227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Mengapa UX writing penting?</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Copy yang baik berpotensi membuat pengalaman pengguna menyenangkan!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Seindah apa pun visual antarmuka kamu, jika copywriting membingungkan, menyesatkan, atau secara tata bahasa salah, pengguna akan mendapatkan pengalaman yang buruk.</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lihat beberapa contoh yang membuktikan bahwa UX writing sangatlah penting.</a:t>
            </a:r>
            <a:endParaRPr sz="1000">
              <a:solidFill>
                <a:schemeClr val="dk1"/>
              </a:solidFill>
              <a:latin typeface="Montserrat"/>
              <a:ea typeface="Montserrat"/>
              <a:cs typeface="Montserrat"/>
              <a:sym typeface="Montserrat"/>
            </a:endParaRPr>
          </a:p>
        </p:txBody>
      </p:sp>
      <p:pic>
        <p:nvPicPr>
          <p:cNvPr id="181" name="Google Shape;181;p29"/>
          <p:cNvPicPr preferRelativeResize="0"/>
          <p:nvPr/>
        </p:nvPicPr>
        <p:blipFill>
          <a:blip r:embed="rId3">
            <a:alphaModFix/>
          </a:blip>
          <a:stretch>
            <a:fillRect/>
          </a:stretch>
        </p:blipFill>
        <p:spPr>
          <a:xfrm>
            <a:off x="5124937" y="1109150"/>
            <a:ext cx="2932736" cy="36914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7" name="Google Shape;187;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88" name="Google Shape;188;p30"/>
          <p:cNvSpPr txBox="1"/>
          <p:nvPr/>
        </p:nvSpPr>
        <p:spPr>
          <a:xfrm>
            <a:off x="685800" y="1457850"/>
            <a:ext cx="3951300" cy="2227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UX writing berperan penting dalam menyusun keterangan dan/atau deskripsi yang dimuat dalam produk. Selain itu, berperan menemukan kata maupun kalimat yang tepat untuk diletakkan di posisi yang tepat pada saat yang tepat, agar pengguna merasa nyaman saat berinteraksi dengan produk yang dibuat.</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lihat beberapa contoh yang membuktikan bahwa UX writing sangatlah penting.</a:t>
            </a:r>
            <a:endParaRPr sz="1000">
              <a:solidFill>
                <a:schemeClr val="dk1"/>
              </a:solidFill>
              <a:latin typeface="Montserrat"/>
              <a:ea typeface="Montserrat"/>
              <a:cs typeface="Montserrat"/>
              <a:sym typeface="Montserrat"/>
            </a:endParaRPr>
          </a:p>
        </p:txBody>
      </p:sp>
      <p:pic>
        <p:nvPicPr>
          <p:cNvPr id="189" name="Google Shape;189;p30"/>
          <p:cNvPicPr preferRelativeResize="0"/>
          <p:nvPr/>
        </p:nvPicPr>
        <p:blipFill>
          <a:blip r:embed="rId3">
            <a:alphaModFix/>
          </a:blip>
          <a:stretch>
            <a:fillRect/>
          </a:stretch>
        </p:blipFill>
        <p:spPr>
          <a:xfrm>
            <a:off x="5257800" y="1139075"/>
            <a:ext cx="2603099" cy="36615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96" name="Google Shape;196;p31"/>
          <p:cNvSpPr txBox="1"/>
          <p:nvPr/>
        </p:nvSpPr>
        <p:spPr>
          <a:xfrm>
            <a:off x="685800" y="1897204"/>
            <a:ext cx="4114800" cy="1349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#1</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simak gambar di samping!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Menurut kamu, apakah button ‘continue’ ditujukan untuk diklik karena kita mempunyai promo atau gift card code, atau karena sudah mengisi payment details dan billing address?</a:t>
            </a:r>
            <a:endParaRPr sz="1200">
              <a:solidFill>
                <a:schemeClr val="dk1"/>
              </a:solidFill>
              <a:latin typeface="Montserrat Medium"/>
              <a:ea typeface="Montserrat Medium"/>
              <a:cs typeface="Montserrat Medium"/>
              <a:sym typeface="Montserrat Medium"/>
            </a:endParaRPr>
          </a:p>
        </p:txBody>
      </p:sp>
      <p:pic>
        <p:nvPicPr>
          <p:cNvPr id="197" name="Google Shape;197;p31"/>
          <p:cNvPicPr preferRelativeResize="0"/>
          <p:nvPr/>
        </p:nvPicPr>
        <p:blipFill>
          <a:blip r:embed="rId3">
            <a:alphaModFix/>
          </a:blip>
          <a:stretch>
            <a:fillRect/>
          </a:stretch>
        </p:blipFill>
        <p:spPr>
          <a:xfrm>
            <a:off x="4953001" y="1302563"/>
            <a:ext cx="3657600" cy="270492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3" name="Google Shape;203;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04" name="Google Shape;204;p32"/>
          <p:cNvSpPr txBox="1"/>
          <p:nvPr/>
        </p:nvSpPr>
        <p:spPr>
          <a:xfrm>
            <a:off x="685800" y="2277458"/>
            <a:ext cx="4114800" cy="588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Kebingungan terjadi karena letak button microcopy ‘continue’ dan ‘text link’ dengan pertanyaan “Have a promo or gift card code?” membuat tujuan menjadi kurang jelas, gengs ~</a:t>
            </a:r>
            <a:endParaRPr sz="1200">
              <a:solidFill>
                <a:schemeClr val="dk1"/>
              </a:solidFill>
              <a:latin typeface="Montserrat Medium"/>
              <a:ea typeface="Montserrat Medium"/>
              <a:cs typeface="Montserrat Medium"/>
              <a:sym typeface="Montserrat Medium"/>
            </a:endParaRPr>
          </a:p>
        </p:txBody>
      </p:sp>
      <p:pic>
        <p:nvPicPr>
          <p:cNvPr id="205" name="Google Shape;205;p32"/>
          <p:cNvPicPr preferRelativeResize="0"/>
          <p:nvPr/>
        </p:nvPicPr>
        <p:blipFill>
          <a:blip r:embed="rId3">
            <a:alphaModFix/>
          </a:blip>
          <a:stretch>
            <a:fillRect/>
          </a:stretch>
        </p:blipFill>
        <p:spPr>
          <a:xfrm>
            <a:off x="4953001" y="1302563"/>
            <a:ext cx="3657600" cy="270492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12" name="Google Shape;212;p33"/>
          <p:cNvSpPr txBox="1"/>
          <p:nvPr/>
        </p:nvSpPr>
        <p:spPr>
          <a:xfrm>
            <a:off x="685800" y="1873949"/>
            <a:ext cx="4114800" cy="1395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#2</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Sering kan melihat informasi sistem seperti gambar di samping?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copy yang digunakan sangatlah teknis sehingga tidak semua pengguna akan mengerti maksudnya.</a:t>
            </a:r>
            <a:endParaRPr sz="1000">
              <a:solidFill>
                <a:schemeClr val="dk1"/>
              </a:solidFill>
              <a:latin typeface="Montserrat"/>
              <a:ea typeface="Montserrat"/>
              <a:cs typeface="Montserrat"/>
              <a:sym typeface="Montserrat"/>
            </a:endParaRPr>
          </a:p>
        </p:txBody>
      </p:sp>
      <p:pic>
        <p:nvPicPr>
          <p:cNvPr id="213" name="Google Shape;213;p33"/>
          <p:cNvPicPr preferRelativeResize="0"/>
          <p:nvPr/>
        </p:nvPicPr>
        <p:blipFill rotWithShape="1">
          <a:blip r:embed="rId3">
            <a:alphaModFix/>
          </a:blip>
          <a:srcRect b="0" l="9852" r="9852" t="0"/>
          <a:stretch/>
        </p:blipFill>
        <p:spPr>
          <a:xfrm>
            <a:off x="4953001" y="1302563"/>
            <a:ext cx="3657600" cy="27049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20" name="Google Shape;220;p34"/>
          <p:cNvSpPr txBox="1"/>
          <p:nvPr/>
        </p:nvSpPr>
        <p:spPr>
          <a:xfrm>
            <a:off x="685800" y="2222549"/>
            <a:ext cx="4114800" cy="69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desainnya pun kurang efektif. Perlu ada informasi tambahan untuk mengatasi error atau memberikan opsi selain ‘ok’ yang mengarahkan pengguna ke aktivitas seperti ‘settings’ atau ‘report to …’</a:t>
            </a:r>
            <a:endParaRPr sz="1000">
              <a:solidFill>
                <a:schemeClr val="dk1"/>
              </a:solidFill>
              <a:latin typeface="Montserrat"/>
              <a:ea typeface="Montserrat"/>
              <a:cs typeface="Montserrat"/>
              <a:sym typeface="Montserrat"/>
            </a:endParaRPr>
          </a:p>
        </p:txBody>
      </p:sp>
      <p:pic>
        <p:nvPicPr>
          <p:cNvPr id="221" name="Google Shape;221;p34"/>
          <p:cNvPicPr preferRelativeResize="0"/>
          <p:nvPr/>
        </p:nvPicPr>
        <p:blipFill rotWithShape="1">
          <a:blip r:embed="rId3">
            <a:alphaModFix/>
          </a:blip>
          <a:srcRect b="0" l="9852" r="9852" t="0"/>
          <a:stretch/>
        </p:blipFill>
        <p:spPr>
          <a:xfrm>
            <a:off x="4953001" y="1302563"/>
            <a:ext cx="3657600" cy="270492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28" name="Google Shape;228;p35"/>
          <p:cNvSpPr txBox="1"/>
          <p:nvPr/>
        </p:nvSpPr>
        <p:spPr>
          <a:xfrm>
            <a:off x="685800" y="1778138"/>
            <a:ext cx="4114800" cy="1753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#3</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perhatikan gambar di samping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Kali ini, ‘system error’ pada popup di samping tidaklah tepat. Mari kita bayangkan situasinya. Misalnya pengguna memilih seat untuk menonton di bioskop, tapi kursinya sudah habis.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Menurutmu, bagaimana sebaiknya copywrite yang tepat?</a:t>
            </a:r>
            <a:endParaRPr sz="1000">
              <a:solidFill>
                <a:schemeClr val="dk1"/>
              </a:solidFill>
              <a:latin typeface="Montserrat Medium"/>
              <a:ea typeface="Montserrat Medium"/>
              <a:cs typeface="Montserrat Medium"/>
              <a:sym typeface="Montserrat Medium"/>
            </a:endParaRPr>
          </a:p>
        </p:txBody>
      </p:sp>
      <p:pic>
        <p:nvPicPr>
          <p:cNvPr id="229" name="Google Shape;229;p35"/>
          <p:cNvPicPr preferRelativeResize="0"/>
          <p:nvPr/>
        </p:nvPicPr>
        <p:blipFill rotWithShape="1">
          <a:blip r:embed="rId3">
            <a:alphaModFix/>
          </a:blip>
          <a:srcRect b="0" l="9435" r="9435" t="0"/>
          <a:stretch/>
        </p:blipFill>
        <p:spPr>
          <a:xfrm>
            <a:off x="4953001" y="1302563"/>
            <a:ext cx="3657600" cy="270492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5" name="Google Shape;235;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36" name="Google Shape;236;p36"/>
          <p:cNvSpPr txBox="1"/>
          <p:nvPr/>
        </p:nvSpPr>
        <p:spPr>
          <a:xfrm>
            <a:off x="685800" y="1858647"/>
            <a:ext cx="4114800" cy="1426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Sebaiknya, copy yang tertulis bukanlah ‘system error’, melainkan: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“Oh no! The seats you chose are no longer available.</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Don’t worry, we can try to find more seats.”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Serta mengganti button ‘close’ menjadi ‘find more seats’ dan menambahkan ikon close button yang diletakkan pada pojok kanan atas pop-up.</a:t>
            </a:r>
            <a:endParaRPr sz="1000">
              <a:solidFill>
                <a:schemeClr val="dk1"/>
              </a:solidFill>
              <a:latin typeface="Montserrat Medium"/>
              <a:ea typeface="Montserrat Medium"/>
              <a:cs typeface="Montserrat Medium"/>
              <a:sym typeface="Montserrat Medium"/>
            </a:endParaRPr>
          </a:p>
        </p:txBody>
      </p:sp>
      <p:pic>
        <p:nvPicPr>
          <p:cNvPr id="237" name="Google Shape;237;p36"/>
          <p:cNvPicPr preferRelativeResize="0"/>
          <p:nvPr/>
        </p:nvPicPr>
        <p:blipFill rotWithShape="1">
          <a:blip r:embed="rId3">
            <a:alphaModFix/>
          </a:blip>
          <a:srcRect b="0" l="9435" r="9435" t="0"/>
          <a:stretch/>
        </p:blipFill>
        <p:spPr>
          <a:xfrm>
            <a:off x="4953001" y="1302563"/>
            <a:ext cx="3657600" cy="270492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3" name="Google Shape;243;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44" name="Google Shape;244;p37"/>
          <p:cNvSpPr txBox="1"/>
          <p:nvPr/>
        </p:nvSpPr>
        <p:spPr>
          <a:xfrm>
            <a:off x="685800" y="1778150"/>
            <a:ext cx="3825600" cy="1753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#4</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Seekor Dinosaurus jenis T-Rex bertangan pendek akan muncul setiap kali tidak ada koneksi internet di laman pencarian google, maka akan muncul pemberitahuan serta solusi yang diberikan kepada pengguna sembari menunggu koneksi stabil kembali pengguna bisa bermain game dinosaurus.</a:t>
            </a:r>
            <a:endParaRPr sz="1000">
              <a:solidFill>
                <a:schemeClr val="dk1"/>
              </a:solidFill>
              <a:latin typeface="Montserrat"/>
              <a:ea typeface="Montserrat"/>
              <a:cs typeface="Montserrat"/>
              <a:sym typeface="Montserrat"/>
            </a:endParaRPr>
          </a:p>
        </p:txBody>
      </p:sp>
      <p:pic>
        <p:nvPicPr>
          <p:cNvPr id="245" name="Google Shape;245;p37"/>
          <p:cNvPicPr preferRelativeResize="0"/>
          <p:nvPr/>
        </p:nvPicPr>
        <p:blipFill>
          <a:blip r:embed="rId3">
            <a:alphaModFix/>
          </a:blip>
          <a:stretch>
            <a:fillRect/>
          </a:stretch>
        </p:blipFill>
        <p:spPr>
          <a:xfrm>
            <a:off x="4892100" y="1538413"/>
            <a:ext cx="4038601" cy="238565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1" name="Google Shape;251;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52" name="Google Shape;252;p38"/>
          <p:cNvSpPr txBox="1"/>
          <p:nvPr/>
        </p:nvSpPr>
        <p:spPr>
          <a:xfrm>
            <a:off x="685800" y="1819500"/>
            <a:ext cx="3951300" cy="1504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Perlu dicatat nih, gengs ~</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Kebanyakan pengunjung datang ke situs web bukan hanya melihat desain, melainkan untuk mencari informasi.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kata lain, rancangan desainmu hanya akan berfungsi dengan baik ketika digabungkan dengan copywriting yang tepat.</a:t>
            </a:r>
            <a:endParaRPr sz="1000">
              <a:solidFill>
                <a:schemeClr val="dk1"/>
              </a:solidFill>
              <a:latin typeface="Montserrat"/>
              <a:ea typeface="Montserrat"/>
              <a:cs typeface="Montserrat"/>
              <a:sym typeface="Montserrat"/>
            </a:endParaRPr>
          </a:p>
        </p:txBody>
      </p:sp>
      <p:pic>
        <p:nvPicPr>
          <p:cNvPr id="253" name="Google Shape;253;p38"/>
          <p:cNvPicPr preferRelativeResize="0"/>
          <p:nvPr/>
        </p:nvPicPr>
        <p:blipFill>
          <a:blip r:embed="rId3">
            <a:alphaModFix/>
          </a:blip>
          <a:stretch>
            <a:fillRect/>
          </a:stretch>
        </p:blipFill>
        <p:spPr>
          <a:xfrm>
            <a:off x="4724400" y="1159259"/>
            <a:ext cx="3892198" cy="364134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9" name="Google Shape;259;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60" name="Google Shape;260;p39"/>
          <p:cNvSpPr txBox="1"/>
          <p:nvPr/>
        </p:nvSpPr>
        <p:spPr>
          <a:xfrm>
            <a:off x="685800" y="1941600"/>
            <a:ext cx="4114800" cy="1260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Kombinasi apik keduanya akan menjamin efisiensi kegunaan produk dan menunjang pengalaman pengguna yang menyenangkan.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Semakin banyak pengguna yang senang dengan produkmu, semakin banyak pula produkmu diakses oleh publik yang lebih luas.</a:t>
            </a:r>
            <a:endParaRPr sz="1000">
              <a:solidFill>
                <a:schemeClr val="dk1"/>
              </a:solidFill>
              <a:latin typeface="Montserrat"/>
              <a:ea typeface="Montserrat"/>
              <a:cs typeface="Montserrat"/>
              <a:sym typeface="Montserrat"/>
            </a:endParaRPr>
          </a:p>
        </p:txBody>
      </p:sp>
      <p:pic>
        <p:nvPicPr>
          <p:cNvPr id="261" name="Google Shape;261;p39"/>
          <p:cNvPicPr preferRelativeResize="0"/>
          <p:nvPr/>
        </p:nvPicPr>
        <p:blipFill>
          <a:blip r:embed="rId3">
            <a:alphaModFix/>
          </a:blip>
          <a:stretch>
            <a:fillRect/>
          </a:stretch>
        </p:blipFill>
        <p:spPr>
          <a:xfrm>
            <a:off x="5311591" y="1160525"/>
            <a:ext cx="2559424" cy="36400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konten UX</a:t>
            </a:r>
            <a:endParaRPr>
              <a:latin typeface="Montserrat"/>
              <a:ea typeface="Montserrat"/>
              <a:cs typeface="Montserrat"/>
              <a:sym typeface="Montserrat"/>
            </a:endParaRPr>
          </a:p>
        </p:txBody>
      </p:sp>
      <p:sp>
        <p:nvSpPr>
          <p:cNvPr id="267" name="Google Shape;267;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8" name="Google Shape;268;p40"/>
          <p:cNvSpPr txBox="1"/>
          <p:nvPr/>
        </p:nvSpPr>
        <p:spPr>
          <a:xfrm>
            <a:off x="685800" y="1725150"/>
            <a:ext cx="4415400" cy="2134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udah tahu kan sekarang mengapa UX writing penting? Ketika desain kamu secara visual dan fungsi udah oke, UX writing yang baik akan mendongkrak pengalaman pengguna semakin menyenangkan.</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Sekarang, kita kenalan sama </a:t>
            </a:r>
            <a:r>
              <a:rPr b="1" lang="en">
                <a:solidFill>
                  <a:srgbClr val="F2AB2F"/>
                </a:solidFill>
                <a:latin typeface="Montserrat"/>
                <a:ea typeface="Montserrat"/>
                <a:cs typeface="Montserrat"/>
                <a:sym typeface="Montserrat"/>
              </a:rPr>
              <a:t>jenis-jenis konten UX</a:t>
            </a:r>
            <a:r>
              <a:rPr b="1" lang="en">
                <a:solidFill>
                  <a:schemeClr val="lt1"/>
                </a:solidFill>
                <a:latin typeface="Montserrat"/>
                <a:ea typeface="Montserrat"/>
                <a:cs typeface="Montserrat"/>
                <a:sym typeface="Montserrat"/>
              </a:rPr>
              <a:t> yuk!</a:t>
            </a:r>
            <a:endParaRPr b="1">
              <a:solidFill>
                <a:schemeClr val="lt1"/>
              </a:solidFill>
              <a:latin typeface="Montserrat"/>
              <a:ea typeface="Montserrat"/>
              <a:cs typeface="Montserrat"/>
              <a:sym typeface="Montserrat"/>
            </a:endParaRPr>
          </a:p>
        </p:txBody>
      </p:sp>
      <p:pic>
        <p:nvPicPr>
          <p:cNvPr id="269" name="Google Shape;269;p40"/>
          <p:cNvPicPr preferRelativeResize="0"/>
          <p:nvPr/>
        </p:nvPicPr>
        <p:blipFill>
          <a:blip r:embed="rId3">
            <a:alphaModFix/>
          </a:blip>
          <a:stretch>
            <a:fillRect/>
          </a:stretch>
        </p:blipFill>
        <p:spPr>
          <a:xfrm>
            <a:off x="5526925" y="1117851"/>
            <a:ext cx="2369376" cy="36827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konten UX</a:t>
            </a:r>
            <a:endParaRPr>
              <a:latin typeface="Montserrat"/>
              <a:ea typeface="Montserrat"/>
              <a:cs typeface="Montserrat"/>
              <a:sym typeface="Montserrat"/>
            </a:endParaRPr>
          </a:p>
        </p:txBody>
      </p:sp>
      <p:sp>
        <p:nvSpPr>
          <p:cNvPr id="276" name="Google Shape;276;p41"/>
          <p:cNvSpPr txBox="1"/>
          <p:nvPr/>
        </p:nvSpPr>
        <p:spPr>
          <a:xfrm>
            <a:off x="685800" y="1288199"/>
            <a:ext cx="4114800" cy="256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Jenis-jenis konten UX</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Jenis konten yang dibuat oleh penulis UX bergantung pada kebutuhan perusahaan, tim, dan pengguna. Nah, di bawah ini ada jenis konten UX yang paling umum, di antaranya: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UI teks, yakni teks antarmuka yang dikirim melalui layar atau suara saat menggunakan produk.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UX copy, yaitu teks pada setiap bagian pengalaman pengguna, termasuk marketing dan support copy.</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Interface copy</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UI content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Microcopy</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Product or in-product copy.</a:t>
            </a:r>
            <a:endParaRPr sz="1000">
              <a:solidFill>
                <a:schemeClr val="dk1"/>
              </a:solidFill>
              <a:latin typeface="Montserrat"/>
              <a:ea typeface="Montserrat"/>
              <a:cs typeface="Montserrat"/>
              <a:sym typeface="Montserrat"/>
            </a:endParaRPr>
          </a:p>
        </p:txBody>
      </p:sp>
      <p:pic>
        <p:nvPicPr>
          <p:cNvPr id="277" name="Google Shape;277;p41"/>
          <p:cNvPicPr preferRelativeResize="0"/>
          <p:nvPr/>
        </p:nvPicPr>
        <p:blipFill>
          <a:blip r:embed="rId3">
            <a:alphaModFix/>
          </a:blip>
          <a:stretch>
            <a:fillRect/>
          </a:stretch>
        </p:blipFill>
        <p:spPr>
          <a:xfrm flipH="1">
            <a:off x="5547699" y="1181751"/>
            <a:ext cx="1907650" cy="3618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konten UX</a:t>
            </a:r>
            <a:endParaRPr>
              <a:latin typeface="Montserrat"/>
              <a:ea typeface="Montserrat"/>
              <a:cs typeface="Montserrat"/>
              <a:sym typeface="Montserrat"/>
            </a:endParaRPr>
          </a:p>
        </p:txBody>
      </p:sp>
      <p:sp>
        <p:nvSpPr>
          <p:cNvPr id="284" name="Google Shape;284;p42"/>
          <p:cNvSpPr txBox="1"/>
          <p:nvPr/>
        </p:nvSpPr>
        <p:spPr>
          <a:xfrm>
            <a:off x="685800" y="1770973"/>
            <a:ext cx="4114800" cy="1616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Jenis-jenis konten tadi biasanya dibuat untuk perangkat lunak, tetapi konten UX bisa juga digunakan pada aplikasi web atau jenis desain interaksi berbasis web lainnya, seperti sistem navigasi situs web yang kompleks, chatbot, atau bahkan product selector.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kalau teks orientasi, instruksi, error messages, contextual help dan tooltips, label pada formulir, merupakan </a:t>
            </a:r>
            <a:r>
              <a:rPr b="1" lang="en" sz="1000">
                <a:solidFill>
                  <a:schemeClr val="dk1"/>
                </a:solidFill>
                <a:latin typeface="Montserrat"/>
                <a:ea typeface="Montserrat"/>
                <a:cs typeface="Montserrat"/>
                <a:sym typeface="Montserrat"/>
              </a:rPr>
              <a:t>bagian dari keluarga penulisan UX</a:t>
            </a:r>
            <a:r>
              <a:rPr lang="en" sz="1000">
                <a:solidFill>
                  <a:schemeClr val="dk1"/>
                </a:solidFill>
                <a:latin typeface="Montserrat"/>
                <a:ea typeface="Montserrat"/>
                <a:cs typeface="Montserrat"/>
                <a:sym typeface="Montserrat"/>
              </a:rPr>
              <a:t>.</a:t>
            </a:r>
            <a:endParaRPr sz="1000">
              <a:solidFill>
                <a:schemeClr val="dk1"/>
              </a:solidFill>
              <a:latin typeface="Montserrat Medium"/>
              <a:ea typeface="Montserrat Medium"/>
              <a:cs typeface="Montserrat Medium"/>
              <a:sym typeface="Montserrat Medium"/>
            </a:endParaRPr>
          </a:p>
        </p:txBody>
      </p:sp>
      <p:pic>
        <p:nvPicPr>
          <p:cNvPr id="285" name="Google Shape;285;p42"/>
          <p:cNvPicPr preferRelativeResize="0"/>
          <p:nvPr/>
        </p:nvPicPr>
        <p:blipFill>
          <a:blip r:embed="rId3">
            <a:alphaModFix/>
          </a:blip>
          <a:stretch>
            <a:fillRect/>
          </a:stretch>
        </p:blipFill>
        <p:spPr>
          <a:xfrm>
            <a:off x="5059175" y="1161299"/>
            <a:ext cx="3181326" cy="3639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konten UX</a:t>
            </a:r>
            <a:endParaRPr>
              <a:latin typeface="Montserrat"/>
              <a:ea typeface="Montserrat"/>
              <a:cs typeface="Montserrat"/>
              <a:sym typeface="Montserrat"/>
            </a:endParaRPr>
          </a:p>
        </p:txBody>
      </p:sp>
      <p:sp>
        <p:nvSpPr>
          <p:cNvPr id="292" name="Google Shape;292;p43"/>
          <p:cNvSpPr txBox="1"/>
          <p:nvPr/>
        </p:nvSpPr>
        <p:spPr>
          <a:xfrm>
            <a:off x="685800" y="2149050"/>
            <a:ext cx="3951300" cy="845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perusahaan yang lebih kecil, satu penulis dapat mengerjakan semua teks tersebut. Sedangkan di perusahaan besar seperti Google, Facebook, Microsoft, atau lainnya, mungkin ada beberapa penulis UX yang berspesialisasi dalam satu fitur atau produk tertentu.</a:t>
            </a:r>
            <a:endParaRPr sz="1000">
              <a:solidFill>
                <a:schemeClr val="dk1"/>
              </a:solidFill>
              <a:latin typeface="Montserrat"/>
              <a:ea typeface="Montserrat"/>
              <a:cs typeface="Montserrat"/>
              <a:sym typeface="Montserrat"/>
            </a:endParaRPr>
          </a:p>
        </p:txBody>
      </p:sp>
      <p:pic>
        <p:nvPicPr>
          <p:cNvPr id="293" name="Google Shape;293;p43"/>
          <p:cNvPicPr preferRelativeResize="0"/>
          <p:nvPr/>
        </p:nvPicPr>
        <p:blipFill>
          <a:blip r:embed="rId3">
            <a:alphaModFix/>
          </a:blip>
          <a:stretch>
            <a:fillRect/>
          </a:stretch>
        </p:blipFill>
        <p:spPr>
          <a:xfrm>
            <a:off x="4836025" y="1243188"/>
            <a:ext cx="3653228" cy="299143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299" name="Google Shape;299;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44"/>
          <p:cNvSpPr txBox="1"/>
          <p:nvPr/>
        </p:nvSpPr>
        <p:spPr>
          <a:xfrm>
            <a:off x="668700" y="2048400"/>
            <a:ext cx="40557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Sekarang, kita perlu mengetahui </a:t>
            </a:r>
            <a:r>
              <a:rPr b="1" lang="en">
                <a:solidFill>
                  <a:srgbClr val="F2AB2F"/>
                </a:solidFill>
                <a:latin typeface="Montserrat"/>
                <a:ea typeface="Montserrat"/>
                <a:cs typeface="Montserrat"/>
                <a:sym typeface="Montserrat"/>
              </a:rPr>
              <a:t>prinsip penulisan UX yang baik </a:t>
            </a:r>
            <a:r>
              <a:rPr b="1" lang="en">
                <a:solidFill>
                  <a:schemeClr val="lt1"/>
                </a:solidFill>
                <a:latin typeface="Montserrat"/>
                <a:ea typeface="Montserrat"/>
                <a:cs typeface="Montserrat"/>
                <a:sym typeface="Montserrat"/>
              </a:rPr>
              <a:t>biar nggak salah kaprah saat menulis terkait produk kamu nih, gengs.</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Kira-kira apa aja ya? Let’s go cekidottt ~</a:t>
            </a:r>
            <a:endParaRPr b="1">
              <a:solidFill>
                <a:schemeClr val="lt1"/>
              </a:solidFill>
              <a:latin typeface="Montserrat"/>
              <a:ea typeface="Montserrat"/>
              <a:cs typeface="Montserrat"/>
              <a:sym typeface="Montserrat"/>
            </a:endParaRPr>
          </a:p>
        </p:txBody>
      </p:sp>
      <p:pic>
        <p:nvPicPr>
          <p:cNvPr id="301" name="Google Shape;301;p44"/>
          <p:cNvPicPr preferRelativeResize="0"/>
          <p:nvPr/>
        </p:nvPicPr>
        <p:blipFill>
          <a:blip r:embed="rId3">
            <a:alphaModFix/>
          </a:blip>
          <a:stretch>
            <a:fillRect/>
          </a:stretch>
        </p:blipFill>
        <p:spPr>
          <a:xfrm>
            <a:off x="5091825" y="1130325"/>
            <a:ext cx="2789699" cy="36702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308" name="Google Shape;308;p45"/>
          <p:cNvSpPr txBox="1"/>
          <p:nvPr/>
        </p:nvSpPr>
        <p:spPr>
          <a:xfrm>
            <a:off x="685800" y="1628025"/>
            <a:ext cx="3951300" cy="1902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Menulis untuk pengguna</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Menulis antarmuka pengguna sedikit mirip dengan menulis puisi: setiap kata harus memiliki tujuan, setiap kalimat harus bermakna, dan waktu adalah segalanya. Maka dari itu, kamu harus bisa mengadvokasi tulisan yang ringkas, tepat sasaran, dan efektif.</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kita akan mempelajari beberapa prinsip penulisan UX copy yang baik untuk pengguna. Let’s go ~</a:t>
            </a:r>
            <a:endParaRPr sz="1000">
              <a:solidFill>
                <a:schemeClr val="dk1"/>
              </a:solidFill>
              <a:latin typeface="Montserrat"/>
              <a:ea typeface="Montserrat"/>
              <a:cs typeface="Montserrat"/>
              <a:sym typeface="Montserrat"/>
            </a:endParaRPr>
          </a:p>
        </p:txBody>
      </p:sp>
      <p:pic>
        <p:nvPicPr>
          <p:cNvPr id="309" name="Google Shape;309;p45"/>
          <p:cNvPicPr preferRelativeResize="0"/>
          <p:nvPr/>
        </p:nvPicPr>
        <p:blipFill>
          <a:blip r:embed="rId3">
            <a:alphaModFix/>
          </a:blip>
          <a:stretch>
            <a:fillRect/>
          </a:stretch>
        </p:blipFill>
        <p:spPr>
          <a:xfrm>
            <a:off x="4724401" y="1132375"/>
            <a:ext cx="3730176" cy="36682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5" name="Google Shape;315;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316" name="Google Shape;316;p46"/>
          <p:cNvSpPr txBox="1"/>
          <p:nvPr/>
        </p:nvSpPr>
        <p:spPr>
          <a:xfrm>
            <a:off x="685800" y="1642048"/>
            <a:ext cx="4114800" cy="1859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a:t>
            </a:r>
            <a:r>
              <a:rPr b="1" lang="en" sz="1600">
                <a:solidFill>
                  <a:srgbClr val="743673"/>
                </a:solidFill>
                <a:highlight>
                  <a:schemeClr val="lt1"/>
                </a:highlight>
                <a:latin typeface="Montserrat"/>
                <a:ea typeface="Montserrat"/>
                <a:cs typeface="Montserrat"/>
                <a:sym typeface="Montserrat"/>
              </a:rPr>
              <a:t>Research, research, research…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Agar tulisan tentang produk kamu lebih baik, pengetahuan akan cara kerja produk digital saja tidak cukup.</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juga perlu mengetahui kegunaan produk, cara kerjanya, target pengguna, dan bagaimana produk tersebut dapat membuat hidup mereka lebih baik.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 menerapkan 5W+1H nih, gengs ~</a:t>
            </a:r>
            <a:endParaRPr sz="1000">
              <a:solidFill>
                <a:schemeClr val="dk1"/>
              </a:solidFill>
              <a:latin typeface="Montserrat"/>
              <a:ea typeface="Montserrat"/>
              <a:cs typeface="Montserrat"/>
              <a:sym typeface="Montserrat"/>
            </a:endParaRPr>
          </a:p>
        </p:txBody>
      </p:sp>
      <p:pic>
        <p:nvPicPr>
          <p:cNvPr id="317" name="Google Shape;317;p46"/>
          <p:cNvPicPr preferRelativeResize="0"/>
          <p:nvPr/>
        </p:nvPicPr>
        <p:blipFill>
          <a:blip r:embed="rId3">
            <a:alphaModFix/>
          </a:blip>
          <a:stretch>
            <a:fillRect/>
          </a:stretch>
        </p:blipFill>
        <p:spPr>
          <a:xfrm>
            <a:off x="4881400" y="1160300"/>
            <a:ext cx="3111301" cy="3640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324" name="Google Shape;324;p47"/>
          <p:cNvSpPr txBox="1"/>
          <p:nvPr/>
        </p:nvSpPr>
        <p:spPr>
          <a:xfrm>
            <a:off x="685800" y="1578750"/>
            <a:ext cx="4287900" cy="1986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Jawab pertanyaan pengguna sebelum mereka bertanya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Penulisan UX sebaiknya mengantisipasi dan menjawab pertanyaan pengguna saat memandu mereka melalui berbagai aktivitas.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Seperti halnya desain, konsistensi juga perlu nih, gengs. Penulis UX sebaiknya menggunakan nada dan teknik penulisan yang sama untuk berbagai produk, agar pengguna merasa nyaman dan menyerap informasi lebih cepat.</a:t>
            </a:r>
            <a:endParaRPr sz="1000">
              <a:solidFill>
                <a:schemeClr val="dk1"/>
              </a:solidFill>
              <a:latin typeface="Montserrat"/>
              <a:ea typeface="Montserrat"/>
              <a:cs typeface="Montserrat"/>
              <a:sym typeface="Montserrat"/>
            </a:endParaRPr>
          </a:p>
        </p:txBody>
      </p:sp>
      <p:pic>
        <p:nvPicPr>
          <p:cNvPr id="325" name="Google Shape;325;p47"/>
          <p:cNvPicPr preferRelativeResize="0"/>
          <p:nvPr/>
        </p:nvPicPr>
        <p:blipFill>
          <a:blip r:embed="rId3">
            <a:alphaModFix/>
          </a:blip>
          <a:stretch>
            <a:fillRect/>
          </a:stretch>
        </p:blipFill>
        <p:spPr>
          <a:xfrm>
            <a:off x="5411988" y="1151225"/>
            <a:ext cx="2531726" cy="36493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332" name="Google Shape;332;p48"/>
          <p:cNvSpPr txBox="1"/>
          <p:nvPr/>
        </p:nvSpPr>
        <p:spPr>
          <a:xfrm>
            <a:off x="685800" y="1684950"/>
            <a:ext cx="4114800" cy="1773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Rancang konten kamu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Penulisan UX sebaiknya menggabungkan prinsip-prinsip desain konten yang didasarkan pada penelitian pengguna dan pengetahuan mendalam terkait perjalanan pengguna berbasis UI serta UX.</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Gabungan keduanya akan membantu penulis menampilkan konten dengan cara paling efektif untuk pengguna.</a:t>
            </a:r>
            <a:endParaRPr sz="1000">
              <a:solidFill>
                <a:schemeClr val="dk1"/>
              </a:solidFill>
              <a:latin typeface="Montserrat"/>
              <a:ea typeface="Montserrat"/>
              <a:cs typeface="Montserrat"/>
              <a:sym typeface="Montserrat"/>
            </a:endParaRPr>
          </a:p>
        </p:txBody>
      </p:sp>
      <p:pic>
        <p:nvPicPr>
          <p:cNvPr id="333" name="Google Shape;333;p48"/>
          <p:cNvPicPr preferRelativeResize="0"/>
          <p:nvPr/>
        </p:nvPicPr>
        <p:blipFill>
          <a:blip r:embed="rId3">
            <a:alphaModFix/>
          </a:blip>
          <a:stretch>
            <a:fillRect/>
          </a:stretch>
        </p:blipFill>
        <p:spPr>
          <a:xfrm>
            <a:off x="4939650" y="1400875"/>
            <a:ext cx="3611331" cy="33997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9" name="Google Shape;339;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340" name="Google Shape;340;p49"/>
          <p:cNvSpPr txBox="1"/>
          <p:nvPr/>
        </p:nvSpPr>
        <p:spPr>
          <a:xfrm>
            <a:off x="685800" y="2218350"/>
            <a:ext cx="4114800" cy="70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Jika penulis UX bukan seorang desainer konten, biasanya mereka akan berkolaborasi dengan seorang dalam tim desain produk guna memastikan konten mereka nantinya menggabungkan prinsip-prinsip desain.</a:t>
            </a:r>
            <a:endParaRPr sz="1000">
              <a:solidFill>
                <a:schemeClr val="dk1"/>
              </a:solidFill>
              <a:latin typeface="Montserrat"/>
              <a:ea typeface="Montserrat"/>
              <a:cs typeface="Montserrat"/>
              <a:sym typeface="Montserrat"/>
            </a:endParaRPr>
          </a:p>
        </p:txBody>
      </p:sp>
      <p:pic>
        <p:nvPicPr>
          <p:cNvPr id="341" name="Google Shape;341;p49"/>
          <p:cNvPicPr preferRelativeResize="0"/>
          <p:nvPr/>
        </p:nvPicPr>
        <p:blipFill>
          <a:blip r:embed="rId3">
            <a:alphaModFix/>
          </a:blip>
          <a:stretch>
            <a:fillRect/>
          </a:stretch>
        </p:blipFill>
        <p:spPr>
          <a:xfrm>
            <a:off x="4724400" y="1159259"/>
            <a:ext cx="3892198" cy="364134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348" name="Google Shape;348;p50"/>
          <p:cNvSpPr txBox="1"/>
          <p:nvPr/>
        </p:nvSpPr>
        <p:spPr>
          <a:xfrm>
            <a:off x="685800" y="1718173"/>
            <a:ext cx="4114800" cy="1722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Libatkan analisis kompetitif</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perlu tahu apa yang ditawarkan pesaing dan bagaimana mereka membicarakannya dalam copywrite. Maka dari itu, mulailah riset rumput tetangga dan analisis cara penulisan produk mereka.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Tulisan kamu, kalau tepat, akan memperkuat proposisi nilai unik produk kamu dan mengalahkan para pesaing.</a:t>
            </a:r>
            <a:endParaRPr sz="1000">
              <a:solidFill>
                <a:schemeClr val="dk1"/>
              </a:solidFill>
              <a:latin typeface="Montserrat"/>
              <a:ea typeface="Montserrat"/>
              <a:cs typeface="Montserrat"/>
              <a:sym typeface="Montserrat"/>
            </a:endParaRPr>
          </a:p>
        </p:txBody>
      </p:sp>
      <p:pic>
        <p:nvPicPr>
          <p:cNvPr id="349" name="Google Shape;349;p50"/>
          <p:cNvPicPr preferRelativeResize="0"/>
          <p:nvPr/>
        </p:nvPicPr>
        <p:blipFill>
          <a:blip r:embed="rId3">
            <a:alphaModFix/>
          </a:blip>
          <a:stretch>
            <a:fillRect/>
          </a:stretch>
        </p:blipFill>
        <p:spPr>
          <a:xfrm>
            <a:off x="5163050" y="1090848"/>
            <a:ext cx="2931352" cy="370975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sp>
        <p:nvSpPr>
          <p:cNvPr id="355" name="Google Shape;355;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6" name="Google Shape;356;p51"/>
          <p:cNvSpPr txBox="1"/>
          <p:nvPr/>
        </p:nvSpPr>
        <p:spPr>
          <a:xfrm>
            <a:off x="685800" y="1833000"/>
            <a:ext cx="44577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Selain efektivitas dan efisiensi penggunaan kata, penulisan UX memerlukan kolaborasi dengan pihak-pihak terkait. Jadi, ketika kamu menulis nanti, jangan lupakan prinsip-prinsip tadi ya, gengs.</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Oiya, selayaknya penelitian, UX writing juga ada metodologinya lho. Yuk kita simak bersama</a:t>
            </a:r>
            <a:r>
              <a:rPr b="1" lang="en">
                <a:solidFill>
                  <a:srgbClr val="F2AB2F"/>
                </a:solidFill>
                <a:latin typeface="Montserrat"/>
                <a:ea typeface="Montserrat"/>
                <a:cs typeface="Montserrat"/>
                <a:sym typeface="Montserrat"/>
              </a:rPr>
              <a:t> metodologi penulisan UX</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p:txBody>
      </p:sp>
      <p:pic>
        <p:nvPicPr>
          <p:cNvPr id="357" name="Google Shape;357;p51"/>
          <p:cNvPicPr preferRelativeResize="0"/>
          <p:nvPr/>
        </p:nvPicPr>
        <p:blipFill>
          <a:blip r:embed="rId3">
            <a:alphaModFix/>
          </a:blip>
          <a:stretch>
            <a:fillRect/>
          </a:stretch>
        </p:blipFill>
        <p:spPr>
          <a:xfrm>
            <a:off x="5580000" y="1195676"/>
            <a:ext cx="2319299" cy="36049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sp>
        <p:nvSpPr>
          <p:cNvPr id="364" name="Google Shape;364;p52"/>
          <p:cNvSpPr txBox="1"/>
          <p:nvPr/>
        </p:nvSpPr>
        <p:spPr>
          <a:xfrm>
            <a:off x="685800" y="2050949"/>
            <a:ext cx="4114800" cy="104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Proses penulisan UX gimana sih?</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proses copywriting pada dasarnya sangatlah mudah, di mana melibatkan kolaborasi antara penulis dan bisnis untuk menghasilkan sesuatu yang cerdas dan menarik.</a:t>
            </a:r>
            <a:endParaRPr sz="1000">
              <a:solidFill>
                <a:schemeClr val="dk1"/>
              </a:solidFill>
              <a:latin typeface="Montserrat"/>
              <a:ea typeface="Montserrat"/>
              <a:cs typeface="Montserrat"/>
              <a:sym typeface="Montserrat"/>
            </a:endParaRPr>
          </a:p>
        </p:txBody>
      </p:sp>
      <p:pic>
        <p:nvPicPr>
          <p:cNvPr id="365" name="Google Shape;365;p52"/>
          <p:cNvPicPr preferRelativeResize="0"/>
          <p:nvPr/>
        </p:nvPicPr>
        <p:blipFill>
          <a:blip r:embed="rId3">
            <a:alphaModFix/>
          </a:blip>
          <a:stretch>
            <a:fillRect/>
          </a:stretch>
        </p:blipFill>
        <p:spPr>
          <a:xfrm>
            <a:off x="5413200" y="1122125"/>
            <a:ext cx="2510750" cy="36784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1" name="Google Shape;371;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sp>
        <p:nvSpPr>
          <p:cNvPr id="372" name="Google Shape;372;p53"/>
          <p:cNvSpPr txBox="1"/>
          <p:nvPr/>
        </p:nvSpPr>
        <p:spPr>
          <a:xfrm>
            <a:off x="685800" y="2019300"/>
            <a:ext cx="3821100" cy="1104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Tapi, menulis copywriting UX sedikit berbeda. </a:t>
            </a:r>
            <a:r>
              <a:rPr b="1" lang="en" sz="1000">
                <a:solidFill>
                  <a:schemeClr val="dk1"/>
                </a:solidFill>
                <a:latin typeface="Montserrat"/>
                <a:ea typeface="Montserrat"/>
                <a:cs typeface="Montserrat"/>
                <a:sym typeface="Montserrat"/>
              </a:rPr>
              <a:t>Prosesnya menyeluruh dan penulis membutuhkan kolaborasi dengan desainer, peneliti, serta pelanggan itu sendiri</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penerapan yang ideal, penulis UX akan bertanggungjawab untuk mengadakan penelitian sendiri.</a:t>
            </a:r>
            <a:endParaRPr sz="1000">
              <a:solidFill>
                <a:schemeClr val="dk1"/>
              </a:solidFill>
              <a:latin typeface="Montserrat"/>
              <a:ea typeface="Montserrat"/>
              <a:cs typeface="Montserrat"/>
              <a:sym typeface="Montserrat"/>
            </a:endParaRPr>
          </a:p>
        </p:txBody>
      </p:sp>
      <p:pic>
        <p:nvPicPr>
          <p:cNvPr id="373" name="Google Shape;373;p53"/>
          <p:cNvPicPr preferRelativeResize="0"/>
          <p:nvPr/>
        </p:nvPicPr>
        <p:blipFill>
          <a:blip r:embed="rId3">
            <a:alphaModFix/>
          </a:blip>
          <a:stretch>
            <a:fillRect/>
          </a:stretch>
        </p:blipFill>
        <p:spPr>
          <a:xfrm>
            <a:off x="4724400" y="1566400"/>
            <a:ext cx="3982308" cy="22290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9" name="Google Shape;379;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sp>
        <p:nvSpPr>
          <p:cNvPr id="380" name="Google Shape;380;p54"/>
          <p:cNvSpPr txBox="1"/>
          <p:nvPr/>
        </p:nvSpPr>
        <p:spPr>
          <a:xfrm>
            <a:off x="685800" y="1890900"/>
            <a:ext cx="4038600" cy="136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Mulai menulis</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halnya design thinking, proses penulisan bagi banyak penulis UX akan dimulai dengan defining the problem. Hal ini akan dilakukan penulis bersama desainer, pengembang, manajer produk, dan pemangku kepentingan untuk menentukan ruang lingkup masalah.</a:t>
            </a:r>
            <a:endParaRPr sz="1000">
              <a:solidFill>
                <a:schemeClr val="dk1"/>
              </a:solidFill>
              <a:latin typeface="Montserrat"/>
              <a:ea typeface="Montserrat"/>
              <a:cs typeface="Montserrat"/>
              <a:sym typeface="Montserrat"/>
            </a:endParaRPr>
          </a:p>
        </p:txBody>
      </p:sp>
      <p:pic>
        <p:nvPicPr>
          <p:cNvPr id="381" name="Google Shape;381;p54"/>
          <p:cNvPicPr preferRelativeResize="0"/>
          <p:nvPr/>
        </p:nvPicPr>
        <p:blipFill>
          <a:blip r:embed="rId3">
            <a:alphaModFix/>
          </a:blip>
          <a:stretch>
            <a:fillRect/>
          </a:stretch>
        </p:blipFill>
        <p:spPr>
          <a:xfrm>
            <a:off x="4896147" y="1238124"/>
            <a:ext cx="3485850" cy="34773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7" name="Google Shape;387;p55"/>
          <p:cNvSpPr txBox="1"/>
          <p:nvPr/>
        </p:nvSpPr>
        <p:spPr>
          <a:xfrm>
            <a:off x="685800" y="2139150"/>
            <a:ext cx="4038600" cy="71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peran penulis UX dalam diskusi awal desain produk adalah memikirkan metode penulisan UX  untuk membantu memecahkan masalah yang ditemukan, atau menentukan apakah penulisan UX adalah pendekatan yang tepat.</a:t>
            </a:r>
            <a:endParaRPr sz="1000">
              <a:solidFill>
                <a:schemeClr val="dk1"/>
              </a:solidFill>
              <a:latin typeface="Montserrat"/>
              <a:ea typeface="Montserrat"/>
              <a:cs typeface="Montserrat"/>
              <a:sym typeface="Montserrat"/>
            </a:endParaRPr>
          </a:p>
        </p:txBody>
      </p:sp>
      <p:sp>
        <p:nvSpPr>
          <p:cNvPr id="388" name="Google Shape;388;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pic>
        <p:nvPicPr>
          <p:cNvPr id="389" name="Google Shape;389;p55"/>
          <p:cNvPicPr preferRelativeResize="0"/>
          <p:nvPr/>
        </p:nvPicPr>
        <p:blipFill>
          <a:blip r:embed="rId3">
            <a:alphaModFix/>
          </a:blip>
          <a:stretch>
            <a:fillRect/>
          </a:stretch>
        </p:blipFill>
        <p:spPr>
          <a:xfrm>
            <a:off x="5124575" y="914398"/>
            <a:ext cx="3257435" cy="38862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
        <p:nvSpPr>
          <p:cNvPr id="395" name="Google Shape;395;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grpSp>
        <p:nvGrpSpPr>
          <p:cNvPr id="396" name="Google Shape;396;p56"/>
          <p:cNvGrpSpPr/>
          <p:nvPr/>
        </p:nvGrpSpPr>
        <p:grpSpPr>
          <a:xfrm>
            <a:off x="0" y="1113789"/>
            <a:ext cx="2214600" cy="3217636"/>
            <a:chOff x="0" y="1189989"/>
            <a:chExt cx="2214600" cy="3217636"/>
          </a:xfrm>
        </p:grpSpPr>
        <p:sp>
          <p:nvSpPr>
            <p:cNvPr id="397" name="Google Shape;397;p56"/>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Ideating</a:t>
              </a:r>
              <a:endParaRPr b="1" sz="1300">
                <a:solidFill>
                  <a:srgbClr val="FFFFFF"/>
                </a:solidFill>
                <a:latin typeface="Montserrat"/>
                <a:ea typeface="Montserrat"/>
                <a:cs typeface="Montserrat"/>
                <a:sym typeface="Montserrat"/>
              </a:endParaRPr>
            </a:p>
          </p:txBody>
        </p:sp>
        <p:sp>
          <p:nvSpPr>
            <p:cNvPr id="398" name="Google Shape;398;p56"/>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Penulis UX terlibat membuat sketsa masalah secara visual, sembari membuat bagan seperti </a:t>
              </a:r>
              <a:r>
                <a:rPr b="1" lang="en" sz="1000">
                  <a:latin typeface="Montserrat"/>
                  <a:ea typeface="Montserrat"/>
                  <a:cs typeface="Montserrat"/>
                  <a:sym typeface="Montserrat"/>
                </a:rPr>
                <a:t>peta prioritas konten </a:t>
              </a:r>
              <a:r>
                <a:rPr lang="en" sz="1000">
                  <a:latin typeface="Montserrat"/>
                  <a:ea typeface="Montserrat"/>
                  <a:cs typeface="Montserrat"/>
                  <a:sym typeface="Montserrat"/>
                </a:rPr>
                <a:t>atau hierarki untuk membantu orang lain dalam tim memahami cara paling efektif menempatkan konten dalam desain interaksi.</a:t>
              </a:r>
              <a:endParaRPr sz="1000">
                <a:latin typeface="Montserrat"/>
                <a:ea typeface="Montserrat"/>
                <a:cs typeface="Montserrat"/>
                <a:sym typeface="Montserrat"/>
              </a:endParaRPr>
            </a:p>
          </p:txBody>
        </p:sp>
      </p:grpSp>
      <p:grpSp>
        <p:nvGrpSpPr>
          <p:cNvPr id="399" name="Google Shape;399;p56"/>
          <p:cNvGrpSpPr/>
          <p:nvPr/>
        </p:nvGrpSpPr>
        <p:grpSpPr>
          <a:xfrm>
            <a:off x="1838325" y="1113575"/>
            <a:ext cx="2064000" cy="3498650"/>
            <a:chOff x="1838325" y="1189775"/>
            <a:chExt cx="2064000" cy="3498650"/>
          </a:xfrm>
        </p:grpSpPr>
        <p:sp>
          <p:nvSpPr>
            <p:cNvPr id="400" name="Google Shape;400;p56"/>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Prototyping</a:t>
              </a:r>
              <a:endParaRPr b="1" sz="1300">
                <a:solidFill>
                  <a:srgbClr val="FFFFFF"/>
                </a:solidFill>
                <a:latin typeface="Montserrat"/>
                <a:ea typeface="Montserrat"/>
                <a:cs typeface="Montserrat"/>
                <a:sym typeface="Montserrat"/>
              </a:endParaRPr>
            </a:p>
          </p:txBody>
        </p:sp>
        <p:sp>
          <p:nvSpPr>
            <p:cNvPr id="401" name="Google Shape;401;p56"/>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Penulis UX akan membantu desainer membuat prototipe yang lebih akurat dari solusi terpilih, sambil lalu mendapatkan feedback dari desainer, manajer, pemangku kepentingan, dan siapa pun yang terlibat dalam projek.</a:t>
              </a:r>
              <a:endParaRPr sz="1000">
                <a:latin typeface="Montserrat Medium"/>
                <a:ea typeface="Montserrat Medium"/>
                <a:cs typeface="Montserrat Medium"/>
                <a:sym typeface="Montserrat Medium"/>
              </a:endParaRPr>
            </a:p>
          </p:txBody>
        </p:sp>
      </p:grpSp>
      <p:grpSp>
        <p:nvGrpSpPr>
          <p:cNvPr id="402" name="Google Shape;402;p56"/>
          <p:cNvGrpSpPr/>
          <p:nvPr/>
        </p:nvGrpSpPr>
        <p:grpSpPr>
          <a:xfrm>
            <a:off x="3516750" y="1113575"/>
            <a:ext cx="2064000" cy="3217850"/>
            <a:chOff x="3516750" y="1189775"/>
            <a:chExt cx="2064000" cy="3217850"/>
          </a:xfrm>
        </p:grpSpPr>
        <p:sp>
          <p:nvSpPr>
            <p:cNvPr id="403" name="Google Shape;403;p56"/>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Researching</a:t>
              </a:r>
              <a:endParaRPr b="1" sz="1300">
                <a:solidFill>
                  <a:srgbClr val="FFFFFF"/>
                </a:solidFill>
                <a:latin typeface="Montserrat"/>
                <a:ea typeface="Montserrat"/>
                <a:cs typeface="Montserrat"/>
                <a:sym typeface="Montserrat"/>
              </a:endParaRPr>
            </a:p>
          </p:txBody>
        </p:sp>
        <p:sp>
          <p:nvSpPr>
            <p:cNvPr id="404" name="Google Shape;404;p56"/>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Penulis UX memainkan peran penting dalam penelitian, di mana bekerja bersama desainer dan peneliti.</a:t>
              </a:r>
              <a:endParaRPr sz="1000">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latin typeface="Montserrat"/>
                <a:ea typeface="Montserrat"/>
                <a:cs typeface="Montserrat"/>
                <a:sym typeface="Montserrat"/>
              </a:endParaRPr>
            </a:p>
            <a:p>
              <a:pPr indent="0" lvl="0" marL="0" rtl="0" algn="l">
                <a:lnSpc>
                  <a:spcPct val="115000"/>
                </a:lnSpc>
                <a:spcBef>
                  <a:spcPts val="0"/>
                </a:spcBef>
                <a:spcAft>
                  <a:spcPts val="0"/>
                </a:spcAft>
                <a:buNone/>
              </a:pPr>
              <a:r>
                <a:rPr lang="en" sz="1000">
                  <a:latin typeface="Montserrat"/>
                  <a:ea typeface="Montserrat"/>
                  <a:cs typeface="Montserrat"/>
                  <a:sym typeface="Montserrat"/>
                </a:rPr>
                <a:t>Penulis UX harus membuat tugas khusus salinan yang akan peneliti berikan kepada pelanggan.</a:t>
              </a:r>
              <a:endParaRPr sz="1000">
                <a:latin typeface="Montserrat"/>
                <a:ea typeface="Montserrat"/>
                <a:cs typeface="Montserrat"/>
                <a:sym typeface="Montserrat"/>
              </a:endParaRPr>
            </a:p>
          </p:txBody>
        </p:sp>
      </p:grpSp>
      <p:grpSp>
        <p:nvGrpSpPr>
          <p:cNvPr id="405" name="Google Shape;405;p56"/>
          <p:cNvGrpSpPr/>
          <p:nvPr/>
        </p:nvGrpSpPr>
        <p:grpSpPr>
          <a:xfrm>
            <a:off x="5195350" y="1113575"/>
            <a:ext cx="2064000" cy="3217850"/>
            <a:chOff x="5195350" y="1189775"/>
            <a:chExt cx="2064000" cy="3217850"/>
          </a:xfrm>
        </p:grpSpPr>
        <p:sp>
          <p:nvSpPr>
            <p:cNvPr id="406" name="Google Shape;406;p56"/>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Iterating</a:t>
              </a:r>
              <a:endParaRPr b="1" sz="1300">
                <a:solidFill>
                  <a:srgbClr val="FFFFFF"/>
                </a:solidFill>
                <a:latin typeface="Montserrat"/>
                <a:ea typeface="Montserrat"/>
                <a:cs typeface="Montserrat"/>
                <a:sym typeface="Montserrat"/>
              </a:endParaRPr>
            </a:p>
          </p:txBody>
        </p:sp>
        <p:sp>
          <p:nvSpPr>
            <p:cNvPr id="407" name="Google Shape;407;p56"/>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Bekerja dengan peneliti UX, penulis UX akan mengambil feedback  kualitatif dan kuantitatif untuk diterapkan pada tulisan UX mereka.</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Mereka juga bekerja dengan manajer untuk membuat hipotesis &amp; kerangka kerja untuk pengujian A/B di masa mendatang,</a:t>
              </a:r>
              <a:endParaRPr sz="1000">
                <a:latin typeface="Montserrat"/>
                <a:ea typeface="Montserrat"/>
                <a:cs typeface="Montserrat"/>
                <a:sym typeface="Montserrat"/>
              </a:endParaRPr>
            </a:p>
          </p:txBody>
        </p:sp>
      </p:grpSp>
      <p:grpSp>
        <p:nvGrpSpPr>
          <p:cNvPr id="408" name="Google Shape;408;p56"/>
          <p:cNvGrpSpPr/>
          <p:nvPr/>
        </p:nvGrpSpPr>
        <p:grpSpPr>
          <a:xfrm>
            <a:off x="6874025" y="1113575"/>
            <a:ext cx="2064000" cy="3790250"/>
            <a:chOff x="6874025" y="1189775"/>
            <a:chExt cx="2064000" cy="3790250"/>
          </a:xfrm>
        </p:grpSpPr>
        <p:sp>
          <p:nvSpPr>
            <p:cNvPr id="409" name="Google Shape;409;p56"/>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Deploying</a:t>
              </a:r>
              <a:endParaRPr b="1" sz="1300">
                <a:solidFill>
                  <a:srgbClr val="FFFFFF"/>
                </a:solidFill>
                <a:latin typeface="Montserrat"/>
                <a:ea typeface="Montserrat"/>
                <a:cs typeface="Montserrat"/>
                <a:sym typeface="Montserrat"/>
              </a:endParaRPr>
            </a:p>
          </p:txBody>
        </p:sp>
        <p:sp>
          <p:nvSpPr>
            <p:cNvPr id="410" name="Google Shape;410;p56"/>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Penulis UX mungkin perlu bekerja bersama developer untuk menyesuaikan salinan dengan cepat jika kendala memaksa desain ke arah berbeda. </a:t>
              </a:r>
              <a:br>
                <a:rPr lang="en" sz="1000">
                  <a:latin typeface="Montserrat"/>
                  <a:ea typeface="Montserrat"/>
                  <a:cs typeface="Montserrat"/>
                  <a:sym typeface="Montserrat"/>
                </a:rPr>
              </a:br>
              <a:br>
                <a:rPr lang="en" sz="1000">
                  <a:latin typeface="Montserrat"/>
                  <a:ea typeface="Montserrat"/>
                  <a:cs typeface="Montserrat"/>
                  <a:sym typeface="Montserrat"/>
                </a:rPr>
              </a:br>
              <a:r>
                <a:rPr lang="en" sz="1000">
                  <a:latin typeface="Montserrat"/>
                  <a:ea typeface="Montserrat"/>
                  <a:cs typeface="Montserrat"/>
                  <a:sym typeface="Montserrat"/>
                </a:rPr>
                <a:t>Contoh: ukuran tooltip mungkin perlu dipersingkat, yang mengharuskan penulis UX untuk memotong salinan.</a:t>
              </a:r>
              <a:endParaRPr sz="1000">
                <a:latin typeface="Montserrat"/>
                <a:ea typeface="Montserrat"/>
                <a:cs typeface="Montserrat"/>
                <a:sym typeface="Montserrat"/>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sp>
        <p:nvSpPr>
          <p:cNvPr id="417" name="Google Shape;417;p57"/>
          <p:cNvSpPr txBox="1"/>
          <p:nvPr/>
        </p:nvSpPr>
        <p:spPr>
          <a:xfrm>
            <a:off x="685800" y="1188725"/>
            <a:ext cx="39513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Siapa saja yang terlibat dalam UX writing?</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Walaupun tanggung jawab UX writer hanya pada salinan, mereka perlu menjadi bagian dari tim desain, karena mereka membutuhkan kolaborasi dan masukan yang konstan.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Penulis UX biasanya berinteraksi erat dengan: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UX designers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Product &amp; optimisation  managers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Internal stakeholders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Developers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Researchers</a:t>
            </a:r>
            <a:endParaRPr sz="1000">
              <a:solidFill>
                <a:schemeClr val="dk1"/>
              </a:solidFill>
              <a:latin typeface="Montserrat"/>
              <a:ea typeface="Montserrat"/>
              <a:cs typeface="Montserrat"/>
              <a:sym typeface="Montserrat"/>
            </a:endParaRPr>
          </a:p>
        </p:txBody>
      </p:sp>
      <p:pic>
        <p:nvPicPr>
          <p:cNvPr id="418" name="Google Shape;418;p57"/>
          <p:cNvPicPr preferRelativeResize="0"/>
          <p:nvPr/>
        </p:nvPicPr>
        <p:blipFill>
          <a:blip r:embed="rId3">
            <a:alphaModFix/>
          </a:blip>
          <a:stretch>
            <a:fillRect/>
          </a:stretch>
        </p:blipFill>
        <p:spPr>
          <a:xfrm>
            <a:off x="4724400" y="1826476"/>
            <a:ext cx="4038599" cy="21795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24" name="Google Shape;424;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58"/>
          <p:cNvSpPr txBox="1"/>
          <p:nvPr/>
        </p:nvSpPr>
        <p:spPr>
          <a:xfrm>
            <a:off x="685800" y="1628250"/>
            <a:ext cx="4457700" cy="238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Beberapa perusahaan telah mengimplementasikan penulisan yang sangat efektif pada produk-produknya. Penasaran kan gimana mereka membuat copy?</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Yuk kita telusuri beberapa </a:t>
            </a:r>
            <a:r>
              <a:rPr b="1" lang="en">
                <a:solidFill>
                  <a:srgbClr val="F2AB2F"/>
                </a:solidFill>
                <a:latin typeface="Montserrat"/>
                <a:ea typeface="Montserrat"/>
                <a:cs typeface="Montserrat"/>
                <a:sym typeface="Montserrat"/>
              </a:rPr>
              <a:t>contoh penulisan UX yang baik</a:t>
            </a:r>
            <a:r>
              <a:rPr b="1" lang="en">
                <a:solidFill>
                  <a:schemeClr val="lt1"/>
                </a:solidFill>
                <a:latin typeface="Montserrat"/>
                <a:ea typeface="Montserrat"/>
                <a:cs typeface="Montserrat"/>
                <a:sym typeface="Montserrat"/>
              </a:rPr>
              <a:t>, di mana salinan mereka terbilang efektif, efisien, dan tepat sasaran.</a:t>
            </a:r>
            <a:endParaRPr b="1">
              <a:solidFill>
                <a:schemeClr val="lt1"/>
              </a:solidFill>
              <a:latin typeface="Montserrat"/>
              <a:ea typeface="Montserrat"/>
              <a:cs typeface="Montserrat"/>
              <a:sym typeface="Montserrat"/>
            </a:endParaRPr>
          </a:p>
        </p:txBody>
      </p:sp>
      <p:pic>
        <p:nvPicPr>
          <p:cNvPr id="426" name="Google Shape;426;p58"/>
          <p:cNvPicPr preferRelativeResize="0"/>
          <p:nvPr/>
        </p:nvPicPr>
        <p:blipFill>
          <a:blip r:embed="rId3">
            <a:alphaModFix/>
          </a:blip>
          <a:stretch>
            <a:fillRect/>
          </a:stretch>
        </p:blipFill>
        <p:spPr>
          <a:xfrm>
            <a:off x="5399300" y="1130325"/>
            <a:ext cx="2789699" cy="36702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33" name="Google Shape;433;p59"/>
          <p:cNvSpPr txBox="1"/>
          <p:nvPr/>
        </p:nvSpPr>
        <p:spPr>
          <a:xfrm>
            <a:off x="685800" y="1691850"/>
            <a:ext cx="4114800" cy="1759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Slack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Nada tulisan Slack dianggap ramah dan menyenangkan. Makanya, Slack menjadi salah satu contoh penulisan UX yang kerap dipuji.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Walaupun metodologi penulisan UX Slack cukup sulit karena perlu memberikan kesan menyenangkan, mereka berhasil menggabungkan nada tersebut dengan penulisan yang direct.</a:t>
            </a:r>
            <a:endParaRPr sz="1000">
              <a:solidFill>
                <a:schemeClr val="dk1"/>
              </a:solidFill>
              <a:latin typeface="Montserrat"/>
              <a:ea typeface="Montserrat"/>
              <a:cs typeface="Montserrat"/>
              <a:sym typeface="Montserrat"/>
            </a:endParaRPr>
          </a:p>
        </p:txBody>
      </p:sp>
      <p:pic>
        <p:nvPicPr>
          <p:cNvPr id="434" name="Google Shape;434;p59"/>
          <p:cNvPicPr preferRelativeResize="0"/>
          <p:nvPr/>
        </p:nvPicPr>
        <p:blipFill rotWithShape="1">
          <a:blip r:embed="rId3">
            <a:alphaModFix/>
          </a:blip>
          <a:srcRect b="-22443" l="8922" r="8922" t="0"/>
          <a:stretch/>
        </p:blipFill>
        <p:spPr>
          <a:xfrm>
            <a:off x="5486400" y="1207587"/>
            <a:ext cx="3017518" cy="27431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41" name="Google Shape;441;p60"/>
          <p:cNvSpPr txBox="1"/>
          <p:nvPr/>
        </p:nvSpPr>
        <p:spPr>
          <a:xfrm>
            <a:off x="685800" y="2235749"/>
            <a:ext cx="4114800" cy="672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Kita bisa lihat dari contoh di samping. Judul “loading” memberikan konteks yang tepat, sebelum kemudian menawarkan salinan ekstra di bawahnya untuk menyuntikkan kepribadian Slack.</a:t>
            </a:r>
            <a:endParaRPr sz="1000">
              <a:solidFill>
                <a:schemeClr val="dk1"/>
              </a:solidFill>
              <a:latin typeface="Montserrat"/>
              <a:ea typeface="Montserrat"/>
              <a:cs typeface="Montserrat"/>
              <a:sym typeface="Montserrat"/>
            </a:endParaRPr>
          </a:p>
        </p:txBody>
      </p:sp>
      <p:pic>
        <p:nvPicPr>
          <p:cNvPr id="442" name="Google Shape;442;p60"/>
          <p:cNvPicPr preferRelativeResize="0"/>
          <p:nvPr/>
        </p:nvPicPr>
        <p:blipFill rotWithShape="1">
          <a:blip r:embed="rId3">
            <a:alphaModFix/>
          </a:blip>
          <a:srcRect b="-22443" l="8922" r="8922" t="0"/>
          <a:stretch/>
        </p:blipFill>
        <p:spPr>
          <a:xfrm>
            <a:off x="5486400" y="1207587"/>
            <a:ext cx="3017518" cy="274319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49" name="Google Shape;449;p61"/>
          <p:cNvSpPr txBox="1"/>
          <p:nvPr/>
        </p:nvSpPr>
        <p:spPr>
          <a:xfrm>
            <a:off x="685800" y="2054699"/>
            <a:ext cx="4114800" cy="1034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Google Maps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Membuat aplikasi berbasis lalu lintas bisa menjadi mimpi buruk bagi beberapa penulis dan desainer UX karena tingkat kompleksitasnya sangat tinggi.</a:t>
            </a:r>
            <a:endParaRPr sz="1000">
              <a:solidFill>
                <a:schemeClr val="dk1"/>
              </a:solidFill>
              <a:latin typeface="Montserrat"/>
              <a:ea typeface="Montserrat"/>
              <a:cs typeface="Montserrat"/>
              <a:sym typeface="Montserrat"/>
            </a:endParaRPr>
          </a:p>
        </p:txBody>
      </p:sp>
      <p:pic>
        <p:nvPicPr>
          <p:cNvPr id="450" name="Google Shape;450;p61"/>
          <p:cNvPicPr preferRelativeResize="0"/>
          <p:nvPr/>
        </p:nvPicPr>
        <p:blipFill rotWithShape="1">
          <a:blip r:embed="rId3">
            <a:alphaModFix/>
          </a:blip>
          <a:srcRect b="48598" l="0" r="0" t="265"/>
          <a:stretch/>
        </p:blipFill>
        <p:spPr>
          <a:xfrm>
            <a:off x="5486400" y="1207587"/>
            <a:ext cx="3017518" cy="2743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57" name="Google Shape;457;p62"/>
          <p:cNvSpPr txBox="1"/>
          <p:nvPr/>
        </p:nvSpPr>
        <p:spPr>
          <a:xfrm>
            <a:off x="685800" y="1949099"/>
            <a:ext cx="4114800" cy="124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Akan tetapi, Google Maps telah membuktikan bahwa aplikasi kompleks seperti Maps bisa dengan mudah dimengerti pengguna di berbagai penjuru dunia.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Prinsip penulisan UX aplikasi ini cukup sederhana. Mereka memberikan informasi dengan cara jelas dan ringkas, di mana tidak menyisakan ruang untuk kebingungan.</a:t>
            </a:r>
            <a:endParaRPr sz="1000">
              <a:solidFill>
                <a:schemeClr val="dk1"/>
              </a:solidFill>
              <a:latin typeface="Montserrat"/>
              <a:ea typeface="Montserrat"/>
              <a:cs typeface="Montserrat"/>
              <a:sym typeface="Montserrat"/>
            </a:endParaRPr>
          </a:p>
        </p:txBody>
      </p:sp>
      <p:pic>
        <p:nvPicPr>
          <p:cNvPr id="458" name="Google Shape;458;p62"/>
          <p:cNvPicPr preferRelativeResize="0"/>
          <p:nvPr/>
        </p:nvPicPr>
        <p:blipFill rotWithShape="1">
          <a:blip r:embed="rId3">
            <a:alphaModFix/>
          </a:blip>
          <a:srcRect b="48598" l="0" r="0" t="265"/>
          <a:stretch/>
        </p:blipFill>
        <p:spPr>
          <a:xfrm>
            <a:off x="5486400" y="1207587"/>
            <a:ext cx="3017518" cy="2743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4" name="Google Shape;464;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65" name="Google Shape;465;p63"/>
          <p:cNvSpPr txBox="1"/>
          <p:nvPr/>
        </p:nvSpPr>
        <p:spPr>
          <a:xfrm>
            <a:off x="685800" y="1673701"/>
            <a:ext cx="4114800" cy="1796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Tinder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Penulisan UX berbasis ‘percakapan’ pada Tinder adalah contoh yang sangat baik. Baik pengguna dan aplikasi itu sendiri dianggap saling berbicara satu sama lain.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kita lihat pada gambar di samping, salinan di aplikasi memberikan instruksi dalam format dukungan, agar pengguna termotivasi untuk melakukan sebuah aktivitas.</a:t>
            </a:r>
            <a:endParaRPr sz="1000">
              <a:solidFill>
                <a:schemeClr val="dk1"/>
              </a:solidFill>
              <a:latin typeface="Montserrat"/>
              <a:ea typeface="Montserrat"/>
              <a:cs typeface="Montserrat"/>
              <a:sym typeface="Montserrat"/>
            </a:endParaRPr>
          </a:p>
        </p:txBody>
      </p:sp>
      <p:pic>
        <p:nvPicPr>
          <p:cNvPr id="466" name="Google Shape;466;p63"/>
          <p:cNvPicPr preferRelativeResize="0"/>
          <p:nvPr/>
        </p:nvPicPr>
        <p:blipFill rotWithShape="1">
          <a:blip r:embed="rId3">
            <a:alphaModFix/>
          </a:blip>
          <a:srcRect b="0" l="-20126" r="-20126" t="0"/>
          <a:stretch/>
        </p:blipFill>
        <p:spPr>
          <a:xfrm>
            <a:off x="5486400" y="1207575"/>
            <a:ext cx="3017525" cy="27978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72" name="Google Shape;472;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3" name="Google Shape;473;p64"/>
          <p:cNvSpPr txBox="1"/>
          <p:nvPr/>
        </p:nvSpPr>
        <p:spPr>
          <a:xfrm>
            <a:off x="685800" y="1628250"/>
            <a:ext cx="4457700" cy="188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Oiya, ada satu common sense nih bahwa apa yang tertulis di tombol sama pentingnya dengan desain tombol itu sendiri.</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sebelum kita menutup kelasnya, kita pelajari dulu yuk aturan-aturan umum saat membuat UX writing. Let’s go ~</a:t>
            </a:r>
            <a:endParaRPr b="1">
              <a:solidFill>
                <a:schemeClr val="lt1"/>
              </a:solidFill>
              <a:latin typeface="Montserrat"/>
              <a:ea typeface="Montserrat"/>
              <a:cs typeface="Montserrat"/>
              <a:sym typeface="Montserrat"/>
            </a:endParaRPr>
          </a:p>
        </p:txBody>
      </p:sp>
      <p:pic>
        <p:nvPicPr>
          <p:cNvPr id="474" name="Google Shape;474;p64"/>
          <p:cNvPicPr preferRelativeResize="0"/>
          <p:nvPr/>
        </p:nvPicPr>
        <p:blipFill>
          <a:blip r:embed="rId3">
            <a:alphaModFix/>
          </a:blip>
          <a:stretch>
            <a:fillRect/>
          </a:stretch>
        </p:blipFill>
        <p:spPr>
          <a:xfrm>
            <a:off x="5580000" y="1195676"/>
            <a:ext cx="2319299" cy="360492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a:t>
            </a:r>
            <a:r>
              <a:rPr lang="en">
                <a:latin typeface="Montserrat"/>
                <a:ea typeface="Montserrat"/>
                <a:cs typeface="Montserrat"/>
                <a:sym typeface="Montserrat"/>
              </a:rPr>
              <a:t> penulisan UX yang baik</a:t>
            </a:r>
            <a:endParaRPr>
              <a:latin typeface="Montserrat"/>
              <a:ea typeface="Montserrat"/>
              <a:cs typeface="Montserrat"/>
              <a:sym typeface="Montserrat"/>
            </a:endParaRPr>
          </a:p>
        </p:txBody>
      </p:sp>
      <p:sp>
        <p:nvSpPr>
          <p:cNvPr id="481" name="Google Shape;481;p65"/>
          <p:cNvSpPr txBox="1"/>
          <p:nvPr/>
        </p:nvSpPr>
        <p:spPr>
          <a:xfrm>
            <a:off x="685800" y="1924200"/>
            <a:ext cx="3951300" cy="129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Aturan-aturan yang umum pada penulisan UX dan contohnya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kamu menggunakan kata-kata yang kurang tepat dalam UX writing, pengguna mungkin akan kebingungan dan membutuhkan waktu lebih lama untuk menyelesaikan aktivitas.</a:t>
            </a:r>
            <a:endParaRPr sz="1000">
              <a:solidFill>
                <a:schemeClr val="dk1"/>
              </a:solidFill>
              <a:latin typeface="Montserrat"/>
              <a:ea typeface="Montserrat"/>
              <a:cs typeface="Montserrat"/>
              <a:sym typeface="Montserrat"/>
            </a:endParaRPr>
          </a:p>
        </p:txBody>
      </p:sp>
      <p:pic>
        <p:nvPicPr>
          <p:cNvPr id="482" name="Google Shape;482;p65"/>
          <p:cNvPicPr preferRelativeResize="0"/>
          <p:nvPr/>
        </p:nvPicPr>
        <p:blipFill>
          <a:blip r:embed="rId3">
            <a:alphaModFix/>
          </a:blip>
          <a:stretch>
            <a:fillRect/>
          </a:stretch>
        </p:blipFill>
        <p:spPr>
          <a:xfrm>
            <a:off x="5182426" y="1216900"/>
            <a:ext cx="2911775" cy="358369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8" name="Google Shape;488;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89" name="Google Shape;489;p66"/>
          <p:cNvSpPr txBox="1"/>
          <p:nvPr/>
        </p:nvSpPr>
        <p:spPr>
          <a:xfrm>
            <a:off x="685800" y="2050950"/>
            <a:ext cx="3951300" cy="1041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Makanya, kamu perlu memilih kata yang tepat, baik mikro maupun makro copy,  agar  memudahkan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Berikut adalah beberapa aturan untuk membantu kamu memilih kata yang tepat dan contoh aplikasinya pada sebuah desain.</a:t>
            </a:r>
            <a:endParaRPr sz="1000">
              <a:solidFill>
                <a:schemeClr val="dk1"/>
              </a:solidFill>
              <a:latin typeface="Montserrat"/>
              <a:ea typeface="Montserrat"/>
              <a:cs typeface="Montserrat"/>
              <a:sym typeface="Montserrat"/>
            </a:endParaRPr>
          </a:p>
        </p:txBody>
      </p:sp>
      <p:pic>
        <p:nvPicPr>
          <p:cNvPr id="490" name="Google Shape;490;p66"/>
          <p:cNvPicPr preferRelativeResize="0"/>
          <p:nvPr/>
        </p:nvPicPr>
        <p:blipFill>
          <a:blip r:embed="rId3">
            <a:alphaModFix/>
          </a:blip>
          <a:stretch>
            <a:fillRect/>
          </a:stretch>
        </p:blipFill>
        <p:spPr>
          <a:xfrm>
            <a:off x="5182426" y="1216900"/>
            <a:ext cx="2911775" cy="358369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6" name="Google Shape;496;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a:t>
            </a:r>
            <a:r>
              <a:rPr lang="en">
                <a:latin typeface="Montserrat"/>
                <a:ea typeface="Montserrat"/>
                <a:cs typeface="Montserrat"/>
                <a:sym typeface="Montserrat"/>
              </a:rPr>
              <a:t> penulisan UX yang baik</a:t>
            </a:r>
            <a:endParaRPr>
              <a:latin typeface="Montserrat"/>
              <a:ea typeface="Montserrat"/>
              <a:cs typeface="Montserrat"/>
              <a:sym typeface="Montserrat"/>
            </a:endParaRPr>
          </a:p>
        </p:txBody>
      </p:sp>
      <p:sp>
        <p:nvSpPr>
          <p:cNvPr id="497" name="Google Shape;497;p6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Gunakan kata kerja pada tombol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98" name="Google Shape;498;p67"/>
          <p:cNvPicPr preferRelativeResize="0"/>
          <p:nvPr/>
        </p:nvPicPr>
        <p:blipFill>
          <a:blip r:embed="rId3">
            <a:alphaModFix/>
          </a:blip>
          <a:stretch>
            <a:fillRect/>
          </a:stretch>
        </p:blipFill>
        <p:spPr>
          <a:xfrm>
            <a:off x="685800" y="1782078"/>
            <a:ext cx="5214875" cy="27812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4" name="Google Shape;504;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505" name="Google Shape;505;p68"/>
          <p:cNvSpPr txBox="1"/>
          <p:nvPr/>
        </p:nvSpPr>
        <p:spPr>
          <a:xfrm>
            <a:off x="685800" y="1188725"/>
            <a:ext cx="6968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Jika memungkinkan, gunakan diksi yang tepat dan pendek</a:t>
            </a:r>
            <a:endParaRPr sz="1200">
              <a:solidFill>
                <a:schemeClr val="dk1"/>
              </a:solidFill>
              <a:latin typeface="Montserrat Medium"/>
              <a:ea typeface="Montserrat Medium"/>
              <a:cs typeface="Montserrat Medium"/>
              <a:sym typeface="Montserrat Medium"/>
            </a:endParaRPr>
          </a:p>
        </p:txBody>
      </p:sp>
      <p:pic>
        <p:nvPicPr>
          <p:cNvPr id="506" name="Google Shape;506;p68"/>
          <p:cNvPicPr preferRelativeResize="0"/>
          <p:nvPr/>
        </p:nvPicPr>
        <p:blipFill rotWithShape="1">
          <a:blip r:embed="rId3">
            <a:alphaModFix/>
          </a:blip>
          <a:srcRect b="0" l="2498" r="2498" t="0"/>
          <a:stretch/>
        </p:blipFill>
        <p:spPr>
          <a:xfrm>
            <a:off x="685800" y="1782078"/>
            <a:ext cx="5214875" cy="27812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2" name="Google Shape;512;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513" name="Google Shape;513;p69"/>
          <p:cNvSpPr txBox="1"/>
          <p:nvPr/>
        </p:nvSpPr>
        <p:spPr>
          <a:xfrm>
            <a:off x="685800" y="1188725"/>
            <a:ext cx="6968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Gunakan tata bahasa yang fleksibel</a:t>
            </a:r>
            <a:r>
              <a:rPr b="1" lang="en" sz="1600">
                <a:solidFill>
                  <a:srgbClr val="743673"/>
                </a:solidFill>
                <a:highlight>
                  <a:schemeClr val="lt1"/>
                </a:highlight>
                <a:latin typeface="Montserrat"/>
                <a:ea typeface="Montserrat"/>
                <a:cs typeface="Montserrat"/>
                <a:sym typeface="Montserrat"/>
              </a:rPr>
              <a:t> </a:t>
            </a:r>
            <a:endParaRPr sz="1600">
              <a:solidFill>
                <a:schemeClr val="dk1"/>
              </a:solidFill>
              <a:latin typeface="Montserrat Medium"/>
              <a:ea typeface="Montserrat Medium"/>
              <a:cs typeface="Montserrat Medium"/>
              <a:sym typeface="Montserrat Medium"/>
            </a:endParaRPr>
          </a:p>
        </p:txBody>
      </p:sp>
      <p:pic>
        <p:nvPicPr>
          <p:cNvPr id="514" name="Google Shape;514;p69"/>
          <p:cNvPicPr preferRelativeResize="0"/>
          <p:nvPr/>
        </p:nvPicPr>
        <p:blipFill>
          <a:blip r:embed="rId3">
            <a:alphaModFix/>
          </a:blip>
          <a:stretch>
            <a:fillRect/>
          </a:stretch>
        </p:blipFill>
        <p:spPr>
          <a:xfrm>
            <a:off x="719125" y="1587350"/>
            <a:ext cx="5607043" cy="1718647"/>
          </a:xfrm>
          <a:prstGeom prst="rect">
            <a:avLst/>
          </a:prstGeom>
          <a:noFill/>
          <a:ln>
            <a:noFill/>
          </a:ln>
        </p:spPr>
      </p:pic>
      <p:pic>
        <p:nvPicPr>
          <p:cNvPr id="515" name="Google Shape;515;p69"/>
          <p:cNvPicPr preferRelativeResize="0"/>
          <p:nvPr/>
        </p:nvPicPr>
        <p:blipFill>
          <a:blip r:embed="rId4">
            <a:alphaModFix/>
          </a:blip>
          <a:stretch>
            <a:fillRect/>
          </a:stretch>
        </p:blipFill>
        <p:spPr>
          <a:xfrm>
            <a:off x="719125" y="3305996"/>
            <a:ext cx="5607050" cy="141840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1" name="Google Shape;521;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522" name="Google Shape;522;p70"/>
          <p:cNvSpPr txBox="1"/>
          <p:nvPr/>
        </p:nvSpPr>
        <p:spPr>
          <a:xfrm>
            <a:off x="685800" y="1188725"/>
            <a:ext cx="6968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Bangun dialog yang natural dan konsisten</a:t>
            </a:r>
            <a:endParaRPr sz="1600">
              <a:solidFill>
                <a:schemeClr val="dk1"/>
              </a:solidFill>
              <a:latin typeface="Montserrat Medium"/>
              <a:ea typeface="Montserrat Medium"/>
              <a:cs typeface="Montserrat Medium"/>
              <a:sym typeface="Montserrat Medium"/>
            </a:endParaRPr>
          </a:p>
        </p:txBody>
      </p:sp>
      <p:pic>
        <p:nvPicPr>
          <p:cNvPr id="523" name="Google Shape;523;p70"/>
          <p:cNvPicPr preferRelativeResize="0"/>
          <p:nvPr/>
        </p:nvPicPr>
        <p:blipFill rotWithShape="1">
          <a:blip r:embed="rId3">
            <a:alphaModFix/>
          </a:blip>
          <a:srcRect b="709" l="0" r="0" t="709"/>
          <a:stretch/>
        </p:blipFill>
        <p:spPr>
          <a:xfrm>
            <a:off x="719125" y="1663550"/>
            <a:ext cx="7375550" cy="23419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9" name="Google Shape;529;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530" name="Google Shape;530;p71"/>
          <p:cNvSpPr txBox="1"/>
          <p:nvPr/>
        </p:nvSpPr>
        <p:spPr>
          <a:xfrm>
            <a:off x="685800" y="1188725"/>
            <a:ext cx="6968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Hindari bahasa informal, slang</a:t>
            </a:r>
            <a:r>
              <a:rPr b="1" i="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bahasa gaul dan kata kasar</a:t>
            </a:r>
            <a:endParaRPr sz="1600">
              <a:solidFill>
                <a:schemeClr val="dk1"/>
              </a:solidFill>
              <a:latin typeface="Montserrat Medium"/>
              <a:ea typeface="Montserrat Medium"/>
              <a:cs typeface="Montserrat Medium"/>
              <a:sym typeface="Montserrat Medium"/>
            </a:endParaRPr>
          </a:p>
        </p:txBody>
      </p:sp>
      <p:pic>
        <p:nvPicPr>
          <p:cNvPr id="531" name="Google Shape;531;p71"/>
          <p:cNvPicPr preferRelativeResize="0"/>
          <p:nvPr/>
        </p:nvPicPr>
        <p:blipFill rotWithShape="1">
          <a:blip r:embed="rId3">
            <a:alphaModFix/>
          </a:blip>
          <a:srcRect b="-9577" l="490" r="-489" t="0"/>
          <a:stretch/>
        </p:blipFill>
        <p:spPr>
          <a:xfrm>
            <a:off x="719125" y="1663550"/>
            <a:ext cx="7375550" cy="23419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7" name="Google Shape;537;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538" name="Google Shape;538;p72"/>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539" name="Google Shape;539;p72"/>
          <p:cNvSpPr txBox="1"/>
          <p:nvPr/>
        </p:nvSpPr>
        <p:spPr>
          <a:xfrm>
            <a:off x="685800" y="1427700"/>
            <a:ext cx="4311900" cy="2288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 </a:t>
            </a:r>
            <a:r>
              <a:rPr lang="en" sz="1000">
                <a:solidFill>
                  <a:schemeClr val="dk1"/>
                </a:solidFill>
                <a:uFill>
                  <a:noFill/>
                </a:uFill>
                <a:latin typeface="Montserrat"/>
                <a:ea typeface="Montserrat"/>
                <a:cs typeface="Montserrat"/>
                <a:sym typeface="Montserrat"/>
                <a:hlinkClick r:id="rId4">
                  <a:extLst>
                    <a:ext uri="{A12FA001-AC4F-418D-AE19-62706E023703}">
                      <ahyp:hlinkClr val="tx"/>
                    </a:ext>
                  </a:extLst>
                </a:hlinkClick>
              </a:rPr>
              <a:t>Content 101: UX Writing by GatherContent</a:t>
            </a:r>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uFill>
                  <a:noFill/>
                </a:uFill>
                <a:latin typeface="Montserrat"/>
                <a:ea typeface="Montserrat"/>
                <a:cs typeface="Montserrat"/>
                <a:sym typeface="Montserrat"/>
                <a:hlinkClick r:id="rId5">
                  <a:extLst>
                    <a:ext uri="{A12FA001-AC4F-418D-AE19-62706E023703}">
                      <ahyp:hlinkClr val="tx"/>
                    </a:ext>
                  </a:extLst>
                </a:hlinkClick>
              </a:rPr>
              <a:t>UX Writing Guidelines by Adobe XD</a:t>
            </a:r>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uFill>
                  <a:noFill/>
                </a:uFill>
                <a:latin typeface="Montserrat"/>
                <a:ea typeface="Montserrat"/>
                <a:cs typeface="Montserrat"/>
                <a:sym typeface="Montserrat"/>
                <a:hlinkClick r:id="rId6">
                  <a:extLst>
                    <a:ext uri="{A12FA001-AC4F-418D-AE19-62706E023703}">
                      <ahyp:hlinkClr val="tx"/>
                    </a:ext>
                  </a:extLst>
                </a:hlinkClick>
              </a:rPr>
              <a:t>5 Rules for Choosing the Right Words on Button Labels by UX Movement</a:t>
            </a:r>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uFill>
                  <a:noFill/>
                </a:uFill>
                <a:latin typeface="Montserrat"/>
                <a:ea typeface="Montserrat"/>
                <a:cs typeface="Montserrat"/>
                <a:sym typeface="Montserrat"/>
                <a:hlinkClick r:id="rId7">
                  <a:extLst>
                    <a:ext uri="{A12FA001-AC4F-418D-AE19-62706E023703}">
                      <ahyp:hlinkClr val="tx"/>
                    </a:ext>
                  </a:extLst>
                </a:hlinkClick>
              </a:rPr>
              <a:t>UX Writing: Handy Tips on Text Improving User Experience on Tubik Blog</a:t>
            </a:r>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uFill>
                  <a:noFill/>
                </a:uFill>
                <a:latin typeface="Montserrat"/>
                <a:ea typeface="Montserrat"/>
                <a:cs typeface="Montserrat"/>
                <a:sym typeface="Montserrat"/>
                <a:hlinkClick r:id="rId8">
                  <a:extLst>
                    <a:ext uri="{A12FA001-AC4F-418D-AE19-62706E023703}">
                      <ahyp:hlinkClr val="tx"/>
                    </a:ext>
                  </a:extLst>
                </a:hlinkClick>
              </a:rPr>
              <a:t>No Good, Very Bad UX Writing Mistakes by Real Big Words</a:t>
            </a:r>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uFill>
                  <a:noFill/>
                </a:uFill>
                <a:latin typeface="Montserrat"/>
                <a:ea typeface="Montserrat"/>
                <a:cs typeface="Montserrat"/>
                <a:sym typeface="Montserrat"/>
                <a:hlinkClick r:id="rId9">
                  <a:extLst>
                    <a:ext uri="{A12FA001-AC4F-418D-AE19-62706E023703}">
                      <ahyp:hlinkClr val="tx"/>
                    </a:ext>
                  </a:extLst>
                </a:hlinkClick>
              </a:rPr>
              <a:t>UX Writing by Grow Revenue</a:t>
            </a:r>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uFill>
                  <a:noFill/>
                </a:uFill>
                <a:latin typeface="Montserrat"/>
                <a:ea typeface="Montserrat"/>
                <a:cs typeface="Montserrat"/>
                <a:sym typeface="Montserrat"/>
                <a:hlinkClick r:id="rId10">
                  <a:extLst>
                    <a:ext uri="{A12FA001-AC4F-418D-AE19-62706E023703}">
                      <ahyp:hlinkClr val="tx"/>
                    </a:ext>
                  </a:extLst>
                </a:hlinkClick>
              </a:rPr>
              <a:t>UX writing: 40 rules for writing and designing text in products by The Mobile Spoon</a:t>
            </a:r>
            <a:endParaRPr sz="1000">
              <a:solidFill>
                <a:schemeClr val="dk1"/>
              </a:solidFill>
              <a:latin typeface="Montserrat"/>
              <a:ea typeface="Montserrat"/>
              <a:cs typeface="Montserrat"/>
              <a:sym typeface="Montserra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45" name="Google Shape;545;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546" name="Google Shape;546;p73"/>
          <p:cNvSpPr txBox="1"/>
          <p:nvPr/>
        </p:nvSpPr>
        <p:spPr>
          <a:xfrm>
            <a:off x="685800" y="1617450"/>
            <a:ext cx="41718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sampai sini dulu ya pembahasan kita mengenai </a:t>
            </a:r>
            <a:r>
              <a:rPr b="1" lang="en">
                <a:solidFill>
                  <a:srgbClr val="F2AB2F"/>
                </a:solidFill>
                <a:latin typeface="Montserrat"/>
                <a:ea typeface="Montserrat"/>
                <a:cs typeface="Montserrat"/>
                <a:sym typeface="Montserrat"/>
              </a:rPr>
              <a:t>UX writing</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Besok, kita akan berjalan-jalan mencari dan </a:t>
            </a:r>
            <a:r>
              <a:rPr b="1" lang="en">
                <a:solidFill>
                  <a:srgbClr val="F2AB2F"/>
                </a:solidFill>
                <a:latin typeface="Montserrat"/>
                <a:ea typeface="Montserrat"/>
                <a:cs typeface="Montserrat"/>
                <a:sym typeface="Montserrat"/>
              </a:rPr>
              <a:t>menggunakan referensi</a:t>
            </a:r>
            <a:r>
              <a:rPr b="1" lang="en">
                <a:solidFill>
                  <a:schemeClr val="lt1"/>
                </a:solidFill>
                <a:latin typeface="Montserrat"/>
                <a:ea typeface="Montserrat"/>
                <a:cs typeface="Montserrat"/>
                <a:sym typeface="Montserrat"/>
              </a:rPr>
              <a:t> agar tulisan yang kamu hasilkan lebih maksimal.</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See you tomorrow, bestie ~</a:t>
            </a:r>
            <a:endParaRPr b="1">
              <a:solidFill>
                <a:schemeClr val="lt1"/>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50" name="Shape 550"/>
        <p:cNvGrpSpPr/>
        <p:nvPr/>
      </p:nvGrpSpPr>
      <p:grpSpPr>
        <a:xfrm>
          <a:off x="0" y="0"/>
          <a:ext cx="0" cy="0"/>
          <a:chOff x="0" y="0"/>
          <a:chExt cx="0" cy="0"/>
        </a:xfrm>
      </p:grpSpPr>
      <p:sp>
        <p:nvSpPr>
          <p:cNvPr id="551" name="Google Shape;551;p74"/>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2" name="Google Shape;552;p74"/>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553" name="Google Shape;553;p74"/>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554" name="Google Shape;554;p74"/>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555" name="Google Shape;555;p74"/>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