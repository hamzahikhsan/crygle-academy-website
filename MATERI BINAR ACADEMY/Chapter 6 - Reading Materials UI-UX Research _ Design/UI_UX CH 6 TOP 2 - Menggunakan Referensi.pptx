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Lst>
  <p:sldSz cy="5143500" cx="9144000"/>
  <p:notesSz cx="6858000" cy="9144000"/>
  <p:embeddedFontLst>
    <p:embeddedFont>
      <p:font typeface="Raleway"/>
      <p:regular r:id="rId69"/>
      <p:bold r:id="rId70"/>
      <p:italic r:id="rId71"/>
      <p:boldItalic r:id="rId72"/>
    </p:embeddedFont>
    <p:embeddedFont>
      <p:font typeface="Montserrat"/>
      <p:regular r:id="rId73"/>
      <p:bold r:id="rId74"/>
      <p:italic r:id="rId75"/>
      <p:boldItalic r:id="rId76"/>
    </p:embeddedFont>
    <p:embeddedFont>
      <p:font typeface="Montserrat Medium"/>
      <p:regular r:id="rId77"/>
      <p:bold r:id="rId78"/>
      <p:italic r:id="rId79"/>
      <p:boldItalic r:id="rId80"/>
    </p:embeddedFont>
    <p:embeddedFont>
      <p:font typeface="Lato Black"/>
      <p:bold r:id="rId81"/>
      <p:boldItalic r:id="rId82"/>
    </p:embeddedFont>
    <p:embeddedFont>
      <p:font typeface="Josefin Sans"/>
      <p:regular r:id="rId83"/>
      <p:bold r:id="rId84"/>
      <p:italic r:id="rId85"/>
      <p:boldItalic r:id="rId8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JosefinSans-bold.fntdata"/><Relationship Id="rId83" Type="http://schemas.openxmlformats.org/officeDocument/2006/relationships/font" Target="fonts/JosefinSans-regular.fntdata"/><Relationship Id="rId42" Type="http://schemas.openxmlformats.org/officeDocument/2006/relationships/slide" Target="slides/slide37.xml"/><Relationship Id="rId86" Type="http://schemas.openxmlformats.org/officeDocument/2006/relationships/font" Target="fonts/JosefinSans-boldItalic.fntdata"/><Relationship Id="rId41" Type="http://schemas.openxmlformats.org/officeDocument/2006/relationships/slide" Target="slides/slide36.xml"/><Relationship Id="rId85" Type="http://schemas.openxmlformats.org/officeDocument/2006/relationships/font" Target="fonts/JosefinSans-italic.fntdata"/><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font" Target="fonts/MontserratMedium-boldItalic.fntdata"/><Relationship Id="rId82" Type="http://schemas.openxmlformats.org/officeDocument/2006/relationships/font" Target="fonts/LatoBlack-boldItalic.fntdata"/><Relationship Id="rId81" Type="http://schemas.openxmlformats.org/officeDocument/2006/relationships/font" Target="fonts/LatoBlack-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Montserrat-regular.fntdata"/><Relationship Id="rId72" Type="http://schemas.openxmlformats.org/officeDocument/2006/relationships/font" Target="fonts/Raleway-boldItalic.fntdata"/><Relationship Id="rId31" Type="http://schemas.openxmlformats.org/officeDocument/2006/relationships/slide" Target="slides/slide26.xml"/><Relationship Id="rId75" Type="http://schemas.openxmlformats.org/officeDocument/2006/relationships/font" Target="fonts/Montserrat-italic.fntdata"/><Relationship Id="rId30" Type="http://schemas.openxmlformats.org/officeDocument/2006/relationships/slide" Target="slides/slide25.xml"/><Relationship Id="rId74" Type="http://schemas.openxmlformats.org/officeDocument/2006/relationships/font" Target="fonts/Montserrat-bold.fntdata"/><Relationship Id="rId33" Type="http://schemas.openxmlformats.org/officeDocument/2006/relationships/slide" Target="slides/slide28.xml"/><Relationship Id="rId77" Type="http://schemas.openxmlformats.org/officeDocument/2006/relationships/font" Target="fonts/MontserratMedium-regular.fntdata"/><Relationship Id="rId32" Type="http://schemas.openxmlformats.org/officeDocument/2006/relationships/slide" Target="slides/slide27.xml"/><Relationship Id="rId76" Type="http://schemas.openxmlformats.org/officeDocument/2006/relationships/font" Target="fonts/Montserrat-boldItalic.fntdata"/><Relationship Id="rId35" Type="http://schemas.openxmlformats.org/officeDocument/2006/relationships/slide" Target="slides/slide30.xml"/><Relationship Id="rId79" Type="http://schemas.openxmlformats.org/officeDocument/2006/relationships/font" Target="fonts/MontserratMedium-italic.fntdata"/><Relationship Id="rId34" Type="http://schemas.openxmlformats.org/officeDocument/2006/relationships/slide" Target="slides/slide29.xml"/><Relationship Id="rId78" Type="http://schemas.openxmlformats.org/officeDocument/2006/relationships/font" Target="fonts/MontserratMedium-bold.fntdata"/><Relationship Id="rId71" Type="http://schemas.openxmlformats.org/officeDocument/2006/relationships/font" Target="fonts/Raleway-italic.fntdata"/><Relationship Id="rId70" Type="http://schemas.openxmlformats.org/officeDocument/2006/relationships/font" Target="fonts/Raleway-bold.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aleway-regular.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randsandpeople?utm_source=unsplash&amp;utm_medium=referral&amp;utm_content=creditCopyText" TargetMode="External"/><Relationship Id="rId3" Type="http://schemas.openxmlformats.org/officeDocument/2006/relationships/hyperlink" Target="https://unsplash.com/@brandsandpeople?utm_source=unsplash&amp;utm_medium=referral&amp;utm_content=creditCopyText" TargetMode="External"/><Relationship Id="rId4" Type="http://schemas.openxmlformats.org/officeDocument/2006/relationships/hyperlink" Target="https://unsplash.com/s/photos/moodboards?utm_source=unsplash&amp;utm_medium=referral&amp;utm_content=creditCopyText" TargetMode="External"/><Relationship Id="rId5" Type="http://schemas.openxmlformats.org/officeDocument/2006/relationships/hyperlink" Target="https://unsplash.com/s/photos/moodboards?utm_source=unsplash&amp;utm_medium=referral&amp;utm_content=creditCopyText"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randsandpeople?utm_source=unsplash&amp;utm_medium=referral&amp;utm_content=creditCopyText" TargetMode="External"/><Relationship Id="rId3" Type="http://schemas.openxmlformats.org/officeDocument/2006/relationships/hyperlink" Target="https://unsplash.com/@brandsandpeople?utm_source=unsplash&amp;utm_medium=referral&amp;utm_content=creditCopyText" TargetMode="External"/><Relationship Id="rId4" Type="http://schemas.openxmlformats.org/officeDocument/2006/relationships/hyperlink" Target="https://unsplash.com/s/photos/moodboards?utm_source=unsplash&amp;utm_medium=referral&amp;utm_content=creditCopyText" TargetMode="External"/><Relationship Id="rId5" Type="http://schemas.openxmlformats.org/officeDocument/2006/relationships/hyperlink" Target="https://unsplash.com/s/photos/moodboards?utm_source=unsplash&amp;utm_medium=referral&amp;utm_content=creditCopyText"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linkedin.com/pulse/why-inspiration-matters-moodboard-uxui-mobile-app-paulina-chmielewska" TargetMode="External"/><Relationship Id="rId3" Type="http://schemas.openxmlformats.org/officeDocument/2006/relationships/hyperlink" Target="https://medium.com/@yusufkurnia39/yo-ui-designer-mood-boards-itu-penting-3fac5c996899"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planet.org/user-persona-templates-that-will-make-your-life-easier-baee74ba5fc4"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charlesdeluvio?utm_source=unsplash&amp;utm_medium=referral&amp;utm_content=creditCopyText" TargetMode="External"/><Relationship Id="rId3" Type="http://schemas.openxmlformats.org/officeDocument/2006/relationships/hyperlink" Target="https://unsplash.com/@charlesdeluvio?utm_source=unsplash&amp;utm_medium=referral&amp;utm_content=creditCopyText" TargetMode="External"/><Relationship Id="rId4" Type="http://schemas.openxmlformats.org/officeDocument/2006/relationships/hyperlink" Target="https://unsplash.com/s/photos/interview?utm_source=unsplash&amp;utm_medium=referral&amp;utm_content=creditCopyText" TargetMode="External"/><Relationship Id="rId5" Type="http://schemas.openxmlformats.org/officeDocument/2006/relationships/hyperlink" Target="https://unsplash.com/s/photos/interview?utm_source=unsplash&amp;utm_medium=referral&amp;utm_content=creditCopyText"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charlesdeluvio?utm_source=unsplash&amp;utm_medium=referral&amp;utm_content=creditCopyText" TargetMode="External"/><Relationship Id="rId3" Type="http://schemas.openxmlformats.org/officeDocument/2006/relationships/hyperlink" Target="https://unsplash.com/@charlesdeluvio?utm_source=unsplash&amp;utm_medium=referral&amp;utm_content=creditCopyText" TargetMode="External"/><Relationship Id="rId4" Type="http://schemas.openxmlformats.org/officeDocument/2006/relationships/hyperlink" Target="https://unsplash.com/s/photos/interview?utm_source=unsplash&amp;utm_medium=referral&amp;utm_content=creditCopyText" TargetMode="External"/><Relationship Id="rId5" Type="http://schemas.openxmlformats.org/officeDocument/2006/relationships/hyperlink" Target="https://unsplash.com/s/photos/interview?utm_source=unsplash&amp;utm_medium=referral&amp;utm_content=creditCopyText"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charlesdeluvio?utm_source=unsplash&amp;utm_medium=referral&amp;utm_content=creditCopyText" TargetMode="External"/><Relationship Id="rId3" Type="http://schemas.openxmlformats.org/officeDocument/2006/relationships/hyperlink" Target="https://unsplash.com/@charlesdeluvio?utm_source=unsplash&amp;utm_medium=referral&amp;utm_content=creditCopyText" TargetMode="External"/><Relationship Id="rId4" Type="http://schemas.openxmlformats.org/officeDocument/2006/relationships/hyperlink" Target="https://unsplash.com/s/photos/interview?utm_source=unsplash&amp;utm_medium=referral&amp;utm_content=creditCopyText" TargetMode="External"/><Relationship Id="rId5" Type="http://schemas.openxmlformats.org/officeDocument/2006/relationships/hyperlink" Target="https://unsplash.com/s/photos/interview?utm_source=unsplash&amp;utm_medium=referral&amp;utm_content=creditCopyText"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igmund?utm_source=unsplash&amp;utm_medium=referral&amp;utm_content=creditCopyText" TargetMode="External"/><Relationship Id="rId3" Type="http://schemas.openxmlformats.org/officeDocument/2006/relationships/hyperlink" Target="https://unsplash.com/@sigmund?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igmund?utm_source=unsplash&amp;utm_medium=referral&amp;utm_content=creditCopyText" TargetMode="External"/><Relationship Id="rId3" Type="http://schemas.openxmlformats.org/officeDocument/2006/relationships/hyperlink" Target="https://unsplash.com/@sigmund?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design.cc/a-mood-board-strategy-for-cohesive-visual-design-5620dec3fed7"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eadwayio?utm_source=unsplash&amp;utm_medium=referral&amp;utm_content=creditCopyText" TargetMode="External"/><Relationship Id="rId3" Type="http://schemas.openxmlformats.org/officeDocument/2006/relationships/hyperlink" Target="https://unsplash.com/@headwayio?utm_source=unsplash&amp;utm_medium=referral&amp;utm_content=creditCopyText" TargetMode="External"/><Relationship Id="rId4" Type="http://schemas.openxmlformats.org/officeDocument/2006/relationships/hyperlink" Target="https://unsplash.com/s/photos/design-platform?utm_source=unsplash&amp;utm_medium=referral&amp;utm_content=creditCopyText" TargetMode="External"/><Relationship Id="rId5" Type="http://schemas.openxmlformats.org/officeDocument/2006/relationships/hyperlink" Target="https://unsplash.com/s/photos/design-platform?utm_source=unsplash&amp;utm_medium=referral&amp;utm_content=creditCopyText"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uudkaanaa?utm_source=unsplash&amp;utm_medium=referral&amp;utm_content=creditCopyText" TargetMode="External"/><Relationship Id="rId3" Type="http://schemas.openxmlformats.org/officeDocument/2006/relationships/hyperlink" Target="https://unsplash.com/@buudkaanaa?utm_source=unsplash&amp;utm_medium=referral&amp;utm_content=creditCopyText" TargetMode="External"/><Relationship Id="rId4" Type="http://schemas.openxmlformats.org/officeDocument/2006/relationships/hyperlink" Target="https://unsplash.com/s/photos/user-interface-design?utm_source=unsplash&amp;utm_medium=referral&amp;utm_content=creditCopyText" TargetMode="External"/><Relationship Id="rId5" Type="http://schemas.openxmlformats.org/officeDocument/2006/relationships/hyperlink" Target="https://unsplash.com/s/photos/user-interface-design?utm_source=unsplash&amp;utm_medium=referral&amp;utm_content=creditCopyText"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alazsketyi?utm_source=unsplash&amp;utm_medium=referral&amp;utm_content=creditCopyText" TargetMode="External"/><Relationship Id="rId3" Type="http://schemas.openxmlformats.org/officeDocument/2006/relationships/hyperlink" Target="https://unsplash.com/@balazsketyi?utm_source=unsplash&amp;utm_medium=referral&amp;utm_content=creditCopyText" TargetMode="External"/><Relationship Id="rId4" Type="http://schemas.openxmlformats.org/officeDocument/2006/relationships/hyperlink" Target="https://unsplash.com/s/photos/design-system?utm_source=unsplash&amp;utm_medium=referral&amp;utm_content=creditCopyText" TargetMode="External"/><Relationship Id="rId5" Type="http://schemas.openxmlformats.org/officeDocument/2006/relationships/hyperlink" Target="https://unsplash.com/s/photos/design-system?utm_source=unsplash&amp;utm_medium=referral&amp;utm_content=creditCopyText"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alazsketyi?utm_source=unsplash&amp;utm_medium=referral&amp;utm_content=creditCopyText" TargetMode="External"/><Relationship Id="rId3" Type="http://schemas.openxmlformats.org/officeDocument/2006/relationships/hyperlink" Target="https://unsplash.com/@balazsketyi?utm_source=unsplash&amp;utm_medium=referral&amp;utm_content=creditCopyText" TargetMode="External"/><Relationship Id="rId4" Type="http://schemas.openxmlformats.org/officeDocument/2006/relationships/hyperlink" Target="https://unsplash.com/s/photos/design-system?utm_source=unsplash&amp;utm_medium=referral&amp;utm_content=creditCopyText" TargetMode="External"/><Relationship Id="rId5" Type="http://schemas.openxmlformats.org/officeDocument/2006/relationships/hyperlink" Target="https://unsplash.com/s/photos/design-system?utm_source=unsplash&amp;utm_medium=referral&amp;utm_content=creditCopyText"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danielkorpai?utm_source=unsplash&amp;utm_medium=referral&amp;utm_content=creditCopyText" TargetMode="External"/><Relationship Id="rId3" Type="http://schemas.openxmlformats.org/officeDocument/2006/relationships/hyperlink" Target="https://unsplash.com/@danielkorpai?utm_source=unsplash&amp;utm_medium=referral&amp;utm_content=creditCopyText" TargetMode="External"/><Relationship Id="rId4" Type="http://schemas.openxmlformats.org/officeDocument/2006/relationships/hyperlink" Target="https://unsplash.com/s/photos/dribbble?utm_source=unsplash&amp;utm_medium=referral&amp;utm_content=creditCopyText" TargetMode="External"/><Relationship Id="rId5" Type="http://schemas.openxmlformats.org/officeDocument/2006/relationships/hyperlink" Target="https://unsplash.com/s/photos/dribbble?utm_source=unsplash&amp;utm_medium=referral&amp;utm_content=creditCopyText"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danielkorpai?utm_source=unsplash&amp;utm_medium=referral&amp;utm_content=creditCopyText" TargetMode="External"/><Relationship Id="rId3" Type="http://schemas.openxmlformats.org/officeDocument/2006/relationships/hyperlink" Target="https://unsplash.com/@danielkorpai?utm_source=unsplash&amp;utm_medium=referral&amp;utm_content=creditCopyText" TargetMode="External"/><Relationship Id="rId4" Type="http://schemas.openxmlformats.org/officeDocument/2006/relationships/hyperlink" Target="https://unsplash.com/s/photos/dribbble?utm_source=unsplash&amp;utm_medium=referral&amp;utm_content=creditCopyText" TargetMode="External"/><Relationship Id="rId5" Type="http://schemas.openxmlformats.org/officeDocument/2006/relationships/hyperlink" Target="https://unsplash.com/s/photos/dribbble?utm_source=unsplash&amp;utm_medium=referral&amp;utm_content=creditCopyText" TargetMode="Externa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v2osk?utm_source=unsplash&amp;utm_medium=referral&amp;utm_content=creditCopyText" TargetMode="External"/><Relationship Id="rId3" Type="http://schemas.openxmlformats.org/officeDocument/2006/relationships/hyperlink" Target="https://unsplash.com/@v2osk?utm_source=unsplash&amp;utm_medium=referral&amp;utm_content=creditCopyText" TargetMode="External"/><Relationship Id="rId4" Type="http://schemas.openxmlformats.org/officeDocument/2006/relationships/hyperlink" Target="https://unsplash.com/s/photos/nature?utm_source=unsplash&amp;utm_medium=referral&amp;utm_content=creditCopyText" TargetMode="External"/><Relationship Id="rId5" Type="http://schemas.openxmlformats.org/officeDocument/2006/relationships/hyperlink" Target="https://unsplash.com/s/photos/nature?utm_source=unsplash&amp;utm_medium=referral&amp;utm_content=creditCopyText" TargetMode="Externa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v2osk?utm_source=unsplash&amp;utm_medium=referral&amp;utm_content=creditCopyText" TargetMode="External"/><Relationship Id="rId3" Type="http://schemas.openxmlformats.org/officeDocument/2006/relationships/hyperlink" Target="https://unsplash.com/@v2osk?utm_source=unsplash&amp;utm_medium=referral&amp;utm_content=creditCopyText" TargetMode="External"/><Relationship Id="rId4" Type="http://schemas.openxmlformats.org/officeDocument/2006/relationships/hyperlink" Target="https://unsplash.com/s/photos/nature?utm_source=unsplash&amp;utm_medium=referral&amp;utm_content=creditCopyText" TargetMode="External"/><Relationship Id="rId5" Type="http://schemas.openxmlformats.org/officeDocument/2006/relationships/hyperlink" Target="https://unsplash.com/s/photos/nature?utm_source=unsplash&amp;utm_medium=referral&amp;utm_content=creditCopyText" TargetMode="Externa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v2osk?utm_source=unsplash&amp;utm_medium=referral&amp;utm_content=creditCopyText" TargetMode="External"/><Relationship Id="rId3" Type="http://schemas.openxmlformats.org/officeDocument/2006/relationships/hyperlink" Target="https://unsplash.com/@v2osk?utm_source=unsplash&amp;utm_medium=referral&amp;utm_content=creditCopyText" TargetMode="External"/><Relationship Id="rId4" Type="http://schemas.openxmlformats.org/officeDocument/2006/relationships/hyperlink" Target="https://unsplash.com/s/photos/nature?utm_source=unsplash&amp;utm_medium=referral&amp;utm_content=creditCopyText" TargetMode="External"/><Relationship Id="rId5" Type="http://schemas.openxmlformats.org/officeDocument/2006/relationships/hyperlink" Target="https://unsplash.com/s/photos/nature?utm_source=unsplash&amp;utm_medium=referral&amp;utm_content=creditCopyText" TargetMode="Externa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v2osk?utm_source=unsplash&amp;utm_medium=referral&amp;utm_content=creditCopyText" TargetMode="External"/><Relationship Id="rId3" Type="http://schemas.openxmlformats.org/officeDocument/2006/relationships/hyperlink" Target="https://unsplash.com/@v2osk?utm_source=unsplash&amp;utm_medium=referral&amp;utm_content=creditCopyText" TargetMode="External"/><Relationship Id="rId4" Type="http://schemas.openxmlformats.org/officeDocument/2006/relationships/hyperlink" Target="https://unsplash.com/s/photos/nature?utm_source=unsplash&amp;utm_medium=referral&amp;utm_content=creditCopyText" TargetMode="External"/><Relationship Id="rId5" Type="http://schemas.openxmlformats.org/officeDocument/2006/relationships/hyperlink" Target="https://unsplash.com/s/photos/nature?utm_source=unsplash&amp;utm_medium=referral&amp;utm_content=creditCopyText" TargetMode="Externa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18ca8fe0f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18ca8fe0f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260381a1df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g1260381a1d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000"/>
              <a:buFont typeface="Calibri"/>
              <a:buNone/>
            </a:pPr>
            <a:r>
              <a:t/>
            </a:r>
            <a:endParaRPr sz="1000">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120b080bd6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120b080bd6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120b080bd6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120b080bd6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120b080bd6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120b080bd6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118ca8fe0fc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118ca8fe0f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18ca8fe0fc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118ca8fe0fc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Brands&amp;People</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122cf1154c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122cf1154c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Brands&amp;People</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18ca8fe0fc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18ca8fe0fc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https://www.linkedin.com/pulse/why-inspiration-matters-moodboard-uxui-mobile-app-paulina-chmielewska</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118ca8fe0fc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118ca8fe0fc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https://www.invisionapp.com/inside-design/mood-board-examples/</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18ca8fe0fc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18ca8fe0fc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https://uxplanet.org/design-mood-7-motives-to-create-mood-boards-b81ae36e399f</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18ca8fe0fc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118ca8fe0fc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https://uxplanet.org/design-mood-7-motives-to-create-mood-boards-b81ae36e399f</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198e1ebcc5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1198e1ebcc5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https://itcraftapps.com/blog/moodboard-mobile-app-design-inspiration/</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1198e1ebcc5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1198e1ebcc5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https://www.justinmind.com/blog/mood-board-examples-design-website-app/</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118ca8fe0fc_0_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118ca8fe0fc_0_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198e1ebcc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198e1ebcc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https://www.linkedin.com/pulse/why-inspiration-matters-moodboard-uxui-mobile-app-paulina-chmielewska</a:t>
            </a:r>
            <a:br>
              <a:rPr lang="en">
                <a:solidFill>
                  <a:schemeClr val="dk1"/>
                </a:solidFill>
              </a:rPr>
            </a:br>
            <a:r>
              <a:rPr lang="en" u="sng">
                <a:solidFill>
                  <a:schemeClr val="hlink"/>
                </a:solidFill>
                <a:hlinkClick r:id="rId3"/>
              </a:rPr>
              <a:t>https://medium.com/@yusufkurnia39/yo-ui-designer-mood-boards-itu-penting-3fac5c996899</a:t>
            </a:r>
            <a:br>
              <a:rPr lang="en">
                <a:solidFill>
                  <a:schemeClr val="dk1"/>
                </a:solidFill>
              </a:rPr>
            </a:b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120bd1acd0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120bd1acd0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https://www.linkedin.com/pulse/why-inspiration-matters-moodboard-uxui-mobile-app-paulina-chmielewska</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1216cd49f80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1216cd49f80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https://www.linkedin.com/pulse/why-inspiration-matters-moodboard-uxui-mobile-app-paulina-chmielewska</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1216cd49f8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1216cd49f8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https://www.linkedin.com/pulse/why-inspiration-matters-moodboard-uxui-mobile-app-paulina-chmielewska</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1216cd49f8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1216cd49f8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https://www.linkedin.com/pulse/why-inspiration-matters-moodboard-uxui-mobile-app-paulina-chmielewska</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1198e1ebcc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1198e1ebcc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https://uxplanet.org/user-persona-templates-that-will-make-your-life-easier-baee74ba5fc4</a:t>
            </a:r>
            <a:r>
              <a:rPr lang="en">
                <a:solidFill>
                  <a:schemeClr val="dk1"/>
                </a:solidFill>
              </a:rPr>
              <a:t> </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1198e1ebcc5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1198e1ebcc5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charlesdeluvio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23123205c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123123205c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charlesdeluvio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1198e1ebcc5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1198e1ebcc5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charlesdeluvio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1198e1ebcc5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1198e1ebcc5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https://www.linkedin.com/pulse/why-inspiration-matters-moodboard-uxui-mobile-app-paulina-chmielewska</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118ca8fe0f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118ca8fe0f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Sigmund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1198e1ebcc5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1198e1ebcc5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Sigmund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1198e1ebcc5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1198e1ebcc5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https://uxdesign.cc/a-mood-board-strategy-for-cohesive-visual-design-5620dec3fed7</a:t>
            </a:r>
            <a:r>
              <a:rPr lang="en">
                <a:solidFill>
                  <a:schemeClr val="dk1"/>
                </a:solidFill>
              </a:rPr>
              <a:t> </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118ca8fe0fc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118ca8fe0fc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118ca8fe0fc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118ca8fe0fc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Headway</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118ca8fe0fc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118ca8fe0fc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118ca8fe0fc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118ca8fe0fc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118ca8fe0fc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118ca8fe0fc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118ca8fe0fc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118ca8fe0fc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118ca8fe0fc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118ca8fe0fc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1198e1ebcc5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1198e1ebcc5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1198e1ebcc5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1198e1ebcc5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118ca8fe0fc_0_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118ca8fe0fc_0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1198e1ebcc5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1198e1ebcc5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Budka Damdinsuren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1198e1ebcc5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1198e1ebcc5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Balázs Kétyi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123cda67f4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123cda67f4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Balázs Kétyi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1198e1ebcc5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1198e1ebcc5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Daniel Korpai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123123205c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123123205c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Daniel Korpai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1198e1ebcc5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1198e1ebcc5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v2osk</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123123205ce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123123205ce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v2osk</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1198e1ebcc5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1198e1ebcc5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v2osk</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1198e1ebcc5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1198e1ebcc5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v2osk</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118ca8fe0f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118ca8fe0f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1198e1ebcc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1198e1ebcc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1198e1ebcc5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1198e1ebcc5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1198e1ebcc5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1198e1ebcc5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1198e1ebcc5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1198e1ebcc5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1198e1ebcc5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1198e1ebcc5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1198e1ebcc5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1198e1ebcc5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1198e1ebcc5_1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1198e1ebcc5_1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1198e1ebcc5_1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1198e1ebcc5_1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1198e1ebcc5_1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1198e1ebcc5_1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1198e1ebcc5_1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1198e1ebcc5_1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1198e1ebcc5_1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1198e1ebcc5_1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1198e1ebcc5_1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1198e1ebcc5_1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118ca8fe0fc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118ca8fe0fc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122f191f613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122f191f613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118ca8fe0fc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118ca8fe0fc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82" name="Shape 82"/>
        <p:cNvGrpSpPr/>
        <p:nvPr/>
      </p:nvGrpSpPr>
      <p:grpSpPr>
        <a:xfrm>
          <a:off x="0" y="0"/>
          <a:ext cx="0" cy="0"/>
          <a:chOff x="0" y="0"/>
          <a:chExt cx="0" cy="0"/>
        </a:xfrm>
      </p:grpSpPr>
      <p:sp>
        <p:nvSpPr>
          <p:cNvPr id="83" name="Google Shape;83;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4" name="Google Shape;84;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86" name="Shape 86"/>
        <p:cNvGrpSpPr/>
        <p:nvPr/>
      </p:nvGrpSpPr>
      <p:grpSpPr>
        <a:xfrm>
          <a:off x="0" y="0"/>
          <a:ext cx="0" cy="0"/>
          <a:chOff x="0" y="0"/>
          <a:chExt cx="0" cy="0"/>
        </a:xfrm>
      </p:grpSpPr>
      <p:sp>
        <p:nvSpPr>
          <p:cNvPr id="87" name="Google Shape;87;p1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8" name="Google Shape;88;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9" name="Google Shape;8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90" name="Shape 90"/>
        <p:cNvGrpSpPr/>
        <p:nvPr/>
      </p:nvGrpSpPr>
      <p:grpSpPr>
        <a:xfrm>
          <a:off x="0" y="0"/>
          <a:ext cx="0" cy="0"/>
          <a:chOff x="0" y="0"/>
          <a:chExt cx="0" cy="0"/>
        </a:xfrm>
      </p:grpSpPr>
      <p:sp>
        <p:nvSpPr>
          <p:cNvPr id="91" name="Google Shape;91;p1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2" name="Google Shape;92;p1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3" name="Google Shape;9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1.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www.invisionapp.com/inside-design/mood-board-examples/" TargetMode="External"/><Relationship Id="rId4" Type="http://schemas.openxmlformats.org/officeDocument/2006/relationships/image" Target="../media/image5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uxplanet.org/design-mood-7-motives-to-create-mood-boards-b81ae36e399f" TargetMode="External"/><Relationship Id="rId4" Type="http://schemas.openxmlformats.org/officeDocument/2006/relationships/image" Target="../media/image2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uxplanet.org/design-mood-7-motives-to-create-mood-boards-b81ae36e399f" TargetMode="External"/><Relationship Id="rId4" Type="http://schemas.openxmlformats.org/officeDocument/2006/relationships/image" Target="../media/image2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uxplanet.org/design-mood-7-motives-to-create-mood-boards-b81ae36e399f" TargetMode="External"/><Relationship Id="rId4" Type="http://schemas.openxmlformats.org/officeDocument/2006/relationships/image" Target="../media/image4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uxplanet.org/design-mood-7-motives-to-create-mood-boards-b81ae36e399f" TargetMode="Externa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www.linkedin.com/pulse/why-inspiration-matters-moodboard-uxui-mobile-app-paulina-chmielewska" TargetMode="External"/><Relationship Id="rId4" Type="http://schemas.openxmlformats.org/officeDocument/2006/relationships/image" Target="../media/image14.jpg"/><Relationship Id="rId5"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www.linkedin.com/pulse/why-inspiration-matters-moodboard-uxui-mobile-app-paulina-chmielewska" TargetMode="External"/><Relationship Id="rId4" Type="http://schemas.openxmlformats.org/officeDocument/2006/relationships/image" Target="../media/image14.jpg"/><Relationship Id="rId5"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youtu.be/CBCAAvKtpCI" TargetMode="External"/><Relationship Id="rId4" Type="http://schemas.openxmlformats.org/officeDocument/2006/relationships/hyperlink" Target="http://www.youtube.com/watch?v=CBCAAvKtpCI" TargetMode="External"/><Relationship Id="rId5" Type="http://schemas.openxmlformats.org/officeDocument/2006/relationships/image" Target="../media/image25.jpg"/><Relationship Id="rId6"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behance.net" TargetMode="External"/><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hyperlink" Target="http://dribbble.com" TargetMode="External"/><Relationship Id="rId4" Type="http://schemas.openxmlformats.org/officeDocument/2006/relationships/image" Target="../media/image2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pinterest.com" TargetMode="External"/><Relationship Id="rId4" Type="http://schemas.openxmlformats.org/officeDocument/2006/relationships/image" Target="../media/image3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awwwards.com" TargetMode="External"/><Relationship Id="rId4" Type="http://schemas.openxmlformats.org/officeDocument/2006/relationships/image" Target="../media/image3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s://abduzeedo.com/" TargetMode="External"/><Relationship Id="rId4" Type="http://schemas.openxmlformats.org/officeDocument/2006/relationships/image" Target="../media/image3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uxmag.com" TargetMode="External"/><Relationship Id="rId4" Type="http://schemas.openxmlformats.org/officeDocument/2006/relationships/image" Target="../media/image3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hyperlink" Target="https://screenlane.com/?ref=uimovement" TargetMode="External"/><Relationship Id="rId4" Type="http://schemas.openxmlformats.org/officeDocument/2006/relationships/image" Target="../media/image3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3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4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4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4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4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4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5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 Id="rId3" Type="http://schemas.openxmlformats.org/officeDocument/2006/relationships/image" Target="../media/image4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2.png"/><Relationship Id="rId4" Type="http://schemas.openxmlformats.org/officeDocument/2006/relationships/hyperlink" Target="https://blinkux.com/ideas/9-tips-for-better-moodboards" TargetMode="External"/><Relationship Id="rId5" Type="http://schemas.openxmlformats.org/officeDocument/2006/relationships/hyperlink" Target="https://uxdesign.cc/a-mood-board-strategy-for-cohesive-visual-design-5620dec3fed7#:~:text=In%20UX%20Design%20and%20product,user%20needs%20and%20problem%2Dsolving." TargetMode="External"/><Relationship Id="rId6" Type="http://schemas.openxmlformats.org/officeDocument/2006/relationships/hyperlink" Target="https://uxplanet.org/how-to-use-references-in-ui-design-18c1304993b6" TargetMode="External"/><Relationship Id="rId7" Type="http://schemas.openxmlformats.org/officeDocument/2006/relationships/hyperlink" Target="https://www.linkedin.com/pulse/why-inspiration-matters-moodboard-uxui-mobile-app-paulina-chmielewska" TargetMode="External"/><Relationship Id="rId8" Type="http://schemas.openxmlformats.org/officeDocument/2006/relationships/hyperlink" Target="https://www.invisionapp.com/inside-design/mood-board-examples/"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 Id="rId3" Type="http://schemas.openxmlformats.org/officeDocument/2006/relationships/image" Target="../media/image4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 Id="rId3" Type="http://schemas.openxmlformats.org/officeDocument/2006/relationships/image" Target="../media/image47.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97" name="Shape 97"/>
        <p:cNvGrpSpPr/>
        <p:nvPr/>
      </p:nvGrpSpPr>
      <p:grpSpPr>
        <a:xfrm>
          <a:off x="0" y="0"/>
          <a:ext cx="0" cy="0"/>
          <a:chOff x="0" y="0"/>
          <a:chExt cx="0" cy="0"/>
        </a:xfrm>
      </p:grpSpPr>
      <p:sp>
        <p:nvSpPr>
          <p:cNvPr id="98" name="Google Shape;98;p20"/>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Montserrat"/>
                <a:ea typeface="Montserrat"/>
                <a:cs typeface="Montserrat"/>
                <a:sym typeface="Montserrat"/>
              </a:rPr>
              <a:t>Menggunakan Referensi</a:t>
            </a:r>
            <a:endParaRPr b="1" sz="2400">
              <a:solidFill>
                <a:srgbClr val="FFFFFF"/>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en">
                <a:solidFill>
                  <a:schemeClr val="lt1"/>
                </a:solidFill>
                <a:latin typeface="Montserrat"/>
                <a:ea typeface="Montserrat"/>
                <a:cs typeface="Montserrat"/>
                <a:sym typeface="Montserrat"/>
              </a:rPr>
              <a:t>Gold </a:t>
            </a:r>
            <a:r>
              <a:rPr lang="en">
                <a:solidFill>
                  <a:schemeClr val="lt1"/>
                </a:solidFill>
                <a:latin typeface="Montserrat"/>
                <a:ea typeface="Montserrat"/>
                <a:cs typeface="Montserrat"/>
                <a:sym typeface="Montserrat"/>
              </a:rPr>
              <a:t>- </a:t>
            </a:r>
            <a:r>
              <a:rPr lang="en">
                <a:solidFill>
                  <a:schemeClr val="lt1"/>
                </a:solidFill>
                <a:latin typeface="Montserrat"/>
                <a:ea typeface="Montserrat"/>
                <a:cs typeface="Montserrat"/>
                <a:sym typeface="Montserrat"/>
              </a:rPr>
              <a:t>Chapter 6 - Topic 2</a:t>
            </a:r>
            <a:endParaRPr>
              <a:solidFill>
                <a:srgbClr val="FFFFFF"/>
              </a:solidFill>
              <a:latin typeface="Montserrat"/>
              <a:ea typeface="Montserrat"/>
              <a:cs typeface="Montserrat"/>
              <a:sym typeface="Montserrat"/>
            </a:endParaRPr>
          </a:p>
        </p:txBody>
      </p:sp>
      <p:cxnSp>
        <p:nvCxnSpPr>
          <p:cNvPr id="99" name="Google Shape;99;p20"/>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00" name="Google Shape;100;p20"/>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101" name="Google Shape;101;p20"/>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nvSpPr>
        <p:spPr>
          <a:xfrm rot="-5400000">
            <a:off x="-179875" y="4180975"/>
            <a:ext cx="860700" cy="3096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0" i="0" lang="en" sz="600" u="none" cap="none" strike="noStrike">
                <a:solidFill>
                  <a:srgbClr val="999999"/>
                </a:solidFill>
                <a:latin typeface="Josefin Sans"/>
                <a:ea typeface="Josefin Sans"/>
                <a:cs typeface="Josefin Sans"/>
                <a:sym typeface="Josefin Sans"/>
              </a:rPr>
              <a:t>BINAR ACADEMY</a:t>
            </a:r>
            <a:endParaRPr b="0" i="0" sz="600" u="none" cap="none" strike="noStrike">
              <a:solidFill>
                <a:srgbClr val="999999"/>
              </a:solidFill>
              <a:latin typeface="Josefin Sans"/>
              <a:ea typeface="Josefin Sans"/>
              <a:cs typeface="Josefin Sans"/>
              <a:sym typeface="Josefin Sans"/>
            </a:endParaRPr>
          </a:p>
        </p:txBody>
      </p:sp>
      <p:pic>
        <p:nvPicPr>
          <p:cNvPr descr="image1.png" id="107" name="Google Shape;107;p21"/>
          <p:cNvPicPr preferRelativeResize="0"/>
          <p:nvPr/>
        </p:nvPicPr>
        <p:blipFill rotWithShape="1">
          <a:blip r:embed="rId3">
            <a:alphaModFix/>
          </a:blip>
          <a:srcRect b="37445" l="29121" r="29121" t="0"/>
          <a:stretch/>
        </p:blipFill>
        <p:spPr>
          <a:xfrm>
            <a:off x="351553" y="270380"/>
            <a:ext cx="366585" cy="611139"/>
          </a:xfrm>
          <a:prstGeom prst="rect">
            <a:avLst/>
          </a:prstGeom>
          <a:noFill/>
          <a:ln>
            <a:noFill/>
          </a:ln>
        </p:spPr>
      </p:pic>
      <p:sp>
        <p:nvSpPr>
          <p:cNvPr id="108" name="Google Shape;108;p21"/>
          <p:cNvSpPr txBox="1"/>
          <p:nvPr/>
        </p:nvSpPr>
        <p:spPr>
          <a:xfrm>
            <a:off x="730200" y="336950"/>
            <a:ext cx="6865500" cy="10992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None/>
            </a:pPr>
            <a:r>
              <a:rPr b="1" lang="en" sz="2300">
                <a:solidFill>
                  <a:srgbClr val="743573"/>
                </a:solidFill>
                <a:latin typeface="Montserrat"/>
                <a:ea typeface="Montserrat"/>
                <a:cs typeface="Montserrat"/>
                <a:sym typeface="Montserrat"/>
              </a:rPr>
              <a:t>Training For Facilitator Rules</a:t>
            </a:r>
            <a:endParaRPr b="1" i="0" sz="2300" u="none" cap="none" strike="noStrike">
              <a:solidFill>
                <a:srgbClr val="743573"/>
              </a:solidFill>
              <a:highlight>
                <a:srgbClr val="FFD14A"/>
              </a:highlight>
              <a:latin typeface="Montserrat"/>
              <a:ea typeface="Montserrat"/>
              <a:cs typeface="Montserrat"/>
              <a:sym typeface="Montserrat"/>
            </a:endParaRPr>
          </a:p>
        </p:txBody>
      </p:sp>
      <p:pic>
        <p:nvPicPr>
          <p:cNvPr descr="02.png" id="109" name="Google Shape;109;p21"/>
          <p:cNvPicPr preferRelativeResize="0"/>
          <p:nvPr/>
        </p:nvPicPr>
        <p:blipFill rotWithShape="1">
          <a:blip r:embed="rId4">
            <a:alphaModFix/>
          </a:blip>
          <a:srcRect b="0" l="0" r="0" t="0"/>
          <a:stretch/>
        </p:blipFill>
        <p:spPr>
          <a:xfrm>
            <a:off x="8369187" y="4702327"/>
            <a:ext cx="762425" cy="411394"/>
          </a:xfrm>
          <a:prstGeom prst="rect">
            <a:avLst/>
          </a:prstGeom>
          <a:noFill/>
          <a:ln>
            <a:noFill/>
          </a:ln>
        </p:spPr>
      </p:pic>
      <p:sp>
        <p:nvSpPr>
          <p:cNvPr id="110" name="Google Shape;110;p21"/>
          <p:cNvSpPr txBox="1"/>
          <p:nvPr/>
        </p:nvSpPr>
        <p:spPr>
          <a:xfrm rot="-5400000">
            <a:off x="-179875" y="4180975"/>
            <a:ext cx="860700" cy="3096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0" i="0" lang="en" sz="600" u="none" cap="none" strike="noStrike">
                <a:solidFill>
                  <a:srgbClr val="999999"/>
                </a:solidFill>
                <a:latin typeface="Josefin Sans"/>
                <a:ea typeface="Josefin Sans"/>
                <a:cs typeface="Josefin Sans"/>
                <a:sym typeface="Josefin Sans"/>
              </a:rPr>
              <a:t>BINAR ACADEMY</a:t>
            </a:r>
            <a:endParaRPr b="0" i="0" sz="600" u="none" cap="none" strike="noStrike">
              <a:solidFill>
                <a:srgbClr val="999999"/>
              </a:solidFill>
              <a:latin typeface="Josefin Sans"/>
              <a:ea typeface="Josefin Sans"/>
              <a:cs typeface="Josefin Sans"/>
              <a:sym typeface="Josefin Sans"/>
            </a:endParaRPr>
          </a:p>
        </p:txBody>
      </p:sp>
      <p:sp>
        <p:nvSpPr>
          <p:cNvPr id="111" name="Google Shape;111;p21"/>
          <p:cNvSpPr txBox="1"/>
          <p:nvPr/>
        </p:nvSpPr>
        <p:spPr>
          <a:xfrm>
            <a:off x="3573638" y="2392850"/>
            <a:ext cx="1021200" cy="3480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2" name="Google Shape;112;p21"/>
          <p:cNvSpPr txBox="1"/>
          <p:nvPr/>
        </p:nvSpPr>
        <p:spPr>
          <a:xfrm>
            <a:off x="718144" y="1011656"/>
            <a:ext cx="8252400" cy="3294900"/>
          </a:xfrm>
          <a:prstGeom prst="rect">
            <a:avLst/>
          </a:prstGeom>
          <a:noFill/>
          <a:ln>
            <a:noFill/>
          </a:ln>
        </p:spPr>
        <p:txBody>
          <a:bodyPr anchorCtr="0" anchor="t" bIns="91425" lIns="91425" spcFirstLastPara="1" rIns="91425" wrap="square" tIns="91425">
            <a:noAutofit/>
          </a:bodyPr>
          <a:lstStyle/>
          <a:p>
            <a:pPr indent="-282575" lvl="0" marL="342900" marR="0" rtl="0" algn="l">
              <a:lnSpc>
                <a:spcPct val="150000"/>
              </a:lnSpc>
              <a:spcBef>
                <a:spcPts val="0"/>
              </a:spcBef>
              <a:spcAft>
                <a:spcPts val="0"/>
              </a:spcAft>
              <a:buClr>
                <a:srgbClr val="761E86"/>
              </a:buClr>
              <a:buSzPts val="1900"/>
              <a:buFont typeface="Montserrat"/>
              <a:buAutoNum type="arabicPeriod"/>
            </a:pPr>
            <a:r>
              <a:rPr lang="en" sz="1900">
                <a:solidFill>
                  <a:srgbClr val="761E86"/>
                </a:solidFill>
                <a:highlight>
                  <a:schemeClr val="accent1"/>
                </a:highlight>
                <a:latin typeface="Montserrat"/>
                <a:ea typeface="Montserrat"/>
                <a:cs typeface="Montserrat"/>
                <a:sym typeface="Montserrat"/>
              </a:rPr>
              <a:t>Always </a:t>
            </a:r>
            <a:r>
              <a:rPr b="1" lang="en" sz="1900">
                <a:solidFill>
                  <a:srgbClr val="761E86"/>
                </a:solidFill>
                <a:highlight>
                  <a:schemeClr val="accent1"/>
                </a:highlight>
                <a:latin typeface="Montserrat"/>
                <a:ea typeface="Montserrat"/>
                <a:cs typeface="Montserrat"/>
                <a:sym typeface="Montserrat"/>
              </a:rPr>
              <a:t>turn on</a:t>
            </a:r>
            <a:r>
              <a:rPr lang="en" sz="1900">
                <a:solidFill>
                  <a:srgbClr val="761E86"/>
                </a:solidFill>
                <a:latin typeface="Montserrat"/>
                <a:ea typeface="Montserrat"/>
                <a:cs typeface="Montserrat"/>
                <a:sym typeface="Montserrat"/>
              </a:rPr>
              <a:t> the webcam</a:t>
            </a:r>
            <a:endParaRPr sz="1900">
              <a:solidFill>
                <a:srgbClr val="761E86"/>
              </a:solidFill>
              <a:latin typeface="Montserrat"/>
              <a:ea typeface="Montserrat"/>
              <a:cs typeface="Montserrat"/>
              <a:sym typeface="Montserrat"/>
            </a:endParaRPr>
          </a:p>
          <a:p>
            <a:pPr indent="-282575" lvl="0" marL="342900" rtl="0" algn="l">
              <a:lnSpc>
                <a:spcPct val="150000"/>
              </a:lnSpc>
              <a:spcBef>
                <a:spcPts val="0"/>
              </a:spcBef>
              <a:spcAft>
                <a:spcPts val="0"/>
              </a:spcAft>
              <a:buClr>
                <a:srgbClr val="761E86"/>
              </a:buClr>
              <a:buSzPts val="1900"/>
              <a:buFont typeface="Montserrat"/>
              <a:buAutoNum type="arabicPeriod"/>
            </a:pPr>
            <a:r>
              <a:rPr b="1" lang="en" sz="1900">
                <a:solidFill>
                  <a:srgbClr val="761E86"/>
                </a:solidFill>
                <a:highlight>
                  <a:schemeClr val="accent1"/>
                </a:highlight>
                <a:latin typeface="Montserrat"/>
                <a:ea typeface="Montserrat"/>
                <a:cs typeface="Montserrat"/>
                <a:sym typeface="Montserrat"/>
              </a:rPr>
              <a:t>Enthusiastic</a:t>
            </a:r>
            <a:r>
              <a:rPr lang="en" sz="1900">
                <a:solidFill>
                  <a:srgbClr val="761E86"/>
                </a:solidFill>
                <a:highlight>
                  <a:schemeClr val="accent1"/>
                </a:highlight>
                <a:latin typeface="Montserrat"/>
                <a:ea typeface="Montserrat"/>
                <a:cs typeface="Montserrat"/>
                <a:sym typeface="Montserrat"/>
              </a:rPr>
              <a:t> in class</a:t>
            </a:r>
            <a:r>
              <a:rPr lang="en" sz="1900">
                <a:solidFill>
                  <a:srgbClr val="761E86"/>
                </a:solidFill>
                <a:latin typeface="Montserrat"/>
                <a:ea typeface="Montserrat"/>
                <a:cs typeface="Montserrat"/>
                <a:sym typeface="Montserrat"/>
              </a:rPr>
              <a:t> “raise hand” for ask/give opinion</a:t>
            </a:r>
            <a:endParaRPr sz="1900">
              <a:solidFill>
                <a:srgbClr val="761E86"/>
              </a:solidFill>
              <a:latin typeface="Montserrat"/>
              <a:ea typeface="Montserrat"/>
              <a:cs typeface="Montserrat"/>
              <a:sym typeface="Montserrat"/>
            </a:endParaRPr>
          </a:p>
          <a:p>
            <a:pPr indent="-282575" lvl="0" marL="342900" rtl="0" algn="l">
              <a:lnSpc>
                <a:spcPct val="150000"/>
              </a:lnSpc>
              <a:spcBef>
                <a:spcPts val="0"/>
              </a:spcBef>
              <a:spcAft>
                <a:spcPts val="0"/>
              </a:spcAft>
              <a:buClr>
                <a:srgbClr val="761E86"/>
              </a:buClr>
              <a:buSzPts val="1900"/>
              <a:buFont typeface="Montserrat"/>
              <a:buAutoNum type="arabicPeriod"/>
            </a:pPr>
            <a:r>
              <a:rPr lang="en" sz="1900">
                <a:solidFill>
                  <a:srgbClr val="761E86"/>
                </a:solidFill>
                <a:highlight>
                  <a:schemeClr val="accent1"/>
                </a:highlight>
                <a:latin typeface="Montserrat"/>
                <a:ea typeface="Montserrat"/>
                <a:cs typeface="Montserrat"/>
                <a:sym typeface="Montserrat"/>
              </a:rPr>
              <a:t>Give </a:t>
            </a:r>
            <a:r>
              <a:rPr b="1" lang="en" sz="1900">
                <a:solidFill>
                  <a:srgbClr val="761E86"/>
                </a:solidFill>
                <a:highlight>
                  <a:schemeClr val="accent1"/>
                </a:highlight>
                <a:latin typeface="Montserrat"/>
                <a:ea typeface="Montserrat"/>
                <a:cs typeface="Montserrat"/>
                <a:sym typeface="Montserrat"/>
              </a:rPr>
              <a:t>appreciation</a:t>
            </a:r>
            <a:r>
              <a:rPr lang="en" sz="1900">
                <a:solidFill>
                  <a:srgbClr val="761E86"/>
                </a:solidFill>
                <a:highlight>
                  <a:schemeClr val="accent1"/>
                </a:highlight>
                <a:latin typeface="Montserrat"/>
                <a:ea typeface="Montserrat"/>
                <a:cs typeface="Montserrat"/>
                <a:sym typeface="Montserrat"/>
              </a:rPr>
              <a:t> to others</a:t>
            </a:r>
            <a:r>
              <a:rPr lang="en" sz="1900">
                <a:solidFill>
                  <a:srgbClr val="761E86"/>
                </a:solidFill>
                <a:latin typeface="Montserrat"/>
                <a:ea typeface="Montserrat"/>
                <a:cs typeface="Montserrat"/>
                <a:sym typeface="Montserrat"/>
              </a:rPr>
              <a:t> “say thank you” or “reaction”</a:t>
            </a:r>
            <a:endParaRPr sz="1900">
              <a:solidFill>
                <a:srgbClr val="761E86"/>
              </a:solidFill>
              <a:latin typeface="Montserrat"/>
              <a:ea typeface="Montserrat"/>
              <a:cs typeface="Montserrat"/>
              <a:sym typeface="Montserrat"/>
            </a:endParaRPr>
          </a:p>
          <a:p>
            <a:pPr indent="-282575" lvl="0" marL="342900" marR="0" rtl="0" algn="l">
              <a:lnSpc>
                <a:spcPct val="150000"/>
              </a:lnSpc>
              <a:spcBef>
                <a:spcPts val="0"/>
              </a:spcBef>
              <a:spcAft>
                <a:spcPts val="0"/>
              </a:spcAft>
              <a:buClr>
                <a:srgbClr val="743573"/>
              </a:buClr>
              <a:buSzPts val="1900"/>
              <a:buFont typeface="Montserrat"/>
              <a:buAutoNum type="arabicPeriod"/>
            </a:pPr>
            <a:r>
              <a:rPr lang="en" sz="1900">
                <a:solidFill>
                  <a:srgbClr val="743573"/>
                </a:solidFill>
                <a:highlight>
                  <a:schemeClr val="lt1"/>
                </a:highlight>
                <a:latin typeface="Montserrat"/>
                <a:ea typeface="Montserrat"/>
                <a:cs typeface="Montserrat"/>
                <a:sym typeface="Montserrat"/>
              </a:rPr>
              <a:t>Join online class </a:t>
            </a:r>
            <a:r>
              <a:rPr b="1" lang="en" sz="1900">
                <a:solidFill>
                  <a:srgbClr val="743573"/>
                </a:solidFill>
                <a:highlight>
                  <a:schemeClr val="lt1"/>
                </a:highlight>
                <a:latin typeface="Montserrat"/>
                <a:ea typeface="Montserrat"/>
                <a:cs typeface="Montserrat"/>
                <a:sym typeface="Montserrat"/>
              </a:rPr>
              <a:t>10 menit before</a:t>
            </a:r>
            <a:endParaRPr b="1" sz="1900">
              <a:solidFill>
                <a:srgbClr val="743573"/>
              </a:solidFill>
              <a:highlight>
                <a:schemeClr val="lt1"/>
              </a:highlight>
              <a:latin typeface="Montserrat"/>
              <a:ea typeface="Montserrat"/>
              <a:cs typeface="Montserrat"/>
              <a:sym typeface="Montserrat"/>
            </a:endParaRPr>
          </a:p>
          <a:p>
            <a:pPr indent="-282575" lvl="0" marL="342900" rtl="0" algn="l">
              <a:lnSpc>
                <a:spcPct val="150000"/>
              </a:lnSpc>
              <a:spcBef>
                <a:spcPts val="0"/>
              </a:spcBef>
              <a:spcAft>
                <a:spcPts val="0"/>
              </a:spcAft>
              <a:buClr>
                <a:srgbClr val="743573"/>
              </a:buClr>
              <a:buSzPts val="1900"/>
              <a:buFont typeface="Montserrat"/>
              <a:buAutoNum type="arabicPeriod"/>
            </a:pPr>
            <a:r>
              <a:rPr lang="en" sz="1900">
                <a:solidFill>
                  <a:srgbClr val="733572"/>
                </a:solidFill>
                <a:highlight>
                  <a:schemeClr val="lt1"/>
                </a:highlight>
                <a:latin typeface="Montserrat"/>
                <a:ea typeface="Montserrat"/>
                <a:cs typeface="Montserrat"/>
                <a:sym typeface="Montserrat"/>
              </a:rPr>
              <a:t>Make sure the internet network is </a:t>
            </a:r>
            <a:r>
              <a:rPr b="1" lang="en" sz="1900">
                <a:solidFill>
                  <a:srgbClr val="733572"/>
                </a:solidFill>
                <a:highlight>
                  <a:schemeClr val="lt1"/>
                </a:highlight>
                <a:latin typeface="Montserrat"/>
                <a:ea typeface="Montserrat"/>
                <a:cs typeface="Montserrat"/>
                <a:sym typeface="Montserrat"/>
              </a:rPr>
              <a:t>stable</a:t>
            </a:r>
            <a:endParaRPr b="1" sz="1900">
              <a:solidFill>
                <a:srgbClr val="733572"/>
              </a:solidFill>
              <a:highlight>
                <a:schemeClr val="lt1"/>
              </a:highlight>
              <a:latin typeface="Montserrat"/>
              <a:ea typeface="Montserrat"/>
              <a:cs typeface="Montserrat"/>
              <a:sym typeface="Montserrat"/>
            </a:endParaRPr>
          </a:p>
          <a:p>
            <a:pPr indent="-282575" lvl="0" marL="342900" rtl="0" algn="l">
              <a:lnSpc>
                <a:spcPct val="150000"/>
              </a:lnSpc>
              <a:spcBef>
                <a:spcPts val="0"/>
              </a:spcBef>
              <a:spcAft>
                <a:spcPts val="0"/>
              </a:spcAft>
              <a:buClr>
                <a:srgbClr val="733572"/>
              </a:buClr>
              <a:buSzPts val="1900"/>
              <a:buAutoNum type="arabicPeriod"/>
            </a:pPr>
            <a:r>
              <a:rPr b="1" lang="en" sz="1900">
                <a:solidFill>
                  <a:srgbClr val="733572"/>
                </a:solidFill>
                <a:highlight>
                  <a:schemeClr val="lt1"/>
                </a:highlight>
                <a:latin typeface="Montserrat"/>
                <a:ea typeface="Montserrat"/>
                <a:cs typeface="Montserrat"/>
                <a:sym typeface="Montserrat"/>
              </a:rPr>
              <a:t>Mute microphones</a:t>
            </a:r>
            <a:r>
              <a:rPr lang="en" sz="1900">
                <a:solidFill>
                  <a:srgbClr val="733572"/>
                </a:solidFill>
                <a:highlight>
                  <a:schemeClr val="lt1"/>
                </a:highlight>
                <a:latin typeface="Montserrat"/>
                <a:ea typeface="Montserrat"/>
                <a:cs typeface="Montserrat"/>
                <a:sym typeface="Montserrat"/>
              </a:rPr>
              <a:t> when not needed</a:t>
            </a:r>
            <a:endParaRPr sz="1900">
              <a:solidFill>
                <a:srgbClr val="733572"/>
              </a:solidFill>
              <a:highlight>
                <a:schemeClr val="accent1"/>
              </a:highlight>
              <a:latin typeface="Montserrat"/>
              <a:ea typeface="Montserrat"/>
              <a:cs typeface="Montserrat"/>
              <a:sym typeface="Montserrat"/>
            </a:endParaRPr>
          </a:p>
          <a:p>
            <a:pPr indent="-282575" lvl="0" marL="342900" rtl="0" algn="l">
              <a:lnSpc>
                <a:spcPct val="150000"/>
              </a:lnSpc>
              <a:spcBef>
                <a:spcPts val="0"/>
              </a:spcBef>
              <a:spcAft>
                <a:spcPts val="0"/>
              </a:spcAft>
              <a:buClr>
                <a:srgbClr val="733572"/>
              </a:buClr>
              <a:buSzPts val="1900"/>
              <a:buAutoNum type="arabicPeriod"/>
            </a:pPr>
            <a:r>
              <a:rPr b="1" lang="en" sz="1900">
                <a:solidFill>
                  <a:srgbClr val="733572"/>
                </a:solidFill>
                <a:highlight>
                  <a:schemeClr val="lt1"/>
                </a:highlight>
                <a:latin typeface="Montserrat"/>
                <a:ea typeface="Montserrat"/>
                <a:cs typeface="Montserrat"/>
                <a:sym typeface="Montserrat"/>
              </a:rPr>
              <a:t>Well prepared</a:t>
            </a:r>
            <a:r>
              <a:rPr lang="en" sz="1900">
                <a:solidFill>
                  <a:srgbClr val="733572"/>
                </a:solidFill>
                <a:highlight>
                  <a:schemeClr val="lt1"/>
                </a:highlight>
                <a:latin typeface="Montserrat"/>
                <a:ea typeface="Montserrat"/>
                <a:cs typeface="Montserrat"/>
                <a:sym typeface="Montserrat"/>
              </a:rPr>
              <a:t> before class</a:t>
            </a:r>
            <a:endParaRPr sz="1900">
              <a:solidFill>
                <a:srgbClr val="733572"/>
              </a:solidFill>
              <a:highlight>
                <a:schemeClr val="lt1"/>
              </a:highlight>
              <a:latin typeface="Montserrat"/>
              <a:ea typeface="Montserrat"/>
              <a:cs typeface="Montserrat"/>
              <a:sym typeface="Montserrat"/>
            </a:endParaRPr>
          </a:p>
          <a:p>
            <a:pPr indent="-282575" lvl="0" marL="342900" rtl="0" algn="l">
              <a:lnSpc>
                <a:spcPct val="150000"/>
              </a:lnSpc>
              <a:spcBef>
                <a:spcPts val="0"/>
              </a:spcBef>
              <a:spcAft>
                <a:spcPts val="0"/>
              </a:spcAft>
              <a:buClr>
                <a:srgbClr val="733572"/>
              </a:buClr>
              <a:buSzPts val="1900"/>
              <a:buFont typeface="Montserrat"/>
              <a:buAutoNum type="arabicPeriod"/>
            </a:pPr>
            <a:r>
              <a:rPr lang="en" sz="1900">
                <a:solidFill>
                  <a:srgbClr val="733572"/>
                </a:solidFill>
                <a:highlight>
                  <a:schemeClr val="lt1"/>
                </a:highlight>
                <a:latin typeface="Montserrat"/>
                <a:ea typeface="Montserrat"/>
                <a:cs typeface="Montserrat"/>
                <a:sym typeface="Montserrat"/>
              </a:rPr>
              <a:t>If you not open cam , you lost 30 point </a:t>
            </a:r>
            <a:endParaRPr sz="1900">
              <a:solidFill>
                <a:srgbClr val="733572"/>
              </a:solidFill>
              <a:highlight>
                <a:schemeClr val="lt1"/>
              </a:highlight>
              <a:latin typeface="Montserrat"/>
              <a:ea typeface="Montserrat"/>
              <a:cs typeface="Montserrat"/>
              <a:sym typeface="Montserrat"/>
            </a:endParaRPr>
          </a:p>
          <a:p>
            <a:pPr indent="0" lvl="0" marL="342900" rtl="0" algn="l">
              <a:spcBef>
                <a:spcPts val="0"/>
              </a:spcBef>
              <a:spcAft>
                <a:spcPts val="0"/>
              </a:spcAft>
              <a:buNone/>
            </a:pPr>
            <a:r>
              <a:t/>
            </a:r>
            <a:endParaRPr sz="1900">
              <a:solidFill>
                <a:srgbClr val="733572"/>
              </a:solidFill>
              <a:highlight>
                <a:schemeClr val="lt1"/>
              </a:highlight>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nvSpPr>
        <p:spPr>
          <a:xfrm>
            <a:off x="1609500" y="575850"/>
            <a:ext cx="59250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rgbClr val="FFFFFF"/>
                </a:solidFill>
                <a:latin typeface="Montserrat"/>
                <a:ea typeface="Montserrat"/>
                <a:cs typeface="Montserrat"/>
                <a:sym typeface="Montserrat"/>
              </a:rPr>
              <a:t>Selamat datang di </a:t>
            </a:r>
            <a:r>
              <a:rPr b="1" lang="en" sz="1600">
                <a:solidFill>
                  <a:srgbClr val="F2AB2F"/>
                </a:solidFill>
                <a:latin typeface="Montserrat"/>
                <a:ea typeface="Montserrat"/>
                <a:cs typeface="Montserrat"/>
                <a:sym typeface="Montserrat"/>
              </a:rPr>
              <a:t>Chapter 6 Topic 2</a:t>
            </a:r>
            <a:r>
              <a:rPr b="1" lang="en" sz="1600">
                <a:solidFill>
                  <a:srgbClr val="FFFFFF"/>
                </a:solidFill>
                <a:latin typeface="Montserrat"/>
                <a:ea typeface="Montserrat"/>
                <a:cs typeface="Montserrat"/>
                <a:sym typeface="Montserrat"/>
              </a:rPr>
              <a:t> online course</a:t>
            </a:r>
            <a:br>
              <a:rPr b="1" lang="en" sz="1600">
                <a:solidFill>
                  <a:srgbClr val="FFFFFF"/>
                </a:solidFill>
                <a:latin typeface="Montserrat"/>
                <a:ea typeface="Montserrat"/>
                <a:cs typeface="Montserrat"/>
                <a:sym typeface="Montserrat"/>
              </a:rPr>
            </a:br>
            <a:r>
              <a:rPr b="1" lang="en" sz="1600">
                <a:solidFill>
                  <a:srgbClr val="F2AB2F"/>
                </a:solidFill>
                <a:latin typeface="Montserrat"/>
                <a:ea typeface="Montserrat"/>
                <a:cs typeface="Montserrat"/>
                <a:sym typeface="Montserrat"/>
              </a:rPr>
              <a:t>UI/UX Research/Design</a:t>
            </a:r>
            <a:r>
              <a:rPr b="1" lang="en" sz="1600">
                <a:solidFill>
                  <a:srgbClr val="FFFFFF"/>
                </a:solidFill>
                <a:latin typeface="Montserrat"/>
                <a:ea typeface="Montserrat"/>
                <a:cs typeface="Montserrat"/>
                <a:sym typeface="Montserrat"/>
              </a:rPr>
              <a:t> dari Binar Academy!</a:t>
            </a:r>
            <a:endParaRPr b="1" sz="1600">
              <a:solidFill>
                <a:srgbClr val="FFFFFF"/>
              </a:solidFill>
              <a:latin typeface="Montserrat"/>
              <a:ea typeface="Montserrat"/>
              <a:cs typeface="Montserrat"/>
              <a:sym typeface="Montserrat"/>
            </a:endParaRPr>
          </a:p>
        </p:txBody>
      </p:sp>
      <p:pic>
        <p:nvPicPr>
          <p:cNvPr id="118" name="Google Shape;118;p22"/>
          <p:cNvPicPr preferRelativeResize="0"/>
          <p:nvPr/>
        </p:nvPicPr>
        <p:blipFill rotWithShape="1">
          <a:blip r:embed="rId3">
            <a:alphaModFix/>
          </a:blip>
          <a:srcRect b="0" l="0" r="0" t="0"/>
          <a:stretch/>
        </p:blipFill>
        <p:spPr>
          <a:xfrm>
            <a:off x="2660288" y="1807025"/>
            <a:ext cx="3823424" cy="2916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4" name="Google Shape;124;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25" name="Google Shape;125;p23"/>
          <p:cNvSpPr txBox="1"/>
          <p:nvPr/>
        </p:nvSpPr>
        <p:spPr>
          <a:xfrm>
            <a:off x="487625" y="1959900"/>
            <a:ext cx="4572000" cy="1223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 sz="1000">
                <a:latin typeface="Montserrat"/>
                <a:ea typeface="Montserrat"/>
                <a:cs typeface="Montserrat"/>
                <a:sym typeface="Montserrat"/>
              </a:rPr>
              <a:t>Kemarin, kita udah membahas tentang UX writing mulai dari pengertian, pentingnya, dan metodologinya.</a:t>
            </a:r>
            <a:endParaRPr sz="1000">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latin typeface="Montserrat"/>
              <a:ea typeface="Montserrat"/>
              <a:cs typeface="Montserrat"/>
              <a:sym typeface="Montserrat"/>
            </a:endParaRPr>
          </a:p>
          <a:p>
            <a:pPr indent="0" lvl="0" marL="0" rtl="0" algn="just">
              <a:lnSpc>
                <a:spcPct val="115000"/>
              </a:lnSpc>
              <a:spcBef>
                <a:spcPts val="0"/>
              </a:spcBef>
              <a:spcAft>
                <a:spcPts val="0"/>
              </a:spcAft>
              <a:buNone/>
            </a:pPr>
            <a:r>
              <a:rPr lang="en" sz="1000">
                <a:latin typeface="Montserrat"/>
                <a:ea typeface="Montserrat"/>
                <a:cs typeface="Montserrat"/>
                <a:sym typeface="Montserrat"/>
              </a:rPr>
              <a:t>Kali ini kita akan sedikit mengulang bahasan terkait referensi. Eits, tapi jangan skip dulu, sob. Ada beberapa hal penting yang sepatutnya disimak. Apa aja kira-kira? Yuk chekidott, gengs ~</a:t>
            </a:r>
            <a:endParaRPr sz="1000">
              <a:latin typeface="Montserrat"/>
              <a:ea typeface="Montserrat"/>
              <a:cs typeface="Montserrat"/>
              <a:sym typeface="Montserrat"/>
            </a:endParaRPr>
          </a:p>
        </p:txBody>
      </p:sp>
      <p:pic>
        <p:nvPicPr>
          <p:cNvPr id="126" name="Google Shape;126;p23"/>
          <p:cNvPicPr preferRelativeResize="0"/>
          <p:nvPr/>
        </p:nvPicPr>
        <p:blipFill rotWithShape="1">
          <a:blip r:embed="rId3">
            <a:alphaModFix/>
          </a:blip>
          <a:srcRect b="0" l="0" r="0" t="0"/>
          <a:stretch/>
        </p:blipFill>
        <p:spPr>
          <a:xfrm>
            <a:off x="5638796" y="1064438"/>
            <a:ext cx="2743199" cy="351162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2" name="Google Shape;132;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33" name="Google Shape;133;p24"/>
          <p:cNvSpPr txBox="1"/>
          <p:nvPr/>
        </p:nvSpPr>
        <p:spPr>
          <a:xfrm>
            <a:off x="685800" y="1305163"/>
            <a:ext cx="4114800" cy="6864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rgbClr val="FFFFFF"/>
                </a:highlight>
                <a:latin typeface="Montserrat"/>
                <a:ea typeface="Montserrat"/>
                <a:cs typeface="Montserrat"/>
                <a:sym typeface="Montserrat"/>
              </a:rPr>
              <a:t>Kali ini, bahasan kita mencakup:</a:t>
            </a:r>
            <a:endParaRPr sz="1200">
              <a:solidFill>
                <a:srgbClr val="000000"/>
              </a:solidFill>
              <a:latin typeface="Montserrat Medium"/>
              <a:ea typeface="Montserrat Medium"/>
              <a:cs typeface="Montserrat Medium"/>
              <a:sym typeface="Montserrat Medium"/>
            </a:endParaRPr>
          </a:p>
        </p:txBody>
      </p:sp>
      <p:sp>
        <p:nvSpPr>
          <p:cNvPr id="134" name="Google Shape;134;p24"/>
          <p:cNvSpPr/>
          <p:nvPr/>
        </p:nvSpPr>
        <p:spPr>
          <a:xfrm>
            <a:off x="685800" y="216250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35" name="Google Shape;135;p24"/>
          <p:cNvSpPr/>
          <p:nvPr/>
        </p:nvSpPr>
        <p:spPr>
          <a:xfrm>
            <a:off x="685800" y="262365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36" name="Google Shape;136;p24"/>
          <p:cNvSpPr/>
          <p:nvPr/>
        </p:nvSpPr>
        <p:spPr>
          <a:xfrm>
            <a:off x="685800" y="308480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37" name="Google Shape;137;p24"/>
          <p:cNvSpPr/>
          <p:nvPr/>
        </p:nvSpPr>
        <p:spPr>
          <a:xfrm>
            <a:off x="685800" y="354595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38" name="Google Shape;138;p24"/>
          <p:cNvSpPr txBox="1"/>
          <p:nvPr/>
        </p:nvSpPr>
        <p:spPr>
          <a:xfrm>
            <a:off x="1182350" y="2093650"/>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Mengingat moodboards</a:t>
            </a:r>
            <a:endParaRPr sz="1200">
              <a:solidFill>
                <a:srgbClr val="000000"/>
              </a:solidFill>
              <a:latin typeface="Montserrat"/>
              <a:ea typeface="Montserrat"/>
              <a:cs typeface="Montserrat"/>
              <a:sym typeface="Montserrat"/>
            </a:endParaRPr>
          </a:p>
        </p:txBody>
      </p:sp>
      <p:sp>
        <p:nvSpPr>
          <p:cNvPr id="139" name="Google Shape;139;p24"/>
          <p:cNvSpPr txBox="1"/>
          <p:nvPr/>
        </p:nvSpPr>
        <p:spPr>
          <a:xfrm>
            <a:off x="1182350" y="2554800"/>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Membuat moodboard yang baik</a:t>
            </a:r>
            <a:endParaRPr sz="1200">
              <a:solidFill>
                <a:srgbClr val="000000"/>
              </a:solidFill>
              <a:latin typeface="Montserrat"/>
              <a:ea typeface="Montserrat"/>
              <a:cs typeface="Montserrat"/>
              <a:sym typeface="Montserrat"/>
            </a:endParaRPr>
          </a:p>
        </p:txBody>
      </p:sp>
      <p:sp>
        <p:nvSpPr>
          <p:cNvPr id="140" name="Google Shape;140;p24"/>
          <p:cNvSpPr txBox="1"/>
          <p:nvPr/>
        </p:nvSpPr>
        <p:spPr>
          <a:xfrm>
            <a:off x="1182350" y="3015950"/>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Menemukan referensi</a:t>
            </a:r>
            <a:endParaRPr sz="1200">
              <a:solidFill>
                <a:srgbClr val="000000"/>
              </a:solidFill>
              <a:latin typeface="Montserrat"/>
              <a:ea typeface="Montserrat"/>
              <a:cs typeface="Montserrat"/>
              <a:sym typeface="Montserrat"/>
            </a:endParaRPr>
          </a:p>
        </p:txBody>
      </p:sp>
      <p:sp>
        <p:nvSpPr>
          <p:cNvPr id="141" name="Google Shape;141;p24"/>
          <p:cNvSpPr txBox="1"/>
          <p:nvPr/>
        </p:nvSpPr>
        <p:spPr>
          <a:xfrm>
            <a:off x="1182350" y="3477113"/>
            <a:ext cx="34728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Menggunakan referensi pada desain UI</a:t>
            </a:r>
            <a:endParaRPr sz="1200">
              <a:solidFill>
                <a:srgbClr val="000000"/>
              </a:solidFill>
              <a:latin typeface="Montserrat"/>
              <a:ea typeface="Montserrat"/>
              <a:cs typeface="Montserrat"/>
              <a:sym typeface="Montserrat"/>
            </a:endParaRPr>
          </a:p>
        </p:txBody>
      </p:sp>
      <p:pic>
        <p:nvPicPr>
          <p:cNvPr id="142" name="Google Shape;142;p24"/>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Mengingat moodboards</a:t>
            </a:r>
            <a:endParaRPr>
              <a:latin typeface="Montserrat"/>
              <a:ea typeface="Montserrat"/>
              <a:cs typeface="Montserrat"/>
              <a:sym typeface="Montserrat"/>
            </a:endParaRPr>
          </a:p>
        </p:txBody>
      </p:sp>
      <p:sp>
        <p:nvSpPr>
          <p:cNvPr id="148" name="Google Shape;148;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9" name="Google Shape;149;p25"/>
          <p:cNvSpPr txBox="1"/>
          <p:nvPr/>
        </p:nvSpPr>
        <p:spPr>
          <a:xfrm>
            <a:off x="685800" y="1725150"/>
            <a:ext cx="3951300" cy="1693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Di chapter 4 topic 2, kita membahas tentang moodboards kaitannya dengan desain. Masih ingat kan, sob?</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Kali ini, kita akan ulas untuk </a:t>
            </a:r>
            <a:r>
              <a:rPr b="1" lang="en">
                <a:solidFill>
                  <a:srgbClr val="FFAB40"/>
                </a:solidFill>
                <a:latin typeface="Montserrat"/>
                <a:ea typeface="Montserrat"/>
                <a:cs typeface="Montserrat"/>
                <a:sym typeface="Montserrat"/>
              </a:rPr>
              <a:t>mengingat moodboards </a:t>
            </a:r>
            <a:r>
              <a:rPr b="1" lang="en">
                <a:solidFill>
                  <a:schemeClr val="lt1"/>
                </a:solidFill>
                <a:latin typeface="Montserrat"/>
                <a:ea typeface="Montserrat"/>
                <a:cs typeface="Montserrat"/>
                <a:sym typeface="Montserrat"/>
              </a:rPr>
              <a:t>dulu ya. Yuk langsung aja ~</a:t>
            </a:r>
            <a:endParaRPr b="1">
              <a:solidFill>
                <a:schemeClr val="lt1"/>
              </a:solidFill>
              <a:latin typeface="Montserrat"/>
              <a:ea typeface="Montserrat"/>
              <a:cs typeface="Montserrat"/>
              <a:sym typeface="Montserrat"/>
            </a:endParaRPr>
          </a:p>
        </p:txBody>
      </p:sp>
      <p:pic>
        <p:nvPicPr>
          <p:cNvPr id="150" name="Google Shape;150;p25"/>
          <p:cNvPicPr preferRelativeResize="0"/>
          <p:nvPr/>
        </p:nvPicPr>
        <p:blipFill>
          <a:blip r:embed="rId3">
            <a:alphaModFix/>
          </a:blip>
          <a:stretch>
            <a:fillRect/>
          </a:stretch>
        </p:blipFill>
        <p:spPr>
          <a:xfrm>
            <a:off x="5091825" y="1130325"/>
            <a:ext cx="2789699" cy="36702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6" name="Google Shape;156;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Mengingat moodboards</a:t>
            </a:r>
            <a:endParaRPr>
              <a:latin typeface="Montserrat"/>
              <a:ea typeface="Montserrat"/>
              <a:cs typeface="Montserrat"/>
              <a:sym typeface="Montserrat"/>
            </a:endParaRPr>
          </a:p>
        </p:txBody>
      </p:sp>
      <p:sp>
        <p:nvSpPr>
          <p:cNvPr id="157" name="Google Shape;157;p26"/>
          <p:cNvSpPr txBox="1"/>
          <p:nvPr/>
        </p:nvSpPr>
        <p:spPr>
          <a:xfrm>
            <a:off x="685800" y="1699500"/>
            <a:ext cx="3951300" cy="1744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Mengingat lagi moodboards</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Seperti yang pernah kita bahas kemarin, moodboard merupakan representasi visual dari sebuah konsep desain yang tersusun dari inspirasi.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Pada dasarnya, moodboard adalah papan suasana hati yang ditempatkan bersama desainer. Tujuannya untuk mengatur inspirasi pada tahapan pembuatan konsep.</a:t>
            </a:r>
            <a:endParaRPr sz="1000">
              <a:solidFill>
                <a:schemeClr val="dk1"/>
              </a:solidFill>
              <a:latin typeface="Montserrat"/>
              <a:ea typeface="Montserrat"/>
              <a:cs typeface="Montserrat"/>
              <a:sym typeface="Montserrat"/>
            </a:endParaRPr>
          </a:p>
        </p:txBody>
      </p:sp>
      <p:pic>
        <p:nvPicPr>
          <p:cNvPr id="158" name="Google Shape;158;p26"/>
          <p:cNvPicPr preferRelativeResize="0"/>
          <p:nvPr/>
        </p:nvPicPr>
        <p:blipFill>
          <a:blip r:embed="rId3">
            <a:alphaModFix/>
          </a:blip>
          <a:stretch>
            <a:fillRect/>
          </a:stretch>
        </p:blipFill>
        <p:spPr>
          <a:xfrm>
            <a:off x="4724400" y="1230020"/>
            <a:ext cx="3892201" cy="324403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4" name="Google Shape;164;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Mengingat moodboards</a:t>
            </a:r>
            <a:endParaRPr>
              <a:latin typeface="Montserrat"/>
              <a:ea typeface="Montserrat"/>
              <a:cs typeface="Montserrat"/>
              <a:sym typeface="Montserrat"/>
            </a:endParaRPr>
          </a:p>
        </p:txBody>
      </p:sp>
      <p:sp>
        <p:nvSpPr>
          <p:cNvPr id="165" name="Google Shape;165;p27"/>
          <p:cNvSpPr txBox="1"/>
          <p:nvPr/>
        </p:nvSpPr>
        <p:spPr>
          <a:xfrm>
            <a:off x="685800" y="1934400"/>
            <a:ext cx="3951300" cy="1274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Moodboard bisa berbentuk digital dan atau fisik. Kalau bentuknya digital, kita bisa membuat kolasenya menggunakan perangkat lunak. Sedangkan bentuk fisik atau analog, kita dapat menggunakan kertas, papan gabus, atau dinding.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Oiya, tugas moodboard adalah menginspirasi dan membantu kamu dalam proses kreatif, bukan menjadi keharusan.</a:t>
            </a:r>
            <a:endParaRPr sz="1000">
              <a:solidFill>
                <a:schemeClr val="dk1"/>
              </a:solidFill>
              <a:latin typeface="Montserrat"/>
              <a:ea typeface="Montserrat"/>
              <a:cs typeface="Montserrat"/>
              <a:sym typeface="Montserrat"/>
            </a:endParaRPr>
          </a:p>
        </p:txBody>
      </p:sp>
      <p:pic>
        <p:nvPicPr>
          <p:cNvPr id="166" name="Google Shape;166;p27"/>
          <p:cNvPicPr preferRelativeResize="0"/>
          <p:nvPr/>
        </p:nvPicPr>
        <p:blipFill>
          <a:blip r:embed="rId3">
            <a:alphaModFix/>
          </a:blip>
          <a:stretch>
            <a:fillRect/>
          </a:stretch>
        </p:blipFill>
        <p:spPr>
          <a:xfrm>
            <a:off x="4724400" y="914400"/>
            <a:ext cx="2881199" cy="2401399"/>
          </a:xfrm>
          <a:prstGeom prst="rect">
            <a:avLst/>
          </a:prstGeom>
          <a:noFill/>
          <a:ln>
            <a:noFill/>
          </a:ln>
        </p:spPr>
      </p:pic>
      <p:pic>
        <p:nvPicPr>
          <p:cNvPr id="167" name="Google Shape;167;p27"/>
          <p:cNvPicPr preferRelativeResize="0"/>
          <p:nvPr/>
        </p:nvPicPr>
        <p:blipFill>
          <a:blip r:embed="rId4">
            <a:alphaModFix/>
          </a:blip>
          <a:stretch>
            <a:fillRect/>
          </a:stretch>
        </p:blipFill>
        <p:spPr>
          <a:xfrm>
            <a:off x="6558500" y="1703550"/>
            <a:ext cx="2220826" cy="30970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3" name="Google Shape;173;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Mengingat moodboards</a:t>
            </a:r>
            <a:endParaRPr>
              <a:latin typeface="Montserrat"/>
              <a:ea typeface="Montserrat"/>
              <a:cs typeface="Montserrat"/>
              <a:sym typeface="Montserrat"/>
            </a:endParaRPr>
          </a:p>
        </p:txBody>
      </p:sp>
      <p:sp>
        <p:nvSpPr>
          <p:cNvPr id="174" name="Google Shape;174;p28"/>
          <p:cNvSpPr txBox="1"/>
          <p:nvPr/>
        </p:nvSpPr>
        <p:spPr>
          <a:xfrm>
            <a:off x="685800" y="1614150"/>
            <a:ext cx="3951300" cy="1915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Menyusun moodboards</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Karena kamu bisa memilih menyusun moodboard dalam bentuk fisik maupun digital, jadi sebenarnya tidak ada batasan khusus untuk memasukkan temuan inspirasi.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Misalnya, kamu menemukan foto, video, musik, font, dan sebagainya. Let’s go dimasukkan saja, yang penting hal tersebut mampu mewakili dan menyalakan percikan kreatif dalam diri kamu.</a:t>
            </a:r>
            <a:endParaRPr sz="1000">
              <a:solidFill>
                <a:schemeClr val="dk1"/>
              </a:solidFill>
              <a:latin typeface="Montserrat"/>
              <a:ea typeface="Montserrat"/>
              <a:cs typeface="Montserrat"/>
              <a:sym typeface="Montserrat"/>
            </a:endParaRPr>
          </a:p>
        </p:txBody>
      </p:sp>
      <p:pic>
        <p:nvPicPr>
          <p:cNvPr id="175" name="Google Shape;175;p28"/>
          <p:cNvPicPr preferRelativeResize="0"/>
          <p:nvPr/>
        </p:nvPicPr>
        <p:blipFill>
          <a:blip r:embed="rId3">
            <a:alphaModFix/>
          </a:blip>
          <a:stretch>
            <a:fillRect/>
          </a:stretch>
        </p:blipFill>
        <p:spPr>
          <a:xfrm>
            <a:off x="4724400" y="1248050"/>
            <a:ext cx="3892201" cy="324404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1" name="Google Shape;181;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Mengingat moodboards</a:t>
            </a:r>
            <a:endParaRPr>
              <a:latin typeface="Montserrat"/>
              <a:ea typeface="Montserrat"/>
              <a:cs typeface="Montserrat"/>
              <a:sym typeface="Montserrat"/>
            </a:endParaRPr>
          </a:p>
        </p:txBody>
      </p:sp>
      <p:sp>
        <p:nvSpPr>
          <p:cNvPr id="182" name="Google Shape;182;p29"/>
          <p:cNvSpPr txBox="1"/>
          <p:nvPr/>
        </p:nvSpPr>
        <p:spPr>
          <a:xfrm>
            <a:off x="685800" y="1185675"/>
            <a:ext cx="76962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Contoh </a:t>
            </a:r>
            <a:endParaRPr b="1" sz="1600">
              <a:solidFill>
                <a:srgbClr val="743673"/>
              </a:solidFill>
              <a:highlight>
                <a:schemeClr val="lt1"/>
              </a:highlight>
              <a:latin typeface="Montserrat"/>
              <a:ea typeface="Montserrat"/>
              <a:cs typeface="Montserrat"/>
              <a:sym typeface="Montserrat"/>
            </a:endParaRPr>
          </a:p>
          <a:p>
            <a:pPr indent="0" lvl="0" marL="0" rtl="0" algn="l">
              <a:lnSpc>
                <a:spcPct val="100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moodboard </a:t>
            </a:r>
            <a:endParaRPr b="1" sz="1600">
              <a:solidFill>
                <a:srgbClr val="743673"/>
              </a:solidFill>
              <a:highlight>
                <a:schemeClr val="lt1"/>
              </a:highlight>
              <a:latin typeface="Montserrat"/>
              <a:ea typeface="Montserrat"/>
              <a:cs typeface="Montserrat"/>
              <a:sym typeface="Montserrat"/>
            </a:endParaRPr>
          </a:p>
          <a:p>
            <a:pPr indent="0" lvl="0" marL="0" rtl="0" algn="l">
              <a:lnSpc>
                <a:spcPct val="100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#1</a:t>
            </a:r>
            <a:endParaRPr sz="1600">
              <a:solidFill>
                <a:schemeClr val="dk1"/>
              </a:solidFill>
              <a:latin typeface="Montserrat Medium"/>
              <a:ea typeface="Montserrat Medium"/>
              <a:cs typeface="Montserrat Medium"/>
              <a:sym typeface="Montserrat Medium"/>
            </a:endParaRPr>
          </a:p>
        </p:txBody>
      </p:sp>
      <p:pic>
        <p:nvPicPr>
          <p:cNvPr id="183" name="Google Shape;183;p29">
            <a:hlinkClick r:id="rId3"/>
          </p:cNvPr>
          <p:cNvPicPr preferRelativeResize="0"/>
          <p:nvPr/>
        </p:nvPicPr>
        <p:blipFill rotWithShape="1">
          <a:blip r:embed="rId4">
            <a:alphaModFix/>
          </a:blip>
          <a:srcRect b="32578" l="0" r="0" t="0"/>
          <a:stretch/>
        </p:blipFill>
        <p:spPr>
          <a:xfrm>
            <a:off x="2445150" y="624275"/>
            <a:ext cx="6698850" cy="45192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9" name="Google Shape;189;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Mengingat moodboards</a:t>
            </a:r>
            <a:endParaRPr>
              <a:latin typeface="Montserrat"/>
              <a:ea typeface="Montserrat"/>
              <a:cs typeface="Montserrat"/>
              <a:sym typeface="Montserrat"/>
            </a:endParaRPr>
          </a:p>
        </p:txBody>
      </p:sp>
      <p:sp>
        <p:nvSpPr>
          <p:cNvPr id="190" name="Google Shape;190;p30"/>
          <p:cNvSpPr txBox="1"/>
          <p:nvPr/>
        </p:nvSpPr>
        <p:spPr>
          <a:xfrm>
            <a:off x="685800" y="1185675"/>
            <a:ext cx="76962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Contoh </a:t>
            </a:r>
            <a:endParaRPr b="1" sz="1600">
              <a:solidFill>
                <a:srgbClr val="743673"/>
              </a:solidFill>
              <a:highlight>
                <a:schemeClr val="lt1"/>
              </a:highlight>
              <a:latin typeface="Montserrat"/>
              <a:ea typeface="Montserrat"/>
              <a:cs typeface="Montserrat"/>
              <a:sym typeface="Montserrat"/>
            </a:endParaRPr>
          </a:p>
          <a:p>
            <a:pPr indent="0" lvl="0" marL="0" rtl="0" algn="l">
              <a:lnSpc>
                <a:spcPct val="100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moodboard </a:t>
            </a:r>
            <a:endParaRPr b="1" sz="1600">
              <a:solidFill>
                <a:srgbClr val="743673"/>
              </a:solidFill>
              <a:highlight>
                <a:schemeClr val="lt1"/>
              </a:highlight>
              <a:latin typeface="Montserrat"/>
              <a:ea typeface="Montserrat"/>
              <a:cs typeface="Montserrat"/>
              <a:sym typeface="Montserrat"/>
            </a:endParaRPr>
          </a:p>
          <a:p>
            <a:pPr indent="0" lvl="0" marL="0" rtl="0" algn="l">
              <a:lnSpc>
                <a:spcPct val="100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#2</a:t>
            </a:r>
            <a:endParaRPr sz="1600">
              <a:solidFill>
                <a:schemeClr val="dk1"/>
              </a:solidFill>
              <a:latin typeface="Montserrat Medium"/>
              <a:ea typeface="Montserrat Medium"/>
              <a:cs typeface="Montserrat Medium"/>
              <a:sym typeface="Montserrat Medium"/>
            </a:endParaRPr>
          </a:p>
        </p:txBody>
      </p:sp>
      <p:pic>
        <p:nvPicPr>
          <p:cNvPr id="191" name="Google Shape;191;p30">
            <a:hlinkClick r:id="rId3"/>
          </p:cNvPr>
          <p:cNvPicPr preferRelativeResize="0"/>
          <p:nvPr/>
        </p:nvPicPr>
        <p:blipFill rotWithShape="1">
          <a:blip r:embed="rId4">
            <a:alphaModFix/>
          </a:blip>
          <a:srcRect b="1672" l="0" r="0" t="1672"/>
          <a:stretch/>
        </p:blipFill>
        <p:spPr>
          <a:xfrm>
            <a:off x="2445150" y="624275"/>
            <a:ext cx="6698850" cy="451922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7" name="Google Shape;197;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Mengingat moodboards</a:t>
            </a:r>
            <a:endParaRPr>
              <a:latin typeface="Montserrat"/>
              <a:ea typeface="Montserrat"/>
              <a:cs typeface="Montserrat"/>
              <a:sym typeface="Montserrat"/>
            </a:endParaRPr>
          </a:p>
        </p:txBody>
      </p:sp>
      <p:sp>
        <p:nvSpPr>
          <p:cNvPr id="198" name="Google Shape;198;p31"/>
          <p:cNvSpPr txBox="1"/>
          <p:nvPr/>
        </p:nvSpPr>
        <p:spPr>
          <a:xfrm>
            <a:off x="685800" y="1185675"/>
            <a:ext cx="76962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Contoh </a:t>
            </a:r>
            <a:endParaRPr b="1" sz="1600">
              <a:solidFill>
                <a:srgbClr val="743673"/>
              </a:solidFill>
              <a:highlight>
                <a:schemeClr val="lt1"/>
              </a:highlight>
              <a:latin typeface="Montserrat"/>
              <a:ea typeface="Montserrat"/>
              <a:cs typeface="Montserrat"/>
              <a:sym typeface="Montserrat"/>
            </a:endParaRPr>
          </a:p>
          <a:p>
            <a:pPr indent="0" lvl="0" marL="0" rtl="0" algn="l">
              <a:lnSpc>
                <a:spcPct val="100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moodboard </a:t>
            </a:r>
            <a:endParaRPr b="1" sz="1600">
              <a:solidFill>
                <a:srgbClr val="743673"/>
              </a:solidFill>
              <a:highlight>
                <a:schemeClr val="lt1"/>
              </a:highlight>
              <a:latin typeface="Montserrat"/>
              <a:ea typeface="Montserrat"/>
              <a:cs typeface="Montserrat"/>
              <a:sym typeface="Montserrat"/>
            </a:endParaRPr>
          </a:p>
          <a:p>
            <a:pPr indent="0" lvl="0" marL="0" rtl="0" algn="l">
              <a:lnSpc>
                <a:spcPct val="100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#3</a:t>
            </a:r>
            <a:endParaRPr sz="1600">
              <a:solidFill>
                <a:schemeClr val="dk1"/>
              </a:solidFill>
              <a:latin typeface="Montserrat Medium"/>
              <a:ea typeface="Montserrat Medium"/>
              <a:cs typeface="Montserrat Medium"/>
              <a:sym typeface="Montserrat Medium"/>
            </a:endParaRPr>
          </a:p>
        </p:txBody>
      </p:sp>
      <p:pic>
        <p:nvPicPr>
          <p:cNvPr id="199" name="Google Shape;199;p31">
            <a:hlinkClick r:id="rId3"/>
          </p:cNvPr>
          <p:cNvPicPr preferRelativeResize="0"/>
          <p:nvPr/>
        </p:nvPicPr>
        <p:blipFill rotWithShape="1">
          <a:blip r:embed="rId4">
            <a:alphaModFix/>
          </a:blip>
          <a:srcRect b="942" l="0" r="0" t="932"/>
          <a:stretch/>
        </p:blipFill>
        <p:spPr>
          <a:xfrm>
            <a:off x="2445150" y="624275"/>
            <a:ext cx="6698850" cy="45192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5" name="Google Shape;205;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Mengingat moodboards</a:t>
            </a:r>
            <a:endParaRPr>
              <a:latin typeface="Montserrat"/>
              <a:ea typeface="Montserrat"/>
              <a:cs typeface="Montserrat"/>
              <a:sym typeface="Montserrat"/>
            </a:endParaRPr>
          </a:p>
        </p:txBody>
      </p:sp>
      <p:sp>
        <p:nvSpPr>
          <p:cNvPr id="206" name="Google Shape;206;p32"/>
          <p:cNvSpPr txBox="1"/>
          <p:nvPr/>
        </p:nvSpPr>
        <p:spPr>
          <a:xfrm>
            <a:off x="685800" y="1185675"/>
            <a:ext cx="76962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Contoh </a:t>
            </a:r>
            <a:endParaRPr b="1" sz="1600">
              <a:solidFill>
                <a:srgbClr val="743673"/>
              </a:solidFill>
              <a:highlight>
                <a:schemeClr val="lt1"/>
              </a:highlight>
              <a:latin typeface="Montserrat"/>
              <a:ea typeface="Montserrat"/>
              <a:cs typeface="Montserrat"/>
              <a:sym typeface="Montserrat"/>
            </a:endParaRPr>
          </a:p>
          <a:p>
            <a:pPr indent="0" lvl="0" marL="0" rtl="0" algn="l">
              <a:lnSpc>
                <a:spcPct val="100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moodboard </a:t>
            </a:r>
            <a:endParaRPr b="1" sz="1600">
              <a:solidFill>
                <a:srgbClr val="743673"/>
              </a:solidFill>
              <a:highlight>
                <a:schemeClr val="lt1"/>
              </a:highlight>
              <a:latin typeface="Montserrat"/>
              <a:ea typeface="Montserrat"/>
              <a:cs typeface="Montserrat"/>
              <a:sym typeface="Montserrat"/>
            </a:endParaRPr>
          </a:p>
          <a:p>
            <a:pPr indent="0" lvl="0" marL="0" rtl="0" algn="l">
              <a:lnSpc>
                <a:spcPct val="100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#4</a:t>
            </a:r>
            <a:endParaRPr sz="1600">
              <a:solidFill>
                <a:schemeClr val="dk1"/>
              </a:solidFill>
              <a:latin typeface="Montserrat Medium"/>
              <a:ea typeface="Montserrat Medium"/>
              <a:cs typeface="Montserrat Medium"/>
              <a:sym typeface="Montserrat Medium"/>
            </a:endParaRPr>
          </a:p>
        </p:txBody>
      </p:sp>
      <p:pic>
        <p:nvPicPr>
          <p:cNvPr id="207" name="Google Shape;207;p32">
            <a:hlinkClick r:id="rId3"/>
          </p:cNvPr>
          <p:cNvPicPr preferRelativeResize="0"/>
          <p:nvPr/>
        </p:nvPicPr>
        <p:blipFill rotWithShape="1">
          <a:blip r:embed="rId4">
            <a:alphaModFix/>
          </a:blip>
          <a:srcRect b="0" l="8313" r="8304" t="0"/>
          <a:stretch/>
        </p:blipFill>
        <p:spPr>
          <a:xfrm>
            <a:off x="2445150" y="624275"/>
            <a:ext cx="6698849" cy="45192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3" name="Google Shape;213;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Mengingat moodboards</a:t>
            </a:r>
            <a:endParaRPr>
              <a:latin typeface="Montserrat"/>
              <a:ea typeface="Montserrat"/>
              <a:cs typeface="Montserrat"/>
              <a:sym typeface="Montserrat"/>
            </a:endParaRPr>
          </a:p>
        </p:txBody>
      </p:sp>
      <p:sp>
        <p:nvSpPr>
          <p:cNvPr id="214" name="Google Shape;214;p33"/>
          <p:cNvSpPr txBox="1"/>
          <p:nvPr/>
        </p:nvSpPr>
        <p:spPr>
          <a:xfrm>
            <a:off x="685800" y="1185675"/>
            <a:ext cx="76962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Contoh </a:t>
            </a:r>
            <a:endParaRPr b="1" sz="1600">
              <a:solidFill>
                <a:srgbClr val="743673"/>
              </a:solidFill>
              <a:highlight>
                <a:schemeClr val="lt1"/>
              </a:highlight>
              <a:latin typeface="Montserrat"/>
              <a:ea typeface="Montserrat"/>
              <a:cs typeface="Montserrat"/>
              <a:sym typeface="Montserrat"/>
            </a:endParaRPr>
          </a:p>
          <a:p>
            <a:pPr indent="0" lvl="0" marL="0" rtl="0" algn="l">
              <a:lnSpc>
                <a:spcPct val="100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moodboard </a:t>
            </a:r>
            <a:endParaRPr b="1" sz="1600">
              <a:solidFill>
                <a:srgbClr val="743673"/>
              </a:solidFill>
              <a:highlight>
                <a:schemeClr val="lt1"/>
              </a:highlight>
              <a:latin typeface="Montserrat"/>
              <a:ea typeface="Montserrat"/>
              <a:cs typeface="Montserrat"/>
              <a:sym typeface="Montserrat"/>
            </a:endParaRPr>
          </a:p>
          <a:p>
            <a:pPr indent="0" lvl="0" marL="0" rtl="0" algn="l">
              <a:lnSpc>
                <a:spcPct val="100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#5</a:t>
            </a:r>
            <a:endParaRPr sz="1600">
              <a:solidFill>
                <a:schemeClr val="dk1"/>
              </a:solidFill>
              <a:latin typeface="Montserrat Medium"/>
              <a:ea typeface="Montserrat Medium"/>
              <a:cs typeface="Montserrat Medium"/>
              <a:sym typeface="Montserrat Medium"/>
            </a:endParaRPr>
          </a:p>
        </p:txBody>
      </p:sp>
      <p:pic>
        <p:nvPicPr>
          <p:cNvPr id="215" name="Google Shape;215;p33">
            <a:hlinkClick r:id="rId3"/>
          </p:cNvPr>
          <p:cNvPicPr preferRelativeResize="0"/>
          <p:nvPr/>
        </p:nvPicPr>
        <p:blipFill rotWithShape="1">
          <a:blip r:embed="rId4">
            <a:alphaModFix/>
          </a:blip>
          <a:srcRect b="0" l="592" r="583" t="0"/>
          <a:stretch/>
        </p:blipFill>
        <p:spPr>
          <a:xfrm>
            <a:off x="2445150" y="624275"/>
            <a:ext cx="6698850" cy="451922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Membuat moodboard yang baik</a:t>
            </a:r>
            <a:endParaRPr>
              <a:latin typeface="Montserrat"/>
              <a:ea typeface="Montserrat"/>
              <a:cs typeface="Montserrat"/>
              <a:sym typeface="Montserrat"/>
            </a:endParaRPr>
          </a:p>
        </p:txBody>
      </p:sp>
      <p:sp>
        <p:nvSpPr>
          <p:cNvPr id="221" name="Google Shape;221;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2" name="Google Shape;222;p34"/>
          <p:cNvSpPr txBox="1"/>
          <p:nvPr/>
        </p:nvSpPr>
        <p:spPr>
          <a:xfrm>
            <a:off x="685800" y="1725150"/>
            <a:ext cx="42168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Tapi, pentingnya moodboard dalam penulisan UX apa sih? Terus, gimana ya caranya </a:t>
            </a:r>
            <a:r>
              <a:rPr b="1" lang="en">
                <a:solidFill>
                  <a:srgbClr val="FFAB40"/>
                </a:solidFill>
                <a:latin typeface="Montserrat"/>
                <a:ea typeface="Montserrat"/>
                <a:cs typeface="Montserrat"/>
                <a:sym typeface="Montserrat"/>
              </a:rPr>
              <a:t>membuat moodboard yang baik</a:t>
            </a:r>
            <a:r>
              <a:rPr b="1" lang="en">
                <a:solidFill>
                  <a:schemeClr val="lt1"/>
                </a:solidFill>
                <a:latin typeface="Montserrat"/>
                <a:ea typeface="Montserrat"/>
                <a:cs typeface="Montserrat"/>
                <a:sym typeface="Montserrat"/>
              </a:rPr>
              <a:t> agar tulisan UX kita nantinya semakin baik?</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Yuk gengs kita temukan jawabannya bersama ~</a:t>
            </a:r>
            <a:endParaRPr b="1">
              <a:solidFill>
                <a:schemeClr val="lt1"/>
              </a:solidFill>
              <a:latin typeface="Montserrat"/>
              <a:ea typeface="Montserrat"/>
              <a:cs typeface="Montserrat"/>
              <a:sym typeface="Montserrat"/>
            </a:endParaRPr>
          </a:p>
        </p:txBody>
      </p:sp>
      <p:pic>
        <p:nvPicPr>
          <p:cNvPr id="223" name="Google Shape;223;p34"/>
          <p:cNvPicPr preferRelativeResize="0"/>
          <p:nvPr/>
        </p:nvPicPr>
        <p:blipFill>
          <a:blip r:embed="rId3">
            <a:alphaModFix/>
          </a:blip>
          <a:stretch>
            <a:fillRect/>
          </a:stretch>
        </p:blipFill>
        <p:spPr>
          <a:xfrm>
            <a:off x="5413200" y="1122125"/>
            <a:ext cx="2510750" cy="36784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5"/>
          <p:cNvSpPr txBox="1"/>
          <p:nvPr/>
        </p:nvSpPr>
        <p:spPr>
          <a:xfrm>
            <a:off x="685800" y="1904550"/>
            <a:ext cx="3951300" cy="1334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Mengapa moodboard penting?</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Seperti yang kita pelajari di chapter 4 topic 2 nih, sob. Mengatur suasana hati dan arah desain adalah langkah yang sangat penting untuk setiap proyek desain. Pengaturan tersebut  </a:t>
            </a:r>
            <a:r>
              <a:rPr b="1" lang="en" sz="1000">
                <a:solidFill>
                  <a:schemeClr val="dk1"/>
                </a:solidFill>
                <a:latin typeface="Montserrat"/>
                <a:ea typeface="Montserrat"/>
                <a:cs typeface="Montserrat"/>
                <a:sym typeface="Montserrat"/>
              </a:rPr>
              <a:t>membantu desainer dan pemangku kepentingan untuk memiliki pemahaman yang sama atas aspek visual proyek.</a:t>
            </a:r>
            <a:r>
              <a:rPr lang="en" sz="1000">
                <a:solidFill>
                  <a:schemeClr val="dk1"/>
                </a:solidFill>
                <a:latin typeface="Montserrat"/>
                <a:ea typeface="Montserrat"/>
                <a:cs typeface="Montserrat"/>
                <a:sym typeface="Montserrat"/>
              </a:rPr>
              <a:t> </a:t>
            </a:r>
            <a:endParaRPr b="1" sz="1000">
              <a:solidFill>
                <a:schemeClr val="dk1"/>
              </a:solidFill>
              <a:latin typeface="Montserrat"/>
              <a:ea typeface="Montserrat"/>
              <a:cs typeface="Montserrat"/>
              <a:sym typeface="Montserrat"/>
            </a:endParaRPr>
          </a:p>
        </p:txBody>
      </p:sp>
      <p:sp>
        <p:nvSpPr>
          <p:cNvPr id="229" name="Google Shape;229;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0" name="Google Shape;230;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Membuat moodboard yang baik</a:t>
            </a:r>
            <a:endParaRPr>
              <a:latin typeface="Montserrat"/>
              <a:ea typeface="Montserrat"/>
              <a:cs typeface="Montserrat"/>
              <a:sym typeface="Montserrat"/>
            </a:endParaRPr>
          </a:p>
        </p:txBody>
      </p:sp>
      <p:pic>
        <p:nvPicPr>
          <p:cNvPr id="231" name="Google Shape;231;p35"/>
          <p:cNvPicPr preferRelativeResize="0"/>
          <p:nvPr/>
        </p:nvPicPr>
        <p:blipFill>
          <a:blip r:embed="rId3">
            <a:alphaModFix/>
          </a:blip>
          <a:stretch>
            <a:fillRect/>
          </a:stretch>
        </p:blipFill>
        <p:spPr>
          <a:xfrm>
            <a:off x="4724400" y="1496275"/>
            <a:ext cx="4090999" cy="268412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7" name="Google Shape;237;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Membuat moodboard yang baik</a:t>
            </a:r>
            <a:endParaRPr>
              <a:latin typeface="Montserrat"/>
              <a:ea typeface="Montserrat"/>
              <a:cs typeface="Montserrat"/>
              <a:sym typeface="Montserrat"/>
            </a:endParaRPr>
          </a:p>
        </p:txBody>
      </p:sp>
      <p:sp>
        <p:nvSpPr>
          <p:cNvPr id="238" name="Google Shape;238;p36"/>
          <p:cNvSpPr txBox="1"/>
          <p:nvPr/>
        </p:nvSpPr>
        <p:spPr>
          <a:xfrm>
            <a:off x="685800" y="1880400"/>
            <a:ext cx="3951300" cy="1382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Bisa dibilang, moodboard itu seperti buku panduan anak-anak pramuka, jurnal dalam skripsi kamu, atau DJ pada acara musik. Moodboard mendasari apa yang harus desainer gunakan dan pengguna rasakan. Ia adalah </a:t>
            </a:r>
            <a:r>
              <a:rPr b="1" lang="en" sz="1000">
                <a:solidFill>
                  <a:schemeClr val="dk1"/>
                </a:solidFill>
                <a:latin typeface="Montserrat"/>
                <a:ea typeface="Montserrat"/>
                <a:cs typeface="Montserrat"/>
                <a:sym typeface="Montserrat"/>
              </a:rPr>
              <a:t>panduan</a:t>
            </a:r>
            <a:r>
              <a:rPr lang="en" sz="1000">
                <a:solidFill>
                  <a:schemeClr val="dk1"/>
                </a:solidFill>
                <a:latin typeface="Montserrat"/>
                <a:ea typeface="Montserrat"/>
                <a:cs typeface="Montserrat"/>
                <a:sym typeface="Montserrat"/>
              </a:rPr>
              <a:t> saat kita mendesain.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Berbeda dari wireframe dan prototyping, moodboard dimaksudkan untuk mentransfer mood atau suasana hati dan membawa emosi yang diharapkan dari suatu produk.</a:t>
            </a:r>
            <a:endParaRPr sz="1000">
              <a:solidFill>
                <a:schemeClr val="dk1"/>
              </a:solidFill>
              <a:latin typeface="Montserrat"/>
              <a:ea typeface="Montserrat"/>
              <a:cs typeface="Montserrat"/>
              <a:sym typeface="Montserrat"/>
            </a:endParaRPr>
          </a:p>
        </p:txBody>
      </p:sp>
      <p:pic>
        <p:nvPicPr>
          <p:cNvPr id="239" name="Google Shape;239;p36"/>
          <p:cNvPicPr preferRelativeResize="0"/>
          <p:nvPr/>
        </p:nvPicPr>
        <p:blipFill>
          <a:blip r:embed="rId3">
            <a:alphaModFix/>
          </a:blip>
          <a:stretch>
            <a:fillRect/>
          </a:stretch>
        </p:blipFill>
        <p:spPr>
          <a:xfrm>
            <a:off x="5007400" y="1190899"/>
            <a:ext cx="3326898" cy="361460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5" name="Google Shape;245;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Membuat moodboard yang baik</a:t>
            </a:r>
            <a:endParaRPr>
              <a:latin typeface="Montserrat"/>
              <a:ea typeface="Montserrat"/>
              <a:cs typeface="Montserrat"/>
              <a:sym typeface="Montserrat"/>
            </a:endParaRPr>
          </a:p>
        </p:txBody>
      </p:sp>
      <p:sp>
        <p:nvSpPr>
          <p:cNvPr id="246" name="Google Shape;246;p37"/>
          <p:cNvSpPr txBox="1"/>
          <p:nvPr/>
        </p:nvSpPr>
        <p:spPr>
          <a:xfrm>
            <a:off x="685800" y="2205300"/>
            <a:ext cx="3951300" cy="732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Dengan moodboard, kita jadi bisa mengetahui dan menentukan skema warnanya seperti apa, perasaan apa yang akan dirasakan user saat menggunakan produk kita, pemilihan font, elemen dalam user interface yang digunakan, dan lain-lain.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247" name="Google Shape;247;p37">
            <a:hlinkClick r:id="rId3"/>
          </p:cNvPr>
          <p:cNvPicPr preferRelativeResize="0"/>
          <p:nvPr/>
        </p:nvPicPr>
        <p:blipFill rotWithShape="1">
          <a:blip r:embed="rId4">
            <a:alphaModFix/>
          </a:blip>
          <a:srcRect b="48272" l="0" r="17985" t="0"/>
          <a:stretch/>
        </p:blipFill>
        <p:spPr>
          <a:xfrm>
            <a:off x="4906250" y="1444250"/>
            <a:ext cx="2289001" cy="1493950"/>
          </a:xfrm>
          <a:prstGeom prst="rect">
            <a:avLst/>
          </a:prstGeom>
          <a:noFill/>
          <a:ln>
            <a:noFill/>
          </a:ln>
        </p:spPr>
      </p:pic>
      <p:pic>
        <p:nvPicPr>
          <p:cNvPr id="248" name="Google Shape;248;p37"/>
          <p:cNvPicPr preferRelativeResize="0"/>
          <p:nvPr/>
        </p:nvPicPr>
        <p:blipFill>
          <a:blip r:embed="rId5">
            <a:alphaModFix/>
          </a:blip>
          <a:stretch>
            <a:fillRect/>
          </a:stretch>
        </p:blipFill>
        <p:spPr>
          <a:xfrm>
            <a:off x="4837575" y="1371399"/>
            <a:ext cx="3709825" cy="295266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4" name="Google Shape;254;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Membuat moodboard yang baik</a:t>
            </a:r>
            <a:endParaRPr>
              <a:latin typeface="Montserrat"/>
              <a:ea typeface="Montserrat"/>
              <a:cs typeface="Montserrat"/>
              <a:sym typeface="Montserrat"/>
            </a:endParaRPr>
          </a:p>
        </p:txBody>
      </p:sp>
      <p:sp>
        <p:nvSpPr>
          <p:cNvPr id="255" name="Google Shape;255;p38"/>
          <p:cNvSpPr txBox="1"/>
          <p:nvPr/>
        </p:nvSpPr>
        <p:spPr>
          <a:xfrm>
            <a:off x="685800" y="1867200"/>
            <a:ext cx="3951300" cy="1409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Dalam desain UX, moodboard adalah kolase gambar, font, interaksi, fitur, ikon, dan elemen UI untuk mengkomunikasikan arah artistik suatu proyek.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Moodboard untuk desain UX perlu difokuskan untuk memenuhi kebutuhan pengguna dan pemecahan masalah. </a:t>
            </a:r>
            <a:r>
              <a:rPr b="1" lang="en" sz="1000">
                <a:solidFill>
                  <a:schemeClr val="dk1"/>
                </a:solidFill>
                <a:latin typeface="Montserrat"/>
                <a:ea typeface="Montserrat"/>
                <a:cs typeface="Montserrat"/>
                <a:sym typeface="Montserrat"/>
              </a:rPr>
              <a:t>Berikut adalah beberapa hal yang perlu kamu lakukan saat memulai pembuatan moodboards.</a:t>
            </a:r>
            <a:endParaRPr b="1" sz="1000">
              <a:solidFill>
                <a:schemeClr val="dk1"/>
              </a:solidFill>
              <a:latin typeface="Montserrat"/>
              <a:ea typeface="Montserrat"/>
              <a:cs typeface="Montserrat"/>
              <a:sym typeface="Montserrat"/>
            </a:endParaRPr>
          </a:p>
        </p:txBody>
      </p:sp>
      <p:pic>
        <p:nvPicPr>
          <p:cNvPr id="256" name="Google Shape;256;p38">
            <a:hlinkClick r:id="rId3"/>
          </p:cNvPr>
          <p:cNvPicPr preferRelativeResize="0"/>
          <p:nvPr/>
        </p:nvPicPr>
        <p:blipFill rotWithShape="1">
          <a:blip r:embed="rId4">
            <a:alphaModFix/>
          </a:blip>
          <a:srcRect b="48272" l="0" r="17985" t="0"/>
          <a:stretch/>
        </p:blipFill>
        <p:spPr>
          <a:xfrm>
            <a:off x="4906250" y="1444250"/>
            <a:ext cx="2289001" cy="1493950"/>
          </a:xfrm>
          <a:prstGeom prst="rect">
            <a:avLst/>
          </a:prstGeom>
          <a:noFill/>
          <a:ln>
            <a:noFill/>
          </a:ln>
        </p:spPr>
      </p:pic>
      <p:pic>
        <p:nvPicPr>
          <p:cNvPr id="257" name="Google Shape;257;p38"/>
          <p:cNvPicPr preferRelativeResize="0"/>
          <p:nvPr/>
        </p:nvPicPr>
        <p:blipFill>
          <a:blip r:embed="rId5">
            <a:alphaModFix/>
          </a:blip>
          <a:stretch>
            <a:fillRect/>
          </a:stretch>
        </p:blipFill>
        <p:spPr>
          <a:xfrm>
            <a:off x="4837575" y="1371399"/>
            <a:ext cx="3709825" cy="295266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3" name="Google Shape;263;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Membuat moodboard yang baik</a:t>
            </a:r>
            <a:endParaRPr>
              <a:latin typeface="Montserrat"/>
              <a:ea typeface="Montserrat"/>
              <a:cs typeface="Montserrat"/>
              <a:sym typeface="Montserrat"/>
            </a:endParaRPr>
          </a:p>
        </p:txBody>
      </p:sp>
      <p:sp>
        <p:nvSpPr>
          <p:cNvPr id="264" name="Google Shape;264;p39"/>
          <p:cNvSpPr txBox="1"/>
          <p:nvPr/>
        </p:nvSpPr>
        <p:spPr>
          <a:xfrm>
            <a:off x="685800" y="2041948"/>
            <a:ext cx="4114800" cy="1059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Membuat moodboard yang baik tidaklah semudah </a:t>
            </a:r>
            <a:r>
              <a:rPr lang="en" sz="1000">
                <a:solidFill>
                  <a:schemeClr val="dk1"/>
                </a:solidFill>
                <a:latin typeface="Montserrat"/>
                <a:ea typeface="Montserrat"/>
                <a:cs typeface="Montserrat"/>
                <a:sym typeface="Montserrat"/>
              </a:rPr>
              <a:t>cinderella mendatangi pesta dansa atas bantuan ibu peri lho.</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Kamu perlu melakukan beberapa hal untuk menentukan skema warna, typography, suasana, dan sebagainya. Caranya gimana? Yuk simak penjelasan selanjutnya ~</a:t>
            </a:r>
            <a:endParaRPr b="1" sz="1000">
              <a:solidFill>
                <a:schemeClr val="dk1"/>
              </a:solidFill>
              <a:latin typeface="Montserrat"/>
              <a:ea typeface="Montserrat"/>
              <a:cs typeface="Montserrat"/>
              <a:sym typeface="Montserrat"/>
            </a:endParaRPr>
          </a:p>
        </p:txBody>
      </p:sp>
      <p:pic>
        <p:nvPicPr>
          <p:cNvPr id="265" name="Google Shape;265;p39"/>
          <p:cNvPicPr preferRelativeResize="0"/>
          <p:nvPr/>
        </p:nvPicPr>
        <p:blipFill>
          <a:blip r:embed="rId3">
            <a:alphaModFix/>
          </a:blip>
          <a:stretch>
            <a:fillRect/>
          </a:stretch>
        </p:blipFill>
        <p:spPr>
          <a:xfrm>
            <a:off x="5091825" y="1130325"/>
            <a:ext cx="2789699" cy="367027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1" name="Google Shape;271;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Membuat moodboard yang baik</a:t>
            </a:r>
            <a:endParaRPr>
              <a:latin typeface="Montserrat"/>
              <a:ea typeface="Montserrat"/>
              <a:cs typeface="Montserrat"/>
              <a:sym typeface="Montserrat"/>
            </a:endParaRPr>
          </a:p>
        </p:txBody>
      </p:sp>
      <p:sp>
        <p:nvSpPr>
          <p:cNvPr id="272" name="Google Shape;272;p40"/>
          <p:cNvSpPr txBox="1"/>
          <p:nvPr/>
        </p:nvSpPr>
        <p:spPr>
          <a:xfrm>
            <a:off x="685800" y="1709250"/>
            <a:ext cx="3951300" cy="1725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1) Research, research, and research…</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Seperti halnya menulis, sebelum memulai mengumpulkan ide untuk moodboard, pastikan kamu punya cukup wawasan tentang target pengguna.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Caranya gimana? Bisa mulai dengan mendefinisikan persona terlebih dahulu. Pastikan kamu mengumpulkan informasi yang cukup ya, sob ~</a:t>
            </a:r>
            <a:endParaRPr sz="1000">
              <a:solidFill>
                <a:schemeClr val="dk1"/>
              </a:solidFill>
              <a:latin typeface="Montserrat"/>
              <a:ea typeface="Montserrat"/>
              <a:cs typeface="Montserrat"/>
              <a:sym typeface="Montserrat"/>
            </a:endParaRPr>
          </a:p>
        </p:txBody>
      </p:sp>
      <p:pic>
        <p:nvPicPr>
          <p:cNvPr id="273" name="Google Shape;273;p40"/>
          <p:cNvPicPr preferRelativeResize="0"/>
          <p:nvPr/>
        </p:nvPicPr>
        <p:blipFill>
          <a:blip r:embed="rId3">
            <a:alphaModFix/>
          </a:blip>
          <a:stretch>
            <a:fillRect/>
          </a:stretch>
        </p:blipFill>
        <p:spPr>
          <a:xfrm>
            <a:off x="5093825" y="1157407"/>
            <a:ext cx="3113775" cy="364319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9" name="Google Shape;279;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Membuat moodboard yang baik</a:t>
            </a:r>
            <a:endParaRPr>
              <a:latin typeface="Montserrat"/>
              <a:ea typeface="Montserrat"/>
              <a:cs typeface="Montserrat"/>
              <a:sym typeface="Montserrat"/>
            </a:endParaRPr>
          </a:p>
        </p:txBody>
      </p:sp>
      <p:sp>
        <p:nvSpPr>
          <p:cNvPr id="280" name="Google Shape;280;p41"/>
          <p:cNvSpPr txBox="1"/>
          <p:nvPr/>
        </p:nvSpPr>
        <p:spPr>
          <a:xfrm>
            <a:off x="685800" y="1540400"/>
            <a:ext cx="3951300" cy="2222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2</a:t>
            </a:r>
            <a:r>
              <a:rPr b="1" lang="en" sz="1600">
                <a:solidFill>
                  <a:srgbClr val="743673"/>
                </a:solidFill>
                <a:highlight>
                  <a:schemeClr val="lt1"/>
                </a:highlight>
                <a:latin typeface="Montserrat"/>
                <a:ea typeface="Montserrat"/>
                <a:cs typeface="Montserrat"/>
                <a:sym typeface="Montserrat"/>
              </a:rPr>
              <a:t>) </a:t>
            </a:r>
            <a:r>
              <a:rPr b="1" lang="en" sz="1600">
                <a:solidFill>
                  <a:srgbClr val="743673"/>
                </a:solidFill>
                <a:highlight>
                  <a:schemeClr val="lt1"/>
                </a:highlight>
                <a:latin typeface="Montserrat"/>
                <a:ea typeface="Montserrat"/>
                <a:cs typeface="Montserrat"/>
                <a:sym typeface="Montserrat"/>
              </a:rPr>
              <a:t>Melakukan wawancara dengan pemangku kepentingan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Kamu boleh lho meminta referensi desain visual dan panduan merek (brand guidelines). Jangan takut buat memintanya, sob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Kamu bisa tanya ke pemangku kepentingan (stakeholders), misalnya: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Seperti apa seharusnya produk yang ingin dibuat?</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Apakah ada arahan desain yang ingin disasar?</a:t>
            </a:r>
            <a:endParaRPr sz="1000">
              <a:solidFill>
                <a:schemeClr val="dk1"/>
              </a:solidFill>
              <a:latin typeface="Montserrat"/>
              <a:ea typeface="Montserrat"/>
              <a:cs typeface="Montserrat"/>
              <a:sym typeface="Montserrat"/>
            </a:endParaRPr>
          </a:p>
        </p:txBody>
      </p:sp>
      <p:pic>
        <p:nvPicPr>
          <p:cNvPr id="281" name="Google Shape;281;p41"/>
          <p:cNvPicPr preferRelativeResize="0"/>
          <p:nvPr/>
        </p:nvPicPr>
        <p:blipFill>
          <a:blip r:embed="rId3">
            <a:alphaModFix/>
          </a:blip>
          <a:stretch>
            <a:fillRect/>
          </a:stretch>
        </p:blipFill>
        <p:spPr>
          <a:xfrm>
            <a:off x="4724400" y="1540400"/>
            <a:ext cx="4013175" cy="267942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7" name="Google Shape;287;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Membuat moodboard yang baik</a:t>
            </a:r>
            <a:endParaRPr>
              <a:latin typeface="Montserrat"/>
              <a:ea typeface="Montserrat"/>
              <a:cs typeface="Montserrat"/>
              <a:sym typeface="Montserrat"/>
            </a:endParaRPr>
          </a:p>
        </p:txBody>
      </p:sp>
      <p:sp>
        <p:nvSpPr>
          <p:cNvPr id="288" name="Google Shape;288;p42"/>
          <p:cNvSpPr txBox="1"/>
          <p:nvPr/>
        </p:nvSpPr>
        <p:spPr>
          <a:xfrm>
            <a:off x="685800" y="2125350"/>
            <a:ext cx="4114800" cy="892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Dari sana, perhatikan baik-baik dan cari kata kuncinya.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Sebagian besar klien menggunakan istilah, seperti ‘clean’, yang cenderung berarti banyak ruang negatif dan tata letak terorganisir.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289" name="Google Shape;289;p42"/>
          <p:cNvPicPr preferRelativeResize="0"/>
          <p:nvPr/>
        </p:nvPicPr>
        <p:blipFill>
          <a:blip r:embed="rId3">
            <a:alphaModFix/>
          </a:blip>
          <a:stretch>
            <a:fillRect/>
          </a:stretch>
        </p:blipFill>
        <p:spPr>
          <a:xfrm>
            <a:off x="5287200" y="1193475"/>
            <a:ext cx="2424525" cy="36071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5" name="Google Shape;295;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Membuat moodboard yang baik</a:t>
            </a:r>
            <a:endParaRPr>
              <a:latin typeface="Montserrat"/>
              <a:ea typeface="Montserrat"/>
              <a:cs typeface="Montserrat"/>
              <a:sym typeface="Montserrat"/>
            </a:endParaRPr>
          </a:p>
        </p:txBody>
      </p:sp>
      <p:sp>
        <p:nvSpPr>
          <p:cNvPr id="296" name="Google Shape;296;p43"/>
          <p:cNvSpPr txBox="1"/>
          <p:nvPr/>
        </p:nvSpPr>
        <p:spPr>
          <a:xfrm>
            <a:off x="685800" y="1714499"/>
            <a:ext cx="4114800" cy="1714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3</a:t>
            </a:r>
            <a:r>
              <a:rPr b="1" lang="en" sz="1600">
                <a:solidFill>
                  <a:srgbClr val="743673"/>
                </a:solidFill>
                <a:highlight>
                  <a:schemeClr val="lt1"/>
                </a:highlight>
                <a:latin typeface="Montserrat"/>
                <a:ea typeface="Montserrat"/>
                <a:cs typeface="Montserrat"/>
                <a:sym typeface="Montserrat"/>
              </a:rPr>
              <a:t>) </a:t>
            </a:r>
            <a:r>
              <a:rPr b="1" lang="en" sz="1600">
                <a:solidFill>
                  <a:srgbClr val="743673"/>
                </a:solidFill>
                <a:highlight>
                  <a:schemeClr val="lt1"/>
                </a:highlight>
                <a:latin typeface="Montserrat"/>
                <a:ea typeface="Montserrat"/>
                <a:cs typeface="Montserrat"/>
                <a:sym typeface="Montserrat"/>
              </a:rPr>
              <a:t>Kenali pasar dan pesaing kamu</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Seperti halnya competitive research, kamu perlu mencari tahu standar pasar dalam psikologi warna, tipografi, dan desain keseluruhan.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Selain itu, kamu bisa menyimak apa saja yang dilakukan oleh pesaing lewat produk mereka. Kemudian, coba lakukan analisis terkait apa yang salah dan yang benar dari desain mereka.</a:t>
            </a:r>
            <a:endParaRPr sz="1000">
              <a:solidFill>
                <a:schemeClr val="dk1"/>
              </a:solidFill>
              <a:latin typeface="Montserrat"/>
              <a:ea typeface="Montserrat"/>
              <a:cs typeface="Montserrat"/>
              <a:sym typeface="Montserrat"/>
            </a:endParaRPr>
          </a:p>
        </p:txBody>
      </p:sp>
      <p:pic>
        <p:nvPicPr>
          <p:cNvPr id="297" name="Google Shape;297;p43"/>
          <p:cNvPicPr preferRelativeResize="0"/>
          <p:nvPr/>
        </p:nvPicPr>
        <p:blipFill>
          <a:blip r:embed="rId3">
            <a:alphaModFix/>
          </a:blip>
          <a:stretch>
            <a:fillRect/>
          </a:stretch>
        </p:blipFill>
        <p:spPr>
          <a:xfrm>
            <a:off x="5125625" y="1090848"/>
            <a:ext cx="2931352" cy="370975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3" name="Google Shape;303;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Membuat moodboard yang baik</a:t>
            </a:r>
            <a:endParaRPr>
              <a:latin typeface="Montserrat"/>
              <a:ea typeface="Montserrat"/>
              <a:cs typeface="Montserrat"/>
              <a:sym typeface="Montserrat"/>
            </a:endParaRPr>
          </a:p>
        </p:txBody>
      </p:sp>
      <p:sp>
        <p:nvSpPr>
          <p:cNvPr id="304" name="Google Shape;304;p44"/>
          <p:cNvSpPr txBox="1"/>
          <p:nvPr/>
        </p:nvSpPr>
        <p:spPr>
          <a:xfrm>
            <a:off x="685800" y="1783048"/>
            <a:ext cx="4114800" cy="1577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Setelah itu…</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Setelah kamu melakukan hal-hal yang disebutkan tadi, artinya kamu sudah siap untuk menemukan referensi dan membuat moodboard. Yihaww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yuk kita bahas lagi kira-kira apa saja yang perlu dilakukan saat membuat moodboard. Let’s gooo!</a:t>
            </a:r>
            <a:endParaRPr b="1" sz="1200">
              <a:solidFill>
                <a:schemeClr val="dk1"/>
              </a:solidFill>
              <a:latin typeface="Montserrat"/>
              <a:ea typeface="Montserrat"/>
              <a:cs typeface="Montserrat"/>
              <a:sym typeface="Montserrat"/>
            </a:endParaRPr>
          </a:p>
        </p:txBody>
      </p:sp>
      <p:pic>
        <p:nvPicPr>
          <p:cNvPr id="305" name="Google Shape;305;p44"/>
          <p:cNvPicPr preferRelativeResize="0"/>
          <p:nvPr/>
        </p:nvPicPr>
        <p:blipFill>
          <a:blip r:embed="rId3">
            <a:alphaModFix/>
          </a:blip>
          <a:stretch>
            <a:fillRect/>
          </a:stretch>
        </p:blipFill>
        <p:spPr>
          <a:xfrm>
            <a:off x="5579000" y="1169275"/>
            <a:ext cx="2253629" cy="363132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Montserrat"/>
                <a:ea typeface="Montserrat"/>
                <a:cs typeface="Montserrat"/>
                <a:sym typeface="Montserrat"/>
              </a:rPr>
              <a:t>‹#›</a:t>
            </a:fld>
            <a:endParaRPr>
              <a:latin typeface="Montserrat"/>
              <a:ea typeface="Montserrat"/>
              <a:cs typeface="Montserrat"/>
              <a:sym typeface="Montserrat"/>
            </a:endParaRPr>
          </a:p>
        </p:txBody>
      </p:sp>
      <p:sp>
        <p:nvSpPr>
          <p:cNvPr id="311" name="Google Shape;311;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Membuat moodboard yang baik</a:t>
            </a:r>
            <a:endParaRPr>
              <a:latin typeface="Montserrat"/>
              <a:ea typeface="Montserrat"/>
              <a:cs typeface="Montserrat"/>
              <a:sym typeface="Montserrat"/>
            </a:endParaRPr>
          </a:p>
        </p:txBody>
      </p:sp>
      <p:grpSp>
        <p:nvGrpSpPr>
          <p:cNvPr id="312" name="Google Shape;312;p45"/>
          <p:cNvGrpSpPr/>
          <p:nvPr/>
        </p:nvGrpSpPr>
        <p:grpSpPr>
          <a:xfrm>
            <a:off x="0" y="1113789"/>
            <a:ext cx="2214600" cy="3217636"/>
            <a:chOff x="0" y="1189989"/>
            <a:chExt cx="2214600" cy="3217636"/>
          </a:xfrm>
        </p:grpSpPr>
        <p:sp>
          <p:nvSpPr>
            <p:cNvPr id="313" name="Google Shape;313;p45"/>
            <p:cNvSpPr/>
            <p:nvPr/>
          </p:nvSpPr>
          <p:spPr>
            <a:xfrm>
              <a:off x="0" y="1189989"/>
              <a:ext cx="2214600" cy="669000"/>
            </a:xfrm>
            <a:prstGeom prst="homePlate">
              <a:avLst>
                <a:gd fmla="val 50000" name="adj"/>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rgbClr val="FFFFFF"/>
                  </a:solidFill>
                  <a:latin typeface="Montserrat"/>
                  <a:ea typeface="Montserrat"/>
                  <a:cs typeface="Montserrat"/>
                  <a:sym typeface="Montserrat"/>
                </a:rPr>
                <a:t>Step 1</a:t>
              </a:r>
              <a:endParaRPr b="1" sz="1300">
                <a:solidFill>
                  <a:srgbClr val="FFFFFF"/>
                </a:solidFill>
                <a:latin typeface="Montserrat"/>
                <a:ea typeface="Montserrat"/>
                <a:cs typeface="Montserrat"/>
                <a:sym typeface="Montserrat"/>
              </a:endParaRPr>
            </a:p>
          </p:txBody>
        </p:sp>
        <p:sp>
          <p:nvSpPr>
            <p:cNvPr id="314" name="Google Shape;314;p45"/>
            <p:cNvSpPr txBox="1"/>
            <p:nvPr/>
          </p:nvSpPr>
          <p:spPr>
            <a:xfrm>
              <a:off x="243350" y="2057125"/>
              <a:ext cx="17697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000">
                  <a:latin typeface="Montserrat"/>
                  <a:ea typeface="Montserrat"/>
                  <a:cs typeface="Montserrat"/>
                  <a:sym typeface="Montserrat"/>
                </a:rPr>
                <a:t>Tentukan mood statements</a:t>
              </a:r>
              <a:r>
                <a:rPr lang="en" sz="1000">
                  <a:latin typeface="Montserrat Medium"/>
                  <a:ea typeface="Montserrat Medium"/>
                  <a:cs typeface="Montserrat Medium"/>
                  <a:sym typeface="Montserrat Medium"/>
                </a:rPr>
                <a:t> </a:t>
              </a:r>
              <a:r>
                <a:rPr lang="en" sz="1000">
                  <a:latin typeface="Montserrat"/>
                  <a:ea typeface="Montserrat"/>
                  <a:cs typeface="Montserrat"/>
                  <a:sym typeface="Montserrat"/>
                </a:rPr>
                <a:t>(pernyataan suasana hati) yang berpusat pada pengguna. </a:t>
              </a:r>
              <a:br>
                <a:rPr lang="en" sz="1000">
                  <a:latin typeface="Montserrat"/>
                  <a:ea typeface="Montserrat"/>
                  <a:cs typeface="Montserrat"/>
                  <a:sym typeface="Montserrat"/>
                </a:rPr>
              </a:br>
              <a:br>
                <a:rPr lang="en" sz="1000">
                  <a:latin typeface="Montserrat"/>
                  <a:ea typeface="Montserrat"/>
                  <a:cs typeface="Montserrat"/>
                  <a:sym typeface="Montserrat"/>
                </a:rPr>
              </a:br>
              <a:r>
                <a:rPr lang="en" sz="1000">
                  <a:latin typeface="Montserrat"/>
                  <a:ea typeface="Montserrat"/>
                  <a:cs typeface="Montserrat"/>
                  <a:sym typeface="Montserrat"/>
                </a:rPr>
                <a:t>Mood statements adalah kalimat pendek yang menentukan perasaan pengguna saat berinteraksi dengan layanan atau fitur kamu.</a:t>
              </a:r>
              <a:endParaRPr sz="1000">
                <a:latin typeface="Montserrat"/>
                <a:ea typeface="Montserrat"/>
                <a:cs typeface="Montserrat"/>
                <a:sym typeface="Montserrat"/>
              </a:endParaRPr>
            </a:p>
          </p:txBody>
        </p:sp>
      </p:grpSp>
      <p:grpSp>
        <p:nvGrpSpPr>
          <p:cNvPr id="315" name="Google Shape;315;p45"/>
          <p:cNvGrpSpPr/>
          <p:nvPr/>
        </p:nvGrpSpPr>
        <p:grpSpPr>
          <a:xfrm>
            <a:off x="1838325" y="1113575"/>
            <a:ext cx="2064000" cy="3498650"/>
            <a:chOff x="1838325" y="1189775"/>
            <a:chExt cx="2064000" cy="3498650"/>
          </a:xfrm>
        </p:grpSpPr>
        <p:sp>
          <p:nvSpPr>
            <p:cNvPr id="316" name="Google Shape;316;p45"/>
            <p:cNvSpPr/>
            <p:nvPr/>
          </p:nvSpPr>
          <p:spPr>
            <a:xfrm>
              <a:off x="1838325"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FFFFFF"/>
                  </a:solidFill>
                  <a:latin typeface="Montserrat Medium"/>
                  <a:ea typeface="Montserrat Medium"/>
                  <a:cs typeface="Montserrat Medium"/>
                  <a:sym typeface="Montserrat Medium"/>
                </a:rPr>
                <a:t>Step 2</a:t>
              </a:r>
              <a:endParaRPr sz="1300">
                <a:solidFill>
                  <a:srgbClr val="FFFFFF"/>
                </a:solidFill>
                <a:latin typeface="Montserrat Medium"/>
                <a:ea typeface="Montserrat Medium"/>
                <a:cs typeface="Montserrat Medium"/>
                <a:sym typeface="Montserrat Medium"/>
              </a:endParaRPr>
            </a:p>
          </p:txBody>
        </p:sp>
        <p:sp>
          <p:nvSpPr>
            <p:cNvPr id="317" name="Google Shape;317;p45"/>
            <p:cNvSpPr txBox="1"/>
            <p:nvPr/>
          </p:nvSpPr>
          <p:spPr>
            <a:xfrm>
              <a:off x="2017250" y="2057125"/>
              <a:ext cx="1624500" cy="263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000">
                  <a:latin typeface="Montserrat"/>
                  <a:ea typeface="Montserrat"/>
                  <a:cs typeface="Montserrat"/>
                  <a:sym typeface="Montserrat"/>
                </a:rPr>
                <a:t>Atur mood dengan mendefinisikan respons emosional</a:t>
              </a:r>
              <a:r>
                <a:rPr lang="en" sz="1000">
                  <a:latin typeface="Montserrat Medium"/>
                  <a:ea typeface="Montserrat Medium"/>
                  <a:cs typeface="Montserrat Medium"/>
                  <a:sym typeface="Montserrat Medium"/>
                </a:rPr>
                <a:t>. </a:t>
              </a:r>
              <a:br>
                <a:rPr lang="en" sz="1000">
                  <a:latin typeface="Montserrat Medium"/>
                  <a:ea typeface="Montserrat Medium"/>
                  <a:cs typeface="Montserrat Medium"/>
                  <a:sym typeface="Montserrat Medium"/>
                </a:rPr>
              </a:br>
              <a:br>
                <a:rPr lang="en" sz="1000">
                  <a:latin typeface="Montserrat Medium"/>
                  <a:ea typeface="Montserrat Medium"/>
                  <a:cs typeface="Montserrat Medium"/>
                  <a:sym typeface="Montserrat Medium"/>
                </a:rPr>
              </a:br>
              <a:r>
                <a:rPr lang="en" sz="1000">
                  <a:latin typeface="Montserrat"/>
                  <a:ea typeface="Montserrat"/>
                  <a:cs typeface="Montserrat"/>
                  <a:sym typeface="Montserrat"/>
                </a:rPr>
                <a:t>Perhatikan emosi di setiap mood statements atau tuliskan secara terpisah–tergantung banyaknya persona pengguna yang kamu miliki.</a:t>
              </a:r>
              <a:endParaRPr sz="1000">
                <a:latin typeface="Montserrat"/>
                <a:ea typeface="Montserrat"/>
                <a:cs typeface="Montserrat"/>
                <a:sym typeface="Montserrat"/>
              </a:endParaRPr>
            </a:p>
          </p:txBody>
        </p:sp>
      </p:grpSp>
      <p:grpSp>
        <p:nvGrpSpPr>
          <p:cNvPr id="318" name="Google Shape;318;p45"/>
          <p:cNvGrpSpPr/>
          <p:nvPr/>
        </p:nvGrpSpPr>
        <p:grpSpPr>
          <a:xfrm>
            <a:off x="3516750" y="1113575"/>
            <a:ext cx="2064000" cy="3217850"/>
            <a:chOff x="3516750" y="1189775"/>
            <a:chExt cx="2064000" cy="3217850"/>
          </a:xfrm>
        </p:grpSpPr>
        <p:sp>
          <p:nvSpPr>
            <p:cNvPr id="319" name="Google Shape;319;p45"/>
            <p:cNvSpPr/>
            <p:nvPr/>
          </p:nvSpPr>
          <p:spPr>
            <a:xfrm>
              <a:off x="3516750"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rgbClr val="FFFFFF"/>
                  </a:solidFill>
                  <a:latin typeface="Montserrat"/>
                  <a:ea typeface="Montserrat"/>
                  <a:cs typeface="Montserrat"/>
                  <a:sym typeface="Montserrat"/>
                </a:rPr>
                <a:t>Step 3</a:t>
              </a:r>
              <a:endParaRPr b="1" sz="1300">
                <a:solidFill>
                  <a:srgbClr val="FFFFFF"/>
                </a:solidFill>
                <a:latin typeface="Montserrat"/>
                <a:ea typeface="Montserrat"/>
                <a:cs typeface="Montserrat"/>
                <a:sym typeface="Montserrat"/>
              </a:endParaRPr>
            </a:p>
          </p:txBody>
        </p:sp>
        <p:sp>
          <p:nvSpPr>
            <p:cNvPr id="320" name="Google Shape;320;p45"/>
            <p:cNvSpPr txBox="1"/>
            <p:nvPr/>
          </p:nvSpPr>
          <p:spPr>
            <a:xfrm>
              <a:off x="37394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000">
                  <a:latin typeface="Montserrat"/>
                  <a:ea typeface="Montserrat"/>
                  <a:cs typeface="Montserrat"/>
                  <a:sym typeface="Montserrat"/>
                </a:rPr>
                <a:t>Tentukan gaya visual.</a:t>
              </a:r>
              <a:endParaRPr b="1" sz="1000">
                <a:latin typeface="Montserrat"/>
                <a:ea typeface="Montserrat"/>
                <a:cs typeface="Montserrat"/>
                <a:sym typeface="Montserrat"/>
              </a:endParaRPr>
            </a:p>
            <a:p>
              <a:pPr indent="0" lvl="0" marL="0" rtl="0" algn="l">
                <a:lnSpc>
                  <a:spcPct val="115000"/>
                </a:lnSpc>
                <a:spcBef>
                  <a:spcPts val="0"/>
                </a:spcBef>
                <a:spcAft>
                  <a:spcPts val="0"/>
                </a:spcAft>
                <a:buNone/>
              </a:pPr>
              <a:r>
                <a:t/>
              </a:r>
              <a:endParaRPr sz="1000">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rPr lang="en" sz="1000">
                  <a:latin typeface="Montserrat"/>
                  <a:ea typeface="Montserrat"/>
                  <a:cs typeface="Montserrat"/>
                  <a:sym typeface="Montserrat"/>
                </a:rPr>
                <a:t>Gaya visual adalah bagaimana desain akan terlihat, font, warna, dan fotografi yang akan kamu gunakan. </a:t>
              </a:r>
              <a:endParaRPr sz="1000">
                <a:latin typeface="Montserrat"/>
                <a:ea typeface="Montserrat"/>
                <a:cs typeface="Montserrat"/>
                <a:sym typeface="Montserrat"/>
              </a:endParaRPr>
            </a:p>
          </p:txBody>
        </p:sp>
      </p:grpSp>
      <p:grpSp>
        <p:nvGrpSpPr>
          <p:cNvPr id="321" name="Google Shape;321;p45"/>
          <p:cNvGrpSpPr/>
          <p:nvPr/>
        </p:nvGrpSpPr>
        <p:grpSpPr>
          <a:xfrm>
            <a:off x="6874025" y="1113575"/>
            <a:ext cx="2064000" cy="3790250"/>
            <a:chOff x="6874025" y="1189775"/>
            <a:chExt cx="2064000" cy="3790250"/>
          </a:xfrm>
        </p:grpSpPr>
        <p:sp>
          <p:nvSpPr>
            <p:cNvPr id="322" name="Google Shape;322;p45"/>
            <p:cNvSpPr/>
            <p:nvPr/>
          </p:nvSpPr>
          <p:spPr>
            <a:xfrm>
              <a:off x="6874025"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rgbClr val="FFFFFF"/>
                  </a:solidFill>
                  <a:latin typeface="Montserrat"/>
                  <a:ea typeface="Montserrat"/>
                  <a:cs typeface="Montserrat"/>
                  <a:sym typeface="Montserrat"/>
                </a:rPr>
                <a:t>Step 5</a:t>
              </a:r>
              <a:endParaRPr b="1" sz="1300">
                <a:solidFill>
                  <a:srgbClr val="FFFFFF"/>
                </a:solidFill>
                <a:latin typeface="Montserrat"/>
                <a:ea typeface="Montserrat"/>
                <a:cs typeface="Montserrat"/>
                <a:sym typeface="Montserrat"/>
              </a:endParaRPr>
            </a:p>
          </p:txBody>
        </p:sp>
        <p:sp>
          <p:nvSpPr>
            <p:cNvPr id="323" name="Google Shape;323;p45"/>
            <p:cNvSpPr txBox="1"/>
            <p:nvPr/>
          </p:nvSpPr>
          <p:spPr>
            <a:xfrm>
              <a:off x="7183850" y="2057125"/>
              <a:ext cx="1624500" cy="292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000">
                  <a:latin typeface="Montserrat"/>
                  <a:ea typeface="Montserrat"/>
                  <a:cs typeface="Montserrat"/>
                  <a:sym typeface="Montserrat"/>
                </a:rPr>
                <a:t>Tentukan arah  desain kamu.</a:t>
              </a:r>
              <a:br>
                <a:rPr lang="en" sz="1000">
                  <a:latin typeface="Montserrat Medium"/>
                  <a:ea typeface="Montserrat Medium"/>
                  <a:cs typeface="Montserrat Medium"/>
                  <a:sym typeface="Montserrat Medium"/>
                </a:rPr>
              </a:br>
              <a:br>
                <a:rPr lang="en" sz="1000">
                  <a:latin typeface="Montserrat Medium"/>
                  <a:ea typeface="Montserrat Medium"/>
                  <a:cs typeface="Montserrat Medium"/>
                  <a:sym typeface="Montserrat Medium"/>
                </a:rPr>
              </a:br>
              <a:r>
                <a:rPr lang="en" sz="1000">
                  <a:latin typeface="Montserrat"/>
                  <a:ea typeface="Montserrat"/>
                  <a:cs typeface="Montserrat"/>
                  <a:sym typeface="Montserrat"/>
                </a:rPr>
                <a:t>Kamu perlu menentukan arahan yang kuat dan tidak general. Sehingga, saat proses desain berlangsung, kamu bisa tetap fokus dan mencapai arah desain yang diinginkan.</a:t>
              </a:r>
              <a:endParaRPr sz="1000">
                <a:latin typeface="Montserrat"/>
                <a:ea typeface="Montserrat"/>
                <a:cs typeface="Montserrat"/>
                <a:sym typeface="Montserrat"/>
              </a:endParaRPr>
            </a:p>
          </p:txBody>
        </p:sp>
      </p:grpSp>
      <p:grpSp>
        <p:nvGrpSpPr>
          <p:cNvPr id="324" name="Google Shape;324;p45"/>
          <p:cNvGrpSpPr/>
          <p:nvPr/>
        </p:nvGrpSpPr>
        <p:grpSpPr>
          <a:xfrm>
            <a:off x="5195350" y="1113575"/>
            <a:ext cx="2064000" cy="3217850"/>
            <a:chOff x="5195350" y="1189775"/>
            <a:chExt cx="2064000" cy="3217850"/>
          </a:xfrm>
        </p:grpSpPr>
        <p:sp>
          <p:nvSpPr>
            <p:cNvPr id="325" name="Google Shape;325;p45"/>
            <p:cNvSpPr/>
            <p:nvPr/>
          </p:nvSpPr>
          <p:spPr>
            <a:xfrm>
              <a:off x="5195350"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rgbClr val="FFFFFF"/>
                  </a:solidFill>
                  <a:latin typeface="Montserrat"/>
                  <a:ea typeface="Montserrat"/>
                  <a:cs typeface="Montserrat"/>
                  <a:sym typeface="Montserrat"/>
                </a:rPr>
                <a:t>Step 4</a:t>
              </a:r>
              <a:endParaRPr b="1" sz="1300">
                <a:solidFill>
                  <a:srgbClr val="FFFFFF"/>
                </a:solidFill>
                <a:latin typeface="Montserrat"/>
                <a:ea typeface="Montserrat"/>
                <a:cs typeface="Montserrat"/>
                <a:sym typeface="Montserrat"/>
              </a:endParaRPr>
            </a:p>
          </p:txBody>
        </p:sp>
        <p:sp>
          <p:nvSpPr>
            <p:cNvPr id="326" name="Google Shape;326;p45"/>
            <p:cNvSpPr txBox="1"/>
            <p:nvPr/>
          </p:nvSpPr>
          <p:spPr>
            <a:xfrm>
              <a:off x="54616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000">
                  <a:solidFill>
                    <a:schemeClr val="dk1"/>
                  </a:solidFill>
                  <a:latin typeface="Montserrat"/>
                  <a:ea typeface="Montserrat"/>
                  <a:cs typeface="Montserrat"/>
                  <a:sym typeface="Montserrat"/>
                </a:rPr>
                <a:t>Temukan suara dan nada produk kamu.</a:t>
              </a:r>
              <a:br>
                <a:rPr b="1" lang="en" sz="1000">
                  <a:solidFill>
                    <a:schemeClr val="dk1"/>
                  </a:solidFill>
                  <a:latin typeface="Montserrat"/>
                  <a:ea typeface="Montserrat"/>
                  <a:cs typeface="Montserrat"/>
                  <a:sym typeface="Montserrat"/>
                </a:rPr>
              </a:br>
              <a:endParaRPr b="1"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rPr lang="en" sz="1000">
                  <a:solidFill>
                    <a:schemeClr val="dk1"/>
                  </a:solidFill>
                  <a:latin typeface="Montserrat"/>
                  <a:ea typeface="Montserrat"/>
                  <a:cs typeface="Montserrat"/>
                  <a:sym typeface="Montserrat"/>
                </a:rPr>
                <a:t>Suara adalah kepribadian produk kamu. Suara dan nada bisa keras, ramah, formal, optimis, dan lain-lain.</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Tentukan bagaimana kamu ingin orang lain melihat produk kamu.</a:t>
              </a:r>
              <a:endParaRPr sz="1000">
                <a:solidFill>
                  <a:schemeClr val="dk1"/>
                </a:solidFill>
                <a:latin typeface="Montserrat"/>
                <a:ea typeface="Montserrat"/>
                <a:cs typeface="Montserrat"/>
                <a:sym typeface="Montserrat"/>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2" name="Google Shape;332;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Membuat moodboard yang baik</a:t>
            </a:r>
            <a:endParaRPr>
              <a:latin typeface="Montserrat"/>
              <a:ea typeface="Montserrat"/>
              <a:cs typeface="Montserrat"/>
              <a:sym typeface="Montserrat"/>
            </a:endParaRPr>
          </a:p>
        </p:txBody>
      </p:sp>
      <p:grpSp>
        <p:nvGrpSpPr>
          <p:cNvPr id="333" name="Google Shape;333;p46"/>
          <p:cNvGrpSpPr/>
          <p:nvPr/>
        </p:nvGrpSpPr>
        <p:grpSpPr>
          <a:xfrm>
            <a:off x="0" y="1113789"/>
            <a:ext cx="2214600" cy="3217636"/>
            <a:chOff x="0" y="1189989"/>
            <a:chExt cx="2214600" cy="3217636"/>
          </a:xfrm>
        </p:grpSpPr>
        <p:sp>
          <p:nvSpPr>
            <p:cNvPr id="334" name="Google Shape;334;p46"/>
            <p:cNvSpPr/>
            <p:nvPr/>
          </p:nvSpPr>
          <p:spPr>
            <a:xfrm>
              <a:off x="0" y="1189989"/>
              <a:ext cx="2214600" cy="669000"/>
            </a:xfrm>
            <a:prstGeom prst="homePlate">
              <a:avLst>
                <a:gd fmla="val 50000" name="adj"/>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rgbClr val="FFFFFF"/>
                  </a:solidFill>
                  <a:latin typeface="Montserrat"/>
                  <a:ea typeface="Montserrat"/>
                  <a:cs typeface="Montserrat"/>
                  <a:sym typeface="Montserrat"/>
                </a:rPr>
                <a:t>Step 6</a:t>
              </a:r>
              <a:endParaRPr b="1" sz="1300">
                <a:solidFill>
                  <a:srgbClr val="FFFFFF"/>
                </a:solidFill>
                <a:latin typeface="Montserrat"/>
                <a:ea typeface="Montserrat"/>
                <a:cs typeface="Montserrat"/>
                <a:sym typeface="Montserrat"/>
              </a:endParaRPr>
            </a:p>
          </p:txBody>
        </p:sp>
        <p:sp>
          <p:nvSpPr>
            <p:cNvPr id="335" name="Google Shape;335;p46"/>
            <p:cNvSpPr txBox="1"/>
            <p:nvPr/>
          </p:nvSpPr>
          <p:spPr>
            <a:xfrm>
              <a:off x="243350" y="2057125"/>
              <a:ext cx="17697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100">
                  <a:latin typeface="Montserrat"/>
                  <a:ea typeface="Montserrat"/>
                  <a:cs typeface="Montserrat"/>
                  <a:sym typeface="Montserrat"/>
                </a:rPr>
                <a:t>Tentukan bahasa dan grafis.</a:t>
              </a:r>
              <a:br>
                <a:rPr lang="en" sz="1100">
                  <a:latin typeface="Montserrat Medium"/>
                  <a:ea typeface="Montserrat Medium"/>
                  <a:cs typeface="Montserrat Medium"/>
                  <a:sym typeface="Montserrat Medium"/>
                </a:rPr>
              </a:br>
              <a:br>
                <a:rPr lang="en" sz="1100">
                  <a:latin typeface="Montserrat Medium"/>
                  <a:ea typeface="Montserrat Medium"/>
                  <a:cs typeface="Montserrat Medium"/>
                  <a:sym typeface="Montserrat Medium"/>
                </a:rPr>
              </a:br>
              <a:r>
                <a:rPr lang="en" sz="1000">
                  <a:latin typeface="Montserrat"/>
                  <a:ea typeface="Montserrat"/>
                  <a:cs typeface="Montserrat"/>
                  <a:sym typeface="Montserrat"/>
                </a:rPr>
                <a:t>Pada langkah ini, kamu  perlu menentukan apakah kamu akan menggunakan video, ilustrasi, atau fotografi yang menawan untuk menyampaikan pesan. </a:t>
              </a:r>
              <a:endParaRPr sz="1000">
                <a:latin typeface="Montserrat"/>
                <a:ea typeface="Montserrat"/>
                <a:cs typeface="Montserrat"/>
                <a:sym typeface="Montserrat"/>
              </a:endParaRPr>
            </a:p>
          </p:txBody>
        </p:sp>
      </p:grpSp>
      <p:grpSp>
        <p:nvGrpSpPr>
          <p:cNvPr id="336" name="Google Shape;336;p46"/>
          <p:cNvGrpSpPr/>
          <p:nvPr/>
        </p:nvGrpSpPr>
        <p:grpSpPr>
          <a:xfrm>
            <a:off x="1838325" y="1113575"/>
            <a:ext cx="2064000" cy="3498650"/>
            <a:chOff x="1838325" y="1189775"/>
            <a:chExt cx="2064000" cy="3498650"/>
          </a:xfrm>
        </p:grpSpPr>
        <p:sp>
          <p:nvSpPr>
            <p:cNvPr id="337" name="Google Shape;337;p46"/>
            <p:cNvSpPr/>
            <p:nvPr/>
          </p:nvSpPr>
          <p:spPr>
            <a:xfrm>
              <a:off x="1838325"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Montserrat Medium"/>
                  <a:ea typeface="Montserrat Medium"/>
                  <a:cs typeface="Montserrat Medium"/>
                  <a:sym typeface="Montserrat Medium"/>
                </a:rPr>
                <a:t>Step 7</a:t>
              </a:r>
              <a:endParaRPr>
                <a:solidFill>
                  <a:srgbClr val="FFFFFF"/>
                </a:solidFill>
                <a:latin typeface="Montserrat Medium"/>
                <a:ea typeface="Montserrat Medium"/>
                <a:cs typeface="Montserrat Medium"/>
                <a:sym typeface="Montserrat Medium"/>
              </a:endParaRPr>
            </a:p>
          </p:txBody>
        </p:sp>
        <p:sp>
          <p:nvSpPr>
            <p:cNvPr id="338" name="Google Shape;338;p46"/>
            <p:cNvSpPr txBox="1"/>
            <p:nvPr/>
          </p:nvSpPr>
          <p:spPr>
            <a:xfrm>
              <a:off x="2017250" y="2057125"/>
              <a:ext cx="1624500" cy="263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100">
                  <a:latin typeface="Montserrat"/>
                  <a:ea typeface="Montserrat"/>
                  <a:cs typeface="Montserrat"/>
                  <a:sym typeface="Montserrat"/>
                </a:rPr>
                <a:t>Bangun moodboard kamu.</a:t>
              </a:r>
              <a:br>
                <a:rPr b="1" lang="en" sz="1100">
                  <a:latin typeface="Montserrat"/>
                  <a:ea typeface="Montserrat"/>
                  <a:cs typeface="Montserrat"/>
                  <a:sym typeface="Montserrat"/>
                </a:rPr>
              </a:br>
              <a:br>
                <a:rPr b="1" lang="en" sz="1100">
                  <a:latin typeface="Montserrat"/>
                  <a:ea typeface="Montserrat"/>
                  <a:cs typeface="Montserrat"/>
                  <a:sym typeface="Montserrat"/>
                </a:rPr>
              </a:br>
              <a:r>
                <a:rPr lang="en" sz="1000">
                  <a:latin typeface="Montserrat"/>
                  <a:ea typeface="Montserrat"/>
                  <a:cs typeface="Montserrat"/>
                  <a:sym typeface="Montserrat"/>
                </a:rPr>
                <a:t>Kamu bisa melihat cara membangun sebuah moodboard menggunakan Invision di sini ya:</a:t>
              </a:r>
              <a:endParaRPr b="1" sz="1100">
                <a:latin typeface="Montserrat"/>
                <a:ea typeface="Montserrat"/>
                <a:cs typeface="Montserrat"/>
                <a:sym typeface="Montserrat"/>
              </a:endParaRPr>
            </a:p>
            <a:p>
              <a:pPr indent="0" lvl="0" marL="0" rtl="0" algn="l">
                <a:lnSpc>
                  <a:spcPct val="115000"/>
                </a:lnSpc>
                <a:spcBef>
                  <a:spcPts val="0"/>
                </a:spcBef>
                <a:spcAft>
                  <a:spcPts val="0"/>
                </a:spcAft>
                <a:buNone/>
              </a:pPr>
              <a:r>
                <a:t/>
              </a:r>
              <a:endParaRPr b="1" sz="1100">
                <a:latin typeface="Montserrat"/>
                <a:ea typeface="Montserrat"/>
                <a:cs typeface="Montserrat"/>
                <a:sym typeface="Montserrat"/>
              </a:endParaRPr>
            </a:p>
            <a:p>
              <a:pPr indent="0" lvl="0" marL="0" rtl="0" algn="l">
                <a:lnSpc>
                  <a:spcPct val="115000"/>
                </a:lnSpc>
                <a:spcBef>
                  <a:spcPts val="0"/>
                </a:spcBef>
                <a:spcAft>
                  <a:spcPts val="0"/>
                </a:spcAft>
                <a:buNone/>
              </a:pPr>
              <a:r>
                <a:rPr b="1" lang="en" sz="1100" u="sng">
                  <a:solidFill>
                    <a:schemeClr val="hlink"/>
                  </a:solidFill>
                  <a:latin typeface="Montserrat"/>
                  <a:ea typeface="Montserrat"/>
                  <a:cs typeface="Montserrat"/>
                  <a:sym typeface="Montserrat"/>
                  <a:hlinkClick r:id="rId3"/>
                </a:rPr>
                <a:t>Klik link</a:t>
              </a:r>
              <a:endParaRPr b="1" sz="1100">
                <a:latin typeface="Montserrat"/>
                <a:ea typeface="Montserrat"/>
                <a:cs typeface="Montserrat"/>
                <a:sym typeface="Montserrat"/>
              </a:endParaRPr>
            </a:p>
          </p:txBody>
        </p:sp>
      </p:grpSp>
      <p:pic>
        <p:nvPicPr>
          <p:cNvPr descr="Check out Boards, an all new way to store and share your design ideas right inside InVision!&#10;&#10;Boards are flexible and customizable, so you can make just about anything—moodboards, brand boards, image galleries, and client presentations. &#10;&#10;Plus, they have commenting built in and are integrated with your existing InVision notifications to keep you and your team informed.&#10;&#10;Learn more about Boards here: http://blog.invisionapp.com/boards-share-design-inspiration-assets/&#10;&#10;---&#10;&#10;InVision is the world’s leading product design collaboration platform, trusted by more than 1.5 million designers at companies like Uber, Netflix and Twitter. InVision empowers teams of all sizes to prototype, review, iterate, manage and test web and mobile apps—all without a single line of code. &#10;&#10;Get InVision free forever: http://invs.io/1QOCxZq &#10;&#10;---&#10;&#10;See who else uses InVision: http://invs.io/1QOD5P3 &#10;Stay up to date on the latest trends in product design: http://invs.io/1QOD91g &#10;Follow InVision on Twitter: http://twitter.com/InVisionApp/" id="339" name="Google Shape;339;p46" title="Boards by InVision - Create and share moodboards, brand boards, galleries, and presentations">
            <a:hlinkClick r:id="rId4"/>
          </p:cNvPr>
          <p:cNvPicPr preferRelativeResize="0"/>
          <p:nvPr/>
        </p:nvPicPr>
        <p:blipFill>
          <a:blip r:embed="rId5">
            <a:alphaModFix/>
          </a:blip>
          <a:stretch>
            <a:fillRect/>
          </a:stretch>
        </p:blipFill>
        <p:spPr>
          <a:xfrm>
            <a:off x="4817450" y="1227500"/>
            <a:ext cx="2297075" cy="1722800"/>
          </a:xfrm>
          <a:prstGeom prst="rect">
            <a:avLst/>
          </a:prstGeom>
          <a:noFill/>
          <a:ln>
            <a:noFill/>
          </a:ln>
          <a:effectLst>
            <a:outerShdw blurRad="57150" rotWithShape="0" algn="bl" dir="5400000" dist="19050">
              <a:srgbClr val="000000">
                <a:alpha val="50000"/>
              </a:srgbClr>
            </a:outerShdw>
          </a:effectLst>
        </p:spPr>
      </p:pic>
      <p:sp>
        <p:nvSpPr>
          <p:cNvPr id="340" name="Google Shape;340;p46"/>
          <p:cNvSpPr/>
          <p:nvPr/>
        </p:nvSpPr>
        <p:spPr>
          <a:xfrm>
            <a:off x="4680100" y="2909175"/>
            <a:ext cx="2497500" cy="27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46"/>
          <p:cNvSpPr/>
          <p:nvPr/>
        </p:nvSpPr>
        <p:spPr>
          <a:xfrm>
            <a:off x="4598700" y="2733975"/>
            <a:ext cx="2557500" cy="175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46"/>
          <p:cNvSpPr/>
          <p:nvPr/>
        </p:nvSpPr>
        <p:spPr>
          <a:xfrm>
            <a:off x="4724400" y="1326550"/>
            <a:ext cx="2431800" cy="141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3" name="Google Shape;343;p46"/>
          <p:cNvPicPr preferRelativeResize="0"/>
          <p:nvPr/>
        </p:nvPicPr>
        <p:blipFill>
          <a:blip r:embed="rId6">
            <a:alphaModFix/>
          </a:blip>
          <a:stretch>
            <a:fillRect/>
          </a:stretch>
        </p:blipFill>
        <p:spPr>
          <a:xfrm>
            <a:off x="4724400" y="1289000"/>
            <a:ext cx="3892201" cy="3027254"/>
          </a:xfrm>
          <a:prstGeom prst="rect">
            <a:avLst/>
          </a:prstGeom>
          <a:noFill/>
          <a:ln>
            <a:noFill/>
          </a:ln>
        </p:spPr>
      </p:pic>
      <p:sp>
        <p:nvSpPr>
          <p:cNvPr id="344" name="Google Shape;344;p46"/>
          <p:cNvSpPr/>
          <p:nvPr/>
        </p:nvSpPr>
        <p:spPr>
          <a:xfrm>
            <a:off x="4724400" y="1113800"/>
            <a:ext cx="2470800" cy="175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gtEl>
                                        <p:attrNameLst>
                                          <p:attrName>style.visibility</p:attrName>
                                        </p:attrNameLst>
                                      </p:cBhvr>
                                      <p:to>
                                        <p:strVal val="visible"/>
                                      </p:to>
                                    </p:set>
                                    <p:animEffect filter="fade" transition="in">
                                      <p:cBhvr>
                                        <p:cTn dur="1000"/>
                                        <p:tgtEl>
                                          <p:spTgt spid="3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0" name="Google Shape;350;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Membuat moodboard yang baik</a:t>
            </a:r>
            <a:endParaRPr>
              <a:latin typeface="Montserrat"/>
              <a:ea typeface="Montserrat"/>
              <a:cs typeface="Montserrat"/>
              <a:sym typeface="Montserrat"/>
            </a:endParaRPr>
          </a:p>
        </p:txBody>
      </p:sp>
      <p:sp>
        <p:nvSpPr>
          <p:cNvPr id="351" name="Google Shape;351;p47"/>
          <p:cNvSpPr txBox="1"/>
          <p:nvPr/>
        </p:nvSpPr>
        <p:spPr>
          <a:xfrm>
            <a:off x="685800" y="1185675"/>
            <a:ext cx="77541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Beberapa keywords untuk menentukan gaya visual pada produk kamu </a:t>
            </a:r>
            <a:endParaRPr b="1" sz="1600">
              <a:solidFill>
                <a:schemeClr val="dk1"/>
              </a:solidFill>
              <a:latin typeface="Montserrat"/>
              <a:ea typeface="Montserrat"/>
              <a:cs typeface="Montserrat"/>
              <a:sym typeface="Montserrat"/>
            </a:endParaRPr>
          </a:p>
        </p:txBody>
      </p:sp>
      <p:pic>
        <p:nvPicPr>
          <p:cNvPr id="352" name="Google Shape;352;p47"/>
          <p:cNvPicPr preferRelativeResize="0"/>
          <p:nvPr/>
        </p:nvPicPr>
        <p:blipFill rotWithShape="1">
          <a:blip r:embed="rId3">
            <a:alphaModFix/>
          </a:blip>
          <a:srcRect b="3549" l="0" r="0" t="22028"/>
          <a:stretch/>
        </p:blipFill>
        <p:spPr>
          <a:xfrm>
            <a:off x="304800" y="1524000"/>
            <a:ext cx="8625900" cy="288889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Menemukan referensi </a:t>
            </a:r>
            <a:endParaRPr>
              <a:latin typeface="Montserrat"/>
              <a:ea typeface="Montserrat"/>
              <a:cs typeface="Montserrat"/>
              <a:sym typeface="Montserrat"/>
            </a:endParaRPr>
          </a:p>
        </p:txBody>
      </p:sp>
      <p:sp>
        <p:nvSpPr>
          <p:cNvPr id="358" name="Google Shape;358;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9" name="Google Shape;359;p48"/>
          <p:cNvSpPr txBox="1"/>
          <p:nvPr/>
        </p:nvSpPr>
        <p:spPr>
          <a:xfrm>
            <a:off x="685800" y="1833000"/>
            <a:ext cx="4344600" cy="1477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Setelah memahami apa saja yang diperlukan sebelum dan saat membuat moodboard, saatnya kita </a:t>
            </a:r>
            <a:r>
              <a:rPr b="1" lang="en">
                <a:solidFill>
                  <a:srgbClr val="FFAB40"/>
                </a:solidFill>
                <a:latin typeface="Montserrat"/>
                <a:ea typeface="Montserrat"/>
                <a:cs typeface="Montserrat"/>
                <a:sym typeface="Montserrat"/>
              </a:rPr>
              <a:t>menemukan referensi</a:t>
            </a:r>
            <a:r>
              <a:rPr b="1" lang="en">
                <a:solidFill>
                  <a:schemeClr val="lt1"/>
                </a:solidFill>
                <a:latin typeface="Montserrat"/>
                <a:ea typeface="Montserrat"/>
                <a:cs typeface="Montserrat"/>
                <a:sym typeface="Montserrat"/>
              </a:rPr>
              <a:t>.</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Chekidott gengs ~</a:t>
            </a:r>
            <a:endParaRPr b="1">
              <a:solidFill>
                <a:schemeClr val="lt1"/>
              </a:solidFill>
              <a:latin typeface="Montserrat"/>
              <a:ea typeface="Montserrat"/>
              <a:cs typeface="Montserrat"/>
              <a:sym typeface="Montserrat"/>
            </a:endParaRPr>
          </a:p>
        </p:txBody>
      </p:sp>
      <p:pic>
        <p:nvPicPr>
          <p:cNvPr id="360" name="Google Shape;360;p48"/>
          <p:cNvPicPr preferRelativeResize="0"/>
          <p:nvPr/>
        </p:nvPicPr>
        <p:blipFill>
          <a:blip r:embed="rId3">
            <a:alphaModFix/>
          </a:blip>
          <a:stretch>
            <a:fillRect/>
          </a:stretch>
        </p:blipFill>
        <p:spPr>
          <a:xfrm>
            <a:off x="5410200" y="1130325"/>
            <a:ext cx="2789699" cy="367027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6" name="Google Shape;366;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Menemukan referensi </a:t>
            </a:r>
            <a:endParaRPr>
              <a:latin typeface="Montserrat"/>
              <a:ea typeface="Montserrat"/>
              <a:cs typeface="Montserrat"/>
              <a:sym typeface="Montserrat"/>
            </a:endParaRPr>
          </a:p>
        </p:txBody>
      </p:sp>
      <p:sp>
        <p:nvSpPr>
          <p:cNvPr id="367" name="Google Shape;367;p49"/>
          <p:cNvSpPr txBox="1"/>
          <p:nvPr/>
        </p:nvSpPr>
        <p:spPr>
          <a:xfrm>
            <a:off x="685800" y="1899298"/>
            <a:ext cx="4114800" cy="1344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Menemukan referensi</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Di chapter 4 bagian 2, kita sudah berdiskusi tentang beberapa platform yang bisa digunakan untuk mencari inspirasi desain.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Yuk kita ingat lagi beberapa situs terdedikasi untuk unggahan desain UI dan UX ~</a:t>
            </a:r>
            <a:endParaRPr sz="1000">
              <a:solidFill>
                <a:schemeClr val="dk1"/>
              </a:solidFill>
              <a:latin typeface="Montserrat"/>
              <a:ea typeface="Montserrat"/>
              <a:cs typeface="Montserrat"/>
              <a:sym typeface="Montserrat"/>
            </a:endParaRPr>
          </a:p>
        </p:txBody>
      </p:sp>
      <p:pic>
        <p:nvPicPr>
          <p:cNvPr id="368" name="Google Shape;368;p49"/>
          <p:cNvPicPr preferRelativeResize="0"/>
          <p:nvPr/>
        </p:nvPicPr>
        <p:blipFill rotWithShape="1">
          <a:blip r:embed="rId3">
            <a:alphaModFix/>
          </a:blip>
          <a:srcRect b="0" l="0" r="0" t="10778"/>
          <a:stretch/>
        </p:blipFill>
        <p:spPr>
          <a:xfrm>
            <a:off x="5072200" y="777378"/>
            <a:ext cx="3486675" cy="4023222"/>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4" name="Google Shape;374;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Menemukan referensi</a:t>
            </a:r>
            <a:endParaRPr>
              <a:latin typeface="Montserrat"/>
              <a:ea typeface="Montserrat"/>
              <a:cs typeface="Montserrat"/>
              <a:sym typeface="Montserrat"/>
            </a:endParaRPr>
          </a:p>
        </p:txBody>
      </p:sp>
      <p:sp>
        <p:nvSpPr>
          <p:cNvPr id="375" name="Google Shape;375;p50"/>
          <p:cNvSpPr txBox="1"/>
          <p:nvPr/>
        </p:nvSpPr>
        <p:spPr>
          <a:xfrm>
            <a:off x="685800" y="1185675"/>
            <a:ext cx="76962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1) Behance.net</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Behance merupakan jaringan kreatif terbesar di dunia untuk memamerkan dan menemukan karya kreatif. Kamu bisa menemukan desain  UI/UX, grafis, interior, packaging, arsitektur, dan banyak lagi. Seru banget kan?</a:t>
            </a:r>
            <a:endParaRPr sz="12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376" name="Google Shape;376;p50">
            <a:hlinkClick r:id="rId3"/>
          </p:cNvPr>
          <p:cNvPicPr preferRelativeResize="0"/>
          <p:nvPr/>
        </p:nvPicPr>
        <p:blipFill rotWithShape="1">
          <a:blip r:embed="rId4">
            <a:alphaModFix/>
          </a:blip>
          <a:srcRect b="0" l="0" r="0" t="0"/>
          <a:stretch/>
        </p:blipFill>
        <p:spPr>
          <a:xfrm>
            <a:off x="685800" y="2400300"/>
            <a:ext cx="4780452" cy="22479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2" name="Google Shape;382;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Menemukan referensi</a:t>
            </a:r>
            <a:endParaRPr>
              <a:latin typeface="Montserrat"/>
              <a:ea typeface="Montserrat"/>
              <a:cs typeface="Montserrat"/>
              <a:sym typeface="Montserrat"/>
            </a:endParaRPr>
          </a:p>
        </p:txBody>
      </p:sp>
      <p:sp>
        <p:nvSpPr>
          <p:cNvPr id="383" name="Google Shape;383;p51"/>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2) Dribbble.com</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Sama seperti Behance, banyak inspirasi UI/UX yang bisa kamu temukan di sini. Akan tetapi, tidak seperti Behance, para pengguna Dribbble biasanya hanya mengunggah gambar tanpa menceritakan prosesnya.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384" name="Google Shape;384;p51">
            <a:hlinkClick r:id="rId3"/>
          </p:cNvPr>
          <p:cNvPicPr preferRelativeResize="0"/>
          <p:nvPr/>
        </p:nvPicPr>
        <p:blipFill rotWithShape="1">
          <a:blip r:embed="rId4">
            <a:alphaModFix/>
          </a:blip>
          <a:srcRect b="357" l="0" r="0" t="357"/>
          <a:stretch/>
        </p:blipFill>
        <p:spPr>
          <a:xfrm>
            <a:off x="685800" y="2400300"/>
            <a:ext cx="4780452" cy="22479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0" name="Google Shape;390;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Menemukan referensi</a:t>
            </a:r>
            <a:endParaRPr>
              <a:latin typeface="Montserrat"/>
              <a:ea typeface="Montserrat"/>
              <a:cs typeface="Montserrat"/>
              <a:sym typeface="Montserrat"/>
            </a:endParaRPr>
          </a:p>
        </p:txBody>
      </p:sp>
      <p:sp>
        <p:nvSpPr>
          <p:cNvPr id="391" name="Google Shape;391;p52"/>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3) Pinterest.com</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Situs yang ini lebih dari kumpulan unggahan desain. Tidak hanya praktisi desain yang menggunakan Pinterest. Anda dapat menemukan inspirasi untuk sarapan, dekorasi rumah, outfit dan pastinya ui/ux.</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392" name="Google Shape;392;p52">
            <a:hlinkClick r:id="rId3"/>
          </p:cNvPr>
          <p:cNvPicPr preferRelativeResize="0"/>
          <p:nvPr/>
        </p:nvPicPr>
        <p:blipFill rotWithShape="1">
          <a:blip r:embed="rId4">
            <a:alphaModFix/>
          </a:blip>
          <a:srcRect b="258" l="0" r="0" t="258"/>
          <a:stretch/>
        </p:blipFill>
        <p:spPr>
          <a:xfrm>
            <a:off x="685800" y="2400300"/>
            <a:ext cx="4780452" cy="224789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8" name="Google Shape;398;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Menemukan referensi</a:t>
            </a:r>
            <a:endParaRPr>
              <a:latin typeface="Montserrat"/>
              <a:ea typeface="Montserrat"/>
              <a:cs typeface="Montserrat"/>
              <a:sym typeface="Montserrat"/>
            </a:endParaRPr>
          </a:p>
        </p:txBody>
      </p:sp>
      <p:sp>
        <p:nvSpPr>
          <p:cNvPr id="399" name="Google Shape;399;p53"/>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4) Awwwards.com</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Awwwards (Awwwards Online SL) adalah badan kompetisi desain dan pengembangan web profesional. Situsnya bertujuan untuk mempromosikan desain web inovatif terbaik.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400" name="Google Shape;400;p53">
            <a:hlinkClick r:id="rId3"/>
          </p:cNvPr>
          <p:cNvPicPr preferRelativeResize="0"/>
          <p:nvPr/>
        </p:nvPicPr>
        <p:blipFill rotWithShape="1">
          <a:blip r:embed="rId4">
            <a:alphaModFix/>
          </a:blip>
          <a:srcRect b="258" l="0" r="0" t="258"/>
          <a:stretch/>
        </p:blipFill>
        <p:spPr>
          <a:xfrm>
            <a:off x="685800" y="2400300"/>
            <a:ext cx="4780452" cy="224789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6" name="Google Shape;406;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Menemukan referensi</a:t>
            </a:r>
            <a:endParaRPr>
              <a:latin typeface="Montserrat"/>
              <a:ea typeface="Montserrat"/>
              <a:cs typeface="Montserrat"/>
              <a:sym typeface="Montserrat"/>
            </a:endParaRPr>
          </a:p>
        </p:txBody>
      </p:sp>
      <p:sp>
        <p:nvSpPr>
          <p:cNvPr id="407" name="Google Shape;407;p54"/>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5) Abduzeedo.com</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abdz. adalah kumpulan penulis individu yang berbagi artikel tentang desain, fotografi, dan UX serta tutorial untuk Photoshop dan alat lainnya.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408" name="Google Shape;408;p54">
            <a:hlinkClick r:id="rId3"/>
          </p:cNvPr>
          <p:cNvPicPr preferRelativeResize="0"/>
          <p:nvPr/>
        </p:nvPicPr>
        <p:blipFill rotWithShape="1">
          <a:blip r:embed="rId4">
            <a:alphaModFix/>
          </a:blip>
          <a:srcRect b="455" l="0" r="0" t="465"/>
          <a:stretch/>
        </p:blipFill>
        <p:spPr>
          <a:xfrm>
            <a:off x="685800" y="2400300"/>
            <a:ext cx="4780452" cy="2247898"/>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4" name="Google Shape;414;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Menemukan referensi</a:t>
            </a:r>
            <a:endParaRPr>
              <a:latin typeface="Montserrat"/>
              <a:ea typeface="Montserrat"/>
              <a:cs typeface="Montserrat"/>
              <a:sym typeface="Montserrat"/>
            </a:endParaRPr>
          </a:p>
        </p:txBody>
      </p:sp>
      <p:sp>
        <p:nvSpPr>
          <p:cNvPr id="415" name="Google Shape;415;p55"/>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6</a:t>
            </a:r>
            <a:r>
              <a:rPr b="1" lang="en" sz="1600">
                <a:solidFill>
                  <a:srgbClr val="743673"/>
                </a:solidFill>
                <a:highlight>
                  <a:schemeClr val="lt1"/>
                </a:highlight>
                <a:latin typeface="Montserrat"/>
                <a:ea typeface="Montserrat"/>
                <a:cs typeface="Montserrat"/>
                <a:sym typeface="Montserrat"/>
              </a:rPr>
              <a:t>) UX Magazine</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UX Magazine adalah publikasi UX online yang membahas tren terbaru dalam desain UX dan strategi produk. Di sini kamu bisa menemukan informasi tentang acara UX mendatang.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416" name="Google Shape;416;p55">
            <a:hlinkClick r:id="rId3"/>
          </p:cNvPr>
          <p:cNvPicPr preferRelativeResize="0"/>
          <p:nvPr/>
        </p:nvPicPr>
        <p:blipFill rotWithShape="1">
          <a:blip r:embed="rId4">
            <a:alphaModFix/>
          </a:blip>
          <a:srcRect b="6408" l="-210" r="209" t="4837"/>
          <a:stretch/>
        </p:blipFill>
        <p:spPr>
          <a:xfrm>
            <a:off x="685800" y="2400300"/>
            <a:ext cx="4780452" cy="2247898"/>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2" name="Google Shape;422;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Menemukan referensi</a:t>
            </a:r>
            <a:endParaRPr>
              <a:latin typeface="Montserrat"/>
              <a:ea typeface="Montserrat"/>
              <a:cs typeface="Montserrat"/>
              <a:sym typeface="Montserrat"/>
            </a:endParaRPr>
          </a:p>
        </p:txBody>
      </p:sp>
      <p:sp>
        <p:nvSpPr>
          <p:cNvPr id="423" name="Google Shape;423;p56"/>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7</a:t>
            </a:r>
            <a:r>
              <a:rPr b="1" lang="en" sz="1600">
                <a:solidFill>
                  <a:srgbClr val="743673"/>
                </a:solidFill>
                <a:highlight>
                  <a:schemeClr val="lt1"/>
                </a:highlight>
                <a:latin typeface="Montserrat"/>
                <a:ea typeface="Montserrat"/>
                <a:cs typeface="Montserrat"/>
                <a:sym typeface="Montserrat"/>
              </a:rPr>
              <a:t>) UI Movement</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br>
              <a:rPr lang="en" sz="1200">
                <a:solidFill>
                  <a:schemeClr val="dk1"/>
                </a:solidFill>
                <a:latin typeface="Montserrat Medium"/>
                <a:ea typeface="Montserrat Medium"/>
                <a:cs typeface="Montserrat Medium"/>
                <a:sym typeface="Montserrat Medium"/>
              </a:rPr>
            </a:br>
            <a:r>
              <a:rPr lang="en" sz="1000">
                <a:solidFill>
                  <a:schemeClr val="dk1"/>
                </a:solidFill>
                <a:latin typeface="Montserrat"/>
                <a:ea typeface="Montserrat"/>
                <a:cs typeface="Montserrat"/>
                <a:sym typeface="Montserrat"/>
              </a:rPr>
              <a:t>Perbedaan utama antara UI Movement dan situs inspirasi desain lainnya, adalah fokusnya pada desain antarmuka pengguna. Setiap desain dalam koleksi diberi tag sehingga kamu bisa dengan mudah menemukan elemen desain.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424" name="Google Shape;424;p56">
            <a:hlinkClick r:id="rId3"/>
          </p:cNvPr>
          <p:cNvPicPr preferRelativeResize="0"/>
          <p:nvPr/>
        </p:nvPicPr>
        <p:blipFill rotWithShape="1">
          <a:blip r:embed="rId4">
            <a:alphaModFix/>
          </a:blip>
          <a:srcRect b="12267" l="0" r="0" t="-458"/>
          <a:stretch/>
        </p:blipFill>
        <p:spPr>
          <a:xfrm>
            <a:off x="685800" y="2552700"/>
            <a:ext cx="4780452" cy="2247898"/>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Menggunakan referensi pada desain UI</a:t>
            </a:r>
            <a:endParaRPr>
              <a:latin typeface="Montserrat"/>
              <a:ea typeface="Montserrat"/>
              <a:cs typeface="Montserrat"/>
              <a:sym typeface="Montserrat"/>
            </a:endParaRPr>
          </a:p>
        </p:txBody>
      </p:sp>
      <p:sp>
        <p:nvSpPr>
          <p:cNvPr id="430" name="Google Shape;430;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1" name="Google Shape;431;p57"/>
          <p:cNvSpPr txBox="1"/>
          <p:nvPr/>
        </p:nvSpPr>
        <p:spPr>
          <a:xfrm>
            <a:off x="685800" y="1401900"/>
            <a:ext cx="4290900" cy="2339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Makin banyak kan referensinya sekarang? Udah nggak perlu bingung-bingung lagi nih gengs buat menemukan inspirasi.</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Nah, setelah merasa cukup, yuk kita bahas </a:t>
            </a:r>
            <a:r>
              <a:rPr b="1" lang="en">
                <a:solidFill>
                  <a:srgbClr val="FFAB40"/>
                </a:solidFill>
                <a:latin typeface="Montserrat"/>
                <a:ea typeface="Montserrat"/>
                <a:cs typeface="Montserrat"/>
                <a:sym typeface="Montserrat"/>
              </a:rPr>
              <a:t>menggunakan referensi pada desain UI </a:t>
            </a:r>
            <a:r>
              <a:rPr b="1" lang="en">
                <a:solidFill>
                  <a:schemeClr val="lt1"/>
                </a:solidFill>
                <a:latin typeface="Montserrat"/>
                <a:ea typeface="Montserrat"/>
                <a:cs typeface="Montserrat"/>
                <a:sym typeface="Montserrat"/>
              </a:rPr>
              <a:t>biar moodboard kamu nantinya bisa sat-set-was-wes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p:txBody>
      </p:sp>
      <p:pic>
        <p:nvPicPr>
          <p:cNvPr id="432" name="Google Shape;432;p57"/>
          <p:cNvPicPr preferRelativeResize="0"/>
          <p:nvPr/>
        </p:nvPicPr>
        <p:blipFill>
          <a:blip r:embed="rId3">
            <a:alphaModFix/>
          </a:blip>
          <a:stretch>
            <a:fillRect/>
          </a:stretch>
        </p:blipFill>
        <p:spPr>
          <a:xfrm>
            <a:off x="5413450" y="1210424"/>
            <a:ext cx="2307976" cy="35901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8" name="Google Shape;438;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Menggunakan referensi pada desain UI</a:t>
            </a:r>
            <a:endParaRPr>
              <a:latin typeface="Montserrat"/>
              <a:ea typeface="Montserrat"/>
              <a:cs typeface="Montserrat"/>
              <a:sym typeface="Montserrat"/>
            </a:endParaRPr>
          </a:p>
        </p:txBody>
      </p:sp>
      <p:sp>
        <p:nvSpPr>
          <p:cNvPr id="439" name="Google Shape;439;p58"/>
          <p:cNvSpPr txBox="1"/>
          <p:nvPr/>
        </p:nvSpPr>
        <p:spPr>
          <a:xfrm>
            <a:off x="685800" y="1556099"/>
            <a:ext cx="4114800" cy="2031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Apa sih keuntungannya referensi?</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Dalam desain UI maupun studi seni, </a:t>
            </a:r>
            <a:r>
              <a:rPr b="1" lang="en" sz="1000">
                <a:solidFill>
                  <a:schemeClr val="dk1"/>
                </a:solidFill>
                <a:latin typeface="Montserrat"/>
                <a:ea typeface="Montserrat"/>
                <a:cs typeface="Montserrat"/>
                <a:sym typeface="Montserrat"/>
              </a:rPr>
              <a:t>referensi berguna sebagai inspirasi serta sarana mencari ide-ide kreatif baru dan unik</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Selain itu, referensi termasuk cara sempurna untuk mempelajari pola dasar dan cara menerapkan inspirasi secara pas pada desain atau copywrite.</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Tapi, gimana ya cara menggunakan referensi dengan baik dan benar? Yuk simak tip-tip berikut ini ~</a:t>
            </a:r>
            <a:endParaRPr sz="1000">
              <a:solidFill>
                <a:schemeClr val="dk1"/>
              </a:solidFill>
              <a:latin typeface="Montserrat"/>
              <a:ea typeface="Montserrat"/>
              <a:cs typeface="Montserrat"/>
              <a:sym typeface="Montserrat"/>
            </a:endParaRPr>
          </a:p>
        </p:txBody>
      </p:sp>
      <p:pic>
        <p:nvPicPr>
          <p:cNvPr id="440" name="Google Shape;440;p58"/>
          <p:cNvPicPr preferRelativeResize="0"/>
          <p:nvPr/>
        </p:nvPicPr>
        <p:blipFill>
          <a:blip r:embed="rId3">
            <a:alphaModFix/>
          </a:blip>
          <a:stretch>
            <a:fillRect/>
          </a:stretch>
        </p:blipFill>
        <p:spPr>
          <a:xfrm>
            <a:off x="5481952" y="1153225"/>
            <a:ext cx="2737324" cy="364737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5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6" name="Google Shape;446;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Menggunakan referensi pada desain UI</a:t>
            </a:r>
            <a:endParaRPr>
              <a:latin typeface="Montserrat"/>
              <a:ea typeface="Montserrat"/>
              <a:cs typeface="Montserrat"/>
              <a:sym typeface="Montserrat"/>
            </a:endParaRPr>
          </a:p>
        </p:txBody>
      </p:sp>
      <p:sp>
        <p:nvSpPr>
          <p:cNvPr id="447" name="Google Shape;447;p59"/>
          <p:cNvSpPr txBox="1"/>
          <p:nvPr/>
        </p:nvSpPr>
        <p:spPr>
          <a:xfrm>
            <a:off x="685800" y="1994700"/>
            <a:ext cx="4114800" cy="1154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1) Gabungkan referensi</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Coba bayangkan diri kamu seorang DJ musik remix. Ada beberapa hal yang perlu kamu pertimbangkan sebelum mencampur beberapa audio agar musik kamu nantinya harmonis, kan?</a:t>
            </a:r>
            <a:endParaRPr sz="1000">
              <a:solidFill>
                <a:schemeClr val="dk1"/>
              </a:solidFill>
              <a:latin typeface="Montserrat"/>
              <a:ea typeface="Montserrat"/>
              <a:cs typeface="Montserrat"/>
              <a:sym typeface="Montserrat"/>
            </a:endParaRPr>
          </a:p>
        </p:txBody>
      </p:sp>
      <p:pic>
        <p:nvPicPr>
          <p:cNvPr id="448" name="Google Shape;448;p59"/>
          <p:cNvPicPr preferRelativeResize="0"/>
          <p:nvPr/>
        </p:nvPicPr>
        <p:blipFill>
          <a:blip r:embed="rId3">
            <a:alphaModFix/>
          </a:blip>
          <a:stretch>
            <a:fillRect/>
          </a:stretch>
        </p:blipFill>
        <p:spPr>
          <a:xfrm>
            <a:off x="5007400" y="1190899"/>
            <a:ext cx="3326898" cy="3614602"/>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4" name="Google Shape;454;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Menggunakan referensi pada desain UI</a:t>
            </a:r>
            <a:endParaRPr>
              <a:latin typeface="Montserrat"/>
              <a:ea typeface="Montserrat"/>
              <a:cs typeface="Montserrat"/>
              <a:sym typeface="Montserrat"/>
            </a:endParaRPr>
          </a:p>
        </p:txBody>
      </p:sp>
      <p:sp>
        <p:nvSpPr>
          <p:cNvPr id="455" name="Google Shape;455;p60"/>
          <p:cNvSpPr txBox="1"/>
          <p:nvPr/>
        </p:nvSpPr>
        <p:spPr>
          <a:xfrm>
            <a:off x="685800" y="2042250"/>
            <a:ext cx="3951300" cy="1059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ilustrasi tersebut juga berlaku dalam menggabungkan referensi nih, sob. Kamu bisa coba menarik sedikit tata letak, warna, trik tipografi dari referensi berbeda.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Teknik itu akan membantu kamu membangun suatu hal baru berdasarkan desain atau arahan yang sudah diterapkan.</a:t>
            </a:r>
            <a:endParaRPr sz="1000">
              <a:solidFill>
                <a:schemeClr val="dk1"/>
              </a:solidFill>
              <a:latin typeface="Montserrat"/>
              <a:ea typeface="Montserrat"/>
              <a:cs typeface="Montserrat"/>
              <a:sym typeface="Montserrat"/>
            </a:endParaRPr>
          </a:p>
        </p:txBody>
      </p:sp>
      <p:pic>
        <p:nvPicPr>
          <p:cNvPr id="456" name="Google Shape;456;p60"/>
          <p:cNvPicPr preferRelativeResize="0"/>
          <p:nvPr/>
        </p:nvPicPr>
        <p:blipFill>
          <a:blip r:embed="rId3">
            <a:alphaModFix/>
          </a:blip>
          <a:stretch>
            <a:fillRect/>
          </a:stretch>
        </p:blipFill>
        <p:spPr>
          <a:xfrm>
            <a:off x="4724400" y="1052589"/>
            <a:ext cx="3892198" cy="3517784"/>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2" name="Google Shape;462;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Menggunakan referensi pada desain UI</a:t>
            </a:r>
            <a:endParaRPr>
              <a:latin typeface="Montserrat"/>
              <a:ea typeface="Montserrat"/>
              <a:cs typeface="Montserrat"/>
              <a:sym typeface="Montserrat"/>
            </a:endParaRPr>
          </a:p>
        </p:txBody>
      </p:sp>
      <p:sp>
        <p:nvSpPr>
          <p:cNvPr id="463" name="Google Shape;463;p61"/>
          <p:cNvSpPr txBox="1"/>
          <p:nvPr/>
        </p:nvSpPr>
        <p:spPr>
          <a:xfrm>
            <a:off x="685800" y="2050200"/>
            <a:ext cx="3951300" cy="1043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2</a:t>
            </a:r>
            <a:r>
              <a:rPr b="1" lang="en" sz="1600">
                <a:solidFill>
                  <a:srgbClr val="743673"/>
                </a:solidFill>
                <a:highlight>
                  <a:schemeClr val="lt1"/>
                </a:highlight>
                <a:latin typeface="Montserrat"/>
                <a:ea typeface="Montserrat"/>
                <a:cs typeface="Montserrat"/>
                <a:sym typeface="Montserrat"/>
              </a:rPr>
              <a:t>) Latih mata kamu</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Mempelajari referensi adalah cara yang tepat untuk mengetahui bagaimana desainer lain menggunakan, misalnya, tipografi, ruang putih, warna. </a:t>
            </a:r>
            <a:endParaRPr sz="1000">
              <a:solidFill>
                <a:schemeClr val="dk1"/>
              </a:solidFill>
              <a:latin typeface="Montserrat"/>
              <a:ea typeface="Montserrat"/>
              <a:cs typeface="Montserrat"/>
              <a:sym typeface="Montserrat"/>
            </a:endParaRPr>
          </a:p>
        </p:txBody>
      </p:sp>
      <p:pic>
        <p:nvPicPr>
          <p:cNvPr id="464" name="Google Shape;464;p61"/>
          <p:cNvPicPr preferRelativeResize="0"/>
          <p:nvPr/>
        </p:nvPicPr>
        <p:blipFill>
          <a:blip r:embed="rId3">
            <a:alphaModFix/>
          </a:blip>
          <a:stretch>
            <a:fillRect/>
          </a:stretch>
        </p:blipFill>
        <p:spPr>
          <a:xfrm>
            <a:off x="4724400" y="1249463"/>
            <a:ext cx="4038599" cy="336039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0" name="Google Shape;470;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Menggunakan referensi pada desain UI</a:t>
            </a:r>
            <a:endParaRPr>
              <a:latin typeface="Montserrat"/>
              <a:ea typeface="Montserrat"/>
              <a:cs typeface="Montserrat"/>
              <a:sym typeface="Montserrat"/>
            </a:endParaRPr>
          </a:p>
        </p:txBody>
      </p:sp>
      <p:sp>
        <p:nvSpPr>
          <p:cNvPr id="471" name="Google Shape;471;p62"/>
          <p:cNvSpPr txBox="1"/>
          <p:nvPr/>
        </p:nvSpPr>
        <p:spPr>
          <a:xfrm>
            <a:off x="685800" y="1907550"/>
            <a:ext cx="3951300" cy="1328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Kamu bisa mengumpulkan referensi tersebut dalam bentuk moodboard atau disimpan di library platform seperti Dribble, Behance, atau Pinterest.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Menjelajahi ragam platform tersebut adalah latihan sederhana tapi berguna membantu menghilangkan krisis ide dan mendekati masalah dengan pandangan baru.</a:t>
            </a:r>
            <a:endParaRPr sz="1000">
              <a:solidFill>
                <a:schemeClr val="dk1"/>
              </a:solidFill>
              <a:latin typeface="Montserrat"/>
              <a:ea typeface="Montserrat"/>
              <a:cs typeface="Montserrat"/>
              <a:sym typeface="Montserrat"/>
            </a:endParaRPr>
          </a:p>
        </p:txBody>
      </p:sp>
      <p:pic>
        <p:nvPicPr>
          <p:cNvPr id="472" name="Google Shape;472;p62"/>
          <p:cNvPicPr preferRelativeResize="0"/>
          <p:nvPr/>
        </p:nvPicPr>
        <p:blipFill>
          <a:blip r:embed="rId3">
            <a:alphaModFix/>
          </a:blip>
          <a:stretch>
            <a:fillRect/>
          </a:stretch>
        </p:blipFill>
        <p:spPr>
          <a:xfrm>
            <a:off x="4724400" y="1249463"/>
            <a:ext cx="4038599" cy="336039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6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8" name="Google Shape;478;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Menggunakan referensi pada desain UI</a:t>
            </a:r>
            <a:endParaRPr>
              <a:latin typeface="Montserrat"/>
              <a:ea typeface="Montserrat"/>
              <a:cs typeface="Montserrat"/>
              <a:sym typeface="Montserrat"/>
            </a:endParaRPr>
          </a:p>
        </p:txBody>
      </p:sp>
      <p:sp>
        <p:nvSpPr>
          <p:cNvPr id="479" name="Google Shape;479;p63"/>
          <p:cNvSpPr txBox="1"/>
          <p:nvPr/>
        </p:nvSpPr>
        <p:spPr>
          <a:xfrm>
            <a:off x="685800" y="1595250"/>
            <a:ext cx="3951300" cy="1953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3</a:t>
            </a:r>
            <a:r>
              <a:rPr b="1" lang="en" sz="1600">
                <a:solidFill>
                  <a:srgbClr val="743673"/>
                </a:solidFill>
                <a:highlight>
                  <a:schemeClr val="lt1"/>
                </a:highlight>
                <a:latin typeface="Montserrat"/>
                <a:ea typeface="Montserrat"/>
                <a:cs typeface="Montserrat"/>
                <a:sym typeface="Montserrat"/>
              </a:rPr>
              <a:t>) Jelajahi dunia nyata</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Inspirasi dan referensi sebetulnya banyak lho di sekitar kita, asalkan kamu aware dengan keadaan sekitar.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Tapi, dalam penerapannya untuk solusi desain, kamu perlu beberapa hal yang perlu dipertimbangkan nih.</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Misalnya, bagaimana bentuk, tata letak, ataupun tekstur di dunia nyata bisa diterapkan pada desain.</a:t>
            </a:r>
            <a:endParaRPr sz="1000">
              <a:solidFill>
                <a:schemeClr val="dk1"/>
              </a:solidFill>
              <a:latin typeface="Montserrat"/>
              <a:ea typeface="Montserrat"/>
              <a:cs typeface="Montserrat"/>
              <a:sym typeface="Montserrat"/>
            </a:endParaRPr>
          </a:p>
        </p:txBody>
      </p:sp>
      <p:pic>
        <p:nvPicPr>
          <p:cNvPr id="480" name="Google Shape;480;p63"/>
          <p:cNvPicPr preferRelativeResize="0"/>
          <p:nvPr/>
        </p:nvPicPr>
        <p:blipFill>
          <a:blip r:embed="rId3">
            <a:alphaModFix/>
          </a:blip>
          <a:stretch>
            <a:fillRect/>
          </a:stretch>
        </p:blipFill>
        <p:spPr>
          <a:xfrm>
            <a:off x="5078150" y="1188599"/>
            <a:ext cx="2995925" cy="320255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pic>
        <p:nvPicPr>
          <p:cNvPr id="485" name="Google Shape;485;p64"/>
          <p:cNvPicPr preferRelativeResize="0"/>
          <p:nvPr/>
        </p:nvPicPr>
        <p:blipFill>
          <a:blip r:embed="rId3">
            <a:alphaModFix/>
          </a:blip>
          <a:stretch>
            <a:fillRect/>
          </a:stretch>
        </p:blipFill>
        <p:spPr>
          <a:xfrm>
            <a:off x="1" y="1483218"/>
            <a:ext cx="9144003" cy="3317382"/>
          </a:xfrm>
          <a:prstGeom prst="rect">
            <a:avLst/>
          </a:prstGeom>
          <a:noFill/>
          <a:ln>
            <a:noFill/>
          </a:ln>
        </p:spPr>
      </p:pic>
      <p:sp>
        <p:nvSpPr>
          <p:cNvPr id="486" name="Google Shape;486;p6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7" name="Google Shape;487;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Menggunakan referensi pada desain UI</a:t>
            </a:r>
            <a:endParaRPr>
              <a:latin typeface="Montserrat"/>
              <a:ea typeface="Montserrat"/>
              <a:cs typeface="Montserrat"/>
              <a:sym typeface="Montserrat"/>
            </a:endParaRPr>
          </a:p>
        </p:txBody>
      </p:sp>
      <p:sp>
        <p:nvSpPr>
          <p:cNvPr id="488" name="Google Shape;488;p64"/>
          <p:cNvSpPr txBox="1"/>
          <p:nvPr/>
        </p:nvSpPr>
        <p:spPr>
          <a:xfrm>
            <a:off x="685800" y="1595250"/>
            <a:ext cx="4114800" cy="897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Selain itu, dari dunia nyata kita juga bisa meniru keputusan, dan bahkan emosi yang sama.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inspirasi paling mudah yang bisa kita dapatkan dari dunia nyata adalah warna. Yuk simak penjelasannya!</a:t>
            </a:r>
            <a:endParaRPr sz="1000">
              <a:solidFill>
                <a:schemeClr val="dk1"/>
              </a:solidFill>
              <a:latin typeface="Montserrat"/>
              <a:ea typeface="Montserrat"/>
              <a:cs typeface="Montserrat"/>
              <a:sym typeface="Montserrat"/>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6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4" name="Google Shape;494;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Menggunakan referensi pada desain UI</a:t>
            </a:r>
            <a:endParaRPr>
              <a:latin typeface="Montserrat"/>
              <a:ea typeface="Montserrat"/>
              <a:cs typeface="Montserrat"/>
              <a:sym typeface="Montserrat"/>
            </a:endParaRPr>
          </a:p>
        </p:txBody>
      </p:sp>
      <p:sp>
        <p:nvSpPr>
          <p:cNvPr id="495" name="Google Shape;495;p65"/>
          <p:cNvSpPr txBox="1"/>
          <p:nvPr/>
        </p:nvSpPr>
        <p:spPr>
          <a:xfrm>
            <a:off x="685800" y="1185675"/>
            <a:ext cx="76962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a:solidFill>
                  <a:srgbClr val="FFAB40"/>
                </a:solidFill>
                <a:highlight>
                  <a:schemeClr val="lt1"/>
                </a:highlight>
                <a:latin typeface="Montserrat"/>
                <a:ea typeface="Montserrat"/>
                <a:cs typeface="Montserrat"/>
                <a:sym typeface="Montserrat"/>
              </a:rPr>
              <a:t>Warna dari alam sekitar</a:t>
            </a:r>
            <a:endParaRPr b="1">
              <a:solidFill>
                <a:srgbClr val="FFAB40"/>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Selain bentuk atau tekstur, kamu bisa juga mencari inspirasi warna dari alam dan lingkungan sekitar. Misalnya, kamu jalan-jalan ke pasar atau supermarket, di sana banyak sekali warna dari produk-produk yang dijual. Kalau nggak mau keluar rumah, tenang gengs, ada Google ~</a:t>
            </a:r>
            <a:endParaRPr sz="1000">
              <a:solidFill>
                <a:schemeClr val="dk1"/>
              </a:solidFill>
              <a:latin typeface="Montserrat"/>
              <a:ea typeface="Montserrat"/>
              <a:cs typeface="Montserrat"/>
              <a:sym typeface="Montserrat"/>
            </a:endParaRPr>
          </a:p>
        </p:txBody>
      </p:sp>
      <p:pic>
        <p:nvPicPr>
          <p:cNvPr id="496" name="Google Shape;496;p65"/>
          <p:cNvPicPr preferRelativeResize="0"/>
          <p:nvPr/>
        </p:nvPicPr>
        <p:blipFill rotWithShape="1">
          <a:blip r:embed="rId3">
            <a:alphaModFix/>
          </a:blip>
          <a:srcRect b="612" l="0" r="0" t="622"/>
          <a:stretch/>
        </p:blipFill>
        <p:spPr>
          <a:xfrm>
            <a:off x="748950" y="2368200"/>
            <a:ext cx="4978299" cy="2326276"/>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6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2" name="Google Shape;502;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Menggunakan referensi pada desain UI</a:t>
            </a:r>
            <a:endParaRPr>
              <a:latin typeface="Montserrat"/>
              <a:ea typeface="Montserrat"/>
              <a:cs typeface="Montserrat"/>
              <a:sym typeface="Montserrat"/>
            </a:endParaRPr>
          </a:p>
        </p:txBody>
      </p:sp>
      <p:sp>
        <p:nvSpPr>
          <p:cNvPr id="503" name="Google Shape;503;p66"/>
          <p:cNvSpPr txBox="1"/>
          <p:nvPr/>
        </p:nvSpPr>
        <p:spPr>
          <a:xfrm>
            <a:off x="685800" y="1185675"/>
            <a:ext cx="76962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a:solidFill>
                  <a:srgbClr val="FFAB40"/>
                </a:solidFill>
                <a:highlight>
                  <a:schemeClr val="lt1"/>
                </a:highlight>
                <a:latin typeface="Montserrat"/>
                <a:ea typeface="Montserrat"/>
                <a:cs typeface="Montserrat"/>
                <a:sym typeface="Montserrat"/>
              </a:rPr>
              <a:t>Warna dari burung-burung</a:t>
            </a:r>
            <a:endParaRPr b="1">
              <a:solidFill>
                <a:srgbClr val="FFAB40"/>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Oiya, selain warna-warna alam, kamu bisa mencari referensi warna dari burung, lho! Banyak sekali jenis burung dengan beragam warna yang indah.</a:t>
            </a:r>
            <a:endParaRPr sz="1000">
              <a:solidFill>
                <a:schemeClr val="dk1"/>
              </a:solidFill>
              <a:latin typeface="Montserrat"/>
              <a:ea typeface="Montserrat"/>
              <a:cs typeface="Montserrat"/>
              <a:sym typeface="Montserrat"/>
            </a:endParaRPr>
          </a:p>
        </p:txBody>
      </p:sp>
      <p:pic>
        <p:nvPicPr>
          <p:cNvPr id="504" name="Google Shape;504;p66"/>
          <p:cNvPicPr preferRelativeResize="0"/>
          <p:nvPr/>
        </p:nvPicPr>
        <p:blipFill>
          <a:blip r:embed="rId3">
            <a:alphaModFix/>
          </a:blip>
          <a:stretch>
            <a:fillRect/>
          </a:stretch>
        </p:blipFill>
        <p:spPr>
          <a:xfrm>
            <a:off x="748950" y="2368200"/>
            <a:ext cx="4978299" cy="2326276"/>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6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0" name="Google Shape;510;p67"/>
          <p:cNvSpPr txBox="1"/>
          <p:nvPr/>
        </p:nvSpPr>
        <p:spPr>
          <a:xfrm>
            <a:off x="914400" y="553350"/>
            <a:ext cx="7315200" cy="72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rgbClr val="FFFFFF"/>
                </a:solidFill>
                <a:latin typeface="Montserrat"/>
                <a:ea typeface="Montserrat"/>
                <a:cs typeface="Montserrat"/>
                <a:sym typeface="Montserrat"/>
              </a:rPr>
              <a:t>Saatnya kita</a:t>
            </a:r>
            <a:endParaRPr b="1" sz="2000">
              <a:solidFill>
                <a:srgbClr val="FFFFFF"/>
              </a:solidFill>
              <a:latin typeface="Montserrat"/>
              <a:ea typeface="Montserrat"/>
              <a:cs typeface="Montserrat"/>
              <a:sym typeface="Montserrat"/>
            </a:endParaRPr>
          </a:p>
          <a:p>
            <a:pPr indent="0" lvl="0" marL="0" rtl="0" algn="ctr">
              <a:spcBef>
                <a:spcPts val="0"/>
              </a:spcBef>
              <a:spcAft>
                <a:spcPts val="0"/>
              </a:spcAft>
              <a:buNone/>
            </a:pPr>
            <a:r>
              <a:rPr b="1" lang="en" sz="3000">
                <a:solidFill>
                  <a:srgbClr val="FFAB40"/>
                </a:solidFill>
                <a:latin typeface="Montserrat"/>
                <a:ea typeface="Montserrat"/>
                <a:cs typeface="Montserrat"/>
                <a:sym typeface="Montserrat"/>
              </a:rPr>
              <a:t>Quiz!</a:t>
            </a:r>
            <a:endParaRPr b="1" sz="3000">
              <a:solidFill>
                <a:srgbClr val="FFAB40"/>
              </a:solidFill>
              <a:latin typeface="Montserrat"/>
              <a:ea typeface="Montserrat"/>
              <a:cs typeface="Montserrat"/>
              <a:sym typeface="Montserrat"/>
            </a:endParaRPr>
          </a:p>
        </p:txBody>
      </p:sp>
      <p:pic>
        <p:nvPicPr>
          <p:cNvPr id="511" name="Google Shape;511;p67"/>
          <p:cNvPicPr preferRelativeResize="0"/>
          <p:nvPr/>
        </p:nvPicPr>
        <p:blipFill rotWithShape="1">
          <a:blip r:embed="rId3">
            <a:alphaModFix/>
          </a:blip>
          <a:srcRect b="35463" l="16341" r="18912" t="0"/>
          <a:stretch/>
        </p:blipFill>
        <p:spPr>
          <a:xfrm>
            <a:off x="2421325" y="2177750"/>
            <a:ext cx="3903698" cy="2965752"/>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6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17" name="Google Shape;517;p6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1</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Menurut anda, pernyataan manakah dibawah ini yang tepat mengenai moodboard?</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Aset-aset desain dengan panduan tentang cara menggunakannya.</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Representasi visual dari sebuah merek berisi komponen-komponen.</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Kumpulan garis horizontal dan vertikal berpotongan yang membagi halaman.</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Representasi visual dari sebuah konsep desain dalam bentuk kumpulan inspirasi.</a:t>
            </a:r>
            <a:endParaRPr sz="1200">
              <a:solidFill>
                <a:schemeClr val="lt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
        <p:nvSpPr>
          <p:cNvPr id="518" name="Google Shape;518;p6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6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24" name="Google Shape;524;p6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1</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a:t>
            </a:r>
            <a:r>
              <a:rPr b="1" lang="en" sz="1600">
                <a:solidFill>
                  <a:schemeClr val="lt1"/>
                </a:solidFill>
                <a:latin typeface="Montserrat"/>
                <a:ea typeface="Montserrat"/>
                <a:cs typeface="Montserrat"/>
                <a:sym typeface="Montserrat"/>
              </a:rPr>
              <a:t>Menurut anda, pernyataan manakah dibawah ini yang tepat mengenai moodboard?</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A</a:t>
            </a:r>
            <a:r>
              <a:rPr lang="en" sz="1200">
                <a:solidFill>
                  <a:srgbClr val="A667A5"/>
                </a:solidFill>
                <a:latin typeface="Montserrat Medium"/>
                <a:ea typeface="Montserrat Medium"/>
                <a:cs typeface="Montserrat Medium"/>
                <a:sym typeface="Montserrat Medium"/>
              </a:rPr>
              <a:t>set-aset desain dengan panduan tentang cara menggunakannya.</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Representasi visual dari sebuah merek berisi komponen-komponen.</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Kumpulan garis horizontal dan vertikal berpotongan yang membagi halaman.</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R</a:t>
            </a:r>
            <a:r>
              <a:rPr b="1" lang="en" sz="1200">
                <a:solidFill>
                  <a:schemeClr val="lt1"/>
                </a:solidFill>
                <a:latin typeface="Montserrat"/>
                <a:ea typeface="Montserrat"/>
                <a:cs typeface="Montserrat"/>
                <a:sym typeface="Montserrat"/>
              </a:rPr>
              <a:t>epresentasi visual dari sebuah konsep desain dalam bentuk kumpulan inspirasi.</a:t>
            </a:r>
            <a:endParaRPr b="1" sz="12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
        <p:nvSpPr>
          <p:cNvPr id="525" name="Google Shape;525;p6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6" name="Google Shape;526;p69"/>
          <p:cNvSpPr/>
          <p:nvPr/>
        </p:nvSpPr>
        <p:spPr>
          <a:xfrm>
            <a:off x="685800" y="30031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733572"/>
                </a:solidFill>
                <a:latin typeface="Montserrat"/>
                <a:ea typeface="Montserrat"/>
                <a:cs typeface="Montserrat"/>
                <a:sym typeface="Montserrat"/>
              </a:rPr>
              <a:t>Moodboard adalah representasi visual dari sebuah konsep desain dalam bentuk kumpulan inspirasi.</a:t>
            </a:r>
            <a:endParaRPr b="1" sz="1200">
              <a:solidFill>
                <a:srgbClr val="733572"/>
              </a:solidFill>
              <a:latin typeface="Montserrat"/>
              <a:ea typeface="Montserrat"/>
              <a:cs typeface="Montserrat"/>
              <a:sym typeface="Montserrat"/>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7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32" name="Google Shape;532;p7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2</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Berikut ini adalah beberapa situs di internet untuk mencari referensi UI/UX design, kecuali…</a:t>
            </a:r>
            <a:endParaRPr b="1" sz="16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600">
              <a:solidFill>
                <a:schemeClr val="lt1"/>
              </a:solidFill>
              <a:latin typeface="Montserrat"/>
              <a:ea typeface="Montserrat"/>
              <a:cs typeface="Montserrat"/>
              <a:sym typeface="Montserrat"/>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dribbble.com</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dribble.com</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behance.net</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pinterest.com</a:t>
            </a:r>
            <a:endParaRPr sz="1200">
              <a:solidFill>
                <a:schemeClr val="lt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
        <p:nvSpPr>
          <p:cNvPr id="533" name="Google Shape;533;p7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7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39" name="Google Shape;539;p7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600">
                <a:solidFill>
                  <a:schemeClr val="accent1"/>
                </a:solidFill>
                <a:latin typeface="Montserrat"/>
                <a:ea typeface="Montserrat"/>
                <a:cs typeface="Montserrat"/>
                <a:sym typeface="Montserrat"/>
              </a:rPr>
              <a:t>2.</a:t>
            </a:r>
            <a:r>
              <a:rPr b="1" lang="en" sz="1600">
                <a:solidFill>
                  <a:schemeClr val="lt1"/>
                </a:solidFill>
                <a:latin typeface="Montserrat"/>
                <a:ea typeface="Montserrat"/>
                <a:cs typeface="Montserrat"/>
                <a:sym typeface="Montserrat"/>
              </a:rPr>
              <a:t> Berikut ini adalah beberapa situs di internet untuk mencari referensi UI/UX design, kecuali…</a:t>
            </a:r>
            <a:endParaRPr b="1" sz="18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dribbble.com</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dribble.com</a:t>
            </a:r>
            <a:endParaRPr b="1"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behance.net</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pinterest.com</a:t>
            </a:r>
            <a:endParaRPr sz="1200">
              <a:solidFill>
                <a:srgbClr val="A667A5"/>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
        <p:nvSpPr>
          <p:cNvPr id="540" name="Google Shape;540;p7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41" name="Google Shape;541;p71"/>
          <p:cNvSpPr/>
          <p:nvPr/>
        </p:nvSpPr>
        <p:spPr>
          <a:xfrm>
            <a:off x="685800" y="33079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733572"/>
                </a:solidFill>
                <a:latin typeface="Montserrat"/>
                <a:ea typeface="Montserrat"/>
                <a:cs typeface="Montserrat"/>
                <a:sym typeface="Montserrat"/>
              </a:rPr>
              <a:t>Kamu</a:t>
            </a:r>
            <a:r>
              <a:rPr b="1" lang="en" sz="1200">
                <a:solidFill>
                  <a:srgbClr val="733572"/>
                </a:solidFill>
                <a:latin typeface="Montserrat"/>
                <a:ea typeface="Montserrat"/>
                <a:cs typeface="Montserrat"/>
                <a:sym typeface="Montserrat"/>
              </a:rPr>
              <a:t> tidak akan menemukan apa pun di dribble.com</a:t>
            </a:r>
            <a:endParaRPr b="1" sz="1200">
              <a:solidFill>
                <a:srgbClr val="733572"/>
              </a:solidFill>
              <a:latin typeface="Montserrat"/>
              <a:ea typeface="Montserrat"/>
              <a:cs typeface="Montserrat"/>
              <a:sym typeface="Montserrat"/>
            </a:endParaRPr>
          </a:p>
        </p:txBody>
      </p:sp>
      <p:pic>
        <p:nvPicPr>
          <p:cNvPr id="542" name="Google Shape;542;p71"/>
          <p:cNvPicPr preferRelativeResize="0"/>
          <p:nvPr/>
        </p:nvPicPr>
        <p:blipFill>
          <a:blip r:embed="rId3">
            <a:alphaModFix/>
          </a:blip>
          <a:stretch>
            <a:fillRect/>
          </a:stretch>
        </p:blipFill>
        <p:spPr>
          <a:xfrm>
            <a:off x="6091727" y="3048629"/>
            <a:ext cx="2366474" cy="11139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7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48" name="Google Shape;548;p7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3</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Berikut adalah tujuan dari sebuah moodboard, kecuali…</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Pengumpulan inspirasi</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Membantu proses kreatif</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Acuan desain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Dokumen untuk handoff</a:t>
            </a:r>
            <a:endParaRPr sz="1200">
              <a:solidFill>
                <a:schemeClr val="lt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
        <p:nvSpPr>
          <p:cNvPr id="549" name="Google Shape;549;p7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7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55" name="Google Shape;555;p7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3.</a:t>
            </a:r>
            <a:r>
              <a:rPr b="1" lang="en" sz="1600">
                <a:solidFill>
                  <a:schemeClr val="lt1"/>
                </a:solidFill>
                <a:latin typeface="Montserrat"/>
                <a:ea typeface="Montserrat"/>
                <a:cs typeface="Montserrat"/>
                <a:sym typeface="Montserrat"/>
              </a:rPr>
              <a:t> Berikut adalah tujuan dari sebuah moodboard, kecuali…</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Pengumpulan inspirasi</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Membantu proses kreatif</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Acuan desain </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Dokumen untuk handoff</a:t>
            </a:r>
            <a:endParaRPr b="1" sz="12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
        <p:nvSpPr>
          <p:cNvPr id="556" name="Google Shape;556;p7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7" name="Google Shape;557;p73"/>
          <p:cNvSpPr/>
          <p:nvPr/>
        </p:nvSpPr>
        <p:spPr>
          <a:xfrm>
            <a:off x="685800" y="3079375"/>
            <a:ext cx="7772400" cy="8454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Developer tidak perlu diberikan moodboard pada saat handoff (dengan kasus-kasus terkecuali). Tujuan utama </a:t>
            </a:r>
            <a:r>
              <a:rPr b="1" lang="en" sz="1200">
                <a:solidFill>
                  <a:srgbClr val="733572"/>
                </a:solidFill>
                <a:latin typeface="Montserrat"/>
                <a:ea typeface="Montserrat"/>
                <a:cs typeface="Montserrat"/>
                <a:sym typeface="Montserrat"/>
              </a:rPr>
              <a:t>moodboards</a:t>
            </a:r>
            <a:r>
              <a:rPr b="1" lang="en" sz="1200">
                <a:solidFill>
                  <a:srgbClr val="733572"/>
                </a:solidFill>
                <a:latin typeface="Montserrat"/>
                <a:ea typeface="Montserrat"/>
                <a:cs typeface="Montserrat"/>
                <a:sym typeface="Montserrat"/>
              </a:rPr>
              <a:t> adalah mendokumentasikan inspirasi yang bisa dijadikan acuan saat proses desain.</a:t>
            </a:r>
            <a:endParaRPr b="1" sz="1200">
              <a:solidFill>
                <a:srgbClr val="733572"/>
              </a:solidFill>
              <a:latin typeface="Montserrat"/>
              <a:ea typeface="Montserrat"/>
              <a:cs typeface="Montserrat"/>
              <a:sym typeface="Montserrat"/>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7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63" name="Google Shape;563;p7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4.</a:t>
            </a:r>
            <a:r>
              <a:rPr b="1" lang="en" sz="1600">
                <a:solidFill>
                  <a:schemeClr val="lt1"/>
                </a:solidFill>
                <a:latin typeface="Montserrat"/>
                <a:ea typeface="Montserrat"/>
                <a:cs typeface="Montserrat"/>
                <a:sym typeface="Montserrat"/>
              </a:rPr>
              <a:t> Dari beberapa situs referensi di bawah ini, situs apakah yang fokusnya pada User Interface?</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Pinterest</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Awwwards</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UI Movement</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Medium</a:t>
            </a:r>
            <a:endParaRPr sz="1200">
              <a:solidFill>
                <a:schemeClr val="lt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
        <p:nvSpPr>
          <p:cNvPr id="564" name="Google Shape;564;p7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7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70" name="Google Shape;570;p7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sz="1600">
                <a:solidFill>
                  <a:schemeClr val="accent1"/>
                </a:solidFill>
                <a:latin typeface="Montserrat"/>
                <a:ea typeface="Montserrat"/>
                <a:cs typeface="Montserrat"/>
                <a:sym typeface="Montserrat"/>
              </a:rPr>
              <a:t>4.</a:t>
            </a:r>
            <a:r>
              <a:rPr b="1" lang="en" sz="1600">
                <a:solidFill>
                  <a:schemeClr val="lt1"/>
                </a:solidFill>
                <a:latin typeface="Montserrat"/>
                <a:ea typeface="Montserrat"/>
                <a:cs typeface="Montserrat"/>
                <a:sym typeface="Montserrat"/>
              </a:rPr>
              <a:t> Dari beberapa situs referensi di bawah ini, situs apakah yang fokusnya pada User Interface?</a:t>
            </a:r>
            <a:endParaRPr b="1" sz="18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Pinterest</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Awwwards</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UI Movement</a:t>
            </a:r>
            <a:endParaRPr b="1"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Medium</a:t>
            </a:r>
            <a:endParaRPr sz="1200">
              <a:solidFill>
                <a:srgbClr val="A667A5"/>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
        <p:nvSpPr>
          <p:cNvPr id="571" name="Google Shape;571;p7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2" name="Google Shape;572;p75"/>
          <p:cNvSpPr/>
          <p:nvPr/>
        </p:nvSpPr>
        <p:spPr>
          <a:xfrm>
            <a:off x="685800" y="33841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733572"/>
                </a:solidFill>
                <a:latin typeface="Montserrat"/>
                <a:ea typeface="Montserrat"/>
                <a:cs typeface="Montserrat"/>
                <a:sym typeface="Montserrat"/>
              </a:rPr>
              <a:t>UI Movement berfokus pada desain antarmuka pengguna. Setiap desain dalam koleksi diberi tag sehingga kamu dapat dengan mudah menemukan elemen desain.</a:t>
            </a:r>
            <a:endParaRPr b="1" sz="1200">
              <a:solidFill>
                <a:srgbClr val="733572"/>
              </a:solidFill>
              <a:latin typeface="Montserrat"/>
              <a:ea typeface="Montserrat"/>
              <a:cs typeface="Montserrat"/>
              <a:sym typeface="Montserrat"/>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7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78" name="Google Shape;578;p7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5</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Apa yang dimaksud dengan mood statement…</a:t>
            </a:r>
            <a:endParaRPr b="1" sz="16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K</a:t>
            </a:r>
            <a:r>
              <a:rPr lang="en" sz="1200">
                <a:solidFill>
                  <a:schemeClr val="lt1"/>
                </a:solidFill>
                <a:latin typeface="Montserrat Medium"/>
                <a:ea typeface="Montserrat Medium"/>
                <a:cs typeface="Montserrat Medium"/>
                <a:sym typeface="Montserrat Medium"/>
              </a:rPr>
              <a:t>alimat pendek yang menentukan arah desain kamu secara visual</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K</a:t>
            </a:r>
            <a:r>
              <a:rPr lang="en" sz="1200">
                <a:solidFill>
                  <a:schemeClr val="lt1"/>
                </a:solidFill>
                <a:latin typeface="Montserrat Medium"/>
                <a:ea typeface="Montserrat Medium"/>
                <a:cs typeface="Montserrat Medium"/>
                <a:sym typeface="Montserrat Medium"/>
              </a:rPr>
              <a:t>alimat pendek yang menentukan bagaimana perasaan kamu saat berinteraksi dengan layanan atau fitur kamu.</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K</a:t>
            </a:r>
            <a:r>
              <a:rPr lang="en" sz="1200">
                <a:solidFill>
                  <a:schemeClr val="lt1"/>
                </a:solidFill>
                <a:latin typeface="Montserrat Medium"/>
                <a:ea typeface="Montserrat Medium"/>
                <a:cs typeface="Montserrat Medium"/>
                <a:sym typeface="Montserrat Medium"/>
              </a:rPr>
              <a:t>alimat pendek yang menentukan bagaimana perasaan pengguna saat berinteraksi dengan layanan atau fitur kamu.</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K</a:t>
            </a:r>
            <a:r>
              <a:rPr lang="en" sz="1200">
                <a:solidFill>
                  <a:schemeClr val="lt1"/>
                </a:solidFill>
                <a:latin typeface="Montserrat Medium"/>
                <a:ea typeface="Montserrat Medium"/>
                <a:cs typeface="Montserrat Medium"/>
                <a:sym typeface="Montserrat Medium"/>
              </a:rPr>
              <a:t>alimat pendek yang menentukan bagaimana desain akan terlihat, font yang akan digunakan, warna dan fotografi. </a:t>
            </a:r>
            <a:endParaRPr sz="1200">
              <a:solidFill>
                <a:schemeClr val="lt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
        <p:nvSpPr>
          <p:cNvPr id="579" name="Google Shape;579;p7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7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85" name="Google Shape;585;p7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5.</a:t>
            </a:r>
            <a:r>
              <a:rPr b="1" lang="en" sz="1600">
                <a:solidFill>
                  <a:schemeClr val="lt1"/>
                </a:solidFill>
                <a:latin typeface="Montserrat"/>
                <a:ea typeface="Montserrat"/>
                <a:cs typeface="Montserrat"/>
                <a:sym typeface="Montserrat"/>
              </a:rPr>
              <a:t> Mood statement adalah…</a:t>
            </a:r>
            <a:endParaRPr b="1" sz="16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K</a:t>
            </a:r>
            <a:r>
              <a:rPr lang="en" sz="1200">
                <a:solidFill>
                  <a:srgbClr val="A667A5"/>
                </a:solidFill>
                <a:latin typeface="Montserrat Medium"/>
                <a:ea typeface="Montserrat Medium"/>
                <a:cs typeface="Montserrat Medium"/>
                <a:sym typeface="Montserrat Medium"/>
              </a:rPr>
              <a:t>alimat pendek yang menentukan arah desain kamu secara visual</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Kalimat pendek yang menentukan bagaimana perasaan kamu saat berinteraksi dengan layanan atau fitur kamu.</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K</a:t>
            </a:r>
            <a:r>
              <a:rPr b="1" lang="en" sz="1200">
                <a:solidFill>
                  <a:schemeClr val="lt1"/>
                </a:solidFill>
                <a:latin typeface="Montserrat"/>
                <a:ea typeface="Montserrat"/>
                <a:cs typeface="Montserrat"/>
                <a:sym typeface="Montserrat"/>
              </a:rPr>
              <a:t>alimat pendek yang menentukan bagaimana perasaan pengguna saat berinteraksi dengan layanan atau fitur kamu.</a:t>
            </a:r>
            <a:endParaRPr b="1" sz="1200">
              <a:solidFill>
                <a:schemeClr val="lt1"/>
              </a:solidFill>
              <a:latin typeface="Montserrat"/>
              <a:ea typeface="Montserrat"/>
              <a:cs typeface="Montserrat"/>
              <a:sym typeface="Montserrat"/>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K</a:t>
            </a:r>
            <a:r>
              <a:rPr lang="en" sz="1200">
                <a:solidFill>
                  <a:srgbClr val="A667A5"/>
                </a:solidFill>
                <a:latin typeface="Montserrat Medium"/>
                <a:ea typeface="Montserrat Medium"/>
                <a:cs typeface="Montserrat Medium"/>
                <a:sym typeface="Montserrat Medium"/>
              </a:rPr>
              <a:t>alimat pendek yang menentukan bagaimana desain akan terlihat, font yang akan digunakan, warna dan fotografi. </a:t>
            </a:r>
            <a:endParaRPr sz="1200">
              <a:solidFill>
                <a:srgbClr val="A667A5"/>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
        <p:nvSpPr>
          <p:cNvPr id="586" name="Google Shape;586;p7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87" name="Google Shape;587;p77"/>
          <p:cNvSpPr/>
          <p:nvPr/>
        </p:nvSpPr>
        <p:spPr>
          <a:xfrm>
            <a:off x="685800" y="36889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733572"/>
                </a:solidFill>
                <a:latin typeface="Montserrat"/>
                <a:ea typeface="Montserrat"/>
                <a:cs typeface="Montserrat"/>
                <a:sym typeface="Montserrat"/>
              </a:rPr>
              <a:t>Mood statement adalah  kalimat pendek yang menentukan bagaimana perasaan pengguna saat berinteraksi dengan layanan atau fitur kamu.</a:t>
            </a:r>
            <a:endParaRPr b="1" sz="1200">
              <a:solidFill>
                <a:srgbClr val="733572"/>
              </a:solidFill>
              <a:latin typeface="Montserrat"/>
              <a:ea typeface="Montserrat"/>
              <a:cs typeface="Montserrat"/>
              <a:sym typeface="Montserrat"/>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7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93" name="Google Shape;593;p7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6</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Gaya visual adalah…</a:t>
            </a:r>
            <a:endParaRPr b="1" sz="1600">
              <a:solidFill>
                <a:schemeClr val="accen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Nada dan suara merk produk kamu</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Perasaan pengguna saat berinteraksi dengan produk</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D</a:t>
            </a:r>
            <a:r>
              <a:rPr lang="en" sz="1200">
                <a:solidFill>
                  <a:schemeClr val="lt1"/>
                </a:solidFill>
                <a:latin typeface="Montserrat Medium"/>
                <a:ea typeface="Montserrat Medium"/>
                <a:cs typeface="Montserrat Medium"/>
                <a:sym typeface="Montserrat Medium"/>
              </a:rPr>
              <a:t>esain yang terlihat, font yang digunakan, warna dan fotografi</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Tipe video, ilustrasi, atau fotografi yang digunakan</a:t>
            </a:r>
            <a:endParaRPr sz="1200">
              <a:solidFill>
                <a:schemeClr val="lt1"/>
              </a:solidFill>
              <a:latin typeface="Montserrat Medium"/>
              <a:ea typeface="Montserrat Medium"/>
              <a:cs typeface="Montserrat Medium"/>
              <a:sym typeface="Montserrat Medium"/>
            </a:endParaRPr>
          </a:p>
        </p:txBody>
      </p:sp>
      <p:sp>
        <p:nvSpPr>
          <p:cNvPr id="594" name="Google Shape;594;p7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7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600" name="Google Shape;600;p7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chemeClr val="accent1"/>
                </a:solidFill>
                <a:latin typeface="Montserrat"/>
                <a:ea typeface="Montserrat"/>
                <a:cs typeface="Montserrat"/>
                <a:sym typeface="Montserrat"/>
              </a:rPr>
              <a:t>6.</a:t>
            </a:r>
            <a:r>
              <a:rPr b="1" lang="en" sz="1800">
                <a:solidFill>
                  <a:schemeClr val="lt1"/>
                </a:solidFill>
                <a:latin typeface="Montserrat"/>
                <a:ea typeface="Montserrat"/>
                <a:cs typeface="Montserrat"/>
                <a:sym typeface="Montserrat"/>
              </a:rPr>
              <a:t> </a:t>
            </a:r>
            <a:r>
              <a:rPr b="1" lang="en" sz="1700">
                <a:solidFill>
                  <a:schemeClr val="lt1"/>
                </a:solidFill>
                <a:latin typeface="Montserrat"/>
                <a:ea typeface="Montserrat"/>
                <a:cs typeface="Montserrat"/>
                <a:sym typeface="Montserrat"/>
              </a:rPr>
              <a:t>Gaya visual adalah…</a:t>
            </a:r>
            <a:endParaRPr b="1" sz="2700">
              <a:solidFill>
                <a:schemeClr val="accen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Nada dan suara merk produk kamu</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Perasaan pengguna saat berinteraksi dengan produk</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Desain yang terlihat, font yang digunakan, warna dan fotografi</a:t>
            </a:r>
            <a:endParaRPr b="1"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Tipe video, ilustrasi, atau fotografi yang digunakan</a:t>
            </a:r>
            <a:endParaRPr sz="1200">
              <a:solidFill>
                <a:srgbClr val="A667A5"/>
              </a:solidFill>
              <a:latin typeface="Montserrat Medium"/>
              <a:ea typeface="Montserrat Medium"/>
              <a:cs typeface="Montserrat Medium"/>
              <a:sym typeface="Montserrat Medium"/>
            </a:endParaRPr>
          </a:p>
        </p:txBody>
      </p:sp>
      <p:sp>
        <p:nvSpPr>
          <p:cNvPr id="601" name="Google Shape;601;p7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02" name="Google Shape;602;p79"/>
          <p:cNvSpPr/>
          <p:nvPr/>
        </p:nvSpPr>
        <p:spPr>
          <a:xfrm>
            <a:off x="685800" y="3079375"/>
            <a:ext cx="7772400" cy="7821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733572"/>
                </a:solidFill>
                <a:latin typeface="Montserrat"/>
                <a:ea typeface="Montserrat"/>
                <a:cs typeface="Montserrat"/>
                <a:sym typeface="Montserrat"/>
              </a:rPr>
              <a:t>Gaya visual adalah bagaimana desain akan terlihat, font yang akan kamu gunakan, warna dan fotografi. Tipe video, ilustrasi atau arah fotografi terkadang dapat menjadi bagian dari gaya visual.</a:t>
            </a:r>
            <a:endParaRPr b="1" sz="1200">
              <a:solidFill>
                <a:srgbClr val="733572"/>
              </a:solidFill>
              <a:latin typeface="Montserrat"/>
              <a:ea typeface="Montserrat"/>
              <a:cs typeface="Montserrat"/>
              <a:sym typeface="Montserrat"/>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8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08" name="Google Shape;608;p8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Referensi dan bacaan lebih lanjut</a:t>
            </a:r>
            <a:endParaRPr>
              <a:latin typeface="Montserrat"/>
              <a:ea typeface="Montserrat"/>
              <a:cs typeface="Montserrat"/>
              <a:sym typeface="Montserrat"/>
            </a:endParaRPr>
          </a:p>
        </p:txBody>
      </p:sp>
      <p:pic>
        <p:nvPicPr>
          <p:cNvPr id="609" name="Google Shape;609;p80"/>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610" name="Google Shape;610;p80"/>
          <p:cNvSpPr txBox="1"/>
          <p:nvPr/>
        </p:nvSpPr>
        <p:spPr>
          <a:xfrm>
            <a:off x="685800" y="1024128"/>
            <a:ext cx="4114800" cy="3657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600">
                <a:solidFill>
                  <a:srgbClr val="743673"/>
                </a:solidFill>
                <a:highlight>
                  <a:schemeClr val="lt1"/>
                </a:highlight>
                <a:latin typeface="Montserrat"/>
                <a:ea typeface="Montserrat"/>
                <a:cs typeface="Montserrat"/>
                <a:sym typeface="Montserrat"/>
              </a:rPr>
              <a:t>Referensi dan bacaan lebih lanjut</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292100" lvl="0" marL="457200" rtl="0" algn="l">
              <a:lnSpc>
                <a:spcPct val="115000"/>
              </a:lnSpc>
              <a:spcBef>
                <a:spcPts val="0"/>
              </a:spcBef>
              <a:spcAft>
                <a:spcPts val="0"/>
              </a:spcAft>
              <a:buClr>
                <a:schemeClr val="dk1"/>
              </a:buClr>
              <a:buSzPts val="1000"/>
              <a:buFont typeface="Montserrat"/>
              <a:buAutoNum type="arabicPeriod"/>
            </a:pPr>
            <a:r>
              <a:rPr lang="en" sz="1000" u="sng">
                <a:solidFill>
                  <a:schemeClr val="dk1"/>
                </a:solidFill>
                <a:latin typeface="Montserrat"/>
                <a:ea typeface="Montserrat"/>
                <a:cs typeface="Montserrat"/>
                <a:sym typeface="Montserrat"/>
                <a:hlinkClick r:id="rId4">
                  <a:extLst>
                    <a:ext uri="{A12FA001-AC4F-418D-AE19-62706E023703}">
                      <ahyp:hlinkClr val="tx"/>
                    </a:ext>
                  </a:extLst>
                </a:hlinkClick>
              </a:rPr>
              <a:t>Getting in the Mood: 9 Tips for Better Moodboards by Blink UX</a:t>
            </a:r>
            <a:endParaRPr u="sng"/>
          </a:p>
          <a:p>
            <a:pPr indent="-292100" lvl="0" marL="457200" rtl="0" algn="l">
              <a:lnSpc>
                <a:spcPct val="115000"/>
              </a:lnSpc>
              <a:spcBef>
                <a:spcPts val="0"/>
              </a:spcBef>
              <a:spcAft>
                <a:spcPts val="0"/>
              </a:spcAft>
              <a:buClr>
                <a:schemeClr val="dk1"/>
              </a:buClr>
              <a:buSzPts val="1000"/>
              <a:buFont typeface="Montserrat"/>
              <a:buAutoNum type="arabicPeriod"/>
            </a:pPr>
            <a:r>
              <a:rPr lang="en" sz="1000" u="sng">
                <a:solidFill>
                  <a:schemeClr val="dk1"/>
                </a:solidFill>
                <a:latin typeface="Montserrat"/>
                <a:ea typeface="Montserrat"/>
                <a:cs typeface="Montserrat"/>
                <a:sym typeface="Montserrat"/>
                <a:hlinkClick r:id="rId5">
                  <a:extLst>
                    <a:ext uri="{A12FA001-AC4F-418D-AE19-62706E023703}">
                      <ahyp:hlinkClr val="tx"/>
                    </a:ext>
                  </a:extLst>
                </a:hlinkClick>
              </a:rPr>
              <a:t>A UX guide to designing better mood boards by Paola Ascanio on UX Collective</a:t>
            </a:r>
            <a:endParaRPr u="sng"/>
          </a:p>
          <a:p>
            <a:pPr indent="-292100" lvl="0" marL="457200" rtl="0" algn="l">
              <a:lnSpc>
                <a:spcPct val="115000"/>
              </a:lnSpc>
              <a:spcBef>
                <a:spcPts val="0"/>
              </a:spcBef>
              <a:spcAft>
                <a:spcPts val="0"/>
              </a:spcAft>
              <a:buClr>
                <a:schemeClr val="dk1"/>
              </a:buClr>
              <a:buSzPts val="1000"/>
              <a:buFont typeface="Montserrat"/>
              <a:buAutoNum type="arabicPeriod"/>
            </a:pPr>
            <a:r>
              <a:rPr lang="en" sz="1000" u="sng">
                <a:solidFill>
                  <a:schemeClr val="dk1"/>
                </a:solidFill>
                <a:latin typeface="Montserrat"/>
                <a:ea typeface="Montserrat"/>
                <a:cs typeface="Montserrat"/>
                <a:sym typeface="Montserrat"/>
                <a:hlinkClick r:id="rId6">
                  <a:extLst>
                    <a:ext uri="{A12FA001-AC4F-418D-AE19-62706E023703}">
                      <ahyp:hlinkClr val="tx"/>
                    </a:ext>
                  </a:extLst>
                </a:hlinkClick>
              </a:rPr>
              <a:t>How to use references in UI design by UXPlanet</a:t>
            </a:r>
            <a:endParaRPr u="sng"/>
          </a:p>
          <a:p>
            <a:pPr indent="-292100" lvl="0" marL="457200" rtl="0" algn="l">
              <a:lnSpc>
                <a:spcPct val="115000"/>
              </a:lnSpc>
              <a:spcBef>
                <a:spcPts val="0"/>
              </a:spcBef>
              <a:spcAft>
                <a:spcPts val="0"/>
              </a:spcAft>
              <a:buClr>
                <a:schemeClr val="dk1"/>
              </a:buClr>
              <a:buSzPts val="1000"/>
              <a:buFont typeface="Montserrat"/>
              <a:buAutoNum type="arabicPeriod"/>
            </a:pPr>
            <a:r>
              <a:rPr lang="en" sz="1000" u="sng">
                <a:solidFill>
                  <a:schemeClr val="dk1"/>
                </a:solidFill>
                <a:latin typeface="Montserrat"/>
                <a:ea typeface="Montserrat"/>
                <a:cs typeface="Montserrat"/>
                <a:sym typeface="Montserrat"/>
                <a:hlinkClick r:id="rId7">
                  <a:extLst>
                    <a:ext uri="{A12FA001-AC4F-418D-AE19-62706E023703}">
                      <ahyp:hlinkClr val="tx"/>
                    </a:ext>
                  </a:extLst>
                </a:hlinkClick>
              </a:rPr>
              <a:t>Why Inspiration Matters – Moodboard in UX/UI mobile app design by Paulina Chmielewska on LinkedIn</a:t>
            </a:r>
            <a:endParaRPr u="sng"/>
          </a:p>
          <a:p>
            <a:pPr indent="-292100" lvl="0" marL="457200" rtl="0" algn="l">
              <a:lnSpc>
                <a:spcPct val="115000"/>
              </a:lnSpc>
              <a:spcBef>
                <a:spcPts val="0"/>
              </a:spcBef>
              <a:spcAft>
                <a:spcPts val="0"/>
              </a:spcAft>
              <a:buClr>
                <a:schemeClr val="dk1"/>
              </a:buClr>
              <a:buSzPts val="1000"/>
              <a:buFont typeface="Montserrat"/>
              <a:buAutoNum type="arabicPeriod"/>
            </a:pPr>
            <a:r>
              <a:rPr lang="en" sz="1000" u="sng">
                <a:solidFill>
                  <a:schemeClr val="dk1"/>
                </a:solidFill>
                <a:latin typeface="Montserrat"/>
                <a:ea typeface="Montserrat"/>
                <a:cs typeface="Montserrat"/>
                <a:sym typeface="Montserrat"/>
                <a:hlinkClick r:id="rId8">
                  <a:extLst>
                    <a:ext uri="{A12FA001-AC4F-418D-AE19-62706E023703}">
                      <ahyp:hlinkClr val="tx"/>
                    </a:ext>
                  </a:extLst>
                </a:hlinkClick>
              </a:rPr>
              <a:t>10 mood boards to inspire your UX designs 13 min read</a:t>
            </a:r>
            <a:endParaRPr sz="1000" u="sng">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8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616" name="Google Shape;616;p8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Penutup</a:t>
            </a:r>
            <a:endParaRPr>
              <a:latin typeface="Montserrat"/>
              <a:ea typeface="Montserrat"/>
              <a:cs typeface="Montserrat"/>
              <a:sym typeface="Montserrat"/>
            </a:endParaRPr>
          </a:p>
        </p:txBody>
      </p:sp>
      <p:sp>
        <p:nvSpPr>
          <p:cNvPr id="617" name="Google Shape;617;p81"/>
          <p:cNvSpPr txBox="1"/>
          <p:nvPr/>
        </p:nvSpPr>
        <p:spPr>
          <a:xfrm>
            <a:off x="685800" y="1617450"/>
            <a:ext cx="46182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Oke, sampai sini dulu bahasan kita hari ini ya. Semoga </a:t>
            </a:r>
            <a:r>
              <a:rPr b="1" lang="en">
                <a:solidFill>
                  <a:srgbClr val="FFAB40"/>
                </a:solidFill>
                <a:latin typeface="Montserrat"/>
                <a:ea typeface="Montserrat"/>
                <a:cs typeface="Montserrat"/>
                <a:sym typeface="Montserrat"/>
              </a:rPr>
              <a:t>moodboard</a:t>
            </a:r>
            <a:r>
              <a:rPr b="1" lang="en">
                <a:solidFill>
                  <a:schemeClr val="lt1"/>
                </a:solidFill>
                <a:latin typeface="Montserrat"/>
                <a:ea typeface="Montserrat"/>
                <a:cs typeface="Montserrat"/>
                <a:sym typeface="Montserrat"/>
              </a:rPr>
              <a:t> bisa membantu kamu sebagai acuan desain dan penulisan.</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Besok, kita akan membahas tentang </a:t>
            </a:r>
            <a:r>
              <a:rPr b="1" lang="en">
                <a:solidFill>
                  <a:srgbClr val="FFAB40"/>
                </a:solidFill>
                <a:latin typeface="Montserrat"/>
                <a:ea typeface="Montserrat"/>
                <a:cs typeface="Montserrat"/>
                <a:sym typeface="Montserrat"/>
              </a:rPr>
              <a:t>redesign part 1</a:t>
            </a:r>
            <a:r>
              <a:rPr b="1" lang="en">
                <a:solidFill>
                  <a:schemeClr val="lt1"/>
                </a:solidFill>
                <a:latin typeface="Montserrat"/>
                <a:ea typeface="Montserrat"/>
                <a:cs typeface="Montserrat"/>
                <a:sym typeface="Montserrat"/>
              </a:rPr>
              <a:t>. Udah nggak sabar kan?</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Sampai jumpa besok ya ~</a:t>
            </a:r>
            <a:endParaRPr b="1">
              <a:solidFill>
                <a:schemeClr val="lt1"/>
              </a:solidFill>
              <a:latin typeface="Montserrat"/>
              <a:ea typeface="Montserrat"/>
              <a:cs typeface="Montserrat"/>
              <a:sym typeface="Montserrat"/>
            </a:endParaRPr>
          </a:p>
        </p:txBody>
      </p:sp>
      <p:pic>
        <p:nvPicPr>
          <p:cNvPr id="618" name="Google Shape;618;p81"/>
          <p:cNvPicPr preferRelativeResize="0"/>
          <p:nvPr/>
        </p:nvPicPr>
        <p:blipFill>
          <a:blip r:embed="rId3">
            <a:alphaModFix/>
          </a:blip>
          <a:stretch>
            <a:fillRect/>
          </a:stretch>
        </p:blipFill>
        <p:spPr>
          <a:xfrm>
            <a:off x="4039906" y="502800"/>
            <a:ext cx="5687844" cy="4338199"/>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622" name="Shape 622"/>
        <p:cNvGrpSpPr/>
        <p:nvPr/>
      </p:nvGrpSpPr>
      <p:grpSpPr>
        <a:xfrm>
          <a:off x="0" y="0"/>
          <a:ext cx="0" cy="0"/>
          <a:chOff x="0" y="0"/>
          <a:chExt cx="0" cy="0"/>
        </a:xfrm>
      </p:grpSpPr>
      <p:sp>
        <p:nvSpPr>
          <p:cNvPr id="623" name="Google Shape;623;p82"/>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4" name="Google Shape;624;p82"/>
          <p:cNvPicPr preferRelativeResize="0"/>
          <p:nvPr/>
        </p:nvPicPr>
        <p:blipFill>
          <a:blip r:embed="rId3">
            <a:alphaModFix/>
          </a:blip>
          <a:stretch>
            <a:fillRect/>
          </a:stretch>
        </p:blipFill>
        <p:spPr>
          <a:xfrm>
            <a:off x="1734062" y="469363"/>
            <a:ext cx="5675881" cy="4204774"/>
          </a:xfrm>
          <a:prstGeom prst="rect">
            <a:avLst/>
          </a:prstGeom>
          <a:noFill/>
          <a:ln>
            <a:noFill/>
          </a:ln>
        </p:spPr>
      </p:pic>
      <p:pic>
        <p:nvPicPr>
          <p:cNvPr id="625" name="Google Shape;625;p82"/>
          <p:cNvPicPr preferRelativeResize="0"/>
          <p:nvPr/>
        </p:nvPicPr>
        <p:blipFill rotWithShape="1">
          <a:blip r:embed="rId4">
            <a:alphaModFix/>
          </a:blip>
          <a:srcRect b="0" l="0" r="13247" t="0"/>
          <a:stretch/>
        </p:blipFill>
        <p:spPr>
          <a:xfrm>
            <a:off x="7987325" y="4075701"/>
            <a:ext cx="709350" cy="817600"/>
          </a:xfrm>
          <a:prstGeom prst="rect">
            <a:avLst/>
          </a:prstGeom>
          <a:noFill/>
          <a:ln>
            <a:noFill/>
          </a:ln>
        </p:spPr>
      </p:pic>
      <p:pic>
        <p:nvPicPr>
          <p:cNvPr id="626" name="Google Shape;626;p82"/>
          <p:cNvPicPr preferRelativeResize="0"/>
          <p:nvPr/>
        </p:nvPicPr>
        <p:blipFill>
          <a:blip r:embed="rId5">
            <a:alphaModFix/>
          </a:blip>
          <a:stretch>
            <a:fillRect/>
          </a:stretch>
        </p:blipFill>
        <p:spPr>
          <a:xfrm>
            <a:off x="1103225" y="6174213"/>
            <a:ext cx="1991475" cy="689575"/>
          </a:xfrm>
          <a:prstGeom prst="rect">
            <a:avLst/>
          </a:prstGeom>
          <a:noFill/>
          <a:ln>
            <a:noFill/>
          </a:ln>
        </p:spPr>
      </p:pic>
      <p:pic>
        <p:nvPicPr>
          <p:cNvPr id="627" name="Google Shape;627;p82"/>
          <p:cNvPicPr preferRelativeResize="0"/>
          <p:nvPr/>
        </p:nvPicPr>
        <p:blipFill>
          <a:blip r:embed="rId6">
            <a:alphaModFix/>
          </a:blip>
          <a:stretch>
            <a:fillRect/>
          </a:stretch>
        </p:blipFill>
        <p:spPr>
          <a:xfrm>
            <a:off x="487625" y="4141560"/>
            <a:ext cx="1991475" cy="68588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