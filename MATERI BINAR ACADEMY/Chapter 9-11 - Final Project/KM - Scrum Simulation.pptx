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Raleway SemiBold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Lato Black"/>
      <p:bold r:id="rId35"/>
      <p:boldItalic r:id="rId36"/>
    </p:embeddedFont>
    <p:embeddedFont>
      <p:font typeface="Helvetica Neue"/>
      <p:regular r:id="rId37"/>
      <p:bold r:id="rId38"/>
      <p:italic r:id="rId39"/>
      <p:boldItalic r:id="rId40"/>
    </p:embeddedFont>
    <p:embeddedFont>
      <p:font typeface="Helvetica Neue Light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2880">
          <p15:clr>
            <a:srgbClr val="A4A3A4"/>
          </p15:clr>
        </p15:guide>
        <p15:guide id="3" pos="2976">
          <p15:clr>
            <a:srgbClr val="9AA0A6"/>
          </p15:clr>
        </p15:guide>
        <p15:guide id="4" orient="horz" pos="3024">
          <p15:clr>
            <a:srgbClr val="9AA0A6"/>
          </p15:clr>
        </p15:guide>
        <p15:guide id="5" pos="5455">
          <p15:clr>
            <a:srgbClr val="9AA0A6"/>
          </p15:clr>
        </p15:guide>
        <p15:guide id="6" pos="305">
          <p15:clr>
            <a:srgbClr val="9AA0A6"/>
          </p15:clr>
        </p15:guide>
        <p15:guide id="7" pos="493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2880"/>
        <p:guide pos="2976"/>
        <p:guide pos="3024" orient="horz"/>
        <p:guide pos="5455"/>
        <p:guide pos="305"/>
        <p:guide pos="493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Italic.fntdata"/><Relationship Id="rId20" Type="http://schemas.openxmlformats.org/officeDocument/2006/relationships/slide" Target="slides/slide14.xml"/><Relationship Id="rId42" Type="http://schemas.openxmlformats.org/officeDocument/2006/relationships/font" Target="fonts/HelveticaNeueLight-bold.fntdata"/><Relationship Id="rId41" Type="http://schemas.openxmlformats.org/officeDocument/2006/relationships/font" Target="fonts/HelveticaNeueLight-regular.fntdata"/><Relationship Id="rId22" Type="http://schemas.openxmlformats.org/officeDocument/2006/relationships/slide" Target="slides/slide16.xml"/><Relationship Id="rId44" Type="http://schemas.openxmlformats.org/officeDocument/2006/relationships/font" Target="fonts/HelveticaNeueLight-boldItalic.fntdata"/><Relationship Id="rId21" Type="http://schemas.openxmlformats.org/officeDocument/2006/relationships/slide" Target="slides/slide15.xml"/><Relationship Id="rId43" Type="http://schemas.openxmlformats.org/officeDocument/2006/relationships/font" Target="fonts/HelveticaNeueLight-italic.fntdata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RalewaySemiBold-bold.fntdata"/><Relationship Id="rId27" Type="http://schemas.openxmlformats.org/officeDocument/2006/relationships/font" Target="fonts/Raleway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regular.fntdata"/><Relationship Id="rId30" Type="http://schemas.openxmlformats.org/officeDocument/2006/relationships/font" Target="fonts/Raleway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bold.fntdata"/><Relationship Id="rId13" Type="http://schemas.openxmlformats.org/officeDocument/2006/relationships/slide" Target="slides/slide7.xml"/><Relationship Id="rId35" Type="http://schemas.openxmlformats.org/officeDocument/2006/relationships/font" Target="fonts/LatoBlack-bold.fntdata"/><Relationship Id="rId12" Type="http://schemas.openxmlformats.org/officeDocument/2006/relationships/slide" Target="slides/slide6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9.xml"/><Relationship Id="rId37" Type="http://schemas.openxmlformats.org/officeDocument/2006/relationships/font" Target="fonts/HelveticaNeue-regular.fntdata"/><Relationship Id="rId14" Type="http://schemas.openxmlformats.org/officeDocument/2006/relationships/slide" Target="slides/slide8.xml"/><Relationship Id="rId36" Type="http://schemas.openxmlformats.org/officeDocument/2006/relationships/font" Target="fonts/LatoBlack-boldItalic.fntdata"/><Relationship Id="rId17" Type="http://schemas.openxmlformats.org/officeDocument/2006/relationships/slide" Target="slides/slide11.xml"/><Relationship Id="rId39" Type="http://schemas.openxmlformats.org/officeDocument/2006/relationships/font" Target="fonts/HelveticaNeue-italic.fntdata"/><Relationship Id="rId16" Type="http://schemas.openxmlformats.org/officeDocument/2006/relationships/slide" Target="slides/slide10.xml"/><Relationship Id="rId38" Type="http://schemas.openxmlformats.org/officeDocument/2006/relationships/font" Target="fonts/HelveticaNeue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alphatrad.net/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alphatrad.net/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f2f2ff28f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f2f2ff28f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2ee1824cd7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12ee1824cd7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2ee1824cd7_2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12ee1824cd7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http://www.alphatrad.net/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Refine graph.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ee1824cd7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12ee1824cd7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2ee1824cd7_2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12ee1824cd7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http://www.alphatrad.net/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Refine graph.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2ee1824cd7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12ee1824cd7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2ee1824cd7_2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12ee1824cd7_2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2ee1824cd7_2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12ee1824cd7_2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2ee1824cd7_2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12ee1824cd7_2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2ee1824cd7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2ee1824cd7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2ee1824cd7_2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12ee1824cd7_2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1cbbc5f1d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1cbbc5f1d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1cbbc5f1d3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11cbbc5f1d3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2ee1824cd7_3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12ee1824cd7_3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2ee1824cd7_3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2ee1824cd7_3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03592" y="125090"/>
            <a:ext cx="8936700" cy="4893300"/>
          </a:xfrm>
          <a:prstGeom prst="rect">
            <a:avLst/>
          </a:prstGeom>
          <a:solidFill>
            <a:srgbClr val="743573"/>
          </a:solidFill>
          <a:ln>
            <a:noFill/>
          </a:ln>
        </p:spPr>
        <p:txBody>
          <a:bodyPr anchorCtr="0" anchor="ctr" bIns="13350" lIns="13350" spcFirstLastPara="1" rIns="13350" wrap="square" tIns="13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Helvetica Neue"/>
              <a:buNone/>
            </a:pPr>
            <a:r>
              <a:t/>
            </a:r>
            <a:endParaRPr b="0" i="0" sz="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binar-academy_utama_putih_bg-transparan.pdf"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550" y="1971339"/>
            <a:ext cx="1079363" cy="12008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2391984" y="2263069"/>
            <a:ext cx="23076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"/>
              <a:buNone/>
              <a:defRPr b="1" sz="4200">
                <a:solidFill>
                  <a:srgbClr val="FFFFFF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cxnSp>
        <p:nvCxnSpPr>
          <p:cNvPr id="54" name="Google Shape;54;p13"/>
          <p:cNvCxnSpPr/>
          <p:nvPr/>
        </p:nvCxnSpPr>
        <p:spPr>
          <a:xfrm rot="10800000">
            <a:off x="2131449" y="1693431"/>
            <a:ext cx="0" cy="1756500"/>
          </a:xfrm>
          <a:prstGeom prst="straightConnector1">
            <a:avLst/>
          </a:prstGeom>
          <a:noFill/>
          <a:ln cap="flat" cmpd="sng" w="889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6877031" y="4217294"/>
            <a:ext cx="20127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-2286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Helvetica Neue"/>
              <a:buNone/>
              <a:defRPr sz="2000">
                <a:solidFill>
                  <a:srgbClr val="F5F5F5"/>
                </a:solidFill>
              </a:defRPr>
            </a:lvl1pPr>
            <a:lvl2pPr indent="-228600" lvl="1" marL="914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Helvetica Neue"/>
              <a:buNone/>
              <a:defRPr sz="2000">
                <a:solidFill>
                  <a:srgbClr val="F5F5F5"/>
                </a:solidFill>
              </a:defRPr>
            </a:lvl2pPr>
            <a:lvl3pPr indent="-228600" lvl="2" marL="13716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Helvetica Neue"/>
              <a:buNone/>
              <a:defRPr sz="2000">
                <a:solidFill>
                  <a:srgbClr val="F5F5F5"/>
                </a:solidFill>
              </a:defRPr>
            </a:lvl3pPr>
            <a:lvl4pPr indent="-228600" lvl="3" marL="18288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Helvetica Neue"/>
              <a:buNone/>
              <a:defRPr sz="2000">
                <a:solidFill>
                  <a:srgbClr val="F5F5F5"/>
                </a:solidFill>
              </a:defRPr>
            </a:lvl4pPr>
            <a:lvl5pPr indent="-228600" lvl="4" marL="22860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Helvetica Neue"/>
              <a:buNone/>
              <a:defRPr sz="2000">
                <a:solidFill>
                  <a:srgbClr val="F5F5F5"/>
                </a:solidFill>
              </a:defRPr>
            </a:lvl5pPr>
            <a:lvl6pPr indent="-27305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6pPr>
            <a:lvl7pPr indent="-27305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7pPr>
            <a:lvl8pPr indent="-27305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8pPr>
            <a:lvl9pPr indent="-27305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4482789" y="4902398"/>
            <a:ext cx="1749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solidFill>
                <a:srgbClr val="88888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/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‹#›</a:t>
            </a:fld>
            <a:endParaRPr sz="1000">
              <a:solidFill>
                <a:srgbClr val="FFFFFF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7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68" name="Google Shape;68;p17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7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7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17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75" name="Google Shape;75;p17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0" name="Google Shape;8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8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8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p18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87" name="Google Shape;87;p18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8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‹#›</a:t>
            </a:fld>
            <a:endParaRPr sz="1000">
              <a:solidFill>
                <a:srgbClr val="FFFFFF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6" name="Google Shape;106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1" name="Google Shape;11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4" name="Google Shape;114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4" name="Google Shape;124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2" name="Google Shape;132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73357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alphatrad.net/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openxmlformats.org/officeDocument/2006/relationships/hyperlink" Target="https://trello.com/invite/b/FjvZ2JXE/450f4b9d36b7e752d897dbf0dbda39b3/dta-bootcamp-scrum-introduction" TargetMode="External"/><Relationship Id="rId6" Type="http://schemas.openxmlformats.org/officeDocument/2006/relationships/hyperlink" Target="https://docs.google.com/spreadsheets/u/2/d/1sTK-dsJya2Z0hBI4rkiyOYRxLK_WBKhjwovJNPDX1_k/edit#gid=1785037003" TargetMode="External"/><Relationship Id="rId7" Type="http://schemas.openxmlformats.org/officeDocument/2006/relationships/hyperlink" Target="https://ideaboardz.com/for/Scrum%20Introduction%20-%20Retrospective%20Template/4499624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/>
        </p:nvSpPr>
        <p:spPr>
          <a:xfrm>
            <a:off x="2665625" y="2507550"/>
            <a:ext cx="59595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Scrum Simulation</a:t>
            </a:r>
            <a:endParaRPr b="0" i="0" sz="14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" name="Google Shape;139;p30"/>
          <p:cNvSpPr txBox="1"/>
          <p:nvPr/>
        </p:nvSpPr>
        <p:spPr>
          <a:xfrm>
            <a:off x="5332200" y="3716100"/>
            <a:ext cx="30000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30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1" name="Google Shape;14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400" y="1853225"/>
            <a:ext cx="1289550" cy="15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1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1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1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1"/>
          <p:cNvSpPr txBox="1"/>
          <p:nvPr/>
        </p:nvSpPr>
        <p:spPr>
          <a:xfrm>
            <a:off x="714300" y="1866550"/>
            <a:ext cx="4239000" cy="16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Haloo!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Sebelum kita masuk ke simulasi scrum, kita akan ulas lagi beberapa poin penting dari </a:t>
            </a:r>
            <a:r>
              <a:rPr b="1" lang="en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konsep scrum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yang sudah kamu pelajari secara mandiri ya.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31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Product Management</a:t>
            </a:r>
            <a:endParaRPr b="1" i="0" sz="1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31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1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1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1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1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Scrum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" name="Google Shape;16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3875" y="1525675"/>
            <a:ext cx="2708325" cy="284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/>
        </p:nvSpPr>
        <p:spPr>
          <a:xfrm>
            <a:off x="520125" y="804675"/>
            <a:ext cx="40518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600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Tau kan sekarang </a:t>
            </a:r>
            <a:r>
              <a:rPr b="1" i="0" lang="en" sz="1600" u="none" cap="none" strike="noStrike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Agile </a:t>
            </a:r>
            <a:r>
              <a:rPr b="1" lang="en" sz="1600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itu apa </a:t>
            </a:r>
            <a:r>
              <a:rPr b="1" i="0" lang="en" sz="1600" u="none" cap="none" strike="noStrike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~</a:t>
            </a:r>
            <a:endParaRPr b="1" i="0" sz="1000" u="none" cap="none" strike="noStrike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Agile termasuk sebuah pola pikir atau mindset, yang merupakan kemampuan untuk bergerak dengan </a:t>
            </a:r>
            <a:r>
              <a:rPr b="1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cepat</a:t>
            </a: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dan </a:t>
            </a:r>
            <a:r>
              <a:rPr b="1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efisien</a:t>
            </a: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32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73" name="Google Shape;173;p32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2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2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612" y="183549"/>
            <a:ext cx="302675" cy="3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2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2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2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2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2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2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2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Agile</a:t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5" name="Google Shape;18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575" y="1207651"/>
            <a:ext cx="3512475" cy="355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/>
        </p:nvSpPr>
        <p:spPr>
          <a:xfrm>
            <a:off x="509575" y="887775"/>
            <a:ext cx="4062300" cy="39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4 Nilai Agile</a:t>
            </a:r>
            <a:endParaRPr b="1" i="0" sz="1000" u="none" cap="none" strike="noStrike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Nilai-nilai Agile bisa disebut dengan istilah</a:t>
            </a:r>
            <a:r>
              <a:rPr b="0" i="0" lang="en" sz="10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" sz="1000" u="sng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Agile Manifesto.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Agile Manifesto ini merupakan penyesuaian terhadap nilai-nilai yang pernah diterapkan sebelumnya.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Selain itu, cara ini menjadi alternatif untuk meningkatkan kinerja dengan tepat sasaran.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3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3" name="Google Shape;193;p33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3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3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6612" y="183549"/>
            <a:ext cx="302675" cy="3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3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3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3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3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3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3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Agile</a:t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6675" y="1455158"/>
            <a:ext cx="3811676" cy="3028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12" name="Google Shape;212;p3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612" y="183549"/>
            <a:ext cx="302675" cy="3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4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4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4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Agile</a:t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4" name="Google Shape;224;p34"/>
          <p:cNvPicPr preferRelativeResize="0"/>
          <p:nvPr/>
        </p:nvPicPr>
        <p:blipFill rotWithShape="1">
          <a:blip r:embed="rId5">
            <a:alphaModFix/>
          </a:blip>
          <a:srcRect b="0" l="10252" r="9458" t="0"/>
          <a:stretch/>
        </p:blipFill>
        <p:spPr>
          <a:xfrm>
            <a:off x="5505750" y="1593775"/>
            <a:ext cx="2886075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 txBox="1"/>
          <p:nvPr/>
        </p:nvSpPr>
        <p:spPr>
          <a:xfrm>
            <a:off x="520125" y="804675"/>
            <a:ext cx="40518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600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Tahapan Agile </a:t>
            </a:r>
            <a:endParaRPr b="1" i="0" sz="1000" u="none" cap="none" strike="noStrike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Agile mem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iliki tahapan yang iteratif atau berulang. Jadi dalam prosesnya, selalu ada evaluasi dan pengembangan lainnya lagi. 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Proses pengembangan yang cepat dan berulang ini dimaksudkan agar dapat menyesuaikan dengan feedback yang didapatkan dari user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Salah satu framework dari agile adalah Scrum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5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32" name="Google Shape;232;p3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612" y="183549"/>
            <a:ext cx="302675" cy="3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5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5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5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5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Scru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4" name="Google Shape;24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4471" y="1620513"/>
            <a:ext cx="6115803" cy="29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5"/>
          <p:cNvSpPr txBox="1"/>
          <p:nvPr/>
        </p:nvSpPr>
        <p:spPr>
          <a:xfrm>
            <a:off x="509675" y="804675"/>
            <a:ext cx="78054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3 Pilar Scrum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52" name="Google Shape;252;p36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6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6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612" y="183549"/>
            <a:ext cx="302675" cy="3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6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6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6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6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6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6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6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Scrum</a:t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4" name="Google Shape;264;p36"/>
          <p:cNvPicPr preferRelativeResize="0"/>
          <p:nvPr/>
        </p:nvPicPr>
        <p:blipFill rotWithShape="1">
          <a:blip r:embed="rId5">
            <a:alphaModFix/>
          </a:blip>
          <a:srcRect b="10685" l="0" r="0" t="10685"/>
          <a:stretch/>
        </p:blipFill>
        <p:spPr>
          <a:xfrm>
            <a:off x="1501800" y="1156750"/>
            <a:ext cx="6254726" cy="374503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6"/>
          <p:cNvSpPr txBox="1"/>
          <p:nvPr/>
        </p:nvSpPr>
        <p:spPr>
          <a:xfrm>
            <a:off x="509675" y="499875"/>
            <a:ext cx="78054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Scrum Structure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7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72" name="Google Shape;272;p37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7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7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612" y="183549"/>
            <a:ext cx="302675" cy="3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7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7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7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7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7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7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Scrum</a:t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433475" y="957075"/>
            <a:ext cx="38790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Scrum Member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5" name="Google Shape;285;p37"/>
          <p:cNvPicPr preferRelativeResize="0"/>
          <p:nvPr/>
        </p:nvPicPr>
        <p:blipFill rotWithShape="1">
          <a:blip r:embed="rId5">
            <a:alphaModFix/>
          </a:blip>
          <a:srcRect b="19115" l="0" r="0" t="17648"/>
          <a:stretch/>
        </p:blipFill>
        <p:spPr>
          <a:xfrm>
            <a:off x="381000" y="1905075"/>
            <a:ext cx="4177724" cy="201463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7"/>
          <p:cNvSpPr txBox="1"/>
          <p:nvPr/>
        </p:nvSpPr>
        <p:spPr>
          <a:xfrm>
            <a:off x="4482525" y="804675"/>
            <a:ext cx="40518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2AB2F"/>
              </a:buClr>
              <a:buSzPts val="1000"/>
              <a:buFont typeface="Montserrat"/>
              <a:buAutoNum type="arabicPeriod"/>
            </a:pPr>
            <a:r>
              <a:rPr b="1" lang="en" sz="10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Product Owner (PO)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rang yang berperan untuk 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nentuin prioritas tugas-tugas yang harus diselesaikan duluan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oleh team member. Tapi, PO nggak perlu nentuin jumlah tugas yang harus dikerjain masing-masing team member, karena setiap tim member berhak nentuin jumlah tugas sesuai kemampuan mereka.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2AB2F"/>
              </a:buClr>
              <a:buSzPts val="1000"/>
              <a:buFont typeface="Montserrat"/>
              <a:buAutoNum type="arabicPeriod"/>
            </a:pPr>
            <a:r>
              <a:rPr b="1" lang="en" sz="10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Team Member (Developer)</a:t>
            </a:r>
            <a:endParaRPr b="1" sz="1000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Team Member punya tanggung jawab untuk  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ngejalanin proses pengembangan product. 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2AB2F"/>
              </a:buClr>
              <a:buSzPts val="1000"/>
              <a:buFont typeface="Montserrat"/>
              <a:buAutoNum type="arabicPeriod"/>
            </a:pPr>
            <a:r>
              <a:rPr b="1" lang="en" sz="10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Scrum Master</a:t>
            </a:r>
            <a:endParaRPr b="1" sz="1000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Peran ini memiliki tugas utama untuk 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memantau kelancaran pengembangan produk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agar tetap sesuai dengantata caranya scrum.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93" name="Google Shape;293;p38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8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8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612" y="183549"/>
            <a:ext cx="302675" cy="3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8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8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8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8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8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8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Scrum</a:t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509675" y="859900"/>
            <a:ext cx="40518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2AB2F"/>
              </a:buClr>
              <a:buSzPts val="1000"/>
              <a:buFont typeface="Montserrat"/>
              <a:buAutoNum type="arabicPeriod"/>
            </a:pPr>
            <a:r>
              <a:rPr b="1" lang="en" sz="10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Sprint Planning </a:t>
            </a:r>
            <a:endParaRPr b="1" sz="1000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Setiap akan mulai sprint, perlu ada perencanaan dulu. Tujuannya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agar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sprint bisa berjalan dengan baik. Pada sesi ini tim akan 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menentukan goal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selama sprint yang akan berjalan.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Sprint goal yang sudah dibuat, selanjutnya bakal dipecah jadi task-task kecil.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2AB2F"/>
              </a:buClr>
              <a:buSzPts val="1000"/>
              <a:buFont typeface="Montserrat"/>
              <a:buAutoNum type="arabicPeriod"/>
            </a:pPr>
            <a:r>
              <a:rPr b="1" lang="en" sz="10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Daily Scrum </a:t>
            </a:r>
            <a:endParaRPr b="1" sz="1000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Setelah sprint planning, selanjutnya setiap hari akan ada daily scrum / daily stand up, untuk 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melihat progress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satu sama lain dan saling bantu antar anggota tim.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38"/>
          <p:cNvSpPr txBox="1"/>
          <p:nvPr/>
        </p:nvSpPr>
        <p:spPr>
          <a:xfrm>
            <a:off x="4484150" y="749700"/>
            <a:ext cx="40518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3. 	</a:t>
            </a:r>
            <a:r>
              <a:rPr b="1" lang="en" sz="10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Sprint Review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Pada sesi ini tim akan 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bahas hasil yang didapat selama sprint.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Di tahap ini, stakeholder di luar tim scrum juga akan diundang, tujuannya buat dapetin feedback dari berbagai perspektif agar proses pengembangan lebih baik.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4. 	</a:t>
            </a:r>
            <a:r>
              <a:rPr b="1" lang="en" sz="10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Sprint Retrospective</a:t>
            </a:r>
            <a:endParaRPr b="1" sz="1000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Setelah hasil sprint dibahas di sprint review, selanjutnya pada sesi sprint retrospective seluruh anggota tim akan 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merefleksikan proses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sprint yang sudah berjalan.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38"/>
          <p:cNvSpPr txBox="1"/>
          <p:nvPr/>
        </p:nvSpPr>
        <p:spPr>
          <a:xfrm>
            <a:off x="669300" y="749700"/>
            <a:ext cx="78054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Scrum Event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9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9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9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9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9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Product Management</a:t>
            </a:r>
            <a:endParaRPr b="1" i="0" sz="1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39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9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9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9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9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9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9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9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Scrum Simulation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0" name="Google Shape;33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5125" y="927925"/>
            <a:ext cx="2777450" cy="376945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9"/>
          <p:cNvSpPr txBox="1"/>
          <p:nvPr/>
        </p:nvSpPr>
        <p:spPr>
          <a:xfrm>
            <a:off x="714300" y="2171350"/>
            <a:ext cx="42390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Sekarang kita lihat contoh penerapan Scrum dengan menggunakan tools Trello dan IdeaBoadz, letsgow!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1"/>
          <p:cNvSpPr txBox="1"/>
          <p:nvPr/>
        </p:nvSpPr>
        <p:spPr>
          <a:xfrm>
            <a:off x="445675" y="1185675"/>
            <a:ext cx="42786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AutoNum type="arabicPeriod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Tentukan product requirement pada aplikasi yang akan dikembangkan. Tuliskan seluruh requirementnya pada list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PRODUCT BACKLOG.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Tambahkan label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Frontend/Backend/Mobile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untuk memberi tanda yang lebih jelas dari setiap task nya.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AutoNum type="arabicPeriod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Pindahkan list requirement pada Product Backlog to SPRINT BACKLOG, berdasarkan hasil kesepakatan tim pada sesi Spring Planning. Tambahkan label dari task priority level (Bugs/MVP/Fitur baru/ Enhancement)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Font typeface="Montserrat"/>
              <a:buAutoNum type="arabicPeriod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Setiap bagian Frontend/Backend/Mobile memindahkan requirement ke dalam daftar tugas ONPROGRESS. Catatan : tambahkan Screenshot (Postman, UI, dll.)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41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46" name="Google Shape;346;p41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1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1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612" y="183549"/>
            <a:ext cx="302675" cy="3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1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1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1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1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1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1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1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Scrum</a:t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41"/>
          <p:cNvSpPr txBox="1"/>
          <p:nvPr/>
        </p:nvSpPr>
        <p:spPr>
          <a:xfrm>
            <a:off x="509675" y="728475"/>
            <a:ext cx="78054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Penggunaan Trello Board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41"/>
          <p:cNvSpPr txBox="1"/>
          <p:nvPr/>
        </p:nvSpPr>
        <p:spPr>
          <a:xfrm>
            <a:off x="4572000" y="1507400"/>
            <a:ext cx="4051800" cy="2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4. 	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Ketika tugas dari requirement sudah selesai, developer harus memindahkan pada list USER ACCEPTANCE TESTING (UAT) List and merge request. Catatan : melakukan DEPLOY aplikasi terlebih dahulu dan beri label.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5. 	Product Owner akan melakukan cek terhadap hasil kerja dan memindahkan pada list DONE, jika hasilnya sudah sesuai requirements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6" name="Google Shape;3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3"/>
          <p:cNvSpPr txBox="1"/>
          <p:nvPr/>
        </p:nvSpPr>
        <p:spPr>
          <a:xfrm>
            <a:off x="4484150" y="810900"/>
            <a:ext cx="4051800" cy="35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. 	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Setiap anggota tim dapat m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enambahkan beberapa catatan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hal apa saja yang perlu dilakukan sesuai dengan section D.A.K.I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	Anggota tim lain dapat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voting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terhadap catatan-catatan yang sudah dibuat oleh peserta retrospective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43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74" name="Google Shape;374;p43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3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3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612" y="183549"/>
            <a:ext cx="302675" cy="3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3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3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3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3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3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3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3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Scrum</a:t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509675" y="728475"/>
            <a:ext cx="78054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Penggunaan Ideaboardz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43"/>
          <p:cNvSpPr txBox="1"/>
          <p:nvPr/>
        </p:nvSpPr>
        <p:spPr>
          <a:xfrm>
            <a:off x="520125" y="914400"/>
            <a:ext cx="4051800" cy="40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Montserrat"/>
              <a:buAutoNum type="arabicPeriod"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Terdapat beberapa framework yang dapat digunakan untuk melakukan scrum retrospective, salah satunya adalah D.A.K.I (Drop, Add, Keep, Improve). Setiap poin ini akan memiliki section nya sendiri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Drop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→ poin yang perlu dikurangi / dihilangkan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Add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→ 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poin yang perlu ditambahkan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Keep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→ poin yang perlu dipertahankan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Improve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→ poin yang perlu dikembangkan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3673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431" y="676725"/>
            <a:ext cx="5687844" cy="433819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4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4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4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4"/>
          <p:cNvSpPr txBox="1"/>
          <p:nvPr/>
        </p:nvSpPr>
        <p:spPr>
          <a:xfrm>
            <a:off x="618377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Penutup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44"/>
          <p:cNvSpPr txBox="1"/>
          <p:nvPr/>
        </p:nvSpPr>
        <p:spPr>
          <a:xfrm>
            <a:off x="465575" y="1595475"/>
            <a:ext cx="4112700" cy="24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Sekarang mari kita coba implementasi langsung di board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 u="sng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Final Project - Trello Template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Final Project - Daily Stand Up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 u="sng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Final Project - Retrospective Template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/>
          <p:nvPr/>
        </p:nvSpPr>
        <p:spPr>
          <a:xfrm>
            <a:off x="0" y="3825400"/>
            <a:ext cx="9144000" cy="1389600"/>
          </a:xfrm>
          <a:prstGeom prst="rect">
            <a:avLst/>
          </a:prstGeom>
          <a:solidFill>
            <a:srgbClr val="F4B71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8" name="Google Shape;40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062" y="469363"/>
            <a:ext cx="5675881" cy="42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5"/>
          <p:cNvPicPr preferRelativeResize="0"/>
          <p:nvPr/>
        </p:nvPicPr>
        <p:blipFill rotWithShape="1">
          <a:blip r:embed="rId4">
            <a:alphaModFix/>
          </a:blip>
          <a:srcRect b="0" l="0" r="13247" t="0"/>
          <a:stretch/>
        </p:blipFill>
        <p:spPr>
          <a:xfrm>
            <a:off x="7987325" y="4075701"/>
            <a:ext cx="709350" cy="8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3225" y="6174213"/>
            <a:ext cx="1991475" cy="68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625" y="4141560"/>
            <a:ext cx="1991475" cy="68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5"/>
          <p:cNvSpPr/>
          <p:nvPr/>
        </p:nvSpPr>
        <p:spPr>
          <a:xfrm>
            <a:off x="0" y="3825400"/>
            <a:ext cx="9144000" cy="1389600"/>
          </a:xfrm>
          <a:prstGeom prst="rect">
            <a:avLst/>
          </a:prstGeom>
          <a:solidFill>
            <a:srgbClr val="F4B71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3" name="Google Shape;413;p45"/>
          <p:cNvPicPr preferRelativeResize="0"/>
          <p:nvPr/>
        </p:nvPicPr>
        <p:blipFill rotWithShape="1">
          <a:blip r:embed="rId4">
            <a:alphaModFix/>
          </a:blip>
          <a:srcRect b="0" l="0" r="13247" t="0"/>
          <a:stretch/>
        </p:blipFill>
        <p:spPr>
          <a:xfrm>
            <a:off x="7987325" y="4075701"/>
            <a:ext cx="709350" cy="8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625" y="4140643"/>
            <a:ext cx="1991475" cy="68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34050" y="469336"/>
            <a:ext cx="5675902" cy="4204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