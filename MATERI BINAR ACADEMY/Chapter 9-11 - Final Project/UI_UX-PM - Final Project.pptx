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5143500" cx="9144000"/>
  <p:notesSz cx="6858000" cy="9144000"/>
  <p:embeddedFontLst>
    <p:embeddedFont>
      <p:font typeface="Raleway"/>
      <p:regular r:id="rId35"/>
      <p:bold r:id="rId36"/>
      <p:italic r:id="rId37"/>
      <p:boldItalic r:id="rId38"/>
    </p:embeddedFont>
    <p:embeddedFont>
      <p:font typeface="Proxima Nova"/>
      <p:regular r:id="rId39"/>
      <p:bold r:id="rId40"/>
      <p:italic r:id="rId41"/>
      <p:boldItalic r:id="rId42"/>
    </p:embeddedFont>
    <p:embeddedFont>
      <p:font typeface="Montserrat"/>
      <p:regular r:id="rId43"/>
      <p:bold r:id="rId44"/>
      <p:italic r:id="rId45"/>
      <p:boldItalic r:id="rId46"/>
    </p:embeddedFont>
    <p:embeddedFont>
      <p:font typeface="Montserrat Medium"/>
      <p:regular r:id="rId47"/>
      <p:bold r:id="rId48"/>
      <p:italic r:id="rId49"/>
      <p:boldItalic r:id="rId50"/>
    </p:embeddedFont>
    <p:embeddedFont>
      <p:font typeface="Lato Black"/>
      <p:bold r:id="rId51"/>
      <p:boldItalic r:id="rId52"/>
    </p:embeddedFont>
    <p:embeddedFont>
      <p:font typeface="Raleway Medium"/>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00E7B77-135D-4733-9814-72F36B352F7F}">
  <a:tblStyle styleId="{C00E7B77-135D-4733-9814-72F36B352F7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B5A97A8F-656E-40D3-8F3B-674C121DEB42}"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ProximaNova-bold.fntdata"/><Relationship Id="rId42" Type="http://schemas.openxmlformats.org/officeDocument/2006/relationships/font" Target="fonts/ProximaNova-boldItalic.fntdata"/><Relationship Id="rId41" Type="http://schemas.openxmlformats.org/officeDocument/2006/relationships/font" Target="fonts/ProximaNova-italic.fntdata"/><Relationship Id="rId44" Type="http://schemas.openxmlformats.org/officeDocument/2006/relationships/font" Target="fonts/Montserrat-bold.fntdata"/><Relationship Id="rId43" Type="http://schemas.openxmlformats.org/officeDocument/2006/relationships/font" Target="fonts/Montserrat-regular.fntdata"/><Relationship Id="rId46" Type="http://schemas.openxmlformats.org/officeDocument/2006/relationships/font" Target="fonts/Montserrat-boldItalic.fntdata"/><Relationship Id="rId45" Type="http://schemas.openxmlformats.org/officeDocument/2006/relationships/font" Target="fonts/Montserrat-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MontserratMedium-bold.fntdata"/><Relationship Id="rId47" Type="http://schemas.openxmlformats.org/officeDocument/2006/relationships/font" Target="fonts/MontserratMedium-regular.fntdata"/><Relationship Id="rId49" Type="http://schemas.openxmlformats.org/officeDocument/2006/relationships/font" Target="fonts/MontserratMedium-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font" Target="fonts/Raleway-regular.fntdata"/><Relationship Id="rId34" Type="http://schemas.openxmlformats.org/officeDocument/2006/relationships/slide" Target="slides/slide29.xml"/><Relationship Id="rId37" Type="http://schemas.openxmlformats.org/officeDocument/2006/relationships/font" Target="fonts/Raleway-italic.fntdata"/><Relationship Id="rId36" Type="http://schemas.openxmlformats.org/officeDocument/2006/relationships/font" Target="fonts/Raleway-bold.fntdata"/><Relationship Id="rId39" Type="http://schemas.openxmlformats.org/officeDocument/2006/relationships/font" Target="fonts/ProximaNova-regular.fntdata"/><Relationship Id="rId38" Type="http://schemas.openxmlformats.org/officeDocument/2006/relationships/font" Target="fonts/Raleway-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LatoBlack-bold.fntdata"/><Relationship Id="rId50" Type="http://schemas.openxmlformats.org/officeDocument/2006/relationships/font" Target="fonts/MontserratMedium-boldItalic.fntdata"/><Relationship Id="rId53" Type="http://schemas.openxmlformats.org/officeDocument/2006/relationships/font" Target="fonts/RalewayMedium-regular.fntdata"/><Relationship Id="rId52" Type="http://schemas.openxmlformats.org/officeDocument/2006/relationships/font" Target="fonts/LatoBlack-boldItalic.fntdata"/><Relationship Id="rId11" Type="http://schemas.openxmlformats.org/officeDocument/2006/relationships/slide" Target="slides/slide6.xml"/><Relationship Id="rId55" Type="http://schemas.openxmlformats.org/officeDocument/2006/relationships/font" Target="fonts/RalewayMedium-italic.fntdata"/><Relationship Id="rId10" Type="http://schemas.openxmlformats.org/officeDocument/2006/relationships/slide" Target="slides/slide5.xml"/><Relationship Id="rId54" Type="http://schemas.openxmlformats.org/officeDocument/2006/relationships/font" Target="fonts/RalewayMedium-bold.fntdata"/><Relationship Id="rId13" Type="http://schemas.openxmlformats.org/officeDocument/2006/relationships/slide" Target="slides/slide8.xml"/><Relationship Id="rId12" Type="http://schemas.openxmlformats.org/officeDocument/2006/relationships/slide" Target="slides/slide7.xml"/><Relationship Id="rId56" Type="http://schemas.openxmlformats.org/officeDocument/2006/relationships/font" Target="fonts/RalewayMedium-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agaratechnology.com/blog/the-fundamentals-of-ux-and-ui-design/"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2d6bf95ed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2d6bf95ed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Image from </a:t>
            </a:r>
            <a:r>
              <a:rPr lang="en" u="sng">
                <a:solidFill>
                  <a:schemeClr val="hlink"/>
                </a:solidFill>
                <a:hlinkClick r:id="rId2"/>
              </a:rPr>
              <a:t>https://sagaratechnology.com/blog/the-fundamentals-of-ux-and-ui-design/</a:t>
            </a:r>
            <a:r>
              <a:rPr lang="en"/>
              <a:t>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2f0a4ea2e4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12f0a4ea2e4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2d6bf95ed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12d6bf95ed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3391111679_8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3391111679_8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2d4005f48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2d4005f48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12f0a4ea2e4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12f0a4ea2e4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2f0a4ea2e4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2f0a4ea2e4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2d6bf95edc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2d6bf95edc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2e9bd3c36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2e9bd3c36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f416e6cb0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f416e6cb0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2f0a4ea2e4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12f0a4ea2e4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29950375b9_1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29950375b9_1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29950375b9_1_5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129950375b9_1_5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29950375b9_1_5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129950375b9_1_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12d6bf95ed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12d6bf95ed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12d6bf95edc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12d6bf95edc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12d6bf95edc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12d6bf95edc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12f0a4ea2e4_1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12f0a4ea2e4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12f0a4ea2e4_1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12f0a4ea2e4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12d6bf95edc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12d6bf95edc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2e43666228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12e4366622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12f0a4ea2e4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12f0a4ea2e4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12f237b192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12f237b192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13391111679_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13391111679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132190f12a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132190f12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132190f12a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132190f12a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f416e6cb04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f416e6cb04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docs.google.com/spreadsheets/d/1TKyWC-fi4cdEoUdBRAH8Wb2md4dzTaVxHIIyYchnW5A/edit#gid=97057621" TargetMode="Externa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3.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21.png"/><Relationship Id="rId4" Type="http://schemas.openxmlformats.org/officeDocument/2006/relationships/image" Target="../media/image29.png"/><Relationship Id="rId5" Type="http://schemas.openxmlformats.org/officeDocument/2006/relationships/image" Target="../media/image27.png"/><Relationship Id="rId6" Type="http://schemas.openxmlformats.org/officeDocument/2006/relationships/image" Target="../media/image22.png"/><Relationship Id="rId7" Type="http://schemas.openxmlformats.org/officeDocument/2006/relationships/image" Target="../media/image26.png"/><Relationship Id="rId8"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77" name="Shape 77"/>
        <p:cNvGrpSpPr/>
        <p:nvPr/>
      </p:nvGrpSpPr>
      <p:grpSpPr>
        <a:xfrm>
          <a:off x="0" y="0"/>
          <a:ext cx="0" cy="0"/>
          <a:chOff x="0" y="0"/>
          <a:chExt cx="0" cy="0"/>
        </a:xfrm>
      </p:grpSpPr>
      <p:sp>
        <p:nvSpPr>
          <p:cNvPr id="78" name="Google Shape;78;p15"/>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Montserrat"/>
                <a:ea typeface="Montserrat"/>
                <a:cs typeface="Montserrat"/>
                <a:sym typeface="Montserrat"/>
              </a:rPr>
              <a:t>UI/UX dan PM</a:t>
            </a:r>
            <a:endParaRPr b="1" sz="2400">
              <a:solidFill>
                <a:srgbClr val="FFFFFF"/>
              </a:solidFill>
              <a:latin typeface="Montserrat"/>
              <a:ea typeface="Montserrat"/>
              <a:cs typeface="Montserrat"/>
              <a:sym typeface="Montserrat"/>
            </a:endParaRPr>
          </a:p>
          <a:p>
            <a:pPr indent="0" lvl="0" marL="0" rtl="0" algn="l">
              <a:lnSpc>
                <a:spcPct val="115000"/>
              </a:lnSpc>
              <a:spcBef>
                <a:spcPts val="0"/>
              </a:spcBef>
              <a:spcAft>
                <a:spcPts val="0"/>
              </a:spcAft>
              <a:buNone/>
            </a:pPr>
            <a:r>
              <a:rPr b="1" lang="en" sz="2400">
                <a:solidFill>
                  <a:srgbClr val="FFFFFF"/>
                </a:solidFill>
                <a:latin typeface="Montserrat"/>
                <a:ea typeface="Montserrat"/>
                <a:cs typeface="Montserrat"/>
                <a:sym typeface="Montserrat"/>
              </a:rPr>
              <a:t>Final Project</a:t>
            </a:r>
            <a:endParaRPr b="1">
              <a:solidFill>
                <a:srgbClr val="FFFFFF"/>
              </a:solidFill>
              <a:latin typeface="Montserrat"/>
              <a:ea typeface="Montserrat"/>
              <a:cs typeface="Montserrat"/>
              <a:sym typeface="Montserrat"/>
            </a:endParaRPr>
          </a:p>
        </p:txBody>
      </p:sp>
      <p:cxnSp>
        <p:nvCxnSpPr>
          <p:cNvPr id="79" name="Google Shape;79;p15"/>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80" name="Google Shape;80;p15"/>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81" name="Google Shape;81;p15"/>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7" name="Google Shape;87;p1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Introduction</a:t>
            </a:r>
            <a:endParaRPr>
              <a:latin typeface="Montserrat"/>
              <a:ea typeface="Montserrat"/>
              <a:cs typeface="Montserrat"/>
              <a:sym typeface="Montserrat"/>
            </a:endParaRPr>
          </a:p>
        </p:txBody>
      </p:sp>
      <p:sp>
        <p:nvSpPr>
          <p:cNvPr id="88" name="Google Shape;88;p16"/>
          <p:cNvSpPr txBox="1"/>
          <p:nvPr/>
        </p:nvSpPr>
        <p:spPr>
          <a:xfrm>
            <a:off x="685800" y="1036325"/>
            <a:ext cx="4343400" cy="32004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160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Introduction</a:t>
            </a:r>
            <a:endParaRPr sz="10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Pada final project ini, ditujukan unt</a:t>
            </a:r>
            <a:r>
              <a:rPr lang="en" sz="1000">
                <a:solidFill>
                  <a:schemeClr val="dk1"/>
                </a:solidFill>
                <a:latin typeface="Montserrat Medium"/>
                <a:ea typeface="Montserrat Medium"/>
                <a:cs typeface="Montserrat Medium"/>
                <a:sym typeface="Montserrat Medium"/>
              </a:rPr>
              <a:t>uk </a:t>
            </a:r>
            <a:r>
              <a:rPr b="1" lang="en" sz="1000">
                <a:solidFill>
                  <a:schemeClr val="dk1"/>
                </a:solidFill>
                <a:latin typeface="Montserrat"/>
                <a:ea typeface="Montserrat"/>
                <a:cs typeface="Montserrat"/>
                <a:sym typeface="Montserrat"/>
              </a:rPr>
              <a:t>mengasah kemampuan UI/UX dan PM kita secara keseluruhan, mengaplikasikan apa yang telah dibahas sejak minggu pertama.</a:t>
            </a:r>
            <a:r>
              <a:rPr lang="en" sz="1000">
                <a:solidFill>
                  <a:schemeClr val="dk1"/>
                </a:solidFill>
                <a:latin typeface="Montserrat Medium"/>
                <a:ea typeface="Montserrat Medium"/>
                <a:cs typeface="Montserrat Medium"/>
                <a:sym typeface="Montserrat Medium"/>
              </a:rPr>
              <a:t>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Medium"/>
                <a:ea typeface="Montserrat Medium"/>
                <a:cs typeface="Montserrat Medium"/>
                <a:sym typeface="Montserrat Medium"/>
              </a:rPr>
              <a:t>Kamu memiliki waktu </a:t>
            </a:r>
            <a:r>
              <a:rPr b="1" lang="en" sz="1000">
                <a:solidFill>
                  <a:schemeClr val="dk1"/>
                </a:solidFill>
                <a:latin typeface="Montserrat"/>
                <a:ea typeface="Montserrat"/>
                <a:cs typeface="Montserrat"/>
                <a:sym typeface="Montserrat"/>
              </a:rPr>
              <a:t>3 sprint (6 minggu)</a:t>
            </a:r>
            <a:r>
              <a:rPr lang="en" sz="1000">
                <a:solidFill>
                  <a:schemeClr val="dk1"/>
                </a:solidFill>
                <a:latin typeface="Montserrat Medium"/>
                <a:ea typeface="Montserrat Medium"/>
                <a:cs typeface="Montserrat Medium"/>
                <a:sym typeface="Montserrat Medium"/>
              </a:rPr>
              <a:t> untuk membuat sebuah produk digital - baik aplikasi dan situs web - berdasarkan visi, penelitian, temuan, dan proses UI/UX dan PM sesuai dengan yang telah dipelajari.</a:t>
            </a:r>
            <a:endParaRPr b="1" sz="1000">
              <a:solidFill>
                <a:schemeClr val="dk1"/>
              </a:solidFill>
              <a:latin typeface="Montserrat"/>
              <a:ea typeface="Montserrat"/>
              <a:cs typeface="Montserrat"/>
              <a:sym typeface="Montserrat"/>
            </a:endParaRPr>
          </a:p>
        </p:txBody>
      </p:sp>
      <p:pic>
        <p:nvPicPr>
          <p:cNvPr id="89" name="Google Shape;89;p16"/>
          <p:cNvPicPr preferRelativeResize="0"/>
          <p:nvPr/>
        </p:nvPicPr>
        <p:blipFill>
          <a:blip r:embed="rId3">
            <a:alphaModFix/>
          </a:blip>
          <a:stretch>
            <a:fillRect/>
          </a:stretch>
        </p:blipFill>
        <p:spPr>
          <a:xfrm>
            <a:off x="5306950" y="897724"/>
            <a:ext cx="3477601" cy="34776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7"/>
          <p:cNvSpPr txBox="1"/>
          <p:nvPr/>
        </p:nvSpPr>
        <p:spPr>
          <a:xfrm>
            <a:off x="685800" y="1036325"/>
            <a:ext cx="4343400" cy="32004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Dalam pelaksanaan final project ini, kamu akan punya pengalaman baru juga lho. Selain akan mengerjakan dalam kelompok, kamu juga akan </a:t>
            </a:r>
            <a:r>
              <a:rPr b="1" lang="en" sz="1000">
                <a:solidFill>
                  <a:schemeClr val="dk1"/>
                </a:solidFill>
                <a:latin typeface="Montserrat"/>
                <a:ea typeface="Montserrat"/>
                <a:cs typeface="Montserrat"/>
                <a:sym typeface="Montserrat"/>
              </a:rPr>
              <a:t>mengimplementasikan Metode Scrum</a:t>
            </a:r>
            <a:r>
              <a:rPr lang="en" sz="1000">
                <a:solidFill>
                  <a:schemeClr val="dk1"/>
                </a:solidFill>
                <a:latin typeface="Montserrat Medium"/>
                <a:ea typeface="Montserrat Medium"/>
                <a:cs typeface="Montserrat Medium"/>
                <a:sym typeface="Montserrat Medium"/>
              </a:rPr>
              <a:t> yang sebelumnya sudah kamu pelajari.</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1000"/>
              </a:spcBef>
              <a:spcAft>
                <a:spcPts val="0"/>
              </a:spcAft>
              <a:buNone/>
            </a:pPr>
            <a:r>
              <a:rPr lang="en" sz="1000">
                <a:solidFill>
                  <a:schemeClr val="dk1"/>
                </a:solidFill>
                <a:latin typeface="Montserrat Medium"/>
                <a:ea typeface="Montserrat Medium"/>
                <a:cs typeface="Montserrat Medium"/>
                <a:sym typeface="Montserrat Medium"/>
              </a:rPr>
              <a:t>Tujuan terpenting dari proyek ini adalah </a:t>
            </a:r>
            <a:r>
              <a:rPr b="1" lang="en" sz="1000">
                <a:solidFill>
                  <a:schemeClr val="dk1"/>
                </a:solidFill>
                <a:latin typeface="Montserrat"/>
                <a:ea typeface="Montserrat"/>
                <a:cs typeface="Montserrat"/>
                <a:sym typeface="Montserrat"/>
              </a:rPr>
              <a:t>menikmati proses pembuatan dan pembelajaran yang nantinya akan kamu dapatkan bersama kelompok selama final project ini berjalan.</a:t>
            </a:r>
            <a:r>
              <a:rPr lang="en" sz="1000">
                <a:solidFill>
                  <a:schemeClr val="dk1"/>
                </a:solidFill>
                <a:latin typeface="Montserrat Medium"/>
                <a:ea typeface="Montserrat Medium"/>
                <a:cs typeface="Montserrat Medium"/>
                <a:sym typeface="Montserrat Medium"/>
              </a:rPr>
              <a:t> Jadi kalau ada kesulitan, jangan ragu untuk meminta bantuan kepada teman satu tim, ataupun kepada facil pendampingmu ya!</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000">
              <a:solidFill>
                <a:schemeClr val="dk1"/>
              </a:solidFill>
              <a:latin typeface="Montserrat Medium"/>
              <a:ea typeface="Montserrat Medium"/>
              <a:cs typeface="Montserrat Medium"/>
              <a:sym typeface="Montserrat Medium"/>
            </a:endParaRPr>
          </a:p>
        </p:txBody>
      </p:sp>
      <p:sp>
        <p:nvSpPr>
          <p:cNvPr id="95" name="Google Shape;95;p1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6" name="Google Shape;96;p1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Introduction</a:t>
            </a:r>
            <a:endParaRPr>
              <a:latin typeface="Montserrat"/>
              <a:ea typeface="Montserrat"/>
              <a:cs typeface="Montserrat"/>
              <a:sym typeface="Montserrat"/>
            </a:endParaRPr>
          </a:p>
        </p:txBody>
      </p:sp>
      <p:pic>
        <p:nvPicPr>
          <p:cNvPr id="97" name="Google Shape;97;p17"/>
          <p:cNvPicPr preferRelativeResize="0"/>
          <p:nvPr/>
        </p:nvPicPr>
        <p:blipFill>
          <a:blip r:embed="rId3">
            <a:alphaModFix/>
          </a:blip>
          <a:stretch>
            <a:fillRect/>
          </a:stretch>
        </p:blipFill>
        <p:spPr>
          <a:xfrm>
            <a:off x="5306950" y="897724"/>
            <a:ext cx="3477601" cy="34776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nvSpPr>
        <p:spPr>
          <a:xfrm>
            <a:off x="496975" y="1036325"/>
            <a:ext cx="3869700" cy="31590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160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Gambaran umum Final Project</a:t>
            </a:r>
            <a:endParaRPr sz="10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1000"/>
              </a:spcAft>
              <a:buNone/>
            </a:pPr>
            <a:r>
              <a:rPr lang="en" sz="1000">
                <a:solidFill>
                  <a:schemeClr val="dk1"/>
                </a:solidFill>
                <a:latin typeface="Montserrat Medium"/>
                <a:ea typeface="Montserrat Medium"/>
                <a:cs typeface="Montserrat Medium"/>
                <a:sym typeface="Montserrat Medium"/>
              </a:rPr>
              <a:t>Kamu </a:t>
            </a:r>
            <a:r>
              <a:rPr lang="en" sz="1000">
                <a:solidFill>
                  <a:schemeClr val="dk1"/>
                </a:solidFill>
                <a:latin typeface="Montserrat Medium"/>
                <a:ea typeface="Montserrat Medium"/>
                <a:cs typeface="Montserrat Medium"/>
                <a:sym typeface="Montserrat Medium"/>
              </a:rPr>
              <a:t>perlu </a:t>
            </a:r>
            <a:r>
              <a:rPr b="1" lang="en" sz="1000">
                <a:solidFill>
                  <a:schemeClr val="dk1"/>
                </a:solidFill>
                <a:latin typeface="Montserrat"/>
                <a:ea typeface="Montserrat"/>
                <a:cs typeface="Montserrat"/>
                <a:sym typeface="Montserrat"/>
              </a:rPr>
              <a:t>mengidentifikasi masalah berdasarkan tema yang sudah ditentukan.</a:t>
            </a:r>
            <a:r>
              <a:rPr lang="en" sz="1000">
                <a:solidFill>
                  <a:schemeClr val="dk1"/>
                </a:solidFill>
                <a:latin typeface="Montserrat Medium"/>
                <a:ea typeface="Montserrat Medium"/>
                <a:cs typeface="Montserrat Medium"/>
                <a:sym typeface="Montserrat Medium"/>
              </a:rPr>
              <a:t> Kemudian kamu </a:t>
            </a:r>
            <a:r>
              <a:rPr b="1" lang="en" sz="1000">
                <a:solidFill>
                  <a:schemeClr val="dk1"/>
                </a:solidFill>
                <a:latin typeface="Montserrat"/>
                <a:ea typeface="Montserrat"/>
                <a:cs typeface="Montserrat"/>
                <a:sym typeface="Montserrat"/>
              </a:rPr>
              <a:t>membuat sebuah desain produk dalam bentuk aplikasi</a:t>
            </a:r>
            <a:r>
              <a:rPr lang="en" sz="1000">
                <a:solidFill>
                  <a:schemeClr val="dk1"/>
                </a:solidFill>
                <a:latin typeface="Montserrat Medium"/>
                <a:ea typeface="Montserrat Medium"/>
                <a:cs typeface="Montserrat Medium"/>
                <a:sym typeface="Montserrat Medium"/>
              </a:rPr>
              <a:t> mobile dan website yang mampu memecahkan permasalah yang terjadi.  Fitur dan fungsi yang terdapat di dalam produk dibebaskan (tentunya disesuaikan dengan permasalahan yang kamu angkat)</a:t>
            </a:r>
            <a:endParaRPr sz="1000">
              <a:solidFill>
                <a:schemeClr val="dk1"/>
              </a:solidFill>
              <a:latin typeface="Montserrat Medium"/>
              <a:ea typeface="Montserrat Medium"/>
              <a:cs typeface="Montserrat Medium"/>
              <a:sym typeface="Montserrat Medium"/>
            </a:endParaRPr>
          </a:p>
        </p:txBody>
      </p:sp>
      <p:sp>
        <p:nvSpPr>
          <p:cNvPr id="103" name="Google Shape;103;p1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4" name="Google Shape;104;p1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Description</a:t>
            </a:r>
            <a:endParaRPr/>
          </a:p>
        </p:txBody>
      </p:sp>
      <p:pic>
        <p:nvPicPr>
          <p:cNvPr id="105" name="Google Shape;105;p18"/>
          <p:cNvPicPr preferRelativeResize="0"/>
          <p:nvPr/>
        </p:nvPicPr>
        <p:blipFill>
          <a:blip r:embed="rId3">
            <a:alphaModFix/>
          </a:blip>
          <a:stretch>
            <a:fillRect/>
          </a:stretch>
        </p:blipFill>
        <p:spPr>
          <a:xfrm>
            <a:off x="4674925" y="1421413"/>
            <a:ext cx="4353551" cy="29012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1" name="Google Shape;111;p1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Description</a:t>
            </a:r>
            <a:endParaRPr/>
          </a:p>
        </p:txBody>
      </p:sp>
      <p:sp>
        <p:nvSpPr>
          <p:cNvPr id="112" name="Google Shape;112;p19"/>
          <p:cNvSpPr txBox="1"/>
          <p:nvPr/>
        </p:nvSpPr>
        <p:spPr>
          <a:xfrm>
            <a:off x="496975" y="1036325"/>
            <a:ext cx="4101900" cy="3159000"/>
          </a:xfrm>
          <a:prstGeom prst="rect">
            <a:avLst/>
          </a:prstGeom>
          <a:noFill/>
          <a:ln>
            <a:noFill/>
          </a:ln>
        </p:spPr>
        <p:txBody>
          <a:bodyPr anchorCtr="0" anchor="ctr"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Desain aplikasi merupakan solusi digital untuk permasalahan yang kamu temukan di lingkungan sekitarmu. </a:t>
            </a:r>
            <a:r>
              <a:rPr b="1" lang="en" sz="1000">
                <a:solidFill>
                  <a:schemeClr val="dk1"/>
                </a:solidFill>
                <a:latin typeface="Montserrat"/>
                <a:ea typeface="Montserrat"/>
                <a:cs typeface="Montserrat"/>
                <a:sym typeface="Montserrat"/>
              </a:rPr>
              <a:t>Fitur dan fungsi</a:t>
            </a:r>
            <a:r>
              <a:rPr lang="en" sz="1000">
                <a:solidFill>
                  <a:schemeClr val="dk1"/>
                </a:solidFill>
                <a:latin typeface="Montserrat Medium"/>
                <a:ea typeface="Montserrat Medium"/>
                <a:cs typeface="Montserrat Medium"/>
                <a:sym typeface="Montserrat Medium"/>
              </a:rPr>
              <a:t> juga dibebaskan dan tentunya </a:t>
            </a:r>
            <a:r>
              <a:rPr b="1" lang="en" sz="1000">
                <a:solidFill>
                  <a:schemeClr val="dk1"/>
                </a:solidFill>
                <a:latin typeface="Montserrat"/>
                <a:ea typeface="Montserrat"/>
                <a:cs typeface="Montserrat"/>
                <a:sym typeface="Montserrat"/>
              </a:rPr>
              <a:t>disesuaikan dengan permasalahan yang kamu angkat.</a:t>
            </a:r>
            <a:endParaRPr b="1" sz="1000">
              <a:solidFill>
                <a:schemeClr val="dk2"/>
              </a:solidFill>
              <a:latin typeface="Montserrat"/>
              <a:ea typeface="Montserrat"/>
              <a:cs typeface="Montserrat"/>
              <a:sym typeface="Montserrat"/>
            </a:endParaRPr>
          </a:p>
        </p:txBody>
      </p:sp>
      <p:pic>
        <p:nvPicPr>
          <p:cNvPr id="113" name="Google Shape;113;p19"/>
          <p:cNvPicPr preferRelativeResize="0"/>
          <p:nvPr/>
        </p:nvPicPr>
        <p:blipFill>
          <a:blip r:embed="rId3">
            <a:alphaModFix/>
          </a:blip>
          <a:stretch>
            <a:fillRect/>
          </a:stretch>
        </p:blipFill>
        <p:spPr>
          <a:xfrm>
            <a:off x="4674925" y="1421413"/>
            <a:ext cx="4353551" cy="29012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9" name="Google Shape;119;p2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Description</a:t>
            </a:r>
            <a:endParaRPr/>
          </a:p>
        </p:txBody>
      </p:sp>
      <p:sp>
        <p:nvSpPr>
          <p:cNvPr id="120" name="Google Shape;120;p20"/>
          <p:cNvSpPr txBox="1"/>
          <p:nvPr/>
        </p:nvSpPr>
        <p:spPr>
          <a:xfrm>
            <a:off x="550575" y="992250"/>
            <a:ext cx="3984900" cy="31590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1600"/>
              </a:spcBef>
              <a:spcAft>
                <a:spcPts val="0"/>
              </a:spcAft>
              <a:buClr>
                <a:schemeClr val="dk1"/>
              </a:buClr>
              <a:buSzPts val="1100"/>
              <a:buFont typeface="Arial"/>
              <a:buNone/>
            </a:pPr>
            <a:r>
              <a:t/>
            </a:r>
            <a:endParaRPr sz="10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Untuk memastikan desain kamu solutif, ada baiknya </a:t>
            </a:r>
            <a:r>
              <a:rPr b="1" lang="en" sz="1000">
                <a:solidFill>
                  <a:schemeClr val="dk1"/>
                </a:solidFill>
                <a:latin typeface="Montserrat"/>
                <a:ea typeface="Montserrat"/>
                <a:cs typeface="Montserrat"/>
                <a:sym typeface="Montserrat"/>
              </a:rPr>
              <a:t>menentukan profil pengguna</a:t>
            </a:r>
            <a:r>
              <a:rPr lang="en" sz="1000">
                <a:solidFill>
                  <a:schemeClr val="dk1"/>
                </a:solidFill>
                <a:latin typeface="Montserrat Medium"/>
                <a:ea typeface="Montserrat Medium"/>
                <a:cs typeface="Montserrat Medium"/>
                <a:sym typeface="Montserrat Medium"/>
              </a:rPr>
              <a:t> dari produk digital kamu. Profil pengguna tidak dibatasi, sesuai  permasalahan yang kamu angkat.</a:t>
            </a:r>
            <a:endParaRPr sz="10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1000"/>
              </a:spcAft>
              <a:buNone/>
            </a:pPr>
            <a:r>
              <a:t/>
            </a:r>
            <a:endParaRPr sz="1000">
              <a:solidFill>
                <a:schemeClr val="dk2"/>
              </a:solidFill>
              <a:latin typeface="Montserrat Medium"/>
              <a:ea typeface="Montserrat Medium"/>
              <a:cs typeface="Montserrat Medium"/>
              <a:sym typeface="Montserrat Medium"/>
            </a:endParaRPr>
          </a:p>
        </p:txBody>
      </p:sp>
      <p:pic>
        <p:nvPicPr>
          <p:cNvPr id="121" name="Google Shape;121;p20"/>
          <p:cNvPicPr preferRelativeResize="0"/>
          <p:nvPr/>
        </p:nvPicPr>
        <p:blipFill>
          <a:blip r:embed="rId3">
            <a:alphaModFix/>
          </a:blip>
          <a:stretch>
            <a:fillRect/>
          </a:stretch>
        </p:blipFill>
        <p:spPr>
          <a:xfrm>
            <a:off x="5012800" y="1359350"/>
            <a:ext cx="3434975" cy="301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7" name="Google Shape;127;p2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Description</a:t>
            </a:r>
            <a:endParaRPr/>
          </a:p>
        </p:txBody>
      </p:sp>
      <p:sp>
        <p:nvSpPr>
          <p:cNvPr id="128" name="Google Shape;128;p21"/>
          <p:cNvSpPr txBox="1"/>
          <p:nvPr/>
        </p:nvSpPr>
        <p:spPr>
          <a:xfrm>
            <a:off x="572350" y="1210700"/>
            <a:ext cx="3984900" cy="3159000"/>
          </a:xfrm>
          <a:prstGeom prst="rect">
            <a:avLst/>
          </a:prstGeom>
          <a:noFill/>
          <a:ln>
            <a:noFill/>
          </a:ln>
        </p:spPr>
        <p:txBody>
          <a:bodyPr anchorCtr="0" anchor="ctr" bIns="0" lIns="0" spcFirstLastPara="1" rIns="0" wrap="square" tIns="0">
            <a:noAutofit/>
          </a:bodyPr>
          <a:lstStyle/>
          <a:p>
            <a:pPr indent="0" lvl="0" marL="0" rtl="0" algn="just">
              <a:lnSpc>
                <a:spcPct val="115000"/>
              </a:lnSpc>
              <a:spcBef>
                <a:spcPts val="0"/>
              </a:spcBef>
              <a:spcAft>
                <a:spcPts val="1000"/>
              </a:spcAft>
              <a:buNone/>
            </a:pPr>
            <a:r>
              <a:rPr lang="en" sz="1000">
                <a:solidFill>
                  <a:schemeClr val="dk1"/>
                </a:solidFill>
                <a:latin typeface="Montserrat Medium"/>
                <a:ea typeface="Montserrat Medium"/>
                <a:cs typeface="Montserrat Medium"/>
                <a:sym typeface="Montserrat Medium"/>
              </a:rPr>
              <a:t>Supaya kamu terbantukan saat melakukan proses desain, sebaiknya perlu untuk </a:t>
            </a:r>
            <a:r>
              <a:rPr b="1" lang="en" sz="1000">
                <a:solidFill>
                  <a:schemeClr val="dk1"/>
                </a:solidFill>
                <a:latin typeface="Montserrat"/>
                <a:ea typeface="Montserrat"/>
                <a:cs typeface="Montserrat"/>
                <a:sym typeface="Montserrat"/>
              </a:rPr>
              <a:t>mencari kompetitor / pembanding</a:t>
            </a:r>
            <a:r>
              <a:rPr lang="en" sz="1000">
                <a:solidFill>
                  <a:schemeClr val="dk1"/>
                </a:solidFill>
                <a:latin typeface="Montserrat Medium"/>
                <a:ea typeface="Montserrat Medium"/>
                <a:cs typeface="Montserrat Medium"/>
                <a:sym typeface="Montserrat Medium"/>
              </a:rPr>
              <a:t> atau aplikasi sejenis serta menemukan kelebihan dan kekurangan dari aplikasi tersebut. </a:t>
            </a:r>
            <a:endParaRPr sz="1000">
              <a:solidFill>
                <a:schemeClr val="dk2"/>
              </a:solidFill>
              <a:latin typeface="Montserrat Medium"/>
              <a:ea typeface="Montserrat Medium"/>
              <a:cs typeface="Montserrat Medium"/>
              <a:sym typeface="Montserrat Medium"/>
            </a:endParaRPr>
          </a:p>
        </p:txBody>
      </p:sp>
      <p:pic>
        <p:nvPicPr>
          <p:cNvPr id="129" name="Google Shape;129;p21"/>
          <p:cNvPicPr preferRelativeResize="0"/>
          <p:nvPr/>
        </p:nvPicPr>
        <p:blipFill>
          <a:blip r:embed="rId3">
            <a:alphaModFix/>
          </a:blip>
          <a:stretch>
            <a:fillRect/>
          </a:stretch>
        </p:blipFill>
        <p:spPr>
          <a:xfrm>
            <a:off x="4783225" y="1085524"/>
            <a:ext cx="3946551" cy="36225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5" name="Google Shape;135;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Description</a:t>
            </a:r>
            <a:endParaRPr/>
          </a:p>
        </p:txBody>
      </p:sp>
      <p:sp>
        <p:nvSpPr>
          <p:cNvPr id="136" name="Google Shape;136;p22"/>
          <p:cNvSpPr txBox="1"/>
          <p:nvPr/>
        </p:nvSpPr>
        <p:spPr>
          <a:xfrm>
            <a:off x="572350" y="1210700"/>
            <a:ext cx="3984900" cy="3159000"/>
          </a:xfrm>
          <a:prstGeom prst="rect">
            <a:avLst/>
          </a:prstGeom>
          <a:noFill/>
          <a:ln>
            <a:noFill/>
          </a:ln>
        </p:spPr>
        <p:txBody>
          <a:bodyPr anchorCtr="0" anchor="ctr" bIns="0" lIns="0" spcFirstLastPara="1" rIns="0" wrap="square" tIns="0">
            <a:noAutofit/>
          </a:bodyPr>
          <a:lstStyle/>
          <a:p>
            <a:pPr indent="0" lvl="0" marL="0" rtl="0" algn="just">
              <a:lnSpc>
                <a:spcPct val="115000"/>
              </a:lnSpc>
              <a:spcBef>
                <a:spcPts val="0"/>
              </a:spcBef>
              <a:spcAft>
                <a:spcPts val="1000"/>
              </a:spcAft>
              <a:buNone/>
            </a:pPr>
            <a:r>
              <a:rPr lang="en" sz="1000">
                <a:solidFill>
                  <a:schemeClr val="dk1"/>
                </a:solidFill>
                <a:latin typeface="Montserrat Medium"/>
                <a:ea typeface="Montserrat Medium"/>
                <a:cs typeface="Montserrat Medium"/>
                <a:sym typeface="Montserrat Medium"/>
              </a:rPr>
              <a:t>Kamu juga diperbolehkan untuk </a:t>
            </a:r>
            <a:r>
              <a:rPr b="1" lang="en" sz="1000">
                <a:solidFill>
                  <a:schemeClr val="dk1"/>
                </a:solidFill>
                <a:latin typeface="Montserrat"/>
                <a:ea typeface="Montserrat"/>
                <a:cs typeface="Montserrat"/>
                <a:sym typeface="Montserrat"/>
              </a:rPr>
              <a:t>menentukan </a:t>
            </a:r>
            <a:r>
              <a:rPr b="1" lang="en" sz="1000">
                <a:solidFill>
                  <a:schemeClr val="dk1"/>
                </a:solidFill>
                <a:latin typeface="Montserrat"/>
                <a:ea typeface="Montserrat"/>
                <a:cs typeface="Montserrat"/>
                <a:sym typeface="Montserrat"/>
              </a:rPr>
              <a:t>font, </a:t>
            </a:r>
            <a:r>
              <a:rPr b="1" lang="en" sz="1000">
                <a:solidFill>
                  <a:schemeClr val="dk1"/>
                </a:solidFill>
                <a:latin typeface="Montserrat"/>
                <a:ea typeface="Montserrat"/>
                <a:cs typeface="Montserrat"/>
                <a:sym typeface="Montserrat"/>
              </a:rPr>
              <a:t>membuat logo, </a:t>
            </a:r>
            <a:r>
              <a:rPr b="1" lang="en" sz="1000">
                <a:solidFill>
                  <a:schemeClr val="dk1"/>
                </a:solidFill>
                <a:latin typeface="Montserrat"/>
                <a:ea typeface="Montserrat"/>
                <a:cs typeface="Montserrat"/>
                <a:sym typeface="Montserrat"/>
              </a:rPr>
              <a:t>icon dan vektor</a:t>
            </a:r>
            <a:r>
              <a:rPr b="1" lang="en" sz="1000">
                <a:solidFill>
                  <a:schemeClr val="dk1"/>
                </a:solidFill>
                <a:latin typeface="Montserrat"/>
                <a:ea typeface="Montserrat"/>
                <a:cs typeface="Montserrat"/>
                <a:sym typeface="Montserrat"/>
              </a:rPr>
              <a:t> sendiri</a:t>
            </a:r>
            <a:r>
              <a:rPr lang="en" sz="1000">
                <a:solidFill>
                  <a:schemeClr val="dk1"/>
                </a:solidFill>
                <a:latin typeface="Montserrat Medium"/>
                <a:ea typeface="Montserrat Medium"/>
                <a:cs typeface="Montserrat Medium"/>
                <a:sym typeface="Montserrat Medium"/>
              </a:rPr>
              <a:t>. </a:t>
            </a:r>
            <a:r>
              <a:rPr lang="en" sz="1000">
                <a:solidFill>
                  <a:schemeClr val="dk1"/>
                </a:solidFill>
                <a:latin typeface="Montserrat Medium"/>
                <a:ea typeface="Montserrat Medium"/>
                <a:cs typeface="Montserrat Medium"/>
                <a:sym typeface="Montserrat Medium"/>
              </a:rPr>
              <a:t>Pastikan tidak melanggar hak cipta dan lisensi, agar tidak kena copyright.</a:t>
            </a:r>
            <a:endParaRPr sz="1000">
              <a:solidFill>
                <a:schemeClr val="dk2"/>
              </a:solidFill>
              <a:latin typeface="Montserrat Medium"/>
              <a:ea typeface="Montserrat Medium"/>
              <a:cs typeface="Montserrat Medium"/>
              <a:sym typeface="Montserrat Medium"/>
            </a:endParaRPr>
          </a:p>
        </p:txBody>
      </p:sp>
      <p:pic>
        <p:nvPicPr>
          <p:cNvPr id="137" name="Google Shape;137;p22"/>
          <p:cNvPicPr preferRelativeResize="0"/>
          <p:nvPr/>
        </p:nvPicPr>
        <p:blipFill>
          <a:blip r:embed="rId3">
            <a:alphaModFix/>
          </a:blip>
          <a:stretch>
            <a:fillRect/>
          </a:stretch>
        </p:blipFill>
        <p:spPr>
          <a:xfrm flipH="1">
            <a:off x="5564554" y="937650"/>
            <a:ext cx="2331744" cy="37050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3" name="Google Shape;143;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Theme </a:t>
            </a:r>
            <a:endParaRPr/>
          </a:p>
        </p:txBody>
      </p:sp>
      <p:sp>
        <p:nvSpPr>
          <p:cNvPr id="144" name="Google Shape;144;p23"/>
          <p:cNvSpPr txBox="1"/>
          <p:nvPr/>
        </p:nvSpPr>
        <p:spPr>
          <a:xfrm>
            <a:off x="487625" y="1250950"/>
            <a:ext cx="5211600" cy="3276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600">
                <a:solidFill>
                  <a:srgbClr val="743673"/>
                </a:solidFill>
                <a:highlight>
                  <a:srgbClr val="FFFFFF"/>
                </a:highlight>
                <a:latin typeface="Montserrat"/>
                <a:ea typeface="Montserrat"/>
                <a:cs typeface="Montserrat"/>
                <a:sym typeface="Montserrat"/>
              </a:rPr>
              <a:t>Tema </a:t>
            </a:r>
            <a:endParaRPr b="1" sz="1600">
              <a:solidFill>
                <a:srgbClr val="743673"/>
              </a:solidFill>
              <a:highlight>
                <a:srgbClr val="FFFFFF"/>
              </a:highlight>
              <a:latin typeface="Montserrat"/>
              <a:ea typeface="Montserrat"/>
              <a:cs typeface="Montserrat"/>
              <a:sym typeface="Montserrat"/>
            </a:endParaRPr>
          </a:p>
          <a:p>
            <a:pPr indent="0" lvl="0" marL="0" rtl="0" algn="l">
              <a:lnSpc>
                <a:spcPct val="115000"/>
              </a:lnSpc>
              <a:spcBef>
                <a:spcPts val="1000"/>
              </a:spcBef>
              <a:spcAft>
                <a:spcPts val="0"/>
              </a:spcAft>
              <a:buNone/>
            </a:pPr>
            <a:r>
              <a:rPr lang="en" sz="1000">
                <a:solidFill>
                  <a:schemeClr val="dk1"/>
                </a:solidFill>
                <a:highlight>
                  <a:srgbClr val="FFFFFF"/>
                </a:highlight>
                <a:latin typeface="Montserrat Medium"/>
                <a:ea typeface="Montserrat Medium"/>
                <a:cs typeface="Montserrat Medium"/>
                <a:sym typeface="Montserrat Medium"/>
              </a:rPr>
              <a:t>Dalam final project ini, kamu akan dibagi ke dalam empat pilihan kategori aplikasi, yaitu:</a:t>
            </a:r>
            <a:r>
              <a:rPr lang="en" sz="1500">
                <a:solidFill>
                  <a:srgbClr val="000000"/>
                </a:solidFill>
                <a:latin typeface="Montserrat Medium"/>
                <a:ea typeface="Montserrat Medium"/>
                <a:cs typeface="Montserrat Medium"/>
                <a:sym typeface="Montserrat Medium"/>
              </a:rPr>
              <a:t> </a:t>
            </a:r>
            <a:endParaRPr sz="1500">
              <a:solidFill>
                <a:srgbClr val="000000"/>
              </a:solidFill>
              <a:latin typeface="Montserrat Medium"/>
              <a:ea typeface="Montserrat Medium"/>
              <a:cs typeface="Montserrat Medium"/>
              <a:sym typeface="Montserrat Medium"/>
            </a:endParaRPr>
          </a:p>
          <a:p>
            <a:pPr indent="-292100" lvl="0" marL="457200" rtl="0" algn="just">
              <a:lnSpc>
                <a:spcPct val="115000"/>
              </a:lnSpc>
              <a:spcBef>
                <a:spcPts val="1000"/>
              </a:spcBef>
              <a:spcAft>
                <a:spcPts val="0"/>
              </a:spcAft>
              <a:buSzPts val="1000"/>
              <a:buFont typeface="Montserrat"/>
              <a:buAutoNum type="arabicPeriod"/>
            </a:pPr>
            <a:r>
              <a:rPr b="1" lang="en" sz="1000">
                <a:latin typeface="Montserrat"/>
                <a:ea typeface="Montserrat"/>
                <a:cs typeface="Montserrat"/>
                <a:sym typeface="Montserrat"/>
              </a:rPr>
              <a:t>Fintech</a:t>
            </a:r>
            <a:r>
              <a:rPr lang="en" sz="1000">
                <a:latin typeface="Montserrat"/>
                <a:ea typeface="Montserrat"/>
                <a:cs typeface="Montserrat"/>
                <a:sym typeface="Montserrat"/>
              </a:rPr>
              <a:t>					Kelompok PM 1 - 7</a:t>
            </a:r>
            <a:endParaRPr sz="1000">
              <a:latin typeface="Montserrat"/>
              <a:ea typeface="Montserrat"/>
              <a:cs typeface="Montserrat"/>
              <a:sym typeface="Montserrat"/>
            </a:endParaRPr>
          </a:p>
          <a:p>
            <a:pPr indent="-292100" lvl="0" marL="457200" rtl="0" algn="just">
              <a:lnSpc>
                <a:spcPct val="115000"/>
              </a:lnSpc>
              <a:spcBef>
                <a:spcPts val="1000"/>
              </a:spcBef>
              <a:spcAft>
                <a:spcPts val="0"/>
              </a:spcAft>
              <a:buSzPts val="1000"/>
              <a:buFont typeface="Montserrat"/>
              <a:buAutoNum type="arabicPeriod"/>
            </a:pPr>
            <a:r>
              <a:rPr b="1" lang="en" sz="1000">
                <a:latin typeface="Montserrat"/>
                <a:ea typeface="Montserrat"/>
                <a:cs typeface="Montserrat"/>
                <a:sym typeface="Montserrat"/>
              </a:rPr>
              <a:t>Edutech</a:t>
            </a:r>
            <a:r>
              <a:rPr lang="en" sz="1000">
                <a:latin typeface="Montserrat"/>
                <a:ea typeface="Montserrat"/>
                <a:cs typeface="Montserrat"/>
                <a:sym typeface="Montserrat"/>
              </a:rPr>
              <a:t>					Kelompok PM 8  - 14</a:t>
            </a:r>
            <a:endParaRPr sz="1000">
              <a:latin typeface="Montserrat"/>
              <a:ea typeface="Montserrat"/>
              <a:cs typeface="Montserrat"/>
              <a:sym typeface="Montserrat"/>
            </a:endParaRPr>
          </a:p>
          <a:p>
            <a:pPr indent="-292100" lvl="0" marL="457200" rtl="0" algn="just">
              <a:lnSpc>
                <a:spcPct val="115000"/>
              </a:lnSpc>
              <a:spcBef>
                <a:spcPts val="1000"/>
              </a:spcBef>
              <a:spcAft>
                <a:spcPts val="0"/>
              </a:spcAft>
              <a:buSzPts val="1000"/>
              <a:buFont typeface="Montserrat"/>
              <a:buAutoNum type="arabicPeriod"/>
            </a:pPr>
            <a:r>
              <a:rPr b="1" lang="en" sz="1000">
                <a:latin typeface="Montserrat"/>
                <a:ea typeface="Montserrat"/>
                <a:cs typeface="Montserrat"/>
                <a:sym typeface="Montserrat"/>
              </a:rPr>
              <a:t>E-commerce</a:t>
            </a:r>
            <a:r>
              <a:rPr lang="en" sz="1000">
                <a:latin typeface="Montserrat"/>
                <a:ea typeface="Montserrat"/>
                <a:cs typeface="Montserrat"/>
                <a:sym typeface="Montserrat"/>
              </a:rPr>
              <a:t>					Kelompok PM 15 - 21</a:t>
            </a:r>
            <a:endParaRPr sz="1000">
              <a:latin typeface="Montserrat"/>
              <a:ea typeface="Montserrat"/>
              <a:cs typeface="Montserrat"/>
              <a:sym typeface="Montserrat"/>
            </a:endParaRPr>
          </a:p>
          <a:p>
            <a:pPr indent="-292100" lvl="0" marL="457200" rtl="0" algn="just">
              <a:lnSpc>
                <a:spcPct val="115000"/>
              </a:lnSpc>
              <a:spcBef>
                <a:spcPts val="1000"/>
              </a:spcBef>
              <a:spcAft>
                <a:spcPts val="0"/>
              </a:spcAft>
              <a:buSzPts val="1000"/>
              <a:buFont typeface="Montserrat"/>
              <a:buAutoNum type="arabicPeriod"/>
            </a:pPr>
            <a:r>
              <a:rPr b="1" lang="en" sz="1000">
                <a:latin typeface="Montserrat"/>
                <a:ea typeface="Montserrat"/>
                <a:cs typeface="Montserrat"/>
                <a:sym typeface="Montserrat"/>
              </a:rPr>
              <a:t>Online Travel Agent/Leisure Platform</a:t>
            </a:r>
            <a:r>
              <a:rPr lang="en" sz="1000">
                <a:latin typeface="Montserrat"/>
                <a:ea typeface="Montserrat"/>
                <a:cs typeface="Montserrat"/>
                <a:sym typeface="Montserrat"/>
              </a:rPr>
              <a:t>	Kelompok PM 22 - 2</a:t>
            </a:r>
            <a:r>
              <a:rPr lang="en" sz="1000">
                <a:latin typeface="Montserrat"/>
                <a:ea typeface="Montserrat"/>
                <a:cs typeface="Montserrat"/>
                <a:sym typeface="Montserrat"/>
              </a:rPr>
              <a:t>7</a:t>
            </a:r>
            <a:endParaRPr sz="1000">
              <a:latin typeface="Montserrat"/>
              <a:ea typeface="Montserrat"/>
              <a:cs typeface="Montserrat"/>
              <a:sym typeface="Montserrat"/>
            </a:endParaRPr>
          </a:p>
        </p:txBody>
      </p:sp>
      <p:pic>
        <p:nvPicPr>
          <p:cNvPr id="145" name="Google Shape;145;p23"/>
          <p:cNvPicPr preferRelativeResize="0"/>
          <p:nvPr/>
        </p:nvPicPr>
        <p:blipFill>
          <a:blip r:embed="rId3">
            <a:alphaModFix/>
          </a:blip>
          <a:stretch>
            <a:fillRect/>
          </a:stretch>
        </p:blipFill>
        <p:spPr>
          <a:xfrm>
            <a:off x="5924700" y="1323950"/>
            <a:ext cx="3005998" cy="28387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4"/>
          <p:cNvSpPr txBox="1"/>
          <p:nvPr/>
        </p:nvSpPr>
        <p:spPr>
          <a:xfrm>
            <a:off x="533975" y="1031000"/>
            <a:ext cx="4183500" cy="32004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Project Team</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Medium"/>
                <a:ea typeface="Montserrat Medium"/>
                <a:cs typeface="Montserrat Medium"/>
                <a:sym typeface="Montserrat Medium"/>
              </a:rPr>
              <a:t>Masing-masing kategori aplikasi yang sudah disampaikan tadi, akan dikerjakan secara berkelompok. Dimana kamu akan</a:t>
            </a:r>
            <a:r>
              <a:rPr lang="en" sz="1000">
                <a:solidFill>
                  <a:schemeClr val="dk1"/>
                </a:solidFill>
                <a:latin typeface="Montserrat Medium"/>
                <a:ea typeface="Montserrat Medium"/>
                <a:cs typeface="Montserrat Medium"/>
                <a:sym typeface="Montserrat Medium"/>
              </a:rPr>
              <a:t> </a:t>
            </a:r>
            <a:r>
              <a:rPr b="1" lang="en" sz="1000">
                <a:solidFill>
                  <a:schemeClr val="dk1"/>
                </a:solidFill>
                <a:latin typeface="Montserrat"/>
                <a:ea typeface="Montserrat"/>
                <a:cs typeface="Montserrat"/>
                <a:sym typeface="Montserrat"/>
              </a:rPr>
              <a:t>berkolaborasi dengan sesama anggota tim dari kelas UI/UX dan kelas PM</a:t>
            </a:r>
            <a:r>
              <a:rPr lang="en" sz="1000">
                <a:solidFill>
                  <a:schemeClr val="dk1"/>
                </a:solidFill>
                <a:latin typeface="Montserrat Medium"/>
                <a:ea typeface="Montserrat Medium"/>
                <a:cs typeface="Montserrat Medium"/>
                <a:sym typeface="Montserrat Medium"/>
              </a:rPr>
              <a:t>.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1000"/>
              </a:spcBef>
              <a:spcAft>
                <a:spcPts val="1000"/>
              </a:spcAft>
              <a:buNone/>
            </a:pPr>
            <a:r>
              <a:rPr lang="en" sz="1000">
                <a:solidFill>
                  <a:schemeClr val="dk1"/>
                </a:solidFill>
                <a:latin typeface="Montserrat Medium"/>
                <a:ea typeface="Montserrat Medium"/>
                <a:cs typeface="Montserrat Medium"/>
                <a:sym typeface="Montserrat Medium"/>
              </a:rPr>
              <a:t>Komposisi satu tim </a:t>
            </a:r>
            <a:r>
              <a:rPr b="1" lang="en" sz="1000">
                <a:solidFill>
                  <a:schemeClr val="dk1"/>
                </a:solidFill>
                <a:latin typeface="Montserrat"/>
                <a:ea typeface="Montserrat"/>
                <a:cs typeface="Montserrat"/>
                <a:sym typeface="Montserrat"/>
              </a:rPr>
              <a:t>sekiranya perlu disesuaikan dengan jumlah peserta pada masing-masing kelas. Untuk pembagian timnya fasilitator kelasnya diarahkan untuk membagi siswa sesuai jumlah siswa yang aktif. </a:t>
            </a:r>
            <a:r>
              <a:rPr lang="en" sz="1000">
                <a:solidFill>
                  <a:schemeClr val="dk1"/>
                </a:solidFill>
                <a:latin typeface="Montserrat Medium"/>
                <a:ea typeface="Montserrat Medium"/>
                <a:cs typeface="Montserrat Medium"/>
                <a:sym typeface="Montserrat Medium"/>
              </a:rPr>
              <a:t>Adapun komposisi timnya bisa kamu cek </a:t>
            </a:r>
            <a:r>
              <a:rPr lang="en" sz="1000" u="sng">
                <a:solidFill>
                  <a:schemeClr val="hlink"/>
                </a:solidFill>
                <a:latin typeface="Montserrat Medium"/>
                <a:ea typeface="Montserrat Medium"/>
                <a:cs typeface="Montserrat Medium"/>
                <a:sym typeface="Montserrat Medium"/>
                <a:hlinkClick r:id="rId3"/>
              </a:rPr>
              <a:t>disini </a:t>
            </a:r>
            <a:r>
              <a:rPr lang="en" sz="1000">
                <a:solidFill>
                  <a:schemeClr val="dk1"/>
                </a:solidFill>
                <a:latin typeface="Montserrat Medium"/>
                <a:ea typeface="Montserrat Medium"/>
                <a:cs typeface="Montserrat Medium"/>
                <a:sym typeface="Montserrat Medium"/>
              </a:rPr>
              <a:t>yaa.</a:t>
            </a:r>
            <a:endParaRPr sz="1000">
              <a:solidFill>
                <a:schemeClr val="accent5"/>
              </a:solidFill>
              <a:latin typeface="Montserrat Medium"/>
              <a:ea typeface="Montserrat Medium"/>
              <a:cs typeface="Montserrat Medium"/>
              <a:sym typeface="Montserrat Medium"/>
            </a:endParaRPr>
          </a:p>
        </p:txBody>
      </p:sp>
      <p:sp>
        <p:nvSpPr>
          <p:cNvPr id="151" name="Google Shape;151;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2" name="Google Shape;152;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Project Team</a:t>
            </a:r>
            <a:endParaRPr>
              <a:latin typeface="Montserrat"/>
              <a:ea typeface="Montserrat"/>
              <a:cs typeface="Montserrat"/>
              <a:sym typeface="Montserrat"/>
            </a:endParaRPr>
          </a:p>
        </p:txBody>
      </p:sp>
      <p:pic>
        <p:nvPicPr>
          <p:cNvPr id="153" name="Google Shape;153;p24"/>
          <p:cNvPicPr preferRelativeResize="0"/>
          <p:nvPr/>
        </p:nvPicPr>
        <p:blipFill>
          <a:blip r:embed="rId4">
            <a:alphaModFix/>
          </a:blip>
          <a:stretch>
            <a:fillRect/>
          </a:stretch>
        </p:blipFill>
        <p:spPr>
          <a:xfrm>
            <a:off x="4914650" y="1539350"/>
            <a:ext cx="4016049" cy="262093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nvSpPr>
        <p:spPr>
          <a:xfrm>
            <a:off x="544875" y="971550"/>
            <a:ext cx="4495200" cy="32004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rPr b="1" lang="en" sz="1100">
                <a:solidFill>
                  <a:srgbClr val="F2AB2F"/>
                </a:solidFill>
                <a:highlight>
                  <a:schemeClr val="lt1"/>
                </a:highlight>
                <a:latin typeface="Montserrat"/>
                <a:ea typeface="Montserrat"/>
                <a:cs typeface="Montserrat"/>
                <a:sym typeface="Montserrat"/>
              </a:rPr>
              <a:t>Pembagian Tugas Anggota Kelompok</a:t>
            </a:r>
            <a:endParaRPr b="1" sz="1100">
              <a:solidFill>
                <a:srgbClr val="F2AB2F"/>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rPr b="1" lang="en" sz="1100">
                <a:solidFill>
                  <a:srgbClr val="F2AB2F"/>
                </a:solidFill>
                <a:highlight>
                  <a:schemeClr val="lt1"/>
                </a:highlight>
                <a:latin typeface="Montserrat"/>
                <a:ea typeface="Montserrat"/>
                <a:cs typeface="Montserrat"/>
                <a:sym typeface="Montserrat"/>
              </a:rPr>
              <a:t>Kelas UI/UX</a:t>
            </a:r>
            <a:endParaRPr b="1" sz="1100">
              <a:solidFill>
                <a:srgbClr val="F2AB2F"/>
              </a:solidFill>
              <a:highlight>
                <a:schemeClr val="lt1"/>
              </a:highlight>
              <a:latin typeface="Montserrat"/>
              <a:ea typeface="Montserrat"/>
              <a:cs typeface="Montserrat"/>
              <a:sym typeface="Montserrat"/>
            </a:endParaRPr>
          </a:p>
          <a:p>
            <a:pPr indent="0" lvl="0" marL="0" rtl="0" algn="just">
              <a:lnSpc>
                <a:spcPct val="115000"/>
              </a:lnSpc>
              <a:spcBef>
                <a:spcPts val="1000"/>
              </a:spcBef>
              <a:spcAft>
                <a:spcPts val="0"/>
              </a:spcAft>
              <a:buNone/>
            </a:pPr>
            <a:r>
              <a:rPr b="1" lang="en" sz="1000">
                <a:solidFill>
                  <a:schemeClr val="dk1"/>
                </a:solidFill>
                <a:latin typeface="Montserrat"/>
                <a:ea typeface="Montserrat"/>
                <a:cs typeface="Montserrat"/>
                <a:sym typeface="Montserrat"/>
              </a:rPr>
              <a:t>Catatan</a:t>
            </a:r>
            <a:r>
              <a:rPr b="1" lang="en" sz="1000">
                <a:solidFill>
                  <a:schemeClr val="dk1"/>
                </a:solidFill>
                <a:latin typeface="Montserrat"/>
                <a:ea typeface="Montserrat"/>
                <a:cs typeface="Montserrat"/>
                <a:sym typeface="Montserrat"/>
              </a:rPr>
              <a:t> untuk kamu UI/UX lovers!!</a:t>
            </a:r>
            <a:endParaRPr b="1"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1000"/>
              </a:spcAft>
              <a:buNone/>
            </a:pPr>
            <a:r>
              <a:rPr lang="en" sz="1000">
                <a:solidFill>
                  <a:schemeClr val="dk1"/>
                </a:solidFill>
                <a:latin typeface="Montserrat Medium"/>
                <a:ea typeface="Montserrat Medium"/>
                <a:cs typeface="Montserrat Medium"/>
                <a:sym typeface="Montserrat Medium"/>
              </a:rPr>
              <a:t>Pada saat memasuki proses define, riset, maupun ideation, kamu bisa melakukannya secara bersama-sama dengan anggota kelompokmu. Setelah itu, peran anggota kelompok pada proses desain dibagi menjadi 2 (dua) yaitu ada yang Desain Mobile App-nya, dan Desain Website-nya sesuai tema kelompoknya yang telah ditentukan.</a:t>
            </a:r>
            <a:endParaRPr sz="1000">
              <a:solidFill>
                <a:schemeClr val="dk1"/>
              </a:solidFill>
              <a:latin typeface="Montserrat Medium"/>
              <a:ea typeface="Montserrat Medium"/>
              <a:cs typeface="Montserrat Medium"/>
              <a:sym typeface="Montserrat Medium"/>
            </a:endParaRPr>
          </a:p>
        </p:txBody>
      </p:sp>
      <p:sp>
        <p:nvSpPr>
          <p:cNvPr id="159" name="Google Shape;159;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0" name="Google Shape;160;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Project Team</a:t>
            </a:r>
            <a:endParaRPr>
              <a:latin typeface="Montserrat"/>
              <a:ea typeface="Montserrat"/>
              <a:cs typeface="Montserrat"/>
              <a:sym typeface="Montserrat"/>
            </a:endParaRPr>
          </a:p>
        </p:txBody>
      </p:sp>
      <p:pic>
        <p:nvPicPr>
          <p:cNvPr id="161" name="Google Shape;161;p25"/>
          <p:cNvPicPr preferRelativeResize="0"/>
          <p:nvPr/>
        </p:nvPicPr>
        <p:blipFill>
          <a:blip r:embed="rId3">
            <a:alphaModFix/>
          </a:blip>
          <a:stretch>
            <a:fillRect/>
          </a:stretch>
        </p:blipFill>
        <p:spPr>
          <a:xfrm>
            <a:off x="5257800" y="1687575"/>
            <a:ext cx="3501599" cy="247221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6"/>
          <p:cNvSpPr txBox="1"/>
          <p:nvPr/>
        </p:nvSpPr>
        <p:spPr>
          <a:xfrm>
            <a:off x="685800" y="1036325"/>
            <a:ext cx="4343400" cy="32004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rPr b="1" lang="en" sz="1100">
                <a:solidFill>
                  <a:srgbClr val="F2AB2F"/>
                </a:solidFill>
                <a:highlight>
                  <a:schemeClr val="lt1"/>
                </a:highlight>
                <a:latin typeface="Montserrat"/>
                <a:ea typeface="Montserrat"/>
                <a:cs typeface="Montserrat"/>
                <a:sym typeface="Montserrat"/>
              </a:rPr>
              <a:t>Pembagian Tugas Anggota Kelompok</a:t>
            </a:r>
            <a:endParaRPr b="1" sz="1100">
              <a:solidFill>
                <a:srgbClr val="F2AB2F"/>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rPr b="1" lang="en" sz="1100">
                <a:solidFill>
                  <a:srgbClr val="F2AB2F"/>
                </a:solidFill>
                <a:highlight>
                  <a:schemeClr val="lt1"/>
                </a:highlight>
                <a:latin typeface="Montserrat"/>
                <a:ea typeface="Montserrat"/>
                <a:cs typeface="Montserrat"/>
                <a:sym typeface="Montserrat"/>
              </a:rPr>
              <a:t>Kelas Product Management</a:t>
            </a:r>
            <a:endParaRPr b="1" sz="1100">
              <a:solidFill>
                <a:srgbClr val="F2AB2F"/>
              </a:solidFill>
              <a:highlight>
                <a:schemeClr val="lt1"/>
              </a:highlight>
              <a:latin typeface="Montserrat"/>
              <a:ea typeface="Montserrat"/>
              <a:cs typeface="Montserrat"/>
              <a:sym typeface="Montserrat"/>
            </a:endParaRPr>
          </a:p>
          <a:p>
            <a:pPr indent="0" lvl="0" marL="0" rtl="0" algn="just">
              <a:lnSpc>
                <a:spcPct val="115000"/>
              </a:lnSpc>
              <a:spcBef>
                <a:spcPts val="1000"/>
              </a:spcBef>
              <a:spcAft>
                <a:spcPts val="0"/>
              </a:spcAft>
              <a:buNone/>
            </a:pPr>
            <a:r>
              <a:rPr b="1" lang="en" sz="1000">
                <a:solidFill>
                  <a:schemeClr val="dk1"/>
                </a:solidFill>
                <a:latin typeface="Montserrat"/>
                <a:ea typeface="Montserrat"/>
                <a:cs typeface="Montserrat"/>
                <a:sym typeface="Montserrat"/>
              </a:rPr>
              <a:t>Khusus untuk kamu PM lovers juga!!</a:t>
            </a:r>
            <a:endParaRPr b="1"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Medium"/>
                <a:ea typeface="Montserrat Medium"/>
                <a:cs typeface="Montserrat Medium"/>
                <a:sym typeface="Montserrat Medium"/>
              </a:rPr>
              <a:t>Setiap anggota kelompok dari kelas PM </a:t>
            </a:r>
            <a:r>
              <a:rPr b="1" lang="en" sz="1000">
                <a:solidFill>
                  <a:schemeClr val="dk1"/>
                </a:solidFill>
                <a:latin typeface="Montserrat"/>
                <a:ea typeface="Montserrat"/>
                <a:cs typeface="Montserrat"/>
                <a:sym typeface="Montserrat"/>
              </a:rPr>
              <a:t>perlu memiliki pengalaman sebagai product manager.</a:t>
            </a:r>
            <a:r>
              <a:rPr lang="en" sz="1000">
                <a:solidFill>
                  <a:schemeClr val="dk1"/>
                </a:solidFill>
                <a:latin typeface="Montserrat Medium"/>
                <a:ea typeface="Montserrat Medium"/>
                <a:cs typeface="Montserrat Medium"/>
                <a:sym typeface="Montserrat Medium"/>
              </a:rPr>
              <a:t> Untuk itu disarankan pada setiap sprint-nya secara bergiliran anggota kelompok dari kelas PM dapat berperan:</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1000"/>
              </a:spcBef>
              <a:spcAft>
                <a:spcPts val="0"/>
              </a:spcAft>
              <a:buClr>
                <a:schemeClr val="dk1"/>
              </a:buClr>
              <a:buSzPts val="1000"/>
              <a:buFont typeface="Montserrat Medium"/>
              <a:buAutoNum type="arabicPeriod"/>
            </a:pPr>
            <a:r>
              <a:rPr lang="en" sz="1000">
                <a:solidFill>
                  <a:schemeClr val="dk1"/>
                </a:solidFill>
                <a:latin typeface="Montserrat Medium"/>
                <a:ea typeface="Montserrat Medium"/>
                <a:cs typeface="Montserrat Medium"/>
                <a:sym typeface="Montserrat Medium"/>
              </a:rPr>
              <a:t>Leader saat Sprint Planning</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Clr>
                <a:schemeClr val="dk1"/>
              </a:buClr>
              <a:buSzPts val="1000"/>
              <a:buFont typeface="Montserrat Medium"/>
              <a:buAutoNum type="arabicPeriod"/>
            </a:pPr>
            <a:r>
              <a:rPr lang="en" sz="1000">
                <a:solidFill>
                  <a:schemeClr val="dk1"/>
                </a:solidFill>
                <a:latin typeface="Montserrat Medium"/>
                <a:ea typeface="Montserrat Medium"/>
                <a:cs typeface="Montserrat Medium"/>
                <a:sym typeface="Montserrat Medium"/>
              </a:rPr>
              <a:t>Leader saat Proses Pengerjaan</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Clr>
                <a:schemeClr val="dk1"/>
              </a:buClr>
              <a:buSzPts val="1000"/>
              <a:buFont typeface="Montserrat Medium"/>
              <a:buAutoNum type="arabicPeriod"/>
            </a:pPr>
            <a:r>
              <a:rPr lang="en" sz="1000">
                <a:solidFill>
                  <a:schemeClr val="dk1"/>
                </a:solidFill>
                <a:latin typeface="Montserrat Medium"/>
                <a:ea typeface="Montserrat Medium"/>
                <a:cs typeface="Montserrat Medium"/>
                <a:sym typeface="Montserrat Medium"/>
              </a:rPr>
              <a:t>Leader saat Sprint Review</a:t>
            </a:r>
            <a:endParaRPr sz="1000">
              <a:solidFill>
                <a:schemeClr val="dk1"/>
              </a:solidFill>
              <a:latin typeface="Montserrat Medium"/>
              <a:ea typeface="Montserrat Medium"/>
              <a:cs typeface="Montserrat Medium"/>
              <a:sym typeface="Montserrat Medium"/>
            </a:endParaRPr>
          </a:p>
        </p:txBody>
      </p:sp>
      <p:sp>
        <p:nvSpPr>
          <p:cNvPr id="167" name="Google Shape;167;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8" name="Google Shape;168;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Project Team</a:t>
            </a:r>
            <a:endParaRPr>
              <a:latin typeface="Montserrat"/>
              <a:ea typeface="Montserrat"/>
              <a:cs typeface="Montserrat"/>
              <a:sym typeface="Montserrat"/>
            </a:endParaRPr>
          </a:p>
        </p:txBody>
      </p:sp>
      <p:pic>
        <p:nvPicPr>
          <p:cNvPr id="169" name="Google Shape;169;p26"/>
          <p:cNvPicPr preferRelativeResize="0"/>
          <p:nvPr/>
        </p:nvPicPr>
        <p:blipFill>
          <a:blip r:embed="rId3">
            <a:alphaModFix/>
          </a:blip>
          <a:stretch>
            <a:fillRect/>
          </a:stretch>
        </p:blipFill>
        <p:spPr>
          <a:xfrm>
            <a:off x="5148825" y="1687574"/>
            <a:ext cx="3610576" cy="25491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5" name="Google Shape;175;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Roadmap</a:t>
            </a:r>
            <a:endParaRPr/>
          </a:p>
        </p:txBody>
      </p:sp>
      <p:graphicFrame>
        <p:nvGraphicFramePr>
          <p:cNvPr id="176" name="Google Shape;176;p27"/>
          <p:cNvGraphicFramePr/>
          <p:nvPr/>
        </p:nvGraphicFramePr>
        <p:xfrm>
          <a:off x="871384" y="1545300"/>
          <a:ext cx="3000000" cy="3000000"/>
        </p:xfrm>
        <a:graphic>
          <a:graphicData uri="http://schemas.openxmlformats.org/drawingml/2006/table">
            <a:tbl>
              <a:tblPr>
                <a:noFill/>
                <a:tableStyleId>{C00E7B77-135D-4733-9814-72F36B352F7F}</a:tableStyleId>
              </a:tblPr>
              <a:tblGrid>
                <a:gridCol w="1554400"/>
                <a:gridCol w="1554400"/>
                <a:gridCol w="1554400"/>
                <a:gridCol w="1554400"/>
                <a:gridCol w="1554400"/>
              </a:tblGrid>
              <a:tr h="1910800">
                <a:tc>
                  <a:txBody>
                    <a:bodyPr/>
                    <a:lstStyle/>
                    <a:p>
                      <a:pPr indent="0" lvl="0" marL="0" rtl="0" algn="ctr">
                        <a:lnSpc>
                          <a:spcPct val="115000"/>
                        </a:lnSpc>
                        <a:spcBef>
                          <a:spcPts val="0"/>
                        </a:spcBef>
                        <a:spcAft>
                          <a:spcPts val="0"/>
                        </a:spcAft>
                        <a:buNone/>
                      </a:pPr>
                      <a:r>
                        <a:t/>
                      </a:r>
                      <a:endParaRPr sz="800">
                        <a:solidFill>
                          <a:srgbClr val="2D092F"/>
                        </a:solidFill>
                        <a:latin typeface="Montserrat Medium"/>
                        <a:ea typeface="Montserrat Medium"/>
                        <a:cs typeface="Montserrat Medium"/>
                        <a:sym typeface="Montserrat Medium"/>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43580"/>
                      </a:srgbClr>
                    </a:solidFill>
                  </a:tcPr>
                </a:tc>
                <a:tc>
                  <a:txBody>
                    <a:bodyPr/>
                    <a:lstStyle/>
                    <a:p>
                      <a:pPr indent="0" lvl="0" marL="0" rtl="0" algn="ctr">
                        <a:spcBef>
                          <a:spcPts val="0"/>
                        </a:spcBef>
                        <a:spcAft>
                          <a:spcPts val="0"/>
                        </a:spcAft>
                        <a:buClr>
                          <a:schemeClr val="dk1"/>
                        </a:buClr>
                        <a:buSzPts val="1100"/>
                        <a:buFont typeface="Arial"/>
                        <a:buNone/>
                      </a:pPr>
                      <a:r>
                        <a:t/>
                      </a:r>
                      <a:endParaRPr b="1">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59220"/>
                      </a:srgbClr>
                    </a:solidFill>
                  </a:tcPr>
                </a:tc>
                <a:tc>
                  <a:txBody>
                    <a:bodyPr/>
                    <a:lstStyle/>
                    <a:p>
                      <a:pPr indent="0" lvl="0" marL="0" rtl="0" algn="ctr">
                        <a:spcBef>
                          <a:spcPts val="0"/>
                        </a:spcBef>
                        <a:spcAft>
                          <a:spcPts val="0"/>
                        </a:spcAft>
                        <a:buNone/>
                      </a:pPr>
                      <a:r>
                        <a:t/>
                      </a:r>
                      <a:endParaRPr b="1">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73740"/>
                      </a:srgbClr>
                    </a:solidFill>
                  </a:tcPr>
                </a:tc>
                <a:tc>
                  <a:txBody>
                    <a:bodyPr/>
                    <a:lstStyle/>
                    <a:p>
                      <a:pPr indent="0" lvl="0" marL="0" rtl="0" algn="ctr">
                        <a:spcBef>
                          <a:spcPts val="0"/>
                        </a:spcBef>
                        <a:spcAft>
                          <a:spcPts val="0"/>
                        </a:spcAft>
                        <a:buNone/>
                      </a:pPr>
                      <a:r>
                        <a:t/>
                      </a:r>
                      <a:endParaRPr b="1">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87150"/>
                      </a:srgbClr>
                    </a:solidFill>
                  </a:tcPr>
                </a:tc>
                <a:tc>
                  <a:txBody>
                    <a:bodyPr/>
                    <a:lstStyle/>
                    <a:p>
                      <a:pPr indent="0" lvl="0" marL="0" rtl="0" algn="ctr">
                        <a:spcBef>
                          <a:spcPts val="0"/>
                        </a:spcBef>
                        <a:spcAft>
                          <a:spcPts val="0"/>
                        </a:spcAft>
                        <a:buNone/>
                      </a:pPr>
                      <a:r>
                        <a:t/>
                      </a:r>
                      <a:endParaRPr b="1">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accent4"/>
                    </a:solidFill>
                  </a:tcPr>
                </a:tc>
              </a:tr>
              <a:tr h="1503675">
                <a:tc>
                  <a:txBody>
                    <a:bodyPr/>
                    <a:lstStyle/>
                    <a:p>
                      <a:pPr indent="0" lvl="0" marL="0" rtl="0" algn="ctr">
                        <a:spcBef>
                          <a:spcPts val="0"/>
                        </a:spcBef>
                        <a:spcAft>
                          <a:spcPts val="0"/>
                        </a:spcAft>
                        <a:buNone/>
                      </a:pPr>
                      <a:r>
                        <a:t/>
                      </a:r>
                      <a:endParaRPr sz="9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To include in your process:</a:t>
                      </a:r>
                      <a:br>
                        <a:rPr lang="en" sz="800">
                          <a:solidFill>
                            <a:srgbClr val="2D092F"/>
                          </a:solidFill>
                          <a:latin typeface="Montserrat Medium"/>
                          <a:ea typeface="Montserrat Medium"/>
                          <a:cs typeface="Montserrat Medium"/>
                          <a:sym typeface="Montserrat Medium"/>
                        </a:rPr>
                      </a:b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Problem Statement</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How Might We’s</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Competitive Analysis</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Strategy Blueprint</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i="1" lang="en" sz="800">
                          <a:solidFill>
                            <a:srgbClr val="2D092F"/>
                          </a:solidFill>
                          <a:latin typeface="Montserrat Medium"/>
                          <a:ea typeface="Montserrat Medium"/>
                          <a:cs typeface="Montserrat Medium"/>
                          <a:sym typeface="Montserrat Medium"/>
                        </a:rPr>
                        <a:t>(if necessary)</a:t>
                      </a:r>
                      <a:endParaRPr i="1" sz="800">
                        <a:solidFill>
                          <a:srgbClr val="2D092F"/>
                        </a:solidFill>
                        <a:latin typeface="Montserrat Medium"/>
                        <a:ea typeface="Montserrat Medium"/>
                        <a:cs typeface="Montserrat Medium"/>
                        <a:sym typeface="Montserrat Medium"/>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43580"/>
                      </a:srgbClr>
                    </a:solidFill>
                  </a:tcPr>
                </a:tc>
                <a:tc>
                  <a:txBody>
                    <a:bodyPr/>
                    <a:lstStyle/>
                    <a:p>
                      <a:pPr indent="0" lvl="0" marL="0" rtl="0" algn="ctr">
                        <a:spcBef>
                          <a:spcPts val="0"/>
                        </a:spcBef>
                        <a:spcAft>
                          <a:spcPts val="0"/>
                        </a:spcAft>
                        <a:buClr>
                          <a:schemeClr val="dk1"/>
                        </a:buClr>
                        <a:buSzPts val="1100"/>
                        <a:buFont typeface="Arial"/>
                        <a:buNone/>
                      </a:pPr>
                      <a:r>
                        <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Clr>
                          <a:schemeClr val="dk1"/>
                        </a:buClr>
                        <a:buSzPts val="1100"/>
                        <a:buFont typeface="Arial"/>
                        <a:buNone/>
                      </a:pPr>
                      <a:r>
                        <a:rPr lang="en" sz="800">
                          <a:solidFill>
                            <a:srgbClr val="2D092F"/>
                          </a:solidFill>
                          <a:latin typeface="Montserrat Medium"/>
                          <a:ea typeface="Montserrat Medium"/>
                          <a:cs typeface="Montserrat Medium"/>
                          <a:sym typeface="Montserrat Medium"/>
                        </a:rPr>
                        <a:t>To include in your process:</a:t>
                      </a:r>
                      <a:br>
                        <a:rPr lang="en" sz="800">
                          <a:solidFill>
                            <a:srgbClr val="2D092F"/>
                          </a:solidFill>
                          <a:latin typeface="Montserrat Medium"/>
                          <a:ea typeface="Montserrat Medium"/>
                          <a:cs typeface="Montserrat Medium"/>
                          <a:sym typeface="Montserrat Medium"/>
                        </a:rPr>
                      </a:b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Clr>
                          <a:schemeClr val="dk1"/>
                        </a:buClr>
                        <a:buSzPts val="1100"/>
                        <a:buFont typeface="Arial"/>
                        <a:buNone/>
                      </a:pPr>
                      <a:r>
                        <a:rPr lang="en" sz="800">
                          <a:solidFill>
                            <a:srgbClr val="2D092F"/>
                          </a:solidFill>
                          <a:latin typeface="Montserrat Medium"/>
                          <a:ea typeface="Montserrat Medium"/>
                          <a:cs typeface="Montserrat Medium"/>
                          <a:sym typeface="Montserrat Medium"/>
                        </a:rPr>
                        <a:t>Surveys, Interviews</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Gather the results</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Clr>
                          <a:schemeClr val="dk1"/>
                        </a:buClr>
                        <a:buSzPts val="1100"/>
                        <a:buFont typeface="Arial"/>
                        <a:buNone/>
                      </a:pPr>
                      <a:r>
                        <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Empathy Maps</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Clr>
                          <a:schemeClr val="dk1"/>
                        </a:buClr>
                        <a:buSzPts val="1100"/>
                        <a:buFont typeface="Arial"/>
                        <a:buNone/>
                      </a:pPr>
                      <a:r>
                        <a:rPr lang="en" sz="800">
                          <a:solidFill>
                            <a:srgbClr val="2D092F"/>
                          </a:solidFill>
                          <a:latin typeface="Montserrat Medium"/>
                          <a:ea typeface="Montserrat Medium"/>
                          <a:cs typeface="Montserrat Medium"/>
                          <a:sym typeface="Montserrat Medium"/>
                        </a:rPr>
                        <a:t>Affinity </a:t>
                      </a:r>
                      <a:r>
                        <a:rPr lang="en" sz="800">
                          <a:solidFill>
                            <a:srgbClr val="2D092F"/>
                          </a:solidFill>
                          <a:latin typeface="Montserrat Medium"/>
                          <a:ea typeface="Montserrat Medium"/>
                          <a:cs typeface="Montserrat Medium"/>
                          <a:sym typeface="Montserrat Medium"/>
                        </a:rPr>
                        <a:t>Diagrams</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Storyboards</a:t>
                      </a:r>
                      <a:endParaRPr sz="1200">
                        <a:solidFill>
                          <a:srgbClr val="2D092F"/>
                        </a:solidFill>
                        <a:latin typeface="Montserrat Medium"/>
                        <a:ea typeface="Montserrat Medium"/>
                        <a:cs typeface="Montserrat Medium"/>
                        <a:sym typeface="Montserrat Medium"/>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59220"/>
                      </a:srgbClr>
                    </a:solidFill>
                  </a:tcPr>
                </a:tc>
                <a:tc>
                  <a:txBody>
                    <a:bodyPr/>
                    <a:lstStyle/>
                    <a:p>
                      <a:pPr indent="0" lvl="0" marL="0" rtl="0" algn="ctr">
                        <a:spcBef>
                          <a:spcPts val="0"/>
                        </a:spcBef>
                        <a:spcAft>
                          <a:spcPts val="0"/>
                        </a:spcAft>
                        <a:buClr>
                          <a:schemeClr val="dk1"/>
                        </a:buClr>
                        <a:buSzPts val="1100"/>
                        <a:buFont typeface="Arial"/>
                        <a:buNone/>
                      </a:pPr>
                      <a:r>
                        <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Clr>
                          <a:schemeClr val="dk1"/>
                        </a:buClr>
                        <a:buSzPts val="1100"/>
                        <a:buFont typeface="Arial"/>
                        <a:buNone/>
                      </a:pPr>
                      <a:r>
                        <a:rPr lang="en" sz="800">
                          <a:solidFill>
                            <a:srgbClr val="2D092F"/>
                          </a:solidFill>
                          <a:latin typeface="Montserrat Medium"/>
                          <a:ea typeface="Montserrat Medium"/>
                          <a:cs typeface="Montserrat Medium"/>
                          <a:sym typeface="Montserrat Medium"/>
                        </a:rPr>
                        <a:t>To include in your process:</a:t>
                      </a:r>
                      <a:br>
                        <a:rPr lang="en" sz="800">
                          <a:solidFill>
                            <a:srgbClr val="2D092F"/>
                          </a:solidFill>
                          <a:latin typeface="Montserrat Medium"/>
                          <a:ea typeface="Montserrat Medium"/>
                          <a:cs typeface="Montserrat Medium"/>
                          <a:sym typeface="Montserrat Medium"/>
                        </a:rPr>
                      </a:b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Clr>
                          <a:schemeClr val="dk1"/>
                        </a:buClr>
                        <a:buSzPts val="1100"/>
                        <a:buFont typeface="Arial"/>
                        <a:buNone/>
                      </a:pPr>
                      <a:r>
                        <a:rPr lang="en" sz="800">
                          <a:solidFill>
                            <a:srgbClr val="2D092F"/>
                          </a:solidFill>
                          <a:latin typeface="Montserrat Medium"/>
                          <a:ea typeface="Montserrat Medium"/>
                          <a:cs typeface="Montserrat Medium"/>
                          <a:sym typeface="Montserrat Medium"/>
                        </a:rPr>
                        <a:t>User Personas</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User Stories</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Clr>
                          <a:schemeClr val="dk1"/>
                        </a:buClr>
                        <a:buSzPts val="1100"/>
                        <a:buFont typeface="Arial"/>
                        <a:buNone/>
                      </a:pPr>
                      <a:r>
                        <a:rPr lang="en" sz="800">
                          <a:solidFill>
                            <a:srgbClr val="2D092F"/>
                          </a:solidFill>
                          <a:latin typeface="Montserrat Medium"/>
                          <a:ea typeface="Montserrat Medium"/>
                          <a:cs typeface="Montserrat Medium"/>
                          <a:sym typeface="Montserrat Medium"/>
                        </a:rPr>
                        <a:t>User Journey Maps</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Clr>
                          <a:schemeClr val="dk1"/>
                        </a:buClr>
                        <a:buSzPts val="1100"/>
                        <a:buFont typeface="Arial"/>
                        <a:buNone/>
                      </a:pPr>
                      <a:r>
                        <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Clr>
                          <a:schemeClr val="dk1"/>
                        </a:buClr>
                        <a:buSzPts val="1100"/>
                        <a:buFont typeface="Arial"/>
                        <a:buNone/>
                      </a:pPr>
                      <a:r>
                        <a:rPr lang="en" sz="800">
                          <a:solidFill>
                            <a:srgbClr val="2D092F"/>
                          </a:solidFill>
                          <a:latin typeface="Montserrat Medium"/>
                          <a:ea typeface="Montserrat Medium"/>
                          <a:cs typeface="Montserrat Medium"/>
                          <a:sym typeface="Montserrat Medium"/>
                        </a:rPr>
                        <a:t>Flowcharts</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Clr>
                          <a:schemeClr val="dk1"/>
                        </a:buClr>
                        <a:buSzPts val="1100"/>
                        <a:buFont typeface="Arial"/>
                        <a:buNone/>
                      </a:pPr>
                      <a:r>
                        <a:rPr lang="en" sz="800">
                          <a:solidFill>
                            <a:srgbClr val="2D092F"/>
                          </a:solidFill>
                          <a:latin typeface="Montserrat Medium"/>
                          <a:ea typeface="Montserrat Medium"/>
                          <a:cs typeface="Montserrat Medium"/>
                          <a:sym typeface="Montserrat Medium"/>
                        </a:rPr>
                        <a:t>Brainstorm Sessions</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Mind Maps</a:t>
                      </a:r>
                      <a:endParaRPr sz="1200">
                        <a:solidFill>
                          <a:srgbClr val="2D092F"/>
                        </a:solidFill>
                        <a:latin typeface="Montserrat Medium"/>
                        <a:ea typeface="Montserrat Medium"/>
                        <a:cs typeface="Montserrat Medium"/>
                        <a:sym typeface="Montserrat Medium"/>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73740"/>
                      </a:srgbClr>
                    </a:solidFill>
                  </a:tcPr>
                </a:tc>
                <a:tc>
                  <a:txBody>
                    <a:bodyPr/>
                    <a:lstStyle/>
                    <a:p>
                      <a:pPr indent="0" lvl="0" marL="0" rtl="0" algn="ctr">
                        <a:spcBef>
                          <a:spcPts val="0"/>
                        </a:spcBef>
                        <a:spcAft>
                          <a:spcPts val="0"/>
                        </a:spcAft>
                        <a:buClr>
                          <a:schemeClr val="dk1"/>
                        </a:buClr>
                        <a:buSzPts val="1100"/>
                        <a:buFont typeface="Arial"/>
                        <a:buNone/>
                      </a:pPr>
                      <a:r>
                        <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Clr>
                          <a:schemeClr val="dk1"/>
                        </a:buClr>
                        <a:buSzPts val="1100"/>
                        <a:buFont typeface="Arial"/>
                        <a:buNone/>
                      </a:pPr>
                      <a:r>
                        <a:rPr lang="en" sz="800">
                          <a:solidFill>
                            <a:srgbClr val="2D092F"/>
                          </a:solidFill>
                          <a:latin typeface="Montserrat Medium"/>
                          <a:ea typeface="Montserrat Medium"/>
                          <a:cs typeface="Montserrat Medium"/>
                          <a:sym typeface="Montserrat Medium"/>
                        </a:rPr>
                        <a:t>To include in your process:</a:t>
                      </a:r>
                      <a:br>
                        <a:rPr lang="en" sz="800">
                          <a:solidFill>
                            <a:srgbClr val="2D092F"/>
                          </a:solidFill>
                          <a:latin typeface="Montserrat Medium"/>
                          <a:ea typeface="Montserrat Medium"/>
                          <a:cs typeface="Montserrat Medium"/>
                          <a:sym typeface="Montserrat Medium"/>
                        </a:rPr>
                      </a:b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Clr>
                          <a:schemeClr val="dk1"/>
                        </a:buClr>
                        <a:buSzPts val="1100"/>
                        <a:buFont typeface="Arial"/>
                        <a:buNone/>
                      </a:pPr>
                      <a:r>
                        <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Clr>
                          <a:schemeClr val="dk1"/>
                        </a:buClr>
                        <a:buSzPts val="1100"/>
                        <a:buFont typeface="Arial"/>
                        <a:buNone/>
                      </a:pPr>
                      <a:r>
                        <a:rPr lang="en" sz="800">
                          <a:solidFill>
                            <a:srgbClr val="2D092F"/>
                          </a:solidFill>
                          <a:latin typeface="Montserrat Medium"/>
                          <a:ea typeface="Montserrat Medium"/>
                          <a:cs typeface="Montserrat Medium"/>
                          <a:sym typeface="Montserrat Medium"/>
                        </a:rPr>
                        <a:t>Sketches</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Clr>
                          <a:schemeClr val="dk1"/>
                        </a:buClr>
                        <a:buSzPts val="1100"/>
                        <a:buFont typeface="Arial"/>
                        <a:buNone/>
                      </a:pPr>
                      <a:r>
                        <a:rPr lang="en" sz="800">
                          <a:solidFill>
                            <a:srgbClr val="2D092F"/>
                          </a:solidFill>
                          <a:latin typeface="Montserrat Medium"/>
                          <a:ea typeface="Montserrat Medium"/>
                          <a:cs typeface="Montserrat Medium"/>
                          <a:sym typeface="Montserrat Medium"/>
                        </a:rPr>
                        <a:t>Card Sorting</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Site Maps</a:t>
                      </a:r>
                      <a:endParaRPr sz="800">
                        <a:solidFill>
                          <a:srgbClr val="2D092F"/>
                        </a:solidFill>
                        <a:latin typeface="Montserrat Medium"/>
                        <a:ea typeface="Montserrat Medium"/>
                        <a:cs typeface="Montserrat Medium"/>
                        <a:sym typeface="Montserrat Medium"/>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87150"/>
                      </a:srgbClr>
                    </a:solidFill>
                  </a:tcPr>
                </a:tc>
                <a:tc>
                  <a:txBody>
                    <a:bodyPr/>
                    <a:lstStyle/>
                    <a:p>
                      <a:pPr indent="0" lvl="0" marL="0" rtl="0" algn="ctr">
                        <a:spcBef>
                          <a:spcPts val="0"/>
                        </a:spcBef>
                        <a:spcAft>
                          <a:spcPts val="0"/>
                        </a:spcAft>
                        <a:buClr>
                          <a:schemeClr val="dk1"/>
                        </a:buClr>
                        <a:buSzPts val="1100"/>
                        <a:buFont typeface="Arial"/>
                        <a:buNone/>
                      </a:pPr>
                      <a:r>
                        <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Clr>
                          <a:schemeClr val="dk1"/>
                        </a:buClr>
                        <a:buSzPts val="1100"/>
                        <a:buFont typeface="Arial"/>
                        <a:buNone/>
                      </a:pPr>
                      <a:r>
                        <a:rPr lang="en" sz="800">
                          <a:solidFill>
                            <a:srgbClr val="2D092F"/>
                          </a:solidFill>
                          <a:latin typeface="Montserrat Medium"/>
                          <a:ea typeface="Montserrat Medium"/>
                          <a:cs typeface="Montserrat Medium"/>
                          <a:sym typeface="Montserrat Medium"/>
                        </a:rPr>
                        <a:t>To include in your process:</a:t>
                      </a:r>
                      <a:br>
                        <a:rPr lang="en" sz="800">
                          <a:solidFill>
                            <a:srgbClr val="2D092F"/>
                          </a:solidFill>
                          <a:latin typeface="Montserrat Medium"/>
                          <a:ea typeface="Montserrat Medium"/>
                          <a:cs typeface="Montserrat Medium"/>
                          <a:sym typeface="Montserrat Medium"/>
                        </a:rPr>
                      </a:b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Wireframes</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Lo-fi Designs</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t/>
                      </a:r>
                      <a:endParaRPr sz="1200">
                        <a:solidFill>
                          <a:srgbClr val="2D092F"/>
                        </a:solidFill>
                        <a:latin typeface="Montserrat Medium"/>
                        <a:ea typeface="Montserrat Medium"/>
                        <a:cs typeface="Montserrat Medium"/>
                        <a:sym typeface="Montserrat Medium"/>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accent4"/>
                    </a:solidFill>
                  </a:tcPr>
                </a:tc>
              </a:tr>
            </a:tbl>
          </a:graphicData>
        </a:graphic>
      </p:graphicFrame>
      <p:sp>
        <p:nvSpPr>
          <p:cNvPr id="177" name="Google Shape;177;p27"/>
          <p:cNvSpPr/>
          <p:nvPr/>
        </p:nvSpPr>
        <p:spPr>
          <a:xfrm>
            <a:off x="7291327" y="2761450"/>
            <a:ext cx="1161300" cy="48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421E44"/>
                </a:solidFill>
              </a:rPr>
              <a:t>Lo-Fi Screens</a:t>
            </a:r>
            <a:endParaRPr b="1" sz="1000">
              <a:solidFill>
                <a:srgbClr val="421E44"/>
              </a:solidFill>
            </a:endParaRPr>
          </a:p>
        </p:txBody>
      </p:sp>
      <p:sp>
        <p:nvSpPr>
          <p:cNvPr id="178" name="Google Shape;178;p27"/>
          <p:cNvSpPr/>
          <p:nvPr/>
        </p:nvSpPr>
        <p:spPr>
          <a:xfrm>
            <a:off x="7860050" y="3389466"/>
            <a:ext cx="154800" cy="165900"/>
          </a:xfrm>
          <a:prstGeom prst="ellipse">
            <a:avLst/>
          </a:prstGeom>
          <a:solidFill>
            <a:srgbClr val="F6F8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7"/>
          <p:cNvSpPr txBox="1"/>
          <p:nvPr/>
        </p:nvSpPr>
        <p:spPr>
          <a:xfrm>
            <a:off x="442425" y="865350"/>
            <a:ext cx="7305300" cy="600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b="1" lang="en" sz="1800">
                <a:solidFill>
                  <a:srgbClr val="743673"/>
                </a:solidFill>
                <a:highlight>
                  <a:schemeClr val="lt1"/>
                </a:highlight>
                <a:latin typeface="Montserrat"/>
                <a:ea typeface="Montserrat"/>
                <a:cs typeface="Montserrat"/>
                <a:sym typeface="Montserrat"/>
              </a:rPr>
              <a:t>Roadmap (Sprint 1)</a:t>
            </a:r>
            <a:endParaRPr b="1" sz="18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1000"/>
              </a:spcBef>
              <a:spcAft>
                <a:spcPts val="0"/>
              </a:spcAft>
              <a:buClr>
                <a:schemeClr val="dk1"/>
              </a:buClr>
              <a:buSzPts val="1100"/>
              <a:buFont typeface="Arial"/>
              <a:buNone/>
            </a:pPr>
            <a:r>
              <a:rPr lang="en" sz="1000">
                <a:solidFill>
                  <a:schemeClr val="dk1"/>
                </a:solidFill>
                <a:highlight>
                  <a:schemeClr val="lt1"/>
                </a:highlight>
                <a:latin typeface="Montserrat Medium"/>
                <a:ea typeface="Montserrat Medium"/>
                <a:cs typeface="Montserrat Medium"/>
                <a:sym typeface="Montserrat Medium"/>
              </a:rPr>
              <a:t>Berikut ini agenda harian yang perlu kamu lakukan dalam setiap sprint.</a:t>
            </a:r>
            <a:endParaRPr sz="1000">
              <a:solidFill>
                <a:schemeClr val="dk1"/>
              </a:solidFill>
              <a:highlight>
                <a:schemeClr val="lt1"/>
              </a:highlight>
              <a:latin typeface="Montserrat Medium"/>
              <a:ea typeface="Montserrat Medium"/>
              <a:cs typeface="Montserrat Medium"/>
              <a:sym typeface="Montserrat Medium"/>
            </a:endParaRPr>
          </a:p>
        </p:txBody>
      </p:sp>
      <p:sp>
        <p:nvSpPr>
          <p:cNvPr id="180" name="Google Shape;180;p27"/>
          <p:cNvSpPr/>
          <p:nvPr/>
        </p:nvSpPr>
        <p:spPr>
          <a:xfrm>
            <a:off x="821325" y="1544463"/>
            <a:ext cx="7772100" cy="1071900"/>
          </a:xfrm>
          <a:prstGeom prst="rect">
            <a:avLst/>
          </a:prstGeom>
          <a:solidFill>
            <a:schemeClr val="accent1"/>
          </a:solidFill>
          <a:ln cap="flat" cmpd="sng" w="19050">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en" sz="800">
                <a:solidFill>
                  <a:srgbClr val="2D092F"/>
                </a:solidFill>
                <a:latin typeface="Montserrat Medium"/>
                <a:ea typeface="Montserrat Medium"/>
                <a:cs typeface="Montserrat Medium"/>
                <a:sym typeface="Montserrat Medium"/>
              </a:rPr>
              <a:t>To include in your process:</a:t>
            </a:r>
            <a:endParaRPr sz="800">
              <a:solidFill>
                <a:srgbClr val="2D092F"/>
              </a:solidFill>
              <a:latin typeface="Montserrat Medium"/>
              <a:ea typeface="Montserrat Medium"/>
              <a:cs typeface="Montserrat Medium"/>
              <a:sym typeface="Montserrat Medium"/>
            </a:endParaRPr>
          </a:p>
          <a:p>
            <a:pPr indent="0" lvl="0" marL="0" rtl="0" algn="ctr">
              <a:lnSpc>
                <a:spcPct val="115000"/>
              </a:lnSpc>
              <a:spcBef>
                <a:spcPts val="0"/>
              </a:spcBef>
              <a:spcAft>
                <a:spcPts val="0"/>
              </a:spcAft>
              <a:buClr>
                <a:schemeClr val="dk1"/>
              </a:buClr>
              <a:buSzPts val="1100"/>
              <a:buFont typeface="Arial"/>
              <a:buNone/>
            </a:pPr>
            <a:r>
              <a:t/>
            </a:r>
            <a:endParaRPr sz="800">
              <a:solidFill>
                <a:srgbClr val="2D092F"/>
              </a:solidFill>
              <a:latin typeface="Montserrat Medium"/>
              <a:ea typeface="Montserrat Medium"/>
              <a:cs typeface="Montserrat Medium"/>
              <a:sym typeface="Montserrat Medium"/>
            </a:endParaRPr>
          </a:p>
          <a:p>
            <a:pPr indent="-222250" lvl="0" marL="457200" rtl="0" algn="ctr">
              <a:lnSpc>
                <a:spcPct val="115000"/>
              </a:lnSpc>
              <a:spcBef>
                <a:spcPts val="0"/>
              </a:spcBef>
              <a:spcAft>
                <a:spcPts val="0"/>
              </a:spcAft>
              <a:buClr>
                <a:srgbClr val="2D092F"/>
              </a:buClr>
              <a:buSzPts val="800"/>
              <a:buFont typeface="Montserrat Medium"/>
              <a:buChar char="●"/>
            </a:pPr>
            <a:r>
              <a:rPr lang="en" sz="800">
                <a:solidFill>
                  <a:srgbClr val="2D092F"/>
                </a:solidFill>
                <a:latin typeface="Montserrat Medium"/>
                <a:ea typeface="Montserrat Medium"/>
                <a:cs typeface="Montserrat Medium"/>
                <a:sym typeface="Montserrat Medium"/>
              </a:rPr>
              <a:t>Market Research (Inc. Benchmarking, Prioritization of Problem and Solution) </a:t>
            </a:r>
            <a:endParaRPr sz="800">
              <a:solidFill>
                <a:srgbClr val="2D092F"/>
              </a:solidFill>
              <a:latin typeface="Montserrat Medium"/>
              <a:ea typeface="Montserrat Medium"/>
              <a:cs typeface="Montserrat Medium"/>
              <a:sym typeface="Montserrat Medium"/>
            </a:endParaRPr>
          </a:p>
          <a:p>
            <a:pPr indent="-222250" lvl="0" marL="457200" rtl="0" algn="ctr">
              <a:lnSpc>
                <a:spcPct val="115000"/>
              </a:lnSpc>
              <a:spcBef>
                <a:spcPts val="0"/>
              </a:spcBef>
              <a:spcAft>
                <a:spcPts val="0"/>
              </a:spcAft>
              <a:buClr>
                <a:srgbClr val="2D092F"/>
              </a:buClr>
              <a:buSzPts val="800"/>
              <a:buFont typeface="Montserrat Medium"/>
              <a:buChar char="●"/>
            </a:pPr>
            <a:r>
              <a:rPr lang="en" sz="800">
                <a:solidFill>
                  <a:srgbClr val="2D092F"/>
                </a:solidFill>
                <a:latin typeface="Montserrat Medium"/>
                <a:ea typeface="Montserrat Medium"/>
                <a:cs typeface="Montserrat Medium"/>
                <a:sym typeface="Montserrat Medium"/>
              </a:rPr>
              <a:t>Product Metrics that they want to achieve.</a:t>
            </a:r>
            <a:endParaRPr sz="800">
              <a:solidFill>
                <a:srgbClr val="2D092F"/>
              </a:solidFill>
              <a:latin typeface="Montserrat Medium"/>
              <a:ea typeface="Montserrat Medium"/>
              <a:cs typeface="Montserrat Medium"/>
              <a:sym typeface="Montserrat Medium"/>
            </a:endParaRPr>
          </a:p>
          <a:p>
            <a:pPr indent="-222250" lvl="0" marL="457200" rtl="0" algn="ctr">
              <a:lnSpc>
                <a:spcPct val="115000"/>
              </a:lnSpc>
              <a:spcBef>
                <a:spcPts val="0"/>
              </a:spcBef>
              <a:spcAft>
                <a:spcPts val="0"/>
              </a:spcAft>
              <a:buClr>
                <a:srgbClr val="2D092F"/>
              </a:buClr>
              <a:buSzPts val="800"/>
              <a:buFont typeface="Montserrat Medium"/>
              <a:buChar char="●"/>
            </a:pPr>
            <a:r>
              <a:rPr lang="en" sz="800">
                <a:solidFill>
                  <a:srgbClr val="2D092F"/>
                </a:solidFill>
                <a:latin typeface="Montserrat Medium"/>
                <a:ea typeface="Montserrat Medium"/>
                <a:cs typeface="Montserrat Medium"/>
                <a:sym typeface="Montserrat Medium"/>
              </a:rPr>
              <a:t>Product Roadmap for 2 Sprints Cycle ahead</a:t>
            </a:r>
            <a:endParaRPr sz="800">
              <a:solidFill>
                <a:srgbClr val="2D092F"/>
              </a:solidFill>
              <a:latin typeface="Montserrat Medium"/>
              <a:ea typeface="Montserrat Medium"/>
              <a:cs typeface="Montserrat Medium"/>
              <a:sym typeface="Montserrat Medium"/>
            </a:endParaRPr>
          </a:p>
          <a:p>
            <a:pPr indent="-222250" lvl="0" marL="457200" rtl="0" algn="ctr">
              <a:lnSpc>
                <a:spcPct val="115000"/>
              </a:lnSpc>
              <a:spcBef>
                <a:spcPts val="0"/>
              </a:spcBef>
              <a:spcAft>
                <a:spcPts val="0"/>
              </a:spcAft>
              <a:buClr>
                <a:srgbClr val="2D092F"/>
              </a:buClr>
              <a:buSzPts val="800"/>
              <a:buFont typeface="Montserrat Medium"/>
              <a:buChar char="●"/>
            </a:pPr>
            <a:r>
              <a:rPr lang="en" sz="800">
                <a:solidFill>
                  <a:srgbClr val="2D092F"/>
                </a:solidFill>
                <a:latin typeface="Montserrat Medium"/>
                <a:ea typeface="Montserrat Medium"/>
                <a:cs typeface="Montserrat Medium"/>
                <a:sym typeface="Montserrat Medium"/>
              </a:rPr>
              <a:t>Add User Scenario Testing Document for very first product/MVP</a:t>
            </a:r>
            <a:endParaRPr sz="800">
              <a:solidFill>
                <a:srgbClr val="2D092F"/>
              </a:solidFill>
              <a:latin typeface="Montserrat Medium"/>
              <a:ea typeface="Montserrat Medium"/>
              <a:cs typeface="Montserrat Medium"/>
              <a:sym typeface="Montserrat Medium"/>
            </a:endParaRPr>
          </a:p>
          <a:p>
            <a:pPr indent="-222250" lvl="0" marL="457200" rtl="0" algn="ctr">
              <a:lnSpc>
                <a:spcPct val="115000"/>
              </a:lnSpc>
              <a:spcBef>
                <a:spcPts val="0"/>
              </a:spcBef>
              <a:spcAft>
                <a:spcPts val="0"/>
              </a:spcAft>
              <a:buClr>
                <a:srgbClr val="2D092F"/>
              </a:buClr>
              <a:buSzPts val="800"/>
              <a:buFont typeface="Montserrat Medium"/>
              <a:buChar char="●"/>
            </a:pPr>
            <a:r>
              <a:rPr lang="en" sz="800">
                <a:solidFill>
                  <a:srgbClr val="2D092F"/>
                </a:solidFill>
                <a:latin typeface="Montserrat Medium"/>
                <a:ea typeface="Montserrat Medium"/>
                <a:cs typeface="Montserrat Medium"/>
                <a:sym typeface="Montserrat Medium"/>
              </a:rPr>
              <a:t>PRD every sprint</a:t>
            </a:r>
            <a:endParaRPr sz="800">
              <a:solidFill>
                <a:srgbClr val="2D092F"/>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600">
              <a:solidFill>
                <a:srgbClr val="512252"/>
              </a:solidFill>
              <a:latin typeface="Montserrat Medium"/>
              <a:ea typeface="Montserrat Medium"/>
              <a:cs typeface="Montserrat Medium"/>
              <a:sym typeface="Montserrat Medium"/>
            </a:endParaRPr>
          </a:p>
          <a:p>
            <a:pPr indent="0" lvl="0" marL="0" rtl="0" algn="ctr">
              <a:spcBef>
                <a:spcPts val="0"/>
              </a:spcBef>
              <a:spcAft>
                <a:spcPts val="0"/>
              </a:spcAft>
              <a:buNone/>
            </a:pPr>
            <a:r>
              <a:t/>
            </a:r>
            <a:endParaRPr b="1" sz="1000">
              <a:solidFill>
                <a:srgbClr val="421E44"/>
              </a:solidFill>
            </a:endParaRPr>
          </a:p>
        </p:txBody>
      </p:sp>
      <p:sp>
        <p:nvSpPr>
          <p:cNvPr id="181" name="Google Shape;181;p27"/>
          <p:cNvSpPr/>
          <p:nvPr/>
        </p:nvSpPr>
        <p:spPr>
          <a:xfrm>
            <a:off x="1070477" y="2761450"/>
            <a:ext cx="1161300" cy="48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421E44"/>
                </a:solidFill>
              </a:rPr>
              <a:t>Define the problem</a:t>
            </a:r>
            <a:endParaRPr b="1" sz="1000">
              <a:solidFill>
                <a:srgbClr val="421E44"/>
              </a:solidFill>
            </a:endParaRPr>
          </a:p>
        </p:txBody>
      </p:sp>
      <p:sp>
        <p:nvSpPr>
          <p:cNvPr id="182" name="Google Shape;182;p27"/>
          <p:cNvSpPr/>
          <p:nvPr/>
        </p:nvSpPr>
        <p:spPr>
          <a:xfrm>
            <a:off x="2648552" y="2761450"/>
            <a:ext cx="1161300" cy="48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421E44"/>
                </a:solidFill>
              </a:rPr>
              <a:t>Data Collection &amp; Synthesis</a:t>
            </a:r>
            <a:endParaRPr b="1" sz="1000">
              <a:solidFill>
                <a:srgbClr val="421E44"/>
              </a:solidFill>
            </a:endParaRPr>
          </a:p>
        </p:txBody>
      </p:sp>
      <p:sp>
        <p:nvSpPr>
          <p:cNvPr id="183" name="Google Shape;183;p27"/>
          <p:cNvSpPr/>
          <p:nvPr/>
        </p:nvSpPr>
        <p:spPr>
          <a:xfrm>
            <a:off x="4143752" y="2761450"/>
            <a:ext cx="1161300" cy="48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421E44"/>
                </a:solidFill>
              </a:rPr>
              <a:t>Define User</a:t>
            </a:r>
            <a:endParaRPr b="1" sz="1000">
              <a:solidFill>
                <a:srgbClr val="421E44"/>
              </a:solidFill>
            </a:endParaRPr>
          </a:p>
        </p:txBody>
      </p:sp>
      <p:sp>
        <p:nvSpPr>
          <p:cNvPr id="184" name="Google Shape;184;p27"/>
          <p:cNvSpPr/>
          <p:nvPr/>
        </p:nvSpPr>
        <p:spPr>
          <a:xfrm>
            <a:off x="5745202" y="2761450"/>
            <a:ext cx="1161300" cy="48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421E44"/>
                </a:solidFill>
              </a:rPr>
              <a:t>Ideate Solution</a:t>
            </a:r>
            <a:endParaRPr b="1" sz="1000">
              <a:solidFill>
                <a:srgbClr val="421E44"/>
              </a:solidFill>
            </a:endParaRPr>
          </a:p>
        </p:txBody>
      </p:sp>
      <p:sp>
        <p:nvSpPr>
          <p:cNvPr id="185" name="Google Shape;185;p27"/>
          <p:cNvSpPr/>
          <p:nvPr/>
        </p:nvSpPr>
        <p:spPr>
          <a:xfrm>
            <a:off x="1583875" y="3389466"/>
            <a:ext cx="154800" cy="165900"/>
          </a:xfrm>
          <a:prstGeom prst="ellipse">
            <a:avLst/>
          </a:prstGeom>
          <a:solidFill>
            <a:srgbClr val="F6F8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7"/>
          <p:cNvSpPr/>
          <p:nvPr/>
        </p:nvSpPr>
        <p:spPr>
          <a:xfrm>
            <a:off x="3161950" y="3389466"/>
            <a:ext cx="154800" cy="165900"/>
          </a:xfrm>
          <a:prstGeom prst="ellipse">
            <a:avLst/>
          </a:prstGeom>
          <a:solidFill>
            <a:srgbClr val="F6F8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7"/>
          <p:cNvSpPr/>
          <p:nvPr/>
        </p:nvSpPr>
        <p:spPr>
          <a:xfrm>
            <a:off x="4657150" y="3389466"/>
            <a:ext cx="154800" cy="165900"/>
          </a:xfrm>
          <a:prstGeom prst="ellipse">
            <a:avLst/>
          </a:prstGeom>
          <a:solidFill>
            <a:srgbClr val="F6F8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7"/>
          <p:cNvSpPr/>
          <p:nvPr/>
        </p:nvSpPr>
        <p:spPr>
          <a:xfrm>
            <a:off x="6258600" y="3389466"/>
            <a:ext cx="154800" cy="165900"/>
          </a:xfrm>
          <a:prstGeom prst="ellipse">
            <a:avLst/>
          </a:prstGeom>
          <a:solidFill>
            <a:srgbClr val="F6F8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7"/>
          <p:cNvSpPr/>
          <p:nvPr/>
        </p:nvSpPr>
        <p:spPr>
          <a:xfrm rot="-5400000">
            <a:off x="102975" y="1905275"/>
            <a:ext cx="1057800" cy="378900"/>
          </a:xfrm>
          <a:prstGeom prst="rect">
            <a:avLst/>
          </a:prstGeom>
          <a:solidFill>
            <a:srgbClr val="7436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Montserrat Medium"/>
                <a:ea typeface="Montserrat Medium"/>
                <a:cs typeface="Montserrat Medium"/>
                <a:sym typeface="Montserrat Medium"/>
              </a:rPr>
              <a:t>Product Manager</a:t>
            </a:r>
            <a:endParaRPr sz="1100">
              <a:solidFill>
                <a:schemeClr val="lt1"/>
              </a:solidFill>
            </a:endParaRPr>
          </a:p>
        </p:txBody>
      </p:sp>
      <p:sp>
        <p:nvSpPr>
          <p:cNvPr id="190" name="Google Shape;190;p27"/>
          <p:cNvSpPr/>
          <p:nvPr/>
        </p:nvSpPr>
        <p:spPr>
          <a:xfrm rot="-5400000">
            <a:off x="-491025" y="3628025"/>
            <a:ext cx="2245800" cy="378900"/>
          </a:xfrm>
          <a:prstGeom prst="rect">
            <a:avLst/>
          </a:prstGeom>
          <a:solidFill>
            <a:srgbClr val="7436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Montserrat Medium"/>
                <a:ea typeface="Montserrat Medium"/>
                <a:cs typeface="Montserrat Medium"/>
                <a:sym typeface="Montserrat Medium"/>
              </a:rPr>
              <a:t>UI/UX</a:t>
            </a:r>
            <a:endParaRPr sz="1100">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8"/>
          <p:cNvSpPr/>
          <p:nvPr/>
        </p:nvSpPr>
        <p:spPr>
          <a:xfrm>
            <a:off x="871300" y="1414525"/>
            <a:ext cx="7695900" cy="1015800"/>
          </a:xfrm>
          <a:prstGeom prst="rect">
            <a:avLst/>
          </a:prstGeom>
          <a:solidFill>
            <a:schemeClr val="accent1"/>
          </a:solidFill>
          <a:ln cap="flat" cmpd="sng" w="19050">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sz="800">
                <a:solidFill>
                  <a:srgbClr val="2D092F"/>
                </a:solidFill>
                <a:latin typeface="Montserrat Medium"/>
                <a:ea typeface="Montserrat Medium"/>
                <a:cs typeface="Montserrat Medium"/>
                <a:sym typeface="Montserrat Medium"/>
              </a:rPr>
              <a:t>To include in your process:</a:t>
            </a:r>
            <a:endParaRPr sz="800">
              <a:solidFill>
                <a:srgbClr val="2D092F"/>
              </a:solidFill>
              <a:latin typeface="Montserrat Medium"/>
              <a:ea typeface="Montserrat Medium"/>
              <a:cs typeface="Montserrat Medium"/>
              <a:sym typeface="Montserrat Medium"/>
            </a:endParaRPr>
          </a:p>
          <a:p>
            <a:pPr indent="0" lvl="0" marL="0" rtl="0" algn="ctr">
              <a:lnSpc>
                <a:spcPct val="115000"/>
              </a:lnSpc>
              <a:spcBef>
                <a:spcPts val="0"/>
              </a:spcBef>
              <a:spcAft>
                <a:spcPts val="0"/>
              </a:spcAft>
              <a:buClr>
                <a:schemeClr val="dk1"/>
              </a:buClr>
              <a:buSzPts val="1100"/>
              <a:buFont typeface="Arial"/>
              <a:buNone/>
            </a:pPr>
            <a:r>
              <a:t/>
            </a:r>
            <a:endParaRPr sz="800">
              <a:solidFill>
                <a:srgbClr val="2D092F"/>
              </a:solidFill>
              <a:latin typeface="Montserrat Medium"/>
              <a:ea typeface="Montserrat Medium"/>
              <a:cs typeface="Montserrat Medium"/>
              <a:sym typeface="Montserrat Medium"/>
            </a:endParaRPr>
          </a:p>
          <a:p>
            <a:pPr indent="-279400" lvl="0" marL="457200" rtl="0" algn="ctr">
              <a:lnSpc>
                <a:spcPct val="115000"/>
              </a:lnSpc>
              <a:spcBef>
                <a:spcPts val="0"/>
              </a:spcBef>
              <a:spcAft>
                <a:spcPts val="0"/>
              </a:spcAft>
              <a:buClr>
                <a:srgbClr val="2D092F"/>
              </a:buClr>
              <a:buSzPts val="800"/>
              <a:buFont typeface="Montserrat Medium"/>
              <a:buChar char="●"/>
            </a:pPr>
            <a:r>
              <a:rPr lang="en" sz="800">
                <a:solidFill>
                  <a:srgbClr val="2D092F"/>
                </a:solidFill>
                <a:latin typeface="Montserrat Medium"/>
                <a:ea typeface="Montserrat Medium"/>
                <a:cs typeface="Montserrat Medium"/>
                <a:sym typeface="Montserrat Medium"/>
              </a:rPr>
              <a:t>Assume that product version 1 has become working software. After getting the prototype and as if it is already working and getting feedback, it can be used as a development (revamp) in version 2</a:t>
            </a:r>
            <a:endParaRPr sz="800">
              <a:solidFill>
                <a:srgbClr val="2D092F"/>
              </a:solidFill>
              <a:latin typeface="Montserrat Medium"/>
              <a:ea typeface="Montserrat Medium"/>
              <a:cs typeface="Montserrat Medium"/>
              <a:sym typeface="Montserrat Medium"/>
            </a:endParaRPr>
          </a:p>
          <a:p>
            <a:pPr indent="-279400" lvl="0" marL="457200" rtl="0" algn="ctr">
              <a:lnSpc>
                <a:spcPct val="115000"/>
              </a:lnSpc>
              <a:spcBef>
                <a:spcPts val="0"/>
              </a:spcBef>
              <a:spcAft>
                <a:spcPts val="0"/>
              </a:spcAft>
              <a:buClr>
                <a:srgbClr val="2D092F"/>
              </a:buClr>
              <a:buSzPts val="800"/>
              <a:buFont typeface="Montserrat Medium"/>
              <a:buChar char="●"/>
            </a:pPr>
            <a:r>
              <a:rPr lang="en" sz="800">
                <a:solidFill>
                  <a:srgbClr val="2D092F"/>
                </a:solidFill>
                <a:latin typeface="Montserrat Medium"/>
                <a:ea typeface="Montserrat Medium"/>
                <a:cs typeface="Montserrat Medium"/>
                <a:sym typeface="Montserrat Medium"/>
              </a:rPr>
              <a:t>Give documentation the testing scenario</a:t>
            </a:r>
            <a:endParaRPr sz="800">
              <a:solidFill>
                <a:srgbClr val="2D092F"/>
              </a:solidFill>
              <a:latin typeface="Montserrat Medium"/>
              <a:ea typeface="Montserrat Medium"/>
              <a:cs typeface="Montserrat Medium"/>
              <a:sym typeface="Montserrat Medium"/>
            </a:endParaRPr>
          </a:p>
          <a:p>
            <a:pPr indent="-279400" lvl="0" marL="457200" rtl="0" algn="ctr">
              <a:lnSpc>
                <a:spcPct val="115000"/>
              </a:lnSpc>
              <a:spcBef>
                <a:spcPts val="0"/>
              </a:spcBef>
              <a:spcAft>
                <a:spcPts val="0"/>
              </a:spcAft>
              <a:buClr>
                <a:srgbClr val="2D092F"/>
              </a:buClr>
              <a:buSzPts val="800"/>
              <a:buFont typeface="Montserrat Medium"/>
              <a:buChar char="●"/>
            </a:pPr>
            <a:r>
              <a:rPr lang="en" sz="800">
                <a:solidFill>
                  <a:srgbClr val="2D092F"/>
                </a:solidFill>
                <a:latin typeface="Montserrat Medium"/>
                <a:ea typeface="Montserrat Medium"/>
                <a:cs typeface="Montserrat Medium"/>
                <a:sym typeface="Montserrat Medium"/>
              </a:rPr>
              <a:t>Final Design HiFi (Prototype) -&gt; Versi 1 (Minimum Viable Product)</a:t>
            </a:r>
            <a:endParaRPr sz="800">
              <a:solidFill>
                <a:srgbClr val="2D092F"/>
              </a:solidFill>
              <a:latin typeface="Montserrat Medium"/>
              <a:ea typeface="Montserrat Medium"/>
              <a:cs typeface="Montserrat Medium"/>
              <a:sym typeface="Montserrat Medium"/>
            </a:endParaRPr>
          </a:p>
        </p:txBody>
      </p:sp>
      <p:sp>
        <p:nvSpPr>
          <p:cNvPr id="196" name="Google Shape;196;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7" name="Google Shape;197;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Roadmap</a:t>
            </a:r>
            <a:endParaRPr/>
          </a:p>
        </p:txBody>
      </p:sp>
      <p:sp>
        <p:nvSpPr>
          <p:cNvPr id="198" name="Google Shape;198;p28"/>
          <p:cNvSpPr txBox="1"/>
          <p:nvPr/>
        </p:nvSpPr>
        <p:spPr>
          <a:xfrm>
            <a:off x="442425" y="905125"/>
            <a:ext cx="7305300" cy="27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Clr>
                <a:schemeClr val="dk1"/>
              </a:buClr>
              <a:buSzPts val="1100"/>
              <a:buFont typeface="Arial"/>
              <a:buNone/>
            </a:pPr>
            <a:r>
              <a:rPr b="1" lang="en" sz="1800">
                <a:solidFill>
                  <a:srgbClr val="743673"/>
                </a:solidFill>
                <a:highlight>
                  <a:schemeClr val="lt1"/>
                </a:highlight>
                <a:latin typeface="Montserrat"/>
                <a:ea typeface="Montserrat"/>
                <a:cs typeface="Montserrat"/>
                <a:sym typeface="Montserrat"/>
              </a:rPr>
              <a:t>Roadmap (Sprint 2)</a:t>
            </a:r>
            <a:endParaRPr sz="1200">
              <a:solidFill>
                <a:schemeClr val="dk1"/>
              </a:solidFill>
              <a:latin typeface="Raleway Medium"/>
              <a:ea typeface="Raleway Medium"/>
              <a:cs typeface="Raleway Medium"/>
              <a:sym typeface="Raleway Medium"/>
            </a:endParaRPr>
          </a:p>
        </p:txBody>
      </p:sp>
      <p:graphicFrame>
        <p:nvGraphicFramePr>
          <p:cNvPr id="199" name="Google Shape;199;p28"/>
          <p:cNvGraphicFramePr/>
          <p:nvPr/>
        </p:nvGraphicFramePr>
        <p:xfrm>
          <a:off x="871309" y="2488425"/>
          <a:ext cx="3000000" cy="3000000"/>
        </p:xfrm>
        <a:graphic>
          <a:graphicData uri="http://schemas.openxmlformats.org/drawingml/2006/table">
            <a:tbl>
              <a:tblPr>
                <a:noFill/>
                <a:tableStyleId>{C00E7B77-135D-4733-9814-72F36B352F7F}</a:tableStyleId>
              </a:tblPr>
              <a:tblGrid>
                <a:gridCol w="1539175"/>
                <a:gridCol w="1539175"/>
                <a:gridCol w="1539175"/>
                <a:gridCol w="1539175"/>
                <a:gridCol w="1539175"/>
              </a:tblGrid>
              <a:tr h="744650">
                <a:tc>
                  <a:txBody>
                    <a:bodyPr/>
                    <a:lstStyle/>
                    <a:p>
                      <a:pPr indent="0" lvl="0" marL="0" rtl="0" algn="ctr">
                        <a:spcBef>
                          <a:spcPts val="0"/>
                        </a:spcBef>
                        <a:spcAft>
                          <a:spcPts val="0"/>
                        </a:spcAft>
                        <a:buNone/>
                      </a:pPr>
                      <a:r>
                        <a:t/>
                      </a:r>
                      <a:endParaRPr b="1">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43580"/>
                      </a:srgbClr>
                    </a:solidFill>
                  </a:tcPr>
                </a:tc>
                <a:tc>
                  <a:txBody>
                    <a:bodyPr/>
                    <a:lstStyle/>
                    <a:p>
                      <a:pPr indent="0" lvl="0" marL="0" rtl="0" algn="ctr">
                        <a:spcBef>
                          <a:spcPts val="0"/>
                        </a:spcBef>
                        <a:spcAft>
                          <a:spcPts val="0"/>
                        </a:spcAft>
                        <a:buNone/>
                      </a:pPr>
                      <a:r>
                        <a:t/>
                      </a:r>
                      <a:endParaRPr b="1">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59220"/>
                      </a:srgbClr>
                    </a:solidFill>
                  </a:tcPr>
                </a:tc>
                <a:tc>
                  <a:txBody>
                    <a:bodyPr/>
                    <a:lstStyle/>
                    <a:p>
                      <a:pPr indent="0" lvl="0" marL="0" rtl="0" algn="ctr">
                        <a:spcBef>
                          <a:spcPts val="0"/>
                        </a:spcBef>
                        <a:spcAft>
                          <a:spcPts val="0"/>
                        </a:spcAft>
                        <a:buNone/>
                      </a:pPr>
                      <a:r>
                        <a:t/>
                      </a:r>
                      <a:endParaRPr b="1">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73740"/>
                      </a:srgbClr>
                    </a:solidFill>
                  </a:tcPr>
                </a:tc>
                <a:tc>
                  <a:txBody>
                    <a:bodyPr/>
                    <a:lstStyle/>
                    <a:p>
                      <a:pPr indent="0" lvl="0" marL="0" rtl="0" algn="ctr">
                        <a:spcBef>
                          <a:spcPts val="0"/>
                        </a:spcBef>
                        <a:spcAft>
                          <a:spcPts val="0"/>
                        </a:spcAft>
                        <a:buNone/>
                      </a:pPr>
                      <a:r>
                        <a:t/>
                      </a:r>
                      <a:endParaRPr b="1">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87150"/>
                      </a:srgbClr>
                    </a:solidFill>
                  </a:tcPr>
                </a:tc>
                <a:tc>
                  <a:txBody>
                    <a:bodyPr/>
                    <a:lstStyle/>
                    <a:p>
                      <a:pPr indent="0" lvl="0" marL="0" rtl="0" algn="ctr">
                        <a:spcBef>
                          <a:spcPts val="0"/>
                        </a:spcBef>
                        <a:spcAft>
                          <a:spcPts val="0"/>
                        </a:spcAft>
                        <a:buNone/>
                      </a:pPr>
                      <a:r>
                        <a:t/>
                      </a:r>
                      <a:endParaRPr b="1">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accent4"/>
                    </a:solidFill>
                  </a:tcPr>
                </a:tc>
              </a:tr>
              <a:tr h="1314250">
                <a:tc>
                  <a:txBody>
                    <a:bodyPr/>
                    <a:lstStyle/>
                    <a:p>
                      <a:pPr indent="0" lvl="0" marL="0" rtl="0" algn="l">
                        <a:spcBef>
                          <a:spcPts val="0"/>
                        </a:spcBef>
                        <a:spcAft>
                          <a:spcPts val="0"/>
                        </a:spcAft>
                        <a:buNone/>
                      </a:pPr>
                      <a:r>
                        <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To include in your process:</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Test</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Analyse Results / Feedbacks</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Iterate</a:t>
                      </a:r>
                      <a:endParaRPr sz="800">
                        <a:solidFill>
                          <a:srgbClr val="2D092F"/>
                        </a:solidFill>
                        <a:latin typeface="Montserrat Medium"/>
                        <a:ea typeface="Montserrat Medium"/>
                        <a:cs typeface="Montserrat Medium"/>
                        <a:sym typeface="Montserrat Medium"/>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43580"/>
                      </a:srgbClr>
                    </a:solidFill>
                  </a:tcPr>
                </a:tc>
                <a:tc>
                  <a:txBody>
                    <a:bodyPr/>
                    <a:lstStyle/>
                    <a:p>
                      <a:pPr indent="0" lvl="0" marL="0" rtl="0" algn="ctr">
                        <a:spcBef>
                          <a:spcPts val="0"/>
                        </a:spcBef>
                        <a:spcAft>
                          <a:spcPts val="0"/>
                        </a:spcAft>
                        <a:buNone/>
                      </a:pPr>
                      <a:r>
                        <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To include in your process:</a:t>
                      </a:r>
                      <a:br>
                        <a:rPr lang="en" sz="800">
                          <a:solidFill>
                            <a:srgbClr val="2D092F"/>
                          </a:solidFill>
                          <a:latin typeface="Montserrat Medium"/>
                          <a:ea typeface="Montserrat Medium"/>
                          <a:cs typeface="Montserrat Medium"/>
                          <a:sym typeface="Montserrat Medium"/>
                        </a:rPr>
                      </a:b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Moodboards</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Color Options</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Look &amp; Feel Options</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Brand Attributes</a:t>
                      </a:r>
                      <a:endParaRPr sz="1200">
                        <a:solidFill>
                          <a:srgbClr val="2D092F"/>
                        </a:solidFill>
                        <a:latin typeface="Montserrat Medium"/>
                        <a:ea typeface="Montserrat Medium"/>
                        <a:cs typeface="Montserrat Medium"/>
                        <a:sym typeface="Montserrat Medium"/>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59220"/>
                      </a:srgbClr>
                    </a:solidFill>
                  </a:tcPr>
                </a:tc>
                <a:tc>
                  <a:txBody>
                    <a:bodyPr/>
                    <a:lstStyle/>
                    <a:p>
                      <a:pPr indent="0" lvl="0" marL="0" rtl="0" algn="l">
                        <a:spcBef>
                          <a:spcPts val="0"/>
                        </a:spcBef>
                        <a:spcAft>
                          <a:spcPts val="0"/>
                        </a:spcAft>
                        <a:buNone/>
                      </a:pPr>
                      <a:r>
                        <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To include in your process:</a:t>
                      </a:r>
                      <a:br>
                        <a:rPr lang="en" sz="800">
                          <a:solidFill>
                            <a:srgbClr val="2D092F"/>
                          </a:solidFill>
                          <a:latin typeface="Montserrat Medium"/>
                          <a:ea typeface="Montserrat Medium"/>
                          <a:cs typeface="Montserrat Medium"/>
                          <a:sym typeface="Montserrat Medium"/>
                        </a:rPr>
                      </a:b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Design Systems (From Color to Elevation based on Web </a:t>
                      </a:r>
                      <a:r>
                        <a:rPr lang="en" sz="800">
                          <a:solidFill>
                            <a:srgbClr val="2D092F"/>
                          </a:solidFill>
                          <a:latin typeface="Montserrat Medium"/>
                          <a:ea typeface="Montserrat Medium"/>
                          <a:cs typeface="Montserrat Medium"/>
                          <a:sym typeface="Montserrat Medium"/>
                        </a:rPr>
                        <a:t>Accessibility</a:t>
                      </a:r>
                      <a:r>
                        <a:rPr lang="en" sz="800">
                          <a:solidFill>
                            <a:srgbClr val="2D092F"/>
                          </a:solidFill>
                          <a:latin typeface="Montserrat Medium"/>
                          <a:ea typeface="Montserrat Medium"/>
                          <a:cs typeface="Montserrat Medium"/>
                          <a:sym typeface="Montserrat Medium"/>
                        </a:rPr>
                        <a:t> Guidelines)</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General Components</a:t>
                      </a:r>
                      <a:endParaRPr sz="800">
                        <a:solidFill>
                          <a:srgbClr val="2D092F"/>
                        </a:solidFill>
                        <a:latin typeface="Montserrat Medium"/>
                        <a:ea typeface="Montserrat Medium"/>
                        <a:cs typeface="Montserrat Medium"/>
                        <a:sym typeface="Montserrat Medium"/>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73740"/>
                      </a:srgbClr>
                    </a:solidFill>
                  </a:tcPr>
                </a:tc>
                <a:tc>
                  <a:txBody>
                    <a:bodyPr/>
                    <a:lstStyle/>
                    <a:p>
                      <a:pPr indent="0" lvl="0" marL="0" rtl="0" algn="ctr">
                        <a:spcBef>
                          <a:spcPts val="0"/>
                        </a:spcBef>
                        <a:spcAft>
                          <a:spcPts val="0"/>
                        </a:spcAft>
                        <a:buNone/>
                      </a:pPr>
                      <a:r>
                        <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To include in your process:</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Wireframes / Lo-fi into Hi-Fi Mockups</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t/>
                      </a:r>
                      <a:endParaRPr sz="800">
                        <a:solidFill>
                          <a:srgbClr val="2D092F"/>
                        </a:solidFill>
                        <a:latin typeface="Montserrat Medium"/>
                        <a:ea typeface="Montserrat Medium"/>
                        <a:cs typeface="Montserrat Medium"/>
                        <a:sym typeface="Montserrat Medium"/>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87150"/>
                      </a:srgbClr>
                    </a:solidFill>
                  </a:tcPr>
                </a:tc>
                <a:tc>
                  <a:txBody>
                    <a:bodyPr/>
                    <a:lstStyle/>
                    <a:p>
                      <a:pPr indent="0" lvl="0" marL="0" rtl="0" algn="ctr">
                        <a:spcBef>
                          <a:spcPts val="0"/>
                        </a:spcBef>
                        <a:spcAft>
                          <a:spcPts val="0"/>
                        </a:spcAft>
                        <a:buNone/>
                      </a:pPr>
                      <a:r>
                        <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To include in your process:</a:t>
                      </a:r>
                      <a:br>
                        <a:rPr lang="en" sz="800">
                          <a:solidFill>
                            <a:srgbClr val="2D092F"/>
                          </a:solidFill>
                          <a:latin typeface="Montserrat Medium"/>
                          <a:ea typeface="Montserrat Medium"/>
                          <a:cs typeface="Montserrat Medium"/>
                          <a:sym typeface="Montserrat Medium"/>
                        </a:rPr>
                      </a:b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Wireframes / Lo-fi into Hi-Fi Mockups</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t/>
                      </a:r>
                      <a:endParaRPr sz="800">
                        <a:solidFill>
                          <a:srgbClr val="2D092F"/>
                        </a:solidFill>
                        <a:latin typeface="Montserrat Medium"/>
                        <a:ea typeface="Montserrat Medium"/>
                        <a:cs typeface="Montserrat Medium"/>
                        <a:sym typeface="Montserrat Medium"/>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accent4"/>
                    </a:solidFill>
                  </a:tcPr>
                </a:tc>
              </a:tr>
            </a:tbl>
          </a:graphicData>
        </a:graphic>
      </p:graphicFrame>
      <p:sp>
        <p:nvSpPr>
          <p:cNvPr id="200" name="Google Shape;200;p28"/>
          <p:cNvSpPr/>
          <p:nvPr/>
        </p:nvSpPr>
        <p:spPr>
          <a:xfrm>
            <a:off x="1072402" y="2619625"/>
            <a:ext cx="1161300" cy="48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421E44"/>
                </a:solidFill>
              </a:rPr>
              <a:t>Test</a:t>
            </a:r>
            <a:endParaRPr b="1" sz="1000">
              <a:solidFill>
                <a:srgbClr val="421E44"/>
              </a:solidFill>
            </a:endParaRPr>
          </a:p>
        </p:txBody>
      </p:sp>
      <p:sp>
        <p:nvSpPr>
          <p:cNvPr id="201" name="Google Shape;201;p28"/>
          <p:cNvSpPr/>
          <p:nvPr/>
        </p:nvSpPr>
        <p:spPr>
          <a:xfrm>
            <a:off x="2608063" y="2619625"/>
            <a:ext cx="1161300" cy="48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421E44"/>
                </a:solidFill>
              </a:rPr>
              <a:t>Visual Direction</a:t>
            </a:r>
            <a:endParaRPr b="1" sz="1000">
              <a:solidFill>
                <a:srgbClr val="421E44"/>
              </a:solidFill>
            </a:endParaRPr>
          </a:p>
        </p:txBody>
      </p:sp>
      <p:sp>
        <p:nvSpPr>
          <p:cNvPr id="202" name="Google Shape;202;p28"/>
          <p:cNvSpPr/>
          <p:nvPr/>
        </p:nvSpPr>
        <p:spPr>
          <a:xfrm>
            <a:off x="4176627" y="2619613"/>
            <a:ext cx="1161300" cy="48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421E44"/>
                </a:solidFill>
              </a:rPr>
              <a:t>Design System</a:t>
            </a:r>
            <a:endParaRPr b="1" sz="1000">
              <a:solidFill>
                <a:srgbClr val="421E44"/>
              </a:solidFill>
            </a:endParaRPr>
          </a:p>
        </p:txBody>
      </p:sp>
      <p:sp>
        <p:nvSpPr>
          <p:cNvPr id="203" name="Google Shape;203;p28"/>
          <p:cNvSpPr/>
          <p:nvPr/>
        </p:nvSpPr>
        <p:spPr>
          <a:xfrm>
            <a:off x="5695877" y="2619625"/>
            <a:ext cx="1161300" cy="48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421E44"/>
                </a:solidFill>
              </a:rPr>
              <a:t>Hi-Fi Screens</a:t>
            </a:r>
            <a:endParaRPr b="1" sz="1000">
              <a:solidFill>
                <a:srgbClr val="421E44"/>
              </a:solidFill>
            </a:endParaRPr>
          </a:p>
        </p:txBody>
      </p:sp>
      <p:sp>
        <p:nvSpPr>
          <p:cNvPr id="204" name="Google Shape;204;p28"/>
          <p:cNvSpPr/>
          <p:nvPr/>
        </p:nvSpPr>
        <p:spPr>
          <a:xfrm>
            <a:off x="7194252" y="2619625"/>
            <a:ext cx="1161300" cy="48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421E44"/>
                </a:solidFill>
              </a:rPr>
              <a:t>Hi-Fi Screens</a:t>
            </a:r>
            <a:endParaRPr b="1" sz="1000">
              <a:solidFill>
                <a:srgbClr val="421E44"/>
              </a:solidFill>
            </a:endParaRPr>
          </a:p>
        </p:txBody>
      </p:sp>
      <p:sp>
        <p:nvSpPr>
          <p:cNvPr id="205" name="Google Shape;205;p28"/>
          <p:cNvSpPr/>
          <p:nvPr/>
        </p:nvSpPr>
        <p:spPr>
          <a:xfrm>
            <a:off x="1530150" y="3154891"/>
            <a:ext cx="154800" cy="165900"/>
          </a:xfrm>
          <a:prstGeom prst="ellipse">
            <a:avLst/>
          </a:prstGeom>
          <a:solidFill>
            <a:srgbClr val="F6F8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8"/>
          <p:cNvSpPr/>
          <p:nvPr/>
        </p:nvSpPr>
        <p:spPr>
          <a:xfrm>
            <a:off x="3085988" y="3154891"/>
            <a:ext cx="154800" cy="165900"/>
          </a:xfrm>
          <a:prstGeom prst="ellipse">
            <a:avLst/>
          </a:prstGeom>
          <a:solidFill>
            <a:srgbClr val="F6F8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8"/>
          <p:cNvSpPr/>
          <p:nvPr/>
        </p:nvSpPr>
        <p:spPr>
          <a:xfrm>
            <a:off x="4641838" y="3154891"/>
            <a:ext cx="154800" cy="165900"/>
          </a:xfrm>
          <a:prstGeom prst="ellipse">
            <a:avLst/>
          </a:prstGeom>
          <a:solidFill>
            <a:srgbClr val="F6F8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8"/>
          <p:cNvSpPr/>
          <p:nvPr/>
        </p:nvSpPr>
        <p:spPr>
          <a:xfrm>
            <a:off x="6155925" y="3154891"/>
            <a:ext cx="154800" cy="165900"/>
          </a:xfrm>
          <a:prstGeom prst="ellipse">
            <a:avLst/>
          </a:prstGeom>
          <a:solidFill>
            <a:srgbClr val="F6F8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8"/>
          <p:cNvSpPr/>
          <p:nvPr/>
        </p:nvSpPr>
        <p:spPr>
          <a:xfrm>
            <a:off x="7670000" y="3154891"/>
            <a:ext cx="154800" cy="165900"/>
          </a:xfrm>
          <a:prstGeom prst="ellipse">
            <a:avLst/>
          </a:prstGeom>
          <a:solidFill>
            <a:srgbClr val="F6F8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8"/>
          <p:cNvSpPr/>
          <p:nvPr/>
        </p:nvSpPr>
        <p:spPr>
          <a:xfrm rot="-5400000">
            <a:off x="140925" y="1741900"/>
            <a:ext cx="981900" cy="378900"/>
          </a:xfrm>
          <a:prstGeom prst="rect">
            <a:avLst/>
          </a:prstGeom>
          <a:solidFill>
            <a:srgbClr val="7436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Montserrat Medium"/>
                <a:ea typeface="Montserrat Medium"/>
                <a:cs typeface="Montserrat Medium"/>
                <a:sym typeface="Montserrat Medium"/>
              </a:rPr>
              <a:t>Product Manager</a:t>
            </a:r>
            <a:endParaRPr sz="1100">
              <a:solidFill>
                <a:schemeClr val="lt1"/>
              </a:solidFill>
            </a:endParaRPr>
          </a:p>
        </p:txBody>
      </p:sp>
      <p:sp>
        <p:nvSpPr>
          <p:cNvPr id="211" name="Google Shape;211;p28"/>
          <p:cNvSpPr/>
          <p:nvPr/>
        </p:nvSpPr>
        <p:spPr>
          <a:xfrm rot="-5400000">
            <a:off x="-397575" y="3323150"/>
            <a:ext cx="2058900" cy="378900"/>
          </a:xfrm>
          <a:prstGeom prst="rect">
            <a:avLst/>
          </a:prstGeom>
          <a:solidFill>
            <a:srgbClr val="7436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Montserrat Medium"/>
                <a:ea typeface="Montserrat Medium"/>
                <a:cs typeface="Montserrat Medium"/>
                <a:sym typeface="Montserrat Medium"/>
              </a:rPr>
              <a:t>UI/UX</a:t>
            </a:r>
            <a:endParaRPr sz="1100">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7" name="Google Shape;217;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Roadmap</a:t>
            </a:r>
            <a:endParaRPr/>
          </a:p>
        </p:txBody>
      </p:sp>
      <p:sp>
        <p:nvSpPr>
          <p:cNvPr id="218" name="Google Shape;218;p29"/>
          <p:cNvSpPr txBox="1"/>
          <p:nvPr/>
        </p:nvSpPr>
        <p:spPr>
          <a:xfrm>
            <a:off x="685800" y="1036325"/>
            <a:ext cx="7305300" cy="27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Clr>
                <a:schemeClr val="dk1"/>
              </a:buClr>
              <a:buSzPts val="1100"/>
              <a:buFont typeface="Arial"/>
              <a:buNone/>
            </a:pPr>
            <a:r>
              <a:rPr b="1" lang="en" sz="1800">
                <a:solidFill>
                  <a:srgbClr val="743673"/>
                </a:solidFill>
                <a:highlight>
                  <a:schemeClr val="lt1"/>
                </a:highlight>
                <a:latin typeface="Montserrat"/>
                <a:ea typeface="Montserrat"/>
                <a:cs typeface="Montserrat"/>
                <a:sym typeface="Montserrat"/>
              </a:rPr>
              <a:t>Roadmap (Sprint 3)</a:t>
            </a:r>
            <a:endParaRPr sz="1200">
              <a:solidFill>
                <a:schemeClr val="dk1"/>
              </a:solidFill>
              <a:latin typeface="Raleway Medium"/>
              <a:ea typeface="Raleway Medium"/>
              <a:cs typeface="Raleway Medium"/>
              <a:sym typeface="Raleway Medium"/>
            </a:endParaRPr>
          </a:p>
        </p:txBody>
      </p:sp>
      <p:graphicFrame>
        <p:nvGraphicFramePr>
          <p:cNvPr id="219" name="Google Shape;219;p29"/>
          <p:cNvGraphicFramePr/>
          <p:nvPr/>
        </p:nvGraphicFramePr>
        <p:xfrm>
          <a:off x="871384" y="2483155"/>
          <a:ext cx="3000000" cy="3000000"/>
        </p:xfrm>
        <a:graphic>
          <a:graphicData uri="http://schemas.openxmlformats.org/drawingml/2006/table">
            <a:tbl>
              <a:tblPr>
                <a:noFill/>
                <a:tableStyleId>{C00E7B77-135D-4733-9814-72F36B352F7F}</a:tableStyleId>
              </a:tblPr>
              <a:tblGrid>
                <a:gridCol w="1539175"/>
                <a:gridCol w="1539175"/>
                <a:gridCol w="1604900"/>
                <a:gridCol w="1473450"/>
                <a:gridCol w="1539175"/>
              </a:tblGrid>
              <a:tr h="795250">
                <a:tc>
                  <a:txBody>
                    <a:bodyPr/>
                    <a:lstStyle/>
                    <a:p>
                      <a:pPr indent="0" lvl="0" marL="0" rtl="0" algn="ctr">
                        <a:spcBef>
                          <a:spcPts val="0"/>
                        </a:spcBef>
                        <a:spcAft>
                          <a:spcPts val="0"/>
                        </a:spcAft>
                        <a:buNone/>
                      </a:pPr>
                      <a:r>
                        <a:t/>
                      </a:r>
                      <a:endParaRPr b="1">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43580"/>
                      </a:srgbClr>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59220"/>
                      </a:srgbClr>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73740"/>
                      </a:srgbClr>
                    </a:solidFill>
                  </a:tcPr>
                </a:tc>
                <a:tc>
                  <a:txBody>
                    <a:bodyPr/>
                    <a:lstStyle/>
                    <a:p>
                      <a:pPr indent="0" lvl="0" marL="0" rtl="0" algn="ctr">
                        <a:spcBef>
                          <a:spcPts val="0"/>
                        </a:spcBef>
                        <a:spcAft>
                          <a:spcPts val="0"/>
                        </a:spcAft>
                        <a:buNone/>
                      </a:pPr>
                      <a:r>
                        <a:t/>
                      </a:r>
                      <a:endParaRPr b="1">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87150"/>
                      </a:srgbClr>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accent4"/>
                    </a:solidFill>
                  </a:tcPr>
                </a:tc>
              </a:tr>
              <a:tr h="1325925">
                <a:tc>
                  <a:txBody>
                    <a:bodyPr/>
                    <a:lstStyle/>
                    <a:p>
                      <a:pPr indent="0" lvl="0" marL="0" rtl="0" algn="ctr">
                        <a:spcBef>
                          <a:spcPts val="0"/>
                        </a:spcBef>
                        <a:spcAft>
                          <a:spcPts val="0"/>
                        </a:spcAft>
                        <a:buClr>
                          <a:schemeClr val="dk1"/>
                        </a:buClr>
                        <a:buSzPts val="1100"/>
                        <a:buFont typeface="Arial"/>
                        <a:buNone/>
                      </a:pPr>
                      <a:r>
                        <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Clr>
                          <a:schemeClr val="dk1"/>
                        </a:buClr>
                        <a:buSzPts val="1100"/>
                        <a:buFont typeface="Arial"/>
                        <a:buNone/>
                      </a:pPr>
                      <a:r>
                        <a:rPr lang="en" sz="800">
                          <a:solidFill>
                            <a:srgbClr val="2D092F"/>
                          </a:solidFill>
                          <a:latin typeface="Montserrat Medium"/>
                          <a:ea typeface="Montserrat Medium"/>
                          <a:cs typeface="Montserrat Medium"/>
                          <a:sym typeface="Montserrat Medium"/>
                        </a:rPr>
                        <a:t>To include in your process:</a:t>
                      </a:r>
                      <a:br>
                        <a:rPr lang="en" sz="800">
                          <a:solidFill>
                            <a:srgbClr val="2D092F"/>
                          </a:solidFill>
                          <a:latin typeface="Montserrat Medium"/>
                          <a:ea typeface="Montserrat Medium"/>
                          <a:cs typeface="Montserrat Medium"/>
                          <a:sym typeface="Montserrat Medium"/>
                        </a:rPr>
                      </a:b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Hi-Fi Mockups</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Adaptive Design</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t/>
                      </a:r>
                      <a:endParaRPr sz="800">
                        <a:solidFill>
                          <a:srgbClr val="2D092F"/>
                        </a:solidFill>
                        <a:latin typeface="Montserrat Medium"/>
                        <a:ea typeface="Montserrat Medium"/>
                        <a:cs typeface="Montserrat Medium"/>
                        <a:sym typeface="Montserrat Medium"/>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43580"/>
                      </a:srgbClr>
                    </a:solidFill>
                  </a:tcPr>
                </a:tc>
                <a:tc>
                  <a:txBody>
                    <a:bodyPr/>
                    <a:lstStyle/>
                    <a:p>
                      <a:pPr indent="0" lvl="0" marL="0" rtl="0" algn="ctr">
                        <a:spcBef>
                          <a:spcPts val="0"/>
                        </a:spcBef>
                        <a:spcAft>
                          <a:spcPts val="0"/>
                        </a:spcAft>
                        <a:buNone/>
                      </a:pPr>
                      <a:r>
                        <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To include in your process:</a:t>
                      </a:r>
                      <a:br>
                        <a:rPr lang="en" sz="800">
                          <a:solidFill>
                            <a:srgbClr val="2D092F"/>
                          </a:solidFill>
                          <a:latin typeface="Montserrat Medium"/>
                          <a:ea typeface="Montserrat Medium"/>
                          <a:cs typeface="Montserrat Medium"/>
                          <a:sym typeface="Montserrat Medium"/>
                        </a:rPr>
                      </a:b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Hi-Fi Mockups</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Adaptive Design</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t/>
                      </a:r>
                      <a:endParaRPr sz="800">
                        <a:solidFill>
                          <a:srgbClr val="2D092F"/>
                        </a:solidFill>
                        <a:latin typeface="Montserrat Medium"/>
                        <a:ea typeface="Montserrat Medium"/>
                        <a:cs typeface="Montserrat Medium"/>
                        <a:sym typeface="Montserrat Medium"/>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59220"/>
                      </a:srgbClr>
                    </a:solidFill>
                  </a:tcPr>
                </a:tc>
                <a:tc>
                  <a:txBody>
                    <a:bodyPr/>
                    <a:lstStyle/>
                    <a:p>
                      <a:pPr indent="0" lvl="0" marL="0" rtl="0" algn="ctr">
                        <a:spcBef>
                          <a:spcPts val="0"/>
                        </a:spcBef>
                        <a:spcAft>
                          <a:spcPts val="0"/>
                        </a:spcAft>
                        <a:buNone/>
                      </a:pPr>
                      <a:r>
                        <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To include in your process:</a:t>
                      </a:r>
                      <a:br>
                        <a:rPr lang="en" sz="800">
                          <a:solidFill>
                            <a:srgbClr val="2D092F"/>
                          </a:solidFill>
                          <a:latin typeface="Montserrat Medium"/>
                          <a:ea typeface="Montserrat Medium"/>
                          <a:cs typeface="Montserrat Medium"/>
                          <a:sym typeface="Montserrat Medium"/>
                        </a:rPr>
                      </a:b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Design Clean Up</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Add micro-interactions</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Add animations</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Link pages to prototype</a:t>
                      </a:r>
                      <a:endParaRPr sz="800">
                        <a:solidFill>
                          <a:srgbClr val="2D092F"/>
                        </a:solidFill>
                        <a:latin typeface="Montserrat Medium"/>
                        <a:ea typeface="Montserrat Medium"/>
                        <a:cs typeface="Montserrat Medium"/>
                        <a:sym typeface="Montserrat Medium"/>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73740"/>
                      </a:srgbClr>
                    </a:solidFill>
                  </a:tcPr>
                </a:tc>
                <a:tc>
                  <a:txBody>
                    <a:bodyPr/>
                    <a:lstStyle/>
                    <a:p>
                      <a:pPr indent="0" lvl="0" marL="0" rtl="0" algn="ctr">
                        <a:spcBef>
                          <a:spcPts val="0"/>
                        </a:spcBef>
                        <a:spcAft>
                          <a:spcPts val="0"/>
                        </a:spcAft>
                        <a:buNone/>
                      </a:pPr>
                      <a:r>
                        <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To include in your process:</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Test</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Analyse Results / Feedbacks</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Iterate</a:t>
                      </a:r>
                      <a:endParaRPr sz="800">
                        <a:solidFill>
                          <a:srgbClr val="2D092F"/>
                        </a:solidFill>
                        <a:latin typeface="Montserrat Medium"/>
                        <a:ea typeface="Montserrat Medium"/>
                        <a:cs typeface="Montserrat Medium"/>
                        <a:sym typeface="Montserrat Medium"/>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87150"/>
                      </a:srgbClr>
                    </a:solidFill>
                  </a:tcPr>
                </a:tc>
                <a:tc>
                  <a:txBody>
                    <a:bodyPr/>
                    <a:lstStyle/>
                    <a:p>
                      <a:pPr indent="0" lvl="0" marL="0" rtl="0" algn="ctr">
                        <a:spcBef>
                          <a:spcPts val="0"/>
                        </a:spcBef>
                        <a:spcAft>
                          <a:spcPts val="0"/>
                        </a:spcAft>
                        <a:buNone/>
                      </a:pPr>
                      <a:r>
                        <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To include in your process:</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Internal Discussions</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Slide Creation</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rPr lang="en" sz="800">
                          <a:solidFill>
                            <a:srgbClr val="2D092F"/>
                          </a:solidFill>
                          <a:latin typeface="Montserrat Medium"/>
                          <a:ea typeface="Montserrat Medium"/>
                          <a:cs typeface="Montserrat Medium"/>
                          <a:sym typeface="Montserrat Medium"/>
                        </a:rPr>
                        <a:t>Rehearsals</a:t>
                      </a:r>
                      <a:endParaRPr sz="800">
                        <a:solidFill>
                          <a:srgbClr val="2D092F"/>
                        </a:solidFill>
                        <a:latin typeface="Montserrat Medium"/>
                        <a:ea typeface="Montserrat Medium"/>
                        <a:cs typeface="Montserrat Medium"/>
                        <a:sym typeface="Montserrat Medium"/>
                      </a:endParaRPr>
                    </a:p>
                    <a:p>
                      <a:pPr indent="0" lvl="0" marL="0" rtl="0" algn="ctr">
                        <a:spcBef>
                          <a:spcPts val="0"/>
                        </a:spcBef>
                        <a:spcAft>
                          <a:spcPts val="0"/>
                        </a:spcAft>
                        <a:buNone/>
                      </a:pPr>
                      <a:r>
                        <a:t/>
                      </a:r>
                      <a:endParaRPr sz="800">
                        <a:solidFill>
                          <a:srgbClr val="2D092F"/>
                        </a:solidFill>
                        <a:latin typeface="Montserrat Medium"/>
                        <a:ea typeface="Montserrat Medium"/>
                        <a:cs typeface="Montserrat Medium"/>
                        <a:sym typeface="Montserrat Medium"/>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accent4"/>
                    </a:solidFill>
                  </a:tcPr>
                </a:tc>
              </a:tr>
            </a:tbl>
          </a:graphicData>
        </a:graphic>
      </p:graphicFrame>
      <p:sp>
        <p:nvSpPr>
          <p:cNvPr id="220" name="Google Shape;220;p29"/>
          <p:cNvSpPr/>
          <p:nvPr/>
        </p:nvSpPr>
        <p:spPr>
          <a:xfrm>
            <a:off x="1070477" y="2609050"/>
            <a:ext cx="1161300" cy="48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421E44"/>
                </a:solidFill>
              </a:rPr>
              <a:t>Hi-Fi Screens</a:t>
            </a:r>
            <a:endParaRPr b="1" sz="1000">
              <a:solidFill>
                <a:srgbClr val="421E44"/>
              </a:solidFill>
            </a:endParaRPr>
          </a:p>
        </p:txBody>
      </p:sp>
      <p:sp>
        <p:nvSpPr>
          <p:cNvPr id="221" name="Google Shape;221;p29"/>
          <p:cNvSpPr/>
          <p:nvPr/>
        </p:nvSpPr>
        <p:spPr>
          <a:xfrm>
            <a:off x="2648552" y="2609050"/>
            <a:ext cx="1161300" cy="48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421E44"/>
                </a:solidFill>
              </a:rPr>
              <a:t>Hi-Fi Screens</a:t>
            </a:r>
            <a:endParaRPr b="1" sz="1000">
              <a:solidFill>
                <a:srgbClr val="421E44"/>
              </a:solidFill>
            </a:endParaRPr>
          </a:p>
        </p:txBody>
      </p:sp>
      <p:sp>
        <p:nvSpPr>
          <p:cNvPr id="222" name="Google Shape;222;p29"/>
          <p:cNvSpPr/>
          <p:nvPr/>
        </p:nvSpPr>
        <p:spPr>
          <a:xfrm>
            <a:off x="4219952" y="2609050"/>
            <a:ext cx="1161300" cy="48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421E44"/>
                </a:solidFill>
              </a:rPr>
              <a:t>Prototype</a:t>
            </a:r>
            <a:endParaRPr b="1" sz="1000">
              <a:solidFill>
                <a:srgbClr val="421E44"/>
              </a:solidFill>
            </a:endParaRPr>
          </a:p>
        </p:txBody>
      </p:sp>
      <p:sp>
        <p:nvSpPr>
          <p:cNvPr id="223" name="Google Shape;223;p29"/>
          <p:cNvSpPr/>
          <p:nvPr/>
        </p:nvSpPr>
        <p:spPr>
          <a:xfrm>
            <a:off x="5745202" y="2609050"/>
            <a:ext cx="1161300" cy="48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421E44"/>
                </a:solidFill>
              </a:rPr>
              <a:t>Final Testing</a:t>
            </a:r>
            <a:endParaRPr b="1" sz="1000">
              <a:solidFill>
                <a:srgbClr val="421E44"/>
              </a:solidFill>
            </a:endParaRPr>
          </a:p>
        </p:txBody>
      </p:sp>
      <p:sp>
        <p:nvSpPr>
          <p:cNvPr id="224" name="Google Shape;224;p29"/>
          <p:cNvSpPr/>
          <p:nvPr/>
        </p:nvSpPr>
        <p:spPr>
          <a:xfrm>
            <a:off x="7291327" y="2609050"/>
            <a:ext cx="1161300" cy="48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421E44"/>
                </a:solidFill>
              </a:rPr>
              <a:t>Presentation</a:t>
            </a:r>
            <a:endParaRPr b="1" sz="1000">
              <a:solidFill>
                <a:srgbClr val="421E44"/>
              </a:solidFill>
            </a:endParaRPr>
          </a:p>
          <a:p>
            <a:pPr indent="0" lvl="0" marL="0" rtl="0" algn="ctr">
              <a:spcBef>
                <a:spcPts val="0"/>
              </a:spcBef>
              <a:spcAft>
                <a:spcPts val="0"/>
              </a:spcAft>
              <a:buNone/>
            </a:pPr>
            <a:r>
              <a:rPr b="1" lang="en" sz="1000">
                <a:solidFill>
                  <a:srgbClr val="421E44"/>
                </a:solidFill>
              </a:rPr>
              <a:t>preparation</a:t>
            </a:r>
            <a:endParaRPr b="1" sz="1000">
              <a:solidFill>
                <a:srgbClr val="421E44"/>
              </a:solidFill>
            </a:endParaRPr>
          </a:p>
        </p:txBody>
      </p:sp>
      <p:sp>
        <p:nvSpPr>
          <p:cNvPr id="225" name="Google Shape;225;p29"/>
          <p:cNvSpPr/>
          <p:nvPr/>
        </p:nvSpPr>
        <p:spPr>
          <a:xfrm>
            <a:off x="1585113" y="3203266"/>
            <a:ext cx="154800" cy="165900"/>
          </a:xfrm>
          <a:prstGeom prst="ellipse">
            <a:avLst/>
          </a:prstGeom>
          <a:solidFill>
            <a:srgbClr val="F6F8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9"/>
          <p:cNvSpPr/>
          <p:nvPr/>
        </p:nvSpPr>
        <p:spPr>
          <a:xfrm>
            <a:off x="3163188" y="3203266"/>
            <a:ext cx="154800" cy="165900"/>
          </a:xfrm>
          <a:prstGeom prst="ellipse">
            <a:avLst/>
          </a:prstGeom>
          <a:solidFill>
            <a:srgbClr val="F6F8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9"/>
          <p:cNvSpPr/>
          <p:nvPr/>
        </p:nvSpPr>
        <p:spPr>
          <a:xfrm>
            <a:off x="4658388" y="3203266"/>
            <a:ext cx="154800" cy="165900"/>
          </a:xfrm>
          <a:prstGeom prst="ellipse">
            <a:avLst/>
          </a:prstGeom>
          <a:solidFill>
            <a:srgbClr val="F6F8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9"/>
          <p:cNvSpPr/>
          <p:nvPr/>
        </p:nvSpPr>
        <p:spPr>
          <a:xfrm>
            <a:off x="6259838" y="3203266"/>
            <a:ext cx="154800" cy="165900"/>
          </a:xfrm>
          <a:prstGeom prst="ellipse">
            <a:avLst/>
          </a:prstGeom>
          <a:solidFill>
            <a:srgbClr val="F6F8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9"/>
          <p:cNvSpPr/>
          <p:nvPr/>
        </p:nvSpPr>
        <p:spPr>
          <a:xfrm>
            <a:off x="7794563" y="3203266"/>
            <a:ext cx="154800" cy="165900"/>
          </a:xfrm>
          <a:prstGeom prst="ellipse">
            <a:avLst/>
          </a:prstGeom>
          <a:solidFill>
            <a:srgbClr val="F6F8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9"/>
          <p:cNvSpPr/>
          <p:nvPr/>
        </p:nvSpPr>
        <p:spPr>
          <a:xfrm>
            <a:off x="871300" y="1497488"/>
            <a:ext cx="7695900" cy="932700"/>
          </a:xfrm>
          <a:prstGeom prst="rect">
            <a:avLst/>
          </a:prstGeom>
          <a:solidFill>
            <a:schemeClr val="accent1"/>
          </a:solidFill>
          <a:ln cap="flat" cmpd="sng" w="19050">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sz="800">
                <a:solidFill>
                  <a:srgbClr val="2D092F"/>
                </a:solidFill>
                <a:latin typeface="Montserrat Medium"/>
                <a:ea typeface="Montserrat Medium"/>
                <a:cs typeface="Montserrat Medium"/>
                <a:sym typeface="Montserrat Medium"/>
              </a:rPr>
              <a:t>To include in your process:</a:t>
            </a:r>
            <a:endParaRPr sz="800">
              <a:solidFill>
                <a:srgbClr val="2D092F"/>
              </a:solidFill>
              <a:latin typeface="Montserrat Medium"/>
              <a:ea typeface="Montserrat Medium"/>
              <a:cs typeface="Montserrat Medium"/>
              <a:sym typeface="Montserrat Medium"/>
            </a:endParaRPr>
          </a:p>
          <a:p>
            <a:pPr indent="0" lvl="0" marL="0" rtl="0" algn="ctr">
              <a:lnSpc>
                <a:spcPct val="115000"/>
              </a:lnSpc>
              <a:spcBef>
                <a:spcPts val="0"/>
              </a:spcBef>
              <a:spcAft>
                <a:spcPts val="0"/>
              </a:spcAft>
              <a:buClr>
                <a:schemeClr val="dk1"/>
              </a:buClr>
              <a:buSzPts val="1100"/>
              <a:buFont typeface="Arial"/>
              <a:buNone/>
            </a:pPr>
            <a:r>
              <a:t/>
            </a:r>
            <a:endParaRPr sz="800">
              <a:solidFill>
                <a:srgbClr val="512252"/>
              </a:solidFill>
              <a:latin typeface="Montserrat Medium"/>
              <a:ea typeface="Montserrat Medium"/>
              <a:cs typeface="Montserrat Medium"/>
              <a:sym typeface="Montserrat Medium"/>
            </a:endParaRPr>
          </a:p>
          <a:p>
            <a:pPr indent="-279400" lvl="0" marL="457200" rtl="0" algn="ctr">
              <a:lnSpc>
                <a:spcPct val="115000"/>
              </a:lnSpc>
              <a:spcBef>
                <a:spcPts val="0"/>
              </a:spcBef>
              <a:spcAft>
                <a:spcPts val="0"/>
              </a:spcAft>
              <a:buClr>
                <a:srgbClr val="2D092F"/>
              </a:buClr>
              <a:buSzPts val="800"/>
              <a:buFont typeface="Montserrat Medium"/>
              <a:buChar char="●"/>
            </a:pPr>
            <a:r>
              <a:rPr lang="en" sz="800">
                <a:solidFill>
                  <a:srgbClr val="2D092F"/>
                </a:solidFill>
                <a:latin typeface="Montserrat Medium"/>
                <a:ea typeface="Montserrat Medium"/>
                <a:cs typeface="Montserrat Medium"/>
                <a:sym typeface="Montserrat Medium"/>
              </a:rPr>
              <a:t>After getting the prototype and as if it is already working and getting feedback, it can be used as a development (revamp) in version 3</a:t>
            </a:r>
            <a:endParaRPr sz="800">
              <a:solidFill>
                <a:srgbClr val="2D092F"/>
              </a:solidFill>
              <a:latin typeface="Montserrat Medium"/>
              <a:ea typeface="Montserrat Medium"/>
              <a:cs typeface="Montserrat Medium"/>
              <a:sym typeface="Montserrat Medium"/>
            </a:endParaRPr>
          </a:p>
          <a:p>
            <a:pPr indent="-279400" lvl="0" marL="457200" rtl="0" algn="ctr">
              <a:lnSpc>
                <a:spcPct val="115000"/>
              </a:lnSpc>
              <a:spcBef>
                <a:spcPts val="0"/>
              </a:spcBef>
              <a:spcAft>
                <a:spcPts val="0"/>
              </a:spcAft>
              <a:buClr>
                <a:srgbClr val="2D092F"/>
              </a:buClr>
              <a:buSzPts val="800"/>
              <a:buFont typeface="Montserrat Medium"/>
              <a:buChar char="●"/>
            </a:pPr>
            <a:r>
              <a:rPr lang="en" sz="800">
                <a:solidFill>
                  <a:srgbClr val="2D092F"/>
                </a:solidFill>
                <a:latin typeface="Montserrat Medium"/>
                <a:ea typeface="Montserrat Medium"/>
                <a:cs typeface="Montserrat Medium"/>
                <a:sym typeface="Montserrat Medium"/>
              </a:rPr>
              <a:t>Give documentation the testing scenario</a:t>
            </a:r>
            <a:endParaRPr sz="800">
              <a:solidFill>
                <a:srgbClr val="2D092F"/>
              </a:solidFill>
              <a:latin typeface="Montserrat Medium"/>
              <a:ea typeface="Montserrat Medium"/>
              <a:cs typeface="Montserrat Medium"/>
              <a:sym typeface="Montserrat Medium"/>
            </a:endParaRPr>
          </a:p>
          <a:p>
            <a:pPr indent="-279400" lvl="0" marL="457200" rtl="0" algn="ctr">
              <a:lnSpc>
                <a:spcPct val="115000"/>
              </a:lnSpc>
              <a:spcBef>
                <a:spcPts val="0"/>
              </a:spcBef>
              <a:spcAft>
                <a:spcPts val="0"/>
              </a:spcAft>
              <a:buClr>
                <a:srgbClr val="2D092F"/>
              </a:buClr>
              <a:buSzPts val="800"/>
              <a:buFont typeface="Montserrat Medium"/>
              <a:buChar char="●"/>
            </a:pPr>
            <a:r>
              <a:rPr lang="en" sz="800">
                <a:solidFill>
                  <a:srgbClr val="2D092F"/>
                </a:solidFill>
                <a:latin typeface="Montserrat Medium"/>
                <a:ea typeface="Montserrat Medium"/>
                <a:cs typeface="Montserrat Medium"/>
                <a:sym typeface="Montserrat Medium"/>
              </a:rPr>
              <a:t>Final Design HiFi (Prototype) -&gt; Versi 2 (Enhancement from Minimum Viable Product)</a:t>
            </a:r>
            <a:endParaRPr sz="800">
              <a:solidFill>
                <a:srgbClr val="2D092F"/>
              </a:solidFill>
              <a:latin typeface="Montserrat Medium"/>
              <a:ea typeface="Montserrat Medium"/>
              <a:cs typeface="Montserrat Medium"/>
              <a:sym typeface="Montserrat Medium"/>
            </a:endParaRPr>
          </a:p>
        </p:txBody>
      </p:sp>
      <p:sp>
        <p:nvSpPr>
          <p:cNvPr id="231" name="Google Shape;231;p29"/>
          <p:cNvSpPr/>
          <p:nvPr/>
        </p:nvSpPr>
        <p:spPr>
          <a:xfrm rot="-5400000">
            <a:off x="164325" y="1765300"/>
            <a:ext cx="935100" cy="378900"/>
          </a:xfrm>
          <a:prstGeom prst="rect">
            <a:avLst/>
          </a:prstGeom>
          <a:solidFill>
            <a:srgbClr val="7436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Montserrat Medium"/>
                <a:ea typeface="Montserrat Medium"/>
                <a:cs typeface="Montserrat Medium"/>
                <a:sym typeface="Montserrat Medium"/>
              </a:rPr>
              <a:t>Product Manager</a:t>
            </a:r>
            <a:endParaRPr sz="1100">
              <a:solidFill>
                <a:schemeClr val="lt1"/>
              </a:solidFill>
            </a:endParaRPr>
          </a:p>
        </p:txBody>
      </p:sp>
      <p:sp>
        <p:nvSpPr>
          <p:cNvPr id="232" name="Google Shape;232;p29"/>
          <p:cNvSpPr/>
          <p:nvPr/>
        </p:nvSpPr>
        <p:spPr>
          <a:xfrm rot="-5400000">
            <a:off x="-397575" y="3323150"/>
            <a:ext cx="2058900" cy="378900"/>
          </a:xfrm>
          <a:prstGeom prst="rect">
            <a:avLst/>
          </a:prstGeom>
          <a:solidFill>
            <a:srgbClr val="7436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Montserrat Medium"/>
                <a:ea typeface="Montserrat Medium"/>
                <a:cs typeface="Montserrat Medium"/>
                <a:sym typeface="Montserrat Medium"/>
              </a:rPr>
              <a:t>UI/UX</a:t>
            </a:r>
            <a:endParaRPr sz="1100">
              <a:solidFill>
                <a:schemeClr val="l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8" name="Google Shape;238;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Requirement &amp; Submit Idea</a:t>
            </a:r>
            <a:endParaRPr/>
          </a:p>
        </p:txBody>
      </p:sp>
      <p:sp>
        <p:nvSpPr>
          <p:cNvPr id="239" name="Google Shape;239;p30"/>
          <p:cNvSpPr txBox="1"/>
          <p:nvPr/>
        </p:nvSpPr>
        <p:spPr>
          <a:xfrm>
            <a:off x="685800" y="968850"/>
            <a:ext cx="3916500" cy="3205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1600">
                <a:solidFill>
                  <a:srgbClr val="743673"/>
                </a:solidFill>
                <a:latin typeface="Montserrat"/>
                <a:ea typeface="Montserrat"/>
                <a:cs typeface="Montserrat"/>
                <a:sym typeface="Montserrat"/>
              </a:rPr>
              <a:t>Requirement &amp; Submit Area</a:t>
            </a:r>
            <a:endParaRPr b="1" sz="1600">
              <a:solidFill>
                <a:srgbClr val="743673"/>
              </a:solidFill>
              <a:latin typeface="Montserrat"/>
              <a:ea typeface="Montserrat"/>
              <a:cs typeface="Montserrat"/>
              <a:sym typeface="Montserrat"/>
            </a:endParaRPr>
          </a:p>
          <a:p>
            <a:pPr indent="0" lvl="0" marL="0" rtl="0" algn="l">
              <a:lnSpc>
                <a:spcPct val="115000"/>
              </a:lnSpc>
              <a:spcBef>
                <a:spcPts val="1000"/>
              </a:spcBef>
              <a:spcAft>
                <a:spcPts val="0"/>
              </a:spcAft>
              <a:buNone/>
            </a:pPr>
            <a:r>
              <a:rPr b="1" lang="en" sz="1100">
                <a:solidFill>
                  <a:srgbClr val="F2AB2F"/>
                </a:solidFill>
                <a:latin typeface="Montserrat"/>
                <a:ea typeface="Montserrat"/>
                <a:cs typeface="Montserrat"/>
                <a:sym typeface="Montserrat"/>
              </a:rPr>
              <a:t>Aspect in general</a:t>
            </a:r>
            <a:endParaRPr b="1" sz="1100">
              <a:solidFill>
                <a:srgbClr val="F2AB2F"/>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Memenuhi aspek untuk mendukung kebutuhan user dan bisnis.</a:t>
            </a:r>
            <a:endParaRPr sz="1000">
              <a:solidFill>
                <a:schemeClr val="dk1"/>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rPr b="1" lang="en" sz="1100">
                <a:solidFill>
                  <a:srgbClr val="F2AB2F"/>
                </a:solidFill>
                <a:latin typeface="Montserrat"/>
                <a:ea typeface="Montserrat"/>
                <a:cs typeface="Montserrat"/>
                <a:sym typeface="Montserrat"/>
              </a:rPr>
              <a:t>Design Interface</a:t>
            </a:r>
            <a:endParaRPr sz="1100">
              <a:solidFill>
                <a:schemeClr val="dk1"/>
              </a:solidFill>
              <a:latin typeface="Montserrat Medium"/>
              <a:ea typeface="Montserrat Medium"/>
              <a:cs typeface="Montserrat Medium"/>
              <a:sym typeface="Montserrat Medium"/>
            </a:endParaRPr>
          </a:p>
          <a:p>
            <a:pPr indent="-177800" lvl="0" marL="228600" rtl="0" algn="just">
              <a:lnSpc>
                <a:spcPct val="115000"/>
              </a:lnSpc>
              <a:spcBef>
                <a:spcPts val="0"/>
              </a:spcBef>
              <a:spcAft>
                <a:spcPts val="0"/>
              </a:spcAft>
              <a:buClr>
                <a:schemeClr val="dk1"/>
              </a:buClr>
              <a:buSzPts val="1000"/>
              <a:buFont typeface="Montserrat Medium"/>
              <a:buChar char="●"/>
            </a:pPr>
            <a:r>
              <a:rPr lang="en" sz="1000">
                <a:solidFill>
                  <a:schemeClr val="dk1"/>
                </a:solidFill>
                <a:latin typeface="Montserrat Medium"/>
                <a:ea typeface="Montserrat Medium"/>
                <a:cs typeface="Montserrat Medium"/>
                <a:sym typeface="Montserrat Medium"/>
              </a:rPr>
              <a:t>Menerapkan konsep desain atomik dengan mengimplementasikannya dalam sistem desain</a:t>
            </a:r>
            <a:endParaRPr sz="1000">
              <a:solidFill>
                <a:schemeClr val="dk1"/>
              </a:solidFill>
              <a:latin typeface="Montserrat Medium"/>
              <a:ea typeface="Montserrat Medium"/>
              <a:cs typeface="Montserrat Medium"/>
              <a:sym typeface="Montserrat Medium"/>
            </a:endParaRPr>
          </a:p>
          <a:p>
            <a:pPr indent="-177800" lvl="0" marL="228600" rtl="0" algn="just">
              <a:lnSpc>
                <a:spcPct val="115000"/>
              </a:lnSpc>
              <a:spcBef>
                <a:spcPts val="1000"/>
              </a:spcBef>
              <a:spcAft>
                <a:spcPts val="0"/>
              </a:spcAft>
              <a:buClr>
                <a:schemeClr val="dk1"/>
              </a:buClr>
              <a:buSzPts val="1000"/>
              <a:buFont typeface="Montserrat Medium"/>
              <a:buChar char="●"/>
            </a:pPr>
            <a:r>
              <a:rPr lang="en" sz="1000">
                <a:solidFill>
                  <a:schemeClr val="dk1"/>
                </a:solidFill>
                <a:latin typeface="Montserrat Medium"/>
                <a:ea typeface="Montserrat Medium"/>
                <a:cs typeface="Montserrat Medium"/>
                <a:sym typeface="Montserrat Medium"/>
              </a:rPr>
              <a:t>Menggunakan desain material standar komponen (Android atau iOS)</a:t>
            </a:r>
            <a:endParaRPr sz="1000">
              <a:solidFill>
                <a:schemeClr val="dk1"/>
              </a:solidFill>
              <a:latin typeface="Montserrat Medium"/>
              <a:ea typeface="Montserrat Medium"/>
              <a:cs typeface="Montserrat Medium"/>
              <a:sym typeface="Montserrat Medium"/>
            </a:endParaRPr>
          </a:p>
          <a:p>
            <a:pPr indent="0" lvl="0" marL="457200" rtl="0" algn="l">
              <a:lnSpc>
                <a:spcPct val="115000"/>
              </a:lnSpc>
              <a:spcBef>
                <a:spcPts val="1000"/>
              </a:spcBef>
              <a:spcAft>
                <a:spcPts val="0"/>
              </a:spcAft>
              <a:buNone/>
            </a:pPr>
            <a:r>
              <a:t/>
            </a:r>
            <a:endParaRPr sz="1000">
              <a:solidFill>
                <a:schemeClr val="dk1"/>
              </a:solidFill>
              <a:latin typeface="Montserrat"/>
              <a:ea typeface="Montserrat"/>
              <a:cs typeface="Montserrat"/>
              <a:sym typeface="Montserrat"/>
            </a:endParaRPr>
          </a:p>
        </p:txBody>
      </p:sp>
      <p:pic>
        <p:nvPicPr>
          <p:cNvPr id="240" name="Google Shape;240;p30"/>
          <p:cNvPicPr preferRelativeResize="0"/>
          <p:nvPr/>
        </p:nvPicPr>
        <p:blipFill>
          <a:blip r:embed="rId3">
            <a:alphaModFix/>
          </a:blip>
          <a:stretch>
            <a:fillRect/>
          </a:stretch>
        </p:blipFill>
        <p:spPr>
          <a:xfrm>
            <a:off x="5453775" y="976800"/>
            <a:ext cx="2603632" cy="36714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6" name="Google Shape;246;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Requirement &amp; Submit Idea</a:t>
            </a:r>
            <a:endParaRPr/>
          </a:p>
        </p:txBody>
      </p:sp>
      <p:sp>
        <p:nvSpPr>
          <p:cNvPr id="247" name="Google Shape;247;p31"/>
          <p:cNvSpPr txBox="1"/>
          <p:nvPr/>
        </p:nvSpPr>
        <p:spPr>
          <a:xfrm>
            <a:off x="685800" y="990600"/>
            <a:ext cx="4309500" cy="31623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b="1" lang="en" sz="1100">
                <a:solidFill>
                  <a:srgbClr val="F2AB2F"/>
                </a:solidFill>
                <a:latin typeface="Montserrat"/>
                <a:ea typeface="Montserrat"/>
                <a:cs typeface="Montserrat"/>
                <a:sym typeface="Montserrat"/>
              </a:rPr>
              <a:t>Research &amp; Validation</a:t>
            </a:r>
            <a:endParaRPr sz="1100">
              <a:solidFill>
                <a:schemeClr val="dk1"/>
              </a:solidFill>
              <a:latin typeface="Montserrat Medium"/>
              <a:ea typeface="Montserrat Medium"/>
              <a:cs typeface="Montserrat Medium"/>
              <a:sym typeface="Montserrat Medium"/>
            </a:endParaRPr>
          </a:p>
          <a:p>
            <a:pPr indent="-177800" lvl="0" marL="228600" rtl="0" algn="just">
              <a:lnSpc>
                <a:spcPct val="115000"/>
              </a:lnSpc>
              <a:spcBef>
                <a:spcPts val="0"/>
              </a:spcBef>
              <a:spcAft>
                <a:spcPts val="0"/>
              </a:spcAft>
              <a:buClr>
                <a:schemeClr val="dk1"/>
              </a:buClr>
              <a:buSzPts val="1000"/>
              <a:buFont typeface="Montserrat Medium"/>
              <a:buChar char="●"/>
            </a:pPr>
            <a:r>
              <a:rPr lang="en" sz="1000">
                <a:solidFill>
                  <a:schemeClr val="dk1"/>
                </a:solidFill>
                <a:latin typeface="Montserrat Medium"/>
                <a:ea typeface="Montserrat Medium"/>
                <a:cs typeface="Montserrat Medium"/>
                <a:sym typeface="Montserrat Medium"/>
              </a:rPr>
              <a:t>Untuk fase eksplorasi diperbolehkan untuk menggunakan primary maupun secondary research.</a:t>
            </a:r>
            <a:endParaRPr sz="1000">
              <a:solidFill>
                <a:schemeClr val="dk1"/>
              </a:solidFill>
              <a:latin typeface="Montserrat Medium"/>
              <a:ea typeface="Montserrat Medium"/>
              <a:cs typeface="Montserrat Medium"/>
              <a:sym typeface="Montserrat Medium"/>
            </a:endParaRPr>
          </a:p>
          <a:p>
            <a:pPr indent="-177800" lvl="0" marL="228600" rtl="0" algn="just">
              <a:lnSpc>
                <a:spcPct val="115000"/>
              </a:lnSpc>
              <a:spcBef>
                <a:spcPts val="1000"/>
              </a:spcBef>
              <a:spcAft>
                <a:spcPts val="0"/>
              </a:spcAft>
              <a:buClr>
                <a:schemeClr val="dk1"/>
              </a:buClr>
              <a:buSzPts val="1000"/>
              <a:buFont typeface="Montserrat Medium"/>
              <a:buChar char="●"/>
            </a:pPr>
            <a:r>
              <a:rPr lang="en" sz="1000">
                <a:solidFill>
                  <a:schemeClr val="dk1"/>
                </a:solidFill>
                <a:latin typeface="Montserrat Medium"/>
                <a:ea typeface="Montserrat Medium"/>
                <a:cs typeface="Montserrat Medium"/>
                <a:sym typeface="Montserrat Medium"/>
              </a:rPr>
              <a:t>Untuk validasi dan testing wajib melakukan Usability Testing (UT) dengan jumlah minimum 5 participant.</a:t>
            </a:r>
            <a:endParaRPr sz="1000">
              <a:solidFill>
                <a:schemeClr val="dk1"/>
              </a:solidFill>
              <a:latin typeface="Montserrat Medium"/>
              <a:ea typeface="Montserrat Medium"/>
              <a:cs typeface="Montserrat Medium"/>
              <a:sym typeface="Montserrat Medium"/>
            </a:endParaRPr>
          </a:p>
          <a:p>
            <a:pPr indent="-177800" lvl="0" marL="228600" rtl="0" algn="just">
              <a:lnSpc>
                <a:spcPct val="115000"/>
              </a:lnSpc>
              <a:spcBef>
                <a:spcPts val="1000"/>
              </a:spcBef>
              <a:spcAft>
                <a:spcPts val="0"/>
              </a:spcAft>
              <a:buClr>
                <a:schemeClr val="dk1"/>
              </a:buClr>
              <a:buSzPts val="1000"/>
              <a:buFont typeface="Montserrat Medium"/>
              <a:buChar char="●"/>
            </a:pPr>
            <a:r>
              <a:rPr lang="en" sz="1000">
                <a:solidFill>
                  <a:schemeClr val="dk1"/>
                </a:solidFill>
                <a:latin typeface="Montserrat Medium"/>
                <a:ea typeface="Montserrat Medium"/>
                <a:cs typeface="Montserrat Medium"/>
                <a:sym typeface="Montserrat Medium"/>
              </a:rPr>
              <a:t>Dokumen UX report dengan format UX Portfolio dengan minimal berisi: </a:t>
            </a:r>
            <a:endParaRPr sz="1000">
              <a:solidFill>
                <a:schemeClr val="dk1"/>
              </a:solidFill>
              <a:latin typeface="Montserrat Medium"/>
              <a:ea typeface="Montserrat Medium"/>
              <a:cs typeface="Montserrat Medium"/>
              <a:sym typeface="Montserrat Medium"/>
            </a:endParaRPr>
          </a:p>
          <a:p>
            <a:pPr indent="0" lvl="0" marL="228600" rtl="0" algn="just">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a. Context/Overview</a:t>
            </a:r>
            <a:endParaRPr sz="1000">
              <a:solidFill>
                <a:schemeClr val="dk1"/>
              </a:solidFill>
              <a:latin typeface="Montserrat Medium"/>
              <a:ea typeface="Montserrat Medium"/>
              <a:cs typeface="Montserrat Medium"/>
              <a:sym typeface="Montserrat Medium"/>
            </a:endParaRPr>
          </a:p>
          <a:p>
            <a:pPr indent="0" lvl="0" marL="228600" rtl="0" algn="just">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b. Problem Statement</a:t>
            </a:r>
            <a:endParaRPr sz="1000">
              <a:solidFill>
                <a:schemeClr val="dk1"/>
              </a:solidFill>
              <a:latin typeface="Montserrat Medium"/>
              <a:ea typeface="Montserrat Medium"/>
              <a:cs typeface="Montserrat Medium"/>
              <a:sym typeface="Montserrat Medium"/>
            </a:endParaRPr>
          </a:p>
          <a:p>
            <a:pPr indent="0" lvl="0" marL="228600" rtl="0" algn="just">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c. Approach &amp; Process</a:t>
            </a:r>
            <a:endParaRPr sz="1000">
              <a:solidFill>
                <a:schemeClr val="dk1"/>
              </a:solidFill>
              <a:latin typeface="Montserrat Medium"/>
              <a:ea typeface="Montserrat Medium"/>
              <a:cs typeface="Montserrat Medium"/>
              <a:sym typeface="Montserrat Medium"/>
            </a:endParaRPr>
          </a:p>
          <a:p>
            <a:pPr indent="0" lvl="0" marL="228600" rtl="0" algn="just">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d. Design solution/Output</a:t>
            </a:r>
            <a:endParaRPr sz="1000">
              <a:solidFill>
                <a:schemeClr val="dk1"/>
              </a:solidFill>
              <a:latin typeface="Montserrat Medium"/>
              <a:ea typeface="Montserrat Medium"/>
              <a:cs typeface="Montserrat Medium"/>
              <a:sym typeface="Montserrat Medium"/>
            </a:endParaRPr>
          </a:p>
          <a:p>
            <a:pPr indent="0" lvl="0" marL="228600" rtl="0" algn="just">
              <a:lnSpc>
                <a:spcPct val="115000"/>
              </a:lnSpc>
              <a:spcBef>
                <a:spcPts val="0"/>
              </a:spcBef>
              <a:spcAft>
                <a:spcPts val="1000"/>
              </a:spcAft>
              <a:buNone/>
            </a:pPr>
            <a:r>
              <a:rPr lang="en" sz="1000">
                <a:solidFill>
                  <a:schemeClr val="dk1"/>
                </a:solidFill>
                <a:latin typeface="Montserrat Medium"/>
                <a:ea typeface="Montserrat Medium"/>
                <a:cs typeface="Montserrat Medium"/>
                <a:sym typeface="Montserrat Medium"/>
              </a:rPr>
              <a:t>e. Outcome</a:t>
            </a:r>
            <a:endParaRPr sz="1000">
              <a:solidFill>
                <a:schemeClr val="dk1"/>
              </a:solidFill>
              <a:latin typeface="Montserrat Medium"/>
              <a:ea typeface="Montserrat Medium"/>
              <a:cs typeface="Montserrat Medium"/>
              <a:sym typeface="Montserrat Medium"/>
            </a:endParaRPr>
          </a:p>
        </p:txBody>
      </p:sp>
      <p:pic>
        <p:nvPicPr>
          <p:cNvPr id="248" name="Google Shape;248;p31"/>
          <p:cNvPicPr preferRelativeResize="0"/>
          <p:nvPr/>
        </p:nvPicPr>
        <p:blipFill>
          <a:blip r:embed="rId3">
            <a:alphaModFix/>
          </a:blip>
          <a:stretch>
            <a:fillRect/>
          </a:stretch>
        </p:blipFill>
        <p:spPr>
          <a:xfrm flipH="1">
            <a:off x="5828596" y="847101"/>
            <a:ext cx="1957076" cy="370892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4" name="Google Shape;254;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Deliverable </a:t>
            </a:r>
            <a:endParaRPr/>
          </a:p>
        </p:txBody>
      </p:sp>
      <p:sp>
        <p:nvSpPr>
          <p:cNvPr id="255" name="Google Shape;255;p32"/>
          <p:cNvSpPr txBox="1"/>
          <p:nvPr/>
        </p:nvSpPr>
        <p:spPr>
          <a:xfrm>
            <a:off x="525100" y="1036325"/>
            <a:ext cx="4291500" cy="36714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Deliverable Final Project</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1000"/>
              </a:spcBef>
              <a:spcAft>
                <a:spcPts val="0"/>
              </a:spcAft>
              <a:buNone/>
            </a:pPr>
            <a:r>
              <a:rPr b="1" lang="en" sz="1100">
                <a:solidFill>
                  <a:srgbClr val="F2AB2F"/>
                </a:solidFill>
                <a:highlight>
                  <a:schemeClr val="lt1"/>
                </a:highlight>
                <a:latin typeface="Montserrat"/>
                <a:ea typeface="Montserrat"/>
                <a:cs typeface="Montserrat"/>
                <a:sym typeface="Montserrat"/>
              </a:rPr>
              <a:t>UI/UX</a:t>
            </a:r>
            <a:endParaRPr b="1" sz="1100">
              <a:solidFill>
                <a:srgbClr val="F2AB2F"/>
              </a:solidFill>
              <a:highlight>
                <a:schemeClr val="lt1"/>
              </a:highlight>
              <a:latin typeface="Montserrat"/>
              <a:ea typeface="Montserrat"/>
              <a:cs typeface="Montserrat"/>
              <a:sym typeface="Montserrat"/>
            </a:endParaRPr>
          </a:p>
          <a:p>
            <a:pPr indent="0" lvl="0" marL="0" rtl="0" algn="l">
              <a:lnSpc>
                <a:spcPct val="115000"/>
              </a:lnSpc>
              <a:spcBef>
                <a:spcPts val="1000"/>
              </a:spcBef>
              <a:spcAft>
                <a:spcPts val="0"/>
              </a:spcAft>
              <a:buNone/>
            </a:pPr>
            <a:r>
              <a:rPr lang="en" sz="1000">
                <a:solidFill>
                  <a:schemeClr val="dk1"/>
                </a:solidFill>
                <a:latin typeface="Montserrat Medium"/>
                <a:ea typeface="Montserrat Medium"/>
                <a:cs typeface="Montserrat Medium"/>
                <a:sym typeface="Montserrat Medium"/>
              </a:rPr>
              <a:t>Berikut adalah deliverables (output) dari final project untuk anggota kelompok dari kelas UI/UX:</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1000"/>
              </a:spcBef>
              <a:spcAft>
                <a:spcPts val="0"/>
              </a:spcAft>
              <a:buClr>
                <a:schemeClr val="dk1"/>
              </a:buClr>
              <a:buSzPts val="1000"/>
              <a:buFont typeface="Montserrat Medium"/>
              <a:buAutoNum type="arabicParenR"/>
            </a:pPr>
            <a:r>
              <a:rPr lang="en" sz="1000">
                <a:solidFill>
                  <a:schemeClr val="dk1"/>
                </a:solidFill>
                <a:latin typeface="Montserrat Medium"/>
                <a:ea typeface="Montserrat Medium"/>
                <a:cs typeface="Montserrat Medium"/>
                <a:sym typeface="Montserrat Medium"/>
              </a:rPr>
              <a:t>Sebuah unggahan berupa deck yang mendokumentasikan seluruh proses desain kamu secara tulisan dan gambar, desain high-fidelity, hasil riset UX dan usability testing. Kamu juga diharapkan melakukan posting pada platform portfolio/blog kamu seperti melalui Medium, LinkedIn dsb.</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1000"/>
              </a:spcBef>
              <a:spcAft>
                <a:spcPts val="1000"/>
              </a:spcAft>
              <a:buClr>
                <a:schemeClr val="dk1"/>
              </a:buClr>
              <a:buSzPts val="1000"/>
              <a:buFont typeface="Montserrat Medium"/>
              <a:buAutoNum type="arabicParenR"/>
            </a:pPr>
            <a:r>
              <a:rPr lang="en" sz="1000">
                <a:solidFill>
                  <a:schemeClr val="dk1"/>
                </a:solidFill>
                <a:latin typeface="Montserrat Medium"/>
                <a:ea typeface="Montserrat Medium"/>
                <a:cs typeface="Montserrat Medium"/>
                <a:sym typeface="Montserrat Medium"/>
              </a:rPr>
              <a:t>Figma file (.fig) yang berisi desain produk digital (prototypes) kamu yang bisa di klik untuk pratinjau desain yang telah dibuat beserta dengan desain sistemnya (bisa juga link figma filenya disematkan dalam decknya).</a:t>
            </a:r>
            <a:endParaRPr sz="1000">
              <a:solidFill>
                <a:schemeClr val="dk1"/>
              </a:solidFill>
              <a:latin typeface="Montserrat Medium"/>
              <a:ea typeface="Montserrat Medium"/>
              <a:cs typeface="Montserrat Medium"/>
              <a:sym typeface="Montserrat Medium"/>
            </a:endParaRPr>
          </a:p>
        </p:txBody>
      </p:sp>
      <p:pic>
        <p:nvPicPr>
          <p:cNvPr id="256" name="Google Shape;256;p32"/>
          <p:cNvPicPr preferRelativeResize="0"/>
          <p:nvPr/>
        </p:nvPicPr>
        <p:blipFill>
          <a:blip r:embed="rId3">
            <a:alphaModFix/>
          </a:blip>
          <a:stretch>
            <a:fillRect/>
          </a:stretch>
        </p:blipFill>
        <p:spPr>
          <a:xfrm>
            <a:off x="5192400" y="1287750"/>
            <a:ext cx="3629302" cy="316855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2" name="Google Shape;262;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Deliverable </a:t>
            </a:r>
            <a:endParaRPr/>
          </a:p>
        </p:txBody>
      </p:sp>
      <p:pic>
        <p:nvPicPr>
          <p:cNvPr id="263" name="Google Shape;263;p33"/>
          <p:cNvPicPr preferRelativeResize="0"/>
          <p:nvPr/>
        </p:nvPicPr>
        <p:blipFill>
          <a:blip r:embed="rId3">
            <a:alphaModFix/>
          </a:blip>
          <a:stretch>
            <a:fillRect/>
          </a:stretch>
        </p:blipFill>
        <p:spPr>
          <a:xfrm>
            <a:off x="5148800" y="1287750"/>
            <a:ext cx="3629302" cy="3168551"/>
          </a:xfrm>
          <a:prstGeom prst="rect">
            <a:avLst/>
          </a:prstGeom>
          <a:noFill/>
          <a:ln>
            <a:noFill/>
          </a:ln>
        </p:spPr>
      </p:pic>
      <p:sp>
        <p:nvSpPr>
          <p:cNvPr id="264" name="Google Shape;264;p33"/>
          <p:cNvSpPr txBox="1"/>
          <p:nvPr/>
        </p:nvSpPr>
        <p:spPr>
          <a:xfrm>
            <a:off x="512550" y="883775"/>
            <a:ext cx="4304100" cy="36714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b="1" lang="en" sz="1100">
                <a:solidFill>
                  <a:srgbClr val="F2AB2F"/>
                </a:solidFill>
                <a:highlight>
                  <a:schemeClr val="lt1"/>
                </a:highlight>
                <a:latin typeface="Montserrat"/>
                <a:ea typeface="Montserrat"/>
                <a:cs typeface="Montserrat"/>
                <a:sym typeface="Montserrat"/>
              </a:rPr>
              <a:t>Product Management</a:t>
            </a:r>
            <a:endParaRPr b="1" sz="1100">
              <a:solidFill>
                <a:srgbClr val="F2AB2F"/>
              </a:solidFill>
              <a:highlight>
                <a:schemeClr val="lt1"/>
              </a:highlight>
              <a:latin typeface="Montserrat"/>
              <a:ea typeface="Montserrat"/>
              <a:cs typeface="Montserrat"/>
              <a:sym typeface="Montserrat"/>
            </a:endParaRPr>
          </a:p>
          <a:p>
            <a:pPr indent="0" lvl="0" marL="0" rtl="0" algn="l">
              <a:lnSpc>
                <a:spcPct val="115000"/>
              </a:lnSpc>
              <a:spcBef>
                <a:spcPts val="1000"/>
              </a:spcBef>
              <a:spcAft>
                <a:spcPts val="0"/>
              </a:spcAft>
              <a:buNone/>
            </a:pPr>
            <a:r>
              <a:rPr lang="en" sz="1000">
                <a:solidFill>
                  <a:schemeClr val="dk1"/>
                </a:solidFill>
                <a:latin typeface="Montserrat Medium"/>
                <a:ea typeface="Montserrat Medium"/>
                <a:cs typeface="Montserrat Medium"/>
                <a:sym typeface="Montserrat Medium"/>
              </a:rPr>
              <a:t>Berikut adalah deliverables (output) dari final project untuk anggota kelompok dari kelas PM:</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1000"/>
              </a:spcBef>
              <a:spcAft>
                <a:spcPts val="0"/>
              </a:spcAft>
              <a:buClr>
                <a:schemeClr val="dk1"/>
              </a:buClr>
              <a:buSzPts val="1000"/>
              <a:buFont typeface="Montserrat Medium"/>
              <a:buAutoNum type="arabicParenR"/>
            </a:pPr>
            <a:r>
              <a:rPr lang="en" sz="1000">
                <a:solidFill>
                  <a:schemeClr val="dk1"/>
                </a:solidFill>
                <a:latin typeface="Montserrat Medium"/>
                <a:ea typeface="Montserrat Medium"/>
                <a:cs typeface="Montserrat Medium"/>
                <a:sym typeface="Montserrat Medium"/>
              </a:rPr>
              <a:t>Menuangkan hasil riset, business model, PRD, dan test case ke dalam sebuah deck.</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1000"/>
              </a:spcBef>
              <a:spcAft>
                <a:spcPts val="0"/>
              </a:spcAft>
              <a:buClr>
                <a:schemeClr val="dk1"/>
              </a:buClr>
              <a:buSzPts val="1000"/>
              <a:buFont typeface="Montserrat Medium"/>
              <a:buAutoNum type="arabicParenR"/>
            </a:pPr>
            <a:r>
              <a:rPr lang="en" sz="1000">
                <a:solidFill>
                  <a:schemeClr val="dk1"/>
                </a:solidFill>
                <a:latin typeface="Montserrat Medium"/>
                <a:ea typeface="Montserrat Medium"/>
                <a:cs typeface="Montserrat Medium"/>
                <a:sym typeface="Montserrat Medium"/>
              </a:rPr>
              <a:t>Tambahkan juga screenshot tampilan track development process dengan menggunakan Trello</a:t>
            </a:r>
            <a:r>
              <a:rPr lang="en" sz="1000">
                <a:solidFill>
                  <a:schemeClr val="dk1"/>
                </a:solidFill>
                <a:latin typeface="Montserrat Medium"/>
                <a:ea typeface="Montserrat Medium"/>
                <a:cs typeface="Montserrat Medium"/>
                <a:sym typeface="Montserrat Medium"/>
              </a:rPr>
              <a:t> ke dalam deck tersebut.</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1000"/>
              </a:spcBef>
              <a:spcAft>
                <a:spcPts val="1000"/>
              </a:spcAft>
              <a:buClr>
                <a:schemeClr val="dk1"/>
              </a:buClr>
              <a:buSzPts val="1000"/>
              <a:buFont typeface="Montserrat Medium"/>
              <a:buAutoNum type="arabicParenR"/>
            </a:pPr>
            <a:r>
              <a:rPr lang="en" sz="1000">
                <a:solidFill>
                  <a:schemeClr val="dk1"/>
                </a:solidFill>
                <a:latin typeface="Montserrat Medium"/>
                <a:ea typeface="Montserrat Medium"/>
                <a:cs typeface="Montserrat Medium"/>
                <a:sym typeface="Montserrat Medium"/>
              </a:rPr>
              <a:t>K</a:t>
            </a:r>
            <a:r>
              <a:rPr lang="en" sz="1000">
                <a:solidFill>
                  <a:schemeClr val="dk1"/>
                </a:solidFill>
                <a:latin typeface="Montserrat Medium"/>
                <a:ea typeface="Montserrat Medium"/>
                <a:cs typeface="Montserrat Medium"/>
                <a:sym typeface="Montserrat Medium"/>
              </a:rPr>
              <a:t>emudian seluruh penjelasan proses bisnis tersebut diunggah sebagai </a:t>
            </a:r>
            <a:r>
              <a:rPr lang="en" sz="1000">
                <a:solidFill>
                  <a:schemeClr val="dk1"/>
                </a:solidFill>
                <a:latin typeface="Montserrat Medium"/>
                <a:ea typeface="Montserrat Medium"/>
                <a:cs typeface="Montserrat Medium"/>
                <a:sym typeface="Montserrat Medium"/>
              </a:rPr>
              <a:t>portfolio ke dalam platform seperti Medium, LinkedIn dsb.</a:t>
            </a:r>
            <a:r>
              <a:rPr lang="en" sz="1000">
                <a:solidFill>
                  <a:schemeClr val="dk1"/>
                </a:solidFill>
                <a:latin typeface="Montserrat Medium"/>
                <a:ea typeface="Montserrat Medium"/>
                <a:cs typeface="Montserrat Medium"/>
                <a:sym typeface="Montserrat Medium"/>
              </a:rPr>
              <a:t> Sematkan link platform tersebut ke dalam deck.</a:t>
            </a:r>
            <a:endParaRPr sz="10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0" name="Google Shape;270;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Deliverable </a:t>
            </a:r>
            <a:endParaRPr/>
          </a:p>
        </p:txBody>
      </p:sp>
      <p:sp>
        <p:nvSpPr>
          <p:cNvPr id="271" name="Google Shape;271;p34"/>
          <p:cNvSpPr txBox="1"/>
          <p:nvPr/>
        </p:nvSpPr>
        <p:spPr>
          <a:xfrm>
            <a:off x="520350" y="1036325"/>
            <a:ext cx="4296300" cy="3671400"/>
          </a:xfrm>
          <a:prstGeom prst="rect">
            <a:avLst/>
          </a:prstGeom>
          <a:noFill/>
          <a:ln>
            <a:noFill/>
          </a:ln>
        </p:spPr>
        <p:txBody>
          <a:bodyPr anchorCtr="0" anchor="ctr"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Setelah kamu tau apa aja deliverable final project, salah satu perwakilan anggota kelompok dari masing-masing </a:t>
            </a:r>
            <a:r>
              <a:rPr lang="en" sz="1000">
                <a:solidFill>
                  <a:schemeClr val="dk1"/>
                </a:solidFill>
                <a:latin typeface="Montserrat Medium"/>
                <a:ea typeface="Montserrat Medium"/>
                <a:cs typeface="Montserrat Medium"/>
                <a:sym typeface="Montserrat Medium"/>
              </a:rPr>
              <a:t>skuadnya</a:t>
            </a:r>
            <a:r>
              <a:rPr lang="en" sz="1000">
                <a:solidFill>
                  <a:schemeClr val="dk1"/>
                </a:solidFill>
                <a:latin typeface="Montserrat Medium"/>
                <a:ea typeface="Montserrat Medium"/>
                <a:cs typeface="Montserrat Medium"/>
                <a:sym typeface="Montserrat Medium"/>
              </a:rPr>
              <a:t> (dari UI/UX satu orang, dari PM satu orang) dipilih untuk </a:t>
            </a:r>
            <a:r>
              <a:rPr b="1" lang="en" sz="1000">
                <a:solidFill>
                  <a:schemeClr val="dk1"/>
                </a:solidFill>
                <a:latin typeface="Montserrat"/>
                <a:ea typeface="Montserrat"/>
                <a:cs typeface="Montserrat"/>
                <a:sym typeface="Montserrat"/>
              </a:rPr>
              <a:t>mempresentasikan </a:t>
            </a:r>
            <a:r>
              <a:rPr lang="en" sz="1000">
                <a:solidFill>
                  <a:schemeClr val="dk1"/>
                </a:solidFill>
                <a:latin typeface="Montserrat Medium"/>
                <a:ea typeface="Montserrat Medium"/>
                <a:cs typeface="Montserrat Medium"/>
                <a:sym typeface="Montserrat Medium"/>
              </a:rPr>
              <a:t>dari awal temuan, proses, hingga hasil project </a:t>
            </a:r>
            <a:r>
              <a:rPr b="1" lang="en" sz="1000">
                <a:solidFill>
                  <a:schemeClr val="dk1"/>
                </a:solidFill>
                <a:latin typeface="Montserrat"/>
                <a:ea typeface="Montserrat"/>
                <a:cs typeface="Montserrat"/>
                <a:sym typeface="Montserrat"/>
              </a:rPr>
              <a:t>selama  10 menit kepada tim penguji dan audiens lainya.</a:t>
            </a:r>
            <a:endParaRPr b="1"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Medium"/>
                <a:ea typeface="Montserrat Medium"/>
                <a:cs typeface="Montserrat Medium"/>
                <a:sym typeface="Montserrat Medium"/>
              </a:rPr>
              <a:t>Jadi b</a:t>
            </a:r>
            <a:r>
              <a:rPr lang="en" sz="1000">
                <a:solidFill>
                  <a:schemeClr val="dk1"/>
                </a:solidFill>
                <a:latin typeface="Montserrat Medium"/>
                <a:ea typeface="Montserrat Medium"/>
                <a:cs typeface="Montserrat Medium"/>
                <a:sym typeface="Montserrat Medium"/>
              </a:rPr>
              <a:t>uatlah presentasi yang singkat dan manis yaaa! dan</a:t>
            </a:r>
            <a:r>
              <a:rPr lang="en" sz="1000">
                <a:solidFill>
                  <a:schemeClr val="dk1"/>
                </a:solidFill>
                <a:latin typeface="Montserrat Medium"/>
                <a:ea typeface="Montserrat Medium"/>
                <a:cs typeface="Montserrat Medium"/>
                <a:sym typeface="Montserrat Medium"/>
              </a:rPr>
              <a:t> </a:t>
            </a:r>
            <a:r>
              <a:rPr lang="en" sz="1000">
                <a:solidFill>
                  <a:schemeClr val="dk1"/>
                </a:solidFill>
                <a:latin typeface="Montserrat Medium"/>
                <a:ea typeface="Montserrat Medium"/>
                <a:cs typeface="Montserrat Medium"/>
                <a:sym typeface="Montserrat Medium"/>
              </a:rPr>
              <a:t>buat audiens jatuh cinta terhadap hasil proyekmu dalam waktu 10 menit.</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1000"/>
              </a:spcBef>
              <a:spcAft>
                <a:spcPts val="1000"/>
              </a:spcAft>
              <a:buNone/>
            </a:pPr>
            <a:r>
              <a:t/>
            </a:r>
            <a:endParaRPr b="1" sz="1100">
              <a:solidFill>
                <a:srgbClr val="F2AB2F"/>
              </a:solidFill>
              <a:highlight>
                <a:schemeClr val="lt1"/>
              </a:highlight>
              <a:latin typeface="Montserrat"/>
              <a:ea typeface="Montserrat"/>
              <a:cs typeface="Montserrat"/>
              <a:sym typeface="Montserrat"/>
            </a:endParaRPr>
          </a:p>
        </p:txBody>
      </p:sp>
      <p:pic>
        <p:nvPicPr>
          <p:cNvPr id="272" name="Google Shape;272;p34"/>
          <p:cNvPicPr preferRelativeResize="0"/>
          <p:nvPr/>
        </p:nvPicPr>
        <p:blipFill>
          <a:blip r:embed="rId3">
            <a:alphaModFix/>
          </a:blip>
          <a:stretch>
            <a:fillRect/>
          </a:stretch>
        </p:blipFill>
        <p:spPr>
          <a:xfrm>
            <a:off x="6417475" y="1772279"/>
            <a:ext cx="2168549" cy="2369324"/>
          </a:xfrm>
          <a:prstGeom prst="rect">
            <a:avLst/>
          </a:prstGeom>
          <a:noFill/>
          <a:ln>
            <a:noFill/>
          </a:ln>
        </p:spPr>
      </p:pic>
      <p:pic>
        <p:nvPicPr>
          <p:cNvPr id="273" name="Google Shape;273;p34"/>
          <p:cNvPicPr preferRelativeResize="0"/>
          <p:nvPr/>
        </p:nvPicPr>
        <p:blipFill>
          <a:blip r:embed="rId4">
            <a:alphaModFix/>
          </a:blip>
          <a:stretch>
            <a:fillRect/>
          </a:stretch>
        </p:blipFill>
        <p:spPr>
          <a:xfrm>
            <a:off x="5182275" y="1370700"/>
            <a:ext cx="2002652" cy="294009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9" name="Google Shape;279;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Scoring</a:t>
            </a:r>
            <a:endParaRPr/>
          </a:p>
        </p:txBody>
      </p:sp>
      <p:sp>
        <p:nvSpPr>
          <p:cNvPr id="280" name="Google Shape;280;p35"/>
          <p:cNvSpPr txBox="1"/>
          <p:nvPr/>
        </p:nvSpPr>
        <p:spPr>
          <a:xfrm>
            <a:off x="979950" y="1410400"/>
            <a:ext cx="7184100" cy="5676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160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Scoring Final Project</a:t>
            </a:r>
            <a:endParaRPr sz="1000">
              <a:solidFill>
                <a:schemeClr val="dk1"/>
              </a:solidFill>
              <a:latin typeface="Montserrat Medium"/>
              <a:ea typeface="Montserrat Medium"/>
              <a:cs typeface="Montserrat Medium"/>
              <a:sym typeface="Montserrat Medium"/>
            </a:endParaRPr>
          </a:p>
          <a:p>
            <a:pPr indent="0" lvl="0" marL="0" rtl="0" algn="ctr">
              <a:lnSpc>
                <a:spcPct val="115000"/>
              </a:lnSpc>
              <a:spcBef>
                <a:spcPts val="0"/>
              </a:spcBef>
              <a:spcAft>
                <a:spcPts val="1000"/>
              </a:spcAft>
              <a:buNone/>
            </a:pPr>
            <a:r>
              <a:rPr lang="en" sz="1000">
                <a:solidFill>
                  <a:schemeClr val="dk2"/>
                </a:solidFill>
                <a:latin typeface="Montserrat Medium"/>
                <a:ea typeface="Montserrat Medium"/>
                <a:cs typeface="Montserrat Medium"/>
                <a:sym typeface="Montserrat Medium"/>
              </a:rPr>
              <a:t>Penilaian yang perlu dicapai oleh setiap student UI/UX mengacu pada lima kriteria/parameter</a:t>
            </a:r>
            <a:r>
              <a:rPr lang="en" sz="1000">
                <a:solidFill>
                  <a:schemeClr val="dk2"/>
                </a:solidFill>
                <a:latin typeface="Montserrat Medium"/>
                <a:ea typeface="Montserrat Medium"/>
                <a:cs typeface="Montserrat Medium"/>
                <a:sym typeface="Montserrat Medium"/>
              </a:rPr>
              <a:t> berikut ini.</a:t>
            </a:r>
            <a:endParaRPr sz="1000">
              <a:solidFill>
                <a:schemeClr val="dk2"/>
              </a:solidFill>
              <a:latin typeface="Montserrat Medium"/>
              <a:ea typeface="Montserrat Medium"/>
              <a:cs typeface="Montserrat Medium"/>
              <a:sym typeface="Montserrat Medium"/>
            </a:endParaRPr>
          </a:p>
        </p:txBody>
      </p:sp>
      <p:graphicFrame>
        <p:nvGraphicFramePr>
          <p:cNvPr id="281" name="Google Shape;281;p35"/>
          <p:cNvGraphicFramePr/>
          <p:nvPr/>
        </p:nvGraphicFramePr>
        <p:xfrm>
          <a:off x="657575" y="2345088"/>
          <a:ext cx="3000000" cy="3000000"/>
        </p:xfrm>
        <a:graphic>
          <a:graphicData uri="http://schemas.openxmlformats.org/drawingml/2006/table">
            <a:tbl>
              <a:tblPr>
                <a:noFill/>
                <a:tableStyleId>{B5A97A8F-656E-40D3-8F3B-674C121DEB42}</a:tableStyleId>
              </a:tblPr>
              <a:tblGrid>
                <a:gridCol w="1587500"/>
                <a:gridCol w="1587500"/>
                <a:gridCol w="1587500"/>
                <a:gridCol w="1587500"/>
                <a:gridCol w="1587500"/>
              </a:tblGrid>
              <a:tr h="100000">
                <a:tc>
                  <a:txBody>
                    <a:bodyPr/>
                    <a:lstStyle/>
                    <a:p>
                      <a:pPr indent="0" lvl="0" marL="0" rtl="0" algn="ctr">
                        <a:lnSpc>
                          <a:spcPct val="115000"/>
                        </a:lnSpc>
                        <a:spcBef>
                          <a:spcPts val="0"/>
                        </a:spcBef>
                        <a:spcAft>
                          <a:spcPts val="0"/>
                        </a:spcAft>
                        <a:buNone/>
                      </a:pPr>
                      <a:r>
                        <a:rPr b="1" lang="en" sz="1200">
                          <a:solidFill>
                            <a:srgbClr val="FFFFFF"/>
                          </a:solidFill>
                          <a:latin typeface="Proxima Nova"/>
                          <a:ea typeface="Proxima Nova"/>
                          <a:cs typeface="Proxima Nova"/>
                          <a:sym typeface="Proxima Nova"/>
                        </a:rPr>
                        <a:t>Product:</a:t>
                      </a:r>
                      <a:endParaRPr b="1" sz="1200">
                        <a:solidFill>
                          <a:srgbClr val="FFFFFF"/>
                        </a:solidFill>
                        <a:latin typeface="Proxima Nova"/>
                        <a:ea typeface="Proxima Nova"/>
                        <a:cs typeface="Proxima Nova"/>
                        <a:sym typeface="Proxima Nova"/>
                      </a:endParaRPr>
                    </a:p>
                    <a:p>
                      <a:pPr indent="0" lvl="0" marL="0" rtl="0" algn="ctr">
                        <a:lnSpc>
                          <a:spcPct val="115000"/>
                        </a:lnSpc>
                        <a:spcBef>
                          <a:spcPts val="1000"/>
                        </a:spcBef>
                        <a:spcAft>
                          <a:spcPts val="0"/>
                        </a:spcAft>
                        <a:buNone/>
                      </a:pPr>
                      <a:r>
                        <a:rPr lang="en" sz="900">
                          <a:solidFill>
                            <a:srgbClr val="FFFFFF"/>
                          </a:solidFill>
                          <a:latin typeface="Proxima Nova"/>
                          <a:ea typeface="Proxima Nova"/>
                          <a:cs typeface="Proxima Nova"/>
                          <a:sym typeface="Proxima Nova"/>
                        </a:rPr>
                        <a:t>Able to communicate how the product helps the user and business</a:t>
                      </a:r>
                      <a:endParaRPr sz="900">
                        <a:solidFill>
                          <a:srgbClr val="FFFFFF"/>
                        </a:solidFill>
                        <a:latin typeface="Proxima Nova"/>
                        <a:ea typeface="Proxima Nova"/>
                        <a:cs typeface="Proxima Nova"/>
                        <a:sym typeface="Proxima Nova"/>
                      </a:endParaRPr>
                    </a:p>
                  </a:txBody>
                  <a:tcPr marT="19050" marB="19050" marR="28575" marL="2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743673"/>
                    </a:solidFill>
                  </a:tcPr>
                </a:tc>
                <a:tc>
                  <a:txBody>
                    <a:bodyPr/>
                    <a:lstStyle/>
                    <a:p>
                      <a:pPr indent="0" lvl="0" marL="0" rtl="0" algn="ctr">
                        <a:lnSpc>
                          <a:spcPct val="115000"/>
                        </a:lnSpc>
                        <a:spcBef>
                          <a:spcPts val="0"/>
                        </a:spcBef>
                        <a:spcAft>
                          <a:spcPts val="0"/>
                        </a:spcAft>
                        <a:buNone/>
                      </a:pPr>
                      <a:r>
                        <a:rPr b="1" lang="en" sz="1200">
                          <a:solidFill>
                            <a:srgbClr val="FFFFFF"/>
                          </a:solidFill>
                          <a:latin typeface="Proxima Nova"/>
                          <a:ea typeface="Proxima Nova"/>
                          <a:cs typeface="Proxima Nova"/>
                          <a:sym typeface="Proxima Nova"/>
                        </a:rPr>
                        <a:t>User flow:</a:t>
                      </a:r>
                      <a:endParaRPr b="1" sz="1200">
                        <a:solidFill>
                          <a:srgbClr val="FFFFFF"/>
                        </a:solidFill>
                        <a:latin typeface="Proxima Nova"/>
                        <a:ea typeface="Proxima Nova"/>
                        <a:cs typeface="Proxima Nova"/>
                        <a:sym typeface="Proxima Nova"/>
                      </a:endParaRPr>
                    </a:p>
                    <a:p>
                      <a:pPr indent="0" lvl="0" marL="0" rtl="0" algn="ctr">
                        <a:lnSpc>
                          <a:spcPct val="115000"/>
                        </a:lnSpc>
                        <a:spcBef>
                          <a:spcPts val="1000"/>
                        </a:spcBef>
                        <a:spcAft>
                          <a:spcPts val="0"/>
                        </a:spcAft>
                        <a:buNone/>
                      </a:pPr>
                      <a:r>
                        <a:rPr lang="en" sz="900">
                          <a:solidFill>
                            <a:srgbClr val="FFFFFF"/>
                          </a:solidFill>
                          <a:latin typeface="Proxima Nova"/>
                          <a:ea typeface="Proxima Nova"/>
                          <a:cs typeface="Proxima Nova"/>
                          <a:sym typeface="Proxima Nova"/>
                        </a:rPr>
                        <a:t>Able to create and communicate User Flow effectively and easy to understand</a:t>
                      </a:r>
                      <a:endParaRPr sz="900">
                        <a:solidFill>
                          <a:srgbClr val="FFFFFF"/>
                        </a:solidFill>
                        <a:latin typeface="Proxima Nova"/>
                        <a:ea typeface="Proxima Nova"/>
                        <a:cs typeface="Proxima Nova"/>
                        <a:sym typeface="Proxima Nova"/>
                      </a:endParaRPr>
                    </a:p>
                  </a:txBody>
                  <a:tcPr marT="19050" marB="19050" marR="28575" marL="2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743673"/>
                    </a:solidFill>
                  </a:tcPr>
                </a:tc>
                <a:tc>
                  <a:txBody>
                    <a:bodyPr/>
                    <a:lstStyle/>
                    <a:p>
                      <a:pPr indent="0" lvl="0" marL="0" rtl="0" algn="ctr">
                        <a:lnSpc>
                          <a:spcPct val="115000"/>
                        </a:lnSpc>
                        <a:spcBef>
                          <a:spcPts val="0"/>
                        </a:spcBef>
                        <a:spcAft>
                          <a:spcPts val="0"/>
                        </a:spcAft>
                        <a:buNone/>
                      </a:pPr>
                      <a:r>
                        <a:rPr b="1" lang="en" sz="1200">
                          <a:solidFill>
                            <a:srgbClr val="FFFFFF"/>
                          </a:solidFill>
                          <a:latin typeface="Proxima Nova"/>
                          <a:ea typeface="Proxima Nova"/>
                          <a:cs typeface="Proxima Nova"/>
                          <a:sym typeface="Proxima Nova"/>
                        </a:rPr>
                        <a:t>High Fidelity:</a:t>
                      </a:r>
                      <a:endParaRPr b="1" sz="1200">
                        <a:solidFill>
                          <a:srgbClr val="FFFFFF"/>
                        </a:solidFill>
                        <a:latin typeface="Proxima Nova"/>
                        <a:ea typeface="Proxima Nova"/>
                        <a:cs typeface="Proxima Nova"/>
                        <a:sym typeface="Proxima Nova"/>
                      </a:endParaRPr>
                    </a:p>
                    <a:p>
                      <a:pPr indent="0" lvl="0" marL="0" rtl="0" algn="ctr">
                        <a:lnSpc>
                          <a:spcPct val="115000"/>
                        </a:lnSpc>
                        <a:spcBef>
                          <a:spcPts val="1000"/>
                        </a:spcBef>
                        <a:spcAft>
                          <a:spcPts val="0"/>
                        </a:spcAft>
                        <a:buNone/>
                      </a:pPr>
                      <a:r>
                        <a:rPr lang="en" sz="900">
                          <a:solidFill>
                            <a:srgbClr val="FFFFFF"/>
                          </a:solidFill>
                          <a:latin typeface="Proxima Nova"/>
                          <a:ea typeface="Proxima Nova"/>
                          <a:cs typeface="Proxima Nova"/>
                          <a:sym typeface="Proxima Nova"/>
                        </a:rPr>
                        <a:t>Able to make high fidelity design by using Figma</a:t>
                      </a:r>
                      <a:endParaRPr sz="900">
                        <a:solidFill>
                          <a:srgbClr val="FFFFFF"/>
                        </a:solidFill>
                        <a:latin typeface="Proxima Nova"/>
                        <a:ea typeface="Proxima Nova"/>
                        <a:cs typeface="Proxima Nova"/>
                        <a:sym typeface="Proxima Nova"/>
                      </a:endParaRPr>
                    </a:p>
                  </a:txBody>
                  <a:tcPr marT="19050" marB="19050" marR="28575" marL="2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743673"/>
                    </a:solidFill>
                  </a:tcPr>
                </a:tc>
                <a:tc>
                  <a:txBody>
                    <a:bodyPr/>
                    <a:lstStyle/>
                    <a:p>
                      <a:pPr indent="0" lvl="0" marL="0" rtl="0" algn="ctr">
                        <a:lnSpc>
                          <a:spcPct val="115000"/>
                        </a:lnSpc>
                        <a:spcBef>
                          <a:spcPts val="0"/>
                        </a:spcBef>
                        <a:spcAft>
                          <a:spcPts val="0"/>
                        </a:spcAft>
                        <a:buNone/>
                      </a:pPr>
                      <a:r>
                        <a:rPr b="1" lang="en" sz="1200">
                          <a:solidFill>
                            <a:srgbClr val="FFFFFF"/>
                          </a:solidFill>
                          <a:latin typeface="Proxima Nova"/>
                          <a:ea typeface="Proxima Nova"/>
                          <a:cs typeface="Proxima Nova"/>
                          <a:sym typeface="Proxima Nova"/>
                        </a:rPr>
                        <a:t>Visual:</a:t>
                      </a:r>
                      <a:endParaRPr b="1" sz="1200">
                        <a:solidFill>
                          <a:srgbClr val="FFFFFF"/>
                        </a:solidFill>
                        <a:latin typeface="Proxima Nova"/>
                        <a:ea typeface="Proxima Nova"/>
                        <a:cs typeface="Proxima Nova"/>
                        <a:sym typeface="Proxima Nova"/>
                      </a:endParaRPr>
                    </a:p>
                    <a:p>
                      <a:pPr indent="0" lvl="0" marL="0" rtl="0" algn="ctr">
                        <a:lnSpc>
                          <a:spcPct val="115000"/>
                        </a:lnSpc>
                        <a:spcBef>
                          <a:spcPts val="1000"/>
                        </a:spcBef>
                        <a:spcAft>
                          <a:spcPts val="0"/>
                        </a:spcAft>
                        <a:buNone/>
                      </a:pPr>
                      <a:r>
                        <a:rPr lang="en" sz="900">
                          <a:solidFill>
                            <a:srgbClr val="FFFFFF"/>
                          </a:solidFill>
                          <a:latin typeface="Proxima Nova"/>
                          <a:ea typeface="Proxima Nova"/>
                          <a:cs typeface="Proxima Nova"/>
                          <a:sym typeface="Proxima Nova"/>
                        </a:rPr>
                        <a:t>Able to show attractive, good-looking and pleasing visual design</a:t>
                      </a:r>
                      <a:endParaRPr sz="900">
                        <a:solidFill>
                          <a:srgbClr val="FFFFFF"/>
                        </a:solidFill>
                        <a:latin typeface="Proxima Nova"/>
                        <a:ea typeface="Proxima Nova"/>
                        <a:cs typeface="Proxima Nova"/>
                        <a:sym typeface="Proxima Nova"/>
                      </a:endParaRPr>
                    </a:p>
                  </a:txBody>
                  <a:tcPr marT="19050" marB="19050" marR="28575" marL="2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743673"/>
                    </a:solidFill>
                  </a:tcPr>
                </a:tc>
                <a:tc>
                  <a:txBody>
                    <a:bodyPr/>
                    <a:lstStyle/>
                    <a:p>
                      <a:pPr indent="0" lvl="0" marL="0" rtl="0" algn="ctr">
                        <a:lnSpc>
                          <a:spcPct val="115000"/>
                        </a:lnSpc>
                        <a:spcBef>
                          <a:spcPts val="0"/>
                        </a:spcBef>
                        <a:spcAft>
                          <a:spcPts val="0"/>
                        </a:spcAft>
                        <a:buNone/>
                      </a:pPr>
                      <a:r>
                        <a:rPr b="1" lang="en" sz="1200">
                          <a:solidFill>
                            <a:srgbClr val="FFFFFF"/>
                          </a:solidFill>
                          <a:latin typeface="Proxima Nova"/>
                          <a:ea typeface="Proxima Nova"/>
                          <a:cs typeface="Proxima Nova"/>
                          <a:sym typeface="Proxima Nova"/>
                        </a:rPr>
                        <a:t>Collaboration:</a:t>
                      </a:r>
                      <a:endParaRPr b="1" sz="1200">
                        <a:solidFill>
                          <a:srgbClr val="FFFFFF"/>
                        </a:solidFill>
                        <a:latin typeface="Proxima Nova"/>
                        <a:ea typeface="Proxima Nova"/>
                        <a:cs typeface="Proxima Nova"/>
                        <a:sym typeface="Proxima Nova"/>
                      </a:endParaRPr>
                    </a:p>
                    <a:p>
                      <a:pPr indent="0" lvl="0" marL="0" rtl="0" algn="ctr">
                        <a:lnSpc>
                          <a:spcPct val="115000"/>
                        </a:lnSpc>
                        <a:spcBef>
                          <a:spcPts val="1000"/>
                        </a:spcBef>
                        <a:spcAft>
                          <a:spcPts val="0"/>
                        </a:spcAft>
                        <a:buNone/>
                      </a:pPr>
                      <a:r>
                        <a:rPr lang="en" sz="900">
                          <a:solidFill>
                            <a:srgbClr val="FFFFFF"/>
                          </a:solidFill>
                          <a:latin typeface="Proxima Nova"/>
                          <a:ea typeface="Proxima Nova"/>
                          <a:cs typeface="Proxima Nova"/>
                          <a:sym typeface="Proxima Nova"/>
                        </a:rPr>
                        <a:t>Able to collaborate effectively with other UX teammates during designing process</a:t>
                      </a:r>
                      <a:endParaRPr sz="900">
                        <a:solidFill>
                          <a:srgbClr val="FFFFFF"/>
                        </a:solidFill>
                        <a:latin typeface="Proxima Nova"/>
                        <a:ea typeface="Proxima Nova"/>
                        <a:cs typeface="Proxima Nova"/>
                        <a:sym typeface="Proxima Nova"/>
                      </a:endParaRPr>
                    </a:p>
                  </a:txBody>
                  <a:tcPr marT="19050" marB="19050" marR="28575" marL="2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743673"/>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7" name="Google Shape;287;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Scoring</a:t>
            </a:r>
            <a:endParaRPr/>
          </a:p>
        </p:txBody>
      </p:sp>
      <p:sp>
        <p:nvSpPr>
          <p:cNvPr id="288" name="Google Shape;288;p36"/>
          <p:cNvSpPr txBox="1"/>
          <p:nvPr/>
        </p:nvSpPr>
        <p:spPr>
          <a:xfrm>
            <a:off x="528975" y="870675"/>
            <a:ext cx="4488600" cy="36855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Penjelasan Kriteria</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1000"/>
              </a:spcBef>
              <a:spcAft>
                <a:spcPts val="0"/>
              </a:spcAft>
              <a:buNone/>
            </a:pPr>
            <a:r>
              <a:rPr b="1" lang="en" sz="1600">
                <a:solidFill>
                  <a:srgbClr val="743673"/>
                </a:solidFill>
                <a:highlight>
                  <a:schemeClr val="lt1"/>
                </a:highlight>
                <a:latin typeface="Montserrat"/>
                <a:ea typeface="Montserrat"/>
                <a:cs typeface="Montserrat"/>
                <a:sym typeface="Montserrat"/>
              </a:rPr>
              <a:t>UI/UX</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000"/>
              </a:spcBef>
              <a:spcAft>
                <a:spcPts val="0"/>
              </a:spcAft>
              <a:buNone/>
            </a:pPr>
            <a:r>
              <a:rPr b="1" lang="en" sz="1000">
                <a:solidFill>
                  <a:schemeClr val="accent1"/>
                </a:solidFill>
                <a:latin typeface="Montserrat"/>
                <a:ea typeface="Montserrat"/>
                <a:cs typeface="Montserrat"/>
                <a:sym typeface="Montserrat"/>
              </a:rPr>
              <a:t>Product</a:t>
            </a:r>
            <a:endParaRPr b="1" sz="1000">
              <a:solidFill>
                <a:schemeClr val="accent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Medium"/>
              <a:buAutoNum type="arabicPeriod"/>
            </a:pPr>
            <a:r>
              <a:rPr lang="en" sz="1000">
                <a:solidFill>
                  <a:schemeClr val="dk1"/>
                </a:solidFill>
                <a:latin typeface="Montserrat Medium"/>
                <a:ea typeface="Montserrat Medium"/>
                <a:cs typeface="Montserrat Medium"/>
                <a:sym typeface="Montserrat Medium"/>
              </a:rPr>
              <a:t>Permasalahan yang diangkat dapat didefinisikan dan diartikulasikan dengan baik. </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Clr>
                <a:schemeClr val="dk1"/>
              </a:buClr>
              <a:buSzPts val="1000"/>
              <a:buFont typeface="Montserrat Medium"/>
              <a:buAutoNum type="arabicPeriod"/>
            </a:pPr>
            <a:r>
              <a:rPr lang="en" sz="1000">
                <a:solidFill>
                  <a:schemeClr val="dk1"/>
                </a:solidFill>
                <a:latin typeface="Montserrat Medium"/>
                <a:ea typeface="Montserrat Medium"/>
                <a:cs typeface="Montserrat Medium"/>
                <a:sym typeface="Montserrat Medium"/>
              </a:rPr>
              <a:t>Ide solusi produk yang ditawarkan bisa menjawab dengan tepat permasalahan pengguna.</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Clr>
                <a:schemeClr val="dk1"/>
              </a:buClr>
              <a:buSzPts val="1000"/>
              <a:buFont typeface="Montserrat Medium"/>
              <a:buAutoNum type="arabicPeriod"/>
            </a:pPr>
            <a:r>
              <a:rPr lang="en" sz="1000">
                <a:solidFill>
                  <a:schemeClr val="dk1"/>
                </a:solidFill>
                <a:latin typeface="Montserrat Medium"/>
                <a:ea typeface="Montserrat Medium"/>
                <a:cs typeface="Montserrat Medium"/>
                <a:sym typeface="Montserrat Medium"/>
              </a:rPr>
              <a:t>Apakah fitur dan fungsionalitas memenuhi kebutuhan pengguna dan bisnis?</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1000"/>
              </a:spcAft>
              <a:buClr>
                <a:schemeClr val="dk1"/>
              </a:buClr>
              <a:buSzPts val="1000"/>
              <a:buFont typeface="Montserrat Medium"/>
              <a:buAutoNum type="arabicPeriod"/>
            </a:pPr>
            <a:r>
              <a:rPr lang="en" sz="1000">
                <a:solidFill>
                  <a:schemeClr val="dk1"/>
                </a:solidFill>
                <a:latin typeface="Montserrat Medium"/>
                <a:ea typeface="Montserrat Medium"/>
                <a:cs typeface="Montserrat Medium"/>
                <a:sym typeface="Montserrat Medium"/>
              </a:rPr>
              <a:t>Apakah aplikasi mudah di navigasikan dan memberikan pengalaman yang menyenangkan kepada pengguna?</a:t>
            </a:r>
            <a:endParaRPr sz="1000">
              <a:solidFill>
                <a:schemeClr val="dk1"/>
              </a:solidFill>
              <a:latin typeface="Montserrat Medium"/>
              <a:ea typeface="Montserrat Medium"/>
              <a:cs typeface="Montserrat Medium"/>
              <a:sym typeface="Montserrat Medium"/>
            </a:endParaRPr>
          </a:p>
        </p:txBody>
      </p:sp>
      <p:pic>
        <p:nvPicPr>
          <p:cNvPr id="289" name="Google Shape;289;p36"/>
          <p:cNvPicPr preferRelativeResize="0"/>
          <p:nvPr/>
        </p:nvPicPr>
        <p:blipFill>
          <a:blip r:embed="rId3">
            <a:alphaModFix/>
          </a:blip>
          <a:stretch>
            <a:fillRect/>
          </a:stretch>
        </p:blipFill>
        <p:spPr>
          <a:xfrm>
            <a:off x="5257800" y="1464813"/>
            <a:ext cx="3672900" cy="280237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5" name="Google Shape;295;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Scoring</a:t>
            </a:r>
            <a:endParaRPr/>
          </a:p>
        </p:txBody>
      </p:sp>
      <p:sp>
        <p:nvSpPr>
          <p:cNvPr id="296" name="Google Shape;296;p37"/>
          <p:cNvSpPr txBox="1"/>
          <p:nvPr/>
        </p:nvSpPr>
        <p:spPr>
          <a:xfrm>
            <a:off x="528975" y="1023250"/>
            <a:ext cx="4488600" cy="3685500"/>
          </a:xfrm>
          <a:prstGeom prst="rect">
            <a:avLst/>
          </a:prstGeom>
          <a:noFill/>
          <a:ln>
            <a:noFill/>
          </a:ln>
        </p:spPr>
        <p:txBody>
          <a:bodyPr anchorCtr="0" anchor="ctr" bIns="0" lIns="0" spcFirstLastPara="1" rIns="0" wrap="square" tIns="0">
            <a:noAutofit/>
          </a:bodyPr>
          <a:lstStyle/>
          <a:p>
            <a:pPr indent="0" lvl="0" marL="0" rtl="0" algn="just">
              <a:lnSpc>
                <a:spcPct val="115000"/>
              </a:lnSpc>
              <a:spcBef>
                <a:spcPts val="0"/>
              </a:spcBef>
              <a:spcAft>
                <a:spcPts val="0"/>
              </a:spcAft>
              <a:buNone/>
            </a:pPr>
            <a:r>
              <a:rPr b="1" lang="en" sz="1000">
                <a:solidFill>
                  <a:schemeClr val="accent1"/>
                </a:solidFill>
                <a:latin typeface="Montserrat"/>
                <a:ea typeface="Montserrat"/>
                <a:cs typeface="Montserrat"/>
                <a:sym typeface="Montserrat"/>
              </a:rPr>
              <a:t>User Flow</a:t>
            </a:r>
            <a:endParaRPr b="1" sz="1000">
              <a:solidFill>
                <a:schemeClr val="accent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Medium"/>
              <a:buAutoNum type="arabicPeriod"/>
            </a:pPr>
            <a:r>
              <a:rPr lang="en" sz="1000">
                <a:solidFill>
                  <a:schemeClr val="dk1"/>
                </a:solidFill>
                <a:latin typeface="Montserrat Medium"/>
                <a:ea typeface="Montserrat Medium"/>
                <a:cs typeface="Montserrat Medium"/>
                <a:sym typeface="Montserrat Medium"/>
              </a:rPr>
              <a:t>Alur pengguna yang dibuat dapat:</a:t>
            </a:r>
            <a:endParaRPr sz="1000">
              <a:solidFill>
                <a:schemeClr val="dk1"/>
              </a:solidFill>
              <a:latin typeface="Montserrat Medium"/>
              <a:ea typeface="Montserrat Medium"/>
              <a:cs typeface="Montserrat Medium"/>
              <a:sym typeface="Montserrat Medium"/>
            </a:endParaRPr>
          </a:p>
          <a:p>
            <a:pPr indent="-292100" lvl="0" marL="742950" rtl="0" algn="just">
              <a:lnSpc>
                <a:spcPct val="115000"/>
              </a:lnSpc>
              <a:spcBef>
                <a:spcPts val="0"/>
              </a:spcBef>
              <a:spcAft>
                <a:spcPts val="0"/>
              </a:spcAft>
              <a:buClr>
                <a:schemeClr val="dk1"/>
              </a:buClr>
              <a:buSzPts val="1000"/>
              <a:buFont typeface="Montserrat Medium"/>
              <a:buChar char="●"/>
            </a:pPr>
            <a:r>
              <a:rPr lang="en" sz="1000">
                <a:solidFill>
                  <a:schemeClr val="dk1"/>
                </a:solidFill>
                <a:latin typeface="Montserrat Medium"/>
                <a:ea typeface="Montserrat Medium"/>
                <a:cs typeface="Montserrat Medium"/>
                <a:sym typeface="Montserrat Medium"/>
              </a:rPr>
              <a:t>Membantu pengguna untuk mencapai tujuannya</a:t>
            </a:r>
            <a:endParaRPr sz="1000">
              <a:solidFill>
                <a:schemeClr val="dk1"/>
              </a:solidFill>
              <a:latin typeface="Montserrat Medium"/>
              <a:ea typeface="Montserrat Medium"/>
              <a:cs typeface="Montserrat Medium"/>
              <a:sym typeface="Montserrat Medium"/>
            </a:endParaRPr>
          </a:p>
          <a:p>
            <a:pPr indent="-292100" lvl="0" marL="742950" rtl="0" algn="just">
              <a:lnSpc>
                <a:spcPct val="115000"/>
              </a:lnSpc>
              <a:spcBef>
                <a:spcPts val="0"/>
              </a:spcBef>
              <a:spcAft>
                <a:spcPts val="0"/>
              </a:spcAft>
              <a:buClr>
                <a:schemeClr val="dk1"/>
              </a:buClr>
              <a:buSzPts val="1000"/>
              <a:buFont typeface="Montserrat Medium"/>
              <a:buChar char="●"/>
            </a:pPr>
            <a:r>
              <a:rPr lang="en" sz="1000">
                <a:solidFill>
                  <a:schemeClr val="dk1"/>
                </a:solidFill>
                <a:latin typeface="Montserrat Medium"/>
                <a:ea typeface="Montserrat Medium"/>
                <a:cs typeface="Montserrat Medium"/>
                <a:sym typeface="Montserrat Medium"/>
              </a:rPr>
              <a:t>Mudah dipahami oleh pengguna.</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1000"/>
              </a:spcBef>
              <a:spcAft>
                <a:spcPts val="0"/>
              </a:spcAft>
              <a:buClr>
                <a:schemeClr val="dk1"/>
              </a:buClr>
              <a:buSzPts val="1000"/>
              <a:buFont typeface="Montserrat Medium"/>
              <a:buAutoNum type="arabicPeriod" startAt="2"/>
            </a:pPr>
            <a:r>
              <a:rPr lang="en" sz="1000">
                <a:solidFill>
                  <a:schemeClr val="dk1"/>
                </a:solidFill>
                <a:latin typeface="Montserrat Medium"/>
                <a:ea typeface="Montserrat Medium"/>
                <a:cs typeface="Montserrat Medium"/>
                <a:sym typeface="Montserrat Medium"/>
              </a:rPr>
              <a:t>Konten yang ditampilkan sudah disusun sedemikian rupa berdasarkan kebutuhan dan konteks pengguna, serta maksud / tujuannya dapat dimengerti oleh pengguna.</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b="1" lang="en" sz="1000">
                <a:solidFill>
                  <a:schemeClr val="accent1"/>
                </a:solidFill>
                <a:latin typeface="Montserrat"/>
                <a:ea typeface="Montserrat"/>
                <a:cs typeface="Montserrat"/>
                <a:sym typeface="Montserrat"/>
              </a:rPr>
              <a:t>High Fidelity</a:t>
            </a:r>
            <a:endParaRPr b="1" sz="1000">
              <a:solidFill>
                <a:schemeClr val="accent1"/>
              </a:solidFill>
              <a:latin typeface="Montserrat"/>
              <a:ea typeface="Montserrat"/>
              <a:cs typeface="Montserrat"/>
              <a:sym typeface="Montserrat"/>
            </a:endParaRPr>
          </a:p>
          <a:p>
            <a:pPr indent="-292100" lvl="0" marL="457200" rtl="0" algn="just">
              <a:lnSpc>
                <a:spcPct val="115000"/>
              </a:lnSpc>
              <a:spcBef>
                <a:spcPts val="0"/>
              </a:spcBef>
              <a:spcAft>
                <a:spcPts val="1000"/>
              </a:spcAft>
              <a:buClr>
                <a:schemeClr val="dk1"/>
              </a:buClr>
              <a:buSzPts val="1000"/>
              <a:buFont typeface="Montserrat Medium"/>
              <a:buAutoNum type="arabicPeriod"/>
            </a:pPr>
            <a:r>
              <a:rPr lang="en" sz="1000">
                <a:solidFill>
                  <a:schemeClr val="dk1"/>
                </a:solidFill>
                <a:latin typeface="Montserrat Medium"/>
                <a:ea typeface="Montserrat Medium"/>
                <a:cs typeface="Montserrat Medium"/>
                <a:sym typeface="Montserrat Medium"/>
              </a:rPr>
              <a:t>Membuat desain high fidelity menggunakan Figma untuk pratinjau desain yang telah dibuat.</a:t>
            </a:r>
            <a:endParaRPr sz="1000">
              <a:solidFill>
                <a:schemeClr val="dk1"/>
              </a:solidFill>
              <a:latin typeface="Montserrat Medium"/>
              <a:ea typeface="Montserrat Medium"/>
              <a:cs typeface="Montserrat Medium"/>
              <a:sym typeface="Montserrat Medium"/>
            </a:endParaRPr>
          </a:p>
        </p:txBody>
      </p:sp>
      <p:pic>
        <p:nvPicPr>
          <p:cNvPr id="297" name="Google Shape;297;p37"/>
          <p:cNvPicPr preferRelativeResize="0"/>
          <p:nvPr/>
        </p:nvPicPr>
        <p:blipFill>
          <a:blip r:embed="rId3">
            <a:alphaModFix/>
          </a:blip>
          <a:stretch>
            <a:fillRect/>
          </a:stretch>
        </p:blipFill>
        <p:spPr>
          <a:xfrm>
            <a:off x="5257800" y="1384637"/>
            <a:ext cx="3624924" cy="27665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3" name="Google Shape;303;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Scoring</a:t>
            </a:r>
            <a:endParaRPr/>
          </a:p>
        </p:txBody>
      </p:sp>
      <p:sp>
        <p:nvSpPr>
          <p:cNvPr id="304" name="Google Shape;304;p38"/>
          <p:cNvSpPr txBox="1"/>
          <p:nvPr/>
        </p:nvSpPr>
        <p:spPr>
          <a:xfrm>
            <a:off x="543725" y="1180025"/>
            <a:ext cx="4512300" cy="3080700"/>
          </a:xfrm>
          <a:prstGeom prst="rect">
            <a:avLst/>
          </a:prstGeom>
          <a:noFill/>
          <a:ln>
            <a:noFill/>
          </a:ln>
        </p:spPr>
        <p:txBody>
          <a:bodyPr anchorCtr="0" anchor="ctr" bIns="0" lIns="0" spcFirstLastPara="1" rIns="0" wrap="square" tIns="0">
            <a:noAutofit/>
          </a:bodyPr>
          <a:lstStyle/>
          <a:p>
            <a:pPr indent="0" lvl="0" marL="0" rtl="0" algn="just">
              <a:lnSpc>
                <a:spcPct val="115000"/>
              </a:lnSpc>
              <a:spcBef>
                <a:spcPts val="0"/>
              </a:spcBef>
              <a:spcAft>
                <a:spcPts val="0"/>
              </a:spcAft>
              <a:buNone/>
            </a:pPr>
            <a:r>
              <a:rPr b="1" lang="en" sz="1000">
                <a:solidFill>
                  <a:schemeClr val="accent1"/>
                </a:solidFill>
                <a:latin typeface="Montserrat"/>
                <a:ea typeface="Montserrat"/>
                <a:cs typeface="Montserrat"/>
                <a:sym typeface="Montserrat"/>
              </a:rPr>
              <a:t>Visual</a:t>
            </a:r>
            <a:endParaRPr b="1" sz="1600">
              <a:solidFill>
                <a:srgbClr val="743673"/>
              </a:solidFill>
              <a:highlight>
                <a:schemeClr val="lt1"/>
              </a:highlight>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Medium"/>
              <a:buAutoNum type="arabicPeriod"/>
            </a:pPr>
            <a:r>
              <a:rPr lang="en" sz="1000">
                <a:solidFill>
                  <a:schemeClr val="dk1"/>
                </a:solidFill>
                <a:latin typeface="Montserrat Medium"/>
                <a:ea typeface="Montserrat Medium"/>
                <a:cs typeface="Montserrat Medium"/>
                <a:sym typeface="Montserrat Medium"/>
              </a:rPr>
              <a:t>Penggunaan elemen visual seperti warna, font, icon, grafis, foto atau ilustrasi:</a:t>
            </a:r>
            <a:endParaRPr sz="1000">
              <a:solidFill>
                <a:schemeClr val="dk1"/>
              </a:solidFill>
              <a:latin typeface="Montserrat Medium"/>
              <a:ea typeface="Montserrat Medium"/>
              <a:cs typeface="Montserrat Medium"/>
              <a:sym typeface="Montserrat Medium"/>
            </a:endParaRPr>
          </a:p>
          <a:p>
            <a:pPr indent="-292100" lvl="0" marL="742950" rtl="0" algn="just">
              <a:lnSpc>
                <a:spcPct val="115000"/>
              </a:lnSpc>
              <a:spcBef>
                <a:spcPts val="0"/>
              </a:spcBef>
              <a:spcAft>
                <a:spcPts val="0"/>
              </a:spcAft>
              <a:buClr>
                <a:schemeClr val="dk1"/>
              </a:buClr>
              <a:buSzPts val="1000"/>
              <a:buFont typeface="Montserrat Medium"/>
              <a:buChar char="●"/>
            </a:pPr>
            <a:r>
              <a:rPr lang="en" sz="1000">
                <a:solidFill>
                  <a:schemeClr val="dk1"/>
                </a:solidFill>
                <a:latin typeface="Montserrat Medium"/>
                <a:ea typeface="Montserrat Medium"/>
                <a:cs typeface="Montserrat Medium"/>
                <a:sym typeface="Montserrat Medium"/>
              </a:rPr>
              <a:t>Sesuai dengan karakteristik produk yang ingin ditampilkan dan target pengguna.</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Clr>
                <a:schemeClr val="dk1"/>
              </a:buClr>
              <a:buSzPts val="1000"/>
              <a:buFont typeface="Montserrat Medium"/>
              <a:buAutoNum type="arabicPeriod" startAt="2"/>
            </a:pPr>
            <a:r>
              <a:rPr lang="en" sz="1000">
                <a:solidFill>
                  <a:schemeClr val="dk1"/>
                </a:solidFill>
                <a:latin typeface="Montserrat Medium"/>
                <a:ea typeface="Montserrat Medium"/>
                <a:cs typeface="Montserrat Medium"/>
                <a:sym typeface="Montserrat Medium"/>
              </a:rPr>
              <a:t>Tampilan UI.</a:t>
            </a:r>
            <a:endParaRPr sz="1000">
              <a:solidFill>
                <a:schemeClr val="dk1"/>
              </a:solidFill>
              <a:latin typeface="Montserrat Medium"/>
              <a:ea typeface="Montserrat Medium"/>
              <a:cs typeface="Montserrat Medium"/>
              <a:sym typeface="Montserrat Medium"/>
            </a:endParaRPr>
          </a:p>
          <a:p>
            <a:pPr indent="-292100" lvl="0" marL="742950" rtl="0" algn="just">
              <a:lnSpc>
                <a:spcPct val="115000"/>
              </a:lnSpc>
              <a:spcBef>
                <a:spcPts val="0"/>
              </a:spcBef>
              <a:spcAft>
                <a:spcPts val="0"/>
              </a:spcAft>
              <a:buClr>
                <a:schemeClr val="dk1"/>
              </a:buClr>
              <a:buSzPts val="1000"/>
              <a:buFont typeface="Montserrat Medium"/>
              <a:buChar char="●"/>
            </a:pPr>
            <a:r>
              <a:rPr lang="en" sz="1000">
                <a:solidFill>
                  <a:schemeClr val="dk1"/>
                </a:solidFill>
                <a:latin typeface="Montserrat Medium"/>
                <a:ea typeface="Montserrat Medium"/>
                <a:cs typeface="Montserrat Medium"/>
                <a:sym typeface="Montserrat Medium"/>
              </a:rPr>
              <a:t>Memiliki hirarki visual yang jelas dan harmonis.</a:t>
            </a:r>
            <a:endParaRPr sz="1000">
              <a:solidFill>
                <a:schemeClr val="dk1"/>
              </a:solidFill>
              <a:latin typeface="Montserrat Medium"/>
              <a:ea typeface="Montserrat Medium"/>
              <a:cs typeface="Montserrat Medium"/>
              <a:sym typeface="Montserrat Medium"/>
            </a:endParaRPr>
          </a:p>
          <a:p>
            <a:pPr indent="-292100" lvl="0" marL="742950" rtl="0" algn="just">
              <a:lnSpc>
                <a:spcPct val="115000"/>
              </a:lnSpc>
              <a:spcBef>
                <a:spcPts val="0"/>
              </a:spcBef>
              <a:spcAft>
                <a:spcPts val="0"/>
              </a:spcAft>
              <a:buClr>
                <a:schemeClr val="dk1"/>
              </a:buClr>
              <a:buSzPts val="1000"/>
              <a:buFont typeface="Montserrat Medium"/>
              <a:buChar char="●"/>
            </a:pPr>
            <a:r>
              <a:rPr lang="en" sz="1000">
                <a:solidFill>
                  <a:schemeClr val="dk1"/>
                </a:solidFill>
                <a:latin typeface="Montserrat Medium"/>
                <a:ea typeface="Montserrat Medium"/>
                <a:cs typeface="Montserrat Medium"/>
                <a:sym typeface="Montserrat Medium"/>
              </a:rPr>
              <a:t>Menggunakan elemen-elemen UI yang sesuai (dengan kebutuhan berinteraksi dengan pengguna), konsisten dan rapi.</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b="1" lang="en" sz="1000">
                <a:solidFill>
                  <a:schemeClr val="accent1"/>
                </a:solidFill>
                <a:latin typeface="Montserrat"/>
                <a:ea typeface="Montserrat"/>
                <a:cs typeface="Montserrat"/>
                <a:sym typeface="Montserrat"/>
              </a:rPr>
              <a:t>Collaboration</a:t>
            </a:r>
            <a:endParaRPr b="1" sz="1000">
              <a:solidFill>
                <a:schemeClr val="accent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Medium"/>
              <a:buAutoNum type="arabicPeriod"/>
            </a:pPr>
            <a:r>
              <a:rPr lang="en" sz="1000">
                <a:solidFill>
                  <a:schemeClr val="dk1"/>
                </a:solidFill>
                <a:latin typeface="Montserrat Medium"/>
                <a:ea typeface="Montserrat Medium"/>
                <a:cs typeface="Montserrat Medium"/>
                <a:sym typeface="Montserrat Medium"/>
              </a:rPr>
              <a:t>Brainstorming dan analisis kebutuhan terkait produk dan fitur bersama stakeholder / anggota tim UX lainnya selama proses perancangan dengan menggunakan collaboration tools.</a:t>
            </a:r>
            <a:endParaRPr b="1" sz="1000">
              <a:solidFill>
                <a:schemeClr val="accent1"/>
              </a:solidFill>
              <a:latin typeface="Montserrat"/>
              <a:ea typeface="Montserrat"/>
              <a:cs typeface="Montserrat"/>
              <a:sym typeface="Montserrat"/>
            </a:endParaRPr>
          </a:p>
        </p:txBody>
      </p:sp>
      <p:pic>
        <p:nvPicPr>
          <p:cNvPr id="305" name="Google Shape;305;p38"/>
          <p:cNvPicPr preferRelativeResize="0"/>
          <p:nvPr/>
        </p:nvPicPr>
        <p:blipFill>
          <a:blip r:embed="rId3">
            <a:alphaModFix/>
          </a:blip>
          <a:stretch>
            <a:fillRect/>
          </a:stretch>
        </p:blipFill>
        <p:spPr>
          <a:xfrm>
            <a:off x="5257800" y="1288912"/>
            <a:ext cx="3574826" cy="297182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1" name="Google Shape;311;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Scoring</a:t>
            </a:r>
            <a:endParaRPr/>
          </a:p>
        </p:txBody>
      </p:sp>
      <p:sp>
        <p:nvSpPr>
          <p:cNvPr id="312" name="Google Shape;312;p39"/>
          <p:cNvSpPr txBox="1"/>
          <p:nvPr/>
        </p:nvSpPr>
        <p:spPr>
          <a:xfrm>
            <a:off x="979950" y="1410400"/>
            <a:ext cx="7184100" cy="5676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160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Scoring Final Project</a:t>
            </a:r>
            <a:endParaRPr sz="1000">
              <a:solidFill>
                <a:schemeClr val="dk1"/>
              </a:solidFill>
              <a:latin typeface="Montserrat Medium"/>
              <a:ea typeface="Montserrat Medium"/>
              <a:cs typeface="Montserrat Medium"/>
              <a:sym typeface="Montserrat Medium"/>
            </a:endParaRPr>
          </a:p>
          <a:p>
            <a:pPr indent="0" lvl="0" marL="0" rtl="0" algn="ctr">
              <a:lnSpc>
                <a:spcPct val="115000"/>
              </a:lnSpc>
              <a:spcBef>
                <a:spcPts val="0"/>
              </a:spcBef>
              <a:spcAft>
                <a:spcPts val="1000"/>
              </a:spcAft>
              <a:buNone/>
            </a:pPr>
            <a:r>
              <a:rPr lang="en" sz="1000">
                <a:solidFill>
                  <a:schemeClr val="dk2"/>
                </a:solidFill>
                <a:latin typeface="Montserrat Medium"/>
                <a:ea typeface="Montserrat Medium"/>
                <a:cs typeface="Montserrat Medium"/>
                <a:sym typeface="Montserrat Medium"/>
              </a:rPr>
              <a:t>Penilaian yang perlu dicapai oleh setiap student PM mengacu pada tiga kriteria/parameter berikut ini.</a:t>
            </a:r>
            <a:endParaRPr sz="1000">
              <a:solidFill>
                <a:schemeClr val="dk2"/>
              </a:solidFill>
              <a:latin typeface="Montserrat Medium"/>
              <a:ea typeface="Montserrat Medium"/>
              <a:cs typeface="Montserrat Medium"/>
              <a:sym typeface="Montserrat Medium"/>
            </a:endParaRPr>
          </a:p>
        </p:txBody>
      </p:sp>
      <p:graphicFrame>
        <p:nvGraphicFramePr>
          <p:cNvPr id="313" name="Google Shape;313;p39"/>
          <p:cNvGraphicFramePr/>
          <p:nvPr/>
        </p:nvGraphicFramePr>
        <p:xfrm>
          <a:off x="1780575" y="2394263"/>
          <a:ext cx="3000000" cy="3000000"/>
        </p:xfrm>
        <a:graphic>
          <a:graphicData uri="http://schemas.openxmlformats.org/drawingml/2006/table">
            <a:tbl>
              <a:tblPr>
                <a:noFill/>
                <a:tableStyleId>{B5A97A8F-656E-40D3-8F3B-674C121DEB42}</a:tableStyleId>
              </a:tblPr>
              <a:tblGrid>
                <a:gridCol w="1860950"/>
                <a:gridCol w="1860950"/>
                <a:gridCol w="1860950"/>
              </a:tblGrid>
              <a:tr h="100000">
                <a:tc>
                  <a:txBody>
                    <a:bodyPr/>
                    <a:lstStyle/>
                    <a:p>
                      <a:pPr indent="0" lvl="0" marL="0" rtl="0" algn="ctr">
                        <a:lnSpc>
                          <a:spcPct val="115000"/>
                        </a:lnSpc>
                        <a:spcBef>
                          <a:spcPts val="0"/>
                        </a:spcBef>
                        <a:spcAft>
                          <a:spcPts val="0"/>
                        </a:spcAft>
                        <a:buNone/>
                      </a:pPr>
                      <a:r>
                        <a:rPr b="1" lang="en" sz="1200">
                          <a:solidFill>
                            <a:srgbClr val="FFFFFF"/>
                          </a:solidFill>
                          <a:latin typeface="Proxima Nova"/>
                          <a:ea typeface="Proxima Nova"/>
                          <a:cs typeface="Proxima Nova"/>
                          <a:sym typeface="Proxima Nova"/>
                        </a:rPr>
                        <a:t>Collaboration</a:t>
                      </a:r>
                      <a:r>
                        <a:rPr b="1" lang="en" sz="1200">
                          <a:solidFill>
                            <a:srgbClr val="FFFFFF"/>
                          </a:solidFill>
                          <a:latin typeface="Proxima Nova"/>
                          <a:ea typeface="Proxima Nova"/>
                          <a:cs typeface="Proxima Nova"/>
                          <a:sym typeface="Proxima Nova"/>
                        </a:rPr>
                        <a:t>:</a:t>
                      </a:r>
                      <a:endParaRPr b="1" sz="1200">
                        <a:solidFill>
                          <a:srgbClr val="FFFFFF"/>
                        </a:solidFill>
                        <a:latin typeface="Proxima Nova"/>
                        <a:ea typeface="Proxima Nova"/>
                        <a:cs typeface="Proxima Nova"/>
                        <a:sym typeface="Proxima Nova"/>
                      </a:endParaRPr>
                    </a:p>
                    <a:p>
                      <a:pPr indent="0" lvl="0" marL="0" rtl="0" algn="ctr">
                        <a:lnSpc>
                          <a:spcPct val="115000"/>
                        </a:lnSpc>
                        <a:spcBef>
                          <a:spcPts val="1000"/>
                        </a:spcBef>
                        <a:spcAft>
                          <a:spcPts val="0"/>
                        </a:spcAft>
                        <a:buNone/>
                      </a:pPr>
                      <a:r>
                        <a:rPr lang="en" sz="900">
                          <a:solidFill>
                            <a:srgbClr val="FFFFFF"/>
                          </a:solidFill>
                          <a:latin typeface="Proxima Nova"/>
                          <a:ea typeface="Proxima Nova"/>
                          <a:cs typeface="Proxima Nova"/>
                          <a:sym typeface="Proxima Nova"/>
                        </a:rPr>
                        <a:t>Implement team collaboration using collaboration tools</a:t>
                      </a:r>
                      <a:endParaRPr sz="900">
                        <a:solidFill>
                          <a:srgbClr val="FFFFFF"/>
                        </a:solidFill>
                        <a:latin typeface="Proxima Nova"/>
                        <a:ea typeface="Proxima Nova"/>
                        <a:cs typeface="Proxima Nova"/>
                        <a:sym typeface="Proxima Nova"/>
                      </a:endParaRPr>
                    </a:p>
                  </a:txBody>
                  <a:tcPr marT="19050" marB="19050" marR="28575" marL="2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743673"/>
                    </a:solidFill>
                  </a:tcPr>
                </a:tc>
                <a:tc>
                  <a:txBody>
                    <a:bodyPr/>
                    <a:lstStyle/>
                    <a:p>
                      <a:pPr indent="0" lvl="0" marL="0" rtl="0" algn="ctr">
                        <a:lnSpc>
                          <a:spcPct val="115000"/>
                        </a:lnSpc>
                        <a:spcBef>
                          <a:spcPts val="0"/>
                        </a:spcBef>
                        <a:spcAft>
                          <a:spcPts val="0"/>
                        </a:spcAft>
                        <a:buNone/>
                      </a:pPr>
                      <a:r>
                        <a:rPr b="1" lang="en" sz="1200">
                          <a:solidFill>
                            <a:srgbClr val="FFFFFF"/>
                          </a:solidFill>
                          <a:latin typeface="Proxima Nova"/>
                          <a:ea typeface="Proxima Nova"/>
                          <a:cs typeface="Proxima Nova"/>
                          <a:sym typeface="Proxima Nova"/>
                        </a:rPr>
                        <a:t>Analysis</a:t>
                      </a:r>
                      <a:r>
                        <a:rPr b="1" lang="en" sz="1200">
                          <a:solidFill>
                            <a:srgbClr val="FFFFFF"/>
                          </a:solidFill>
                          <a:latin typeface="Proxima Nova"/>
                          <a:ea typeface="Proxima Nova"/>
                          <a:cs typeface="Proxima Nova"/>
                          <a:sym typeface="Proxima Nova"/>
                        </a:rPr>
                        <a:t>:</a:t>
                      </a:r>
                      <a:endParaRPr b="1" sz="1200">
                        <a:solidFill>
                          <a:srgbClr val="FFFFFF"/>
                        </a:solidFill>
                        <a:latin typeface="Proxima Nova"/>
                        <a:ea typeface="Proxima Nova"/>
                        <a:cs typeface="Proxima Nova"/>
                        <a:sym typeface="Proxima Nova"/>
                      </a:endParaRPr>
                    </a:p>
                    <a:p>
                      <a:pPr indent="0" lvl="0" marL="0" rtl="0" algn="ctr">
                        <a:lnSpc>
                          <a:spcPct val="115000"/>
                        </a:lnSpc>
                        <a:spcBef>
                          <a:spcPts val="1000"/>
                        </a:spcBef>
                        <a:spcAft>
                          <a:spcPts val="0"/>
                        </a:spcAft>
                        <a:buNone/>
                      </a:pPr>
                      <a:r>
                        <a:rPr lang="en" sz="900">
                          <a:solidFill>
                            <a:srgbClr val="FFFFFF"/>
                          </a:solidFill>
                          <a:latin typeface="Proxima Nova"/>
                          <a:ea typeface="Proxima Nova"/>
                          <a:cs typeface="Proxima Nova"/>
                          <a:sym typeface="Proxima Nova"/>
                        </a:rPr>
                        <a:t>Conduct analysis and synthesis of research results</a:t>
                      </a:r>
                      <a:endParaRPr sz="900">
                        <a:solidFill>
                          <a:srgbClr val="FFFFFF"/>
                        </a:solidFill>
                        <a:latin typeface="Proxima Nova"/>
                        <a:ea typeface="Proxima Nova"/>
                        <a:cs typeface="Proxima Nova"/>
                        <a:sym typeface="Proxima Nova"/>
                      </a:endParaRPr>
                    </a:p>
                  </a:txBody>
                  <a:tcPr marT="19050" marB="19050" marR="28575" marL="2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743673"/>
                    </a:solidFill>
                  </a:tcPr>
                </a:tc>
                <a:tc>
                  <a:txBody>
                    <a:bodyPr/>
                    <a:lstStyle/>
                    <a:p>
                      <a:pPr indent="0" lvl="0" marL="0" rtl="0" algn="ctr">
                        <a:lnSpc>
                          <a:spcPct val="115000"/>
                        </a:lnSpc>
                        <a:spcBef>
                          <a:spcPts val="0"/>
                        </a:spcBef>
                        <a:spcAft>
                          <a:spcPts val="0"/>
                        </a:spcAft>
                        <a:buNone/>
                      </a:pPr>
                      <a:r>
                        <a:rPr b="1" lang="en" sz="1200">
                          <a:solidFill>
                            <a:srgbClr val="FFFFFF"/>
                          </a:solidFill>
                          <a:latin typeface="Proxima Nova"/>
                          <a:ea typeface="Proxima Nova"/>
                          <a:cs typeface="Proxima Nova"/>
                          <a:sym typeface="Proxima Nova"/>
                        </a:rPr>
                        <a:t>Evaluation and Development</a:t>
                      </a:r>
                      <a:endParaRPr b="1" sz="1200">
                        <a:solidFill>
                          <a:srgbClr val="FFFFFF"/>
                        </a:solidFill>
                        <a:latin typeface="Proxima Nova"/>
                        <a:ea typeface="Proxima Nova"/>
                        <a:cs typeface="Proxima Nova"/>
                        <a:sym typeface="Proxima Nova"/>
                      </a:endParaRPr>
                    </a:p>
                    <a:p>
                      <a:pPr indent="0" lvl="0" marL="0" rtl="0" algn="ctr">
                        <a:lnSpc>
                          <a:spcPct val="115000"/>
                        </a:lnSpc>
                        <a:spcBef>
                          <a:spcPts val="1000"/>
                        </a:spcBef>
                        <a:spcAft>
                          <a:spcPts val="0"/>
                        </a:spcAft>
                        <a:buNone/>
                      </a:pPr>
                      <a:r>
                        <a:rPr lang="en" sz="900">
                          <a:solidFill>
                            <a:srgbClr val="FFFFFF"/>
                          </a:solidFill>
                          <a:latin typeface="Proxima Nova"/>
                          <a:ea typeface="Proxima Nova"/>
                          <a:cs typeface="Proxima Nova"/>
                          <a:sym typeface="Proxima Nova"/>
                        </a:rPr>
                        <a:t>Evaluate, develop, and present products to stakeholders (internal and external)</a:t>
                      </a:r>
                      <a:endParaRPr sz="900">
                        <a:solidFill>
                          <a:srgbClr val="FFFFFF"/>
                        </a:solidFill>
                        <a:latin typeface="Proxima Nova"/>
                        <a:ea typeface="Proxima Nova"/>
                        <a:cs typeface="Proxima Nova"/>
                        <a:sym typeface="Proxima Nova"/>
                      </a:endParaRPr>
                    </a:p>
                  </a:txBody>
                  <a:tcPr marT="19050" marB="19050" marR="28575" marL="2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743673"/>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9" name="Google Shape;319;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Scoring</a:t>
            </a:r>
            <a:endParaRPr/>
          </a:p>
        </p:txBody>
      </p:sp>
      <p:sp>
        <p:nvSpPr>
          <p:cNvPr id="320" name="Google Shape;320;p40"/>
          <p:cNvSpPr txBox="1"/>
          <p:nvPr/>
        </p:nvSpPr>
        <p:spPr>
          <a:xfrm>
            <a:off x="528975" y="870675"/>
            <a:ext cx="4488600" cy="36855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Product Management</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000"/>
              </a:spcBef>
              <a:spcAft>
                <a:spcPts val="0"/>
              </a:spcAft>
              <a:buNone/>
            </a:pPr>
            <a:r>
              <a:rPr b="1" lang="en" sz="1000">
                <a:solidFill>
                  <a:schemeClr val="accent1"/>
                </a:solidFill>
                <a:latin typeface="Montserrat"/>
                <a:ea typeface="Montserrat"/>
                <a:cs typeface="Montserrat"/>
                <a:sym typeface="Montserrat"/>
              </a:rPr>
              <a:t>Mengimplementasikan kolaborasi tim dengan menggunakan collaboration tools</a:t>
            </a:r>
            <a:endParaRPr b="1" sz="1000">
              <a:solidFill>
                <a:schemeClr val="accent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Medium"/>
              <a:buAutoNum type="arabicPeriod"/>
            </a:pPr>
            <a:r>
              <a:rPr lang="en" sz="1000">
                <a:solidFill>
                  <a:schemeClr val="dk1"/>
                </a:solidFill>
                <a:latin typeface="Montserrat Medium"/>
                <a:ea typeface="Montserrat Medium"/>
                <a:cs typeface="Montserrat Medium"/>
                <a:sym typeface="Montserrat Medium"/>
              </a:rPr>
              <a:t>Task management melalui collaboration tools (Trello)</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Clr>
                <a:schemeClr val="dk1"/>
              </a:buClr>
              <a:buSzPts val="1000"/>
              <a:buFont typeface="Montserrat Medium"/>
              <a:buAutoNum type="arabicPeriod"/>
            </a:pPr>
            <a:r>
              <a:rPr lang="en" sz="1000">
                <a:solidFill>
                  <a:schemeClr val="dk1"/>
                </a:solidFill>
                <a:latin typeface="Montserrat Medium"/>
                <a:ea typeface="Montserrat Medium"/>
                <a:cs typeface="Montserrat Medium"/>
                <a:sym typeface="Montserrat Medium"/>
              </a:rPr>
              <a:t>PM documentation (PRD)</a:t>
            </a:r>
            <a:endParaRPr sz="1000">
              <a:solidFill>
                <a:schemeClr val="dk1"/>
              </a:solidFill>
              <a:latin typeface="Montserrat Medium"/>
              <a:ea typeface="Montserrat Medium"/>
              <a:cs typeface="Montserrat Medium"/>
              <a:sym typeface="Montserrat Medium"/>
            </a:endParaRPr>
          </a:p>
        </p:txBody>
      </p:sp>
      <p:pic>
        <p:nvPicPr>
          <p:cNvPr id="321" name="Google Shape;321;p40"/>
          <p:cNvPicPr preferRelativeResize="0"/>
          <p:nvPr/>
        </p:nvPicPr>
        <p:blipFill>
          <a:blip r:embed="rId3">
            <a:alphaModFix/>
          </a:blip>
          <a:stretch>
            <a:fillRect/>
          </a:stretch>
        </p:blipFill>
        <p:spPr>
          <a:xfrm>
            <a:off x="5257800" y="1464813"/>
            <a:ext cx="3672900" cy="280237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7" name="Google Shape;327;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Scoring</a:t>
            </a:r>
            <a:endParaRPr/>
          </a:p>
        </p:txBody>
      </p:sp>
      <p:sp>
        <p:nvSpPr>
          <p:cNvPr id="328" name="Google Shape;328;p41"/>
          <p:cNvSpPr txBox="1"/>
          <p:nvPr/>
        </p:nvSpPr>
        <p:spPr>
          <a:xfrm>
            <a:off x="528975" y="1023250"/>
            <a:ext cx="4488600" cy="3685500"/>
          </a:xfrm>
          <a:prstGeom prst="rect">
            <a:avLst/>
          </a:prstGeom>
          <a:noFill/>
          <a:ln>
            <a:noFill/>
          </a:ln>
        </p:spPr>
        <p:txBody>
          <a:bodyPr anchorCtr="0" anchor="ctr" bIns="0" lIns="0" spcFirstLastPara="1" rIns="0" wrap="square" tIns="0">
            <a:noAutofit/>
          </a:bodyPr>
          <a:lstStyle/>
          <a:p>
            <a:pPr indent="0" lvl="0" marL="0" rtl="0" algn="just">
              <a:lnSpc>
                <a:spcPct val="115000"/>
              </a:lnSpc>
              <a:spcBef>
                <a:spcPts val="0"/>
              </a:spcBef>
              <a:spcAft>
                <a:spcPts val="0"/>
              </a:spcAft>
              <a:buNone/>
            </a:pPr>
            <a:r>
              <a:rPr b="1" lang="en" sz="1000">
                <a:solidFill>
                  <a:schemeClr val="accent1"/>
                </a:solidFill>
                <a:latin typeface="Montserrat"/>
                <a:ea typeface="Montserrat"/>
                <a:cs typeface="Montserrat"/>
                <a:sym typeface="Montserrat"/>
              </a:rPr>
              <a:t>Melakukan analisis dan </a:t>
            </a:r>
            <a:r>
              <a:rPr b="1" lang="en" sz="1000">
                <a:solidFill>
                  <a:schemeClr val="accent1"/>
                </a:solidFill>
                <a:latin typeface="Montserrat"/>
                <a:ea typeface="Montserrat"/>
                <a:cs typeface="Montserrat"/>
                <a:sym typeface="Montserrat"/>
              </a:rPr>
              <a:t>sintesa</a:t>
            </a:r>
            <a:r>
              <a:rPr b="1" lang="en" sz="1000">
                <a:solidFill>
                  <a:schemeClr val="accent1"/>
                </a:solidFill>
                <a:latin typeface="Montserrat"/>
                <a:ea typeface="Montserrat"/>
                <a:cs typeface="Montserrat"/>
                <a:sym typeface="Montserrat"/>
              </a:rPr>
              <a:t> terhadap hasil riset </a:t>
            </a:r>
            <a:endParaRPr b="1" sz="1000">
              <a:solidFill>
                <a:schemeClr val="accent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Medium"/>
              <a:buAutoNum type="arabicPeriod"/>
            </a:pPr>
            <a:r>
              <a:rPr lang="en" sz="1000">
                <a:solidFill>
                  <a:schemeClr val="dk1"/>
                </a:solidFill>
                <a:latin typeface="Montserrat Medium"/>
                <a:ea typeface="Montserrat Medium"/>
                <a:cs typeface="Montserrat Medium"/>
                <a:sym typeface="Montserrat Medium"/>
              </a:rPr>
              <a:t>Menentukan metodologi riset</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Clr>
                <a:schemeClr val="dk1"/>
              </a:buClr>
              <a:buSzPts val="1000"/>
              <a:buFont typeface="Montserrat Medium"/>
              <a:buAutoNum type="arabicPeriod" startAt="2"/>
            </a:pPr>
            <a:r>
              <a:rPr lang="en" sz="1000">
                <a:solidFill>
                  <a:schemeClr val="dk1"/>
                </a:solidFill>
                <a:latin typeface="Montserrat Medium"/>
                <a:ea typeface="Montserrat Medium"/>
                <a:cs typeface="Montserrat Medium"/>
                <a:sym typeface="Montserrat Medium"/>
              </a:rPr>
              <a:t>Melakukan riset pasar</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Clr>
                <a:schemeClr val="dk1"/>
              </a:buClr>
              <a:buSzPts val="1000"/>
              <a:buFont typeface="Montserrat Medium"/>
              <a:buAutoNum type="arabicPeriod" startAt="2"/>
            </a:pPr>
            <a:r>
              <a:rPr lang="en" sz="1000">
                <a:solidFill>
                  <a:schemeClr val="dk1"/>
                </a:solidFill>
                <a:latin typeface="Montserrat Medium"/>
                <a:ea typeface="Montserrat Medium"/>
                <a:cs typeface="Montserrat Medium"/>
                <a:sym typeface="Montserrat Medium"/>
              </a:rPr>
              <a:t>User persona</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Clr>
                <a:schemeClr val="dk1"/>
              </a:buClr>
              <a:buSzPts val="1000"/>
              <a:buFont typeface="Montserrat Medium"/>
              <a:buAutoNum type="arabicPeriod" startAt="2"/>
            </a:pPr>
            <a:r>
              <a:rPr lang="en" sz="1000">
                <a:solidFill>
                  <a:schemeClr val="dk1"/>
                </a:solidFill>
                <a:latin typeface="Montserrat Medium"/>
                <a:ea typeface="Montserrat Medium"/>
                <a:cs typeface="Montserrat Medium"/>
                <a:sym typeface="Montserrat Medium"/>
              </a:rPr>
              <a:t>Customer journey map</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Clr>
                <a:schemeClr val="dk1"/>
              </a:buClr>
              <a:buSzPts val="1000"/>
              <a:buFont typeface="Montserrat Medium"/>
              <a:buAutoNum type="arabicPeriod" startAt="2"/>
            </a:pPr>
            <a:r>
              <a:rPr lang="en" sz="1000">
                <a:solidFill>
                  <a:schemeClr val="dk1"/>
                </a:solidFill>
                <a:latin typeface="Montserrat Medium"/>
                <a:ea typeface="Montserrat Medium"/>
                <a:cs typeface="Montserrat Medium"/>
                <a:sym typeface="Montserrat Medium"/>
              </a:rPr>
              <a:t>Membuat business model </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Clr>
                <a:schemeClr val="dk1"/>
              </a:buClr>
              <a:buSzPts val="1000"/>
              <a:buFont typeface="Montserrat Medium"/>
              <a:buAutoNum type="arabicPeriod" startAt="2"/>
            </a:pPr>
            <a:r>
              <a:rPr lang="en" sz="1000">
                <a:solidFill>
                  <a:schemeClr val="dk1"/>
                </a:solidFill>
                <a:latin typeface="Montserrat Medium"/>
                <a:ea typeface="Montserrat Medium"/>
                <a:cs typeface="Montserrat Medium"/>
                <a:sym typeface="Montserrat Medium"/>
              </a:rPr>
              <a:t>Membuat product roadmap</a:t>
            </a:r>
            <a:endParaRPr sz="1000">
              <a:solidFill>
                <a:schemeClr val="dk1"/>
              </a:solidFill>
              <a:latin typeface="Montserrat Medium"/>
              <a:ea typeface="Montserrat Medium"/>
              <a:cs typeface="Montserrat Medium"/>
              <a:sym typeface="Montserrat Medium"/>
            </a:endParaRPr>
          </a:p>
          <a:p>
            <a:pPr indent="0" lvl="0" marL="457200" rtl="0" algn="just">
              <a:lnSpc>
                <a:spcPct val="115000"/>
              </a:lnSpc>
              <a:spcBef>
                <a:spcPts val="0"/>
              </a:spcBef>
              <a:spcAft>
                <a:spcPts val="0"/>
              </a:spcAft>
              <a:buNone/>
            </a:pPr>
            <a:r>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b="1" lang="en" sz="1000">
                <a:solidFill>
                  <a:schemeClr val="accent1"/>
                </a:solidFill>
                <a:latin typeface="Montserrat"/>
                <a:ea typeface="Montserrat"/>
                <a:cs typeface="Montserrat"/>
                <a:sym typeface="Montserrat"/>
              </a:rPr>
              <a:t>Melakukan evaluasi, pengembangan, dan presentasikan produk pada stakeholder (internal dan eksternal)</a:t>
            </a:r>
            <a:endParaRPr b="1" sz="1000">
              <a:solidFill>
                <a:schemeClr val="accent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Medium"/>
              <a:buAutoNum type="arabicPeriod"/>
            </a:pPr>
            <a:r>
              <a:rPr lang="en" sz="1000">
                <a:solidFill>
                  <a:schemeClr val="dk1"/>
                </a:solidFill>
                <a:latin typeface="Montserrat Medium"/>
                <a:ea typeface="Montserrat Medium"/>
                <a:cs typeface="Montserrat Medium"/>
                <a:sym typeface="Montserrat Medium"/>
              </a:rPr>
              <a:t>Scenario testing </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Clr>
                <a:schemeClr val="dk1"/>
              </a:buClr>
              <a:buSzPts val="1000"/>
              <a:buFont typeface="Montserrat Medium"/>
              <a:buAutoNum type="arabicPeriod"/>
            </a:pPr>
            <a:r>
              <a:rPr lang="en" sz="1000">
                <a:solidFill>
                  <a:schemeClr val="dk1"/>
                </a:solidFill>
                <a:latin typeface="Montserrat Medium"/>
                <a:ea typeface="Montserrat Medium"/>
                <a:cs typeface="Montserrat Medium"/>
                <a:sym typeface="Montserrat Medium"/>
              </a:rPr>
              <a:t>Heuristic evaluation</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Clr>
                <a:schemeClr val="dk1"/>
              </a:buClr>
              <a:buSzPts val="1000"/>
              <a:buFont typeface="Montserrat Medium"/>
              <a:buAutoNum type="arabicPeriod"/>
            </a:pPr>
            <a:r>
              <a:rPr lang="en" sz="1000">
                <a:solidFill>
                  <a:schemeClr val="dk1"/>
                </a:solidFill>
                <a:latin typeface="Montserrat Medium"/>
                <a:ea typeface="Montserrat Medium"/>
                <a:cs typeface="Montserrat Medium"/>
                <a:sym typeface="Montserrat Medium"/>
              </a:rPr>
              <a:t>Prioritization</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Clr>
                <a:schemeClr val="dk1"/>
              </a:buClr>
              <a:buSzPts val="1000"/>
              <a:buFont typeface="Montserrat Medium"/>
              <a:buAutoNum type="arabicPeriod"/>
            </a:pPr>
            <a:r>
              <a:rPr lang="en" sz="1000">
                <a:solidFill>
                  <a:schemeClr val="dk1"/>
                </a:solidFill>
                <a:latin typeface="Montserrat Medium"/>
                <a:ea typeface="Montserrat Medium"/>
                <a:cs typeface="Montserrat Medium"/>
                <a:sym typeface="Montserrat Medium"/>
              </a:rPr>
              <a:t>Product revamp</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Clr>
                <a:schemeClr val="dk1"/>
              </a:buClr>
              <a:buSzPts val="1000"/>
              <a:buFont typeface="Montserrat Medium"/>
              <a:buAutoNum type="arabicPeriod"/>
            </a:pPr>
            <a:r>
              <a:rPr lang="en" sz="1000">
                <a:solidFill>
                  <a:schemeClr val="dk1"/>
                </a:solidFill>
                <a:latin typeface="Montserrat Medium"/>
                <a:ea typeface="Montserrat Medium"/>
                <a:cs typeface="Montserrat Medium"/>
                <a:sym typeface="Montserrat Medium"/>
              </a:rPr>
              <a:t>Pitch deck</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1000"/>
              </a:spcBef>
              <a:spcAft>
                <a:spcPts val="1000"/>
              </a:spcAft>
              <a:buNone/>
            </a:pPr>
            <a:r>
              <a:t/>
            </a:r>
            <a:endParaRPr sz="1000">
              <a:solidFill>
                <a:schemeClr val="dk1"/>
              </a:solidFill>
              <a:latin typeface="Montserrat Medium"/>
              <a:ea typeface="Montserrat Medium"/>
              <a:cs typeface="Montserrat Medium"/>
              <a:sym typeface="Montserrat Medium"/>
            </a:endParaRPr>
          </a:p>
        </p:txBody>
      </p:sp>
      <p:pic>
        <p:nvPicPr>
          <p:cNvPr id="329" name="Google Shape;329;p41"/>
          <p:cNvPicPr preferRelativeResize="0"/>
          <p:nvPr/>
        </p:nvPicPr>
        <p:blipFill>
          <a:blip r:embed="rId3">
            <a:alphaModFix/>
          </a:blip>
          <a:stretch>
            <a:fillRect/>
          </a:stretch>
        </p:blipFill>
        <p:spPr>
          <a:xfrm>
            <a:off x="5257800" y="1384637"/>
            <a:ext cx="3624924" cy="27665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Roadmaps</a:t>
            </a:r>
            <a:endParaRPr/>
          </a:p>
        </p:txBody>
      </p:sp>
      <p:grpSp>
        <p:nvGrpSpPr>
          <p:cNvPr id="335" name="Google Shape;335;p42"/>
          <p:cNvGrpSpPr/>
          <p:nvPr/>
        </p:nvGrpSpPr>
        <p:grpSpPr>
          <a:xfrm>
            <a:off x="228600" y="1036325"/>
            <a:ext cx="3736470" cy="3754500"/>
            <a:chOff x="685800" y="1036325"/>
            <a:chExt cx="3736470" cy="3754500"/>
          </a:xfrm>
        </p:grpSpPr>
        <p:sp>
          <p:nvSpPr>
            <p:cNvPr id="336" name="Google Shape;336;p42"/>
            <p:cNvSpPr/>
            <p:nvPr/>
          </p:nvSpPr>
          <p:spPr>
            <a:xfrm>
              <a:off x="3183451" y="1036325"/>
              <a:ext cx="1238700" cy="3754500"/>
            </a:xfrm>
            <a:prstGeom prst="rect">
              <a:avLst/>
            </a:prstGeom>
            <a:noFill/>
            <a:ln cap="flat" cmpd="sng" w="9525">
              <a:solidFill>
                <a:srgbClr val="922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42"/>
            <p:cNvSpPr/>
            <p:nvPr/>
          </p:nvSpPr>
          <p:spPr>
            <a:xfrm flipH="1" rot="10800000">
              <a:off x="3183445" y="1036401"/>
              <a:ext cx="1238700" cy="153000"/>
            </a:xfrm>
            <a:prstGeom prst="rect">
              <a:avLst/>
            </a:prstGeom>
            <a:solidFill>
              <a:srgbClr val="9225A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42"/>
            <p:cNvSpPr txBox="1"/>
            <p:nvPr/>
          </p:nvSpPr>
          <p:spPr>
            <a:xfrm>
              <a:off x="3183428" y="1189415"/>
              <a:ext cx="726300" cy="956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9225A5"/>
                  </a:solidFill>
                  <a:latin typeface="Montserrat"/>
                  <a:ea typeface="Montserrat"/>
                  <a:cs typeface="Montserrat"/>
                  <a:sym typeface="Montserrat"/>
                </a:rPr>
                <a:t>08</a:t>
              </a:r>
              <a:endParaRPr b="1" i="0" sz="2000" u="none" cap="none" strike="noStrike">
                <a:solidFill>
                  <a:srgbClr val="9225A5"/>
                </a:solidFill>
                <a:latin typeface="Montserrat"/>
                <a:ea typeface="Montserrat"/>
                <a:cs typeface="Montserrat"/>
                <a:sym typeface="Montserrat"/>
              </a:endParaRPr>
            </a:p>
          </p:txBody>
        </p:sp>
        <p:sp>
          <p:nvSpPr>
            <p:cNvPr id="339" name="Google Shape;339;p42"/>
            <p:cNvSpPr txBox="1"/>
            <p:nvPr/>
          </p:nvSpPr>
          <p:spPr>
            <a:xfrm>
              <a:off x="3183453" y="2333691"/>
              <a:ext cx="299100" cy="21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9225A5"/>
                  </a:solidFill>
                  <a:latin typeface="Montserrat"/>
                  <a:ea typeface="Montserrat"/>
                  <a:cs typeface="Montserrat"/>
                  <a:sym typeface="Montserrat"/>
                </a:rPr>
                <a:t>W1</a:t>
              </a:r>
              <a:endParaRPr b="1" i="0" sz="700" u="none" cap="none" strike="noStrike">
                <a:solidFill>
                  <a:srgbClr val="9225A5"/>
                </a:solidFill>
                <a:latin typeface="Montserrat"/>
                <a:ea typeface="Montserrat"/>
                <a:cs typeface="Montserrat"/>
                <a:sym typeface="Montserrat"/>
              </a:endParaRPr>
            </a:p>
          </p:txBody>
        </p:sp>
        <p:cxnSp>
          <p:nvCxnSpPr>
            <p:cNvPr id="340" name="Google Shape;340;p42"/>
            <p:cNvCxnSpPr/>
            <p:nvPr/>
          </p:nvCxnSpPr>
          <p:spPr>
            <a:xfrm rot="10800000">
              <a:off x="3494622" y="2415591"/>
              <a:ext cx="0" cy="2370300"/>
            </a:xfrm>
            <a:prstGeom prst="straightConnector1">
              <a:avLst/>
            </a:prstGeom>
            <a:noFill/>
            <a:ln cap="flat" cmpd="sng" w="9525">
              <a:solidFill>
                <a:srgbClr val="9225A5"/>
              </a:solidFill>
              <a:prstDash val="dot"/>
              <a:round/>
              <a:headEnd len="sm" w="sm" type="none"/>
              <a:tailEnd len="sm" w="sm" type="none"/>
            </a:ln>
          </p:spPr>
        </p:cxnSp>
        <p:cxnSp>
          <p:nvCxnSpPr>
            <p:cNvPr id="341" name="Google Shape;341;p42"/>
            <p:cNvCxnSpPr/>
            <p:nvPr/>
          </p:nvCxnSpPr>
          <p:spPr>
            <a:xfrm rot="10800000">
              <a:off x="3804104" y="2415591"/>
              <a:ext cx="0" cy="2370300"/>
            </a:xfrm>
            <a:prstGeom prst="straightConnector1">
              <a:avLst/>
            </a:prstGeom>
            <a:noFill/>
            <a:ln cap="flat" cmpd="sng" w="9525">
              <a:solidFill>
                <a:srgbClr val="9225A5"/>
              </a:solidFill>
              <a:prstDash val="dot"/>
              <a:round/>
              <a:headEnd len="sm" w="sm" type="none"/>
              <a:tailEnd len="sm" w="sm" type="none"/>
            </a:ln>
          </p:spPr>
        </p:cxnSp>
        <p:cxnSp>
          <p:nvCxnSpPr>
            <p:cNvPr id="342" name="Google Shape;342;p42"/>
            <p:cNvCxnSpPr/>
            <p:nvPr/>
          </p:nvCxnSpPr>
          <p:spPr>
            <a:xfrm rot="10800000">
              <a:off x="4113586" y="2415591"/>
              <a:ext cx="0" cy="2370300"/>
            </a:xfrm>
            <a:prstGeom prst="straightConnector1">
              <a:avLst/>
            </a:prstGeom>
            <a:noFill/>
            <a:ln cap="flat" cmpd="sng" w="9525">
              <a:solidFill>
                <a:srgbClr val="9225A5"/>
              </a:solidFill>
              <a:prstDash val="dot"/>
              <a:round/>
              <a:headEnd len="sm" w="sm" type="none"/>
              <a:tailEnd len="sm" w="sm" type="none"/>
            </a:ln>
          </p:spPr>
        </p:cxnSp>
        <p:sp>
          <p:nvSpPr>
            <p:cNvPr id="343" name="Google Shape;343;p42"/>
            <p:cNvSpPr txBox="1"/>
            <p:nvPr/>
          </p:nvSpPr>
          <p:spPr>
            <a:xfrm>
              <a:off x="3496692" y="2333691"/>
              <a:ext cx="299100" cy="21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9225A5"/>
                  </a:solidFill>
                  <a:latin typeface="Montserrat"/>
                  <a:ea typeface="Montserrat"/>
                  <a:cs typeface="Montserrat"/>
                  <a:sym typeface="Montserrat"/>
                </a:rPr>
                <a:t>W2</a:t>
              </a:r>
              <a:endParaRPr b="1" i="0" sz="700" u="none" cap="none" strike="noStrike">
                <a:solidFill>
                  <a:srgbClr val="9225A5"/>
                </a:solidFill>
                <a:latin typeface="Montserrat"/>
                <a:ea typeface="Montserrat"/>
                <a:cs typeface="Montserrat"/>
                <a:sym typeface="Montserrat"/>
              </a:endParaRPr>
            </a:p>
          </p:txBody>
        </p:sp>
        <p:sp>
          <p:nvSpPr>
            <p:cNvPr id="344" name="Google Shape;344;p42"/>
            <p:cNvSpPr txBox="1"/>
            <p:nvPr/>
          </p:nvSpPr>
          <p:spPr>
            <a:xfrm>
              <a:off x="3809931" y="2333691"/>
              <a:ext cx="299100" cy="21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9225A5"/>
                  </a:solidFill>
                  <a:latin typeface="Montserrat"/>
                  <a:ea typeface="Montserrat"/>
                  <a:cs typeface="Montserrat"/>
                  <a:sym typeface="Montserrat"/>
                </a:rPr>
                <a:t>W3</a:t>
              </a:r>
              <a:endParaRPr b="1" i="0" sz="700" u="none" cap="none" strike="noStrike">
                <a:solidFill>
                  <a:srgbClr val="9225A5"/>
                </a:solidFill>
                <a:latin typeface="Montserrat"/>
                <a:ea typeface="Montserrat"/>
                <a:cs typeface="Montserrat"/>
                <a:sym typeface="Montserrat"/>
              </a:endParaRPr>
            </a:p>
          </p:txBody>
        </p:sp>
        <p:sp>
          <p:nvSpPr>
            <p:cNvPr id="345" name="Google Shape;345;p42"/>
            <p:cNvSpPr txBox="1"/>
            <p:nvPr/>
          </p:nvSpPr>
          <p:spPr>
            <a:xfrm>
              <a:off x="4123170" y="2333691"/>
              <a:ext cx="299100" cy="21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9225A5"/>
                  </a:solidFill>
                  <a:latin typeface="Montserrat"/>
                  <a:ea typeface="Montserrat"/>
                  <a:cs typeface="Montserrat"/>
                  <a:sym typeface="Montserrat"/>
                </a:rPr>
                <a:t>W4</a:t>
              </a:r>
              <a:endParaRPr b="1" i="0" sz="700" u="none" cap="none" strike="noStrike">
                <a:solidFill>
                  <a:srgbClr val="9225A5"/>
                </a:solidFill>
                <a:latin typeface="Montserrat"/>
                <a:ea typeface="Montserrat"/>
                <a:cs typeface="Montserrat"/>
                <a:sym typeface="Montserrat"/>
              </a:endParaRPr>
            </a:p>
          </p:txBody>
        </p:sp>
        <p:sp>
          <p:nvSpPr>
            <p:cNvPr id="346" name="Google Shape;346;p42"/>
            <p:cNvSpPr/>
            <p:nvPr/>
          </p:nvSpPr>
          <p:spPr>
            <a:xfrm flipH="1" rot="10800000">
              <a:off x="1943833" y="1036401"/>
              <a:ext cx="1238700" cy="153000"/>
            </a:xfrm>
            <a:prstGeom prst="rect">
              <a:avLst/>
            </a:prstGeom>
            <a:solidFill>
              <a:srgbClr val="9225A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42"/>
            <p:cNvSpPr txBox="1"/>
            <p:nvPr/>
          </p:nvSpPr>
          <p:spPr>
            <a:xfrm>
              <a:off x="1943819" y="1189415"/>
              <a:ext cx="731400" cy="956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9225A5"/>
                  </a:solidFill>
                  <a:latin typeface="Montserrat"/>
                  <a:ea typeface="Montserrat"/>
                  <a:cs typeface="Montserrat"/>
                  <a:sym typeface="Montserrat"/>
                </a:rPr>
                <a:t>0</a:t>
              </a:r>
              <a:r>
                <a:rPr b="1" lang="en" sz="2000">
                  <a:solidFill>
                    <a:srgbClr val="9225A5"/>
                  </a:solidFill>
                  <a:latin typeface="Montserrat"/>
                  <a:ea typeface="Montserrat"/>
                  <a:cs typeface="Montserrat"/>
                  <a:sym typeface="Montserrat"/>
                </a:rPr>
                <a:t>7</a:t>
              </a:r>
              <a:endParaRPr b="1" i="0" sz="2000" u="none" cap="none" strike="noStrike">
                <a:solidFill>
                  <a:srgbClr val="9225A5"/>
                </a:solidFill>
                <a:latin typeface="Montserrat"/>
                <a:ea typeface="Montserrat"/>
                <a:cs typeface="Montserrat"/>
                <a:sym typeface="Montserrat"/>
              </a:endParaRPr>
            </a:p>
          </p:txBody>
        </p:sp>
        <p:cxnSp>
          <p:nvCxnSpPr>
            <p:cNvPr id="348" name="Google Shape;348;p42"/>
            <p:cNvCxnSpPr/>
            <p:nvPr/>
          </p:nvCxnSpPr>
          <p:spPr>
            <a:xfrm rot="10800000">
              <a:off x="2255015" y="2415591"/>
              <a:ext cx="0" cy="2370300"/>
            </a:xfrm>
            <a:prstGeom prst="straightConnector1">
              <a:avLst/>
            </a:prstGeom>
            <a:noFill/>
            <a:ln cap="flat" cmpd="sng" w="9525">
              <a:solidFill>
                <a:srgbClr val="9225A5"/>
              </a:solidFill>
              <a:prstDash val="dot"/>
              <a:round/>
              <a:headEnd len="sm" w="sm" type="none"/>
              <a:tailEnd len="sm" w="sm" type="none"/>
            </a:ln>
          </p:spPr>
        </p:cxnSp>
        <p:cxnSp>
          <p:nvCxnSpPr>
            <p:cNvPr id="349" name="Google Shape;349;p42"/>
            <p:cNvCxnSpPr/>
            <p:nvPr/>
          </p:nvCxnSpPr>
          <p:spPr>
            <a:xfrm rot="10800000">
              <a:off x="2564496" y="2415591"/>
              <a:ext cx="0" cy="2370300"/>
            </a:xfrm>
            <a:prstGeom prst="straightConnector1">
              <a:avLst/>
            </a:prstGeom>
            <a:noFill/>
            <a:ln cap="flat" cmpd="sng" w="9525">
              <a:solidFill>
                <a:srgbClr val="9225A5"/>
              </a:solidFill>
              <a:prstDash val="dot"/>
              <a:round/>
              <a:headEnd len="sm" w="sm" type="none"/>
              <a:tailEnd len="sm" w="sm" type="none"/>
            </a:ln>
          </p:spPr>
        </p:cxnSp>
        <p:cxnSp>
          <p:nvCxnSpPr>
            <p:cNvPr id="350" name="Google Shape;350;p42"/>
            <p:cNvCxnSpPr/>
            <p:nvPr/>
          </p:nvCxnSpPr>
          <p:spPr>
            <a:xfrm rot="10800000">
              <a:off x="2873978" y="2415591"/>
              <a:ext cx="0" cy="2370300"/>
            </a:xfrm>
            <a:prstGeom prst="straightConnector1">
              <a:avLst/>
            </a:prstGeom>
            <a:noFill/>
            <a:ln cap="flat" cmpd="sng" w="9525">
              <a:solidFill>
                <a:srgbClr val="9225A5"/>
              </a:solidFill>
              <a:prstDash val="dot"/>
              <a:round/>
              <a:headEnd len="sm" w="sm" type="none"/>
              <a:tailEnd len="sm" w="sm" type="none"/>
            </a:ln>
          </p:spPr>
        </p:cxnSp>
        <p:sp>
          <p:nvSpPr>
            <p:cNvPr id="351" name="Google Shape;351;p42"/>
            <p:cNvSpPr txBox="1"/>
            <p:nvPr/>
          </p:nvSpPr>
          <p:spPr>
            <a:xfrm>
              <a:off x="1939525" y="2333691"/>
              <a:ext cx="299100" cy="21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9225A5"/>
                  </a:solidFill>
                  <a:latin typeface="Montserrat"/>
                  <a:ea typeface="Montserrat"/>
                  <a:cs typeface="Montserrat"/>
                  <a:sym typeface="Montserrat"/>
                </a:rPr>
                <a:t>W1</a:t>
              </a:r>
              <a:endParaRPr b="1" i="0" sz="700" u="none" cap="none" strike="noStrike">
                <a:solidFill>
                  <a:srgbClr val="9225A5"/>
                </a:solidFill>
                <a:latin typeface="Montserrat"/>
                <a:ea typeface="Montserrat"/>
                <a:cs typeface="Montserrat"/>
                <a:sym typeface="Montserrat"/>
              </a:endParaRPr>
            </a:p>
          </p:txBody>
        </p:sp>
        <p:sp>
          <p:nvSpPr>
            <p:cNvPr id="352" name="Google Shape;352;p42"/>
            <p:cNvSpPr txBox="1"/>
            <p:nvPr/>
          </p:nvSpPr>
          <p:spPr>
            <a:xfrm>
              <a:off x="2252765" y="2333691"/>
              <a:ext cx="299100" cy="21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9225A5"/>
                  </a:solidFill>
                  <a:latin typeface="Montserrat"/>
                  <a:ea typeface="Montserrat"/>
                  <a:cs typeface="Montserrat"/>
                  <a:sym typeface="Montserrat"/>
                </a:rPr>
                <a:t>W2</a:t>
              </a:r>
              <a:endParaRPr b="1" i="0" sz="700" u="none" cap="none" strike="noStrike">
                <a:solidFill>
                  <a:srgbClr val="9225A5"/>
                </a:solidFill>
                <a:latin typeface="Montserrat"/>
                <a:ea typeface="Montserrat"/>
                <a:cs typeface="Montserrat"/>
                <a:sym typeface="Montserrat"/>
              </a:endParaRPr>
            </a:p>
          </p:txBody>
        </p:sp>
        <p:sp>
          <p:nvSpPr>
            <p:cNvPr id="353" name="Google Shape;353;p42"/>
            <p:cNvSpPr txBox="1"/>
            <p:nvPr/>
          </p:nvSpPr>
          <p:spPr>
            <a:xfrm>
              <a:off x="2566003" y="2333691"/>
              <a:ext cx="299100" cy="21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9225A5"/>
                  </a:solidFill>
                  <a:latin typeface="Montserrat"/>
                  <a:ea typeface="Montserrat"/>
                  <a:cs typeface="Montserrat"/>
                  <a:sym typeface="Montserrat"/>
                </a:rPr>
                <a:t>W3</a:t>
              </a:r>
              <a:endParaRPr b="1" i="0" sz="700" u="none" cap="none" strike="noStrike">
                <a:solidFill>
                  <a:srgbClr val="9225A5"/>
                </a:solidFill>
                <a:latin typeface="Montserrat"/>
                <a:ea typeface="Montserrat"/>
                <a:cs typeface="Montserrat"/>
                <a:sym typeface="Montserrat"/>
              </a:endParaRPr>
            </a:p>
          </p:txBody>
        </p:sp>
        <p:sp>
          <p:nvSpPr>
            <p:cNvPr id="354" name="Google Shape;354;p42"/>
            <p:cNvSpPr txBox="1"/>
            <p:nvPr/>
          </p:nvSpPr>
          <p:spPr>
            <a:xfrm>
              <a:off x="2879242" y="2333691"/>
              <a:ext cx="299100" cy="21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9225A5"/>
                  </a:solidFill>
                  <a:latin typeface="Montserrat"/>
                  <a:ea typeface="Montserrat"/>
                  <a:cs typeface="Montserrat"/>
                  <a:sym typeface="Montserrat"/>
                </a:rPr>
                <a:t>W4</a:t>
              </a:r>
              <a:endParaRPr b="1" i="0" sz="700" u="none" cap="none" strike="noStrike">
                <a:solidFill>
                  <a:srgbClr val="9225A5"/>
                </a:solidFill>
                <a:latin typeface="Montserrat"/>
                <a:ea typeface="Montserrat"/>
                <a:cs typeface="Montserrat"/>
                <a:sym typeface="Montserrat"/>
              </a:endParaRPr>
            </a:p>
          </p:txBody>
        </p:sp>
        <p:sp>
          <p:nvSpPr>
            <p:cNvPr id="355" name="Google Shape;355;p42"/>
            <p:cNvSpPr txBox="1"/>
            <p:nvPr/>
          </p:nvSpPr>
          <p:spPr>
            <a:xfrm>
              <a:off x="1943836" y="1189414"/>
              <a:ext cx="1233600" cy="215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lang="en" sz="1000">
                  <a:solidFill>
                    <a:srgbClr val="551561"/>
                  </a:solidFill>
                  <a:latin typeface="Montserrat"/>
                  <a:ea typeface="Montserrat"/>
                  <a:cs typeface="Montserrat"/>
                  <a:sym typeface="Montserrat"/>
                </a:rPr>
                <a:t>July</a:t>
              </a:r>
              <a:endParaRPr b="1" i="0" sz="1000" u="none" cap="none" strike="noStrike">
                <a:solidFill>
                  <a:srgbClr val="551561"/>
                </a:solidFill>
                <a:latin typeface="Montserrat"/>
                <a:ea typeface="Montserrat"/>
                <a:cs typeface="Montserrat"/>
                <a:sym typeface="Montserrat"/>
              </a:endParaRPr>
            </a:p>
          </p:txBody>
        </p:sp>
        <p:sp>
          <p:nvSpPr>
            <p:cNvPr id="356" name="Google Shape;356;p42"/>
            <p:cNvSpPr txBox="1"/>
            <p:nvPr/>
          </p:nvSpPr>
          <p:spPr>
            <a:xfrm>
              <a:off x="3183781" y="1189414"/>
              <a:ext cx="1233600" cy="215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lang="en" sz="1000">
                  <a:solidFill>
                    <a:srgbClr val="551561"/>
                  </a:solidFill>
                  <a:latin typeface="Montserrat"/>
                  <a:ea typeface="Montserrat"/>
                  <a:cs typeface="Montserrat"/>
                  <a:sym typeface="Montserrat"/>
                </a:rPr>
                <a:t>Aug</a:t>
              </a:r>
              <a:endParaRPr b="1" i="0" sz="1000" u="none" cap="none" strike="noStrike">
                <a:solidFill>
                  <a:srgbClr val="551561"/>
                </a:solidFill>
                <a:latin typeface="Montserrat"/>
                <a:ea typeface="Montserrat"/>
                <a:cs typeface="Montserrat"/>
                <a:sym typeface="Montserrat"/>
              </a:endParaRPr>
            </a:p>
          </p:txBody>
        </p:sp>
        <p:sp>
          <p:nvSpPr>
            <p:cNvPr id="357" name="Google Shape;357;p42"/>
            <p:cNvSpPr/>
            <p:nvPr/>
          </p:nvSpPr>
          <p:spPr>
            <a:xfrm>
              <a:off x="2255703" y="3477975"/>
              <a:ext cx="635100" cy="250500"/>
            </a:xfrm>
            <a:prstGeom prst="rect">
              <a:avLst/>
            </a:prstGeom>
            <a:solidFill>
              <a:srgbClr val="E6913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FFFFFF"/>
                </a:solidFill>
                <a:latin typeface="Montserrat"/>
                <a:ea typeface="Montserrat"/>
                <a:cs typeface="Montserrat"/>
                <a:sym typeface="Montserrat"/>
              </a:endParaRPr>
            </a:p>
          </p:txBody>
        </p:sp>
        <p:sp>
          <p:nvSpPr>
            <p:cNvPr id="358" name="Google Shape;358;p42"/>
            <p:cNvSpPr/>
            <p:nvPr/>
          </p:nvSpPr>
          <p:spPr>
            <a:xfrm>
              <a:off x="2883599" y="3728475"/>
              <a:ext cx="299100" cy="250500"/>
            </a:xfrm>
            <a:prstGeom prst="rect">
              <a:avLst/>
            </a:prstGeom>
            <a:solidFill>
              <a:srgbClr val="7436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FFFFFF"/>
                </a:solidFill>
                <a:latin typeface="Montserrat"/>
                <a:ea typeface="Montserrat"/>
                <a:cs typeface="Montserrat"/>
                <a:sym typeface="Montserrat"/>
              </a:endParaRPr>
            </a:p>
          </p:txBody>
        </p:sp>
        <p:sp>
          <p:nvSpPr>
            <p:cNvPr id="359" name="Google Shape;359;p42"/>
            <p:cNvSpPr/>
            <p:nvPr/>
          </p:nvSpPr>
          <p:spPr>
            <a:xfrm flipH="1" rot="10800000">
              <a:off x="1929720" y="1036401"/>
              <a:ext cx="1238700" cy="153000"/>
            </a:xfrm>
            <a:prstGeom prst="rect">
              <a:avLst/>
            </a:prstGeom>
            <a:solidFill>
              <a:srgbClr val="9225A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42"/>
            <p:cNvSpPr/>
            <p:nvPr/>
          </p:nvSpPr>
          <p:spPr>
            <a:xfrm>
              <a:off x="704190" y="1036325"/>
              <a:ext cx="1238700" cy="3754500"/>
            </a:xfrm>
            <a:prstGeom prst="rect">
              <a:avLst/>
            </a:prstGeom>
            <a:noFill/>
            <a:ln cap="flat" cmpd="sng" w="9525">
              <a:solidFill>
                <a:srgbClr val="922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42"/>
            <p:cNvSpPr/>
            <p:nvPr/>
          </p:nvSpPr>
          <p:spPr>
            <a:xfrm flipH="1" rot="10800000">
              <a:off x="690108" y="1036401"/>
              <a:ext cx="1238700" cy="153000"/>
            </a:xfrm>
            <a:prstGeom prst="rect">
              <a:avLst/>
            </a:prstGeom>
            <a:solidFill>
              <a:srgbClr val="9225A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42"/>
            <p:cNvSpPr txBox="1"/>
            <p:nvPr/>
          </p:nvSpPr>
          <p:spPr>
            <a:xfrm>
              <a:off x="690094" y="1189415"/>
              <a:ext cx="731400" cy="956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9225A5"/>
                  </a:solidFill>
                  <a:latin typeface="Montserrat"/>
                  <a:ea typeface="Montserrat"/>
                  <a:cs typeface="Montserrat"/>
                  <a:sym typeface="Montserrat"/>
                </a:rPr>
                <a:t>0</a:t>
              </a:r>
              <a:r>
                <a:rPr b="1" lang="en" sz="2000">
                  <a:solidFill>
                    <a:srgbClr val="9225A5"/>
                  </a:solidFill>
                  <a:latin typeface="Montserrat"/>
                  <a:ea typeface="Montserrat"/>
                  <a:cs typeface="Montserrat"/>
                  <a:sym typeface="Montserrat"/>
                </a:rPr>
                <a:t>6</a:t>
              </a:r>
              <a:endParaRPr b="1" i="0" sz="2000" u="none" cap="none" strike="noStrike">
                <a:solidFill>
                  <a:srgbClr val="9225A5"/>
                </a:solidFill>
                <a:latin typeface="Montserrat"/>
                <a:ea typeface="Montserrat"/>
                <a:cs typeface="Montserrat"/>
                <a:sym typeface="Montserrat"/>
              </a:endParaRPr>
            </a:p>
          </p:txBody>
        </p:sp>
        <p:cxnSp>
          <p:nvCxnSpPr>
            <p:cNvPr id="363" name="Google Shape;363;p42"/>
            <p:cNvCxnSpPr/>
            <p:nvPr/>
          </p:nvCxnSpPr>
          <p:spPr>
            <a:xfrm rot="10800000">
              <a:off x="1001290" y="2415591"/>
              <a:ext cx="0" cy="2370300"/>
            </a:xfrm>
            <a:prstGeom prst="straightConnector1">
              <a:avLst/>
            </a:prstGeom>
            <a:noFill/>
            <a:ln cap="flat" cmpd="sng" w="9525">
              <a:solidFill>
                <a:srgbClr val="9225A5"/>
              </a:solidFill>
              <a:prstDash val="dot"/>
              <a:round/>
              <a:headEnd len="sm" w="sm" type="none"/>
              <a:tailEnd len="sm" w="sm" type="none"/>
            </a:ln>
          </p:spPr>
        </p:cxnSp>
        <p:cxnSp>
          <p:nvCxnSpPr>
            <p:cNvPr id="364" name="Google Shape;364;p42"/>
            <p:cNvCxnSpPr/>
            <p:nvPr/>
          </p:nvCxnSpPr>
          <p:spPr>
            <a:xfrm rot="10800000">
              <a:off x="1310771" y="2415591"/>
              <a:ext cx="0" cy="2370300"/>
            </a:xfrm>
            <a:prstGeom prst="straightConnector1">
              <a:avLst/>
            </a:prstGeom>
            <a:noFill/>
            <a:ln cap="flat" cmpd="sng" w="9525">
              <a:solidFill>
                <a:srgbClr val="9225A5"/>
              </a:solidFill>
              <a:prstDash val="dot"/>
              <a:round/>
              <a:headEnd len="sm" w="sm" type="none"/>
              <a:tailEnd len="sm" w="sm" type="none"/>
            </a:ln>
          </p:spPr>
        </p:cxnSp>
        <p:cxnSp>
          <p:nvCxnSpPr>
            <p:cNvPr id="365" name="Google Shape;365;p42"/>
            <p:cNvCxnSpPr/>
            <p:nvPr/>
          </p:nvCxnSpPr>
          <p:spPr>
            <a:xfrm rot="10800000">
              <a:off x="1620253" y="2415591"/>
              <a:ext cx="0" cy="2370300"/>
            </a:xfrm>
            <a:prstGeom prst="straightConnector1">
              <a:avLst/>
            </a:prstGeom>
            <a:noFill/>
            <a:ln cap="flat" cmpd="sng" w="9525">
              <a:solidFill>
                <a:srgbClr val="9225A5"/>
              </a:solidFill>
              <a:prstDash val="dot"/>
              <a:round/>
              <a:headEnd len="sm" w="sm" type="none"/>
              <a:tailEnd len="sm" w="sm" type="none"/>
            </a:ln>
          </p:spPr>
        </p:cxnSp>
        <p:sp>
          <p:nvSpPr>
            <p:cNvPr id="366" name="Google Shape;366;p42"/>
            <p:cNvSpPr txBox="1"/>
            <p:nvPr/>
          </p:nvSpPr>
          <p:spPr>
            <a:xfrm>
              <a:off x="685800" y="2333691"/>
              <a:ext cx="299100" cy="21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9225A5"/>
                  </a:solidFill>
                  <a:latin typeface="Montserrat"/>
                  <a:ea typeface="Montserrat"/>
                  <a:cs typeface="Montserrat"/>
                  <a:sym typeface="Montserrat"/>
                </a:rPr>
                <a:t>W1</a:t>
              </a:r>
              <a:endParaRPr b="1" i="0" sz="700" u="none" cap="none" strike="noStrike">
                <a:solidFill>
                  <a:srgbClr val="9225A5"/>
                </a:solidFill>
                <a:latin typeface="Montserrat"/>
                <a:ea typeface="Montserrat"/>
                <a:cs typeface="Montserrat"/>
                <a:sym typeface="Montserrat"/>
              </a:endParaRPr>
            </a:p>
          </p:txBody>
        </p:sp>
        <p:sp>
          <p:nvSpPr>
            <p:cNvPr id="367" name="Google Shape;367;p42"/>
            <p:cNvSpPr txBox="1"/>
            <p:nvPr/>
          </p:nvSpPr>
          <p:spPr>
            <a:xfrm>
              <a:off x="999040" y="2333691"/>
              <a:ext cx="299100" cy="21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9225A5"/>
                  </a:solidFill>
                  <a:latin typeface="Montserrat"/>
                  <a:ea typeface="Montserrat"/>
                  <a:cs typeface="Montserrat"/>
                  <a:sym typeface="Montserrat"/>
                </a:rPr>
                <a:t>W2</a:t>
              </a:r>
              <a:endParaRPr b="1" i="0" sz="700" u="none" cap="none" strike="noStrike">
                <a:solidFill>
                  <a:srgbClr val="9225A5"/>
                </a:solidFill>
                <a:latin typeface="Montserrat"/>
                <a:ea typeface="Montserrat"/>
                <a:cs typeface="Montserrat"/>
                <a:sym typeface="Montserrat"/>
              </a:endParaRPr>
            </a:p>
          </p:txBody>
        </p:sp>
        <p:sp>
          <p:nvSpPr>
            <p:cNvPr id="368" name="Google Shape;368;p42"/>
            <p:cNvSpPr txBox="1"/>
            <p:nvPr/>
          </p:nvSpPr>
          <p:spPr>
            <a:xfrm>
              <a:off x="1312278" y="2333691"/>
              <a:ext cx="299100" cy="21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9225A5"/>
                  </a:solidFill>
                  <a:latin typeface="Montserrat"/>
                  <a:ea typeface="Montserrat"/>
                  <a:cs typeface="Montserrat"/>
                  <a:sym typeface="Montserrat"/>
                </a:rPr>
                <a:t>W3</a:t>
              </a:r>
              <a:endParaRPr b="1" i="0" sz="700" u="none" cap="none" strike="noStrike">
                <a:solidFill>
                  <a:srgbClr val="9225A5"/>
                </a:solidFill>
                <a:latin typeface="Montserrat"/>
                <a:ea typeface="Montserrat"/>
                <a:cs typeface="Montserrat"/>
                <a:sym typeface="Montserrat"/>
              </a:endParaRPr>
            </a:p>
          </p:txBody>
        </p:sp>
        <p:sp>
          <p:nvSpPr>
            <p:cNvPr id="369" name="Google Shape;369;p42"/>
            <p:cNvSpPr txBox="1"/>
            <p:nvPr/>
          </p:nvSpPr>
          <p:spPr>
            <a:xfrm>
              <a:off x="1625517" y="2333691"/>
              <a:ext cx="299100" cy="21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9225A5"/>
                  </a:solidFill>
                  <a:latin typeface="Montserrat"/>
                  <a:ea typeface="Montserrat"/>
                  <a:cs typeface="Montserrat"/>
                  <a:sym typeface="Montserrat"/>
                </a:rPr>
                <a:t>W4</a:t>
              </a:r>
              <a:endParaRPr b="1" i="0" sz="700" u="none" cap="none" strike="noStrike">
                <a:solidFill>
                  <a:srgbClr val="9225A5"/>
                </a:solidFill>
                <a:latin typeface="Montserrat"/>
                <a:ea typeface="Montserrat"/>
                <a:cs typeface="Montserrat"/>
                <a:sym typeface="Montserrat"/>
              </a:endParaRPr>
            </a:p>
          </p:txBody>
        </p:sp>
        <p:sp>
          <p:nvSpPr>
            <p:cNvPr id="370" name="Google Shape;370;p42"/>
            <p:cNvSpPr txBox="1"/>
            <p:nvPr/>
          </p:nvSpPr>
          <p:spPr>
            <a:xfrm>
              <a:off x="690111" y="1189414"/>
              <a:ext cx="1233600" cy="215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lang="en" sz="1000">
                  <a:solidFill>
                    <a:srgbClr val="551561"/>
                  </a:solidFill>
                  <a:latin typeface="Montserrat"/>
                  <a:ea typeface="Montserrat"/>
                  <a:cs typeface="Montserrat"/>
                  <a:sym typeface="Montserrat"/>
                </a:rPr>
                <a:t>June</a:t>
              </a:r>
              <a:endParaRPr b="1" i="0" sz="1000" u="none" cap="none" strike="noStrike">
                <a:solidFill>
                  <a:srgbClr val="551561"/>
                </a:solidFill>
                <a:latin typeface="Montserrat"/>
                <a:ea typeface="Montserrat"/>
                <a:cs typeface="Montserrat"/>
                <a:sym typeface="Montserrat"/>
              </a:endParaRPr>
            </a:p>
          </p:txBody>
        </p:sp>
        <p:sp>
          <p:nvSpPr>
            <p:cNvPr id="371" name="Google Shape;371;p42"/>
            <p:cNvSpPr/>
            <p:nvPr/>
          </p:nvSpPr>
          <p:spPr>
            <a:xfrm>
              <a:off x="1001299" y="3015700"/>
              <a:ext cx="609000" cy="250500"/>
            </a:xfrm>
            <a:prstGeom prst="rect">
              <a:avLst/>
            </a:prstGeom>
            <a:solidFill>
              <a:srgbClr val="F9CB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FFFFFF"/>
                </a:solidFill>
                <a:latin typeface="Montserrat"/>
                <a:ea typeface="Montserrat"/>
                <a:cs typeface="Montserrat"/>
                <a:sym typeface="Montserrat"/>
              </a:endParaRPr>
            </a:p>
          </p:txBody>
        </p:sp>
        <p:sp>
          <p:nvSpPr>
            <p:cNvPr id="372" name="Google Shape;372;p42"/>
            <p:cNvSpPr/>
            <p:nvPr/>
          </p:nvSpPr>
          <p:spPr>
            <a:xfrm>
              <a:off x="1944815" y="1036325"/>
              <a:ext cx="1238700" cy="3754500"/>
            </a:xfrm>
            <a:prstGeom prst="rect">
              <a:avLst/>
            </a:prstGeom>
            <a:noFill/>
            <a:ln cap="flat" cmpd="sng" w="9525">
              <a:solidFill>
                <a:srgbClr val="922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42"/>
            <p:cNvSpPr/>
            <p:nvPr/>
          </p:nvSpPr>
          <p:spPr>
            <a:xfrm>
              <a:off x="1619875" y="3242825"/>
              <a:ext cx="635100" cy="250500"/>
            </a:xfrm>
            <a:prstGeom prst="rect">
              <a:avLst/>
            </a:prstGeom>
            <a:solidFill>
              <a:srgbClr val="F6B26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FFFFFF"/>
                </a:solidFill>
                <a:latin typeface="Montserrat"/>
                <a:ea typeface="Montserrat"/>
                <a:cs typeface="Montserrat"/>
                <a:sym typeface="Montserrat"/>
              </a:endParaRPr>
            </a:p>
          </p:txBody>
        </p:sp>
        <p:sp>
          <p:nvSpPr>
            <p:cNvPr id="374" name="Google Shape;374;p42"/>
            <p:cNvSpPr/>
            <p:nvPr/>
          </p:nvSpPr>
          <p:spPr>
            <a:xfrm>
              <a:off x="709174" y="2758900"/>
              <a:ext cx="299100" cy="250500"/>
            </a:xfrm>
            <a:prstGeom prst="rect">
              <a:avLst/>
            </a:prstGeom>
            <a:solidFill>
              <a:srgbClr val="A667A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FFFFFF"/>
                </a:solidFill>
                <a:latin typeface="Montserrat"/>
                <a:ea typeface="Montserrat"/>
                <a:cs typeface="Montserrat"/>
                <a:sym typeface="Montserrat"/>
              </a:endParaRPr>
            </a:p>
          </p:txBody>
        </p:sp>
      </p:grpSp>
      <p:sp>
        <p:nvSpPr>
          <p:cNvPr id="375" name="Google Shape;375;p42"/>
          <p:cNvSpPr txBox="1"/>
          <p:nvPr/>
        </p:nvSpPr>
        <p:spPr>
          <a:xfrm>
            <a:off x="5626350" y="3767500"/>
            <a:ext cx="3380700" cy="8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50">
                <a:solidFill>
                  <a:schemeClr val="dk1"/>
                </a:solidFill>
                <a:latin typeface="Montserrat"/>
                <a:ea typeface="Montserrat"/>
                <a:cs typeface="Montserrat"/>
                <a:sym typeface="Montserrat"/>
              </a:rPr>
              <a:t>24</a:t>
            </a:r>
            <a:r>
              <a:rPr b="1" lang="en" sz="850">
                <a:solidFill>
                  <a:schemeClr val="dk1"/>
                </a:solidFill>
                <a:latin typeface="Montserrat"/>
                <a:ea typeface="Montserrat"/>
                <a:cs typeface="Montserrat"/>
                <a:sym typeface="Montserrat"/>
              </a:rPr>
              <a:t> - 25 Juli  2022</a:t>
            </a:r>
            <a:endParaRPr sz="850">
              <a:solidFill>
                <a:schemeClr val="dk1"/>
              </a:solidFill>
              <a:latin typeface="Montserrat"/>
              <a:ea typeface="Montserrat"/>
              <a:cs typeface="Montserrat"/>
              <a:sym typeface="Montserrat"/>
            </a:endParaRPr>
          </a:p>
          <a:p>
            <a:pPr indent="-225425" lvl="0" marL="228600" rtl="0" algn="l">
              <a:spcBef>
                <a:spcPts val="0"/>
              </a:spcBef>
              <a:spcAft>
                <a:spcPts val="0"/>
              </a:spcAft>
              <a:buClr>
                <a:schemeClr val="dk1"/>
              </a:buClr>
              <a:buSzPts val="850"/>
              <a:buFont typeface="Montserrat"/>
              <a:buChar char="●"/>
            </a:pPr>
            <a:r>
              <a:rPr lang="en" sz="850">
                <a:solidFill>
                  <a:schemeClr val="dk1"/>
                </a:solidFill>
                <a:latin typeface="Montserrat"/>
                <a:ea typeface="Montserrat"/>
                <a:cs typeface="Montserrat"/>
                <a:sym typeface="Montserrat"/>
              </a:rPr>
              <a:t>Slide deck presentasi, credentials file, demonstrasi, project asset, dll dikumpulkan maks. 24 Juli 2022, Pukul 23.59</a:t>
            </a:r>
            <a:endParaRPr sz="850">
              <a:solidFill>
                <a:schemeClr val="dk1"/>
              </a:solidFill>
              <a:latin typeface="Montserrat"/>
              <a:ea typeface="Montserrat"/>
              <a:cs typeface="Montserrat"/>
              <a:sym typeface="Montserrat"/>
            </a:endParaRPr>
          </a:p>
          <a:p>
            <a:pPr indent="-225425" lvl="0" marL="228600" rtl="0" algn="l">
              <a:spcBef>
                <a:spcPts val="0"/>
              </a:spcBef>
              <a:spcAft>
                <a:spcPts val="0"/>
              </a:spcAft>
              <a:buClr>
                <a:schemeClr val="dk1"/>
              </a:buClr>
              <a:buSzPts val="850"/>
              <a:buFont typeface="Montserrat"/>
              <a:buChar char="●"/>
            </a:pPr>
            <a:r>
              <a:rPr lang="en" sz="850">
                <a:solidFill>
                  <a:schemeClr val="dk1"/>
                </a:solidFill>
                <a:latin typeface="Montserrat"/>
                <a:ea typeface="Montserrat"/>
                <a:cs typeface="Montserrat"/>
                <a:sym typeface="Montserrat"/>
              </a:rPr>
              <a:t>Showcase : 25 Juli  2022</a:t>
            </a:r>
            <a:endParaRPr sz="850">
              <a:solidFill>
                <a:schemeClr val="dk1"/>
              </a:solidFill>
              <a:latin typeface="Montserrat"/>
              <a:ea typeface="Montserrat"/>
              <a:cs typeface="Montserrat"/>
              <a:sym typeface="Montserrat"/>
            </a:endParaRPr>
          </a:p>
        </p:txBody>
      </p:sp>
      <p:sp>
        <p:nvSpPr>
          <p:cNvPr id="376" name="Google Shape;376;p42"/>
          <p:cNvSpPr/>
          <p:nvPr/>
        </p:nvSpPr>
        <p:spPr>
          <a:xfrm>
            <a:off x="4232125" y="1168700"/>
            <a:ext cx="1361100" cy="358200"/>
          </a:xfrm>
          <a:prstGeom prst="rect">
            <a:avLst/>
          </a:prstGeom>
          <a:solidFill>
            <a:srgbClr val="A667A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lang="en" sz="1000">
                <a:solidFill>
                  <a:schemeClr val="lt1"/>
                </a:solidFill>
                <a:latin typeface="Montserrat"/>
                <a:ea typeface="Montserrat"/>
                <a:cs typeface="Montserrat"/>
                <a:sym typeface="Montserrat"/>
              </a:rPr>
              <a:t>Final project announcement</a:t>
            </a:r>
            <a:endParaRPr b="1" i="0" sz="1000" u="none" cap="none" strike="noStrike">
              <a:solidFill>
                <a:schemeClr val="lt1"/>
              </a:solidFill>
              <a:latin typeface="Montserrat"/>
              <a:ea typeface="Montserrat"/>
              <a:cs typeface="Montserrat"/>
              <a:sym typeface="Montserrat"/>
            </a:endParaRPr>
          </a:p>
        </p:txBody>
      </p:sp>
      <p:sp>
        <p:nvSpPr>
          <p:cNvPr id="377" name="Google Shape;377;p42"/>
          <p:cNvSpPr/>
          <p:nvPr/>
        </p:nvSpPr>
        <p:spPr>
          <a:xfrm>
            <a:off x="4232118" y="2112000"/>
            <a:ext cx="1361100" cy="210600"/>
          </a:xfrm>
          <a:prstGeom prst="rect">
            <a:avLst/>
          </a:prstGeom>
          <a:solidFill>
            <a:srgbClr val="F9CB9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lang="en" sz="1000">
                <a:solidFill>
                  <a:srgbClr val="FFFFFF"/>
                </a:solidFill>
                <a:latin typeface="Montserrat"/>
                <a:ea typeface="Montserrat"/>
                <a:cs typeface="Montserrat"/>
                <a:sym typeface="Montserrat"/>
              </a:rPr>
              <a:t>Sprint 1</a:t>
            </a:r>
            <a:endParaRPr b="1" i="0" sz="1000" u="none" cap="none" strike="noStrike">
              <a:solidFill>
                <a:srgbClr val="FFFFFF"/>
              </a:solidFill>
              <a:latin typeface="Montserrat"/>
              <a:ea typeface="Montserrat"/>
              <a:cs typeface="Montserrat"/>
              <a:sym typeface="Montserrat"/>
            </a:endParaRPr>
          </a:p>
        </p:txBody>
      </p:sp>
      <p:sp>
        <p:nvSpPr>
          <p:cNvPr id="378" name="Google Shape;378;p42"/>
          <p:cNvSpPr/>
          <p:nvPr/>
        </p:nvSpPr>
        <p:spPr>
          <a:xfrm>
            <a:off x="4228620" y="2367075"/>
            <a:ext cx="1361100" cy="210600"/>
          </a:xfrm>
          <a:prstGeom prst="rect">
            <a:avLst/>
          </a:prstGeom>
          <a:solidFill>
            <a:srgbClr val="F6B26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lang="en" sz="1000">
                <a:solidFill>
                  <a:srgbClr val="FFFFFF"/>
                </a:solidFill>
                <a:latin typeface="Montserrat"/>
                <a:ea typeface="Montserrat"/>
                <a:cs typeface="Montserrat"/>
                <a:sym typeface="Montserrat"/>
              </a:rPr>
              <a:t>Sprint 2</a:t>
            </a:r>
            <a:endParaRPr b="1" i="0" sz="1000" u="none" cap="none" strike="noStrike">
              <a:solidFill>
                <a:srgbClr val="FFFFFF"/>
              </a:solidFill>
              <a:latin typeface="Montserrat"/>
              <a:ea typeface="Montserrat"/>
              <a:cs typeface="Montserrat"/>
              <a:sym typeface="Montserrat"/>
            </a:endParaRPr>
          </a:p>
        </p:txBody>
      </p:sp>
      <p:sp>
        <p:nvSpPr>
          <p:cNvPr id="379" name="Google Shape;379;p42"/>
          <p:cNvSpPr/>
          <p:nvPr/>
        </p:nvSpPr>
        <p:spPr>
          <a:xfrm>
            <a:off x="4227876" y="3908525"/>
            <a:ext cx="1361100" cy="210600"/>
          </a:xfrm>
          <a:prstGeom prst="rect">
            <a:avLst/>
          </a:prstGeom>
          <a:solidFill>
            <a:srgbClr val="7436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lang="en" sz="1000">
                <a:solidFill>
                  <a:srgbClr val="FFFFFF"/>
                </a:solidFill>
                <a:latin typeface="Montserrat"/>
                <a:ea typeface="Montserrat"/>
                <a:cs typeface="Montserrat"/>
                <a:sym typeface="Montserrat"/>
              </a:rPr>
              <a:t>Showcase</a:t>
            </a:r>
            <a:endParaRPr b="1" i="0" sz="1000" u="none" cap="none" strike="noStrike">
              <a:solidFill>
                <a:srgbClr val="FFFFFF"/>
              </a:solidFill>
              <a:latin typeface="Montserrat"/>
              <a:ea typeface="Montserrat"/>
              <a:cs typeface="Montserrat"/>
              <a:sym typeface="Montserrat"/>
            </a:endParaRPr>
          </a:p>
        </p:txBody>
      </p:sp>
      <p:sp>
        <p:nvSpPr>
          <p:cNvPr id="380" name="Google Shape;380;p42"/>
          <p:cNvSpPr txBox="1"/>
          <p:nvPr/>
        </p:nvSpPr>
        <p:spPr>
          <a:xfrm>
            <a:off x="5626449" y="1041500"/>
            <a:ext cx="3380700" cy="858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850">
                <a:solidFill>
                  <a:schemeClr val="dk1"/>
                </a:solidFill>
                <a:latin typeface="Montserrat"/>
                <a:ea typeface="Montserrat"/>
                <a:cs typeface="Montserrat"/>
                <a:sym typeface="Montserrat"/>
              </a:rPr>
              <a:t>10 Juni 2022</a:t>
            </a:r>
            <a:r>
              <a:rPr lang="en" sz="850">
                <a:solidFill>
                  <a:schemeClr val="dk1"/>
                </a:solidFill>
                <a:latin typeface="Montserrat"/>
                <a:ea typeface="Montserrat"/>
                <a:cs typeface="Montserrat"/>
                <a:sym typeface="Montserrat"/>
              </a:rPr>
              <a:t> </a:t>
            </a:r>
            <a:endParaRPr sz="850">
              <a:solidFill>
                <a:schemeClr val="dk1"/>
              </a:solidFill>
              <a:latin typeface="Montserrat"/>
              <a:ea typeface="Montserrat"/>
              <a:cs typeface="Montserrat"/>
              <a:sym typeface="Montserrat"/>
            </a:endParaRPr>
          </a:p>
          <a:p>
            <a:pPr indent="-225425" lvl="0" marL="228600" rtl="0" algn="l">
              <a:spcBef>
                <a:spcPts val="0"/>
              </a:spcBef>
              <a:spcAft>
                <a:spcPts val="0"/>
              </a:spcAft>
              <a:buClr>
                <a:schemeClr val="dk1"/>
              </a:buClr>
              <a:buSzPts val="850"/>
              <a:buFont typeface="Montserrat"/>
              <a:buChar char="●"/>
            </a:pPr>
            <a:r>
              <a:rPr lang="en" sz="850">
                <a:solidFill>
                  <a:schemeClr val="dk1"/>
                </a:solidFill>
                <a:latin typeface="Montserrat"/>
                <a:ea typeface="Montserrat"/>
                <a:cs typeface="Montserrat"/>
                <a:sym typeface="Montserrat"/>
              </a:rPr>
              <a:t>Project discussion (brainstorming bersama tim).</a:t>
            </a:r>
            <a:endParaRPr sz="850">
              <a:solidFill>
                <a:schemeClr val="dk1"/>
              </a:solidFill>
              <a:latin typeface="Montserrat"/>
              <a:ea typeface="Montserrat"/>
              <a:cs typeface="Montserrat"/>
              <a:sym typeface="Montserrat"/>
            </a:endParaRPr>
          </a:p>
          <a:p>
            <a:pPr indent="-225425" lvl="0" marL="228600" rtl="0" algn="l">
              <a:spcBef>
                <a:spcPts val="0"/>
              </a:spcBef>
              <a:spcAft>
                <a:spcPts val="0"/>
              </a:spcAft>
              <a:buClr>
                <a:schemeClr val="dk1"/>
              </a:buClr>
              <a:buSzPts val="850"/>
              <a:buFont typeface="Montserrat"/>
              <a:buChar char="●"/>
            </a:pPr>
            <a:r>
              <a:rPr lang="en" sz="850">
                <a:solidFill>
                  <a:schemeClr val="dk1"/>
                </a:solidFill>
                <a:latin typeface="Montserrat"/>
                <a:ea typeface="Montserrat"/>
                <a:cs typeface="Montserrat"/>
                <a:sym typeface="Montserrat"/>
              </a:rPr>
              <a:t>Sesi kelas akan digunakan untuk sesi diskusi kelompok dengan facil pendamping dalam breakout room</a:t>
            </a:r>
            <a:endParaRPr sz="850">
              <a:solidFill>
                <a:schemeClr val="dk1"/>
              </a:solidFill>
              <a:latin typeface="Montserrat"/>
              <a:ea typeface="Montserrat"/>
              <a:cs typeface="Montserrat"/>
              <a:sym typeface="Montserrat"/>
            </a:endParaRPr>
          </a:p>
        </p:txBody>
      </p:sp>
      <p:sp>
        <p:nvSpPr>
          <p:cNvPr id="381" name="Google Shape;381;p42"/>
          <p:cNvSpPr/>
          <p:nvPr/>
        </p:nvSpPr>
        <p:spPr>
          <a:xfrm>
            <a:off x="4235616" y="2622150"/>
            <a:ext cx="1361100" cy="210600"/>
          </a:xfrm>
          <a:prstGeom prst="rect">
            <a:avLst/>
          </a:prstGeom>
          <a:solidFill>
            <a:srgbClr val="E6913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lang="en" sz="1000">
                <a:solidFill>
                  <a:srgbClr val="FFFFFF"/>
                </a:solidFill>
                <a:latin typeface="Montserrat"/>
                <a:ea typeface="Montserrat"/>
                <a:cs typeface="Montserrat"/>
                <a:sym typeface="Montserrat"/>
              </a:rPr>
              <a:t>Sprint 3</a:t>
            </a:r>
            <a:endParaRPr b="1" i="0" sz="1000" u="none" cap="none" strike="noStrike">
              <a:solidFill>
                <a:srgbClr val="FFFFFF"/>
              </a:solidFill>
              <a:latin typeface="Montserrat"/>
              <a:ea typeface="Montserrat"/>
              <a:cs typeface="Montserrat"/>
              <a:sym typeface="Montserrat"/>
            </a:endParaRPr>
          </a:p>
        </p:txBody>
      </p:sp>
      <p:sp>
        <p:nvSpPr>
          <p:cNvPr id="382" name="Google Shape;382;p42"/>
          <p:cNvSpPr txBox="1"/>
          <p:nvPr/>
        </p:nvSpPr>
        <p:spPr>
          <a:xfrm>
            <a:off x="5626350" y="1965400"/>
            <a:ext cx="3380700" cy="175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50">
                <a:solidFill>
                  <a:schemeClr val="dk1"/>
                </a:solidFill>
                <a:latin typeface="Montserrat"/>
                <a:ea typeface="Montserrat"/>
                <a:cs typeface="Montserrat"/>
                <a:sym typeface="Montserrat"/>
              </a:rPr>
              <a:t>13 Juni - 22 Juli 2022</a:t>
            </a:r>
            <a:endParaRPr sz="850">
              <a:solidFill>
                <a:schemeClr val="dk1"/>
              </a:solidFill>
              <a:latin typeface="Montserrat"/>
              <a:ea typeface="Montserrat"/>
              <a:cs typeface="Montserrat"/>
              <a:sym typeface="Montserrat"/>
            </a:endParaRPr>
          </a:p>
          <a:p>
            <a:pPr indent="-225425" lvl="0" marL="228600" rtl="0" algn="l">
              <a:spcBef>
                <a:spcPts val="0"/>
              </a:spcBef>
              <a:spcAft>
                <a:spcPts val="0"/>
              </a:spcAft>
              <a:buClr>
                <a:schemeClr val="dk1"/>
              </a:buClr>
              <a:buSzPts val="850"/>
              <a:buFont typeface="Montserrat"/>
              <a:buChar char="●"/>
            </a:pPr>
            <a:r>
              <a:rPr lang="en" sz="850">
                <a:solidFill>
                  <a:schemeClr val="dk1"/>
                </a:solidFill>
                <a:latin typeface="Montserrat"/>
                <a:ea typeface="Montserrat"/>
                <a:cs typeface="Montserrat"/>
                <a:sym typeface="Montserrat"/>
              </a:rPr>
              <a:t>Proses pengerjaan dilakukan dalam 3x sprint </a:t>
            </a:r>
            <a:endParaRPr sz="850">
              <a:solidFill>
                <a:schemeClr val="dk1"/>
              </a:solidFill>
              <a:latin typeface="Montserrat"/>
              <a:ea typeface="Montserrat"/>
              <a:cs typeface="Montserrat"/>
              <a:sym typeface="Montserrat"/>
            </a:endParaRPr>
          </a:p>
          <a:p>
            <a:pPr indent="-225425" lvl="0" marL="228600" rtl="0" algn="l">
              <a:spcBef>
                <a:spcPts val="0"/>
              </a:spcBef>
              <a:spcAft>
                <a:spcPts val="0"/>
              </a:spcAft>
              <a:buClr>
                <a:schemeClr val="dk1"/>
              </a:buClr>
              <a:buSzPts val="850"/>
              <a:buFont typeface="Montserrat"/>
              <a:buChar char="●"/>
            </a:pPr>
            <a:r>
              <a:rPr lang="en" sz="850">
                <a:solidFill>
                  <a:schemeClr val="dk1"/>
                </a:solidFill>
                <a:latin typeface="Montserrat"/>
                <a:ea typeface="Montserrat"/>
                <a:cs typeface="Montserrat"/>
                <a:sym typeface="Montserrat"/>
              </a:rPr>
              <a:t>Setiap sprint planning dan sprint review setiap kelompok akan melakukan presentasi dalam zoom (kelas besar) kepada fasil </a:t>
            </a:r>
            <a:endParaRPr sz="850">
              <a:solidFill>
                <a:schemeClr val="dk1"/>
              </a:solidFill>
              <a:latin typeface="Montserrat"/>
              <a:ea typeface="Montserrat"/>
              <a:cs typeface="Montserrat"/>
              <a:sym typeface="Montserrat"/>
            </a:endParaRPr>
          </a:p>
          <a:p>
            <a:pPr indent="-225425" lvl="0" marL="228600" rtl="0" algn="l">
              <a:spcBef>
                <a:spcPts val="0"/>
              </a:spcBef>
              <a:spcAft>
                <a:spcPts val="0"/>
              </a:spcAft>
              <a:buClr>
                <a:schemeClr val="dk1"/>
              </a:buClr>
              <a:buSzPts val="850"/>
              <a:buFont typeface="Montserrat"/>
              <a:buChar char="●"/>
            </a:pPr>
            <a:r>
              <a:rPr lang="en" sz="850">
                <a:solidFill>
                  <a:schemeClr val="dk1"/>
                </a:solidFill>
                <a:latin typeface="Montserrat"/>
                <a:ea typeface="Montserrat"/>
                <a:cs typeface="Montserrat"/>
                <a:sym typeface="Montserrat"/>
              </a:rPr>
              <a:t>Forum diskusi selama sprint berjalan dapat digunakan untuk melakukan konsultasi terkait project / melakukan review materi (jika dibutuhkan)</a:t>
            </a:r>
            <a:endParaRPr sz="850">
              <a:solidFill>
                <a:schemeClr val="dk1"/>
              </a:solidFill>
              <a:latin typeface="Montserrat"/>
              <a:ea typeface="Montserrat"/>
              <a:cs typeface="Montserrat"/>
              <a:sym typeface="Montserrat"/>
            </a:endParaRPr>
          </a:p>
          <a:p>
            <a:pPr indent="-225425" lvl="0" marL="228600" rtl="0" algn="l">
              <a:spcBef>
                <a:spcPts val="0"/>
              </a:spcBef>
              <a:spcAft>
                <a:spcPts val="0"/>
              </a:spcAft>
              <a:buClr>
                <a:schemeClr val="dk1"/>
              </a:buClr>
              <a:buSzPts val="850"/>
              <a:buFont typeface="Montserrat"/>
              <a:buChar char="●"/>
            </a:pPr>
            <a:r>
              <a:rPr lang="en" sz="850">
                <a:solidFill>
                  <a:schemeClr val="dk1"/>
                </a:solidFill>
                <a:latin typeface="Montserrat"/>
                <a:ea typeface="Montserrat"/>
                <a:cs typeface="Montserrat"/>
                <a:sym typeface="Montserrat"/>
              </a:rPr>
              <a:t>Daily sprint (stand up) per kelompok dapat dilakukan diluar ataupun disaat jam FD selama ± 30 menit. Jika dilakukan pada sesi FD, maka student wajib kembali ke kelas untuk bertemu dengan fasil. </a:t>
            </a:r>
            <a:endParaRPr sz="850">
              <a:solidFill>
                <a:schemeClr val="dk1"/>
              </a:solidFill>
              <a:latin typeface="Montserrat"/>
              <a:ea typeface="Montserrat"/>
              <a:cs typeface="Montserrat"/>
              <a:sym typeface="Montserra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386" name="Shape 386"/>
        <p:cNvGrpSpPr/>
        <p:nvPr/>
      </p:nvGrpSpPr>
      <p:grpSpPr>
        <a:xfrm>
          <a:off x="0" y="0"/>
          <a:ext cx="0" cy="0"/>
          <a:chOff x="0" y="0"/>
          <a:chExt cx="0" cy="0"/>
        </a:xfrm>
      </p:grpSpPr>
      <p:sp>
        <p:nvSpPr>
          <p:cNvPr id="387" name="Google Shape;387;p43"/>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88" name="Google Shape;388;p43"/>
          <p:cNvPicPr preferRelativeResize="0"/>
          <p:nvPr/>
        </p:nvPicPr>
        <p:blipFill>
          <a:blip r:embed="rId3">
            <a:alphaModFix/>
          </a:blip>
          <a:stretch>
            <a:fillRect/>
          </a:stretch>
        </p:blipFill>
        <p:spPr>
          <a:xfrm>
            <a:off x="1734062" y="469363"/>
            <a:ext cx="5675881" cy="4204774"/>
          </a:xfrm>
          <a:prstGeom prst="rect">
            <a:avLst/>
          </a:prstGeom>
          <a:noFill/>
          <a:ln>
            <a:noFill/>
          </a:ln>
        </p:spPr>
      </p:pic>
      <p:pic>
        <p:nvPicPr>
          <p:cNvPr id="389" name="Google Shape;389;p43"/>
          <p:cNvPicPr preferRelativeResize="0"/>
          <p:nvPr/>
        </p:nvPicPr>
        <p:blipFill rotWithShape="1">
          <a:blip r:embed="rId4">
            <a:alphaModFix/>
          </a:blip>
          <a:srcRect b="0" l="0" r="13247" t="0"/>
          <a:stretch/>
        </p:blipFill>
        <p:spPr>
          <a:xfrm>
            <a:off x="7987325" y="4075701"/>
            <a:ext cx="709350" cy="817600"/>
          </a:xfrm>
          <a:prstGeom prst="rect">
            <a:avLst/>
          </a:prstGeom>
          <a:noFill/>
          <a:ln>
            <a:noFill/>
          </a:ln>
        </p:spPr>
      </p:pic>
      <p:pic>
        <p:nvPicPr>
          <p:cNvPr id="390" name="Google Shape;390;p43"/>
          <p:cNvPicPr preferRelativeResize="0"/>
          <p:nvPr/>
        </p:nvPicPr>
        <p:blipFill>
          <a:blip r:embed="rId5">
            <a:alphaModFix/>
          </a:blip>
          <a:stretch>
            <a:fillRect/>
          </a:stretch>
        </p:blipFill>
        <p:spPr>
          <a:xfrm>
            <a:off x="1103225" y="6174213"/>
            <a:ext cx="1991475" cy="689575"/>
          </a:xfrm>
          <a:prstGeom prst="rect">
            <a:avLst/>
          </a:prstGeom>
          <a:noFill/>
          <a:ln>
            <a:noFill/>
          </a:ln>
        </p:spPr>
      </p:pic>
      <p:pic>
        <p:nvPicPr>
          <p:cNvPr id="391" name="Google Shape;391;p43"/>
          <p:cNvPicPr preferRelativeResize="0"/>
          <p:nvPr/>
        </p:nvPicPr>
        <p:blipFill>
          <a:blip r:embed="rId6">
            <a:alphaModFix/>
          </a:blip>
          <a:stretch>
            <a:fillRect/>
          </a:stretch>
        </p:blipFill>
        <p:spPr>
          <a:xfrm>
            <a:off x="487625" y="4141560"/>
            <a:ext cx="1991475" cy="685884"/>
          </a:xfrm>
          <a:prstGeom prst="rect">
            <a:avLst/>
          </a:prstGeom>
          <a:noFill/>
          <a:ln>
            <a:noFill/>
          </a:ln>
        </p:spPr>
      </p:pic>
      <p:sp>
        <p:nvSpPr>
          <p:cNvPr id="392" name="Google Shape;392;p43"/>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3" name="Google Shape;393;p43"/>
          <p:cNvPicPr preferRelativeResize="0"/>
          <p:nvPr/>
        </p:nvPicPr>
        <p:blipFill rotWithShape="1">
          <a:blip r:embed="rId4">
            <a:alphaModFix/>
          </a:blip>
          <a:srcRect b="0" l="0" r="13247" t="0"/>
          <a:stretch/>
        </p:blipFill>
        <p:spPr>
          <a:xfrm>
            <a:off x="7987325" y="4075701"/>
            <a:ext cx="709350" cy="817600"/>
          </a:xfrm>
          <a:prstGeom prst="rect">
            <a:avLst/>
          </a:prstGeom>
          <a:noFill/>
          <a:ln>
            <a:noFill/>
          </a:ln>
        </p:spPr>
      </p:pic>
      <p:pic>
        <p:nvPicPr>
          <p:cNvPr id="394" name="Google Shape;394;p43"/>
          <p:cNvPicPr preferRelativeResize="0"/>
          <p:nvPr/>
        </p:nvPicPr>
        <p:blipFill>
          <a:blip r:embed="rId7">
            <a:alphaModFix/>
          </a:blip>
          <a:stretch>
            <a:fillRect/>
          </a:stretch>
        </p:blipFill>
        <p:spPr>
          <a:xfrm>
            <a:off x="487625" y="4140643"/>
            <a:ext cx="1991475" cy="687732"/>
          </a:xfrm>
          <a:prstGeom prst="rect">
            <a:avLst/>
          </a:prstGeom>
          <a:noFill/>
          <a:ln>
            <a:noFill/>
          </a:ln>
        </p:spPr>
      </p:pic>
      <p:pic>
        <p:nvPicPr>
          <p:cNvPr id="395" name="Google Shape;395;p43"/>
          <p:cNvPicPr preferRelativeResize="0"/>
          <p:nvPr/>
        </p:nvPicPr>
        <p:blipFill>
          <a:blip r:embed="rId8">
            <a:alphaModFix/>
          </a:blip>
          <a:stretch>
            <a:fillRect/>
          </a:stretch>
        </p:blipFill>
        <p:spPr>
          <a:xfrm>
            <a:off x="1734050" y="469336"/>
            <a:ext cx="5675902" cy="420482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