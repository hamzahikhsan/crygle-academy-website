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embeddedFontLst>
    <p:embeddedFont>
      <p:font typeface="Raleway"/>
      <p:regular r:id="rId41"/>
      <p:bold r:id="rId42"/>
      <p:italic r:id="rId43"/>
      <p:boldItalic r:id="rId44"/>
    </p:embeddedFont>
    <p:embeddedFont>
      <p:font typeface="Montserrat"/>
      <p:regular r:id="rId45"/>
      <p:bold r:id="rId46"/>
      <p:italic r:id="rId47"/>
      <p:boldItalic r:id="rId48"/>
    </p:embeddedFont>
    <p:embeddedFont>
      <p:font typeface="Lato Black"/>
      <p:bold r:id="rId49"/>
      <p:boldItalic r:id="rId50"/>
    </p:embeddedFont>
    <p:embeddedFont>
      <p:font typeface="Raleway Medium"/>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aleway-bold.fntdata"/><Relationship Id="rId41" Type="http://schemas.openxmlformats.org/officeDocument/2006/relationships/font" Target="fonts/Raleway-regular.fntdata"/><Relationship Id="rId44" Type="http://schemas.openxmlformats.org/officeDocument/2006/relationships/font" Target="fonts/Raleway-boldItalic.fntdata"/><Relationship Id="rId43" Type="http://schemas.openxmlformats.org/officeDocument/2006/relationships/font" Target="fonts/Raleway-italic.fntdata"/><Relationship Id="rId46" Type="http://schemas.openxmlformats.org/officeDocument/2006/relationships/font" Target="fonts/Montserrat-bold.fntdata"/><Relationship Id="rId45"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boldItalic.fntdata"/><Relationship Id="rId47" Type="http://schemas.openxmlformats.org/officeDocument/2006/relationships/font" Target="fonts/Montserrat-italic.fntdata"/><Relationship Id="rId49" Type="http://schemas.openxmlformats.org/officeDocument/2006/relationships/font" Target="fonts/LatoBlack-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Medium-regular.fntdata"/><Relationship Id="rId50" Type="http://schemas.openxmlformats.org/officeDocument/2006/relationships/font" Target="fonts/LatoBlack-boldItalic.fntdata"/><Relationship Id="rId53" Type="http://schemas.openxmlformats.org/officeDocument/2006/relationships/font" Target="fonts/RalewayMedium-italic.fntdata"/><Relationship Id="rId52" Type="http://schemas.openxmlformats.org/officeDocument/2006/relationships/font" Target="fonts/RalewayMedium-bold.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RalewayMedium-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cksondavid?utm_source=unsplash&amp;utm_medium=referral&amp;utm_content=creditCopyText" TargetMode="Externa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hyperlink" Target="https://unsplash.com/s/photos/giving?utm_source=unsplash&amp;utm_medium=referral&amp;utm_content=creditCopyText" TargetMode="External"/><Relationship Id="rId5" Type="http://schemas.openxmlformats.org/officeDocument/2006/relationships/hyperlink" Target="https://unsplash.com/s/photos/giving?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speaking?utm_source=unsplash&amp;utm_medium=referral&amp;utm_content=creditCopyText" TargetMode="External"/><Relationship Id="rId5" Type="http://schemas.openxmlformats.org/officeDocument/2006/relationships/hyperlink" Target="https://unsplash.com/s/photos/speaking?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lnes_in_motion?utm_source=unsplash&amp;utm_medium=referral&amp;utm_content=creditCopyText" TargetMode="External"/><Relationship Id="rId3" Type="http://schemas.openxmlformats.org/officeDocument/2006/relationships/hyperlink" Target="https://unsplash.com/@stillnes_in_motion?utm_source=unsplash&amp;utm_medium=referral&amp;utm_content=creditCopyText" TargetMode="External"/><Relationship Id="rId4" Type="http://schemas.openxmlformats.org/officeDocument/2006/relationships/hyperlink" Target="https://unsplash.com/s/photos/respect?utm_source=unsplash&amp;utm_medium=referral&amp;utm_content=creditCopyText" TargetMode="External"/><Relationship Id="rId5" Type="http://schemas.openxmlformats.org/officeDocument/2006/relationships/hyperlink" Target="https://unsplash.com/s/photos/respect?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studioteam.com/ux-blog/design-handoff/"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slack?utm_source=unsplash&amp;utm_medium=referral&amp;utm_content=creditCopyText" TargetMode="External"/><Relationship Id="rId5" Type="http://schemas.openxmlformats.org/officeDocument/2006/relationships/hyperlink" Target="https://unsplash.com/s/photos/slack?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adwayio?utm_source=unsplash&amp;utm_medium=referral&amp;utm_content=creditCopyText" TargetMode="External"/><Relationship Id="rId3" Type="http://schemas.openxmlformats.org/officeDocument/2006/relationships/hyperlink" Target="https://unsplash.com/@headwayio?utm_source=unsplash&amp;utm_medium=referral&amp;utm_content=creditCopyText" TargetMode="External"/><Relationship Id="rId4" Type="http://schemas.openxmlformats.org/officeDocument/2006/relationships/hyperlink" Target="https://unsplash.com/s/photos/communication?utm_source=unsplash&amp;utm_medium=referral&amp;utm_content=creditCopyText" TargetMode="External"/><Relationship Id="rId5" Type="http://schemas.openxmlformats.org/officeDocument/2006/relationships/hyperlink" Target="https://unsplash.com/s/photos/communication?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computer-files?utm_source=unsplash&amp;utm_medium=referral&amp;utm_content=creditCopyText" TargetMode="External"/><Relationship Id="rId5" Type="http://schemas.openxmlformats.org/officeDocument/2006/relationships/hyperlink" Target="https://unsplash.com/s/photos/computer-files?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bbble.com/shots/5558002-First-experience-using-Figma"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zeplin.io/"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182e602d03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182e602d03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182e602d03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182e602d03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82e602d0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182e602d0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Jackson David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82e602d03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82e602d03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182e602d03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182e602d03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82e602d03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182e602d03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Stillness InMotion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182e602d0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182e602d0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https://uxstudioteam.com/ux-blog/design-handoff/</a:t>
            </a:r>
            <a:r>
              <a:rPr lang="en">
                <a:solidFill>
                  <a:schemeClr val="dk1"/>
                </a:solidFill>
              </a:rPr>
              <a:t>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82e602d03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82e602d03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182e602d03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182e602d03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186878ec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186878ec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Headway</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82e602d0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82e602d0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182e602d03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182e602d03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182e602d03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182e602d03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https://dribbble.com/shots/5558002-First-experience-using-Figma</a:t>
            </a:r>
            <a:r>
              <a:rPr lang="en">
                <a:solidFill>
                  <a:schemeClr val="dk1"/>
                </a:solidFill>
              </a:rPr>
              <a:t>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6ada529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16ada529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182e602d03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182e602d03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https://zeplin.io/</a:t>
            </a:r>
            <a:r>
              <a:rPr lang="en">
                <a:solidFill>
                  <a:schemeClr val="dk1"/>
                </a:solidFill>
              </a:rPr>
              <a:t>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182e602d0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182e602d0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182e602d0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182e602d0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182e602d0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182e602d0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186e1a9a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186e1a9a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182e602d03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182e602d03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186e1a9a6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186e1a9a6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182e602d03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182e602d03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186e1a9a6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186e1a9a6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186e1a9a6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186e1a9a6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186e1a9a6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186e1a9a6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186e1a9a6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186e1a9a6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186e1a9a63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186e1a9a63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hyperlink" Target="https://zeplin.io/"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0" Type="http://schemas.openxmlformats.org/officeDocument/2006/relationships/hyperlink" Target="https://blog.bitsrc.io/15-designer-and-developer-collaboration-tools-for-2021-8fae54ac2298" TargetMode="External"/><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png"/><Relationship Id="rId4" Type="http://schemas.openxmlformats.org/officeDocument/2006/relationships/hyperlink" Target="https://phase.com/magazine/designer-and-developer-handoff-guide/" TargetMode="External"/><Relationship Id="rId9" Type="http://schemas.openxmlformats.org/officeDocument/2006/relationships/hyperlink" Target="https://blog.bitsrc.io/15-designer-and-developer-collaboration-tools-for-2021-8fae54ac2298" TargetMode="External"/><Relationship Id="rId5" Type="http://schemas.openxmlformats.org/officeDocument/2006/relationships/hyperlink" Target="https://phase.com/magazine/designer-and-developer-handoff-guide/" TargetMode="External"/><Relationship Id="rId6" Type="http://schemas.openxmlformats.org/officeDocument/2006/relationships/hyperlink" Target="https://phase.com/magazine/designer-and-developer-handoff-guide/" TargetMode="External"/><Relationship Id="rId7" Type="http://schemas.openxmlformats.org/officeDocument/2006/relationships/hyperlink" Target="https://uxstudioteam.com/ux-blog/design-handoff/" TargetMode="External"/><Relationship Id="rId8" Type="http://schemas.openxmlformats.org/officeDocument/2006/relationships/hyperlink" Target="https://uxstudioteam.com/ux-blog/design-handoff/"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Design Handoff</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5 - Topic 5</a:t>
            </a:r>
            <a:endParaRPr b="1">
              <a:solidFill>
                <a:schemeClr val="lt1"/>
              </a:solidFill>
              <a:latin typeface="Raleway"/>
              <a:ea typeface="Raleway"/>
              <a:cs typeface="Raleway"/>
              <a:sym typeface="Raleway"/>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08" name="Google Shape;108;p2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9" name="Google Shape;109;p21"/>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Handoff</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Hubungan designers dan developers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Proses handoff</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Menggunakan peralatan handoff</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Hubungan designers dan developers</a:t>
            </a:r>
            <a:endParaRPr/>
          </a:p>
        </p:txBody>
      </p:sp>
      <p:sp>
        <p:nvSpPr>
          <p:cNvPr id="115" name="Google Shape;115;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Hubungan designers dan developers</a:t>
            </a:r>
            <a:endParaRPr/>
          </a:p>
        </p:txBody>
      </p:sp>
      <p:sp>
        <p:nvSpPr>
          <p:cNvPr id="122" name="Google Shape;122;p2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Hubungan designers dan developers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startup yang masih muda, raksasa teknologi yang mapan, atau di antara keduanya, hampir tidak ada cara untuk meluncurkan sebuah ide menjadi produk jadi tanpa menavigasi banyak handoff, bolak-balik, dan tanpa akhir.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Salah satu handoff yang sering mengganggu, bahkan pada tim produk yang paling matang sekalipun, adalah tahap handoff desain-ke-pengembang (design-to-dev).</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Sumber utama gesekan dimulai dengan fakta sederhana bahwa desainer dan pengembang secara tradisional melakukan tugas yang sangat berbeda saat membuat sebuah produk.</a:t>
            </a:r>
            <a:endParaRPr sz="1200">
              <a:solidFill>
                <a:schemeClr val="dk1"/>
              </a:solidFill>
              <a:latin typeface="Raleway Medium"/>
              <a:ea typeface="Raleway Medium"/>
              <a:cs typeface="Raleway Medium"/>
              <a:sym typeface="Raleway Medium"/>
            </a:endParaRPr>
          </a:p>
        </p:txBody>
      </p:sp>
      <p:pic>
        <p:nvPicPr>
          <p:cNvPr id="123" name="Google Shape;123;p23"/>
          <p:cNvPicPr preferRelativeResize="0"/>
          <p:nvPr/>
        </p:nvPicPr>
        <p:blipFill rotWithShape="1">
          <a:blip r:embed="rId3">
            <a:alphaModFix/>
          </a:blip>
          <a:srcRect b="0" l="26292" r="286" t="0"/>
          <a:stretch/>
        </p:blipFill>
        <p:spPr>
          <a:xfrm>
            <a:off x="5486400" y="1280150"/>
            <a:ext cx="3017523"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Hubungan designers dan developers</a:t>
            </a:r>
            <a:endParaRPr/>
          </a:p>
        </p:txBody>
      </p:sp>
      <p:sp>
        <p:nvSpPr>
          <p:cNvPr id="130" name="Google Shape;130;p2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intinya, desainer berfokus pada hal-hal seperti fitur antarmuka, pengalaman pengguna, dan estetika visual, sementara </a:t>
            </a:r>
            <a:r>
              <a:rPr lang="en" sz="1200">
                <a:solidFill>
                  <a:schemeClr val="dk1"/>
                </a:solidFill>
                <a:latin typeface="Raleway Medium"/>
                <a:ea typeface="Raleway Medium"/>
                <a:cs typeface="Raleway Medium"/>
                <a:sym typeface="Raleway Medium"/>
              </a:rPr>
              <a:t>developer</a:t>
            </a:r>
            <a:r>
              <a:rPr lang="en" sz="1200">
                <a:solidFill>
                  <a:schemeClr val="dk1"/>
                </a:solidFill>
                <a:latin typeface="Raleway Medium"/>
                <a:ea typeface="Raleway Medium"/>
                <a:cs typeface="Raleway Medium"/>
                <a:sym typeface="Raleway Medium"/>
              </a:rPr>
              <a:t> menangani hal-hal yang membuat produk berfungsi, mengubah visual desainer menjadi realitas digital.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Kedua tim sama pentingnya, tetapi meskipun demikian, tidak jarang terjadi gesekan pada hubungan antara developer dan desainer yang dapat menyebabkan kegagalan handoff yang baik.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Pada sesi ini kita akan mendalami handoff design-to-dev, menavigasi beberapa perangkat umum, dan membahas beberapa cara untuk membuat handoff berjalan mulus seperti mentega.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31" name="Google Shape;131;p24"/>
          <p:cNvPicPr preferRelativeResize="0"/>
          <p:nvPr/>
        </p:nvPicPr>
        <p:blipFill rotWithShape="1">
          <a:blip r:embed="rId3">
            <a:alphaModFix/>
          </a:blip>
          <a:srcRect b="0" l="26292" r="286" t="0"/>
          <a:stretch/>
        </p:blipFill>
        <p:spPr>
          <a:xfrm>
            <a:off x="5486400" y="1280150"/>
            <a:ext cx="3017523"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Hubungan designers dan developers</a:t>
            </a:r>
            <a:endParaRPr/>
          </a:p>
        </p:txBody>
      </p:sp>
      <p:sp>
        <p:nvSpPr>
          <p:cNvPr id="138" name="Google Shape;138;p2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Mengapa design handoff berjalan dengan tidak mulus?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mengingat kembali, h</a:t>
            </a:r>
            <a:r>
              <a:rPr lang="en" sz="1200">
                <a:solidFill>
                  <a:schemeClr val="dk1"/>
                </a:solidFill>
                <a:latin typeface="Raleway Medium"/>
                <a:ea typeface="Raleway Medium"/>
                <a:cs typeface="Raleway Medium"/>
                <a:sym typeface="Raleway Medium"/>
              </a:rPr>
              <a:t>andoff desain adalah titik dalam proses pengembangan produk di mana pengembang mengimplementasikan desain yang sudah jadi. Agar handoff berhasil, kolaborasi desainer-pengembang yang baik sangatlah penting.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Tetapi lebih seringkali tahap ini tidak berjalan mulus. Mari kita bahas mengapa hal tersebut terjadi dan bagaimana mencegah kegagalan handoff.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39" name="Google Shape;139;p25"/>
          <p:cNvPicPr preferRelativeResize="0"/>
          <p:nvPr/>
        </p:nvPicPr>
        <p:blipFill rotWithShape="1">
          <a:blip r:embed="rId3">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Hubungan designers dan developers</a:t>
            </a:r>
            <a:endParaRPr/>
          </a:p>
        </p:txBody>
      </p:sp>
      <p:sp>
        <p:nvSpPr>
          <p:cNvPr id="146" name="Google Shape;146;p2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Komunikasi desainer-pengembang yang buruk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Komunikasi yang baik adalah kunci dalam hampir semua hubungan, jadi masuk akal bahwa ini adalah persyaratan untuk handoff design-to-dev yang lancar.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Masalah umum yang disebabkan oleh komunikasi desainer-developer yang buruk diantaranya adalah:</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Feedback</a:t>
            </a:r>
            <a:r>
              <a:rPr i="1" lang="en" sz="1200">
                <a:solidFill>
                  <a:schemeClr val="dk1"/>
                </a:solidFill>
                <a:latin typeface="Raleway Medium"/>
                <a:ea typeface="Raleway Medium"/>
                <a:cs typeface="Raleway Medium"/>
                <a:sym typeface="Raleway Medium"/>
              </a:rPr>
              <a:t> </a:t>
            </a:r>
            <a:r>
              <a:rPr lang="en" sz="1200">
                <a:solidFill>
                  <a:schemeClr val="dk1"/>
                </a:solidFill>
                <a:latin typeface="Raleway Medium"/>
                <a:ea typeface="Raleway Medium"/>
                <a:cs typeface="Raleway Medium"/>
                <a:sym typeface="Raleway Medium"/>
              </a:rPr>
              <a:t>yang terlalu banyak dan tidak terlalu penting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antara desainer dan pengembang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Masalah jaminan kualitas yang tidak terduga yang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memakan waktu daripada yang diantisipasi.</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Gagal memanfaatkan alat seperti Zeplin dengan baik.</a:t>
            </a:r>
            <a:endParaRPr sz="1200">
              <a:solidFill>
                <a:schemeClr val="dk1"/>
              </a:solidFill>
              <a:latin typeface="Raleway Medium"/>
              <a:ea typeface="Raleway Medium"/>
              <a:cs typeface="Raleway Medium"/>
              <a:sym typeface="Raleway Medium"/>
            </a:endParaRPr>
          </a:p>
        </p:txBody>
      </p:sp>
      <p:pic>
        <p:nvPicPr>
          <p:cNvPr id="147" name="Google Shape;147;p26"/>
          <p:cNvPicPr preferRelativeResize="0"/>
          <p:nvPr/>
        </p:nvPicPr>
        <p:blipFill rotWithShape="1">
          <a:blip r:embed="rId3">
            <a:alphaModFix/>
          </a:blip>
          <a:srcRect b="0" l="18861" r="7716" t="0"/>
          <a:stretch/>
        </p:blipFill>
        <p:spPr>
          <a:xfrm>
            <a:off x="5486400" y="1280150"/>
            <a:ext cx="3017523" cy="27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Hubungan designers dan developers</a:t>
            </a:r>
            <a:endParaRPr/>
          </a:p>
        </p:txBody>
      </p:sp>
      <p:sp>
        <p:nvSpPr>
          <p:cNvPr id="154" name="Google Shape;154;p2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Kurangnya design system</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Sistem desain adalah sebuah investasi. Banyak perusahaan tidak mempekerjakan orang untuk fokus pada pembuatan sistem desain.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Tanpa sistem desain yang baik, desainer tidak memiliki parameter yang jelas yang membatasi pekerjaan mereka. Mereka mungkin menjadi terlalu kreatif dan menciptakan inkonsistensi yang mengarah pada pengalaman pengguna yang buruk dan frustasi bagi pengembang. Pada akhirnya, menghambat proses handoff.</a:t>
            </a:r>
            <a:endParaRPr sz="1200">
              <a:solidFill>
                <a:schemeClr val="dk1"/>
              </a:solidFill>
              <a:latin typeface="Raleway Medium"/>
              <a:ea typeface="Raleway Medium"/>
              <a:cs typeface="Raleway Medium"/>
              <a:sym typeface="Raleway Medium"/>
            </a:endParaRPr>
          </a:p>
        </p:txBody>
      </p:sp>
      <p:pic>
        <p:nvPicPr>
          <p:cNvPr id="155" name="Google Shape;155;p27"/>
          <p:cNvPicPr preferRelativeResize="0"/>
          <p:nvPr/>
        </p:nvPicPr>
        <p:blipFill rotWithShape="1">
          <a:blip r:embed="rId3">
            <a:alphaModFix/>
          </a:blip>
          <a:srcRect b="27790" l="0" r="0" t="-501"/>
          <a:stretch/>
        </p:blipFill>
        <p:spPr>
          <a:xfrm>
            <a:off x="5486400" y="1280150"/>
            <a:ext cx="3017524" cy="27431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Hubungan designers dan developers</a:t>
            </a:r>
            <a:endParaRPr/>
          </a:p>
        </p:txBody>
      </p:sp>
      <p:sp>
        <p:nvSpPr>
          <p:cNvPr id="162" name="Google Shape;162;p2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Kurangnya rasa hormat antara kedua tim</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Secara umum, desainer dan pengembang berasal dari latar belakang yang berbeda, memiliki keahlian dan minat yang berbeda, dan bahkan seringkali memikirkan tantangan yang sama dengan cara yang sangat berbeda.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Hal tersebut</a:t>
            </a:r>
            <a:r>
              <a:rPr lang="en" sz="1200">
                <a:solidFill>
                  <a:schemeClr val="dk1"/>
                </a:solidFill>
                <a:latin typeface="Raleway Medium"/>
                <a:ea typeface="Raleway Medium"/>
                <a:cs typeface="Raleway Medium"/>
                <a:sym typeface="Raleway Medium"/>
              </a:rPr>
              <a:t> bukan hal yang buruk—kita membutuhkan berbagai perspektif untuk membantu menghidupkan produk yang layak. Tetapi jika Anda memiliki tim desainer dan pengembang yang tidak hormat pada kerajinan satu sama lain, Anda akan mengalami kesenjangan pengetahuan yang dapat menyebabkan gesekan.</a:t>
            </a:r>
            <a:endParaRPr sz="1200">
              <a:solidFill>
                <a:schemeClr val="dk1"/>
              </a:solidFill>
              <a:latin typeface="Raleway Medium"/>
              <a:ea typeface="Raleway Medium"/>
              <a:cs typeface="Raleway Medium"/>
              <a:sym typeface="Raleway Medium"/>
            </a:endParaRPr>
          </a:p>
        </p:txBody>
      </p:sp>
      <p:pic>
        <p:nvPicPr>
          <p:cNvPr id="163" name="Google Shape;163;p28">
            <a:hlinkClick r:id="rId3"/>
          </p:cNvPr>
          <p:cNvPicPr preferRelativeResize="0"/>
          <p:nvPr/>
        </p:nvPicPr>
        <p:blipFill rotWithShape="1">
          <a:blip r:embed="rId4">
            <a:alphaModFix/>
          </a:blip>
          <a:srcRect b="0" l="8753" r="8745" t="0"/>
          <a:stretch/>
        </p:blipFill>
        <p:spPr>
          <a:xfrm>
            <a:off x="5486400" y="1280150"/>
            <a:ext cx="3017523" cy="274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Proses handoff</a:t>
            </a:r>
            <a:endParaRPr/>
          </a:p>
        </p:txBody>
      </p:sp>
      <p:sp>
        <p:nvSpPr>
          <p:cNvPr id="169" name="Google Shape;169;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Proses handoff</a:t>
            </a:r>
            <a:endParaRPr/>
          </a:p>
        </p:txBody>
      </p:sp>
      <p:sp>
        <p:nvSpPr>
          <p:cNvPr id="176" name="Google Shape;176;p3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Proses handoff</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beberapa langkah yang perlu Anda ingat untuk melakukan proses handoff yang lancar. Mulai dari </a:t>
            </a:r>
            <a:r>
              <a:rPr b="1" lang="en" sz="1200">
                <a:solidFill>
                  <a:schemeClr val="dk1"/>
                </a:solidFill>
                <a:latin typeface="Raleway"/>
                <a:ea typeface="Raleway"/>
                <a:cs typeface="Raleway"/>
                <a:sym typeface="Raleway"/>
              </a:rPr>
              <a:t>melibatkan developer dari awal.</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Kesalahan umum yang sering dilakukan tim adalah menunggu desainer melakukan pekerjaan mereka terlebih dahulu dan kemudian menyerahkan desain produk kepada developer. </a:t>
            </a:r>
            <a:endParaRPr sz="1200">
              <a:solidFill>
                <a:schemeClr val="dk1"/>
              </a:solidFill>
              <a:latin typeface="Raleway Medium"/>
              <a:ea typeface="Raleway Medium"/>
              <a:cs typeface="Raleway Medium"/>
              <a:sym typeface="Raleway Medium"/>
            </a:endParaRPr>
          </a:p>
        </p:txBody>
      </p:sp>
      <p:pic>
        <p:nvPicPr>
          <p:cNvPr id="177" name="Google Shape;177;p30"/>
          <p:cNvPicPr preferRelativeResize="0"/>
          <p:nvPr/>
        </p:nvPicPr>
        <p:blipFill rotWithShape="1">
          <a:blip r:embed="rId3">
            <a:alphaModFix/>
          </a:blip>
          <a:srcRect b="0" l="34286" r="20676" t="6120"/>
          <a:stretch/>
        </p:blipFill>
        <p:spPr>
          <a:xfrm>
            <a:off x="5486400" y="1207587"/>
            <a:ext cx="3017517" cy="274319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Proses handoff</a:t>
            </a:r>
            <a:endParaRPr/>
          </a:p>
        </p:txBody>
      </p:sp>
      <p:sp>
        <p:nvSpPr>
          <p:cNvPr id="184" name="Google Shape;184;p3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Libatkan developer dari awal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membuat handoff berjalan lebih lancar, developer perlu dilibatkan lebih awal dengan langkah-langkah berikut: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Sertakan</a:t>
            </a:r>
            <a:r>
              <a:rPr lang="en" sz="1200">
                <a:solidFill>
                  <a:schemeClr val="dk1"/>
                </a:solidFill>
                <a:latin typeface="Raleway Medium"/>
                <a:ea typeface="Raleway Medium"/>
                <a:cs typeface="Raleway Medium"/>
                <a:sym typeface="Raleway Medium"/>
              </a:rPr>
              <a:t> developer dalam panggilan konferensi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dengan klien;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Cari wawasan dari developer tentang bagaimana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elemen desain akan diterjemahkan pada aplikasi;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Diskusikan ide desain awal dengan pengembang,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sehingga potensi masalah apa pun dengan kode dapat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diidentifikasi terlebih dahulu dan akan lebih mudah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untuk melakukan penyesuaian.</a:t>
            </a:r>
            <a:endParaRPr sz="1200">
              <a:solidFill>
                <a:schemeClr val="dk1"/>
              </a:solidFill>
              <a:latin typeface="Raleway Medium"/>
              <a:ea typeface="Raleway Medium"/>
              <a:cs typeface="Raleway Medium"/>
              <a:sym typeface="Raleway Medium"/>
            </a:endParaRPr>
          </a:p>
        </p:txBody>
      </p:sp>
      <p:pic>
        <p:nvPicPr>
          <p:cNvPr id="185" name="Google Shape;185;p31"/>
          <p:cNvPicPr preferRelativeResize="0"/>
          <p:nvPr/>
        </p:nvPicPr>
        <p:blipFill rotWithShape="1">
          <a:blip r:embed="rId3">
            <a:alphaModFix/>
          </a:blip>
          <a:srcRect b="0" l="26292" r="286" t="0"/>
          <a:stretch/>
        </p:blipFill>
        <p:spPr>
          <a:xfrm>
            <a:off x="5486400" y="1280150"/>
            <a:ext cx="3017523" cy="274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Proses handoff</a:t>
            </a:r>
            <a:endParaRPr/>
          </a:p>
        </p:txBody>
      </p:sp>
      <p:sp>
        <p:nvSpPr>
          <p:cNvPr id="192" name="Google Shape;192;p3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Muluskan (streamline) upaya-  upaya komunikasi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Salah satu alasan mengapa beberapa pesan terlewatkan dan beberapa anggota tim secara tidak sengaja keluar dari lingkaran komunikasi adalah karena adanya lebih dari satu saluran komunikasi yang digunakan. </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Masalah semacam ini dapat dengan mudah dihindari dengan:</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Memiliki dedicated channel dan mengundang semua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pihak - pihak terkait pada channel tersebut.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Menetapkan pedoman untuk berkomunikasi </a:t>
            </a:r>
            <a:endParaRPr sz="1200">
              <a:solidFill>
                <a:schemeClr val="dk1"/>
              </a:solidFill>
              <a:latin typeface="Raleway Medium"/>
              <a:ea typeface="Raleway Medium"/>
              <a:cs typeface="Raleway Medium"/>
              <a:sym typeface="Raleway Medium"/>
            </a:endParaRPr>
          </a:p>
        </p:txBody>
      </p:sp>
      <p:pic>
        <p:nvPicPr>
          <p:cNvPr id="193" name="Google Shape;193;p32"/>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Proses handoff</a:t>
            </a:r>
            <a:endParaRPr/>
          </a:p>
        </p:txBody>
      </p:sp>
      <p:sp>
        <p:nvSpPr>
          <p:cNvPr id="200" name="Google Shape;200;p3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(misalkan, pembaruan email harus dibagikan dengan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semua orang di awal atau akhir setiap hari kerja).</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a:t>
            </a:r>
            <a:r>
              <a:rPr lang="en" sz="1200">
                <a:solidFill>
                  <a:schemeClr val="dk1"/>
                </a:solidFill>
                <a:latin typeface="Raleway Medium"/>
                <a:ea typeface="Raleway Medium"/>
                <a:cs typeface="Raleway Medium"/>
                <a:sym typeface="Raleway Medium"/>
              </a:rPr>
              <a:t>Menggunakan Google Drive, Dropbox, atau alat serupa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untuk berbagi info, aset bersama, dll.;</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4) Menyiapkan pertemuan kelompok yang terjadwalkan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dengan semua anggota tim selama proyek.</a:t>
            </a:r>
            <a:endParaRPr sz="1200">
              <a:solidFill>
                <a:schemeClr val="dk1"/>
              </a:solidFill>
              <a:latin typeface="Raleway Medium"/>
              <a:ea typeface="Raleway Medium"/>
              <a:cs typeface="Raleway Medium"/>
              <a:sym typeface="Raleway Medium"/>
            </a:endParaRPr>
          </a:p>
        </p:txBody>
      </p:sp>
      <p:pic>
        <p:nvPicPr>
          <p:cNvPr id="201" name="Google Shape;201;p33"/>
          <p:cNvPicPr preferRelativeResize="0"/>
          <p:nvPr/>
        </p:nvPicPr>
        <p:blipFill rotWithShape="1">
          <a:blip r:embed="rId3">
            <a:alphaModFix/>
          </a:blip>
          <a:srcRect b="0" l="22617" r="4068" t="0"/>
          <a:stretch/>
        </p:blipFill>
        <p:spPr>
          <a:xfrm>
            <a:off x="5486400" y="1207587"/>
            <a:ext cx="3017518" cy="2743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Proses handoff</a:t>
            </a:r>
            <a:endParaRPr/>
          </a:p>
        </p:txBody>
      </p:sp>
      <p:sp>
        <p:nvSpPr>
          <p:cNvPr id="208" name="Google Shape;208;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Komunikasikan sistem desain Anda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Konsistensi adalah sahabat desainer, bukan?</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Membangun panduan untuk pengembang dan mengubahnya menjadi sistem desain akan membuat kolaborasi design-to-dev Anda menjadi lebih mudah, dan produk Anda lebih konsisten.</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Lebih baik lagi jika Anda dapat mengkomunikasikan sistem Anda kepada developer secara langsung, sembari memperlihatkan interaksi, berbagai pola dan proses pemikiran Anda dalam membuat sistem tersebut.</a:t>
            </a:r>
            <a:endParaRPr sz="1200">
              <a:solidFill>
                <a:schemeClr val="dk1"/>
              </a:solidFill>
              <a:latin typeface="Raleway Medium"/>
              <a:ea typeface="Raleway Medium"/>
              <a:cs typeface="Raleway Medium"/>
              <a:sym typeface="Raleway Medium"/>
            </a:endParaRPr>
          </a:p>
        </p:txBody>
      </p:sp>
      <p:pic>
        <p:nvPicPr>
          <p:cNvPr id="209" name="Google Shape;209;p34"/>
          <p:cNvPicPr preferRelativeResize="0"/>
          <p:nvPr/>
        </p:nvPicPr>
        <p:blipFill rotWithShape="1">
          <a:blip r:embed="rId3">
            <a:alphaModFix/>
          </a:blip>
          <a:srcRect b="27790" l="0" r="0" t="-501"/>
          <a:stretch/>
        </p:blipFill>
        <p:spPr>
          <a:xfrm>
            <a:off x="5486400" y="1280150"/>
            <a:ext cx="3017524" cy="27431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Proses handoff</a:t>
            </a:r>
            <a:endParaRPr/>
          </a:p>
        </p:txBody>
      </p:sp>
      <p:sp>
        <p:nvSpPr>
          <p:cNvPr id="216" name="Google Shape;216;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Sediakan</a:t>
            </a:r>
            <a:r>
              <a:rPr b="1" lang="en" sz="1800">
                <a:solidFill>
                  <a:srgbClr val="743673"/>
                </a:solidFill>
                <a:highlight>
                  <a:schemeClr val="lt1"/>
                </a:highlight>
                <a:latin typeface="Raleway"/>
                <a:ea typeface="Raleway"/>
                <a:cs typeface="Raleway"/>
                <a:sym typeface="Raleway"/>
              </a:rPr>
              <a:t> file desain dan semua aset yang diperlukan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Bagian dari tanggung jawab para desainer adalah menyiapkan aset - aset desain yang diperlukan oleh developer.</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Ingat - ingat</a:t>
            </a:r>
            <a:r>
              <a:rPr lang="en" sz="1200">
                <a:solidFill>
                  <a:schemeClr val="dk1"/>
                </a:solidFill>
                <a:latin typeface="Raleway Medium"/>
                <a:ea typeface="Raleway Medium"/>
                <a:cs typeface="Raleway Medium"/>
                <a:sym typeface="Raleway Medium"/>
              </a:rPr>
              <a:t> rencana komunikasi Anda: apakah Anda dan developer telah menetapkan untuk mentransfer aset  melalui Dropbox, Google Drive, atau alat lain?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Komunikasikan dimana aset - aset berada dan jaga jalur komunikasi agar tetap terbuka untuk mengatasi pertanyaan - pertanyaan  atau masalah aset yang hilang.</a:t>
            </a:r>
            <a:endParaRPr sz="1200">
              <a:solidFill>
                <a:schemeClr val="dk1"/>
              </a:solidFill>
              <a:latin typeface="Raleway Medium"/>
              <a:ea typeface="Raleway Medium"/>
              <a:cs typeface="Raleway Medium"/>
              <a:sym typeface="Raleway Medium"/>
            </a:endParaRPr>
          </a:p>
        </p:txBody>
      </p:sp>
      <p:pic>
        <p:nvPicPr>
          <p:cNvPr id="217" name="Google Shape;217;p35"/>
          <p:cNvPicPr preferRelativeResize="0"/>
          <p:nvPr/>
        </p:nvPicPr>
        <p:blipFill rotWithShape="1">
          <a:blip r:embed="rId3">
            <a:alphaModFix/>
          </a:blip>
          <a:srcRect b="0" l="13289" r="13289" t="0"/>
          <a:stretch/>
        </p:blipFill>
        <p:spPr>
          <a:xfrm>
            <a:off x="5486400" y="1207587"/>
            <a:ext cx="3017518" cy="274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Proses handoff</a:t>
            </a:r>
            <a:endParaRPr/>
          </a:p>
        </p:txBody>
      </p:sp>
      <p:sp>
        <p:nvSpPr>
          <p:cNvPr id="224" name="Google Shape;224;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Sediakan</a:t>
            </a:r>
            <a:r>
              <a:rPr b="1" lang="en" sz="1800">
                <a:solidFill>
                  <a:srgbClr val="743673"/>
                </a:solidFill>
                <a:highlight>
                  <a:schemeClr val="lt1"/>
                </a:highlight>
                <a:latin typeface="Raleway"/>
                <a:ea typeface="Raleway"/>
                <a:cs typeface="Raleway"/>
                <a:sym typeface="Raleway"/>
              </a:rPr>
              <a:t> prototipe</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Prototipe interaktif sangatlah berguna. Menyediakan prototipe dapat membantu semua orang dalam tim lebih memahami tujuan bersama dan ke mana arah produk.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Prototipe dapat membantu menggambarkan struktur navigasi yang ditujukan, serta alur pengguna, animasi dan mikro-interaksi, dan tautan internal situs atau aplikasi</a:t>
            </a:r>
            <a:endParaRPr sz="1200">
              <a:solidFill>
                <a:schemeClr val="dk1"/>
              </a:solidFill>
              <a:latin typeface="Raleway Medium"/>
              <a:ea typeface="Raleway Medium"/>
              <a:cs typeface="Raleway Medium"/>
              <a:sym typeface="Raleway Medium"/>
            </a:endParaRPr>
          </a:p>
        </p:txBody>
      </p:sp>
      <p:pic>
        <p:nvPicPr>
          <p:cNvPr id="225" name="Google Shape;225;p36"/>
          <p:cNvPicPr preferRelativeResize="0"/>
          <p:nvPr/>
        </p:nvPicPr>
        <p:blipFill rotWithShape="1">
          <a:blip r:embed="rId3">
            <a:alphaModFix/>
          </a:blip>
          <a:srcRect b="0" l="21821" r="658" t="6032"/>
          <a:stretch/>
        </p:blipFill>
        <p:spPr>
          <a:xfrm>
            <a:off x="5486400" y="1207587"/>
            <a:ext cx="3017518" cy="2743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Menggunakan peralatan handoff</a:t>
            </a:r>
            <a:endParaRPr/>
          </a:p>
        </p:txBody>
      </p:sp>
      <p:sp>
        <p:nvSpPr>
          <p:cNvPr id="231" name="Google Shape;231;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7" name="Google Shape;237;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Proses handoff</a:t>
            </a:r>
            <a:endParaRPr/>
          </a:p>
        </p:txBody>
      </p:sp>
      <p:sp>
        <p:nvSpPr>
          <p:cNvPr id="238" name="Google Shape;238;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Pada chapter 3.4 kita telah membahas beberapa alat yang dapat kita gunakan untuk melancarkan proses handoff design-to-dev.</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tinjau kembali peralatan tersebut dan mencoba memakainya untuk memindahkan screens yang telah kita desain pada sesi - sesi sebelumnya.</a:t>
            </a:r>
            <a:endParaRPr sz="1200">
              <a:solidFill>
                <a:schemeClr val="dk1"/>
              </a:solidFill>
              <a:latin typeface="Raleway Medium"/>
              <a:ea typeface="Raleway Medium"/>
              <a:cs typeface="Raleway Medium"/>
              <a:sym typeface="Raleway Medium"/>
            </a:endParaRPr>
          </a:p>
        </p:txBody>
      </p:sp>
      <p:pic>
        <p:nvPicPr>
          <p:cNvPr id="239" name="Google Shape;239;p38"/>
          <p:cNvPicPr preferRelativeResize="0"/>
          <p:nvPr/>
        </p:nvPicPr>
        <p:blipFill rotWithShape="1">
          <a:blip r:embed="rId3">
            <a:alphaModFix/>
          </a:blip>
          <a:srcRect b="0" l="13788" r="13795" t="0"/>
          <a:stretch/>
        </p:blipFill>
        <p:spPr>
          <a:xfrm>
            <a:off x="5486400" y="1280150"/>
            <a:ext cx="3017524" cy="27431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39"/>
          <p:cNvPicPr preferRelativeResize="0"/>
          <p:nvPr/>
        </p:nvPicPr>
        <p:blipFill rotWithShape="1">
          <a:blip r:embed="rId3">
            <a:alphaModFix/>
          </a:blip>
          <a:srcRect b="10000" l="0" r="0" t="10000"/>
          <a:stretch/>
        </p:blipFill>
        <p:spPr>
          <a:xfrm>
            <a:off x="4094624" y="1230924"/>
            <a:ext cx="4572001" cy="2743206"/>
          </a:xfrm>
          <a:prstGeom prst="rect">
            <a:avLst/>
          </a:prstGeom>
          <a:noFill/>
          <a:ln>
            <a:noFill/>
          </a:ln>
        </p:spPr>
      </p:pic>
      <p:sp>
        <p:nvSpPr>
          <p:cNvPr id="245" name="Google Shape;245;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6" name="Google Shape;246;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handoff</a:t>
            </a:r>
            <a:endParaRPr/>
          </a:p>
        </p:txBody>
      </p:sp>
      <p:sp>
        <p:nvSpPr>
          <p:cNvPr id="247" name="Google Shape;247;p39"/>
          <p:cNvSpPr txBox="1"/>
          <p:nvPr/>
        </p:nvSpPr>
        <p:spPr>
          <a:xfrm>
            <a:off x="685800" y="1188720"/>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Handoff tool #1: </a:t>
            </a:r>
            <a:r>
              <a:rPr b="1" lang="en" sz="1800" u="sng">
                <a:solidFill>
                  <a:schemeClr val="hlink"/>
                </a:solidFill>
                <a:highlight>
                  <a:schemeClr val="lt1"/>
                </a:highlight>
                <a:latin typeface="Raleway"/>
                <a:ea typeface="Raleway"/>
                <a:cs typeface="Raleway"/>
                <a:sym typeface="Raleway"/>
                <a:hlinkClick r:id="rId4"/>
              </a:rPr>
              <a:t>Zeplin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Zeplin memudahkan desainer untuk mengekspor file dalam satu klik menggunakan plugin Sketch, Figma, Adobe XD, Adobe Photoshop CC kami. Zeplin akan menghasilkan sebagian besar spesifikasi, aset, dan cuplikan kode yang disesuaikan untuk pengembang.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Fitur super lainnya dari Zeplin adalah Connected Components, memungkinkan semua orang mengakses komponen dalam basis kode Anda langsung pada desain.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40"/>
          <p:cNvPicPr preferRelativeResize="0"/>
          <p:nvPr/>
        </p:nvPicPr>
        <p:blipFill rotWithShape="1">
          <a:blip r:embed="rId3">
            <a:alphaModFix/>
          </a:blip>
          <a:srcRect b="0" l="6148" r="6139" t="0"/>
          <a:stretch/>
        </p:blipFill>
        <p:spPr>
          <a:xfrm>
            <a:off x="4094624" y="1230924"/>
            <a:ext cx="4572000" cy="2743205"/>
          </a:xfrm>
          <a:prstGeom prst="rect">
            <a:avLst/>
          </a:prstGeom>
          <a:noFill/>
          <a:ln>
            <a:noFill/>
          </a:ln>
        </p:spPr>
      </p:pic>
      <p:sp>
        <p:nvSpPr>
          <p:cNvPr id="253" name="Google Shape;253;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4" name="Google Shape;254;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handoff</a:t>
            </a:r>
            <a:endParaRPr/>
          </a:p>
        </p:txBody>
      </p:sp>
      <p:sp>
        <p:nvSpPr>
          <p:cNvPr id="255" name="Google Shape;255;p40"/>
          <p:cNvSpPr txBox="1"/>
          <p:nvPr/>
        </p:nvSpPr>
        <p:spPr>
          <a:xfrm>
            <a:off x="685800" y="1188720"/>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Handoff tool #2: Bit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Sebagian besar alat menangani handoff dari desain hingga pengembangan. Tapi, bagaimana dengan sebaliknya? Bagaimanapun, kode adalah apa yang pengguna dapatkan.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Bit adalah satu-satunya alat handoff pengembang-ke-perancang dalam daftar. Ini adalah pengubah permainan dalam cara desainer dapat berkolaborasi dalam pengembangan UI.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41"/>
          <p:cNvPicPr preferRelativeResize="0"/>
          <p:nvPr/>
        </p:nvPicPr>
        <p:blipFill rotWithShape="1">
          <a:blip r:embed="rId3">
            <a:alphaModFix/>
          </a:blip>
          <a:srcRect b="3122" l="0" r="0" t="3122"/>
          <a:stretch/>
        </p:blipFill>
        <p:spPr>
          <a:xfrm>
            <a:off x="4094624" y="1230924"/>
            <a:ext cx="4572001" cy="2743206"/>
          </a:xfrm>
          <a:prstGeom prst="rect">
            <a:avLst/>
          </a:prstGeom>
          <a:noFill/>
          <a:ln>
            <a:noFill/>
          </a:ln>
        </p:spPr>
      </p:pic>
      <p:sp>
        <p:nvSpPr>
          <p:cNvPr id="261" name="Google Shape;261;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2" name="Google Shape;262;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handoff</a:t>
            </a:r>
            <a:endParaRPr/>
          </a:p>
        </p:txBody>
      </p:sp>
      <p:sp>
        <p:nvSpPr>
          <p:cNvPr id="263" name="Google Shape;263;p41"/>
          <p:cNvSpPr txBox="1"/>
          <p:nvPr/>
        </p:nvSpPr>
        <p:spPr>
          <a:xfrm>
            <a:off x="685800" y="1188720"/>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Handoff tool #3: Figma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banyak hal, Figma untuk desain UI seperti Bit untuk kode, karena ini adalah cara kolaboratif untuk membuat aplikasi modular dalam tumpukan web modern.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Fitur seperti inspeksi kode, pengukuran tata letak, dan gaya bersama menjadikan Figma sebagai senjata pilihan bagi banyak tim produk yang berorientasi pada kolaborasi.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269" name="Google Shape;269;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75" name="Google Shape;275;p4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Mengapa sebuah sistem desain diperlukan untuk design-to-dev handoff yang lancar? </a:t>
            </a:r>
            <a:endParaRPr sz="18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lt1"/>
                </a:solidFill>
                <a:latin typeface="Raleway Medium"/>
                <a:ea typeface="Raleway Medium"/>
                <a:cs typeface="Raleway Medium"/>
                <a:sym typeface="Raleway Medium"/>
              </a:rPr>
              <a:t>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Sistem desain mempercepat proses desain.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Sistem desain mempercepat proses handoff.</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Sistem desain memberikan konsistensi pada desain produk.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Sistem desain membuat desain produk lebih kreatif.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81" name="Google Shape;281;p4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Mengapa sebuah sistem desain diperlukan untuk design-to-dev handoff yang lancar? </a:t>
            </a:r>
            <a:endParaRPr sz="18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lt1"/>
                </a:solidFill>
                <a:latin typeface="Raleway Medium"/>
                <a:ea typeface="Raleway Medium"/>
                <a:cs typeface="Raleway Medium"/>
                <a:sym typeface="Raleway Medium"/>
              </a:rPr>
              <a:t>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Sistem desain mempercepat proses desain.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Sistem desain mempercepat proses handoff.</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Sistem desain memberikan konsistensi pada desain produk.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Sistem desain membuat desain produk lebih kreatif. </a:t>
            </a:r>
            <a:endParaRPr sz="1200">
              <a:solidFill>
                <a:srgbClr val="A667A5"/>
              </a:solidFill>
              <a:latin typeface="Raleway Medium"/>
              <a:ea typeface="Raleway Medium"/>
              <a:cs typeface="Raleway Medium"/>
              <a:sym typeface="Raleway Medium"/>
            </a:endParaRPr>
          </a:p>
        </p:txBody>
      </p:sp>
      <p:sp>
        <p:nvSpPr>
          <p:cNvPr id="282" name="Google Shape;282;p44"/>
          <p:cNvSpPr/>
          <p:nvPr/>
        </p:nvSpPr>
        <p:spPr>
          <a:xfrm>
            <a:off x="685800" y="33387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Tanpa sistem desain yang baik, desainer tidak memiliki parameter yang jelas yang membatasi pekerjaan mereka. Mereka mungkin menjadi terlalu kreatif dan menciptakan inkonsistensi yang membuat developer frustasi.</a:t>
            </a:r>
            <a:endParaRPr b="1" sz="1000">
              <a:solidFill>
                <a:srgbClr val="733572"/>
              </a:solidFill>
              <a:latin typeface="Raleway"/>
              <a:ea typeface="Raleway"/>
              <a:cs typeface="Raleway"/>
              <a:sym typeface="Ralewa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88" name="Google Shape;288;p4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Berikut adalah beberapa langkah yang perlu Anda ingat untuk melakukan proses handoff yang lancar,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Libatkan developer dari awal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Komunikasikan sistem desain Anda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Sediakan file desain dan semua aset yang diperlukan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Sediakan wireframe</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94" name="Google Shape;294;p4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Berikut adalah beberapa langkah yang perlu Anda ingat untuk melakukan proses handoff yang lancar,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Libatkan developer dari awal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Komunikasikan sistem desain Anda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Sediakan file desain dan semua aset yang diperlukan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Sediakan wireframe</a:t>
            </a:r>
            <a:endParaRPr sz="1200">
              <a:solidFill>
                <a:schemeClr val="lt1"/>
              </a:solidFill>
              <a:latin typeface="Raleway Medium"/>
              <a:ea typeface="Raleway Medium"/>
              <a:cs typeface="Raleway Medium"/>
              <a:sym typeface="Raleway Medium"/>
            </a:endParaRPr>
          </a:p>
        </p:txBody>
      </p:sp>
      <p:sp>
        <p:nvSpPr>
          <p:cNvPr id="295" name="Google Shape;295;p46"/>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Pada tahap handoff lebih baik untuk menyediakan </a:t>
            </a:r>
            <a:r>
              <a:rPr b="1" lang="en" sz="1000">
                <a:solidFill>
                  <a:srgbClr val="733572"/>
                </a:solidFill>
                <a:latin typeface="Raleway"/>
                <a:ea typeface="Raleway"/>
                <a:cs typeface="Raleway"/>
                <a:sym typeface="Raleway"/>
              </a:rPr>
              <a:t>prototype</a:t>
            </a:r>
            <a:r>
              <a:rPr b="1" lang="en" sz="1000">
                <a:solidFill>
                  <a:srgbClr val="733572"/>
                </a:solidFill>
                <a:latin typeface="Raleway"/>
                <a:ea typeface="Raleway"/>
                <a:cs typeface="Raleway"/>
                <a:sym typeface="Raleway"/>
              </a:rPr>
              <a:t> produk daripada sekedar wireframe yang tidak merangkul banyak wawasan tentang navigasi dan desain visual produk.</a:t>
            </a:r>
            <a:endParaRPr b="1" sz="1000">
              <a:solidFill>
                <a:srgbClr val="733572"/>
              </a:solidFill>
              <a:latin typeface="Raleway"/>
              <a:ea typeface="Raleway"/>
              <a:cs typeface="Raleway"/>
              <a:sym typeface="Raleway"/>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01" name="Google Shape;301;p4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alat design-to-dev handoff,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Zeplin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Figma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Bit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Balsamiq</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07" name="Google Shape;307;p4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Berikut adalah beberapa alat design-to-dev handoff,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Zeplin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Figma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Bit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Balsamiq</a:t>
            </a:r>
            <a:endParaRPr b="1" sz="1200">
              <a:solidFill>
                <a:schemeClr val="lt1"/>
              </a:solidFill>
              <a:latin typeface="Raleway"/>
              <a:ea typeface="Raleway"/>
              <a:cs typeface="Raleway"/>
              <a:sym typeface="Raleway"/>
            </a:endParaRPr>
          </a:p>
        </p:txBody>
      </p:sp>
      <p:sp>
        <p:nvSpPr>
          <p:cNvPr id="308" name="Google Shape;308;p48"/>
          <p:cNvSpPr/>
          <p:nvPr/>
        </p:nvSpPr>
        <p:spPr>
          <a:xfrm>
            <a:off x="685800" y="3186374"/>
            <a:ext cx="7772400" cy="484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Balsamiq adalah alat untuk membuat wireframes.</a:t>
            </a:r>
            <a:endParaRPr b="1" sz="1000">
              <a:solidFill>
                <a:srgbClr val="733572"/>
              </a:solidFill>
              <a:latin typeface="Raleway"/>
              <a:ea typeface="Raleway"/>
              <a:cs typeface="Raleway"/>
              <a:sym typeface="Ralewa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14" name="Google Shape;314;p4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alat dimana Anda dapat mengekspor desain Anda ke Zeplin, kecuali…</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Adobe XD</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Adobe Illustrator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Sketch</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Adobe Photoshop</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20" name="Google Shape;320;p5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Berikut adalah beberapa alat dimana Anda dapat mengekspor desain Anda ke Zeplin, kecuali…</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Adobe XD</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Adobe Illustrator</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Sketch</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Adobe Photoshop</a:t>
            </a:r>
            <a:endParaRPr sz="1200">
              <a:solidFill>
                <a:srgbClr val="A667A5"/>
              </a:solidFill>
              <a:latin typeface="Raleway Medium"/>
              <a:ea typeface="Raleway Medium"/>
              <a:cs typeface="Raleway Medium"/>
              <a:sym typeface="Raleway Medium"/>
            </a:endParaRPr>
          </a:p>
        </p:txBody>
      </p:sp>
      <p:sp>
        <p:nvSpPr>
          <p:cNvPr id="321" name="Google Shape;321;p50"/>
          <p:cNvSpPr/>
          <p:nvPr/>
        </p:nvSpPr>
        <p:spPr>
          <a:xfrm>
            <a:off x="685800" y="3491174"/>
            <a:ext cx="7772400" cy="484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Zeplin belum dapat men-support ekspor dari Adobe Illustrator.</a:t>
            </a:r>
            <a:endParaRPr b="1" sz="1000">
              <a:solidFill>
                <a:srgbClr val="733572"/>
              </a:solidFill>
              <a:latin typeface="Raleway"/>
              <a:ea typeface="Raleway"/>
              <a:cs typeface="Raleway"/>
              <a:sym typeface="Raleway"/>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27" name="Google Shape;327;p5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alat dimana Anda dapat mengekspor desain Anda ke Zeplin, kecuali…</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Figma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Adobe XD</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Sketch</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Invision</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33" name="Google Shape;333;p5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Berikut adalah beberapa alat dimana Anda dapat mengekspor desain Anda ke Zeplin, kecuali…</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Figma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Adobe XD</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Sketch</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Invision</a:t>
            </a:r>
            <a:endParaRPr b="1" sz="1200">
              <a:solidFill>
                <a:schemeClr val="lt1"/>
              </a:solidFill>
              <a:latin typeface="Raleway"/>
              <a:ea typeface="Raleway"/>
              <a:cs typeface="Raleway"/>
              <a:sym typeface="Raleway"/>
            </a:endParaRPr>
          </a:p>
        </p:txBody>
      </p:sp>
      <p:sp>
        <p:nvSpPr>
          <p:cNvPr id="334" name="Google Shape;334;p52"/>
          <p:cNvSpPr/>
          <p:nvPr/>
        </p:nvSpPr>
        <p:spPr>
          <a:xfrm>
            <a:off x="685800" y="3491175"/>
            <a:ext cx="7772400" cy="5760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Zeplin belum dapat men-support ekspor dari Invision. Catatan: selain alan untuk desain (wireframe/prototype), Invision juga dapat menjadi alat handoff. Coba eksplor! </a:t>
            </a:r>
            <a:endParaRPr b="1" sz="1000">
              <a:solidFill>
                <a:srgbClr val="733572"/>
              </a:solidFill>
              <a:latin typeface="Raleway"/>
              <a:ea typeface="Raleway"/>
              <a:cs typeface="Raleway"/>
              <a:sym typeface="Raleway"/>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0" name="Google Shape;340;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341" name="Google Shape;341;p5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342" name="Google Shape;342;p53"/>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hlink"/>
                </a:solidFill>
                <a:uFill>
                  <a:noFill/>
                </a:uFill>
                <a:latin typeface="Raleway Medium"/>
                <a:ea typeface="Raleway Medium"/>
                <a:cs typeface="Raleway Medium"/>
                <a:sym typeface="Raleway Medium"/>
                <a:hlinkClick r:id="rId4"/>
              </a:rPr>
              <a:t>A Comprehensive Guide to Executing The Perfect </a:t>
            </a:r>
            <a:br>
              <a:rPr lang="en" sz="1200">
                <a:solidFill>
                  <a:schemeClr val="hlink"/>
                </a:solidFill>
                <a:uFill>
                  <a:noFill/>
                </a:uFill>
                <a:latin typeface="Raleway Medium"/>
                <a:ea typeface="Raleway Medium"/>
                <a:cs typeface="Raleway Medium"/>
                <a:sym typeface="Raleway Medium"/>
                <a:hlinkClick r:id="rId5"/>
              </a:rPr>
            </a:br>
            <a:r>
              <a:rPr lang="en" sz="1200">
                <a:solidFill>
                  <a:schemeClr val="hlink"/>
                </a:solidFill>
                <a:uFill>
                  <a:noFill/>
                </a:uFill>
                <a:latin typeface="Raleway Medium"/>
                <a:ea typeface="Raleway Medium"/>
                <a:cs typeface="Raleway Medium"/>
                <a:sym typeface="Raleway Medium"/>
                <a:hlinkClick r:id="rId6"/>
              </a:rPr>
              <a:t>    Design-to-Development Handoff by Phase Magazine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a:t>
            </a:r>
            <a:r>
              <a:rPr lang="en" sz="1200">
                <a:solidFill>
                  <a:schemeClr val="hlink"/>
                </a:solidFill>
                <a:uFill>
                  <a:noFill/>
                </a:uFill>
                <a:latin typeface="Raleway Medium"/>
                <a:ea typeface="Raleway Medium"/>
                <a:cs typeface="Raleway Medium"/>
                <a:sym typeface="Raleway Medium"/>
                <a:hlinkClick r:id="rId7"/>
              </a:rPr>
              <a:t>Design Handoff Guide: What Makes Good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8"/>
              </a:rPr>
              <a:t>Designer-Developer Collaboration? by UX Studio</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a:t>
            </a:r>
            <a:r>
              <a:rPr lang="en" sz="1200">
                <a:solidFill>
                  <a:schemeClr val="hlink"/>
                </a:solidFill>
                <a:uFill>
                  <a:noFill/>
                </a:uFill>
                <a:latin typeface="Raleway Medium"/>
                <a:ea typeface="Raleway Medium"/>
                <a:cs typeface="Raleway Medium"/>
                <a:sym typeface="Raleway Medium"/>
                <a:hlinkClick r:id="rId9"/>
              </a:rPr>
              <a:t>17 Designer Developer Collaboration and Handoff Tools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10"/>
              </a:rPr>
              <a:t>For 2021 by Jonathan Saring on Medium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346" name="Shape 346"/>
        <p:cNvGrpSpPr/>
        <p:nvPr/>
      </p:nvGrpSpPr>
      <p:grpSpPr>
        <a:xfrm>
          <a:off x="0" y="0"/>
          <a:ext cx="0" cy="0"/>
          <a:chOff x="0" y="0"/>
          <a:chExt cx="0" cy="0"/>
        </a:xfrm>
      </p:grpSpPr>
      <p:sp>
        <p:nvSpPr>
          <p:cNvPr id="347" name="Google Shape;347;p54"/>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48" name="Google Shape;348;p54"/>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49" name="Google Shape;349;p54"/>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50" name="Google Shape;350;p54"/>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51" name="Google Shape;351;p54"/>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352" name="Google Shape;352;p54"/>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353" name="Google Shape;353;p54"/>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354" name="Google Shape;354;p54"/>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