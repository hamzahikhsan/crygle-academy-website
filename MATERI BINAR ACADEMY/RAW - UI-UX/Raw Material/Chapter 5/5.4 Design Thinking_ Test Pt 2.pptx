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Lst>
  <p:sldSz cy="5143500" cx="9144000"/>
  <p:notesSz cx="6858000" cy="9144000"/>
  <p:embeddedFontLst>
    <p:embeddedFont>
      <p:font typeface="Raleway"/>
      <p:regular r:id="rId71"/>
      <p:bold r:id="rId72"/>
      <p:italic r:id="rId73"/>
      <p:boldItalic r:id="rId74"/>
    </p:embeddedFont>
    <p:embeddedFont>
      <p:font typeface="Montserrat"/>
      <p:regular r:id="rId75"/>
      <p:bold r:id="rId76"/>
      <p:italic r:id="rId77"/>
      <p:boldItalic r:id="rId78"/>
    </p:embeddedFont>
    <p:embeddedFont>
      <p:font typeface="Lato Black"/>
      <p:bold r:id="rId79"/>
      <p:boldItalic r:id="rId80"/>
    </p:embeddedFont>
    <p:embeddedFont>
      <p:font typeface="Raleway Medium"/>
      <p:regular r:id="rId81"/>
      <p:bold r:id="rId82"/>
      <p:italic r:id="rId83"/>
      <p:boldItalic r:id="rId8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4" Type="http://schemas.openxmlformats.org/officeDocument/2006/relationships/font" Target="fonts/RalewayMedium-boldItalic.fntdata"/><Relationship Id="rId83" Type="http://schemas.openxmlformats.org/officeDocument/2006/relationships/font" Target="fonts/RalewayMedium-italic.fnt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font" Target="fonts/LatoBlack-boldItalic.fntdata"/><Relationship Id="rId82" Type="http://schemas.openxmlformats.org/officeDocument/2006/relationships/font" Target="fonts/RalewayMedium-bold.fntdata"/><Relationship Id="rId81" Type="http://schemas.openxmlformats.org/officeDocument/2006/relationships/font" Target="fonts/Raleway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Raleway-italic.fntdata"/><Relationship Id="rId72" Type="http://schemas.openxmlformats.org/officeDocument/2006/relationships/font" Target="fonts/Raleway-bold.fntdata"/><Relationship Id="rId31" Type="http://schemas.openxmlformats.org/officeDocument/2006/relationships/slide" Target="slides/slide26.xml"/><Relationship Id="rId75" Type="http://schemas.openxmlformats.org/officeDocument/2006/relationships/font" Target="fonts/Montserrat-regular.fntdata"/><Relationship Id="rId30" Type="http://schemas.openxmlformats.org/officeDocument/2006/relationships/slide" Target="slides/slide25.xml"/><Relationship Id="rId74" Type="http://schemas.openxmlformats.org/officeDocument/2006/relationships/font" Target="fonts/Raleway-boldItalic.fntdata"/><Relationship Id="rId33" Type="http://schemas.openxmlformats.org/officeDocument/2006/relationships/slide" Target="slides/slide28.xml"/><Relationship Id="rId77" Type="http://schemas.openxmlformats.org/officeDocument/2006/relationships/font" Target="fonts/Montserrat-italic.fntdata"/><Relationship Id="rId32" Type="http://schemas.openxmlformats.org/officeDocument/2006/relationships/slide" Target="slides/slide27.xml"/><Relationship Id="rId76" Type="http://schemas.openxmlformats.org/officeDocument/2006/relationships/font" Target="fonts/Montserrat-bold.fntdata"/><Relationship Id="rId35" Type="http://schemas.openxmlformats.org/officeDocument/2006/relationships/slide" Target="slides/slide30.xml"/><Relationship Id="rId79" Type="http://schemas.openxmlformats.org/officeDocument/2006/relationships/font" Target="fonts/LatoBlack-bold.fntdata"/><Relationship Id="rId34" Type="http://schemas.openxmlformats.org/officeDocument/2006/relationships/slide" Target="slides/slide29.xml"/><Relationship Id="rId78" Type="http://schemas.openxmlformats.org/officeDocument/2006/relationships/font" Target="fonts/Montserrat-boldItalic.fntdata"/><Relationship Id="rId71" Type="http://schemas.openxmlformats.org/officeDocument/2006/relationships/font" Target="fonts/Raleway-regular.fntdata"/><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uxindo?utm_source=unsplash&amp;utm_medium=referral&amp;utm_content=creditCopyText" TargetMode="External"/><Relationship Id="rId3" Type="http://schemas.openxmlformats.org/officeDocument/2006/relationships/hyperlink" Target="https://unsplash.com/@uxindo?utm_source=unsplash&amp;utm_medium=referral&amp;utm_content=creditCopyText" TargetMode="External"/><Relationship Id="rId4" Type="http://schemas.openxmlformats.org/officeDocument/2006/relationships/hyperlink" Target="https://unsplash.com/s/photos/testing?utm_source=unsplash&amp;utm_medium=referral&amp;utm_content=creditCopyText" TargetMode="External"/><Relationship Id="rId5" Type="http://schemas.openxmlformats.org/officeDocument/2006/relationships/hyperlink" Target="https://unsplash.com/s/photos/testing?utm_source=unsplash&amp;utm_medium=referral&amp;utm_content=creditCopyText"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estudiobloom?utm_source=unsplash&amp;utm_medium=referral&amp;utm_content=creditCopyText" TargetMode="External"/><Relationship Id="rId3" Type="http://schemas.openxmlformats.org/officeDocument/2006/relationships/hyperlink" Target="https://unsplash.com/@estudiobloom?utm_source=unsplash&amp;utm_medium=referral&amp;utm_content=creditCopyText" TargetMode="External"/><Relationship Id="rId4" Type="http://schemas.openxmlformats.org/officeDocument/2006/relationships/hyperlink" Target="https://unsplash.com/s/photos/best-practices?utm_source=unsplash&amp;utm_medium=referral&amp;utm_content=creditCopyText" TargetMode="External"/><Relationship Id="rId5" Type="http://schemas.openxmlformats.org/officeDocument/2006/relationships/hyperlink" Target="https://unsplash.com/s/photos/best-practices?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design-team?utm_source=unsplash&amp;utm_medium=referral&amp;utm_content=creditCopyText" TargetMode="External"/><Relationship Id="rId5" Type="http://schemas.openxmlformats.org/officeDocument/2006/relationships/hyperlink" Target="https://unsplash.com/s/photos/design-team?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utm_source=unsplash&amp;utm_medium=referral&amp;utm_content=creditCopyText" TargetMode="External"/><Relationship Id="rId5" Type="http://schemas.openxmlformats.org/officeDocument/2006/relationships/hyperlink" Target="https://unsplash.com/s/photos/interview?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yulokchan?utm_source=unsplash&amp;utm_medium=referral&amp;utm_content=creditCopyText" TargetMode="External"/><Relationship Id="rId3" Type="http://schemas.openxmlformats.org/officeDocument/2006/relationships/hyperlink" Target="https://unsplash.com/@yulokchan?utm_source=unsplash&amp;utm_medium=referral&amp;utm_content=creditCopyText" TargetMode="External"/><Relationship Id="rId4" Type="http://schemas.openxmlformats.org/officeDocument/2006/relationships/hyperlink" Target="https://unsplash.com/s/photos/population?utm_source=unsplash&amp;utm_medium=referral&amp;utm_content=creditCopyText" TargetMode="External"/><Relationship Id="rId5" Type="http://schemas.openxmlformats.org/officeDocument/2006/relationships/hyperlink" Target="https://unsplash.com/s/photos/population?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reddalec?utm_source=unsplash&amp;utm_medium=referral&amp;utm_content=creditCopyText" TargetMode="External"/><Relationship Id="rId3" Type="http://schemas.openxmlformats.org/officeDocument/2006/relationships/hyperlink" Target="https://unsplash.com/@reddalec?utm_source=unsplash&amp;utm_medium=referral&amp;utm_content=creditCopyText" TargetMode="External"/><Relationship Id="rId4" Type="http://schemas.openxmlformats.org/officeDocument/2006/relationships/hyperlink" Target="https://unsplash.com/s/photos/meeting?utm_source=unsplash&amp;utm_medium=referral&amp;utm_content=creditCopyText" TargetMode="External"/><Relationship Id="rId5" Type="http://schemas.openxmlformats.org/officeDocument/2006/relationships/hyperlink" Target="https://unsplash.com/s/photos/meeting?utm_source=unsplash&amp;utm_medium=referral&amp;utm_content=creditCopyText"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vaistan?utm_source=unsplash&amp;utm_medium=referral&amp;utm_content=creditCopyText" TargetMode="External"/><Relationship Id="rId3" Type="http://schemas.openxmlformats.org/officeDocument/2006/relationships/hyperlink" Target="https://unsplash.com/@javaistan?utm_source=unsplash&amp;utm_medium=referral&amp;utm_content=creditCopyText" TargetMode="External"/><Relationship Id="rId4" Type="http://schemas.openxmlformats.org/officeDocument/2006/relationships/hyperlink" Target="https://unsplash.com/s/photos/person-wondering?utm_source=unsplash&amp;utm_medium=referral&amp;utm_content=creditCopyText" TargetMode="External"/><Relationship Id="rId5" Type="http://schemas.openxmlformats.org/officeDocument/2006/relationships/hyperlink" Target="https://unsplash.com/s/photos/person-wondering?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unnarridder?utm_source=unsplash&amp;utm_medium=referral&amp;utm_content=creditCopyText" TargetMode="External"/><Relationship Id="rId3" Type="http://schemas.openxmlformats.org/officeDocument/2006/relationships/hyperlink" Target="https://unsplash.com/@gunnarridder?utm_source=unsplash&amp;utm_medium=referral&amp;utm_content=creditCopyText" TargetMode="External"/><Relationship Id="rId4" Type="http://schemas.openxmlformats.org/officeDocument/2006/relationships/hyperlink" Target="https://unsplash.com/s/photos/ways?utm_source=unsplash&amp;utm_medium=referral&amp;utm_content=creditCopyText" TargetMode="External"/><Relationship Id="rId5" Type="http://schemas.openxmlformats.org/officeDocument/2006/relationships/hyperlink" Target="https://unsplash.com/s/photos/ways?utm_source=unsplash&amp;utm_medium=referral&amp;utm_content=creditCopyText"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martzzl?utm_source=unsplash&amp;utm_medium=referral&amp;utm_content=creditCopyText" TargetMode="External"/><Relationship Id="rId3" Type="http://schemas.openxmlformats.org/officeDocument/2006/relationships/hyperlink" Target="https://unsplash.com/@martzzl?utm_source=unsplash&amp;utm_medium=referral&amp;utm_content=creditCopyText" TargetMode="External"/><Relationship Id="rId4" Type="http://schemas.openxmlformats.org/officeDocument/2006/relationships/hyperlink" Target="https://unsplash.com/s/photos/questions?utm_source=unsplash&amp;utm_medium=referral&amp;utm_content=creditCopyText" TargetMode="External"/><Relationship Id="rId5" Type="http://schemas.openxmlformats.org/officeDocument/2006/relationships/hyperlink" Target="https://unsplash.com/s/photos/questions?utm_source=unsplash&amp;utm_medium=referral&amp;utm_content=creditCopyText"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oymeraki?utm_source=unsplash&amp;utm_medium=referral&amp;utm_content=creditCopyText" TargetMode="External"/><Relationship Id="rId3" Type="http://schemas.openxmlformats.org/officeDocument/2006/relationships/hyperlink" Target="https://unsplash.com/@soymeraki?utm_source=unsplash&amp;utm_medium=referral&amp;utm_content=creditCopyText" TargetMode="External"/><Relationship Id="rId4" Type="http://schemas.openxmlformats.org/officeDocument/2006/relationships/hyperlink" Target="https://unsplash.com/s/photos/instruction?utm_source=unsplash&amp;utm_medium=referral&amp;utm_content=creditCopyText" TargetMode="External"/><Relationship Id="rId5" Type="http://schemas.openxmlformats.org/officeDocument/2006/relationships/hyperlink" Target="https://unsplash.com/s/photos/instruction?utm_source=unsplash&amp;utm_medium=referral&amp;utm_content=creditCopyText"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lenncarstenspeters?utm_source=unsplash&amp;utm_medium=referral&amp;utm_content=creditCopyText" TargetMode="External"/><Relationship Id="rId3" Type="http://schemas.openxmlformats.org/officeDocument/2006/relationships/hyperlink" Target="https://unsplash.com/@glenncarstenspeters?utm_source=unsplash&amp;utm_medium=referral&amp;utm_content=creditCopyText" TargetMode="External"/><Relationship Id="rId4" Type="http://schemas.openxmlformats.org/officeDocument/2006/relationships/hyperlink" Target="https://unsplash.com/s/photos/to-do-list?utm_source=unsplash&amp;utm_medium=referral&amp;utm_content=creditCopyText" TargetMode="External"/><Relationship Id="rId5" Type="http://schemas.openxmlformats.org/officeDocument/2006/relationships/hyperlink" Target="https://unsplash.com/s/photos/to-do-list?utm_source=unsplash&amp;utm_medium=referral&amp;utm_content=creditCopyText" TargetMode="Externa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christinhumephoto?utm_source=unsplash&amp;utm_medium=referral&amp;utm_content=creditCopyText" TargetMode="External"/><Relationship Id="rId3" Type="http://schemas.openxmlformats.org/officeDocument/2006/relationships/hyperlink" Target="https://unsplash.com/@christinhumephoto?utm_source=unsplash&amp;utm_medium=referral&amp;utm_content=creditCopyText" TargetMode="External"/><Relationship Id="rId4" Type="http://schemas.openxmlformats.org/officeDocument/2006/relationships/hyperlink" Target="https://unsplash.com/s/photos/user?utm_source=unsplash&amp;utm_medium=referral&amp;utm_content=creditCopyText" TargetMode="External"/><Relationship Id="rId5" Type="http://schemas.openxmlformats.org/officeDocument/2006/relationships/hyperlink" Target="https://unsplash.com/s/photos/user?utm_source=unsplash&amp;utm_medium=referral&amp;utm_content=creditCopyText" TargetMode="Externa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ett_jordan?utm_source=unsplash&amp;utm_medium=referral&amp;utm_content=creditCopyText" TargetMode="External"/><Relationship Id="rId3" Type="http://schemas.openxmlformats.org/officeDocument/2006/relationships/hyperlink" Target="https://unsplash.com/@brett_jordan?utm_source=unsplash&amp;utm_medium=referral&amp;utm_content=creditCopyText" TargetMode="External"/><Relationship Id="rId4" Type="http://schemas.openxmlformats.org/officeDocument/2006/relationships/hyperlink" Target="https://unsplash.com/s/photos/ask-question?utm_source=unsplash&amp;utm_medium=referral&amp;utm_content=creditCopyText" TargetMode="External"/><Relationship Id="rId5" Type="http://schemas.openxmlformats.org/officeDocument/2006/relationships/hyperlink" Target="https://unsplash.com/s/photos/ask-question?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brett_jordan?utm_source=unsplash&amp;utm_medium=referral&amp;utm_content=creditCopyText" TargetMode="External"/><Relationship Id="rId3" Type="http://schemas.openxmlformats.org/officeDocument/2006/relationships/hyperlink" Target="https://unsplash.com/@brett_jordan?utm_source=unsplash&amp;utm_medium=referral&amp;utm_content=creditCopyText" TargetMode="External"/><Relationship Id="rId4" Type="http://schemas.openxmlformats.org/officeDocument/2006/relationships/hyperlink" Target="https://unsplash.com/s/photos/ask-question?utm_source=unsplash&amp;utm_medium=referral&amp;utm_content=creditCopyText" TargetMode="External"/><Relationship Id="rId5" Type="http://schemas.openxmlformats.org/officeDocument/2006/relationships/hyperlink" Target="https://unsplash.com/s/photos/ask-question?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oumbik?utm_source=unsplash&amp;utm_medium=referral&amp;utm_content=creditCopyText" TargetMode="External"/><Relationship Id="rId3" Type="http://schemas.openxmlformats.org/officeDocument/2006/relationships/hyperlink" Target="https://unsplash.com/@goumbik?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lukesouthern?utm_source=unsplash&amp;utm_medium=referral&amp;utm_content=creditCopyText" TargetMode="External"/><Relationship Id="rId3" Type="http://schemas.openxmlformats.org/officeDocument/2006/relationships/hyperlink" Target="https://unsplash.com/@lukesouthern?utm_source=unsplash&amp;utm_medium=referral&amp;utm_content=creditCopyText" TargetMode="External"/><Relationship Id="rId4" Type="http://schemas.openxmlformats.org/officeDocument/2006/relationships/hyperlink" Target="https://unsplash.com/s/photos/notes?utm_source=unsplash&amp;utm_medium=referral&amp;utm_content=creditCopyText" TargetMode="External"/><Relationship Id="rId5" Type="http://schemas.openxmlformats.org/officeDocument/2006/relationships/hyperlink" Target="https://unsplash.com/s/photos/notes?utm_source=unsplash&amp;utm_medium=referral&amp;utm_content=creditCopyText" TargetMode="Externa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goumbik?utm_source=unsplash&amp;utm_medium=referral&amp;utm_content=creditCopyText" TargetMode="External"/><Relationship Id="rId3" Type="http://schemas.openxmlformats.org/officeDocument/2006/relationships/hyperlink" Target="https://unsplash.com/@goumbik?utm_source=unsplash&amp;utm_medium=referral&amp;utm_content=creditCopyText" TargetMode="External"/><Relationship Id="rId4" Type="http://schemas.openxmlformats.org/officeDocument/2006/relationships/hyperlink" Target="https://unsplash.com/s/photos/competitor?utm_source=unsplash&amp;utm_medium=referral&amp;utm_content=creditCopyText" TargetMode="External"/><Relationship Id="rId5" Type="http://schemas.openxmlformats.org/officeDocument/2006/relationships/hyperlink" Target="https://unsplash.com/s/photos/competitor?utm_source=unsplash&amp;utm_medium=referral&amp;utm_content=creditCopyText" TargetMode="Externa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leidico?utm_source=unsplash&amp;utm_medium=referral&amp;utm_content=creditCopyText" TargetMode="External"/><Relationship Id="rId3" Type="http://schemas.openxmlformats.org/officeDocument/2006/relationships/hyperlink" Target="https://unsplash.com/@kaleidico?utm_source=unsplash&amp;utm_medium=referral&amp;utm_content=creditCopyText" TargetMode="External"/><Relationship Id="rId4" Type="http://schemas.openxmlformats.org/officeDocument/2006/relationships/hyperlink" Target="https://unsplash.com/s/photos/analysis?utm_source=unsplash&amp;utm_medium=referral&amp;utm_content=creditCopyText" TargetMode="External"/><Relationship Id="rId5" Type="http://schemas.openxmlformats.org/officeDocument/2006/relationships/hyperlink" Target="https://unsplash.com/s/photos/analysis?utm_source=unsplash&amp;utm_medium=referral&amp;utm_content=creditCopyText"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haronmccutcheon?utm_source=unsplash&amp;utm_medium=referral&amp;utm_content=creditCopyText" TargetMode="External"/><Relationship Id="rId3" Type="http://schemas.openxmlformats.org/officeDocument/2006/relationships/hyperlink" Target="https://unsplash.com/@sharonmccutcheon?utm_source=unsplash&amp;utm_medium=referral&amp;utm_content=creditCopyText" TargetMode="External"/><Relationship Id="rId4" Type="http://schemas.openxmlformats.org/officeDocument/2006/relationships/hyperlink" Target="https://unsplash.com/s/photos/documents?utm_source=unsplash&amp;utm_medium=referral&amp;utm_content=creditCopyText" TargetMode="External"/><Relationship Id="rId5" Type="http://schemas.openxmlformats.org/officeDocument/2006/relationships/hyperlink" Target="https://unsplash.com/s/photos/documents?utm_source=unsplash&amp;utm_medium=referral&amp;utm_content=creditCopyText" TargetMode="Externa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organize-data-tags?utm_source=unsplash&amp;utm_medium=referral&amp;utm_content=creditCopyText" TargetMode="External"/><Relationship Id="rId5" Type="http://schemas.openxmlformats.org/officeDocument/2006/relationships/hyperlink" Target="https://unsplash.com/s/photos/organize-data-tags?utm_source=unsplash&amp;utm_medium=referral&amp;utm_content=creditCopyText"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homajob?utm_source=unsplash&amp;utm_medium=referral&amp;utm_content=creditCopyText" TargetMode="External"/><Relationship Id="rId3" Type="http://schemas.openxmlformats.org/officeDocument/2006/relationships/hyperlink" Target="https://unsplash.com/@homajob?utm_source=unsplash&amp;utm_medium=referral&amp;utm_content=creditCopyText" TargetMode="External"/><Relationship Id="rId4" Type="http://schemas.openxmlformats.org/officeDocument/2006/relationships/hyperlink" Target="https://unsplash.com/s/photos/organize-data-tags?utm_source=unsplash&amp;utm_medium=referral&amp;utm_content=creditCopyText" TargetMode="External"/><Relationship Id="rId5" Type="http://schemas.openxmlformats.org/officeDocument/2006/relationships/hyperlink" Target="https://unsplash.com/s/photos/organize-data-tags?utm_source=unsplash&amp;utm_medium=referral&amp;utm_content=creditCopyText" TargetMode="Externa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charts?utm_source=unsplash&amp;utm_medium=referral&amp;utm_content=creditCopyText" TargetMode="External"/><Relationship Id="rId5" Type="http://schemas.openxmlformats.org/officeDocument/2006/relationships/hyperlink" Target="https://unsplash.com/s/photos/charts?utm_source=unsplash&amp;utm_medium=referral&amp;utm_content=creditCopyText" TargetMode="Externa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towfiqu999999?utm_source=unsplash&amp;utm_medium=referral&amp;utm_content=creditCopyText" TargetMode="External"/><Relationship Id="rId3" Type="http://schemas.openxmlformats.org/officeDocument/2006/relationships/hyperlink" Target="https://unsplash.com/@towfiqu999999?utm_source=unsplash&amp;utm_medium=referral&amp;utm_content=creditCopyText" TargetMode="External"/><Relationship Id="rId4" Type="http://schemas.openxmlformats.org/officeDocument/2006/relationships/hyperlink" Target="https://unsplash.com/s/photos/charts?utm_source=unsplash&amp;utm_medium=referral&amp;utm_content=creditCopyText" TargetMode="External"/><Relationship Id="rId5" Type="http://schemas.openxmlformats.org/officeDocument/2006/relationships/hyperlink" Target="https://unsplash.com/s/photos/charts?utm_source=unsplash&amp;utm_medium=referral&amp;utm_content=creditCopyText" TargetMode="Externa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aldemarbrandt67w?utm_source=unsplash&amp;utm_medium=referral&amp;utm_content=creditCopyText" TargetMode="External"/><Relationship Id="rId3" Type="http://schemas.openxmlformats.org/officeDocument/2006/relationships/hyperlink" Target="https://unsplash.com/@waldemarbrandt67w?utm_source=unsplash&amp;utm_medium=referral&amp;utm_content=creditCopyText" TargetMode="External"/><Relationship Id="rId4" Type="http://schemas.openxmlformats.org/officeDocument/2006/relationships/hyperlink" Target="https://unsplash.com/s/photos/important?utm_source=unsplash&amp;utm_medium=referral&amp;utm_content=creditCopyText" TargetMode="External"/><Relationship Id="rId5" Type="http://schemas.openxmlformats.org/officeDocument/2006/relationships/hyperlink" Target="https://unsplash.com/s/photos/important?utm_source=unsplash&amp;utm_medium=referral&amp;utm_content=creditCopyText" TargetMode="Externa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waldemarbrandt67w?utm_source=unsplash&amp;utm_medium=referral&amp;utm_content=creditCopyText" TargetMode="External"/><Relationship Id="rId3" Type="http://schemas.openxmlformats.org/officeDocument/2006/relationships/hyperlink" Target="https://unsplash.com/@waldemarbrandt67w?utm_source=unsplash&amp;utm_medium=referral&amp;utm_content=creditCopyText" TargetMode="External"/><Relationship Id="rId4" Type="http://schemas.openxmlformats.org/officeDocument/2006/relationships/hyperlink" Target="https://unsplash.com/s/photos/important?utm_source=unsplash&amp;utm_medium=referral&amp;utm_content=creditCopyText" TargetMode="External"/><Relationship Id="rId5" Type="http://schemas.openxmlformats.org/officeDocument/2006/relationships/hyperlink" Target="https://unsplash.com/s/photos/important?utm_source=unsplash&amp;utm_medium=referral&amp;utm_content=creditCopyText" TargetMode="Externa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aitlynbaker?utm_source=unsplash&amp;utm_medium=referral&amp;utm_content=creditCopyText" TargetMode="External"/><Relationship Id="rId3" Type="http://schemas.openxmlformats.org/officeDocument/2006/relationships/hyperlink" Target="https://unsplash.com/@kaitlynbaker?utm_source=unsplash&amp;utm_medium=referral&amp;utm_content=creditCopyText" TargetMode="External"/><Relationship Id="rId4" Type="http://schemas.openxmlformats.org/officeDocument/2006/relationships/hyperlink" Target="https://unsplash.com/s/photos/report?utm_source=unsplash&amp;utm_medium=referral&amp;utm_content=creditCopyText" TargetMode="External"/><Relationship Id="rId5" Type="http://schemas.openxmlformats.org/officeDocument/2006/relationships/hyperlink" Target="https://unsplash.com/s/photos/report?utm_source=unsplash&amp;utm_medium=referral&amp;utm_content=creditCopyText"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sigmund?utm_source=unsplash&amp;utm_medium=referral&amp;utm_content=creditCopyText" TargetMode="External"/><Relationship Id="rId3" Type="http://schemas.openxmlformats.org/officeDocument/2006/relationships/hyperlink" Target="https://unsplash.com/@sigmund?utm_source=unsplash&amp;utm_medium=referral&amp;utm_content=creditCopyText" TargetMode="External"/><Relationship Id="rId4" Type="http://schemas.openxmlformats.org/officeDocument/2006/relationships/hyperlink" Target="https://unsplash.com/s/photos/prototype?utm_source=unsplash&amp;utm_medium=referral&amp;utm_content=creditCopyText" TargetMode="External"/><Relationship Id="rId5" Type="http://schemas.openxmlformats.org/officeDocument/2006/relationships/hyperlink" Target="https://unsplash.com/s/photos/prototype?utm_source=unsplash&amp;utm_medium=referral&amp;utm_content=creditCopyText"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9cd5a793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9cd5a79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11780accf1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11780accf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780accf1e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780accf1e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1780accf1e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1780accf1e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Teo Yu Siang and Interaction Design Foundation. Copyright licence: CC BY-NC-SA 3.0</a:t>
            </a:r>
            <a:endParaRPr>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11780accf1e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11780accf1e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11780accf1e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11780accf1e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17f2d3e09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17f2d3e09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UX Indonesia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0df2df5133_0_4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0df2df5133_0_4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17f2d3e098_0_3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17f2d3e098_0_3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0df2df5133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0df2df513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Estúdio Bloom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117f2d3e098_0_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117f2d3e098_0_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185d3493f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185d3493f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117f2d3e098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117f2d3e098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117f2d3e098_0_4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117f2d3e098_0_4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17f2d3e098_0_4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17f2d3e098_0_4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1780accf1e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1780accf1e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7f2d3e09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17f2d3e09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117f2d3e098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117f2d3e098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Joseph Chan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185d3493f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185d3493f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185d3493f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185d3493f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Redd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11780accf1e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4" name="Google Shape;284;g11780accf1e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17f2d3e098_0_4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17f2d3e098_0_4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Afif Kusuma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185d3493ff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185d3493ff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Gunnar Ridderström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85d3493f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85d3493f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Marcel Strauß</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1185d3493f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1185d3493f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Javier Allegue Barros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1185d3493ff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1185d3493ff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1185d3493ff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1185d3493ff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1185d3493f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1185d3493f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Glenn Carstens-Peters</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1185d3493f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1185d3493f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Christin Hume</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1185d3493f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1185d3493f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1185d3493ff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2" name="Google Shape;362;g1185d3493ff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Brett Jordan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185d3493ff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1185d3493ff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Brett Jordan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185d3493f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185d3493f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Lukas Blazek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185d3493ff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185d3493ff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https://www.trymyui.com/blog/2016/06/09/understanding-users-first-impressions-of-website/</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185d3493f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185d3493f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Luke Southern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185d3493ff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185d3493ff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Lukas Blazek</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11780accf1e_0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9" name="Google Shape;409;g11780accf1e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1185d3493f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1185d3493f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Kaleidico</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1185d3493ff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1185d3493ff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Sharon McCutcheon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1185d3493f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1185d3493f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185d3493ff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185d3493ff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Scott Graham</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85d3493ff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85d3493ff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https://www.hotjar.com/usability-testing/evaluation-analysis/</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185d3493ff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185d3493ff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185d3493ff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1185d3493ff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Towfiqu barbhuiya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1185d3493f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1185d3493f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Waldemar Brandt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185d3493ff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185d3493ff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Waldemar Brandt</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1185d3493ff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7" name="Google Shape;487;g1185d3493ff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Kaitlyn Baker</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185d3493ff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185d3493ff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Sigmund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11421c87ef_0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11421c87ef_0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11174bdd19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11174bdd19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18bff811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118bff811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g1185d3493ff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5" name="Google Shape;535;g1185d3493ff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118bff811f3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118bff811f3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185d3493ff_0_3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185d3493ff_0_3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8bff811f3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8bff811f3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18bff811f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18bff811f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118bff811f3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7" name="Google Shape;567;g118bff811f3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118bff811f3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4" name="Google Shape;574;g118bff811f3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118bff811f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118bff811f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118bff811f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118bff811f3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118bff811f3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118bff811f3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118bff811f3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0" name="Google Shape;600;g118bff811f3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118bff811f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118bff811f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g10df2df5133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3" name="Google Shape;613;g10df2df5133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g10e54dbc4a4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1" name="Google Shape;621;g10e54dbc4a4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2.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nngroup.com/articles/why-you-only-need-to-test-with-5-users/" TargetMode="External"/><Relationship Id="rId4"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0.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9.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6.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1.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2.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www.trymyui.com/blog/2016/06/09/understanding-users-first-impressions-of-website/" TargetMode="External"/><Relationship Id="rId4" Type="http://schemas.openxmlformats.org/officeDocument/2006/relationships/hyperlink" Target="https://www.trymyui.com/blog/2016/06/09/understanding-users-first-impressions-of-website/" TargetMode="External"/><Relationship Id="rId5" Type="http://schemas.openxmlformats.org/officeDocument/2006/relationships/image" Target="../media/image16.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4.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3.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hyperlink" Target="https://www.nngroup.com/articles/quant-vs-qual/" TargetMode="External"/><Relationship Id="rId4" Type="http://schemas.openxmlformats.org/officeDocument/2006/relationships/image" Target="../media/image30.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0.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3.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3.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32.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20" Type="http://schemas.openxmlformats.org/officeDocument/2006/relationships/hyperlink" Target="https://www.hotjar.com/usability-testing/evaluation-analysis/" TargetMode="External"/><Relationship Id="rId11" Type="http://schemas.openxmlformats.org/officeDocument/2006/relationships/hyperlink" Target="https://www.nngroup.com/articles/why-you-only-need-to-test-with-5-users/" TargetMode="External"/><Relationship Id="rId22" Type="http://schemas.openxmlformats.org/officeDocument/2006/relationships/hyperlink" Target="https://www.nngroup.com/articles/quant-vs-qual/" TargetMode="External"/><Relationship Id="rId10" Type="http://schemas.openxmlformats.org/officeDocument/2006/relationships/hyperlink" Target="https://www.nngroup.com/articles/why-you-only-need-to-test-with-5-users/" TargetMode="External"/><Relationship Id="rId21" Type="http://schemas.openxmlformats.org/officeDocument/2006/relationships/hyperlink" Target="https://www.nngroup.com/articles/quant-vs-qual/" TargetMode="External"/><Relationship Id="rId13" Type="http://schemas.openxmlformats.org/officeDocument/2006/relationships/hyperlink" Target="https://www.trymyui.com/blog/2018/04/24/avoid-bias-in-user-testing/" TargetMode="External"/><Relationship Id="rId12" Type="http://schemas.openxmlformats.org/officeDocument/2006/relationships/hyperlink" Target="https://www.nngroup.com/articles/why-you-only-need-to-test-with-5-users/" TargetMode="External"/><Relationship Id="rId23" Type="http://schemas.openxmlformats.org/officeDocument/2006/relationships/hyperlink" Target="https://www.nngroup.com/articles/quant-vs-qual/" TargetMode="External"/><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png"/><Relationship Id="rId4" Type="http://schemas.openxmlformats.org/officeDocument/2006/relationships/hyperlink" Target="https://www.interaction-design.org/literature/topics/design-thinking" TargetMode="External"/><Relationship Id="rId9" Type="http://schemas.openxmlformats.org/officeDocument/2006/relationships/hyperlink" Target="https://xd.adobe.com/ideas/process/user-testing/best-practices-for-usability-testing-in-ux-design/" TargetMode="External"/><Relationship Id="rId15" Type="http://schemas.openxmlformats.org/officeDocument/2006/relationships/hyperlink" Target="https://www.trymyui.com/blog/2017/12/12/how-to-write-tasks-vol-3-prototype-wireframe-usability-testing/" TargetMode="External"/><Relationship Id="rId14" Type="http://schemas.openxmlformats.org/officeDocument/2006/relationships/hyperlink" Target="https://www.trymyui.com/blog/2016/06/09/understanding-users-first-impressions-of-website/" TargetMode="External"/><Relationship Id="rId17" Type="http://schemas.openxmlformats.org/officeDocument/2006/relationships/hyperlink" Target="https://www.trymyui.com/blog/2017/12/12/how-to-write-tasks-vol-3-prototype-wireframe-usability-testing/" TargetMode="External"/><Relationship Id="rId16" Type="http://schemas.openxmlformats.org/officeDocument/2006/relationships/hyperlink" Target="https://www.trymyui.com/blog/2017/12/12/how-to-write-tasks-vol-3-prototype-wireframe-usability-testing/" TargetMode="External"/><Relationship Id="rId5" Type="http://schemas.openxmlformats.org/officeDocument/2006/relationships/hyperlink" Target="https://xd.adobe.com/ideas/process/user-testing/best-practices-for-usability-testing-in-ux-design/" TargetMode="External"/><Relationship Id="rId19" Type="http://schemas.openxmlformats.org/officeDocument/2006/relationships/hyperlink" Target="https://www.hotjar.com/usability-testing/template-checklist/" TargetMode="External"/><Relationship Id="rId6" Type="http://schemas.openxmlformats.org/officeDocument/2006/relationships/hyperlink" Target="https://xd.adobe.com/ideas/process/user-testing/best-practices-for-usability-testing-in-ux-design/" TargetMode="External"/><Relationship Id="rId18" Type="http://schemas.openxmlformats.org/officeDocument/2006/relationships/hyperlink" Target="https://maze.co/guides/usability-testing/results/" TargetMode="External"/><Relationship Id="rId7" Type="http://schemas.openxmlformats.org/officeDocument/2006/relationships/hyperlink" Target="https://xd.adobe.com/ideas/process/user-testing/best-practices-for-usability-testing-in-ux-design/" TargetMode="External"/><Relationship Id="rId8" Type="http://schemas.openxmlformats.org/officeDocument/2006/relationships/hyperlink" Target="https://xd.adobe.com/ideas/process/user-testing/best-practices-for-usability-testing-in-ux-design/"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 Id="rId3"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97" name="Shape 97"/>
        <p:cNvGrpSpPr/>
        <p:nvPr/>
      </p:nvGrpSpPr>
      <p:grpSpPr>
        <a:xfrm>
          <a:off x="0" y="0"/>
          <a:ext cx="0" cy="0"/>
          <a:chOff x="0" y="0"/>
          <a:chExt cx="0" cy="0"/>
        </a:xfrm>
      </p:grpSpPr>
      <p:sp>
        <p:nvSpPr>
          <p:cNvPr id="98" name="Google Shape;98;p20"/>
          <p:cNvSpPr txBox="1"/>
          <p:nvPr/>
        </p:nvSpPr>
        <p:spPr>
          <a:xfrm>
            <a:off x="2386875" y="25075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400">
                <a:solidFill>
                  <a:srgbClr val="FFFFFF"/>
                </a:solidFill>
                <a:latin typeface="Raleway"/>
                <a:ea typeface="Raleway"/>
                <a:cs typeface="Raleway"/>
                <a:sym typeface="Raleway"/>
              </a:rPr>
              <a:t>Design Thinking: Test Pt 2</a:t>
            </a:r>
            <a:endParaRPr b="1" sz="2400">
              <a:solidFill>
                <a:srgbClr val="FFFFFF"/>
              </a:solidFill>
              <a:latin typeface="Raleway"/>
              <a:ea typeface="Raleway"/>
              <a:cs typeface="Raleway"/>
              <a:sym typeface="Raleway"/>
            </a:endParaRPr>
          </a:p>
          <a:p>
            <a:pPr indent="0" lvl="0" marL="0" rtl="0" algn="l">
              <a:spcBef>
                <a:spcPts val="0"/>
              </a:spcBef>
              <a:spcAft>
                <a:spcPts val="0"/>
              </a:spcAft>
              <a:buClr>
                <a:schemeClr val="dk1"/>
              </a:buClr>
              <a:buSzPts val="1100"/>
              <a:buFont typeface="Arial"/>
              <a:buNone/>
            </a:pPr>
            <a:r>
              <a:rPr b="1" lang="en">
                <a:solidFill>
                  <a:schemeClr val="lt1"/>
                </a:solidFill>
                <a:latin typeface="Raleway"/>
                <a:ea typeface="Raleway"/>
                <a:cs typeface="Raleway"/>
                <a:sym typeface="Raleway"/>
              </a:rPr>
              <a:t>Chapter 5 - Topic 4</a:t>
            </a:r>
            <a:endParaRPr b="1">
              <a:solidFill>
                <a:srgbClr val="FFFFFF"/>
              </a:solidFill>
              <a:latin typeface="Raleway"/>
              <a:ea typeface="Raleway"/>
              <a:cs typeface="Raleway"/>
              <a:sym typeface="Raleway"/>
            </a:endParaRPr>
          </a:p>
        </p:txBody>
      </p:sp>
      <p:cxnSp>
        <p:nvCxnSpPr>
          <p:cNvPr id="99" name="Google Shape;99;p20"/>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20"/>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
        <p:nvSpPr>
          <p:cNvPr id="101" name="Google Shape;101;p20"/>
          <p:cNvSpPr txBox="1"/>
          <p:nvPr>
            <p:ph idx="4294967295"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Agenda</a:t>
            </a:r>
            <a:endParaRPr/>
          </a:p>
        </p:txBody>
      </p:sp>
      <p:pic>
        <p:nvPicPr>
          <p:cNvPr id="108" name="Google Shape;108;p21"/>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09" name="Google Shape;109;p21"/>
          <p:cNvSpPr txBox="1"/>
          <p:nvPr/>
        </p:nvSpPr>
        <p:spPr>
          <a:xfrm>
            <a:off x="685800" y="1024128"/>
            <a:ext cx="4114800" cy="36576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600"/>
              </a:spcBef>
              <a:spcAft>
                <a:spcPts val="0"/>
              </a:spcAft>
              <a:buClr>
                <a:schemeClr val="dk1"/>
              </a:buClr>
              <a:buSzPts val="1400"/>
              <a:buFont typeface="Arial"/>
              <a:buNone/>
            </a:pPr>
            <a:r>
              <a:rPr b="1" lang="en" sz="1800">
                <a:solidFill>
                  <a:srgbClr val="743673"/>
                </a:solidFill>
                <a:highlight>
                  <a:schemeClr val="lt1"/>
                </a:highlight>
                <a:latin typeface="Raleway"/>
                <a:ea typeface="Raleway"/>
                <a:cs typeface="Raleway"/>
                <a:sym typeface="Raleway"/>
              </a:rPr>
              <a:t>Design Thinking: Test Pt 2</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Usability testing</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Memilih populasi dan sampel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Menghindari bias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Menganalisa hasil testing</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5" name="Google Shape;115;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16" name="Google Shape;116;p2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Clr>
                <a:schemeClr val="dk1"/>
              </a:buClr>
              <a:buSzPts val="1100"/>
              <a:buFont typeface="Arial"/>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Design Thinking menangani masalah kompleks dengan: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Empathizing: Memahami kebutuhan manusia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yang terlibat.</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Defining: Membingkai ulang dan mendefinisikan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dengan cara yang berpusat pada manusia.</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3. Ideating: Menciptakan banyak ide dalam sesi ideation.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Prototyping: Mengadopsi pendekatan langsung dalam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pembuatan prototipe.</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5. Testing / Pengujian: Mengembangkan prototipe atau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solusi yang dapat diuji untuk masalah tersebut.</a:t>
            </a:r>
            <a:endParaRPr sz="1200">
              <a:solidFill>
                <a:schemeClr val="dk1"/>
              </a:solidFill>
              <a:latin typeface="Raleway Medium"/>
              <a:ea typeface="Raleway Medium"/>
              <a:cs typeface="Raleway Medium"/>
              <a:sym typeface="Raleway Medium"/>
            </a:endParaRPr>
          </a:p>
        </p:txBody>
      </p:sp>
      <p:pic>
        <p:nvPicPr>
          <p:cNvPr id="117" name="Google Shape;117;p22"/>
          <p:cNvPicPr preferRelativeResize="0"/>
          <p:nvPr/>
        </p:nvPicPr>
        <p:blipFill rotWithShape="1">
          <a:blip r:embed="rId3">
            <a:alphaModFix/>
          </a:blip>
          <a:srcRect b="0" l="5476" r="5467" t="0"/>
          <a:stretch/>
        </p:blipFill>
        <p:spPr>
          <a:xfrm>
            <a:off x="5486400" y="1207587"/>
            <a:ext cx="3017518" cy="2743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3" name="Google Shape;123;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Recap</a:t>
            </a:r>
            <a:endParaRPr/>
          </a:p>
        </p:txBody>
      </p:sp>
      <p:sp>
        <p:nvSpPr>
          <p:cNvPr id="124" name="Google Shape;124;p2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Recap</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Prototipe dapat dibagikan dan diuji di dalam tim desain Anda, atau di departemen lain, atau pada sekelompok kecil orang di luar tim desain.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Fase ini adalah tahap percobaan, dan tujuannya adalah untuk mengidentifikasi solusi yang terbaik. Desainer atau evaluator secara ketat menguji produk lengkap menggunakan solusi terbaik yang diidentifikasi selama fase pembuatan prototipe.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Aktivitas kunci pada fase ini adalah </a:t>
            </a:r>
            <a:r>
              <a:rPr b="1" lang="en" sz="1200">
                <a:solidFill>
                  <a:schemeClr val="dk1"/>
                </a:solidFill>
                <a:latin typeface="Raleway"/>
                <a:ea typeface="Raleway"/>
                <a:cs typeface="Raleway"/>
                <a:sym typeface="Raleway"/>
              </a:rPr>
              <a:t>menguji untuk belajar</a:t>
            </a:r>
            <a:r>
              <a:rPr lang="en" sz="1200">
                <a:solidFill>
                  <a:schemeClr val="dk1"/>
                </a:solidFill>
                <a:latin typeface="Raleway Medium"/>
                <a:ea typeface="Raleway Medium"/>
                <a:cs typeface="Raleway Medium"/>
                <a:sym typeface="Raleway Medium"/>
              </a:rPr>
              <a:t>: sempurnakan ide dengan mengumpulkan umpan balik dan bereksperimen ke depan.</a:t>
            </a:r>
            <a:endParaRPr sz="1200">
              <a:solidFill>
                <a:schemeClr val="dk1"/>
              </a:solidFill>
              <a:latin typeface="Raleway Medium"/>
              <a:ea typeface="Raleway Medium"/>
              <a:cs typeface="Raleway Medium"/>
              <a:sym typeface="Raleway Medium"/>
            </a:endParaRPr>
          </a:p>
        </p:txBody>
      </p:sp>
      <p:pic>
        <p:nvPicPr>
          <p:cNvPr id="125" name="Google Shape;125;p23"/>
          <p:cNvPicPr preferRelativeResize="0"/>
          <p:nvPr/>
        </p:nvPicPr>
        <p:blipFill rotWithShape="1">
          <a:blip r:embed="rId3">
            <a:alphaModFix/>
          </a:blip>
          <a:srcRect b="0" l="23380" r="23374" t="0"/>
          <a:stretch/>
        </p:blipFill>
        <p:spPr>
          <a:xfrm>
            <a:off x="5486400" y="1207587"/>
            <a:ext cx="3017518" cy="2743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Usability testing</a:t>
            </a:r>
            <a:endParaRPr/>
          </a:p>
        </p:txBody>
      </p:sp>
      <p:sp>
        <p:nvSpPr>
          <p:cNvPr id="131" name="Google Shape;131;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7" name="Google Shape;137;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sp>
        <p:nvSpPr>
          <p:cNvPr id="138" name="Google Shape;138;p2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Recap: u</a:t>
            </a:r>
            <a:r>
              <a:rPr b="1" lang="en" sz="1800">
                <a:solidFill>
                  <a:srgbClr val="743673"/>
                </a:solidFill>
                <a:highlight>
                  <a:schemeClr val="lt1"/>
                </a:highlight>
                <a:latin typeface="Raleway"/>
                <a:ea typeface="Raleway"/>
                <a:cs typeface="Raleway"/>
                <a:sym typeface="Raleway"/>
              </a:rPr>
              <a:t>sability testing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User experience (UX) testing atau pengujian pengalaman pengguna - sering disingkat dengan </a:t>
            </a:r>
            <a:r>
              <a:rPr b="1" lang="en" sz="1200">
                <a:solidFill>
                  <a:schemeClr val="dk1"/>
                </a:solidFill>
                <a:latin typeface="Raleway"/>
                <a:ea typeface="Raleway"/>
                <a:cs typeface="Raleway"/>
                <a:sym typeface="Raleway"/>
              </a:rPr>
              <a:t>usability testing</a:t>
            </a:r>
            <a:r>
              <a:rPr lang="en" sz="1200">
                <a:solidFill>
                  <a:schemeClr val="dk1"/>
                </a:solidFill>
                <a:latin typeface="Raleway Medium"/>
                <a:ea typeface="Raleway Medium"/>
                <a:cs typeface="Raleway Medium"/>
                <a:sym typeface="Raleway Medium"/>
              </a:rPr>
              <a:t> atau </a:t>
            </a:r>
            <a:r>
              <a:rPr b="1" lang="en" sz="1200">
                <a:solidFill>
                  <a:schemeClr val="dk1"/>
                </a:solidFill>
                <a:latin typeface="Raleway"/>
                <a:ea typeface="Raleway"/>
                <a:cs typeface="Raleway"/>
                <a:sym typeface="Raleway"/>
              </a:rPr>
              <a:t>pengujian kegunaan</a:t>
            </a:r>
            <a:r>
              <a:rPr lang="en" sz="1200">
                <a:solidFill>
                  <a:schemeClr val="dk1"/>
                </a:solidFill>
                <a:latin typeface="Raleway Medium"/>
                <a:ea typeface="Raleway Medium"/>
                <a:cs typeface="Raleway Medium"/>
                <a:sym typeface="Raleway Medium"/>
              </a:rPr>
              <a:t> - adalah proses pengujian berbagai bagian situs web atau aplikasi untuk menemukan cara paling baik dan efektif untuk menyelesaikan suatu aktivitas.</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Usability testing mengukur seberapa “berguna” sebuah situs web atau aplikasi dengan membuat para pengguna mencobanya. Pengguna diminta mengamati dan memakai produk sekaligus memberikan pendapat mereka selama proses berlangsung.</a:t>
            </a:r>
            <a:endParaRPr sz="1200">
              <a:solidFill>
                <a:schemeClr val="dk1"/>
              </a:solidFill>
              <a:latin typeface="Raleway Medium"/>
              <a:ea typeface="Raleway Medium"/>
              <a:cs typeface="Raleway Medium"/>
              <a:sym typeface="Raleway Medium"/>
            </a:endParaRPr>
          </a:p>
        </p:txBody>
      </p:sp>
      <p:pic>
        <p:nvPicPr>
          <p:cNvPr id="139" name="Google Shape;139;p25"/>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5" name="Google Shape;145;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sp>
        <p:nvSpPr>
          <p:cNvPr id="146" name="Google Shape;146;p2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Usability testing dapat dilakukan baik pada prototipe maupun pada produk jadi. Pengujian dengan prototipe dianggap lebih baik (lebih murah untuk mengubah prototipe daripada produk jadi).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Walaupun sejumlah faktor dapat membedakan implementasi usability testing, pada umumnya proses usability testing dapat dipecah menjadi beberapa langkah. Mari kita telusuri…</a:t>
            </a:r>
            <a:endParaRPr sz="1200">
              <a:solidFill>
                <a:schemeClr val="dk1"/>
              </a:solidFill>
              <a:latin typeface="Raleway Medium"/>
              <a:ea typeface="Raleway Medium"/>
              <a:cs typeface="Raleway Medium"/>
              <a:sym typeface="Raleway Medium"/>
            </a:endParaRPr>
          </a:p>
        </p:txBody>
      </p:sp>
      <p:pic>
        <p:nvPicPr>
          <p:cNvPr id="147" name="Google Shape;147;p26"/>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grpSp>
        <p:nvGrpSpPr>
          <p:cNvPr id="154" name="Google Shape;154;p27"/>
          <p:cNvGrpSpPr/>
          <p:nvPr/>
        </p:nvGrpSpPr>
        <p:grpSpPr>
          <a:xfrm>
            <a:off x="-1156024" y="968423"/>
            <a:ext cx="7653672" cy="640823"/>
            <a:chOff x="444182" y="438789"/>
            <a:chExt cx="7567404" cy="731700"/>
          </a:xfrm>
        </p:grpSpPr>
        <p:sp>
          <p:nvSpPr>
            <p:cNvPr id="155" name="Google Shape;155;p27"/>
            <p:cNvSpPr txBox="1"/>
            <p:nvPr/>
          </p:nvSpPr>
          <p:spPr>
            <a:xfrm>
              <a:off x="444182" y="488975"/>
              <a:ext cx="22710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512252"/>
                  </a:solidFill>
                  <a:latin typeface="Raleway Medium"/>
                  <a:ea typeface="Raleway Medium"/>
                  <a:cs typeface="Raleway Medium"/>
                  <a:sym typeface="Raleway Medium"/>
                </a:rPr>
                <a:t>1</a:t>
              </a:r>
              <a:endParaRPr sz="4200">
                <a:solidFill>
                  <a:srgbClr val="512252"/>
                </a:solidFill>
                <a:latin typeface="Raleway Medium"/>
                <a:ea typeface="Raleway Medium"/>
                <a:cs typeface="Raleway Medium"/>
                <a:sym typeface="Raleway Medium"/>
              </a:endParaRPr>
            </a:p>
          </p:txBody>
        </p:sp>
        <p:sp>
          <p:nvSpPr>
            <p:cNvPr id="156" name="Google Shape;156;p27"/>
            <p:cNvSpPr/>
            <p:nvPr/>
          </p:nvSpPr>
          <p:spPr>
            <a:xfrm>
              <a:off x="2789785" y="438789"/>
              <a:ext cx="5221800" cy="731700"/>
            </a:xfrm>
            <a:prstGeom prst="rect">
              <a:avLst/>
            </a:prstGeom>
            <a:solidFill>
              <a:srgbClr val="51225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rgbClr val="512252"/>
                </a:solidFill>
                <a:latin typeface="Raleway"/>
                <a:ea typeface="Raleway"/>
                <a:cs typeface="Raleway"/>
                <a:sym typeface="Raleway"/>
              </a:endParaRPr>
            </a:p>
          </p:txBody>
        </p:sp>
        <p:sp>
          <p:nvSpPr>
            <p:cNvPr id="157" name="Google Shape;157;p27"/>
            <p:cNvSpPr txBox="1"/>
            <p:nvPr/>
          </p:nvSpPr>
          <p:spPr>
            <a:xfrm>
              <a:off x="2914389" y="523065"/>
              <a:ext cx="4765800" cy="575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Identifikasi apa yang perlu diuji </a:t>
              </a:r>
              <a:r>
                <a:rPr b="1" lang="en" sz="1200">
                  <a:solidFill>
                    <a:schemeClr val="lt1"/>
                  </a:solidFill>
                  <a:latin typeface="Raleway"/>
                  <a:ea typeface="Raleway"/>
                  <a:cs typeface="Raleway"/>
                  <a:sym typeface="Raleway"/>
                </a:rPr>
                <a:t>(produk baru, fitur, dll.)</a:t>
              </a:r>
              <a:endParaRPr b="1" sz="12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dan mengapa perlu </a:t>
              </a:r>
              <a:endParaRPr b="1" sz="1200">
                <a:solidFill>
                  <a:srgbClr val="FFFFFF"/>
                </a:solidFill>
                <a:latin typeface="Raleway"/>
                <a:ea typeface="Raleway"/>
                <a:cs typeface="Raleway"/>
                <a:sym typeface="Raleway"/>
              </a:endParaRPr>
            </a:p>
          </p:txBody>
        </p:sp>
      </p:grpSp>
      <p:grpSp>
        <p:nvGrpSpPr>
          <p:cNvPr id="158" name="Google Shape;158;p27"/>
          <p:cNvGrpSpPr/>
          <p:nvPr/>
        </p:nvGrpSpPr>
        <p:grpSpPr>
          <a:xfrm>
            <a:off x="-1048214" y="1742946"/>
            <a:ext cx="7180243" cy="640823"/>
            <a:chOff x="550777" y="1323150"/>
            <a:chExt cx="7099310" cy="731700"/>
          </a:xfrm>
        </p:grpSpPr>
        <p:sp>
          <p:nvSpPr>
            <p:cNvPr id="159" name="Google Shape;159;p27"/>
            <p:cNvSpPr txBox="1"/>
            <p:nvPr/>
          </p:nvSpPr>
          <p:spPr>
            <a:xfrm>
              <a:off x="550777" y="1373350"/>
              <a:ext cx="21645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512252"/>
                  </a:solidFill>
                  <a:latin typeface="Raleway Medium"/>
                  <a:ea typeface="Raleway Medium"/>
                  <a:cs typeface="Raleway Medium"/>
                  <a:sym typeface="Raleway Medium"/>
                </a:rPr>
                <a:t>2</a:t>
              </a:r>
              <a:endParaRPr sz="4200">
                <a:solidFill>
                  <a:srgbClr val="512252"/>
                </a:solidFill>
                <a:latin typeface="Raleway Medium"/>
                <a:ea typeface="Raleway Medium"/>
                <a:cs typeface="Raleway Medium"/>
                <a:sym typeface="Raleway Medium"/>
              </a:endParaRPr>
            </a:p>
          </p:txBody>
        </p:sp>
        <p:sp>
          <p:nvSpPr>
            <p:cNvPr id="160" name="Google Shape;160;p27"/>
            <p:cNvSpPr/>
            <p:nvPr/>
          </p:nvSpPr>
          <p:spPr>
            <a:xfrm>
              <a:off x="2789787" y="1323150"/>
              <a:ext cx="4860300" cy="731700"/>
            </a:xfrm>
            <a:prstGeom prst="rect">
              <a:avLst/>
            </a:prstGeom>
            <a:solidFill>
              <a:srgbClr val="51225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61" name="Google Shape;161;p27"/>
            <p:cNvSpPr txBox="1"/>
            <p:nvPr/>
          </p:nvSpPr>
          <p:spPr>
            <a:xfrm>
              <a:off x="2914396" y="1529708"/>
              <a:ext cx="4579800" cy="330600"/>
            </a:xfrm>
            <a:prstGeom prst="rect">
              <a:avLst/>
            </a:prstGeom>
            <a:solidFill>
              <a:srgbClr val="512252"/>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Identifikasi pengguna target (pelanggan). Buat persona pengguna untuk memahami target Anda.</a:t>
              </a:r>
              <a:endParaRPr b="1" sz="1200">
                <a:solidFill>
                  <a:srgbClr val="FFFFFF"/>
                </a:solidFill>
                <a:latin typeface="Raleway"/>
                <a:ea typeface="Raleway"/>
                <a:cs typeface="Raleway"/>
                <a:sym typeface="Raleway"/>
              </a:endParaRPr>
            </a:p>
          </p:txBody>
        </p:sp>
      </p:grpSp>
      <p:grpSp>
        <p:nvGrpSpPr>
          <p:cNvPr id="162" name="Google Shape;162;p27"/>
          <p:cNvGrpSpPr/>
          <p:nvPr/>
        </p:nvGrpSpPr>
        <p:grpSpPr>
          <a:xfrm>
            <a:off x="-985326" y="2514614"/>
            <a:ext cx="6750520" cy="640823"/>
            <a:chOff x="612955" y="2204250"/>
            <a:chExt cx="6674432" cy="731700"/>
          </a:xfrm>
        </p:grpSpPr>
        <p:sp>
          <p:nvSpPr>
            <p:cNvPr id="163" name="Google Shape;163;p27"/>
            <p:cNvSpPr txBox="1"/>
            <p:nvPr/>
          </p:nvSpPr>
          <p:spPr>
            <a:xfrm>
              <a:off x="612955" y="2254450"/>
              <a:ext cx="21021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743673"/>
                  </a:solidFill>
                  <a:latin typeface="Raleway Medium"/>
                  <a:ea typeface="Raleway Medium"/>
                  <a:cs typeface="Raleway Medium"/>
                  <a:sym typeface="Raleway Medium"/>
                </a:rPr>
                <a:t>3</a:t>
              </a:r>
              <a:endParaRPr sz="4200">
                <a:solidFill>
                  <a:srgbClr val="743673"/>
                </a:solidFill>
                <a:latin typeface="Raleway Medium"/>
                <a:ea typeface="Raleway Medium"/>
                <a:cs typeface="Raleway Medium"/>
                <a:sym typeface="Raleway Medium"/>
              </a:endParaRPr>
            </a:p>
          </p:txBody>
        </p:sp>
        <p:sp>
          <p:nvSpPr>
            <p:cNvPr id="164" name="Google Shape;164;p27"/>
            <p:cNvSpPr/>
            <p:nvPr/>
          </p:nvSpPr>
          <p:spPr>
            <a:xfrm>
              <a:off x="2789787" y="2204250"/>
              <a:ext cx="4497600" cy="731700"/>
            </a:xfrm>
            <a:prstGeom prst="rect">
              <a:avLst/>
            </a:prstGeom>
            <a:solidFill>
              <a:srgbClr val="74367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65" name="Google Shape;165;p27"/>
            <p:cNvSpPr txBox="1"/>
            <p:nvPr/>
          </p:nvSpPr>
          <p:spPr>
            <a:xfrm>
              <a:off x="2914388" y="2410805"/>
              <a:ext cx="38499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Buat daftar tugas / aktivitas yang perlu dilakukan oleh pengguna target (rencana pengujian)</a:t>
              </a:r>
              <a:endParaRPr b="1" sz="1200">
                <a:solidFill>
                  <a:srgbClr val="FFFFFF"/>
                </a:solidFill>
                <a:latin typeface="Raleway"/>
                <a:ea typeface="Raleway"/>
                <a:cs typeface="Raleway"/>
                <a:sym typeface="Raleway"/>
              </a:endParaRPr>
            </a:p>
          </p:txBody>
        </p:sp>
      </p:grpSp>
      <p:grpSp>
        <p:nvGrpSpPr>
          <p:cNvPr id="166" name="Google Shape;166;p27"/>
          <p:cNvGrpSpPr/>
          <p:nvPr/>
        </p:nvGrpSpPr>
        <p:grpSpPr>
          <a:xfrm>
            <a:off x="-407331" y="3289149"/>
            <a:ext cx="5806904" cy="640823"/>
            <a:chOff x="1184436" y="3088625"/>
            <a:chExt cx="5741451" cy="731700"/>
          </a:xfrm>
        </p:grpSpPr>
        <p:sp>
          <p:nvSpPr>
            <p:cNvPr id="167" name="Google Shape;167;p27"/>
            <p:cNvSpPr txBox="1"/>
            <p:nvPr/>
          </p:nvSpPr>
          <p:spPr>
            <a:xfrm>
              <a:off x="1184436" y="3138814"/>
              <a:ext cx="15306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743673"/>
                  </a:solidFill>
                  <a:latin typeface="Raleway Medium"/>
                  <a:ea typeface="Raleway Medium"/>
                  <a:cs typeface="Raleway Medium"/>
                  <a:sym typeface="Raleway Medium"/>
                </a:rPr>
                <a:t>4</a:t>
              </a:r>
              <a:endParaRPr sz="4200">
                <a:solidFill>
                  <a:srgbClr val="743673"/>
                </a:solidFill>
                <a:latin typeface="Raleway Medium"/>
                <a:ea typeface="Raleway Medium"/>
                <a:cs typeface="Raleway Medium"/>
                <a:sym typeface="Raleway Medium"/>
              </a:endParaRPr>
            </a:p>
          </p:txBody>
        </p:sp>
        <p:sp>
          <p:nvSpPr>
            <p:cNvPr id="168" name="Google Shape;168;p27"/>
            <p:cNvSpPr/>
            <p:nvPr/>
          </p:nvSpPr>
          <p:spPr>
            <a:xfrm>
              <a:off x="2789787" y="3088625"/>
              <a:ext cx="4136100" cy="731700"/>
            </a:xfrm>
            <a:prstGeom prst="rect">
              <a:avLst/>
            </a:prstGeom>
            <a:solidFill>
              <a:srgbClr val="74367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69" name="Google Shape;169;p27"/>
            <p:cNvSpPr txBox="1"/>
            <p:nvPr/>
          </p:nvSpPr>
          <p:spPr>
            <a:xfrm>
              <a:off x="2914388" y="3295179"/>
              <a:ext cx="38499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Tetapkan metrik - metrik. Metrik akan membantu Anda mengevaluasi hasil pengujian. </a:t>
              </a:r>
              <a:endParaRPr b="1" sz="1200">
                <a:solidFill>
                  <a:srgbClr val="FFFFFF"/>
                </a:solidFill>
                <a:latin typeface="Raleway"/>
                <a:ea typeface="Raleway"/>
                <a:cs typeface="Raleway"/>
                <a:sym typeface="Raleway"/>
              </a:endParaRPr>
            </a:p>
          </p:txBody>
        </p:sp>
      </p:grpSp>
      <p:grpSp>
        <p:nvGrpSpPr>
          <p:cNvPr id="170" name="Google Shape;170;p27"/>
          <p:cNvGrpSpPr/>
          <p:nvPr/>
        </p:nvGrpSpPr>
        <p:grpSpPr>
          <a:xfrm>
            <a:off x="-407331" y="4063685"/>
            <a:ext cx="5442800" cy="640823"/>
            <a:chOff x="1184436" y="3973000"/>
            <a:chExt cx="5381451" cy="731700"/>
          </a:xfrm>
        </p:grpSpPr>
        <p:sp>
          <p:nvSpPr>
            <p:cNvPr id="171" name="Google Shape;171;p27"/>
            <p:cNvSpPr txBox="1"/>
            <p:nvPr/>
          </p:nvSpPr>
          <p:spPr>
            <a:xfrm>
              <a:off x="1184436" y="4023189"/>
              <a:ext cx="15306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5E2B62"/>
                  </a:solidFill>
                  <a:latin typeface="Raleway Medium"/>
                  <a:ea typeface="Raleway Medium"/>
                  <a:cs typeface="Raleway Medium"/>
                  <a:sym typeface="Raleway Medium"/>
                </a:rPr>
                <a:t>5</a:t>
              </a:r>
              <a:endParaRPr sz="4200">
                <a:solidFill>
                  <a:srgbClr val="5E2B62"/>
                </a:solidFill>
                <a:latin typeface="Raleway Medium"/>
                <a:ea typeface="Raleway Medium"/>
                <a:cs typeface="Raleway Medium"/>
                <a:sym typeface="Raleway Medium"/>
              </a:endParaRPr>
            </a:p>
          </p:txBody>
        </p:sp>
        <p:sp>
          <p:nvSpPr>
            <p:cNvPr id="172" name="Google Shape;172;p27"/>
            <p:cNvSpPr/>
            <p:nvPr/>
          </p:nvSpPr>
          <p:spPr>
            <a:xfrm>
              <a:off x="2789787" y="3973000"/>
              <a:ext cx="3776100" cy="731700"/>
            </a:xfrm>
            <a:prstGeom prst="rect">
              <a:avLst/>
            </a:prstGeom>
            <a:solidFill>
              <a:srgbClr val="5E2B62">
                <a:alpha val="80000"/>
              </a:srgbClr>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73" name="Google Shape;173;p27"/>
            <p:cNvSpPr txBox="1"/>
            <p:nvPr/>
          </p:nvSpPr>
          <p:spPr>
            <a:xfrm>
              <a:off x="2903000" y="4179571"/>
              <a:ext cx="35892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Rekrut peserta tes yang tepat. Saat merekrut, pertimbangkan faktor demografi &amp; psikografis.</a:t>
              </a:r>
              <a:endParaRPr b="1" sz="1200">
                <a:solidFill>
                  <a:srgbClr val="FFFFFF"/>
                </a:solidFill>
                <a:latin typeface="Raleway"/>
                <a:ea typeface="Raleway"/>
                <a:cs typeface="Raleway"/>
                <a:sym typeface="Raleway"/>
              </a:endParaRPr>
            </a:p>
          </p:txBody>
        </p:sp>
      </p:grpSp>
      <p:sp>
        <p:nvSpPr>
          <p:cNvPr id="174" name="Google Shape;174;p27"/>
          <p:cNvSpPr txBox="1"/>
          <p:nvPr/>
        </p:nvSpPr>
        <p:spPr>
          <a:xfrm>
            <a:off x="5474151" y="3351713"/>
            <a:ext cx="3322500" cy="51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743673"/>
                </a:solidFill>
                <a:latin typeface="Raleway"/>
                <a:ea typeface="Raleway"/>
                <a:cs typeface="Raleway"/>
                <a:sym typeface="Raleway"/>
              </a:rPr>
              <a:t>Contoh - contoh metrik: w</a:t>
            </a:r>
            <a:r>
              <a:rPr b="1" lang="en" sz="1000">
                <a:solidFill>
                  <a:srgbClr val="743673"/>
                </a:solidFill>
                <a:latin typeface="Raleway"/>
                <a:ea typeface="Raleway"/>
                <a:cs typeface="Raleway"/>
                <a:sym typeface="Raleway"/>
              </a:rPr>
              <a:t>aktu untuk mengerjakan tugas, tingkat keberhasilan, </a:t>
            </a:r>
            <a:r>
              <a:rPr b="1" i="1" lang="en" sz="1000">
                <a:solidFill>
                  <a:srgbClr val="743673"/>
                </a:solidFill>
                <a:latin typeface="Raleway"/>
                <a:ea typeface="Raleway"/>
                <a:cs typeface="Raleway"/>
                <a:sym typeface="Raleway"/>
              </a:rPr>
              <a:t>goal fulfillment</a:t>
            </a:r>
            <a:endParaRPr b="1" i="1" sz="1000">
              <a:solidFill>
                <a:srgbClr val="743673"/>
              </a:solidFill>
              <a:latin typeface="Raleway"/>
              <a:ea typeface="Raleway"/>
              <a:cs typeface="Raleway"/>
              <a:sym typeface="Raleway"/>
            </a:endParaRPr>
          </a:p>
        </p:txBody>
      </p:sp>
      <p:sp>
        <p:nvSpPr>
          <p:cNvPr id="175" name="Google Shape;175;p27"/>
          <p:cNvSpPr txBox="1"/>
          <p:nvPr/>
        </p:nvSpPr>
        <p:spPr>
          <a:xfrm>
            <a:off x="5154300" y="4063700"/>
            <a:ext cx="3538500" cy="692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000">
                <a:solidFill>
                  <a:srgbClr val="743673"/>
                </a:solidFill>
                <a:latin typeface="Raleway"/>
                <a:ea typeface="Raleway"/>
                <a:cs typeface="Raleway"/>
                <a:sym typeface="Raleway"/>
              </a:rPr>
              <a:t>Contoh </a:t>
            </a:r>
            <a:r>
              <a:rPr b="1" lang="en" sz="1000">
                <a:solidFill>
                  <a:srgbClr val="743673"/>
                </a:solidFill>
                <a:latin typeface="Raleway"/>
                <a:ea typeface="Raleway"/>
                <a:cs typeface="Raleway"/>
                <a:sym typeface="Raleway"/>
              </a:rPr>
              <a:t>faktor </a:t>
            </a:r>
            <a:r>
              <a:rPr b="1" lang="en" sz="1000">
                <a:solidFill>
                  <a:srgbClr val="743673"/>
                </a:solidFill>
                <a:latin typeface="Raleway"/>
                <a:ea typeface="Raleway"/>
                <a:cs typeface="Raleway"/>
                <a:sym typeface="Raleway"/>
              </a:rPr>
              <a:t>demografi pengguna: usia, tempat tinggal, pendapatan. Contoh faktor psikografis: kepribadian, nilai, pendapat, minat, dan gaya hidup</a:t>
            </a:r>
            <a:endParaRPr b="1" i="1" sz="1000">
              <a:solidFill>
                <a:srgbClr val="743673"/>
              </a:solidFill>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grpSp>
        <p:nvGrpSpPr>
          <p:cNvPr id="182" name="Google Shape;182;p28"/>
          <p:cNvGrpSpPr/>
          <p:nvPr/>
        </p:nvGrpSpPr>
        <p:grpSpPr>
          <a:xfrm>
            <a:off x="-1156024" y="968425"/>
            <a:ext cx="8600045" cy="640823"/>
            <a:chOff x="444182" y="438791"/>
            <a:chExt cx="8503109" cy="731700"/>
          </a:xfrm>
        </p:grpSpPr>
        <p:sp>
          <p:nvSpPr>
            <p:cNvPr id="183" name="Google Shape;183;p28"/>
            <p:cNvSpPr txBox="1"/>
            <p:nvPr/>
          </p:nvSpPr>
          <p:spPr>
            <a:xfrm>
              <a:off x="444182" y="488975"/>
              <a:ext cx="22710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743673"/>
                  </a:solidFill>
                  <a:latin typeface="Raleway Medium"/>
                  <a:ea typeface="Raleway Medium"/>
                  <a:cs typeface="Raleway Medium"/>
                  <a:sym typeface="Raleway Medium"/>
                </a:rPr>
                <a:t>6</a:t>
              </a:r>
              <a:endParaRPr sz="4200">
                <a:solidFill>
                  <a:srgbClr val="743673"/>
                </a:solidFill>
                <a:latin typeface="Raleway Medium"/>
                <a:ea typeface="Raleway Medium"/>
                <a:cs typeface="Raleway Medium"/>
                <a:sym typeface="Raleway Medium"/>
              </a:endParaRPr>
            </a:p>
          </p:txBody>
        </p:sp>
        <p:sp>
          <p:nvSpPr>
            <p:cNvPr id="184" name="Google Shape;184;p28"/>
            <p:cNvSpPr/>
            <p:nvPr/>
          </p:nvSpPr>
          <p:spPr>
            <a:xfrm>
              <a:off x="2789791" y="438791"/>
              <a:ext cx="6157500" cy="731700"/>
            </a:xfrm>
            <a:prstGeom prst="rect">
              <a:avLst/>
            </a:prstGeom>
            <a:solidFill>
              <a:srgbClr val="5E2B62">
                <a:alpha val="80000"/>
              </a:srgbClr>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rgbClr val="5E2B62"/>
                </a:solidFill>
                <a:latin typeface="Raleway"/>
                <a:ea typeface="Raleway"/>
                <a:cs typeface="Raleway"/>
                <a:sym typeface="Raleway"/>
              </a:endParaRPr>
            </a:p>
          </p:txBody>
        </p:sp>
        <p:sp>
          <p:nvSpPr>
            <p:cNvPr id="185" name="Google Shape;185;p28"/>
            <p:cNvSpPr txBox="1"/>
            <p:nvPr/>
          </p:nvSpPr>
          <p:spPr>
            <a:xfrm>
              <a:off x="2914395" y="523057"/>
              <a:ext cx="5741400" cy="5754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Cari moderator, mereka yang akan memberi peserta serangkaian tugas secara langsung dan mengamati tindakan dan reaksi mereka.</a:t>
              </a:r>
              <a:endParaRPr b="1" sz="1200">
                <a:solidFill>
                  <a:srgbClr val="FFFFFF"/>
                </a:solidFill>
                <a:latin typeface="Raleway"/>
                <a:ea typeface="Raleway"/>
                <a:cs typeface="Raleway"/>
                <a:sym typeface="Raleway"/>
              </a:endParaRPr>
            </a:p>
          </p:txBody>
        </p:sp>
      </p:grpSp>
      <p:grpSp>
        <p:nvGrpSpPr>
          <p:cNvPr id="186" name="Google Shape;186;p28"/>
          <p:cNvGrpSpPr/>
          <p:nvPr/>
        </p:nvGrpSpPr>
        <p:grpSpPr>
          <a:xfrm>
            <a:off x="-1048214" y="1742950"/>
            <a:ext cx="8176981" cy="640823"/>
            <a:chOff x="550777" y="1323154"/>
            <a:chExt cx="8084814" cy="731700"/>
          </a:xfrm>
        </p:grpSpPr>
        <p:sp>
          <p:nvSpPr>
            <p:cNvPr id="187" name="Google Shape;187;p28"/>
            <p:cNvSpPr txBox="1"/>
            <p:nvPr/>
          </p:nvSpPr>
          <p:spPr>
            <a:xfrm>
              <a:off x="550777" y="1373350"/>
              <a:ext cx="21645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743673"/>
                  </a:solidFill>
                  <a:latin typeface="Raleway Medium"/>
                  <a:ea typeface="Raleway Medium"/>
                  <a:cs typeface="Raleway Medium"/>
                  <a:sym typeface="Raleway Medium"/>
                </a:rPr>
                <a:t>7</a:t>
              </a:r>
              <a:endParaRPr sz="4200">
                <a:solidFill>
                  <a:srgbClr val="743673"/>
                </a:solidFill>
                <a:latin typeface="Raleway Medium"/>
                <a:ea typeface="Raleway Medium"/>
                <a:cs typeface="Raleway Medium"/>
                <a:sym typeface="Raleway Medium"/>
              </a:endParaRPr>
            </a:p>
          </p:txBody>
        </p:sp>
        <p:sp>
          <p:nvSpPr>
            <p:cNvPr id="188" name="Google Shape;188;p28"/>
            <p:cNvSpPr/>
            <p:nvPr/>
          </p:nvSpPr>
          <p:spPr>
            <a:xfrm>
              <a:off x="2789791" y="1323154"/>
              <a:ext cx="5845800" cy="731700"/>
            </a:xfrm>
            <a:prstGeom prst="rect">
              <a:avLst/>
            </a:prstGeom>
            <a:solidFill>
              <a:srgbClr val="5E2B62">
                <a:alpha val="80000"/>
              </a:srgbClr>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rgbClr val="5E2B62"/>
                </a:solidFill>
                <a:latin typeface="Raleway"/>
                <a:ea typeface="Raleway"/>
                <a:cs typeface="Raleway"/>
                <a:sym typeface="Raleway"/>
              </a:endParaRPr>
            </a:p>
          </p:txBody>
        </p:sp>
        <p:sp>
          <p:nvSpPr>
            <p:cNvPr id="189" name="Google Shape;189;p28"/>
            <p:cNvSpPr txBox="1"/>
            <p:nvPr/>
          </p:nvSpPr>
          <p:spPr>
            <a:xfrm>
              <a:off x="2914395" y="1529708"/>
              <a:ext cx="55068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Analisa hasil pengujian dan jangan hiraukan temuan. </a:t>
              </a:r>
              <a:r>
                <a:rPr b="1" lang="en" sz="1200">
                  <a:solidFill>
                    <a:schemeClr val="lt1"/>
                  </a:solidFill>
                  <a:latin typeface="Raleway"/>
                  <a:ea typeface="Raleway"/>
                  <a:cs typeface="Raleway"/>
                  <a:sym typeface="Raleway"/>
                </a:rPr>
                <a:t>Temuan</a:t>
              </a:r>
              <a:r>
                <a:rPr b="1" lang="en" sz="1200">
                  <a:solidFill>
                    <a:schemeClr val="lt1"/>
                  </a:solidFill>
                  <a:latin typeface="Raleway"/>
                  <a:ea typeface="Raleway"/>
                  <a:cs typeface="Raleway"/>
                  <a:sym typeface="Raleway"/>
                </a:rPr>
                <a:t> dari hasil pengujian</a:t>
              </a:r>
              <a:r>
                <a:rPr b="1" lang="en" sz="1200">
                  <a:solidFill>
                    <a:srgbClr val="FFFFFF"/>
                  </a:solidFill>
                  <a:latin typeface="Raleway"/>
                  <a:ea typeface="Raleway"/>
                  <a:cs typeface="Raleway"/>
                  <a:sym typeface="Raleway"/>
                </a:rPr>
                <a:t> kegunaan dapat memberikan banyak wawasan.</a:t>
              </a:r>
              <a:endParaRPr b="1" sz="1200">
                <a:solidFill>
                  <a:srgbClr val="FFFFFF"/>
                </a:solidFill>
                <a:latin typeface="Raleway"/>
                <a:ea typeface="Raleway"/>
                <a:cs typeface="Raleway"/>
                <a:sym typeface="Raleway"/>
              </a:endParaRPr>
            </a:p>
          </p:txBody>
        </p:sp>
      </p:grpSp>
      <p:grpSp>
        <p:nvGrpSpPr>
          <p:cNvPr id="190" name="Google Shape;190;p28"/>
          <p:cNvGrpSpPr/>
          <p:nvPr/>
        </p:nvGrpSpPr>
        <p:grpSpPr>
          <a:xfrm>
            <a:off x="-985326" y="2514625"/>
            <a:ext cx="7644400" cy="640823"/>
            <a:chOff x="612955" y="2204263"/>
            <a:chExt cx="7558236" cy="731700"/>
          </a:xfrm>
        </p:grpSpPr>
        <p:sp>
          <p:nvSpPr>
            <p:cNvPr id="191" name="Google Shape;191;p28"/>
            <p:cNvSpPr txBox="1"/>
            <p:nvPr/>
          </p:nvSpPr>
          <p:spPr>
            <a:xfrm>
              <a:off x="612955" y="2254450"/>
              <a:ext cx="21021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9B6DBB"/>
                  </a:solidFill>
                  <a:latin typeface="Raleway Medium"/>
                  <a:ea typeface="Raleway Medium"/>
                  <a:cs typeface="Raleway Medium"/>
                  <a:sym typeface="Raleway Medium"/>
                </a:rPr>
                <a:t>8</a:t>
              </a:r>
              <a:endParaRPr sz="4200">
                <a:solidFill>
                  <a:srgbClr val="9B6DBB"/>
                </a:solidFill>
                <a:latin typeface="Raleway Medium"/>
                <a:ea typeface="Raleway Medium"/>
                <a:cs typeface="Raleway Medium"/>
                <a:sym typeface="Raleway Medium"/>
              </a:endParaRPr>
            </a:p>
          </p:txBody>
        </p:sp>
        <p:sp>
          <p:nvSpPr>
            <p:cNvPr id="192" name="Google Shape;192;p28"/>
            <p:cNvSpPr/>
            <p:nvPr/>
          </p:nvSpPr>
          <p:spPr>
            <a:xfrm>
              <a:off x="2789791" y="2204263"/>
              <a:ext cx="5381400" cy="731700"/>
            </a:xfrm>
            <a:prstGeom prst="rect">
              <a:avLst/>
            </a:prstGeom>
            <a:solidFill>
              <a:srgbClr val="9B6DB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solidFill>
                  <a:srgbClr val="733572"/>
                </a:solidFill>
                <a:latin typeface="Raleway"/>
                <a:ea typeface="Raleway"/>
                <a:cs typeface="Raleway"/>
                <a:sym typeface="Raleway"/>
              </a:endParaRPr>
            </a:p>
          </p:txBody>
        </p:sp>
        <p:sp>
          <p:nvSpPr>
            <p:cNvPr id="193" name="Google Shape;193;p28"/>
            <p:cNvSpPr txBox="1"/>
            <p:nvPr/>
          </p:nvSpPr>
          <p:spPr>
            <a:xfrm>
              <a:off x="2914395" y="2410817"/>
              <a:ext cx="4961100" cy="330600"/>
            </a:xfrm>
            <a:prstGeom prst="rect">
              <a:avLst/>
            </a:prstGeom>
            <a:no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chemeClr val="lt1"/>
                  </a:solidFill>
                  <a:latin typeface="Raleway"/>
                  <a:ea typeface="Raleway"/>
                  <a:cs typeface="Raleway"/>
                  <a:sym typeface="Raleway"/>
                </a:rPr>
                <a:t>Diskusikan wawasan dengan pemangku kepentingan. Periksa apakah wawasan dan visi Anda selaras dengan kebutuhan bisnis.</a:t>
              </a:r>
              <a:endParaRPr b="1" sz="1200">
                <a:solidFill>
                  <a:schemeClr val="lt1"/>
                </a:solidFill>
                <a:latin typeface="Raleway"/>
                <a:ea typeface="Raleway"/>
                <a:cs typeface="Raleway"/>
                <a:sym typeface="Raleway"/>
              </a:endParaRPr>
            </a:p>
          </p:txBody>
        </p:sp>
      </p:grpSp>
      <p:grpSp>
        <p:nvGrpSpPr>
          <p:cNvPr id="194" name="Google Shape;194;p28"/>
          <p:cNvGrpSpPr/>
          <p:nvPr/>
        </p:nvGrpSpPr>
        <p:grpSpPr>
          <a:xfrm>
            <a:off x="-407331" y="3289150"/>
            <a:ext cx="6550589" cy="1359154"/>
            <a:chOff x="1184436" y="3088626"/>
            <a:chExt cx="6476754" cy="1551900"/>
          </a:xfrm>
        </p:grpSpPr>
        <p:sp>
          <p:nvSpPr>
            <p:cNvPr id="195" name="Google Shape;195;p28"/>
            <p:cNvSpPr txBox="1"/>
            <p:nvPr/>
          </p:nvSpPr>
          <p:spPr>
            <a:xfrm>
              <a:off x="1184436" y="3573844"/>
              <a:ext cx="1530600" cy="629700"/>
            </a:xfrm>
            <a:prstGeom prst="rect">
              <a:avLst/>
            </a:prstGeom>
            <a:noFill/>
            <a:ln>
              <a:noFill/>
            </a:ln>
          </p:spPr>
          <p:txBody>
            <a:bodyPr anchorCtr="0" anchor="ctr" bIns="45700" lIns="91425" spcFirstLastPara="1" rIns="91425" wrap="square" tIns="45700">
              <a:noAutofit/>
            </a:bodyPr>
            <a:lstStyle/>
            <a:p>
              <a:pPr indent="0" lvl="0" marL="0" rtl="0" algn="r">
                <a:lnSpc>
                  <a:spcPct val="90000"/>
                </a:lnSpc>
                <a:spcBef>
                  <a:spcPts val="0"/>
                </a:spcBef>
                <a:spcAft>
                  <a:spcPts val="0"/>
                </a:spcAft>
                <a:buNone/>
              </a:pPr>
              <a:r>
                <a:rPr lang="en" sz="4200">
                  <a:solidFill>
                    <a:srgbClr val="9B6DBB"/>
                  </a:solidFill>
                  <a:latin typeface="Raleway Medium"/>
                  <a:ea typeface="Raleway Medium"/>
                  <a:cs typeface="Raleway Medium"/>
                  <a:sym typeface="Raleway Medium"/>
                </a:rPr>
                <a:t>10</a:t>
              </a:r>
              <a:endParaRPr sz="4200">
                <a:solidFill>
                  <a:srgbClr val="9B6DBB"/>
                </a:solidFill>
                <a:latin typeface="Raleway Medium"/>
                <a:ea typeface="Raleway Medium"/>
                <a:cs typeface="Raleway Medium"/>
                <a:sym typeface="Raleway Medium"/>
              </a:endParaRPr>
            </a:p>
          </p:txBody>
        </p:sp>
        <p:sp>
          <p:nvSpPr>
            <p:cNvPr id="196" name="Google Shape;196;p28"/>
            <p:cNvSpPr/>
            <p:nvPr/>
          </p:nvSpPr>
          <p:spPr>
            <a:xfrm>
              <a:off x="2789791" y="3088626"/>
              <a:ext cx="4871400" cy="1551900"/>
            </a:xfrm>
            <a:prstGeom prst="rect">
              <a:avLst/>
            </a:prstGeom>
            <a:solidFill>
              <a:srgbClr val="9B6DBB"/>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latin typeface="Raleway"/>
                <a:ea typeface="Raleway"/>
                <a:cs typeface="Raleway"/>
                <a:sym typeface="Raleway"/>
              </a:endParaRPr>
            </a:p>
          </p:txBody>
        </p:sp>
        <p:sp>
          <p:nvSpPr>
            <p:cNvPr id="197" name="Google Shape;197;p28"/>
            <p:cNvSpPr txBox="1"/>
            <p:nvPr/>
          </p:nvSpPr>
          <p:spPr>
            <a:xfrm>
              <a:off x="2914395" y="3295180"/>
              <a:ext cx="4596300" cy="1134300"/>
            </a:xfrm>
            <a:prstGeom prst="rect">
              <a:avLst/>
            </a:prstGeom>
            <a:solidFill>
              <a:srgbClr val="9B6DBB"/>
            </a:solidFill>
            <a:ln>
              <a:noFill/>
            </a:ln>
          </p:spPr>
          <p:txBody>
            <a:bodyPr anchorCtr="0" anchor="ctr" bIns="45700" lIns="91425" spcFirstLastPara="1" rIns="91425" wrap="square" tIns="45700">
              <a:noAutofit/>
            </a:bodyPr>
            <a:lstStyle/>
            <a:p>
              <a:pPr indent="0" lvl="0" marL="0" rtl="0" algn="l">
                <a:lnSpc>
                  <a:spcPct val="115000"/>
                </a:lnSpc>
                <a:spcBef>
                  <a:spcPts val="0"/>
                </a:spcBef>
                <a:spcAft>
                  <a:spcPts val="0"/>
                </a:spcAft>
                <a:buNone/>
              </a:pPr>
              <a:r>
                <a:rPr b="1" lang="en" sz="1200">
                  <a:solidFill>
                    <a:srgbClr val="FFFFFF"/>
                  </a:solidFill>
                  <a:latin typeface="Raleway"/>
                  <a:ea typeface="Raleway"/>
                  <a:cs typeface="Raleway"/>
                  <a:sym typeface="Raleway"/>
                </a:rPr>
                <a:t>Terapkan wawasan yang telah Anda temukan. Aplikasikan perubahan yang diperlukan pada desain produk Anda. Ingatlah bahwa pengujian kegunaan adalah proses berulang dan Anda perlu memvalidasi keputusan desain Anda dengan pengguna target (mungkin lebih dari dua kali).</a:t>
              </a:r>
              <a:endParaRPr b="1" sz="1200">
                <a:solidFill>
                  <a:srgbClr val="FFFFFF"/>
                </a:solidFill>
                <a:latin typeface="Raleway"/>
                <a:ea typeface="Raleway"/>
                <a:cs typeface="Raleway"/>
                <a:sym typeface="Raleway"/>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sp>
        <p:nvSpPr>
          <p:cNvPr id="204" name="Google Shape;204;p2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Best Practices</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i="1" lang="en" sz="1200">
                <a:solidFill>
                  <a:schemeClr val="dk1"/>
                </a:solidFill>
                <a:latin typeface="Raleway Medium"/>
                <a:ea typeface="Raleway Medium"/>
                <a:cs typeface="Raleway Medium"/>
                <a:sym typeface="Raleway Medium"/>
              </a:rPr>
              <a:t>Best practices</a:t>
            </a:r>
            <a:r>
              <a:rPr i="1" lang="en" sz="1200">
                <a:solidFill>
                  <a:schemeClr val="dk1"/>
                </a:solidFill>
                <a:latin typeface="Raleway Medium"/>
                <a:ea typeface="Raleway Medium"/>
                <a:cs typeface="Raleway Medium"/>
                <a:sym typeface="Raleway Medium"/>
              </a:rPr>
              <a:t> </a:t>
            </a:r>
            <a:r>
              <a:rPr lang="en" sz="1200">
                <a:solidFill>
                  <a:schemeClr val="dk1"/>
                </a:solidFill>
                <a:latin typeface="Raleway Medium"/>
                <a:ea typeface="Raleway Medium"/>
                <a:cs typeface="Raleway Medium"/>
                <a:sym typeface="Raleway Medium"/>
              </a:rPr>
              <a:t>adalah koleksi prosedur dan anjuran yang ditetapkan sebagai yang benar atau paling efektif.</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telusuri beberapa praktik terbaik saat melakukan pengujian kegunaan. </a:t>
            </a:r>
            <a:endParaRPr sz="1200">
              <a:solidFill>
                <a:schemeClr val="dk1"/>
              </a:solidFill>
              <a:latin typeface="Raleway Medium"/>
              <a:ea typeface="Raleway Medium"/>
              <a:cs typeface="Raleway Medium"/>
              <a:sym typeface="Raleway Medium"/>
            </a:endParaRPr>
          </a:p>
        </p:txBody>
      </p:sp>
      <p:pic>
        <p:nvPicPr>
          <p:cNvPr id="205" name="Google Shape;205;p29"/>
          <p:cNvPicPr preferRelativeResize="0"/>
          <p:nvPr/>
        </p:nvPicPr>
        <p:blipFill rotWithShape="1">
          <a:blip r:embed="rId3">
            <a:alphaModFix/>
          </a:blip>
          <a:srcRect b="9568" l="0" r="0" t="29796"/>
          <a:stretch/>
        </p:blipFill>
        <p:spPr>
          <a:xfrm>
            <a:off x="5486400" y="1207587"/>
            <a:ext cx="3017518" cy="274319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1" name="Google Shape;211;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sp>
        <p:nvSpPr>
          <p:cNvPr id="212" name="Google Shape;212;p3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Rancang tugas dengan baik</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Buat serangkaian tugas yang akan perlu dikerjakan oleh peserta tes dan buat tugas tersebut sejelas mungkin.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Anda mungkin perlu mengamati berbagai kesalahan atau tantangan yang dialami pengguna. Maka dari itu, sangatlah penting untuk membuat tugas serealistis mungkin.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Tugas harus dibuat berdasarkan skenario</a:t>
            </a:r>
            <a:r>
              <a:rPr lang="en" sz="1200">
                <a:solidFill>
                  <a:schemeClr val="dk1"/>
                </a:solidFill>
                <a:latin typeface="Raleway Medium"/>
                <a:ea typeface="Raleway Medium"/>
                <a:cs typeface="Raleway Medium"/>
                <a:sym typeface="Raleway Medium"/>
              </a:rPr>
              <a:t> nyata </a:t>
            </a:r>
            <a:r>
              <a:rPr lang="en" sz="1200">
                <a:solidFill>
                  <a:schemeClr val="dk1"/>
                </a:solidFill>
                <a:latin typeface="Raleway Medium"/>
                <a:ea typeface="Raleway Medium"/>
                <a:cs typeface="Raleway Medium"/>
                <a:sym typeface="Raleway Medium"/>
              </a:rPr>
              <a:t>interaksi dengan produk. Misalnya, untuk situs web eCommerce, tugasnya dapat memasukkan beberapa produk tertentu dalam sebuah keranjang belanja.</a:t>
            </a:r>
            <a:endParaRPr sz="1200">
              <a:solidFill>
                <a:schemeClr val="dk1"/>
              </a:solidFill>
              <a:latin typeface="Raleway Medium"/>
              <a:ea typeface="Raleway Medium"/>
              <a:cs typeface="Raleway Medium"/>
              <a:sym typeface="Raleway Medium"/>
            </a:endParaRPr>
          </a:p>
        </p:txBody>
      </p:sp>
      <p:pic>
        <p:nvPicPr>
          <p:cNvPr id="213" name="Google Shape;213;p30"/>
          <p:cNvPicPr preferRelativeResize="0"/>
          <p:nvPr/>
        </p:nvPicPr>
        <p:blipFill rotWithShape="1">
          <a:blip r:embed="rId3">
            <a:alphaModFix/>
          </a:blip>
          <a:srcRect b="0" l="13396" r="13396" t="0"/>
          <a:stretch/>
        </p:blipFill>
        <p:spPr>
          <a:xfrm>
            <a:off x="5486400" y="1207587"/>
            <a:ext cx="3017518" cy="274319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 name="Google Shape;219;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sp>
        <p:nvSpPr>
          <p:cNvPr id="220" name="Google Shape;220;p3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Pada saat yang sama, Anda juga perlu ingat bahwa Anda dan moderator tidak perlu mengarahkan pengguna.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Jangan mengatakan atau melakukan hal-hal yang dapat </a:t>
            </a:r>
            <a:r>
              <a:rPr lang="en" sz="1200">
                <a:solidFill>
                  <a:schemeClr val="dk1"/>
                </a:solidFill>
                <a:latin typeface="Raleway Medium"/>
                <a:ea typeface="Raleway Medium"/>
                <a:cs typeface="Raleway Medium"/>
                <a:sym typeface="Raleway Medium"/>
              </a:rPr>
              <a:t>mempengaruhi</a:t>
            </a:r>
            <a:r>
              <a:rPr lang="en" sz="1200">
                <a:solidFill>
                  <a:schemeClr val="dk1"/>
                </a:solidFill>
                <a:latin typeface="Raleway Medium"/>
                <a:ea typeface="Raleway Medium"/>
                <a:cs typeface="Raleway Medium"/>
                <a:sym typeface="Raleway Medium"/>
              </a:rPr>
              <a:t> perilaku alami pengguna. Misalnya, saat menguji alur pembelian produk di situs web eCommerce, sebaiknya hindari memberi tahu pengguna apa yang harus mereka lakukan untuk menemukan produk tertentu.</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itu, cobalah untuk merekam proses interaksi pengguna dan produk. Anda juga dapat menggunakan aplikasi seperti HotJar, yang dapat </a:t>
            </a:r>
            <a:r>
              <a:rPr lang="en" sz="1200">
                <a:solidFill>
                  <a:schemeClr val="dk1"/>
                </a:solidFill>
                <a:latin typeface="Raleway Medium"/>
                <a:ea typeface="Raleway Medium"/>
                <a:cs typeface="Raleway Medium"/>
                <a:sym typeface="Raleway Medium"/>
              </a:rPr>
              <a:t>mengidentifikasi titik-titik di mana pengguna menghadapi kesulitan dan </a:t>
            </a:r>
            <a:r>
              <a:rPr lang="en" sz="1200">
                <a:solidFill>
                  <a:schemeClr val="dk1"/>
                </a:solidFill>
                <a:latin typeface="Raleway Medium"/>
                <a:ea typeface="Raleway Medium"/>
                <a:cs typeface="Raleway Medium"/>
                <a:sym typeface="Raleway Medium"/>
              </a:rPr>
              <a:t>memberi Anda sesuatu untuk ditinjau kembali setelah pengujian berakhir. </a:t>
            </a:r>
            <a:endParaRPr sz="1200">
              <a:solidFill>
                <a:schemeClr val="dk1"/>
              </a:solidFill>
              <a:latin typeface="Raleway Medium"/>
              <a:ea typeface="Raleway Medium"/>
              <a:cs typeface="Raleway Medium"/>
              <a:sym typeface="Raleway Medium"/>
            </a:endParaRPr>
          </a:p>
        </p:txBody>
      </p:sp>
      <p:pic>
        <p:nvPicPr>
          <p:cNvPr id="221" name="Google Shape;221;p31"/>
          <p:cNvPicPr preferRelativeResize="0"/>
          <p:nvPr/>
        </p:nvPicPr>
        <p:blipFill rotWithShape="1">
          <a:blip r:embed="rId3">
            <a:alphaModFix/>
          </a:blip>
          <a:srcRect b="0" l="13396" r="13396" t="0"/>
          <a:stretch/>
        </p:blipFill>
        <p:spPr>
          <a:xfrm>
            <a:off x="5486400" y="1207587"/>
            <a:ext cx="3017518" cy="27431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7" name="Google Shape;227;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sp>
        <p:nvSpPr>
          <p:cNvPr id="228" name="Google Shape;228;p3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Tim desain, atau perwakilan dari tim desain, perlu dilibatkan dalam pengujian kegunaan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Kenapa? Karena </a:t>
            </a:r>
            <a:r>
              <a:rPr lang="en" sz="1200">
                <a:solidFill>
                  <a:schemeClr val="dk1"/>
                </a:solidFill>
                <a:latin typeface="Raleway Medium"/>
                <a:ea typeface="Raleway Medium"/>
                <a:cs typeface="Raleway Medium"/>
                <a:sym typeface="Raleway Medium"/>
              </a:rPr>
              <a:t>empati. Dengan dilibatkan, tim desain mampu melihat secara langsung bagaimana pengguna berinteraksi dengan produk dan masalah apa yang mereka hadapi.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Keterlibatan tim desain akan lebih bermanfaat kedepannya daripada hanya memberikan mereka laporan tentang masalah kegunaan yang pengguna alami.</a:t>
            </a:r>
            <a:endParaRPr sz="1200">
              <a:solidFill>
                <a:schemeClr val="dk1"/>
              </a:solidFill>
              <a:latin typeface="Raleway Medium"/>
              <a:ea typeface="Raleway Medium"/>
              <a:cs typeface="Raleway Medium"/>
              <a:sym typeface="Raleway Medium"/>
            </a:endParaRPr>
          </a:p>
        </p:txBody>
      </p:sp>
      <p:pic>
        <p:nvPicPr>
          <p:cNvPr id="229" name="Google Shape;229;p32"/>
          <p:cNvPicPr preferRelativeResize="0"/>
          <p:nvPr/>
        </p:nvPicPr>
        <p:blipFill rotWithShape="1">
          <a:blip r:embed="rId3">
            <a:alphaModFix/>
          </a:blip>
          <a:srcRect b="0" l="22617" r="4068" t="0"/>
          <a:stretch/>
        </p:blipFill>
        <p:spPr>
          <a:xfrm>
            <a:off x="5486400" y="1207587"/>
            <a:ext cx="3017518" cy="27432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5" name="Google Shape;235;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sp>
        <p:nvSpPr>
          <p:cNvPr id="236" name="Google Shape;236;p3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 Lakukan wawancara singkat setelah sesi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Obrolan singkat dengan peserta tes setelah sesi pengujian terkadang dapat mengungkapkan wawasan - wawasan yang menarik.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Jadwalkan 10-15 menit untuk mengajukan beberapa pertanyaan sederhana tentang produk, tugas yang dilakukan, dan kesan - kesan keseluruhan yang dimiliki oleh peserta. </a:t>
            </a:r>
            <a:endParaRPr sz="1200">
              <a:solidFill>
                <a:schemeClr val="dk1"/>
              </a:solidFill>
              <a:latin typeface="Raleway Medium"/>
              <a:ea typeface="Raleway Medium"/>
              <a:cs typeface="Raleway Medium"/>
              <a:sym typeface="Raleway Medium"/>
            </a:endParaRPr>
          </a:p>
        </p:txBody>
      </p:sp>
      <p:pic>
        <p:nvPicPr>
          <p:cNvPr id="237" name="Google Shape;237;p33"/>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3" name="Google Shape;243;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Usability testing</a:t>
            </a:r>
            <a:endParaRPr/>
          </a:p>
        </p:txBody>
      </p:sp>
      <p:sp>
        <p:nvSpPr>
          <p:cNvPr id="244" name="Google Shape;244;p3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Ingatlah!</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Tujuan pengujian kegunaan adalah untuk memastikan bahwa pengguna dapat menggunakan produk Anda.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Maka dari itu, pengujian kegunaan perlu dilibatkan dalam proses desain sejak awal dan dipertimbangkan pada sepanjang jalan proses.</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5"/>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Memilih populasi dan sampel</a:t>
            </a:r>
            <a:endParaRPr/>
          </a:p>
        </p:txBody>
      </p:sp>
      <p:sp>
        <p:nvSpPr>
          <p:cNvPr id="250" name="Google Shape;250;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populasi dan sampel</a:t>
            </a:r>
            <a:endParaRPr/>
          </a:p>
        </p:txBody>
      </p:sp>
      <p:sp>
        <p:nvSpPr>
          <p:cNvPr id="257" name="Google Shape;257;p3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Populasi vs sampel</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Populasi adalah keseluruhan kelompok yang ingin Anda jadikan target dari produk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Sampel adalah kelompok tertentu yang akan Anda kumpulkan datanya. Ukuran sampel selalu lebih kecil dari ukuran total populasi.</a:t>
            </a:r>
            <a:endParaRPr sz="1200">
              <a:solidFill>
                <a:schemeClr val="dk1"/>
              </a:solidFill>
              <a:latin typeface="Raleway Medium"/>
              <a:ea typeface="Raleway Medium"/>
              <a:cs typeface="Raleway Medium"/>
              <a:sym typeface="Raleway Medium"/>
            </a:endParaRPr>
          </a:p>
        </p:txBody>
      </p:sp>
      <p:pic>
        <p:nvPicPr>
          <p:cNvPr id="258" name="Google Shape;258;p36"/>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populasi dan sampel</a:t>
            </a:r>
            <a:endParaRPr/>
          </a:p>
        </p:txBody>
      </p:sp>
      <p:sp>
        <p:nvSpPr>
          <p:cNvPr id="265" name="Google Shape;265;p3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Memilih populasi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Ingat user persona? Populasi Anda bisa ditarik dari user persona yang Anda buat. Setelah Anda mengetahui persona dari target pengguna Anda, baru Anda dapat menari sampel.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Sebuah pengujian dapat benar-benar bermanfaat jika hasilnya dapat diandalkan dan mewakili tujuan produk sekaligus bisnis Anda.</a:t>
            </a:r>
            <a:endParaRPr sz="1200">
              <a:solidFill>
                <a:schemeClr val="dk1"/>
              </a:solidFill>
              <a:latin typeface="Raleway Medium"/>
              <a:ea typeface="Raleway Medium"/>
              <a:cs typeface="Raleway Medium"/>
              <a:sym typeface="Raleway Medium"/>
            </a:endParaRPr>
          </a:p>
        </p:txBody>
      </p:sp>
      <p:pic>
        <p:nvPicPr>
          <p:cNvPr id="266" name="Google Shape;266;p37"/>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2" name="Google Shape;272;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populasi dan sampel</a:t>
            </a:r>
            <a:endParaRPr/>
          </a:p>
        </p:txBody>
      </p:sp>
      <p:sp>
        <p:nvSpPr>
          <p:cNvPr id="273" name="Google Shape;273;p3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Menarik dan memilih</a:t>
            </a:r>
            <a:r>
              <a:rPr b="1" lang="en" sz="1800">
                <a:solidFill>
                  <a:srgbClr val="743673"/>
                </a:solidFill>
                <a:highlight>
                  <a:schemeClr val="lt1"/>
                </a:highlight>
                <a:latin typeface="Raleway"/>
                <a:ea typeface="Raleway"/>
                <a:cs typeface="Raleway"/>
                <a:sym typeface="Raleway"/>
              </a:rPr>
              <a:t> sampel</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Peserta</a:t>
            </a:r>
            <a:r>
              <a:rPr lang="en" sz="1200">
                <a:solidFill>
                  <a:schemeClr val="dk1"/>
                </a:solidFill>
                <a:latin typeface="Raleway Medium"/>
                <a:ea typeface="Raleway Medium"/>
                <a:cs typeface="Raleway Medium"/>
                <a:sym typeface="Raleway Medium"/>
              </a:rPr>
              <a:t> pengujian yang ideal adalah orang yang benar - benar akan menggunakan produk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Seringkali, Anda tidak membutuhkan ukuran sampel yang besar saat menguji sebuah prototipe. Tiga sampai lima orang dapat membantu Anda memahami masalah - masalah dan pola masalah pada produk Anda.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Jakob Nielsen membuktikan hal ini dalam artikelnya yang berjudulkan </a:t>
            </a:r>
            <a:r>
              <a:rPr lang="en" sz="1200" u="sng">
                <a:solidFill>
                  <a:schemeClr val="hlink"/>
                </a:solidFill>
                <a:latin typeface="Raleway Medium"/>
                <a:ea typeface="Raleway Medium"/>
                <a:cs typeface="Raleway Medium"/>
                <a:sym typeface="Raleway Medium"/>
                <a:hlinkClick r:id="rId3"/>
              </a:rPr>
              <a:t>Mengapa Anda Hanya Perlu Menguji dengan 5 Pengguna. </a:t>
            </a:r>
            <a:endParaRPr sz="1200">
              <a:solidFill>
                <a:schemeClr val="dk1"/>
              </a:solidFill>
              <a:latin typeface="Raleway Medium"/>
              <a:ea typeface="Raleway Medium"/>
              <a:cs typeface="Raleway Medium"/>
              <a:sym typeface="Raleway Medium"/>
            </a:endParaRPr>
          </a:p>
        </p:txBody>
      </p:sp>
      <p:pic>
        <p:nvPicPr>
          <p:cNvPr id="274" name="Google Shape;274;p38"/>
          <p:cNvPicPr preferRelativeResize="0"/>
          <p:nvPr/>
        </p:nvPicPr>
        <p:blipFill rotWithShape="1">
          <a:blip r:embed="rId4">
            <a:alphaModFix/>
          </a:blip>
          <a:srcRect b="0" l="17497" r="20628" t="0"/>
          <a:stretch/>
        </p:blipFill>
        <p:spPr>
          <a:xfrm>
            <a:off x="5486400" y="1207587"/>
            <a:ext cx="3017518" cy="27432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0" name="Google Shape;280;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Memilih populasi dan sampel</a:t>
            </a:r>
            <a:endParaRPr/>
          </a:p>
        </p:txBody>
      </p:sp>
      <p:sp>
        <p:nvSpPr>
          <p:cNvPr id="281" name="Google Shape;281;p3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Ingatlah!</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t>
            </a:r>
            <a:r>
              <a:rPr lang="en" sz="1200">
                <a:solidFill>
                  <a:schemeClr val="dk1"/>
                </a:solidFill>
                <a:latin typeface="Raleway Medium"/>
                <a:ea typeface="Raleway Medium"/>
                <a:cs typeface="Raleway Medium"/>
                <a:sym typeface="Raleway Medium"/>
              </a:rPr>
              <a:t>astikan untuk melakukan pengujian QA (Quality Assurance) yang ekstensif sebelum melakukan pengujian kegunaan apa pun atau Anda akan membuang banyak waktu orang, termasuk waktu Anda sendiri.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Jika ada bagian dari produk Anda belum selesai, jangan membuat tugas pengujian yang memerlukan interaksi dengannya atau jelaskan kepada peserta uji bahwa elemen tersebut belum selesai.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0"/>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Menghindari bias</a:t>
            </a:r>
            <a:endParaRPr/>
          </a:p>
        </p:txBody>
      </p:sp>
      <p:sp>
        <p:nvSpPr>
          <p:cNvPr id="287" name="Google Shape;287;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294" name="Google Shape;294;p4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Ingat dengan bias?</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Tujuan pengujian pengguna adalah untuk mengumpulkan </a:t>
            </a: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yang jujur dan tanpa filter tentang kegunaan produk Anda. Tantangannya adalah untuk mendapatkan </a:t>
            </a: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seperti itu, peneliti harus membuat sesi pengujian yang familiar dan menguji peserta yang tepat.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tugas yang kita berikan sesi pengujian kita adakan penuh dengan ketidakjelasan, maka hasil pengujian dapat dipenuhi dengan bias.  Bias yang perlu kita hindari disini adalah </a:t>
            </a:r>
            <a:r>
              <a:rPr lang="en" sz="1200">
                <a:solidFill>
                  <a:schemeClr val="dk1"/>
                </a:solidFill>
                <a:latin typeface="Raleway Medium"/>
                <a:ea typeface="Raleway Medium"/>
                <a:cs typeface="Raleway Medium"/>
                <a:sym typeface="Raleway Medium"/>
              </a:rPr>
              <a:t>kecenderungan pengguna terhadap perilaku mereka saat menggunakan produk yang disebabkan oleh kelalaian kita dalam merencanakan tugas dan sesi pengujian. </a:t>
            </a:r>
            <a:endParaRPr sz="1200">
              <a:solidFill>
                <a:schemeClr val="dk1"/>
              </a:solidFill>
              <a:latin typeface="Raleway Medium"/>
              <a:ea typeface="Raleway Medium"/>
              <a:cs typeface="Raleway Medium"/>
              <a:sym typeface="Raleway Medium"/>
            </a:endParaRPr>
          </a:p>
        </p:txBody>
      </p:sp>
      <p:pic>
        <p:nvPicPr>
          <p:cNvPr id="295" name="Google Shape;295;p41"/>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02" name="Google Shape;302;p4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Bagaimana kita menghindari bias dalam usability testing?</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Mari kita telusuri 10 langkah yang dapat kita ambil dalam merencanakan pengujian dengan efektif dan menghindari bias.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03" name="Google Shape;303;p42"/>
          <p:cNvPicPr preferRelativeResize="0"/>
          <p:nvPr/>
        </p:nvPicPr>
        <p:blipFill rotWithShape="1">
          <a:blip r:embed="rId3">
            <a:alphaModFix/>
          </a:blip>
          <a:srcRect b="0" l="6540" r="31586" t="0"/>
          <a:stretch/>
        </p:blipFill>
        <p:spPr>
          <a:xfrm>
            <a:off x="5486400" y="1207587"/>
            <a:ext cx="3017518" cy="274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10" name="Google Shape;310;p4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t>
            </a:r>
            <a:r>
              <a:rPr b="1" lang="en" sz="1800">
                <a:solidFill>
                  <a:srgbClr val="743673"/>
                </a:solidFill>
                <a:highlight>
                  <a:schemeClr val="lt1"/>
                </a:highlight>
                <a:latin typeface="Raleway"/>
                <a:ea typeface="Raleway"/>
                <a:cs typeface="Raleway"/>
                <a:sym typeface="Raleway"/>
              </a:rPr>
              <a:t>Ajukan pertanyaan terbuka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bertanya kepada peserta tentang pendapat, preferensi, dan niat mereka, buat pertanyaan Anda tetap terbuka daripada menyajikan pilihan ini-atau-itu.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Misalnya, alih-alih bertanya, “Apakah Anda akan lebih cenderung menghubungi penjual melalui nomor telepon atau formulir kontak?” coba tanyakan “Bagaimana Anda akan menghubungi penjualnya?”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Mengajukan pertanyaan terbuka memungkinkan pengguna Anda untuk merespons dengan cara yang mungkin tidak Anda pikirkan. Dengan begitu, jawaban yang Anda kumpulkan tidak terpengaruh oleh asumsi Anda sendiri.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p:txBody>
      </p:sp>
      <p:pic>
        <p:nvPicPr>
          <p:cNvPr id="311" name="Google Shape;311;p43"/>
          <p:cNvPicPr preferRelativeResize="0"/>
          <p:nvPr/>
        </p:nvPicPr>
        <p:blipFill rotWithShape="1">
          <a:blip r:embed="rId3">
            <a:alphaModFix/>
          </a:blip>
          <a:srcRect b="16335" l="0" r="0" t="23073"/>
          <a:stretch/>
        </p:blipFill>
        <p:spPr>
          <a:xfrm>
            <a:off x="5486400" y="1207587"/>
            <a:ext cx="3017517" cy="274319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7" name="Google Shape;317;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18" name="Google Shape;318;p4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a:t>
            </a:r>
            <a:r>
              <a:rPr b="1" lang="en" sz="1800">
                <a:solidFill>
                  <a:srgbClr val="743673"/>
                </a:solidFill>
                <a:highlight>
                  <a:schemeClr val="lt1"/>
                </a:highlight>
                <a:latin typeface="Raleway"/>
                <a:ea typeface="Raleway"/>
                <a:cs typeface="Raleway"/>
                <a:sym typeface="Raleway"/>
              </a:rPr>
              <a:t>) Buatlah tugas sebagai tujuan, bukan instruksi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Logika yang mendasari aturan ini sangat mirip dengan #1. Contohnya: daripada mengatakan “Temukan tautan ke informasi bantuan keuangan pada menu navigasi”, ucapkan tugas sebagai “Pelajari lebih lanjut tentang program bantuan keuangan.”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Jika Anda</a:t>
            </a:r>
            <a:r>
              <a:rPr lang="en" sz="1200">
                <a:solidFill>
                  <a:schemeClr val="dk1"/>
                </a:solidFill>
                <a:latin typeface="Raleway Medium"/>
                <a:ea typeface="Raleway Medium"/>
                <a:cs typeface="Raleway Medium"/>
                <a:sym typeface="Raleway Medium"/>
              </a:rPr>
              <a:t> memberi tahu pengguna cara menyelesaikan tugas, Anda kehilangan kesempatan untuk mempelajari apa yang akan mereka lakukan secara alami. </a:t>
            </a:r>
            <a:endParaRPr sz="1200">
              <a:solidFill>
                <a:schemeClr val="dk1"/>
              </a:solidFill>
              <a:latin typeface="Raleway Medium"/>
              <a:ea typeface="Raleway Medium"/>
              <a:cs typeface="Raleway Medium"/>
              <a:sym typeface="Raleway Medium"/>
            </a:endParaRPr>
          </a:p>
        </p:txBody>
      </p:sp>
      <p:pic>
        <p:nvPicPr>
          <p:cNvPr id="319" name="Google Shape;319;p44"/>
          <p:cNvPicPr preferRelativeResize="0"/>
          <p:nvPr/>
        </p:nvPicPr>
        <p:blipFill rotWithShape="1">
          <a:blip r:embed="rId3">
            <a:alphaModFix/>
          </a:blip>
          <a:srcRect b="1175" l="0" r="0" t="38233"/>
          <a:stretch/>
        </p:blipFill>
        <p:spPr>
          <a:xfrm>
            <a:off x="5486400" y="1207587"/>
            <a:ext cx="3017517" cy="274319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5" name="Google Shape;325;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26" name="Google Shape;326;p4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Jangan mendorong pengguna ke arah hasil tertentu</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Selalu ada godaan untuk mencoba dan mendorong atau membujuk pengguna untuk memberikan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yang mengkonfirmasi hipotesis Anda sendiri.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Jika Anda mencurigai elemen atau aliran tertentu memiliki masalah kegunaan, jangan memasukkannya ke dalam skrip tugas Anda, atau menekan pengguna untuk mengatakan sesuatu tentangnya.</a:t>
            </a:r>
            <a:endParaRPr sz="1200">
              <a:solidFill>
                <a:schemeClr val="dk1"/>
              </a:solidFill>
              <a:latin typeface="Raleway Medium"/>
              <a:ea typeface="Raleway Medium"/>
              <a:cs typeface="Raleway Medium"/>
              <a:sym typeface="Raleway Medium"/>
            </a:endParaRPr>
          </a:p>
        </p:txBody>
      </p:sp>
      <p:pic>
        <p:nvPicPr>
          <p:cNvPr id="327" name="Google Shape;327;p45"/>
          <p:cNvPicPr preferRelativeResize="0"/>
          <p:nvPr/>
        </p:nvPicPr>
        <p:blipFill rotWithShape="1">
          <a:blip r:embed="rId3">
            <a:alphaModFix/>
          </a:blip>
          <a:srcRect b="0" l="13396" r="13396" t="0"/>
          <a:stretch/>
        </p:blipFill>
        <p:spPr>
          <a:xfrm>
            <a:off x="5486400" y="1207587"/>
            <a:ext cx="3017518" cy="27432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3" name="Google Shape;333;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34" name="Google Shape;334;p4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Cobalah untuk menyusun skrip tugas Anda dengan cara yang akan mengarahkan pengguna untuk terlibat dengan elemen yang Anda inginkan secara organik, dan kemudian amati pengalaman mereka dengan elemen tersebut. Jika ada masalah, kemungkinan besar mereka akan mengungkitnya.</a:t>
            </a:r>
            <a:endParaRPr sz="1200">
              <a:solidFill>
                <a:schemeClr val="dk1"/>
              </a:solidFill>
              <a:latin typeface="Raleway Medium"/>
              <a:ea typeface="Raleway Medium"/>
              <a:cs typeface="Raleway Medium"/>
              <a:sym typeface="Raleway Medium"/>
            </a:endParaRPr>
          </a:p>
        </p:txBody>
      </p:sp>
      <p:pic>
        <p:nvPicPr>
          <p:cNvPr id="335" name="Google Shape;335;p46"/>
          <p:cNvPicPr preferRelativeResize="0"/>
          <p:nvPr/>
        </p:nvPicPr>
        <p:blipFill rotWithShape="1">
          <a:blip r:embed="rId3">
            <a:alphaModFix/>
          </a:blip>
          <a:srcRect b="0" l="13396" r="13396" t="0"/>
          <a:stretch/>
        </p:blipFill>
        <p:spPr>
          <a:xfrm>
            <a:off x="5486400" y="1207587"/>
            <a:ext cx="3017518" cy="27432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1" name="Google Shape;341;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42" name="Google Shape;342;p4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Gunakan nada yang netral saat menulis tugas Anda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Anda menulis skrip tugas, gunakan pilihan kata yang jelas, sederhana, dan netral. Jangan mencoba bersikap ramah atau lucu; jika pengguna merasakan hubungan manusiawi dengan peneliti, mereka akan lebih sulit bersikap kritis. Anda membutuhkan kejujuran yang brutal dari penguji pengguna Anda, jadi hindari menambahkan kepribadian ke skrip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Di sisi lain, jangan terlalu formal atau kaku. Pilihan kata yang terlalu teknis bisa sulit dipahami oleh pengguna biasa, dan dapat menyebabkan salah tafsir. Jauhi istilah industri atau perusahaan.</a:t>
            </a:r>
            <a:endParaRPr sz="1200">
              <a:solidFill>
                <a:schemeClr val="dk1"/>
              </a:solidFill>
              <a:latin typeface="Raleway Medium"/>
              <a:ea typeface="Raleway Medium"/>
              <a:cs typeface="Raleway Medium"/>
              <a:sym typeface="Raleway Medium"/>
            </a:endParaRPr>
          </a:p>
        </p:txBody>
      </p:sp>
      <p:pic>
        <p:nvPicPr>
          <p:cNvPr id="343" name="Google Shape;343;p47"/>
          <p:cNvPicPr preferRelativeResize="0"/>
          <p:nvPr/>
        </p:nvPicPr>
        <p:blipFill rotWithShape="1">
          <a:blip r:embed="rId3">
            <a:alphaModFix/>
          </a:blip>
          <a:srcRect b="0" l="13396" r="13396" t="0"/>
          <a:stretch/>
        </p:blipFill>
        <p:spPr>
          <a:xfrm>
            <a:off x="5486400" y="1207587"/>
            <a:ext cx="3017518" cy="2743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9" name="Google Shape;349;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50" name="Google Shape;350;p4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Dasarkan alur pengujian dengan data pengguna nyata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Anda menulis skrip tugas untuk pengujian pengguna, pastikan perkembangan tindakan dan sasaran pengguna konsisten dengan cara orang benar-benar menggunakan situs atau aplikasi Anda – bukan hanya menurut Anda cara mereka menggunakannya, atau cara Anda ingin mereka menggunakannya.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Data dari Google Analytics dan alat pemutaran ulang seperti FullStory, TryMyUI Stream, atau Hotjar dapat membantu Anda mengumpulkan wawasan tentang alur pengguna yang realistis.</a:t>
            </a:r>
            <a:endParaRPr sz="1200">
              <a:solidFill>
                <a:schemeClr val="dk1"/>
              </a:solidFill>
              <a:latin typeface="Raleway Medium"/>
              <a:ea typeface="Raleway Medium"/>
              <a:cs typeface="Raleway Medium"/>
              <a:sym typeface="Raleway Medium"/>
            </a:endParaRPr>
          </a:p>
        </p:txBody>
      </p:sp>
      <p:pic>
        <p:nvPicPr>
          <p:cNvPr id="351" name="Google Shape;351;p48"/>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7" name="Google Shape;357;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58" name="Google Shape;358;p4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6</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Uji produk pesaing untuk referensi</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Melihat apa yang disukai dan tidak disukai pengguna di platform lain sangatlah berguna saat Anda mengevaluasi cara meningkatkan UX platform Anda sendiri. Aktivitas tersebut juga dapat memberi Anda pemahaman yang lebih baik tentang fitur dan praktik apa yang paling penting bagi pengguna, dan mengenal apa yang pengguna harapkan dari produk atau perusahaan Anda.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J</a:t>
            </a:r>
            <a:r>
              <a:rPr lang="en" sz="1200">
                <a:solidFill>
                  <a:schemeClr val="dk1"/>
                </a:solidFill>
                <a:latin typeface="Raleway Medium"/>
                <a:ea typeface="Raleway Medium"/>
                <a:cs typeface="Raleway Medium"/>
                <a:sym typeface="Raleway Medium"/>
              </a:rPr>
              <a:t>ika Anda tidak menguji platform pesaing Anda, tanyakan kepada pengguna platform lain apa yang biasanya mereka gunakan. Ini akan membantu Anda memahami dan memperhitungkan prasangka yang mungkin mereka miliki saat mendengarkan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 mereka. </a:t>
            </a:r>
            <a:endParaRPr sz="1200">
              <a:solidFill>
                <a:schemeClr val="dk1"/>
              </a:solidFill>
              <a:latin typeface="Raleway Medium"/>
              <a:ea typeface="Raleway Medium"/>
              <a:cs typeface="Raleway Medium"/>
              <a:sym typeface="Raleway Medium"/>
            </a:endParaRPr>
          </a:p>
        </p:txBody>
      </p:sp>
      <p:pic>
        <p:nvPicPr>
          <p:cNvPr id="359" name="Google Shape;359;p49"/>
          <p:cNvPicPr preferRelativeResize="0"/>
          <p:nvPr/>
        </p:nvPicPr>
        <p:blipFill rotWithShape="1">
          <a:blip r:embed="rId3">
            <a:alphaModFix/>
          </a:blip>
          <a:srcRect b="0" l="7747" r="18884" t="0"/>
          <a:stretch/>
        </p:blipFill>
        <p:spPr>
          <a:xfrm>
            <a:off x="5486400" y="1207587"/>
            <a:ext cx="3017518" cy="2743198"/>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3" name="Shape 363"/>
        <p:cNvGrpSpPr/>
        <p:nvPr/>
      </p:nvGrpSpPr>
      <p:grpSpPr>
        <a:xfrm>
          <a:off x="0" y="0"/>
          <a:ext cx="0" cy="0"/>
          <a:chOff x="0" y="0"/>
          <a:chExt cx="0" cy="0"/>
        </a:xfrm>
      </p:grpSpPr>
      <p:sp>
        <p:nvSpPr>
          <p:cNvPr id="364" name="Google Shape;364;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5" name="Google Shape;365;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66" name="Google Shape;366;p5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7</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Tanyakan kepada pengguna apa yang penting bagi mereka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Anda meminta pengguna untuk membuat penilaian tentang sesuatu, selidiki lebih lanjut dan tanyakan mengapa mereka membuat pilihan tersebut.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M</a:t>
            </a:r>
            <a:r>
              <a:rPr lang="en" sz="1200">
                <a:solidFill>
                  <a:schemeClr val="dk1"/>
                </a:solidFill>
                <a:latin typeface="Raleway Medium"/>
                <a:ea typeface="Raleway Medium"/>
                <a:cs typeface="Raleway Medium"/>
                <a:sym typeface="Raleway Medium"/>
              </a:rPr>
              <a:t>isalnya, Anda meminta pengguna untuk memilih sweater yang mereka sukai dari daftar produk Anda. Pastikan mereka melihat foto dan detail produk, memeriksa warna dan ukuran yang tersedia, dan membandingkannya dengan barang lain sebelum membuat keputusan. </a:t>
            </a:r>
            <a:endParaRPr sz="1200">
              <a:solidFill>
                <a:schemeClr val="dk1"/>
              </a:solidFill>
              <a:latin typeface="Raleway Medium"/>
              <a:ea typeface="Raleway Medium"/>
              <a:cs typeface="Raleway Medium"/>
              <a:sym typeface="Raleway Medium"/>
            </a:endParaRPr>
          </a:p>
        </p:txBody>
      </p:sp>
      <p:pic>
        <p:nvPicPr>
          <p:cNvPr id="367" name="Google Shape;367;p50"/>
          <p:cNvPicPr preferRelativeResize="0"/>
          <p:nvPr/>
        </p:nvPicPr>
        <p:blipFill rotWithShape="1">
          <a:blip r:embed="rId3">
            <a:alphaModFix/>
          </a:blip>
          <a:srcRect b="0" l="1082" r="17544" t="0"/>
          <a:stretch/>
        </p:blipFill>
        <p:spPr>
          <a:xfrm>
            <a:off x="5486400" y="1207587"/>
            <a:ext cx="3017518" cy="2743199"/>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3" name="Google Shape;373;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74" name="Google Shape;374;p5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Anda mungkin memiliki beberapa gagasan tentang faktor mana yang paling penting bagi pengguna; tetapi jika Anda bertanya kepada pengguna secara langsung, jawaban mereka mungkin berbeda dari apa yang Anda asumsikan.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Dengan bertanya secara langsung, Anda dapat menghindari penarikan kesimpulan yang bias dan mendengar apa yang sebenarnya </a:t>
            </a:r>
            <a:r>
              <a:rPr lang="en" sz="1200">
                <a:solidFill>
                  <a:schemeClr val="dk1"/>
                </a:solidFill>
                <a:latin typeface="Raleway Medium"/>
                <a:ea typeface="Raleway Medium"/>
                <a:cs typeface="Raleway Medium"/>
                <a:sym typeface="Raleway Medium"/>
              </a:rPr>
              <a:t>terjadi</a:t>
            </a:r>
            <a:r>
              <a:rPr lang="en" sz="1200">
                <a:solidFill>
                  <a:schemeClr val="dk1"/>
                </a:solidFill>
                <a:latin typeface="Raleway Medium"/>
                <a:ea typeface="Raleway Medium"/>
                <a:cs typeface="Raleway Medium"/>
                <a:sym typeface="Raleway Medium"/>
              </a:rPr>
              <a:t> pada benak pengguna.</a:t>
            </a:r>
            <a:endParaRPr sz="1200">
              <a:solidFill>
                <a:schemeClr val="dk1"/>
              </a:solidFill>
              <a:latin typeface="Raleway Medium"/>
              <a:ea typeface="Raleway Medium"/>
              <a:cs typeface="Raleway Medium"/>
              <a:sym typeface="Raleway Medium"/>
            </a:endParaRPr>
          </a:p>
        </p:txBody>
      </p:sp>
      <p:pic>
        <p:nvPicPr>
          <p:cNvPr id="375" name="Google Shape;375;p51"/>
          <p:cNvPicPr preferRelativeResize="0"/>
          <p:nvPr/>
        </p:nvPicPr>
        <p:blipFill rotWithShape="1">
          <a:blip r:embed="rId3">
            <a:alphaModFix/>
          </a:blip>
          <a:srcRect b="0" l="1082" r="17544" t="0"/>
          <a:stretch/>
        </p:blipFill>
        <p:spPr>
          <a:xfrm>
            <a:off x="5486400" y="1207587"/>
            <a:ext cx="3017518" cy="2743199"/>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1" name="Google Shape;381;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82" name="Google Shape;382;p5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8</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Kumpulkan metrik kuantitatif</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Salah satu cara terbaik untuk memperbaiki bias Anda dan melihat secara objektif hasil pengujian pengguna Anda adalah dengan mengumpulkan data kuantitatif.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Apa pun praduga dan asumsi Anda, metrik numerik yang diambil dari pengguna saat pengujian seperti kegunaan tugas, tingkat penyelesaian, dan durasi memungkinkan Anda untuk membandingkan secara langsung bagian dari pengalaman pengguna.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A</a:t>
            </a:r>
            <a:r>
              <a:rPr lang="en" sz="1200">
                <a:solidFill>
                  <a:schemeClr val="dk1"/>
                </a:solidFill>
                <a:latin typeface="Raleway Medium"/>
                <a:ea typeface="Raleway Medium"/>
                <a:cs typeface="Raleway Medium"/>
                <a:sym typeface="Raleway Medium"/>
              </a:rPr>
              <a:t>nda juga dapat menggunakannya untuk mengevaluasi dan mengukur dampak perubahan desain Anda pada pengalaman pengguna.</a:t>
            </a:r>
            <a:endParaRPr sz="1200">
              <a:solidFill>
                <a:schemeClr val="dk1"/>
              </a:solidFill>
              <a:latin typeface="Raleway Medium"/>
              <a:ea typeface="Raleway Medium"/>
              <a:cs typeface="Raleway Medium"/>
              <a:sym typeface="Raleway Medium"/>
            </a:endParaRPr>
          </a:p>
        </p:txBody>
      </p:sp>
      <p:pic>
        <p:nvPicPr>
          <p:cNvPr id="383" name="Google Shape;383;p52"/>
          <p:cNvPicPr preferRelativeResize="0"/>
          <p:nvPr/>
        </p:nvPicPr>
        <p:blipFill rotWithShape="1">
          <a:blip r:embed="rId3">
            <a:alphaModFix/>
          </a:blip>
          <a:srcRect b="0" l="13583" r="13583" t="0"/>
          <a:stretch/>
        </p:blipFill>
        <p:spPr>
          <a:xfrm>
            <a:off x="5486400" y="1207587"/>
            <a:ext cx="3017518" cy="27431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9" name="Google Shape;389;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90" name="Google Shape;390;p5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9</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Tentukan metode untuk menimbang temuan Anda secara objektif </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Selain metrik pengujian pengguna yang numerik, Anda bisa menggunakan sebuah </a:t>
            </a:r>
            <a:r>
              <a:rPr lang="en" sz="1200">
                <a:solidFill>
                  <a:schemeClr val="hlink"/>
                </a:solidFill>
                <a:uFill>
                  <a:noFill/>
                </a:uFill>
                <a:latin typeface="Raleway Medium"/>
                <a:ea typeface="Raleway Medium"/>
                <a:cs typeface="Raleway Medium"/>
                <a:sym typeface="Raleway Medium"/>
                <a:hlinkClick r:id="rId3"/>
              </a:rPr>
              <a:t>word cloud</a:t>
            </a:r>
            <a:r>
              <a:rPr lang="en" sz="1200">
                <a:solidFill>
                  <a:schemeClr val="dk1"/>
                </a:solidFill>
                <a:latin typeface="Raleway Medium"/>
                <a:ea typeface="Raleway Medium"/>
                <a:cs typeface="Raleway Medium"/>
                <a:sym typeface="Raleway Medium"/>
              </a:rPr>
              <a:t>: saat Anda menonton ulang video pengujian, tuliskan masalah yang muncul pada sebuah cloud yang besar.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Klik kalimat dibawah, sebuah artikel untuk mengerti cara menggunakan word cloud lebih lanjut: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u="sng">
                <a:solidFill>
                  <a:schemeClr val="hlink"/>
                </a:solidFill>
                <a:latin typeface="Raleway Medium"/>
                <a:ea typeface="Raleway Medium"/>
                <a:cs typeface="Raleway Medium"/>
                <a:sym typeface="Raleway Medium"/>
                <a:hlinkClick r:id="rId4"/>
              </a:rPr>
              <a:t>Understanding users first impressions of website</a:t>
            </a:r>
            <a:endParaRPr sz="1200">
              <a:solidFill>
                <a:schemeClr val="dk1"/>
              </a:solidFill>
              <a:latin typeface="Raleway Medium"/>
              <a:ea typeface="Raleway Medium"/>
              <a:cs typeface="Raleway Medium"/>
              <a:sym typeface="Raleway Medium"/>
            </a:endParaRPr>
          </a:p>
        </p:txBody>
      </p:sp>
      <p:pic>
        <p:nvPicPr>
          <p:cNvPr id="391" name="Google Shape;391;p53"/>
          <p:cNvPicPr preferRelativeResize="0"/>
          <p:nvPr/>
        </p:nvPicPr>
        <p:blipFill rotWithShape="1">
          <a:blip r:embed="rId5">
            <a:alphaModFix/>
          </a:blip>
          <a:srcRect b="-26008" l="14100" r="11918" t="0"/>
          <a:stretch/>
        </p:blipFill>
        <p:spPr>
          <a:xfrm>
            <a:off x="5486400" y="1207587"/>
            <a:ext cx="3017519" cy="2743199"/>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7" name="Google Shape;397;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 bias</a:t>
            </a:r>
            <a:endParaRPr/>
          </a:p>
        </p:txBody>
      </p:sp>
      <p:sp>
        <p:nvSpPr>
          <p:cNvPr id="398" name="Google Shape;398;p5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10</a:t>
            </a:r>
            <a:r>
              <a:rPr b="1" lang="en" sz="1800">
                <a:solidFill>
                  <a:srgbClr val="743673"/>
                </a:solidFill>
                <a:highlight>
                  <a:schemeClr val="lt1"/>
                </a:highlight>
                <a:latin typeface="Raleway"/>
                <a:ea typeface="Raleway"/>
                <a:cs typeface="Raleway"/>
                <a:sym typeface="Raleway"/>
              </a:rPr>
              <a:t>) </a:t>
            </a:r>
            <a:r>
              <a:rPr b="1" lang="en" sz="1800">
                <a:solidFill>
                  <a:srgbClr val="743673"/>
                </a:solidFill>
                <a:highlight>
                  <a:schemeClr val="lt1"/>
                </a:highlight>
                <a:latin typeface="Raleway"/>
                <a:ea typeface="Raleway"/>
                <a:cs typeface="Raleway"/>
                <a:sym typeface="Raleway"/>
              </a:rPr>
              <a:t>Bandingkan catatan dengan rekan kerja</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Terakhir, jika memungkinkan, mintalah satu atau lebih rekan kerja untuk terlibat atau menonton video pengujian dan membuat catatan dan kesimpulan mereka sendiri.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Saat Anda menggabungkan perspektif beberapa orang, bias individu akan hilang dan Anda dapat melakukan triangulasi arti semua </a:t>
            </a:r>
            <a:r>
              <a:rPr i="1" lang="en" sz="1200">
                <a:solidFill>
                  <a:schemeClr val="dk1"/>
                </a:solidFill>
                <a:latin typeface="Raleway Medium"/>
                <a:ea typeface="Raleway Medium"/>
                <a:cs typeface="Raleway Medium"/>
                <a:sym typeface="Raleway Medium"/>
              </a:rPr>
              <a:t>feedback </a:t>
            </a:r>
            <a:r>
              <a:rPr lang="en" sz="1200">
                <a:solidFill>
                  <a:schemeClr val="dk1"/>
                </a:solidFill>
                <a:latin typeface="Raleway Medium"/>
                <a:ea typeface="Raleway Medium"/>
                <a:cs typeface="Raleway Medium"/>
                <a:sym typeface="Raleway Medium"/>
              </a:rPr>
              <a:t>pengguna dengan lebih akurat.</a:t>
            </a:r>
            <a:endParaRPr sz="1200">
              <a:solidFill>
                <a:schemeClr val="dk1"/>
              </a:solidFill>
              <a:latin typeface="Raleway Medium"/>
              <a:ea typeface="Raleway Medium"/>
              <a:cs typeface="Raleway Medium"/>
              <a:sym typeface="Raleway Medium"/>
            </a:endParaRPr>
          </a:p>
        </p:txBody>
      </p:sp>
      <p:pic>
        <p:nvPicPr>
          <p:cNvPr id="399" name="Google Shape;399;p54"/>
          <p:cNvPicPr preferRelativeResize="0"/>
          <p:nvPr/>
        </p:nvPicPr>
        <p:blipFill rotWithShape="1">
          <a:blip r:embed="rId3">
            <a:alphaModFix/>
          </a:blip>
          <a:srcRect b="0" l="13343" r="13343" t="0"/>
          <a:stretch/>
        </p:blipFill>
        <p:spPr>
          <a:xfrm>
            <a:off x="5486400" y="1207587"/>
            <a:ext cx="3017518" cy="27432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5" name="Google Shape;405;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Menghindari</a:t>
            </a:r>
            <a:r>
              <a:rPr lang="en"/>
              <a:t> bias</a:t>
            </a:r>
            <a:endParaRPr/>
          </a:p>
        </p:txBody>
      </p:sp>
      <p:sp>
        <p:nvSpPr>
          <p:cNvPr id="406" name="Google Shape;406;p5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rgbClr val="743673"/>
                </a:solidFill>
                <a:highlight>
                  <a:schemeClr val="lt1"/>
                </a:highlight>
                <a:latin typeface="Raleway"/>
                <a:ea typeface="Raleway"/>
                <a:cs typeface="Raleway"/>
                <a:sym typeface="Raleway"/>
              </a:rPr>
              <a:t>Ingatlah!</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Tidaklah </a:t>
            </a:r>
            <a:r>
              <a:rPr lang="en" sz="1200">
                <a:solidFill>
                  <a:schemeClr val="dk1"/>
                </a:solidFill>
                <a:latin typeface="Raleway Medium"/>
                <a:ea typeface="Raleway Medium"/>
                <a:cs typeface="Raleway Medium"/>
                <a:sym typeface="Raleway Medium"/>
              </a:rPr>
              <a:t>mungkin untuk menghilangkan setiap jejak bias dari penelitian Anda.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Akan tetapi, sadarilah bahwa bias dapat menyusup dan dan lakukan apa yang Anda bisa untuk memperbaikinya. Bekerjalah  secara kolaboratif dengan rekan satu tim dan teruslah belajar dari setiap pengujian yang Anda jalankan. </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56"/>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Menganalisa hasil </a:t>
            </a:r>
            <a:endParaRPr/>
          </a:p>
        </p:txBody>
      </p:sp>
      <p:sp>
        <p:nvSpPr>
          <p:cNvPr id="412" name="Google Shape;412;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19" name="Google Shape;419;p57"/>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Menganalisa hasil pengujian</a:t>
            </a:r>
            <a:endParaRPr b="1" sz="1800">
              <a:solidFill>
                <a:srgbClr val="743673"/>
              </a:solidFill>
              <a:highlight>
                <a:schemeClr val="lt1"/>
              </a:highlight>
              <a:latin typeface="Raleway"/>
              <a:ea typeface="Raleway"/>
              <a:cs typeface="Raleway"/>
              <a:sym typeface="Raleway"/>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Anda selesai menjalankan sesi pengujian kegunaan, saatnya untuk mengevaluasi temuan. Pada sesi ini, kita akan mempelajari cara mengekstrak data dari hasil Anda, menganalisisnya, dan mengubahnya menjadi rencana tindakan untuk meningkatkan platform Anda.</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Proses mengubah sejumlah data kualitatif, transkrip, dan pengamatan menjadi sebuah laporan yang dapat ditindaklanjuti tentang masalah kegunaan tampak begitu melelahkan pada awalnya—tetapi ini hanyalah masalah mengatur temuan Anda dan mencari pola dan masalah yang berulang dalam data.</a:t>
            </a:r>
            <a:endParaRPr sz="1200">
              <a:solidFill>
                <a:schemeClr val="dk1"/>
              </a:solidFill>
              <a:latin typeface="Raleway Medium"/>
              <a:ea typeface="Raleway Medium"/>
              <a:cs typeface="Raleway Medium"/>
              <a:sym typeface="Raleway Medium"/>
            </a:endParaRPr>
          </a:p>
        </p:txBody>
      </p:sp>
      <p:pic>
        <p:nvPicPr>
          <p:cNvPr id="420" name="Google Shape;420;p57"/>
          <p:cNvPicPr preferRelativeResize="0"/>
          <p:nvPr/>
        </p:nvPicPr>
        <p:blipFill rotWithShape="1">
          <a:blip r:embed="rId3">
            <a:alphaModFix/>
          </a:blip>
          <a:srcRect b="0" l="13316" r="13316" t="0"/>
          <a:stretch/>
        </p:blipFill>
        <p:spPr>
          <a:xfrm>
            <a:off x="5486400" y="1207587"/>
            <a:ext cx="3017518" cy="2743201"/>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5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27" name="Google Shape;427;p58"/>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1) </a:t>
            </a:r>
            <a:r>
              <a:rPr b="1" lang="en" sz="1800">
                <a:solidFill>
                  <a:srgbClr val="743673"/>
                </a:solidFill>
                <a:highlight>
                  <a:schemeClr val="lt1"/>
                </a:highlight>
                <a:latin typeface="Raleway"/>
                <a:ea typeface="Raleway"/>
                <a:cs typeface="Raleway"/>
                <a:sym typeface="Raleway"/>
              </a:rPr>
              <a:t>Tentukan apa yang Anda cari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Sebelum Anda mulai menganalisis hasil, tinjau tujuan awal Anda dalam pengujian pengujian. Ingatkan diri Anda tentang area masalah situs web Anda, atau poin nyeri, yang ingin Anda evaluasi.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Anda mulai meninjau data pengujian, Anda akan disajikan dengan banyak wawasan pengguna. Mengidentifikasi minat utama Anda akan membantu Anda tetap fokus pada </a:t>
            </a:r>
            <a:r>
              <a:rPr i="1" lang="en" sz="1200">
                <a:solidFill>
                  <a:schemeClr val="dk1"/>
                </a:solidFill>
                <a:latin typeface="Raleway Medium"/>
                <a:ea typeface="Raleway Medium"/>
                <a:cs typeface="Raleway Medium"/>
                <a:sym typeface="Raleway Medium"/>
              </a:rPr>
              <a:t>feedback</a:t>
            </a:r>
            <a:r>
              <a:rPr lang="en" sz="1200">
                <a:solidFill>
                  <a:schemeClr val="dk1"/>
                </a:solidFill>
                <a:latin typeface="Raleway Medium"/>
                <a:ea typeface="Raleway Medium"/>
                <a:cs typeface="Raleway Medium"/>
                <a:sym typeface="Raleway Medium"/>
              </a:rPr>
              <a:t> yang paling relevan.</a:t>
            </a:r>
            <a:endParaRPr sz="1200">
              <a:solidFill>
                <a:schemeClr val="dk1"/>
              </a:solidFill>
              <a:latin typeface="Raleway Medium"/>
              <a:ea typeface="Raleway Medium"/>
              <a:cs typeface="Raleway Medium"/>
              <a:sym typeface="Raleway Medium"/>
            </a:endParaRPr>
          </a:p>
        </p:txBody>
      </p:sp>
      <p:pic>
        <p:nvPicPr>
          <p:cNvPr id="428" name="Google Shape;428;p58"/>
          <p:cNvPicPr preferRelativeResize="0"/>
          <p:nvPr/>
        </p:nvPicPr>
        <p:blipFill rotWithShape="1">
          <a:blip r:embed="rId3">
            <a:alphaModFix/>
          </a:blip>
          <a:srcRect b="19704" l="0" r="0" t="19704"/>
          <a:stretch/>
        </p:blipFill>
        <p:spPr>
          <a:xfrm>
            <a:off x="5486400" y="1207587"/>
            <a:ext cx="3017517" cy="2743199"/>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5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4" name="Google Shape;43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35" name="Google Shape;435;p59"/>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2) Mulai mengorganisir data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Tinjau sesi pengujian Anda satu per satu. Tonton rekamannya, baca transkrip-nya, dan periksa catatan Anda dengan cermat.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Carilah: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Masalah yang dihadapi pengguna saat melakukan tugas</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Tindakan yang mereka ambil.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Komentar atau pesan (baik positif maupun negatif) yang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   mereka berikan.</a:t>
            </a:r>
            <a:endParaRPr sz="1200">
              <a:solidFill>
                <a:schemeClr val="dk1"/>
              </a:solidFill>
              <a:latin typeface="Raleway Medium"/>
              <a:ea typeface="Raleway Medium"/>
              <a:cs typeface="Raleway Medium"/>
              <a:sym typeface="Raleway Medium"/>
            </a:endParaRPr>
          </a:p>
        </p:txBody>
      </p:sp>
      <p:pic>
        <p:nvPicPr>
          <p:cNvPr id="436" name="Google Shape;436;p59"/>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2" name="Google Shape;442;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43" name="Google Shape;443;p60"/>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Untuk setiap masalah yang ditemukan pengguna, atau tindakan tak terduga yang mereka ambil, buat catatan terpisah.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Catat tugas - tugas yang </a:t>
            </a:r>
            <a:r>
              <a:rPr lang="en" sz="1200">
                <a:solidFill>
                  <a:schemeClr val="dk1"/>
                </a:solidFill>
                <a:latin typeface="Raleway Medium"/>
                <a:ea typeface="Raleway Medium"/>
                <a:cs typeface="Raleway Medium"/>
                <a:sym typeface="Raleway Medium"/>
              </a:rPr>
              <a:t>pengguna </a:t>
            </a:r>
            <a:r>
              <a:rPr lang="en" sz="1200">
                <a:solidFill>
                  <a:schemeClr val="dk1"/>
                </a:solidFill>
                <a:latin typeface="Raleway Medium"/>
                <a:ea typeface="Raleway Medium"/>
                <a:cs typeface="Raleway Medium"/>
                <a:sym typeface="Raleway Medium"/>
              </a:rPr>
              <a:t>coba selesaikan dan masalah yang mereka temui, lalu tambahkan kategori dan tag tertentu sehingga Anda nanti bisa memilah dan memfilter. Jika Anda sebelumnya membuat persona pengguna atau grup pengujian, catat juga.</a:t>
            </a:r>
            <a:endParaRPr sz="1200">
              <a:solidFill>
                <a:schemeClr val="dk1"/>
              </a:solidFill>
              <a:latin typeface="Raleway Medium"/>
              <a:ea typeface="Raleway Medium"/>
              <a:cs typeface="Raleway Medium"/>
              <a:sym typeface="Raleway Medium"/>
            </a:endParaRPr>
          </a:p>
        </p:txBody>
      </p:sp>
      <p:pic>
        <p:nvPicPr>
          <p:cNvPr id="444" name="Google Shape;444;p60"/>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6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51" name="Google Shape;451;p61"/>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Sebaiknya lakukan organisasi secara digital, dengan alat seperti Excel, Sheet atau Airtable, supaya Anda dapat memindahkan data, menerapkan tag, dan mengurutkannya berdasarkan kategori dengan mudahi.</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Pastikan pernyataan Anda singkat dan menggambarkan masalah dengan tepat.</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buruk: pengguna mengklik tautan yang salah.</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Contoh bagus: pengguna mengklik tautan untuk Kode Diskon, bukan untuk Info Pembayaran.</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Setelah selesai, data Anda mungkin terlihat seperti gambar disamping.</a:t>
            </a:r>
            <a:endParaRPr sz="1200">
              <a:solidFill>
                <a:schemeClr val="dk1"/>
              </a:solidFill>
              <a:latin typeface="Raleway Medium"/>
              <a:ea typeface="Raleway Medium"/>
              <a:cs typeface="Raleway Medium"/>
              <a:sym typeface="Raleway Medium"/>
            </a:endParaRPr>
          </a:p>
        </p:txBody>
      </p:sp>
      <p:pic>
        <p:nvPicPr>
          <p:cNvPr id="452" name="Google Shape;452;p61"/>
          <p:cNvPicPr preferRelativeResize="0"/>
          <p:nvPr/>
        </p:nvPicPr>
        <p:blipFill rotWithShape="1">
          <a:blip r:embed="rId3">
            <a:alphaModFix/>
          </a:blip>
          <a:srcRect b="-36351" l="0" r="0" t="0"/>
          <a:stretch/>
        </p:blipFill>
        <p:spPr>
          <a:xfrm>
            <a:off x="5486400" y="1207587"/>
            <a:ext cx="3017518" cy="27432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8" name="Google Shape;458;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59" name="Google Shape;459;p62"/>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3</a:t>
            </a:r>
            <a:r>
              <a:rPr b="1" lang="en" sz="1800">
                <a:solidFill>
                  <a:srgbClr val="743673"/>
                </a:solidFill>
                <a:highlight>
                  <a:schemeClr val="lt1"/>
                </a:highlight>
                <a:latin typeface="Raleway"/>
                <a:ea typeface="Raleway"/>
                <a:cs typeface="Raleway"/>
                <a:sym typeface="Raleway"/>
              </a:rPr>
              <a:t>) Tarik kesimpulan</a:t>
            </a:r>
            <a:br>
              <a:rPr b="1" lang="en" sz="1800">
                <a:solidFill>
                  <a:srgbClr val="743673"/>
                </a:solidFill>
                <a:highlight>
                  <a:schemeClr val="lt1"/>
                </a:highlight>
                <a:latin typeface="Raleway"/>
                <a:ea typeface="Raleway"/>
                <a:cs typeface="Raleway"/>
                <a:sym typeface="Raleway"/>
              </a:rPr>
            </a:br>
            <a:br>
              <a:rPr b="1" lang="en" sz="1800">
                <a:solidFill>
                  <a:srgbClr val="743673"/>
                </a:solidFill>
                <a:highlight>
                  <a:schemeClr val="lt1"/>
                </a:highlight>
                <a:latin typeface="Raleway"/>
                <a:ea typeface="Raleway"/>
                <a:cs typeface="Raleway"/>
                <a:sym typeface="Raleway"/>
              </a:rPr>
            </a:br>
            <a:r>
              <a:rPr lang="en" sz="1200">
                <a:solidFill>
                  <a:schemeClr val="dk1"/>
                </a:solidFill>
                <a:latin typeface="Raleway Medium"/>
                <a:ea typeface="Raleway Medium"/>
                <a:cs typeface="Raleway Medium"/>
                <a:sym typeface="Raleway Medium"/>
              </a:rPr>
              <a:t>Nilai data Anda dengan ukuran kualitatif dan kuantitatif:</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Analisis kuantitatif akan memberi Anda statistik yang dapat digunakan untuk mengidentifikasi keberadaan dan tingkat keparahan masalah. Analisis kualitatif akan memberi Anda wawasan tentang mengapa masalah itu ada, dan bagaimana cara memperbaikinya.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Baca lebih lanjut tentang kedua analisis, metrik - metrik-nya dan bagaimana mengorganisir data tersebut pada </a:t>
            </a:r>
            <a:r>
              <a:rPr lang="en" sz="1200" u="sng">
                <a:solidFill>
                  <a:schemeClr val="hlink"/>
                </a:solidFill>
                <a:latin typeface="Raleway Medium"/>
                <a:ea typeface="Raleway Medium"/>
                <a:cs typeface="Raleway Medium"/>
                <a:sym typeface="Raleway Medium"/>
                <a:hlinkClick r:id="rId3"/>
              </a:rPr>
              <a:t>artikel ini.</a:t>
            </a:r>
            <a:endParaRPr sz="1200">
              <a:solidFill>
                <a:schemeClr val="dk1"/>
              </a:solidFill>
              <a:latin typeface="Raleway Medium"/>
              <a:ea typeface="Raleway Medium"/>
              <a:cs typeface="Raleway Medium"/>
              <a:sym typeface="Raleway Medium"/>
            </a:endParaRPr>
          </a:p>
        </p:txBody>
      </p:sp>
      <p:pic>
        <p:nvPicPr>
          <p:cNvPr id="460" name="Google Shape;460;p62"/>
          <p:cNvPicPr preferRelativeResize="0"/>
          <p:nvPr/>
        </p:nvPicPr>
        <p:blipFill rotWithShape="1">
          <a:blip r:embed="rId4">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66" name="Google Shape;466;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67" name="Google Shape;467;p63"/>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Dalam sebagian besar studi kegunaan, fokus Anda dan sebagian besar temuan Anda akan bersifat kualitatif, tetapi menghitung beberapa metrik numerik dapat memberikan kredibilitas temuan Anda dan memberikan metrik dasar untuk mengevaluasi iterasi platform Anda di masa mendatang.</a:t>
            </a:r>
            <a:endParaRPr sz="1200">
              <a:solidFill>
                <a:schemeClr val="dk1"/>
              </a:solidFill>
              <a:latin typeface="Raleway Medium"/>
              <a:ea typeface="Raleway Medium"/>
              <a:cs typeface="Raleway Medium"/>
              <a:sym typeface="Raleway Medium"/>
            </a:endParaRPr>
          </a:p>
        </p:txBody>
      </p:sp>
      <p:pic>
        <p:nvPicPr>
          <p:cNvPr id="468" name="Google Shape;468;p63"/>
          <p:cNvPicPr preferRelativeResize="0"/>
          <p:nvPr/>
        </p:nvPicPr>
        <p:blipFill rotWithShape="1">
          <a:blip r:embed="rId3">
            <a:alphaModFix/>
          </a:blip>
          <a:srcRect b="0" l="13289" r="13289" t="0"/>
          <a:stretch/>
        </p:blipFill>
        <p:spPr>
          <a:xfrm>
            <a:off x="5486400" y="1207587"/>
            <a:ext cx="3017518" cy="2743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74" name="Google Shape;474;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75" name="Google Shape;475;p64"/>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4</a:t>
            </a:r>
            <a:r>
              <a:rPr b="1" lang="en" sz="1800">
                <a:solidFill>
                  <a:srgbClr val="743673"/>
                </a:solidFill>
                <a:highlight>
                  <a:schemeClr val="lt1"/>
                </a:highlight>
                <a:latin typeface="Raleway"/>
                <a:ea typeface="Raleway"/>
                <a:cs typeface="Raleway"/>
                <a:sym typeface="Raleway"/>
              </a:rPr>
              <a:t>) Atur prioritas temuan - temuan</a:t>
            </a:r>
            <a:br>
              <a:rPr b="1" lang="en" sz="1800">
                <a:solidFill>
                  <a:srgbClr val="743673"/>
                </a:solidFill>
                <a:highlight>
                  <a:schemeClr val="lt1"/>
                </a:highlight>
                <a:latin typeface="Raleway"/>
                <a:ea typeface="Raleway"/>
                <a:cs typeface="Raleway"/>
                <a:sym typeface="Raleway"/>
              </a:rPr>
            </a:br>
            <a:br>
              <a:rPr b="1" lang="en" sz="1800">
                <a:solidFill>
                  <a:srgbClr val="743673"/>
                </a:solidFill>
                <a:highlight>
                  <a:schemeClr val="lt1"/>
                </a:highlight>
                <a:latin typeface="Raleway"/>
                <a:ea typeface="Raleway"/>
                <a:cs typeface="Raleway"/>
                <a:sym typeface="Raleway"/>
              </a:rPr>
            </a:br>
            <a:r>
              <a:rPr lang="en" sz="1200">
                <a:solidFill>
                  <a:schemeClr val="dk1"/>
                </a:solidFill>
                <a:latin typeface="Raleway Medium"/>
                <a:ea typeface="Raleway Medium"/>
                <a:cs typeface="Raleway Medium"/>
                <a:sym typeface="Raleway Medium"/>
              </a:rPr>
              <a:t>Setelah Anda memiliki daftar temuan dan masalah, beri peringkat berdasarkan dampaknya, jika masalah tersebut diselesaikan. Pertimbangkan seberapa global masalahnya pada keseluruhan platform, dan seberapa parahnya.</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Kategorikan masalah menjadi:</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Kritis: tidak mungkin bagi pengguna untuk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menyelesaikan tugas.</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Serius: membuat banyak pengguna frustasi.</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Minor: menjengkelkan, tetapi tidak akan membuat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   pengguna pergi.</a:t>
            </a:r>
            <a:endParaRPr sz="1200">
              <a:solidFill>
                <a:schemeClr val="dk1"/>
              </a:solidFill>
              <a:latin typeface="Raleway Medium"/>
              <a:ea typeface="Raleway Medium"/>
              <a:cs typeface="Raleway Medium"/>
              <a:sym typeface="Raleway Medium"/>
            </a:endParaRPr>
          </a:p>
        </p:txBody>
      </p:sp>
      <p:pic>
        <p:nvPicPr>
          <p:cNvPr id="476" name="Google Shape;476;p64"/>
          <p:cNvPicPr preferRelativeResize="0"/>
          <p:nvPr/>
        </p:nvPicPr>
        <p:blipFill rotWithShape="1">
          <a:blip r:embed="rId3">
            <a:alphaModFix/>
          </a:blip>
          <a:srcRect b="0" l="1932" r="1922" t="0"/>
          <a:stretch/>
        </p:blipFill>
        <p:spPr>
          <a:xfrm>
            <a:off x="5486400" y="1207587"/>
            <a:ext cx="3017518" cy="2743202"/>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6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2" name="Google Shape;482;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83" name="Google Shape;483;p65"/>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Contoh, </a:t>
            </a:r>
            <a:r>
              <a:rPr lang="en" sz="1200">
                <a:solidFill>
                  <a:schemeClr val="dk1"/>
                </a:solidFill>
                <a:latin typeface="Raleway Medium"/>
                <a:ea typeface="Raleway Medium"/>
                <a:cs typeface="Raleway Medium"/>
                <a:sym typeface="Raleway Medium"/>
              </a:rPr>
              <a:t>tidak dapat menyelesaikan pembayaran adalah masalah yang lebih mendesak daripada tidak menyukai skema warna situs.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Yang pertama adalah masalah kritis yang harus segera diperbaiki, sedangkan yang kedua adalah masalah kecil yang dapat diremehkan untuk beberapa waktu ke depan.</a:t>
            </a:r>
            <a:endParaRPr sz="1200">
              <a:solidFill>
                <a:schemeClr val="dk1"/>
              </a:solidFill>
              <a:latin typeface="Raleway Medium"/>
              <a:ea typeface="Raleway Medium"/>
              <a:cs typeface="Raleway Medium"/>
              <a:sym typeface="Raleway Medium"/>
            </a:endParaRPr>
          </a:p>
        </p:txBody>
      </p:sp>
      <p:pic>
        <p:nvPicPr>
          <p:cNvPr id="484" name="Google Shape;484;p65"/>
          <p:cNvPicPr preferRelativeResize="0"/>
          <p:nvPr/>
        </p:nvPicPr>
        <p:blipFill rotWithShape="1">
          <a:blip r:embed="rId3">
            <a:alphaModFix/>
          </a:blip>
          <a:srcRect b="0" l="1932" r="1922" t="0"/>
          <a:stretch/>
        </p:blipFill>
        <p:spPr>
          <a:xfrm>
            <a:off x="5486400" y="1207587"/>
            <a:ext cx="3017518" cy="2743202"/>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6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0" name="Google Shape;490;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 </a:t>
            </a:r>
            <a:endParaRPr/>
          </a:p>
        </p:txBody>
      </p:sp>
      <p:sp>
        <p:nvSpPr>
          <p:cNvPr id="491" name="Google Shape;491;p66"/>
          <p:cNvSpPr txBox="1"/>
          <p:nvPr/>
        </p:nvSpPr>
        <p:spPr>
          <a:xfrm>
            <a:off x="685800" y="11887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800">
                <a:solidFill>
                  <a:srgbClr val="743673"/>
                </a:solidFill>
                <a:highlight>
                  <a:schemeClr val="lt1"/>
                </a:highlight>
                <a:latin typeface="Raleway"/>
                <a:ea typeface="Raleway"/>
                <a:cs typeface="Raleway"/>
                <a:sym typeface="Raleway"/>
              </a:rPr>
              <a:t>5</a:t>
            </a:r>
            <a:r>
              <a:rPr b="1" lang="en" sz="1800">
                <a:solidFill>
                  <a:srgbClr val="743673"/>
                </a:solidFill>
                <a:highlight>
                  <a:schemeClr val="lt1"/>
                </a:highlight>
                <a:latin typeface="Raleway"/>
                <a:ea typeface="Raleway"/>
                <a:cs typeface="Raleway"/>
                <a:sym typeface="Raleway"/>
              </a:rPr>
              <a:t>) Buatlah</a:t>
            </a:r>
            <a:r>
              <a:rPr b="1" lang="en" sz="1800">
                <a:solidFill>
                  <a:srgbClr val="743673"/>
                </a:solidFill>
                <a:highlight>
                  <a:schemeClr val="lt1"/>
                </a:highlight>
                <a:latin typeface="Raleway"/>
                <a:ea typeface="Raleway"/>
                <a:cs typeface="Raleway"/>
                <a:sym typeface="Raleway"/>
              </a:rPr>
              <a:t> laporan hasil</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1600"/>
              </a:spcBef>
              <a:spcAft>
                <a:spcPts val="0"/>
              </a:spcAft>
              <a:buNone/>
            </a:pPr>
            <a:r>
              <a:rPr lang="en" sz="1200">
                <a:solidFill>
                  <a:schemeClr val="dk1"/>
                </a:solidFill>
                <a:latin typeface="Raleway Medium"/>
                <a:ea typeface="Raleway Medium"/>
                <a:cs typeface="Raleway Medium"/>
                <a:sym typeface="Raleway Medium"/>
              </a:rPr>
              <a:t>Setelah mengevaluasi data dan memprioritaskan masalah dari pengujian, pada akhirnya Anda perlu  menggunakan hasilnya untuk meningkatkan platform. </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Dalam beberapa kasus, Anda mungkin memiliki kewenangan untuk membuat perubahan pada produk Dalam situasi lain, Anda mungkin perlu mengajukan kasus Anda ke atasan di perusahaan Anda—dan ketika itu terjadi, Anda mungkin perlu membuat draf laporan yang menjelaskan masalah yang ditemukan dan solusi yang Anda usulkan.</a:t>
            </a:r>
            <a:br>
              <a:rPr lang="en" sz="1200">
                <a:solidFill>
                  <a:schemeClr val="dk1"/>
                </a:solidFill>
                <a:latin typeface="Raleway Medium"/>
                <a:ea typeface="Raleway Medium"/>
                <a:cs typeface="Raleway Medium"/>
                <a:sym typeface="Raleway Medium"/>
              </a:rPr>
            </a:b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Mari kita telusuri beberapa cara untuk membuat sebuah laporan lebih efektif.</a:t>
            </a:r>
            <a:endParaRPr sz="1200">
              <a:solidFill>
                <a:schemeClr val="dk1"/>
              </a:solidFill>
              <a:latin typeface="Raleway Medium"/>
              <a:ea typeface="Raleway Medium"/>
              <a:cs typeface="Raleway Medium"/>
              <a:sym typeface="Raleway Medium"/>
            </a:endParaRPr>
          </a:p>
        </p:txBody>
      </p:sp>
      <p:pic>
        <p:nvPicPr>
          <p:cNvPr id="492" name="Google Shape;492;p66"/>
          <p:cNvPicPr preferRelativeResize="0"/>
          <p:nvPr/>
        </p:nvPicPr>
        <p:blipFill rotWithShape="1">
          <a:blip r:embed="rId3">
            <a:alphaModFix/>
          </a:blip>
          <a:srcRect b="0" l="13343" r="13343" t="0"/>
          <a:stretch/>
        </p:blipFill>
        <p:spPr>
          <a:xfrm>
            <a:off x="5486400" y="1207587"/>
            <a:ext cx="3017518" cy="2743203"/>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6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8" name="Google Shape;498;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Menganalisa hasil</a:t>
            </a:r>
            <a:endParaRPr/>
          </a:p>
        </p:txBody>
      </p:sp>
      <p:grpSp>
        <p:nvGrpSpPr>
          <p:cNvPr id="499" name="Google Shape;499;p67"/>
          <p:cNvGrpSpPr/>
          <p:nvPr/>
        </p:nvGrpSpPr>
        <p:grpSpPr>
          <a:xfrm>
            <a:off x="0" y="1113789"/>
            <a:ext cx="2214600" cy="3217636"/>
            <a:chOff x="0" y="1189989"/>
            <a:chExt cx="2214600" cy="3217636"/>
          </a:xfrm>
        </p:grpSpPr>
        <p:sp>
          <p:nvSpPr>
            <p:cNvPr id="500" name="Google Shape;500;p67"/>
            <p:cNvSpPr/>
            <p:nvPr/>
          </p:nvSpPr>
          <p:spPr>
            <a:xfrm>
              <a:off x="0" y="1189989"/>
              <a:ext cx="2214600" cy="669000"/>
            </a:xfrm>
            <a:prstGeom prst="homePlate">
              <a:avLst>
                <a:gd fmla="val 50000" name="adj"/>
              </a:avLst>
            </a:prstGeom>
            <a:solidFill>
              <a:srgbClr val="73357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Raleway Medium"/>
                  <a:ea typeface="Raleway Medium"/>
                  <a:cs typeface="Raleway Medium"/>
                  <a:sym typeface="Raleway Medium"/>
                </a:rPr>
                <a:t>Perlihatkan masalah yang paling kritis</a:t>
              </a:r>
              <a:endParaRPr sz="1300">
                <a:solidFill>
                  <a:srgbClr val="FFFFFF"/>
                </a:solidFill>
                <a:latin typeface="Raleway Medium"/>
                <a:ea typeface="Raleway Medium"/>
                <a:cs typeface="Raleway Medium"/>
                <a:sym typeface="Raleway Medium"/>
              </a:endParaRPr>
            </a:p>
          </p:txBody>
        </p:sp>
        <p:sp>
          <p:nvSpPr>
            <p:cNvPr id="501" name="Google Shape;501;p67"/>
            <p:cNvSpPr txBox="1"/>
            <p:nvPr/>
          </p:nvSpPr>
          <p:spPr>
            <a:xfrm>
              <a:off x="2950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Jangan hanya menyajikan daftar dari semua masalah. Fokus pada masalah yang paling mendesak.</a:t>
              </a:r>
              <a:endParaRPr sz="1100">
                <a:latin typeface="Raleway Medium"/>
                <a:ea typeface="Raleway Medium"/>
                <a:cs typeface="Raleway Medium"/>
                <a:sym typeface="Raleway Medium"/>
              </a:endParaRPr>
            </a:p>
          </p:txBody>
        </p:sp>
      </p:grpSp>
      <p:grpSp>
        <p:nvGrpSpPr>
          <p:cNvPr id="502" name="Google Shape;502;p67"/>
          <p:cNvGrpSpPr/>
          <p:nvPr/>
        </p:nvGrpSpPr>
        <p:grpSpPr>
          <a:xfrm>
            <a:off x="1838325" y="1113575"/>
            <a:ext cx="2064000" cy="3498650"/>
            <a:chOff x="1838325" y="1189775"/>
            <a:chExt cx="2064000" cy="3498650"/>
          </a:xfrm>
        </p:grpSpPr>
        <p:sp>
          <p:nvSpPr>
            <p:cNvPr id="503" name="Google Shape;503;p67"/>
            <p:cNvSpPr/>
            <p:nvPr/>
          </p:nvSpPr>
          <p:spPr>
            <a:xfrm>
              <a:off x="1838325"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Raleway Medium"/>
                  <a:ea typeface="Raleway Medium"/>
                  <a:cs typeface="Raleway Medium"/>
                  <a:sym typeface="Raleway Medium"/>
                </a:rPr>
                <a:t>Jelaskan dengan spesifik</a:t>
              </a:r>
              <a:endParaRPr sz="1300">
                <a:solidFill>
                  <a:srgbClr val="FFFFFF"/>
                </a:solidFill>
                <a:latin typeface="Raleway Medium"/>
                <a:ea typeface="Raleway Medium"/>
                <a:cs typeface="Raleway Medium"/>
                <a:sym typeface="Raleway Medium"/>
              </a:endParaRPr>
            </a:p>
          </p:txBody>
        </p:sp>
        <p:sp>
          <p:nvSpPr>
            <p:cNvPr id="504" name="Google Shape;504;p67"/>
            <p:cNvSpPr txBox="1"/>
            <p:nvPr/>
          </p:nvSpPr>
          <p:spPr>
            <a:xfrm>
              <a:off x="2017250" y="2057125"/>
              <a:ext cx="1624500" cy="2631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Tidak cukup hanya mengatakan “pengguna mengalami kesulitan memasukkan informasi pembayaran.”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Identifikasi area spesifik dari desain, interaksi, atau aliran yang menyebabkan masalah.</a:t>
              </a:r>
              <a:endParaRPr sz="1100">
                <a:latin typeface="Raleway Medium"/>
                <a:ea typeface="Raleway Medium"/>
                <a:cs typeface="Raleway Medium"/>
                <a:sym typeface="Raleway Medium"/>
              </a:endParaRPr>
            </a:p>
          </p:txBody>
        </p:sp>
      </p:grpSp>
      <p:grpSp>
        <p:nvGrpSpPr>
          <p:cNvPr id="505" name="Google Shape;505;p67"/>
          <p:cNvGrpSpPr/>
          <p:nvPr/>
        </p:nvGrpSpPr>
        <p:grpSpPr>
          <a:xfrm>
            <a:off x="3516750" y="1113575"/>
            <a:ext cx="2064000" cy="3217850"/>
            <a:chOff x="3516750" y="1189775"/>
            <a:chExt cx="2064000" cy="3217850"/>
          </a:xfrm>
        </p:grpSpPr>
        <p:sp>
          <p:nvSpPr>
            <p:cNvPr id="506" name="Google Shape;506;p67"/>
            <p:cNvSpPr/>
            <p:nvPr/>
          </p:nvSpPr>
          <p:spPr>
            <a:xfrm>
              <a:off x="3516750" y="1189775"/>
              <a:ext cx="2064000" cy="669000"/>
            </a:xfrm>
            <a:prstGeom prst="chevron">
              <a:avLst>
                <a:gd fmla="val 50000" name="adj"/>
              </a:avLst>
            </a:prstGeom>
            <a:solidFill>
              <a:srgbClr val="5E2B62">
                <a:alpha val="8000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Raleway Medium"/>
                  <a:ea typeface="Raleway Medium"/>
                  <a:cs typeface="Raleway Medium"/>
                  <a:sym typeface="Raleway Medium"/>
                </a:rPr>
                <a:t>Berikan bukti</a:t>
              </a:r>
              <a:endParaRPr sz="1300">
                <a:solidFill>
                  <a:srgbClr val="FFFFFF"/>
                </a:solidFill>
                <a:latin typeface="Raleway Medium"/>
                <a:ea typeface="Raleway Medium"/>
                <a:cs typeface="Raleway Medium"/>
                <a:sym typeface="Raleway Medium"/>
              </a:endParaRPr>
            </a:p>
          </p:txBody>
        </p:sp>
        <p:sp>
          <p:nvSpPr>
            <p:cNvPr id="507" name="Google Shape;507;p67"/>
            <p:cNvSpPr txBox="1"/>
            <p:nvPr/>
          </p:nvSpPr>
          <p:spPr>
            <a:xfrm>
              <a:off x="3663250" y="2057125"/>
              <a:ext cx="17469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Cuplikan video, screenshots, atau transkrip dari pengujian dapat membantu memperjelas maksud Anda.</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Pertimbangkan untuk menyajikan laporan Anda dalam bentuk tayangan slide, bukan sebagai dokumen tertulis,</a:t>
              </a:r>
              <a:endParaRPr sz="1100">
                <a:latin typeface="Raleway Medium"/>
                <a:ea typeface="Raleway Medium"/>
                <a:cs typeface="Raleway Medium"/>
                <a:sym typeface="Raleway Medium"/>
              </a:endParaRPr>
            </a:p>
          </p:txBody>
        </p:sp>
      </p:grpSp>
      <p:grpSp>
        <p:nvGrpSpPr>
          <p:cNvPr id="508" name="Google Shape;508;p67"/>
          <p:cNvGrpSpPr/>
          <p:nvPr/>
        </p:nvGrpSpPr>
        <p:grpSpPr>
          <a:xfrm>
            <a:off x="6874025" y="1113575"/>
            <a:ext cx="2064000" cy="3790250"/>
            <a:chOff x="6874025" y="1189775"/>
            <a:chExt cx="2064000" cy="3790250"/>
          </a:xfrm>
        </p:grpSpPr>
        <p:sp>
          <p:nvSpPr>
            <p:cNvPr id="509" name="Google Shape;509;p67"/>
            <p:cNvSpPr/>
            <p:nvPr/>
          </p:nvSpPr>
          <p:spPr>
            <a:xfrm>
              <a:off x="6874025"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Raleway Medium"/>
                  <a:ea typeface="Raleway Medium"/>
                  <a:cs typeface="Raleway Medium"/>
                  <a:sym typeface="Raleway Medium"/>
                </a:rPr>
                <a:t>Sertakan temuan positif</a:t>
              </a:r>
              <a:endParaRPr sz="1300">
                <a:solidFill>
                  <a:srgbClr val="FFFFFF"/>
                </a:solidFill>
                <a:latin typeface="Raleway Medium"/>
                <a:ea typeface="Raleway Medium"/>
                <a:cs typeface="Raleway Medium"/>
                <a:sym typeface="Raleway Medium"/>
              </a:endParaRPr>
            </a:p>
          </p:txBody>
        </p:sp>
        <p:sp>
          <p:nvSpPr>
            <p:cNvPr id="510" name="Google Shape;510;p67"/>
            <p:cNvSpPr txBox="1"/>
            <p:nvPr/>
          </p:nvSpPr>
          <p:spPr>
            <a:xfrm>
              <a:off x="7107650" y="2057125"/>
              <a:ext cx="1624500" cy="2922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latin typeface="Raleway Medium"/>
                  <a:ea typeface="Raleway Medium"/>
                  <a:cs typeface="Raleway Medium"/>
                  <a:sym typeface="Raleway Medium"/>
                </a:rPr>
                <a:t>Selain masalah yang telah Anda identifikasi, sertakan </a:t>
              </a:r>
              <a:r>
                <a:rPr i="1" lang="en" sz="1100">
                  <a:latin typeface="Raleway Medium"/>
                  <a:ea typeface="Raleway Medium"/>
                  <a:cs typeface="Raleway Medium"/>
                  <a:sym typeface="Raleway Medium"/>
                </a:rPr>
                <a:t>feedback </a:t>
              </a:r>
              <a:r>
                <a:rPr lang="en" sz="1100">
                  <a:latin typeface="Raleway Medium"/>
                  <a:ea typeface="Raleway Medium"/>
                  <a:cs typeface="Raleway Medium"/>
                  <a:sym typeface="Raleway Medium"/>
                </a:rPr>
                <a:t>positif yang berarti yang Anda temukan. </a:t>
              </a:r>
              <a:br>
                <a:rPr lang="en" sz="1100">
                  <a:latin typeface="Raleway Medium"/>
                  <a:ea typeface="Raleway Medium"/>
                  <a:cs typeface="Raleway Medium"/>
                  <a:sym typeface="Raleway Medium"/>
                </a:rPr>
              </a:br>
              <a:br>
                <a:rPr lang="en" sz="1100">
                  <a:latin typeface="Raleway Medium"/>
                  <a:ea typeface="Raleway Medium"/>
                  <a:cs typeface="Raleway Medium"/>
                  <a:sym typeface="Raleway Medium"/>
                </a:rPr>
              </a:br>
              <a:r>
                <a:rPr lang="en" sz="1100">
                  <a:latin typeface="Raleway Medium"/>
                  <a:ea typeface="Raleway Medium"/>
                  <a:cs typeface="Raleway Medium"/>
                  <a:sym typeface="Raleway Medium"/>
                </a:rPr>
                <a:t>Ini membantu tim mengetahui apa yang berfungsi dengan baik dan mem- pertahankan fitur tersebut pada iterasi yang mendatang.</a:t>
              </a:r>
              <a:endParaRPr sz="1100">
                <a:latin typeface="Raleway Medium"/>
                <a:ea typeface="Raleway Medium"/>
                <a:cs typeface="Raleway Medium"/>
                <a:sym typeface="Raleway Medium"/>
              </a:endParaRPr>
            </a:p>
          </p:txBody>
        </p:sp>
      </p:grpSp>
      <p:grpSp>
        <p:nvGrpSpPr>
          <p:cNvPr id="511" name="Google Shape;511;p67"/>
          <p:cNvGrpSpPr/>
          <p:nvPr/>
        </p:nvGrpSpPr>
        <p:grpSpPr>
          <a:xfrm>
            <a:off x="5195350" y="1113575"/>
            <a:ext cx="2064000" cy="3217850"/>
            <a:chOff x="5195350" y="1189775"/>
            <a:chExt cx="2064000" cy="3217850"/>
          </a:xfrm>
        </p:grpSpPr>
        <p:sp>
          <p:nvSpPr>
            <p:cNvPr id="512" name="Google Shape;512;p67"/>
            <p:cNvSpPr/>
            <p:nvPr/>
          </p:nvSpPr>
          <p:spPr>
            <a:xfrm>
              <a:off x="5195350" y="1189775"/>
              <a:ext cx="2064000" cy="669000"/>
            </a:xfrm>
            <a:prstGeom prst="chevron">
              <a:avLst>
                <a:gd fmla="val 50000" name="adj"/>
              </a:avLst>
            </a:prstGeom>
            <a:solidFill>
              <a:srgbClr val="5E2B62">
                <a:alpha val="60780"/>
              </a:srgbClr>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300">
                  <a:solidFill>
                    <a:srgbClr val="FFFFFF"/>
                  </a:solidFill>
                  <a:latin typeface="Raleway Medium"/>
                  <a:ea typeface="Raleway Medium"/>
                  <a:cs typeface="Raleway Medium"/>
                  <a:sym typeface="Raleway Medium"/>
                </a:rPr>
                <a:t>Berikan solusi</a:t>
              </a:r>
              <a:endParaRPr sz="1300">
                <a:solidFill>
                  <a:srgbClr val="FFFFFF"/>
                </a:solidFill>
                <a:latin typeface="Raleway Medium"/>
                <a:ea typeface="Raleway Medium"/>
                <a:cs typeface="Raleway Medium"/>
                <a:sym typeface="Raleway Medium"/>
              </a:endParaRPr>
            </a:p>
          </p:txBody>
        </p:sp>
        <p:sp>
          <p:nvSpPr>
            <p:cNvPr id="513" name="Google Shape;513;p67"/>
            <p:cNvSpPr txBox="1"/>
            <p:nvPr/>
          </p:nvSpPr>
          <p:spPr>
            <a:xfrm>
              <a:off x="5461650" y="2057125"/>
              <a:ext cx="1624500" cy="2350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chemeClr val="dk1"/>
                  </a:solidFill>
                  <a:latin typeface="Raleway Medium"/>
                  <a:ea typeface="Raleway Medium"/>
                  <a:cs typeface="Raleway Medium"/>
                  <a:sym typeface="Raleway Medium"/>
                </a:rPr>
                <a:t>Brainstorm solusi untuk masalah dengan prioritas tertinggi. </a:t>
              </a:r>
              <a:br>
                <a:rPr lang="en" sz="1100">
                  <a:solidFill>
                    <a:schemeClr val="dk1"/>
                  </a:solidFill>
                  <a:latin typeface="Raleway Medium"/>
                  <a:ea typeface="Raleway Medium"/>
                  <a:cs typeface="Raleway Medium"/>
                  <a:sym typeface="Raleway Medium"/>
                </a:rPr>
              </a:br>
              <a:br>
                <a:rPr lang="en" sz="1100">
                  <a:solidFill>
                    <a:schemeClr val="dk1"/>
                  </a:solidFill>
                  <a:latin typeface="Raleway Medium"/>
                  <a:ea typeface="Raleway Medium"/>
                  <a:cs typeface="Raleway Medium"/>
                  <a:sym typeface="Raleway Medium"/>
                </a:rPr>
              </a:br>
              <a:r>
                <a:rPr lang="en" sz="1100">
                  <a:solidFill>
                    <a:schemeClr val="dk1"/>
                  </a:solidFill>
                  <a:latin typeface="Raleway Medium"/>
                  <a:ea typeface="Raleway Medium"/>
                  <a:cs typeface="Raleway Medium"/>
                  <a:sym typeface="Raleway Medium"/>
                </a:rPr>
                <a:t>Jika masalah Anda adalah pengguna tidak memahami opsi pengiriman, solusi bisa ada pada perubahan desain atau copywriting. </a:t>
              </a:r>
              <a:endParaRPr sz="1100">
                <a:latin typeface="Raleway Medium"/>
                <a:ea typeface="Raleway Medium"/>
                <a:cs typeface="Raleway Medium"/>
                <a:sym typeface="Raleway Medium"/>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68"/>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Saatnya </a:t>
            </a:r>
            <a:r>
              <a:rPr lang="en">
                <a:solidFill>
                  <a:schemeClr val="accent1"/>
                </a:solidFill>
              </a:rPr>
              <a:t>Quiz</a:t>
            </a:r>
            <a:endParaRPr>
              <a:solidFill>
                <a:schemeClr val="accent1"/>
              </a:solidFill>
            </a:endParaRPr>
          </a:p>
        </p:txBody>
      </p:sp>
      <p:sp>
        <p:nvSpPr>
          <p:cNvPr id="519" name="Google Shape;519;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6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25" name="Google Shape;525;p6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Saat merekrut, faktor demografi dan psikografis perlu di pertimbangkan. Contoh faktor demografi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Kepribadian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Usia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Pendapat</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Gaya hidup</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7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1" name="Google Shape;531;p7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1.</a:t>
            </a:r>
            <a:r>
              <a:rPr b="1" lang="en" sz="1800">
                <a:solidFill>
                  <a:schemeClr val="lt1"/>
                </a:solidFill>
                <a:latin typeface="Raleway"/>
                <a:ea typeface="Raleway"/>
                <a:cs typeface="Raleway"/>
                <a:sym typeface="Raleway"/>
              </a:rPr>
              <a:t> Saat merekrut, faktor demografi dan psikografis perlu di pertimbangkan. Contoh faktor demografi adalah…</a:t>
            </a:r>
            <a:br>
              <a:rPr b="1" lang="en" sz="1800">
                <a:solidFill>
                  <a:schemeClr val="lt1"/>
                </a:solidFill>
                <a:latin typeface="Raleway"/>
                <a:ea typeface="Raleway"/>
                <a:cs typeface="Raleway"/>
                <a:sym typeface="Raleway"/>
              </a:rPr>
            </a:b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Kepribadian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Usia</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Pendapat</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Gaya hidup</a:t>
            </a:r>
            <a:endParaRPr sz="1200">
              <a:solidFill>
                <a:srgbClr val="A667A5"/>
              </a:solidFill>
              <a:latin typeface="Raleway Medium"/>
              <a:ea typeface="Raleway Medium"/>
              <a:cs typeface="Raleway Medium"/>
              <a:sym typeface="Raleway Medium"/>
            </a:endParaRPr>
          </a:p>
        </p:txBody>
      </p:sp>
      <p:sp>
        <p:nvSpPr>
          <p:cNvPr id="532" name="Google Shape;532;p70"/>
          <p:cNvSpPr/>
          <p:nvPr/>
        </p:nvSpPr>
        <p:spPr>
          <a:xfrm>
            <a:off x="685800" y="3491175"/>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Contoh faktor demografi pengguna: usia, tempat tinggal, pendapatan.</a:t>
            </a:r>
            <a:endParaRPr b="1" sz="1000">
              <a:solidFill>
                <a:srgbClr val="733572"/>
              </a:solidFill>
              <a:latin typeface="Raleway"/>
              <a:ea typeface="Raleway"/>
              <a:cs typeface="Raleway"/>
              <a:sym typeface="Raleway"/>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7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38" name="Google Shape;538;p7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a:t>
            </a:r>
            <a:r>
              <a:rPr b="1" lang="en" sz="1800">
                <a:solidFill>
                  <a:schemeClr val="lt1"/>
                </a:solidFill>
                <a:latin typeface="Raleway"/>
                <a:ea typeface="Raleway"/>
                <a:cs typeface="Raleway"/>
                <a:sym typeface="Raleway"/>
              </a:rPr>
              <a:t>Tim desain, atau perwakilan dari tim desain, perlu dilibatkan dalam pengujian kegunaan. Kenapa?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Untuk membaca laporan.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Untuk menjadi moderator. </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Untuk melihat perilaku pengguna. </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7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44" name="Google Shape;544;p7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2.</a:t>
            </a:r>
            <a:r>
              <a:rPr b="1" lang="en" sz="1800">
                <a:solidFill>
                  <a:schemeClr val="lt1"/>
                </a:solidFill>
                <a:latin typeface="Raleway"/>
                <a:ea typeface="Raleway"/>
                <a:cs typeface="Raleway"/>
                <a:sym typeface="Raleway"/>
              </a:rPr>
              <a:t> Tim desain, atau perwakilan dari tim desain, perlu dilibatkan dalam pengujian kegunaan. Kenapa?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Untuk membaca laporan.</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Untuk menjadi moderator. </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Untuk melihat perilaku pengguna. </a:t>
            </a:r>
            <a:endParaRPr b="1" sz="1200">
              <a:solidFill>
                <a:schemeClr val="lt1"/>
              </a:solidFill>
              <a:latin typeface="Raleway"/>
              <a:ea typeface="Raleway"/>
              <a:cs typeface="Raleway"/>
              <a:sym typeface="Raleway"/>
            </a:endParaRPr>
          </a:p>
        </p:txBody>
      </p:sp>
      <p:sp>
        <p:nvSpPr>
          <p:cNvPr id="545" name="Google Shape;545;p72"/>
          <p:cNvSpPr/>
          <p:nvPr/>
        </p:nvSpPr>
        <p:spPr>
          <a:xfrm>
            <a:off x="685800" y="3262575"/>
            <a:ext cx="7772400" cy="6591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Dengan dilibatkan, tim desain mampu melihat secara langsung bagaimana pengguna berinteraksi dengan produk dan masalah apa yang mereka hadapi. </a:t>
            </a:r>
            <a:endParaRPr b="1" sz="1000">
              <a:solidFill>
                <a:srgbClr val="733572"/>
              </a:solidFill>
              <a:latin typeface="Raleway"/>
              <a:ea typeface="Raleway"/>
              <a:cs typeface="Raleway"/>
              <a:sym typeface="Raleway"/>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51" name="Google Shape;551;p7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Pertanyaan yang benar tentang populasi dan sampel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Ukuran sampel selalu lebih kecil dari ukuran total populasi.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Ukuran sampel selalu lebih besar dari ukuran total populasi.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Sampel adalah keseluruhan kelompok yang ingin Anda jadikan target dari produk Anda.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Populasi kelompok tertentu yang akan Anda kumpulkan datanya.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7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57" name="Google Shape;557;p7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3.</a:t>
            </a:r>
            <a:r>
              <a:rPr b="1" lang="en" sz="1800">
                <a:solidFill>
                  <a:schemeClr val="lt1"/>
                </a:solidFill>
                <a:latin typeface="Raleway"/>
                <a:ea typeface="Raleway"/>
                <a:cs typeface="Raleway"/>
                <a:sym typeface="Raleway"/>
              </a:rPr>
              <a:t> Pertanyaan yang benar tentang populasi dan sampel adalah...</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Ukuran sampel selalu lebih kecil dari ukuran total populasi.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Ukuran sampel selalu lebih besar dari ukuran total populasi.</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Sampel adalah keseluruhan kelompok yang ingin Anda jadikan target dari produk Anda.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Populasi kelompok tertentu yang akan Anda kumpulkan datanya.</a:t>
            </a:r>
            <a:endParaRPr sz="1200">
              <a:solidFill>
                <a:srgbClr val="A667A5"/>
              </a:solidFill>
              <a:latin typeface="Raleway Medium"/>
              <a:ea typeface="Raleway Medium"/>
              <a:cs typeface="Raleway Medium"/>
              <a:sym typeface="Raleway Medium"/>
            </a:endParaRPr>
          </a:p>
        </p:txBody>
      </p:sp>
      <p:sp>
        <p:nvSpPr>
          <p:cNvPr id="558" name="Google Shape;558;p74"/>
          <p:cNvSpPr/>
          <p:nvPr/>
        </p:nvSpPr>
        <p:spPr>
          <a:xfrm>
            <a:off x="685800" y="3110175"/>
            <a:ext cx="7772400" cy="484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Ukuran sampel selalu lebih kecil dari ukuran total populasi. Ini dikarenakan sampel ditarik dari sebuah populasi.</a:t>
            </a:r>
            <a:endParaRPr b="1" sz="1000">
              <a:solidFill>
                <a:srgbClr val="733572"/>
              </a:solidFill>
              <a:latin typeface="Raleway"/>
              <a:ea typeface="Raleway"/>
              <a:cs typeface="Raleway"/>
              <a:sym typeface="Raleway"/>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64" name="Google Shape;564;p7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cara untuk menghindari bias, kecuali</a:t>
            </a:r>
            <a:r>
              <a:rPr b="1" lang="en" sz="1800">
                <a:solidFill>
                  <a:schemeClr val="lt1"/>
                </a:solidFill>
                <a:latin typeface="Raleway"/>
                <a:ea typeface="Raleway"/>
                <a:cs typeface="Raleway"/>
                <a:sym typeface="Raleway"/>
              </a:rPr>
              <a:t>...</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Gunakan nada yang netral saat menulis tugas Anda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Jangan mendorong pengguna ke arah hasil tertentu</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Buatlah tugas sebagai instruksi, bukan tujuan</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Ajukan pertanyaan terbuka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7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0" name="Google Shape;570;p7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4.</a:t>
            </a:r>
            <a:r>
              <a:rPr b="1" lang="en" sz="1800">
                <a:solidFill>
                  <a:schemeClr val="lt1"/>
                </a:solidFill>
                <a:latin typeface="Raleway"/>
                <a:ea typeface="Raleway"/>
                <a:cs typeface="Raleway"/>
                <a:sym typeface="Raleway"/>
              </a:rPr>
              <a:t> Berikut adalah beberapa cara untuk menghindari bias,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Gunakan nada yang netral saat menulis tugas Anda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Jangan mendorong pengguna ke arah hasil tertentu</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Buatlah tugas sebagai instruksi, bukan tujuan</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Ajukan pertanyaan terbuka</a:t>
            </a:r>
            <a:endParaRPr sz="1200">
              <a:solidFill>
                <a:srgbClr val="A667A5"/>
              </a:solidFill>
              <a:latin typeface="Raleway Medium"/>
              <a:ea typeface="Raleway Medium"/>
              <a:cs typeface="Raleway Medium"/>
              <a:sym typeface="Raleway Medium"/>
            </a:endParaRPr>
          </a:p>
        </p:txBody>
      </p:sp>
      <p:sp>
        <p:nvSpPr>
          <p:cNvPr id="571" name="Google Shape;571;p76"/>
          <p:cNvSpPr/>
          <p:nvPr/>
        </p:nvSpPr>
        <p:spPr>
          <a:xfrm>
            <a:off x="685800" y="3110175"/>
            <a:ext cx="7772400" cy="486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Untuk menghindari bias, Anda perlu membuat tugas sebagai tujuan, bukan instruksi.</a:t>
            </a:r>
            <a:endParaRPr b="1" sz="1000">
              <a:solidFill>
                <a:srgbClr val="733572"/>
              </a:solidFill>
              <a:latin typeface="Raleway"/>
              <a:ea typeface="Raleway"/>
              <a:cs typeface="Raleway"/>
              <a:sym typeface="Raleway"/>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7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77" name="Google Shape;577;p7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beberapa cara untuk menghindari bias,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Bandingkan catatan dengan rekan kerja</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Kumpulkan metrik kuantitatif</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Hindari</a:t>
            </a:r>
            <a:r>
              <a:rPr lang="en" sz="1200">
                <a:solidFill>
                  <a:schemeClr val="lt1"/>
                </a:solidFill>
                <a:latin typeface="Raleway Medium"/>
                <a:ea typeface="Raleway Medium"/>
                <a:cs typeface="Raleway Medium"/>
                <a:sym typeface="Raleway Medium"/>
              </a:rPr>
              <a:t> produk pesaing untuk referensi</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Tanyakan kepada pengguna apa yang penting bagi mereka</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7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83" name="Google Shape;583;p7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5.</a:t>
            </a:r>
            <a:r>
              <a:rPr b="1" lang="en" sz="1800">
                <a:solidFill>
                  <a:schemeClr val="lt1"/>
                </a:solidFill>
                <a:latin typeface="Raleway"/>
                <a:ea typeface="Raleway"/>
                <a:cs typeface="Raleway"/>
                <a:sym typeface="Raleway"/>
              </a:rPr>
              <a:t> Berikut adalah beberapa cara untuk menghindari bias,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Bandingkan catatan dengan rekan kerja</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Kumpulkan metrik kuantitatif</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Hindari produk pesaing untuk referensi</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Tanyakan kepada pengguna apa yang penting bagi mereka</a:t>
            </a:r>
            <a:endParaRPr sz="1200">
              <a:solidFill>
                <a:srgbClr val="A667A5"/>
              </a:solidFill>
              <a:latin typeface="Raleway Medium"/>
              <a:ea typeface="Raleway Medium"/>
              <a:cs typeface="Raleway Medium"/>
              <a:sym typeface="Raleway Medium"/>
            </a:endParaRPr>
          </a:p>
        </p:txBody>
      </p:sp>
      <p:sp>
        <p:nvSpPr>
          <p:cNvPr id="584" name="Google Shape;584;p78"/>
          <p:cNvSpPr/>
          <p:nvPr/>
        </p:nvSpPr>
        <p:spPr>
          <a:xfrm>
            <a:off x="685800" y="3110175"/>
            <a:ext cx="7772400" cy="4863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Sebaliknya, kita perlu melibatkan produk pesaing pada tugas pengujian, atau menyelipkan pada pertanyaan pada pengguna,</a:t>
            </a:r>
            <a:endParaRPr b="1" sz="1000">
              <a:solidFill>
                <a:srgbClr val="733572"/>
              </a:solidFill>
              <a:latin typeface="Raleway"/>
              <a:ea typeface="Raleway"/>
              <a:cs typeface="Raleway"/>
              <a:sym typeface="Raleway"/>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7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90" name="Google Shape;590;p7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1800">
                <a:solidFill>
                  <a:schemeClr val="lt1"/>
                </a:solidFill>
                <a:latin typeface="Raleway"/>
                <a:ea typeface="Raleway"/>
                <a:cs typeface="Raleway"/>
                <a:sym typeface="Raleway"/>
              </a:rPr>
              <a:t> Berikut adalah beberapa cara untuk membuat sebuah laporan lebih efektif.,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Perlihatkan semua masalah dengan spesifik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Berikan bukti dan solusi masalah</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Sertakan temuan positif yang ditemukan</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8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596" name="Google Shape;596;p8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6</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Berikut adalah </a:t>
            </a:r>
            <a:r>
              <a:rPr b="1" lang="en" sz="1800">
                <a:solidFill>
                  <a:schemeClr val="lt1"/>
                </a:solidFill>
                <a:latin typeface="Raleway"/>
                <a:ea typeface="Raleway"/>
                <a:cs typeface="Raleway"/>
                <a:sym typeface="Raleway"/>
              </a:rPr>
              <a:t>beberapa cara untuk membuat sebuah laporan lebih efektif.</a:t>
            </a:r>
            <a:r>
              <a:rPr b="1" lang="en" sz="1800">
                <a:solidFill>
                  <a:schemeClr val="lt1"/>
                </a:solidFill>
                <a:latin typeface="Raleway"/>
                <a:ea typeface="Raleway"/>
                <a:cs typeface="Raleway"/>
                <a:sym typeface="Raleway"/>
              </a:rPr>
              <a:t>, kecuali...</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Perlihatkan semua masalah dengan spesifik</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Berikan bukti dan solusi masalah</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Sertakan temuan positif yang ditemukan</a:t>
            </a:r>
            <a:endParaRPr sz="1200">
              <a:solidFill>
                <a:srgbClr val="A667A5"/>
              </a:solidFill>
              <a:latin typeface="Raleway Medium"/>
              <a:ea typeface="Raleway Medium"/>
              <a:cs typeface="Raleway Medium"/>
              <a:sym typeface="Raleway Medium"/>
            </a:endParaRPr>
          </a:p>
        </p:txBody>
      </p:sp>
      <p:sp>
        <p:nvSpPr>
          <p:cNvPr id="597" name="Google Shape;597;p80"/>
          <p:cNvSpPr/>
          <p:nvPr/>
        </p:nvSpPr>
        <p:spPr>
          <a:xfrm>
            <a:off x="685800" y="3262575"/>
            <a:ext cx="7772400" cy="647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Tidak perlu memperlihatkan semua masalah dengan spesifik, hanya yang mendesak. Sisanya bisa diperlihatkan akan tetapi tidak perlu dibahas dengan detil karena akan memakan waktu.</a:t>
            </a:r>
            <a:endParaRPr b="1" sz="1000">
              <a:solidFill>
                <a:srgbClr val="733572"/>
              </a:solidFill>
              <a:latin typeface="Raleway"/>
              <a:ea typeface="Raleway"/>
              <a:cs typeface="Raleway"/>
              <a:sym typeface="Raleway"/>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8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03" name="Google Shape;603;p8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7</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Pastikan untuk melakukan pengujian QA yang ekstensif sebelum melakukan pengujian kegunaan apa pun atau Anda akan membuang banyak waktu. Apa itu QA?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Quality Assuming</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Quality Assurance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Quantity Assurance</a:t>
            </a:r>
            <a:endParaRPr sz="12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Medium"/>
              <a:buAutoNum type="alphaUcPeriod"/>
            </a:pPr>
            <a:r>
              <a:rPr lang="en" sz="1200">
                <a:solidFill>
                  <a:schemeClr val="lt1"/>
                </a:solidFill>
                <a:latin typeface="Raleway Medium"/>
                <a:ea typeface="Raleway Medium"/>
                <a:cs typeface="Raleway Medium"/>
                <a:sym typeface="Raleway Medium"/>
              </a:rPr>
              <a:t>Qualification Agreement</a:t>
            </a:r>
            <a:endParaRPr sz="1200">
              <a:solidFill>
                <a:schemeClr val="lt1"/>
              </a:solidFill>
              <a:latin typeface="Raleway Medium"/>
              <a:ea typeface="Raleway Medium"/>
              <a:cs typeface="Raleway Medium"/>
              <a:sym typeface="Raleway Medium"/>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8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Quiz</a:t>
            </a:r>
            <a:endParaRPr/>
          </a:p>
        </p:txBody>
      </p:sp>
      <p:sp>
        <p:nvSpPr>
          <p:cNvPr id="609" name="Google Shape;609;p8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2800">
                <a:solidFill>
                  <a:schemeClr val="accent1"/>
                </a:solidFill>
                <a:latin typeface="Raleway"/>
                <a:ea typeface="Raleway"/>
                <a:cs typeface="Raleway"/>
                <a:sym typeface="Raleway"/>
              </a:rPr>
              <a:t>7</a:t>
            </a:r>
            <a:r>
              <a:rPr b="1" lang="en" sz="2800">
                <a:solidFill>
                  <a:schemeClr val="accent1"/>
                </a:solidFill>
                <a:latin typeface="Raleway"/>
                <a:ea typeface="Raleway"/>
                <a:cs typeface="Raleway"/>
                <a:sym typeface="Raleway"/>
              </a:rPr>
              <a:t>.</a:t>
            </a:r>
            <a:r>
              <a:rPr b="1" lang="en" sz="1800">
                <a:solidFill>
                  <a:schemeClr val="lt1"/>
                </a:solidFill>
                <a:latin typeface="Raleway"/>
                <a:ea typeface="Raleway"/>
                <a:cs typeface="Raleway"/>
                <a:sym typeface="Raleway"/>
              </a:rPr>
              <a:t> Pastikan untuk melakukan pengujian QA yang ekstensif sebelum melakukan pengujian kegunaan apa pun atau Anda akan membuang banyak waktu. Apa itu QA?</a:t>
            </a:r>
            <a:endParaRPr b="1" sz="1800">
              <a:solidFill>
                <a:schemeClr val="lt1"/>
              </a:solidFill>
              <a:latin typeface="Raleway"/>
              <a:ea typeface="Raleway"/>
              <a:cs typeface="Raleway"/>
              <a:sym typeface="Raleway"/>
            </a:endParaRPr>
          </a:p>
          <a:p>
            <a:pPr indent="0" lvl="0" marL="0" rtl="0" algn="l">
              <a:lnSpc>
                <a:spcPct val="115000"/>
              </a:lnSpc>
              <a:spcBef>
                <a:spcPts val="0"/>
              </a:spcBef>
              <a:spcAft>
                <a:spcPts val="0"/>
              </a:spcAft>
              <a:buNone/>
            </a:pPr>
            <a:r>
              <a:t/>
            </a:r>
            <a:endParaRPr sz="1800">
              <a:solidFill>
                <a:schemeClr val="lt1"/>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Quality Assuming</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chemeClr val="lt1"/>
              </a:buClr>
              <a:buSzPts val="1200"/>
              <a:buFont typeface="Raleway"/>
              <a:buAutoNum type="alphaUcPeriod"/>
            </a:pPr>
            <a:r>
              <a:rPr b="1" lang="en" sz="1200">
                <a:solidFill>
                  <a:schemeClr val="lt1"/>
                </a:solidFill>
                <a:latin typeface="Raleway"/>
                <a:ea typeface="Raleway"/>
                <a:cs typeface="Raleway"/>
                <a:sym typeface="Raleway"/>
              </a:rPr>
              <a:t>Quality Assurance</a:t>
            </a:r>
            <a:endParaRPr b="1" sz="1200">
              <a:solidFill>
                <a:schemeClr val="lt1"/>
              </a:solidFill>
              <a:latin typeface="Raleway"/>
              <a:ea typeface="Raleway"/>
              <a:cs typeface="Raleway"/>
              <a:sym typeface="Raleway"/>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Quantity Assurance</a:t>
            </a:r>
            <a:endParaRPr sz="1200">
              <a:solidFill>
                <a:srgbClr val="A667A5"/>
              </a:solidFill>
              <a:latin typeface="Raleway Medium"/>
              <a:ea typeface="Raleway Medium"/>
              <a:cs typeface="Raleway Medium"/>
              <a:sym typeface="Raleway Medium"/>
            </a:endParaRPr>
          </a:p>
          <a:p>
            <a:pPr indent="-304800" lvl="0" marL="457200" rtl="0" algn="l">
              <a:lnSpc>
                <a:spcPct val="115000"/>
              </a:lnSpc>
              <a:spcBef>
                <a:spcPts val="0"/>
              </a:spcBef>
              <a:spcAft>
                <a:spcPts val="0"/>
              </a:spcAft>
              <a:buClr>
                <a:srgbClr val="A667A5"/>
              </a:buClr>
              <a:buSzPts val="1200"/>
              <a:buFont typeface="Raleway Medium"/>
              <a:buAutoNum type="alphaUcPeriod"/>
            </a:pPr>
            <a:r>
              <a:rPr lang="en" sz="1200">
                <a:solidFill>
                  <a:srgbClr val="A667A5"/>
                </a:solidFill>
                <a:latin typeface="Raleway Medium"/>
                <a:ea typeface="Raleway Medium"/>
                <a:cs typeface="Raleway Medium"/>
                <a:sym typeface="Raleway Medium"/>
              </a:rPr>
              <a:t>Qualification Agreement</a:t>
            </a:r>
            <a:endParaRPr sz="1200">
              <a:solidFill>
                <a:srgbClr val="A667A5"/>
              </a:solidFill>
              <a:latin typeface="Raleway Medium"/>
              <a:ea typeface="Raleway Medium"/>
              <a:cs typeface="Raleway Medium"/>
              <a:sym typeface="Raleway Medium"/>
            </a:endParaRPr>
          </a:p>
        </p:txBody>
      </p:sp>
      <p:sp>
        <p:nvSpPr>
          <p:cNvPr id="610" name="Google Shape;610;p82"/>
          <p:cNvSpPr/>
          <p:nvPr/>
        </p:nvSpPr>
        <p:spPr>
          <a:xfrm>
            <a:off x="685800" y="3795975"/>
            <a:ext cx="7772400" cy="6474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000">
                <a:solidFill>
                  <a:srgbClr val="733572"/>
                </a:solidFill>
                <a:latin typeface="Raleway"/>
                <a:ea typeface="Raleway"/>
                <a:cs typeface="Raleway"/>
                <a:sym typeface="Raleway"/>
              </a:rPr>
              <a:t>QA singkatan dari Quality Assurance adalah serangkaian proses sistematis untuk menentukan apakah suatu produk atau jasa memenuhi syarat.</a:t>
            </a:r>
            <a:endParaRPr b="1" sz="1000">
              <a:solidFill>
                <a:srgbClr val="733572"/>
              </a:solidFill>
              <a:latin typeface="Raleway"/>
              <a:ea typeface="Raleway"/>
              <a:cs typeface="Raleway"/>
              <a:sym typeface="Raleway"/>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4" name="Shape 614"/>
        <p:cNvGrpSpPr/>
        <p:nvPr/>
      </p:nvGrpSpPr>
      <p:grpSpPr>
        <a:xfrm>
          <a:off x="0" y="0"/>
          <a:ext cx="0" cy="0"/>
          <a:chOff x="0" y="0"/>
          <a:chExt cx="0" cy="0"/>
        </a:xfrm>
      </p:grpSpPr>
      <p:sp>
        <p:nvSpPr>
          <p:cNvPr id="615" name="Google Shape;615;p8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6" name="Google Shape;616;p8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t>Referensi dan bacaan lebih lanjut</a:t>
            </a:r>
            <a:endParaRPr/>
          </a:p>
        </p:txBody>
      </p:sp>
      <p:pic>
        <p:nvPicPr>
          <p:cNvPr id="617" name="Google Shape;617;p83"/>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18" name="Google Shape;618;p83"/>
          <p:cNvSpPr txBox="1"/>
          <p:nvPr/>
        </p:nvSpPr>
        <p:spPr>
          <a:xfrm>
            <a:off x="685800" y="1024125"/>
            <a:ext cx="44577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800">
                <a:solidFill>
                  <a:srgbClr val="743673"/>
                </a:solidFill>
                <a:highlight>
                  <a:schemeClr val="lt1"/>
                </a:highlight>
                <a:latin typeface="Raleway"/>
                <a:ea typeface="Raleway"/>
                <a:cs typeface="Raleway"/>
                <a:sym typeface="Raleway"/>
              </a:rPr>
              <a:t>Referensi dan bacaan lebih lanjut</a:t>
            </a:r>
            <a:endParaRPr b="1" sz="1800">
              <a:solidFill>
                <a:srgbClr val="743673"/>
              </a:solidFill>
              <a:highlight>
                <a:schemeClr val="lt1"/>
              </a:highlight>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1) </a:t>
            </a:r>
            <a:r>
              <a:rPr lang="en" sz="1200">
                <a:solidFill>
                  <a:schemeClr val="hlink"/>
                </a:solidFill>
                <a:uFill>
                  <a:noFill/>
                </a:uFill>
                <a:latin typeface="Raleway Medium"/>
                <a:ea typeface="Raleway Medium"/>
                <a:cs typeface="Raleway Medium"/>
                <a:sym typeface="Raleway Medium"/>
                <a:hlinkClick r:id="rId4"/>
              </a:rPr>
              <a:t>Design Thinking by Interaction Design Foundation</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2) </a:t>
            </a:r>
            <a:r>
              <a:rPr lang="en" sz="1200">
                <a:solidFill>
                  <a:schemeClr val="hlink"/>
                </a:solidFill>
                <a:uFill>
                  <a:noFill/>
                </a:uFill>
                <a:latin typeface="Raleway Medium"/>
                <a:ea typeface="Raleway Medium"/>
                <a:cs typeface="Raleway Medium"/>
                <a:sym typeface="Raleway Medium"/>
                <a:hlinkClick r:id="rId5"/>
              </a:rPr>
              <a:t>Best practices for </a:t>
            </a:r>
            <a:r>
              <a:rPr lang="en" sz="1200">
                <a:solidFill>
                  <a:schemeClr val="hlink"/>
                </a:solidFill>
                <a:uFill>
                  <a:noFill/>
                </a:uFill>
                <a:latin typeface="Raleway Medium"/>
                <a:ea typeface="Raleway Medium"/>
                <a:cs typeface="Raleway Medium"/>
                <a:sym typeface="Raleway Medium"/>
                <a:hlinkClick r:id="rId6"/>
              </a:rPr>
              <a:t>usability</a:t>
            </a:r>
            <a:r>
              <a:rPr lang="en" sz="1200">
                <a:solidFill>
                  <a:schemeClr val="hlink"/>
                </a:solidFill>
                <a:uFill>
                  <a:noFill/>
                </a:uFill>
                <a:latin typeface="Raleway Medium"/>
                <a:ea typeface="Raleway Medium"/>
                <a:cs typeface="Raleway Medium"/>
                <a:sym typeface="Raleway Medium"/>
                <a:hlinkClick r:id="rId7"/>
              </a:rPr>
              <a:t> testing in UX design</a:t>
            </a:r>
            <a:r>
              <a:rPr lang="en" sz="1200">
                <a:solidFill>
                  <a:schemeClr val="hlink"/>
                </a:solidFill>
                <a:uFill>
                  <a:noFill/>
                </a:uFill>
                <a:latin typeface="Raleway Medium"/>
                <a:ea typeface="Raleway Medium"/>
                <a:cs typeface="Raleway Medium"/>
                <a:sym typeface="Raleway Medium"/>
                <a:hlinkClick r:id="rId8"/>
              </a:rPr>
              <a:t> by   </a:t>
            </a:r>
            <a:endParaRPr/>
          </a:p>
          <a:p>
            <a:pPr indent="0" lvl="0" marL="0" rtl="0" algn="l">
              <a:lnSpc>
                <a:spcPct val="115000"/>
              </a:lnSpc>
              <a:spcBef>
                <a:spcPts val="0"/>
              </a:spcBef>
              <a:spcAft>
                <a:spcPts val="0"/>
              </a:spcAft>
              <a:buNone/>
            </a:pPr>
            <a:r>
              <a:rPr lang="en"/>
              <a:t>   </a:t>
            </a:r>
            <a:r>
              <a:rPr lang="en" sz="1200">
                <a:solidFill>
                  <a:schemeClr val="hlink"/>
                </a:solidFill>
                <a:uFill>
                  <a:noFill/>
                </a:uFill>
                <a:latin typeface="Raleway Medium"/>
                <a:ea typeface="Raleway Medium"/>
                <a:cs typeface="Raleway Medium"/>
                <a:sym typeface="Raleway Medium"/>
                <a:hlinkClick r:id="rId9"/>
              </a:rPr>
              <a:t>Adobe XD</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3) </a:t>
            </a:r>
            <a:r>
              <a:rPr lang="en" sz="1200">
                <a:solidFill>
                  <a:schemeClr val="hlink"/>
                </a:solidFill>
                <a:uFill>
                  <a:noFill/>
                </a:uFill>
                <a:latin typeface="Raleway Medium"/>
                <a:ea typeface="Raleway Medium"/>
                <a:cs typeface="Raleway Medium"/>
                <a:sym typeface="Raleway Medium"/>
                <a:hlinkClick r:id="rId10"/>
              </a:rPr>
              <a:t>Why you only need to test with 5 users by Nielsen Norman </a:t>
            </a:r>
            <a:br>
              <a:rPr lang="en" sz="1200">
                <a:solidFill>
                  <a:schemeClr val="hlink"/>
                </a:solidFill>
                <a:uFill>
                  <a:noFill/>
                </a:uFill>
                <a:latin typeface="Raleway Medium"/>
                <a:ea typeface="Raleway Medium"/>
                <a:cs typeface="Raleway Medium"/>
                <a:sym typeface="Raleway Medium"/>
                <a:hlinkClick r:id="rId11"/>
              </a:rPr>
            </a:br>
            <a:r>
              <a:rPr lang="en" sz="1200">
                <a:solidFill>
                  <a:schemeClr val="hlink"/>
                </a:solidFill>
                <a:uFill>
                  <a:noFill/>
                </a:uFill>
                <a:latin typeface="Raleway Medium"/>
                <a:ea typeface="Raleway Medium"/>
                <a:cs typeface="Raleway Medium"/>
                <a:sym typeface="Raleway Medium"/>
                <a:hlinkClick r:id="rId12"/>
              </a:rPr>
              <a:t>    Group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None/>
            </a:pPr>
            <a:r>
              <a:rPr lang="en" sz="1200">
                <a:solidFill>
                  <a:schemeClr val="dk1"/>
                </a:solidFill>
                <a:latin typeface="Raleway Medium"/>
                <a:ea typeface="Raleway Medium"/>
                <a:cs typeface="Raleway Medium"/>
                <a:sym typeface="Raleway Medium"/>
              </a:rPr>
              <a:t>4) </a:t>
            </a:r>
            <a:r>
              <a:rPr lang="en" sz="1200">
                <a:solidFill>
                  <a:schemeClr val="hlink"/>
                </a:solidFill>
                <a:uFill>
                  <a:noFill/>
                </a:uFill>
                <a:latin typeface="Raleway Medium"/>
                <a:ea typeface="Raleway Medium"/>
                <a:cs typeface="Raleway Medium"/>
                <a:sym typeface="Raleway Medium"/>
                <a:hlinkClick r:id="rId13"/>
              </a:rPr>
              <a:t>Avoid bias in user testing by Trymyui </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5) </a:t>
            </a:r>
            <a:r>
              <a:rPr lang="en" sz="1200">
                <a:solidFill>
                  <a:schemeClr val="hlink"/>
                </a:solidFill>
                <a:uFill>
                  <a:noFill/>
                </a:uFill>
                <a:latin typeface="Raleway Medium"/>
                <a:ea typeface="Raleway Medium"/>
                <a:cs typeface="Raleway Medium"/>
                <a:sym typeface="Raleway Medium"/>
                <a:hlinkClick r:id="rId14"/>
              </a:rPr>
              <a:t>Understanding users first impressions of website by Trymyui</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6) </a:t>
            </a:r>
            <a:r>
              <a:rPr lang="en" sz="1200">
                <a:solidFill>
                  <a:schemeClr val="hlink"/>
                </a:solidFill>
                <a:uFill>
                  <a:noFill/>
                </a:uFill>
                <a:latin typeface="Raleway Medium"/>
                <a:ea typeface="Raleway Medium"/>
                <a:cs typeface="Raleway Medium"/>
                <a:sym typeface="Raleway Medium"/>
                <a:hlinkClick r:id="rId15"/>
              </a:rPr>
              <a:t>How to write tasks, Vol. 3: Prototype &amp; wireframe usability </a:t>
            </a:r>
            <a:br>
              <a:rPr lang="en" sz="1200">
                <a:solidFill>
                  <a:schemeClr val="hlink"/>
                </a:solidFill>
                <a:uFill>
                  <a:noFill/>
                </a:uFill>
                <a:latin typeface="Raleway Medium"/>
                <a:ea typeface="Raleway Medium"/>
                <a:cs typeface="Raleway Medium"/>
                <a:sym typeface="Raleway Medium"/>
                <a:hlinkClick r:id="rId16"/>
              </a:rPr>
            </a:br>
            <a:r>
              <a:rPr lang="en" sz="1200">
                <a:solidFill>
                  <a:schemeClr val="hlink"/>
                </a:solidFill>
                <a:uFill>
                  <a:noFill/>
                </a:uFill>
                <a:latin typeface="Raleway Medium"/>
                <a:ea typeface="Raleway Medium"/>
                <a:cs typeface="Raleway Medium"/>
                <a:sym typeface="Raleway Medium"/>
                <a:hlinkClick r:id="rId17"/>
              </a:rPr>
              <a:t>    testing by Trymyui</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7) </a:t>
            </a:r>
            <a:r>
              <a:rPr lang="en" sz="1200">
                <a:solidFill>
                  <a:schemeClr val="hlink"/>
                </a:solidFill>
                <a:uFill>
                  <a:noFill/>
                </a:uFill>
                <a:latin typeface="Raleway Medium"/>
                <a:ea typeface="Raleway Medium"/>
                <a:cs typeface="Raleway Medium"/>
                <a:sym typeface="Raleway Medium"/>
                <a:hlinkClick r:id="rId18"/>
              </a:rPr>
              <a:t>How to analyze and report usability test results by Maze</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8) </a:t>
            </a:r>
            <a:r>
              <a:rPr lang="en" sz="1200">
                <a:solidFill>
                  <a:schemeClr val="hlink"/>
                </a:solidFill>
                <a:uFill>
                  <a:noFill/>
                </a:uFill>
                <a:latin typeface="Raleway Medium"/>
                <a:ea typeface="Raleway Medium"/>
                <a:cs typeface="Raleway Medium"/>
                <a:sym typeface="Raleway Medium"/>
                <a:hlinkClick r:id="rId19"/>
              </a:rPr>
              <a:t>Usability testing template checklist by Hotjar</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9) </a:t>
            </a:r>
            <a:r>
              <a:rPr lang="en" sz="1200">
                <a:solidFill>
                  <a:schemeClr val="hlink"/>
                </a:solidFill>
                <a:uFill>
                  <a:noFill/>
                </a:uFill>
                <a:latin typeface="Raleway Medium"/>
                <a:ea typeface="Raleway Medium"/>
                <a:cs typeface="Raleway Medium"/>
                <a:sym typeface="Raleway Medium"/>
                <a:hlinkClick r:id="rId20"/>
              </a:rPr>
              <a:t>Usability evaluation and analysis by Hotjar</a:t>
            </a:r>
            <a:br>
              <a:rPr lang="en" sz="1200">
                <a:solidFill>
                  <a:schemeClr val="dk1"/>
                </a:solidFill>
                <a:latin typeface="Raleway Medium"/>
                <a:ea typeface="Raleway Medium"/>
                <a:cs typeface="Raleway Medium"/>
                <a:sym typeface="Raleway Medium"/>
              </a:rPr>
            </a:br>
            <a:r>
              <a:rPr lang="en" sz="1200">
                <a:solidFill>
                  <a:schemeClr val="dk1"/>
                </a:solidFill>
                <a:latin typeface="Raleway Medium"/>
                <a:ea typeface="Raleway Medium"/>
                <a:cs typeface="Raleway Medium"/>
                <a:sym typeface="Raleway Medium"/>
              </a:rPr>
              <a:t>10) </a:t>
            </a:r>
            <a:r>
              <a:rPr lang="en" sz="1200">
                <a:solidFill>
                  <a:schemeClr val="hlink"/>
                </a:solidFill>
                <a:uFill>
                  <a:noFill/>
                </a:uFill>
                <a:latin typeface="Raleway Medium"/>
                <a:ea typeface="Raleway Medium"/>
                <a:cs typeface="Raleway Medium"/>
                <a:sym typeface="Raleway Medium"/>
                <a:hlinkClick r:id="rId21"/>
              </a:rPr>
              <a:t>Quantitative vs. Qualitative Usability Testing by Nielsen </a:t>
            </a:r>
            <a:br>
              <a:rPr lang="en" sz="1200">
                <a:solidFill>
                  <a:schemeClr val="hlink"/>
                </a:solidFill>
                <a:uFill>
                  <a:noFill/>
                </a:uFill>
                <a:latin typeface="Raleway Medium"/>
                <a:ea typeface="Raleway Medium"/>
                <a:cs typeface="Raleway Medium"/>
                <a:sym typeface="Raleway Medium"/>
                <a:hlinkClick r:id="rId22"/>
              </a:rPr>
            </a:br>
            <a:r>
              <a:rPr lang="en" sz="1200">
                <a:solidFill>
                  <a:schemeClr val="hlink"/>
                </a:solidFill>
                <a:uFill>
                  <a:noFill/>
                </a:uFill>
                <a:latin typeface="Raleway Medium"/>
                <a:ea typeface="Raleway Medium"/>
                <a:cs typeface="Raleway Medium"/>
                <a:sym typeface="Raleway Medium"/>
                <a:hlinkClick r:id="rId23"/>
              </a:rPr>
              <a:t>      Norman Group</a:t>
            </a:r>
            <a:endParaRPr sz="1200">
              <a:solidFill>
                <a:schemeClr val="dk1"/>
              </a:solidFill>
              <a:latin typeface="Raleway Medium"/>
              <a:ea typeface="Raleway Medium"/>
              <a:cs typeface="Raleway Medium"/>
              <a:sym typeface="Raleway Medium"/>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622" name="Shape 622"/>
        <p:cNvGrpSpPr/>
        <p:nvPr/>
      </p:nvGrpSpPr>
      <p:grpSpPr>
        <a:xfrm>
          <a:off x="0" y="0"/>
          <a:ext cx="0" cy="0"/>
          <a:chOff x="0" y="0"/>
          <a:chExt cx="0" cy="0"/>
        </a:xfrm>
      </p:grpSpPr>
      <p:sp>
        <p:nvSpPr>
          <p:cNvPr id="623" name="Google Shape;623;p84"/>
          <p:cNvSpPr/>
          <p:nvPr/>
        </p:nvSpPr>
        <p:spPr>
          <a:xfrm>
            <a:off x="4031975" y="2179724"/>
            <a:ext cx="2448300" cy="24483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24" name="Google Shape;624;p84"/>
          <p:cNvSpPr/>
          <p:nvPr/>
        </p:nvSpPr>
        <p:spPr>
          <a:xfrm>
            <a:off x="2880172" y="732662"/>
            <a:ext cx="3058800" cy="30588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25" name="Google Shape;625;p84"/>
          <p:cNvSpPr/>
          <p:nvPr/>
        </p:nvSpPr>
        <p:spPr>
          <a:xfrm>
            <a:off x="1580031" y="515479"/>
            <a:ext cx="3493200" cy="34932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26" name="Google Shape;626;p84"/>
          <p:cNvSpPr/>
          <p:nvPr/>
        </p:nvSpPr>
        <p:spPr>
          <a:xfrm>
            <a:off x="4787172" y="1388640"/>
            <a:ext cx="2776800" cy="2776800"/>
          </a:xfrm>
          <a:prstGeom prst="ellipse">
            <a:avLst/>
          </a:prstGeom>
          <a:solidFill>
            <a:srgbClr val="5E2B62">
              <a:alpha val="6078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27" name="Google Shape;627;p84"/>
          <p:cNvSpPr/>
          <p:nvPr/>
        </p:nvSpPr>
        <p:spPr>
          <a:xfrm>
            <a:off x="1752271" y="1608981"/>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TERIMA</a:t>
            </a:r>
            <a:endParaRPr b="1" i="0" sz="3600" u="none" cap="none" strike="noStrike">
              <a:solidFill>
                <a:srgbClr val="F2AB2F"/>
              </a:solidFill>
              <a:latin typeface="Montserrat"/>
              <a:ea typeface="Montserrat"/>
              <a:cs typeface="Montserrat"/>
              <a:sym typeface="Montserrat"/>
            </a:endParaRPr>
          </a:p>
        </p:txBody>
      </p:sp>
      <p:sp>
        <p:nvSpPr>
          <p:cNvPr id="628" name="Google Shape;628;p84"/>
          <p:cNvSpPr/>
          <p:nvPr/>
        </p:nvSpPr>
        <p:spPr>
          <a:xfrm>
            <a:off x="1684821" y="2179714"/>
            <a:ext cx="2795700" cy="623400"/>
          </a:xfrm>
          <a:prstGeom prst="rect">
            <a:avLst/>
          </a:prstGeom>
          <a:noFill/>
          <a:ln>
            <a:noFill/>
          </a:ln>
        </p:spPr>
        <p:txBody>
          <a:bodyPr anchorCtr="0" anchor="t" bIns="34275" lIns="68575" spcFirstLastPara="1" rIns="68575" wrap="square" tIns="34275">
            <a:noAutofit/>
          </a:bodyPr>
          <a:lstStyle/>
          <a:p>
            <a:pPr indent="0" lvl="0" marL="0" marR="0" rtl="0" algn="r">
              <a:lnSpc>
                <a:spcPct val="100000"/>
              </a:lnSpc>
              <a:spcBef>
                <a:spcPts val="0"/>
              </a:spcBef>
              <a:spcAft>
                <a:spcPts val="0"/>
              </a:spcAft>
              <a:buClr>
                <a:srgbClr val="F2AB2F"/>
              </a:buClr>
              <a:buSzPts val="3600"/>
              <a:buFont typeface="Montserrat"/>
              <a:buNone/>
            </a:pPr>
            <a:r>
              <a:rPr b="1" lang="en" sz="3600">
                <a:solidFill>
                  <a:srgbClr val="F2AB2F"/>
                </a:solidFill>
                <a:latin typeface="Montserrat"/>
                <a:ea typeface="Montserrat"/>
                <a:cs typeface="Montserrat"/>
                <a:sym typeface="Montserrat"/>
              </a:rPr>
              <a:t>KASIH</a:t>
            </a:r>
            <a:endParaRPr sz="1100"/>
          </a:p>
        </p:txBody>
      </p:sp>
      <p:pic>
        <p:nvPicPr>
          <p:cNvPr id="629" name="Google Shape;629;p84"/>
          <p:cNvPicPr preferRelativeResize="0"/>
          <p:nvPr/>
        </p:nvPicPr>
        <p:blipFill rotWithShape="1">
          <a:blip r:embed="rId3">
            <a:alphaModFix/>
          </a:blip>
          <a:srcRect b="0" l="0" r="13247" t="0"/>
          <a:stretch/>
        </p:blipFill>
        <p:spPr>
          <a:xfrm>
            <a:off x="5450801" y="1946964"/>
            <a:ext cx="1440495" cy="1660396"/>
          </a:xfrm>
          <a:prstGeom prst="rect">
            <a:avLst/>
          </a:prstGeom>
          <a:noFill/>
          <a:ln>
            <a:noFill/>
          </a:ln>
        </p:spPr>
      </p:pic>
      <p:sp>
        <p:nvSpPr>
          <p:cNvPr id="630" name="Google Shape;630;p84"/>
          <p:cNvSpPr/>
          <p:nvPr/>
        </p:nvSpPr>
        <p:spPr>
          <a:xfrm>
            <a:off x="2000840" y="3114985"/>
            <a:ext cx="1341000" cy="1341000"/>
          </a:xfrm>
          <a:prstGeom prst="ellipse">
            <a:avLst/>
          </a:prstGeom>
          <a:solidFill>
            <a:srgbClr val="5E2B62">
              <a:alpha val="43920"/>
            </a:srgbClr>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