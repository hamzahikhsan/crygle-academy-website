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Lst>
  <p:sldSz cy="5143500" cx="9144000"/>
  <p:notesSz cx="6858000" cy="9144000"/>
  <p:embeddedFontLst>
    <p:embeddedFont>
      <p:font typeface="Raleway"/>
      <p:regular r:id="rId76"/>
      <p:bold r:id="rId77"/>
      <p:italic r:id="rId78"/>
      <p:boldItalic r:id="rId79"/>
    </p:embeddedFont>
    <p:embeddedFont>
      <p:font typeface="Montserrat"/>
      <p:regular r:id="rId80"/>
      <p:bold r:id="rId81"/>
      <p:italic r:id="rId82"/>
      <p:boldItalic r:id="rId83"/>
    </p:embeddedFont>
    <p:embeddedFont>
      <p:font typeface="Lato Black"/>
      <p:bold r:id="rId84"/>
      <p:boldItalic r:id="rId85"/>
    </p:embeddedFont>
    <p:embeddedFont>
      <p:font typeface="Raleway Medium"/>
      <p:regular r:id="rId86"/>
      <p:bold r:id="rId87"/>
      <p:italic r:id="rId88"/>
      <p:boldItalic r:id="rId8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LatoBlack-bold.fntdata"/><Relationship Id="rId83" Type="http://schemas.openxmlformats.org/officeDocument/2006/relationships/font" Target="fonts/Montserrat-boldItalic.fntdata"/><Relationship Id="rId42" Type="http://schemas.openxmlformats.org/officeDocument/2006/relationships/slide" Target="slides/slide37.xml"/><Relationship Id="rId86" Type="http://schemas.openxmlformats.org/officeDocument/2006/relationships/font" Target="fonts/RalewayMedium-regular.fntdata"/><Relationship Id="rId41" Type="http://schemas.openxmlformats.org/officeDocument/2006/relationships/slide" Target="slides/slide36.xml"/><Relationship Id="rId85" Type="http://schemas.openxmlformats.org/officeDocument/2006/relationships/font" Target="fonts/LatoBlack-boldItalic.fntdata"/><Relationship Id="rId44" Type="http://schemas.openxmlformats.org/officeDocument/2006/relationships/slide" Target="slides/slide39.xml"/><Relationship Id="rId88" Type="http://schemas.openxmlformats.org/officeDocument/2006/relationships/font" Target="fonts/RalewayMedium-italic.fntdata"/><Relationship Id="rId43" Type="http://schemas.openxmlformats.org/officeDocument/2006/relationships/slide" Target="slides/slide38.xml"/><Relationship Id="rId87" Type="http://schemas.openxmlformats.org/officeDocument/2006/relationships/font" Target="fonts/RalewayMedium-bold.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alewayMedium-boldItalic.fntdata"/><Relationship Id="rId80" Type="http://schemas.openxmlformats.org/officeDocument/2006/relationships/font" Target="fonts/Montserrat-regular.fntdata"/><Relationship Id="rId82" Type="http://schemas.openxmlformats.org/officeDocument/2006/relationships/font" Target="fonts/Montserrat-italic.fntdata"/><Relationship Id="rId81" Type="http://schemas.openxmlformats.org/officeDocument/2006/relationships/font" Target="fonts/Montserra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Raleway-bold.fntdata"/><Relationship Id="rId32" Type="http://schemas.openxmlformats.org/officeDocument/2006/relationships/slide" Target="slides/slide27.xml"/><Relationship Id="rId76" Type="http://schemas.openxmlformats.org/officeDocument/2006/relationships/font" Target="fonts/Raleway-regular.fntdata"/><Relationship Id="rId35" Type="http://schemas.openxmlformats.org/officeDocument/2006/relationships/slide" Target="slides/slide30.xml"/><Relationship Id="rId79" Type="http://schemas.openxmlformats.org/officeDocument/2006/relationships/font" Target="fonts/Raleway-boldItalic.fntdata"/><Relationship Id="rId34" Type="http://schemas.openxmlformats.org/officeDocument/2006/relationships/slide" Target="slides/slide29.xml"/><Relationship Id="rId78" Type="http://schemas.openxmlformats.org/officeDocument/2006/relationships/font" Target="fonts/Raleway-italic.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medium.muz.li/basics-of-optical-balance-in-interface-design-ui-4037c033cca2"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ketchappsources.com/free-source/3681-radiance-design-system-sketch-freebie-resource.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misfit.com/2020/09/14/ui-tutorial-6-tips-to-make-better-dark-theme/"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uxpin.com/studio/blog/guide-design-consistency-best-practices-ui-ux-designers/"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charki95?utm_source=unsplash&amp;utm_medium=referral&amp;utm_content=creditCopyText" TargetMode="Externa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balance/" TargetMode="External"/><Relationship Id="rId3" Type="http://schemas.openxmlformats.org/officeDocument/2006/relationships/hyperlink" Target="https://www.theme-junkie.com/how-to-search-multiple-tags-on-tumblr/"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oltonsturgeon?utm_source=unsplash&amp;utm_medium=referral&amp;utm_content=creditCopyText" TargetMode="Externa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hyperlink" Target="https://unsplash.com/s/photos/balance?utm_source=unsplash&amp;utm_medium=referral&amp;utm_content=creditCopyText" TargetMode="External"/><Relationship Id="rId5" Type="http://schemas.openxmlformats.org/officeDocument/2006/relationships/hyperlink" Target="https://unsplash.com/s/photos/balance?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eysupersimi?utm_source=unsplash&amp;utm_medium=referral&amp;utm_content=creditCopyText" TargetMode="Externa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hyperlink" Target="https://unsplash.com/s/photos/alignment-structure?utm_source=unsplash&amp;utm_medium=referral&amp;utm_content=creditCopyText" TargetMode="External"/><Relationship Id="rId5" Type="http://schemas.openxmlformats.org/officeDocument/2006/relationships/hyperlink" Target="https://unsplash.com/s/photos/alignment-structure?utm_source=unsplash&amp;utm_medium=referral&amp;utm_content=creditCopyText"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 Id="rId3" Type="http://schemas.openxmlformats.org/officeDocument/2006/relationships/hyperlink" Target="https://dribbble.com/shots/14345813-Nav-Polish"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xengineer.com/principles-of-design/alignmen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ms2cms.com/blog/microinteraction-design-makes-huge-impact-user-experience/" TargetMode="Externa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3894493-Contact-form-submit-animation"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ribbble.com/shots/1708084-Responsive-Design-Animation" TargetMode="Externa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blog.digitecintl.com/bad-ui-ux-how-to-scare-people-away/" TargetMode="External"/><Relationship Id="rId3" Type="http://schemas.openxmlformats.org/officeDocument/2006/relationships/hyperlink" Target="https://careerfoundry.com/en/blog/ui-design/common-ui-design-mistakes/"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areerfoundry.com/en/blog/ui-design/common-ui-design-mistakes/" TargetMode="Externa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0b12bec43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0b12bec43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0b12bec43e_0_8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0b12bec43e_0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1489605c65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1489605c65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https://medium.muz.li/basics-of-optical-balance-in-interface-design-ui-4037c033cca2</a:t>
            </a:r>
            <a:r>
              <a:rPr lang="en">
                <a:solidFill>
                  <a:schemeClr val="dk1"/>
                </a:solidFill>
              </a:rPr>
              <a:t>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489605c6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489605c6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https://www.sketchappsources.com/free-source/3681-radiance-design-system-sketch-freebie-resource.html</a:t>
            </a:r>
            <a:r>
              <a:rPr lang="en">
                <a:solidFill>
                  <a:schemeClr val="dk1"/>
                </a:solidFill>
              </a:rPr>
              <a:t>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1489605c65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1489605c65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1489605c65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1489605c65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https://uxmisfit.com/2020/09/14/ui-tutorial-6-tips-to-make-better-dark-theme/</a:t>
            </a:r>
            <a:r>
              <a:rPr lang="en">
                <a:solidFill>
                  <a:schemeClr val="dk1"/>
                </a:solidFill>
              </a:rPr>
              <a:t>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489605c65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489605c6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https://www.uxpin.com/studio/blog/guide-design-consistency-best-practices-ui-ux-designers/</a:t>
            </a:r>
            <a:r>
              <a:rPr lang="en">
                <a:solidFill>
                  <a:schemeClr val="dk1"/>
                </a:solidFill>
              </a:rPr>
              <a:t>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1489605c65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1489605c65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1489605c6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11489605c65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1489605c65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1489605c6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1489605c65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1489605c65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13daee7bd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113daee7bd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1489605c6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1489605c6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113daee7bd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113daee7bd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13daee7bd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13daee7bd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https://student-activity.binus.ac.id/klifonara/2019/04/composition-visual-weight/</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1489605c65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1489605c65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1489605c65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1489605c65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13daee7bde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13daee7bde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3daee7bd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13daee7bd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13daee7bd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13daee7bd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13daee7bd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113daee7bd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489605c65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489605c65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Aziz Acharki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11489605c65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11489605c65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113daee7bd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113daee7bd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1489605c65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1489605c65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13daee7bd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13daee7bd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3daee7bd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3daee7bd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https://uxengineer.com/principles-of-design/balance/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113daee7bde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113daee7bde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https://uxengineer.com/principles-of-design/balance/</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13daee7bde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13daee7bde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https://uxengineer.com/principles-of-design/balance/</a:t>
            </a:r>
            <a:r>
              <a:rPr lang="en">
                <a:solidFill>
                  <a:schemeClr val="dk1"/>
                </a:solidFill>
              </a:rPr>
              <a:t> and </a:t>
            </a:r>
            <a:r>
              <a:rPr lang="en" u="sng">
                <a:solidFill>
                  <a:schemeClr val="hlink"/>
                </a:solidFill>
                <a:hlinkClick r:id="rId3"/>
              </a:rPr>
              <a:t>https://www.theme-junkie.com/how-to-search-multiple-tags-on-tumblr/</a:t>
            </a:r>
            <a:r>
              <a:rPr lang="en">
                <a:solidFill>
                  <a:schemeClr val="dk1"/>
                </a:solidFill>
              </a:rPr>
              <a:t>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13daee7bd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13daee7bd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Colton Sturgeon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11489605c65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11489605c65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1489605c65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11489605c65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Simone Hutsch</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13daee7bde_0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113daee7bde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13daee7bde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13daee7bde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13daee7bde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113daee7bde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and </a:t>
            </a:r>
            <a:r>
              <a:rPr lang="en" u="sng">
                <a:solidFill>
                  <a:schemeClr val="hlink"/>
                </a:solidFill>
                <a:hlinkClick r:id="rId3"/>
              </a:rPr>
              <a:t>https://dribbble.com/shots/14345813-Nav-Polish</a:t>
            </a:r>
            <a:r>
              <a:rPr lang="en">
                <a:solidFill>
                  <a:schemeClr val="dk1"/>
                </a:solidFill>
              </a:rPr>
              <a:t> </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13daee7bde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113daee7bde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113daee7bde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113daee7bde_0_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3daee7bde_0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3daee7bde_0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3daee7bd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3daee7bd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3daee7bde_0_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113daee7bde_0_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13daee7bde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113daee7bde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113daee7bde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113daee7bde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https://uxengineer.com/principles-of-design/alignment/</a:t>
            </a:r>
            <a:r>
              <a:rPr lang="en">
                <a:solidFill>
                  <a:schemeClr val="dk1"/>
                </a:solidFill>
              </a:rPr>
              <a:t>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113daee7bde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113daee7bde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https://designtaxi.com/news/402553/Fun-Quiz-Determines-If-Your-Designer-s-Eye-For-Composition-Is-In-Perfect-Shape/</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113daee7bd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113daee7bd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a:solidFill>
                  <a:schemeClr val="dk1"/>
                </a:solidFill>
              </a:rPr>
              <a:t>https://www.supremo.co.uk/designers-eye-christmas/?playagain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113daee7bde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113daee7bde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113daee7bde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113daee7bde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113daee7bd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113daee7bd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113daee7bd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113daee7bd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https://cms2cms.com/blog/microinteraction-design-makes-huge-impact-user-experience/</a:t>
            </a:r>
            <a:r>
              <a:rPr lang="en">
                <a:solidFill>
                  <a:schemeClr val="dk1"/>
                </a:solidFill>
              </a:rPr>
              <a:t>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113daee7bde_0_4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113daee7bde_0_4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https://dribbble.com/shots/3894493-Contact-form-submit-animation</a:t>
            </a:r>
            <a:r>
              <a:rPr lang="en">
                <a:solidFill>
                  <a:schemeClr val="dk1"/>
                </a:solidFill>
              </a:rPr>
              <a:t>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13daee7bde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13daee7bde_0_4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https://dribbble.com/shots/1708084-Responsive-Design-Animation</a:t>
            </a:r>
            <a:r>
              <a:rPr lang="en">
                <a:solidFill>
                  <a:schemeClr val="dk1"/>
                </a:solidFill>
              </a:rPr>
              <a:t>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113daee7bde_0_4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113daee7bde_0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https://www.blog.digitecintl.com/bad-ui-ux-how-to-scare-people-away/</a:t>
            </a:r>
            <a:r>
              <a:rPr lang="en">
                <a:solidFill>
                  <a:schemeClr val="dk1"/>
                </a:solidFill>
              </a:rPr>
              <a:t> and </a:t>
            </a:r>
            <a:r>
              <a:rPr lang="en" u="sng">
                <a:solidFill>
                  <a:schemeClr val="hlink"/>
                </a:solidFill>
                <a:hlinkClick r:id="rId3"/>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113daee7bde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113daee7bde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113daee7bde_0_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113daee7bde_0_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13daee7bde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13daee7bde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a:t>
            </a:r>
            <a:r>
              <a:rPr lang="en" u="sng">
                <a:solidFill>
                  <a:schemeClr val="hlink"/>
                </a:solidFill>
                <a:hlinkClick r:id="rId2"/>
              </a:rPr>
              <a:t>https://careerfoundry.com/en/blog/ui-design/common-ui-design-mistakes/</a:t>
            </a:r>
            <a:r>
              <a:rPr lang="en">
                <a:solidFill>
                  <a:schemeClr val="dk1"/>
                </a:solidFill>
              </a:rPr>
              <a:t>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113daee7bde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113daee7bde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13daee7bde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13daee7bde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13daee7bde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13daee7bde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3daee7bde_0_5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3daee7bde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113daee7bde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2" name="Google Shape;582;g113daee7bde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13daee7bde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113daee7bde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113daee7bde_0_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5" name="Google Shape;595;g113daee7bde_0_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g113daee7bde_0_5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1" name="Google Shape;601;g113daee7bde_0_5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13daee7bde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13daee7bde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113daee7bde_0_5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4" name="Google Shape;614;g113daee7bde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9" name="Google Shape;629;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0.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image" Target="../media/image1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unsplash.com/@acharki95?utm_source=unsplash&amp;utm_medium=referral&amp;utm_content=creditCopyText" TargetMode="External"/><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jp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7.png"/><Relationship Id="rId4" Type="http://schemas.openxmlformats.org/officeDocument/2006/relationships/image" Target="../media/image5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unsplash.com/@coltonsturgeon?utm_source=unsplash&amp;utm_medium=referral&amp;utm_content=creditCopyText" TargetMode="External"/><Relationship Id="rId4" Type="http://schemas.openxmlformats.org/officeDocument/2006/relationships/image" Target="../media/image4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unsplash.com/@heysupersimi?utm_source=unsplash&amp;utm_medium=referral&amp;utm_content=creditCopyText" TargetMode="External"/><Relationship Id="rId4" Type="http://schemas.openxmlformats.org/officeDocument/2006/relationships/image" Target="../media/image3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3.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8.jpg"/><Relationship Id="rId4" Type="http://schemas.openxmlformats.org/officeDocument/2006/relationships/image" Target="../media/image26.png"/><Relationship Id="rId5" Type="http://schemas.openxmlformats.org/officeDocument/2006/relationships/image" Target="../media/image29.png"/><Relationship Id="rId6"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1.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2.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6.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33.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1.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1.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hyperlink" Target="https://www.supremo.co.uk/designers-eye/" TargetMode="External"/><Relationship Id="rId4" Type="http://schemas.openxmlformats.org/officeDocument/2006/relationships/hyperlink" Target="https://www.supremo.co.uk/designers-eye/" TargetMode="External"/><Relationship Id="rId5"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www.supremo.co.uk/designers-eye-christmas/?playagain" TargetMode="External"/><Relationship Id="rId4" Type="http://schemas.openxmlformats.org/officeDocument/2006/relationships/hyperlink" Target="https://www.supremo.co.uk/designers-eye-christmas/?playagain" TargetMode="External"/><Relationship Id="rId5" Type="http://schemas.openxmlformats.org/officeDocument/2006/relationships/image" Target="../media/image4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9.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8.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2.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4.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43.png"/><Relationship Id="rId4" Type="http://schemas.openxmlformats.org/officeDocument/2006/relationships/image" Target="../media/image42.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4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46.png"/><Relationship Id="rId4" Type="http://schemas.openxmlformats.org/officeDocument/2006/relationships/image" Target="../media/image4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0.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1" Type="http://schemas.openxmlformats.org/officeDocument/2006/relationships/hyperlink" Target="https://www.uxpin.com/studio/blog/guide-design-consistency-best-practices-ui-ux-designers/" TargetMode="External"/><Relationship Id="rId10" Type="http://schemas.openxmlformats.org/officeDocument/2006/relationships/hyperlink" Target="https://www.uxpin.com/studio/blog/guide-design-consistency-best-practices-ui-ux-designers/" TargetMode="External"/><Relationship Id="rId13" Type="http://schemas.openxmlformats.org/officeDocument/2006/relationships/hyperlink" Target="https://uxengineer.com/principles-of-design/alignment/" TargetMode="External"/><Relationship Id="rId12" Type="http://schemas.openxmlformats.org/officeDocument/2006/relationships/hyperlink" Target="https://uxengineer.com/principles-of-design/alignment/" TargetMode="External"/><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png"/><Relationship Id="rId4" Type="http://schemas.openxmlformats.org/officeDocument/2006/relationships/hyperlink" Target="https://usabilitygeek.com/10-characteristics-bad-user-experience/" TargetMode="External"/><Relationship Id="rId9" Type="http://schemas.openxmlformats.org/officeDocument/2006/relationships/hyperlink" Target="https://www.uxpin.com/studio/blog/guide-design-consistency-best-practices-ui-ux-designers/" TargetMode="External"/><Relationship Id="rId14" Type="http://schemas.openxmlformats.org/officeDocument/2006/relationships/hyperlink" Target="https://uxengineer.com/principles-of-design/balance/" TargetMode="External"/><Relationship Id="rId5" Type="http://schemas.openxmlformats.org/officeDocument/2006/relationships/hyperlink" Target="https://usabilitygeek.com/10-characteristics-bad-user-experience/" TargetMode="External"/><Relationship Id="rId6" Type="http://schemas.openxmlformats.org/officeDocument/2006/relationships/hyperlink" Target="https://usabilitygeek.com/10-characteristics-bad-user-experience/" TargetMode="External"/><Relationship Id="rId7" Type="http://schemas.openxmlformats.org/officeDocument/2006/relationships/hyperlink" Target="https://careerfoundry.com/en/blog/ui-design/common-ui-design-mistakes/" TargetMode="External"/><Relationship Id="rId8" Type="http://schemas.openxmlformats.org/officeDocument/2006/relationships/hyperlink" Target="https://careerfoundry.com/en/blog/ui-design/common-ui-design-mistakes/"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89" name="Shape 89"/>
        <p:cNvGrpSpPr/>
        <p:nvPr/>
      </p:nvGrpSpPr>
      <p:grpSpPr>
        <a:xfrm>
          <a:off x="0" y="0"/>
          <a:ext cx="0" cy="0"/>
          <a:chOff x="0" y="0"/>
          <a:chExt cx="0" cy="0"/>
        </a:xfrm>
      </p:grpSpPr>
      <p:sp>
        <p:nvSpPr>
          <p:cNvPr id="90" name="Google Shape;90;p18"/>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Desain Baik vs Buruk</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5 - Topic 2</a:t>
            </a:r>
            <a:endParaRPr b="1">
              <a:solidFill>
                <a:srgbClr val="FFFFFF"/>
              </a:solidFill>
              <a:latin typeface="Raleway"/>
              <a:ea typeface="Raleway"/>
              <a:cs typeface="Raleway"/>
              <a:sym typeface="Raleway"/>
            </a:endParaRPr>
          </a:p>
        </p:txBody>
      </p:sp>
      <p:cxnSp>
        <p:nvCxnSpPr>
          <p:cNvPr id="91" name="Google Shape;91;p18"/>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92" name="Google Shape;92;p18"/>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93" name="Google Shape;93;p18"/>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 name="Google Shape;99;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0" name="Google Shape;100;p19"/>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1" name="Google Shape;101;p19"/>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marR="0" rtl="0" algn="just">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Desain Baik vs Buruk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Best practices dalam UI/UX design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Keseimbangan pada desain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Penjajaran pada desain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Membedakan desain yang baik dan buruk</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Best Practices dalam UI/UX design</a:t>
            </a:r>
            <a:endParaRPr/>
          </a:p>
        </p:txBody>
      </p:sp>
      <p:sp>
        <p:nvSpPr>
          <p:cNvPr id="107" name="Google Shape;107;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 name="Google Shape;113;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14" name="Google Shape;114;p2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Best Practices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Best practices</a:t>
            </a:r>
            <a:r>
              <a:rPr lang="en" sz="1200">
                <a:solidFill>
                  <a:schemeClr val="dk1"/>
                </a:solidFill>
                <a:latin typeface="Raleway Medium"/>
                <a:ea typeface="Raleway Medium"/>
                <a:cs typeface="Raleway Medium"/>
                <a:sym typeface="Raleway Medium"/>
              </a:rPr>
              <a:t> adalah koleksi prosedur dan anjuran yang ditetapkan sebagai yang benar atau paling efektif.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bisa mengacu pada </a:t>
            </a:r>
            <a:r>
              <a:rPr i="1" lang="en" sz="1200">
                <a:solidFill>
                  <a:schemeClr val="dk1"/>
                </a:solidFill>
                <a:latin typeface="Raleway Medium"/>
                <a:ea typeface="Raleway Medium"/>
                <a:cs typeface="Raleway Medium"/>
                <a:sym typeface="Raleway Medium"/>
              </a:rPr>
              <a:t>best practices</a:t>
            </a:r>
            <a:r>
              <a:rPr lang="en" sz="1200">
                <a:solidFill>
                  <a:schemeClr val="dk1"/>
                </a:solidFill>
                <a:latin typeface="Raleway Medium"/>
                <a:ea typeface="Raleway Medium"/>
                <a:cs typeface="Raleway Medium"/>
                <a:sym typeface="Raleway Medium"/>
              </a:rPr>
              <a:t> untuk menentukan apakah desain kita sudah baik atau belum.</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beberapa </a:t>
            </a:r>
            <a:r>
              <a:rPr i="1" lang="en" sz="1200">
                <a:solidFill>
                  <a:schemeClr val="dk1"/>
                </a:solidFill>
                <a:latin typeface="Raleway Medium"/>
                <a:ea typeface="Raleway Medium"/>
                <a:cs typeface="Raleway Medium"/>
                <a:sym typeface="Raleway Medium"/>
              </a:rPr>
              <a:t>best practices </a:t>
            </a:r>
            <a:r>
              <a:rPr lang="en" sz="1200">
                <a:solidFill>
                  <a:schemeClr val="dk1"/>
                </a:solidFill>
                <a:latin typeface="Raleway Medium"/>
                <a:ea typeface="Raleway Medium"/>
                <a:cs typeface="Raleway Medium"/>
                <a:sym typeface="Raleway Medium"/>
              </a:rPr>
              <a:t>saat mendesain antarmuka dan pengalaman pengguna (user interface and experience).</a:t>
            </a:r>
            <a:endParaRPr sz="1200">
              <a:solidFill>
                <a:schemeClr val="dk1"/>
              </a:solidFill>
              <a:latin typeface="Raleway Medium"/>
              <a:ea typeface="Raleway Medium"/>
              <a:cs typeface="Raleway Medium"/>
              <a:sym typeface="Raleway Medium"/>
            </a:endParaRPr>
          </a:p>
        </p:txBody>
      </p:sp>
      <p:pic>
        <p:nvPicPr>
          <p:cNvPr id="115" name="Google Shape;115;p21">
            <a:hlinkClick r:id="rId3"/>
          </p:cNvPr>
          <p:cNvPicPr preferRelativeResize="0"/>
          <p:nvPr/>
        </p:nvPicPr>
        <p:blipFill rotWithShape="1">
          <a:blip r:embed="rId4">
            <a:alphaModFix/>
          </a:blip>
          <a:srcRect b="9568" l="0" r="0" t="29796"/>
          <a:stretch/>
        </p:blipFill>
        <p:spPr>
          <a:xfrm>
            <a:off x="5486400" y="1207587"/>
            <a:ext cx="3017518" cy="2743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22" name="Google Shape;122;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Antarmuka desain harus seimbang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Biarkan antarmuka yang Anda desain tetap sederhana dan seimbang.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Sederhanakan desain Anda dengan dua cara: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 Hindari elemen - elemen yang tidak diperlukan.</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Gunakan bahasa yang jelas pada label </a:t>
            </a:r>
            <a:r>
              <a:rPr i="1" lang="en" sz="1200">
                <a:solidFill>
                  <a:schemeClr val="dk1"/>
                </a:solidFill>
                <a:latin typeface="Raleway Medium"/>
                <a:ea typeface="Raleway Medium"/>
                <a:cs typeface="Raleway Medium"/>
                <a:sym typeface="Raleway Medium"/>
              </a:rPr>
              <a:t>buttons, </a:t>
            </a:r>
            <a:br>
              <a:rPr i="1" lang="en" sz="1200">
                <a:solidFill>
                  <a:schemeClr val="dk1"/>
                </a:solidFill>
                <a:latin typeface="Raleway Medium"/>
                <a:ea typeface="Raleway Medium"/>
                <a:cs typeface="Raleway Medium"/>
                <a:sym typeface="Raleway Medium"/>
              </a:rPr>
            </a:br>
            <a:r>
              <a:rPr i="1" lang="en" sz="1200">
                <a:solidFill>
                  <a:schemeClr val="dk1"/>
                </a:solidFill>
                <a:latin typeface="Raleway Medium"/>
                <a:ea typeface="Raleway Medium"/>
                <a:cs typeface="Raleway Medium"/>
                <a:sym typeface="Raleway Medium"/>
              </a:rPr>
              <a:t>    pop-ups </a:t>
            </a:r>
            <a:r>
              <a:rPr lang="en" sz="1200">
                <a:solidFill>
                  <a:schemeClr val="dk1"/>
                </a:solidFill>
                <a:latin typeface="Raleway Medium"/>
                <a:ea typeface="Raleway Medium"/>
                <a:cs typeface="Raleway Medium"/>
                <a:sym typeface="Raleway Medium"/>
              </a:rPr>
              <a:t>dan elemen - elemen lainnya.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akan membicarakan keseimbangan lebih lanjut pada sub-chapter berikutnya.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p:txBody>
      </p:sp>
      <p:pic>
        <p:nvPicPr>
          <p:cNvPr id="123" name="Google Shape;123;p22"/>
          <p:cNvPicPr preferRelativeResize="0"/>
          <p:nvPr/>
        </p:nvPicPr>
        <p:blipFill>
          <a:blip r:embed="rId3">
            <a:alphaModFix/>
          </a:blip>
          <a:stretch>
            <a:fillRect/>
          </a:stretch>
        </p:blipFill>
        <p:spPr>
          <a:xfrm>
            <a:off x="5582318" y="2785749"/>
            <a:ext cx="1471995" cy="1254155"/>
          </a:xfrm>
          <a:prstGeom prst="rect">
            <a:avLst/>
          </a:prstGeom>
          <a:noFill/>
          <a:ln>
            <a:noFill/>
          </a:ln>
        </p:spPr>
      </p:pic>
      <p:pic>
        <p:nvPicPr>
          <p:cNvPr id="124" name="Google Shape;124;p22"/>
          <p:cNvPicPr preferRelativeResize="0"/>
          <p:nvPr/>
        </p:nvPicPr>
        <p:blipFill rotWithShape="1">
          <a:blip r:embed="rId4">
            <a:alphaModFix/>
          </a:blip>
          <a:srcRect b="2745" l="0" r="0" t="4196"/>
          <a:stretch/>
        </p:blipFill>
        <p:spPr>
          <a:xfrm>
            <a:off x="6349976" y="1188725"/>
            <a:ext cx="1391638" cy="1499034"/>
          </a:xfrm>
          <a:prstGeom prst="rect">
            <a:avLst/>
          </a:prstGeom>
          <a:noFill/>
          <a:ln>
            <a:noFill/>
          </a:ln>
        </p:spPr>
      </p:pic>
      <p:pic>
        <p:nvPicPr>
          <p:cNvPr id="125" name="Google Shape;125;p22"/>
          <p:cNvPicPr preferRelativeResize="0"/>
          <p:nvPr/>
        </p:nvPicPr>
        <p:blipFill>
          <a:blip r:embed="rId5">
            <a:alphaModFix/>
          </a:blip>
          <a:stretch>
            <a:fillRect/>
          </a:stretch>
        </p:blipFill>
        <p:spPr>
          <a:xfrm>
            <a:off x="7142761" y="2785748"/>
            <a:ext cx="1391639" cy="125415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1" name="Google Shape;131;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32" name="Google Shape;132;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Gunakan elemen - elemen desain secara konsisten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menggunakan elemen - elemen desain secara konsisten, pengguna akan merasa lebih nyaman dan dapat menyelesaikan berbagai hal dengan lebih cepat.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Konsistensi dalam desain dapat dicapai dengan membuat elemen desain seragam, terlihat dan berperilaku dengan cara yang sama.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 design system? Dengan membuat dan sebuah design system, kita akan lebih mudah membuat elemen - elemen desain kita konsisten.</a:t>
            </a:r>
            <a:endParaRPr sz="1200">
              <a:solidFill>
                <a:schemeClr val="dk1"/>
              </a:solidFill>
              <a:latin typeface="Raleway Medium"/>
              <a:ea typeface="Raleway Medium"/>
              <a:cs typeface="Raleway Medium"/>
              <a:sym typeface="Raleway Medium"/>
            </a:endParaRPr>
          </a:p>
        </p:txBody>
      </p:sp>
      <p:pic>
        <p:nvPicPr>
          <p:cNvPr id="133" name="Google Shape;133;p23"/>
          <p:cNvPicPr preferRelativeResize="0"/>
          <p:nvPr/>
        </p:nvPicPr>
        <p:blipFill rotWithShape="1">
          <a:blip r:embed="rId3">
            <a:alphaModFix/>
          </a:blip>
          <a:srcRect b="0" l="8130" r="8130" t="0"/>
          <a:stretch/>
        </p:blipFill>
        <p:spPr>
          <a:xfrm>
            <a:off x="5486400" y="1207587"/>
            <a:ext cx="3017519" cy="27431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9" name="Google Shape;139;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40" name="Google Shape;140;p2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Pertimbangkan tata letak (layout)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t>
            </a:r>
            <a:r>
              <a:rPr lang="en" sz="1200">
                <a:solidFill>
                  <a:schemeClr val="dk1"/>
                </a:solidFill>
                <a:latin typeface="Raleway Medium"/>
                <a:ea typeface="Raleway Medium"/>
                <a:cs typeface="Raleway Medium"/>
                <a:sym typeface="Raleway Medium"/>
              </a:rPr>
              <a:t>ertimbangkan hubungan spasial antara item pada halaman dan struktur halaman berdasarkan kepentingan (prioritas) mereka. Item apa yang perlu pengguna lihat terlebih dahulu?</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Penempatan item yang cermat dapat membantu menarik perhatian ke bagian informasi yang paling penting dan membantu pengguna memindai dan membaca informasi. </a:t>
            </a:r>
            <a:endParaRPr sz="1200">
              <a:solidFill>
                <a:schemeClr val="dk1"/>
              </a:solidFill>
              <a:latin typeface="Raleway Medium"/>
              <a:ea typeface="Raleway Medium"/>
              <a:cs typeface="Raleway Medium"/>
              <a:sym typeface="Raleway Medium"/>
            </a:endParaRPr>
          </a:p>
        </p:txBody>
      </p:sp>
      <p:pic>
        <p:nvPicPr>
          <p:cNvPr id="141" name="Google Shape;141;p24"/>
          <p:cNvPicPr preferRelativeResize="0"/>
          <p:nvPr/>
        </p:nvPicPr>
        <p:blipFill rotWithShape="1">
          <a:blip r:embed="rId3">
            <a:alphaModFix/>
          </a:blip>
          <a:srcRect b="-29735" l="0" r="0" t="0"/>
          <a:stretch/>
        </p:blipFill>
        <p:spPr>
          <a:xfrm>
            <a:off x="5486400" y="1207587"/>
            <a:ext cx="3017519" cy="274319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7" name="Google Shape;14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48" name="Google Shape;14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Gunakan warna dan tekstur secara strategis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a:t>
            </a:r>
            <a:r>
              <a:rPr lang="en" sz="1200">
                <a:solidFill>
                  <a:schemeClr val="dk1"/>
                </a:solidFill>
                <a:latin typeface="Raleway Medium"/>
                <a:ea typeface="Raleway Medium"/>
                <a:cs typeface="Raleway Medium"/>
                <a:sym typeface="Raleway Medium"/>
              </a:rPr>
              <a:t>nda dapat mengarahkan perhatian pada atau mengalihkan perhatian dari sebuah item menggunakan warna, kontras, dan tekstur pada desain Anda. </a:t>
            </a:r>
            <a:endParaRPr sz="1200">
              <a:solidFill>
                <a:schemeClr val="dk1"/>
              </a:solidFill>
              <a:latin typeface="Raleway Medium"/>
              <a:ea typeface="Raleway Medium"/>
              <a:cs typeface="Raleway Medium"/>
              <a:sym typeface="Raleway Medium"/>
            </a:endParaRPr>
          </a:p>
        </p:txBody>
      </p:sp>
      <p:pic>
        <p:nvPicPr>
          <p:cNvPr id="149" name="Google Shape;149;p25"/>
          <p:cNvPicPr preferRelativeResize="0"/>
          <p:nvPr/>
        </p:nvPicPr>
        <p:blipFill rotWithShape="1">
          <a:blip r:embed="rId3">
            <a:alphaModFix/>
          </a:blip>
          <a:srcRect b="-18427" l="2439" r="1156" t="0"/>
          <a:stretch/>
        </p:blipFill>
        <p:spPr>
          <a:xfrm>
            <a:off x="5486400" y="1207587"/>
            <a:ext cx="3017520" cy="274319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Best practices dalam UI/UX design</a:t>
            </a:r>
            <a:endParaRPr/>
          </a:p>
        </p:txBody>
      </p:sp>
      <p:sp>
        <p:nvSpPr>
          <p:cNvPr id="156" name="Google Shape;156;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Komunikasikan apa yang sedang terjadi kepada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Pastikan desain Anda mengkomunikasikan apa yang sedang terjadi pada sistem. Selalu beri tahu pengguna Anda tentang lokasi, tindakan, perubahan status, atau kesalahan yang mereka lakukan.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Gunakan berbagai elemen UI untuk mengomunikasikan status, pesan sukses dan, jika perlu, pesan error. Mengkomunikasikan pesan tentang apa yang sedang terjadi  dapat mengurangi frustasi bagi pengguna Anda.</a:t>
            </a:r>
            <a:endParaRPr sz="1200">
              <a:solidFill>
                <a:schemeClr val="dk1"/>
              </a:solidFill>
              <a:latin typeface="Raleway Medium"/>
              <a:ea typeface="Raleway Medium"/>
              <a:cs typeface="Raleway Medium"/>
              <a:sym typeface="Raleway Medium"/>
            </a:endParaRPr>
          </a:p>
        </p:txBody>
      </p:sp>
      <p:pic>
        <p:nvPicPr>
          <p:cNvPr id="157" name="Google Shape;157;p26"/>
          <p:cNvPicPr preferRelativeResize="0"/>
          <p:nvPr/>
        </p:nvPicPr>
        <p:blipFill rotWithShape="1">
          <a:blip r:embed="rId3">
            <a:alphaModFix/>
          </a:blip>
          <a:srcRect b="-61812" l="0" r="0" t="0"/>
          <a:stretch/>
        </p:blipFill>
        <p:spPr>
          <a:xfrm>
            <a:off x="5486400" y="1207587"/>
            <a:ext cx="3017521" cy="27431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7"/>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Keseimbangan pada desain</a:t>
            </a:r>
            <a:endParaRPr/>
          </a:p>
        </p:txBody>
      </p:sp>
      <p:sp>
        <p:nvSpPr>
          <p:cNvPr id="163" name="Google Shape;163;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9" name="Google Shape;169;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170" name="Google Shape;170;p2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Keseimbangan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Kata "keseimbangan" digunakan dalam banyak konteks yang berbeda. Kata ‘keseimbangan’ sering digunakan untuk menggambarkan diet sehat, sistem peradilan, atau dalam gerakan yoga.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Kata ‘keseimbangan’ biasanya dianggap sebagai hal yang sangat baik. Dalam sebagian besar kasus, tidak ada yang ingin kekurangan keseimbangan dalam segala hal.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yang sama berlaku dalam desain. Keseimbangan dalam desain sangat diperlukan.</a:t>
            </a:r>
            <a:endParaRPr sz="1200">
              <a:solidFill>
                <a:schemeClr val="dk1"/>
              </a:solidFill>
              <a:latin typeface="Raleway Medium"/>
              <a:ea typeface="Raleway Medium"/>
              <a:cs typeface="Raleway Medium"/>
              <a:sym typeface="Raleway Medium"/>
            </a:endParaRPr>
          </a:p>
        </p:txBody>
      </p:sp>
      <p:pic>
        <p:nvPicPr>
          <p:cNvPr id="171" name="Google Shape;171;p28">
            <a:hlinkClick r:id="rId3"/>
          </p:cNvPr>
          <p:cNvPicPr preferRelativeResize="0"/>
          <p:nvPr/>
        </p:nvPicPr>
        <p:blipFill rotWithShape="1">
          <a:blip r:embed="rId4">
            <a:alphaModFix/>
          </a:blip>
          <a:srcRect b="0" l="14467" r="14474" t="0"/>
          <a:stretch/>
        </p:blipFill>
        <p:spPr>
          <a:xfrm>
            <a:off x="5486400" y="1207587"/>
            <a:ext cx="3017518" cy="2743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 name="Google Shape;177;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178" name="Google Shape;178;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Visual weight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Bobot visual adalah bobot yang dirasakan dari elemen dalam desain Anda. Bobot visual atau </a:t>
            </a:r>
            <a:r>
              <a:rPr i="1" lang="en" sz="1200">
                <a:solidFill>
                  <a:schemeClr val="dk1"/>
                </a:solidFill>
                <a:latin typeface="Raleway Medium"/>
                <a:ea typeface="Raleway Medium"/>
                <a:cs typeface="Raleway Medium"/>
                <a:sym typeface="Raleway Medium"/>
              </a:rPr>
              <a:t>visual weight</a:t>
            </a:r>
            <a:r>
              <a:rPr lang="en" sz="1200">
                <a:solidFill>
                  <a:schemeClr val="dk1"/>
                </a:solidFill>
                <a:latin typeface="Raleway Medium"/>
                <a:ea typeface="Raleway Medium"/>
                <a:cs typeface="Raleway Medium"/>
                <a:sym typeface="Raleway Medium"/>
              </a:rPr>
              <a:t> adalah ukuran seberapa menonjol suatu elemen dibandingkan dengan elemen di sekitarnya.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Bobot visual dapat disesuaikan dan diubah dengan beberapa faktor seperti ukuran, warna, kontras dan/atau kepadatan elemen.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lihat bagaimana faktor - faktor yang disebutkan diatas berdampak pada bobot visual.</a:t>
            </a:r>
            <a:endParaRPr sz="1200">
              <a:solidFill>
                <a:schemeClr val="dk1"/>
              </a:solidFill>
              <a:latin typeface="Raleway Medium"/>
              <a:ea typeface="Raleway Medium"/>
              <a:cs typeface="Raleway Medium"/>
              <a:sym typeface="Raleway Medium"/>
            </a:endParaRPr>
          </a:p>
        </p:txBody>
      </p:sp>
      <p:pic>
        <p:nvPicPr>
          <p:cNvPr id="179" name="Google Shape;179;p29"/>
          <p:cNvPicPr preferRelativeResize="0"/>
          <p:nvPr/>
        </p:nvPicPr>
        <p:blipFill rotWithShape="1">
          <a:blip r:embed="rId3">
            <a:alphaModFix/>
          </a:blip>
          <a:srcRect b="0" l="8989" r="8989" t="0"/>
          <a:stretch/>
        </p:blipFill>
        <p:spPr>
          <a:xfrm>
            <a:off x="5486400" y="1207587"/>
            <a:ext cx="3017518" cy="27431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186" name="Google Shape;186;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1) Visual weight dengan ukuran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Ukuran adalah faktor yang paling jelas berkontribusi pada bobot visual. Pada gambar berikut, kotak di kiri mempunyai bobot visual yang lebih banyak daripada kotak di kanan.</a:t>
            </a:r>
            <a:endParaRPr b="1" sz="1800">
              <a:solidFill>
                <a:srgbClr val="743673"/>
              </a:solidFill>
              <a:highlight>
                <a:schemeClr val="lt1"/>
              </a:highlight>
              <a:latin typeface="Raleway"/>
              <a:ea typeface="Raleway"/>
              <a:cs typeface="Raleway"/>
              <a:sym typeface="Raleway"/>
            </a:endParaRPr>
          </a:p>
        </p:txBody>
      </p:sp>
      <p:pic>
        <p:nvPicPr>
          <p:cNvPr id="187" name="Google Shape;187;p30"/>
          <p:cNvPicPr preferRelativeResize="0"/>
          <p:nvPr/>
        </p:nvPicPr>
        <p:blipFill>
          <a:blip r:embed="rId3">
            <a:alphaModFix/>
          </a:blip>
          <a:stretch>
            <a:fillRect/>
          </a:stretch>
        </p:blipFill>
        <p:spPr>
          <a:xfrm>
            <a:off x="5486400" y="1207575"/>
            <a:ext cx="3017526" cy="15087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1"/>
          <p:cNvSpPr txBox="1"/>
          <p:nvPr/>
        </p:nvSpPr>
        <p:spPr>
          <a:xfrm>
            <a:off x="685800" y="118872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Visual weight dengan warna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Persepsi kita tentang warna biasanya dipengaruhi oleh warna-warna di sekitarnya. Pada contoh berikut, kotak berwarna merah lebih menuntut perhatian kita, memberikan bobot visual yang lebih besar daripada kotak berwarna kuning.</a:t>
            </a:r>
            <a:endParaRPr b="1" sz="1800">
              <a:solidFill>
                <a:srgbClr val="743673"/>
              </a:solidFill>
              <a:highlight>
                <a:schemeClr val="lt1"/>
              </a:highlight>
              <a:latin typeface="Raleway"/>
              <a:ea typeface="Raleway"/>
              <a:cs typeface="Raleway"/>
              <a:sym typeface="Raleway"/>
            </a:endParaRPr>
          </a:p>
        </p:txBody>
      </p:sp>
      <p:pic>
        <p:nvPicPr>
          <p:cNvPr id="193" name="Google Shape;193;p31"/>
          <p:cNvPicPr preferRelativeResize="0"/>
          <p:nvPr/>
        </p:nvPicPr>
        <p:blipFill>
          <a:blip r:embed="rId3">
            <a:alphaModFix/>
          </a:blip>
          <a:stretch>
            <a:fillRect/>
          </a:stretch>
        </p:blipFill>
        <p:spPr>
          <a:xfrm>
            <a:off x="5486400" y="1207575"/>
            <a:ext cx="3017524" cy="1508742"/>
          </a:xfrm>
          <a:prstGeom prst="rect">
            <a:avLst/>
          </a:prstGeom>
          <a:noFill/>
          <a:ln>
            <a:noFill/>
          </a:ln>
        </p:spPr>
      </p:pic>
      <p:sp>
        <p:nvSpPr>
          <p:cNvPr id="194" name="Google Shape;194;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02" name="Google Shape;202;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Visual weight dengan kontras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Namun, seperti yang kita lihat pada contoh berikut ini, dengan menggunakan kotak berwarna yang sama seperti contoh sebelumnya, kita dapat melihat bagaimana kontras dapat secara drastis mengubah persepsi kita tentang warna.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Latar belakang merah yang lebih gelap mengurangi kontras pada kotak kiri dan meningkatkan kontras pada kotak kanan.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03" name="Google Shape;203;p32"/>
          <p:cNvPicPr preferRelativeResize="0"/>
          <p:nvPr/>
        </p:nvPicPr>
        <p:blipFill>
          <a:blip r:embed="rId3">
            <a:alphaModFix/>
          </a:blip>
          <a:stretch>
            <a:fillRect/>
          </a:stretch>
        </p:blipFill>
        <p:spPr>
          <a:xfrm>
            <a:off x="5486400" y="1222510"/>
            <a:ext cx="3017526" cy="15087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33"/>
          <p:cNvPicPr preferRelativeResize="0"/>
          <p:nvPr/>
        </p:nvPicPr>
        <p:blipFill>
          <a:blip r:embed="rId3">
            <a:alphaModFix/>
          </a:blip>
          <a:stretch>
            <a:fillRect/>
          </a:stretch>
        </p:blipFill>
        <p:spPr>
          <a:xfrm>
            <a:off x="5486400" y="1222513"/>
            <a:ext cx="3017526" cy="1508742"/>
          </a:xfrm>
          <a:prstGeom prst="rect">
            <a:avLst/>
          </a:prstGeom>
          <a:noFill/>
          <a:ln>
            <a:noFill/>
          </a:ln>
        </p:spPr>
      </p:pic>
      <p:sp>
        <p:nvSpPr>
          <p:cNvPr id="209" name="Google Shape;209;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0" name="Google Shape;210;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11" name="Google Shape;211;p33"/>
          <p:cNvSpPr txBox="1"/>
          <p:nvPr/>
        </p:nvSpPr>
        <p:spPr>
          <a:xfrm>
            <a:off x="685800" y="118872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4) Visual weight dengan kepadatan (density)</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Meskipun kedua kotak pada gambar memiliki ukuran, warna, dan kontras yang sama, kotak kanan memiliki bobot visual yang lebih besar karena kepadatan yang dirasakan.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Contoh pada gambar menggambarkan bagaimana </a:t>
            </a:r>
            <a:r>
              <a:rPr i="1" lang="en" sz="1200">
                <a:solidFill>
                  <a:schemeClr val="dk1"/>
                </a:solidFill>
                <a:latin typeface="Raleway Medium"/>
                <a:ea typeface="Raleway Medium"/>
                <a:cs typeface="Raleway Medium"/>
                <a:sym typeface="Raleway Medium"/>
              </a:rPr>
              <a:t>whitespace</a:t>
            </a:r>
            <a:r>
              <a:rPr lang="en" sz="1200">
                <a:solidFill>
                  <a:schemeClr val="dk1"/>
                </a:solidFill>
                <a:latin typeface="Raleway Medium"/>
                <a:ea typeface="Raleway Medium"/>
                <a:cs typeface="Raleway Medium"/>
                <a:sym typeface="Raleway Medium"/>
              </a:rPr>
              <a:t> (area  tanpa cetakan atau gambar / ruang kosong) dapat berperan dalam menciptakan keseimbangan.</a:t>
            </a:r>
            <a:br>
              <a:rPr lang="en" sz="1200">
                <a:solidFill>
                  <a:schemeClr val="dk1"/>
                </a:solidFill>
                <a:latin typeface="Raleway Medium"/>
                <a:ea typeface="Raleway Medium"/>
                <a:cs typeface="Raleway Medium"/>
                <a:sym typeface="Raleway Medium"/>
              </a:rPr>
            </a:br>
            <a:endParaRPr i="1" sz="1200">
              <a:solidFill>
                <a:schemeClr val="dk1"/>
              </a:solidFill>
              <a:latin typeface="Raleway Medium"/>
              <a:ea typeface="Raleway Medium"/>
              <a:cs typeface="Raleway Medium"/>
              <a:sym typeface="Raleway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18" name="Google Shape;218;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contoh - contoh yang telah disebutkan, kita dapat melihat bagaimana sedikit perubahan pada ukuran, warna, kontras, atau kepadatan dapat </a:t>
            </a:r>
            <a:r>
              <a:rPr lang="en" sz="1200">
                <a:solidFill>
                  <a:schemeClr val="dk1"/>
                </a:solidFill>
                <a:latin typeface="Raleway Medium"/>
                <a:ea typeface="Raleway Medium"/>
                <a:cs typeface="Raleway Medium"/>
                <a:sym typeface="Raleway Medium"/>
              </a:rPr>
              <a:t>mempengaruhi</a:t>
            </a:r>
            <a:r>
              <a:rPr lang="en" sz="1200">
                <a:solidFill>
                  <a:schemeClr val="dk1"/>
                </a:solidFill>
                <a:latin typeface="Raleway Medium"/>
                <a:ea typeface="Raleway Medium"/>
                <a:cs typeface="Raleway Medium"/>
                <a:sym typeface="Raleway Medium"/>
              </a:rPr>
              <a:t> bobot visual elemen pada desain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Yang akan kita lihat berikutnya adalah bagaimana faktor - faktor tersebut dapat digabungkan untuk membantu membangun rasa keseimbangan pada desain Anda.</a:t>
            </a:r>
            <a:endParaRPr sz="1200">
              <a:solidFill>
                <a:schemeClr val="dk1"/>
              </a:solidFill>
              <a:latin typeface="Raleway Medium"/>
              <a:ea typeface="Raleway Medium"/>
              <a:cs typeface="Raleway Medium"/>
              <a:sym typeface="Raleway Medium"/>
            </a:endParaRPr>
          </a:p>
        </p:txBody>
      </p:sp>
      <p:pic>
        <p:nvPicPr>
          <p:cNvPr id="219" name="Google Shape;219;p34"/>
          <p:cNvPicPr preferRelativeResize="0"/>
          <p:nvPr/>
        </p:nvPicPr>
        <p:blipFill rotWithShape="1">
          <a:blip r:embed="rId3">
            <a:alphaModFix/>
          </a:blip>
          <a:srcRect b="0" l="8989" r="8989" t="0"/>
          <a:stretch/>
        </p:blipFill>
        <p:spPr>
          <a:xfrm>
            <a:off x="5486400" y="1207587"/>
            <a:ext cx="3017518" cy="274319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26" name="Google Shape;226;p3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Keseimbangan vs ketegangan</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t>
            </a:r>
            <a:r>
              <a:rPr lang="en" sz="1200">
                <a:solidFill>
                  <a:schemeClr val="dk1"/>
                </a:solidFill>
                <a:latin typeface="Raleway Medium"/>
                <a:ea typeface="Raleway Medium"/>
                <a:cs typeface="Raleway Medium"/>
                <a:sym typeface="Raleway Medium"/>
              </a:rPr>
              <a:t>anpa keseimbangan, kita menciptakan ketegangan visual yang dapat berdampak negatif pada bagaimana desain kita dipersepsikan oleh orang lain.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lihat beberapa contoh.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27" name="Google Shape;227;p35">
            <a:hlinkClick r:id="rId3"/>
          </p:cNvPr>
          <p:cNvPicPr preferRelativeResize="0"/>
          <p:nvPr/>
        </p:nvPicPr>
        <p:blipFill rotWithShape="1">
          <a:blip r:embed="rId4">
            <a:alphaModFix/>
          </a:blip>
          <a:srcRect b="0" l="14467" r="14474" t="0"/>
          <a:stretch/>
        </p:blipFill>
        <p:spPr>
          <a:xfrm>
            <a:off x="5486400" y="1207587"/>
            <a:ext cx="3017518" cy="274319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34" name="Google Shape;234;p36"/>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Perhatikanlah gambar berikut.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Teks di tengah membentuk keseimbangan simetris pada sumbu vertikal. Namun, sisi kiri halaman secara visual terasa "lebih berat", yang menciptakan ketegangan visual. Ketegangan visual ini menyebabkan otak kita berpikir "ada yang aneh dengan desain ini."</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Desain yang baik perlu bobot visual yang didistribusikan secara merata di kedua sisi halaman.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35" name="Google Shape;235;p36"/>
          <p:cNvPicPr preferRelativeResize="0"/>
          <p:nvPr/>
        </p:nvPicPr>
        <p:blipFill>
          <a:blip r:embed="rId3">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1" name="Google Shape;241;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42" name="Google Shape;242;p37"/>
          <p:cNvSpPr txBox="1"/>
          <p:nvPr/>
        </p:nvSpPr>
        <p:spPr>
          <a:xfrm>
            <a:off x="685800" y="1188720"/>
            <a:ext cx="73152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Perhatikanlah gambar kedua.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Sebagian besar akan setuju bahwa gambar kedua lebih baik daripada yang pertama. Ini karena otak kita menginginkan keseimbangan daripada ketegangan.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Perlu diingat, tidak berarti Anda harus menghindari ketegangan sama sekali. Akan tetapi, sebuah </a:t>
            </a:r>
            <a:r>
              <a:rPr i="1" lang="en" sz="1200">
                <a:solidFill>
                  <a:schemeClr val="dk1"/>
                </a:solidFill>
                <a:latin typeface="Raleway Medium"/>
                <a:ea typeface="Raleway Medium"/>
                <a:cs typeface="Raleway Medium"/>
                <a:sym typeface="Raleway Medium"/>
              </a:rPr>
              <a:t>tension </a:t>
            </a:r>
            <a:r>
              <a:rPr lang="en" sz="1200">
                <a:solidFill>
                  <a:schemeClr val="dk1"/>
                </a:solidFill>
                <a:latin typeface="Raleway Medium"/>
                <a:ea typeface="Raleway Medium"/>
                <a:cs typeface="Raleway Medium"/>
                <a:sym typeface="Raleway Medium"/>
              </a:rPr>
              <a:t>atau ketegangan harus digunakan dengan hati-hati dan cermat.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43" name="Google Shape;243;p37"/>
          <p:cNvPicPr preferRelativeResize="0"/>
          <p:nvPr/>
        </p:nvPicPr>
        <p:blipFill>
          <a:blip r:embed="rId3">
            <a:alphaModFix/>
          </a:blip>
          <a:stretch>
            <a:fillRect/>
          </a:stretch>
        </p:blipFill>
        <p:spPr>
          <a:xfrm>
            <a:off x="4724396" y="2961350"/>
            <a:ext cx="3965055" cy="1503976"/>
          </a:xfrm>
          <a:prstGeom prst="rect">
            <a:avLst/>
          </a:prstGeom>
          <a:noFill/>
          <a:ln>
            <a:noFill/>
          </a:ln>
        </p:spPr>
      </p:pic>
      <p:pic>
        <p:nvPicPr>
          <p:cNvPr id="244" name="Google Shape;244;p37"/>
          <p:cNvPicPr preferRelativeResize="0"/>
          <p:nvPr/>
        </p:nvPicPr>
        <p:blipFill>
          <a:blip r:embed="rId4">
            <a:alphaModFix/>
          </a:blip>
          <a:stretch>
            <a:fillRect/>
          </a:stretch>
        </p:blipFill>
        <p:spPr>
          <a:xfrm>
            <a:off x="685800" y="2961357"/>
            <a:ext cx="3951302" cy="15039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0" name="Google Shape;250;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51" name="Google Shape;251;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gambar - gambar berikut, Anda dapat melihat perbedaan keseimbangan secara jelas.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pertama menghasilkan ketidakseimbangan kontras. Tidak hanya lebih sulit untuk membaca tombol utama, tetapi tombol sekunder tampaknya membawa bobot visual yang lebih banyak.</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p:txBody>
      </p:sp>
      <p:pic>
        <p:nvPicPr>
          <p:cNvPr id="252" name="Google Shape;252;p38"/>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253" name="Google Shape;253;p38"/>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254" name="Google Shape;254;p38"/>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0" name="Google Shape;26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61" name="Google Shape;261;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gambar - gambar berikut, Anda dapat melihat perbedaan keseimbangan secara jelas.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pertama menghasilkan ketidakseimbangan kontras. Tidak hanya lebih sulit untuk membaca tombol utama, tetapi tombol sekunder tampaknya membawa bobot visual yang lebih banyak.</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contoh kedua, masalah kontras telah diperbaiki, tetapi tombol utama sekarang terasa terlalu berat dibandingkan dengan tombol sekunder.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62" name="Google Shape;262;p39"/>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263" name="Google Shape;263;p39"/>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264" name="Google Shape;264;p39"/>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0" name="Google Shape;270;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71" name="Google Shape;271;p4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gambar - gambar berikut, Anda dapat melihat perbedaan keseimbangan secara jelas.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pertama menghasilkan ketidakseimbangan kontras. Tidak hanya lebih sulit untuk membaca tombol utama, tetapi tombol sekunder tampaknya membawa bobot visual yang lebih banyak.</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contoh kedua, masalah kontras telah diperbaiki, tetapi tombol utama sekarang terasa terlalu berat dibandingkan dengan tombol sekunder.</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contoh ketiga, kepadatan tombol sekunder disesuaikan dengan tombol utama, menghasilkan jumlah keseimbangan dan ketegangan yang tepat.</a:t>
            </a:r>
            <a:endParaRPr sz="1200">
              <a:solidFill>
                <a:schemeClr val="dk1"/>
              </a:solidFill>
              <a:latin typeface="Raleway Medium"/>
              <a:ea typeface="Raleway Medium"/>
              <a:cs typeface="Raleway Medium"/>
              <a:sym typeface="Raleway Medium"/>
            </a:endParaRPr>
          </a:p>
        </p:txBody>
      </p:sp>
      <p:pic>
        <p:nvPicPr>
          <p:cNvPr id="272" name="Google Shape;272;p40"/>
          <p:cNvPicPr preferRelativeResize="0"/>
          <p:nvPr/>
        </p:nvPicPr>
        <p:blipFill rotWithShape="1">
          <a:blip r:embed="rId3">
            <a:alphaModFix/>
          </a:blip>
          <a:srcRect b="68638" l="0" r="0" t="11894"/>
          <a:stretch/>
        </p:blipFill>
        <p:spPr>
          <a:xfrm>
            <a:off x="5105400" y="1188725"/>
            <a:ext cx="3565550" cy="624300"/>
          </a:xfrm>
          <a:prstGeom prst="rect">
            <a:avLst/>
          </a:prstGeom>
          <a:noFill/>
          <a:ln>
            <a:noFill/>
          </a:ln>
        </p:spPr>
      </p:pic>
      <p:pic>
        <p:nvPicPr>
          <p:cNvPr id="273" name="Google Shape;273;p40"/>
          <p:cNvPicPr preferRelativeResize="0"/>
          <p:nvPr/>
        </p:nvPicPr>
        <p:blipFill rotWithShape="1">
          <a:blip r:embed="rId3">
            <a:alphaModFix/>
          </a:blip>
          <a:srcRect b="34660" l="0" r="0" t="45872"/>
          <a:stretch/>
        </p:blipFill>
        <p:spPr>
          <a:xfrm>
            <a:off x="5105400" y="1938521"/>
            <a:ext cx="3565380" cy="624300"/>
          </a:xfrm>
          <a:prstGeom prst="rect">
            <a:avLst/>
          </a:prstGeom>
          <a:noFill/>
          <a:ln>
            <a:noFill/>
          </a:ln>
        </p:spPr>
      </p:pic>
      <p:pic>
        <p:nvPicPr>
          <p:cNvPr id="274" name="Google Shape;274;p40"/>
          <p:cNvPicPr preferRelativeResize="0"/>
          <p:nvPr/>
        </p:nvPicPr>
        <p:blipFill rotWithShape="1">
          <a:blip r:embed="rId3">
            <a:alphaModFix/>
          </a:blip>
          <a:srcRect b="1384" l="0" r="0" t="79148"/>
          <a:stretch/>
        </p:blipFill>
        <p:spPr>
          <a:xfrm>
            <a:off x="5105487" y="2688321"/>
            <a:ext cx="3565380" cy="624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81" name="Google Shape;281;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Mencapai keseimbangan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Ada empat cara untuk mencapai keseimbangan pada desain. Pada umumnya, keseimbangan dibuat pada dua sisi sumbu yang tidak terlihat, baik vertikal maupun horizontal.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Walaupun keseimbangan vertikal dan horizontal lebih umum, keseimbangan juga dapat dibuat secara diagonal, atau dengan beberapa sumbu lainnya.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282" name="Google Shape;282;p41">
            <a:hlinkClick r:id="rId3"/>
          </p:cNvPr>
          <p:cNvPicPr preferRelativeResize="0"/>
          <p:nvPr/>
        </p:nvPicPr>
        <p:blipFill rotWithShape="1">
          <a:blip r:embed="rId4">
            <a:alphaModFix/>
          </a:blip>
          <a:srcRect b="0" l="14467" r="14474" t="0"/>
          <a:stretch/>
        </p:blipFill>
        <p:spPr>
          <a:xfrm>
            <a:off x="5486400" y="1207587"/>
            <a:ext cx="3017518" cy="274319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8" name="Google Shape;288;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89" name="Google Shape;289;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Keseimbangan simetris</a:t>
            </a:r>
            <a:r>
              <a:rPr b="1" lang="en" sz="1800">
                <a:solidFill>
                  <a:srgbClr val="743673"/>
                </a:solidFill>
                <a:highlight>
                  <a:schemeClr val="lt1"/>
                </a:highlight>
                <a:latin typeface="Raleway"/>
                <a:ea typeface="Raleway"/>
                <a:cs typeface="Raleway"/>
                <a:sym typeface="Raleway"/>
              </a:rPr>
              <a:t> / formal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Kita dapat mengamati simetri pada banyak aspek di alam, seperti pada wajah manusia atau bentuk kupu-kupu.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Keseimbangan simetris (alias formal) dicapai dengan mencerminkan objek pada satu atau beberapa sumbu. Gambar disamping adalah sebuah contoh simetri yang reflektif, di mana dua benda saling bercermin pada sumbu vertikal.</a:t>
            </a:r>
            <a:endParaRPr sz="1200">
              <a:solidFill>
                <a:schemeClr val="dk1"/>
              </a:solidFill>
              <a:latin typeface="Raleway Medium"/>
              <a:ea typeface="Raleway Medium"/>
              <a:cs typeface="Raleway Medium"/>
              <a:sym typeface="Raleway Medium"/>
            </a:endParaRPr>
          </a:p>
        </p:txBody>
      </p:sp>
      <p:pic>
        <p:nvPicPr>
          <p:cNvPr id="290" name="Google Shape;290;p42"/>
          <p:cNvPicPr preferRelativeResize="0"/>
          <p:nvPr/>
        </p:nvPicPr>
        <p:blipFill>
          <a:blip r:embed="rId3">
            <a:alphaModFix/>
          </a:blip>
          <a:stretch>
            <a:fillRect/>
          </a:stretch>
        </p:blipFill>
        <p:spPr>
          <a:xfrm>
            <a:off x="5486400" y="1207008"/>
            <a:ext cx="3017526" cy="15087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6" name="Google Shape;296;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297" name="Google Shape;297;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Keseimbangan simetris sering digunakan untuk mengekspresikan rasa anggun, elegan, atau formalitas.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Namun, terlalu banyak simetri dalam desain dapat membuat desain  membosankan. Dalam gambar berikut, Adham Dannaway menggunakan keseimbangan simetris, pada waktu yang sama juga membedakan kedua sisi, cukup untuk membuat hal-hal lebih menarik.</a:t>
            </a:r>
            <a:endParaRPr sz="1200">
              <a:solidFill>
                <a:schemeClr val="dk1"/>
              </a:solidFill>
              <a:latin typeface="Raleway Medium"/>
              <a:ea typeface="Raleway Medium"/>
              <a:cs typeface="Raleway Medium"/>
              <a:sym typeface="Raleway Medium"/>
            </a:endParaRPr>
          </a:p>
        </p:txBody>
      </p:sp>
      <p:pic>
        <p:nvPicPr>
          <p:cNvPr id="298" name="Google Shape;298;p43"/>
          <p:cNvPicPr preferRelativeResize="0"/>
          <p:nvPr/>
        </p:nvPicPr>
        <p:blipFill>
          <a:blip r:embed="rId3">
            <a:alphaModFix/>
          </a:blip>
          <a:stretch>
            <a:fillRect/>
          </a:stretch>
        </p:blipFill>
        <p:spPr>
          <a:xfrm>
            <a:off x="5486400" y="1207000"/>
            <a:ext cx="3017527" cy="16487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4" name="Google Shape;304;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05" name="Google Shape;305;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Keseimbangan asimetris</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 / informal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Kita juga dapat mengalami asimetri di alam, dapat dilihat pada pepohonan atau formasi batuan.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Sesuai dengan katanya, "asimetri" menunjukkan kurangnya simetri. Keseimbangan juga dapat diciptakan dengan elemen asimetris.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6" name="Google Shape;306;p44"/>
          <p:cNvPicPr preferRelativeResize="0"/>
          <p:nvPr/>
        </p:nvPicPr>
        <p:blipFill>
          <a:blip r:embed="rId3">
            <a:alphaModFix/>
          </a:blip>
          <a:stretch>
            <a:fillRect/>
          </a:stretch>
        </p:blipFill>
        <p:spPr>
          <a:xfrm>
            <a:off x="5486400" y="1207001"/>
            <a:ext cx="3017524" cy="15087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p45"/>
          <p:cNvPicPr preferRelativeResize="0"/>
          <p:nvPr/>
        </p:nvPicPr>
        <p:blipFill>
          <a:blip r:embed="rId3">
            <a:alphaModFix/>
          </a:blip>
          <a:stretch>
            <a:fillRect/>
          </a:stretch>
        </p:blipFill>
        <p:spPr>
          <a:xfrm>
            <a:off x="5486399" y="1225318"/>
            <a:ext cx="3017527" cy="1472144"/>
          </a:xfrm>
          <a:prstGeom prst="rect">
            <a:avLst/>
          </a:prstGeom>
          <a:noFill/>
          <a:ln>
            <a:noFill/>
          </a:ln>
        </p:spPr>
      </p:pic>
      <p:sp>
        <p:nvSpPr>
          <p:cNvPr id="312" name="Google Shape;312;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3" name="Google Shape;313;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14" name="Google Shape;314;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Berbeda dengan simetri, yang bisa sedikit monoton, asimetri dapat digunakan untuk membuat desain lebih dinamis dan hidup.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contoh berikut, Ricardo Mestre menampilkan desain yang menyenangkan dan koheren dengan keseimbangan asimetris.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0" name="Google Shape;320;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21" name="Google Shape;321;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Keseimbangan radial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Raleway"/>
                <a:ea typeface="Raleway"/>
                <a:cs typeface="Raleway"/>
                <a:sym typeface="Raleway"/>
              </a:rPr>
            </a:br>
            <a:r>
              <a:rPr lang="en" sz="1200">
                <a:solidFill>
                  <a:schemeClr val="dk1"/>
                </a:solidFill>
                <a:latin typeface="Raleway Medium"/>
                <a:ea typeface="Raleway Medium"/>
                <a:cs typeface="Raleway Medium"/>
                <a:sym typeface="Raleway Medium"/>
              </a:rPr>
              <a:t>Keseimbangan Radial terbentuk ketika elemen tampak memancar dari sebuah titik (fokus) pusat.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Metode ini dapat digunakan untuk menarik perhatian menuju kepada pusat desain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22" name="Google Shape;322;p46"/>
          <p:cNvPicPr preferRelativeResize="0"/>
          <p:nvPr/>
        </p:nvPicPr>
        <p:blipFill>
          <a:blip r:embed="rId3">
            <a:alphaModFix/>
          </a:blip>
          <a:stretch>
            <a:fillRect/>
          </a:stretch>
        </p:blipFill>
        <p:spPr>
          <a:xfrm>
            <a:off x="5486400" y="1207009"/>
            <a:ext cx="3017526" cy="1508762"/>
          </a:xfrm>
          <a:prstGeom prst="rect">
            <a:avLst/>
          </a:prstGeom>
          <a:noFill/>
          <a:ln>
            <a:noFill/>
          </a:ln>
        </p:spPr>
      </p:pic>
      <p:pic>
        <p:nvPicPr>
          <p:cNvPr id="323" name="Google Shape;323;p46"/>
          <p:cNvPicPr preferRelativeResize="0"/>
          <p:nvPr/>
        </p:nvPicPr>
        <p:blipFill>
          <a:blip r:embed="rId4">
            <a:alphaModFix/>
          </a:blip>
          <a:stretch>
            <a:fillRect/>
          </a:stretch>
        </p:blipFill>
        <p:spPr>
          <a:xfrm>
            <a:off x="5496163" y="2815849"/>
            <a:ext cx="2997999" cy="15087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p47"/>
          <p:cNvPicPr preferRelativeResize="0"/>
          <p:nvPr/>
        </p:nvPicPr>
        <p:blipFill>
          <a:blip r:embed="rId3">
            <a:alphaModFix/>
          </a:blip>
          <a:stretch>
            <a:fillRect/>
          </a:stretch>
        </p:blipFill>
        <p:spPr>
          <a:xfrm>
            <a:off x="5486400" y="1207001"/>
            <a:ext cx="2997976" cy="1499002"/>
          </a:xfrm>
          <a:prstGeom prst="rect">
            <a:avLst/>
          </a:prstGeom>
          <a:noFill/>
          <a:ln>
            <a:noFill/>
          </a:ln>
        </p:spPr>
      </p:pic>
      <p:sp>
        <p:nvSpPr>
          <p:cNvPr id="329" name="Google Shape;329;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31" name="Google Shape;331;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Keseimbangan m</a:t>
            </a:r>
            <a:r>
              <a:rPr b="1" lang="en" sz="1800">
                <a:solidFill>
                  <a:srgbClr val="743673"/>
                </a:solidFill>
                <a:highlight>
                  <a:schemeClr val="lt1"/>
                </a:highlight>
                <a:latin typeface="Raleway"/>
                <a:ea typeface="Raleway"/>
                <a:cs typeface="Raleway"/>
                <a:sym typeface="Raleway"/>
              </a:rPr>
              <a:t>osaik </a:t>
            </a:r>
            <a:br>
              <a:rPr b="1" lang="en" sz="1800">
                <a:solidFill>
                  <a:srgbClr val="743673"/>
                </a:solidFill>
                <a:highlight>
                  <a:schemeClr val="lt1"/>
                </a:highlight>
                <a:latin typeface="Raleway"/>
                <a:ea typeface="Raleway"/>
                <a:cs typeface="Raleway"/>
                <a:sym typeface="Raleway"/>
              </a:rPr>
            </a:br>
            <a:r>
              <a:rPr b="1" lang="en" sz="1800">
                <a:solidFill>
                  <a:srgbClr val="743673"/>
                </a:solidFill>
                <a:highlight>
                  <a:schemeClr val="lt1"/>
                </a:highlight>
                <a:latin typeface="Raleway"/>
                <a:ea typeface="Raleway"/>
                <a:cs typeface="Raleway"/>
                <a:sym typeface="Raleway"/>
              </a:rPr>
              <a:t>/ kristalografi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b="1" lang="en" sz="1800">
                <a:solidFill>
                  <a:srgbClr val="743673"/>
                </a:solidFill>
                <a:highlight>
                  <a:schemeClr val="lt1"/>
                </a:highlight>
                <a:latin typeface="Raleway"/>
                <a:ea typeface="Raleway"/>
                <a:cs typeface="Raleway"/>
                <a:sym typeface="Raleway"/>
              </a:rPr>
            </a:br>
            <a:r>
              <a:rPr lang="en" sz="1200">
                <a:solidFill>
                  <a:schemeClr val="dk1"/>
                </a:solidFill>
                <a:latin typeface="Raleway Medium"/>
                <a:ea typeface="Raleway Medium"/>
                <a:cs typeface="Raleway Medium"/>
                <a:sym typeface="Raleway Medium"/>
              </a:rPr>
              <a:t>Keseimbangan mosaik (alias kristalografi) dapat digambarkan sebagai "kekacauan terorganisir."</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Keseimbangan tersebut dapat terlihat dari sebuah pola atau pengulangan, di mana tidak ada satu elemen pun yang lebih menonjol daripada elemen lainnya.</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id="336" name="Google Shape;336;p48"/>
          <p:cNvPicPr preferRelativeResize="0"/>
          <p:nvPr/>
        </p:nvPicPr>
        <p:blipFill>
          <a:blip r:embed="rId3">
            <a:alphaModFix/>
          </a:blip>
          <a:stretch>
            <a:fillRect/>
          </a:stretch>
        </p:blipFill>
        <p:spPr>
          <a:xfrm>
            <a:off x="5486399" y="1206999"/>
            <a:ext cx="2997977" cy="1458800"/>
          </a:xfrm>
          <a:prstGeom prst="rect">
            <a:avLst/>
          </a:prstGeom>
          <a:noFill/>
          <a:ln>
            <a:noFill/>
          </a:ln>
        </p:spPr>
      </p:pic>
      <p:sp>
        <p:nvSpPr>
          <p:cNvPr id="337" name="Google Shape;337;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8" name="Google Shape;338;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39" name="Google Shape;339;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Tata letak atau </a:t>
            </a:r>
            <a:r>
              <a:rPr i="1" lang="en" sz="1200">
                <a:solidFill>
                  <a:schemeClr val="dk1"/>
                </a:solidFill>
                <a:latin typeface="Raleway Medium"/>
                <a:ea typeface="Raleway Medium"/>
                <a:cs typeface="Raleway Medium"/>
                <a:sym typeface="Raleway Medium"/>
              </a:rPr>
              <a:t>layout</a:t>
            </a:r>
            <a:r>
              <a:rPr lang="en" sz="1200">
                <a:solidFill>
                  <a:schemeClr val="dk1"/>
                </a:solidFill>
                <a:latin typeface="Raleway Medium"/>
                <a:ea typeface="Raleway Medium"/>
                <a:cs typeface="Raleway Medium"/>
                <a:sym typeface="Raleway Medium"/>
              </a:rPr>
              <a:t> Pinterest dan Tumblr adalah salah satu contoh keseimbangan mosaik.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Kurangnya keselarasan vertikal antar elemen terasa agak kacau, tetapi keselarasan horizontal dan konsistensi antar elemen membantu mengatur kekacauan itu.</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40" name="Google Shape;340;p48"/>
          <p:cNvPicPr preferRelativeResize="0"/>
          <p:nvPr/>
        </p:nvPicPr>
        <p:blipFill rotWithShape="1">
          <a:blip r:embed="rId4">
            <a:alphaModFix/>
          </a:blip>
          <a:srcRect b="3651" l="0" r="0" t="3661"/>
          <a:stretch/>
        </p:blipFill>
        <p:spPr>
          <a:xfrm>
            <a:off x="5618624" y="2818199"/>
            <a:ext cx="2997976" cy="14588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Keseimbangan pada desain</a:t>
            </a:r>
            <a:endParaRPr/>
          </a:p>
        </p:txBody>
      </p:sp>
      <p:sp>
        <p:nvSpPr>
          <p:cNvPr id="347" name="Google Shape;347;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Ketika semuanya seimbang, harmoni tercipta. Keseimbangan dalam desain UI penting untuk mencapai kesatuan rasa dalam keseluruhan desain Anda.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Kurangnya keseimbangan dapat mengakibatkan ketegangan visual, yang pada umumnya harus dihindari. Namun, jika dilakukan dengan hati-hati, ketegangan visual dapat digunakan untuk mencapai hasil yang diinginkan.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mendesain tata letak, ambil langkah dan tanyakan pada diri sendiri apakah komposisi keseluruhan terasa seimbang. Jika satu elemen menarik terlalu banyak perhatian, Anda dapat bereksperimen dengan ukuran, warna, kontras, atau kepadatan untuk membantu mendistribusikan ulang bobot visual.</a:t>
            </a:r>
            <a:endParaRPr sz="1200">
              <a:solidFill>
                <a:schemeClr val="dk1"/>
              </a:solidFill>
              <a:latin typeface="Raleway Medium"/>
              <a:ea typeface="Raleway Medium"/>
              <a:cs typeface="Raleway Medium"/>
              <a:sym typeface="Raleway Medium"/>
            </a:endParaRPr>
          </a:p>
        </p:txBody>
      </p:sp>
      <p:pic>
        <p:nvPicPr>
          <p:cNvPr id="348" name="Google Shape;348;p49">
            <a:hlinkClick r:id="rId3"/>
          </p:cNvPr>
          <p:cNvPicPr preferRelativeResize="0"/>
          <p:nvPr/>
        </p:nvPicPr>
        <p:blipFill rotWithShape="1">
          <a:blip r:embed="rId4">
            <a:alphaModFix/>
          </a:blip>
          <a:srcRect b="0" l="26326" r="359" t="0"/>
          <a:stretch/>
        </p:blipFill>
        <p:spPr>
          <a:xfrm>
            <a:off x="5486400" y="1207587"/>
            <a:ext cx="3017518" cy="274319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Penjajaran</a:t>
            </a:r>
            <a:r>
              <a:rPr lang="en"/>
              <a:t> pada desain</a:t>
            </a:r>
            <a:endParaRPr/>
          </a:p>
        </p:txBody>
      </p:sp>
      <p:sp>
        <p:nvSpPr>
          <p:cNvPr id="354" name="Google Shape;354;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a:t>
            </a:r>
            <a:r>
              <a:rPr lang="en"/>
              <a:t> pada desain</a:t>
            </a:r>
            <a:endParaRPr/>
          </a:p>
        </p:txBody>
      </p:sp>
      <p:sp>
        <p:nvSpPr>
          <p:cNvPr id="361" name="Google Shape;361;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Penjajaran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Penjajaran atau </a:t>
            </a:r>
            <a:r>
              <a:rPr i="1" lang="en" sz="1200">
                <a:solidFill>
                  <a:schemeClr val="dk1"/>
                </a:solidFill>
                <a:latin typeface="Raleway Medium"/>
                <a:ea typeface="Raleway Medium"/>
                <a:cs typeface="Raleway Medium"/>
                <a:sym typeface="Raleway Medium"/>
              </a:rPr>
              <a:t>alignment </a:t>
            </a:r>
            <a:r>
              <a:rPr lang="en" sz="1200">
                <a:solidFill>
                  <a:schemeClr val="dk1"/>
                </a:solidFill>
                <a:latin typeface="Raleway Medium"/>
                <a:ea typeface="Raleway Medium"/>
                <a:cs typeface="Raleway Medium"/>
                <a:sym typeface="Raleway Medium"/>
              </a:rPr>
              <a:t>seringkali diabaikan karena sifatnya yang tidak terlihat.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Kita perlu mengingat bahwa </a:t>
            </a:r>
            <a:r>
              <a:rPr b="1" lang="en" sz="1200">
                <a:solidFill>
                  <a:schemeClr val="dk1"/>
                </a:solidFill>
                <a:latin typeface="Raleway"/>
                <a:ea typeface="Raleway"/>
                <a:cs typeface="Raleway"/>
                <a:sym typeface="Raleway"/>
              </a:rPr>
              <a:t>kesatuan</a:t>
            </a:r>
            <a:r>
              <a:rPr lang="en" sz="1200">
                <a:solidFill>
                  <a:schemeClr val="dk1"/>
                </a:solidFill>
                <a:latin typeface="Raleway Medium"/>
                <a:ea typeface="Raleway Medium"/>
                <a:cs typeface="Raleway Medium"/>
                <a:sym typeface="Raleway Medium"/>
              </a:rPr>
              <a:t> adalah tujuan akhir dari desain kita. Penjajaran dapat membantu kita menciptakan rasa kesatuan dengan membuat struktur dan menghubungkan elemen dengan cara yang halus namun berdampak.</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sesi ini kita akan membahas berbagai jenis penjajaran dan cara menggunakannya dalam Desain UI.</a:t>
            </a:r>
            <a:endParaRPr sz="1200">
              <a:solidFill>
                <a:schemeClr val="dk1"/>
              </a:solidFill>
              <a:latin typeface="Raleway Medium"/>
              <a:ea typeface="Raleway Medium"/>
              <a:cs typeface="Raleway Medium"/>
              <a:sym typeface="Raleway Medium"/>
            </a:endParaRPr>
          </a:p>
        </p:txBody>
      </p:sp>
      <p:pic>
        <p:nvPicPr>
          <p:cNvPr id="362" name="Google Shape;362;p51">
            <a:hlinkClick r:id="rId3"/>
          </p:cNvPr>
          <p:cNvPicPr preferRelativeResize="0"/>
          <p:nvPr/>
        </p:nvPicPr>
        <p:blipFill rotWithShape="1">
          <a:blip r:embed="rId4">
            <a:alphaModFix/>
          </a:blip>
          <a:srcRect b="20694" l="0" r="0" t="47345"/>
          <a:stretch/>
        </p:blipFill>
        <p:spPr>
          <a:xfrm>
            <a:off x="5486400" y="1207587"/>
            <a:ext cx="3017518" cy="274319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369" name="Google Shape;369;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Penjajaran vertikal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Saat elemen tengah, atas, dan/atau bawah sejajar pada garis horizontal yang tidak terlihat, Anda membuat penjajaran vertikal.</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Penjajaran vertikal atau </a:t>
            </a:r>
            <a:r>
              <a:rPr i="1" lang="en" sz="1200">
                <a:solidFill>
                  <a:schemeClr val="dk1"/>
                </a:solidFill>
                <a:latin typeface="Raleway Medium"/>
                <a:ea typeface="Raleway Medium"/>
                <a:cs typeface="Raleway Medium"/>
                <a:sym typeface="Raleway Medium"/>
              </a:rPr>
              <a:t>vertical alignment </a:t>
            </a:r>
            <a:r>
              <a:rPr lang="en" sz="1200">
                <a:solidFill>
                  <a:schemeClr val="dk1"/>
                </a:solidFill>
                <a:latin typeface="Raleway Medium"/>
                <a:ea typeface="Raleway Medium"/>
                <a:cs typeface="Raleway Medium"/>
                <a:sym typeface="Raleway Medium"/>
              </a:rPr>
              <a:t>mendapatkan namanya, bukan karena garis horizontal yang tidak terlihat, tetapi karena ruang vertikal di dalam elemen disejajarkan dengan yang lain. </a:t>
            </a:r>
            <a:endParaRPr sz="1200">
              <a:solidFill>
                <a:schemeClr val="dk1"/>
              </a:solidFill>
              <a:latin typeface="Raleway Medium"/>
              <a:ea typeface="Raleway Medium"/>
              <a:cs typeface="Raleway Medium"/>
              <a:sym typeface="Raleway Medium"/>
            </a:endParaRPr>
          </a:p>
        </p:txBody>
      </p:sp>
      <p:pic>
        <p:nvPicPr>
          <p:cNvPr id="370" name="Google Shape;370;p52"/>
          <p:cNvPicPr preferRelativeResize="0"/>
          <p:nvPr/>
        </p:nvPicPr>
        <p:blipFill>
          <a:blip r:embed="rId3">
            <a:alphaModFix/>
          </a:blip>
          <a:stretch>
            <a:fillRect/>
          </a:stretch>
        </p:blipFill>
        <p:spPr>
          <a:xfrm>
            <a:off x="5486394" y="1207575"/>
            <a:ext cx="3017524" cy="11869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pic>
        <p:nvPicPr>
          <p:cNvPr id="375" name="Google Shape;375;p53"/>
          <p:cNvPicPr preferRelativeResize="0"/>
          <p:nvPr/>
        </p:nvPicPr>
        <p:blipFill>
          <a:blip r:embed="rId3">
            <a:alphaModFix/>
          </a:blip>
          <a:stretch>
            <a:fillRect/>
          </a:stretch>
        </p:blipFill>
        <p:spPr>
          <a:xfrm>
            <a:off x="5486400" y="1207575"/>
            <a:ext cx="3017524" cy="2013202"/>
          </a:xfrm>
          <a:prstGeom prst="rect">
            <a:avLst/>
          </a:prstGeom>
          <a:noFill/>
          <a:ln>
            <a:noFill/>
          </a:ln>
        </p:spPr>
      </p:pic>
      <p:sp>
        <p:nvSpPr>
          <p:cNvPr id="376" name="Google Shape;376;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7" name="Google Shape;377;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378" name="Google Shape;378;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1a) </a:t>
            </a:r>
            <a:r>
              <a:rPr b="1" lang="en" sz="1800">
                <a:solidFill>
                  <a:srgbClr val="743673"/>
                </a:solidFill>
                <a:highlight>
                  <a:schemeClr val="lt1"/>
                </a:highlight>
                <a:latin typeface="Raleway"/>
                <a:ea typeface="Raleway"/>
                <a:cs typeface="Raleway"/>
                <a:sym typeface="Raleway"/>
              </a:rPr>
              <a:t>Penjajaran vertikal atas/bawah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Ketika ketinggian dua atau lebih elemen berbeda secara drastis, masuk akal untuk menyelaraskannya secara vertikal dengan bagian atas atau bawahnya.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contoh disamping, kita meratakan bagian </a:t>
            </a:r>
            <a:r>
              <a:rPr i="1" lang="en" sz="1200">
                <a:solidFill>
                  <a:schemeClr val="dk1"/>
                </a:solidFill>
                <a:latin typeface="Raleway Medium"/>
                <a:ea typeface="Raleway Medium"/>
                <a:cs typeface="Raleway Medium"/>
                <a:sym typeface="Raleway Medium"/>
              </a:rPr>
              <a:t>body </a:t>
            </a:r>
            <a:r>
              <a:rPr lang="en" sz="1200">
                <a:solidFill>
                  <a:schemeClr val="dk1"/>
                </a:solidFill>
                <a:latin typeface="Raleway Medium"/>
                <a:ea typeface="Raleway Medium"/>
                <a:cs typeface="Raleway Medium"/>
                <a:sym typeface="Raleway Medium"/>
              </a:rPr>
              <a:t>dengan </a:t>
            </a:r>
            <a:r>
              <a:rPr i="1" lang="en" sz="1200">
                <a:solidFill>
                  <a:schemeClr val="dk1"/>
                </a:solidFill>
                <a:latin typeface="Raleway Medium"/>
                <a:ea typeface="Raleway Medium"/>
                <a:cs typeface="Raleway Medium"/>
                <a:sym typeface="Raleway Medium"/>
              </a:rPr>
              <a:t>sidebar. </a:t>
            </a:r>
            <a:r>
              <a:rPr lang="en" sz="1200">
                <a:solidFill>
                  <a:schemeClr val="dk1"/>
                </a:solidFill>
                <a:latin typeface="Raleway Medium"/>
                <a:ea typeface="Raleway Medium"/>
                <a:cs typeface="Raleway Medium"/>
                <a:sym typeface="Raleway Medium"/>
              </a:rPr>
              <a:t>Perhatikan bagaimana kedua wadah dan judulnya disejajarkan untuk membuat hubungan antara kedua elemen</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id="383" name="Google Shape;383;p54"/>
          <p:cNvPicPr preferRelativeResize="0"/>
          <p:nvPr/>
        </p:nvPicPr>
        <p:blipFill>
          <a:blip r:embed="rId3">
            <a:alphaModFix/>
          </a:blip>
          <a:stretch>
            <a:fillRect/>
          </a:stretch>
        </p:blipFill>
        <p:spPr>
          <a:xfrm>
            <a:off x="5486400" y="1170501"/>
            <a:ext cx="3238499" cy="543324"/>
          </a:xfrm>
          <a:prstGeom prst="rect">
            <a:avLst/>
          </a:prstGeom>
          <a:noFill/>
          <a:ln>
            <a:noFill/>
          </a:ln>
        </p:spPr>
      </p:pic>
      <p:sp>
        <p:nvSpPr>
          <p:cNvPr id="384" name="Google Shape;38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5" name="Google Shape;38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386" name="Google Shape;386;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1b) Penjajaran vertikal terpusat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Dalam kasus di mana ketinggian elemen bervariasi, tetapi tidak secara drastis, mungkin lebih masuk akal untuk menyelaraskannya secara vertikal di tengah.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contoh disamping, kita memiliki penjajaran vertikal terpusat untuk setiap elemen navigasi di header.</a:t>
            </a:r>
            <a:endParaRPr sz="1200">
              <a:solidFill>
                <a:schemeClr val="dk1"/>
              </a:solidFill>
              <a:latin typeface="Raleway Medium"/>
              <a:ea typeface="Raleway Medium"/>
              <a:cs typeface="Raleway Medium"/>
              <a:sym typeface="Raleway Medium"/>
            </a:endParaRPr>
          </a:p>
        </p:txBody>
      </p:sp>
      <p:pic>
        <p:nvPicPr>
          <p:cNvPr id="387" name="Google Shape;387;p54"/>
          <p:cNvPicPr preferRelativeResize="0"/>
          <p:nvPr/>
        </p:nvPicPr>
        <p:blipFill>
          <a:blip r:embed="rId4">
            <a:alphaModFix/>
          </a:blip>
          <a:stretch>
            <a:fillRect/>
          </a:stretch>
        </p:blipFill>
        <p:spPr>
          <a:xfrm>
            <a:off x="5486399" y="1790024"/>
            <a:ext cx="3238501" cy="172519"/>
          </a:xfrm>
          <a:prstGeom prst="rect">
            <a:avLst/>
          </a:prstGeom>
          <a:noFill/>
          <a:ln cap="flat" cmpd="sng" w="9525">
            <a:solidFill>
              <a:schemeClr val="dk2"/>
            </a:solidFill>
            <a:prstDash val="solid"/>
            <a:round/>
            <a:headEnd len="sm" w="sm" type="none"/>
            <a:tailEnd len="sm" w="sm" type="none"/>
          </a:ln>
        </p:spPr>
      </p:pic>
      <p:pic>
        <p:nvPicPr>
          <p:cNvPr id="388" name="Google Shape;388;p54"/>
          <p:cNvPicPr preferRelativeResize="0"/>
          <p:nvPr/>
        </p:nvPicPr>
        <p:blipFill>
          <a:blip r:embed="rId5">
            <a:alphaModFix/>
          </a:blip>
          <a:stretch>
            <a:fillRect/>
          </a:stretch>
        </p:blipFill>
        <p:spPr>
          <a:xfrm>
            <a:off x="5486400" y="2114949"/>
            <a:ext cx="3238500" cy="320188"/>
          </a:xfrm>
          <a:prstGeom prst="rect">
            <a:avLst/>
          </a:prstGeom>
          <a:noFill/>
          <a:ln cap="flat" cmpd="sng" w="9525">
            <a:solidFill>
              <a:schemeClr val="dk2"/>
            </a:solidFill>
            <a:prstDash val="solid"/>
            <a:round/>
            <a:headEnd len="sm" w="sm" type="none"/>
            <a:tailEnd len="sm" w="sm" type="none"/>
          </a:ln>
        </p:spPr>
      </p:pic>
      <p:pic>
        <p:nvPicPr>
          <p:cNvPr id="389" name="Google Shape;389;p54"/>
          <p:cNvPicPr preferRelativeResize="0"/>
          <p:nvPr/>
        </p:nvPicPr>
        <p:blipFill>
          <a:blip r:embed="rId6">
            <a:alphaModFix/>
          </a:blip>
          <a:stretch>
            <a:fillRect/>
          </a:stretch>
        </p:blipFill>
        <p:spPr>
          <a:xfrm>
            <a:off x="5486412" y="2587519"/>
            <a:ext cx="3238500" cy="66675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id="394" name="Google Shape;394;p55"/>
          <p:cNvPicPr preferRelativeResize="0"/>
          <p:nvPr/>
        </p:nvPicPr>
        <p:blipFill>
          <a:blip r:embed="rId3">
            <a:alphaModFix/>
          </a:blip>
          <a:stretch>
            <a:fillRect/>
          </a:stretch>
        </p:blipFill>
        <p:spPr>
          <a:xfrm>
            <a:off x="5486400" y="1207575"/>
            <a:ext cx="3017525" cy="2199737"/>
          </a:xfrm>
          <a:prstGeom prst="rect">
            <a:avLst/>
          </a:prstGeom>
          <a:noFill/>
          <a:ln>
            <a:noFill/>
          </a:ln>
        </p:spPr>
      </p:pic>
      <p:sp>
        <p:nvSpPr>
          <p:cNvPr id="395" name="Google Shape;39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6" name="Google Shape;396;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397" name="Google Shape;397;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Penjajaran horizontal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Saat bagian tengah, sisi kiri, dan/atau sisi kanan elemen sejajar pada garis vertikal yang tidak terlihat, Anda membuat penjajaran horizontal.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Seperti halnya penjajaran vertikal, Anda tidak perlu menyejajarkan elemen kiri, kanan, DAN tengah untuk memiliki penjajaran horizontal. Ada banyak kasus di mana hanya satu penjajaran (kiri/kanan/tengah) cukup.</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id="402" name="Google Shape;402;p56"/>
          <p:cNvPicPr preferRelativeResize="0"/>
          <p:nvPr/>
        </p:nvPicPr>
        <p:blipFill>
          <a:blip r:embed="rId3">
            <a:alphaModFix/>
          </a:blip>
          <a:stretch>
            <a:fillRect/>
          </a:stretch>
        </p:blipFill>
        <p:spPr>
          <a:xfrm>
            <a:off x="5486400" y="978976"/>
            <a:ext cx="3017524" cy="3688086"/>
          </a:xfrm>
          <a:prstGeom prst="rect">
            <a:avLst/>
          </a:prstGeom>
          <a:noFill/>
          <a:ln>
            <a:noFill/>
          </a:ln>
        </p:spPr>
      </p:pic>
      <p:sp>
        <p:nvSpPr>
          <p:cNvPr id="403" name="Google Shape;403;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4" name="Google Shape;404;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05" name="Google Shape;405;p5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 Penjajaran horizontal kiri/kanan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Saat mendesain tata letak, cara termudah untuk memastikan kiri dan kanan rata adalah dengan menetapkan lebar maksimum untuk semua konten Anda dari awal.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Kotak tak terlihat yang menetapkan lebar maksimum akan memastikan elemen Anda mempunyai rata kiri dan kanan yang konsisten.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1" name="Google Shape;411;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12" name="Google Shape;412;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2b) Penjajaran horizontal terpusat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Penjajaran</a:t>
            </a:r>
            <a:r>
              <a:rPr lang="en" sz="1200">
                <a:solidFill>
                  <a:schemeClr val="dk1"/>
                </a:solidFill>
                <a:latin typeface="Raleway Medium"/>
                <a:ea typeface="Raleway Medium"/>
                <a:cs typeface="Raleway Medium"/>
                <a:sym typeface="Raleway Medium"/>
              </a:rPr>
              <a:t> horizontal terpusat dapat berguna bila Anda memiliki elemen - elemen dalam satu baris. Kasus penggunaan paling umum untuk penjajaran ini adalah pada </a:t>
            </a:r>
            <a:r>
              <a:rPr i="1" lang="en" sz="1200">
                <a:solidFill>
                  <a:schemeClr val="dk1"/>
                </a:solidFill>
                <a:latin typeface="Raleway Medium"/>
                <a:ea typeface="Raleway Medium"/>
                <a:cs typeface="Raleway Medium"/>
                <a:sym typeface="Raleway Medium"/>
              </a:rPr>
              <a:t>popups </a:t>
            </a:r>
            <a:r>
              <a:rPr lang="en" sz="1200">
                <a:solidFill>
                  <a:schemeClr val="dk1"/>
                </a:solidFill>
                <a:latin typeface="Raleway Medium"/>
                <a:ea typeface="Raleway Medium"/>
                <a:cs typeface="Raleway Medium"/>
                <a:sym typeface="Raleway Medium"/>
              </a:rPr>
              <a:t>atau </a:t>
            </a:r>
            <a:r>
              <a:rPr i="1" lang="en" sz="1200">
                <a:solidFill>
                  <a:schemeClr val="dk1"/>
                </a:solidFill>
                <a:latin typeface="Raleway Medium"/>
                <a:ea typeface="Raleway Medium"/>
                <a:cs typeface="Raleway Medium"/>
                <a:sym typeface="Raleway Medium"/>
              </a:rPr>
              <a:t>dialogue boxes.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Namun, ingatlah bahwa dalam sebagian besar kasus, teks harus disejajarkan ke kiri (kebanyakan audiens membaca dari kiri ke kanan).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Penjajaran kiri membantu mata melompat dari satu baris ke baris berikutnya dengan cara yang mudah. Keterbacaan atau </a:t>
            </a:r>
            <a:r>
              <a:rPr i="1" lang="en" sz="1200">
                <a:solidFill>
                  <a:schemeClr val="dk1"/>
                </a:solidFill>
                <a:latin typeface="Raleway Medium"/>
                <a:ea typeface="Raleway Medium"/>
                <a:cs typeface="Raleway Medium"/>
                <a:sym typeface="Raleway Medium"/>
              </a:rPr>
              <a:t>readability </a:t>
            </a:r>
            <a:r>
              <a:rPr lang="en" sz="1200">
                <a:solidFill>
                  <a:schemeClr val="dk1"/>
                </a:solidFill>
                <a:latin typeface="Raleway Medium"/>
                <a:ea typeface="Raleway Medium"/>
                <a:cs typeface="Raleway Medium"/>
                <a:sym typeface="Raleway Medium"/>
              </a:rPr>
              <a:t>mulai berkurang jika kita menggunakan penjajaran tengah atau kanan.</a:t>
            </a:r>
            <a:endParaRPr sz="1200">
              <a:solidFill>
                <a:schemeClr val="dk1"/>
              </a:solidFill>
              <a:latin typeface="Raleway Medium"/>
              <a:ea typeface="Raleway Medium"/>
              <a:cs typeface="Raleway Medium"/>
              <a:sym typeface="Raleway Medium"/>
            </a:endParaRPr>
          </a:p>
        </p:txBody>
      </p:sp>
      <p:pic>
        <p:nvPicPr>
          <p:cNvPr id="413" name="Google Shape;413;p57"/>
          <p:cNvPicPr preferRelativeResize="0"/>
          <p:nvPr/>
        </p:nvPicPr>
        <p:blipFill>
          <a:blip r:embed="rId3">
            <a:alphaModFix/>
          </a:blip>
          <a:stretch>
            <a:fillRect/>
          </a:stretch>
        </p:blipFill>
        <p:spPr>
          <a:xfrm>
            <a:off x="5486401" y="1207575"/>
            <a:ext cx="3017525" cy="121852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p58"/>
          <p:cNvPicPr preferRelativeResize="0"/>
          <p:nvPr/>
        </p:nvPicPr>
        <p:blipFill>
          <a:blip r:embed="rId3">
            <a:alphaModFix/>
          </a:blip>
          <a:stretch>
            <a:fillRect/>
          </a:stretch>
        </p:blipFill>
        <p:spPr>
          <a:xfrm>
            <a:off x="5486400" y="1188725"/>
            <a:ext cx="3017525" cy="2691200"/>
          </a:xfrm>
          <a:prstGeom prst="rect">
            <a:avLst/>
          </a:prstGeom>
          <a:noFill/>
          <a:ln>
            <a:noFill/>
          </a:ln>
        </p:spPr>
      </p:pic>
      <p:sp>
        <p:nvSpPr>
          <p:cNvPr id="419" name="Google Shape;419;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21" name="Google Shape;421;p5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Penjajaran objek media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Objek media adalah file yang dapat ditampilkan atau dieksekusi sebagai bagian dari dokumen HTML. Contohnya termasuk file grafik, audio dan video, dan applet Java.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contoh disamping, objek media yang digunakan adalah ikon - ikon dengan teks. Penataan seperti disamping mudah berakhir dengan ketidaksejajaran. Salah satu tip untuk menjajarkan objek media adalah dengan meratakan tengah ikon Anda dan meratakan kiri semua teks Anda.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28" name="Google Shape;428;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Penjajaran tepi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Penjajaran</a:t>
            </a:r>
            <a:r>
              <a:rPr lang="en" sz="1200">
                <a:solidFill>
                  <a:schemeClr val="dk1"/>
                </a:solidFill>
                <a:latin typeface="Raleway Medium"/>
                <a:ea typeface="Raleway Medium"/>
                <a:cs typeface="Raleway Medium"/>
                <a:sym typeface="Raleway Medium"/>
              </a:rPr>
              <a:t> tepi terjadi ketika kita meratakan satu atau banyak sudut secara vertikal dan horizontal.</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Dengan menambatkan elemen pada setiap sudut, lebih mudah untuk mengarahkan mata pengguna dari satu elemen ke elemen berikutnya.</a:t>
            </a:r>
            <a:endParaRPr sz="1200">
              <a:solidFill>
                <a:schemeClr val="dk1"/>
              </a:solidFill>
              <a:latin typeface="Raleway Medium"/>
              <a:ea typeface="Raleway Medium"/>
              <a:cs typeface="Raleway Medium"/>
              <a:sym typeface="Raleway Medium"/>
            </a:endParaRPr>
          </a:p>
        </p:txBody>
      </p:sp>
      <p:pic>
        <p:nvPicPr>
          <p:cNvPr id="429" name="Google Shape;429;p59"/>
          <p:cNvPicPr preferRelativeResize="0"/>
          <p:nvPr/>
        </p:nvPicPr>
        <p:blipFill>
          <a:blip r:embed="rId3">
            <a:alphaModFix/>
          </a:blip>
          <a:stretch>
            <a:fillRect/>
          </a:stretch>
        </p:blipFill>
        <p:spPr>
          <a:xfrm>
            <a:off x="5486400" y="1188730"/>
            <a:ext cx="3017525" cy="1009571"/>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pic>
        <p:nvPicPr>
          <p:cNvPr id="434" name="Google Shape;434;p60"/>
          <p:cNvPicPr preferRelativeResize="0"/>
          <p:nvPr/>
        </p:nvPicPr>
        <p:blipFill>
          <a:blip r:embed="rId3">
            <a:alphaModFix/>
          </a:blip>
          <a:stretch>
            <a:fillRect/>
          </a:stretch>
        </p:blipFill>
        <p:spPr>
          <a:xfrm>
            <a:off x="5486402" y="1188725"/>
            <a:ext cx="3017525" cy="1482294"/>
          </a:xfrm>
          <a:prstGeom prst="rect">
            <a:avLst/>
          </a:prstGeom>
          <a:noFill/>
          <a:ln>
            <a:noFill/>
          </a:ln>
        </p:spPr>
      </p:pic>
      <p:sp>
        <p:nvSpPr>
          <p:cNvPr id="435" name="Google Shape;435;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37" name="Google Shape;437;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Penjajaran optikal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kasus penjajaran ini, Anda perlu menggunakan mata Anda dan menyesuaikan perataan menurut apa yang terlihat terbaik.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contoh disamping, ikon kiri dipusatkan secara vertikal dan horizontal di dalam lingkaran. Namun, bagian bawah ikon secara visual lebih berat daripada bagian atas.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Ikon kanan disejajarkan secara optik di dalam lingkaran agar tampak lebih seimbang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pic>
        <p:nvPicPr>
          <p:cNvPr id="442" name="Google Shape;442;p61"/>
          <p:cNvPicPr preferRelativeResize="0"/>
          <p:nvPr/>
        </p:nvPicPr>
        <p:blipFill>
          <a:blip r:embed="rId3">
            <a:alphaModFix/>
          </a:blip>
          <a:stretch>
            <a:fillRect/>
          </a:stretch>
        </p:blipFill>
        <p:spPr>
          <a:xfrm>
            <a:off x="5486402" y="1188725"/>
            <a:ext cx="3017525" cy="1482294"/>
          </a:xfrm>
          <a:prstGeom prst="rect">
            <a:avLst/>
          </a:prstGeom>
          <a:noFill/>
          <a:ln>
            <a:noFill/>
          </a:ln>
        </p:spPr>
      </p:pic>
      <p:sp>
        <p:nvSpPr>
          <p:cNvPr id="443" name="Google Shape;443;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45" name="Google Shape;445;p6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 Penjajaran optikal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kasus penjajaran ini, Anda perlu menggunakan mata Anda dan menyesuaikan perataan menurut apa yang terlihat terbaik.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contoh disamping, ikon kiri dipusatkan secara vertikal dan horizontal di dalam lingkaran. Namun, bagian bawah ikon secara visual lebih berat daripada bagian atas.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Ikon kanan disejajarkan secara optik di dalam lingkaran agar tampak lebih seimbang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1" name="Google Shape;451;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52" name="Google Shape;452;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Mari bermain </a:t>
            </a:r>
            <a:r>
              <a:rPr b="1" i="1" lang="en" sz="1800">
                <a:solidFill>
                  <a:srgbClr val="743673"/>
                </a:solidFill>
                <a:highlight>
                  <a:schemeClr val="lt1"/>
                </a:highlight>
                <a:latin typeface="Raleway"/>
                <a:ea typeface="Raleway"/>
                <a:cs typeface="Raleway"/>
                <a:sym typeface="Raleway"/>
              </a:rPr>
              <a:t>It’s Centered That</a:t>
            </a:r>
            <a:r>
              <a:rPr b="1" lang="en" sz="1800">
                <a:solidFill>
                  <a:srgbClr val="743673"/>
                </a:solidFill>
                <a:highlight>
                  <a:schemeClr val="lt1"/>
                </a:highlight>
                <a:latin typeface="Raleway"/>
                <a:ea typeface="Raleway"/>
                <a:cs typeface="Raleway"/>
                <a:sym typeface="Raleway"/>
              </a:rPr>
              <a: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Uji keterampilan Anda dalam melihat penjajaran,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Nilai apakah sebuah benar-benar berada di tengah-tengah bentuk. Ada 10 level dengan berbagai bentuk, Anda harus lulus 10 level dengan benar untuk memenangkan permainan.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Link: </a:t>
            </a:r>
            <a:br>
              <a:rPr lang="en" sz="1200">
                <a:solidFill>
                  <a:schemeClr val="dk1"/>
                </a:solidFill>
                <a:latin typeface="Raleway Medium"/>
                <a:ea typeface="Raleway Medium"/>
                <a:cs typeface="Raleway Medium"/>
                <a:sym typeface="Raleway Medium"/>
              </a:rPr>
            </a:br>
            <a:r>
              <a:rPr lang="en" sz="1200" u="sng">
                <a:solidFill>
                  <a:schemeClr val="hlink"/>
                </a:solidFill>
                <a:latin typeface="Raleway Medium"/>
                <a:ea typeface="Raleway Medium"/>
                <a:cs typeface="Raleway Medium"/>
                <a:sym typeface="Raleway Medium"/>
                <a:hlinkClick r:id="rId3"/>
              </a:rPr>
              <a:t>https://www.supremo.co.uk/designers-eye</a:t>
            </a:r>
            <a:endParaRPr sz="1200">
              <a:solidFill>
                <a:schemeClr val="dk1"/>
              </a:solidFill>
              <a:latin typeface="Raleway Medium"/>
              <a:ea typeface="Raleway Medium"/>
              <a:cs typeface="Raleway Medium"/>
              <a:sym typeface="Raleway Medium"/>
            </a:endParaRPr>
          </a:p>
        </p:txBody>
      </p:sp>
      <p:pic>
        <p:nvPicPr>
          <p:cNvPr id="453" name="Google Shape;453;p62">
            <a:hlinkClick r:id="rId4"/>
          </p:cNvPr>
          <p:cNvPicPr preferRelativeResize="0"/>
          <p:nvPr/>
        </p:nvPicPr>
        <p:blipFill rotWithShape="1">
          <a:blip r:embed="rId5">
            <a:alphaModFix/>
          </a:blip>
          <a:srcRect b="0" l="23966" r="23966" t="0"/>
          <a:stretch/>
        </p:blipFill>
        <p:spPr>
          <a:xfrm>
            <a:off x="5486400" y="1207587"/>
            <a:ext cx="3017518" cy="2743194"/>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9" name="Google Shape;459;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Penjajaran pada desain</a:t>
            </a:r>
            <a:endParaRPr/>
          </a:p>
        </p:txBody>
      </p:sp>
      <p:sp>
        <p:nvSpPr>
          <p:cNvPr id="460" name="Google Shape;460;p6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Belum cukup? Coba versi lain dari </a:t>
            </a:r>
            <a:r>
              <a:rPr b="1" i="1" lang="en" sz="1800">
                <a:solidFill>
                  <a:srgbClr val="743673"/>
                </a:solidFill>
                <a:highlight>
                  <a:schemeClr val="lt1"/>
                </a:highlight>
                <a:latin typeface="Raleway"/>
                <a:ea typeface="Raleway"/>
                <a:cs typeface="Raleway"/>
                <a:sym typeface="Raleway"/>
              </a:rPr>
              <a:t>It’s Centered That</a:t>
            </a:r>
            <a:r>
              <a:rPr b="1" lang="en" sz="1800">
                <a:solidFill>
                  <a:srgbClr val="743673"/>
                </a:solidFill>
                <a:highlight>
                  <a:schemeClr val="lt1"/>
                </a:highlight>
                <a:latin typeface="Raleway"/>
                <a:ea typeface="Raleway"/>
                <a:cs typeface="Raleway"/>
                <a:sym typeface="Raleway"/>
              </a:rPr>
              <a:t>!</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It’s centred that! </a:t>
            </a:r>
            <a:r>
              <a:rPr lang="en" sz="1200">
                <a:solidFill>
                  <a:schemeClr val="dk1"/>
                </a:solidFill>
                <a:latin typeface="Raleway Medium"/>
                <a:ea typeface="Raleway Medium"/>
                <a:cs typeface="Raleway Medium"/>
                <a:sym typeface="Raleway Medium"/>
              </a:rPr>
              <a:t>juga ada dalam versi Natal. Coba lagi yuk!</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Link: </a:t>
            </a:r>
            <a:r>
              <a:rPr lang="en" sz="1200" u="sng">
                <a:solidFill>
                  <a:schemeClr val="hlink"/>
                </a:solidFill>
                <a:latin typeface="Raleway Medium"/>
                <a:ea typeface="Raleway Medium"/>
                <a:cs typeface="Raleway Medium"/>
                <a:sym typeface="Raleway Medium"/>
                <a:hlinkClick r:id="rId3"/>
              </a:rPr>
              <a:t>https://www.supremo.co.uk/designers-eye-christmas</a:t>
            </a:r>
            <a:endParaRPr sz="1200">
              <a:solidFill>
                <a:schemeClr val="dk1"/>
              </a:solidFill>
              <a:latin typeface="Raleway Medium"/>
              <a:ea typeface="Raleway Medium"/>
              <a:cs typeface="Raleway Medium"/>
              <a:sym typeface="Raleway Medium"/>
            </a:endParaRPr>
          </a:p>
        </p:txBody>
      </p:sp>
      <p:pic>
        <p:nvPicPr>
          <p:cNvPr id="461" name="Google Shape;461;p63">
            <a:hlinkClick r:id="rId4"/>
          </p:cNvPr>
          <p:cNvPicPr preferRelativeResize="0"/>
          <p:nvPr/>
        </p:nvPicPr>
        <p:blipFill rotWithShape="1">
          <a:blip r:embed="rId5">
            <a:alphaModFix/>
          </a:blip>
          <a:srcRect b="0" l="22151" r="22151" t="0"/>
          <a:stretch/>
        </p:blipFill>
        <p:spPr>
          <a:xfrm>
            <a:off x="5486400" y="1207587"/>
            <a:ext cx="3017518" cy="274319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Membedakan desain yang baik dan buruk</a:t>
            </a:r>
            <a:endParaRPr/>
          </a:p>
        </p:txBody>
      </p:sp>
      <p:sp>
        <p:nvSpPr>
          <p:cNvPr id="467" name="Google Shape;467;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3" name="Google Shape;473;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474" name="Google Shape;474;p6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Membedakan desain yang baik dan buruk</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Ada beberapa </a:t>
            </a:r>
            <a:r>
              <a:rPr lang="en" sz="1200">
                <a:solidFill>
                  <a:schemeClr val="dk1"/>
                </a:solidFill>
                <a:latin typeface="Raleway Medium"/>
                <a:ea typeface="Raleway Medium"/>
                <a:cs typeface="Raleway Medium"/>
                <a:sym typeface="Raleway Medium"/>
              </a:rPr>
              <a:t>karakteristik</a:t>
            </a:r>
            <a:r>
              <a:rPr lang="en" sz="1200">
                <a:solidFill>
                  <a:schemeClr val="dk1"/>
                </a:solidFill>
                <a:latin typeface="Raleway Medium"/>
                <a:ea typeface="Raleway Medium"/>
                <a:cs typeface="Raleway Medium"/>
                <a:sym typeface="Raleway Medium"/>
              </a:rPr>
              <a:t> yang dimiliki oleh produk </a:t>
            </a:r>
            <a:r>
              <a:rPr lang="en" sz="1200">
                <a:solidFill>
                  <a:schemeClr val="dk1"/>
                </a:solidFill>
                <a:latin typeface="Raleway Medium"/>
                <a:ea typeface="Raleway Medium"/>
                <a:cs typeface="Raleway Medium"/>
                <a:sym typeface="Raleway Medium"/>
              </a:rPr>
              <a:t>dengan</a:t>
            </a:r>
            <a:r>
              <a:rPr lang="en" sz="1200">
                <a:solidFill>
                  <a:schemeClr val="dk1"/>
                </a:solidFill>
                <a:latin typeface="Raleway Medium"/>
                <a:ea typeface="Raleway Medium"/>
                <a:cs typeface="Raleway Medium"/>
                <a:sym typeface="Raleway Medium"/>
              </a:rPr>
              <a:t> desain UI/UX yang kurang baik, mari kita telaah beberapa </a:t>
            </a:r>
            <a:r>
              <a:rPr lang="en" sz="1200">
                <a:solidFill>
                  <a:schemeClr val="dk1"/>
                </a:solidFill>
                <a:latin typeface="Raleway Medium"/>
                <a:ea typeface="Raleway Medium"/>
                <a:cs typeface="Raleway Medium"/>
                <a:sym typeface="Raleway Medium"/>
              </a:rPr>
              <a:t>karakteristik tersebut.</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0" name="Google Shape;48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481" name="Google Shape;481;p6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Mempunyai kompleksitas yang tidak terlalu penting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Seringkali, dalam</a:t>
            </a:r>
            <a:r>
              <a:rPr lang="en" sz="1200">
                <a:solidFill>
                  <a:schemeClr val="dk1"/>
                </a:solidFill>
                <a:latin typeface="Raleway Medium"/>
                <a:ea typeface="Raleway Medium"/>
                <a:cs typeface="Raleway Medium"/>
                <a:sym typeface="Raleway Medium"/>
              </a:rPr>
              <a:t> upaya untuk menunjukkan kreativitas berlebih, desainer menumpuk elemen - elemen desain yang tidak diperlukan pada situs atau aplikasi mereka.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Tumpukkan elemen - elemen yang tidak penting dan berlebih dapat membuat pengguna bingung dan sulit mengakses informasi. </a:t>
            </a:r>
            <a:endParaRPr sz="1200">
              <a:solidFill>
                <a:schemeClr val="dk1"/>
              </a:solidFill>
              <a:latin typeface="Raleway Medium"/>
              <a:ea typeface="Raleway Medium"/>
              <a:cs typeface="Raleway Medium"/>
              <a:sym typeface="Raleway Medium"/>
            </a:endParaRPr>
          </a:p>
        </p:txBody>
      </p:sp>
      <p:pic>
        <p:nvPicPr>
          <p:cNvPr id="482" name="Google Shape;482;p66"/>
          <p:cNvPicPr preferRelativeResize="0"/>
          <p:nvPr/>
        </p:nvPicPr>
        <p:blipFill rotWithShape="1">
          <a:blip r:embed="rId3">
            <a:alphaModFix/>
          </a:blip>
          <a:srcRect b="-770" l="0" r="0" t="770"/>
          <a:stretch/>
        </p:blipFill>
        <p:spPr>
          <a:xfrm>
            <a:off x="5486400" y="1207575"/>
            <a:ext cx="3017524" cy="3477075"/>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8" name="Google Shape;48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489" name="Google Shape;489;p6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Pengguna tidak dilibatkan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Ketika orang mendarat di situs Anda, mereka ada di sana untuk suatu tujuan dan tujuan itu adalah untuk berinteraksi dengan merek Anda. Komunikasi tidak boleh satu arah di situs web Anda. Kurangnya dialog dan interaktivitas bisa membuat pengalaman pengguna kurang menyenangkan.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Gu</a:t>
            </a:r>
            <a:r>
              <a:rPr lang="en" sz="1200">
                <a:solidFill>
                  <a:schemeClr val="dk1"/>
                </a:solidFill>
                <a:latin typeface="Raleway Medium"/>
                <a:ea typeface="Raleway Medium"/>
                <a:cs typeface="Raleway Medium"/>
                <a:sym typeface="Raleway Medium"/>
              </a:rPr>
              <a:t>nakan plugin media sosial seperti tombol </a:t>
            </a:r>
            <a:r>
              <a:rPr i="1" lang="en" sz="1200">
                <a:solidFill>
                  <a:schemeClr val="dk1"/>
                </a:solidFill>
                <a:latin typeface="Raleway Medium"/>
                <a:ea typeface="Raleway Medium"/>
                <a:cs typeface="Raleway Medium"/>
                <a:sym typeface="Raleway Medium"/>
              </a:rPr>
              <a:t>share</a:t>
            </a:r>
            <a:r>
              <a:rPr lang="en" sz="1200">
                <a:solidFill>
                  <a:schemeClr val="dk1"/>
                </a:solidFill>
                <a:latin typeface="Raleway Medium"/>
                <a:ea typeface="Raleway Medium"/>
                <a:cs typeface="Raleway Medium"/>
                <a:sym typeface="Raleway Medium"/>
              </a:rPr>
              <a:t>, tombol </a:t>
            </a:r>
            <a:r>
              <a:rPr i="1" lang="en" sz="1200">
                <a:solidFill>
                  <a:schemeClr val="dk1"/>
                </a:solidFill>
                <a:latin typeface="Raleway Medium"/>
                <a:ea typeface="Raleway Medium"/>
                <a:cs typeface="Raleway Medium"/>
                <a:sym typeface="Raleway Medium"/>
              </a:rPr>
              <a:t>like </a:t>
            </a:r>
            <a:r>
              <a:rPr lang="en" sz="1200">
                <a:solidFill>
                  <a:schemeClr val="dk1"/>
                </a:solidFill>
                <a:latin typeface="Raleway Medium"/>
                <a:ea typeface="Raleway Medium"/>
                <a:cs typeface="Raleway Medium"/>
                <a:sym typeface="Raleway Medium"/>
              </a:rPr>
              <a:t>dan fitur untuk komentar. Dengan menggunakan tombol atau fitur tersebut, Anda memadukan pengalaman media sosial dengan situs Anda, membantu memicu interaksi pada situs Anda.</a:t>
            </a:r>
            <a:endParaRPr sz="1200">
              <a:solidFill>
                <a:schemeClr val="dk1"/>
              </a:solidFill>
              <a:latin typeface="Raleway Medium"/>
              <a:ea typeface="Raleway Medium"/>
              <a:cs typeface="Raleway Medium"/>
              <a:sym typeface="Raleway Medium"/>
            </a:endParaRPr>
          </a:p>
        </p:txBody>
      </p:sp>
      <p:pic>
        <p:nvPicPr>
          <p:cNvPr id="490" name="Google Shape;490;p67"/>
          <p:cNvPicPr preferRelativeResize="0"/>
          <p:nvPr/>
        </p:nvPicPr>
        <p:blipFill rotWithShape="1">
          <a:blip r:embed="rId3">
            <a:alphaModFix/>
          </a:blip>
          <a:srcRect b="0" l="0" r="0" t="0"/>
          <a:stretch/>
        </p:blipFill>
        <p:spPr>
          <a:xfrm>
            <a:off x="5486400" y="1207575"/>
            <a:ext cx="3017525" cy="22631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497" name="Google Shape;497;p6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Mempunyai</a:t>
            </a:r>
            <a:r>
              <a:rPr b="1" lang="en" sz="1800">
                <a:solidFill>
                  <a:srgbClr val="743673"/>
                </a:solidFill>
                <a:highlight>
                  <a:schemeClr val="lt1"/>
                </a:highlight>
                <a:latin typeface="Raleway"/>
                <a:ea typeface="Raleway"/>
                <a:cs typeface="Raleway"/>
                <a:sym typeface="Raleway"/>
              </a:rPr>
              <a:t> informasi kontak yang kurang</a:t>
            </a:r>
            <a:br>
              <a:rPr b="1" lang="en" sz="1800">
                <a:solidFill>
                  <a:srgbClr val="743673"/>
                </a:solidFill>
                <a:highlight>
                  <a:schemeClr val="lt1"/>
                </a:highlight>
                <a:latin typeface="Raleway"/>
                <a:ea typeface="Raleway"/>
                <a:cs typeface="Raleway"/>
                <a:sym typeface="Raleway"/>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Anda berada di situs yang menawarkan produk/layanan yang Anda cari. Anda membaca informasi produk/layanan dan yakin bahwa informasi tersebut memenuhi kebutuhan Anda.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Tapi, inilah masalahnya, ketika Anda mencari informasi kontak bisnis tersebut, Anda tidak dapat menemukannya. Tidak ada formulir yang harus diisi, tidak ada nomor telepon, tidak ada alamat fisik, tidak ada apa-apa. Pada akhirnya, pengalaman Anda pada situs tersebut mogok.</a:t>
            </a:r>
            <a:endParaRPr sz="1200">
              <a:solidFill>
                <a:schemeClr val="dk1"/>
              </a:solidFill>
              <a:latin typeface="Raleway Medium"/>
              <a:ea typeface="Raleway Medium"/>
              <a:cs typeface="Raleway Medium"/>
              <a:sym typeface="Raleway Medium"/>
            </a:endParaRPr>
          </a:p>
        </p:txBody>
      </p:sp>
      <p:pic>
        <p:nvPicPr>
          <p:cNvPr id="498" name="Google Shape;498;p68"/>
          <p:cNvPicPr preferRelativeResize="0"/>
          <p:nvPr/>
        </p:nvPicPr>
        <p:blipFill rotWithShape="1">
          <a:blip r:embed="rId3">
            <a:alphaModFix/>
          </a:blip>
          <a:srcRect b="0" l="0" r="0" t="0"/>
          <a:stretch/>
        </p:blipFill>
        <p:spPr>
          <a:xfrm>
            <a:off x="5486400" y="1207575"/>
            <a:ext cx="3017524" cy="2263101"/>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6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05" name="Google Shape;505;p6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Tidak responsif maupun adaptif</a:t>
            </a:r>
            <a:br>
              <a:rPr b="1" lang="en" sz="1800">
                <a:solidFill>
                  <a:srgbClr val="743673"/>
                </a:solidFill>
                <a:highlight>
                  <a:schemeClr val="lt1"/>
                </a:highlight>
                <a:latin typeface="Raleway"/>
                <a:ea typeface="Raleway"/>
                <a:cs typeface="Raleway"/>
                <a:sym typeface="Raleway"/>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Di zaman sekarang ini, memiliki situs web yang harus di-</a:t>
            </a:r>
            <a:r>
              <a:rPr i="1" lang="en" sz="1200">
                <a:solidFill>
                  <a:schemeClr val="dk1"/>
                </a:solidFill>
                <a:latin typeface="Raleway Medium"/>
                <a:ea typeface="Raleway Medium"/>
                <a:cs typeface="Raleway Medium"/>
                <a:sym typeface="Raleway Medium"/>
              </a:rPr>
              <a:t>zoom in </a:t>
            </a:r>
            <a:r>
              <a:rPr lang="en" sz="1200">
                <a:solidFill>
                  <a:schemeClr val="dk1"/>
                </a:solidFill>
                <a:latin typeface="Raleway Medium"/>
                <a:ea typeface="Raleway Medium"/>
                <a:cs typeface="Raleway Medium"/>
                <a:sym typeface="Raleway Medium"/>
              </a:rPr>
              <a:t>atau </a:t>
            </a:r>
            <a:r>
              <a:rPr i="1" lang="en" sz="1200">
                <a:solidFill>
                  <a:schemeClr val="dk1"/>
                </a:solidFill>
                <a:latin typeface="Raleway Medium"/>
                <a:ea typeface="Raleway Medium"/>
                <a:cs typeface="Raleway Medium"/>
                <a:sym typeface="Raleway Medium"/>
              </a:rPr>
              <a:t>out</a:t>
            </a:r>
            <a:r>
              <a:rPr lang="en" sz="1200">
                <a:solidFill>
                  <a:schemeClr val="dk1"/>
                </a:solidFill>
                <a:latin typeface="Raleway Medium"/>
                <a:ea typeface="Raleway Medium"/>
                <a:cs typeface="Raleway Medium"/>
                <a:sym typeface="Raleway Medium"/>
              </a:rPr>
              <a:t> oleh pengguna pada perangkat seluler sangatlah memalukan.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Meskipun </a:t>
            </a:r>
            <a:r>
              <a:rPr i="1" lang="en" sz="1200">
                <a:solidFill>
                  <a:schemeClr val="dk1"/>
                </a:solidFill>
                <a:latin typeface="Raleway Medium"/>
                <a:ea typeface="Raleway Medium"/>
                <a:cs typeface="Raleway Medium"/>
                <a:sym typeface="Raleway Medium"/>
              </a:rPr>
              <a:t>zooming in </a:t>
            </a:r>
            <a:r>
              <a:rPr lang="en" sz="1200">
                <a:solidFill>
                  <a:schemeClr val="dk1"/>
                </a:solidFill>
                <a:latin typeface="Raleway Medium"/>
                <a:ea typeface="Raleway Medium"/>
                <a:cs typeface="Raleway Medium"/>
                <a:sym typeface="Raleway Medium"/>
              </a:rPr>
              <a:t>dan </a:t>
            </a:r>
            <a:r>
              <a:rPr i="1" lang="en" sz="1200">
                <a:solidFill>
                  <a:schemeClr val="dk1"/>
                </a:solidFill>
                <a:latin typeface="Raleway Medium"/>
                <a:ea typeface="Raleway Medium"/>
                <a:cs typeface="Raleway Medium"/>
                <a:sym typeface="Raleway Medium"/>
              </a:rPr>
              <a:t>out</a:t>
            </a:r>
            <a:r>
              <a:rPr lang="en" sz="1200">
                <a:solidFill>
                  <a:schemeClr val="dk1"/>
                </a:solidFill>
                <a:latin typeface="Raleway Medium"/>
                <a:ea typeface="Raleway Medium"/>
                <a:cs typeface="Raleway Medium"/>
                <a:sym typeface="Raleway Medium"/>
              </a:rPr>
              <a:t> tidak sulit, prtimbangkanlah pengguna dengan jari-jari gemuk dan penglihatan yang tidak baik saat membuat desain Anda. Tidak semua dari kita diberkati dengan ujung jari yang gesit.</a:t>
            </a:r>
            <a:endParaRPr sz="1200">
              <a:solidFill>
                <a:schemeClr val="dk1"/>
              </a:solidFill>
              <a:latin typeface="Raleway Medium"/>
              <a:ea typeface="Raleway Medium"/>
              <a:cs typeface="Raleway Medium"/>
              <a:sym typeface="Raleway Medium"/>
            </a:endParaRPr>
          </a:p>
        </p:txBody>
      </p:sp>
      <p:pic>
        <p:nvPicPr>
          <p:cNvPr id="506" name="Google Shape;506;p69"/>
          <p:cNvPicPr preferRelativeResize="0"/>
          <p:nvPr/>
        </p:nvPicPr>
        <p:blipFill rotWithShape="1">
          <a:blip r:embed="rId3">
            <a:alphaModFix/>
          </a:blip>
          <a:srcRect b="0" l="0" r="0" t="0"/>
          <a:stretch/>
        </p:blipFill>
        <p:spPr>
          <a:xfrm>
            <a:off x="5486400" y="1207575"/>
            <a:ext cx="3017524" cy="2263101"/>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7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13" name="Google Shape;513;p7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Tidak menggunakan elemen - elemen desain dengan konsisten</a:t>
            </a:r>
            <a:br>
              <a:rPr b="1" lang="en" sz="1800">
                <a:solidFill>
                  <a:srgbClr val="743673"/>
                </a:solidFill>
                <a:highlight>
                  <a:schemeClr val="lt1"/>
                </a:highlight>
                <a:latin typeface="Raleway"/>
                <a:ea typeface="Raleway"/>
                <a:cs typeface="Raleway"/>
                <a:sym typeface="Raleway"/>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Tidak hanya elemen - elemen desain, tata letak atau </a:t>
            </a:r>
            <a:r>
              <a:rPr i="1" lang="en" sz="1200">
                <a:solidFill>
                  <a:schemeClr val="dk1"/>
                </a:solidFill>
                <a:latin typeface="Raleway Medium"/>
                <a:ea typeface="Raleway Medium"/>
                <a:cs typeface="Raleway Medium"/>
                <a:sym typeface="Raleway Medium"/>
              </a:rPr>
              <a:t>layout </a:t>
            </a:r>
            <a:r>
              <a:rPr lang="en" sz="1200">
                <a:solidFill>
                  <a:schemeClr val="dk1"/>
                </a:solidFill>
                <a:latin typeface="Raleway Medium"/>
                <a:ea typeface="Raleway Medium"/>
                <a:cs typeface="Raleway Medium"/>
                <a:sym typeface="Raleway Medium"/>
              </a:rPr>
              <a:t>desain-pun perlu konsistensi supaya pengguna tidak bingung dan dapat menemukan informasi dan navigasi dengan mudah.</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Pada contoh disamping, bisa kita lihat bahwa desain kita akan lebih berantakan jika kita menggunakan ikon yang berbeda </a:t>
            </a:r>
            <a:r>
              <a:rPr i="1" lang="en" sz="1200">
                <a:solidFill>
                  <a:schemeClr val="dk1"/>
                </a:solidFill>
                <a:latin typeface="Raleway Medium"/>
                <a:ea typeface="Raleway Medium"/>
                <a:cs typeface="Raleway Medium"/>
                <a:sym typeface="Raleway Medium"/>
              </a:rPr>
              <a:t>style-</a:t>
            </a:r>
            <a:r>
              <a:rPr lang="en" sz="1200">
                <a:solidFill>
                  <a:schemeClr val="dk1"/>
                </a:solidFill>
                <a:latin typeface="Raleway Medium"/>
                <a:ea typeface="Raleway Medium"/>
                <a:cs typeface="Raleway Medium"/>
                <a:sym typeface="Raleway Medium"/>
              </a:rPr>
              <a:t>nya.</a:t>
            </a:r>
            <a:endParaRPr sz="1200">
              <a:solidFill>
                <a:schemeClr val="dk1"/>
              </a:solidFill>
              <a:latin typeface="Raleway Medium"/>
              <a:ea typeface="Raleway Medium"/>
              <a:cs typeface="Raleway Medium"/>
              <a:sym typeface="Raleway Medium"/>
            </a:endParaRPr>
          </a:p>
        </p:txBody>
      </p:sp>
      <p:pic>
        <p:nvPicPr>
          <p:cNvPr id="514" name="Google Shape;514;p70"/>
          <p:cNvPicPr preferRelativeResize="0"/>
          <p:nvPr/>
        </p:nvPicPr>
        <p:blipFill rotWithShape="1">
          <a:blip r:embed="rId3">
            <a:alphaModFix/>
          </a:blip>
          <a:srcRect b="-35509" l="3182" r="14796" t="26684"/>
          <a:stretch/>
        </p:blipFill>
        <p:spPr>
          <a:xfrm>
            <a:off x="5486400" y="1207575"/>
            <a:ext cx="3017524" cy="2263101"/>
          </a:xfrm>
          <a:prstGeom prst="rect">
            <a:avLst/>
          </a:prstGeom>
          <a:noFill/>
          <a:ln>
            <a:noFill/>
          </a:ln>
        </p:spPr>
      </p:pic>
      <p:pic>
        <p:nvPicPr>
          <p:cNvPr id="515" name="Google Shape;515;p70"/>
          <p:cNvPicPr preferRelativeResize="0"/>
          <p:nvPr/>
        </p:nvPicPr>
        <p:blipFill rotWithShape="1">
          <a:blip r:embed="rId4">
            <a:alphaModFix/>
          </a:blip>
          <a:srcRect b="0" l="0" r="-2103" t="0"/>
          <a:stretch/>
        </p:blipFill>
        <p:spPr>
          <a:xfrm>
            <a:off x="5486400" y="2537500"/>
            <a:ext cx="3017524" cy="14004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7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1" name="Google Shape;521;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22" name="Google Shape;522;p7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 </a:t>
            </a:r>
            <a:r>
              <a:rPr b="1" lang="en" sz="1800">
                <a:solidFill>
                  <a:srgbClr val="743673"/>
                </a:solidFill>
                <a:highlight>
                  <a:schemeClr val="lt1"/>
                </a:highlight>
                <a:latin typeface="Raleway"/>
                <a:ea typeface="Raleway"/>
                <a:cs typeface="Raleway"/>
                <a:sym typeface="Raleway"/>
              </a:rPr>
              <a:t>Menggunakan f</a:t>
            </a:r>
            <a:r>
              <a:rPr b="1" lang="en" sz="1800">
                <a:solidFill>
                  <a:srgbClr val="743673"/>
                </a:solidFill>
                <a:highlight>
                  <a:schemeClr val="lt1"/>
                </a:highlight>
                <a:latin typeface="Raleway"/>
                <a:ea typeface="Raleway"/>
                <a:cs typeface="Raleway"/>
                <a:sym typeface="Raleway"/>
              </a:rPr>
              <a:t>ormulir yang membingungkan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Dalam membuat formulir, kita harus sangat berhati - hati. Perlu dipastikan bahwa pengguna tidak kebingungan dan malah menjadi malas saat mengisi formulir yang kita desain.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Gunakan bahasa yang jelas. Jika banyak yang perlu diisi oleh pengguna, bagi formulir tersebut menjadi </a:t>
            </a:r>
            <a:r>
              <a:rPr i="1" lang="en" sz="1200">
                <a:solidFill>
                  <a:schemeClr val="dk1"/>
                </a:solidFill>
                <a:latin typeface="Raleway Medium"/>
                <a:ea typeface="Raleway Medium"/>
                <a:cs typeface="Raleway Medium"/>
                <a:sym typeface="Raleway Medium"/>
              </a:rPr>
              <a:t>step-step </a:t>
            </a:r>
            <a:r>
              <a:rPr lang="en" sz="1200">
                <a:solidFill>
                  <a:schemeClr val="dk1"/>
                </a:solidFill>
                <a:latin typeface="Raleway Medium"/>
                <a:ea typeface="Raleway Medium"/>
                <a:cs typeface="Raleway Medium"/>
                <a:sym typeface="Raleway Medium"/>
              </a:rPr>
              <a:t>terpisah dan gunakan </a:t>
            </a:r>
            <a:r>
              <a:rPr i="1" lang="en" sz="1200">
                <a:solidFill>
                  <a:schemeClr val="dk1"/>
                </a:solidFill>
                <a:latin typeface="Raleway Medium"/>
                <a:ea typeface="Raleway Medium"/>
                <a:cs typeface="Raleway Medium"/>
                <a:sym typeface="Raleway Medium"/>
              </a:rPr>
              <a:t>progress bar </a:t>
            </a:r>
            <a:r>
              <a:rPr lang="en" sz="1200">
                <a:solidFill>
                  <a:schemeClr val="dk1"/>
                </a:solidFill>
                <a:latin typeface="Raleway Medium"/>
                <a:ea typeface="Raleway Medium"/>
                <a:cs typeface="Raleway Medium"/>
                <a:sym typeface="Raleway Medium"/>
              </a:rPr>
              <a:t>pada setiap </a:t>
            </a:r>
            <a:r>
              <a:rPr i="1" lang="en" sz="1200">
                <a:solidFill>
                  <a:schemeClr val="dk1"/>
                </a:solidFill>
                <a:latin typeface="Raleway Medium"/>
                <a:ea typeface="Raleway Medium"/>
                <a:cs typeface="Raleway Medium"/>
                <a:sym typeface="Raleway Medium"/>
              </a:rPr>
              <a:t>step. </a:t>
            </a:r>
            <a:endParaRPr i="1" sz="1200">
              <a:solidFill>
                <a:schemeClr val="dk1"/>
              </a:solidFill>
              <a:latin typeface="Raleway Medium"/>
              <a:ea typeface="Raleway Medium"/>
              <a:cs typeface="Raleway Medium"/>
              <a:sym typeface="Raleway Medium"/>
            </a:endParaRPr>
          </a:p>
        </p:txBody>
      </p:sp>
      <p:pic>
        <p:nvPicPr>
          <p:cNvPr id="523" name="Google Shape;523;p71"/>
          <p:cNvPicPr preferRelativeResize="0"/>
          <p:nvPr/>
        </p:nvPicPr>
        <p:blipFill rotWithShape="1">
          <a:blip r:embed="rId3">
            <a:alphaModFix/>
          </a:blip>
          <a:srcRect b="0" l="0" r="0" t="0"/>
          <a:stretch/>
        </p:blipFill>
        <p:spPr>
          <a:xfrm>
            <a:off x="5486400" y="1207575"/>
            <a:ext cx="3017524" cy="20565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7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30" name="Google Shape;530;p7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7) Mempunyai keterbacaan rendah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Keterbacaan atau </a:t>
            </a:r>
            <a:r>
              <a:rPr i="1" lang="en" sz="1200">
                <a:solidFill>
                  <a:schemeClr val="dk1"/>
                </a:solidFill>
                <a:latin typeface="Raleway Medium"/>
                <a:ea typeface="Raleway Medium"/>
                <a:cs typeface="Raleway Medium"/>
                <a:sym typeface="Raleway Medium"/>
              </a:rPr>
              <a:t>readability </a:t>
            </a:r>
            <a:r>
              <a:rPr lang="en" sz="1200">
                <a:solidFill>
                  <a:schemeClr val="dk1"/>
                </a:solidFill>
                <a:latin typeface="Raleway Medium"/>
                <a:ea typeface="Raleway Medium"/>
                <a:cs typeface="Raleway Medium"/>
                <a:sym typeface="Raleway Medium"/>
              </a:rPr>
              <a:t>yang rendah bisa dikarenakan berbagai hal dari kontras warna yang kurang, ukuran font yang kecil, tipe font yang italic dan lain - lain.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Apapun sebabnya, keterbacaan adalah hal yang sangat penting pada desain Anda. Jangan sampai Anda mengurangi keterbacaan hanya karena ingin membuat desain Anda terlihat lebih indah. </a:t>
            </a:r>
            <a:endParaRPr sz="1200">
              <a:solidFill>
                <a:schemeClr val="dk1"/>
              </a:solidFill>
              <a:latin typeface="Raleway Medium"/>
              <a:ea typeface="Raleway Medium"/>
              <a:cs typeface="Raleway Medium"/>
              <a:sym typeface="Raleway Medium"/>
            </a:endParaRPr>
          </a:p>
        </p:txBody>
      </p:sp>
      <p:pic>
        <p:nvPicPr>
          <p:cNvPr id="531" name="Google Shape;531;p72"/>
          <p:cNvPicPr preferRelativeResize="0"/>
          <p:nvPr/>
        </p:nvPicPr>
        <p:blipFill rotWithShape="1">
          <a:blip r:embed="rId3">
            <a:alphaModFix/>
          </a:blip>
          <a:srcRect b="15034" l="0" r="0" t="15034"/>
          <a:stretch/>
        </p:blipFill>
        <p:spPr>
          <a:xfrm>
            <a:off x="5486394" y="1207575"/>
            <a:ext cx="3017525" cy="1186923"/>
          </a:xfrm>
          <a:prstGeom prst="rect">
            <a:avLst/>
          </a:prstGeom>
          <a:noFill/>
          <a:ln>
            <a:noFill/>
          </a:ln>
        </p:spPr>
      </p:pic>
      <p:pic>
        <p:nvPicPr>
          <p:cNvPr id="532" name="Google Shape;532;p72"/>
          <p:cNvPicPr preferRelativeResize="0"/>
          <p:nvPr/>
        </p:nvPicPr>
        <p:blipFill rotWithShape="1">
          <a:blip r:embed="rId4">
            <a:alphaModFix/>
          </a:blip>
          <a:srcRect b="15034" l="0" r="0" t="15034"/>
          <a:stretch/>
        </p:blipFill>
        <p:spPr>
          <a:xfrm>
            <a:off x="5486394" y="2394500"/>
            <a:ext cx="3017525" cy="118692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8" name="Google Shape;538;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39" name="Google Shape;539;p7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8</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Menggunakan gambar yang tidak relevan atau berkualitas rendah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Foto di antarmuka Anda akan membantu pengguna meresap informas, jadi pilihlah gambar dengan baik </a:t>
            </a:r>
            <a:br>
              <a:rPr lang="en" sz="1200">
                <a:solidFill>
                  <a:schemeClr val="dk1"/>
                </a:solidFill>
                <a:latin typeface="Raleway Medium"/>
                <a:ea typeface="Raleway Medium"/>
                <a:cs typeface="Raleway Medium"/>
                <a:sym typeface="Raleway Medium"/>
              </a:rPr>
            </a:b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Ingatlah tip-tip berikut saat memilih gambar:</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Hindari foto yang tidak relevan.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2) Tampilkan foto yang terkait dengan layanan atau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Gunakan gambar yang berkualitas tinggi.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4) Pilih foto yang kreatif dan realistis. Hindari foto stok</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atau rekayasa.</a:t>
            </a:r>
            <a:endParaRPr sz="1200">
              <a:solidFill>
                <a:schemeClr val="dk1"/>
              </a:solidFill>
              <a:latin typeface="Raleway Medium"/>
              <a:ea typeface="Raleway Medium"/>
              <a:cs typeface="Raleway Medium"/>
              <a:sym typeface="Raleway Medium"/>
            </a:endParaRPr>
          </a:p>
        </p:txBody>
      </p:sp>
      <p:pic>
        <p:nvPicPr>
          <p:cNvPr id="540" name="Google Shape;540;p73"/>
          <p:cNvPicPr preferRelativeResize="0"/>
          <p:nvPr/>
        </p:nvPicPr>
        <p:blipFill rotWithShape="1">
          <a:blip r:embed="rId3">
            <a:alphaModFix/>
          </a:blip>
          <a:srcRect b="0" l="0" r="0" t="0"/>
          <a:stretch/>
        </p:blipFill>
        <p:spPr>
          <a:xfrm>
            <a:off x="5486400" y="1207575"/>
            <a:ext cx="3017524" cy="151345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7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6" name="Google Shape;546;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Membedakan desain yang baik dan buruk</a:t>
            </a:r>
            <a:endParaRPr/>
          </a:p>
        </p:txBody>
      </p:sp>
      <p:sp>
        <p:nvSpPr>
          <p:cNvPr id="547" name="Google Shape;547;p7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Ingatlah!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Hal penting yang perlu Anda ketahui adalah kebanyakan orang tidak membaca, mereka memindai; dan jika pemindaian tampak menarik, mereka akan membaca sekilas; dan jika kontennya menarik, maka mereka akan membaca lebih lanjut..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Buatlah teks dalam desain Anda mudah dipindai. Selain itu, gunakanlah font dan ukuran yang sesuai.</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Terakhir, namun tidak kalah pentingnya, adalah terkait konten. Pastikan konten Anda relevan untuk audiens Anda dan mudah dibaca. Ingat, antarmuka pengguna adalah bagaimana situs berinteraksi dengan pengguna.</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7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553" name="Google Shape;553;p7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9" name="Google Shape;559;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Anda dapat mengarahkan perhatian pada atau mengalihkan perhatian dari sebuah item pada desain Anda menggunakan…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Warna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Tekstur</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Kontras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Semua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5" name="Google Shape;565;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Anda dapat mengarahkan perhatian pada atau mengalihkan perhatian dari sebuah item pada desain Anda menggunakan…</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Warna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Tekstur</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Kontras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Semua</a:t>
            </a:r>
            <a:endParaRPr b="1" sz="1200">
              <a:solidFill>
                <a:schemeClr val="lt1"/>
              </a:solidFill>
              <a:latin typeface="Raleway"/>
              <a:ea typeface="Raleway"/>
              <a:cs typeface="Raleway"/>
              <a:sym typeface="Raleway"/>
            </a:endParaRPr>
          </a:p>
        </p:txBody>
      </p:sp>
      <p:sp>
        <p:nvSpPr>
          <p:cNvPr id="566" name="Google Shape;566;p77"/>
          <p:cNvSpPr/>
          <p:nvPr/>
        </p:nvSpPr>
        <p:spPr>
          <a:xfrm>
            <a:off x="685800" y="34911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Warna, tekstur dan kontras dapat mengarahkan perhatian pada atau mengalihkan perhatian dari sebuah item pada desain.</a:t>
            </a:r>
            <a:endParaRPr b="1" sz="1000">
              <a:solidFill>
                <a:srgbClr val="733572"/>
              </a:solidFill>
              <a:latin typeface="Raleway"/>
              <a:ea typeface="Raleway"/>
              <a:cs typeface="Raleway"/>
              <a:sym typeface="Raleway"/>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2" name="Google Shape;572;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Penjajaran tepi terjadi ketika kita…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memusatkan elemen secara vertikal dan horizontal di dalam lingkaran.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meratakan satu atau banyak sudut secara vertikal dan horizontal.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meratakan satu atau banyak sudut secara horizontal.</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meratakan satu atau banyak sudut secara vertikal.</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8" name="Google Shape;578;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Penjajaran tepi terjadi ketika kita…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memusatkan elemen secara vertikal dan horizontal di dalam lingkaran.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meratakan satu atau banyak sudut secara vertikal dan horizontal.</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meratakan satu atau banyak sudut secara horizontal.</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meratakan satu atau banyak sudut secara vertikal.</a:t>
            </a:r>
            <a:endParaRPr sz="1200">
              <a:solidFill>
                <a:srgbClr val="A667A5"/>
              </a:solidFill>
              <a:latin typeface="Raleway Medium"/>
              <a:ea typeface="Raleway Medium"/>
              <a:cs typeface="Raleway Medium"/>
              <a:sym typeface="Raleway Medium"/>
            </a:endParaRPr>
          </a:p>
        </p:txBody>
      </p:sp>
      <p:sp>
        <p:nvSpPr>
          <p:cNvPr id="579" name="Google Shape;579;p79"/>
          <p:cNvSpPr/>
          <p:nvPr/>
        </p:nvSpPr>
        <p:spPr>
          <a:xfrm>
            <a:off x="685800" y="31863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Penjajaran tepi terjadi ketika kita meratakan satu atau banyak sudut secara vertikal dan horizontal.</a:t>
            </a:r>
            <a:endParaRPr b="1" sz="1000">
              <a:solidFill>
                <a:srgbClr val="733572"/>
              </a:solidFill>
              <a:latin typeface="Raleway"/>
              <a:ea typeface="Raleway"/>
              <a:cs typeface="Raleway"/>
              <a:sym typeface="Raleway"/>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85" name="Google Shape;585;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Desain adaptif akan mengkonfigurasi ulang semua elemen desain baik itu dilihat di desktop, laptop, tablet, atau ponsel. Desain responsif dibuat menyesuaikan dengan ukuran layar pengguna. Pernyataan ini…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Benar</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91" name="Google Shape;591;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Desain adaptif akan mengkonfigurasi ulang semua elemen desain baik itu dilihat di desktop, laptop, tablet, atau ponsel. Desain responsif dibuat menyesuaikan dengan ukuran layar pengguna. Pernyataan ini…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b="1" sz="18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Salah</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Benar</a:t>
            </a:r>
            <a:endParaRPr sz="1200">
              <a:solidFill>
                <a:srgbClr val="A667A5"/>
              </a:solidFill>
              <a:latin typeface="Raleway Medium"/>
              <a:ea typeface="Raleway Medium"/>
              <a:cs typeface="Raleway Medium"/>
              <a:sym typeface="Raleway Medium"/>
            </a:endParaRPr>
          </a:p>
        </p:txBody>
      </p:sp>
      <p:sp>
        <p:nvSpPr>
          <p:cNvPr id="592" name="Google Shape;592;p81"/>
          <p:cNvSpPr/>
          <p:nvPr/>
        </p:nvSpPr>
        <p:spPr>
          <a:xfrm>
            <a:off x="685800" y="3414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Desain responsif akan mengkonfigurasi ulang semua elemen desain baik itu dilihat di desktop, laptop, tablet, atau ponsel. Desain adaptif dibuat menyesuaikan dengan ukuran layar pengguna.</a:t>
            </a:r>
            <a:endParaRPr b="1" sz="1000">
              <a:solidFill>
                <a:srgbClr val="733572"/>
              </a:solidFill>
              <a:latin typeface="Raleway"/>
              <a:ea typeface="Raleway"/>
              <a:cs typeface="Raleway"/>
              <a:sym typeface="Raleway"/>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98" name="Google Shape;598;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tip untuk memilih gambar yang baik, kecuali…</a:t>
            </a:r>
            <a:br>
              <a:rPr b="1" lang="en" sz="1800">
                <a:solidFill>
                  <a:schemeClr val="lt1"/>
                </a:solidFill>
                <a:latin typeface="Raleway"/>
                <a:ea typeface="Raleway"/>
                <a:cs typeface="Raleway"/>
                <a:sym typeface="Raleway"/>
              </a:rPr>
            </a:b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Hindari foto yang tidak relevan.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gambar yang berkualitas tinggi.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foto stok.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Tampilkan foto yang terkait dengan layanan / produk.</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04" name="Google Shape;604;p8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tip untuk memilih gambar yang baik, kecuali…</a:t>
            </a:r>
            <a:br>
              <a:rPr b="1" lang="en" sz="1800">
                <a:solidFill>
                  <a:schemeClr val="lt1"/>
                </a:solidFill>
                <a:latin typeface="Raleway"/>
                <a:ea typeface="Raleway"/>
                <a:cs typeface="Raleway"/>
                <a:sym typeface="Raleway"/>
              </a:rPr>
            </a:b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Hindari foto yang tidak relevan.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Gunakan gambar yang berkualitas tinggi.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Gunakan foto stok.</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Tampilkan foto yang terkait dengan layanan / produk.</a:t>
            </a:r>
            <a:endParaRPr sz="1200">
              <a:solidFill>
                <a:srgbClr val="A667A5"/>
              </a:solidFill>
              <a:latin typeface="Raleway Medium"/>
              <a:ea typeface="Raleway Medium"/>
              <a:cs typeface="Raleway Medium"/>
              <a:sym typeface="Raleway Medium"/>
            </a:endParaRPr>
          </a:p>
        </p:txBody>
      </p:sp>
      <p:sp>
        <p:nvSpPr>
          <p:cNvPr id="605" name="Google Shape;605;p83"/>
          <p:cNvSpPr/>
          <p:nvPr/>
        </p:nvSpPr>
        <p:spPr>
          <a:xfrm>
            <a:off x="685800" y="34149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Menggunakan stok foto bukanlah pilihan terbaik untuk desain Anda. Stok foto terbukti menurunkan tingkat konversi dan tidak mencerminkan keaslian (authenticity).</a:t>
            </a:r>
            <a:endParaRPr b="1" sz="1000">
              <a:solidFill>
                <a:srgbClr val="733572"/>
              </a:solidFill>
              <a:latin typeface="Raleway"/>
              <a:ea typeface="Raleway"/>
              <a:cs typeface="Raleway"/>
              <a:sym typeface="Raleway"/>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8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11" name="Google Shape;611;p8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best practices yang perlu Anda ingat untuk membuat desain yang baik, kecuali…</a:t>
            </a:r>
            <a:br>
              <a:rPr b="1" lang="en" sz="1800">
                <a:solidFill>
                  <a:schemeClr val="lt1"/>
                </a:solidFill>
                <a:latin typeface="Raleway"/>
                <a:ea typeface="Raleway"/>
                <a:cs typeface="Raleway"/>
                <a:sym typeface="Raleway"/>
              </a:rPr>
            </a:b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elemen - elemen secara konsisten.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warna dan tekstur secara strategis.</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Tumpuk elemen - elemen desain supaya terlihat lebih kreatif.</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Jaga keseimbangan desain.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8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17" name="Google Shape;617;p8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beberapa best practices yang perlu Anda ingat untuk membuat desain yang baik, kecuali…</a:t>
            </a:r>
            <a:br>
              <a:rPr b="1" lang="en" sz="1800">
                <a:solidFill>
                  <a:schemeClr val="lt1"/>
                </a:solidFill>
                <a:latin typeface="Raleway"/>
                <a:ea typeface="Raleway"/>
                <a:cs typeface="Raleway"/>
                <a:sym typeface="Raleway"/>
              </a:rPr>
            </a:b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Gunakan elemen - elemen secara konsisten.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Gunakan warna dan tekstur secara strategis.</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Tumpuk elemen - elemen desain supaya terlihat lebih kreatif.</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Jaga keseimbangan desain.</a:t>
            </a:r>
            <a:endParaRPr sz="1200">
              <a:solidFill>
                <a:srgbClr val="A667A5"/>
              </a:solidFill>
              <a:latin typeface="Raleway Medium"/>
              <a:ea typeface="Raleway Medium"/>
              <a:cs typeface="Raleway Medium"/>
              <a:sym typeface="Raleway Medium"/>
            </a:endParaRPr>
          </a:p>
        </p:txBody>
      </p:sp>
      <p:sp>
        <p:nvSpPr>
          <p:cNvPr id="618" name="Google Shape;618;p85"/>
          <p:cNvSpPr/>
          <p:nvPr/>
        </p:nvSpPr>
        <p:spPr>
          <a:xfrm>
            <a:off x="685800" y="33387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Menumpuk elemen - elemen desain hanya untuk terlihat lebih kreatif bukanlah suatu best practice. Elemen yang tidak penting dan mengurangi kemudahan pengguna lebih baik tidak dimasukkan dalam desain.</a:t>
            </a:r>
            <a:endParaRPr b="1" sz="1000">
              <a:solidFill>
                <a:srgbClr val="733572"/>
              </a:solidFill>
              <a:latin typeface="Raleway"/>
              <a:ea typeface="Raleway"/>
              <a:cs typeface="Raleway"/>
              <a:sym typeface="Raleway"/>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8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4" name="Google Shape;624;p8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625" name="Google Shape;625;p8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26" name="Google Shape;626;p86"/>
          <p:cNvSpPr txBox="1"/>
          <p:nvPr/>
        </p:nvSpPr>
        <p:spPr>
          <a:xfrm>
            <a:off x="685800" y="1024128"/>
            <a:ext cx="4114800" cy="3657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2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a:t>
            </a:r>
            <a:r>
              <a:rPr lang="en" sz="1200">
                <a:solidFill>
                  <a:schemeClr val="accent5"/>
                </a:solidFill>
                <a:latin typeface="Raleway Medium"/>
                <a:ea typeface="Raleway Medium"/>
                <a:cs typeface="Raleway Medium"/>
                <a:sym typeface="Raleway Medium"/>
              </a:rPr>
              <a:t> The Elements of User Experience: User-Centered </a:t>
            </a:r>
            <a:endParaRPr sz="1200">
              <a:solidFill>
                <a:schemeClr val="accent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latin typeface="Raleway Medium"/>
                <a:ea typeface="Raleway Medium"/>
                <a:cs typeface="Raleway Medium"/>
                <a:sym typeface="Raleway Medium"/>
              </a:rPr>
              <a:t>    Design for the Web and Beyond (2nd Edition) by Jesse </a:t>
            </a:r>
            <a:endParaRPr sz="1200">
              <a:solidFill>
                <a:schemeClr val="accent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accent5"/>
                </a:solidFill>
                <a:latin typeface="Raleway Medium"/>
                <a:ea typeface="Raleway Medium"/>
                <a:cs typeface="Raleway Medium"/>
                <a:sym typeface="Raleway Medium"/>
              </a:rPr>
              <a:t>    James Garrett</a:t>
            </a:r>
            <a:endParaRPr sz="1200">
              <a:solidFill>
                <a:schemeClr val="accent5"/>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Information Architecture for the World Wide Web: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Designing Large-Scale Web Sites by Peter Morville and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Louis Rosenfeld</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4"/>
              </a:rPr>
              <a:t>10 Characteristics Of A Bad User Experience by </a:t>
            </a:r>
            <a:br>
              <a:rPr lang="en" sz="1200">
                <a:solidFill>
                  <a:schemeClr val="hlink"/>
                </a:solidFill>
                <a:uFill>
                  <a:noFill/>
                </a:uFill>
                <a:latin typeface="Raleway Medium"/>
                <a:ea typeface="Raleway Medium"/>
                <a:cs typeface="Raleway Medium"/>
                <a:sym typeface="Raleway Medium"/>
                <a:hlinkClick r:id="rId5"/>
              </a:rPr>
            </a:br>
            <a:r>
              <a:rPr lang="en" sz="1200">
                <a:solidFill>
                  <a:schemeClr val="hlink"/>
                </a:solidFill>
                <a:uFill>
                  <a:noFill/>
                </a:uFill>
                <a:latin typeface="Raleway Medium"/>
                <a:ea typeface="Raleway Medium"/>
                <a:cs typeface="Raleway Medium"/>
                <a:sym typeface="Raleway Medium"/>
                <a:hlinkClick r:id="rId6"/>
              </a:rPr>
              <a:t>    Usability Geek</a:t>
            </a:r>
            <a:br>
              <a:rPr i="1" lang="en" sz="1200">
                <a:solidFill>
                  <a:srgbClr val="333333"/>
                </a:solidFill>
                <a:highlight>
                  <a:srgbClr val="FFFFFF"/>
                </a:highlight>
                <a:latin typeface="Raleway Medium"/>
                <a:ea typeface="Raleway Medium"/>
                <a:cs typeface="Raleway Medium"/>
                <a:sym typeface="Raleway Medium"/>
              </a:rPr>
            </a:br>
            <a:r>
              <a:rPr lang="en" sz="1200">
                <a:solidFill>
                  <a:srgbClr val="333333"/>
                </a:solidFill>
                <a:highlight>
                  <a:srgbClr val="FFFFFF"/>
                </a:highlight>
                <a:latin typeface="Raleway Medium"/>
                <a:ea typeface="Raleway Medium"/>
                <a:cs typeface="Raleway Medium"/>
                <a:sym typeface="Raleway Medium"/>
              </a:rPr>
              <a:t>4) </a:t>
            </a:r>
            <a:r>
              <a:rPr lang="en" sz="1200">
                <a:solidFill>
                  <a:schemeClr val="hlink"/>
                </a:solidFill>
                <a:highlight>
                  <a:srgbClr val="FFFFFF"/>
                </a:highlight>
                <a:uFill>
                  <a:noFill/>
                </a:uFill>
                <a:latin typeface="Raleway Medium"/>
                <a:ea typeface="Raleway Medium"/>
                <a:cs typeface="Raleway Medium"/>
                <a:sym typeface="Raleway Medium"/>
                <a:hlinkClick r:id="rId7"/>
              </a:rPr>
              <a:t>10 Common UI Design Mistakes (And How To Avoid   </a:t>
            </a:r>
            <a:endParaRPr sz="1200">
              <a:solidFill>
                <a:srgbClr val="333333"/>
              </a:solidFill>
              <a:highlight>
                <a:srgbClr val="FFFFFF"/>
              </a:highlight>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hlink"/>
                </a:solidFill>
                <a:highlight>
                  <a:srgbClr val="FFFFFF"/>
                </a:highlight>
                <a:uFill>
                  <a:noFill/>
                </a:uFill>
                <a:latin typeface="Raleway Medium"/>
                <a:ea typeface="Raleway Medium"/>
                <a:cs typeface="Raleway Medium"/>
                <a:sym typeface="Raleway Medium"/>
                <a:hlinkClick r:id="rId8"/>
              </a:rPr>
              <a:t>    Them) by Careerfoundry</a:t>
            </a:r>
            <a:endParaRPr sz="1200">
              <a:solidFill>
                <a:srgbClr val="333333"/>
              </a:solidFill>
              <a:highlight>
                <a:srgbClr val="FFFFFF"/>
              </a:highlight>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rgbClr val="333333"/>
                </a:solidFill>
                <a:highlight>
                  <a:srgbClr val="FFFFFF"/>
                </a:highlight>
                <a:latin typeface="Raleway Medium"/>
                <a:ea typeface="Raleway Medium"/>
                <a:cs typeface="Raleway Medium"/>
                <a:sym typeface="Raleway Medium"/>
              </a:rPr>
              <a:t>5) </a:t>
            </a:r>
            <a:r>
              <a:rPr lang="en" sz="1200">
                <a:solidFill>
                  <a:schemeClr val="hlink"/>
                </a:solidFill>
                <a:highlight>
                  <a:srgbClr val="FFFFFF"/>
                </a:highlight>
                <a:uFill>
                  <a:noFill/>
                </a:uFill>
                <a:latin typeface="Raleway Medium"/>
                <a:ea typeface="Raleway Medium"/>
                <a:cs typeface="Raleway Medium"/>
                <a:sym typeface="Raleway Medium"/>
                <a:hlinkClick r:id="rId9"/>
              </a:rPr>
              <a:t>Design Consistency Guide: Best Practices for UI and UX  </a:t>
            </a:r>
            <a:br>
              <a:rPr lang="en" sz="1200">
                <a:solidFill>
                  <a:schemeClr val="hlink"/>
                </a:solidFill>
                <a:highlight>
                  <a:srgbClr val="FFFFFF"/>
                </a:highlight>
                <a:uFill>
                  <a:noFill/>
                </a:uFill>
                <a:latin typeface="Raleway Medium"/>
                <a:ea typeface="Raleway Medium"/>
                <a:cs typeface="Raleway Medium"/>
                <a:sym typeface="Raleway Medium"/>
                <a:hlinkClick r:id="rId10"/>
              </a:rPr>
            </a:br>
            <a:r>
              <a:rPr lang="en" sz="1200">
                <a:solidFill>
                  <a:schemeClr val="hlink"/>
                </a:solidFill>
                <a:highlight>
                  <a:srgbClr val="FFFFFF"/>
                </a:highlight>
                <a:uFill>
                  <a:noFill/>
                </a:uFill>
                <a:latin typeface="Raleway Medium"/>
                <a:ea typeface="Raleway Medium"/>
                <a:cs typeface="Raleway Medium"/>
                <a:sym typeface="Raleway Medium"/>
                <a:hlinkClick r:id="rId11"/>
              </a:rPr>
              <a:t>    Designers</a:t>
            </a:r>
            <a:endParaRPr sz="1200">
              <a:solidFill>
                <a:srgbClr val="333333"/>
              </a:solidFill>
              <a:highlight>
                <a:srgbClr val="FFFFFF"/>
              </a:highlight>
              <a:latin typeface="Raleway Medium"/>
              <a:ea typeface="Raleway Medium"/>
              <a:cs typeface="Raleway Medium"/>
              <a:sym typeface="Raleway Medium"/>
            </a:endParaRPr>
          </a:p>
          <a:p>
            <a:pPr indent="0" lvl="0" marL="0" rtl="0" algn="l">
              <a:lnSpc>
                <a:spcPct val="115000"/>
              </a:lnSpc>
              <a:spcBef>
                <a:spcPts val="0"/>
              </a:spcBef>
              <a:spcAft>
                <a:spcPts val="2100"/>
              </a:spcAft>
              <a:buNone/>
            </a:pPr>
            <a:r>
              <a:rPr lang="en" sz="1200">
                <a:solidFill>
                  <a:srgbClr val="333333"/>
                </a:solidFill>
                <a:highlight>
                  <a:srgbClr val="FFFFFF"/>
                </a:highlight>
                <a:latin typeface="Raleway Medium"/>
                <a:ea typeface="Raleway Medium"/>
                <a:cs typeface="Raleway Medium"/>
                <a:sym typeface="Raleway Medium"/>
              </a:rPr>
              <a:t>6) </a:t>
            </a:r>
            <a:r>
              <a:rPr lang="en" sz="1200">
                <a:solidFill>
                  <a:schemeClr val="hlink"/>
                </a:solidFill>
                <a:highlight>
                  <a:srgbClr val="FFFFFF"/>
                </a:highlight>
                <a:uFill>
                  <a:noFill/>
                </a:uFill>
                <a:latin typeface="Raleway Medium"/>
                <a:ea typeface="Raleway Medium"/>
                <a:cs typeface="Raleway Medium"/>
                <a:sym typeface="Raleway Medium"/>
                <a:hlinkClick r:id="rId12"/>
              </a:rPr>
              <a:t>Principles of Design - Alignmen</a:t>
            </a:r>
            <a:r>
              <a:rPr lang="en" sz="1200">
                <a:solidFill>
                  <a:schemeClr val="hlink"/>
                </a:solidFill>
                <a:uFill>
                  <a:noFill/>
                </a:uFill>
                <a:latin typeface="Raleway Medium"/>
                <a:ea typeface="Raleway Medium"/>
                <a:cs typeface="Raleway Medium"/>
                <a:sym typeface="Raleway Medium"/>
                <a:hlinkClick r:id="rId13"/>
              </a:rPr>
              <a:t>t by UX Engineer</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7) </a:t>
            </a:r>
            <a:r>
              <a:rPr lang="en" sz="1200">
                <a:solidFill>
                  <a:schemeClr val="hlink"/>
                </a:solidFill>
                <a:uFill>
                  <a:noFill/>
                </a:uFill>
                <a:latin typeface="Raleway Medium"/>
                <a:ea typeface="Raleway Medium"/>
                <a:cs typeface="Raleway Medium"/>
                <a:sym typeface="Raleway Medium"/>
                <a:hlinkClick r:id="rId14"/>
              </a:rPr>
              <a:t>Principles of Design - Balance by UX Engineer</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30" name="Shape 630"/>
        <p:cNvGrpSpPr/>
        <p:nvPr/>
      </p:nvGrpSpPr>
      <p:grpSpPr>
        <a:xfrm>
          <a:off x="0" y="0"/>
          <a:ext cx="0" cy="0"/>
          <a:chOff x="0" y="0"/>
          <a:chExt cx="0" cy="0"/>
        </a:xfrm>
      </p:grpSpPr>
      <p:sp>
        <p:nvSpPr>
          <p:cNvPr id="631" name="Google Shape;631;p87"/>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2" name="Google Shape;632;p87"/>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3" name="Google Shape;633;p87"/>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4" name="Google Shape;634;p87"/>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5" name="Google Shape;635;p87"/>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636" name="Google Shape;636;p87"/>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637" name="Google Shape;637;p87"/>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638" name="Google Shape;638;p87"/>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