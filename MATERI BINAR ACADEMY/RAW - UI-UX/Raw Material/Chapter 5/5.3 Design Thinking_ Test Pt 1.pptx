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Raleway"/>
      <p:regular r:id="rId56"/>
      <p:bold r:id="rId57"/>
      <p:italic r:id="rId58"/>
      <p:boldItalic r:id="rId59"/>
    </p:embeddedFont>
    <p:embeddedFont>
      <p:font typeface="Montserrat"/>
      <p:regular r:id="rId60"/>
      <p:bold r:id="rId61"/>
      <p:italic r:id="rId62"/>
      <p:boldItalic r:id="rId63"/>
    </p:embeddedFont>
    <p:embeddedFont>
      <p:font typeface="Lato Black"/>
      <p:bold r:id="rId64"/>
      <p:boldItalic r:id="rId65"/>
    </p:embeddedFont>
    <p:embeddedFont>
      <p:font typeface="Raleway Medium"/>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italic.fntdata"/><Relationship Id="rId61" Type="http://schemas.openxmlformats.org/officeDocument/2006/relationships/font" Target="fonts/Montserrat-bold.fntdata"/><Relationship Id="rId20" Type="http://schemas.openxmlformats.org/officeDocument/2006/relationships/slide" Target="slides/slide15.xml"/><Relationship Id="rId64" Type="http://schemas.openxmlformats.org/officeDocument/2006/relationships/font" Target="fonts/LatoBlack-bold.fntdata"/><Relationship Id="rId63" Type="http://schemas.openxmlformats.org/officeDocument/2006/relationships/font" Target="fonts/Montserrat-boldItalic.fntdata"/><Relationship Id="rId22" Type="http://schemas.openxmlformats.org/officeDocument/2006/relationships/slide" Target="slides/slide17.xml"/><Relationship Id="rId66" Type="http://schemas.openxmlformats.org/officeDocument/2006/relationships/font" Target="fonts/RalewayMedium-regular.fntdata"/><Relationship Id="rId21" Type="http://schemas.openxmlformats.org/officeDocument/2006/relationships/slide" Target="slides/slide16.xml"/><Relationship Id="rId65" Type="http://schemas.openxmlformats.org/officeDocument/2006/relationships/font" Target="fonts/LatoBlack-boldItalic.fntdata"/><Relationship Id="rId24" Type="http://schemas.openxmlformats.org/officeDocument/2006/relationships/slide" Target="slides/slide19.xml"/><Relationship Id="rId68" Type="http://schemas.openxmlformats.org/officeDocument/2006/relationships/font" Target="fonts/RalewayMedium-italic.fntdata"/><Relationship Id="rId23" Type="http://schemas.openxmlformats.org/officeDocument/2006/relationships/slide" Target="slides/slide18.xml"/><Relationship Id="rId67" Type="http://schemas.openxmlformats.org/officeDocument/2006/relationships/font" Target="fonts/RalewayMedium-bold.fntdata"/><Relationship Id="rId60" Type="http://schemas.openxmlformats.org/officeDocument/2006/relationships/font" Target="fonts/Montserrat-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Medium-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bold.fntdata"/><Relationship Id="rId12" Type="http://schemas.openxmlformats.org/officeDocument/2006/relationships/slide" Target="slides/slide7.xml"/><Relationship Id="rId56" Type="http://schemas.openxmlformats.org/officeDocument/2006/relationships/font" Target="fonts/Raleway-regular.fntdata"/><Relationship Id="rId15" Type="http://schemas.openxmlformats.org/officeDocument/2006/relationships/slide" Target="slides/slide10.xml"/><Relationship Id="rId59" Type="http://schemas.openxmlformats.org/officeDocument/2006/relationships/font" Target="fonts/Raleway-boldItalic.fntdata"/><Relationship Id="rId14" Type="http://schemas.openxmlformats.org/officeDocument/2006/relationships/slide" Target="slides/slide9.xml"/><Relationship Id="rId58" Type="http://schemas.openxmlformats.org/officeDocument/2006/relationships/font" Target="fonts/Raleway-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estocks?utm_source=unsplash&amp;utm_medium=referral&amp;utm_content=creditCopyText" TargetMode="Externa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travisphd?utm_source=unsplash&amp;utm_medium=referral&amp;utm_content=creditCopyText" TargetMode="External"/><Relationship Id="rId3" Type="http://schemas.openxmlformats.org/officeDocument/2006/relationships/hyperlink" Target="https://unsplash.com/@dtravisphd?utm_source=unsplash&amp;utm_medium=referral&amp;utm_content=creditCopyText" TargetMode="External"/><Relationship Id="rId4" Type="http://schemas.openxmlformats.org/officeDocument/2006/relationships/hyperlink" Target="https://unsplash.com/s/photos/usability-testing?utm_source=unsplash&amp;utm_medium=referral&amp;utm_content=creditCopyText" TargetMode="External"/><Relationship Id="rId5" Type="http://schemas.openxmlformats.org/officeDocument/2006/relationships/hyperlink" Target="https://unsplash.com/s/photos/usability-testing?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travisphd?utm_source=unsplash&amp;utm_medium=referral&amp;utm_content=creditCopyText" TargetMode="External"/><Relationship Id="rId3" Type="http://schemas.openxmlformats.org/officeDocument/2006/relationships/hyperlink" Target="https://unsplash.com/@dtravisphd?utm_source=unsplash&amp;utm_medium=referral&amp;utm_content=creditCopyText" TargetMode="External"/><Relationship Id="rId4" Type="http://schemas.openxmlformats.org/officeDocument/2006/relationships/hyperlink" Target="https://unsplash.com/s/photos/usability-testing?utm_source=unsplash&amp;utm_medium=referral&amp;utm_content=creditCopyText" TargetMode="External"/><Relationship Id="rId5" Type="http://schemas.openxmlformats.org/officeDocument/2006/relationships/hyperlink" Target="https://unsplash.com/s/photos/usability-testing?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estocks?utm_source=unsplash&amp;utm_medium=referral&amp;utm_content=creditCopyText" TargetMode="Externa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estocks?utm_source=unsplash&amp;utm_medium=referral&amp;utm_content=creditCopyText" TargetMode="Externa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estocks?utm_source=unsplash&amp;utm_medium=referral&amp;utm_content=creditCopyText" TargetMode="Externa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5e14e3b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5e14e3b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15e14e3ba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15e14e3ba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5e14e3ba8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5e14e3ba8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5e14e3ba8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5e14e3ba8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freestocks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489605c65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489605c65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1489605c65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1489605c6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5e14e3ba8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5e14e3ba8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5e14e3ba8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5e14e3ba8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5e14e3ba8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15e14e3ba8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David Travis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15e14e3ba8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15e14e3ba8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David Travis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5e14e3ba8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5e14e3ba8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15e14e3ba8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15e14e3ba8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freestocks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15e14e3ba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15e14e3ba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freestocks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15e14e3ba8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15e14e3ba8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http://www.johnferrigan.com/blog/2014/8/31/squareorderpart1</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13fe96465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13fe96465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http://www.johnferrigan.com/blog/2014/8/31/squareorderpart1</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13fe96465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13fe96465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https://www.noldus.com/blog/how-to-build-a-usability-lab</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3fe96465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13fe96465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https://www.noldus.com/blog/how-to-build-a-usability-lab</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13fe96465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13fe96465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https://exponea.com/blog/email-a-b-testing-the-quickest-method-to-increasing-your-email-performance-and-revenue/</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13fe96465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13fe96465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https://exponea.com/blog/email-a-b-testing-the-quickest-method-to-increasing-your-email-performance-and-revenue/</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13fe96465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13fe96465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https://www.crazyegg.com/blog/understanding-using-heatmaps-studies/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3fe964657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13fe964657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https://www.crazyegg.com/blog/understanding-using-heatmaps-studies/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13fe96465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13fe96465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13fe964657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13fe964657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13fe96465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13fe96465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https://www.hotjar.com/session-recordings/</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13fe964657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13fe964657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https://www.hotjar.com/session-recordings/</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13fe96465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13fe96465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https://usabilityhub.com/product/first-click-tests</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13fe96465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13fe96465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https://usabilityhub.com/product/first-click-tests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13fe96465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13fe96465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https://www.nngroup.com/articles/tree-testing/</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13fe96465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13fe96465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https://medium.com/nyc-design/eye-tracking-and-the-best-ux-practices-in-the-mobile-world-a101f67f20dd</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13fe96465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13fe96465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https://blog.prototypr.io/remote-user-testing-a-new-workflow-for-ux-freelancers-fbc13763c621</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13fe96465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13fe96465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freestocks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167d7ecf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167d7ecf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13fe964657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13fe964657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167d7ecf1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167d7ecf1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13fe964657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13fe964657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167d7ecf1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167d7ecf1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3fe964657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3fe964657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167d7ecf1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167d7ecf1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13fe964657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13fe964657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167d7ecf1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167d7ecf1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167d7ecf1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167d7ecf1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167d7ecf1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167d7ecf1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image" Target="../media/image1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www.johnferrigan.com/blog/2014/8/31/squareorderpart1" TargetMode="Externa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www.johnferrigan.com/blog/2014/8/31/squareorderpart1" TargetMode="Externa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noldus.com/blog/how-to-build-a-usability-lab" TargetMode="External"/><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noldus.com/blog/how-to-build-a-usability-lab" TargetMode="External"/><Relationship Id="rId4"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exponea.com/blog/email-a-b-testing-the-quickest-method-to-increasing-your-email-performance-and-revenue/" TargetMode="External"/><Relationship Id="rId4" Type="http://schemas.openxmlformats.org/officeDocument/2006/relationships/image" Target="../media/image1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hbr.org/2017/06/a-refresher-on-ab-testing" TargetMode="External"/><Relationship Id="rId4" Type="http://schemas.openxmlformats.org/officeDocument/2006/relationships/hyperlink" Target="https://hbr.org/2017/06/a-refresher-on-ab-testing" TargetMode="External"/><Relationship Id="rId5" Type="http://schemas.openxmlformats.org/officeDocument/2006/relationships/hyperlink" Target="https://exponea.com/blog/email-a-b-testing-the-quickest-method-to-increasing-your-email-performance-and-revenue/" TargetMode="External"/><Relationship Id="rId6"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www.crazyegg.com/blog/understanding-using-heatmaps-studies/" TargetMode="Externa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crazyegg.com/blog/understanding-using-heatmaps-studies/" TargetMode="External"/><Relationship Id="rId4" Type="http://schemas.openxmlformats.org/officeDocument/2006/relationships/hyperlink" Target="https://www.crazyegg.com/blog/understanding-using-heatmaps-studies/" TargetMode="External"/><Relationship Id="rId5"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2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2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www.hotjar.com/session-recordings/" TargetMode="External"/><Relationship Id="rId4" Type="http://schemas.openxmlformats.org/officeDocument/2006/relationships/image" Target="../media/image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www.hotjar.com/session-recordings/" TargetMode="External"/><Relationship Id="rId4" Type="http://schemas.openxmlformats.org/officeDocument/2006/relationships/image" Target="../media/image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usabilityhub.com/product/first-click-tests" TargetMode="External"/><Relationship Id="rId4" Type="http://schemas.openxmlformats.org/officeDocument/2006/relationships/image" Target="../media/image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usabilityhub.com/product/first-click-tests" TargetMode="External"/><Relationship Id="rId4" Type="http://schemas.openxmlformats.org/officeDocument/2006/relationships/image" Target="../media/image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www.nngroup.com/articles/tree-testing/" TargetMode="Externa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medium.com/nyc-design/eye-tracking-and-the-best-ux-practices-in-the-mobile-world-a101f67f20dd" TargetMode="External"/><Relationship Id="rId4" Type="http://schemas.openxmlformats.org/officeDocument/2006/relationships/image" Target="../media/image1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blog.prototypr.io/remote-user-testing-a-new-workflow-for-ux-freelancers-fbc13763c621?gi=8f859bbe029" TargetMode="Externa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image" Target="../media/image1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1" Type="http://schemas.openxmlformats.org/officeDocument/2006/relationships/hyperlink" Target="https://www.hotjar.com/session-recordings/" TargetMode="External"/><Relationship Id="rId10" Type="http://schemas.openxmlformats.org/officeDocument/2006/relationships/hyperlink" Target="https://xd.adobe.com/ideas/process/user-testing/top-7-usability-testing-methods/" TargetMode="External"/><Relationship Id="rId12" Type="http://schemas.openxmlformats.org/officeDocument/2006/relationships/hyperlink" Target="https://usabilityhub.com/guides/first-click-testing" TargetMode="External"/><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build.diligent.com/user-research-usability-testing-e223027e4c2d" TargetMode="External"/><Relationship Id="rId5" Type="http://schemas.openxmlformats.org/officeDocument/2006/relationships/hyperlink" Target="https://trint.com/resources/qvko6rk9/why-is-ux-testing-so-important-and-how-do-i-get-it-right" TargetMode="External"/><Relationship Id="rId6" Type="http://schemas.openxmlformats.org/officeDocument/2006/relationships/hyperlink" Target="https://trint.com/resources/qvko6rk9/why-is-ux-testing-so-important-and-how-do-i-get-it-right" TargetMode="External"/><Relationship Id="rId7" Type="http://schemas.openxmlformats.org/officeDocument/2006/relationships/hyperlink" Target="https://trint.com/resources/qvko6rk9/why-is-ux-testing-so-important-and-how-do-i-get-it-right" TargetMode="External"/><Relationship Id="rId8" Type="http://schemas.openxmlformats.org/officeDocument/2006/relationships/hyperlink" Target="https://build.diligent.com/user-research-usability-testing-e223027e4c2d"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Thinking: Test Pt 1</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5 - Topic 3</a:t>
            </a:r>
            <a:endParaRPr b="1">
              <a:solidFill>
                <a:srgbClr val="FFFFFF"/>
              </a:solidFill>
              <a:latin typeface="Raleway"/>
              <a:ea typeface="Raleway"/>
              <a:cs typeface="Raleway"/>
              <a:sym typeface="Raleway"/>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8" name="Google Shape;108;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9" name="Google Shape;109;p21"/>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 </a:t>
            </a:r>
            <a:r>
              <a:rPr b="1" lang="en" sz="1800">
                <a:solidFill>
                  <a:srgbClr val="743673"/>
                </a:solidFill>
                <a:highlight>
                  <a:schemeClr val="lt1"/>
                </a:highlight>
                <a:latin typeface="Raleway"/>
                <a:ea typeface="Raleway"/>
                <a:cs typeface="Raleway"/>
                <a:sym typeface="Raleway"/>
              </a:rPr>
              <a:t>Test Pt 1</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1) 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Mengapa fase testing penting?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Research vs 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Metode - metode testing</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5" name="Google Shape;115;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16" name="Google Shape;116;p2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Design Thinking menangani masalah kompleks dengan: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Empathizing: Memahami kebutuhan manusia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yang terlibat.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Defining: Membingkai ulang dan mendefinisikan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masalah dengan cara yang berpusat pada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Ideating: Menciptakan banyak ide dalam sesi ideation.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Prototyping: Mengadopsi pendekatan langsung dalam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pembuatan prototipe.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Testing / Pengujian: Mengembangkan prototipe atau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solusi yang dapat diuji untuk masalah tersebut.</a:t>
            </a:r>
            <a:endParaRPr sz="1200">
              <a:solidFill>
                <a:schemeClr val="dk1"/>
              </a:solidFill>
              <a:latin typeface="Raleway Medium"/>
              <a:ea typeface="Raleway Medium"/>
              <a:cs typeface="Raleway Medium"/>
              <a:sym typeface="Raleway Medium"/>
            </a:endParaRPr>
          </a:p>
        </p:txBody>
      </p:sp>
      <p:pic>
        <p:nvPicPr>
          <p:cNvPr id="117" name="Google Shape;117;p22"/>
          <p:cNvPicPr preferRelativeResize="0"/>
          <p:nvPr/>
        </p:nvPicPr>
        <p:blipFill rotWithShape="1">
          <a:blip r:embed="rId3">
            <a:alphaModFix/>
          </a:blip>
          <a:srcRect b="0" l="5476" r="5467" t="0"/>
          <a:stretch/>
        </p:blipFill>
        <p:spPr>
          <a:xfrm>
            <a:off x="5486400" y="1207587"/>
            <a:ext cx="3017518"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Testing</a:t>
            </a:r>
            <a:endParaRPr/>
          </a:p>
        </p:txBody>
      </p:sp>
      <p:sp>
        <p:nvSpPr>
          <p:cNvPr id="123" name="Google Shape;123;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Testing</a:t>
            </a:r>
            <a:endParaRPr/>
          </a:p>
        </p:txBody>
      </p:sp>
      <p:sp>
        <p:nvSpPr>
          <p:cNvPr id="130" name="Google Shape;130;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dapat dibagikan dan diuji di dalam tim desain Anda, atau di departemen lain, atau pada sekelompok kecil orang di luar tim desain.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Fase ini adalah tahap percobaan, dan tujuannya adalah untuk mengidentifikasi solusi yang terbaik. Desainer atau evaluator secara ketat menguji produk lengkap menggunakan solusi terbaik yang diidentifikasi selama fase pembuatan prototipe.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pada fase ini adalah </a:t>
            </a:r>
            <a:r>
              <a:rPr b="1" lang="en" sz="1200">
                <a:solidFill>
                  <a:schemeClr val="dk1"/>
                </a:solidFill>
                <a:latin typeface="Raleway"/>
                <a:ea typeface="Raleway"/>
                <a:cs typeface="Raleway"/>
                <a:sym typeface="Raleway"/>
              </a:rPr>
              <a:t>menguji untuk belajar</a:t>
            </a:r>
            <a:r>
              <a:rPr lang="en" sz="1200">
                <a:solidFill>
                  <a:schemeClr val="dk1"/>
                </a:solidFill>
                <a:latin typeface="Raleway Medium"/>
                <a:ea typeface="Raleway Medium"/>
                <a:cs typeface="Raleway Medium"/>
                <a:sym typeface="Raleway Medium"/>
              </a:rPr>
              <a:t>: sempurnakan ide dengan mengumpulkan umpan balik dan bereksperimen ke depan.</a:t>
            </a:r>
            <a:endParaRPr sz="1200">
              <a:solidFill>
                <a:schemeClr val="dk1"/>
              </a:solidFill>
              <a:latin typeface="Raleway Medium"/>
              <a:ea typeface="Raleway Medium"/>
              <a:cs typeface="Raleway Medium"/>
              <a:sym typeface="Raleway Medium"/>
            </a:endParaRPr>
          </a:p>
        </p:txBody>
      </p:sp>
      <p:pic>
        <p:nvPicPr>
          <p:cNvPr id="131" name="Google Shape;131;p24"/>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Testing</a:t>
            </a:r>
            <a:endParaRPr/>
          </a:p>
        </p:txBody>
      </p:sp>
      <p:sp>
        <p:nvSpPr>
          <p:cNvPr id="138" name="Google Shape;138;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Usability testing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User experience (UX) testing atau p</a:t>
            </a:r>
            <a:r>
              <a:rPr lang="en" sz="1200">
                <a:solidFill>
                  <a:schemeClr val="dk1"/>
                </a:solidFill>
                <a:latin typeface="Raleway Medium"/>
                <a:ea typeface="Raleway Medium"/>
                <a:cs typeface="Raleway Medium"/>
                <a:sym typeface="Raleway Medium"/>
              </a:rPr>
              <a:t>engujian pengalaman pengguna - sering disingkat dengan </a:t>
            </a:r>
            <a:r>
              <a:rPr b="1" lang="en" sz="1200">
                <a:solidFill>
                  <a:schemeClr val="dk1"/>
                </a:solidFill>
                <a:latin typeface="Raleway"/>
                <a:ea typeface="Raleway"/>
                <a:cs typeface="Raleway"/>
                <a:sym typeface="Raleway"/>
              </a:rPr>
              <a:t>usability testing</a:t>
            </a:r>
            <a:r>
              <a:rPr lang="en" sz="1200">
                <a:solidFill>
                  <a:schemeClr val="dk1"/>
                </a:solidFill>
                <a:latin typeface="Raleway Medium"/>
                <a:ea typeface="Raleway Medium"/>
                <a:cs typeface="Raleway Medium"/>
                <a:sym typeface="Raleway Medium"/>
              </a:rPr>
              <a:t> atau </a:t>
            </a:r>
            <a:r>
              <a:rPr b="1" lang="en" sz="1200">
                <a:solidFill>
                  <a:schemeClr val="dk1"/>
                </a:solidFill>
                <a:latin typeface="Raleway"/>
                <a:ea typeface="Raleway"/>
                <a:cs typeface="Raleway"/>
                <a:sym typeface="Raleway"/>
              </a:rPr>
              <a:t>pengujian kegunaan</a:t>
            </a:r>
            <a:r>
              <a:rPr lang="en" sz="1200">
                <a:solidFill>
                  <a:schemeClr val="dk1"/>
                </a:solidFill>
                <a:latin typeface="Raleway Medium"/>
                <a:ea typeface="Raleway Medium"/>
                <a:cs typeface="Raleway Medium"/>
                <a:sym typeface="Raleway Medium"/>
              </a:rPr>
              <a:t> - adalah proses pengujian berbagai bagian situs web atau aplikasi untuk menemukan cara paling baik dan efektif untuk menyelesaikan suatu aktivitas.</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Usability testing mengukur seberapa “berguna” sebuah situs web atau aplikasi dengan membuat para pengguna mencobanya. Pengguna diminta mengamati dan memakai produk sekaligus memberikan pendapat mereka selama proses berlangsung.</a:t>
            </a:r>
            <a:endParaRPr sz="1200">
              <a:solidFill>
                <a:schemeClr val="dk1"/>
              </a:solidFill>
              <a:latin typeface="Raleway Medium"/>
              <a:ea typeface="Raleway Medium"/>
              <a:cs typeface="Raleway Medium"/>
              <a:sym typeface="Raleway Medium"/>
            </a:endParaRPr>
          </a:p>
        </p:txBody>
      </p:sp>
      <p:pic>
        <p:nvPicPr>
          <p:cNvPr id="139" name="Google Shape;139;p25"/>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Testing</a:t>
            </a:r>
            <a:endParaRPr/>
          </a:p>
        </p:txBody>
      </p:sp>
      <p:sp>
        <p:nvSpPr>
          <p:cNvPr id="146" name="Google Shape;146;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Cara kerja usability 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Usability testing pada umumnya berjalan seperti ini: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Prototipe atau produk yang sudah berfungsi ditampilkan kepada pengguna; mereka kemudian diberikan skenario dan diminta untuk melakukan sejumlah aktivitas / tugas yang terkait dengan skenario tersebut.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Cara mereka melakukan tugas yang diberikan dapat membantu kita mengidentifikasi waktu atau langkah tertentu dalam proses di mana pengguna mengalami masalah.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dari </a:t>
            </a:r>
            <a:r>
              <a:rPr lang="en" sz="1200">
                <a:solidFill>
                  <a:schemeClr val="dk1"/>
                </a:solidFill>
                <a:latin typeface="Raleway Medium"/>
                <a:ea typeface="Raleway Medium"/>
                <a:cs typeface="Raleway Medium"/>
                <a:sym typeface="Raleway Medium"/>
              </a:rPr>
              <a:t>pengguna</a:t>
            </a:r>
            <a:r>
              <a:rPr lang="en" sz="1200">
                <a:solidFill>
                  <a:schemeClr val="dk1"/>
                </a:solidFill>
                <a:latin typeface="Raleway Medium"/>
                <a:ea typeface="Raleway Medium"/>
                <a:cs typeface="Raleway Medium"/>
                <a:sym typeface="Raleway Medium"/>
              </a:rPr>
              <a:t> juga dikumpulkan dan dianalisis untuk menemukan berbagai cara kita bisa meningkatkan produk.</a:t>
            </a:r>
            <a:endParaRPr sz="1200">
              <a:solidFill>
                <a:schemeClr val="dk1"/>
              </a:solidFill>
              <a:latin typeface="Raleway Medium"/>
              <a:ea typeface="Raleway Medium"/>
              <a:cs typeface="Raleway Medium"/>
              <a:sym typeface="Raleway Medium"/>
            </a:endParaRPr>
          </a:p>
        </p:txBody>
      </p:sp>
      <p:pic>
        <p:nvPicPr>
          <p:cNvPr id="147" name="Google Shape;147;p26"/>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Testing</a:t>
            </a:r>
            <a:endParaRPr/>
          </a:p>
        </p:txBody>
      </p:sp>
      <p:sp>
        <p:nvSpPr>
          <p:cNvPr id="154" name="Google Shape;154;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Pengujian dapat dilakukan sepanjang kemajuan proyek, dan pada umumnya dilakukan bersamaan dengan proses prototyping atau setelahnya.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melakukan usability testing pada prototipe Anda, sangatlah ideal untuk memanfaatkan lingkungan yang familiar  (yaitu, lingkungan normal di mana pengguna Anda akan menggunakan prototipe).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Jika pengujian dalam lingkungan yang familiar ternyata tidak memungkinkan, cobalah untuk membuat pengguna melakukan tugas mereka sambil memainkan peran. Kuncinya adalah membuat pengguna menggunakan prototipe seakan - akan mereka menggunakannya dalam kehidupan nyata.</a:t>
            </a:r>
            <a:endParaRPr sz="1200">
              <a:solidFill>
                <a:schemeClr val="dk1"/>
              </a:solidFill>
              <a:latin typeface="Raleway Medium"/>
              <a:ea typeface="Raleway Medium"/>
              <a:cs typeface="Raleway Medium"/>
              <a:sym typeface="Raleway Medium"/>
            </a:endParaRPr>
          </a:p>
        </p:txBody>
      </p:sp>
      <p:pic>
        <p:nvPicPr>
          <p:cNvPr id="155" name="Google Shape;155;p27">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Mengapa fase testing penting?</a:t>
            </a:r>
            <a:endParaRPr/>
          </a:p>
        </p:txBody>
      </p:sp>
      <p:sp>
        <p:nvSpPr>
          <p:cNvPr id="161" name="Google Shape;161;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testing penting?</a:t>
            </a:r>
            <a:endParaRPr/>
          </a:p>
        </p:txBody>
      </p:sp>
      <p:sp>
        <p:nvSpPr>
          <p:cNvPr id="168" name="Google Shape;168;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Mengapa fase testing penting?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Hasil pengujian akan memberikan pemahaman mendalam tentang pengguna Anda, apa yang membuat mereka senang, tidak senang (</a:t>
            </a:r>
            <a:r>
              <a:rPr i="1" lang="en" sz="1200">
                <a:solidFill>
                  <a:schemeClr val="dk1"/>
                </a:solidFill>
                <a:latin typeface="Raleway Medium"/>
                <a:ea typeface="Raleway Medium"/>
                <a:cs typeface="Raleway Medium"/>
                <a:sym typeface="Raleway Medium"/>
              </a:rPr>
              <a:t>pain points</a:t>
            </a:r>
            <a:r>
              <a:rPr lang="en" sz="1200">
                <a:solidFill>
                  <a:schemeClr val="dk1"/>
                </a:solidFill>
                <a:latin typeface="Raleway Medium"/>
                <a:ea typeface="Raleway Medium"/>
                <a:cs typeface="Raleway Medium"/>
                <a:sym typeface="Raleway Medium"/>
              </a:rPr>
              <a:t>) dan </a:t>
            </a:r>
            <a:r>
              <a:rPr i="1" lang="en" sz="1200">
                <a:solidFill>
                  <a:schemeClr val="dk1"/>
                </a:solidFill>
                <a:latin typeface="Raleway Medium"/>
                <a:ea typeface="Raleway Medium"/>
                <a:cs typeface="Raleway Medium"/>
                <a:sym typeface="Raleway Medium"/>
              </a:rPr>
              <a:t>room for improvements</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Untuk membuat pengalaman pengguna yang baik, Anda </a:t>
            </a:r>
            <a:r>
              <a:rPr lang="en" sz="1200">
                <a:solidFill>
                  <a:schemeClr val="dk1"/>
                </a:solidFill>
                <a:latin typeface="Raleway Medium"/>
                <a:ea typeface="Raleway Medium"/>
                <a:cs typeface="Raleway Medium"/>
                <a:sym typeface="Raleway Medium"/>
              </a:rPr>
              <a:t>perlu mengetahui apa yang dirasakan pelanggan Anda. UX yang baik akan membantu Anda mengembangkan basis pelanggan Anda dari mulut ke mulut.</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Pelanggan yang senang akan menyebarkan berita ke teman dan kolega mereka tentang produk Anda, dan  membawa lebih banyak orang untuk menggunakannya.</a:t>
            </a:r>
            <a:endParaRPr sz="1200">
              <a:solidFill>
                <a:schemeClr val="dk1"/>
              </a:solidFill>
              <a:latin typeface="Raleway Medium"/>
              <a:ea typeface="Raleway Medium"/>
              <a:cs typeface="Raleway Medium"/>
              <a:sym typeface="Raleway Medium"/>
            </a:endParaRPr>
          </a:p>
        </p:txBody>
      </p:sp>
      <p:pic>
        <p:nvPicPr>
          <p:cNvPr id="169" name="Google Shape;169;p29">
            <a:hlinkClick r:id="rId3"/>
          </p:cNvPr>
          <p:cNvPicPr preferRelativeResize="0"/>
          <p:nvPr/>
        </p:nvPicPr>
        <p:blipFill rotWithShape="1">
          <a:blip r:embed="rId4">
            <a:alphaModFix/>
          </a:blip>
          <a:srcRect b="0" l="684" r="26482" t="0"/>
          <a:stretch/>
        </p:blipFill>
        <p:spPr>
          <a:xfrm>
            <a:off x="5486400" y="1207587"/>
            <a:ext cx="3017518" cy="27431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testing penting?</a:t>
            </a:r>
            <a:endParaRPr/>
          </a:p>
        </p:txBody>
      </p:sp>
      <p:sp>
        <p:nvSpPr>
          <p:cNvPr id="176" name="Google Shape;176;p3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Pengujian UX tidak hanya membantu Anda memahami pelanggan yang sudah ada; pengujian juga dapat menjadi bagian integral dari proses riset pasar Anda.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Pengujian produk bisa menjadi aktivitas riset pasar (market research) dan memberi Anda wawasan tentang siapa target pasar Anda dan bagaimana produk Anda akan digunakan oleh target pasar..</a:t>
            </a:r>
            <a:endParaRPr sz="1200">
              <a:solidFill>
                <a:schemeClr val="dk1"/>
              </a:solidFill>
              <a:latin typeface="Raleway Medium"/>
              <a:ea typeface="Raleway Medium"/>
              <a:cs typeface="Raleway Medium"/>
              <a:sym typeface="Raleway Medium"/>
            </a:endParaRPr>
          </a:p>
        </p:txBody>
      </p:sp>
      <p:pic>
        <p:nvPicPr>
          <p:cNvPr id="177" name="Google Shape;177;p30">
            <a:hlinkClick r:id="rId3"/>
          </p:cNvPr>
          <p:cNvPicPr preferRelativeResize="0"/>
          <p:nvPr/>
        </p:nvPicPr>
        <p:blipFill rotWithShape="1">
          <a:blip r:embed="rId4">
            <a:alphaModFix/>
          </a:blip>
          <a:srcRect b="0" l="684" r="26482" t="0"/>
          <a:stretch/>
        </p:blipFill>
        <p:spPr>
          <a:xfrm>
            <a:off x="5486400" y="1207587"/>
            <a:ext cx="3017518" cy="27431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Research vs testing</a:t>
            </a:r>
            <a:endParaRPr/>
          </a:p>
        </p:txBody>
      </p:sp>
      <p:sp>
        <p:nvSpPr>
          <p:cNvPr id="183" name="Google Shape;183;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9" name="Google Shape;18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vs testing</a:t>
            </a:r>
            <a:endParaRPr/>
          </a:p>
        </p:txBody>
      </p:sp>
      <p:sp>
        <p:nvSpPr>
          <p:cNvPr id="190" name="Google Shape;190;p3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User research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User research</a:t>
            </a:r>
            <a:r>
              <a:rPr lang="en" sz="1200">
                <a:solidFill>
                  <a:schemeClr val="dk1"/>
                </a:solidFill>
                <a:latin typeface="Raleway Medium"/>
                <a:ea typeface="Raleway Medium"/>
                <a:cs typeface="Raleway Medium"/>
                <a:sym typeface="Raleway Medium"/>
              </a:rPr>
              <a:t> atau penelitian pengguna bertujuan untuk mengidentifikasi target pengguna Anda dan memahami kebutuhan dan perilaku mereka. Berikut adalah beberapa metode penelitian pengguna:</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Wawancara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Survei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Studi lapangan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Focus groups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Pengujian kegunaan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Seperti dilihat diatas, salah satu metode penelitian adalah pengujian kegunaan (usability listing).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91" name="Google Shape;191;p32">
            <a:hlinkClick r:id="rId3"/>
          </p:cNvPr>
          <p:cNvPicPr preferRelativeResize="0"/>
          <p:nvPr/>
        </p:nvPicPr>
        <p:blipFill rotWithShape="1">
          <a:blip r:embed="rId4">
            <a:alphaModFix/>
          </a:blip>
          <a:srcRect b="0" l="13316" r="13316" t="0"/>
          <a:stretch/>
        </p:blipFill>
        <p:spPr>
          <a:xfrm>
            <a:off x="5486400" y="1207587"/>
            <a:ext cx="3017518" cy="27432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3">
            <a:hlinkClick r:id="rId3"/>
          </p:cNvPr>
          <p:cNvPicPr preferRelativeResize="0"/>
          <p:nvPr/>
        </p:nvPicPr>
        <p:blipFill rotWithShape="1">
          <a:blip r:embed="rId4">
            <a:alphaModFix/>
          </a:blip>
          <a:srcRect b="0" l="13316" r="13316" t="0"/>
          <a:stretch/>
        </p:blipFill>
        <p:spPr>
          <a:xfrm>
            <a:off x="5486400" y="1207587"/>
            <a:ext cx="3017518" cy="2743201"/>
          </a:xfrm>
          <a:prstGeom prst="rect">
            <a:avLst/>
          </a:prstGeom>
          <a:noFill/>
          <a:ln>
            <a:noFill/>
          </a:ln>
        </p:spPr>
      </p:pic>
      <p:sp>
        <p:nvSpPr>
          <p:cNvPr id="197" name="Google Shape;197;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8" name="Google Shape;198;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vs testing</a:t>
            </a:r>
            <a:endParaRPr/>
          </a:p>
        </p:txBody>
      </p:sp>
      <p:sp>
        <p:nvSpPr>
          <p:cNvPr id="199" name="Google Shape;199;p3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Testing dan research, apakah sama atau beda?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Pengujian pengguna (usability testing) mengacu pada metode khusus untuk mengevaluasi antarmuka sementara penelitian pengguna (user research) menggabungkan sekelompok metodologi untuk mengevaluasi sistem / antarmuka yang mencakup pengujian pengguna, wawancara, survei, dan lainnya.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Singkatnya, pengujian pengguna sebenarnya termasuk salah satu metode penelitian pengguna.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Metode - metode testing</a:t>
            </a:r>
            <a:endParaRPr/>
          </a:p>
        </p:txBody>
      </p:sp>
      <p:sp>
        <p:nvSpPr>
          <p:cNvPr id="205" name="Google Shape;205;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35">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
        <p:nvSpPr>
          <p:cNvPr id="211" name="Google Shape;211;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 name="Google Shape;212;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13" name="Google Shape;213;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Sebelum </a:t>
            </a:r>
            <a:r>
              <a:rPr b="1" lang="en" sz="1800">
                <a:solidFill>
                  <a:srgbClr val="743673"/>
                </a:solidFill>
                <a:highlight>
                  <a:schemeClr val="lt1"/>
                </a:highlight>
                <a:latin typeface="Raleway"/>
                <a:ea typeface="Raleway"/>
                <a:cs typeface="Raleway"/>
                <a:sym typeface="Raleway"/>
              </a:rPr>
              <a:t>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Sebelum Anda memilih metode pengujian tertentu, Anda harus memiliki pemahaman yang jelas tentang audiens target Anda, sumber daya yang tersedia (waktu dan uang), dan tujuan penelitian.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Informasi - informasi tersebut akan membantu Anda memilih metode pengujian yang tepat dan menjadi acuan untuk pertanyaan, aktivitas atau tugas untuk peserta pengujian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36">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
        <p:nvSpPr>
          <p:cNvPr id="219" name="Google Shape;219;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0" name="Google Shape;220;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21" name="Google Shape;221;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Metode - metode 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Kita akan mulai </a:t>
            </a:r>
            <a:r>
              <a:rPr lang="en" sz="1200">
                <a:solidFill>
                  <a:schemeClr val="dk1"/>
                </a:solidFill>
                <a:latin typeface="Raleway Medium"/>
                <a:ea typeface="Raleway Medium"/>
                <a:cs typeface="Raleway Medium"/>
                <a:sym typeface="Raleway Medium"/>
              </a:rPr>
              <a:t>menelusuri</a:t>
            </a:r>
            <a:r>
              <a:rPr lang="en" sz="1200">
                <a:solidFill>
                  <a:schemeClr val="dk1"/>
                </a:solidFill>
                <a:latin typeface="Raleway Medium"/>
                <a:ea typeface="Raleway Medium"/>
                <a:cs typeface="Raleway Medium"/>
                <a:sym typeface="Raleway Medium"/>
              </a:rPr>
              <a:t> berbagai metode testing. Perlu diingat bahwa tujuan utama dari sebuah pengujian adalah untuk menyempurnakan proses desain dengan  mempertimbangkan perspektif dan </a:t>
            </a:r>
            <a:r>
              <a:rPr i="1" lang="en" sz="1200">
                <a:solidFill>
                  <a:schemeClr val="dk1"/>
                </a:solidFill>
                <a:latin typeface="Raleway Medium"/>
                <a:ea typeface="Raleway Medium"/>
                <a:cs typeface="Raleway Medium"/>
                <a:sym typeface="Raleway Medium"/>
              </a:rPr>
              <a:t>feedback</a:t>
            </a:r>
            <a:r>
              <a:rPr lang="en" sz="1200">
                <a:solidFill>
                  <a:schemeClr val="dk1"/>
                </a:solidFill>
                <a:latin typeface="Raleway Medium"/>
                <a:ea typeface="Raleway Medium"/>
                <a:cs typeface="Raleway Medium"/>
                <a:sym typeface="Raleway Medium"/>
              </a:rPr>
              <a:t> pengguna.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37">
            <a:hlinkClick r:id="rId3"/>
          </p:cNvPr>
          <p:cNvPicPr preferRelativeResize="0"/>
          <p:nvPr/>
        </p:nvPicPr>
        <p:blipFill rotWithShape="1">
          <a:blip r:embed="rId4">
            <a:alphaModFix/>
          </a:blip>
          <a:srcRect b="0" l="16774" r="32254" t="0"/>
          <a:stretch/>
        </p:blipFill>
        <p:spPr>
          <a:xfrm>
            <a:off x="5486400" y="1207587"/>
            <a:ext cx="3017518" cy="2743198"/>
          </a:xfrm>
          <a:prstGeom prst="rect">
            <a:avLst/>
          </a:prstGeom>
          <a:noFill/>
          <a:ln>
            <a:noFill/>
          </a:ln>
        </p:spPr>
      </p:pic>
      <p:sp>
        <p:nvSpPr>
          <p:cNvPr id="227" name="Google Shape;227;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29" name="Google Shape;229;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Guerilla 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Guerilla testing</a:t>
            </a:r>
            <a:r>
              <a:rPr lang="en" sz="1200">
                <a:solidFill>
                  <a:schemeClr val="dk1"/>
                </a:solidFill>
                <a:latin typeface="Raleway Medium"/>
                <a:ea typeface="Raleway Medium"/>
                <a:cs typeface="Raleway Medium"/>
                <a:sym typeface="Raleway Medium"/>
              </a:rPr>
              <a:t> adalah bentuk pengujian kegunaan yang paling sederhana. Pada dasarnya, </a:t>
            </a:r>
            <a:r>
              <a:rPr i="1" lang="en" sz="1200">
                <a:solidFill>
                  <a:schemeClr val="dk1"/>
                </a:solidFill>
                <a:latin typeface="Raleway Medium"/>
                <a:ea typeface="Raleway Medium"/>
                <a:cs typeface="Raleway Medium"/>
                <a:sym typeface="Raleway Medium"/>
              </a:rPr>
              <a:t>guerilla testing</a:t>
            </a:r>
            <a:r>
              <a:rPr lang="en" sz="1200">
                <a:solidFill>
                  <a:schemeClr val="dk1"/>
                </a:solidFill>
                <a:latin typeface="Raleway Medium"/>
                <a:ea typeface="Raleway Medium"/>
                <a:cs typeface="Raleway Medium"/>
                <a:sym typeface="Raleway Medium"/>
              </a:rPr>
              <a:t> dapat dilakukan di tempat umum seperti kedai kopi dimana penguji akan mencoba bertanya kepada orang disekitar seputar prototipe yang sudah ada.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Peserta tes dipilih secara acak. Mereka diminta untuk melakukan tes kegunaan secara cepat, seringkali dengan imbalan atau hadiah kecil (seperti kopi gratis). Metode </a:t>
            </a:r>
            <a:r>
              <a:rPr i="1" lang="en" sz="1200">
                <a:solidFill>
                  <a:schemeClr val="dk1"/>
                </a:solidFill>
                <a:latin typeface="Raleway Medium"/>
                <a:ea typeface="Raleway Medium"/>
                <a:cs typeface="Raleway Medium"/>
                <a:sym typeface="Raleway Medium"/>
              </a:rPr>
              <a:t>guerilla testing</a:t>
            </a:r>
            <a:r>
              <a:rPr lang="en" sz="1200">
                <a:solidFill>
                  <a:schemeClr val="dk1"/>
                </a:solidFill>
                <a:latin typeface="Raleway Medium"/>
                <a:ea typeface="Raleway Medium"/>
                <a:cs typeface="Raleway Medium"/>
                <a:sym typeface="Raleway Medium"/>
              </a:rPr>
              <a:t> memakan biaya yang cukup rendah dan relatif sederhana untuk dilakukan.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38">
            <a:hlinkClick r:id="rId3"/>
          </p:cNvPr>
          <p:cNvPicPr preferRelativeResize="0"/>
          <p:nvPr/>
        </p:nvPicPr>
        <p:blipFill rotWithShape="1">
          <a:blip r:embed="rId4">
            <a:alphaModFix/>
          </a:blip>
          <a:srcRect b="0" l="16774" r="32254" t="0"/>
          <a:stretch/>
        </p:blipFill>
        <p:spPr>
          <a:xfrm>
            <a:off x="5486400" y="1207587"/>
            <a:ext cx="3017518" cy="2743198"/>
          </a:xfrm>
          <a:prstGeom prst="rect">
            <a:avLst/>
          </a:prstGeom>
          <a:noFill/>
          <a:ln>
            <a:noFill/>
          </a:ln>
        </p:spPr>
      </p:pic>
      <p:sp>
        <p:nvSpPr>
          <p:cNvPr id="235" name="Google Shape;235;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6" name="Google Shape;236;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37" name="Google Shape;237;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chemeClr val="dk1"/>
                </a:solidFill>
                <a:latin typeface="Raleway"/>
                <a:ea typeface="Raleway"/>
                <a:cs typeface="Raleway"/>
                <a:sym typeface="Raleway"/>
              </a:rPr>
              <a:t>Kapan </a:t>
            </a:r>
            <a:r>
              <a:rPr b="1" i="1" lang="en" sz="1200">
                <a:solidFill>
                  <a:schemeClr val="dk1"/>
                </a:solidFill>
                <a:latin typeface="Raleway"/>
                <a:ea typeface="Raleway"/>
                <a:cs typeface="Raleway"/>
                <a:sym typeface="Raleway"/>
              </a:rPr>
              <a:t>g</a:t>
            </a:r>
            <a:r>
              <a:rPr b="1" i="1" lang="en" sz="1200">
                <a:solidFill>
                  <a:schemeClr val="dk1"/>
                </a:solidFill>
                <a:latin typeface="Raleway"/>
                <a:ea typeface="Raleway"/>
                <a:cs typeface="Raleway"/>
                <a:sym typeface="Raleway"/>
              </a:rPr>
              <a:t>uerilla testing</a:t>
            </a:r>
            <a:r>
              <a:rPr b="1" lang="en" sz="1200">
                <a:solidFill>
                  <a:schemeClr val="dk1"/>
                </a:solidFill>
                <a:latin typeface="Raleway"/>
                <a:ea typeface="Raleway"/>
                <a:cs typeface="Raleway"/>
                <a:sym typeface="Raleway"/>
              </a:rPr>
              <a:t> dilakukan</a:t>
            </a:r>
            <a:r>
              <a:rPr b="1" lang="en" sz="1200">
                <a:solidFill>
                  <a:schemeClr val="dk1"/>
                </a:solidFill>
                <a:latin typeface="Raleway"/>
                <a:ea typeface="Raleway"/>
                <a:cs typeface="Raleway"/>
                <a:sym typeface="Raleway"/>
              </a:rPr>
              <a:t>?</a:t>
            </a:r>
            <a:endParaRPr b="1" sz="1200">
              <a:solidFill>
                <a:schemeClr val="dk1"/>
              </a:solidFill>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Guerilla testing</a:t>
            </a:r>
            <a:r>
              <a:rPr lang="en" sz="1200">
                <a:solidFill>
                  <a:schemeClr val="dk1"/>
                </a:solidFill>
                <a:latin typeface="Raleway Medium"/>
                <a:ea typeface="Raleway Medium"/>
                <a:cs typeface="Raleway Medium"/>
                <a:sym typeface="Raleway Medium"/>
              </a:rPr>
              <a:t> paling baik dilakukan pada tahap awal proses pengembangan produk. Ketika Anda sudah memiliki kerangka desain yang baik (wireframe atau prototipe lo-fi) dan ingin mengetahui apakah Anda sedang bergerak ke arah yang benar atau tidak.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Guerilla testing</a:t>
            </a:r>
            <a:r>
              <a:rPr lang="en" sz="1200">
                <a:solidFill>
                  <a:schemeClr val="dk1"/>
                </a:solidFill>
                <a:latin typeface="Raleway Medium"/>
                <a:ea typeface="Raleway Medium"/>
                <a:cs typeface="Raleway Medium"/>
                <a:sym typeface="Raleway Medium"/>
              </a:rPr>
              <a:t> juga dapat dilakukan untuk mengumpulkan pendapat pribadi dan kesan emosional tentang ide dan konsep dari produk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Perlu dicatat bahwa peserta tes dalam pengujian seperti ini mungkin tidak mewakili audiens target produk Anda secara menyeluruh.</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39">
            <a:hlinkClick r:id="rId3"/>
          </p:cNvPr>
          <p:cNvPicPr preferRelativeResize="0"/>
          <p:nvPr/>
        </p:nvPicPr>
        <p:blipFill rotWithShape="1">
          <a:blip r:embed="rId4">
            <a:alphaModFix/>
          </a:blip>
          <a:srcRect b="0" l="21124" r="21124" t="0"/>
          <a:stretch/>
        </p:blipFill>
        <p:spPr>
          <a:xfrm>
            <a:off x="5486400" y="1207587"/>
            <a:ext cx="3017517" cy="2743198"/>
          </a:xfrm>
          <a:prstGeom prst="rect">
            <a:avLst/>
          </a:prstGeom>
          <a:noFill/>
          <a:ln>
            <a:noFill/>
          </a:ln>
        </p:spPr>
      </p:pic>
      <p:sp>
        <p:nvSpPr>
          <p:cNvPr id="243" name="Google Shape;243;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4" name="Google Shape;244;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45" name="Google Shape;245;p3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Lab Usability 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Seperti namanya, </a:t>
            </a:r>
            <a:r>
              <a:rPr i="1" lang="en" sz="1200">
                <a:solidFill>
                  <a:schemeClr val="dk1"/>
                </a:solidFill>
                <a:latin typeface="Raleway Medium"/>
                <a:ea typeface="Raleway Medium"/>
                <a:cs typeface="Raleway Medium"/>
                <a:sym typeface="Raleway Medium"/>
              </a:rPr>
              <a:t>lab usability testing </a:t>
            </a:r>
            <a:r>
              <a:rPr lang="en" sz="1200">
                <a:solidFill>
                  <a:schemeClr val="dk1"/>
                </a:solidFill>
                <a:latin typeface="Raleway Medium"/>
                <a:ea typeface="Raleway Medium"/>
                <a:cs typeface="Raleway Medium"/>
                <a:sym typeface="Raleway Medium"/>
              </a:rPr>
              <a:t>adalah pengujian yang dijalankan di lingkungan khusus (laboratorium) dan diawasi oleh seorang moderator.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Moderator dalam pengujian ini adalah seorang profesional yang bertujuan untuk mendapatkan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dari pengguna secara langsung.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Selama pengujian yang dimoderasi ini, moderator memfasilitasi peserta, menjawab pertanyaan mereka, dan membalas</a:t>
            </a:r>
            <a:r>
              <a:rPr i="1" lang="en" sz="1200">
                <a:solidFill>
                  <a:schemeClr val="dk1"/>
                </a:solidFill>
                <a:latin typeface="Raleway Medium"/>
                <a:ea typeface="Raleway Medium"/>
                <a:cs typeface="Raleway Medium"/>
                <a:sym typeface="Raleway Medium"/>
              </a:rPr>
              <a:t> feedback</a:t>
            </a:r>
            <a:r>
              <a:rPr lang="en" sz="1200">
                <a:solidFill>
                  <a:schemeClr val="dk1"/>
                </a:solidFill>
                <a:latin typeface="Raleway Medium"/>
                <a:ea typeface="Raleway Medium"/>
                <a:cs typeface="Raleway Medium"/>
                <a:sym typeface="Raleway Medium"/>
              </a:rPr>
              <a:t> mereka secara </a:t>
            </a:r>
            <a:r>
              <a:rPr i="1" lang="en" sz="1200">
                <a:solidFill>
                  <a:schemeClr val="dk1"/>
                </a:solidFill>
                <a:latin typeface="Raleway Medium"/>
                <a:ea typeface="Raleway Medium"/>
                <a:cs typeface="Raleway Medium"/>
                <a:sym typeface="Raleway Medium"/>
              </a:rPr>
              <a:t>real-time.</a:t>
            </a:r>
            <a:endParaRPr i="1" sz="1200">
              <a:solidFill>
                <a:schemeClr val="dk1"/>
              </a:solidFill>
              <a:latin typeface="Raleway Medium"/>
              <a:ea typeface="Raleway Medium"/>
              <a:cs typeface="Raleway Medium"/>
              <a:sym typeface="Raleway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40">
            <a:hlinkClick r:id="rId3"/>
          </p:cNvPr>
          <p:cNvPicPr preferRelativeResize="0"/>
          <p:nvPr/>
        </p:nvPicPr>
        <p:blipFill rotWithShape="1">
          <a:blip r:embed="rId4">
            <a:alphaModFix/>
          </a:blip>
          <a:srcRect b="0" l="21124" r="21124" t="0"/>
          <a:stretch/>
        </p:blipFill>
        <p:spPr>
          <a:xfrm>
            <a:off x="5486400" y="1207587"/>
            <a:ext cx="3017517" cy="2743198"/>
          </a:xfrm>
          <a:prstGeom prst="rect">
            <a:avLst/>
          </a:prstGeom>
          <a:noFill/>
          <a:ln>
            <a:noFill/>
          </a:ln>
        </p:spPr>
      </p:pic>
      <p:sp>
        <p:nvSpPr>
          <p:cNvPr id="251" name="Google Shape;251;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53" name="Google Shape;253;p4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chemeClr val="dk1"/>
                </a:solidFill>
                <a:latin typeface="Raleway"/>
                <a:ea typeface="Raleway"/>
                <a:cs typeface="Raleway"/>
                <a:sym typeface="Raleway"/>
              </a:rPr>
              <a:t>Kapan </a:t>
            </a:r>
            <a:r>
              <a:rPr b="1" i="1" lang="en" sz="1200">
                <a:solidFill>
                  <a:schemeClr val="dk1"/>
                </a:solidFill>
                <a:latin typeface="Raleway"/>
                <a:ea typeface="Raleway"/>
                <a:cs typeface="Raleway"/>
                <a:sym typeface="Raleway"/>
              </a:rPr>
              <a:t>lab usability testing</a:t>
            </a:r>
            <a:r>
              <a:rPr b="1" lang="en" sz="1200">
                <a:solidFill>
                  <a:schemeClr val="dk1"/>
                </a:solidFill>
                <a:latin typeface="Raleway"/>
                <a:ea typeface="Raleway"/>
                <a:cs typeface="Raleway"/>
                <a:sym typeface="Raleway"/>
              </a:rPr>
              <a:t> dilakukan?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Pengujian kegunaan lab dilakukan ketika Anda perlu memiliki informasi mendalam tentang bagaimana pengguna berinteraksi dengan produk Anda dan masalah yang mereka hadapi. Melakukan pengujian dalam lab akan membantu Anda menyelidiki alasan di balik perilaku pengguna.</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Perlu diingat bahwa pengujian lab cukup mahal untuk dijalankan karena Anda perlu mengamankan lab, merekrut peserta, dan moderator. Karena  biaya-nya yang cukup mahal, penting untuk memastikan bahwa semua peserta pengujian mencerminkan basis pelanggan Anda yang sebenarnya sebelum menjalankan pengujian.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41">
            <a:hlinkClick r:id="rId3"/>
          </p:cNvPr>
          <p:cNvPicPr preferRelativeResize="0"/>
          <p:nvPr/>
        </p:nvPicPr>
        <p:blipFill rotWithShape="1">
          <a:blip r:embed="rId4">
            <a:alphaModFix/>
          </a:blip>
          <a:srcRect b="0" l="21211" r="21211" t="0"/>
          <a:stretch/>
        </p:blipFill>
        <p:spPr>
          <a:xfrm>
            <a:off x="5486400" y="1207587"/>
            <a:ext cx="3017518" cy="2743197"/>
          </a:xfrm>
          <a:prstGeom prst="rect">
            <a:avLst/>
          </a:prstGeom>
          <a:noFill/>
          <a:ln>
            <a:noFill/>
          </a:ln>
        </p:spPr>
      </p:pic>
      <p:sp>
        <p:nvSpPr>
          <p:cNvPr id="259" name="Google Shape;259;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0" name="Google Shape;260;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61" name="Google Shape;261;p4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A/B 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Pengujian A/B adalah metode dimana peserta diminta untuk membandingkan dua versi bagian sebuah situs web atau aplikasi. Hasil pengujian dapat membantu menentukan versi mana yang berperforma lebih baik.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Pengujian A/B memungkinkan kita untuk membuat perubahan yang cermat pada pengalaman pengguna mereka. Pengujian A/B  memungkinkan kita untuk membangun hipotesis dan mempelajari mengapa elemen tertentu dari desain mempengaruhi perilaku pengguna.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7" name="Google Shape;26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68" name="Google Shape;268;p4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chemeClr val="dk1"/>
                </a:solidFill>
                <a:latin typeface="Raleway"/>
                <a:ea typeface="Raleway"/>
                <a:cs typeface="Raleway"/>
                <a:sym typeface="Raleway"/>
              </a:rPr>
              <a:t>Kapan </a:t>
            </a:r>
            <a:r>
              <a:rPr b="1" i="1" lang="en" sz="1200">
                <a:solidFill>
                  <a:schemeClr val="dk1"/>
                </a:solidFill>
                <a:latin typeface="Raleway"/>
                <a:ea typeface="Raleway"/>
                <a:cs typeface="Raleway"/>
                <a:sym typeface="Raleway"/>
              </a:rPr>
              <a:t>A/B</a:t>
            </a:r>
            <a:r>
              <a:rPr b="1" i="1" lang="en" sz="1200">
                <a:solidFill>
                  <a:schemeClr val="dk1"/>
                </a:solidFill>
                <a:latin typeface="Raleway"/>
                <a:ea typeface="Raleway"/>
                <a:cs typeface="Raleway"/>
                <a:sym typeface="Raleway"/>
              </a:rPr>
              <a:t> testing </a:t>
            </a:r>
            <a:r>
              <a:rPr b="1" lang="en" sz="1200">
                <a:solidFill>
                  <a:schemeClr val="dk1"/>
                </a:solidFill>
                <a:latin typeface="Raleway"/>
                <a:ea typeface="Raleway"/>
                <a:cs typeface="Raleway"/>
                <a:sym typeface="Raleway"/>
              </a:rPr>
              <a:t>dilakukan?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Pengujian A/B dilakukan ketika Anda perlu membandingkan dua atau lebih variasi dari desain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mendalami lebih lanjut terkait pelaksanaan A/B testing, mari kita baca artikel berikut:</a:t>
            </a:r>
            <a:br>
              <a:rPr lang="en" sz="1200">
                <a:solidFill>
                  <a:schemeClr val="dk1"/>
                </a:solidFill>
                <a:latin typeface="Raleway Medium"/>
                <a:ea typeface="Raleway Medium"/>
                <a:cs typeface="Raleway Medium"/>
                <a:sym typeface="Raleway Medium"/>
              </a:rPr>
            </a:br>
            <a:br>
              <a:rPr lang="en" sz="1200" u="sng">
                <a:solidFill>
                  <a:schemeClr val="hlink"/>
                </a:solidFill>
                <a:latin typeface="Raleway Medium"/>
                <a:ea typeface="Raleway Medium"/>
                <a:cs typeface="Raleway Medium"/>
                <a:sym typeface="Raleway Medium"/>
                <a:hlinkClick r:id="rId3"/>
              </a:rPr>
            </a:br>
            <a:r>
              <a:rPr lang="en" sz="1200" u="sng">
                <a:solidFill>
                  <a:schemeClr val="hlink"/>
                </a:solidFill>
                <a:latin typeface="Raleway Medium"/>
                <a:ea typeface="Raleway Medium"/>
                <a:cs typeface="Raleway Medium"/>
                <a:sym typeface="Raleway Medium"/>
                <a:hlinkClick r:id="rId4"/>
              </a:rPr>
              <a:t>A Refresher on A/B Testing dari Harvard Business Review</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p:txBody>
      </p:sp>
      <p:pic>
        <p:nvPicPr>
          <p:cNvPr id="269" name="Google Shape;269;p42">
            <a:hlinkClick r:id="rId5"/>
          </p:cNvPr>
          <p:cNvPicPr preferRelativeResize="0"/>
          <p:nvPr/>
        </p:nvPicPr>
        <p:blipFill rotWithShape="1">
          <a:blip r:embed="rId6">
            <a:alphaModFix/>
          </a:blip>
          <a:srcRect b="0" l="21211" r="21211" t="0"/>
          <a:stretch/>
        </p:blipFill>
        <p:spPr>
          <a:xfrm>
            <a:off x="5486400" y="1207587"/>
            <a:ext cx="3017518" cy="274319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43">
            <a:hlinkClick r:id="rId3"/>
          </p:cNvPr>
          <p:cNvPicPr preferRelativeResize="0"/>
          <p:nvPr/>
        </p:nvPicPr>
        <p:blipFill rotWithShape="1">
          <a:blip r:embed="rId4">
            <a:alphaModFix/>
          </a:blip>
          <a:srcRect b="0" l="1493" r="1503" t="0"/>
          <a:stretch/>
        </p:blipFill>
        <p:spPr>
          <a:xfrm>
            <a:off x="5486400" y="1207587"/>
            <a:ext cx="3017515" cy="2743197"/>
          </a:xfrm>
          <a:prstGeom prst="rect">
            <a:avLst/>
          </a:prstGeom>
          <a:noFill/>
          <a:ln>
            <a:noFill/>
          </a:ln>
        </p:spPr>
      </p:pic>
      <p:sp>
        <p:nvSpPr>
          <p:cNvPr id="275" name="Google Shape;275;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6" name="Google Shape;276;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77" name="Google Shape;277;p4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Heat Mapping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Heat maps </a:t>
            </a:r>
            <a:r>
              <a:rPr lang="en" sz="1200">
                <a:solidFill>
                  <a:schemeClr val="dk1"/>
                </a:solidFill>
                <a:latin typeface="Raleway Medium"/>
                <a:ea typeface="Raleway Medium"/>
                <a:cs typeface="Raleway Medium"/>
                <a:sym typeface="Raleway Medium"/>
              </a:rPr>
              <a:t>adalah perangkat lunak untuk melakukan analisis data yang menggunakan warna sebagai alat visualisasi data.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sedang mendesain sebuah situs web dan ingin mengetahui area mana yang paling menarik perhatian, </a:t>
            </a:r>
            <a:r>
              <a:rPr i="1" lang="en" sz="1200">
                <a:solidFill>
                  <a:schemeClr val="dk1"/>
                </a:solidFill>
                <a:latin typeface="Raleway Medium"/>
                <a:ea typeface="Raleway Medium"/>
                <a:cs typeface="Raleway Medium"/>
                <a:sym typeface="Raleway Medium"/>
              </a:rPr>
              <a:t>heat maps </a:t>
            </a:r>
            <a:r>
              <a:rPr lang="en" sz="1200">
                <a:solidFill>
                  <a:schemeClr val="dk1"/>
                </a:solidFill>
                <a:latin typeface="Raleway Medium"/>
                <a:ea typeface="Raleway Medium"/>
                <a:cs typeface="Raleway Medium"/>
                <a:sym typeface="Raleway Medium"/>
              </a:rPr>
              <a:t>adalah alat yang paling tepat untuk digunakan.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Analisis </a:t>
            </a:r>
            <a:r>
              <a:rPr i="1" lang="en" sz="1200">
                <a:solidFill>
                  <a:schemeClr val="dk1"/>
                </a:solidFill>
                <a:latin typeface="Raleway Medium"/>
                <a:ea typeface="Raleway Medium"/>
                <a:cs typeface="Raleway Medium"/>
                <a:sym typeface="Raleway Medium"/>
              </a:rPr>
              <a:t>heat maps </a:t>
            </a:r>
            <a:r>
              <a:rPr lang="en" sz="1200">
                <a:solidFill>
                  <a:schemeClr val="dk1"/>
                </a:solidFill>
                <a:latin typeface="Raleway Medium"/>
                <a:ea typeface="Raleway Medium"/>
                <a:cs typeface="Raleway Medium"/>
                <a:sym typeface="Raleway Medium"/>
              </a:rPr>
              <a:t>memberi Anda gambaran visual tentang di mana pengunjung Anda mengklik halaman — semakin banyak klik, semakin cerah warna areanya, menciptakan apa yang disebut sebagai "hotspot".</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84" name="Google Shape;284;p4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chemeClr val="dk1"/>
                </a:solidFill>
                <a:latin typeface="Raleway"/>
                <a:ea typeface="Raleway"/>
                <a:cs typeface="Raleway"/>
                <a:sym typeface="Raleway"/>
              </a:rPr>
              <a:t>Kapan </a:t>
            </a:r>
            <a:r>
              <a:rPr b="1" i="1" lang="en" sz="1200">
                <a:solidFill>
                  <a:schemeClr val="dk1"/>
                </a:solidFill>
                <a:latin typeface="Raleway"/>
                <a:ea typeface="Raleway"/>
                <a:cs typeface="Raleway"/>
                <a:sym typeface="Raleway"/>
              </a:rPr>
              <a:t>heat mapping</a:t>
            </a:r>
            <a:r>
              <a:rPr b="1" i="1" lang="en" sz="1200">
                <a:solidFill>
                  <a:schemeClr val="dk1"/>
                </a:solidFill>
                <a:latin typeface="Raleway"/>
                <a:ea typeface="Raleway"/>
                <a:cs typeface="Raleway"/>
                <a:sym typeface="Raleway"/>
              </a:rPr>
              <a:t> </a:t>
            </a:r>
            <a:r>
              <a:rPr b="1" lang="en" sz="1200">
                <a:solidFill>
                  <a:schemeClr val="dk1"/>
                </a:solidFill>
                <a:latin typeface="Raleway"/>
                <a:ea typeface="Raleway"/>
                <a:cs typeface="Raleway"/>
                <a:sym typeface="Raleway"/>
              </a:rPr>
              <a:t>dilakukan?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Heat mapping dilakukan ketika Anda perlu informasi atas bagian mana dari halaman Anda yang paling menarik pengguna. Jangan sampai halaman yang Anda desain malah menarik pengguna kepada bagian yang tidak terlalu penting.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mendalami lebih lanjut terkait pelaksanaan heat mapping, mari kita baca artikel berikut:</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u="sng">
                <a:solidFill>
                  <a:schemeClr val="hlink"/>
                </a:solidFill>
                <a:latin typeface="Raleway Medium"/>
                <a:ea typeface="Raleway Medium"/>
                <a:cs typeface="Raleway Medium"/>
                <a:sym typeface="Raleway Medium"/>
                <a:hlinkClick r:id="rId3"/>
              </a:rPr>
              <a:t>What is a Heat Map, How to Create One, Examples and Case Studies</a:t>
            </a:r>
            <a:endParaRPr sz="1200">
              <a:solidFill>
                <a:schemeClr val="dk1"/>
              </a:solidFill>
              <a:latin typeface="Raleway Medium"/>
              <a:ea typeface="Raleway Medium"/>
              <a:cs typeface="Raleway Medium"/>
              <a:sym typeface="Raleway Medium"/>
            </a:endParaRPr>
          </a:p>
        </p:txBody>
      </p:sp>
      <p:pic>
        <p:nvPicPr>
          <p:cNvPr id="285" name="Google Shape;285;p44">
            <a:hlinkClick r:id="rId4"/>
          </p:cNvPr>
          <p:cNvPicPr preferRelativeResize="0"/>
          <p:nvPr/>
        </p:nvPicPr>
        <p:blipFill rotWithShape="1">
          <a:blip r:embed="rId5">
            <a:alphaModFix/>
          </a:blip>
          <a:srcRect b="0" l="1493" r="1503" t="0"/>
          <a:stretch/>
        </p:blipFill>
        <p:spPr>
          <a:xfrm>
            <a:off x="5486400" y="1207587"/>
            <a:ext cx="3017515" cy="274319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45">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
        <p:nvSpPr>
          <p:cNvPr id="291" name="Google Shape;291;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2" name="Google Shape;292;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293" name="Google Shape;293;p4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Card Sorting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Penyortiran kartu adalah metode yang sangat efektif untuk membantu memprioritaskan konten dan fitur pada antarmuka pengguna.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Pelaksanaanya cukup sederhana—yang perlu Anda lakukan hanyalah menempatkan konsep (isi, fitur) pada kartu dan meminta para peserta untuk mencocokan kartu ke dalam kelompok dan kategori. Jika memungkinkan, setelah peserta menyortir kartu, moderator meminta mereka untuk menjelaskan logika mereka (untuk memahami alasan penyortiran).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46">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
        <p:nvSpPr>
          <p:cNvPr id="299" name="Google Shape;299;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301" name="Google Shape;301;p4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chemeClr val="dk1"/>
                </a:solidFill>
                <a:latin typeface="Raleway"/>
                <a:ea typeface="Raleway"/>
                <a:cs typeface="Raleway"/>
                <a:sym typeface="Raleway"/>
              </a:rPr>
              <a:t>Kapan </a:t>
            </a:r>
            <a:r>
              <a:rPr b="1" i="1" lang="en" sz="1200">
                <a:solidFill>
                  <a:schemeClr val="dk1"/>
                </a:solidFill>
                <a:latin typeface="Raleway"/>
                <a:ea typeface="Raleway"/>
                <a:cs typeface="Raleway"/>
                <a:sym typeface="Raleway"/>
              </a:rPr>
              <a:t>card sorting </a:t>
            </a:r>
            <a:r>
              <a:rPr b="1" lang="en" sz="1200">
                <a:solidFill>
                  <a:schemeClr val="dk1"/>
                </a:solidFill>
                <a:latin typeface="Raleway"/>
                <a:ea typeface="Raleway"/>
                <a:cs typeface="Raleway"/>
                <a:sym typeface="Raleway"/>
              </a:rPr>
              <a:t>dilakukan?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Penyortiran kartu sangatlah dianjurkan ketika Anda ingin mengoptimalkan arsitektur informasi produk Anda sebelum membuat mockup lo-fi atau wireframe.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Dengan mendapatkan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tentang struktur navigasi Anda, Anda akan dapat membuat lebih banyak keputusan terkait arsitektur informasi produk Anda berdasarkan data.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47">
            <a:hlinkClick r:id="rId3"/>
          </p:cNvPr>
          <p:cNvPicPr preferRelativeResize="0"/>
          <p:nvPr/>
        </p:nvPicPr>
        <p:blipFill rotWithShape="1">
          <a:blip r:embed="rId4">
            <a:alphaModFix/>
          </a:blip>
          <a:srcRect b="0" l="230" r="-230" t="0"/>
          <a:stretch/>
        </p:blipFill>
        <p:spPr>
          <a:xfrm>
            <a:off x="5486400" y="1207579"/>
            <a:ext cx="3017526" cy="1890900"/>
          </a:xfrm>
          <a:prstGeom prst="rect">
            <a:avLst/>
          </a:prstGeom>
          <a:noFill/>
          <a:ln>
            <a:noFill/>
          </a:ln>
        </p:spPr>
      </p:pic>
      <p:sp>
        <p:nvSpPr>
          <p:cNvPr id="307" name="Google Shape;307;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309" name="Google Shape;309;p4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a:t>
            </a:r>
            <a:r>
              <a:rPr b="1" lang="en" sz="1800">
                <a:solidFill>
                  <a:srgbClr val="743673"/>
                </a:solidFill>
                <a:highlight>
                  <a:schemeClr val="lt1"/>
                </a:highlight>
                <a:latin typeface="Raleway"/>
                <a:ea typeface="Raleway"/>
                <a:cs typeface="Raleway"/>
                <a:sym typeface="Raleway"/>
              </a:rPr>
              <a:t>) Session Recording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Perekaman sesi adalah metode perekaman tindakan yang dilakukan pengguna (terkadang dianonimkan) saat mereka berinteraksi dengan situs web atau aplikasi Anda.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Data perekaman sesi membantu Anda memahami konten/fitur apa yang paling menarik bagi pengguna (melalui analisis </a:t>
            </a:r>
            <a:r>
              <a:rPr i="1" lang="en" sz="1200">
                <a:solidFill>
                  <a:schemeClr val="dk1"/>
                </a:solidFill>
                <a:latin typeface="Raleway Medium"/>
                <a:ea typeface="Raleway Medium"/>
                <a:cs typeface="Raleway Medium"/>
                <a:sym typeface="Raleway Medium"/>
              </a:rPr>
              <a:t>heat map</a:t>
            </a:r>
            <a:r>
              <a:rPr lang="en" sz="1200">
                <a:solidFill>
                  <a:schemeClr val="dk1"/>
                </a:solidFill>
                <a:latin typeface="Raleway Medium"/>
                <a:ea typeface="Raleway Medium"/>
                <a:cs typeface="Raleway Medium"/>
                <a:sym typeface="Raleway Medium"/>
              </a:rPr>
              <a:t>) serta masalah interaksi apa yang dihadapi pengguna saat mereka berinteraksi dengan produk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48">
            <a:hlinkClick r:id="rId3"/>
          </p:cNvPr>
          <p:cNvPicPr preferRelativeResize="0"/>
          <p:nvPr/>
        </p:nvPicPr>
        <p:blipFill rotWithShape="1">
          <a:blip r:embed="rId4">
            <a:alphaModFix/>
          </a:blip>
          <a:srcRect b="0" l="230" r="-230" t="0"/>
          <a:stretch/>
        </p:blipFill>
        <p:spPr>
          <a:xfrm>
            <a:off x="5486400" y="1207579"/>
            <a:ext cx="3017526" cy="1890900"/>
          </a:xfrm>
          <a:prstGeom prst="rect">
            <a:avLst/>
          </a:prstGeom>
          <a:noFill/>
          <a:ln>
            <a:noFill/>
          </a:ln>
        </p:spPr>
      </p:pic>
      <p:sp>
        <p:nvSpPr>
          <p:cNvPr id="315" name="Google Shape;315;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317" name="Google Shape;317;p4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chemeClr val="dk1"/>
                </a:solidFill>
                <a:latin typeface="Raleway"/>
                <a:ea typeface="Raleway"/>
                <a:cs typeface="Raleway"/>
                <a:sym typeface="Raleway"/>
              </a:rPr>
              <a:t>Kapan </a:t>
            </a:r>
            <a:r>
              <a:rPr b="1" i="1" lang="en" sz="1200">
                <a:solidFill>
                  <a:schemeClr val="dk1"/>
                </a:solidFill>
                <a:latin typeface="Raleway"/>
                <a:ea typeface="Raleway"/>
                <a:cs typeface="Raleway"/>
                <a:sym typeface="Raleway"/>
              </a:rPr>
              <a:t>session recording </a:t>
            </a:r>
            <a:r>
              <a:rPr b="1" lang="en" sz="1200">
                <a:solidFill>
                  <a:schemeClr val="dk1"/>
                </a:solidFill>
                <a:latin typeface="Raleway"/>
                <a:ea typeface="Raleway"/>
                <a:cs typeface="Raleway"/>
                <a:sym typeface="Raleway"/>
              </a:rPr>
              <a:t>dilakukan?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Rekaman sesi sangatlah membantu jika Anda perlu memahami masalah utama yang dihadapi pengguna saat mereka berinteraksi dengan produk Anda</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melakukan perekaman sesi, Anda perlu menggunakan alat khusus seperti </a:t>
            </a:r>
            <a:r>
              <a:rPr i="1" lang="en" sz="1200">
                <a:solidFill>
                  <a:schemeClr val="dk1"/>
                </a:solidFill>
                <a:latin typeface="Raleway Medium"/>
                <a:ea typeface="Raleway Medium"/>
                <a:cs typeface="Raleway Medium"/>
                <a:sym typeface="Raleway Medium"/>
              </a:rPr>
              <a:t>HotJar</a:t>
            </a:r>
            <a:r>
              <a:rPr lang="en" sz="1200">
                <a:solidFill>
                  <a:schemeClr val="dk1"/>
                </a:solidFill>
                <a:latin typeface="Raleway Medium"/>
                <a:ea typeface="Raleway Medium"/>
                <a:cs typeface="Raleway Medium"/>
                <a:sym typeface="Raleway Medium"/>
              </a:rPr>
              <a:t>. Perekaman sesi sangatlah efektif saat dijalankan bersama dengan jenis pengujian lainnya (contoh</a:t>
            </a:r>
            <a:r>
              <a:rPr i="1" lang="en" sz="1200">
                <a:solidFill>
                  <a:schemeClr val="dk1"/>
                </a:solidFill>
                <a:latin typeface="Raleway Medium"/>
                <a:ea typeface="Raleway Medium"/>
                <a:cs typeface="Raleway Medium"/>
                <a:sym typeface="Raleway Medium"/>
              </a:rPr>
              <a:t> heat mapping</a:t>
            </a:r>
            <a:r>
              <a:rPr lang="en" sz="1200">
                <a:solidFill>
                  <a:schemeClr val="dk1"/>
                </a:solidFill>
                <a:latin typeface="Raleway Medium"/>
                <a:ea typeface="Raleway Medium"/>
                <a:cs typeface="Raleway Medium"/>
                <a:sym typeface="Raleway Medium"/>
              </a:rPr>
              <a:t>). Dengan menganalisis hasil perekaman sesi, Anda dapat membentuk hipotesis tentang masalah apa yang dihadapi pengguna. Seringkali, Anda perlu melakukan pengujian lain untuk memahami mengapa mereka menghadapi masalah tersebut.</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49">
            <a:hlinkClick r:id="rId3"/>
          </p:cNvPr>
          <p:cNvPicPr preferRelativeResize="0"/>
          <p:nvPr/>
        </p:nvPicPr>
        <p:blipFill rotWithShape="1">
          <a:blip r:embed="rId4">
            <a:alphaModFix/>
          </a:blip>
          <a:srcRect b="-5559" l="4865" r="4865" t="5560"/>
          <a:stretch/>
        </p:blipFill>
        <p:spPr>
          <a:xfrm>
            <a:off x="5486400" y="1207587"/>
            <a:ext cx="3017517" cy="2743198"/>
          </a:xfrm>
          <a:prstGeom prst="rect">
            <a:avLst/>
          </a:prstGeom>
          <a:noFill/>
          <a:ln>
            <a:noFill/>
          </a:ln>
        </p:spPr>
      </p:pic>
      <p:sp>
        <p:nvSpPr>
          <p:cNvPr id="323" name="Google Shape;323;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4" name="Google Shape;324;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325" name="Google Shape;325;p4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7)</a:t>
            </a:r>
            <a:r>
              <a:rPr b="1" lang="en" sz="1800">
                <a:solidFill>
                  <a:srgbClr val="743673"/>
                </a:solidFill>
                <a:highlight>
                  <a:schemeClr val="lt1"/>
                </a:highlight>
                <a:latin typeface="Raleway"/>
                <a:ea typeface="Raleway"/>
                <a:cs typeface="Raleway"/>
                <a:sym typeface="Raleway"/>
              </a:rPr>
              <a:t> First Click 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Pengujian klik pertama adalah metode untuk mengukur kegunaan situs web, aplikasi, atau desain dengan mencari tahu seberapa mudah pengguna menyelesaikan tugas yang diberikan..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pengujian klik pertama, peserta diberi sebuah tugas (misalnya, "Di mana Anda akan mengklik untuk membeli produk ini?") dan kemudian diperlihatkan gambar antarmuka, di mana mereka perlu mengklik untuk menyelesaikan tugas.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Posisi klik mereka dicatat, bersama dengan berapa lama mereka mengklik.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332" name="Google Shape;332;p5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Feedback</a:t>
            </a:r>
            <a:r>
              <a:rPr lang="en" sz="1200">
                <a:solidFill>
                  <a:schemeClr val="dk1"/>
                </a:solidFill>
                <a:latin typeface="Raleway Medium"/>
                <a:ea typeface="Raleway Medium"/>
                <a:cs typeface="Raleway Medium"/>
                <a:sym typeface="Raleway Medium"/>
              </a:rPr>
              <a:t> l</a:t>
            </a:r>
            <a:r>
              <a:rPr lang="en" sz="1200">
                <a:solidFill>
                  <a:schemeClr val="dk1"/>
                </a:solidFill>
                <a:latin typeface="Raleway Medium"/>
                <a:ea typeface="Raleway Medium"/>
                <a:cs typeface="Raleway Medium"/>
                <a:sym typeface="Raleway Medium"/>
              </a:rPr>
              <a:t>ebih lanjut juga dapat dikumpulkan pada akhir tes dengan meminta pengguna untuk menjelaskan mengapa mereka mengklik di area yang mereka klik.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Pengujian klik pertama dapat dijalankan menggunakan hanya sebuah sketsa, gambar rangka, mock-up atau prototipe yang </a:t>
            </a:r>
            <a:r>
              <a:rPr lang="en" sz="1200">
                <a:solidFill>
                  <a:schemeClr val="dk1"/>
                </a:solidFill>
                <a:latin typeface="Raleway Medium"/>
                <a:ea typeface="Raleway Medium"/>
                <a:cs typeface="Raleway Medium"/>
                <a:sym typeface="Raleway Medium"/>
              </a:rPr>
              <a:t>detail</a:t>
            </a:r>
            <a:r>
              <a:rPr lang="en" sz="1200">
                <a:solidFill>
                  <a:schemeClr val="dk1"/>
                </a:solidFill>
                <a:latin typeface="Raleway Medium"/>
                <a:ea typeface="Raleway Medium"/>
                <a:cs typeface="Raleway Medium"/>
                <a:sym typeface="Raleway Medium"/>
              </a:rPr>
              <a:t>. Pengujian seperti ini penuh dengan kebebasan.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Maka dari itu, pengujian ini sering dilakukan untuk menguji pada tahap awal dalam proses desain, dan hasilnya dijadikan acuan atas arah desain lanjutan.</a:t>
            </a:r>
            <a:endParaRPr sz="1200">
              <a:solidFill>
                <a:schemeClr val="dk1"/>
              </a:solidFill>
              <a:latin typeface="Raleway Medium"/>
              <a:ea typeface="Raleway Medium"/>
              <a:cs typeface="Raleway Medium"/>
              <a:sym typeface="Raleway Medium"/>
            </a:endParaRPr>
          </a:p>
        </p:txBody>
      </p:sp>
      <p:pic>
        <p:nvPicPr>
          <p:cNvPr id="333" name="Google Shape;333;p50">
            <a:hlinkClick r:id="rId3"/>
          </p:cNvPr>
          <p:cNvPicPr preferRelativeResize="0"/>
          <p:nvPr/>
        </p:nvPicPr>
        <p:blipFill rotWithShape="1">
          <a:blip r:embed="rId4">
            <a:alphaModFix/>
          </a:blip>
          <a:srcRect b="-5559" l="4865" r="4865" t="5560"/>
          <a:stretch/>
        </p:blipFill>
        <p:spPr>
          <a:xfrm>
            <a:off x="5486400" y="1207587"/>
            <a:ext cx="3017517" cy="274319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p51">
            <a:hlinkClick r:id="rId3"/>
          </p:cNvPr>
          <p:cNvPicPr preferRelativeResize="0"/>
          <p:nvPr/>
        </p:nvPicPr>
        <p:blipFill rotWithShape="1">
          <a:blip r:embed="rId4">
            <a:alphaModFix/>
          </a:blip>
          <a:srcRect b="0" l="-1854" r="-1761" t="0"/>
          <a:stretch/>
        </p:blipFill>
        <p:spPr>
          <a:xfrm>
            <a:off x="5486400" y="1207578"/>
            <a:ext cx="3017525" cy="2144099"/>
          </a:xfrm>
          <a:prstGeom prst="rect">
            <a:avLst/>
          </a:prstGeom>
          <a:noFill/>
          <a:ln>
            <a:noFill/>
          </a:ln>
        </p:spPr>
      </p:pic>
      <p:sp>
        <p:nvSpPr>
          <p:cNvPr id="339" name="Google Shape;339;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0" name="Google Shape;340;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341" name="Google Shape;341;p5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8</a:t>
            </a:r>
            <a:r>
              <a:rPr b="1" lang="en" sz="1800">
                <a:solidFill>
                  <a:srgbClr val="743673"/>
                </a:solidFill>
                <a:highlight>
                  <a:schemeClr val="lt1"/>
                </a:highlight>
                <a:latin typeface="Raleway"/>
                <a:ea typeface="Raleway"/>
                <a:cs typeface="Raleway"/>
                <a:sym typeface="Raleway"/>
              </a:rPr>
              <a:t>) Tree Testing</a:t>
            </a:r>
            <a:br>
              <a:rPr b="1" lang="en" sz="1800">
                <a:solidFill>
                  <a:srgbClr val="743673"/>
                </a:solidFill>
                <a:highlight>
                  <a:schemeClr val="lt1"/>
                </a:highlight>
                <a:latin typeface="Raleway"/>
                <a:ea typeface="Raleway"/>
                <a:cs typeface="Raleway"/>
                <a:sym typeface="Raleway"/>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Tree testing</a:t>
            </a:r>
            <a:r>
              <a:rPr lang="en" sz="1200">
                <a:solidFill>
                  <a:schemeClr val="dk1"/>
                </a:solidFill>
                <a:latin typeface="Raleway Medium"/>
                <a:ea typeface="Raleway Medium"/>
                <a:cs typeface="Raleway Medium"/>
                <a:sym typeface="Raleway Medium"/>
              </a:rPr>
              <a:t> adalah metode penelitian UX yang memungkinkan Anda mengevaluasi hierarki dan kemampuan pengguna menemukan topik pada situs web atau aplikasi Anda.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Dalam pengujian ini, peserta disajikan hanya sebuah versi teks dari hierarki situs Anda dan diminta untuk menyelesaikan serangkaian tugas.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52">
            <a:hlinkClick r:id="rId3"/>
          </p:cNvPr>
          <p:cNvPicPr preferRelativeResize="0"/>
          <p:nvPr/>
        </p:nvPicPr>
        <p:blipFill rotWithShape="1">
          <a:blip r:embed="rId4">
            <a:alphaModFix/>
          </a:blip>
          <a:srcRect b="6829" l="5406" r="26240" t="0"/>
          <a:stretch/>
        </p:blipFill>
        <p:spPr>
          <a:xfrm>
            <a:off x="5486400" y="1207587"/>
            <a:ext cx="3017518" cy="2743198"/>
          </a:xfrm>
          <a:prstGeom prst="rect">
            <a:avLst/>
          </a:prstGeom>
          <a:noFill/>
          <a:ln>
            <a:noFill/>
          </a:ln>
        </p:spPr>
      </p:pic>
      <p:sp>
        <p:nvSpPr>
          <p:cNvPr id="347" name="Google Shape;347;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8" name="Google Shape;348;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349" name="Google Shape;349;p5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9</a:t>
            </a:r>
            <a:r>
              <a:rPr b="1" lang="en" sz="1800">
                <a:solidFill>
                  <a:srgbClr val="743673"/>
                </a:solidFill>
                <a:highlight>
                  <a:schemeClr val="lt1"/>
                </a:highlight>
                <a:latin typeface="Raleway"/>
                <a:ea typeface="Raleway"/>
                <a:cs typeface="Raleway"/>
                <a:sym typeface="Raleway"/>
              </a:rPr>
              <a:t>) Eye Tracking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Pelacakan mata adalah proses mengukur titik pandang atau gerakan mata relatif terhadap kepala. Eye tracker adalah alat untuk mengukur posisi mata dan pergerakan mata. </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Pelacakan mata mengungkapkan titik fokus pengguna dan pola navigasi mereka pada bagian dari antarmuka. Hasil pelacakan mata memberi desainer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menyeluruh tentang elemen antarmuka mana yang terlihat dan menarik perhatian. Pengujian ini secara efektif juga mengevaluasi hirarki desain dan konten.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53">
            <a:hlinkClick r:id="rId3"/>
          </p:cNvPr>
          <p:cNvPicPr preferRelativeResize="0"/>
          <p:nvPr/>
        </p:nvPicPr>
        <p:blipFill rotWithShape="1">
          <a:blip r:embed="rId4">
            <a:alphaModFix/>
          </a:blip>
          <a:srcRect b="0" l="26426" r="5882" t="0"/>
          <a:stretch/>
        </p:blipFill>
        <p:spPr>
          <a:xfrm>
            <a:off x="5486400" y="1207587"/>
            <a:ext cx="3017518" cy="2743198"/>
          </a:xfrm>
          <a:prstGeom prst="rect">
            <a:avLst/>
          </a:prstGeom>
          <a:noFill/>
          <a:ln>
            <a:noFill/>
          </a:ln>
        </p:spPr>
      </p:pic>
      <p:sp>
        <p:nvSpPr>
          <p:cNvPr id="355" name="Google Shape;355;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6" name="Google Shape;356;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357" name="Google Shape;357;p5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10</a:t>
            </a:r>
            <a:r>
              <a:rPr b="1" lang="en" sz="1800">
                <a:solidFill>
                  <a:srgbClr val="743673"/>
                </a:solidFill>
                <a:highlight>
                  <a:schemeClr val="lt1"/>
                </a:highlight>
                <a:latin typeface="Raleway"/>
                <a:ea typeface="Raleway"/>
                <a:cs typeface="Raleway"/>
                <a:sym typeface="Raleway"/>
              </a:rPr>
              <a:t>) Phone / Remote interview</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Wawancara telepon adalah tes kegunaan jarak jauh di mana moderator secara lisan menginstruksikan peserta untuk menyelesaikan tugas di perangkat mereka dan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dikumpulkan secara otomatis (interaksi pengguna direkam dari jarak jauh).</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Wawancara remote adalah cara yang efektif untuk mengumpulkan </a:t>
            </a:r>
            <a:r>
              <a:rPr i="1" lang="en" sz="1200">
                <a:solidFill>
                  <a:schemeClr val="dk1"/>
                </a:solidFill>
                <a:latin typeface="Raleway Medium"/>
                <a:ea typeface="Raleway Medium"/>
                <a:cs typeface="Raleway Medium"/>
                <a:sym typeface="Raleway Medium"/>
              </a:rPr>
              <a:t>feedback</a:t>
            </a:r>
            <a:r>
              <a:rPr lang="en" sz="1200">
                <a:solidFill>
                  <a:schemeClr val="dk1"/>
                </a:solidFill>
                <a:latin typeface="Raleway Medium"/>
                <a:ea typeface="Raleway Medium"/>
                <a:cs typeface="Raleway Medium"/>
                <a:sym typeface="Raleway Medium"/>
              </a:rPr>
              <a:t> dari peserta tes yang tersebar di berbagai belahan dunia.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Jenis pengujian ini membutuhkan moderator terlatih, yang memiliki kemampuan komunikasi yang baik.</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54">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
        <p:nvSpPr>
          <p:cNvPr id="363" name="Google Shape;363;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 metode testing</a:t>
            </a:r>
            <a:endParaRPr/>
          </a:p>
        </p:txBody>
      </p:sp>
      <p:sp>
        <p:nvSpPr>
          <p:cNvPr id="365" name="Google Shape;365;p5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Banyak lagi…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Makin banyak jam terbang Anda dalam dunia UI/UX, makin banyak metode riset yang akan Anda temukan.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bisa </a:t>
            </a:r>
            <a:r>
              <a:rPr lang="en" sz="1200">
                <a:solidFill>
                  <a:schemeClr val="dk1"/>
                </a:solidFill>
                <a:latin typeface="Raleway Medium"/>
                <a:ea typeface="Raleway Medium"/>
                <a:cs typeface="Raleway Medium"/>
                <a:sym typeface="Raleway Medium"/>
              </a:rPr>
              <a:t>menggabungkan</a:t>
            </a:r>
            <a:r>
              <a:rPr lang="en" sz="1200">
                <a:solidFill>
                  <a:schemeClr val="dk1"/>
                </a:solidFill>
                <a:latin typeface="Raleway Medium"/>
                <a:ea typeface="Raleway Medium"/>
                <a:cs typeface="Raleway Medium"/>
                <a:sym typeface="Raleway Medium"/>
              </a:rPr>
              <a:t> beberapa metode menjadi satu dan menemukan berbagai banyak cara untuk melakukan pengujian dengan cepat dan efektif.</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71" name="Google Shape;371;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7" name="Google Shape;377;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Kapan testing dapat dilakukan?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Awal proses desain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Sepanjang kemajuan proyek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Akhir proses desain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Bersamaan dengan pembuatan prototipe</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3" name="Google Shape;383;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Kapan testing dapat dilakukan?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Awal proses desain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Sepanjang kemajuan proyek</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Akhir proses desain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Bersamaan dengan pembuatan prototipe</a:t>
            </a:r>
            <a:endParaRPr sz="1200">
              <a:solidFill>
                <a:srgbClr val="A667A5"/>
              </a:solidFill>
              <a:latin typeface="Raleway Medium"/>
              <a:ea typeface="Raleway Medium"/>
              <a:cs typeface="Raleway Medium"/>
              <a:sym typeface="Raleway Medium"/>
            </a:endParaRPr>
          </a:p>
        </p:txBody>
      </p:sp>
      <p:sp>
        <p:nvSpPr>
          <p:cNvPr id="384" name="Google Shape;384;p57"/>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Pengujian dapat dilakukan sepanjang kemajuan proyek, dan pada umumnya dilakukan bersamaan dengan proses prototyping atau setelahnya.</a:t>
            </a:r>
            <a:endParaRPr b="1" sz="1000">
              <a:solidFill>
                <a:srgbClr val="733572"/>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0" name="Google Shape;390;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Berikut adalah beberapa metode penelitian pengguna, kecuali…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Wawancara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Focus Groups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Pengujian kegunaan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Handoff</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6" name="Google Shape;396;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beberapa metode penelitian pengguna, kecuali…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Wawancara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Focus Groups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Pengujian kegunaan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Handoff</a:t>
            </a:r>
            <a:endParaRPr b="1" sz="1200">
              <a:solidFill>
                <a:schemeClr val="lt1"/>
              </a:solidFill>
              <a:latin typeface="Raleway"/>
              <a:ea typeface="Raleway"/>
              <a:cs typeface="Raleway"/>
              <a:sym typeface="Raleway"/>
            </a:endParaRPr>
          </a:p>
        </p:txBody>
      </p:sp>
      <p:sp>
        <p:nvSpPr>
          <p:cNvPr id="397" name="Google Shape;397;p59"/>
          <p:cNvSpPr/>
          <p:nvPr/>
        </p:nvSpPr>
        <p:spPr>
          <a:xfrm>
            <a:off x="685800" y="3186375"/>
            <a:ext cx="7772400" cy="762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Saat desain yang dirancang oleh UX designer secara keseluruhan sudah selesai dan prototype telah diuji, biasanya desain akan diserahkan ke Developer untuk nantinya diimplementasikan ke dalam bahasa pemrograman. Proses inilah yang sering disebut dengan design handoff.</a:t>
            </a:r>
            <a:endParaRPr b="1" sz="1000">
              <a:solidFill>
                <a:srgbClr val="733572"/>
              </a:solidFill>
              <a:latin typeface="Raleway"/>
              <a:ea typeface="Raleway"/>
              <a:cs typeface="Raleway"/>
              <a:sym typeface="Ralew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3" name="Google Shape;403;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Penelitian</a:t>
            </a:r>
            <a:r>
              <a:rPr b="1" lang="en" sz="1800">
                <a:solidFill>
                  <a:schemeClr val="lt1"/>
                </a:solidFill>
                <a:latin typeface="Raleway"/>
                <a:ea typeface="Raleway"/>
                <a:cs typeface="Raleway"/>
                <a:sym typeface="Raleway"/>
              </a:rPr>
              <a:t> pengguna sebenarnya termasuk salah satu metode pengujian pengguna. Pernyataan tersebut…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Benar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Salah</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9" name="Google Shape;409;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Penelitian pengguna sebenarnya termasuk salah satu metode pengujian pengguna. Pernyataan tersebut…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Benar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Salah</a:t>
            </a:r>
            <a:endParaRPr b="1" sz="1200">
              <a:solidFill>
                <a:schemeClr val="lt1"/>
              </a:solidFill>
              <a:latin typeface="Raleway"/>
              <a:ea typeface="Raleway"/>
              <a:cs typeface="Raleway"/>
              <a:sym typeface="Raleway"/>
            </a:endParaRPr>
          </a:p>
        </p:txBody>
      </p:sp>
      <p:sp>
        <p:nvSpPr>
          <p:cNvPr id="410" name="Google Shape;410;p61"/>
          <p:cNvSpPr/>
          <p:nvPr/>
        </p:nvSpPr>
        <p:spPr>
          <a:xfrm>
            <a:off x="685800" y="3110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Sebaliknya, pengujian pengguna sebenarnya termasuk salah satu metode penelitian pengguna.</a:t>
            </a:r>
            <a:endParaRPr b="1" sz="1000">
              <a:solidFill>
                <a:srgbClr val="733572"/>
              </a:solidFill>
              <a:latin typeface="Raleway"/>
              <a:ea typeface="Raleway"/>
              <a:cs typeface="Raleway"/>
              <a:sym typeface="Raleway"/>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6" name="Google Shape;416;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ciri - ciri </a:t>
            </a:r>
            <a:r>
              <a:rPr b="1" i="1" lang="en" sz="1800">
                <a:solidFill>
                  <a:schemeClr val="lt1"/>
                </a:solidFill>
                <a:latin typeface="Raleway"/>
                <a:ea typeface="Raleway"/>
                <a:cs typeface="Raleway"/>
                <a:sym typeface="Raleway"/>
              </a:rPr>
              <a:t>guerilla testing</a:t>
            </a:r>
            <a:r>
              <a:rPr b="1" lang="en" sz="1800">
                <a:solidFill>
                  <a:schemeClr val="lt1"/>
                </a:solidFill>
                <a:latin typeface="Raleway"/>
                <a:ea typeface="Raleway"/>
                <a:cs typeface="Raleway"/>
                <a:sym typeface="Raleway"/>
              </a:rPr>
              <a: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Cepat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Mudah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Irit biaya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Kompleks</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2" name="Google Shape;422;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ciri - ciri </a:t>
            </a:r>
            <a:r>
              <a:rPr b="1" i="1" lang="en" sz="1800">
                <a:solidFill>
                  <a:schemeClr val="lt1"/>
                </a:solidFill>
                <a:latin typeface="Raleway"/>
                <a:ea typeface="Raleway"/>
                <a:cs typeface="Raleway"/>
                <a:sym typeface="Raleway"/>
              </a:rPr>
              <a:t>guerilla testing</a:t>
            </a:r>
            <a:r>
              <a:rPr b="1" lang="en" sz="1800">
                <a:solidFill>
                  <a:schemeClr val="lt1"/>
                </a:solidFill>
                <a:latin typeface="Raleway"/>
                <a:ea typeface="Raleway"/>
                <a:cs typeface="Raleway"/>
                <a:sym typeface="Raleway"/>
              </a:rPr>
              <a: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Cepat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Mudah</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Irit biaya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Kompleks</a:t>
            </a:r>
            <a:endParaRPr b="1" sz="1200">
              <a:solidFill>
                <a:schemeClr val="lt1"/>
              </a:solidFill>
              <a:latin typeface="Raleway"/>
              <a:ea typeface="Raleway"/>
              <a:cs typeface="Raleway"/>
              <a:sym typeface="Raleway"/>
            </a:endParaRPr>
          </a:p>
        </p:txBody>
      </p:sp>
      <p:sp>
        <p:nvSpPr>
          <p:cNvPr id="423" name="Google Shape;423;p63"/>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Guerilla testing adalah bentuk pengujian kegunaan yang paling sederhana.</a:t>
            </a:r>
            <a:endParaRPr b="1" sz="1000">
              <a:solidFill>
                <a:srgbClr val="733572"/>
              </a:solidFill>
              <a:latin typeface="Raleway"/>
              <a:ea typeface="Raleway"/>
              <a:cs typeface="Raleway"/>
              <a:sym typeface="Raleway"/>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9" name="Google Shape;429;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metode - metode testing yang paling cocok digunakan untuk memperbaiki arsitektur informasi,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Card sorting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Tree Testing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A/B Testing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Eye Tracking</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5" name="Google Shape;435;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Berikut adalah metode - metode testing yang paling cocok digunakan untuk memperbaiki arsitektur informasi,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Card sorting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Tree Testing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A/B Testing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Eye Tracking</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36" name="Google Shape;436;p65"/>
          <p:cNvSpPr/>
          <p:nvPr/>
        </p:nvSpPr>
        <p:spPr>
          <a:xfrm>
            <a:off x="685800" y="3491175"/>
            <a:ext cx="7772400" cy="789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A/B testing adalah metode yang cocok untuk membandingkan dua opsi ( terkadang opsi tersebut membuat kita memperbaiki arsitektur informasi). Card sorting, Tree testing dan eye tracking lebih cocok digunakan jika  tujuan utama kita adalah memperbaiki arsitektur informasi secara menyeluruh. </a:t>
            </a:r>
            <a:endParaRPr b="1" sz="1000">
              <a:solidFill>
                <a:srgbClr val="733572"/>
              </a:solidFill>
              <a:latin typeface="Raleway"/>
              <a:ea typeface="Raleway"/>
              <a:cs typeface="Raleway"/>
              <a:sym typeface="Raleway"/>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2" name="Google Shape;442;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Eye tracker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Alat untuk mengukur posisi kepala dan pergerakan mata.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Alat untuk mengukur posisi mata dan pergerakan mata.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Alat untuk mengukur posisi mata dan pergerakan kepala.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Alat untuk mengukur posisi kepala dan pergerakan kepala.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8" name="Google Shape;448;p6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Eye tracker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Alat untuk mengukur posisi kepala dan pergerakan mata.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Alat untuk mengukur posisi mata dan pergerakan mata. </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Alat untuk mengukur posisi mata dan pergerakan kepala.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Alat untuk mengukur posisi kepala dan pergerakan kepala. </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49" name="Google Shape;449;p67"/>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Eye tracking adalah proses mengukur titik pandang atau gerakan mata relatif terhadap kepala. Eye tracker adalah alat untuk mengukur posisi mata dan pergerakan mata. </a:t>
            </a:r>
            <a:endParaRPr b="1" sz="1000">
              <a:solidFill>
                <a:srgbClr val="733572"/>
              </a:solidFill>
              <a:latin typeface="Raleway"/>
              <a:ea typeface="Raleway"/>
              <a:cs typeface="Raleway"/>
              <a:sym typeface="Raleway"/>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5" name="Google Shape;455;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56" name="Google Shape;456;p6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57" name="Google Shape;457;p68"/>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Design Thinking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a:solidFill>
                  <a:schemeClr val="hlink"/>
                </a:solidFill>
                <a:uFill>
                  <a:noFill/>
                </a:uFill>
                <a:latin typeface="Raleway Medium"/>
                <a:ea typeface="Raleway Medium"/>
                <a:cs typeface="Raleway Medium"/>
                <a:sym typeface="Raleway Medium"/>
                <a:hlinkClick r:id="rId5"/>
              </a:rPr>
              <a:t>Why is UX testing so important and how do i get it right </a:t>
            </a:r>
            <a:br>
              <a:rPr lang="en" sz="1200">
                <a:solidFill>
                  <a:schemeClr val="hlink"/>
                </a:solidFill>
                <a:uFill>
                  <a:noFill/>
                </a:uFill>
                <a:latin typeface="Raleway Medium"/>
                <a:ea typeface="Raleway Medium"/>
                <a:cs typeface="Raleway Medium"/>
                <a:sym typeface="Raleway Medium"/>
                <a:hlinkClick r:id="rId6"/>
              </a:rPr>
            </a:br>
            <a:r>
              <a:rPr lang="en" sz="1200">
                <a:solidFill>
                  <a:schemeClr val="hlink"/>
                </a:solidFill>
                <a:uFill>
                  <a:noFill/>
                </a:uFill>
                <a:latin typeface="Raleway Medium"/>
                <a:ea typeface="Raleway Medium"/>
                <a:cs typeface="Raleway Medium"/>
                <a:sym typeface="Raleway Medium"/>
                <a:hlinkClick r:id="rId7"/>
              </a:rPr>
              <a:t>    by Trint.com</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a:t>
            </a:r>
            <a:r>
              <a:rPr lang="en" sz="1200">
                <a:solidFill>
                  <a:schemeClr val="hlink"/>
                </a:solidFill>
                <a:uFill>
                  <a:noFill/>
                </a:uFill>
                <a:latin typeface="Raleway Medium"/>
                <a:ea typeface="Raleway Medium"/>
                <a:cs typeface="Raleway Medium"/>
                <a:sym typeface="Raleway Medium"/>
                <a:hlinkClick r:id="rId8"/>
              </a:rPr>
              <a:t> User research vs usability testing by Sarah Lee on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9"/>
              </a:rPr>
              <a:t>    Medium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4) </a:t>
            </a:r>
            <a:r>
              <a:rPr lang="en" sz="1200">
                <a:solidFill>
                  <a:schemeClr val="hlink"/>
                </a:solidFill>
                <a:uFill>
                  <a:noFill/>
                </a:uFill>
                <a:latin typeface="Raleway Medium"/>
                <a:ea typeface="Raleway Medium"/>
                <a:cs typeface="Raleway Medium"/>
                <a:sym typeface="Raleway Medium"/>
                <a:hlinkClick r:id="rId10"/>
              </a:rPr>
              <a:t>Top 7 Usability Testing Methods by Adobe XD</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lang="en" sz="1200">
                <a:solidFill>
                  <a:schemeClr val="hlink"/>
                </a:solidFill>
                <a:uFill>
                  <a:noFill/>
                </a:uFill>
                <a:latin typeface="Raleway Medium"/>
                <a:ea typeface="Raleway Medium"/>
                <a:cs typeface="Raleway Medium"/>
                <a:sym typeface="Raleway Medium"/>
                <a:hlinkClick r:id="rId11"/>
              </a:rPr>
              <a:t>Session Recordings by HotJar</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6) </a:t>
            </a:r>
            <a:r>
              <a:rPr lang="en" sz="1200">
                <a:solidFill>
                  <a:schemeClr val="hlink"/>
                </a:solidFill>
                <a:uFill>
                  <a:noFill/>
                </a:uFill>
                <a:latin typeface="Raleway Medium"/>
                <a:ea typeface="Raleway Medium"/>
                <a:cs typeface="Raleway Medium"/>
                <a:sym typeface="Raleway Medium"/>
                <a:hlinkClick r:id="rId12"/>
              </a:rPr>
              <a:t>First Click Testing by Usability Hub</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61" name="Shape 461"/>
        <p:cNvGrpSpPr/>
        <p:nvPr/>
      </p:nvGrpSpPr>
      <p:grpSpPr>
        <a:xfrm>
          <a:off x="0" y="0"/>
          <a:ext cx="0" cy="0"/>
          <a:chOff x="0" y="0"/>
          <a:chExt cx="0" cy="0"/>
        </a:xfrm>
      </p:grpSpPr>
      <p:sp>
        <p:nvSpPr>
          <p:cNvPr id="462" name="Google Shape;462;p69"/>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63" name="Google Shape;463;p69"/>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64" name="Google Shape;464;p69"/>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65" name="Google Shape;465;p69"/>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66" name="Google Shape;466;p69"/>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67" name="Google Shape;467;p69"/>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68" name="Google Shape;468;p69"/>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69" name="Google Shape;469;p69"/>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