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y="5143500" cx="9144000"/>
  <p:notesSz cx="6858000" cy="9144000"/>
  <p:embeddedFontLst>
    <p:embeddedFont>
      <p:font typeface="Raleway"/>
      <p:regular r:id="rId56"/>
      <p:bold r:id="rId57"/>
      <p:italic r:id="rId58"/>
      <p:boldItalic r:id="rId59"/>
    </p:embeddedFont>
    <p:embeddedFont>
      <p:font typeface="Montserrat"/>
      <p:regular r:id="rId60"/>
      <p:bold r:id="rId61"/>
      <p:italic r:id="rId62"/>
      <p:boldItalic r:id="rId63"/>
    </p:embeddedFont>
    <p:embeddedFont>
      <p:font typeface="Lato Black"/>
      <p:bold r:id="rId64"/>
      <p:boldItalic r:id="rId65"/>
    </p:embeddedFont>
    <p:embeddedFont>
      <p:font typeface="Raleway Medium"/>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Montserrat-italic.fntdata"/><Relationship Id="rId61" Type="http://schemas.openxmlformats.org/officeDocument/2006/relationships/font" Target="fonts/Montserrat-bold.fntdata"/><Relationship Id="rId20" Type="http://schemas.openxmlformats.org/officeDocument/2006/relationships/slide" Target="slides/slide15.xml"/><Relationship Id="rId64" Type="http://schemas.openxmlformats.org/officeDocument/2006/relationships/font" Target="fonts/LatoBlack-bold.fntdata"/><Relationship Id="rId63" Type="http://schemas.openxmlformats.org/officeDocument/2006/relationships/font" Target="fonts/Montserrat-boldItalic.fntdata"/><Relationship Id="rId22" Type="http://schemas.openxmlformats.org/officeDocument/2006/relationships/slide" Target="slides/slide17.xml"/><Relationship Id="rId66" Type="http://schemas.openxmlformats.org/officeDocument/2006/relationships/font" Target="fonts/RalewayMedium-regular.fntdata"/><Relationship Id="rId21" Type="http://schemas.openxmlformats.org/officeDocument/2006/relationships/slide" Target="slides/slide16.xml"/><Relationship Id="rId65" Type="http://schemas.openxmlformats.org/officeDocument/2006/relationships/font" Target="fonts/LatoBlack-boldItalic.fntdata"/><Relationship Id="rId24" Type="http://schemas.openxmlformats.org/officeDocument/2006/relationships/slide" Target="slides/slide19.xml"/><Relationship Id="rId68" Type="http://schemas.openxmlformats.org/officeDocument/2006/relationships/font" Target="fonts/RalewayMedium-italic.fntdata"/><Relationship Id="rId23" Type="http://schemas.openxmlformats.org/officeDocument/2006/relationships/slide" Target="slides/slide18.xml"/><Relationship Id="rId67" Type="http://schemas.openxmlformats.org/officeDocument/2006/relationships/font" Target="fonts/RalewayMedium-bold.fntdata"/><Relationship Id="rId60" Type="http://schemas.openxmlformats.org/officeDocument/2006/relationships/font" Target="fonts/Montserrat-regular.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alewayMedium-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Raleway-bold.fntdata"/><Relationship Id="rId12" Type="http://schemas.openxmlformats.org/officeDocument/2006/relationships/slide" Target="slides/slide7.xml"/><Relationship Id="rId56" Type="http://schemas.openxmlformats.org/officeDocument/2006/relationships/font" Target="fonts/Raleway-regular.fntdata"/><Relationship Id="rId15" Type="http://schemas.openxmlformats.org/officeDocument/2006/relationships/slide" Target="slides/slide10.xml"/><Relationship Id="rId59" Type="http://schemas.openxmlformats.org/officeDocument/2006/relationships/font" Target="fonts/Raleway-boldItalic.fntdata"/><Relationship Id="rId14" Type="http://schemas.openxmlformats.org/officeDocument/2006/relationships/slide" Target="slides/slide9.xml"/><Relationship Id="rId58" Type="http://schemas.openxmlformats.org/officeDocument/2006/relationships/font" Target="fonts/Raleway-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randsandpeople?utm_source=unsplash&amp;utm_medium=referral&amp;utm_content=creditCopyText" TargetMode="External"/><Relationship Id="rId3" Type="http://schemas.openxmlformats.org/officeDocument/2006/relationships/hyperlink" Target="https://unsplash.com/@brandsandpeople?utm_source=unsplash&amp;utm_medium=referral&amp;utm_content=creditCopyText" TargetMode="External"/><Relationship Id="rId4" Type="http://schemas.openxmlformats.org/officeDocument/2006/relationships/hyperlink" Target="https://unsplash.com/s/photos/moodboards?utm_source=unsplash&amp;utm_medium=referral&amp;utm_content=creditCopyText" TargetMode="External"/><Relationship Id="rId5" Type="http://schemas.openxmlformats.org/officeDocument/2006/relationships/hyperlink" Target="https://unsplash.com/s/photos/moodboards?utm_source=unsplash&amp;utm_medium=referral&amp;utm_content=creditCopyText"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planet.org/user-persona-templates-that-will-make-your-life-easier-baee74ba5fc4"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charlesdeluvio?utm_source=unsplash&amp;utm_medium=referral&amp;utm_content=creditCopyText" TargetMode="External"/><Relationship Id="rId3" Type="http://schemas.openxmlformats.org/officeDocument/2006/relationships/hyperlink" Target="https://unsplash.com/@charlesdeluvio?utm_source=unsplash&amp;utm_medium=referral&amp;utm_content=creditCopyText" TargetMode="External"/><Relationship Id="rId4" Type="http://schemas.openxmlformats.org/officeDocument/2006/relationships/hyperlink" Target="https://unsplash.com/s/photos/interview?utm_source=unsplash&amp;utm_medium=referral&amp;utm_content=creditCopyText" TargetMode="External"/><Relationship Id="rId5" Type="http://schemas.openxmlformats.org/officeDocument/2006/relationships/hyperlink" Target="https://unsplash.com/s/photos/interview?utm_source=unsplash&amp;utm_medium=referral&amp;utm_content=creditCopyText"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charlesdeluvio?utm_source=unsplash&amp;utm_medium=referral&amp;utm_content=creditCopyText" TargetMode="External"/><Relationship Id="rId3" Type="http://schemas.openxmlformats.org/officeDocument/2006/relationships/hyperlink" Target="https://unsplash.com/@charlesdeluvio?utm_source=unsplash&amp;utm_medium=referral&amp;utm_content=creditCopyText" TargetMode="External"/><Relationship Id="rId4" Type="http://schemas.openxmlformats.org/officeDocument/2006/relationships/hyperlink" Target="https://unsplash.com/s/photos/interview?utm_source=unsplash&amp;utm_medium=referral&amp;utm_content=creditCopyText" TargetMode="External"/><Relationship Id="rId5" Type="http://schemas.openxmlformats.org/officeDocument/2006/relationships/hyperlink" Target="https://unsplash.com/s/photos/interview?utm_source=unsplash&amp;utm_medium=referral&amp;utm_content=creditCopyText"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design.cc/a-mood-board-strategy-for-cohesive-visual-design-5620dec3fed7"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eadwayio?utm_source=unsplash&amp;utm_medium=referral&amp;utm_content=creditCopyText" TargetMode="External"/><Relationship Id="rId3" Type="http://schemas.openxmlformats.org/officeDocument/2006/relationships/hyperlink" Target="https://unsplash.com/@headwayio?utm_source=unsplash&amp;utm_medium=referral&amp;utm_content=creditCopyText" TargetMode="External"/><Relationship Id="rId4" Type="http://schemas.openxmlformats.org/officeDocument/2006/relationships/hyperlink" Target="https://unsplash.com/s/photos/design-platform?utm_source=unsplash&amp;utm_medium=referral&amp;utm_content=creditCopyText" TargetMode="External"/><Relationship Id="rId5" Type="http://schemas.openxmlformats.org/officeDocument/2006/relationships/hyperlink" Target="https://unsplash.com/s/photos/design-platform?utm_source=unsplash&amp;utm_medium=referral&amp;utm_content=creditCopyText"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uudkaanaa?utm_source=unsplash&amp;utm_medium=referral&amp;utm_content=creditCopyText" TargetMode="External"/><Relationship Id="rId3" Type="http://schemas.openxmlformats.org/officeDocument/2006/relationships/hyperlink" Target="https://unsplash.com/@buudkaanaa?utm_source=unsplash&amp;utm_medium=referral&amp;utm_content=creditCopyText" TargetMode="External"/><Relationship Id="rId4" Type="http://schemas.openxmlformats.org/officeDocument/2006/relationships/hyperlink" Target="https://unsplash.com/s/photos/user-interface-design?utm_source=unsplash&amp;utm_medium=referral&amp;utm_content=creditCopyText" TargetMode="External"/><Relationship Id="rId5" Type="http://schemas.openxmlformats.org/officeDocument/2006/relationships/hyperlink" Target="https://unsplash.com/s/photos/user-interface-design?utm_source=unsplash&amp;utm_medium=referral&amp;utm_content=creditCopyText"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alazsketyi?utm_source=unsplash&amp;utm_medium=referral&amp;utm_content=creditCopyText" TargetMode="External"/><Relationship Id="rId3" Type="http://schemas.openxmlformats.org/officeDocument/2006/relationships/hyperlink" Target="https://unsplash.com/@balazsketyi?utm_source=unsplash&amp;utm_medium=referral&amp;utm_content=creditCopyText" TargetMode="External"/><Relationship Id="rId4" Type="http://schemas.openxmlformats.org/officeDocument/2006/relationships/hyperlink" Target="https://unsplash.com/s/photos/design-system?utm_source=unsplash&amp;utm_medium=referral&amp;utm_content=creditCopyText" TargetMode="External"/><Relationship Id="rId5" Type="http://schemas.openxmlformats.org/officeDocument/2006/relationships/hyperlink" Target="https://unsplash.com/s/photos/design-system?utm_source=unsplash&amp;utm_medium=referral&amp;utm_content=creditCopyText"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anielkorpai?utm_source=unsplash&amp;utm_medium=referral&amp;utm_content=creditCopyText" TargetMode="External"/><Relationship Id="rId3" Type="http://schemas.openxmlformats.org/officeDocument/2006/relationships/hyperlink" Target="https://unsplash.com/@danielkorpai?utm_source=unsplash&amp;utm_medium=referral&amp;utm_content=creditCopyText" TargetMode="External"/><Relationship Id="rId4" Type="http://schemas.openxmlformats.org/officeDocument/2006/relationships/hyperlink" Target="https://unsplash.com/s/photos/dribbble?utm_source=unsplash&amp;utm_medium=referral&amp;utm_content=creditCopyText" TargetMode="External"/><Relationship Id="rId5" Type="http://schemas.openxmlformats.org/officeDocument/2006/relationships/hyperlink" Target="https://unsplash.com/s/photos/dribbble?utm_source=unsplash&amp;utm_medium=referral&amp;utm_content=creditCopyText"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v2osk?utm_source=unsplash&amp;utm_medium=referral&amp;utm_content=creditCopyText" TargetMode="External"/><Relationship Id="rId3" Type="http://schemas.openxmlformats.org/officeDocument/2006/relationships/hyperlink" Target="https://unsplash.com/@v2osk?utm_source=unsplash&amp;utm_medium=referral&amp;utm_content=creditCopyText" TargetMode="External"/><Relationship Id="rId4" Type="http://schemas.openxmlformats.org/officeDocument/2006/relationships/hyperlink" Target="https://unsplash.com/s/photos/nature?utm_source=unsplash&amp;utm_medium=referral&amp;utm_content=creditCopyText" TargetMode="External"/><Relationship Id="rId5" Type="http://schemas.openxmlformats.org/officeDocument/2006/relationships/hyperlink" Target="https://unsplash.com/s/photos/nature?utm_source=unsplash&amp;utm_medium=referral&amp;utm_content=creditCopyText"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v2osk?utm_source=unsplash&amp;utm_medium=referral&amp;utm_content=creditCopyText" TargetMode="External"/><Relationship Id="rId3" Type="http://schemas.openxmlformats.org/officeDocument/2006/relationships/hyperlink" Target="https://unsplash.com/@v2osk?utm_source=unsplash&amp;utm_medium=referral&amp;utm_content=creditCopyText" TargetMode="External"/><Relationship Id="rId4" Type="http://schemas.openxmlformats.org/officeDocument/2006/relationships/hyperlink" Target="https://unsplash.com/s/photos/nature?utm_source=unsplash&amp;utm_medium=referral&amp;utm_content=creditCopyText" TargetMode="External"/><Relationship Id="rId5" Type="http://schemas.openxmlformats.org/officeDocument/2006/relationships/hyperlink" Target="https://unsplash.com/s/photos/nature?utm_source=unsplash&amp;utm_medium=referral&amp;utm_content=creditCopyText"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v2osk?utm_source=unsplash&amp;utm_medium=referral&amp;utm_content=creditCopyText" TargetMode="External"/><Relationship Id="rId3" Type="http://schemas.openxmlformats.org/officeDocument/2006/relationships/hyperlink" Target="https://unsplash.com/@v2osk?utm_source=unsplash&amp;utm_medium=referral&amp;utm_content=creditCopyText" TargetMode="External"/><Relationship Id="rId4" Type="http://schemas.openxmlformats.org/officeDocument/2006/relationships/hyperlink" Target="https://unsplash.com/s/photos/nature?utm_source=unsplash&amp;utm_medium=referral&amp;utm_content=creditCopyText" TargetMode="External"/><Relationship Id="rId5" Type="http://schemas.openxmlformats.org/officeDocument/2006/relationships/hyperlink" Target="https://unsplash.com/s/photos/nature?utm_source=unsplash&amp;utm_medium=referral&amp;utm_content=creditCopyText"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18ca8fe0f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18ca8fe0f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18ca8fe0f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18ca8fe0f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18ca8fe0f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18ca8fe0f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18ca8fe0fc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18ca8fe0fc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Brands&amp;People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18ca8fe0fc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18ca8fe0fc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https://www.linkedin.com/pulse/why-inspiration-matters-moodboard-uxui-mobile-app-paulina-chmielewska</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18ca8fe0fc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18ca8fe0fc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https://www.invisionapp.com/inside-design/mood-board-examples/</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18ca8fe0fc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18ca8fe0fc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https://uxplanet.org/design-mood-7-motives-to-create-mood-boards-b81ae36e399f</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18ca8fe0fc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18ca8fe0fc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https://uxplanet.org/design-mood-7-motives-to-create-mood-boards-b81ae36e399f</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198e1ebcc5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198e1ebcc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https://itcraftapps.com/blog/moodboard-mobile-app-design-inspiration/</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198e1ebcc5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198e1ebcc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https://www.justinmind.com/blog/mood-board-examples-design-website-app/</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18ca8fe0fc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18ca8fe0fc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198e1ebcc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198e1ebcc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https://www.linkedin.com/pulse/why-inspiration-matters-moodboard-uxui-mobile-app-paulina-chmielewska</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198e1ebcc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198e1ebcc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https://uxplanet.org/user-persona-templates-that-will-make-your-life-easier-baee74ba5fc4</a:t>
            </a:r>
            <a:r>
              <a:rPr lang="en">
                <a:solidFill>
                  <a:schemeClr val="dk1"/>
                </a:solidFill>
              </a:rPr>
              <a:t>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198e1ebcc5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198e1ebcc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charlesdeluvio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198e1ebcc5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198e1ebcc5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charlesdeluvio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198e1ebcc5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198e1ebcc5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https://www.linkedin.com/pulse/why-inspiration-matters-moodboard-uxui-mobile-app-paulina-chmielewska</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18ca8fe0f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18ca8fe0f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1198e1ebcc5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1198e1ebcc5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198e1ebcc5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198e1ebcc5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https://uxdesign.cc/a-mood-board-strategy-for-cohesive-visual-design-5620dec3fed7</a:t>
            </a:r>
            <a:r>
              <a:rPr lang="en">
                <a:solidFill>
                  <a:schemeClr val="dk1"/>
                </a:solidFill>
              </a:rPr>
              <a:t>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18ca8fe0fc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18ca8fe0fc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18ca8fe0fc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18ca8fe0fc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Headway</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18ca8fe0fc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118ca8fe0fc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18ca8fe0fc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18ca8fe0fc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18ca8fe0fc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118ca8fe0fc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18ca8fe0fc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118ca8fe0fc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118ca8fe0fc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118ca8fe0fc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1198e1ebcc5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1198e1ebcc5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198e1ebcc5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1198e1ebcc5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118ca8fe0fc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118ca8fe0fc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1198e1ebcc5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1198e1ebcc5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Budka Damdinsuren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1198e1ebcc5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1198e1ebcc5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Balázs Kétyi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1198e1ebcc5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1198e1ebcc5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Daniel Korpai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1198e1ebcc5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1198e1ebcc5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v2osk</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1198e1ebcc5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1198e1ebcc5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v2osk</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1198e1ebcc5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1198e1ebcc5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v2osk</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118ca8fe0f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118ca8fe0f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1198e1ebcc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1198e1ebcc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1198e1ebcc5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1198e1ebcc5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1198e1ebcc5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1198e1ebcc5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1198e1ebcc5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1198e1ebcc5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1198e1ebcc5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1198e1ebcc5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1198e1ebcc5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1198e1ebcc5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1198e1ebcc5_1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1198e1ebcc5_1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1198e1ebcc5_1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1198e1ebcc5_1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198e1ebcc5_1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1198e1ebcc5_1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1198e1ebcc5_1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1198e1ebcc5_1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1198e1ebcc5_1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1198e1ebcc5_1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1198e1ebcc5_1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1198e1ebcc5_1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118ca8fe0fc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118ca8fe0fc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118ca8fe0fc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118ca8fe0fc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1.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unsplash.com/@brandsandpeople?utm_source=unsplash&amp;utm_medium=referral&amp;utm_content=creditCopyText" TargetMode="External"/><Relationship Id="rId4" Type="http://schemas.openxmlformats.org/officeDocument/2006/relationships/image" Target="../media/image2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linkedin.com/pulse/why-inspiration-matters-moodboard-uxui-mobile-app-paulina-chmielewska" TargetMode="External"/><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www.invisionapp.com/inside-design/mood-board-examples/" TargetMode="External"/><Relationship Id="rId4" Type="http://schemas.openxmlformats.org/officeDocument/2006/relationships/image" Target="../media/image3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uxplanet.org/design-mood-7-motives-to-create-mood-boards-b81ae36e399f" TargetMode="External"/><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uxplanet.org/design-mood-7-motives-to-create-mood-boards-b81ae36e399f" TargetMode="External"/><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uxplanet.org/design-mood-7-motives-to-create-mood-boards-b81ae36e399f" TargetMode="External"/><Relationship Id="rId4" Type="http://schemas.openxmlformats.org/officeDocument/2006/relationships/image" Target="../media/image1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uxplanet.org/design-mood-7-motives-to-create-mood-boards-b81ae36e399f" TargetMode="Externa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www.linkedin.com/pulse/why-inspiration-matters-moodboard-uxui-mobile-app-paulina-chmielewska" TargetMode="External"/><Relationship Id="rId4"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www.linkedin.com/pulse/why-inspiration-matters-moodboard-uxui-mobile-app-paulina-chmielewska" TargetMode="External"/><Relationship Id="rId4"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youtu.be/CBCAAvKtpCI" TargetMode="External"/><Relationship Id="rId4" Type="http://schemas.openxmlformats.org/officeDocument/2006/relationships/hyperlink" Target="http://www.youtube.com/watch?v=CBCAAvKtpCI" TargetMode="External"/><Relationship Id="rId5" Type="http://schemas.openxmlformats.org/officeDocument/2006/relationships/image" Target="../media/image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unsplash.com/@headwayio?utm_source=unsplash&amp;utm_medium=referral&amp;utm_content=creditCopyText" TargetMode="External"/><Relationship Id="rId4" Type="http://schemas.openxmlformats.org/officeDocument/2006/relationships/image" Target="../media/image2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behance.net" TargetMode="Externa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dribbble.com" TargetMode="Externa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pinterest.com" TargetMode="Externa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awwwards.com" TargetMode="Externa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abduzeedo.com/" TargetMode="Externa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uxmag.com" TargetMode="Externa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screenlane.com/?ref=uimovement" TargetMode="Externa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0.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8.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9.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2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1" Type="http://schemas.openxmlformats.org/officeDocument/2006/relationships/hyperlink" Target="https://www.invisionapp.com/inside-design/mood-board-examples/" TargetMode="External"/><Relationship Id="rId10" Type="http://schemas.openxmlformats.org/officeDocument/2006/relationships/hyperlink" Target="https://www.linkedin.com/pulse/why-inspiration-matters-moodboard-uxui-mobile-app-paulina-chmielewska" TargetMode="External"/><Relationship Id="rId12" Type="http://schemas.openxmlformats.org/officeDocument/2006/relationships/hyperlink" Target="https://www.invisionapp.com/inside-design/mood-board-examples/" TargetMode="External"/><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png"/><Relationship Id="rId4" Type="http://schemas.openxmlformats.org/officeDocument/2006/relationships/hyperlink" Target="https://blinkux.com/ideas/9-tips-for-better-moodboards" TargetMode="External"/><Relationship Id="rId9" Type="http://schemas.openxmlformats.org/officeDocument/2006/relationships/hyperlink" Target="https://www.linkedin.com/pulse/why-inspiration-matters-moodboard-uxui-mobile-app-paulina-chmielewska" TargetMode="External"/><Relationship Id="rId5" Type="http://schemas.openxmlformats.org/officeDocument/2006/relationships/hyperlink" Target="https://blinkux.com/ideas/9-tips-for-better-moodboards" TargetMode="External"/><Relationship Id="rId6" Type="http://schemas.openxmlformats.org/officeDocument/2006/relationships/hyperlink" Target="https://uxdesign.cc/a-mood-board-strategy-for-cohesive-visual-design-5620dec3fed7#:~:text=In%20UX%20Design%20and%20product,user%20needs%20and%20problem%2Dsolving." TargetMode="External"/><Relationship Id="rId7" Type="http://schemas.openxmlformats.org/officeDocument/2006/relationships/hyperlink" Target="https://uxdesign.cc/a-mood-board-strategy-for-cohesive-visual-design-5620dec3fed7#:~:text=In%20UX%20Design%20and%20product,user%20needs%20and%20problem%2Dsolving." TargetMode="External"/><Relationship Id="rId8" Type="http://schemas.openxmlformats.org/officeDocument/2006/relationships/hyperlink" Target="https://uxplanet.org/how-to-use-references-in-ui-design-18c1304993b6"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97" name="Shape 97"/>
        <p:cNvGrpSpPr/>
        <p:nvPr/>
      </p:nvGrpSpPr>
      <p:grpSpPr>
        <a:xfrm>
          <a:off x="0" y="0"/>
          <a:ext cx="0" cy="0"/>
          <a:chOff x="0" y="0"/>
          <a:chExt cx="0" cy="0"/>
        </a:xfrm>
      </p:grpSpPr>
      <p:sp>
        <p:nvSpPr>
          <p:cNvPr id="98" name="Google Shape;98;p20"/>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Menggunakan Referensi</a:t>
            </a:r>
            <a:endParaRPr b="1" sz="2400">
              <a:solidFill>
                <a:srgbClr val="FFFFFF"/>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a:solidFill>
                  <a:schemeClr val="lt1"/>
                </a:solidFill>
                <a:latin typeface="Raleway"/>
                <a:ea typeface="Raleway"/>
                <a:cs typeface="Raleway"/>
                <a:sym typeface="Raleway"/>
              </a:rPr>
              <a:t>Chapter 6 - Topic 2</a:t>
            </a:r>
            <a:endParaRPr b="1">
              <a:solidFill>
                <a:srgbClr val="FFFFFF"/>
              </a:solidFill>
              <a:latin typeface="Raleway"/>
              <a:ea typeface="Raleway"/>
              <a:cs typeface="Raleway"/>
              <a:sym typeface="Raleway"/>
            </a:endParaRPr>
          </a:p>
        </p:txBody>
      </p:sp>
      <p:cxnSp>
        <p:nvCxnSpPr>
          <p:cNvPr id="99" name="Google Shape;99;p20"/>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00" name="Google Shape;100;p20"/>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01" name="Google Shape;101;p20"/>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7" name="Google Shape;107;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Agenda</a:t>
            </a:r>
            <a:endParaRPr/>
          </a:p>
        </p:txBody>
      </p:sp>
      <p:pic>
        <p:nvPicPr>
          <p:cNvPr id="108" name="Google Shape;108;p21"/>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09" name="Google Shape;109;p21"/>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Menggunakan referensi </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dk1"/>
                </a:solidFill>
                <a:latin typeface="Raleway Medium"/>
                <a:ea typeface="Raleway Medium"/>
                <a:cs typeface="Raleway Medium"/>
                <a:sym typeface="Raleway Medium"/>
              </a:rPr>
              <a:t>Mengingat moodboards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t>
            </a:r>
            <a:r>
              <a:rPr lang="en" sz="1200">
                <a:solidFill>
                  <a:schemeClr val="dk1"/>
                </a:solidFill>
                <a:latin typeface="Raleway Medium"/>
                <a:ea typeface="Raleway Medium"/>
                <a:cs typeface="Raleway Medium"/>
                <a:sym typeface="Raleway Medium"/>
              </a:rPr>
              <a:t>Membuat moodboard yang baik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Menemukan</a:t>
            </a:r>
            <a:r>
              <a:rPr lang="en" sz="1200">
                <a:solidFill>
                  <a:schemeClr val="dk1"/>
                </a:solidFill>
                <a:latin typeface="Raleway Medium"/>
                <a:ea typeface="Raleway Medium"/>
                <a:cs typeface="Raleway Medium"/>
                <a:sym typeface="Raleway Medium"/>
              </a:rPr>
              <a:t> referensi</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a:t>
            </a:r>
            <a:r>
              <a:rPr lang="en" sz="1200">
                <a:solidFill>
                  <a:schemeClr val="dk1"/>
                </a:solidFill>
                <a:latin typeface="Raleway Medium"/>
                <a:ea typeface="Raleway Medium"/>
                <a:cs typeface="Raleway Medium"/>
                <a:sym typeface="Raleway Medium"/>
              </a:rPr>
              <a:t>Menggunakan referensi pada desain UI</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Mengingat moodboards</a:t>
            </a:r>
            <a:endParaRPr/>
          </a:p>
        </p:txBody>
      </p:sp>
      <p:sp>
        <p:nvSpPr>
          <p:cNvPr id="115" name="Google Shape;115;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1" name="Google Shape;121;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Mengingat moodboards</a:t>
            </a:r>
            <a:endParaRPr/>
          </a:p>
        </p:txBody>
      </p:sp>
      <p:sp>
        <p:nvSpPr>
          <p:cNvPr id="122" name="Google Shape;122;p23"/>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Moodboards</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Moodboard adalah representasi visual dari sebuah konsep desain dalam bentuk kumpulan inspirasi. Pada dasarnya, moodboards adalah papan suasana hati yang ditempatkan bersama oleh sang desainer.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Tujuan dari moodboards adalah untuk mengatur inspirasi Anda pada tahap pembuatan konsep.</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Moodboard bisa dalam bentuk digital dan/atau fisik. Dalam kasus digital, kita membuat kolase dari inspirasi yang kita temukan menggunakan perangkat lunak. Dalam kasus fisik atau "analog" kita dapat menggunakan kertas, papan gabus atau dinding.</a:t>
            </a:r>
            <a:endParaRPr sz="1200">
              <a:solidFill>
                <a:schemeClr val="dk1"/>
              </a:solidFill>
              <a:latin typeface="Raleway Medium"/>
              <a:ea typeface="Raleway Medium"/>
              <a:cs typeface="Raleway Medium"/>
              <a:sym typeface="Raleway Medium"/>
            </a:endParaRPr>
          </a:p>
        </p:txBody>
      </p:sp>
      <p:pic>
        <p:nvPicPr>
          <p:cNvPr id="123" name="Google Shape;123;p23">
            <a:hlinkClick r:id="rId3"/>
          </p:cNvPr>
          <p:cNvPicPr preferRelativeResize="0"/>
          <p:nvPr/>
        </p:nvPicPr>
        <p:blipFill rotWithShape="1">
          <a:blip r:embed="rId4">
            <a:alphaModFix/>
          </a:blip>
          <a:srcRect b="0" l="12485" r="12478" t="0"/>
          <a:stretch/>
        </p:blipFill>
        <p:spPr>
          <a:xfrm>
            <a:off x="5486400" y="1280150"/>
            <a:ext cx="3017523" cy="274319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9" name="Google Shape;129;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Mengingat moodboards</a:t>
            </a:r>
            <a:endParaRPr/>
          </a:p>
        </p:txBody>
      </p:sp>
      <p:sp>
        <p:nvSpPr>
          <p:cNvPr id="130" name="Google Shape;130;p24"/>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Menyusun moodboards</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Ingatlah bahwa moodboard tidak harus berupa PDF atau spreadsheet yang membosankan di Photoshop atau alat lain yang Anda gunakan.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tidak perlu membatasi diri pada beberapa foto yang ditemukan di Internet. pastikan Anda memasukkan segala macam hal yang menginspirasi Anda. Musik? Video? Fotografi? Warna? Gambarkan segala sesuatu yang menyalakan percikan kreatif dalam diri Anda.</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Tugas Moodboard adalah menginspirasi dan membantu dalam proses kreatif, bukan menjadi keharusan.</a:t>
            </a:r>
            <a:endParaRPr sz="1200">
              <a:solidFill>
                <a:schemeClr val="dk1"/>
              </a:solidFill>
              <a:latin typeface="Raleway Medium"/>
              <a:ea typeface="Raleway Medium"/>
              <a:cs typeface="Raleway Medium"/>
              <a:sym typeface="Raleway Medium"/>
            </a:endParaRPr>
          </a:p>
        </p:txBody>
      </p:sp>
      <p:pic>
        <p:nvPicPr>
          <p:cNvPr id="131" name="Google Shape;131;p24">
            <a:hlinkClick r:id="rId3"/>
          </p:cNvPr>
          <p:cNvPicPr preferRelativeResize="0"/>
          <p:nvPr/>
        </p:nvPicPr>
        <p:blipFill rotWithShape="1">
          <a:blip r:embed="rId4">
            <a:alphaModFix/>
          </a:blip>
          <a:srcRect b="6079" l="0" r="0" t="6070"/>
          <a:stretch/>
        </p:blipFill>
        <p:spPr>
          <a:xfrm>
            <a:off x="5486400" y="1280150"/>
            <a:ext cx="3017524" cy="27431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7" name="Google Shape;137;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Mengingat moodboards</a:t>
            </a:r>
            <a:endParaRPr/>
          </a:p>
        </p:txBody>
      </p:sp>
      <p:sp>
        <p:nvSpPr>
          <p:cNvPr id="138" name="Google Shape;138;p25"/>
          <p:cNvSpPr txBox="1"/>
          <p:nvPr/>
        </p:nvSpPr>
        <p:spPr>
          <a:xfrm>
            <a:off x="685800" y="1185675"/>
            <a:ext cx="76962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en" sz="1800">
                <a:solidFill>
                  <a:srgbClr val="743673"/>
                </a:solidFill>
                <a:highlight>
                  <a:schemeClr val="lt1"/>
                </a:highlight>
                <a:latin typeface="Raleway"/>
                <a:ea typeface="Raleway"/>
                <a:cs typeface="Raleway"/>
                <a:sym typeface="Raleway"/>
              </a:rPr>
              <a:t>Contoh </a:t>
            </a:r>
            <a:endParaRPr b="1" sz="1800">
              <a:solidFill>
                <a:srgbClr val="743673"/>
              </a:solidFill>
              <a:highlight>
                <a:schemeClr val="lt1"/>
              </a:highlight>
              <a:latin typeface="Raleway"/>
              <a:ea typeface="Raleway"/>
              <a:cs typeface="Raleway"/>
              <a:sym typeface="Raleway"/>
            </a:endParaRPr>
          </a:p>
          <a:p>
            <a:pPr indent="0" lvl="0" marL="0" rtl="0" algn="l">
              <a:lnSpc>
                <a:spcPct val="100000"/>
              </a:lnSpc>
              <a:spcBef>
                <a:spcPts val="0"/>
              </a:spcBef>
              <a:spcAft>
                <a:spcPts val="0"/>
              </a:spcAft>
              <a:buNone/>
            </a:pPr>
            <a:r>
              <a:rPr b="1" lang="en" sz="1800">
                <a:solidFill>
                  <a:srgbClr val="743673"/>
                </a:solidFill>
                <a:highlight>
                  <a:schemeClr val="lt1"/>
                </a:highlight>
                <a:latin typeface="Raleway"/>
                <a:ea typeface="Raleway"/>
                <a:cs typeface="Raleway"/>
                <a:sym typeface="Raleway"/>
              </a:rPr>
              <a:t>moodboard </a:t>
            </a:r>
            <a:endParaRPr b="1" sz="1800">
              <a:solidFill>
                <a:srgbClr val="743673"/>
              </a:solidFill>
              <a:highlight>
                <a:schemeClr val="lt1"/>
              </a:highlight>
              <a:latin typeface="Raleway"/>
              <a:ea typeface="Raleway"/>
              <a:cs typeface="Raleway"/>
              <a:sym typeface="Raleway"/>
            </a:endParaRPr>
          </a:p>
          <a:p>
            <a:pPr indent="0" lvl="0" marL="0" rtl="0" algn="l">
              <a:lnSpc>
                <a:spcPct val="100000"/>
              </a:lnSpc>
              <a:spcBef>
                <a:spcPts val="0"/>
              </a:spcBef>
              <a:spcAft>
                <a:spcPts val="0"/>
              </a:spcAft>
              <a:buNone/>
            </a:pPr>
            <a:r>
              <a:rPr b="1" lang="en" sz="1800">
                <a:solidFill>
                  <a:srgbClr val="743673"/>
                </a:solidFill>
                <a:highlight>
                  <a:schemeClr val="lt1"/>
                </a:highlight>
                <a:latin typeface="Raleway"/>
                <a:ea typeface="Raleway"/>
                <a:cs typeface="Raleway"/>
                <a:sym typeface="Raleway"/>
              </a:rPr>
              <a:t>#1</a:t>
            </a:r>
            <a:endParaRPr sz="1200">
              <a:solidFill>
                <a:schemeClr val="dk1"/>
              </a:solidFill>
              <a:latin typeface="Raleway Medium"/>
              <a:ea typeface="Raleway Medium"/>
              <a:cs typeface="Raleway Medium"/>
              <a:sym typeface="Raleway Medium"/>
            </a:endParaRPr>
          </a:p>
        </p:txBody>
      </p:sp>
      <p:pic>
        <p:nvPicPr>
          <p:cNvPr id="139" name="Google Shape;139;p25">
            <a:hlinkClick r:id="rId3"/>
          </p:cNvPr>
          <p:cNvPicPr preferRelativeResize="0"/>
          <p:nvPr/>
        </p:nvPicPr>
        <p:blipFill rotWithShape="1">
          <a:blip r:embed="rId4">
            <a:alphaModFix/>
          </a:blip>
          <a:srcRect b="32578" l="0" r="0" t="0"/>
          <a:stretch/>
        </p:blipFill>
        <p:spPr>
          <a:xfrm>
            <a:off x="2445150" y="624275"/>
            <a:ext cx="6698850" cy="45192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5" name="Google Shape;145;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Mengingat moodboards</a:t>
            </a:r>
            <a:endParaRPr/>
          </a:p>
        </p:txBody>
      </p:sp>
      <p:sp>
        <p:nvSpPr>
          <p:cNvPr id="146" name="Google Shape;146;p26"/>
          <p:cNvSpPr txBox="1"/>
          <p:nvPr/>
        </p:nvSpPr>
        <p:spPr>
          <a:xfrm>
            <a:off x="685800" y="1185675"/>
            <a:ext cx="76962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en" sz="1800">
                <a:solidFill>
                  <a:srgbClr val="743673"/>
                </a:solidFill>
                <a:highlight>
                  <a:schemeClr val="lt1"/>
                </a:highlight>
                <a:latin typeface="Raleway"/>
                <a:ea typeface="Raleway"/>
                <a:cs typeface="Raleway"/>
                <a:sym typeface="Raleway"/>
              </a:rPr>
              <a:t>Contoh </a:t>
            </a:r>
            <a:endParaRPr b="1" sz="1800">
              <a:solidFill>
                <a:srgbClr val="743673"/>
              </a:solidFill>
              <a:highlight>
                <a:schemeClr val="lt1"/>
              </a:highlight>
              <a:latin typeface="Raleway"/>
              <a:ea typeface="Raleway"/>
              <a:cs typeface="Raleway"/>
              <a:sym typeface="Raleway"/>
            </a:endParaRPr>
          </a:p>
          <a:p>
            <a:pPr indent="0" lvl="0" marL="0" rtl="0" algn="l">
              <a:lnSpc>
                <a:spcPct val="100000"/>
              </a:lnSpc>
              <a:spcBef>
                <a:spcPts val="0"/>
              </a:spcBef>
              <a:spcAft>
                <a:spcPts val="0"/>
              </a:spcAft>
              <a:buNone/>
            </a:pPr>
            <a:r>
              <a:rPr b="1" lang="en" sz="1800">
                <a:solidFill>
                  <a:srgbClr val="743673"/>
                </a:solidFill>
                <a:highlight>
                  <a:schemeClr val="lt1"/>
                </a:highlight>
                <a:latin typeface="Raleway"/>
                <a:ea typeface="Raleway"/>
                <a:cs typeface="Raleway"/>
                <a:sym typeface="Raleway"/>
              </a:rPr>
              <a:t>moodboard </a:t>
            </a:r>
            <a:endParaRPr b="1" sz="1800">
              <a:solidFill>
                <a:srgbClr val="743673"/>
              </a:solidFill>
              <a:highlight>
                <a:schemeClr val="lt1"/>
              </a:highlight>
              <a:latin typeface="Raleway"/>
              <a:ea typeface="Raleway"/>
              <a:cs typeface="Raleway"/>
              <a:sym typeface="Raleway"/>
            </a:endParaRPr>
          </a:p>
          <a:p>
            <a:pPr indent="0" lvl="0" marL="0" rtl="0" algn="l">
              <a:lnSpc>
                <a:spcPct val="100000"/>
              </a:lnSpc>
              <a:spcBef>
                <a:spcPts val="0"/>
              </a:spcBef>
              <a:spcAft>
                <a:spcPts val="0"/>
              </a:spcAft>
              <a:buNone/>
            </a:pPr>
            <a:r>
              <a:rPr b="1" lang="en" sz="1800">
                <a:solidFill>
                  <a:srgbClr val="743673"/>
                </a:solidFill>
                <a:highlight>
                  <a:schemeClr val="lt1"/>
                </a:highlight>
                <a:latin typeface="Raleway"/>
                <a:ea typeface="Raleway"/>
                <a:cs typeface="Raleway"/>
                <a:sym typeface="Raleway"/>
              </a:rPr>
              <a:t>#2</a:t>
            </a:r>
            <a:endParaRPr sz="1200">
              <a:solidFill>
                <a:schemeClr val="dk1"/>
              </a:solidFill>
              <a:latin typeface="Raleway Medium"/>
              <a:ea typeface="Raleway Medium"/>
              <a:cs typeface="Raleway Medium"/>
              <a:sym typeface="Raleway Medium"/>
            </a:endParaRPr>
          </a:p>
        </p:txBody>
      </p:sp>
      <p:pic>
        <p:nvPicPr>
          <p:cNvPr id="147" name="Google Shape;147;p26">
            <a:hlinkClick r:id="rId3"/>
          </p:cNvPr>
          <p:cNvPicPr preferRelativeResize="0"/>
          <p:nvPr/>
        </p:nvPicPr>
        <p:blipFill rotWithShape="1">
          <a:blip r:embed="rId4">
            <a:alphaModFix/>
          </a:blip>
          <a:srcRect b="1672" l="0" r="0" t="1672"/>
          <a:stretch/>
        </p:blipFill>
        <p:spPr>
          <a:xfrm>
            <a:off x="2445150" y="624275"/>
            <a:ext cx="6698850" cy="451922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3" name="Google Shape;153;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Mengingat moodboards</a:t>
            </a:r>
            <a:endParaRPr/>
          </a:p>
        </p:txBody>
      </p:sp>
      <p:sp>
        <p:nvSpPr>
          <p:cNvPr id="154" name="Google Shape;154;p27"/>
          <p:cNvSpPr txBox="1"/>
          <p:nvPr/>
        </p:nvSpPr>
        <p:spPr>
          <a:xfrm>
            <a:off x="685800" y="1185675"/>
            <a:ext cx="76962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en" sz="1800">
                <a:solidFill>
                  <a:srgbClr val="743673"/>
                </a:solidFill>
                <a:highlight>
                  <a:schemeClr val="lt1"/>
                </a:highlight>
                <a:latin typeface="Raleway"/>
                <a:ea typeface="Raleway"/>
                <a:cs typeface="Raleway"/>
                <a:sym typeface="Raleway"/>
              </a:rPr>
              <a:t>Contoh </a:t>
            </a:r>
            <a:endParaRPr b="1" sz="1800">
              <a:solidFill>
                <a:srgbClr val="743673"/>
              </a:solidFill>
              <a:highlight>
                <a:schemeClr val="lt1"/>
              </a:highlight>
              <a:latin typeface="Raleway"/>
              <a:ea typeface="Raleway"/>
              <a:cs typeface="Raleway"/>
              <a:sym typeface="Raleway"/>
            </a:endParaRPr>
          </a:p>
          <a:p>
            <a:pPr indent="0" lvl="0" marL="0" rtl="0" algn="l">
              <a:lnSpc>
                <a:spcPct val="100000"/>
              </a:lnSpc>
              <a:spcBef>
                <a:spcPts val="0"/>
              </a:spcBef>
              <a:spcAft>
                <a:spcPts val="0"/>
              </a:spcAft>
              <a:buNone/>
            </a:pPr>
            <a:r>
              <a:rPr b="1" lang="en" sz="1800">
                <a:solidFill>
                  <a:srgbClr val="743673"/>
                </a:solidFill>
                <a:highlight>
                  <a:schemeClr val="lt1"/>
                </a:highlight>
                <a:latin typeface="Raleway"/>
                <a:ea typeface="Raleway"/>
                <a:cs typeface="Raleway"/>
                <a:sym typeface="Raleway"/>
              </a:rPr>
              <a:t>moodboard </a:t>
            </a:r>
            <a:endParaRPr b="1" sz="1800">
              <a:solidFill>
                <a:srgbClr val="743673"/>
              </a:solidFill>
              <a:highlight>
                <a:schemeClr val="lt1"/>
              </a:highlight>
              <a:latin typeface="Raleway"/>
              <a:ea typeface="Raleway"/>
              <a:cs typeface="Raleway"/>
              <a:sym typeface="Raleway"/>
            </a:endParaRPr>
          </a:p>
          <a:p>
            <a:pPr indent="0" lvl="0" marL="0" rtl="0" algn="l">
              <a:lnSpc>
                <a:spcPct val="100000"/>
              </a:lnSpc>
              <a:spcBef>
                <a:spcPts val="0"/>
              </a:spcBef>
              <a:spcAft>
                <a:spcPts val="0"/>
              </a:spcAft>
              <a:buNone/>
            </a:pPr>
            <a:r>
              <a:rPr b="1" lang="en" sz="1800">
                <a:solidFill>
                  <a:srgbClr val="743673"/>
                </a:solidFill>
                <a:highlight>
                  <a:schemeClr val="lt1"/>
                </a:highlight>
                <a:latin typeface="Raleway"/>
                <a:ea typeface="Raleway"/>
                <a:cs typeface="Raleway"/>
                <a:sym typeface="Raleway"/>
              </a:rPr>
              <a:t>#3</a:t>
            </a:r>
            <a:endParaRPr sz="1200">
              <a:solidFill>
                <a:schemeClr val="dk1"/>
              </a:solidFill>
              <a:latin typeface="Raleway Medium"/>
              <a:ea typeface="Raleway Medium"/>
              <a:cs typeface="Raleway Medium"/>
              <a:sym typeface="Raleway Medium"/>
            </a:endParaRPr>
          </a:p>
        </p:txBody>
      </p:sp>
      <p:pic>
        <p:nvPicPr>
          <p:cNvPr id="155" name="Google Shape;155;p27">
            <a:hlinkClick r:id="rId3"/>
          </p:cNvPr>
          <p:cNvPicPr preferRelativeResize="0"/>
          <p:nvPr/>
        </p:nvPicPr>
        <p:blipFill rotWithShape="1">
          <a:blip r:embed="rId4">
            <a:alphaModFix/>
          </a:blip>
          <a:srcRect b="942" l="0" r="0" t="932"/>
          <a:stretch/>
        </p:blipFill>
        <p:spPr>
          <a:xfrm>
            <a:off x="2445150" y="624275"/>
            <a:ext cx="6698850" cy="45192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1" name="Google Shape;161;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Mengingat moodboards</a:t>
            </a:r>
            <a:endParaRPr/>
          </a:p>
        </p:txBody>
      </p:sp>
      <p:sp>
        <p:nvSpPr>
          <p:cNvPr id="162" name="Google Shape;162;p28"/>
          <p:cNvSpPr txBox="1"/>
          <p:nvPr/>
        </p:nvSpPr>
        <p:spPr>
          <a:xfrm>
            <a:off x="685800" y="1185675"/>
            <a:ext cx="76962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en" sz="1800">
                <a:solidFill>
                  <a:srgbClr val="743673"/>
                </a:solidFill>
                <a:highlight>
                  <a:schemeClr val="lt1"/>
                </a:highlight>
                <a:latin typeface="Raleway"/>
                <a:ea typeface="Raleway"/>
                <a:cs typeface="Raleway"/>
                <a:sym typeface="Raleway"/>
              </a:rPr>
              <a:t>Contoh </a:t>
            </a:r>
            <a:endParaRPr b="1" sz="1800">
              <a:solidFill>
                <a:srgbClr val="743673"/>
              </a:solidFill>
              <a:highlight>
                <a:schemeClr val="lt1"/>
              </a:highlight>
              <a:latin typeface="Raleway"/>
              <a:ea typeface="Raleway"/>
              <a:cs typeface="Raleway"/>
              <a:sym typeface="Raleway"/>
            </a:endParaRPr>
          </a:p>
          <a:p>
            <a:pPr indent="0" lvl="0" marL="0" rtl="0" algn="l">
              <a:lnSpc>
                <a:spcPct val="100000"/>
              </a:lnSpc>
              <a:spcBef>
                <a:spcPts val="0"/>
              </a:spcBef>
              <a:spcAft>
                <a:spcPts val="0"/>
              </a:spcAft>
              <a:buNone/>
            </a:pPr>
            <a:r>
              <a:rPr b="1" lang="en" sz="1800">
                <a:solidFill>
                  <a:srgbClr val="743673"/>
                </a:solidFill>
                <a:highlight>
                  <a:schemeClr val="lt1"/>
                </a:highlight>
                <a:latin typeface="Raleway"/>
                <a:ea typeface="Raleway"/>
                <a:cs typeface="Raleway"/>
                <a:sym typeface="Raleway"/>
              </a:rPr>
              <a:t>moodboard </a:t>
            </a:r>
            <a:endParaRPr b="1" sz="1800">
              <a:solidFill>
                <a:srgbClr val="743673"/>
              </a:solidFill>
              <a:highlight>
                <a:schemeClr val="lt1"/>
              </a:highlight>
              <a:latin typeface="Raleway"/>
              <a:ea typeface="Raleway"/>
              <a:cs typeface="Raleway"/>
              <a:sym typeface="Raleway"/>
            </a:endParaRPr>
          </a:p>
          <a:p>
            <a:pPr indent="0" lvl="0" marL="0" rtl="0" algn="l">
              <a:lnSpc>
                <a:spcPct val="100000"/>
              </a:lnSpc>
              <a:spcBef>
                <a:spcPts val="0"/>
              </a:spcBef>
              <a:spcAft>
                <a:spcPts val="0"/>
              </a:spcAft>
              <a:buNone/>
            </a:pPr>
            <a:r>
              <a:rPr b="1" lang="en" sz="1800">
                <a:solidFill>
                  <a:srgbClr val="743673"/>
                </a:solidFill>
                <a:highlight>
                  <a:schemeClr val="lt1"/>
                </a:highlight>
                <a:latin typeface="Raleway"/>
                <a:ea typeface="Raleway"/>
                <a:cs typeface="Raleway"/>
                <a:sym typeface="Raleway"/>
              </a:rPr>
              <a:t>#4</a:t>
            </a:r>
            <a:endParaRPr sz="1200">
              <a:solidFill>
                <a:schemeClr val="dk1"/>
              </a:solidFill>
              <a:latin typeface="Raleway Medium"/>
              <a:ea typeface="Raleway Medium"/>
              <a:cs typeface="Raleway Medium"/>
              <a:sym typeface="Raleway Medium"/>
            </a:endParaRPr>
          </a:p>
        </p:txBody>
      </p:sp>
      <p:pic>
        <p:nvPicPr>
          <p:cNvPr id="163" name="Google Shape;163;p28">
            <a:hlinkClick r:id="rId3"/>
          </p:cNvPr>
          <p:cNvPicPr preferRelativeResize="0"/>
          <p:nvPr/>
        </p:nvPicPr>
        <p:blipFill rotWithShape="1">
          <a:blip r:embed="rId4">
            <a:alphaModFix/>
          </a:blip>
          <a:srcRect b="0" l="8313" r="8304" t="0"/>
          <a:stretch/>
        </p:blipFill>
        <p:spPr>
          <a:xfrm>
            <a:off x="2445150" y="624275"/>
            <a:ext cx="6698849" cy="4519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9" name="Google Shape;169;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Mengingat moodboards</a:t>
            </a:r>
            <a:endParaRPr/>
          </a:p>
        </p:txBody>
      </p:sp>
      <p:sp>
        <p:nvSpPr>
          <p:cNvPr id="170" name="Google Shape;170;p29"/>
          <p:cNvSpPr txBox="1"/>
          <p:nvPr/>
        </p:nvSpPr>
        <p:spPr>
          <a:xfrm>
            <a:off x="685800" y="1185675"/>
            <a:ext cx="76962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en" sz="1800">
                <a:solidFill>
                  <a:srgbClr val="743673"/>
                </a:solidFill>
                <a:highlight>
                  <a:schemeClr val="lt1"/>
                </a:highlight>
                <a:latin typeface="Raleway"/>
                <a:ea typeface="Raleway"/>
                <a:cs typeface="Raleway"/>
                <a:sym typeface="Raleway"/>
              </a:rPr>
              <a:t>Contoh </a:t>
            </a:r>
            <a:endParaRPr b="1" sz="1800">
              <a:solidFill>
                <a:srgbClr val="743673"/>
              </a:solidFill>
              <a:highlight>
                <a:schemeClr val="lt1"/>
              </a:highlight>
              <a:latin typeface="Raleway"/>
              <a:ea typeface="Raleway"/>
              <a:cs typeface="Raleway"/>
              <a:sym typeface="Raleway"/>
            </a:endParaRPr>
          </a:p>
          <a:p>
            <a:pPr indent="0" lvl="0" marL="0" rtl="0" algn="l">
              <a:lnSpc>
                <a:spcPct val="100000"/>
              </a:lnSpc>
              <a:spcBef>
                <a:spcPts val="0"/>
              </a:spcBef>
              <a:spcAft>
                <a:spcPts val="0"/>
              </a:spcAft>
              <a:buNone/>
            </a:pPr>
            <a:r>
              <a:rPr b="1" lang="en" sz="1800">
                <a:solidFill>
                  <a:srgbClr val="743673"/>
                </a:solidFill>
                <a:highlight>
                  <a:schemeClr val="lt1"/>
                </a:highlight>
                <a:latin typeface="Raleway"/>
                <a:ea typeface="Raleway"/>
                <a:cs typeface="Raleway"/>
                <a:sym typeface="Raleway"/>
              </a:rPr>
              <a:t>moodboard </a:t>
            </a:r>
            <a:endParaRPr b="1" sz="1800">
              <a:solidFill>
                <a:srgbClr val="743673"/>
              </a:solidFill>
              <a:highlight>
                <a:schemeClr val="lt1"/>
              </a:highlight>
              <a:latin typeface="Raleway"/>
              <a:ea typeface="Raleway"/>
              <a:cs typeface="Raleway"/>
              <a:sym typeface="Raleway"/>
            </a:endParaRPr>
          </a:p>
          <a:p>
            <a:pPr indent="0" lvl="0" marL="0" rtl="0" algn="l">
              <a:lnSpc>
                <a:spcPct val="100000"/>
              </a:lnSpc>
              <a:spcBef>
                <a:spcPts val="0"/>
              </a:spcBef>
              <a:spcAft>
                <a:spcPts val="0"/>
              </a:spcAft>
              <a:buNone/>
            </a:pPr>
            <a:r>
              <a:rPr b="1" lang="en" sz="1800">
                <a:solidFill>
                  <a:srgbClr val="743673"/>
                </a:solidFill>
                <a:highlight>
                  <a:schemeClr val="lt1"/>
                </a:highlight>
                <a:latin typeface="Raleway"/>
                <a:ea typeface="Raleway"/>
                <a:cs typeface="Raleway"/>
                <a:sym typeface="Raleway"/>
              </a:rPr>
              <a:t>#5</a:t>
            </a:r>
            <a:endParaRPr sz="1200">
              <a:solidFill>
                <a:schemeClr val="dk1"/>
              </a:solidFill>
              <a:latin typeface="Raleway Medium"/>
              <a:ea typeface="Raleway Medium"/>
              <a:cs typeface="Raleway Medium"/>
              <a:sym typeface="Raleway Medium"/>
            </a:endParaRPr>
          </a:p>
        </p:txBody>
      </p:sp>
      <p:pic>
        <p:nvPicPr>
          <p:cNvPr id="171" name="Google Shape;171;p29">
            <a:hlinkClick r:id="rId3"/>
          </p:cNvPr>
          <p:cNvPicPr preferRelativeResize="0"/>
          <p:nvPr/>
        </p:nvPicPr>
        <p:blipFill rotWithShape="1">
          <a:blip r:embed="rId4">
            <a:alphaModFix/>
          </a:blip>
          <a:srcRect b="0" l="592" r="583" t="0"/>
          <a:stretch/>
        </p:blipFill>
        <p:spPr>
          <a:xfrm>
            <a:off x="2445150" y="624275"/>
            <a:ext cx="6698850" cy="451922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0"/>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Membuat moodboard yang baik</a:t>
            </a:r>
            <a:endParaRPr/>
          </a:p>
        </p:txBody>
      </p:sp>
      <p:sp>
        <p:nvSpPr>
          <p:cNvPr id="177" name="Google Shape;177;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3" name="Google Shape;183;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Membuat moodboard yang baik</a:t>
            </a:r>
            <a:endParaRPr/>
          </a:p>
        </p:txBody>
      </p:sp>
      <p:sp>
        <p:nvSpPr>
          <p:cNvPr id="184" name="Google Shape;184;p31"/>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Mengapa moodboard penting?</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Mengatur suasana hati dan arah desain adalah langkah yang sangat penting untuk setiap proyek desain. Pengaturan tersebut  membantu desainer dan pemangku kepentingan untuk memiliki pemahaman yang sama atas aspek visual proyek.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Dalam desain UX, moodboard adalah kolase gambar, font, interaksi, fitur, ikon, dan elemen UI untuk mengkomunikasikan arah artistik suatu proyek. Moodboard untuk desain UX perlu difokuskan untuk memenuhi kebutuhan pengguna dan pemecahan masalah. </a:t>
            </a:r>
            <a:r>
              <a:rPr b="1" lang="en" sz="1200">
                <a:solidFill>
                  <a:schemeClr val="dk1"/>
                </a:solidFill>
                <a:latin typeface="Raleway"/>
                <a:ea typeface="Raleway"/>
                <a:cs typeface="Raleway"/>
                <a:sym typeface="Raleway"/>
              </a:rPr>
              <a:t>Berikut adalah beberapa hal yang Anda perlu lakukan saat memulai pembuatan moodboards.</a:t>
            </a:r>
            <a:endParaRPr b="1" sz="1200">
              <a:solidFill>
                <a:schemeClr val="dk1"/>
              </a:solidFill>
              <a:latin typeface="Raleway"/>
              <a:ea typeface="Raleway"/>
              <a:cs typeface="Raleway"/>
              <a:sym typeface="Raleway"/>
            </a:endParaRPr>
          </a:p>
        </p:txBody>
      </p:sp>
      <p:pic>
        <p:nvPicPr>
          <p:cNvPr id="185" name="Google Shape;185;p31">
            <a:hlinkClick r:id="rId3"/>
          </p:cNvPr>
          <p:cNvPicPr preferRelativeResize="0"/>
          <p:nvPr/>
        </p:nvPicPr>
        <p:blipFill rotWithShape="1">
          <a:blip r:embed="rId4">
            <a:alphaModFix/>
          </a:blip>
          <a:srcRect b="6079" l="0" r="0" t="6070"/>
          <a:stretch/>
        </p:blipFill>
        <p:spPr>
          <a:xfrm>
            <a:off x="5486400" y="1280150"/>
            <a:ext cx="3017524" cy="27431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1" name="Google Shape;191;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Membuat moodboard yang baik</a:t>
            </a:r>
            <a:endParaRPr/>
          </a:p>
        </p:txBody>
      </p:sp>
      <p:sp>
        <p:nvSpPr>
          <p:cNvPr id="192" name="Google Shape;192;p32"/>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 Research, research, research…</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Sebelum memulai mengumpulkan ide pada moodboard Anda, pastikan Anda memiliki cukup wawasan tentang pengguna target Anda, yang terbaik adalah mendefinisikan persona terlebih dahulu.</a:t>
            </a:r>
            <a:endParaRPr sz="1200">
              <a:solidFill>
                <a:schemeClr val="dk1"/>
              </a:solidFill>
              <a:latin typeface="Raleway Medium"/>
              <a:ea typeface="Raleway Medium"/>
              <a:cs typeface="Raleway Medium"/>
              <a:sym typeface="Raleway Medium"/>
            </a:endParaRPr>
          </a:p>
        </p:txBody>
      </p:sp>
      <p:pic>
        <p:nvPicPr>
          <p:cNvPr id="193" name="Google Shape;193;p32"/>
          <p:cNvPicPr preferRelativeResize="0"/>
          <p:nvPr/>
        </p:nvPicPr>
        <p:blipFill rotWithShape="1">
          <a:blip r:embed="rId3">
            <a:alphaModFix/>
          </a:blip>
          <a:srcRect b="-21373" l="0" r="0" t="0"/>
          <a:stretch/>
        </p:blipFill>
        <p:spPr>
          <a:xfrm>
            <a:off x="5486400" y="1280150"/>
            <a:ext cx="3017524" cy="27431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9" name="Google Shape;199;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Membuat moodboard yang baik</a:t>
            </a:r>
            <a:endParaRPr/>
          </a:p>
        </p:txBody>
      </p:sp>
      <p:sp>
        <p:nvSpPr>
          <p:cNvPr id="200" name="Google Shape;200;p33"/>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a:t>
            </a:r>
            <a:r>
              <a:rPr b="1" lang="en" sz="1800">
                <a:solidFill>
                  <a:srgbClr val="743673"/>
                </a:solidFill>
                <a:highlight>
                  <a:schemeClr val="lt1"/>
                </a:highlight>
                <a:latin typeface="Raleway"/>
                <a:ea typeface="Raleway"/>
                <a:cs typeface="Raleway"/>
                <a:sym typeface="Raleway"/>
              </a:rPr>
              <a:t>) </a:t>
            </a:r>
            <a:r>
              <a:rPr b="1" lang="en" sz="1800">
                <a:solidFill>
                  <a:srgbClr val="743673"/>
                </a:solidFill>
                <a:highlight>
                  <a:schemeClr val="lt1"/>
                </a:highlight>
                <a:latin typeface="Raleway"/>
                <a:ea typeface="Raleway"/>
                <a:cs typeface="Raleway"/>
                <a:sym typeface="Raleway"/>
              </a:rPr>
              <a:t>Melakukan wawancara dengan pemangku kepentingan</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Mintalah panduan merek (brand guidelines), jika tidak ada jangan takut untuk meminta referensi desain visual.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Seperti apa seharusnya produk yang ingin dibuat? Apakah ada arah desain yang ingin ditiru? Ini adalah pertanyaan yang harus Anda tanyakan kepada pemangku kepentingan.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Perhatikan baik-baik dan cari kata kunci, sebagian besar klien menggunakan istilah seperti ‘clean’ yang cenderung berarti banyak ruang negatif dan tata letak terorganisir.</a:t>
            </a:r>
            <a:endParaRPr sz="1200">
              <a:solidFill>
                <a:schemeClr val="dk1"/>
              </a:solidFill>
              <a:latin typeface="Raleway Medium"/>
              <a:ea typeface="Raleway Medium"/>
              <a:cs typeface="Raleway Medium"/>
              <a:sym typeface="Raleway Medium"/>
            </a:endParaRPr>
          </a:p>
        </p:txBody>
      </p:sp>
      <p:pic>
        <p:nvPicPr>
          <p:cNvPr id="201" name="Google Shape;201;p33"/>
          <p:cNvPicPr preferRelativeResize="0"/>
          <p:nvPr/>
        </p:nvPicPr>
        <p:blipFill rotWithShape="1">
          <a:blip r:embed="rId3">
            <a:alphaModFix/>
          </a:blip>
          <a:srcRect b="19704" l="0" r="0" t="19704"/>
          <a:stretch/>
        </p:blipFill>
        <p:spPr>
          <a:xfrm>
            <a:off x="5486400" y="1280150"/>
            <a:ext cx="3017524" cy="27431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7" name="Google Shape;207;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Membuat moodboard yang baik</a:t>
            </a:r>
            <a:endParaRPr/>
          </a:p>
        </p:txBody>
      </p:sp>
      <p:sp>
        <p:nvSpPr>
          <p:cNvPr id="208" name="Google Shape;208;p34"/>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3</a:t>
            </a:r>
            <a:r>
              <a:rPr b="1" lang="en" sz="1800">
                <a:solidFill>
                  <a:srgbClr val="743673"/>
                </a:solidFill>
                <a:highlight>
                  <a:schemeClr val="lt1"/>
                </a:highlight>
                <a:latin typeface="Raleway"/>
                <a:ea typeface="Raleway"/>
                <a:cs typeface="Raleway"/>
                <a:sym typeface="Raleway"/>
              </a:rPr>
              <a:t>) </a:t>
            </a:r>
            <a:r>
              <a:rPr b="1" lang="en" sz="1800">
                <a:solidFill>
                  <a:srgbClr val="743673"/>
                </a:solidFill>
                <a:highlight>
                  <a:schemeClr val="lt1"/>
                </a:highlight>
                <a:latin typeface="Raleway"/>
                <a:ea typeface="Raleway"/>
                <a:cs typeface="Raleway"/>
                <a:sym typeface="Raleway"/>
              </a:rPr>
              <a:t>Kenali pasar dan pesaing Anda.</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Carilah standar pasar dalam psikologi warna, tipografi, dan desain keseluruhan. Lihat apa yang dilakukan pesaing, apa yang salah dengan desain mereka dan apa yang telah mereka lakukan dengan benar: lakukan audit kompetitif.</a:t>
            </a:r>
            <a:endParaRPr sz="1200">
              <a:solidFill>
                <a:schemeClr val="dk1"/>
              </a:solidFill>
              <a:latin typeface="Raleway Medium"/>
              <a:ea typeface="Raleway Medium"/>
              <a:cs typeface="Raleway Medium"/>
              <a:sym typeface="Raleway Medium"/>
            </a:endParaRPr>
          </a:p>
        </p:txBody>
      </p:sp>
      <p:pic>
        <p:nvPicPr>
          <p:cNvPr id="209" name="Google Shape;209;p34"/>
          <p:cNvPicPr preferRelativeResize="0"/>
          <p:nvPr/>
        </p:nvPicPr>
        <p:blipFill rotWithShape="1">
          <a:blip r:embed="rId3">
            <a:alphaModFix/>
          </a:blip>
          <a:srcRect b="19704" l="0" r="0" t="19704"/>
          <a:stretch/>
        </p:blipFill>
        <p:spPr>
          <a:xfrm>
            <a:off x="5486400" y="1280150"/>
            <a:ext cx="3017524" cy="27431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5" name="Google Shape;215;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Membuat moodboard yang baik</a:t>
            </a:r>
            <a:endParaRPr/>
          </a:p>
        </p:txBody>
      </p:sp>
      <p:sp>
        <p:nvSpPr>
          <p:cNvPr id="216" name="Google Shape;216;p35"/>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Setelah itu…</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Setelah Anda melakukan research, wawancara dan mengenali pasar serta pesaing Anda, siap - siaplah untuk menemukan referensi dan membuat moodboard Anda. </a:t>
            </a:r>
            <a:br>
              <a:rPr lang="en" sz="1200">
                <a:solidFill>
                  <a:schemeClr val="dk1"/>
                </a:solidFill>
                <a:latin typeface="Raleway Medium"/>
                <a:ea typeface="Raleway Medium"/>
                <a:cs typeface="Raleway Medium"/>
                <a:sym typeface="Raleway Medium"/>
              </a:rPr>
            </a:br>
            <a:br>
              <a:rPr b="1" lang="en" sz="1200">
                <a:solidFill>
                  <a:schemeClr val="dk1"/>
                </a:solidFill>
                <a:latin typeface="Raleway"/>
                <a:ea typeface="Raleway"/>
                <a:cs typeface="Raleway"/>
                <a:sym typeface="Raleway"/>
              </a:rPr>
            </a:br>
            <a:r>
              <a:rPr b="1" lang="en" sz="1200">
                <a:solidFill>
                  <a:schemeClr val="dk1"/>
                </a:solidFill>
                <a:latin typeface="Raleway"/>
                <a:ea typeface="Raleway"/>
                <a:cs typeface="Raleway"/>
                <a:sym typeface="Raleway"/>
              </a:rPr>
              <a:t>Berikut adalah beberapa langkah yang Anda perlu Anda ingat saat membuat sebuah moodboard.</a:t>
            </a:r>
            <a:endParaRPr b="1" sz="1200">
              <a:solidFill>
                <a:schemeClr val="dk1"/>
              </a:solidFill>
              <a:latin typeface="Raleway"/>
              <a:ea typeface="Raleway"/>
              <a:cs typeface="Raleway"/>
              <a:sym typeface="Raleway"/>
            </a:endParaRPr>
          </a:p>
        </p:txBody>
      </p:sp>
      <p:pic>
        <p:nvPicPr>
          <p:cNvPr id="217" name="Google Shape;217;p35">
            <a:hlinkClick r:id="rId3"/>
          </p:cNvPr>
          <p:cNvPicPr preferRelativeResize="0"/>
          <p:nvPr/>
        </p:nvPicPr>
        <p:blipFill rotWithShape="1">
          <a:blip r:embed="rId4">
            <a:alphaModFix/>
          </a:blip>
          <a:srcRect b="6079" l="0" r="0" t="6070"/>
          <a:stretch/>
        </p:blipFill>
        <p:spPr>
          <a:xfrm>
            <a:off x="5486400" y="1280150"/>
            <a:ext cx="3017524" cy="27431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3" name="Google Shape;223;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Membuat moodboard yang baik</a:t>
            </a:r>
            <a:endParaRPr/>
          </a:p>
        </p:txBody>
      </p:sp>
      <p:grpSp>
        <p:nvGrpSpPr>
          <p:cNvPr id="224" name="Google Shape;224;p36"/>
          <p:cNvGrpSpPr/>
          <p:nvPr/>
        </p:nvGrpSpPr>
        <p:grpSpPr>
          <a:xfrm>
            <a:off x="0" y="1113789"/>
            <a:ext cx="2214600" cy="3217636"/>
            <a:chOff x="0" y="1189989"/>
            <a:chExt cx="2214600" cy="3217636"/>
          </a:xfrm>
        </p:grpSpPr>
        <p:sp>
          <p:nvSpPr>
            <p:cNvPr id="225" name="Google Shape;225;p36"/>
            <p:cNvSpPr/>
            <p:nvPr/>
          </p:nvSpPr>
          <p:spPr>
            <a:xfrm>
              <a:off x="0" y="1189989"/>
              <a:ext cx="2214600" cy="6690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Step 1</a:t>
              </a:r>
              <a:endParaRPr>
                <a:solidFill>
                  <a:srgbClr val="FFFFFF"/>
                </a:solidFill>
                <a:latin typeface="Raleway Medium"/>
                <a:ea typeface="Raleway Medium"/>
                <a:cs typeface="Raleway Medium"/>
                <a:sym typeface="Raleway Medium"/>
              </a:endParaRPr>
            </a:p>
          </p:txBody>
        </p:sp>
        <p:sp>
          <p:nvSpPr>
            <p:cNvPr id="226" name="Google Shape;226;p36"/>
            <p:cNvSpPr txBox="1"/>
            <p:nvPr/>
          </p:nvSpPr>
          <p:spPr>
            <a:xfrm>
              <a:off x="243350" y="2057125"/>
              <a:ext cx="17697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latin typeface="Raleway"/>
                  <a:ea typeface="Raleway"/>
                  <a:cs typeface="Raleway"/>
                  <a:sym typeface="Raleway"/>
                </a:rPr>
                <a:t>Tentukan mood statements</a:t>
              </a:r>
              <a:r>
                <a:rPr lang="en" sz="1100">
                  <a:latin typeface="Raleway Medium"/>
                  <a:ea typeface="Raleway Medium"/>
                  <a:cs typeface="Raleway Medium"/>
                  <a:sym typeface="Raleway Medium"/>
                </a:rPr>
                <a:t> (pernyataan suasana hati) yang berpusat pada pengguna. </a:t>
              </a:r>
              <a:br>
                <a:rPr lang="en" sz="1100">
                  <a:latin typeface="Raleway Medium"/>
                  <a:ea typeface="Raleway Medium"/>
                  <a:cs typeface="Raleway Medium"/>
                  <a:sym typeface="Raleway Medium"/>
                </a:rPr>
              </a:br>
              <a:br>
                <a:rPr lang="en" sz="1100">
                  <a:latin typeface="Raleway Medium"/>
                  <a:ea typeface="Raleway Medium"/>
                  <a:cs typeface="Raleway Medium"/>
                  <a:sym typeface="Raleway Medium"/>
                </a:rPr>
              </a:br>
              <a:r>
                <a:rPr lang="en" sz="1100">
                  <a:latin typeface="Raleway Medium"/>
                  <a:ea typeface="Raleway Medium"/>
                  <a:cs typeface="Raleway Medium"/>
                  <a:sym typeface="Raleway Medium"/>
                </a:rPr>
                <a:t>Mood statements adalah kalimat pendek yang menentukan bagaimana perasaan pengguna Anda saat berinteraksi dengan layanan atau fitur Anda.</a:t>
              </a:r>
              <a:endParaRPr sz="1100">
                <a:latin typeface="Raleway Medium"/>
                <a:ea typeface="Raleway Medium"/>
                <a:cs typeface="Raleway Medium"/>
                <a:sym typeface="Raleway Medium"/>
              </a:endParaRPr>
            </a:p>
          </p:txBody>
        </p:sp>
      </p:grpSp>
      <p:grpSp>
        <p:nvGrpSpPr>
          <p:cNvPr id="227" name="Google Shape;227;p36"/>
          <p:cNvGrpSpPr/>
          <p:nvPr/>
        </p:nvGrpSpPr>
        <p:grpSpPr>
          <a:xfrm>
            <a:off x="1838325" y="1113575"/>
            <a:ext cx="2064000" cy="3498650"/>
            <a:chOff x="1838325" y="1189775"/>
            <a:chExt cx="2064000" cy="3498650"/>
          </a:xfrm>
        </p:grpSpPr>
        <p:sp>
          <p:nvSpPr>
            <p:cNvPr id="228" name="Google Shape;228;p36"/>
            <p:cNvSpPr/>
            <p:nvPr/>
          </p:nvSpPr>
          <p:spPr>
            <a:xfrm>
              <a:off x="1838325"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Step 2</a:t>
              </a:r>
              <a:endParaRPr>
                <a:solidFill>
                  <a:srgbClr val="FFFFFF"/>
                </a:solidFill>
                <a:latin typeface="Raleway Medium"/>
                <a:ea typeface="Raleway Medium"/>
                <a:cs typeface="Raleway Medium"/>
                <a:sym typeface="Raleway Medium"/>
              </a:endParaRPr>
            </a:p>
          </p:txBody>
        </p:sp>
        <p:sp>
          <p:nvSpPr>
            <p:cNvPr id="229" name="Google Shape;229;p36"/>
            <p:cNvSpPr txBox="1"/>
            <p:nvPr/>
          </p:nvSpPr>
          <p:spPr>
            <a:xfrm>
              <a:off x="2017250" y="2057125"/>
              <a:ext cx="1624500" cy="263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latin typeface="Raleway"/>
                  <a:ea typeface="Raleway"/>
                  <a:cs typeface="Raleway"/>
                  <a:sym typeface="Raleway"/>
                </a:rPr>
                <a:t>Atur mood dengan mendefinisikan respons emosional</a:t>
              </a:r>
              <a:r>
                <a:rPr lang="en" sz="1100">
                  <a:latin typeface="Raleway Medium"/>
                  <a:ea typeface="Raleway Medium"/>
                  <a:cs typeface="Raleway Medium"/>
                  <a:sym typeface="Raleway Medium"/>
                </a:rPr>
                <a:t>. </a:t>
              </a:r>
              <a:br>
                <a:rPr lang="en" sz="1100">
                  <a:latin typeface="Raleway Medium"/>
                  <a:ea typeface="Raleway Medium"/>
                  <a:cs typeface="Raleway Medium"/>
                  <a:sym typeface="Raleway Medium"/>
                </a:rPr>
              </a:br>
              <a:br>
                <a:rPr lang="en" sz="1100">
                  <a:latin typeface="Raleway Medium"/>
                  <a:ea typeface="Raleway Medium"/>
                  <a:cs typeface="Raleway Medium"/>
                  <a:sym typeface="Raleway Medium"/>
                </a:rPr>
              </a:br>
              <a:r>
                <a:rPr lang="en" sz="1100">
                  <a:latin typeface="Raleway Medium"/>
                  <a:ea typeface="Raleway Medium"/>
                  <a:cs typeface="Raleway Medium"/>
                  <a:sym typeface="Raleway Medium"/>
                </a:rPr>
                <a:t>Sorot emosi di setiap mood statements Anda atau tuliskan secara terpisah tergantung pada berapa banyak persona pengguna yang Anda miliki, </a:t>
              </a:r>
              <a:endParaRPr sz="1100">
                <a:latin typeface="Raleway Medium"/>
                <a:ea typeface="Raleway Medium"/>
                <a:cs typeface="Raleway Medium"/>
                <a:sym typeface="Raleway Medium"/>
              </a:endParaRPr>
            </a:p>
          </p:txBody>
        </p:sp>
      </p:grpSp>
      <p:grpSp>
        <p:nvGrpSpPr>
          <p:cNvPr id="230" name="Google Shape;230;p36"/>
          <p:cNvGrpSpPr/>
          <p:nvPr/>
        </p:nvGrpSpPr>
        <p:grpSpPr>
          <a:xfrm>
            <a:off x="3516750" y="1113575"/>
            <a:ext cx="2064000" cy="3217850"/>
            <a:chOff x="3516750" y="1189775"/>
            <a:chExt cx="2064000" cy="3217850"/>
          </a:xfrm>
        </p:grpSpPr>
        <p:sp>
          <p:nvSpPr>
            <p:cNvPr id="231" name="Google Shape;231;p36"/>
            <p:cNvSpPr/>
            <p:nvPr/>
          </p:nvSpPr>
          <p:spPr>
            <a:xfrm>
              <a:off x="3516750"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Step 3</a:t>
              </a:r>
              <a:endParaRPr>
                <a:solidFill>
                  <a:srgbClr val="FFFFFF"/>
                </a:solidFill>
                <a:latin typeface="Raleway Medium"/>
                <a:ea typeface="Raleway Medium"/>
                <a:cs typeface="Raleway Medium"/>
                <a:sym typeface="Raleway Medium"/>
              </a:endParaRPr>
            </a:p>
          </p:txBody>
        </p:sp>
        <p:sp>
          <p:nvSpPr>
            <p:cNvPr id="232" name="Google Shape;232;p36"/>
            <p:cNvSpPr txBox="1"/>
            <p:nvPr/>
          </p:nvSpPr>
          <p:spPr>
            <a:xfrm>
              <a:off x="37394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latin typeface="Raleway"/>
                  <a:ea typeface="Raleway"/>
                  <a:cs typeface="Raleway"/>
                  <a:sym typeface="Raleway"/>
                </a:rPr>
                <a:t>Tentukan gaya visual.</a:t>
              </a:r>
              <a:endParaRPr b="1" sz="1100">
                <a:latin typeface="Raleway"/>
                <a:ea typeface="Raleway"/>
                <a:cs typeface="Raleway"/>
                <a:sym typeface="Raleway"/>
              </a:endParaRPr>
            </a:p>
            <a:p>
              <a:pPr indent="0" lvl="0" marL="0" rtl="0" algn="l">
                <a:lnSpc>
                  <a:spcPct val="115000"/>
                </a:lnSpc>
                <a:spcBef>
                  <a:spcPts val="0"/>
                </a:spcBef>
                <a:spcAft>
                  <a:spcPts val="0"/>
                </a:spcAft>
                <a:buNone/>
              </a:pPr>
              <a:r>
                <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Gaya visual adalah bagaimana desain akan terlihat, font yang akan Anda gunakan, warna dan fotografi. </a:t>
              </a:r>
              <a:endParaRPr sz="1100">
                <a:latin typeface="Raleway Medium"/>
                <a:ea typeface="Raleway Medium"/>
                <a:cs typeface="Raleway Medium"/>
                <a:sym typeface="Raleway Medium"/>
              </a:endParaRPr>
            </a:p>
          </p:txBody>
        </p:sp>
      </p:grpSp>
      <p:grpSp>
        <p:nvGrpSpPr>
          <p:cNvPr id="233" name="Google Shape;233;p36"/>
          <p:cNvGrpSpPr/>
          <p:nvPr/>
        </p:nvGrpSpPr>
        <p:grpSpPr>
          <a:xfrm>
            <a:off x="6874025" y="1113575"/>
            <a:ext cx="2064000" cy="3790250"/>
            <a:chOff x="6874025" y="1189775"/>
            <a:chExt cx="2064000" cy="3790250"/>
          </a:xfrm>
        </p:grpSpPr>
        <p:sp>
          <p:nvSpPr>
            <p:cNvPr id="234" name="Google Shape;234;p36"/>
            <p:cNvSpPr/>
            <p:nvPr/>
          </p:nvSpPr>
          <p:spPr>
            <a:xfrm>
              <a:off x="6874025"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Step 5</a:t>
              </a:r>
              <a:endParaRPr>
                <a:solidFill>
                  <a:srgbClr val="FFFFFF"/>
                </a:solidFill>
                <a:latin typeface="Raleway Medium"/>
                <a:ea typeface="Raleway Medium"/>
                <a:cs typeface="Raleway Medium"/>
                <a:sym typeface="Raleway Medium"/>
              </a:endParaRPr>
            </a:p>
          </p:txBody>
        </p:sp>
        <p:sp>
          <p:nvSpPr>
            <p:cNvPr id="235" name="Google Shape;235;p36"/>
            <p:cNvSpPr txBox="1"/>
            <p:nvPr/>
          </p:nvSpPr>
          <p:spPr>
            <a:xfrm>
              <a:off x="7183850" y="2057125"/>
              <a:ext cx="1624500" cy="292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latin typeface="Raleway"/>
                  <a:ea typeface="Raleway"/>
                  <a:cs typeface="Raleway"/>
                  <a:sym typeface="Raleway"/>
                </a:rPr>
                <a:t>Tentukan arah  desain Anda</a:t>
              </a:r>
              <a:br>
                <a:rPr lang="en" sz="1100">
                  <a:latin typeface="Raleway Medium"/>
                  <a:ea typeface="Raleway Medium"/>
                  <a:cs typeface="Raleway Medium"/>
                  <a:sym typeface="Raleway Medium"/>
                </a:rPr>
              </a:br>
              <a:br>
                <a:rPr lang="en" sz="1100">
                  <a:latin typeface="Raleway Medium"/>
                  <a:ea typeface="Raleway Medium"/>
                  <a:cs typeface="Raleway Medium"/>
                  <a:sym typeface="Raleway Medium"/>
                </a:rPr>
              </a:br>
              <a:r>
                <a:rPr lang="en" sz="1100">
                  <a:latin typeface="Raleway Medium"/>
                  <a:ea typeface="Raleway Medium"/>
                  <a:cs typeface="Raleway Medium"/>
                  <a:sym typeface="Raleway Medium"/>
                </a:rPr>
                <a:t>Anda perlu menentukan arahan yang kuat dan tidak general sehingga saat proses desain Anda dapat tetap fokus dan mencapai arah desain yang diinginkan. </a:t>
              </a:r>
              <a:endParaRPr sz="1100">
                <a:latin typeface="Raleway Medium"/>
                <a:ea typeface="Raleway Medium"/>
                <a:cs typeface="Raleway Medium"/>
                <a:sym typeface="Raleway Medium"/>
              </a:endParaRPr>
            </a:p>
          </p:txBody>
        </p:sp>
      </p:grpSp>
      <p:grpSp>
        <p:nvGrpSpPr>
          <p:cNvPr id="236" name="Google Shape;236;p36"/>
          <p:cNvGrpSpPr/>
          <p:nvPr/>
        </p:nvGrpSpPr>
        <p:grpSpPr>
          <a:xfrm>
            <a:off x="5195350" y="1113575"/>
            <a:ext cx="2064000" cy="3217850"/>
            <a:chOff x="5195350" y="1189775"/>
            <a:chExt cx="2064000" cy="3217850"/>
          </a:xfrm>
        </p:grpSpPr>
        <p:sp>
          <p:nvSpPr>
            <p:cNvPr id="237" name="Google Shape;237;p36"/>
            <p:cNvSpPr/>
            <p:nvPr/>
          </p:nvSpPr>
          <p:spPr>
            <a:xfrm>
              <a:off x="5195350"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Step 4</a:t>
              </a:r>
              <a:endParaRPr>
                <a:solidFill>
                  <a:srgbClr val="FFFFFF"/>
                </a:solidFill>
                <a:latin typeface="Raleway Medium"/>
                <a:ea typeface="Raleway Medium"/>
                <a:cs typeface="Raleway Medium"/>
                <a:sym typeface="Raleway Medium"/>
              </a:endParaRPr>
            </a:p>
          </p:txBody>
        </p:sp>
        <p:sp>
          <p:nvSpPr>
            <p:cNvPr id="238" name="Google Shape;238;p36"/>
            <p:cNvSpPr txBox="1"/>
            <p:nvPr/>
          </p:nvSpPr>
          <p:spPr>
            <a:xfrm>
              <a:off x="54616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solidFill>
                    <a:schemeClr val="dk1"/>
                  </a:solidFill>
                  <a:latin typeface="Raleway"/>
                  <a:ea typeface="Raleway"/>
                  <a:cs typeface="Raleway"/>
                  <a:sym typeface="Raleway"/>
                </a:rPr>
                <a:t>Temukan suara dan nada produk Anda.</a:t>
              </a:r>
              <a:br>
                <a:rPr b="1" lang="en" sz="1100">
                  <a:solidFill>
                    <a:schemeClr val="dk1"/>
                  </a:solidFill>
                  <a:latin typeface="Raleway"/>
                  <a:ea typeface="Raleway"/>
                  <a:cs typeface="Raleway"/>
                  <a:sym typeface="Raleway"/>
                </a:rPr>
              </a:br>
              <a:endParaRPr b="1" sz="1100">
                <a:solidFill>
                  <a:schemeClr val="dk1"/>
                </a:solidFill>
                <a:latin typeface="Raleway"/>
                <a:ea typeface="Raleway"/>
                <a:cs typeface="Raleway"/>
                <a:sym typeface="Raleway"/>
              </a:endParaRPr>
            </a:p>
            <a:p>
              <a:pPr indent="0" lvl="0" marL="0" rtl="0" algn="l">
                <a:lnSpc>
                  <a:spcPct val="115000"/>
                </a:lnSpc>
                <a:spcBef>
                  <a:spcPts val="0"/>
                </a:spcBef>
                <a:spcAft>
                  <a:spcPts val="0"/>
                </a:spcAft>
                <a:buNone/>
              </a:pPr>
              <a:r>
                <a:rPr lang="en" sz="1100">
                  <a:solidFill>
                    <a:schemeClr val="dk1"/>
                  </a:solidFill>
                  <a:latin typeface="Raleway Medium"/>
                  <a:ea typeface="Raleway Medium"/>
                  <a:cs typeface="Raleway Medium"/>
                  <a:sym typeface="Raleway Medium"/>
                </a:rPr>
                <a:t>Suara adalah kepribadian produk Anda. </a:t>
              </a:r>
              <a:br>
                <a:rPr lang="en" sz="1100">
                  <a:solidFill>
                    <a:schemeClr val="dk1"/>
                  </a:solidFill>
                  <a:latin typeface="Raleway Medium"/>
                  <a:ea typeface="Raleway Medium"/>
                  <a:cs typeface="Raleway Medium"/>
                  <a:sym typeface="Raleway Medium"/>
                </a:rPr>
              </a:br>
              <a:br>
                <a:rPr lang="en" sz="1100">
                  <a:solidFill>
                    <a:schemeClr val="dk1"/>
                  </a:solidFill>
                  <a:latin typeface="Raleway Medium"/>
                  <a:ea typeface="Raleway Medium"/>
                  <a:cs typeface="Raleway Medium"/>
                  <a:sym typeface="Raleway Medium"/>
                </a:rPr>
              </a:br>
              <a:r>
                <a:rPr lang="en" sz="1100">
                  <a:solidFill>
                    <a:schemeClr val="dk1"/>
                  </a:solidFill>
                  <a:latin typeface="Raleway Medium"/>
                  <a:ea typeface="Raleway Medium"/>
                  <a:cs typeface="Raleway Medium"/>
                  <a:sym typeface="Raleway Medium"/>
                </a:rPr>
                <a:t>Tentukan bagaimana Anda ingin orang lain melihat produk Anda.</a:t>
              </a:r>
              <a:br>
                <a:rPr lang="en" sz="1100">
                  <a:solidFill>
                    <a:schemeClr val="dk1"/>
                  </a:solidFill>
                  <a:latin typeface="Raleway Medium"/>
                  <a:ea typeface="Raleway Medium"/>
                  <a:cs typeface="Raleway Medium"/>
                  <a:sym typeface="Raleway Medium"/>
                </a:rPr>
              </a:br>
              <a:br>
                <a:rPr lang="en" sz="1100">
                  <a:solidFill>
                    <a:schemeClr val="dk1"/>
                  </a:solidFill>
                  <a:latin typeface="Raleway Medium"/>
                  <a:ea typeface="Raleway Medium"/>
                  <a:cs typeface="Raleway Medium"/>
                  <a:sym typeface="Raleway Medium"/>
                </a:rPr>
              </a:br>
              <a:r>
                <a:rPr lang="en" sz="1100">
                  <a:solidFill>
                    <a:schemeClr val="dk1"/>
                  </a:solidFill>
                  <a:latin typeface="Raleway Medium"/>
                  <a:ea typeface="Raleway Medium"/>
                  <a:cs typeface="Raleway Medium"/>
                  <a:sym typeface="Raleway Medium"/>
                </a:rPr>
                <a:t>Suara dan nada bisa keras, ramah, formal, optimis dan lain - lain,</a:t>
              </a:r>
              <a:endParaRPr sz="1100">
                <a:solidFill>
                  <a:schemeClr val="dk1"/>
                </a:solidFill>
                <a:latin typeface="Raleway Medium"/>
                <a:ea typeface="Raleway Medium"/>
                <a:cs typeface="Raleway Medium"/>
                <a:sym typeface="Raleway Medium"/>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4" name="Google Shape;244;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Membuat moodboard yang baik</a:t>
            </a:r>
            <a:endParaRPr/>
          </a:p>
        </p:txBody>
      </p:sp>
      <p:grpSp>
        <p:nvGrpSpPr>
          <p:cNvPr id="245" name="Google Shape;245;p37"/>
          <p:cNvGrpSpPr/>
          <p:nvPr/>
        </p:nvGrpSpPr>
        <p:grpSpPr>
          <a:xfrm>
            <a:off x="0" y="1113789"/>
            <a:ext cx="2214600" cy="3217636"/>
            <a:chOff x="0" y="1189989"/>
            <a:chExt cx="2214600" cy="3217636"/>
          </a:xfrm>
        </p:grpSpPr>
        <p:sp>
          <p:nvSpPr>
            <p:cNvPr id="246" name="Google Shape;246;p37"/>
            <p:cNvSpPr/>
            <p:nvPr/>
          </p:nvSpPr>
          <p:spPr>
            <a:xfrm>
              <a:off x="0" y="1189989"/>
              <a:ext cx="2214600" cy="6690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Step 6</a:t>
              </a:r>
              <a:endParaRPr>
                <a:solidFill>
                  <a:srgbClr val="FFFFFF"/>
                </a:solidFill>
                <a:latin typeface="Raleway Medium"/>
                <a:ea typeface="Raleway Medium"/>
                <a:cs typeface="Raleway Medium"/>
                <a:sym typeface="Raleway Medium"/>
              </a:endParaRPr>
            </a:p>
          </p:txBody>
        </p:sp>
        <p:sp>
          <p:nvSpPr>
            <p:cNvPr id="247" name="Google Shape;247;p37"/>
            <p:cNvSpPr txBox="1"/>
            <p:nvPr/>
          </p:nvSpPr>
          <p:spPr>
            <a:xfrm>
              <a:off x="243350" y="2057125"/>
              <a:ext cx="17697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latin typeface="Raleway"/>
                  <a:ea typeface="Raleway"/>
                  <a:cs typeface="Raleway"/>
                  <a:sym typeface="Raleway"/>
                </a:rPr>
                <a:t>Tentukan bahasa dan grafis.</a:t>
              </a:r>
              <a:br>
                <a:rPr lang="en" sz="1100">
                  <a:latin typeface="Raleway Medium"/>
                  <a:ea typeface="Raleway Medium"/>
                  <a:cs typeface="Raleway Medium"/>
                  <a:sym typeface="Raleway Medium"/>
                </a:rPr>
              </a:br>
              <a:br>
                <a:rPr lang="en" sz="1100">
                  <a:latin typeface="Raleway Medium"/>
                  <a:ea typeface="Raleway Medium"/>
                  <a:cs typeface="Raleway Medium"/>
                  <a:sym typeface="Raleway Medium"/>
                </a:rPr>
              </a:br>
              <a:r>
                <a:rPr lang="en" sz="1100">
                  <a:latin typeface="Raleway Medium"/>
                  <a:ea typeface="Raleway Medium"/>
                  <a:cs typeface="Raleway Medium"/>
                  <a:sym typeface="Raleway Medium"/>
                </a:rPr>
                <a:t>Pada langkah ini, Anda  perlu menentukan apakah Anda akan menggunakan video, ilustrasi, atau fotografi menawan untuk menyampaikan pesan Anda. </a:t>
              </a:r>
              <a:endParaRPr sz="1100">
                <a:latin typeface="Raleway Medium"/>
                <a:ea typeface="Raleway Medium"/>
                <a:cs typeface="Raleway Medium"/>
                <a:sym typeface="Raleway Medium"/>
              </a:endParaRPr>
            </a:p>
          </p:txBody>
        </p:sp>
      </p:grpSp>
      <p:grpSp>
        <p:nvGrpSpPr>
          <p:cNvPr id="248" name="Google Shape;248;p37"/>
          <p:cNvGrpSpPr/>
          <p:nvPr/>
        </p:nvGrpSpPr>
        <p:grpSpPr>
          <a:xfrm>
            <a:off x="1838325" y="1113575"/>
            <a:ext cx="2064000" cy="3498650"/>
            <a:chOff x="1838325" y="1189775"/>
            <a:chExt cx="2064000" cy="3498650"/>
          </a:xfrm>
        </p:grpSpPr>
        <p:sp>
          <p:nvSpPr>
            <p:cNvPr id="249" name="Google Shape;249;p37"/>
            <p:cNvSpPr/>
            <p:nvPr/>
          </p:nvSpPr>
          <p:spPr>
            <a:xfrm>
              <a:off x="1838325"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Step 7</a:t>
              </a:r>
              <a:endParaRPr>
                <a:solidFill>
                  <a:srgbClr val="FFFFFF"/>
                </a:solidFill>
                <a:latin typeface="Raleway Medium"/>
                <a:ea typeface="Raleway Medium"/>
                <a:cs typeface="Raleway Medium"/>
                <a:sym typeface="Raleway Medium"/>
              </a:endParaRPr>
            </a:p>
          </p:txBody>
        </p:sp>
        <p:sp>
          <p:nvSpPr>
            <p:cNvPr id="250" name="Google Shape;250;p37"/>
            <p:cNvSpPr txBox="1"/>
            <p:nvPr/>
          </p:nvSpPr>
          <p:spPr>
            <a:xfrm>
              <a:off x="2017250" y="2057125"/>
              <a:ext cx="1624500" cy="263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latin typeface="Raleway"/>
                  <a:ea typeface="Raleway"/>
                  <a:cs typeface="Raleway"/>
                  <a:sym typeface="Raleway"/>
                </a:rPr>
                <a:t>Bangun moodboard Anda.</a:t>
              </a:r>
              <a:br>
                <a:rPr b="1" lang="en" sz="1100">
                  <a:latin typeface="Raleway"/>
                  <a:ea typeface="Raleway"/>
                  <a:cs typeface="Raleway"/>
                  <a:sym typeface="Raleway"/>
                </a:rPr>
              </a:br>
              <a:br>
                <a:rPr b="1" lang="en" sz="1100">
                  <a:latin typeface="Raleway"/>
                  <a:ea typeface="Raleway"/>
                  <a:cs typeface="Raleway"/>
                  <a:sym typeface="Raleway"/>
                </a:rPr>
              </a:br>
              <a:r>
                <a:rPr lang="en" sz="1100">
                  <a:latin typeface="Raleway Medium"/>
                  <a:ea typeface="Raleway Medium"/>
                  <a:cs typeface="Raleway Medium"/>
                  <a:sym typeface="Raleway Medium"/>
                </a:rPr>
                <a:t>Tonton bagaimana Anda dapat membangun sebuah moodboard menggunakan Invision.</a:t>
              </a:r>
              <a:br>
                <a:rPr lang="en" sz="1100">
                  <a:latin typeface="Raleway Medium"/>
                  <a:ea typeface="Raleway Medium"/>
                  <a:cs typeface="Raleway Medium"/>
                  <a:sym typeface="Raleway Medium"/>
                </a:rPr>
              </a:br>
              <a:br>
                <a:rPr b="1" lang="en" sz="1100">
                  <a:latin typeface="Raleway"/>
                  <a:ea typeface="Raleway"/>
                  <a:cs typeface="Raleway"/>
                  <a:sym typeface="Raleway"/>
                </a:rPr>
              </a:br>
              <a:r>
                <a:rPr b="1" lang="en" sz="1100" u="sng">
                  <a:solidFill>
                    <a:schemeClr val="hlink"/>
                  </a:solidFill>
                  <a:latin typeface="Raleway"/>
                  <a:ea typeface="Raleway"/>
                  <a:cs typeface="Raleway"/>
                  <a:sym typeface="Raleway"/>
                  <a:hlinkClick r:id="rId3"/>
                </a:rPr>
                <a:t>Klik link</a:t>
              </a:r>
              <a:endParaRPr b="1" sz="1100">
                <a:latin typeface="Raleway"/>
                <a:ea typeface="Raleway"/>
                <a:cs typeface="Raleway"/>
                <a:sym typeface="Raleway"/>
              </a:endParaRPr>
            </a:p>
          </p:txBody>
        </p:sp>
      </p:grpSp>
      <p:pic>
        <p:nvPicPr>
          <p:cNvPr descr="Check out Boards, an all new way to store and share your design ideas right inside InVision!&#10;&#10;Boards are flexible and customizable, so you can make just about anything—moodboards, brand boards, image galleries, and client presentations. &#10;&#10;Plus, they have commenting built in and are integrated with your existing InVision notifications to keep you and your team informed.&#10;&#10;Learn more about Boards here: http://blog.invisionapp.com/boards-share-design-inspiration-assets/&#10;&#10;---&#10;&#10;InVision is the world’s leading product design collaboration platform, trusted by more than 1.5 million designers at companies like Uber, Netflix and Twitter. InVision empowers teams of all sizes to prototype, review, iterate, manage and test web and mobile apps—all without a single line of code. &#10;&#10;Get InVision free forever: http://invs.io/1QOCxZq &#10;&#10;---&#10;&#10;See who else uses InVision: http://invs.io/1QOD5P3 &#10;Stay up to date on the latest trends in product design: http://invs.io/1QOD91g &#10;Follow InVision on Twitter: http://twitter.com/InVisionApp/" id="251" name="Google Shape;251;p37" title="Boards by InVision - Create and share moodboards, brand boards, galleries, and presentations">
            <a:hlinkClick r:id="rId4"/>
          </p:cNvPr>
          <p:cNvPicPr preferRelativeResize="0"/>
          <p:nvPr/>
        </p:nvPicPr>
        <p:blipFill>
          <a:blip r:embed="rId5">
            <a:alphaModFix/>
          </a:blip>
          <a:stretch>
            <a:fillRect/>
          </a:stretch>
        </p:blipFill>
        <p:spPr>
          <a:xfrm>
            <a:off x="4509425" y="1161649"/>
            <a:ext cx="4162600" cy="3121950"/>
          </a:xfrm>
          <a:prstGeom prst="rect">
            <a:avLst/>
          </a:prstGeom>
          <a:noFill/>
          <a:ln>
            <a:noFill/>
          </a:ln>
          <a:effectLst>
            <a:outerShdw blurRad="57150" rotWithShape="0" algn="bl" dir="5400000" dist="19050">
              <a:srgbClr val="000000">
                <a:alpha val="5000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1000"/>
                                        <p:tgtEl>
                                          <p:spTgt spid="2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7" name="Google Shape;257;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Membuat moodboard yang baik</a:t>
            </a:r>
            <a:endParaRPr/>
          </a:p>
        </p:txBody>
      </p:sp>
      <p:sp>
        <p:nvSpPr>
          <p:cNvPr id="258" name="Google Shape;258;p38"/>
          <p:cNvSpPr txBox="1"/>
          <p:nvPr/>
        </p:nvSpPr>
        <p:spPr>
          <a:xfrm>
            <a:off x="685800" y="1185675"/>
            <a:ext cx="77541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Beberapa keywords untuk menentukan gaya visual pada produk Anda </a:t>
            </a:r>
            <a:endParaRPr b="1" sz="1200">
              <a:solidFill>
                <a:schemeClr val="dk1"/>
              </a:solidFill>
              <a:latin typeface="Raleway"/>
              <a:ea typeface="Raleway"/>
              <a:cs typeface="Raleway"/>
              <a:sym typeface="Raleway"/>
            </a:endParaRPr>
          </a:p>
        </p:txBody>
      </p:sp>
      <p:pic>
        <p:nvPicPr>
          <p:cNvPr id="259" name="Google Shape;259;p38"/>
          <p:cNvPicPr preferRelativeResize="0"/>
          <p:nvPr/>
        </p:nvPicPr>
        <p:blipFill rotWithShape="1">
          <a:blip r:embed="rId3">
            <a:alphaModFix/>
          </a:blip>
          <a:srcRect b="3549" l="0" r="0" t="22028"/>
          <a:stretch/>
        </p:blipFill>
        <p:spPr>
          <a:xfrm>
            <a:off x="304800" y="1524000"/>
            <a:ext cx="8625900" cy="288889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9"/>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Menemukan referensi </a:t>
            </a:r>
            <a:endParaRPr/>
          </a:p>
        </p:txBody>
      </p:sp>
      <p:sp>
        <p:nvSpPr>
          <p:cNvPr id="265" name="Google Shape;265;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1" name="Google Shape;271;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Menemukan referensi </a:t>
            </a:r>
            <a:endParaRPr/>
          </a:p>
        </p:txBody>
      </p:sp>
      <p:sp>
        <p:nvSpPr>
          <p:cNvPr id="272" name="Google Shape;272;p40"/>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Menemukan referensi</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chapter 4 bagian 2, kita telah berdiskusi tentang beberapa platform yang bisa kita telusuri untuk mencari inspirasi desain. Mari kita ingat kembali.</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Beberapa situs terdedikasi untuk unggahan desain UI dan UX. Banyak juga situs yang mengumpulkan banyak macam desain, maupun terkait UI, UX, interior, arsitektur, branding dan lainnya.</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Mari kita telaah ulang beberapa dari situs - situs tersebut.</a:t>
            </a:r>
            <a:endParaRPr sz="1200">
              <a:solidFill>
                <a:schemeClr val="dk1"/>
              </a:solidFill>
              <a:latin typeface="Raleway Medium"/>
              <a:ea typeface="Raleway Medium"/>
              <a:cs typeface="Raleway Medium"/>
              <a:sym typeface="Raleway Medium"/>
            </a:endParaRPr>
          </a:p>
        </p:txBody>
      </p:sp>
      <p:pic>
        <p:nvPicPr>
          <p:cNvPr id="273" name="Google Shape;273;p40">
            <a:hlinkClick r:id="rId3"/>
          </p:cNvPr>
          <p:cNvPicPr preferRelativeResize="0"/>
          <p:nvPr/>
        </p:nvPicPr>
        <p:blipFill rotWithShape="1">
          <a:blip r:embed="rId4">
            <a:alphaModFix/>
          </a:blip>
          <a:srcRect b="0" l="13343" r="13343" t="0"/>
          <a:stretch/>
        </p:blipFill>
        <p:spPr>
          <a:xfrm>
            <a:off x="5486400" y="1280150"/>
            <a:ext cx="3017523" cy="2743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9" name="Google Shape;279;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Menemukan referensi</a:t>
            </a:r>
            <a:endParaRPr/>
          </a:p>
        </p:txBody>
      </p:sp>
      <p:sp>
        <p:nvSpPr>
          <p:cNvPr id="280" name="Google Shape;280;p41"/>
          <p:cNvSpPr txBox="1"/>
          <p:nvPr/>
        </p:nvSpPr>
        <p:spPr>
          <a:xfrm>
            <a:off x="685800" y="1185675"/>
            <a:ext cx="76962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 Behance.net</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Behance adalah jaringan kreatif terbesar di dunia untuk memamerkan dan menemukan karya kreatif. Anda dapat menemukan desain ui/ux, grafis, interior, packaging, arsitektur dan banyak lagi di Behance.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81" name="Google Shape;281;p41">
            <a:hlinkClick r:id="rId3"/>
          </p:cNvPr>
          <p:cNvPicPr preferRelativeResize="0"/>
          <p:nvPr/>
        </p:nvPicPr>
        <p:blipFill rotWithShape="1">
          <a:blip r:embed="rId4">
            <a:alphaModFix/>
          </a:blip>
          <a:srcRect b="0" l="0" r="0" t="0"/>
          <a:stretch/>
        </p:blipFill>
        <p:spPr>
          <a:xfrm>
            <a:off x="685800" y="2400300"/>
            <a:ext cx="4780452" cy="22479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7" name="Google Shape;287;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Menemukan referensi</a:t>
            </a:r>
            <a:endParaRPr/>
          </a:p>
        </p:txBody>
      </p:sp>
      <p:sp>
        <p:nvSpPr>
          <p:cNvPr id="288" name="Google Shape;288;p42"/>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 Dribbble.com</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Sama seperti Behance, banyak inspirasi UI/UX yang bisa Anda temukan disini. Akan tetapi, tidak seperti Behance, para pengguna Dribbble biasanya hanya mengupload gambar tanpa menceritakan proses-nya.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89" name="Google Shape;289;p42">
            <a:hlinkClick r:id="rId3"/>
          </p:cNvPr>
          <p:cNvPicPr preferRelativeResize="0"/>
          <p:nvPr/>
        </p:nvPicPr>
        <p:blipFill rotWithShape="1">
          <a:blip r:embed="rId4">
            <a:alphaModFix/>
          </a:blip>
          <a:srcRect b="357" l="0" r="0" t="357"/>
          <a:stretch/>
        </p:blipFill>
        <p:spPr>
          <a:xfrm>
            <a:off x="685800" y="2400300"/>
            <a:ext cx="4780452" cy="22479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5" name="Google Shape;295;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Menemukan referensi</a:t>
            </a:r>
            <a:endParaRPr/>
          </a:p>
        </p:txBody>
      </p:sp>
      <p:sp>
        <p:nvSpPr>
          <p:cNvPr id="296" name="Google Shape;296;p43"/>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3) Pinterest.com</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Situs yang ini lebih dari kumpulan unggahan desain. Tidak hanya praktisi desain yang menggunakan Pinterest. Anda dapat menemukan inspirasi untuk sarapan, dekorasi rumah, outfit dan pastinya ui/ux.</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97" name="Google Shape;297;p43">
            <a:hlinkClick r:id="rId3"/>
          </p:cNvPr>
          <p:cNvPicPr preferRelativeResize="0"/>
          <p:nvPr/>
        </p:nvPicPr>
        <p:blipFill rotWithShape="1">
          <a:blip r:embed="rId4">
            <a:alphaModFix/>
          </a:blip>
          <a:srcRect b="258" l="0" r="0" t="258"/>
          <a:stretch/>
        </p:blipFill>
        <p:spPr>
          <a:xfrm>
            <a:off x="685800" y="2400300"/>
            <a:ext cx="4780452" cy="22478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3" name="Google Shape;303;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Menemukan referensi</a:t>
            </a:r>
            <a:endParaRPr/>
          </a:p>
        </p:txBody>
      </p:sp>
      <p:sp>
        <p:nvSpPr>
          <p:cNvPr id="304" name="Google Shape;304;p44"/>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4) Awwwards.com</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Awwwards (Awwwards Online SL) adalah badan kompetisi desain dan pengembangan web profesional. Situs-nya bertujuan untuk mempromosikan desain web inovatif terbaik.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05" name="Google Shape;305;p44">
            <a:hlinkClick r:id="rId3"/>
          </p:cNvPr>
          <p:cNvPicPr preferRelativeResize="0"/>
          <p:nvPr/>
        </p:nvPicPr>
        <p:blipFill rotWithShape="1">
          <a:blip r:embed="rId4">
            <a:alphaModFix/>
          </a:blip>
          <a:srcRect b="258" l="0" r="0" t="258"/>
          <a:stretch/>
        </p:blipFill>
        <p:spPr>
          <a:xfrm>
            <a:off x="685800" y="2400300"/>
            <a:ext cx="4780452" cy="22478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1" name="Google Shape;311;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Menemukan referensi</a:t>
            </a:r>
            <a:endParaRPr/>
          </a:p>
        </p:txBody>
      </p:sp>
      <p:sp>
        <p:nvSpPr>
          <p:cNvPr id="312" name="Google Shape;312;p45"/>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5) Abduzeedo.com</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abdz. adalah kumpulan penulis individu yang berbagi artikel tentang desain, fotografi, dan UX serta tutorial untuk Photoshop dan alat lainnya.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13" name="Google Shape;313;p45">
            <a:hlinkClick r:id="rId3"/>
          </p:cNvPr>
          <p:cNvPicPr preferRelativeResize="0"/>
          <p:nvPr/>
        </p:nvPicPr>
        <p:blipFill rotWithShape="1">
          <a:blip r:embed="rId4">
            <a:alphaModFix/>
          </a:blip>
          <a:srcRect b="455" l="0" r="0" t="465"/>
          <a:stretch/>
        </p:blipFill>
        <p:spPr>
          <a:xfrm>
            <a:off x="685800" y="2400300"/>
            <a:ext cx="4780452" cy="224789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9" name="Google Shape;319;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Menemukan referensi</a:t>
            </a:r>
            <a:endParaRPr/>
          </a:p>
        </p:txBody>
      </p:sp>
      <p:sp>
        <p:nvSpPr>
          <p:cNvPr id="320" name="Google Shape;320;p46"/>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6</a:t>
            </a:r>
            <a:r>
              <a:rPr b="1" lang="en" sz="1800">
                <a:solidFill>
                  <a:srgbClr val="743673"/>
                </a:solidFill>
                <a:highlight>
                  <a:schemeClr val="lt1"/>
                </a:highlight>
                <a:latin typeface="Raleway"/>
                <a:ea typeface="Raleway"/>
                <a:cs typeface="Raleway"/>
                <a:sym typeface="Raleway"/>
              </a:rPr>
              <a:t>) UX Magazine</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UX Magazine adalah publikasi UX online yang membahas tren terbaru dalam desain UX dan strategi produk. Di sini Anda juga dapat menemukan informasi tentang acara UX mendatang.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21" name="Google Shape;321;p46">
            <a:hlinkClick r:id="rId3"/>
          </p:cNvPr>
          <p:cNvPicPr preferRelativeResize="0"/>
          <p:nvPr/>
        </p:nvPicPr>
        <p:blipFill rotWithShape="1">
          <a:blip r:embed="rId4">
            <a:alphaModFix/>
          </a:blip>
          <a:srcRect b="6408" l="-210" r="209" t="4837"/>
          <a:stretch/>
        </p:blipFill>
        <p:spPr>
          <a:xfrm>
            <a:off x="685800" y="2400300"/>
            <a:ext cx="4780452" cy="224789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7" name="Google Shape;327;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Menemukan referensi</a:t>
            </a:r>
            <a:endParaRPr/>
          </a:p>
        </p:txBody>
      </p:sp>
      <p:sp>
        <p:nvSpPr>
          <p:cNvPr id="328" name="Google Shape;328;p47"/>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7</a:t>
            </a:r>
            <a:r>
              <a:rPr b="1" lang="en" sz="1800">
                <a:solidFill>
                  <a:srgbClr val="743673"/>
                </a:solidFill>
                <a:highlight>
                  <a:schemeClr val="lt1"/>
                </a:highlight>
                <a:latin typeface="Raleway"/>
                <a:ea typeface="Raleway"/>
                <a:cs typeface="Raleway"/>
                <a:sym typeface="Raleway"/>
              </a:rPr>
              <a:t>) UI Movement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Perbedaan utama antara UI Movement dan situs inspirasi desain lainnya, adalah fokusnya pada desain antarmuka pengguna. Setiap desain dalam koleksi diberi tag sehingga Anda dapat dengan mudah menemukan elemen desain.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29" name="Google Shape;329;p47">
            <a:hlinkClick r:id="rId3"/>
          </p:cNvPr>
          <p:cNvPicPr preferRelativeResize="0"/>
          <p:nvPr/>
        </p:nvPicPr>
        <p:blipFill rotWithShape="1">
          <a:blip r:embed="rId4">
            <a:alphaModFix/>
          </a:blip>
          <a:srcRect b="12267" l="0" r="0" t="-458"/>
          <a:stretch/>
        </p:blipFill>
        <p:spPr>
          <a:xfrm>
            <a:off x="685800" y="2552700"/>
            <a:ext cx="4780452" cy="224789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8"/>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Menggunakan referensi pada desain UI</a:t>
            </a:r>
            <a:endParaRPr/>
          </a:p>
        </p:txBody>
      </p:sp>
      <p:sp>
        <p:nvSpPr>
          <p:cNvPr id="335" name="Google Shape;335;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1" name="Google Shape;341;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Menggunakan referensi pada desain UI</a:t>
            </a:r>
            <a:endParaRPr/>
          </a:p>
        </p:txBody>
      </p:sp>
      <p:sp>
        <p:nvSpPr>
          <p:cNvPr id="342" name="Google Shape;342;p49"/>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Menggunakan referensi</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Menggunakan referensi dalam desain UI serta dalam studi seni sangatlah penting. Referensi berguna sebagai inspirasi dan untuk mencari ide-ide kreatif baru dan unik.</a:t>
            </a:r>
            <a:br>
              <a:rPr lang="en" sz="1200">
                <a:solidFill>
                  <a:schemeClr val="dk1"/>
                </a:solidFill>
                <a:latin typeface="Raleway Medium"/>
                <a:ea typeface="Raleway Medium"/>
                <a:cs typeface="Raleway Medium"/>
                <a:sym typeface="Raleway Medium"/>
              </a:rPr>
            </a:b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Selain itu, mengumpulkan referensi adalah cara sempurna untuk mempelajari pola dasar dan cara menerapkan inspirasi Anda pada desain. Hal yang penting adalah untuk tidak menerapkan secara berlebihan dan menjadikan desain / pekerjaan Anda sebuah salinan dari yang lain.</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Berikut adalah beberapa tip dalam menggunakan referensi dengan benar pada desain produk Anda.</a:t>
            </a:r>
            <a:endParaRPr sz="1200">
              <a:solidFill>
                <a:schemeClr val="dk1"/>
              </a:solidFill>
              <a:latin typeface="Raleway Medium"/>
              <a:ea typeface="Raleway Medium"/>
              <a:cs typeface="Raleway Medium"/>
              <a:sym typeface="Raleway Medium"/>
            </a:endParaRPr>
          </a:p>
        </p:txBody>
      </p:sp>
      <p:pic>
        <p:nvPicPr>
          <p:cNvPr id="343" name="Google Shape;343;p49"/>
          <p:cNvPicPr preferRelativeResize="0"/>
          <p:nvPr/>
        </p:nvPicPr>
        <p:blipFill rotWithShape="1">
          <a:blip r:embed="rId3">
            <a:alphaModFix/>
          </a:blip>
          <a:srcRect b="0" l="1418" r="1418" t="0"/>
          <a:stretch/>
        </p:blipFill>
        <p:spPr>
          <a:xfrm>
            <a:off x="5486400" y="1280150"/>
            <a:ext cx="3017523" cy="274319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9" name="Google Shape;349;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Menggunakan referensi pada desain UI</a:t>
            </a:r>
            <a:endParaRPr/>
          </a:p>
        </p:txBody>
      </p:sp>
      <p:sp>
        <p:nvSpPr>
          <p:cNvPr id="350" name="Google Shape;350;p50"/>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 Gabungkan referensi</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Bayangkan diri Anda seorang DJ yang mencampur trek audio yang berbeda untuk menciptakan karya yang harmonis.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Tarik sedikit tata letak, warna, trik tipografi dari referensi yang berbeda. Teknik seperti itu akan membantu Anda membangun sesuatu yang baru berdasarkan desain atau arahan yang sudah diterapkan. </a:t>
            </a:r>
            <a:endParaRPr sz="1200">
              <a:solidFill>
                <a:schemeClr val="dk1"/>
              </a:solidFill>
              <a:latin typeface="Raleway Medium"/>
              <a:ea typeface="Raleway Medium"/>
              <a:cs typeface="Raleway Medium"/>
              <a:sym typeface="Raleway Medium"/>
            </a:endParaRPr>
          </a:p>
        </p:txBody>
      </p:sp>
      <p:pic>
        <p:nvPicPr>
          <p:cNvPr id="351" name="Google Shape;351;p50"/>
          <p:cNvPicPr preferRelativeResize="0"/>
          <p:nvPr/>
        </p:nvPicPr>
        <p:blipFill rotWithShape="1">
          <a:blip r:embed="rId3">
            <a:alphaModFix/>
          </a:blip>
          <a:srcRect b="13640" l="0" r="0" t="13647"/>
          <a:stretch/>
        </p:blipFill>
        <p:spPr>
          <a:xfrm>
            <a:off x="5486400" y="1280150"/>
            <a:ext cx="3017524" cy="274319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7" name="Google Shape;357;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Menggunakan referensi pada desain UI</a:t>
            </a:r>
            <a:endParaRPr/>
          </a:p>
        </p:txBody>
      </p:sp>
      <p:sp>
        <p:nvSpPr>
          <p:cNvPr id="358" name="Google Shape;358;p51"/>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a:t>
            </a:r>
            <a:r>
              <a:rPr b="1" lang="en" sz="1800">
                <a:solidFill>
                  <a:srgbClr val="743673"/>
                </a:solidFill>
                <a:highlight>
                  <a:schemeClr val="lt1"/>
                </a:highlight>
                <a:latin typeface="Raleway"/>
                <a:ea typeface="Raleway"/>
                <a:cs typeface="Raleway"/>
                <a:sym typeface="Raleway"/>
              </a:rPr>
              <a:t>) Latih mata Anda</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Mempelajari referensi adalah cara yang tepat untuk mempelajari bagaimana desainer lain menggunakan, misalnya, tipografi, ruang putih, warna.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Kumpulkan referensi Anda dalam bentuk moodboard atau pada library Anda di platform seperti Dribble, Behance, atau Pinterest.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Menjelajahi Dribble atau Behance untuk mencari referensi adalah latihan sederhana namun bermanfaat yang membantu menghilangkan krisis ide dan membantu Anda mendekati masalah dengan pandangan baru.</a:t>
            </a:r>
            <a:endParaRPr sz="1200">
              <a:solidFill>
                <a:schemeClr val="dk1"/>
              </a:solidFill>
              <a:latin typeface="Raleway Medium"/>
              <a:ea typeface="Raleway Medium"/>
              <a:cs typeface="Raleway Medium"/>
              <a:sym typeface="Raleway Medium"/>
            </a:endParaRPr>
          </a:p>
        </p:txBody>
      </p:sp>
      <p:pic>
        <p:nvPicPr>
          <p:cNvPr id="359" name="Google Shape;359;p51"/>
          <p:cNvPicPr preferRelativeResize="0"/>
          <p:nvPr/>
        </p:nvPicPr>
        <p:blipFill rotWithShape="1">
          <a:blip r:embed="rId3">
            <a:alphaModFix/>
          </a:blip>
          <a:srcRect b="13626" l="0" r="0" t="13619"/>
          <a:stretch/>
        </p:blipFill>
        <p:spPr>
          <a:xfrm>
            <a:off x="5486400" y="1280150"/>
            <a:ext cx="3017522" cy="274319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5" name="Google Shape;365;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Menggunakan referensi pada desain UI</a:t>
            </a:r>
            <a:endParaRPr/>
          </a:p>
        </p:txBody>
      </p:sp>
      <p:sp>
        <p:nvSpPr>
          <p:cNvPr id="366" name="Google Shape;366;p52"/>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3</a:t>
            </a:r>
            <a:r>
              <a:rPr b="1" lang="en" sz="1800">
                <a:solidFill>
                  <a:srgbClr val="743673"/>
                </a:solidFill>
                <a:highlight>
                  <a:schemeClr val="lt1"/>
                </a:highlight>
                <a:latin typeface="Raleway"/>
                <a:ea typeface="Raleway"/>
                <a:cs typeface="Raleway"/>
                <a:sym typeface="Raleway"/>
              </a:rPr>
              <a:t>) Jelajahi dunia nyata</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a:t>
            </a:r>
            <a:r>
              <a:rPr lang="en" sz="1200">
                <a:solidFill>
                  <a:schemeClr val="dk1"/>
                </a:solidFill>
                <a:latin typeface="Raleway Medium"/>
                <a:ea typeface="Raleway Medium"/>
                <a:cs typeface="Raleway Medium"/>
                <a:sym typeface="Raleway Medium"/>
              </a:rPr>
              <a:t>nspirasi dan referensi ada di sekitar kita, dimanapun Anda berada.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Namun, membutuhkan beberapa upaya untuk menemukannya dan menerapkannya ke dalam solusi desain Anda. Menerapkan beberapa elemen dari dunia nyata ke dunia digital tidak mudah, tetapi dapat menjadi sumber ide baru yang berharga.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Pertimbangkan bagaimana bentuk, tata letak, tekstur dapat ditransfer pada desain Anda, bagaimana mereka dapat meniru keputusan dari dunia nyata, dan bahkan memunculkan emosi yang sama.</a:t>
            </a:r>
            <a:endParaRPr sz="1200">
              <a:solidFill>
                <a:schemeClr val="dk1"/>
              </a:solidFill>
              <a:latin typeface="Raleway Medium"/>
              <a:ea typeface="Raleway Medium"/>
              <a:cs typeface="Raleway Medium"/>
              <a:sym typeface="Raleway Medium"/>
            </a:endParaRPr>
          </a:p>
        </p:txBody>
      </p:sp>
      <p:pic>
        <p:nvPicPr>
          <p:cNvPr id="367" name="Google Shape;367;p52"/>
          <p:cNvPicPr preferRelativeResize="0"/>
          <p:nvPr/>
        </p:nvPicPr>
        <p:blipFill rotWithShape="1">
          <a:blip r:embed="rId3">
            <a:alphaModFix/>
          </a:blip>
          <a:srcRect b="0" l="17233" r="17240" t="0"/>
          <a:stretch/>
        </p:blipFill>
        <p:spPr>
          <a:xfrm>
            <a:off x="5486400" y="1280150"/>
            <a:ext cx="3017523" cy="274319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3" name="Google Shape;373;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Menggunakan referensi pada desain UI</a:t>
            </a:r>
            <a:endParaRPr/>
          </a:p>
        </p:txBody>
      </p:sp>
      <p:sp>
        <p:nvSpPr>
          <p:cNvPr id="374" name="Google Shape;374;p53"/>
          <p:cNvSpPr txBox="1"/>
          <p:nvPr/>
        </p:nvSpPr>
        <p:spPr>
          <a:xfrm>
            <a:off x="685800" y="1185675"/>
            <a:ext cx="76962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Warna dari alam sekitar</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Inspirasi dan referensi ada di sekitar kita, dimanapun Anda berada. Inspirasi warna Anda juga mungkin bisa ada di luar rumah Anda, saat Anda mendaki gunung dan menikmati alam.</a:t>
            </a:r>
            <a:endParaRPr sz="1200">
              <a:solidFill>
                <a:schemeClr val="dk1"/>
              </a:solidFill>
              <a:latin typeface="Raleway Medium"/>
              <a:ea typeface="Raleway Medium"/>
              <a:cs typeface="Raleway Medium"/>
              <a:sym typeface="Raleway Medium"/>
            </a:endParaRPr>
          </a:p>
        </p:txBody>
      </p:sp>
      <p:pic>
        <p:nvPicPr>
          <p:cNvPr id="375" name="Google Shape;375;p53"/>
          <p:cNvPicPr preferRelativeResize="0"/>
          <p:nvPr/>
        </p:nvPicPr>
        <p:blipFill rotWithShape="1">
          <a:blip r:embed="rId3">
            <a:alphaModFix/>
          </a:blip>
          <a:srcRect b="612" l="0" r="0" t="622"/>
          <a:stretch/>
        </p:blipFill>
        <p:spPr>
          <a:xfrm>
            <a:off x="748950" y="2368200"/>
            <a:ext cx="4978299" cy="232627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1" name="Google Shape;381;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Menggunakan referensi pada desain UI</a:t>
            </a:r>
            <a:endParaRPr/>
          </a:p>
        </p:txBody>
      </p:sp>
      <p:sp>
        <p:nvSpPr>
          <p:cNvPr id="382" name="Google Shape;382;p54"/>
          <p:cNvSpPr txBox="1"/>
          <p:nvPr/>
        </p:nvSpPr>
        <p:spPr>
          <a:xfrm>
            <a:off x="685800" y="1185675"/>
            <a:ext cx="76962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Warna dari burung - burung</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Inspirasi dan referensi ada di sekitar kita, dimanapun Anda berada. Inspirasi warna Anda mungkin dapat ditemukan dengan mengamati macam - macam burung.</a:t>
            </a:r>
            <a:endParaRPr sz="1200">
              <a:solidFill>
                <a:schemeClr val="dk1"/>
              </a:solidFill>
              <a:latin typeface="Raleway Medium"/>
              <a:ea typeface="Raleway Medium"/>
              <a:cs typeface="Raleway Medium"/>
              <a:sym typeface="Raleway Medium"/>
            </a:endParaRPr>
          </a:p>
        </p:txBody>
      </p:sp>
      <p:pic>
        <p:nvPicPr>
          <p:cNvPr id="383" name="Google Shape;383;p54"/>
          <p:cNvPicPr preferRelativeResize="0"/>
          <p:nvPr/>
        </p:nvPicPr>
        <p:blipFill>
          <a:blip r:embed="rId3">
            <a:alphaModFix/>
          </a:blip>
          <a:stretch>
            <a:fillRect/>
          </a:stretch>
        </p:blipFill>
        <p:spPr>
          <a:xfrm>
            <a:off x="748950" y="2368200"/>
            <a:ext cx="4978299" cy="232627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5"/>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a:t>
            </a:r>
            <a:r>
              <a:rPr lang="en">
                <a:solidFill>
                  <a:schemeClr val="accent1"/>
                </a:solidFill>
              </a:rPr>
              <a:t>Quiz</a:t>
            </a:r>
            <a:endParaRPr>
              <a:solidFill>
                <a:schemeClr val="accent1"/>
              </a:solidFill>
            </a:endParaRPr>
          </a:p>
        </p:txBody>
      </p:sp>
      <p:sp>
        <p:nvSpPr>
          <p:cNvPr id="389" name="Google Shape;389;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95" name="Google Shape;395;p5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Moodboard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aset  - aset desain dengan panduan tentang cara menggunakannya.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representasi visual dari sebuah merek berisi komponen - komponen.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kumpulan garis horizontal dan vertikal berpotongan yang membagi halaman.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representasi visual dari sebuah konsep desain dalam bentuk kumpulan inspirasi.</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396" name="Google Shape;396;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02" name="Google Shape;402;p5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Moodboard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aset  - aset desain dengan panduan tentang cara menggunakannya.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representasi visual dari sebuah merek berisi komponen - komponen.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kumpulan garis horizontal dan vertikal berpotongan yang membagi halaman.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representasi visual dari sebuah konsep desain dalam bentuk kumpulan inspirasi.</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03" name="Google Shape;403;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4" name="Google Shape;404;p57"/>
          <p:cNvSpPr/>
          <p:nvPr/>
        </p:nvSpPr>
        <p:spPr>
          <a:xfrm>
            <a:off x="685800" y="30031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Moodboard adalah representasi visual dari sebuah konsep desain dalam bentuk kumpulan inspirasi.</a:t>
            </a:r>
            <a:endParaRPr b="1" sz="1000">
              <a:solidFill>
                <a:srgbClr val="733572"/>
              </a:solidFill>
              <a:latin typeface="Raleway"/>
              <a:ea typeface="Raleway"/>
              <a:cs typeface="Raleway"/>
              <a:sym typeface="Raleway"/>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10" name="Google Shape;410;p5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beberapa situs di Internet, dimanakah Anda tidak akan bisa menemukan referensi UI/UX design?</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dribbble.com</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dribble.com</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behance.net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pinterest.com</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11" name="Google Shape;411;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17" name="Google Shape;417;p5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beberapa situs di Internet, dimanakah Anda tidak akan bisa menemukan referensi UI/UX design?</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dribbble.com</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dribble.com</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behance.net</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pinterest.com</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18" name="Google Shape;418;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9" name="Google Shape;419;p59"/>
          <p:cNvSpPr/>
          <p:nvPr/>
        </p:nvSpPr>
        <p:spPr>
          <a:xfrm>
            <a:off x="685800" y="33079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Anda tidak akan menemukan apapun di dribble.com</a:t>
            </a:r>
            <a:endParaRPr b="1" sz="1000">
              <a:solidFill>
                <a:srgbClr val="733572"/>
              </a:solidFill>
              <a:latin typeface="Raleway"/>
              <a:ea typeface="Raleway"/>
              <a:cs typeface="Raleway"/>
              <a:sym typeface="Raleway"/>
            </a:endParaRPr>
          </a:p>
        </p:txBody>
      </p:sp>
      <p:pic>
        <p:nvPicPr>
          <p:cNvPr id="420" name="Google Shape;420;p59"/>
          <p:cNvPicPr preferRelativeResize="0"/>
          <p:nvPr/>
        </p:nvPicPr>
        <p:blipFill>
          <a:blip r:embed="rId3">
            <a:alphaModFix/>
          </a:blip>
          <a:stretch>
            <a:fillRect/>
          </a:stretch>
        </p:blipFill>
        <p:spPr>
          <a:xfrm>
            <a:off x="6091727" y="3048629"/>
            <a:ext cx="2366474" cy="11139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26" name="Google Shape;426;p6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tujuan dari sebuah moodboard,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Pengumpulan inspirasi</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Membantu proses kreatif</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Acuan desain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Dokumen untuk handoff</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27" name="Google Shape;427;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33" name="Google Shape;433;p6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Berikut adalah tujuan dari sebuah moodboard,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Pengumpulan inspirasi</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Membantu proses kreatif</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Acuan desain </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Dokumen untuk handoff</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34" name="Google Shape;434;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5" name="Google Shape;435;p61"/>
          <p:cNvSpPr/>
          <p:nvPr/>
        </p:nvSpPr>
        <p:spPr>
          <a:xfrm>
            <a:off x="685800" y="30793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Developer tidak perlu diberikan moodboard pada saat handoff (dengan kasus-kasus terkecuali). Tujuan utama moodboards adalah untuk mendokumentasikan inspirasi yang bisa dijadikan acuan saat proses desain.</a:t>
            </a:r>
            <a:endParaRPr b="1" sz="1000">
              <a:solidFill>
                <a:srgbClr val="733572"/>
              </a:solidFill>
              <a:latin typeface="Raleway"/>
              <a:ea typeface="Raleway"/>
              <a:cs typeface="Raleway"/>
              <a:sym typeface="Raleway"/>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41" name="Google Shape;441;p6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1800">
                <a:solidFill>
                  <a:schemeClr val="lt1"/>
                </a:solidFill>
                <a:latin typeface="Raleway"/>
                <a:ea typeface="Raleway"/>
                <a:cs typeface="Raleway"/>
                <a:sym typeface="Raleway"/>
              </a:rPr>
              <a:t> Berikut adalah beberapa situs di Internet, dimanakah Anda akan menemukan referensi yang fokus pada User Interface?</a:t>
            </a:r>
            <a:endParaRPr b="1" sz="2800">
              <a:solidFill>
                <a:schemeClr val="accen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Pinterest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Awwwards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UI Movement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Medium</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42" name="Google Shape;442;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48" name="Google Shape;448;p6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1800">
                <a:solidFill>
                  <a:schemeClr val="lt1"/>
                </a:solidFill>
                <a:latin typeface="Raleway"/>
                <a:ea typeface="Raleway"/>
                <a:cs typeface="Raleway"/>
                <a:sym typeface="Raleway"/>
              </a:rPr>
              <a:t> Berikut adalah beberapa situs di Internet, dimanakah Anda akan menemukan referensi yang fokus pada User Interface?</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Pinterest</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Awwwards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UI Movement</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Medium</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49" name="Google Shape;449;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0" name="Google Shape;450;p63"/>
          <p:cNvSpPr/>
          <p:nvPr/>
        </p:nvSpPr>
        <p:spPr>
          <a:xfrm>
            <a:off x="685800" y="33841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UI Movement berfokus pada desain antarmuka pengguna. Setiap desain dalam koleksi diberi tag sehingga Anda dapat dengan mudah menemukan elemen desain.</a:t>
            </a:r>
            <a:endParaRPr b="1" sz="1000">
              <a:solidFill>
                <a:srgbClr val="733572"/>
              </a:solidFill>
              <a:latin typeface="Raleway"/>
              <a:ea typeface="Raleway"/>
              <a:cs typeface="Raleway"/>
              <a:sym typeface="Raleway"/>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56" name="Google Shape;456;p6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Mood statement adalah…</a:t>
            </a:r>
            <a:endParaRPr b="1" sz="2800">
              <a:solidFill>
                <a:schemeClr val="accen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k</a:t>
            </a:r>
            <a:r>
              <a:rPr lang="en" sz="1200">
                <a:solidFill>
                  <a:schemeClr val="lt1"/>
                </a:solidFill>
                <a:latin typeface="Raleway Medium"/>
                <a:ea typeface="Raleway Medium"/>
                <a:cs typeface="Raleway Medium"/>
                <a:sym typeface="Raleway Medium"/>
              </a:rPr>
              <a:t>alimat pendek yang menentukan arah desain Anda secara visual</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k</a:t>
            </a:r>
            <a:r>
              <a:rPr lang="en" sz="1200">
                <a:solidFill>
                  <a:schemeClr val="lt1"/>
                </a:solidFill>
                <a:latin typeface="Raleway Medium"/>
                <a:ea typeface="Raleway Medium"/>
                <a:cs typeface="Raleway Medium"/>
                <a:sym typeface="Raleway Medium"/>
              </a:rPr>
              <a:t>alimat pendek yang menentukan bagaimana perasaan Anda saat berinteraksi dengan layanan atau fitur Anda.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k</a:t>
            </a:r>
            <a:r>
              <a:rPr lang="en" sz="1200">
                <a:solidFill>
                  <a:schemeClr val="lt1"/>
                </a:solidFill>
                <a:latin typeface="Raleway Medium"/>
                <a:ea typeface="Raleway Medium"/>
                <a:cs typeface="Raleway Medium"/>
                <a:sym typeface="Raleway Medium"/>
              </a:rPr>
              <a:t>alimat pendek yang menentukan bagaimana perasaan pengguna Anda saat berinteraksi dengan layanan atau fitur Anda.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kalimat pendek yang menentukan bagaimana desain akan terlihat, font yang akan digunakan, warna dan fotografi. </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57" name="Google Shape;457;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63" name="Google Shape;463;p6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1800">
                <a:solidFill>
                  <a:schemeClr val="lt1"/>
                </a:solidFill>
                <a:latin typeface="Raleway"/>
                <a:ea typeface="Raleway"/>
                <a:cs typeface="Raleway"/>
                <a:sym typeface="Raleway"/>
              </a:rPr>
              <a:t> Mood statement adalah…</a:t>
            </a:r>
            <a:endParaRPr b="1" sz="2800">
              <a:solidFill>
                <a:schemeClr val="accen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kalimat pendek yang menentukan arah desain Anda secara visual</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kalimat pendek yang menentukan bagaimana perasaan Anda saat berinteraksi dengan layanan atau fitur Anda.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kalimat pendek yang menentukan bagaimana perasaan pengguna Anda saat berinteraksi dengan layanan atau fitur Anda.</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kalimat pendek yang menentukan bagaimana desain akan terlihat, font yang akan digunakan, warna dan fotografi. </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64" name="Google Shape;464;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5" name="Google Shape;465;p65"/>
          <p:cNvSpPr/>
          <p:nvPr/>
        </p:nvSpPr>
        <p:spPr>
          <a:xfrm>
            <a:off x="685800" y="36889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Mood statement adalah  kalimat pendek yang menentukan bagaimana perasaan pengguna Anda saat berinteraksi dengan layanan atau fitur Anda.</a:t>
            </a:r>
            <a:endParaRPr b="1" sz="1000">
              <a:solidFill>
                <a:srgbClr val="733572"/>
              </a:solidFill>
              <a:latin typeface="Raleway"/>
              <a:ea typeface="Raleway"/>
              <a:cs typeface="Raleway"/>
              <a:sym typeface="Raleway"/>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71" name="Google Shape;471;p6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Gaya visual adalah…</a:t>
            </a:r>
            <a:endParaRPr b="1" sz="2800">
              <a:solidFill>
                <a:schemeClr val="accen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Nada dan suara merk produk Anda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Perasaan pengguna saat berinteraksi dengan produk</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a:t>
            </a:r>
            <a:r>
              <a:rPr lang="en" sz="1200">
                <a:solidFill>
                  <a:schemeClr val="lt1"/>
                </a:solidFill>
                <a:latin typeface="Raleway Medium"/>
                <a:ea typeface="Raleway Medium"/>
                <a:cs typeface="Raleway Medium"/>
                <a:sym typeface="Raleway Medium"/>
              </a:rPr>
              <a:t>esain yang terlihat, font yang digunakan, warna dan fotografi</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Tipe video, ilustrasi, atau fotografi yang digunakan</a:t>
            </a:r>
            <a:endParaRPr sz="1200">
              <a:solidFill>
                <a:schemeClr val="lt1"/>
              </a:solidFill>
              <a:latin typeface="Raleway Medium"/>
              <a:ea typeface="Raleway Medium"/>
              <a:cs typeface="Raleway Medium"/>
              <a:sym typeface="Raleway Medium"/>
            </a:endParaRPr>
          </a:p>
        </p:txBody>
      </p:sp>
      <p:sp>
        <p:nvSpPr>
          <p:cNvPr id="472" name="Google Shape;472;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78" name="Google Shape;478;p6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1800">
                <a:solidFill>
                  <a:schemeClr val="lt1"/>
                </a:solidFill>
                <a:latin typeface="Raleway"/>
                <a:ea typeface="Raleway"/>
                <a:cs typeface="Raleway"/>
                <a:sym typeface="Raleway"/>
              </a:rPr>
              <a:t> Gaya visual adalah…</a:t>
            </a:r>
            <a:endParaRPr b="1" sz="2800">
              <a:solidFill>
                <a:schemeClr val="accen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Nada dan suara merk produk Anda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Perasaan pengguna saat berinteraksi dengan produk</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Desain yang terlihat, font yang digunakan, warna dan fotografi</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Tipe video, ilustrasi, atau fotografi yang digunakan</a:t>
            </a:r>
            <a:endParaRPr sz="1200">
              <a:solidFill>
                <a:srgbClr val="A667A5"/>
              </a:solidFill>
              <a:latin typeface="Raleway Medium"/>
              <a:ea typeface="Raleway Medium"/>
              <a:cs typeface="Raleway Medium"/>
              <a:sym typeface="Raleway Medium"/>
            </a:endParaRPr>
          </a:p>
        </p:txBody>
      </p:sp>
      <p:sp>
        <p:nvSpPr>
          <p:cNvPr id="479" name="Google Shape;479;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0" name="Google Shape;480;p67"/>
          <p:cNvSpPr/>
          <p:nvPr/>
        </p:nvSpPr>
        <p:spPr>
          <a:xfrm>
            <a:off x="685800" y="30793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Gaya visual adalah bagaimana desain akan terlihat, font yang akan Anda gunakan, warna dan fotografi. Tipe video, ilustrasi atau arah fotografi terkadang dapat menjadi bagian dari gaya visual.</a:t>
            </a:r>
            <a:endParaRPr b="1" sz="1000">
              <a:solidFill>
                <a:srgbClr val="733572"/>
              </a:solidFill>
              <a:latin typeface="Raleway"/>
              <a:ea typeface="Raleway"/>
              <a:cs typeface="Raleway"/>
              <a:sym typeface="Raleway"/>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6" name="Google Shape;486;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Referensi dan bacaan lebih lanjut</a:t>
            </a:r>
            <a:endParaRPr/>
          </a:p>
        </p:txBody>
      </p:sp>
      <p:pic>
        <p:nvPicPr>
          <p:cNvPr id="487" name="Google Shape;487;p68"/>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488" name="Google Shape;488;p68"/>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Referensi dan bacaan lebih lanjut</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hlink"/>
                </a:solidFill>
                <a:uFill>
                  <a:noFill/>
                </a:uFill>
                <a:latin typeface="Raleway Medium"/>
                <a:ea typeface="Raleway Medium"/>
                <a:cs typeface="Raleway Medium"/>
                <a:sym typeface="Raleway Medium"/>
                <a:hlinkClick r:id="rId4"/>
              </a:rPr>
              <a:t>Getting in the Mood: 9 Tips for Better Moodboards by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hlink"/>
                </a:solidFill>
                <a:uFill>
                  <a:noFill/>
                </a:uFill>
                <a:latin typeface="Raleway Medium"/>
                <a:ea typeface="Raleway Medium"/>
                <a:cs typeface="Raleway Medium"/>
                <a:sym typeface="Raleway Medium"/>
                <a:hlinkClick r:id="rId5"/>
              </a:rPr>
              <a:t>    Blink UX</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2)</a:t>
            </a:r>
            <a:r>
              <a:rPr lang="en" sz="1200">
                <a:solidFill>
                  <a:schemeClr val="hlink"/>
                </a:solidFill>
                <a:uFill>
                  <a:noFill/>
                </a:uFill>
                <a:latin typeface="Raleway Medium"/>
                <a:ea typeface="Raleway Medium"/>
                <a:cs typeface="Raleway Medium"/>
                <a:sym typeface="Raleway Medium"/>
                <a:hlinkClick r:id="rId6"/>
              </a:rPr>
              <a:t> A UX guide to designing better mood boards by Paola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hlink"/>
                </a:solidFill>
                <a:uFill>
                  <a:noFill/>
                </a:uFill>
                <a:latin typeface="Raleway Medium"/>
                <a:ea typeface="Raleway Medium"/>
                <a:cs typeface="Raleway Medium"/>
                <a:sym typeface="Raleway Medium"/>
                <a:hlinkClick r:id="rId7"/>
              </a:rPr>
              <a:t>    Ascanio on UX Collective</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3) </a:t>
            </a:r>
            <a:r>
              <a:rPr lang="en" sz="1200">
                <a:solidFill>
                  <a:schemeClr val="hlink"/>
                </a:solidFill>
                <a:uFill>
                  <a:noFill/>
                </a:uFill>
                <a:latin typeface="Raleway Medium"/>
                <a:ea typeface="Raleway Medium"/>
                <a:cs typeface="Raleway Medium"/>
                <a:sym typeface="Raleway Medium"/>
                <a:hlinkClick r:id="rId8"/>
              </a:rPr>
              <a:t>How to use references in UI design by UXPlanet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4) </a:t>
            </a:r>
            <a:r>
              <a:rPr lang="en" sz="1200">
                <a:solidFill>
                  <a:schemeClr val="accent5"/>
                </a:solidFill>
                <a:uFill>
                  <a:noFill/>
                </a:uFill>
                <a:latin typeface="Raleway Medium"/>
                <a:ea typeface="Raleway Medium"/>
                <a:cs typeface="Raleway Medium"/>
                <a:sym typeface="Raleway Medium"/>
                <a:hlinkClick r:id="rId9">
                  <a:extLst>
                    <a:ext uri="{A12FA001-AC4F-418D-AE19-62706E023703}">
                      <ahyp:hlinkClr val="tx"/>
                    </a:ext>
                  </a:extLst>
                </a:hlinkClick>
              </a:rPr>
              <a:t>Why Inspiration Matters – Moodboard in UX/UI mobile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    </a:t>
            </a:r>
            <a:r>
              <a:rPr lang="en" sz="1200">
                <a:solidFill>
                  <a:schemeClr val="accent5"/>
                </a:solidFill>
                <a:uFill>
                  <a:noFill/>
                </a:uFill>
                <a:latin typeface="Raleway Medium"/>
                <a:ea typeface="Raleway Medium"/>
                <a:cs typeface="Raleway Medium"/>
                <a:sym typeface="Raleway Medium"/>
                <a:hlinkClick r:id="rId10">
                  <a:extLst>
                    <a:ext uri="{A12FA001-AC4F-418D-AE19-62706E023703}">
                      <ahyp:hlinkClr val="tx"/>
                    </a:ext>
                  </a:extLst>
                </a:hlinkClick>
              </a:rPr>
              <a:t>app design by Paulina Chmielewska on LinkedIn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5) </a:t>
            </a:r>
            <a:r>
              <a:rPr lang="en" sz="1200">
                <a:solidFill>
                  <a:schemeClr val="accent5"/>
                </a:solidFill>
                <a:uFill>
                  <a:noFill/>
                </a:uFill>
                <a:latin typeface="Raleway Medium"/>
                <a:ea typeface="Raleway Medium"/>
                <a:cs typeface="Raleway Medium"/>
                <a:sym typeface="Raleway Medium"/>
                <a:hlinkClick r:id="rId11">
                  <a:extLst>
                    <a:ext uri="{A12FA001-AC4F-418D-AE19-62706E023703}">
                      <ahyp:hlinkClr val="tx"/>
                    </a:ext>
                  </a:extLst>
                </a:hlinkClick>
              </a:rPr>
              <a:t>10 mood boards to inspire your UX designs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    </a:t>
            </a:r>
            <a:r>
              <a:rPr lang="en" sz="1200">
                <a:solidFill>
                  <a:schemeClr val="accent5"/>
                </a:solidFill>
                <a:uFill>
                  <a:noFill/>
                </a:uFill>
                <a:latin typeface="Raleway Medium"/>
                <a:ea typeface="Raleway Medium"/>
                <a:cs typeface="Raleway Medium"/>
                <a:sym typeface="Raleway Medium"/>
                <a:hlinkClick r:id="rId12">
                  <a:extLst>
                    <a:ext uri="{A12FA001-AC4F-418D-AE19-62706E023703}">
                      <ahyp:hlinkClr val="tx"/>
                    </a:ext>
                  </a:extLst>
                </a:hlinkClick>
              </a:rPr>
              <a:t>13 min read</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492" name="Shape 492"/>
        <p:cNvGrpSpPr/>
        <p:nvPr/>
      </p:nvGrpSpPr>
      <p:grpSpPr>
        <a:xfrm>
          <a:off x="0" y="0"/>
          <a:ext cx="0" cy="0"/>
          <a:chOff x="0" y="0"/>
          <a:chExt cx="0" cy="0"/>
        </a:xfrm>
      </p:grpSpPr>
      <p:sp>
        <p:nvSpPr>
          <p:cNvPr id="493" name="Google Shape;493;p69"/>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94" name="Google Shape;494;p69"/>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95" name="Google Shape;495;p69"/>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96" name="Google Shape;496;p69"/>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97" name="Google Shape;497;p69"/>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498" name="Google Shape;498;p69"/>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499" name="Google Shape;499;p69"/>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500" name="Google Shape;500;p69"/>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