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Montserrat"/>
      <p:regular r:id="rId60"/>
      <p:bold r:id="rId61"/>
      <p:italic r:id="rId62"/>
      <p:boldItalic r:id="rId63"/>
    </p:embeddedFont>
    <p:embeddedFont>
      <p:font typeface="Lato Black"/>
      <p:bold r:id="rId64"/>
      <p:boldItalic r:id="rId65"/>
    </p:embeddedFont>
    <p:embeddedFont>
      <p:font typeface="Raleway Medium"/>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italic.fntdata"/><Relationship Id="rId61" Type="http://schemas.openxmlformats.org/officeDocument/2006/relationships/font" Target="fonts/Montserrat-bold.fntdata"/><Relationship Id="rId20" Type="http://schemas.openxmlformats.org/officeDocument/2006/relationships/slide" Target="slides/slide15.xml"/><Relationship Id="rId64" Type="http://schemas.openxmlformats.org/officeDocument/2006/relationships/font" Target="fonts/LatoBlack-bold.fntdata"/><Relationship Id="rId63" Type="http://schemas.openxmlformats.org/officeDocument/2006/relationships/font" Target="fonts/Montserrat-boldItalic.fntdata"/><Relationship Id="rId22" Type="http://schemas.openxmlformats.org/officeDocument/2006/relationships/slide" Target="slides/slide17.xml"/><Relationship Id="rId66" Type="http://schemas.openxmlformats.org/officeDocument/2006/relationships/font" Target="fonts/RalewayMedium-regular.fntdata"/><Relationship Id="rId21" Type="http://schemas.openxmlformats.org/officeDocument/2006/relationships/slide" Target="slides/slide16.xml"/><Relationship Id="rId65" Type="http://schemas.openxmlformats.org/officeDocument/2006/relationships/font" Target="fonts/LatoBlack-boldItalic.fntdata"/><Relationship Id="rId24" Type="http://schemas.openxmlformats.org/officeDocument/2006/relationships/slide" Target="slides/slide19.xml"/><Relationship Id="rId68" Type="http://schemas.openxmlformats.org/officeDocument/2006/relationships/font" Target="fonts/RalewayMedium-italic.fntdata"/><Relationship Id="rId23" Type="http://schemas.openxmlformats.org/officeDocument/2006/relationships/slide" Target="slides/slide18.xml"/><Relationship Id="rId67" Type="http://schemas.openxmlformats.org/officeDocument/2006/relationships/font" Target="fonts/RalewayMedium-bold.fntdata"/><Relationship Id="rId60" Type="http://schemas.openxmlformats.org/officeDocument/2006/relationships/font" Target="fonts/Montserrat-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unttim?utm_source=unsplash&amp;utm_medium=referral&amp;utm_content=creditCopyText" TargetMode="External"/><Relationship Id="rId3" Type="http://schemas.openxmlformats.org/officeDocument/2006/relationships/hyperlink" Target="https://unsplash.com/@punttim?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albigwords.com/bad-ux-writing-mistake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rowrevenue.io/ux-writing/"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ux-writing/"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eshoots?utm_source=unsplash&amp;utm_medium=referral&amp;utm_content=creditCopyText" TargetMode="External"/><Relationship Id="rId3" Type="http://schemas.openxmlformats.org/officeDocument/2006/relationships/hyperlink" Target="https://unsplash.com/@jeshoots?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munix?utm_source=unsplash&amp;utm_medium=referral&amp;utm_content=creditCopyText" TargetMode="External"/><Relationship Id="rId3" Type="http://schemas.openxmlformats.org/officeDocument/2006/relationships/hyperlink" Target="https://unsplash.com/@lamunix?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mnaus?utm_source=unsplash&amp;utm_medium=referral&amp;utm_content=creditCopyText" TargetMode="External"/><Relationship Id="rId3" Type="http://schemas.openxmlformats.org/officeDocument/2006/relationships/hyperlink" Target="https://unsplash.com/@bramnaus?utm_source=unsplash&amp;utm_medium=referral&amp;utm_content=creditCopyText" TargetMode="External"/><Relationship Id="rId4" Type="http://schemas.openxmlformats.org/officeDocument/2006/relationships/hyperlink" Target="https://unsplash.com/s/photos/article?utm_source=unsplash&amp;utm_medium=referral&amp;utm_content=creditCopyText" TargetMode="External"/><Relationship Id="rId5" Type="http://schemas.openxmlformats.org/officeDocument/2006/relationships/hyperlink" Target="https://unsplash.com/s/photos/article?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ookecagle?utm_source=unsplash&amp;utm_medium=referral&amp;utm_content=creditCopyText" TargetMode="External"/><Relationship Id="rId3" Type="http://schemas.openxmlformats.org/officeDocument/2006/relationships/hyperlink" Target="https://unsplash.com/@brookecagle?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lairman?utm_source=unsplash&amp;utm_medium=referral&amp;utm_content=creditCopyText" TargetMode="External"/><Relationship Id="rId3" Type="http://schemas.openxmlformats.org/officeDocument/2006/relationships/hyperlink" Target="https://unsplash.com/@flairman?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lfsight.com/age-verification-widget/html/"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882651c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882651c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882651c6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882651c6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Tim Gouw</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882651c6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882651c6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https://realbigwords.com/bad-ux-writing-mistakes</a:t>
            </a:r>
            <a:r>
              <a:rPr lang="en">
                <a:solidFill>
                  <a:schemeClr val="dk1"/>
                </a:solidFill>
              </a:rPr>
              <a:t>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882651c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882651c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https://growrevenue.io/ux-writing/</a:t>
            </a:r>
            <a:r>
              <a:rPr lang="en">
                <a:solidFill>
                  <a:schemeClr val="dk1"/>
                </a:solidFill>
              </a:rPr>
              <a:t>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882651c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882651c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https://www.justinmind.com/blog/ux-writing/</a:t>
            </a:r>
            <a:r>
              <a:rPr lang="en">
                <a:solidFill>
                  <a:schemeClr val="dk1"/>
                </a:solidFill>
              </a:rPr>
              <a:t>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882651c6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882651c6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JESHOOTS.COM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882651c6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882651c6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882651c6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882651c6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1882651c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1882651c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882651c6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882651c6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882651c6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882651c6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1882651c6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1882651c6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1882651c6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1882651c6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Ana Municio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1882651c6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1882651c6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Bram Naus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1882651c61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1882651c6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1882651c6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1882651c6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882651c6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882651c6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882651c6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1882651c6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0df2df513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0df2df513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882651c61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882651c61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Brooke Cagle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1882651c6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1882651c6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1882651c6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1882651c6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Muhammed Abiodun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1882651c61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1882651c61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882651c6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882651c6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882651c61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1882651c61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882651c61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882651c61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1882651c6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1882651c6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882651c61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882651c61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882651c61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882651c61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1882651c61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1882651c61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1882651c61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1882651c61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198a7678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198a7678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1882651c6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1882651c6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98a7678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98a76781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1882651c61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1882651c61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198a76781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198a76781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https://elfsight.com/age-verification-widget/html/</a:t>
            </a:r>
            <a:r>
              <a:rPr lang="en">
                <a:solidFill>
                  <a:schemeClr val="dk1"/>
                </a:solidFill>
              </a:rPr>
              <a:t>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882651c61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1882651c61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198a76781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198a76781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98a76781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98a76781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98a76781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98a76781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198a76781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198a76781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98a76781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98a76781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1" Type="http://schemas.openxmlformats.org/officeDocument/2006/relationships/hyperlink" Target="https://blog.tubikstudio.com/user-experience-tips-ux-writing/" TargetMode="External"/><Relationship Id="rId10" Type="http://schemas.openxmlformats.org/officeDocument/2006/relationships/hyperlink" Target="https://blog.tubikstudio.com/user-experience-tips-ux-writing/" TargetMode="External"/><Relationship Id="rId13" Type="http://schemas.openxmlformats.org/officeDocument/2006/relationships/hyperlink" Target="https://realbigwords.com/bad-ux-writing-mistakes" TargetMode="External"/><Relationship Id="rId12" Type="http://schemas.openxmlformats.org/officeDocument/2006/relationships/hyperlink" Target="https://realbigwords.com/bad-ux-writing-mistakes" TargetMode="External"/><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png"/><Relationship Id="rId4" Type="http://schemas.openxmlformats.org/officeDocument/2006/relationships/hyperlink" Target="https://gathercontent.com/blog/content-101-ux-writing" TargetMode="External"/><Relationship Id="rId9" Type="http://schemas.openxmlformats.org/officeDocument/2006/relationships/hyperlink" Target="https://blog.tubikstudio.com/user-experience-tips-ux-writing/" TargetMode="External"/><Relationship Id="rId15" Type="http://schemas.openxmlformats.org/officeDocument/2006/relationships/hyperlink" Target="https://realbigwords.com/bad-ux-writing-mistakes" TargetMode="External"/><Relationship Id="rId14" Type="http://schemas.openxmlformats.org/officeDocument/2006/relationships/hyperlink" Target="https://realbigwords.com/bad-ux-writing-mistakes" TargetMode="External"/><Relationship Id="rId17" Type="http://schemas.openxmlformats.org/officeDocument/2006/relationships/hyperlink" Target="https://www.mobilespoon.net/2018/11/ux-writing-comprehensive-guide-for.html" TargetMode="External"/><Relationship Id="rId16" Type="http://schemas.openxmlformats.org/officeDocument/2006/relationships/hyperlink" Target="https://growrevenue.io/ux-writing/" TargetMode="External"/><Relationship Id="rId5" Type="http://schemas.openxmlformats.org/officeDocument/2006/relationships/hyperlink" Target="https://xd.adobe.com/ideas/process/information-architecture/ux-writing-guidelines/" TargetMode="External"/><Relationship Id="rId19" Type="http://schemas.openxmlformats.org/officeDocument/2006/relationships/hyperlink" Target="https://www.mobilespoon.net/2018/11/ux-writing-comprehensive-guide-for.html" TargetMode="External"/><Relationship Id="rId6" Type="http://schemas.openxmlformats.org/officeDocument/2006/relationships/hyperlink" Target="https://uxmovement.com/buttons/5-rules-for-choosing-the-right-words-on-button-labels/" TargetMode="External"/><Relationship Id="rId18" Type="http://schemas.openxmlformats.org/officeDocument/2006/relationships/hyperlink" Target="https://www.mobilespoon.net/2018/11/ux-writing-comprehensive-guide-for.html" TargetMode="External"/><Relationship Id="rId7" Type="http://schemas.openxmlformats.org/officeDocument/2006/relationships/hyperlink" Target="https://uxmovement.com/buttons/5-rules-for-choosing-the-right-words-on-button-labels/" TargetMode="External"/><Relationship Id="rId8" Type="http://schemas.openxmlformats.org/officeDocument/2006/relationships/hyperlink" Target="https://uxmovement.com/buttons/5-rules-for-choosing-the-right-words-on-button-label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UX Writing</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6 - Topic 1</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UX Writing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UX writing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Jenis - jenis konten UX</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Prinsip penulisan UX yang baik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Metodologi penulisan UX</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5) Contoh penulisan UX yang baik</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UX writing</a:t>
            </a:r>
            <a:endParaRPr/>
          </a:p>
        </p:txBody>
      </p:sp>
      <p:sp>
        <p:nvSpPr>
          <p:cNvPr id="115" name="Google Shape;115;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UX writing</a:t>
            </a:r>
            <a:endParaRPr/>
          </a:p>
        </p:txBody>
      </p:sp>
      <p:sp>
        <p:nvSpPr>
          <p:cNvPr id="122" name="Google Shape;122;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Latar Belakang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Words are a powerful force.</a:t>
            </a:r>
            <a:endParaRPr i="1"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Copy atau salinan</a:t>
            </a:r>
            <a:r>
              <a:rPr lang="en" sz="1200">
                <a:solidFill>
                  <a:schemeClr val="dk1"/>
                </a:solidFill>
                <a:latin typeface="Raleway Medium"/>
                <a:ea typeface="Raleway Medium"/>
                <a:cs typeface="Raleway Medium"/>
                <a:sym typeface="Raleway Medium"/>
              </a:rPr>
              <a:t> adalah faktor penting dalam memandu pengguna dan membantu mereka menyelesaikan aktivitas dalam sebuah produk. Maka dari itu, bidang desain produk menempatkan banyak fokus pada pemolesan salinan.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Belakangan ini, </a:t>
            </a:r>
            <a:r>
              <a:rPr b="1" lang="en" sz="1200">
                <a:solidFill>
                  <a:schemeClr val="dk1"/>
                </a:solidFill>
                <a:latin typeface="Raleway"/>
                <a:ea typeface="Raleway"/>
                <a:cs typeface="Raleway"/>
                <a:sym typeface="Raleway"/>
              </a:rPr>
              <a:t>copywriting atau penulisan salinan untuk produk digital berkembang menjadi spesialisasinya sendiri— UX writing / penulisan UX</a:t>
            </a:r>
            <a:r>
              <a:rPr lang="en" sz="1200">
                <a:solidFill>
                  <a:schemeClr val="dk1"/>
                </a:solidFill>
                <a:latin typeface="Raleway Medium"/>
                <a:ea typeface="Raleway Medium"/>
                <a:cs typeface="Raleway Medium"/>
                <a:sym typeface="Raleway Medium"/>
              </a:rPr>
              <a:t>. Penulis UX adalah jabatan pekerjaan yang semakin dikenal, dan banyak perusahaan besar cari.</a:t>
            </a:r>
            <a:endParaRPr sz="1200">
              <a:solidFill>
                <a:schemeClr val="dk1"/>
              </a:solidFill>
              <a:latin typeface="Raleway Medium"/>
              <a:ea typeface="Raleway Medium"/>
              <a:cs typeface="Raleway Medium"/>
              <a:sym typeface="Raleway Medium"/>
            </a:endParaRPr>
          </a:p>
        </p:txBody>
      </p:sp>
      <p:pic>
        <p:nvPicPr>
          <p:cNvPr id="123" name="Google Shape;123;p23"/>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UX writing</a:t>
            </a:r>
            <a:endParaRPr/>
          </a:p>
        </p:txBody>
      </p:sp>
      <p:sp>
        <p:nvSpPr>
          <p:cNvPr id="130" name="Google Shape;130;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Apa itu UX writing?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UX writing atau p</a:t>
            </a:r>
            <a:r>
              <a:rPr lang="en" sz="1200">
                <a:solidFill>
                  <a:schemeClr val="dk1"/>
                </a:solidFill>
                <a:latin typeface="Raleway Medium"/>
                <a:ea typeface="Raleway Medium"/>
                <a:cs typeface="Raleway Medium"/>
                <a:sym typeface="Raleway Medium"/>
              </a:rPr>
              <a:t>enulisan UX adalah praktik mendesain kata-kata yang dilihat pengguna ketika mereka berinteraksi dengan perangkat lunak.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Penulis UX membuat kata-kata yang kita baca atau dengar saat kita menggunakan produk digital. Mereka bertanggung jawab atas </a:t>
            </a:r>
            <a:r>
              <a:rPr b="1" lang="en" sz="1200">
                <a:solidFill>
                  <a:schemeClr val="dk1"/>
                </a:solidFill>
                <a:latin typeface="Raleway"/>
                <a:ea typeface="Raleway"/>
                <a:cs typeface="Raleway"/>
                <a:sym typeface="Raleway"/>
              </a:rPr>
              <a:t>microcopy</a:t>
            </a:r>
            <a:r>
              <a:rPr lang="en" sz="1200">
                <a:solidFill>
                  <a:schemeClr val="dk1"/>
                </a:solidFill>
                <a:latin typeface="Raleway Medium"/>
                <a:ea typeface="Raleway Medium"/>
                <a:cs typeface="Raleway Medium"/>
                <a:sym typeface="Raleway Medium"/>
              </a:rPr>
              <a:t> (label untuk tombol, opsi menu, </a:t>
            </a:r>
            <a:r>
              <a:rPr i="1" lang="en" sz="1200">
                <a:solidFill>
                  <a:schemeClr val="dk1"/>
                </a:solidFill>
                <a:latin typeface="Raleway Medium"/>
                <a:ea typeface="Raleway Medium"/>
                <a:cs typeface="Raleway Medium"/>
                <a:sym typeface="Raleway Medium"/>
              </a:rPr>
              <a:t>error messages</a:t>
            </a:r>
            <a:r>
              <a:rPr lang="en" sz="1200">
                <a:solidFill>
                  <a:schemeClr val="dk1"/>
                </a:solidFill>
                <a:latin typeface="Raleway Medium"/>
                <a:ea typeface="Raleway Medium"/>
                <a:cs typeface="Raleway Medium"/>
                <a:sym typeface="Raleway Medium"/>
              </a:rPr>
              <a:t>) dan juga </a:t>
            </a:r>
            <a:r>
              <a:rPr b="1" lang="en" sz="1200">
                <a:solidFill>
                  <a:schemeClr val="dk1"/>
                </a:solidFill>
                <a:latin typeface="Raleway"/>
                <a:ea typeface="Raleway"/>
                <a:cs typeface="Raleway"/>
                <a:sym typeface="Raleway"/>
              </a:rPr>
              <a:t>macrocopy</a:t>
            </a:r>
            <a:r>
              <a:rPr lang="en" sz="1200">
                <a:solidFill>
                  <a:schemeClr val="dk1"/>
                </a:solidFill>
                <a:latin typeface="Raleway Medium"/>
                <a:ea typeface="Raleway Medium"/>
                <a:cs typeface="Raleway Medium"/>
                <a:sym typeface="Raleway Medium"/>
              </a:rPr>
              <a:t> (pesan informasi, undangan, teks pada halaman konfirmasi).</a:t>
            </a:r>
            <a:endParaRPr sz="1200">
              <a:solidFill>
                <a:schemeClr val="dk1"/>
              </a:solidFill>
              <a:latin typeface="Raleway Medium"/>
              <a:ea typeface="Raleway Medium"/>
              <a:cs typeface="Raleway Medium"/>
              <a:sym typeface="Raleway Medium"/>
            </a:endParaRPr>
          </a:p>
        </p:txBody>
      </p:sp>
      <p:pic>
        <p:nvPicPr>
          <p:cNvPr id="131" name="Google Shape;131;p24"/>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UX writing</a:t>
            </a:r>
            <a:endParaRPr/>
          </a:p>
        </p:txBody>
      </p:sp>
      <p:sp>
        <p:nvSpPr>
          <p:cNvPr id="138" name="Google Shape;138;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UX writing penting?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Copy</a:t>
            </a:r>
            <a:r>
              <a:rPr lang="en" sz="1200">
                <a:solidFill>
                  <a:schemeClr val="dk1"/>
                </a:solidFill>
                <a:latin typeface="Raleway Medium"/>
                <a:ea typeface="Raleway Medium"/>
                <a:cs typeface="Raleway Medium"/>
                <a:sym typeface="Raleway Medium"/>
              </a:rPr>
              <a:t> yang baik dapat membuat pengalaman pengguna lebih menyenangkan! Sedangkan copy yang membingungkan dan panjang dapat membuat pengguna berpaling dari produk.</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Seindah apapun visual antarmuka Anda; jika copy-nya membingungkan, menyesatkan, atau secara tata bahasa salah, pengguna akan mendapatkan pengalaman pengguna yang buruk.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lihat beberapa contoh yang membuktikan bahwa UX writing sangatlah penting.</a:t>
            </a:r>
            <a:endParaRPr sz="1200">
              <a:solidFill>
                <a:schemeClr val="dk1"/>
              </a:solidFill>
              <a:latin typeface="Raleway Medium"/>
              <a:ea typeface="Raleway Medium"/>
              <a:cs typeface="Raleway Medium"/>
              <a:sym typeface="Raleway Medium"/>
            </a:endParaRPr>
          </a:p>
        </p:txBody>
      </p:sp>
      <p:pic>
        <p:nvPicPr>
          <p:cNvPr id="139" name="Google Shape;139;p25"/>
          <p:cNvPicPr preferRelativeResize="0"/>
          <p:nvPr/>
        </p:nvPicPr>
        <p:blipFill rotWithShape="1">
          <a:blip r:embed="rId3">
            <a:alphaModFix/>
          </a:blip>
          <a:srcRect b="0" l="13235" r="13235" t="0"/>
          <a:stretch/>
        </p:blipFill>
        <p:spPr>
          <a:xfrm>
            <a:off x="5486400" y="1207587"/>
            <a:ext cx="3017518" cy="2743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UX writing</a:t>
            </a:r>
            <a:endParaRPr/>
          </a:p>
        </p:txBody>
      </p:sp>
      <p:sp>
        <p:nvSpPr>
          <p:cNvPr id="146" name="Google Shape;146;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#1</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gambar disamping, letak button dengan microcopy ‘continue’ dan letak ‘text link’ dengan pertanyaan ‘Have a promo or gift card code?’ membuat tujuan button menjadi membingungkan.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Apakah kita perlu klik ‘continue’ karena kita mempunyai promo atau gift code, atau karena kita sudah mengisi payment details dan billing address.?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47" name="Google Shape;147;p26"/>
          <p:cNvPicPr preferRelativeResize="0"/>
          <p:nvPr/>
        </p:nvPicPr>
        <p:blipFill>
          <a:blip r:embed="rId3">
            <a:alphaModFix/>
          </a:blip>
          <a:stretch>
            <a:fillRect/>
          </a:stretch>
        </p:blipFill>
        <p:spPr>
          <a:xfrm>
            <a:off x="4953001" y="1302563"/>
            <a:ext cx="3657600" cy="27049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UX writing</a:t>
            </a:r>
            <a:endParaRPr/>
          </a:p>
        </p:txBody>
      </p:sp>
      <p:sp>
        <p:nvSpPr>
          <p:cNvPr id="154" name="Google Shape;154;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#2</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contoh ini,  copy yang digunakan sangatlah teknis dan seringkali tidak dimengerti pengguna.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copy, design-nya pun tidak begitu efektif dalam menyelesaikan masalah. Perlu ada informasi lebih lanjut untuk mengatasi error atau memberikan opsi selain ‘ok’ yang mengarahkan pengguna kepada aktivitas seperti ‘settings’ atau ‘report problem to …’</a:t>
            </a:r>
            <a:endParaRPr sz="1200">
              <a:solidFill>
                <a:schemeClr val="dk1"/>
              </a:solidFill>
              <a:latin typeface="Raleway Medium"/>
              <a:ea typeface="Raleway Medium"/>
              <a:cs typeface="Raleway Medium"/>
              <a:sym typeface="Raleway Medium"/>
            </a:endParaRPr>
          </a:p>
        </p:txBody>
      </p:sp>
      <p:pic>
        <p:nvPicPr>
          <p:cNvPr id="155" name="Google Shape;155;p27"/>
          <p:cNvPicPr preferRelativeResize="0"/>
          <p:nvPr/>
        </p:nvPicPr>
        <p:blipFill rotWithShape="1">
          <a:blip r:embed="rId3">
            <a:alphaModFix/>
          </a:blip>
          <a:srcRect b="0" l="9852" r="9852" t="0"/>
          <a:stretch/>
        </p:blipFill>
        <p:spPr>
          <a:xfrm>
            <a:off x="4953001" y="1302563"/>
            <a:ext cx="3657600" cy="27049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UX writing</a:t>
            </a:r>
            <a:endParaRPr/>
          </a:p>
        </p:txBody>
      </p:sp>
      <p:sp>
        <p:nvSpPr>
          <p:cNvPr id="162" name="Google Shape;162;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#3</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Copy ‘system error’ pada popup di samping tidaklah tepat. Kasus yang terjadi disini adalah: pengguna mencoba memilih sebuah seat (misal untuk menonton di bioskop), tetapi seat tersebut sudah habis. Yang terjadi bukanlah sebuah error.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Copy yang lebih baik adalah:</a:t>
            </a:r>
            <a:br>
              <a:rPr b="1" lang="en" sz="1200">
                <a:solidFill>
                  <a:schemeClr val="dk1"/>
                </a:solidFill>
                <a:latin typeface="Raleway"/>
                <a:ea typeface="Raleway"/>
                <a:cs typeface="Raleway"/>
                <a:sym typeface="Raleway"/>
              </a:rPr>
            </a:br>
            <a:r>
              <a:rPr b="1" lang="en" sz="1200">
                <a:solidFill>
                  <a:schemeClr val="dk1"/>
                </a:solidFill>
                <a:latin typeface="Raleway"/>
                <a:ea typeface="Raleway"/>
                <a:cs typeface="Raleway"/>
                <a:sym typeface="Raleway"/>
              </a:rPr>
              <a:t>Oh no! The seats you chose are no longer available.</a:t>
            </a:r>
            <a:br>
              <a:rPr b="1" lang="en" sz="1200">
                <a:solidFill>
                  <a:schemeClr val="dk1"/>
                </a:solidFill>
                <a:latin typeface="Raleway"/>
                <a:ea typeface="Raleway"/>
                <a:cs typeface="Raleway"/>
                <a:sym typeface="Raleway"/>
              </a:rPr>
            </a:br>
            <a:r>
              <a:rPr lang="en" sz="1200">
                <a:solidFill>
                  <a:schemeClr val="dk1"/>
                </a:solidFill>
                <a:latin typeface="Raleway Medium"/>
                <a:ea typeface="Raleway Medium"/>
                <a:cs typeface="Raleway Medium"/>
                <a:sym typeface="Raleway Medium"/>
              </a:rPr>
              <a:t>Don’t worry, we can try to find more seats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(button) Find more seats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(close button diletakkan pada pojok kanan atas popup dalam bentuk icon)</a:t>
            </a:r>
            <a:endParaRPr sz="1200">
              <a:solidFill>
                <a:schemeClr val="dk1"/>
              </a:solidFill>
              <a:latin typeface="Raleway Medium"/>
              <a:ea typeface="Raleway Medium"/>
              <a:cs typeface="Raleway Medium"/>
              <a:sym typeface="Raleway Medium"/>
            </a:endParaRPr>
          </a:p>
        </p:txBody>
      </p:sp>
      <p:pic>
        <p:nvPicPr>
          <p:cNvPr id="163" name="Google Shape;163;p28"/>
          <p:cNvPicPr preferRelativeResize="0"/>
          <p:nvPr/>
        </p:nvPicPr>
        <p:blipFill rotWithShape="1">
          <a:blip r:embed="rId3">
            <a:alphaModFix/>
          </a:blip>
          <a:srcRect b="0" l="9435" r="9435" t="0"/>
          <a:stretch/>
        </p:blipFill>
        <p:spPr>
          <a:xfrm>
            <a:off x="4953001" y="1302563"/>
            <a:ext cx="3657600" cy="27049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UX writing</a:t>
            </a:r>
            <a:endParaRPr/>
          </a:p>
        </p:txBody>
      </p:sp>
      <p:sp>
        <p:nvSpPr>
          <p:cNvPr id="170" name="Google Shape;170;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Catatan kecil</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Kebanyakan p</a:t>
            </a:r>
            <a:r>
              <a:rPr lang="en" sz="1200">
                <a:solidFill>
                  <a:schemeClr val="dk1"/>
                </a:solidFill>
                <a:latin typeface="Raleway Medium"/>
                <a:ea typeface="Raleway Medium"/>
                <a:cs typeface="Raleway Medium"/>
                <a:sym typeface="Raleway Medium"/>
              </a:rPr>
              <a:t>engunjung tidak datang ke situs web untuk melihat sebuah desain. Mereka datang untuk mencari informasi atau melakukan sesuatu.</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kata lain, semua desain, warna dan psikologi yang telah Anda rancang hanya berfungsi jika digabungkan dengan copy yang tepat. Kombinasi kata dan desain yang cerdas adalah yang menjamin kegunaan yang efisien dan pengalaman pengguna yang menyenangkan.</a:t>
            </a:r>
            <a:endParaRPr sz="1200">
              <a:solidFill>
                <a:schemeClr val="dk1"/>
              </a:solidFill>
              <a:latin typeface="Raleway Medium"/>
              <a:ea typeface="Raleway Medium"/>
              <a:cs typeface="Raleway Medium"/>
              <a:sym typeface="Raleway Medium"/>
            </a:endParaRPr>
          </a:p>
        </p:txBody>
      </p:sp>
      <p:pic>
        <p:nvPicPr>
          <p:cNvPr id="171" name="Google Shape;171;p29"/>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Jenis - jenis konten UX</a:t>
            </a:r>
            <a:endParaRPr/>
          </a:p>
        </p:txBody>
      </p:sp>
      <p:sp>
        <p:nvSpPr>
          <p:cNvPr id="177" name="Google Shape;177;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konten UX</a:t>
            </a:r>
            <a:endParaRPr/>
          </a:p>
        </p:txBody>
      </p:sp>
      <p:sp>
        <p:nvSpPr>
          <p:cNvPr id="184" name="Google Shape;184;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Jenis - jenis konten UX</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Jenis konten yang akan dibuat oleh penulis UX bergantung pada kebutuhan perusahaan, tim, dan pengguna. Namun, berikut adalah jenis konten UX yang paling umum:</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UI text (UI = teks antarmuka yang dikirim melalui layar atau suara saat menggunakan produk)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UX copy (UX = teks pada setiap bagian pengalaman pengguna, termasuk marketing &amp; support copy)</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Interface copy</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UI content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Microcopy</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Product or in-product copy</a:t>
            </a:r>
            <a:endParaRPr sz="1200">
              <a:solidFill>
                <a:schemeClr val="dk1"/>
              </a:solidFill>
              <a:latin typeface="Raleway Medium"/>
              <a:ea typeface="Raleway Medium"/>
              <a:cs typeface="Raleway Medium"/>
              <a:sym typeface="Raleway Medium"/>
            </a:endParaRPr>
          </a:p>
        </p:txBody>
      </p:sp>
      <p:pic>
        <p:nvPicPr>
          <p:cNvPr id="185" name="Google Shape;185;p31"/>
          <p:cNvPicPr preferRelativeResize="0"/>
          <p:nvPr/>
        </p:nvPicPr>
        <p:blipFill rotWithShape="1">
          <a:blip r:embed="rId3">
            <a:alphaModFix/>
          </a:blip>
          <a:srcRect b="0" l="404" r="17094" t="0"/>
          <a:stretch/>
        </p:blipFill>
        <p:spPr>
          <a:xfrm>
            <a:off x="5486400" y="1207587"/>
            <a:ext cx="3017518"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Jenis - jenis konten UX</a:t>
            </a:r>
            <a:endParaRPr/>
          </a:p>
        </p:txBody>
      </p:sp>
      <p:sp>
        <p:nvSpPr>
          <p:cNvPr id="192" name="Google Shape;192;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Je</a:t>
            </a:r>
            <a:r>
              <a:rPr lang="en" sz="1200">
                <a:solidFill>
                  <a:schemeClr val="dk1"/>
                </a:solidFill>
                <a:latin typeface="Raleway Medium"/>
                <a:ea typeface="Raleway Medium"/>
                <a:cs typeface="Raleway Medium"/>
                <a:sym typeface="Raleway Medium"/>
              </a:rPr>
              <a:t>nis - jenis konten tersebut  biasanya dibuat untuk perangkat lunak, tetapi konten UX juga bisa digunakan pada aplikasi web atau jenis desain interaksi berbasis web lainnya seperti sistem navigasi situs web yang kompleks, chatbot, atau bahkan product selector.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Teks orientasi, instruksi, error messages, contextual help dan tooltips, label pada formulir,</a:t>
            </a:r>
            <a:r>
              <a:rPr b="1" lang="en" sz="1200">
                <a:solidFill>
                  <a:schemeClr val="dk1"/>
                </a:solidFill>
                <a:latin typeface="Raleway"/>
                <a:ea typeface="Raleway"/>
                <a:cs typeface="Raleway"/>
                <a:sym typeface="Raleway"/>
              </a:rPr>
              <a:t> mereka semua adalah bagian dari keluarga penulisan UX.</a:t>
            </a:r>
            <a:endParaRPr b="1" sz="1200">
              <a:solidFill>
                <a:schemeClr val="dk1"/>
              </a:solidFill>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perusahaan yang lebih kecil, satu penulis dapat mengerjakan semua teks tersebut. Di perusahaan besar seperti Google, Facebook, Microsoft, atau lainnya, mungkin ada beberapa penulis UX yang berspesialisasi dalam satu fitur atau produk tertentu.</a:t>
            </a:r>
            <a:endParaRPr sz="1200">
              <a:solidFill>
                <a:schemeClr val="dk1"/>
              </a:solidFill>
              <a:latin typeface="Raleway Medium"/>
              <a:ea typeface="Raleway Medium"/>
              <a:cs typeface="Raleway Medium"/>
              <a:sym typeface="Raleway Medium"/>
            </a:endParaRPr>
          </a:p>
        </p:txBody>
      </p:sp>
      <p:pic>
        <p:nvPicPr>
          <p:cNvPr id="193" name="Google Shape;193;p32"/>
          <p:cNvPicPr preferRelativeResize="0"/>
          <p:nvPr/>
        </p:nvPicPr>
        <p:blipFill rotWithShape="1">
          <a:blip r:embed="rId3">
            <a:alphaModFix/>
          </a:blip>
          <a:srcRect b="0" l="404" r="17094" t="0"/>
          <a:stretch/>
        </p:blipFill>
        <p:spPr>
          <a:xfrm>
            <a:off x="5486400" y="1207587"/>
            <a:ext cx="3017518"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Prinsip penulisan UX yang baik</a:t>
            </a:r>
            <a:endParaRPr/>
          </a:p>
        </p:txBody>
      </p:sp>
      <p:sp>
        <p:nvSpPr>
          <p:cNvPr id="199" name="Google Shape;199;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Prinsip penulisan UX yang baik</a:t>
            </a:r>
            <a:endParaRPr/>
          </a:p>
        </p:txBody>
      </p:sp>
      <p:sp>
        <p:nvSpPr>
          <p:cNvPr id="206" name="Google Shape;206;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Menulis untuk pengguna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Menulis untuk antarmuka pengguna sedikit mirip dengan menulis puisi: setiap kata harus memiliki tujuan, setiap kalimat harus bermakna, dan waktu adalah segalanya. Anda harus mengadvokasi tulisan yang ringkas, tepat sasaran dan efektif.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prinsip penulisan UX yang perlu kita ingat supaya kita dapat menulis copy yang baik untuk pengguna.</a:t>
            </a:r>
            <a:endParaRPr sz="1200">
              <a:solidFill>
                <a:schemeClr val="dk1"/>
              </a:solidFill>
              <a:latin typeface="Raleway Medium"/>
              <a:ea typeface="Raleway Medium"/>
              <a:cs typeface="Raleway Medium"/>
              <a:sym typeface="Raleway Medium"/>
            </a:endParaRPr>
          </a:p>
        </p:txBody>
      </p:sp>
      <p:pic>
        <p:nvPicPr>
          <p:cNvPr id="207" name="Google Shape;207;p34"/>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Prinsip penulisan UX yang baik</a:t>
            </a:r>
            <a:endParaRPr/>
          </a:p>
        </p:txBody>
      </p:sp>
      <p:sp>
        <p:nvSpPr>
          <p:cNvPr id="214" name="Google Shape;214;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t>
            </a:r>
            <a:r>
              <a:rPr b="1" lang="en" sz="1800">
                <a:solidFill>
                  <a:srgbClr val="743673"/>
                </a:solidFill>
                <a:highlight>
                  <a:schemeClr val="lt1"/>
                </a:highlight>
                <a:latin typeface="Raleway"/>
                <a:ea typeface="Raleway"/>
                <a:cs typeface="Raleway"/>
                <a:sym typeface="Raleway"/>
              </a:rPr>
              <a:t>Research, research, research…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menulis dengan baik tentang produk apa pun, Anda harus tahu lebih dari sekadar cara kerja produk digital.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Anda juga perlu tahu apa yang kegunaan produk yang Anda tulis, cara kerjanya, siapa target penggunanya, dan bagaimana produk tersebut dapat membuat hidup mereka lebih baik.</a:t>
            </a:r>
            <a:endParaRPr sz="1200">
              <a:solidFill>
                <a:schemeClr val="dk1"/>
              </a:solidFill>
              <a:latin typeface="Raleway Medium"/>
              <a:ea typeface="Raleway Medium"/>
              <a:cs typeface="Raleway Medium"/>
              <a:sym typeface="Raleway Medium"/>
            </a:endParaRPr>
          </a:p>
        </p:txBody>
      </p:sp>
      <p:pic>
        <p:nvPicPr>
          <p:cNvPr id="215" name="Google Shape;215;p35"/>
          <p:cNvPicPr preferRelativeResize="0"/>
          <p:nvPr/>
        </p:nvPicPr>
        <p:blipFill rotWithShape="1">
          <a:blip r:embed="rId3">
            <a:alphaModFix/>
          </a:blip>
          <a:srcRect b="4278" l="0" r="0" t="34775"/>
          <a:stretch/>
        </p:blipFill>
        <p:spPr>
          <a:xfrm>
            <a:off x="5486400" y="1207587"/>
            <a:ext cx="3017518" cy="27431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1" name="Google Shape;22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Prinsip penulisan UX yang baik</a:t>
            </a:r>
            <a:endParaRPr/>
          </a:p>
        </p:txBody>
      </p:sp>
      <p:sp>
        <p:nvSpPr>
          <p:cNvPr id="222" name="Google Shape;222;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Jawab pertanyaan pengguna sebelum mereka bertanya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Penulisan UX harus mengantisipasi dan menjawab pertanyaan pengguna saat memandu mereka melalui berbagai aktivitas.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Penulis UX akan menggunakan nada dan teknik penulisan yang sama saat menulis untuk berbagai bagian dari sebuah produk. Dengan itu, pengguna akan merasa nyaman dan menyerap informasi lebih cepat.</a:t>
            </a:r>
            <a:endParaRPr sz="1200">
              <a:solidFill>
                <a:schemeClr val="dk1"/>
              </a:solidFill>
              <a:latin typeface="Raleway Medium"/>
              <a:ea typeface="Raleway Medium"/>
              <a:cs typeface="Raleway Medium"/>
              <a:sym typeface="Raleway Medium"/>
            </a:endParaRPr>
          </a:p>
        </p:txBody>
      </p:sp>
      <p:pic>
        <p:nvPicPr>
          <p:cNvPr id="223" name="Google Shape;223;p36"/>
          <p:cNvPicPr preferRelativeResize="0"/>
          <p:nvPr/>
        </p:nvPicPr>
        <p:blipFill rotWithShape="1">
          <a:blip r:embed="rId3">
            <a:alphaModFix/>
          </a:blip>
          <a:srcRect b="17599" l="42961" r="17879" t="29066"/>
          <a:stretch/>
        </p:blipFill>
        <p:spPr>
          <a:xfrm>
            <a:off x="5486400" y="1207587"/>
            <a:ext cx="3017518"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Prinsip penulisan UX yang baik</a:t>
            </a:r>
            <a:endParaRPr/>
          </a:p>
        </p:txBody>
      </p:sp>
      <p:sp>
        <p:nvSpPr>
          <p:cNvPr id="230" name="Google Shape;230;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Rancang konten Anda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Penulisan UX yang baik menggabungkan prinsip-prinsip desain konten yang didasarkan pada penelitian pengguna dan pengetahuan mendalam tentang perjalanan pengguna dengan prinsip-prinsip UI dan UX. Gabungan prinsip tersebut akan membantu penulis   menampilkan konten dengan cara yang paling efektif untuk pengguna.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penulis UX bukan seorang desainer konten, mereka biasanya akan berkolaborasi dengan seseorang di tim desain produk untuk memastikan konten mereka menggabungkan prinsip-prinsip desain UI.</a:t>
            </a:r>
            <a:endParaRPr sz="1200">
              <a:solidFill>
                <a:schemeClr val="dk1"/>
              </a:solidFill>
              <a:latin typeface="Raleway Medium"/>
              <a:ea typeface="Raleway Medium"/>
              <a:cs typeface="Raleway Medium"/>
              <a:sym typeface="Raleway Medium"/>
            </a:endParaRPr>
          </a:p>
        </p:txBody>
      </p:sp>
      <p:pic>
        <p:nvPicPr>
          <p:cNvPr id="231" name="Google Shape;231;p37"/>
          <p:cNvPicPr preferRelativeResize="0"/>
          <p:nvPr/>
        </p:nvPicPr>
        <p:blipFill rotWithShape="1">
          <a:blip r:embed="rId3">
            <a:alphaModFix/>
          </a:blip>
          <a:srcRect b="0" l="28788" r="-64" t="0"/>
          <a:stretch/>
        </p:blipFill>
        <p:spPr>
          <a:xfrm>
            <a:off x="5486400" y="1207587"/>
            <a:ext cx="3017518" cy="27431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 name="Google Shape;23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Prinsip penulisan UX yang baik</a:t>
            </a:r>
            <a:endParaRPr/>
          </a:p>
        </p:txBody>
      </p:sp>
      <p:sp>
        <p:nvSpPr>
          <p:cNvPr id="238" name="Google Shape;238;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Libatkan analisis kompetitif</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harus tahu apa yang ditawarkan pesaing dan bagaimana mereka membicarakannya (menuliskannya). Mulailah melakukan riset dan mencari tahu bagaimana pesaing - pesaing Anda menulis copy dalam produk mereka.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Tulisan Anda, jika tepat, akan memperkuat proposisi nilai unik produk Anda dan mengalahkan pesaing - pesaing. </a:t>
            </a:r>
            <a:endParaRPr sz="1200">
              <a:solidFill>
                <a:schemeClr val="dk1"/>
              </a:solidFill>
              <a:latin typeface="Raleway Medium"/>
              <a:ea typeface="Raleway Medium"/>
              <a:cs typeface="Raleway Medium"/>
              <a:sym typeface="Raleway Medium"/>
            </a:endParaRPr>
          </a:p>
        </p:txBody>
      </p:sp>
      <p:pic>
        <p:nvPicPr>
          <p:cNvPr id="239" name="Google Shape;239;p38"/>
          <p:cNvPicPr preferRelativeResize="0"/>
          <p:nvPr/>
        </p:nvPicPr>
        <p:blipFill rotWithShape="1">
          <a:blip r:embed="rId3">
            <a:alphaModFix/>
          </a:blip>
          <a:srcRect b="0" l="13316" r="13316" t="0"/>
          <a:stretch/>
        </p:blipFill>
        <p:spPr>
          <a:xfrm>
            <a:off x="5486400" y="1207587"/>
            <a:ext cx="3017518" cy="27431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Metodologi penulisan UX</a:t>
            </a:r>
            <a:endParaRPr/>
          </a:p>
        </p:txBody>
      </p:sp>
      <p:sp>
        <p:nvSpPr>
          <p:cNvPr id="245" name="Google Shape;245;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Metodologi penulisan UX</a:t>
            </a:r>
            <a:endParaRPr/>
          </a:p>
        </p:txBody>
      </p:sp>
      <p:sp>
        <p:nvSpPr>
          <p:cNvPr id="252" name="Google Shape;252;p4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Proses penulisan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Proses copywriting tradisional sangatlah mudah. Pada umumnya, proses copywriting melibatkan kolaborasi antara penulis dan bisnis untuk menghasilkan sesuatu yang cerdas dan menarik.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Akan tetapi, m</a:t>
            </a:r>
            <a:r>
              <a:rPr lang="en" sz="1200">
                <a:solidFill>
                  <a:schemeClr val="dk1"/>
                </a:solidFill>
                <a:latin typeface="Raleway Medium"/>
                <a:ea typeface="Raleway Medium"/>
                <a:cs typeface="Raleway Medium"/>
                <a:sym typeface="Raleway Medium"/>
              </a:rPr>
              <a:t>enulis salinan UX sedikit berbeda. Prosesnya menyeluruh dan akan melibatkan penulis UX yang berkolaborasi dengan desainer, peneliti, dan akhirnya, pelanggan itu sendiri. Pada penerapan yang ideal, penulis UX akan bertanggung jawab untuk mengadakan penelitian sendiri.</a:t>
            </a:r>
            <a:endParaRPr sz="1200">
              <a:solidFill>
                <a:schemeClr val="dk1"/>
              </a:solidFill>
              <a:latin typeface="Raleway Medium"/>
              <a:ea typeface="Raleway Medium"/>
              <a:cs typeface="Raleway Medium"/>
              <a:sym typeface="Raleway Medium"/>
            </a:endParaRPr>
          </a:p>
        </p:txBody>
      </p:sp>
      <p:pic>
        <p:nvPicPr>
          <p:cNvPr id="253" name="Google Shape;253;p40"/>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Metodologi penulisan UX</a:t>
            </a:r>
            <a:endParaRPr/>
          </a:p>
        </p:txBody>
      </p:sp>
      <p:sp>
        <p:nvSpPr>
          <p:cNvPr id="260" name="Google Shape;260;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Mulai menulis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Bagi banyak penulis UX, proses penulisan akan dimulai dengan </a:t>
            </a:r>
            <a:r>
              <a:rPr i="1" lang="en" sz="1200">
                <a:solidFill>
                  <a:schemeClr val="dk1"/>
                </a:solidFill>
                <a:latin typeface="Raleway Medium"/>
                <a:ea typeface="Raleway Medium"/>
                <a:cs typeface="Raleway Medium"/>
                <a:sym typeface="Raleway Medium"/>
              </a:rPr>
              <a:t>defining the problem. </a:t>
            </a:r>
            <a:r>
              <a:rPr lang="en" sz="1200">
                <a:solidFill>
                  <a:schemeClr val="dk1"/>
                </a:solidFill>
                <a:latin typeface="Raleway Medium"/>
                <a:ea typeface="Raleway Medium"/>
                <a:cs typeface="Raleway Medium"/>
                <a:sym typeface="Raleway Medium"/>
              </a:rPr>
              <a:t>(Prinsip-nya sama dari design thinking).</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Bekerja dengan desainer, pengembang, manajer produk, dan pemangku kepentingan, penulis UX akan ikut diskusi untuk menentukan ruang lingkup masalah.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Peran penulis UX dalam diskusi awal desain produk adalah untuk memikirkan metode penulisan UX yang tepat untuk membantu memecahkan masalah yang ditemukan - atau untuk menentukan apakah penulisan UX adalah pendekatan yang tepat.</a:t>
            </a:r>
            <a:endParaRPr sz="1200">
              <a:solidFill>
                <a:schemeClr val="dk1"/>
              </a:solidFill>
              <a:latin typeface="Raleway Medium"/>
              <a:ea typeface="Raleway Medium"/>
              <a:cs typeface="Raleway Medium"/>
              <a:sym typeface="Raleway Medium"/>
            </a:endParaRPr>
          </a:p>
        </p:txBody>
      </p:sp>
      <p:pic>
        <p:nvPicPr>
          <p:cNvPr id="261" name="Google Shape;261;p41"/>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Metodologi penulisan UX</a:t>
            </a:r>
            <a:endParaRPr/>
          </a:p>
        </p:txBody>
      </p:sp>
      <p:grpSp>
        <p:nvGrpSpPr>
          <p:cNvPr id="268" name="Google Shape;268;p42"/>
          <p:cNvGrpSpPr/>
          <p:nvPr/>
        </p:nvGrpSpPr>
        <p:grpSpPr>
          <a:xfrm>
            <a:off x="0" y="1113789"/>
            <a:ext cx="2214600" cy="3217636"/>
            <a:chOff x="0" y="1189989"/>
            <a:chExt cx="2214600" cy="3217636"/>
          </a:xfrm>
        </p:grpSpPr>
        <p:sp>
          <p:nvSpPr>
            <p:cNvPr id="269" name="Google Shape;269;p42"/>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Ideating</a:t>
              </a:r>
              <a:endParaRPr>
                <a:solidFill>
                  <a:srgbClr val="FFFFFF"/>
                </a:solidFill>
                <a:latin typeface="Raleway Medium"/>
                <a:ea typeface="Raleway Medium"/>
                <a:cs typeface="Raleway Medium"/>
                <a:sym typeface="Raleway Medium"/>
              </a:endParaRPr>
            </a:p>
          </p:txBody>
        </p:sp>
        <p:sp>
          <p:nvSpPr>
            <p:cNvPr id="270" name="Google Shape;270;p42"/>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Penulis UX terlibat dalam membuat sketsa masalah dengan cara visual, sambil juga membuat bagan seperti </a:t>
              </a:r>
              <a:r>
                <a:rPr i="1" lang="en" sz="1100">
                  <a:latin typeface="Raleway Medium"/>
                  <a:ea typeface="Raleway Medium"/>
                  <a:cs typeface="Raleway Medium"/>
                  <a:sym typeface="Raleway Medium"/>
                </a:rPr>
                <a:t>peta prioritas konten</a:t>
              </a:r>
              <a:r>
                <a:rPr lang="en" sz="1100">
                  <a:latin typeface="Raleway Medium"/>
                  <a:ea typeface="Raleway Medium"/>
                  <a:cs typeface="Raleway Medium"/>
                  <a:sym typeface="Raleway Medium"/>
                </a:rPr>
                <a:t> atau hierarki untuk membantu orang lain dalam tim memahami cara paling efektif menempatkan konten dalam desain interaksi.</a:t>
              </a:r>
              <a:endParaRPr sz="1100">
                <a:latin typeface="Raleway Medium"/>
                <a:ea typeface="Raleway Medium"/>
                <a:cs typeface="Raleway Medium"/>
                <a:sym typeface="Raleway Medium"/>
              </a:endParaRPr>
            </a:p>
          </p:txBody>
        </p:sp>
      </p:grpSp>
      <p:grpSp>
        <p:nvGrpSpPr>
          <p:cNvPr id="271" name="Google Shape;271;p42"/>
          <p:cNvGrpSpPr/>
          <p:nvPr/>
        </p:nvGrpSpPr>
        <p:grpSpPr>
          <a:xfrm>
            <a:off x="1838325" y="1113575"/>
            <a:ext cx="2064000" cy="3498650"/>
            <a:chOff x="1838325" y="1189775"/>
            <a:chExt cx="2064000" cy="3498650"/>
          </a:xfrm>
        </p:grpSpPr>
        <p:sp>
          <p:nvSpPr>
            <p:cNvPr id="272" name="Google Shape;272;p42"/>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Prototyping</a:t>
              </a:r>
              <a:endParaRPr>
                <a:solidFill>
                  <a:srgbClr val="FFFFFF"/>
                </a:solidFill>
                <a:latin typeface="Raleway Medium"/>
                <a:ea typeface="Raleway Medium"/>
                <a:cs typeface="Raleway Medium"/>
                <a:sym typeface="Raleway Medium"/>
              </a:endParaRPr>
            </a:p>
          </p:txBody>
        </p:sp>
        <p:sp>
          <p:nvSpPr>
            <p:cNvPr id="273" name="Google Shape;273;p42"/>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Sambil mendapatkan </a:t>
              </a:r>
              <a:r>
                <a:rPr i="1" lang="en" sz="1100">
                  <a:latin typeface="Raleway Medium"/>
                  <a:ea typeface="Raleway Medium"/>
                  <a:cs typeface="Raleway Medium"/>
                  <a:sym typeface="Raleway Medium"/>
                </a:rPr>
                <a:t>feedback</a:t>
              </a:r>
              <a:r>
                <a:rPr lang="en" sz="1100">
                  <a:latin typeface="Raleway Medium"/>
                  <a:ea typeface="Raleway Medium"/>
                  <a:cs typeface="Raleway Medium"/>
                  <a:sym typeface="Raleway Medium"/>
                </a:rPr>
                <a:t> dari desainer, manajer produk, pemangku kepentingan, dan siapa pun yang terlibat dalam proyek, penulis UX akan membantu desainer membuat prototipe yang lebih akurat dari solusi yang dipilih.</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p:txBody>
        </p:sp>
      </p:grpSp>
      <p:grpSp>
        <p:nvGrpSpPr>
          <p:cNvPr id="274" name="Google Shape;274;p42"/>
          <p:cNvGrpSpPr/>
          <p:nvPr/>
        </p:nvGrpSpPr>
        <p:grpSpPr>
          <a:xfrm>
            <a:off x="3516750" y="1113575"/>
            <a:ext cx="2064000" cy="3217850"/>
            <a:chOff x="3516750" y="1189775"/>
            <a:chExt cx="2064000" cy="3217850"/>
          </a:xfrm>
        </p:grpSpPr>
        <p:sp>
          <p:nvSpPr>
            <p:cNvPr id="275" name="Google Shape;275;p42"/>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Researching</a:t>
              </a:r>
              <a:endParaRPr>
                <a:solidFill>
                  <a:srgbClr val="FFFFFF"/>
                </a:solidFill>
                <a:latin typeface="Raleway Medium"/>
                <a:ea typeface="Raleway Medium"/>
                <a:cs typeface="Raleway Medium"/>
                <a:sym typeface="Raleway Medium"/>
              </a:endParaRPr>
            </a:p>
          </p:txBody>
        </p:sp>
        <p:sp>
          <p:nvSpPr>
            <p:cNvPr id="276" name="Google Shape;276;p42"/>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Bekerja bersama desainer dan peneliti, penulis UX memainkan peran penting dalam penelitian.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Penulis UX harus membuat tugas khusus salinan untuk peneliti berikan kepada pelanggan.</a:t>
              </a:r>
              <a:endParaRPr sz="1100">
                <a:latin typeface="Raleway Medium"/>
                <a:ea typeface="Raleway Medium"/>
                <a:cs typeface="Raleway Medium"/>
                <a:sym typeface="Raleway Medium"/>
              </a:endParaRPr>
            </a:p>
          </p:txBody>
        </p:sp>
      </p:grpSp>
      <p:grpSp>
        <p:nvGrpSpPr>
          <p:cNvPr id="277" name="Google Shape;277;p42"/>
          <p:cNvGrpSpPr/>
          <p:nvPr/>
        </p:nvGrpSpPr>
        <p:grpSpPr>
          <a:xfrm>
            <a:off x="5195350" y="1113575"/>
            <a:ext cx="2064000" cy="3217850"/>
            <a:chOff x="5195350" y="1189775"/>
            <a:chExt cx="2064000" cy="3217850"/>
          </a:xfrm>
        </p:grpSpPr>
        <p:sp>
          <p:nvSpPr>
            <p:cNvPr id="278" name="Google Shape;278;p42"/>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Iterating</a:t>
              </a:r>
              <a:endParaRPr>
                <a:solidFill>
                  <a:srgbClr val="FFFFFF"/>
                </a:solidFill>
                <a:latin typeface="Raleway Medium"/>
                <a:ea typeface="Raleway Medium"/>
                <a:cs typeface="Raleway Medium"/>
                <a:sym typeface="Raleway Medium"/>
              </a:endParaRPr>
            </a:p>
          </p:txBody>
        </p:sp>
        <p:sp>
          <p:nvSpPr>
            <p:cNvPr id="279" name="Google Shape;279;p42"/>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latin typeface="Raleway Medium"/>
                  <a:ea typeface="Raleway Medium"/>
                  <a:cs typeface="Raleway Medium"/>
                  <a:sym typeface="Raleway Medium"/>
                </a:rPr>
                <a:t>Bekerja dengan peneliti UX, penulis UX akan mengambil </a:t>
              </a:r>
              <a:r>
                <a:rPr i="1" lang="en" sz="1100">
                  <a:solidFill>
                    <a:schemeClr val="dk1"/>
                  </a:solidFill>
                  <a:latin typeface="Raleway Medium"/>
                  <a:ea typeface="Raleway Medium"/>
                  <a:cs typeface="Raleway Medium"/>
                  <a:sym typeface="Raleway Medium"/>
                </a:rPr>
                <a:t>feedback </a:t>
              </a:r>
              <a:r>
                <a:rPr lang="en" sz="1100">
                  <a:solidFill>
                    <a:schemeClr val="dk1"/>
                  </a:solidFill>
                  <a:latin typeface="Raleway Medium"/>
                  <a:ea typeface="Raleway Medium"/>
                  <a:cs typeface="Raleway Medium"/>
                  <a:sym typeface="Raleway Medium"/>
                </a:rPr>
                <a:t> kualitatif dan kuantitatif untuk diterapkan pada tulisan UX mereka.</a:t>
              </a:r>
              <a:endParaRPr sz="11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solidFill>
                    <a:schemeClr val="dk1"/>
                  </a:solidFill>
                  <a:latin typeface="Raleway Medium"/>
                  <a:ea typeface="Raleway Medium"/>
                  <a:cs typeface="Raleway Medium"/>
                  <a:sym typeface="Raleway Medium"/>
                </a:rPr>
                <a:t>Mereka juga bekerja dengan manajer untuk membuat hipotesis &amp; kerangka kerja untuk pengujian A/B di masa mendatang,</a:t>
              </a:r>
              <a:endParaRPr sz="1100">
                <a:latin typeface="Raleway Medium"/>
                <a:ea typeface="Raleway Medium"/>
                <a:cs typeface="Raleway Medium"/>
                <a:sym typeface="Raleway Medium"/>
              </a:endParaRPr>
            </a:p>
          </p:txBody>
        </p:sp>
      </p:grpSp>
      <p:grpSp>
        <p:nvGrpSpPr>
          <p:cNvPr id="280" name="Google Shape;280;p42"/>
          <p:cNvGrpSpPr/>
          <p:nvPr/>
        </p:nvGrpSpPr>
        <p:grpSpPr>
          <a:xfrm>
            <a:off x="6874025" y="1113575"/>
            <a:ext cx="2064000" cy="3790250"/>
            <a:chOff x="6874025" y="1189775"/>
            <a:chExt cx="2064000" cy="3790250"/>
          </a:xfrm>
        </p:grpSpPr>
        <p:sp>
          <p:nvSpPr>
            <p:cNvPr id="281" name="Google Shape;281;p42"/>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Deploying</a:t>
              </a:r>
              <a:endParaRPr>
                <a:solidFill>
                  <a:srgbClr val="FFFFFF"/>
                </a:solidFill>
                <a:latin typeface="Raleway Medium"/>
                <a:ea typeface="Raleway Medium"/>
                <a:cs typeface="Raleway Medium"/>
                <a:sym typeface="Raleway Medium"/>
              </a:endParaRPr>
            </a:p>
          </p:txBody>
        </p:sp>
        <p:sp>
          <p:nvSpPr>
            <p:cNvPr id="282" name="Google Shape;282;p42"/>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Penulis UX mungkin perlu bekerja bersama developer untuk menyesuaikan salinan dengan cepat jika kendala memaksa desain ke arah berbeda.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Contoh: ukuran tooltip mungkin perlu dipersingkat, yang mengharuskan penulis UX untuk memotong salinan.</a:t>
              </a:r>
              <a:endParaRPr sz="1100">
                <a:latin typeface="Raleway Medium"/>
                <a:ea typeface="Raleway Medium"/>
                <a:cs typeface="Raleway Medium"/>
                <a:sym typeface="Raleway Medium"/>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Metodologi penulisan UX</a:t>
            </a:r>
            <a:endParaRPr/>
          </a:p>
        </p:txBody>
      </p:sp>
      <p:sp>
        <p:nvSpPr>
          <p:cNvPr id="289" name="Google Shape;289;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Siapa saja yang terlibat dalam UX writing?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Walaupun </a:t>
            </a:r>
            <a:r>
              <a:rPr lang="en" sz="1200">
                <a:solidFill>
                  <a:schemeClr val="dk1"/>
                </a:solidFill>
                <a:latin typeface="Raleway Medium"/>
                <a:ea typeface="Raleway Medium"/>
                <a:cs typeface="Raleway Medium"/>
                <a:sym typeface="Raleway Medium"/>
              </a:rPr>
              <a:t>tanggung jawab UX writer hanya pada salinan, mereka perlu menjadi bagian dari tim desain dan membutuhkan kolaborasi dan masukan yang konstan.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Penulis UX biasanya berinteraksi erat dengan: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UX designers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Product &amp; Optimisation  managers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Internal stakeholders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Developers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Researchers</a:t>
            </a:r>
            <a:endParaRPr sz="1200">
              <a:solidFill>
                <a:schemeClr val="dk1"/>
              </a:solidFill>
              <a:latin typeface="Raleway Medium"/>
              <a:ea typeface="Raleway Medium"/>
              <a:cs typeface="Raleway Medium"/>
              <a:sym typeface="Raleway Medium"/>
            </a:endParaRPr>
          </a:p>
        </p:txBody>
      </p:sp>
      <p:pic>
        <p:nvPicPr>
          <p:cNvPr id="290" name="Google Shape;290;p43"/>
          <p:cNvPicPr preferRelativeResize="0"/>
          <p:nvPr/>
        </p:nvPicPr>
        <p:blipFill rotWithShape="1">
          <a:blip r:embed="rId3">
            <a:alphaModFix/>
          </a:blip>
          <a:srcRect b="0" l="13316" r="13316" t="0"/>
          <a:stretch/>
        </p:blipFill>
        <p:spPr>
          <a:xfrm>
            <a:off x="5486400" y="1207587"/>
            <a:ext cx="3017518" cy="2743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Contoh penulisan UX yang baik</a:t>
            </a:r>
            <a:endParaRPr/>
          </a:p>
        </p:txBody>
      </p:sp>
      <p:sp>
        <p:nvSpPr>
          <p:cNvPr id="296" name="Google Shape;29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03" name="Google Shape;303;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Melihat beberapa merk menulis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Ada beberapa perusahaan yang telah mengimplementasikan penulisan yang sangat efektif pada produk - produknya.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telusuri produk - produk tersebut untuk mengetahui bagaimana kita bisa menulis salinan yang  tepat, pendek dan tepat sasaran.</a:t>
            </a:r>
            <a:endParaRPr sz="1200">
              <a:solidFill>
                <a:schemeClr val="dk1"/>
              </a:solidFill>
              <a:latin typeface="Raleway Medium"/>
              <a:ea typeface="Raleway Medium"/>
              <a:cs typeface="Raleway Medium"/>
              <a:sym typeface="Raleway Medium"/>
            </a:endParaRPr>
          </a:p>
        </p:txBody>
      </p:sp>
      <p:pic>
        <p:nvPicPr>
          <p:cNvPr id="304" name="Google Shape;304;p45"/>
          <p:cNvPicPr preferRelativeResize="0"/>
          <p:nvPr/>
        </p:nvPicPr>
        <p:blipFill rotWithShape="1">
          <a:blip r:embed="rId3">
            <a:alphaModFix/>
          </a:blip>
          <a:srcRect b="0" l="8753" r="8745" t="0"/>
          <a:stretch/>
        </p:blipFill>
        <p:spPr>
          <a:xfrm>
            <a:off x="5486400" y="1207587"/>
            <a:ext cx="3017518" cy="2743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11" name="Google Shape;311;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Slack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Slack adalah salah satu contoh yang sering dipuji atas penulisan UX-nya. Nada tulisan Slack dianggap ramah dan menyenangkan.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Walaupun metodologi penulisan UX Slack cukup sulit karena perlu memberikan kesan yang menyenangkan, tim penulis Slack berhasil menggabungkan nada yang menyenangkan tersebut dengan penulisan yang </a:t>
            </a:r>
            <a:r>
              <a:rPr i="1" lang="en" sz="1200">
                <a:solidFill>
                  <a:schemeClr val="dk1"/>
                </a:solidFill>
                <a:latin typeface="Raleway Medium"/>
                <a:ea typeface="Raleway Medium"/>
                <a:cs typeface="Raleway Medium"/>
                <a:sym typeface="Raleway Medium"/>
              </a:rPr>
              <a:t>direct. </a:t>
            </a:r>
            <a:endParaRPr i="1"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Contohnya gambar di samping, judul "loading" memberikan konteks yang tepat, sebelum kemudian menawarkan salinan yang sedikit ekstra di bawahnya untuk menyuntikkan kepribadian Slack.</a:t>
            </a:r>
            <a:endParaRPr sz="1200">
              <a:solidFill>
                <a:schemeClr val="dk1"/>
              </a:solidFill>
              <a:latin typeface="Raleway Medium"/>
              <a:ea typeface="Raleway Medium"/>
              <a:cs typeface="Raleway Medium"/>
              <a:sym typeface="Raleway Medium"/>
            </a:endParaRPr>
          </a:p>
        </p:txBody>
      </p:sp>
      <p:pic>
        <p:nvPicPr>
          <p:cNvPr id="312" name="Google Shape;312;p46"/>
          <p:cNvPicPr preferRelativeResize="0"/>
          <p:nvPr/>
        </p:nvPicPr>
        <p:blipFill rotWithShape="1">
          <a:blip r:embed="rId3">
            <a:alphaModFix/>
          </a:blip>
          <a:srcRect b="-22443" l="8922" r="8922" t="0"/>
          <a:stretch/>
        </p:blipFill>
        <p:spPr>
          <a:xfrm>
            <a:off x="5486400" y="1207587"/>
            <a:ext cx="3017518" cy="27431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19" name="Google Shape;319;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Google Maps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Membuat aplikasi berbasis lalu lintas bisa menjadi mimpi buruk bagi beberapa penulis dan desainer UX karena tingkat kompleksitasnya yang sangat tinggi.</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Akan tetapi, Google Maps telah membuktikan bahwa aplikasi kompleks seperti Maps dapat mudah dimengerti pengguna di berbagai penjuru dunia.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Prinsip penulisan UX Google cukup sederhana: untuk memberikan informasi dengan cara yang jelas dan ringkas yang tidak menyisakan ruang untuk kebingungan.</a:t>
            </a:r>
            <a:endParaRPr sz="1200">
              <a:solidFill>
                <a:schemeClr val="dk1"/>
              </a:solidFill>
              <a:latin typeface="Raleway Medium"/>
              <a:ea typeface="Raleway Medium"/>
              <a:cs typeface="Raleway Medium"/>
              <a:sym typeface="Raleway Medium"/>
            </a:endParaRPr>
          </a:p>
        </p:txBody>
      </p:sp>
      <p:pic>
        <p:nvPicPr>
          <p:cNvPr id="320" name="Google Shape;320;p47"/>
          <p:cNvPicPr preferRelativeResize="0"/>
          <p:nvPr/>
        </p:nvPicPr>
        <p:blipFill rotWithShape="1">
          <a:blip r:embed="rId3">
            <a:alphaModFix/>
          </a:blip>
          <a:srcRect b="48598" l="0" r="0" t="265"/>
          <a:stretch/>
        </p:blipFill>
        <p:spPr>
          <a:xfrm>
            <a:off x="5486400" y="1207587"/>
            <a:ext cx="3017518" cy="2743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27" name="Google Shape;327;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Tinder</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Penulisan UX yang berbasis ‘percakapan’ pada Tinder adalah contoh yang sangat baik.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Pengguna Tinder dan aplikasi Tinder dianggap sedang saling berbicara kepada satu sama lain. Salinan pada aplikasi juga memberikan instruksi dalam format dukungan agar pengguna dapat mengumpulkan motivasi untuk melakukan sebuah aktivitas.</a:t>
            </a:r>
            <a:endParaRPr sz="1200">
              <a:solidFill>
                <a:schemeClr val="dk1"/>
              </a:solidFill>
              <a:latin typeface="Raleway Medium"/>
              <a:ea typeface="Raleway Medium"/>
              <a:cs typeface="Raleway Medium"/>
              <a:sym typeface="Raleway Medium"/>
            </a:endParaRPr>
          </a:p>
        </p:txBody>
      </p:sp>
      <p:pic>
        <p:nvPicPr>
          <p:cNvPr id="328" name="Google Shape;328;p48"/>
          <p:cNvPicPr preferRelativeResize="0"/>
          <p:nvPr/>
        </p:nvPicPr>
        <p:blipFill rotWithShape="1">
          <a:blip r:embed="rId3">
            <a:alphaModFix/>
          </a:blip>
          <a:srcRect b="0" l="-20126" r="-20126" t="0"/>
          <a:stretch/>
        </p:blipFill>
        <p:spPr>
          <a:xfrm>
            <a:off x="5486400" y="1207575"/>
            <a:ext cx="3017525" cy="2797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a:t>
            </a:r>
            <a:r>
              <a:rPr lang="en"/>
              <a:t> penulisan UX yang baik</a:t>
            </a:r>
            <a:endParaRPr/>
          </a:p>
        </p:txBody>
      </p:sp>
      <p:sp>
        <p:nvSpPr>
          <p:cNvPr id="335" name="Google Shape;335;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Aturan - aturan yang umum pada penulisan UX dan contohnya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Apa yang tertulis pada tombol Anda sama pentingnya dengan desain tombol itu sendiri. Menggunakan kata-kata yang salah pada label tombol Anda dapat menyebabkan kebingungan pengguna, dan waktu tugas yang lebih lambat. Jika Anda ingin memudahkan pengguna untuk mengambil tindakan pada aplikasi Anda, Anda harus memilih kata yang tepat pada micro atau macro copy apapun pada produk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Berikut adalah beberapa aturan untuk membantu Anda memilih kata yang tepat dan contoh aplikasinya pada sebuah desain.</a:t>
            </a:r>
            <a:endParaRPr sz="1200">
              <a:solidFill>
                <a:schemeClr val="dk1"/>
              </a:solidFill>
              <a:latin typeface="Raleway Medium"/>
              <a:ea typeface="Raleway Medium"/>
              <a:cs typeface="Raleway Medium"/>
              <a:sym typeface="Raleway Medium"/>
            </a:endParaRPr>
          </a:p>
        </p:txBody>
      </p:sp>
      <p:pic>
        <p:nvPicPr>
          <p:cNvPr id="336" name="Google Shape;336;p49"/>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a:t>
            </a:r>
            <a:r>
              <a:rPr lang="en"/>
              <a:t> penulisan UX yang baik</a:t>
            </a:r>
            <a:endParaRPr/>
          </a:p>
        </p:txBody>
      </p:sp>
      <p:sp>
        <p:nvSpPr>
          <p:cNvPr id="343" name="Google Shape;343;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Gunakan kata kerja pada tombol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4" name="Google Shape;344;p50"/>
          <p:cNvPicPr preferRelativeResize="0"/>
          <p:nvPr/>
        </p:nvPicPr>
        <p:blipFill>
          <a:blip r:embed="rId3">
            <a:alphaModFix/>
          </a:blip>
          <a:stretch>
            <a:fillRect/>
          </a:stretch>
        </p:blipFill>
        <p:spPr>
          <a:xfrm>
            <a:off x="685800" y="1782078"/>
            <a:ext cx="5214875" cy="2781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51" name="Google Shape;351;p51"/>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Gunakan diksi yang tepat dan pendek (jika memungkinkan)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52" name="Google Shape;352;p51"/>
          <p:cNvPicPr preferRelativeResize="0"/>
          <p:nvPr/>
        </p:nvPicPr>
        <p:blipFill rotWithShape="1">
          <a:blip r:embed="rId3">
            <a:alphaModFix/>
          </a:blip>
          <a:srcRect b="0" l="2498" r="2498" t="0"/>
          <a:stretch/>
        </p:blipFill>
        <p:spPr>
          <a:xfrm>
            <a:off x="685800" y="1782078"/>
            <a:ext cx="5214875" cy="27812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59" name="Google Shape;359;p52"/>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Gunakan tata bahasa yang fleksibel</a:t>
            </a:r>
            <a:r>
              <a:rPr b="1" lang="en" sz="1800">
                <a:solidFill>
                  <a:srgbClr val="743673"/>
                </a:solidFill>
                <a:highlight>
                  <a:schemeClr val="lt1"/>
                </a:highlight>
                <a:latin typeface="Raleway"/>
                <a:ea typeface="Raleway"/>
                <a:cs typeface="Raleway"/>
                <a:sym typeface="Raleway"/>
              </a:rPr>
              <a:t> </a:t>
            </a:r>
            <a:endParaRPr sz="1200">
              <a:solidFill>
                <a:schemeClr val="dk1"/>
              </a:solidFill>
              <a:latin typeface="Raleway Medium"/>
              <a:ea typeface="Raleway Medium"/>
              <a:cs typeface="Raleway Medium"/>
              <a:sym typeface="Raleway Medium"/>
            </a:endParaRPr>
          </a:p>
        </p:txBody>
      </p:sp>
      <p:pic>
        <p:nvPicPr>
          <p:cNvPr id="360" name="Google Shape;360;p52"/>
          <p:cNvPicPr preferRelativeResize="0"/>
          <p:nvPr/>
        </p:nvPicPr>
        <p:blipFill>
          <a:blip r:embed="rId3">
            <a:alphaModFix/>
          </a:blip>
          <a:stretch>
            <a:fillRect/>
          </a:stretch>
        </p:blipFill>
        <p:spPr>
          <a:xfrm>
            <a:off x="719125" y="1587350"/>
            <a:ext cx="5607043" cy="1718647"/>
          </a:xfrm>
          <a:prstGeom prst="rect">
            <a:avLst/>
          </a:prstGeom>
          <a:noFill/>
          <a:ln>
            <a:noFill/>
          </a:ln>
        </p:spPr>
      </p:pic>
      <p:pic>
        <p:nvPicPr>
          <p:cNvPr id="361" name="Google Shape;361;p52"/>
          <p:cNvPicPr preferRelativeResize="0"/>
          <p:nvPr/>
        </p:nvPicPr>
        <p:blipFill>
          <a:blip r:embed="rId4">
            <a:alphaModFix/>
          </a:blip>
          <a:stretch>
            <a:fillRect/>
          </a:stretch>
        </p:blipFill>
        <p:spPr>
          <a:xfrm>
            <a:off x="719125" y="3305996"/>
            <a:ext cx="5607050" cy="141840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68" name="Google Shape;368;p53"/>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Bangun dialog yang natural dan konsisten</a:t>
            </a:r>
            <a:endParaRPr sz="1200">
              <a:solidFill>
                <a:schemeClr val="dk1"/>
              </a:solidFill>
              <a:latin typeface="Raleway Medium"/>
              <a:ea typeface="Raleway Medium"/>
              <a:cs typeface="Raleway Medium"/>
              <a:sym typeface="Raleway Medium"/>
            </a:endParaRPr>
          </a:p>
        </p:txBody>
      </p:sp>
      <p:pic>
        <p:nvPicPr>
          <p:cNvPr id="369" name="Google Shape;369;p53"/>
          <p:cNvPicPr preferRelativeResize="0"/>
          <p:nvPr/>
        </p:nvPicPr>
        <p:blipFill rotWithShape="1">
          <a:blip r:embed="rId3">
            <a:alphaModFix/>
          </a:blip>
          <a:srcRect b="709" l="0" r="0" t="709"/>
          <a:stretch/>
        </p:blipFill>
        <p:spPr>
          <a:xfrm>
            <a:off x="719125" y="1663550"/>
            <a:ext cx="7375550" cy="2341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Contoh penulisan UX yang baik</a:t>
            </a:r>
            <a:endParaRPr/>
          </a:p>
        </p:txBody>
      </p:sp>
      <p:sp>
        <p:nvSpPr>
          <p:cNvPr id="376" name="Google Shape;376;p54"/>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Hindari bahasa informal, </a:t>
            </a:r>
            <a:r>
              <a:rPr b="1" i="1" lang="en" sz="1800">
                <a:solidFill>
                  <a:srgbClr val="743673"/>
                </a:solidFill>
                <a:highlight>
                  <a:schemeClr val="lt1"/>
                </a:highlight>
                <a:latin typeface="Raleway"/>
                <a:ea typeface="Raleway"/>
                <a:cs typeface="Raleway"/>
                <a:sym typeface="Raleway"/>
              </a:rPr>
              <a:t>slang, </a:t>
            </a:r>
            <a:r>
              <a:rPr b="1" lang="en" sz="1800">
                <a:solidFill>
                  <a:srgbClr val="743673"/>
                </a:solidFill>
                <a:highlight>
                  <a:schemeClr val="lt1"/>
                </a:highlight>
                <a:latin typeface="Raleway"/>
                <a:ea typeface="Raleway"/>
                <a:cs typeface="Raleway"/>
                <a:sym typeface="Raleway"/>
              </a:rPr>
              <a:t>bahasa gaul dan kata kasar</a:t>
            </a:r>
            <a:endParaRPr sz="1200">
              <a:solidFill>
                <a:schemeClr val="dk1"/>
              </a:solidFill>
              <a:latin typeface="Raleway Medium"/>
              <a:ea typeface="Raleway Medium"/>
              <a:cs typeface="Raleway Medium"/>
              <a:sym typeface="Raleway Medium"/>
            </a:endParaRPr>
          </a:p>
        </p:txBody>
      </p:sp>
      <p:pic>
        <p:nvPicPr>
          <p:cNvPr id="377" name="Google Shape;377;p54"/>
          <p:cNvPicPr preferRelativeResize="0"/>
          <p:nvPr/>
        </p:nvPicPr>
        <p:blipFill rotWithShape="1">
          <a:blip r:embed="rId3">
            <a:alphaModFix/>
          </a:blip>
          <a:srcRect b="-9577" l="490" r="-489" t="0"/>
          <a:stretch/>
        </p:blipFill>
        <p:spPr>
          <a:xfrm>
            <a:off x="719125" y="1663550"/>
            <a:ext cx="7375550" cy="2341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83" name="Google Shape;38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9" name="Google Shape;389;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UX writing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Praktik mendesain kata-kata yang dilihat pengguna saat berinteraksi dengan perangkat lunak.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Praktik mendesain antarmuka yang dilihat pengguna saat berinteraksi dengan perangkat lunak.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Praktik mencopy kata - kata yang dilihat pengguna saat berinteraksi dengan perangkat lunak.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Praktik mendesain tipografi yang dilihat pengguna saat berinteraksi dengan perangkat lunak.</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5" name="Google Shape;395;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UX writing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Praktik </a:t>
            </a:r>
            <a:r>
              <a:rPr lang="en" sz="1200">
                <a:solidFill>
                  <a:srgbClr val="A667A5"/>
                </a:solidFill>
                <a:latin typeface="Raleway Medium"/>
                <a:ea typeface="Raleway Medium"/>
                <a:cs typeface="Raleway Medium"/>
                <a:sym typeface="Raleway Medium"/>
              </a:rPr>
              <a:t>mencopy</a:t>
            </a:r>
            <a:r>
              <a:rPr lang="en" sz="1200">
                <a:solidFill>
                  <a:srgbClr val="A667A5"/>
                </a:solidFill>
                <a:latin typeface="Raleway Medium"/>
                <a:ea typeface="Raleway Medium"/>
                <a:cs typeface="Raleway Medium"/>
                <a:sym typeface="Raleway Medium"/>
              </a:rPr>
              <a:t> kata-kata yang dilihat pengguna saat berinteraksi dengan perangkat lunak.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Praktik mendesain antarmuka yang dilihat pengguna saat berinteraksi dengan perangkat lunak.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Praktik </a:t>
            </a:r>
            <a:r>
              <a:rPr b="1" lang="en" sz="1200">
                <a:solidFill>
                  <a:schemeClr val="lt1"/>
                </a:solidFill>
                <a:latin typeface="Raleway"/>
                <a:ea typeface="Raleway"/>
                <a:cs typeface="Raleway"/>
                <a:sym typeface="Raleway"/>
              </a:rPr>
              <a:t>mendesain</a:t>
            </a:r>
            <a:r>
              <a:rPr b="1" lang="en" sz="1200">
                <a:solidFill>
                  <a:schemeClr val="lt1"/>
                </a:solidFill>
                <a:latin typeface="Raleway"/>
                <a:ea typeface="Raleway"/>
                <a:cs typeface="Raleway"/>
                <a:sym typeface="Raleway"/>
              </a:rPr>
              <a:t> kata - kata yang dilihat pengguna saat berinteraksi dengan perangkat lunak.</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Praktik mendesain tipografi yang dilihat pengguna saat berinteraksi dengan perangkat lunak.</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96" name="Google Shape;396;p57"/>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UX writing adalah praktik mendisain kata - kata yang dilihat pengguna saat berinteraksi dengan perangkat lunak. (Bukan mencopy atau mensalin)</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2" name="Google Shape;402;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jenis konten UX yang paling umum,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UI Text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Product Copy</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UX Copy</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Article Content</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8" name="Google Shape;408;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jenis konten UX yang paling umum, kecuali..</a:t>
            </a:r>
            <a:br>
              <a:rPr b="1" lang="en" sz="1800">
                <a:solidFill>
                  <a:schemeClr val="lt1"/>
                </a:solidFill>
                <a:latin typeface="Raleway"/>
                <a:ea typeface="Raleway"/>
                <a:cs typeface="Raleway"/>
                <a:sym typeface="Raleway"/>
              </a:rPr>
            </a:b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UI Text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Product Copy</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UX Copy</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Article Content</a:t>
            </a:r>
            <a:endParaRPr b="1" sz="1200">
              <a:solidFill>
                <a:schemeClr val="lt1"/>
              </a:solidFill>
              <a:latin typeface="Raleway"/>
              <a:ea typeface="Raleway"/>
              <a:cs typeface="Raleway"/>
              <a:sym typeface="Raleway"/>
            </a:endParaRPr>
          </a:p>
        </p:txBody>
      </p:sp>
      <p:sp>
        <p:nvSpPr>
          <p:cNvPr id="409" name="Google Shape;409;p59"/>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Article content, secara umum,  tidak dianggap sebagai konten UX dan biasanya adalah tanggung jawab seorang copywriter daripada UX writer. </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5" name="Google Shape;415;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bagian dari microcopy,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Opsi menu pada navigation bar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Label tombol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Error message pada input form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Confirmation text untuk verifikasi umur</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1" name="Google Shape;421;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bagian dari microcopy,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Opsi menu pada navigation bar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Label tombol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Error message pada input form</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Confirmation text untuk verifikasi umur</a:t>
            </a:r>
            <a:endParaRPr sz="1200">
              <a:solidFill>
                <a:schemeClr val="lt1"/>
              </a:solidFill>
              <a:latin typeface="Raleway Medium"/>
              <a:ea typeface="Raleway Medium"/>
              <a:cs typeface="Raleway Medium"/>
              <a:sym typeface="Raleway Medium"/>
            </a:endParaRPr>
          </a:p>
        </p:txBody>
      </p:sp>
      <p:sp>
        <p:nvSpPr>
          <p:cNvPr id="422" name="Google Shape;422;p61"/>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Pada umumnya teks konfirmasi untuk verifikasi umur cukup panjang dan dianggap sebuah microcopy. Contoh gambar diatas.</a:t>
            </a:r>
            <a:endParaRPr b="1" sz="1000">
              <a:solidFill>
                <a:srgbClr val="733572"/>
              </a:solidFill>
              <a:latin typeface="Raleway"/>
              <a:ea typeface="Raleway"/>
              <a:cs typeface="Raleway"/>
              <a:sym typeface="Raleway"/>
            </a:endParaRPr>
          </a:p>
        </p:txBody>
      </p:sp>
      <p:pic>
        <p:nvPicPr>
          <p:cNvPr id="423" name="Google Shape;423;p61"/>
          <p:cNvPicPr preferRelativeResize="0"/>
          <p:nvPr/>
        </p:nvPicPr>
        <p:blipFill rotWithShape="1">
          <a:blip r:embed="rId3">
            <a:alphaModFix/>
          </a:blip>
          <a:srcRect b="13022" l="16347" r="16016" t="12138"/>
          <a:stretch/>
        </p:blipFill>
        <p:spPr>
          <a:xfrm>
            <a:off x="6409400" y="1288501"/>
            <a:ext cx="2258950" cy="17312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9" name="Google Shape;429;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Pada umumnya UX writer memulai proses dengan…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Iterating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Defining the problem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Ideating the solution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Deployment discussions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5" name="Google Shape;435;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Pada umumnya UX writer memulai proses dengan…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Iterating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Defining the problem</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Ideating the solution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Deployment discussions</a:t>
            </a:r>
            <a:endParaRPr sz="1200">
              <a:solidFill>
                <a:srgbClr val="A667A5"/>
              </a:solidFill>
              <a:latin typeface="Raleway Medium"/>
              <a:ea typeface="Raleway Medium"/>
              <a:cs typeface="Raleway Medium"/>
              <a:sym typeface="Raleway Medium"/>
            </a:endParaRPr>
          </a:p>
        </p:txBody>
      </p:sp>
      <p:sp>
        <p:nvSpPr>
          <p:cNvPr id="436" name="Google Shape;436;p63"/>
          <p:cNvSpPr/>
          <p:nvPr/>
        </p:nvSpPr>
        <p:spPr>
          <a:xfrm>
            <a:off x="685800" y="3186375"/>
            <a:ext cx="7772400" cy="7737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(Prinsip-nya sama dari design thinking).</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Bekerja dengan desainer, pengembang, manajer produk, dan pemangku kepentingan, penulis UX akan ikut diskusi untuk menentukan ruang lingkup masalah. </a:t>
            </a:r>
            <a:endParaRPr b="1" sz="1000">
              <a:solidFill>
                <a:srgbClr val="733572"/>
              </a:solidFill>
              <a:latin typeface="Raleway"/>
              <a:ea typeface="Raleway"/>
              <a:cs typeface="Raleway"/>
              <a:sym typeface="Ralew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2" name="Google Shape;442;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Penulis UX biasanya berinteraksi erat dengan _____ menyesuaikan salinan dengan cepat jika kendala.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Designers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Product managers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Developers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Stakeholders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8" name="Google Shape;448;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Penulis UX biasanya berinteraksi erat dengan _____ menyesuaikan salinan dengan cepat jika kendala.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Designers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Product managers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Developers</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Stakeholders</a:t>
            </a:r>
            <a:endParaRPr sz="1200">
              <a:solidFill>
                <a:srgbClr val="A667A5"/>
              </a:solidFill>
              <a:latin typeface="Raleway Medium"/>
              <a:ea typeface="Raleway Medium"/>
              <a:cs typeface="Raleway Medium"/>
              <a:sym typeface="Raleway Medium"/>
            </a:endParaRPr>
          </a:p>
        </p:txBody>
      </p:sp>
      <p:sp>
        <p:nvSpPr>
          <p:cNvPr id="449" name="Google Shape;449;p65"/>
          <p:cNvSpPr/>
          <p:nvPr/>
        </p:nvSpPr>
        <p:spPr>
          <a:xfrm>
            <a:off x="685800" y="34149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Penulis UX akan langsung berdiskusi dengan developer terkait salinan yang perlu diganti jika waktu pengerjaan terbatas atau produk sudah berada di fase tingkat akhir.</a:t>
            </a:r>
            <a:endParaRPr b="1" sz="1000">
              <a:solidFill>
                <a:srgbClr val="733572"/>
              </a:solidFill>
              <a:latin typeface="Raleway"/>
              <a:ea typeface="Raleway"/>
              <a:cs typeface="Raleway"/>
              <a:sym typeface="Ralewa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5" name="Google Shape;455;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Berikut adalah beberapa aturan untuk membantu Anda memilih kata - kata yang tepat,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Hindari slang dan kata kasar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Gunakan bahasa informal dan fleksibel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Bangun dialog yang natural dan konsisten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Gunakan kata kerja pada tombol</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1" name="Google Shape;461;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Berikut adalah beberapa aturan untuk membantu Anda memilih kata - kata yang tepat,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Hindari slang dan kata kasar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Gunakan bahasa informal dan fleksibel</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Bangun dialog yang natural dan konsisten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Gunakan kata kerja pada tombol</a:t>
            </a:r>
            <a:endParaRPr sz="1200">
              <a:solidFill>
                <a:srgbClr val="A667A5"/>
              </a:solidFill>
              <a:latin typeface="Raleway Medium"/>
              <a:ea typeface="Raleway Medium"/>
              <a:cs typeface="Raleway Medium"/>
              <a:sym typeface="Raleway Medium"/>
            </a:endParaRPr>
          </a:p>
        </p:txBody>
      </p:sp>
      <p:sp>
        <p:nvSpPr>
          <p:cNvPr id="462" name="Google Shape;462;p67"/>
          <p:cNvSpPr/>
          <p:nvPr/>
        </p:nvSpPr>
        <p:spPr>
          <a:xfrm>
            <a:off x="685800" y="3414975"/>
            <a:ext cx="7772400" cy="843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Tata bahasa yang fleksibel sangatlah dianjurkan saat menulis UX, akan tetapi bahasa informal perlu dihindari supaya tidak ada pengguna yang tersinggung, bingung karean tidak mengerti dan supaya merk produk Anda mempunyai citra yang  konsisten &amp; profesional.</a:t>
            </a:r>
            <a:endParaRPr b="1" sz="1000">
              <a:solidFill>
                <a:srgbClr val="733572"/>
              </a:solidFill>
              <a:latin typeface="Raleway"/>
              <a:ea typeface="Raleway"/>
              <a:cs typeface="Raleway"/>
              <a:sym typeface="Raleway"/>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69" name="Google Shape;469;p6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70" name="Google Shape;470;p68"/>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Content 101: UX Writing by GatherContent</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5"/>
              </a:rPr>
              <a:t>UX Writing Guidelines by Adobe XD</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6"/>
              </a:rPr>
              <a:t>5 Rules for Choosing the Right Words on Button Labels</a:t>
            </a:r>
            <a:br>
              <a:rPr lang="en" sz="1200">
                <a:solidFill>
                  <a:schemeClr val="hlink"/>
                </a:solidFill>
                <a:uFill>
                  <a:noFill/>
                </a:uFill>
                <a:latin typeface="Raleway Medium"/>
                <a:ea typeface="Raleway Medium"/>
                <a:cs typeface="Raleway Medium"/>
                <a:sym typeface="Raleway Medium"/>
                <a:hlinkClick r:id="rId7"/>
              </a:rPr>
            </a:br>
            <a:r>
              <a:rPr lang="en" sz="1200">
                <a:solidFill>
                  <a:schemeClr val="hlink"/>
                </a:solidFill>
                <a:uFill>
                  <a:noFill/>
                </a:uFill>
                <a:latin typeface="Raleway Medium"/>
                <a:ea typeface="Raleway Medium"/>
                <a:cs typeface="Raleway Medium"/>
                <a:sym typeface="Raleway Medium"/>
                <a:hlinkClick r:id="rId8"/>
              </a:rPr>
              <a:t>    by UX Movement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9"/>
              </a:rPr>
              <a:t>UX Writing: Handy Tips on Text Improving User </a:t>
            </a:r>
            <a:br>
              <a:rPr lang="en" sz="1200">
                <a:solidFill>
                  <a:schemeClr val="hlink"/>
                </a:solidFill>
                <a:uFill>
                  <a:noFill/>
                </a:uFill>
                <a:latin typeface="Raleway Medium"/>
                <a:ea typeface="Raleway Medium"/>
                <a:cs typeface="Raleway Medium"/>
                <a:sym typeface="Raleway Medium"/>
                <a:hlinkClick r:id="rId10"/>
              </a:rPr>
            </a:br>
            <a:r>
              <a:rPr lang="en" sz="1200">
                <a:solidFill>
                  <a:schemeClr val="hlink"/>
                </a:solidFill>
                <a:uFill>
                  <a:noFill/>
                </a:uFill>
                <a:latin typeface="Raleway Medium"/>
                <a:ea typeface="Raleway Medium"/>
                <a:cs typeface="Raleway Medium"/>
                <a:sym typeface="Raleway Medium"/>
                <a:hlinkClick r:id="rId11"/>
              </a:rPr>
              <a:t>    Experience on Tubik Blog</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5) </a:t>
            </a:r>
            <a:r>
              <a:rPr lang="en" sz="1200">
                <a:solidFill>
                  <a:schemeClr val="hlink"/>
                </a:solidFill>
                <a:uFill>
                  <a:noFill/>
                </a:uFill>
                <a:latin typeface="Raleway Medium"/>
                <a:ea typeface="Raleway Medium"/>
                <a:cs typeface="Raleway Medium"/>
                <a:sym typeface="Raleway Medium"/>
                <a:hlinkClick r:id="rId12"/>
              </a:rPr>
              <a:t>No Good, Very Bad UX Writing Mistakes by Real Big </a:t>
            </a:r>
            <a:br>
              <a:rPr lang="en" sz="1200">
                <a:solidFill>
                  <a:schemeClr val="hlink"/>
                </a:solidFill>
                <a:uFill>
                  <a:noFill/>
                </a:uFill>
                <a:latin typeface="Raleway Medium"/>
                <a:ea typeface="Raleway Medium"/>
                <a:cs typeface="Raleway Medium"/>
                <a:sym typeface="Raleway Medium"/>
                <a:hlinkClick r:id="rId13"/>
              </a:rPr>
            </a:br>
            <a:r>
              <a:rPr lang="en" sz="1200">
                <a:solidFill>
                  <a:schemeClr val="hlink"/>
                </a:solidFill>
                <a:uFill>
                  <a:noFill/>
                </a:uFill>
                <a:latin typeface="Raleway Medium"/>
                <a:ea typeface="Raleway Medium"/>
                <a:cs typeface="Raleway Medium"/>
                <a:sym typeface="Raleway Medium"/>
                <a:hlinkClick r:id="rId14"/>
              </a:rPr>
              <a:t>    Words</a:t>
            </a:r>
            <a:br>
              <a:rPr lang="en" sz="1200">
                <a:solidFill>
                  <a:schemeClr val="hlink"/>
                </a:solidFill>
                <a:uFill>
                  <a:noFill/>
                </a:uFill>
                <a:latin typeface="Raleway Medium"/>
                <a:ea typeface="Raleway Medium"/>
                <a:cs typeface="Raleway Medium"/>
                <a:sym typeface="Raleway Medium"/>
                <a:hlinkClick r:id="rId15"/>
              </a:rPr>
            </a:br>
            <a:r>
              <a:rPr lang="en" sz="1200">
                <a:solidFill>
                  <a:schemeClr val="dk1"/>
                </a:solidFill>
                <a:latin typeface="Raleway Medium"/>
                <a:ea typeface="Raleway Medium"/>
                <a:cs typeface="Raleway Medium"/>
                <a:sym typeface="Raleway Medium"/>
              </a:rPr>
              <a:t>6) </a:t>
            </a:r>
            <a:r>
              <a:rPr lang="en" sz="1200">
                <a:solidFill>
                  <a:schemeClr val="hlink"/>
                </a:solidFill>
                <a:uFill>
                  <a:noFill/>
                </a:uFill>
                <a:latin typeface="Raleway Medium"/>
                <a:ea typeface="Raleway Medium"/>
                <a:cs typeface="Raleway Medium"/>
                <a:sym typeface="Raleway Medium"/>
                <a:hlinkClick r:id="rId16"/>
              </a:rPr>
              <a:t>UX Writing by Grow Revenue</a:t>
            </a:r>
            <a:br>
              <a:rPr lang="en" sz="11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7) </a:t>
            </a:r>
            <a:r>
              <a:rPr lang="en" sz="1200">
                <a:solidFill>
                  <a:schemeClr val="hlink"/>
                </a:solidFill>
                <a:uFill>
                  <a:noFill/>
                </a:uFill>
                <a:latin typeface="Raleway Medium"/>
                <a:ea typeface="Raleway Medium"/>
                <a:cs typeface="Raleway Medium"/>
                <a:sym typeface="Raleway Medium"/>
                <a:hlinkClick r:id="rId17"/>
              </a:rPr>
              <a:t>UX writing: 40 rules for writing and designing text in</a:t>
            </a:r>
            <a:br>
              <a:rPr lang="en" sz="1200">
                <a:solidFill>
                  <a:schemeClr val="hlink"/>
                </a:solidFill>
                <a:uFill>
                  <a:noFill/>
                </a:uFill>
                <a:latin typeface="Raleway Medium"/>
                <a:ea typeface="Raleway Medium"/>
                <a:cs typeface="Raleway Medium"/>
                <a:sym typeface="Raleway Medium"/>
                <a:hlinkClick r:id="rId18"/>
              </a:rPr>
            </a:br>
            <a:r>
              <a:rPr lang="en" sz="1200">
                <a:solidFill>
                  <a:schemeClr val="hlink"/>
                </a:solidFill>
                <a:uFill>
                  <a:noFill/>
                </a:uFill>
                <a:latin typeface="Raleway Medium"/>
                <a:ea typeface="Raleway Medium"/>
                <a:cs typeface="Raleway Medium"/>
                <a:sym typeface="Raleway Medium"/>
                <a:hlinkClick r:id="rId19"/>
              </a:rPr>
              <a:t>    products by The Mobile Spoon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74" name="Shape 474"/>
        <p:cNvGrpSpPr/>
        <p:nvPr/>
      </p:nvGrpSpPr>
      <p:grpSpPr>
        <a:xfrm>
          <a:off x="0" y="0"/>
          <a:ext cx="0" cy="0"/>
          <a:chOff x="0" y="0"/>
          <a:chExt cx="0" cy="0"/>
        </a:xfrm>
      </p:grpSpPr>
      <p:sp>
        <p:nvSpPr>
          <p:cNvPr id="475" name="Google Shape;475;p6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6" name="Google Shape;476;p6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7" name="Google Shape;477;p6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8" name="Google Shape;478;p6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9" name="Google Shape;479;p6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80" name="Google Shape;480;p6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81" name="Google Shape;481;p6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82" name="Google Shape;482;p6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