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aleway"/>
      <p:regular r:id="rId41"/>
      <p:bold r:id="rId42"/>
      <p:italic r:id="rId43"/>
      <p:boldItalic r:id="rId44"/>
    </p:embeddedFont>
    <p:embeddedFont>
      <p:font typeface="Roboto Thin"/>
      <p:regular r:id="rId45"/>
      <p:bold r:id="rId46"/>
      <p:italic r:id="rId47"/>
      <p:boldItalic r:id="rId48"/>
    </p:embeddedFont>
    <p:embeddedFont>
      <p:font typeface="Roboto Medium"/>
      <p:regular r:id="rId49"/>
      <p:bold r:id="rId50"/>
      <p:italic r:id="rId51"/>
      <p:boldItalic r:id="rId52"/>
    </p:embeddedFont>
    <p:embeddedFont>
      <p:font typeface="Roboto"/>
      <p:regular r:id="rId53"/>
      <p:bold r:id="rId54"/>
      <p:italic r:id="rId55"/>
      <p:boldItalic r:id="rId56"/>
    </p:embeddedFont>
    <p:embeddedFont>
      <p:font typeface="Montserrat"/>
      <p:regular r:id="rId57"/>
      <p:bold r:id="rId58"/>
      <p:italic r:id="rId59"/>
      <p:boldItalic r:id="rId60"/>
    </p:embeddedFont>
    <p:embeddedFont>
      <p:font typeface="Lato Black"/>
      <p:bold r:id="rId61"/>
      <p:boldItalic r:id="rId62"/>
    </p:embeddedFont>
    <p:embeddedFont>
      <p:font typeface="Raleway Medium"/>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aleway-bold.fntdata"/><Relationship Id="rId41" Type="http://schemas.openxmlformats.org/officeDocument/2006/relationships/font" Target="fonts/Raleway-regular.fntdata"/><Relationship Id="rId44" Type="http://schemas.openxmlformats.org/officeDocument/2006/relationships/font" Target="fonts/Raleway-boldItalic.fntdata"/><Relationship Id="rId43" Type="http://schemas.openxmlformats.org/officeDocument/2006/relationships/font" Target="fonts/Raleway-italic.fntdata"/><Relationship Id="rId46" Type="http://schemas.openxmlformats.org/officeDocument/2006/relationships/font" Target="fonts/RobotoThin-bold.fntdata"/><Relationship Id="rId45" Type="http://schemas.openxmlformats.org/officeDocument/2006/relationships/font" Target="fonts/RobotoThin-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Thin-boldItalic.fntdata"/><Relationship Id="rId47" Type="http://schemas.openxmlformats.org/officeDocument/2006/relationships/font" Target="fonts/RobotoThin-italic.fntdata"/><Relationship Id="rId49"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lack-boldItalic.fntdata"/><Relationship Id="rId61" Type="http://schemas.openxmlformats.org/officeDocument/2006/relationships/font" Target="fonts/LatoBlack-bold.fntdata"/><Relationship Id="rId20" Type="http://schemas.openxmlformats.org/officeDocument/2006/relationships/slide" Target="slides/slide15.xml"/><Relationship Id="rId64" Type="http://schemas.openxmlformats.org/officeDocument/2006/relationships/font" Target="fonts/RalewayMedium-bold.fntdata"/><Relationship Id="rId63" Type="http://schemas.openxmlformats.org/officeDocument/2006/relationships/font" Target="fonts/RalewayMedium-regular.fntdata"/><Relationship Id="rId22" Type="http://schemas.openxmlformats.org/officeDocument/2006/relationships/slide" Target="slides/slide17.xml"/><Relationship Id="rId66" Type="http://schemas.openxmlformats.org/officeDocument/2006/relationships/font" Target="fonts/RalewayMedium-boldItalic.fntdata"/><Relationship Id="rId21" Type="http://schemas.openxmlformats.org/officeDocument/2006/relationships/slide" Target="slides/slide16.xml"/><Relationship Id="rId65" Type="http://schemas.openxmlformats.org/officeDocument/2006/relationships/font" Target="fonts/RalewayMedium-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Montserrat-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italic.fntdata"/><Relationship Id="rId50" Type="http://schemas.openxmlformats.org/officeDocument/2006/relationships/font" Target="fonts/RobotoMedium-bold.fntdata"/><Relationship Id="rId53" Type="http://schemas.openxmlformats.org/officeDocument/2006/relationships/font" Target="fonts/Roboto-regular.fntdata"/><Relationship Id="rId52" Type="http://schemas.openxmlformats.org/officeDocument/2006/relationships/font" Target="fonts/RobotoMedium-boldItalic.fntdata"/><Relationship Id="rId11" Type="http://schemas.openxmlformats.org/officeDocument/2006/relationships/slide" Target="slides/slide6.xml"/><Relationship Id="rId55" Type="http://schemas.openxmlformats.org/officeDocument/2006/relationships/font" Target="fonts/Roboto-italic.fntdata"/><Relationship Id="rId10" Type="http://schemas.openxmlformats.org/officeDocument/2006/relationships/slide" Target="slides/slide5.xml"/><Relationship Id="rId54" Type="http://schemas.openxmlformats.org/officeDocument/2006/relationships/font" Target="fonts/Roboto-bold.fntdata"/><Relationship Id="rId13" Type="http://schemas.openxmlformats.org/officeDocument/2006/relationships/slide" Target="slides/slide8.xml"/><Relationship Id="rId57" Type="http://schemas.openxmlformats.org/officeDocument/2006/relationships/font" Target="fonts/Montserrat-regular.fntdata"/><Relationship Id="rId12" Type="http://schemas.openxmlformats.org/officeDocument/2006/relationships/slide" Target="slides/slide7.xml"/><Relationship Id="rId56" Type="http://schemas.openxmlformats.org/officeDocument/2006/relationships/font" Target="fonts/Roboto-boldItalic.fntdata"/><Relationship Id="rId15" Type="http://schemas.openxmlformats.org/officeDocument/2006/relationships/slide" Target="slides/slide10.xml"/><Relationship Id="rId59" Type="http://schemas.openxmlformats.org/officeDocument/2006/relationships/font" Target="fonts/Montserrat-italic.fntdata"/><Relationship Id="rId14" Type="http://schemas.openxmlformats.org/officeDocument/2006/relationships/slide" Target="slides/slide9.xml"/><Relationship Id="rId58" Type="http://schemas.openxmlformats.org/officeDocument/2006/relationships/font" Target="fonts/Montserrat-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ehance.net/gallery/73284301/Starbucks-UIUX-Redesign?mv=emai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adtripwithraj?utm_source=unsplash&amp;utm_medium=referral&amp;utm_content=creditCopyText" TargetMode="External"/><Relationship Id="rId3" Type="http://schemas.openxmlformats.org/officeDocument/2006/relationships/hyperlink" Target="https://unsplash.com/@roadtripwithraj?utm_source=unsplash&amp;utm_medium=referral&amp;utm_content=creditCopyText" TargetMode="External"/><Relationship Id="rId4" Type="http://schemas.openxmlformats.org/officeDocument/2006/relationships/hyperlink" Target="https://unsplash.com/s/photos/pain-points?utm_source=unsplash&amp;utm_medium=referral&amp;utm_content=creditCopyText" TargetMode="External"/><Relationship Id="rId5" Type="http://schemas.openxmlformats.org/officeDocument/2006/relationships/hyperlink" Target="https://unsplash.com/s/photos/pain-point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hilberndt?utm_source=unsplash&amp;utm_medium=referral&amp;utm_content=creditCopyText" TargetMode="External"/><Relationship Id="rId3" Type="http://schemas.openxmlformats.org/officeDocument/2006/relationships/hyperlink" Target="https://unsplash.com/@philberndt?utm_source=unsplash&amp;utm_medium=referral&amp;utm_content=creditCopyText" TargetMode="External"/><Relationship Id="rId4" Type="http://schemas.openxmlformats.org/officeDocument/2006/relationships/hyperlink" Target="https://unsplash.com/s/photos/room?utm_source=unsplash&amp;utm_medium=referral&amp;utm_content=creditCopyText" TargetMode="External"/><Relationship Id="rId5" Type="http://schemas.openxmlformats.org/officeDocument/2006/relationships/hyperlink" Target="https://unsplash.com/s/photos/room?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uudkaanaa?utm_source=unsplash&amp;utm_medium=referral&amp;utm_content=creditCopyText" TargetMode="External"/><Relationship Id="rId3" Type="http://schemas.openxmlformats.org/officeDocument/2006/relationships/hyperlink" Target="https://unsplash.com/@buudkaanaa?utm_source=unsplash&amp;utm_medium=referral&amp;utm_content=creditCopyText" TargetMode="External"/><Relationship Id="rId4" Type="http://schemas.openxmlformats.org/officeDocument/2006/relationships/hyperlink" Target="https://unsplash.com/s/photos/interface?utm_source=unsplash&amp;utm_medium=referral&amp;utm_content=creditCopyText" TargetMode="External"/><Relationship Id="rId5" Type="http://schemas.openxmlformats.org/officeDocument/2006/relationships/hyperlink" Target="https://unsplash.com/s/photos/interface?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8ca8fe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8ca8fe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8ca8fe0f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8ca8fe0f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a4219ba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a4219ba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https://www.behance.net/gallery/73284301/Starbucks-UIUX-Redesign?mv=email</a:t>
            </a:r>
            <a:r>
              <a:rPr lang="en">
                <a:solidFill>
                  <a:schemeClr val="dk1"/>
                </a:solidFill>
              </a:rPr>
              <a:t>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a4219baa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1a4219baa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18ca8fe0fc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18ca8fe0fc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1a4219baa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1a4219baa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Maxim Hopman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1a4219baa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1a4219baa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Road Trip with Raj</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a4219baa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a4219baa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https://ecommerce-platforms.com/ecommerce-selling-advice/12-e-commerce-sites-inspirational-checkouts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1a4219baaa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1a4219baaa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https://home.bluesnap.com/snap-center/blog/4-payment-page-design-examples-to-copy/</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a4219baaa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a4219baaa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Philipp Berndt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a4219baaa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a4219baa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https://www.slideteam.net/customer-journey-mapping-example-improvement-opportunities.html</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a4219baaa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a4219baaa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1a4219baaa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1a4219baaa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a4219baaa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a4219baaa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1a4219baaa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1a4219baaa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a4219baaa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a4219baaa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a4219baaa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a4219baaa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1a4219baaa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1a4219baaa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8ca8fe0f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18ca8fe0f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Budka Damdinsuren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a4219bc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a4219bc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8ca8fe0f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18ca8fe0f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1a4219baaa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1a4219baaa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a4219baaa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a4219baaa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1a4219baaa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1a4219baaa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a4219baaa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a4219baaa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a4219baaa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1a4219baaa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a4219baaa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1a4219baaa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1a4219bc4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1a4219bc4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1a4219bc4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1a4219bc4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1a4219bc4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1a4219bc4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a4219bc4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a4219bc4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a4219bc4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a4219bc4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a4219bc4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a4219bc4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8ca8fe0f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8ca8fe0f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8ca8fe0f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8ca8fe0f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nampoh?utm_source=unsplash&amp;utm_medium=referral&amp;utm_content=creditCopyText" TargetMode="External"/><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roadtripwithraj?utm_source=unsplash&amp;utm_medium=referral&amp;utm_content=creditCopyText" TargetMode="Externa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nsplash.com/@philberndt?utm_source=unsplash&amp;utm_medium=referral&amp;utm_content=creditCopyText" TargetMode="Externa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slideteam.net/customer-journey-mapping-example-improvement-opportunities.html" TargetMode="Externa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medium.com/@alyssafrank/mattermost-a-ux-case-study-3714e4c4a7ff" TargetMode="External"/><Relationship Id="rId4" Type="http://schemas.openxmlformats.org/officeDocument/2006/relationships/image" Target="../media/image18.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1" Type="http://schemas.openxmlformats.org/officeDocument/2006/relationships/hyperlink" Target="https://medium.com/@alyssafrank/mattermost-a-ux-case-study-3714e4c4a7ff" TargetMode="External"/><Relationship Id="rId10" Type="http://schemas.openxmlformats.org/officeDocument/2006/relationships/hyperlink" Target="https://medium.com/@alyssafrank/mattermost-a-ux-case-study-3714e4c4a7ff" TargetMode="External"/><Relationship Id="rId12" Type="http://schemas.openxmlformats.org/officeDocument/2006/relationships/hyperlink" Target="https://medium.com/@alyssafrank/mattermost-a-ux-case-study-3714e4c4a7ff" TargetMode="External"/><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hyperlink" Target="https://uxdworld.com/2021/03/22/how-to-conduct-ux-redesign/" TargetMode="External"/><Relationship Id="rId9" Type="http://schemas.openxmlformats.org/officeDocument/2006/relationships/hyperlink" Target="https://www.nngroup.com/articles/customer-journey-mapping/" TargetMode="External"/><Relationship Id="rId5" Type="http://schemas.openxmlformats.org/officeDocument/2006/relationships/hyperlink" Target="https://www.interaction-design.org/literature/topics/defining-the-problem" TargetMode="External"/><Relationship Id="rId6" Type="http://schemas.openxmlformats.org/officeDocument/2006/relationships/hyperlink" Target="https://www.interaction-design.org/literature/topics/defining-the-problem" TargetMode="External"/><Relationship Id="rId7" Type="http://schemas.openxmlformats.org/officeDocument/2006/relationships/hyperlink" Target="https://www.nngroup.com/articles/journey-mapping-101/" TargetMode="External"/><Relationship Id="rId8" Type="http://schemas.openxmlformats.org/officeDocument/2006/relationships/hyperlink" Target="https://www.nngroup.com/articles/customer-journey-mappin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UI/UX Redesign Pt 2</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6 - Topic 4</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UI/UX Redesign Pt 2</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Mengingat pain points dan room for improvements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dk1"/>
                </a:solidFill>
                <a:latin typeface="Raleway Medium"/>
                <a:ea typeface="Raleway Medium"/>
                <a:cs typeface="Raleway Medium"/>
                <a:sym typeface="Raleway Medium"/>
              </a:rPr>
              <a:t>Mengingat perjalanan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Mendesain ulang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 name="Google Shape;11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16" name="Google Shape;116;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 </a:t>
            </a:r>
            <a:r>
              <a:rPr b="1" lang="en" sz="1800">
                <a:solidFill>
                  <a:srgbClr val="743673"/>
                </a:solidFill>
                <a:highlight>
                  <a:schemeClr val="lt1"/>
                </a:highlight>
                <a:latin typeface="Raleway"/>
                <a:ea typeface="Raleway"/>
                <a:cs typeface="Raleway"/>
                <a:sym typeface="Raleway"/>
              </a:rPr>
              <a:t>UI/UX redesign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singkat, UI/UX redesign adalah proses mendesain ulang sebuah produk dalam hal pengalaman, antarmuka visual, dan set fitur.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Pentingnya desain UX telah meningkat pesat selama beberapa dekade terakhir. Setiap organisasi bersedia mengeluarkan anggaran untuk meningkatkan pengalaman produk yang kedepannya akan meningkatkan kepuasan pengguna dan pendapatan organisasi.</a:t>
            </a:r>
            <a:endParaRPr sz="1200">
              <a:solidFill>
                <a:schemeClr val="dk1"/>
              </a:solidFill>
              <a:latin typeface="Raleway Medium"/>
              <a:ea typeface="Raleway Medium"/>
              <a:cs typeface="Raleway Medium"/>
              <a:sym typeface="Raleway Medium"/>
            </a:endParaRPr>
          </a:p>
        </p:txBody>
      </p:sp>
      <p:pic>
        <p:nvPicPr>
          <p:cNvPr id="117" name="Google Shape;117;p22"/>
          <p:cNvPicPr preferRelativeResize="0"/>
          <p:nvPr/>
        </p:nvPicPr>
        <p:blipFill rotWithShape="1">
          <a:blip r:embed="rId3">
            <a:alphaModFix/>
          </a:blip>
          <a:srcRect b="0" l="3471" r="3471" t="0"/>
          <a:stretch/>
        </p:blipFill>
        <p:spPr>
          <a:xfrm>
            <a:off x="5486400" y="1207587"/>
            <a:ext cx="3017520" cy="27431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grpSp>
        <p:nvGrpSpPr>
          <p:cNvPr id="124" name="Google Shape;124;p23"/>
          <p:cNvGrpSpPr/>
          <p:nvPr/>
        </p:nvGrpSpPr>
        <p:grpSpPr>
          <a:xfrm>
            <a:off x="0" y="961389"/>
            <a:ext cx="2214600" cy="3217636"/>
            <a:chOff x="0" y="1189989"/>
            <a:chExt cx="2214600" cy="3217636"/>
          </a:xfrm>
        </p:grpSpPr>
        <p:sp>
          <p:nvSpPr>
            <p:cNvPr id="125" name="Google Shape;125;p23"/>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aleway Medium"/>
                  <a:ea typeface="Raleway Medium"/>
                  <a:cs typeface="Raleway Medium"/>
                  <a:sym typeface="Raleway Medium"/>
                </a:rPr>
                <a:t>Tentukan tujuan</a:t>
              </a:r>
              <a:endParaRPr sz="1200">
                <a:solidFill>
                  <a:srgbClr val="FFFFFF"/>
                </a:solidFill>
                <a:latin typeface="Raleway Medium"/>
                <a:ea typeface="Raleway Medium"/>
                <a:cs typeface="Raleway Medium"/>
                <a:sym typeface="Raleway Medium"/>
              </a:endParaRPr>
            </a:p>
          </p:txBody>
        </p:sp>
        <p:sp>
          <p:nvSpPr>
            <p:cNvPr id="126" name="Google Shape;126;p23"/>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Langkah pertama adalah menentukan tujuan yang ingin Anda capai dari desain ulang UX.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Ini akan membantu Anda mengikuti langkah-langkah yang tepat dalam prosesnya. </a:t>
              </a:r>
              <a:endParaRPr sz="1100">
                <a:latin typeface="Raleway Medium"/>
                <a:ea typeface="Raleway Medium"/>
                <a:cs typeface="Raleway Medium"/>
                <a:sym typeface="Raleway Medium"/>
              </a:endParaRPr>
            </a:p>
          </p:txBody>
        </p:sp>
      </p:grpSp>
      <p:grpSp>
        <p:nvGrpSpPr>
          <p:cNvPr id="127" name="Google Shape;127;p23"/>
          <p:cNvGrpSpPr/>
          <p:nvPr/>
        </p:nvGrpSpPr>
        <p:grpSpPr>
          <a:xfrm>
            <a:off x="1838325" y="961175"/>
            <a:ext cx="2064000" cy="3498650"/>
            <a:chOff x="1838325" y="1189775"/>
            <a:chExt cx="2064000" cy="3498650"/>
          </a:xfrm>
        </p:grpSpPr>
        <p:sp>
          <p:nvSpPr>
            <p:cNvPr id="128" name="Google Shape;128;p23"/>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aleway Medium"/>
                  <a:ea typeface="Raleway Medium"/>
                  <a:cs typeface="Raleway Medium"/>
                  <a:sym typeface="Raleway Medium"/>
                </a:rPr>
                <a:t>Usability testing</a:t>
              </a:r>
              <a:endParaRPr sz="1200">
                <a:solidFill>
                  <a:srgbClr val="FFFFFF"/>
                </a:solidFill>
                <a:latin typeface="Raleway Medium"/>
                <a:ea typeface="Raleway Medium"/>
                <a:cs typeface="Raleway Medium"/>
                <a:sym typeface="Raleway Medium"/>
              </a:endParaRPr>
            </a:p>
          </p:txBody>
        </p:sp>
        <p:sp>
          <p:nvSpPr>
            <p:cNvPr id="129" name="Google Shape;129;p23"/>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Menguji produk yang ada merupakan langkah penting sebelum Anda langsung mendesain ulang.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Langkah ini melibatkan diskusi dengan pengguna, berbicara dengan mereka, mengamati mereka, dan melakukan pengujian kegunaan.</a:t>
              </a:r>
              <a:endParaRPr sz="1100">
                <a:latin typeface="Raleway Medium"/>
                <a:ea typeface="Raleway Medium"/>
                <a:cs typeface="Raleway Medium"/>
                <a:sym typeface="Raleway Medium"/>
              </a:endParaRPr>
            </a:p>
          </p:txBody>
        </p:sp>
      </p:grpSp>
      <p:grpSp>
        <p:nvGrpSpPr>
          <p:cNvPr id="130" name="Google Shape;130;p23"/>
          <p:cNvGrpSpPr/>
          <p:nvPr/>
        </p:nvGrpSpPr>
        <p:grpSpPr>
          <a:xfrm>
            <a:off x="3516750" y="961175"/>
            <a:ext cx="2064000" cy="3217850"/>
            <a:chOff x="3516750" y="1189775"/>
            <a:chExt cx="2064000" cy="3217850"/>
          </a:xfrm>
        </p:grpSpPr>
        <p:sp>
          <p:nvSpPr>
            <p:cNvPr id="131" name="Google Shape;131;p23"/>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aleway Medium"/>
                  <a:ea typeface="Raleway Medium"/>
                  <a:cs typeface="Raleway Medium"/>
                  <a:sym typeface="Raleway Medium"/>
                </a:rPr>
                <a:t>Identifikasi area peningkatan</a:t>
              </a:r>
              <a:endParaRPr sz="1200">
                <a:solidFill>
                  <a:srgbClr val="FFFFFF"/>
                </a:solidFill>
                <a:latin typeface="Raleway Medium"/>
                <a:ea typeface="Raleway Medium"/>
                <a:cs typeface="Raleway Medium"/>
                <a:sym typeface="Raleway Medium"/>
              </a:endParaRPr>
            </a:p>
          </p:txBody>
        </p:sp>
        <p:sp>
          <p:nvSpPr>
            <p:cNvPr id="132" name="Google Shape;132;p23"/>
            <p:cNvSpPr txBox="1"/>
            <p:nvPr/>
          </p:nvSpPr>
          <p:spPr>
            <a:xfrm>
              <a:off x="3739450" y="2057125"/>
              <a:ext cx="16350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Diskusikan &amp; analisa hasil uji kegunaan dengan pemangku kepentingan dan identifikasi area peningkatan.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Karena produk Anda sudah ada di pasar, Anda dapat menerima feedback melalui beberapa sumber lain seperti situs web dan media sosial.</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p:txBody>
        </p:sp>
      </p:grpSp>
      <p:grpSp>
        <p:nvGrpSpPr>
          <p:cNvPr id="133" name="Google Shape;133;p23"/>
          <p:cNvGrpSpPr/>
          <p:nvPr/>
        </p:nvGrpSpPr>
        <p:grpSpPr>
          <a:xfrm>
            <a:off x="6874025" y="961175"/>
            <a:ext cx="2064000" cy="3790250"/>
            <a:chOff x="6874025" y="1189775"/>
            <a:chExt cx="2064000" cy="3790250"/>
          </a:xfrm>
        </p:grpSpPr>
        <p:sp>
          <p:nvSpPr>
            <p:cNvPr id="134" name="Google Shape;134;p23"/>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aleway Medium"/>
                  <a:ea typeface="Raleway Medium"/>
                  <a:cs typeface="Raleway Medium"/>
                  <a:sym typeface="Raleway Medium"/>
                </a:rPr>
                <a:t>Redesign &amp; Test</a:t>
              </a:r>
              <a:endParaRPr sz="1200">
                <a:solidFill>
                  <a:srgbClr val="FFFFFF"/>
                </a:solidFill>
                <a:latin typeface="Raleway Medium"/>
                <a:ea typeface="Raleway Medium"/>
                <a:cs typeface="Raleway Medium"/>
                <a:sym typeface="Raleway Medium"/>
              </a:endParaRPr>
            </a:p>
          </p:txBody>
        </p:sp>
        <p:sp>
          <p:nvSpPr>
            <p:cNvPr id="135" name="Google Shape;135;p23"/>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Sebelum mencapai langkah ini, Anda harus mengetahui tujuan desain ulang UX.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Anda harus mengikuti proses desain standar: sketsa ide Anda, rancang prototipe, kumpulkan feedback pengguna, dan buat keputusan desain berdasarkan feednack.</a:t>
              </a:r>
              <a:endParaRPr sz="1100">
                <a:latin typeface="Raleway Medium"/>
                <a:ea typeface="Raleway Medium"/>
                <a:cs typeface="Raleway Medium"/>
                <a:sym typeface="Raleway Medium"/>
              </a:endParaRPr>
            </a:p>
          </p:txBody>
        </p:sp>
      </p:grpSp>
      <p:grpSp>
        <p:nvGrpSpPr>
          <p:cNvPr id="136" name="Google Shape;136;p23"/>
          <p:cNvGrpSpPr/>
          <p:nvPr/>
        </p:nvGrpSpPr>
        <p:grpSpPr>
          <a:xfrm>
            <a:off x="5195350" y="961175"/>
            <a:ext cx="2064000" cy="3217850"/>
            <a:chOff x="5195350" y="1189775"/>
            <a:chExt cx="2064000" cy="3217850"/>
          </a:xfrm>
        </p:grpSpPr>
        <p:sp>
          <p:nvSpPr>
            <p:cNvPr id="137" name="Google Shape;137;p23"/>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aleway Medium"/>
                  <a:ea typeface="Raleway Medium"/>
                  <a:cs typeface="Raleway Medium"/>
                  <a:sym typeface="Raleway Medium"/>
                </a:rPr>
                <a:t>Lakukan analisis kompetitif</a:t>
              </a:r>
              <a:endParaRPr sz="1200">
                <a:solidFill>
                  <a:srgbClr val="FFFFFF"/>
                </a:solidFill>
                <a:latin typeface="Raleway Medium"/>
                <a:ea typeface="Raleway Medium"/>
                <a:cs typeface="Raleway Medium"/>
                <a:sym typeface="Raleway Medium"/>
              </a:endParaRPr>
            </a:p>
          </p:txBody>
        </p:sp>
        <p:sp>
          <p:nvSpPr>
            <p:cNvPr id="138" name="Google Shape;138;p23"/>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Langkah penting dalam mendesain ulang adalah melakukan analisis kompetitif terhadap produk lain. Karena pengguna Anda akan menganalisis produk Anda dan memilih Anda di antara pesaing Anda, penting untuk mengawasi produk serupa lainnya di pasar.</a:t>
              </a:r>
              <a:endParaRPr sz="1100">
                <a:solidFill>
                  <a:schemeClr val="dk1"/>
                </a:solidFill>
                <a:latin typeface="Raleway Medium"/>
                <a:ea typeface="Raleway Medium"/>
                <a:cs typeface="Raleway Medium"/>
                <a:sym typeface="Raleway Medium"/>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Mengingat pain points dan room for improvements</a:t>
            </a:r>
            <a:endParaRPr/>
          </a:p>
        </p:txBody>
      </p:sp>
      <p:sp>
        <p:nvSpPr>
          <p:cNvPr id="144" name="Google Shape;144;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a:t>
            </a:r>
            <a:r>
              <a:rPr lang="en"/>
              <a:t>ain points dan room for improvements</a:t>
            </a:r>
            <a:endParaRPr/>
          </a:p>
        </p:txBody>
      </p:sp>
      <p:sp>
        <p:nvSpPr>
          <p:cNvPr id="151" name="Google Shape;151;p2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Mengenakan sepatu user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Sepanjang siklus hidup proyek, jika memungkinkan, perbarui informasi Anda dengan konteks pengguna secara konstan.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berbagai metode di mana Anda dapat memastikan feedback/keluhan pelanggan melalui questionnaires, interviews, focus groups dan lain - lain.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bekerja untuk sebuah perusahaan, sangat penting untuk melakukan semua ini secara teratur. Dengan cara ini Anda tetap terhubung dengan pengguna dan membantu meningkatkan empati. Empati membantu Anda memecahkan masalah dengan lebih baik.</a:t>
            </a:r>
            <a:endParaRPr sz="1200">
              <a:solidFill>
                <a:schemeClr val="dk1"/>
              </a:solidFill>
              <a:latin typeface="Raleway Medium"/>
              <a:ea typeface="Raleway Medium"/>
              <a:cs typeface="Raleway Medium"/>
              <a:sym typeface="Raleway Medium"/>
            </a:endParaRPr>
          </a:p>
        </p:txBody>
      </p:sp>
      <p:pic>
        <p:nvPicPr>
          <p:cNvPr id="152" name="Google Shape;152;p25">
            <a:hlinkClick r:id="rId3"/>
          </p:cNvPr>
          <p:cNvPicPr preferRelativeResize="0"/>
          <p:nvPr/>
        </p:nvPicPr>
        <p:blipFill rotWithShape="1">
          <a:blip r:embed="rId4">
            <a:alphaModFix/>
          </a:blip>
          <a:srcRect b="15913" l="0" r="0" t="15906"/>
          <a:stretch/>
        </p:blipFill>
        <p:spPr>
          <a:xfrm>
            <a:off x="5486400" y="1280150"/>
            <a:ext cx="3017522" cy="2743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pain points dan room for improvements</a:t>
            </a:r>
            <a:endParaRPr/>
          </a:p>
        </p:txBody>
      </p:sp>
      <p:sp>
        <p:nvSpPr>
          <p:cNvPr id="159" name="Google Shape;159;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pain points?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Pain points (titik nyeri) mengacu pada masalah yang sangat spesifik yang dialami pelanggan produk atau layanan tertentu Anda. Anda dapat menganggap titik nyeri sebagai masalah.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Saat melakukan redesign, kita perlu menelusuri pain points pengguna dan cara untuk mengatasi pain points tersebut.</a:t>
            </a:r>
            <a:endParaRPr b="1" sz="1200">
              <a:solidFill>
                <a:schemeClr val="dk1"/>
              </a:solidFill>
              <a:latin typeface="Raleway"/>
              <a:ea typeface="Raleway"/>
              <a:cs typeface="Raleway"/>
              <a:sym typeface="Raleway"/>
            </a:endParaRPr>
          </a:p>
        </p:txBody>
      </p:sp>
      <p:pic>
        <p:nvPicPr>
          <p:cNvPr id="160" name="Google Shape;160;p26">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pain points dan room for improvements</a:t>
            </a:r>
            <a:endParaRPr/>
          </a:p>
        </p:txBody>
      </p:sp>
      <p:sp>
        <p:nvSpPr>
          <p:cNvPr id="167" name="Google Shape;167;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pain point #1</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jika pelanggan menggunakan platform e-commerce dan jika proses checkout dan pembayaran agak lama, maka mereka mungkin akan berhenti dan beralih ke penyedia e-commerce lain. Ini adalah pain point, yang jika tim produk dapat mengidentifikasi dan memperbaikinya, dapat meningkatkan konversi mereka.</a:t>
            </a:r>
            <a:endParaRPr sz="1200">
              <a:solidFill>
                <a:schemeClr val="dk1"/>
              </a:solidFill>
              <a:latin typeface="Raleway Medium"/>
              <a:ea typeface="Raleway Medium"/>
              <a:cs typeface="Raleway Medium"/>
              <a:sym typeface="Raleway Medium"/>
            </a:endParaRPr>
          </a:p>
        </p:txBody>
      </p:sp>
      <p:pic>
        <p:nvPicPr>
          <p:cNvPr id="168" name="Google Shape;168;p27">
            <a:hlinkClick r:id="rId3"/>
          </p:cNvPr>
          <p:cNvPicPr preferRelativeResize="0"/>
          <p:nvPr/>
        </p:nvPicPr>
        <p:blipFill rotWithShape="1">
          <a:blip r:embed="rId4">
            <a:alphaModFix/>
          </a:blip>
          <a:srcRect b="0" l="0" r="15490" t="0"/>
          <a:stretch/>
        </p:blipFill>
        <p:spPr>
          <a:xfrm>
            <a:off x="5486400" y="1280150"/>
            <a:ext cx="3017523"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pain points dan room for improvements</a:t>
            </a:r>
            <a:endParaRPr/>
          </a:p>
        </p:txBody>
      </p:sp>
      <p:sp>
        <p:nvSpPr>
          <p:cNvPr id="175" name="Google Shape;175;p2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pain point #2</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lain dari titik nyeri UX yang umum adalah masalah pembayaran yang dihadapi pengguna ketika mereka ingin membayar produk atau layanan secara online.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bukti bahwa hampir 68% pengguna meninggalkan keranjang belanja mereka saat mencoba melakukan pembelian. Alasan untuk ini bisa banyak seperti alur situs tidak dirancang dengan benar, proses check out yang lama dan rumit, dan lain - lain.</a:t>
            </a:r>
            <a:endParaRPr sz="1200">
              <a:solidFill>
                <a:schemeClr val="dk1"/>
              </a:solidFill>
              <a:latin typeface="Raleway Medium"/>
              <a:ea typeface="Raleway Medium"/>
              <a:cs typeface="Raleway Medium"/>
              <a:sym typeface="Raleway Medium"/>
            </a:endParaRPr>
          </a:p>
        </p:txBody>
      </p:sp>
      <p:pic>
        <p:nvPicPr>
          <p:cNvPr id="176" name="Google Shape;176;p28">
            <a:hlinkClick r:id="rId3"/>
          </p:cNvPr>
          <p:cNvPicPr preferRelativeResize="0"/>
          <p:nvPr/>
        </p:nvPicPr>
        <p:blipFill rotWithShape="1">
          <a:blip r:embed="rId4">
            <a:alphaModFix/>
          </a:blip>
          <a:srcRect b="0" l="4720" r="50539" t="0"/>
          <a:stretch/>
        </p:blipFill>
        <p:spPr>
          <a:xfrm>
            <a:off x="5486400" y="1280150"/>
            <a:ext cx="3017523"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pain points dan room for improvements</a:t>
            </a:r>
            <a:endParaRPr/>
          </a:p>
        </p:txBody>
      </p:sp>
      <p:sp>
        <p:nvSpPr>
          <p:cNvPr id="183" name="Google Shape;183;p2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Bagaimana dengan </a:t>
            </a:r>
            <a:r>
              <a:rPr b="1" lang="en" sz="1800">
                <a:solidFill>
                  <a:srgbClr val="743673"/>
                </a:solidFill>
                <a:highlight>
                  <a:schemeClr val="lt1"/>
                </a:highlight>
                <a:latin typeface="Raleway"/>
                <a:ea typeface="Raleway"/>
                <a:cs typeface="Raleway"/>
                <a:sym typeface="Raleway"/>
              </a:rPr>
              <a:t>room for improvements?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Room for improvements adalah kemungkinan atau harapan bahwa seseorang atau sesuatu akan meningkat (menjadi lebih 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Setelah kita menemukan pain point dari produk yang ingin kita redesign, kita bisa menentukan room for improvements.</a:t>
            </a:r>
            <a:endParaRPr b="1" sz="1200">
              <a:solidFill>
                <a:schemeClr val="dk1"/>
              </a:solidFill>
              <a:latin typeface="Raleway"/>
              <a:ea typeface="Raleway"/>
              <a:cs typeface="Raleway"/>
              <a:sym typeface="Raleway"/>
            </a:endParaRPr>
          </a:p>
        </p:txBody>
      </p:sp>
      <p:pic>
        <p:nvPicPr>
          <p:cNvPr id="184" name="Google Shape;184;p29">
            <a:hlinkClick r:id="rId3"/>
          </p:cNvPr>
          <p:cNvPicPr preferRelativeResize="0"/>
          <p:nvPr/>
        </p:nvPicPr>
        <p:blipFill rotWithShape="1">
          <a:blip r:embed="rId4">
            <a:alphaModFix/>
          </a:blip>
          <a:srcRect b="0" l="10386" r="10386" t="0"/>
          <a:stretch/>
        </p:blipFill>
        <p:spPr>
          <a:xfrm>
            <a:off x="5486400" y="1280150"/>
            <a:ext cx="3017523" cy="2743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0" name="Google Shape;190;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pain points dan room for improvements</a:t>
            </a:r>
            <a:endParaRPr/>
          </a:p>
        </p:txBody>
      </p:sp>
      <p:sp>
        <p:nvSpPr>
          <p:cNvPr id="191" name="Google Shape;191;p30"/>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Kita juga bisa menggunakan </a:t>
            </a:r>
            <a:r>
              <a:rPr b="1" lang="en" sz="1200">
                <a:solidFill>
                  <a:schemeClr val="dk1"/>
                </a:solidFill>
                <a:latin typeface="Raleway"/>
                <a:ea typeface="Raleway"/>
                <a:cs typeface="Raleway"/>
                <a:sym typeface="Raleway"/>
              </a:rPr>
              <a:t>user journey map</a:t>
            </a:r>
            <a:r>
              <a:rPr lang="en" sz="1200">
                <a:solidFill>
                  <a:schemeClr val="dk1"/>
                </a:solidFill>
                <a:latin typeface="Raleway Medium"/>
                <a:ea typeface="Raleway Medium"/>
                <a:cs typeface="Raleway Medium"/>
                <a:sym typeface="Raleway Medium"/>
              </a:rPr>
              <a:t> dalam menemukan dan mengkomunikasikan room for improvements setelah kita menemukan opportunities (peluang).</a:t>
            </a:r>
            <a:endParaRPr sz="1200">
              <a:solidFill>
                <a:schemeClr val="dk1"/>
              </a:solidFill>
              <a:latin typeface="Raleway Medium"/>
              <a:ea typeface="Raleway Medium"/>
              <a:cs typeface="Raleway Medium"/>
              <a:sym typeface="Raleway Medium"/>
            </a:endParaRPr>
          </a:p>
        </p:txBody>
      </p:sp>
      <p:pic>
        <p:nvPicPr>
          <p:cNvPr id="192" name="Google Shape;192;p30">
            <a:hlinkClick r:id="rId3"/>
          </p:cNvPr>
          <p:cNvPicPr preferRelativeResize="0"/>
          <p:nvPr/>
        </p:nvPicPr>
        <p:blipFill rotWithShape="1">
          <a:blip r:embed="rId4">
            <a:alphaModFix/>
          </a:blip>
          <a:srcRect b="8174" l="0" r="0" t="16694"/>
          <a:stretch/>
        </p:blipFill>
        <p:spPr>
          <a:xfrm>
            <a:off x="3618500" y="1825125"/>
            <a:ext cx="4763501" cy="2683975"/>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Mengingat perjalanan pengguna</a:t>
            </a:r>
            <a:endParaRPr/>
          </a:p>
        </p:txBody>
      </p:sp>
      <p:sp>
        <p:nvSpPr>
          <p:cNvPr id="198" name="Google Shape;198;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perjalanan pengguna</a:t>
            </a:r>
            <a:endParaRPr/>
          </a:p>
        </p:txBody>
      </p:sp>
      <p:sp>
        <p:nvSpPr>
          <p:cNvPr id="205" name="Google Shape;205;p3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Perjalanan pengguna (user journey)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Perjalanan pengguna adalah pengalaman yang dimiliki seseorang saat berinteraksi dengan sesuatu, biasanya perangkat lunak.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Konsep ini umumnya digunakan oleh mereka yang terlibat dengan desain pengalaman pengguna, desain web, desain yang berpusat pada pengguna, atau siapa pun yang berfokus pada bagaimana pengguna berinteraksi dengan pengalaman perangkat lunak.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Seringkali kita menggambarkan perjalanan pengguna dengan sebuah user journey map (UJM).</a:t>
            </a:r>
            <a:endParaRPr sz="1200">
              <a:solidFill>
                <a:schemeClr val="dk1"/>
              </a:solidFill>
              <a:latin typeface="Raleway Medium"/>
              <a:ea typeface="Raleway Medium"/>
              <a:cs typeface="Raleway Medium"/>
              <a:sym typeface="Raleway Medium"/>
            </a:endParaRPr>
          </a:p>
        </p:txBody>
      </p:sp>
      <p:pic>
        <p:nvPicPr>
          <p:cNvPr id="206" name="Google Shape;206;p32">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213" name="Google Shape;213;p3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Ingatkah? Ada</a:t>
            </a:r>
            <a:r>
              <a:rPr b="1" lang="en" sz="1800">
                <a:solidFill>
                  <a:srgbClr val="743673"/>
                </a:solidFill>
                <a:highlight>
                  <a:schemeClr val="lt1"/>
                </a:highlight>
                <a:latin typeface="Raleway"/>
                <a:ea typeface="Raleway"/>
                <a:cs typeface="Raleway"/>
                <a:sym typeface="Raleway"/>
              </a:rPr>
              <a:t> beberapa komponen inti dari sebuah user journey map, diantaranya adalah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lihat contoh - contohnya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grpSp>
        <p:nvGrpSpPr>
          <p:cNvPr id="214" name="Google Shape;214;p33"/>
          <p:cNvGrpSpPr/>
          <p:nvPr/>
        </p:nvGrpSpPr>
        <p:grpSpPr>
          <a:xfrm>
            <a:off x="5095660" y="1770587"/>
            <a:ext cx="3496618" cy="683972"/>
            <a:chOff x="1593000" y="2322558"/>
            <a:chExt cx="2437517" cy="643375"/>
          </a:xfrm>
        </p:grpSpPr>
        <p:sp>
          <p:nvSpPr>
            <p:cNvPr id="215" name="Google Shape;215;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3"/>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Scenarios + Expectations</a:t>
              </a:r>
              <a:endParaRPr>
                <a:solidFill>
                  <a:srgbClr val="FFFFFF"/>
                </a:solidFill>
                <a:latin typeface="Roboto"/>
                <a:ea typeface="Roboto"/>
                <a:cs typeface="Roboto"/>
                <a:sym typeface="Roboto"/>
              </a:endParaRPr>
            </a:p>
          </p:txBody>
        </p:sp>
        <p:sp>
          <p:nvSpPr>
            <p:cNvPr id="218" name="Google Shape;218;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grpSp>
      <p:grpSp>
        <p:nvGrpSpPr>
          <p:cNvPr id="220" name="Google Shape;220;p33"/>
          <p:cNvGrpSpPr/>
          <p:nvPr/>
        </p:nvGrpSpPr>
        <p:grpSpPr>
          <a:xfrm>
            <a:off x="5102520" y="2448213"/>
            <a:ext cx="3496618" cy="683972"/>
            <a:chOff x="1593000" y="2322558"/>
            <a:chExt cx="2437517" cy="643375"/>
          </a:xfrm>
        </p:grpSpPr>
        <p:sp>
          <p:nvSpPr>
            <p:cNvPr id="221" name="Google Shape;221;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3"/>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Journey Phases</a:t>
              </a:r>
              <a:endParaRPr>
                <a:solidFill>
                  <a:srgbClr val="FFFFFF"/>
                </a:solidFill>
                <a:latin typeface="Roboto"/>
                <a:ea typeface="Roboto"/>
                <a:cs typeface="Roboto"/>
                <a:sym typeface="Roboto"/>
              </a:endParaRPr>
            </a:p>
          </p:txBody>
        </p:sp>
        <p:sp>
          <p:nvSpPr>
            <p:cNvPr id="224" name="Google Shape;224;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grpSp>
      <p:grpSp>
        <p:nvGrpSpPr>
          <p:cNvPr id="226" name="Google Shape;226;p33"/>
          <p:cNvGrpSpPr/>
          <p:nvPr/>
        </p:nvGrpSpPr>
        <p:grpSpPr>
          <a:xfrm>
            <a:off x="5102520" y="3122328"/>
            <a:ext cx="3496618" cy="683972"/>
            <a:chOff x="1593000" y="2322558"/>
            <a:chExt cx="2437517" cy="643375"/>
          </a:xfrm>
        </p:grpSpPr>
        <p:sp>
          <p:nvSpPr>
            <p:cNvPr id="227" name="Google Shape;227;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3"/>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Actions, Mindsets &amp; Emotions</a:t>
              </a:r>
              <a:endParaRPr>
                <a:solidFill>
                  <a:srgbClr val="FFFFFF"/>
                </a:solidFill>
                <a:latin typeface="Roboto"/>
                <a:ea typeface="Roboto"/>
                <a:cs typeface="Roboto"/>
                <a:sym typeface="Roboto"/>
              </a:endParaRPr>
            </a:p>
          </p:txBody>
        </p:sp>
        <p:sp>
          <p:nvSpPr>
            <p:cNvPr id="230" name="Google Shape;230;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grpSp>
      <p:grpSp>
        <p:nvGrpSpPr>
          <p:cNvPr id="232" name="Google Shape;232;p33"/>
          <p:cNvGrpSpPr/>
          <p:nvPr/>
        </p:nvGrpSpPr>
        <p:grpSpPr>
          <a:xfrm>
            <a:off x="5102505" y="1092975"/>
            <a:ext cx="3496618" cy="683972"/>
            <a:chOff x="1593000" y="2322558"/>
            <a:chExt cx="2437517" cy="643375"/>
          </a:xfrm>
        </p:grpSpPr>
        <p:sp>
          <p:nvSpPr>
            <p:cNvPr id="233" name="Google Shape;233;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3"/>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237" name="Google Shape;237;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Actor</a:t>
              </a:r>
              <a:endParaRPr>
                <a:solidFill>
                  <a:srgbClr val="FFFFFF"/>
                </a:solidFill>
                <a:latin typeface="Roboto"/>
                <a:ea typeface="Roboto"/>
                <a:cs typeface="Roboto"/>
                <a:sym typeface="Roboto"/>
              </a:endParaRPr>
            </a:p>
          </p:txBody>
        </p:sp>
      </p:grpSp>
      <p:grpSp>
        <p:nvGrpSpPr>
          <p:cNvPr id="238" name="Google Shape;238;p33"/>
          <p:cNvGrpSpPr/>
          <p:nvPr/>
        </p:nvGrpSpPr>
        <p:grpSpPr>
          <a:xfrm>
            <a:off x="5095660" y="3803453"/>
            <a:ext cx="3496618" cy="683972"/>
            <a:chOff x="1593000" y="2322558"/>
            <a:chExt cx="2437517" cy="643375"/>
          </a:xfrm>
        </p:grpSpPr>
        <p:sp>
          <p:nvSpPr>
            <p:cNvPr id="239" name="Google Shape;239;p33"/>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3"/>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3"/>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Opportunities</a:t>
              </a:r>
              <a:endParaRPr>
                <a:solidFill>
                  <a:srgbClr val="FFFFFF"/>
                </a:solidFill>
                <a:latin typeface="Roboto"/>
                <a:ea typeface="Roboto"/>
                <a:cs typeface="Roboto"/>
                <a:sym typeface="Roboto"/>
              </a:endParaRPr>
            </a:p>
          </p:txBody>
        </p:sp>
        <p:sp>
          <p:nvSpPr>
            <p:cNvPr id="242" name="Google Shape;242;p3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3"/>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250" name="Google Shape;250;p34"/>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UJM yang sederhana dan lugas berdasarkan pengalaman seorang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individu.</a:t>
            </a:r>
            <a:endParaRPr b="1" sz="1800">
              <a:solidFill>
                <a:srgbClr val="743673"/>
              </a:solidFill>
              <a:highlight>
                <a:schemeClr val="lt1"/>
              </a:highlight>
              <a:latin typeface="Raleway"/>
              <a:ea typeface="Raleway"/>
              <a:cs typeface="Raleway"/>
              <a:sym typeface="Raleway"/>
            </a:endParaRPr>
          </a:p>
        </p:txBody>
      </p:sp>
      <p:pic>
        <p:nvPicPr>
          <p:cNvPr id="251" name="Google Shape;251;p34"/>
          <p:cNvPicPr preferRelativeResize="0"/>
          <p:nvPr/>
        </p:nvPicPr>
        <p:blipFill rotWithShape="1">
          <a:blip r:embed="rId3">
            <a:alphaModFix/>
          </a:blip>
          <a:srcRect b="4907" l="-4558" r="0" t="359"/>
          <a:stretch/>
        </p:blipFill>
        <p:spPr>
          <a:xfrm>
            <a:off x="2627550" y="773300"/>
            <a:ext cx="6277447" cy="41353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258" name="Google Shape;258;p35"/>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#2</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UJM yang sederhana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yang berdasarkan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pengalaman pengguna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dan kesimpulan yang</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ditarik dari pengalaman</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tersebut.</a:t>
            </a:r>
            <a:endParaRPr sz="1200">
              <a:solidFill>
                <a:schemeClr val="dk1"/>
              </a:solidFill>
              <a:latin typeface="Raleway Medium"/>
              <a:ea typeface="Raleway Medium"/>
              <a:cs typeface="Raleway Medium"/>
              <a:sym typeface="Raleway Medium"/>
            </a:endParaRPr>
          </a:p>
        </p:txBody>
      </p:sp>
      <p:pic>
        <p:nvPicPr>
          <p:cNvPr id="259" name="Google Shape;259;p35"/>
          <p:cNvPicPr preferRelativeResize="0"/>
          <p:nvPr/>
        </p:nvPicPr>
        <p:blipFill rotWithShape="1">
          <a:blip r:embed="rId3">
            <a:alphaModFix/>
          </a:blip>
          <a:srcRect b="922" l="0" r="0" t="922"/>
          <a:stretch/>
        </p:blipFill>
        <p:spPr>
          <a:xfrm>
            <a:off x="2627550" y="773300"/>
            <a:ext cx="6277446" cy="4135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266" name="Google Shape;266;p36"/>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#3</a:t>
            </a:r>
            <a:br>
              <a:rPr b="1" lang="en" sz="1800">
                <a:solidFill>
                  <a:srgbClr val="743673"/>
                </a:solidFill>
                <a:highlight>
                  <a:schemeClr val="lt1"/>
                </a:highlight>
                <a:latin typeface="Raleway"/>
                <a:ea typeface="Raleway"/>
                <a:cs typeface="Raleway"/>
                <a:sym typeface="Raleway"/>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UJM yang satu ini adalah format yang digunakan Carnegie Mellon University dalam menggambarkan perjalanan mahasiswa dalam kampus dan perubahan - perubahan yang diusulkan untuk mengoptimalkan pengalaman.</a:t>
            </a:r>
            <a:endParaRPr sz="1200">
              <a:solidFill>
                <a:schemeClr val="dk1"/>
              </a:solidFill>
              <a:latin typeface="Raleway Medium"/>
              <a:ea typeface="Raleway Medium"/>
              <a:cs typeface="Raleway Medium"/>
              <a:sym typeface="Raleway Medium"/>
            </a:endParaRPr>
          </a:p>
        </p:txBody>
      </p:sp>
      <p:pic>
        <p:nvPicPr>
          <p:cNvPr id="267" name="Google Shape;267;p36"/>
          <p:cNvPicPr preferRelativeResize="0"/>
          <p:nvPr/>
        </p:nvPicPr>
        <p:blipFill rotWithShape="1">
          <a:blip r:embed="rId3">
            <a:alphaModFix/>
          </a:blip>
          <a:srcRect b="0" l="-13378" r="0" t="0"/>
          <a:stretch/>
        </p:blipFill>
        <p:spPr>
          <a:xfrm>
            <a:off x="2627550" y="773300"/>
            <a:ext cx="6277445" cy="41353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Mendesain ulang </a:t>
            </a:r>
            <a:endParaRPr/>
          </a:p>
        </p:txBody>
      </p:sp>
      <p:sp>
        <p:nvSpPr>
          <p:cNvPr id="273" name="Google Shape;27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Mendesain ulang</a:t>
            </a:r>
            <a:endParaRPr/>
          </a:p>
        </p:txBody>
      </p:sp>
      <p:sp>
        <p:nvSpPr>
          <p:cNvPr id="280" name="Google Shape;280;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Saat mendesain ulang…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perlu mengingat konsep pain points, room for improvements dan user journeys.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Seringkali kita perlu membangun studi kasus terlebih dahulu untuk menjalankan proses desain ulang sebuah situs / aplikasi.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studi kasus, kita perlu mencantumkan masalah - masalah yang ditemukan pengguna (pain points), cara mengatasinya dan perjalanan pengguna secara keseluruhan.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1" name="Google Shape;281;p38"/>
          <p:cNvPicPr preferRelativeResize="0"/>
          <p:nvPr/>
        </p:nvPicPr>
        <p:blipFill rotWithShape="1">
          <a:blip r:embed="rId3">
            <a:alphaModFix/>
          </a:blip>
          <a:srcRect b="0" l="1418" r="1418" t="0"/>
          <a:stretch/>
        </p:blipFill>
        <p:spPr>
          <a:xfrm>
            <a:off x="5486400" y="1207587"/>
            <a:ext cx="3017518" cy="2743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Mendesain ulang</a:t>
            </a:r>
            <a:endParaRPr/>
          </a:p>
        </p:txBody>
      </p:sp>
      <p:sp>
        <p:nvSpPr>
          <p:cNvPr id="288" name="Google Shape;288;p39"/>
          <p:cNvSpPr txBox="1"/>
          <p:nvPr/>
        </p:nvSpPr>
        <p:spPr>
          <a:xfrm>
            <a:off x="685800" y="1188725"/>
            <a:ext cx="77883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studi kasus pada proyek redesain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Baca dan pelajari studi kasus dibawah ini, amati prosesnya dan cobalah terapkan pada studi kasus Anda sendiri. (Pada chapter berikutnya kita akan mulai menyusun portofolio dengan sebuah kasus)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9" name="Google Shape;289;p39">
            <a:hlinkClick r:id="rId3"/>
          </p:cNvPr>
          <p:cNvPicPr preferRelativeResize="0"/>
          <p:nvPr/>
        </p:nvPicPr>
        <p:blipFill rotWithShape="1">
          <a:blip r:embed="rId4">
            <a:alphaModFix/>
          </a:blip>
          <a:srcRect b="416" l="0" r="0" t="416"/>
          <a:stretch/>
        </p:blipFill>
        <p:spPr>
          <a:xfrm>
            <a:off x="685801" y="2290002"/>
            <a:ext cx="4838078" cy="25607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295" name="Google Shape;295;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1" name="Google Shape;301;p4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pain points seorang pengguna e-commerce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mengalami masalah saat checkout.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frustasi karena tidak bisa menghapus barang yang telah ditambahkan kedalam cart.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frustasi karena tidak mampu membeli barang yang telah ditambahkan kedalam cart,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mengalami loading time yang sangat lama saat memasukan alamat.</a:t>
            </a:r>
            <a:endParaRPr sz="1200">
              <a:solidFill>
                <a:schemeClr val="lt1"/>
              </a:solidFill>
              <a:latin typeface="Raleway Medium"/>
              <a:ea typeface="Raleway Medium"/>
              <a:cs typeface="Raleway Medium"/>
              <a:sym typeface="Raleway Medium"/>
            </a:endParaRPr>
          </a:p>
        </p:txBody>
      </p:sp>
      <p:sp>
        <p:nvSpPr>
          <p:cNvPr id="302" name="Google Shape;30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8" name="Google Shape;308;p4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pain points seorang pengguna e-commerce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Pengguna mengalami masalah saat checkout.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Pengguna frustasi karena tidak bisa menghapus barang yang telah ditambahkan kedalam cart.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Pengguna frustasi karena tidak mampu membeli barang yang telah ditambahkan kedalam cart,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Pengguna mengalami loading time yang sangat lama saat memasukan alamat.</a:t>
            </a:r>
            <a:endParaRPr sz="1200">
              <a:solidFill>
                <a:srgbClr val="A667A5"/>
              </a:solidFill>
              <a:latin typeface="Raleway Medium"/>
              <a:ea typeface="Raleway Medium"/>
              <a:cs typeface="Raleway Medium"/>
              <a:sym typeface="Raleway Medium"/>
            </a:endParaRPr>
          </a:p>
        </p:txBody>
      </p:sp>
      <p:sp>
        <p:nvSpPr>
          <p:cNvPr id="309" name="Google Shape;309;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42"/>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Opsi C bukanlah masalah user experience melainkan masalah personal sang pengguna.</a:t>
            </a:r>
            <a:endParaRPr b="1" sz="1000">
              <a:solidFill>
                <a:srgbClr val="733572"/>
              </a:solidFill>
              <a:latin typeface="Raleway"/>
              <a:ea typeface="Raleway"/>
              <a:cs typeface="Raleway"/>
              <a:sym typeface="Ralew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16" name="Google Shape;316;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Ada beberapa komponen inti dari sebuah user journey map,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Aktor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Skenario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Solusi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Mindset</a:t>
            </a:r>
            <a:endParaRPr sz="1200">
              <a:solidFill>
                <a:schemeClr val="lt1"/>
              </a:solidFill>
              <a:latin typeface="Raleway Medium"/>
              <a:ea typeface="Raleway Medium"/>
              <a:cs typeface="Raleway Medium"/>
              <a:sym typeface="Raleway Medium"/>
            </a:endParaRPr>
          </a:p>
        </p:txBody>
      </p:sp>
      <p:sp>
        <p:nvSpPr>
          <p:cNvPr id="317" name="Google Shape;317;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23" name="Google Shape;323;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Ada beberapa komponen inti dari sebuah user journey map,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Aktor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Skenario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Solusi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Mindset</a:t>
            </a:r>
            <a:endParaRPr sz="1200">
              <a:solidFill>
                <a:srgbClr val="A667A5"/>
              </a:solidFill>
              <a:latin typeface="Raleway Medium"/>
              <a:ea typeface="Raleway Medium"/>
              <a:cs typeface="Raleway Medium"/>
              <a:sym typeface="Raleway Medium"/>
            </a:endParaRPr>
          </a:p>
        </p:txBody>
      </p:sp>
      <p:sp>
        <p:nvSpPr>
          <p:cNvPr id="324" name="Google Shape;324;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4"/>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Solusi bukanlah bagian dari sebuah user journey map, terutama UJM yang dirangkai pada fase define.</a:t>
            </a:r>
            <a:endParaRPr b="1" sz="1000">
              <a:solidFill>
                <a:srgbClr val="733572"/>
              </a:solidFill>
              <a:latin typeface="Raleway"/>
              <a:ea typeface="Raleway"/>
              <a:cs typeface="Raleway"/>
              <a:sym typeface="Ralew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1" name="Google Shape;331;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Tujuan sebuah user journey map adalah berikut,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titik kontak perjalanan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user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Melacak key performance indicator* (KPI)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Menemukan kekurangan</a:t>
            </a:r>
            <a:endParaRPr sz="1200">
              <a:solidFill>
                <a:schemeClr val="lt1"/>
              </a:solidFill>
              <a:latin typeface="Raleway Medium"/>
              <a:ea typeface="Raleway Medium"/>
              <a:cs typeface="Raleway Medium"/>
              <a:sym typeface="Raleway Medium"/>
            </a:endParaRPr>
          </a:p>
        </p:txBody>
      </p:sp>
      <p:sp>
        <p:nvSpPr>
          <p:cNvPr id="332" name="Google Shape;33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8" name="Google Shape;338;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Tujuan sebuah user journey map adalah berikut,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Menentukan titik kontak perjalanan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Menentukan user</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Melacak key performance indicator* (KPI)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Menemukan kekurangan</a:t>
            </a:r>
            <a:endParaRPr sz="1200">
              <a:solidFill>
                <a:srgbClr val="A667A5"/>
              </a:solidFill>
              <a:latin typeface="Raleway Medium"/>
              <a:ea typeface="Raleway Medium"/>
              <a:cs typeface="Raleway Medium"/>
              <a:sym typeface="Raleway Medium"/>
            </a:endParaRPr>
          </a:p>
        </p:txBody>
      </p:sp>
      <p:sp>
        <p:nvSpPr>
          <p:cNvPr id="339" name="Google Shape;33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46"/>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User perlu ditentukan sebelum membuat user journey map.</a:t>
            </a:r>
            <a:endParaRPr b="1" sz="1000">
              <a:solidFill>
                <a:srgbClr val="733572"/>
              </a:solidFill>
              <a:latin typeface="Raleway"/>
              <a:ea typeface="Raleway"/>
              <a:cs typeface="Raleway"/>
              <a:sym typeface="Ralew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6" name="Google Shape;346;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Apa yang perlu kita identifikasi terlebih dahulu?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Pain points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Room for improvements</a:t>
            </a:r>
            <a:endParaRPr sz="1200">
              <a:solidFill>
                <a:schemeClr val="lt1"/>
              </a:solidFill>
              <a:latin typeface="Raleway Medium"/>
              <a:ea typeface="Raleway Medium"/>
              <a:cs typeface="Raleway Medium"/>
              <a:sym typeface="Raleway Medium"/>
            </a:endParaRPr>
          </a:p>
        </p:txBody>
      </p:sp>
      <p:sp>
        <p:nvSpPr>
          <p:cNvPr id="347" name="Google Shape;34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3" name="Google Shape;353;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Apa yang perlu kita identifikasi terlebih dahulu?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Pain points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Room for improvements</a:t>
            </a:r>
            <a:endParaRPr sz="1200">
              <a:solidFill>
                <a:srgbClr val="A667A5"/>
              </a:solidFill>
              <a:latin typeface="Raleway Medium"/>
              <a:ea typeface="Raleway Medium"/>
              <a:cs typeface="Raleway Medium"/>
              <a:sym typeface="Raleway Medium"/>
            </a:endParaRPr>
          </a:p>
        </p:txBody>
      </p:sp>
      <p:sp>
        <p:nvSpPr>
          <p:cNvPr id="354" name="Google Shape;354;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48"/>
          <p:cNvSpPr/>
          <p:nvPr/>
        </p:nvSpPr>
        <p:spPr>
          <a:xfrm>
            <a:off x="685800" y="2774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Karena dengan mengetahui pain points kita dapat mencari peluang untuk peningkatan (room for improvements) yang mengatasi pain points tersebut.</a:t>
            </a:r>
            <a:endParaRPr b="1" sz="1000">
              <a:solidFill>
                <a:srgbClr val="733572"/>
              </a:solidFill>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1" name="Google Shape;361;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Sebelum mencapai langkah redesign &amp; test, Anda harus…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wireframes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a:t>
            </a:r>
            <a:r>
              <a:rPr lang="en" sz="1200">
                <a:solidFill>
                  <a:schemeClr val="lt1"/>
                </a:solidFill>
                <a:latin typeface="Raleway Medium"/>
                <a:ea typeface="Raleway Medium"/>
                <a:cs typeface="Raleway Medium"/>
                <a:sym typeface="Raleway Medium"/>
              </a:rPr>
              <a:t>ngetahui tujuan desain ulang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Merancang prototipe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Melakukan brainstorming</a:t>
            </a:r>
            <a:endParaRPr sz="1200">
              <a:solidFill>
                <a:schemeClr val="lt1"/>
              </a:solidFill>
              <a:latin typeface="Raleway Medium"/>
              <a:ea typeface="Raleway Medium"/>
              <a:cs typeface="Raleway Medium"/>
              <a:sym typeface="Raleway Medium"/>
            </a:endParaRPr>
          </a:p>
        </p:txBody>
      </p:sp>
      <p:sp>
        <p:nvSpPr>
          <p:cNvPr id="362" name="Google Shape;36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8" name="Google Shape;368;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Sebelum mencapai langkah redesign &amp; test, Anda harus…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Membuat wireframes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b="1" lang="en" sz="1200">
                <a:solidFill>
                  <a:schemeClr val="lt1"/>
                </a:solidFill>
                <a:latin typeface="Raleway"/>
                <a:ea typeface="Raleway"/>
                <a:cs typeface="Raleway"/>
                <a:sym typeface="Raleway"/>
              </a:rPr>
              <a:t>Mengetahui tujuan desain ulang</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Merancang prototipe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Melakukan brainstorming</a:t>
            </a:r>
            <a:endParaRPr sz="1200">
              <a:solidFill>
                <a:srgbClr val="A667A5"/>
              </a:solidFill>
              <a:latin typeface="Raleway Medium"/>
              <a:ea typeface="Raleway Medium"/>
              <a:cs typeface="Raleway Medium"/>
              <a:sym typeface="Raleway Medium"/>
            </a:endParaRPr>
          </a:p>
        </p:txBody>
      </p:sp>
      <p:sp>
        <p:nvSpPr>
          <p:cNvPr id="369" name="Google Shape;36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50"/>
          <p:cNvSpPr/>
          <p:nvPr/>
        </p:nvSpPr>
        <p:spPr>
          <a:xfrm>
            <a:off x="685800" y="3231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Tanpa tujuan yang jelas, akan sulit untuk menetapkan arah desain dan menjaga konsistensi pada keseluruhan desain produk.</a:t>
            </a:r>
            <a:endParaRPr b="1" sz="1000">
              <a:solidFill>
                <a:srgbClr val="733572"/>
              </a:solidFill>
              <a:latin typeface="Raleway"/>
              <a:ea typeface="Raleway"/>
              <a:cs typeface="Raleway"/>
              <a:sym typeface="Ralew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6" name="Google Shape;376;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metode - metode yang bisa digunakan untuk mendapatkan feedback pengguna,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Focus groups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Interview</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Observation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A/B Testing</a:t>
            </a:r>
            <a:endParaRPr sz="1200">
              <a:solidFill>
                <a:schemeClr val="lt1"/>
              </a:solidFill>
              <a:latin typeface="Raleway Medium"/>
              <a:ea typeface="Raleway Medium"/>
              <a:cs typeface="Raleway Medium"/>
              <a:sym typeface="Raleway Medium"/>
            </a:endParaRPr>
          </a:p>
        </p:txBody>
      </p:sp>
      <p:sp>
        <p:nvSpPr>
          <p:cNvPr id="377" name="Google Shape;37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3" name="Google Shape;383;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metode - metode yang bisa digunakan untuk mendapatkan feedback pengguna,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Focus groups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Interview</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Observation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A/B Testing</a:t>
            </a:r>
            <a:endParaRPr sz="1200">
              <a:solidFill>
                <a:srgbClr val="A667A5"/>
              </a:solidFill>
              <a:latin typeface="Raleway Medium"/>
              <a:ea typeface="Raleway Medium"/>
              <a:cs typeface="Raleway Medium"/>
              <a:sym typeface="Raleway Medium"/>
            </a:endParaRPr>
          </a:p>
        </p:txBody>
      </p:sp>
      <p:sp>
        <p:nvSpPr>
          <p:cNvPr id="384" name="Google Shape;38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52"/>
          <p:cNvSpPr/>
          <p:nvPr/>
        </p:nvSpPr>
        <p:spPr>
          <a:xfrm>
            <a:off x="685800" y="3536575"/>
            <a:ext cx="7772400" cy="7989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Melakukan observation akan menghasilkan insights terhadap perilaku pengguna, akan tetapi </a:t>
            </a:r>
            <a:r>
              <a:rPr b="1" lang="en" sz="1000">
                <a:solidFill>
                  <a:srgbClr val="733572"/>
                </a:solidFill>
                <a:latin typeface="Raleway"/>
                <a:ea typeface="Raleway"/>
                <a:cs typeface="Raleway"/>
                <a:sym typeface="Raleway"/>
              </a:rPr>
              <a:t>tidak akan menghasilkan feedback pengguna. Observation perlu dilakukan bersamaan metode lain yang memungkinkan interaksi dengan pengguna secara langsung. </a:t>
            </a:r>
            <a:endParaRPr b="1" sz="1000">
              <a:solidFill>
                <a:srgbClr val="733572"/>
              </a:solidFill>
              <a:latin typeface="Raleway"/>
              <a:ea typeface="Raleway"/>
              <a:cs typeface="Raleway"/>
              <a:sym typeface="Ralew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1" name="Google Shape;391;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392" name="Google Shape;392;p5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393" name="Google Shape;393;p53"/>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How to Conduct UX Redesign? by UX Design World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a:t>
            </a:r>
            <a:r>
              <a:rPr lang="en" sz="1200">
                <a:solidFill>
                  <a:schemeClr val="dk1"/>
                </a:solidFill>
                <a:latin typeface="Raleway Medium"/>
                <a:ea typeface="Raleway Medium"/>
                <a:cs typeface="Raleway Medium"/>
                <a:sym typeface="Raleway Medium"/>
              </a:rPr>
              <a:t>) </a:t>
            </a:r>
            <a:r>
              <a:rPr lang="en" sz="1200">
                <a:solidFill>
                  <a:schemeClr val="accent5"/>
                </a:solidFill>
                <a:uFill>
                  <a:noFill/>
                </a:uFill>
                <a:latin typeface="Raleway Medium"/>
                <a:ea typeface="Raleway Medium"/>
                <a:cs typeface="Raleway Medium"/>
                <a:sym typeface="Raleway Medium"/>
                <a:hlinkClick r:id="rId5">
                  <a:extLst>
                    <a:ext uri="{A12FA001-AC4F-418D-AE19-62706E023703}">
                      <ahyp:hlinkClr val="tx"/>
                    </a:ext>
                  </a:extLst>
                </a:hlinkClick>
              </a:rPr>
              <a:t>Defining The Problem  by Interaction Design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accent5"/>
                </a:solidFill>
                <a:uFill>
                  <a:noFill/>
                </a:uFill>
                <a:latin typeface="Raleway Medium"/>
                <a:ea typeface="Raleway Medium"/>
                <a:cs typeface="Raleway Medium"/>
                <a:sym typeface="Raleway Medium"/>
                <a:hlinkClick r:id="rId6">
                  <a:extLst>
                    <a:ext uri="{A12FA001-AC4F-418D-AE19-62706E023703}">
                      <ahyp:hlinkClr val="tx"/>
                    </a:ext>
                  </a:extLst>
                </a:hlinkClick>
              </a:rPr>
              <a:t>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a:t>
            </a:r>
            <a:r>
              <a:rPr lang="en" sz="1200">
                <a:solidFill>
                  <a:schemeClr val="dk1"/>
                </a:solidFill>
                <a:latin typeface="Raleway Medium"/>
                <a:ea typeface="Raleway Medium"/>
                <a:cs typeface="Raleway Medium"/>
                <a:sym typeface="Raleway Medium"/>
              </a:rPr>
              <a:t>) </a:t>
            </a:r>
            <a:r>
              <a:rPr lang="en" sz="1200">
                <a:solidFill>
                  <a:schemeClr val="accent5"/>
                </a:solidFill>
                <a:uFill>
                  <a:noFill/>
                </a:uFill>
                <a:latin typeface="Raleway Medium"/>
                <a:ea typeface="Raleway Medium"/>
                <a:cs typeface="Raleway Medium"/>
                <a:sym typeface="Raleway Medium"/>
                <a:hlinkClick r:id="rId7">
                  <a:extLst>
                    <a:ext uri="{A12FA001-AC4F-418D-AE19-62706E023703}">
                      <ahyp:hlinkClr val="tx"/>
                    </a:ext>
                  </a:extLst>
                </a:hlinkClick>
              </a:rPr>
              <a:t>Journey Mapping 101 by 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4</a:t>
            </a:r>
            <a:r>
              <a:rPr lang="en" sz="1200">
                <a:solidFill>
                  <a:schemeClr val="dk1"/>
                </a:solidFill>
                <a:latin typeface="Raleway Medium"/>
                <a:ea typeface="Raleway Medium"/>
                <a:cs typeface="Raleway Medium"/>
                <a:sym typeface="Raleway Medium"/>
              </a:rPr>
              <a:t>) </a:t>
            </a:r>
            <a:r>
              <a:rPr lang="en" sz="1200">
                <a:solidFill>
                  <a:schemeClr val="accent5"/>
                </a:solidFill>
                <a:uFill>
                  <a:noFill/>
                </a:uFill>
                <a:latin typeface="Raleway Medium"/>
                <a:ea typeface="Raleway Medium"/>
                <a:cs typeface="Raleway Medium"/>
                <a:sym typeface="Raleway Medium"/>
                <a:hlinkClick r:id="rId8">
                  <a:extLst>
                    <a:ext uri="{A12FA001-AC4F-418D-AE19-62706E023703}">
                      <ahyp:hlinkClr val="tx"/>
                    </a:ext>
                  </a:extLst>
                </a:hlinkClick>
              </a:rPr>
              <a:t>When and How to Create Customer Journey Maps by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uFill>
                  <a:noFill/>
                </a:uFill>
                <a:latin typeface="Raleway Medium"/>
                <a:ea typeface="Raleway Medium"/>
                <a:cs typeface="Raleway Medium"/>
                <a:sym typeface="Raleway Medium"/>
                <a:hlinkClick r:id="rId9">
                  <a:extLst>
                    <a:ext uri="{A12FA001-AC4F-418D-AE19-62706E023703}">
                      <ahyp:hlinkClr val="tx"/>
                    </a:ext>
                  </a:extLst>
                </a:hlinkClick>
              </a:rPr>
              <a:t>    Nielsen Norman Group</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5) </a:t>
            </a:r>
            <a:r>
              <a:rPr lang="en" sz="1200">
                <a:solidFill>
                  <a:schemeClr val="hlink"/>
                </a:solidFill>
                <a:uFill>
                  <a:noFill/>
                </a:uFill>
                <a:latin typeface="Raleway Medium"/>
                <a:ea typeface="Raleway Medium"/>
                <a:cs typeface="Raleway Medium"/>
                <a:sym typeface="Raleway Medium"/>
                <a:hlinkClick r:id="rId10"/>
              </a:rPr>
              <a:t>Mattermost: A UX Case Study by Alyssa Frank on </a:t>
            </a:r>
            <a:br>
              <a:rPr lang="en" sz="1200">
                <a:solidFill>
                  <a:schemeClr val="hlink"/>
                </a:solidFill>
                <a:uFill>
                  <a:noFill/>
                </a:uFill>
                <a:latin typeface="Raleway Medium"/>
                <a:ea typeface="Raleway Medium"/>
                <a:cs typeface="Raleway Medium"/>
                <a:sym typeface="Raleway Medium"/>
                <a:hlinkClick r:id="rId11"/>
              </a:rPr>
            </a:br>
            <a:r>
              <a:rPr lang="en" sz="1200">
                <a:solidFill>
                  <a:schemeClr val="hlink"/>
                </a:solidFill>
                <a:uFill>
                  <a:noFill/>
                </a:uFill>
                <a:latin typeface="Raleway Medium"/>
                <a:ea typeface="Raleway Medium"/>
                <a:cs typeface="Raleway Medium"/>
                <a:sym typeface="Raleway Medium"/>
                <a:hlinkClick r:id="rId12"/>
              </a:rPr>
              <a:t>    Medium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97" name="Shape 397"/>
        <p:cNvGrpSpPr/>
        <p:nvPr/>
      </p:nvGrpSpPr>
      <p:grpSpPr>
        <a:xfrm>
          <a:off x="0" y="0"/>
          <a:ext cx="0" cy="0"/>
          <a:chOff x="0" y="0"/>
          <a:chExt cx="0" cy="0"/>
        </a:xfrm>
      </p:grpSpPr>
      <p:sp>
        <p:nvSpPr>
          <p:cNvPr id="398" name="Google Shape;398;p54"/>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99" name="Google Shape;399;p54"/>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00" name="Google Shape;400;p54"/>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01" name="Google Shape;401;p54"/>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02" name="Google Shape;402;p54"/>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03" name="Google Shape;403;p54"/>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04" name="Google Shape;404;p54"/>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05" name="Google Shape;405;p54"/>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