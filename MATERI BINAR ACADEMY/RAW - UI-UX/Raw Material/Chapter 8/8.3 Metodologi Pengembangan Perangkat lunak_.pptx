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embeddedFontLst>
    <p:embeddedFont>
      <p:font typeface="Raleway"/>
      <p:regular r:id="rId74"/>
      <p:bold r:id="rId75"/>
      <p:italic r:id="rId76"/>
      <p:boldItalic r:id="rId77"/>
    </p:embeddedFont>
    <p:embeddedFont>
      <p:font typeface="Montserrat"/>
      <p:regular r:id="rId78"/>
      <p:bold r:id="rId79"/>
      <p:italic r:id="rId80"/>
      <p:boldItalic r:id="rId81"/>
    </p:embeddedFont>
    <p:embeddedFont>
      <p:font typeface="Lato Black"/>
      <p:bold r:id="rId82"/>
      <p:boldItalic r:id="rId83"/>
    </p:embeddedFont>
    <p:embeddedFont>
      <p:font typeface="Raleway Medium"/>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alewayMedium-regular.fntdata"/><Relationship Id="rId83" Type="http://schemas.openxmlformats.org/officeDocument/2006/relationships/font" Target="fonts/LatoBlack-boldItalic.fntdata"/><Relationship Id="rId42" Type="http://schemas.openxmlformats.org/officeDocument/2006/relationships/slide" Target="slides/slide37.xml"/><Relationship Id="rId86" Type="http://schemas.openxmlformats.org/officeDocument/2006/relationships/font" Target="fonts/RalewayMedium-italic.fntdata"/><Relationship Id="rId41" Type="http://schemas.openxmlformats.org/officeDocument/2006/relationships/slide" Target="slides/slide36.xml"/><Relationship Id="rId85" Type="http://schemas.openxmlformats.org/officeDocument/2006/relationships/font" Target="fonts/RalewayMedium-bold.fntdata"/><Relationship Id="rId44" Type="http://schemas.openxmlformats.org/officeDocument/2006/relationships/slide" Target="slides/slide39.xml"/><Relationship Id="rId43" Type="http://schemas.openxmlformats.org/officeDocument/2006/relationships/slide" Target="slides/slide38.xml"/><Relationship Id="rId87" Type="http://schemas.openxmlformats.org/officeDocument/2006/relationships/font" Target="fonts/RalewayMedium-boldItalic.fnt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italic.fntdata"/><Relationship Id="rId82" Type="http://schemas.openxmlformats.org/officeDocument/2006/relationships/font" Target="fonts/LatoBlack-bold.fntdata"/><Relationship Id="rId81"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Raleway-bold.fntdata"/><Relationship Id="rId30" Type="http://schemas.openxmlformats.org/officeDocument/2006/relationships/slide" Target="slides/slide25.xml"/><Relationship Id="rId74" Type="http://schemas.openxmlformats.org/officeDocument/2006/relationships/font" Target="fonts/Raleway-regular.fntdata"/><Relationship Id="rId33" Type="http://schemas.openxmlformats.org/officeDocument/2006/relationships/slide" Target="slides/slide28.xml"/><Relationship Id="rId77" Type="http://schemas.openxmlformats.org/officeDocument/2006/relationships/font" Target="fonts/Raleway-boldItalic.fntdata"/><Relationship Id="rId32" Type="http://schemas.openxmlformats.org/officeDocument/2006/relationships/slide" Target="slides/slide27.xml"/><Relationship Id="rId76" Type="http://schemas.openxmlformats.org/officeDocument/2006/relationships/font" Target="fonts/Raleway-italic.fntdata"/><Relationship Id="rId35" Type="http://schemas.openxmlformats.org/officeDocument/2006/relationships/slide" Target="slides/slide30.xml"/><Relationship Id="rId79" Type="http://schemas.openxmlformats.org/officeDocument/2006/relationships/font" Target="fonts/Montserrat-bold.fntdata"/><Relationship Id="rId34" Type="http://schemas.openxmlformats.org/officeDocument/2006/relationships/slide" Target="slides/slide29.xml"/><Relationship Id="rId78" Type="http://schemas.openxmlformats.org/officeDocument/2006/relationships/font" Target="fonts/Montserrat-regular.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milymorter?utm_source=unsplash&amp;utm_medium=referral&amp;utm_content=creditCopyText" TargetMode="External"/><Relationship Id="rId3" Type="http://schemas.openxmlformats.org/officeDocument/2006/relationships/hyperlink" Target="https://unsplash.com/@emilymorter?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thodsandtools.com/archive/uxrunway.php"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3de3f1a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3de3f1a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3de3f1a4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3de3f1a4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3de3f1a4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3de3f1a4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3de3f1a4d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3de3f1a4d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3de3f1a4d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3de3f1a4d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23de3f1a4d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23de3f1a4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3de3f1a4d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23de3f1a4d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23de3f1a4d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23de3f1a4d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3de3f1a4d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23de3f1a4d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23de3f1a4d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23de3f1a4d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23de3f1a4d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23de3f1a4d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3de3f1a4d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23de3f1a4d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23de3f1a4d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23de3f1a4d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23de3f1a4d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23de3f1a4d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23de3f1a4d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23de3f1a4d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23de3f1a4d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23de3f1a4d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23de3f1a4d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23de3f1a4d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23de3f1a4d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23de3f1a4d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23de3f1a4d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23de3f1a4d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23de3f1a4d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23de3f1a4d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23de3f1a4d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23de3f1a4d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23de3f1a4d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23de3f1a4d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23de3f1a4d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23de3f1a4d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3de3f1a4d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3de3f1a4d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23de3f1a4d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23de3f1a4d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23de3f1a4d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23de3f1a4d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23de3f1a4d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23de3f1a4d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23de3f1a4d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23de3f1a4d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3de3f1a4d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23de3f1a4d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23de3f1a4d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23de3f1a4d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23de3f1a4d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23de3f1a4d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23de3f1a4d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23de3f1a4d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23de3f1a4d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23de3f1a4d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39880d4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239880d4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239880d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239880d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239880d4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239880d4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Emily Morter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23de3f1a4d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23de3f1a4d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23de3f1a4d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23de3f1a4d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23de3f1a4d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23de3f1a4d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3de3f1a4d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3de3f1a4d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de3f1a4d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de3f1a4d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3de3f1a4d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3de3f1a4d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23de3f1a4d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23de3f1a4d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3de3f1a4d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3de3f1a4d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3de3f1a4d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23de3f1a4d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de3f1a4d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de3f1a4d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3de3f1a4d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3de3f1a4d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https://www.methodsandtools.com/archive/uxrunway.php</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23de3f1a4d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23de3f1a4d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23de3f1a4d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23de3f1a4d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239880d4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239880d4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23de3f1a4d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23de3f1a4d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23de3f1a4d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23de3f1a4d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23de3f1a4d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23de3f1a4d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23de3f1a4d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23de3f1a4d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23de3f1a4d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23de3f1a4d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23de3f1a4d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23de3f1a4d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23de3f1a4d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23de3f1a4d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23de3f1a4d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23de3f1a4d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23de3f1a4d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23de3f1a4d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23de3f1a4d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23de3f1a4d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23de3f1a4d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23de3f1a4d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1" Type="http://schemas.openxmlformats.org/officeDocument/2006/relationships/hyperlink" Target="https://www.methodsandtools.com/archive/uxrunway.php" TargetMode="External"/><Relationship Id="rId10" Type="http://schemas.openxmlformats.org/officeDocument/2006/relationships/hyperlink" Target="https://www.methodsandtools.com/archive/uxrunway.php" TargetMode="External"/><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png"/><Relationship Id="rId4" Type="http://schemas.openxmlformats.org/officeDocument/2006/relationships/hyperlink" Target="https://www.uxmatters.com/mt/archives/2019/06/choosing-the-right-ux-process-for-your-software-development-model.php" TargetMode="External"/><Relationship Id="rId9" Type="http://schemas.openxmlformats.org/officeDocument/2006/relationships/hyperlink" Target="https://lucidspark.com/blog/best-practices-for-applying-scrum-to-UX-design" TargetMode="External"/><Relationship Id="rId5" Type="http://schemas.openxmlformats.org/officeDocument/2006/relationships/hyperlink" Target="https://www.uxmatters.com/mt/archives/2019/06/choosing-the-right-ux-process-for-your-software-development-model.php" TargetMode="External"/><Relationship Id="rId6" Type="http://schemas.openxmlformats.org/officeDocument/2006/relationships/hyperlink" Target="https://www.uptech.team/blog/software-development-methodologies" TargetMode="External"/><Relationship Id="rId7" Type="http://schemas.openxmlformats.org/officeDocument/2006/relationships/hyperlink" Target="https://www.uptech.team/blog/software-development-methodologies" TargetMode="External"/><Relationship Id="rId8" Type="http://schemas.openxmlformats.org/officeDocument/2006/relationships/hyperlink" Target="https://lucidspark.com/blog/best-practices-for-applying-scrum-to-UX-design"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Metodologi Pengembangan </a:t>
            </a:r>
            <a:endParaRPr b="1" sz="2400">
              <a:solidFill>
                <a:srgbClr val="FFFFFF"/>
              </a:solidFill>
              <a:latin typeface="Raleway"/>
              <a:ea typeface="Raleway"/>
              <a:cs typeface="Raleway"/>
              <a:sym typeface="Raleway"/>
            </a:endParaRPr>
          </a:p>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Perangkat Lunak</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Gold - Chapter 8 - Topic 3</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Metodologi pengembangan perangkat lunak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Metodologi manajemen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Jenis - jenis metodologi manajemen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Memilih proses UX yang tepat untuk jenis metodologi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digunakan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Metodologi pengembangan perangkat lunak</a:t>
            </a:r>
            <a:endParaRPr/>
          </a:p>
        </p:txBody>
      </p:sp>
      <p:sp>
        <p:nvSpPr>
          <p:cNvPr id="115" name="Google Shape;11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manajemen proyek</a:t>
            </a:r>
            <a:endParaRPr/>
          </a:p>
        </p:txBody>
      </p:sp>
      <p:sp>
        <p:nvSpPr>
          <p:cNvPr id="122" name="Google Shape;122;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Metodologi manajemen proyek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Metodologi pengembangan perangkat lunak atau </a:t>
            </a:r>
            <a:r>
              <a:rPr i="1" lang="en" sz="1200">
                <a:solidFill>
                  <a:schemeClr val="dk1"/>
                </a:solidFill>
                <a:latin typeface="Raleway Medium"/>
                <a:ea typeface="Raleway Medium"/>
                <a:cs typeface="Raleway Medium"/>
                <a:sym typeface="Raleway Medium"/>
              </a:rPr>
              <a:t>software development methodology </a:t>
            </a:r>
            <a:r>
              <a:rPr lang="en" sz="1200">
                <a:solidFill>
                  <a:schemeClr val="dk1"/>
                </a:solidFill>
                <a:latin typeface="Raleway Medium"/>
                <a:ea typeface="Raleway Medium"/>
                <a:cs typeface="Raleway Medium"/>
                <a:sym typeface="Raleway Medium"/>
              </a:rPr>
              <a:t>mengacu pada proses terstruktur yang terlibat saat mengerjakan sebuah proyek. Metodologi pengembangan perangkat lunak menyediakan platform bagi pengembang untuk bekerja sama secara lebih efisien sebagai sebuah tim. Ini memformalkan komunikasi dan menentukan bagaimana informasi dibagikan dalam tim.</a:t>
            </a:r>
            <a:endParaRPr sz="1200">
              <a:solidFill>
                <a:schemeClr val="dk1"/>
              </a:solidFill>
              <a:latin typeface="Raleway Medium"/>
              <a:ea typeface="Raleway Medium"/>
              <a:cs typeface="Raleway Medium"/>
              <a:sym typeface="Raleway Medium"/>
            </a:endParaRPr>
          </a:p>
        </p:txBody>
      </p:sp>
      <p:pic>
        <p:nvPicPr>
          <p:cNvPr id="123" name="Google Shape;123;p23"/>
          <p:cNvPicPr preferRelativeResize="0"/>
          <p:nvPr/>
        </p:nvPicPr>
        <p:blipFill rotWithShape="1">
          <a:blip r:embed="rId3">
            <a:alphaModFix/>
          </a:blip>
          <a:srcRect b="0" l="18907" r="7778"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manajemen proyek</a:t>
            </a:r>
            <a:endParaRPr/>
          </a:p>
        </p:txBody>
      </p:sp>
      <p:sp>
        <p:nvSpPr>
          <p:cNvPr id="130" name="Google Shape;13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Metodologi dan komunikasi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Metodologi juga membuat komunikasi yang terkodifikasi.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Seorang project manager sebenarnya menetapkan seperangkat norma di antara sekelompok orang, mendefinisikan bahwa norma tersebut adalah cara Anda akan bekerja dan ini adalah bagaimana Anda akan menyampaikan informasi di antara Anda masing-masing dengan cara tertentu.</a:t>
            </a:r>
            <a:endParaRPr sz="1200">
              <a:solidFill>
                <a:schemeClr val="dk1"/>
              </a:solidFill>
              <a:latin typeface="Raleway Medium"/>
              <a:ea typeface="Raleway Medium"/>
              <a:cs typeface="Raleway Medium"/>
              <a:sym typeface="Raleway Medium"/>
            </a:endParaRPr>
          </a:p>
        </p:txBody>
      </p:sp>
      <p:pic>
        <p:nvPicPr>
          <p:cNvPr id="131" name="Google Shape;131;p2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manajemen proyek</a:t>
            </a:r>
            <a:endParaRPr/>
          </a:p>
        </p:txBody>
      </p:sp>
      <p:sp>
        <p:nvSpPr>
          <p:cNvPr id="138" name="Google Shape;13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Note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a:t>
            </a:r>
            <a:r>
              <a:rPr lang="en" sz="1200">
                <a:solidFill>
                  <a:schemeClr val="dk1"/>
                </a:solidFill>
                <a:latin typeface="Raleway Medium"/>
                <a:ea typeface="Raleway Medium"/>
                <a:cs typeface="Raleway Medium"/>
                <a:sym typeface="Raleway Medium"/>
              </a:rPr>
              <a:t>da terlalu banyak jenis metodologi manajemen proyek yang berbeda.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mencari di Google, Anda akan menemukan banyak sekali jenis - jenis metodologi. Hal ini dikarenakan seringkali ada orang yang mengubah sedikit metodologi yang sudah ada dan menetapkan label baru di atasnya dan menyebutnya sesuatu yang baru.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beberapa jenis metodologi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9" name="Google Shape;139;p25"/>
          <p:cNvPicPr preferRelativeResize="0"/>
          <p:nvPr/>
        </p:nvPicPr>
        <p:blipFill rotWithShape="1">
          <a:blip r:embed="rId3">
            <a:alphaModFix/>
          </a:blip>
          <a:srcRect b="0" l="16374" r="16380" t="0"/>
          <a:stretch/>
        </p:blipFill>
        <p:spPr>
          <a:xfrm>
            <a:off x="5486400" y="1207587"/>
            <a:ext cx="3017518" cy="2743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Jenis - jenis metodologi manajemen proyek</a:t>
            </a:r>
            <a:endParaRPr/>
          </a:p>
        </p:txBody>
      </p:sp>
      <p:sp>
        <p:nvSpPr>
          <p:cNvPr id="145" name="Google Shape;145;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152" name="Google Shape;152;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Agile Development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Agile bisa dibilang salah satu metodologi pengembangan perangkat lunak paling populer dalam beberapa tahun terakhir. Dibutuhkan pendekatan yang berbeda dari konvensional, metode linier. Agile berfokus pada bagaimana memuaskan pengguna daripada menekankan dokumentasi dan prosedur yang kaku.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Agile, tugas dipecah menjadi sprint pendek yang membutuhkan waktu sekitar 1 hingga 4 minggu untuk diselesaikan. Ini adalah model berulang yang melibatkan banyak tes saat pengembangan berlangsung. Pengembang terus mencari umpan balik dari pelanggan dan membuat perubahan pada perangkat lunak.</a:t>
            </a:r>
            <a:endParaRPr sz="1200">
              <a:solidFill>
                <a:schemeClr val="dk1"/>
              </a:solidFill>
              <a:latin typeface="Raleway Medium"/>
              <a:ea typeface="Raleway Medium"/>
              <a:cs typeface="Raleway Medium"/>
              <a:sym typeface="Raleway Medium"/>
            </a:endParaRPr>
          </a:p>
        </p:txBody>
      </p:sp>
      <p:pic>
        <p:nvPicPr>
          <p:cNvPr id="153" name="Google Shape;153;p27"/>
          <p:cNvPicPr preferRelativeResize="0"/>
          <p:nvPr/>
        </p:nvPicPr>
        <p:blipFill rotWithShape="1">
          <a:blip r:embed="rId3">
            <a:alphaModFix/>
          </a:blip>
          <a:srcRect b="0" l="6792" r="6784" t="0"/>
          <a:stretch/>
        </p:blipFill>
        <p:spPr>
          <a:xfrm>
            <a:off x="5486400" y="1207587"/>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pic>
        <p:nvPicPr>
          <p:cNvPr id="160" name="Google Shape;160;p28"/>
          <p:cNvPicPr preferRelativeResize="0"/>
          <p:nvPr/>
        </p:nvPicPr>
        <p:blipFill>
          <a:blip r:embed="rId3">
            <a:alphaModFix/>
          </a:blip>
          <a:stretch>
            <a:fillRect/>
          </a:stretch>
        </p:blipFill>
        <p:spPr>
          <a:xfrm>
            <a:off x="2003800" y="821525"/>
            <a:ext cx="5136399" cy="4117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167" name="Google Shape;167;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Agile Development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Metodologi Agile sangat ideal untuk proyek dengan persyaratan yang cepat berubah. Jika Anda sedang membangun perangkat lunak di ceruk baru, Anda pasti ingin menggunakan Agile. Cara terbaik untuk menerapkan ide tambahan saat Anda mempelajari lebih lanjut tentang kebutuhan pasar. Tentu saja, ini mengasumsikan bahwa tim pengembang Anda sangat mandiri dan nyaman bekerja di lingkungan yang serba cepat dan tidak terstruktur.</a:t>
            </a:r>
            <a:endParaRPr sz="1200">
              <a:solidFill>
                <a:schemeClr val="dk1"/>
              </a:solidFill>
              <a:latin typeface="Raleway Medium"/>
              <a:ea typeface="Raleway Medium"/>
              <a:cs typeface="Raleway Medium"/>
              <a:sym typeface="Raleway Medium"/>
            </a:endParaRPr>
          </a:p>
        </p:txBody>
      </p:sp>
      <p:pic>
        <p:nvPicPr>
          <p:cNvPr id="168" name="Google Shape;168;p29"/>
          <p:cNvPicPr preferRelativeResize="0"/>
          <p:nvPr/>
        </p:nvPicPr>
        <p:blipFill rotWithShape="1">
          <a:blip r:embed="rId3">
            <a:alphaModFix/>
          </a:blip>
          <a:srcRect b="0" l="6792" r="6784" t="0"/>
          <a:stretch/>
        </p:blipFill>
        <p:spPr>
          <a:xfrm>
            <a:off x="5486400" y="1207587"/>
            <a:ext cx="3017518"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175" name="Google Shape;175;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Waterfall Development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Meskipun beberapa dekade sejak pertama kali digunakan, metodologi waterfall masih relevan di beberapa proyek saat ini. Ini adalah metode linier sederhana di mana tahapan pengembangan diatur ke dalam proses cascading yang berurutan.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Metodologi pengembangan waterfall mudah dipahami, yang membuatnya populer untuk tim dengan pengalaman desain yang lebih rendah. Setiap tahap harus diselesaikan sebelum melanjutkan ke tahap berikutnya. Misalnya, semua persyaratan harus ditetapkan sebelum desain dapat dimulai.</a:t>
            </a:r>
            <a:endParaRPr sz="1200">
              <a:solidFill>
                <a:schemeClr val="dk1"/>
              </a:solidFill>
              <a:latin typeface="Raleway Medium"/>
              <a:ea typeface="Raleway Medium"/>
              <a:cs typeface="Raleway Medium"/>
              <a:sym typeface="Raleway Medium"/>
            </a:endParaRPr>
          </a:p>
        </p:txBody>
      </p:sp>
      <p:pic>
        <p:nvPicPr>
          <p:cNvPr id="176" name="Google Shape;176;p30"/>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183" name="Google Shape;183;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Sama seperti bagaimana air terjun mengalir ke satu arah, tidak ada jalan kembali dalam pendekatan ini. Ini membuat waterfall menjadi metode yang tidak fleksibel</a:t>
            </a:r>
            <a:r>
              <a:rPr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dan harus dihindari untuk proyek dengan persyaratan yang berubah dengan cepat.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84" name="Google Shape;184;p31"/>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2"/>
          <p:cNvPicPr preferRelativeResize="0"/>
          <p:nvPr/>
        </p:nvPicPr>
        <p:blipFill rotWithShape="1">
          <a:blip r:embed="rId3">
            <a:alphaModFix/>
          </a:blip>
          <a:srcRect b="1858" l="0" r="0" t="1848"/>
          <a:stretch/>
        </p:blipFill>
        <p:spPr>
          <a:xfrm>
            <a:off x="2003800" y="862274"/>
            <a:ext cx="4912653" cy="3938325"/>
          </a:xfrm>
          <a:prstGeom prst="rect">
            <a:avLst/>
          </a:prstGeom>
          <a:noFill/>
          <a:ln>
            <a:noFill/>
          </a:ln>
        </p:spPr>
      </p:pic>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198" name="Google Shape;198;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Waterfall</a:t>
            </a:r>
            <a:r>
              <a:rPr b="1" lang="en" sz="1800">
                <a:solidFill>
                  <a:srgbClr val="743673"/>
                </a:solidFill>
                <a:highlight>
                  <a:schemeClr val="lt1"/>
                </a:highlight>
                <a:latin typeface="Raleway"/>
                <a:ea typeface="Raleway"/>
                <a:cs typeface="Raleway"/>
                <a:sym typeface="Raleway"/>
              </a:rPr>
              <a:t> Development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Gunakan Waterfall hanya jika Anda memiliki proyek dengan cakupan yang jelas. Metodologi ini tidak cocok untuk pengembangan yang melibatkan banyak hal yang tidak diketahui. Waterfall sangat ideal untuk proyek dengan hasil yang dapat diprediksi dan ketika Anda memiliki tim pengembang yang tidak berpengalaman.</a:t>
            </a:r>
            <a:endParaRPr sz="1200">
              <a:solidFill>
                <a:schemeClr val="dk1"/>
              </a:solidFill>
              <a:latin typeface="Raleway Medium"/>
              <a:ea typeface="Raleway Medium"/>
              <a:cs typeface="Raleway Medium"/>
              <a:sym typeface="Raleway Medium"/>
            </a:endParaRPr>
          </a:p>
        </p:txBody>
      </p:sp>
      <p:pic>
        <p:nvPicPr>
          <p:cNvPr id="199" name="Google Shape;199;p33"/>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06" name="Google Shape;206;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Lean Development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Pengembangan lean lahir dari prinsip lean manufacturing oleh Toyota. Metodologi ini berfokus pada meminimalkan pemborosan dan meningkatkan produktivitas. Dengan prinsip panduan, pengembang menghindari aktivitas non-produktif sambil memberikan kualitas dalam tugas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Metodologi yang diilhami Toyota juga menekankan pembelajaran berkelanjutan dan penundaan keputusan. Ini memberdayakan tim untuk tetap berpikiran terbuka selama pengembangan dan mempertimbangkan semua faktor sebelum menyelesaikan keputusan.</a:t>
            </a:r>
            <a:endParaRPr sz="1200">
              <a:solidFill>
                <a:schemeClr val="dk1"/>
              </a:solidFill>
              <a:latin typeface="Raleway Medium"/>
              <a:ea typeface="Raleway Medium"/>
              <a:cs typeface="Raleway Medium"/>
              <a:sym typeface="Raleway Medium"/>
            </a:endParaRPr>
          </a:p>
        </p:txBody>
      </p:sp>
      <p:pic>
        <p:nvPicPr>
          <p:cNvPr id="207" name="Google Shape;207;p3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14" name="Google Shape;214;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Dengan metodologi lean, pengembang ditugaskan untuk mengidentifikasi hambatan yang dapat menghambat proses. Tujuannya adalah untuk membangun sistem yang efisien yang bekerja dengan sempurna. Metodologi ini juga menekankan rasa hormat manusia, yang berarti komunikasi adalah kunci untuk meningkatkan kolaborasi tim.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15" name="Google Shape;215;p35"/>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36"/>
          <p:cNvPicPr preferRelativeResize="0"/>
          <p:nvPr/>
        </p:nvPicPr>
        <p:blipFill rotWithShape="1">
          <a:blip r:embed="rId3">
            <a:alphaModFix/>
          </a:blip>
          <a:srcRect b="0" l="2180" r="2189" t="0"/>
          <a:stretch/>
        </p:blipFill>
        <p:spPr>
          <a:xfrm>
            <a:off x="2003800" y="862275"/>
            <a:ext cx="4912650" cy="3938313"/>
          </a:xfrm>
          <a:prstGeom prst="rect">
            <a:avLst/>
          </a:prstGeom>
          <a:noFill/>
          <a:ln>
            <a:noFill/>
          </a:ln>
        </p:spPr>
      </p:pic>
      <p:sp>
        <p:nvSpPr>
          <p:cNvPr id="221" name="Google Shape;221;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29" name="Google Shape;229;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Lean Development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Pengembangan lean sangat ideal untuk proyek kecil dengan anggaran yang ketat untuk dikerjakan. Prinsip meminimalkan pemborosan dan meningkatkan efisiensi berarti Anda akan memanfaatkan tim kecil untuk mencapai hasil yang luar biasa. Pengembangan lean menjadi kurang praktis untuk proyek yang lebih besar, karena Anda memerlukan tim yang lebih besar untuk mengerjakan tugas tersebut.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30" name="Google Shape;230;p3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37" name="Google Shape;237;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Prototype Development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Alih-alih mengembangkan perangkat lunak yang lengkap, model prototipe memungkinkan pengembang untuk bekerja pada versi prototipe dari produk akhir. Prototipe kemudian tersedia untuk pengujian, evaluasi, dan umpan balik pelanggan.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Berdasarkan umpan balik yang dikumpulkan, prototipe melewati beberapa iterasi penyempurnaan hingga dianggap memuaskan oleh pelanggan. Daya tarik dari pendekatan prototipe adalah evaluasi ketatnya yang mengungkap kemungkinan masalah sebelum pengembangan aktual dimulai.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38" name="Google Shape;238;p38"/>
          <p:cNvPicPr preferRelativeResize="0"/>
          <p:nvPr/>
        </p:nvPicPr>
        <p:blipFill rotWithShape="1">
          <a:blip r:embed="rId3">
            <a:alphaModFix/>
          </a:blip>
          <a:srcRect b="20770" l="0" r="0" t="20770"/>
          <a:stretch/>
        </p:blipFill>
        <p:spPr>
          <a:xfrm>
            <a:off x="5486400" y="1207587"/>
            <a:ext cx="3017517"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45" name="Google Shape;245;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Keberhasilan pendekatan ini tidak hanya terletak pada tim pengembang tetapi juga pada seberapa baik mereka berkomunikasi dengan pelanggan dalam melakukan pengujian. Perlu juga disebutkan bahwa pengembang sering kali menanggung biaya pembuatan prototipe.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46" name="Google Shape;246;p39"/>
          <p:cNvPicPr preferRelativeResize="0"/>
          <p:nvPr/>
        </p:nvPicPr>
        <p:blipFill rotWithShape="1">
          <a:blip r:embed="rId3">
            <a:alphaModFix/>
          </a:blip>
          <a:srcRect b="20770" l="0" r="0" t="20770"/>
          <a:stretch/>
        </p:blipFill>
        <p:spPr>
          <a:xfrm>
            <a:off x="5638800" y="1359987"/>
            <a:ext cx="3017517" cy="2743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40"/>
          <p:cNvPicPr preferRelativeResize="0"/>
          <p:nvPr/>
        </p:nvPicPr>
        <p:blipFill rotWithShape="1">
          <a:blip r:embed="rId3">
            <a:alphaModFix/>
          </a:blip>
          <a:srcRect b="1858" l="0" r="0" t="1848"/>
          <a:stretch/>
        </p:blipFill>
        <p:spPr>
          <a:xfrm>
            <a:off x="2003800" y="862275"/>
            <a:ext cx="4912650" cy="3938313"/>
          </a:xfrm>
          <a:prstGeom prst="rect">
            <a:avLst/>
          </a:prstGeom>
          <a:noFill/>
          <a:ln>
            <a:noFill/>
          </a:ln>
        </p:spPr>
      </p:pic>
      <p:sp>
        <p:nvSpPr>
          <p:cNvPr id="252" name="Google Shape;25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60" name="Google Shape;260;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Prototype Development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Model prototipe sangat ideal saat Anda membangun perangkat lunak dengan banyak hal yang tidak diketahui. Misalnya, platform online dengan interaksi pengguna yang intens. Dengan model prototipe, Anda dapat mengetahui apa yang paling cocok untuk pengguna dan mengurangi risiko pengembangan produk yang sebenarnya.</a:t>
            </a:r>
            <a:endParaRPr sz="1200">
              <a:solidFill>
                <a:schemeClr val="dk1"/>
              </a:solidFill>
              <a:latin typeface="Raleway Medium"/>
              <a:ea typeface="Raleway Medium"/>
              <a:cs typeface="Raleway Medium"/>
              <a:sym typeface="Raleway Medium"/>
            </a:endParaRPr>
          </a:p>
        </p:txBody>
      </p:sp>
      <p:pic>
        <p:nvPicPr>
          <p:cNvPr id="261" name="Google Shape;261;p41"/>
          <p:cNvPicPr preferRelativeResize="0"/>
          <p:nvPr/>
        </p:nvPicPr>
        <p:blipFill rotWithShape="1">
          <a:blip r:embed="rId3">
            <a:alphaModFix/>
          </a:blip>
          <a:srcRect b="20770" l="0" r="0" t="20770"/>
          <a:stretch/>
        </p:blipFill>
        <p:spPr>
          <a:xfrm>
            <a:off x="5486400" y="1207587"/>
            <a:ext cx="3017517" cy="2743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68" name="Google Shape;268;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RAD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Model Rapid Application Development (RAD) diperkenalkan pada tahun 1991 dan menjadi dasar dari kerangka kerja iteratif modern. Ini berfokus pada mendapatkan produk yang dibangun dalam kerangka waktu yang jauh lebih singkat tanpa mengorbankan kualitas.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RAD adalah kerangka kerja 4 langkah, yang mempertahankan persyaratan proyek, pembuatan prototipe, pengujian, dan implementasi. Tidak seperti model linier, RAD menekankan pembuatan prototipe dengan persyaratan yang diberikan dan mengujinya dengan pelanggan. Ini dilakukan melalui beberapa iterasi sampai pelanggan puas dengan hasilnya.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9" name="Google Shape;269;p42"/>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76" name="Google Shape;276;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Pengujian prototipe yang ketat menghasilkan umpan balik yang berharga, yang membantu menghilangkan sebagian besar risiko produk. Menggunakan RAD mengarah ke peluang tinggi rilis produk yang sukses dalam waktu yang ditentukan. RAD sering menggunakan alat pengembangan yang dapat mengotomatisasi dan menyederhanakan proses pengembangan.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77" name="Google Shape;277;p43"/>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4"/>
          <p:cNvPicPr preferRelativeResize="0"/>
          <p:nvPr/>
        </p:nvPicPr>
        <p:blipFill rotWithShape="1">
          <a:blip r:embed="rId3">
            <a:alphaModFix/>
          </a:blip>
          <a:srcRect b="0" l="8368" r="8368" t="0"/>
          <a:stretch/>
        </p:blipFill>
        <p:spPr>
          <a:xfrm>
            <a:off x="2367612" y="894250"/>
            <a:ext cx="4185024" cy="3355001"/>
          </a:xfrm>
          <a:prstGeom prst="rect">
            <a:avLst/>
          </a:prstGeom>
          <a:noFill/>
          <a:ln>
            <a:noFill/>
          </a:ln>
        </p:spPr>
      </p:pic>
      <p:sp>
        <p:nvSpPr>
          <p:cNvPr id="283" name="Google Shape;28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91" name="Google Shape;291;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RAD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Anda akan mendapatkan hasil terbaik dari Rapid Application Development jika Anda memiliki tim pengembang dan pelanggan berpengalaman yang sama-sama terlibat dalam proyek. Komunikasi adalah kunci untuk mewujudkan proyek dengan metode RAD. Anda juga perlu berinvestasi dalam alat RAD seperti aplikasi low-code/no-code untuk mempercepat pengembangan.</a:t>
            </a:r>
            <a:endParaRPr sz="1200">
              <a:solidFill>
                <a:schemeClr val="dk1"/>
              </a:solidFill>
              <a:latin typeface="Raleway Medium"/>
              <a:ea typeface="Raleway Medium"/>
              <a:cs typeface="Raleway Medium"/>
              <a:sym typeface="Raleway Medium"/>
            </a:endParaRPr>
          </a:p>
        </p:txBody>
      </p:sp>
      <p:pic>
        <p:nvPicPr>
          <p:cNvPr id="292" name="Google Shape;292;p45"/>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299" name="Google Shape;299;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Dynamic Systems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Model Sistem Dinamis mewarisi banyak prinsipnya dari kerangka Pengembangan Aplikasi Cepat (RAD). Metodologi yang disempurnakan ini ditujukan untuk pengiriman yang cepat dan menyelaraskan tujuan proyek dengan kebutuhan bisnis. Empat fase iteratif: studi kelayakan &amp; bisnis, model fungsional, desain &amp; membangun, dan implementasi.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Sepanjang proses, pengguna sangat terlibat dalam memberikan feedback, mengurangi risiko menyimpang dari tujuan dan persyaratan proyek. Model Sistem Dinamis juga menampilkan dokumentasi terperinci, tidak seperti sebagian besar kerangka kerja Agile.</a:t>
            </a:r>
            <a:endParaRPr sz="1200">
              <a:solidFill>
                <a:schemeClr val="dk1"/>
              </a:solidFill>
              <a:latin typeface="Raleway Medium"/>
              <a:ea typeface="Raleway Medium"/>
              <a:cs typeface="Raleway Medium"/>
              <a:sym typeface="Raleway Medium"/>
            </a:endParaRPr>
          </a:p>
        </p:txBody>
      </p:sp>
      <p:pic>
        <p:nvPicPr>
          <p:cNvPr id="300" name="Google Shape;300;p46"/>
          <p:cNvPicPr preferRelativeResize="0"/>
          <p:nvPr/>
        </p:nvPicPr>
        <p:blipFill rotWithShape="1">
          <a:blip r:embed="rId3">
            <a:alphaModFix/>
          </a:blip>
          <a:srcRect b="13640" l="0" r="0" t="13647"/>
          <a:stretch/>
        </p:blipFill>
        <p:spPr>
          <a:xfrm>
            <a:off x="5486400" y="1207587"/>
            <a:ext cx="3017520" cy="2743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7"/>
          <p:cNvPicPr preferRelativeResize="0"/>
          <p:nvPr/>
        </p:nvPicPr>
        <p:blipFill rotWithShape="1">
          <a:blip r:embed="rId3">
            <a:alphaModFix/>
          </a:blip>
          <a:srcRect b="0" l="2498" r="2489" t="0"/>
          <a:stretch/>
        </p:blipFill>
        <p:spPr>
          <a:xfrm>
            <a:off x="2286000" y="914400"/>
            <a:ext cx="4572000" cy="3665222"/>
          </a:xfrm>
          <a:prstGeom prst="rect">
            <a:avLst/>
          </a:prstGeom>
          <a:noFill/>
          <a:ln>
            <a:noFill/>
          </a:ln>
        </p:spPr>
      </p:pic>
      <p:sp>
        <p:nvSpPr>
          <p:cNvPr id="306" name="Google Shape;306;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14" name="Google Shape;314;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Dynamic Systems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Menggunakan Model Sistem Dinamis untuk organisasi kecil tidak mungkin. Sebaliknya, ini lebih cocok untuk organisasi besar yang dibebani oleh birokrasi, kemacetan, dan redudansi. Ini memecah proses yang kaku menjadi bagian-bagian berulang yang lebih kecil dan merampingkan komunikasi antara tim yang berbeda</a:t>
            </a:r>
            <a:endParaRPr sz="1200">
              <a:solidFill>
                <a:schemeClr val="dk1"/>
              </a:solidFill>
              <a:latin typeface="Raleway Medium"/>
              <a:ea typeface="Raleway Medium"/>
              <a:cs typeface="Raleway Medium"/>
              <a:sym typeface="Raleway Medium"/>
            </a:endParaRPr>
          </a:p>
        </p:txBody>
      </p:sp>
      <p:pic>
        <p:nvPicPr>
          <p:cNvPr id="315" name="Google Shape;315;p48"/>
          <p:cNvPicPr preferRelativeResize="0"/>
          <p:nvPr/>
        </p:nvPicPr>
        <p:blipFill rotWithShape="1">
          <a:blip r:embed="rId3">
            <a:alphaModFix/>
          </a:blip>
          <a:srcRect b="13640" l="0" r="0" t="13647"/>
          <a:stretch/>
        </p:blipFill>
        <p:spPr>
          <a:xfrm>
            <a:off x="5486400" y="1207587"/>
            <a:ext cx="3017520" cy="27431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22" name="Google Shape;322;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Feature Driven Development Methodology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Feature Driven Development, atau FDD adalah metodologi pengembangan perangkat lunak berdasarkan Agile. Tujuannya sederhana, untuk mencegah kebingungan yang mengarah pada pengerjaan ulang yang mahal.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Apa yang dilakukan Pengembangan Berbasis Fitur adalah memecah aktivitas pengembangan menjadi daftar fitur pada model keseluruhan. Untuk setiap fitur, pengembang melakukan iterasi perencanaan, perancangan, dan pembangunan. Biasanya sebuah fitur membutuhkan waktu tidak lebih dari dua minggu untuk diselesaikan</a:t>
            </a:r>
            <a:endParaRPr sz="1200">
              <a:solidFill>
                <a:schemeClr val="dk1"/>
              </a:solidFill>
              <a:latin typeface="Raleway Medium"/>
              <a:ea typeface="Raleway Medium"/>
              <a:cs typeface="Raleway Medium"/>
              <a:sym typeface="Raleway Medium"/>
            </a:endParaRPr>
          </a:p>
        </p:txBody>
      </p:sp>
      <p:pic>
        <p:nvPicPr>
          <p:cNvPr id="323" name="Google Shape;323;p49"/>
          <p:cNvPicPr preferRelativeResize="0"/>
          <p:nvPr/>
        </p:nvPicPr>
        <p:blipFill rotWithShape="1">
          <a:blip r:embed="rId3">
            <a:alphaModFix/>
          </a:blip>
          <a:srcRect b="0" l="13316" r="13316" t="0"/>
          <a:stretch/>
        </p:blipFill>
        <p:spPr>
          <a:xfrm>
            <a:off x="5486400" y="1207587"/>
            <a:ext cx="3017518" cy="274319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9" name="Google Shape;32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30" name="Google Shape;330;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Hasil FDD adalah hasil yang cepat dan berdampak untuk setiap aktivitas yang terdaftar sebagai fitur. Pendekatan ini dimaksudkan untuk tim besar, dan informasi dikomunikasikan melalui dokumentasi terperinci.</a:t>
            </a:r>
            <a:endParaRPr sz="1200">
              <a:solidFill>
                <a:schemeClr val="dk1"/>
              </a:solidFill>
              <a:latin typeface="Raleway Medium"/>
              <a:ea typeface="Raleway Medium"/>
              <a:cs typeface="Raleway Medium"/>
              <a:sym typeface="Raleway Medium"/>
            </a:endParaRPr>
          </a:p>
        </p:txBody>
      </p:sp>
      <p:pic>
        <p:nvPicPr>
          <p:cNvPr id="331" name="Google Shape;331;p50"/>
          <p:cNvPicPr preferRelativeResize="0"/>
          <p:nvPr/>
        </p:nvPicPr>
        <p:blipFill rotWithShape="1">
          <a:blip r:embed="rId3">
            <a:alphaModFix/>
          </a:blip>
          <a:srcRect b="0" l="13316" r="13316" t="0"/>
          <a:stretch/>
        </p:blipFill>
        <p:spPr>
          <a:xfrm>
            <a:off x="5486400" y="1207587"/>
            <a:ext cx="3017518" cy="27431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51"/>
          <p:cNvPicPr preferRelativeResize="0"/>
          <p:nvPr/>
        </p:nvPicPr>
        <p:blipFill rotWithShape="1">
          <a:blip r:embed="rId3">
            <a:alphaModFix/>
          </a:blip>
          <a:srcRect b="0" l="0" r="527" t="0"/>
          <a:stretch/>
        </p:blipFill>
        <p:spPr>
          <a:xfrm>
            <a:off x="1725000" y="914400"/>
            <a:ext cx="5694000" cy="3749424"/>
          </a:xfrm>
          <a:prstGeom prst="rect">
            <a:avLst/>
          </a:prstGeom>
          <a:noFill/>
          <a:ln>
            <a:noFill/>
          </a:ln>
        </p:spPr>
      </p:pic>
      <p:sp>
        <p:nvSpPr>
          <p:cNvPr id="337" name="Google Shape;33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45" name="Google Shape;345;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Feature Driven Development Methodology Cocok Untuk~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Pengembangan Berbasis Fitur bekerja paling baik untuk tim yang lebih besar yang mengerjakan proyek yang kompleks. Ini menawarkan yang terbaik dari kerangka kerja berulang tetapi dengan pendekatan yang lebih terstruktur. Idealnya, Anda ingin memiliki pengembang utama yang kompeten yang bertanggung jawab atas FDD.</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6" name="Google Shape;346;p52"/>
          <p:cNvPicPr preferRelativeResize="0"/>
          <p:nvPr/>
        </p:nvPicPr>
        <p:blipFill rotWithShape="1">
          <a:blip r:embed="rId3">
            <a:alphaModFix/>
          </a:blip>
          <a:srcRect b="0" l="13316" r="13316" t="0"/>
          <a:stretch/>
        </p:blipFill>
        <p:spPr>
          <a:xfrm>
            <a:off x="5486400" y="1207587"/>
            <a:ext cx="3017518" cy="27431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53" name="Google Shape;353;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a:t>
            </a:r>
            <a:r>
              <a:rPr b="1" lang="en" sz="1800">
                <a:solidFill>
                  <a:srgbClr val="743673"/>
                </a:solidFill>
                <a:highlight>
                  <a:schemeClr val="lt1"/>
                </a:highlight>
                <a:latin typeface="Raleway"/>
                <a:ea typeface="Raleway"/>
                <a:cs typeface="Raleway"/>
                <a:sym typeface="Raleway"/>
              </a:rPr>
              <a:t> Development Methodology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bisa dibilang salah satu metodologi pengembangan perangkat lunak paling fleksibel yang tersedia. Ini didasarkan pada filosofi Agile dan disukai karena pendekatan inkremental dan iteratifnya. Metodologi Scrum melibatkan Pemilik Produk (Product Owner), Scrum Master, dan Tim Pengembang.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Pemilik produk menerima masukan dari klien dan memastikan bahwa tim berada di jalur yang benar dalam memenuhi persyaratan klien. Sementara itu, Scrum Master bertindak sebagai fasilitator dan memastikan bahwa anggota tim terbiasa dengan proses Scrum. Tim bertanggung jawab atas pelaksanaan pengembangan.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54" name="Google Shape;354;p53"/>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61" name="Google Shape;361;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Apa yang membuat Scrum menjadi metodologi yang ideal dalam lingkungan yang serba cepat adalah bagaimana tugas dijalankan dalam sprint. Setiap sprint membutuhkan waktu hingga 4 minggu. Eksekusi yang cepat memungkinkan tim untuk mengidentifikasi masalah, memperkenalkan solusi, menguji, dan mengumpulkan umpan balik dalam waktu singkat. Itu membuat menangani proyek yang bergerak cepat menjadi lebih mudah.</a:t>
            </a:r>
            <a:endParaRPr sz="1200">
              <a:solidFill>
                <a:schemeClr val="dk1"/>
              </a:solidFill>
              <a:latin typeface="Raleway Medium"/>
              <a:ea typeface="Raleway Medium"/>
              <a:cs typeface="Raleway Medium"/>
              <a:sym typeface="Raleway Medium"/>
            </a:endParaRPr>
          </a:p>
        </p:txBody>
      </p:sp>
      <p:pic>
        <p:nvPicPr>
          <p:cNvPr id="362" name="Google Shape;362;p5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55"/>
          <p:cNvPicPr preferRelativeResize="0"/>
          <p:nvPr/>
        </p:nvPicPr>
        <p:blipFill rotWithShape="1">
          <a:blip r:embed="rId3">
            <a:alphaModFix/>
          </a:blip>
          <a:srcRect b="0" l="3583" r="3592" t="0"/>
          <a:stretch/>
        </p:blipFill>
        <p:spPr>
          <a:xfrm>
            <a:off x="2082625" y="838200"/>
            <a:ext cx="4978749" cy="3991299"/>
          </a:xfrm>
          <a:prstGeom prst="rect">
            <a:avLst/>
          </a:prstGeom>
          <a:noFill/>
          <a:ln>
            <a:noFill/>
          </a:ln>
        </p:spPr>
      </p:pic>
      <p:sp>
        <p:nvSpPr>
          <p:cNvPr id="368" name="Google Shape;368;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metodologi manajemen proyek</a:t>
            </a:r>
            <a:endParaRPr/>
          </a:p>
        </p:txBody>
      </p:sp>
      <p:sp>
        <p:nvSpPr>
          <p:cNvPr id="376" name="Google Shape;376;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Scrum Development Methodology Cocok Untuk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Scrum adalah metodologi yang tepat jika Anda memiliki proyek dengan persyaratan yang tidak jelas tetapi perlu beradaptasi dengan perubahan yang sering terjadi. Misalnya, Anda perlu membuat MVP dengan cepat dan mengujinya di antara pengguna. Ingatlah bahwa Scrum hanya efektif jika Anda memiliki tim yang berkomitmen penuh dan berpengalaman.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akan membahas scrum lebih dalam pada sesi berikutnya.</a:t>
            </a:r>
            <a:endParaRPr sz="1200">
              <a:solidFill>
                <a:schemeClr val="dk1"/>
              </a:solidFill>
              <a:latin typeface="Raleway Medium"/>
              <a:ea typeface="Raleway Medium"/>
              <a:cs typeface="Raleway Medium"/>
              <a:sym typeface="Raleway Medium"/>
            </a:endParaRPr>
          </a:p>
        </p:txBody>
      </p:sp>
      <p:pic>
        <p:nvPicPr>
          <p:cNvPr id="377" name="Google Shape;377;p5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Memilih proses UX yang tepat untuk jenis </a:t>
            </a:r>
            <a:endParaRPr/>
          </a:p>
          <a:p>
            <a:pPr indent="0" lvl="0" marL="0" rtl="0" algn="ctr">
              <a:spcBef>
                <a:spcPts val="0"/>
              </a:spcBef>
              <a:spcAft>
                <a:spcPts val="0"/>
              </a:spcAft>
              <a:buNone/>
            </a:pPr>
            <a:r>
              <a:rPr lang="en"/>
              <a:t>      metodologi yang digunakan</a:t>
            </a:r>
            <a:endParaRPr/>
          </a:p>
        </p:txBody>
      </p:sp>
      <p:sp>
        <p:nvSpPr>
          <p:cNvPr id="383" name="Google Shape;383;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8"/>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390" name="Google Shape;390;p5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Memilih proses UX yang tepat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menentukan proses UX yang tepat, desainer perlu mempertanyakan asumsi mereka tentang proses mereka saat ini dan memahami jenis siklus hidup pengembangan perangkat lunak (SDLC) yang digunakan tim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Pengembangan produk bukan tentang mengimplementasikan fitur dan menguji kegunaannya, tetapi tentang merancang produk dan layanan yang menarik dan mendukung kebutuhan dan nilai manusia. Memilih proses UX yang tepat bergantung pada banyak faktor, termasuk model pengiriman, pengalaman pengguna, bakat sumber daya, manajemen tim, teknologi, fleksibilitas, kontrol, dan tren.</a:t>
            </a:r>
            <a:endParaRPr sz="1200">
              <a:solidFill>
                <a:schemeClr val="dk1"/>
              </a:solidFill>
              <a:latin typeface="Raleway Medium"/>
              <a:ea typeface="Raleway Medium"/>
              <a:cs typeface="Raleway Medium"/>
              <a:sym typeface="Raleway Medium"/>
            </a:endParaRPr>
          </a:p>
        </p:txBody>
      </p:sp>
      <p:pic>
        <p:nvPicPr>
          <p:cNvPr id="391" name="Google Shape;391;p58"/>
          <p:cNvPicPr preferRelativeResize="0"/>
          <p:nvPr/>
        </p:nvPicPr>
        <p:blipFill rotWithShape="1">
          <a:blip r:embed="rId3">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59"/>
          <p:cNvSpPr txBox="1"/>
          <p:nvPr>
            <p:ph type="title"/>
          </p:nvPr>
        </p:nvSpPr>
        <p:spPr>
          <a:xfrm>
            <a:off x="685800" y="246900"/>
            <a:ext cx="5551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398" name="Google Shape;398;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memutuskan proses UX terbaik untuk tim Anda, penting untuk menyesuaikan proses dengan kebutuhan Anda. Anda juga bisa memulai dengan mengajukan beberapa pertanyaan dasar: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Seberapa stabil persyaratannya produknya?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Siapa saja penggunanya?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Apa ruang lingkup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Di mana tim proyek berada?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Apakah jenis anggaran statis atau beroperasi?</a:t>
            </a:r>
            <a:endParaRPr sz="1200">
              <a:solidFill>
                <a:schemeClr val="dk1"/>
              </a:solidFill>
              <a:latin typeface="Raleway Medium"/>
              <a:ea typeface="Raleway Medium"/>
              <a:cs typeface="Raleway Medium"/>
              <a:sym typeface="Raleway Medium"/>
            </a:endParaRPr>
          </a:p>
        </p:txBody>
      </p:sp>
      <p:pic>
        <p:nvPicPr>
          <p:cNvPr id="399" name="Google Shape;399;p5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60"/>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06" name="Google Shape;406;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Pada sesi ini, kita akan bahas beberapa proses UX, yaitu</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UX for waterfall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Agile 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Lean 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Pain-driven design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UX runway</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61"/>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13" name="Google Shape;413;p6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UX for Waterfall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a:t>
            </a:r>
            <a:r>
              <a:rPr lang="en" sz="1200">
                <a:solidFill>
                  <a:schemeClr val="dk1"/>
                </a:solidFill>
                <a:latin typeface="Raleway Medium"/>
                <a:ea typeface="Raleway Medium"/>
                <a:cs typeface="Raleway Medium"/>
                <a:sym typeface="Raleway Medium"/>
              </a:rPr>
              <a:t>X for Waterfall adalah metode pengembangan perangkat lunak kanonik, sekuensial, linier di mana tidak ada fleksibilitas untuk mengulangi desain atau pengembangan.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Desainer UX dapat mengikuti pendekatan desain yang berpusat pada pengguna, tetapi harus mematuhi ruang lingkup dan garis waktu yang disepakati. Biasanya, ada sedikit kebebasan untuk bereksperimen karena aliran sekuensial metode ini. Anggaran untuk sebuah proyek diperkirakan dan biasanya telah ditentukan sebelumnya atau terbatas, sehingga pendekatan waterfall-UX bisa menghadapi banyak tantangan dalam pelaksanaannya, terutama jika ada penyimpangan dari prosesnya.</a:t>
            </a:r>
            <a:endParaRPr sz="1200">
              <a:solidFill>
                <a:schemeClr val="dk1"/>
              </a:solidFill>
              <a:latin typeface="Raleway Medium"/>
              <a:ea typeface="Raleway Medium"/>
              <a:cs typeface="Raleway Medium"/>
              <a:sym typeface="Raleway Medium"/>
            </a:endParaRPr>
          </a:p>
        </p:txBody>
      </p:sp>
      <p:pic>
        <p:nvPicPr>
          <p:cNvPr id="414" name="Google Shape;414;p61"/>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62"/>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21" name="Google Shape;421;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Kapan untuk menggunakan UX for Waterfall?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sedang mengerjakan proyek jangka pendek dengan tawaran tetap.</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memiliki pengalaman yang baik dalam melaksanakan proyek serupa.</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Persyaratannya stabil dan tetap.</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Tim ini berpengalaman dengan teknologinya.</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Lingkup proyeknya besar.</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memiliki gagasan yang adil tentang apa yang perlu Anda lakukan.</a:t>
            </a:r>
            <a:endParaRPr sz="1200">
              <a:solidFill>
                <a:schemeClr val="dk1"/>
              </a:solidFill>
              <a:latin typeface="Raleway Medium"/>
              <a:ea typeface="Raleway Medium"/>
              <a:cs typeface="Raleway Medium"/>
              <a:sym typeface="Raleway Medium"/>
            </a:endParaRPr>
          </a:p>
        </p:txBody>
      </p:sp>
      <p:pic>
        <p:nvPicPr>
          <p:cNvPr id="422" name="Google Shape;422;p62"/>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63"/>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29" name="Google Shape;429;p6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Agile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beberapa tahun terakhir, agile UX telah menjadi metodologi pengembangan perangkat lunak paling populer di industri. Yang terbaik untuk skenario di mana persyaratan sering berubah dan tim melakukan pengembangan berulang.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Agile berfokus pada pengembangan dan garis waktu. Ini juga mewujudkan pendekatan pengembangan bertahap dan berkala untuk memecahkan masalah.</a:t>
            </a:r>
            <a:endParaRPr sz="1200">
              <a:solidFill>
                <a:schemeClr val="dk1"/>
              </a:solidFill>
              <a:latin typeface="Raleway Medium"/>
              <a:ea typeface="Raleway Medium"/>
              <a:cs typeface="Raleway Medium"/>
              <a:sym typeface="Raleway Medium"/>
            </a:endParaRPr>
          </a:p>
        </p:txBody>
      </p:sp>
      <p:pic>
        <p:nvPicPr>
          <p:cNvPr id="430" name="Google Shape;430;p63"/>
          <p:cNvPicPr preferRelativeResize="0"/>
          <p:nvPr/>
        </p:nvPicPr>
        <p:blipFill rotWithShape="1">
          <a:blip r:embed="rId3">
            <a:alphaModFix/>
          </a:blip>
          <a:srcRect b="0" l="6792" r="6784" t="0"/>
          <a:stretch/>
        </p:blipFill>
        <p:spPr>
          <a:xfrm>
            <a:off x="5486400" y="1207587"/>
            <a:ext cx="3017518" cy="2743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4"/>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37" name="Google Shape;437;p6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Kapan untuk menggunakan Agile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Gunakan Agile UX dalam kasus berikut:</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perlu menguji terhadap hasil tetap.</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harus mengirimkan produk dengan cepat, berdasarkan garis waktu.</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memerlukan kemampuan untuk melingkupi, menguraikan, atau memprioritaskan fitur berdasarkan anggaran, kualitas, dan nilai melalui sejumlah sprint.</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perlu bertindak atas permintaan pelanggan dari waktu ke waktu.</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Anda harus memastikan produk yang ramah pengguna dengan berkolaborasi dengan pelanggan selama pengembangan.</a:t>
            </a:r>
            <a:endParaRPr sz="1200">
              <a:solidFill>
                <a:schemeClr val="dk1"/>
              </a:solidFill>
              <a:latin typeface="Raleway Medium"/>
              <a:ea typeface="Raleway Medium"/>
              <a:cs typeface="Raleway Medium"/>
              <a:sym typeface="Raleway Medium"/>
            </a:endParaRPr>
          </a:p>
        </p:txBody>
      </p:sp>
      <p:pic>
        <p:nvPicPr>
          <p:cNvPr id="438" name="Google Shape;438;p64"/>
          <p:cNvPicPr preferRelativeResize="0"/>
          <p:nvPr/>
        </p:nvPicPr>
        <p:blipFill rotWithShape="1">
          <a:blip r:embed="rId3">
            <a:alphaModFix/>
          </a:blip>
          <a:srcRect b="0" l="6792" r="6784" t="0"/>
          <a:stretch/>
        </p:blipFill>
        <p:spPr>
          <a:xfrm>
            <a:off x="5486400" y="1207587"/>
            <a:ext cx="3017518" cy="2743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65"/>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45" name="Google Shape;445;p6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Lean</a:t>
            </a:r>
            <a:r>
              <a:rPr b="1" lang="en" sz="1800">
                <a:solidFill>
                  <a:srgbClr val="743673"/>
                </a:solidFill>
                <a:highlight>
                  <a:schemeClr val="lt1"/>
                </a:highlight>
                <a:latin typeface="Raleway"/>
                <a:ea typeface="Raleway"/>
                <a:cs typeface="Raleway"/>
                <a:sym typeface="Raleway"/>
              </a:rPr>
              <a:t>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Lean UX berasal dari Lean manufacturing, yang berfokus pada penghapusan produksi fitur yang tidak diinginkan yang boros.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Membangun, mengukur, mempelajari loop memungkinkan tim mengulangi desain mereka berdasarkan umpan balik pengguna—di beberapa sprint—untuk membangun produk yang layak minimum (MVP). Lean UX mengikuti proses desain partisipatif dan berulang yang memastikan partisipasi setara oleh anggota tim desain dan pengembangan dan menghasilkan banyak ide dan solusi yang mungkin untuk masalah.</a:t>
            </a:r>
            <a:endParaRPr sz="1200">
              <a:solidFill>
                <a:schemeClr val="dk1"/>
              </a:solidFill>
              <a:latin typeface="Raleway Medium"/>
              <a:ea typeface="Raleway Medium"/>
              <a:cs typeface="Raleway Medium"/>
              <a:sym typeface="Raleway Medium"/>
            </a:endParaRPr>
          </a:p>
        </p:txBody>
      </p:sp>
      <p:pic>
        <p:nvPicPr>
          <p:cNvPr id="446" name="Google Shape;446;p65"/>
          <p:cNvPicPr preferRelativeResize="0"/>
          <p:nvPr/>
        </p:nvPicPr>
        <p:blipFill rotWithShape="1">
          <a:blip r:embed="rId3">
            <a:alphaModFix/>
          </a:blip>
          <a:srcRect b="0" l="6792" r="6784" t="0"/>
          <a:stretch/>
        </p:blipFill>
        <p:spPr>
          <a:xfrm>
            <a:off x="5486400" y="1207587"/>
            <a:ext cx="3017518" cy="2743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66"/>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53" name="Google Shape;453;p6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Kapan untuk menggunakan Lean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ada banyak situasi di mana Anda dapat menggunakan Lean UX. Gunakan Lean UX dalam kasus berikut:</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Ketika ada kebutuhan untuk membangun produk pada kecepatan startup dan kelincahan dihargai.</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Saat sebuah tim perlu melakukan eksperimen—dengan membuat MVP secara iteratif—yang hasilnya menghasilkan produk yang dapat digunakan.</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Jika sebuah tim ingin keluar dari bisnis kiriman.</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a:pPr>
            <a:r>
              <a:rPr lang="en" sz="1200">
                <a:solidFill>
                  <a:schemeClr val="dk1"/>
                </a:solidFill>
                <a:latin typeface="Raleway Medium"/>
                <a:ea typeface="Raleway Medium"/>
                <a:cs typeface="Raleway Medium"/>
                <a:sym typeface="Raleway Medium"/>
              </a:rPr>
              <a:t>Jika sebuah tim ingin menghasilkan lebih sedikit dokumentasi.</a:t>
            </a:r>
            <a:endParaRPr sz="1200">
              <a:solidFill>
                <a:schemeClr val="dk1"/>
              </a:solidFill>
              <a:latin typeface="Raleway Medium"/>
              <a:ea typeface="Raleway Medium"/>
              <a:cs typeface="Raleway Medium"/>
              <a:sym typeface="Raleway Medium"/>
            </a:endParaRPr>
          </a:p>
        </p:txBody>
      </p:sp>
      <p:pic>
        <p:nvPicPr>
          <p:cNvPr id="454" name="Google Shape;454;p6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7"/>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61" name="Google Shape;461;p6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startAt="5"/>
            </a:pPr>
            <a:r>
              <a:rPr lang="en" sz="1200">
                <a:solidFill>
                  <a:schemeClr val="dk1"/>
                </a:solidFill>
                <a:latin typeface="Raleway Medium"/>
                <a:ea typeface="Raleway Medium"/>
                <a:cs typeface="Raleway Medium"/>
                <a:sym typeface="Raleway Medium"/>
              </a:rPr>
              <a:t>Ketika memilih pendekatan yang tepat untuk kesuksesan produk membutuhkan kurva belajar yang besar.</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startAt="5"/>
            </a:pPr>
            <a:r>
              <a:rPr lang="en" sz="1200">
                <a:solidFill>
                  <a:schemeClr val="dk1"/>
                </a:solidFill>
                <a:latin typeface="Raleway Medium"/>
                <a:ea typeface="Raleway Medium"/>
                <a:cs typeface="Raleway Medium"/>
                <a:sym typeface="Raleway Medium"/>
              </a:rPr>
              <a:t>Ketika sebagian besar anggota tim dikumpulkan.</a:t>
            </a:r>
            <a:endParaRPr sz="1200">
              <a:solidFill>
                <a:schemeClr val="dk1"/>
              </a:solidFill>
              <a:latin typeface="Raleway Medium"/>
              <a:ea typeface="Raleway Medium"/>
              <a:cs typeface="Raleway Medium"/>
              <a:sym typeface="Raleway Medium"/>
            </a:endParaRPr>
          </a:p>
          <a:p>
            <a:pPr indent="-190500" lvl="0" marL="228600" rtl="0" algn="just">
              <a:lnSpc>
                <a:spcPct val="115000"/>
              </a:lnSpc>
              <a:spcBef>
                <a:spcPts val="0"/>
              </a:spcBef>
              <a:spcAft>
                <a:spcPts val="0"/>
              </a:spcAft>
              <a:buClr>
                <a:schemeClr val="dk1"/>
              </a:buClr>
              <a:buSzPts val="1200"/>
              <a:buFont typeface="Raleway Medium"/>
              <a:buAutoNum type="arabicPeriod" startAt="5"/>
            </a:pPr>
            <a:r>
              <a:rPr lang="en" sz="1200">
                <a:solidFill>
                  <a:schemeClr val="dk1"/>
                </a:solidFill>
                <a:latin typeface="Raleway Medium"/>
                <a:ea typeface="Raleway Medium"/>
                <a:cs typeface="Raleway Medium"/>
                <a:sym typeface="Raleway Medium"/>
              </a:rPr>
              <a:t>Ketika sebuah organisasi sudah mengikuti proses tangkas.</a:t>
            </a:r>
            <a:endParaRPr sz="1200">
              <a:solidFill>
                <a:schemeClr val="dk1"/>
              </a:solidFill>
              <a:latin typeface="Raleway Medium"/>
              <a:ea typeface="Raleway Medium"/>
              <a:cs typeface="Raleway Medium"/>
              <a:sym typeface="Raleway Medium"/>
            </a:endParaRPr>
          </a:p>
        </p:txBody>
      </p:sp>
      <p:pic>
        <p:nvPicPr>
          <p:cNvPr id="462" name="Google Shape;462;p6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68"/>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69" name="Google Shape;469;p6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Pain Driven Design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Pain-Driven Design (PDD) adalah tentang mencari tahu apa yang menyebabkan rasa sakit sebelum Anda mulai memecahkan masalah desain—yaitu, memprediksi rasa sakit, lalu meresponsnya. PDD memungkinkan akuisisi pengetahuan organisasi selama fase penemuan—dan memungkinkan startup gagal dengan aman.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Sebagian besar organisasi yang matang dan sukses telah mengikuti pendekatan ini baik secara langsung maupun tidak langsung—tanpa mengetahui bahwa ini adalah proses desain yang digerakkan oleh rasa sakit.</a:t>
            </a:r>
            <a:endParaRPr sz="1200">
              <a:solidFill>
                <a:schemeClr val="dk1"/>
              </a:solidFill>
              <a:latin typeface="Raleway Medium"/>
              <a:ea typeface="Raleway Medium"/>
              <a:cs typeface="Raleway Medium"/>
              <a:sym typeface="Raleway Medium"/>
            </a:endParaRPr>
          </a:p>
        </p:txBody>
      </p:sp>
      <p:pic>
        <p:nvPicPr>
          <p:cNvPr id="470" name="Google Shape;470;p68"/>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69"/>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77" name="Google Shape;477;p6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Mengintegrasikan PDD ke dalam proses pengembangan Anda—dengan memecah kompleksitas pengambilan keputusan yang didorong rasa sakit menjadi tindakan memungkinkan Anda mengartikulasikan perbedaan antara masalah yang dapat diprediksi dan rasa sakit yang tidak dapat diprediksi.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78" name="Google Shape;478;p6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70"/>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485" name="Google Shape;485;p7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UX Runway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Ide untuk UX Runway awalnya berasal dari Scaled Agile Framework (SAFe). Banyak orang mengeluh bahwa tangkas hanya berfungsi dengan baik untuk proyek skala kecil dan tidak berkembang dengan baik. SAFe dapat memberikan solusi untuk masalah ini karena mengadopsi prinsip Lean dan Agile, menggabungkannya untuk bekerja secara efektif untuk proyek skala besar yang melibatkan banyak tim Scrum. Proses SAFe memungkinkan Anda menskalakan upaya di seluruh tim dan memanfaatkan proses di tingkat program dan portofolio.</a:t>
            </a:r>
            <a:endParaRPr sz="1200">
              <a:solidFill>
                <a:schemeClr val="dk1"/>
              </a:solidFill>
              <a:latin typeface="Raleway Medium"/>
              <a:ea typeface="Raleway Medium"/>
              <a:cs typeface="Raleway Medium"/>
              <a:sym typeface="Raleway Medium"/>
            </a:endParaRPr>
          </a:p>
        </p:txBody>
      </p:sp>
      <p:pic>
        <p:nvPicPr>
          <p:cNvPr id="486" name="Google Shape;486;p70"/>
          <p:cNvPicPr preferRelativeResize="0"/>
          <p:nvPr/>
        </p:nvPicPr>
        <p:blipFill rotWithShape="1">
          <a:blip r:embed="rId3">
            <a:alphaModFix/>
          </a:blip>
          <a:srcRect b="-37741" l="0" r="0" t="0"/>
          <a:stretch/>
        </p:blipFill>
        <p:spPr>
          <a:xfrm>
            <a:off x="5486400" y="1207587"/>
            <a:ext cx="3017518" cy="27431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2" name="Google Shape;492;p71"/>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pic>
        <p:nvPicPr>
          <p:cNvPr id="493" name="Google Shape;493;p71"/>
          <p:cNvPicPr preferRelativeResize="0"/>
          <p:nvPr/>
        </p:nvPicPr>
        <p:blipFill>
          <a:blip r:embed="rId3">
            <a:alphaModFix/>
          </a:blip>
          <a:stretch>
            <a:fillRect/>
          </a:stretch>
        </p:blipFill>
        <p:spPr>
          <a:xfrm>
            <a:off x="1612500" y="914400"/>
            <a:ext cx="5679778" cy="36786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72"/>
          <p:cNvSpPr txBox="1"/>
          <p:nvPr>
            <p:ph type="title"/>
          </p:nvPr>
        </p:nvSpPr>
        <p:spPr>
          <a:xfrm>
            <a:off x="685800" y="246900"/>
            <a:ext cx="5265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proses UX yang tepat untuk jenis metodologi yang digunakan</a:t>
            </a:r>
            <a:endParaRPr/>
          </a:p>
        </p:txBody>
      </p:sp>
      <p:sp>
        <p:nvSpPr>
          <p:cNvPr id="500" name="Google Shape;500;p7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Ingatlah…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Langkah pertama dalam memilih proses yang tepat untuk tim Anda sendiri dimulai dengan mengeksplorasi pilihan Anda dan mendidik pemangku kepentingan dan pengambil keputusan tentang mereka. Pada akhirnya, Anda dapat melembagakan proses Anda, menguji pendekatan Anda, mencapai keberhasilan kecil, kemudian memodifikasi dan menskalakan pendekatan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Quiz</a:t>
            </a:r>
            <a:endParaRPr/>
          </a:p>
        </p:txBody>
      </p:sp>
      <p:sp>
        <p:nvSpPr>
          <p:cNvPr id="506" name="Google Shape;506;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2" name="Google Shape;512;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Jika persyaratan proyek cepat berubah, lingkungan tidak begitu terstruktur, maka metodologi pengembangan perangkat lunak yang cocok untuk digunakan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Agile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Feature-driven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Waterfall</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8" name="Google Shape;518;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Jika persyaratan proyek cepat berubah, lingkungan tidak begitu terstruktur, maka metodologi pengembangan perangkat lunak yang cocok untuk digunakan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Agile</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Feature-driven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Waterfall</a:t>
            </a:r>
            <a:endParaRPr sz="1200">
              <a:solidFill>
                <a:srgbClr val="A667A5"/>
              </a:solidFill>
              <a:latin typeface="Raleway Medium"/>
              <a:ea typeface="Raleway Medium"/>
              <a:cs typeface="Raleway Medium"/>
              <a:sym typeface="Raleway Medium"/>
            </a:endParaRPr>
          </a:p>
        </p:txBody>
      </p:sp>
      <p:sp>
        <p:nvSpPr>
          <p:cNvPr id="519" name="Google Shape;519;p75"/>
          <p:cNvSpPr/>
          <p:nvPr/>
        </p:nvSpPr>
        <p:spPr>
          <a:xfrm>
            <a:off x="685800" y="3643575"/>
            <a:ext cx="7772400" cy="476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Agile adalah metodologi yang paling cocok untuk ini, developer pada lingkungan ini harus  sangat mandiri dan nyaman bekerja di lingkungan yang serba cepat dan tidak terstruktur.</a:t>
            </a:r>
            <a:endParaRPr b="1" sz="1000">
              <a:solidFill>
                <a:srgbClr val="733572"/>
              </a:solidFill>
              <a:latin typeface="Raleway"/>
              <a:ea typeface="Raleway"/>
              <a:cs typeface="Raleway"/>
              <a:sym typeface="Raleway"/>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5" name="Google Shape;525;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Metodologi yang menekankan rasa hormat manusia, dan menjadikan komunikasi kunci untuk meningkatkan kolaborasi tim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Waterfall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Feature-driven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Lean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1" name="Google Shape;531;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Metodologi yang menekankan rasa hormat manusia, dan menjadikan komunikasi kunci untuk meningkatkan kolaborasi tim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Waterfall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Feature-driven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Lean</a:t>
            </a:r>
            <a:endParaRPr b="1" sz="1200">
              <a:solidFill>
                <a:schemeClr val="lt1"/>
              </a:solidFill>
              <a:latin typeface="Raleway"/>
              <a:ea typeface="Raleway"/>
              <a:cs typeface="Raleway"/>
              <a:sym typeface="Raleway"/>
            </a:endParaRPr>
          </a:p>
        </p:txBody>
      </p:sp>
      <p:sp>
        <p:nvSpPr>
          <p:cNvPr id="532" name="Google Shape;532;p77"/>
          <p:cNvSpPr/>
          <p:nvPr/>
        </p:nvSpPr>
        <p:spPr>
          <a:xfrm>
            <a:off x="685800" y="3643575"/>
            <a:ext cx="7772400" cy="476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Metodologi lean sangat menekankan rasa hormat manusia, yang berarti komunikasi adalah kunci untuk meningkatkan kolaborasi tim.</a:t>
            </a:r>
            <a:endParaRPr b="1" sz="1000">
              <a:solidFill>
                <a:srgbClr val="733572"/>
              </a:solidFill>
              <a:latin typeface="Raleway"/>
              <a:ea typeface="Raleway"/>
              <a:cs typeface="Raleway"/>
              <a:sym typeface="Raleway"/>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8" name="Google Shape;538;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Jika  Anda </a:t>
            </a:r>
            <a:r>
              <a:rPr b="1" lang="en" sz="1800">
                <a:solidFill>
                  <a:schemeClr val="lt1"/>
                </a:solidFill>
                <a:latin typeface="Raleway"/>
                <a:ea typeface="Raleway"/>
                <a:cs typeface="Raleway"/>
                <a:sym typeface="Raleway"/>
              </a:rPr>
              <a:t>memiliki proyek dengan persyaratan yang tidak jelas tetapi perlu beradaptasi dengan perubahan yang sering terjadi, maka metodologi pengembangan perangkat lunak yang cocok untuk digunakan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Waterfall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Scrum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Dynamic Systems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4" name="Google Shape;544;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Jika  Anda memiliki proyek dengan persyaratan yang tidak jelas tetapi perlu beradaptasi dengan perubahan yang sering terjadi, maka metodologi pengembangan perangkat lunak yang cocok untuk digunakan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Waterfall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Scrum</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Dynamic Systems</a:t>
            </a:r>
            <a:endParaRPr sz="1200">
              <a:solidFill>
                <a:srgbClr val="A667A5"/>
              </a:solidFill>
              <a:latin typeface="Raleway Medium"/>
              <a:ea typeface="Raleway Medium"/>
              <a:cs typeface="Raleway Medium"/>
              <a:sym typeface="Raleway Medium"/>
            </a:endParaRPr>
          </a:p>
        </p:txBody>
      </p:sp>
      <p:sp>
        <p:nvSpPr>
          <p:cNvPr id="545" name="Google Shape;545;p79"/>
          <p:cNvSpPr/>
          <p:nvPr/>
        </p:nvSpPr>
        <p:spPr>
          <a:xfrm>
            <a:off x="685800" y="3872175"/>
            <a:ext cx="7772400" cy="690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Scrum adalah metodologi yang tepat jika Anda memiliki proyek dengan persyaratan yang tidak jelas tetapi perlu beradaptasi dengan perubahan yang sering terjadi. Misalnya, Anda perlu membuat MVP dengan cepat dan mengujinya di antara pengguna.</a:t>
            </a:r>
            <a:endParaRPr b="1" sz="1000">
              <a:solidFill>
                <a:srgbClr val="733572"/>
              </a:solidFill>
              <a:latin typeface="Raleway"/>
              <a:ea typeface="Raleway"/>
              <a:cs typeface="Raleway"/>
              <a:sym typeface="Ralewa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1" name="Google Shape;551;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alasan untuk menggunakan metodologi </a:t>
            </a:r>
            <a:r>
              <a:rPr b="1" lang="en" sz="1800">
                <a:solidFill>
                  <a:schemeClr val="lt1"/>
                </a:solidFill>
                <a:latin typeface="Raleway"/>
                <a:ea typeface="Raleway"/>
                <a:cs typeface="Raleway"/>
                <a:sym typeface="Raleway"/>
              </a:rPr>
              <a:t>Feature Driven</a:t>
            </a:r>
            <a:r>
              <a:rPr b="1" lang="en" sz="1800">
                <a:solidFill>
                  <a:schemeClr val="lt1"/>
                </a:solidFill>
                <a:latin typeface="Raleway"/>
                <a:ea typeface="Raleway"/>
                <a:cs typeface="Raleway"/>
                <a:sym typeface="Raleway"/>
              </a:rPr>
              <a:t>,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Organisasi yang besar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Proyek yang kompleks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Tidak iteratif</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7" name="Google Shape;557;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alasan untuk menggunakan metodologi Feature Driven,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Organisasi yang besar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Proyek yang kompleks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Tidak iteratif</a:t>
            </a:r>
            <a:endParaRPr b="1" sz="1200">
              <a:solidFill>
                <a:schemeClr val="lt1"/>
              </a:solidFill>
              <a:latin typeface="Raleway"/>
              <a:ea typeface="Raleway"/>
              <a:cs typeface="Raleway"/>
              <a:sym typeface="Raleway"/>
            </a:endParaRPr>
          </a:p>
        </p:txBody>
      </p:sp>
      <p:sp>
        <p:nvSpPr>
          <p:cNvPr id="558" name="Google Shape;558;p81"/>
          <p:cNvSpPr/>
          <p:nvPr/>
        </p:nvSpPr>
        <p:spPr>
          <a:xfrm>
            <a:off x="685800" y="3338775"/>
            <a:ext cx="7772400" cy="690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Apa yang dilakukan Pengembangan Berbasis Fitur adalah memecah aktivitas pengembangan menjadi daftar fitur pada model keseluruhan. Untuk setiap fitur, pengembang melakukan iterasi perencanaan, perancangan, dan pembangunan. Biasanya sebuah fitur membutuhkan waktu tidak lebih dari dua minggu untuk diselesaikan</a:t>
            </a:r>
            <a:endParaRPr b="1" sz="1000">
              <a:solidFill>
                <a:srgbClr val="733572"/>
              </a:solidFill>
              <a:latin typeface="Raleway"/>
              <a:ea typeface="Raleway"/>
              <a:cs typeface="Raleway"/>
              <a:sym typeface="Raleway"/>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4" name="Google Shape;564;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alasan untuk </a:t>
            </a:r>
            <a:r>
              <a:rPr b="1" lang="en" sz="1800">
                <a:solidFill>
                  <a:schemeClr val="lt1"/>
                </a:solidFill>
                <a:latin typeface="Raleway"/>
                <a:ea typeface="Raleway"/>
                <a:cs typeface="Raleway"/>
                <a:sym typeface="Raleway"/>
              </a:rPr>
              <a:t>menggunakan UX for Waterfall,</a:t>
            </a:r>
            <a:r>
              <a:rPr b="1" lang="en" sz="1800">
                <a:solidFill>
                  <a:schemeClr val="lt1"/>
                </a:solidFill>
                <a:latin typeface="Raleway"/>
                <a:ea typeface="Raleway"/>
                <a:cs typeface="Raleway"/>
                <a:sym typeface="Raleway"/>
              </a:rPr>
              <a:t>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Lingkup proyeknya kecil.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Tim memiliki pengalaman yang baik dalam melaksanakan proyek serupa.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Persyaratannya stabil dan tetap.</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0" name="Google Shape;570;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beberapa alasan untuk menggunakan UX for Waterfall,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Lingkup proyeknya kecil.</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Tim memiliki pengalaman yang baik dalam melaksanakan proyek serupa.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Persyaratannya stabil dan tetap.</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71" name="Google Shape;571;p83"/>
          <p:cNvSpPr/>
          <p:nvPr/>
        </p:nvSpPr>
        <p:spPr>
          <a:xfrm>
            <a:off x="685800" y="3338775"/>
            <a:ext cx="7772400" cy="523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UX for Waterfall lebih cocok untuk digunakan pada lingkup proyek yang cukup besar dengan tim yang  berpengalaman dengan teknologinya.</a:t>
            </a:r>
            <a:endParaRPr b="1" sz="1000">
              <a:solidFill>
                <a:srgbClr val="733572"/>
              </a:solidFill>
              <a:latin typeface="Raleway"/>
              <a:ea typeface="Raleway"/>
              <a:cs typeface="Raleway"/>
              <a:sym typeface="Raleway"/>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7" name="Google Shape;577;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Lean UX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Desain partisipatif dan berulang yang memastikan partisipasi setara oleh anggota tim desain dan pengembangan dan menghasilkan banyak ide dan solusi yang mungkin untuk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Pendekatan desain yang berfokus pada pengembangan dan garis waktu. Proses ini juga mewujudkan pendekatan pengembangan bertahap dan berkala untuk memecahkan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Pendekatan desain</a:t>
            </a:r>
            <a:r>
              <a:rPr lang="en" sz="1200">
                <a:solidFill>
                  <a:schemeClr val="lt1"/>
                </a:solidFill>
                <a:latin typeface="Raleway Medium"/>
                <a:ea typeface="Raleway Medium"/>
                <a:cs typeface="Raleway Medium"/>
                <a:sym typeface="Raleway Medium"/>
              </a:rPr>
              <a:t> perangkat lunak kanonik, sekuensial, linier di mana tidak ada fleksibilitas untuk mengulangi desain atau pengembangan.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83" name="Google Shape;583;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Lean UX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Desain partisipatif dan berulang yang memastikan partisipasi setara oleh anggota tim desain dan pengembangan dan menghasilkan banyak ide dan solusi yang mungkin untuk masalah.</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Pendekatan desain yang berfokus pada pengembangan dan garis waktu. Proses ini juga mewujudkan pendekatan pengembangan bertahap dan berkala untuk memecahkan masalah.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Pendekatan desain perangkat lunak kanonik, sekuensial, linier di mana tidak ada fleksibilitas untuk mengulangi desain atau pengembangan. </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84" name="Google Shape;584;p85"/>
          <p:cNvSpPr/>
          <p:nvPr/>
        </p:nvSpPr>
        <p:spPr>
          <a:xfrm>
            <a:off x="685800" y="3567375"/>
            <a:ext cx="7772400" cy="523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Lean UX mengikuti proses desain partisipatif dan berulang yang memastikan partisipasi setara oleh anggota tim desain dan pengembangan dan menghasilkan banyak ide dan solusi yang mungkin untuk masalah.</a:t>
            </a:r>
            <a:endParaRPr b="1" sz="1000">
              <a:solidFill>
                <a:srgbClr val="733572"/>
              </a:solidFill>
              <a:latin typeface="Raleway"/>
              <a:ea typeface="Raleway"/>
              <a:cs typeface="Raleway"/>
              <a:sym typeface="Raleway"/>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91" name="Google Shape;591;p8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92" name="Google Shape;592;p86"/>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Choosing the Right UX Process for Your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5"/>
              </a:rPr>
              <a:t>Software-Development Model by UX Matters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6"/>
              </a:rPr>
              <a:t>8 Best Software Development Methodologies by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7"/>
              </a:rPr>
              <a:t>Uptech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8"/>
              </a:rPr>
              <a:t>Best practices for applying Scrum to UX design by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9"/>
              </a:rPr>
              <a:t>Lucidspark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10"/>
              </a:rPr>
              <a:t>The UX Runway - Integrating UX, Lean and Scrum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1"/>
              </a:rPr>
              <a:t>    Cohesively by Methodsandtools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96" name="Shape 596"/>
        <p:cNvGrpSpPr/>
        <p:nvPr/>
      </p:nvGrpSpPr>
      <p:grpSpPr>
        <a:xfrm>
          <a:off x="0" y="0"/>
          <a:ext cx="0" cy="0"/>
          <a:chOff x="0" y="0"/>
          <a:chExt cx="0" cy="0"/>
        </a:xfrm>
      </p:grpSpPr>
      <p:sp>
        <p:nvSpPr>
          <p:cNvPr id="597" name="Google Shape;597;p87"/>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98" name="Google Shape;598;p87"/>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99" name="Google Shape;599;p87"/>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0" name="Google Shape;600;p87"/>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1" name="Google Shape;601;p87"/>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602" name="Google Shape;602;p87"/>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603" name="Google Shape;603;p87"/>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604" name="Google Shape;604;p87"/>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