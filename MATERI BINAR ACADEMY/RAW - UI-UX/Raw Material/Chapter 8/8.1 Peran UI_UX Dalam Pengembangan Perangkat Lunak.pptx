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Raleway"/>
      <p:regular r:id="rId47"/>
      <p:bold r:id="rId48"/>
      <p:italic r:id="rId49"/>
      <p:boldItalic r:id="rId50"/>
    </p:embeddedFont>
    <p:embeddedFont>
      <p:font typeface="Montserrat"/>
      <p:regular r:id="rId51"/>
      <p:bold r:id="rId52"/>
      <p:italic r:id="rId53"/>
      <p:boldItalic r:id="rId54"/>
    </p:embeddedFont>
    <p:embeddedFont>
      <p:font typeface="Lato Black"/>
      <p:bold r:id="rId55"/>
      <p:boldItalic r:id="rId56"/>
    </p:embeddedFont>
    <p:embeddedFont>
      <p:font typeface="Raleway Medium"/>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aleway-bold.fntdata"/><Relationship Id="rId47" Type="http://schemas.openxmlformats.org/officeDocument/2006/relationships/font" Target="fonts/Raleway-regular.fntdata"/><Relationship Id="rId49" Type="http://schemas.openxmlformats.org/officeDocument/2006/relationships/font" Target="fonts/Raleway-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alewayMedium-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regular.fntdata"/><Relationship Id="rId50" Type="http://schemas.openxmlformats.org/officeDocument/2006/relationships/font" Target="fonts/Raleway-boldItalic.fntdata"/><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5.xml"/><Relationship Id="rId55" Type="http://schemas.openxmlformats.org/officeDocument/2006/relationships/font" Target="fonts/LatoBlack-bold.fntdata"/><Relationship Id="rId10" Type="http://schemas.openxmlformats.org/officeDocument/2006/relationships/slide" Target="slides/slide4.xml"/><Relationship Id="rId54" Type="http://schemas.openxmlformats.org/officeDocument/2006/relationships/font" Target="fonts/Montserrat-boldItalic.fntdata"/><Relationship Id="rId13" Type="http://schemas.openxmlformats.org/officeDocument/2006/relationships/slide" Target="slides/slide7.xml"/><Relationship Id="rId57" Type="http://schemas.openxmlformats.org/officeDocument/2006/relationships/font" Target="fonts/RalewayMedium-regular.fntdata"/><Relationship Id="rId12" Type="http://schemas.openxmlformats.org/officeDocument/2006/relationships/slide" Target="slides/slide6.xml"/><Relationship Id="rId56" Type="http://schemas.openxmlformats.org/officeDocument/2006/relationships/font" Target="fonts/LatoBlack-boldItalic.fntdata"/><Relationship Id="rId15" Type="http://schemas.openxmlformats.org/officeDocument/2006/relationships/slide" Target="slides/slide9.xml"/><Relationship Id="rId59" Type="http://schemas.openxmlformats.org/officeDocument/2006/relationships/font" Target="fonts/RalewayMedium-italic.fntdata"/><Relationship Id="rId14" Type="http://schemas.openxmlformats.org/officeDocument/2006/relationships/slide" Target="slides/slide8.xml"/><Relationship Id="rId58" Type="http://schemas.openxmlformats.org/officeDocument/2006/relationships/font" Target="fonts/RalewayMedium-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peters?utm_source=unsplash&amp;utm_medium=referral&amp;utm_content=creditCopyText" TargetMode="External"/><Relationship Id="rId3" Type="http://schemas.openxmlformats.org/officeDocument/2006/relationships/hyperlink" Target="https://unsplash.com/@lukepeters?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rwegianscitechnews.com/2019/11/tinder-is-a-waste-of-time-for-most-people/"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rgedevs?utm_source=unsplash&amp;utm_medium=referral&amp;utm_content=creditCopyText" TargetMode="External"/><Relationship Id="rId3" Type="http://schemas.openxmlformats.org/officeDocument/2006/relationships/hyperlink" Target="https://unsplash.com/@jorgedevs?utm_source=unsplash&amp;utm_medium=referral&amp;utm_content=creditCopyText" TargetMode="External"/><Relationship Id="rId4" Type="http://schemas.openxmlformats.org/officeDocument/2006/relationships/hyperlink" Target="https://unsplash.com/s/photos/iot?utm_source=unsplash&amp;utm_medium=referral&amp;utm_content=creditCopyText" TargetMode="External"/><Relationship Id="rId5" Type="http://schemas.openxmlformats.org/officeDocument/2006/relationships/hyperlink" Target="https://unsplash.com/s/photos/iot?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itoc.com/software-development-life-cycle/"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rbis.com/blog/6-phases-of-the-software-development-life-cycle/"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d23c8d8e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d23c8d8e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3d23c8d8e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3d23c8d8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3d23c8d8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23d23c8d8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23d23c8d8e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23d23c8d8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3d23c8d8e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3d23c8d8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23d23c8d8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23d23c8d8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https://norwegianscitechnews.com/2019/11/tinder-is-a-waste-of-time-for-most-people/</a:t>
            </a:r>
            <a:r>
              <a:rPr lang="en">
                <a:solidFill>
                  <a:schemeClr val="dk1"/>
                </a:solidFill>
              </a:rPr>
              <a:t>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23d23c8d8e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23d23c8d8e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Jorge Ramirez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3d23c8d8e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3d23c8d8e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3d23c8d8e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3d23c8d8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d23c8d8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d23c8d8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3d23c8d8e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3d23c8d8e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3d23c8d8e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3d23c8d8e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3d23c8d8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23d23c8d8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3d23c8d8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3d23c8d8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3d23c8d8e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3d23c8d8e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23d23c8d8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23d23c8d8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3d23c8d8e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23d23c8d8e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3d23c8d8e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23d23c8d8e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23d23c8d8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23d23c8d8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3d23c8d8e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23d23c8d8e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https://zitoc.com/software-development-life-cycle/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23d23c8d8e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23d23c8d8e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https://erbis.com/blog/6-phases-of-the-software-development-life-cycle/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23d23c8d8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23d23c8d8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23d23c8d8e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23d23c8d8e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23d23c8d8e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23d23c8d8e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3d23c8d8e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23d23c8d8e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23d23c8d8e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23d23c8d8e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3d23c8d8e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23d23c8d8e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3d23c8d8e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3d23c8d8e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23d23c8d8e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23d23c8d8e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3d23c8d8e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3d23c8d8e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23d23c8d8e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23d23c8d8e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23d23c8d8e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23d23c8d8e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3d23c8d8e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23d23c8d8e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23d23c8d8e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23d23c8d8e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3d23c8d8e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3d23c8d8e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23d23c8d8e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23d23c8d8e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23d23c8d8e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23d23c8d8e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23d23c8d8e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23d23c8d8e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23d23c8d8e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23d23c8d8e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3d23c8d8e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23d23c8d8e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0" Type="http://schemas.openxmlformats.org/officeDocument/2006/relationships/hyperlink" Target="https://medium.com/@tobiegbude/importance-of-ui-ux-design-in-software-development-c21b342c2f12" TargetMode="External"/><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hyperlink" Target="https://erbis.com/blog/6-phases-of-the-software-development-life-cycle/" TargetMode="External"/><Relationship Id="rId9" Type="http://schemas.openxmlformats.org/officeDocument/2006/relationships/hyperlink" Target="https://medium.com/@tobiegbude/importance-of-ui-ux-design-in-software-development-c21b342c2f12" TargetMode="External"/><Relationship Id="rId5" Type="http://schemas.openxmlformats.org/officeDocument/2006/relationships/hyperlink" Target="https://erbis.com/blog/6-phases-of-the-software-development-life-cycle/" TargetMode="External"/><Relationship Id="rId6" Type="http://schemas.openxmlformats.org/officeDocument/2006/relationships/hyperlink" Target="https://zitoc.com/software-development-life-cycle/" TargetMode="External"/><Relationship Id="rId7" Type="http://schemas.openxmlformats.org/officeDocument/2006/relationships/hyperlink" Target="https://starkstechnology.com/role-of-UI-UX-In-software-development" TargetMode="External"/><Relationship Id="rId8" Type="http://schemas.openxmlformats.org/officeDocument/2006/relationships/hyperlink" Target="https://starkstechnology.com/role-of-UI-UX-In-software-developmen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sp>
        <p:nvSpPr>
          <p:cNvPr id="147" name="Google Shape;147;p33"/>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Peran UI/UX Dalam Pengembangan Perangkat Lunak</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Gold - </a:t>
            </a:r>
            <a:r>
              <a:rPr b="1" lang="en">
                <a:solidFill>
                  <a:schemeClr val="lt1"/>
                </a:solidFill>
                <a:latin typeface="Raleway"/>
                <a:ea typeface="Raleway"/>
                <a:cs typeface="Raleway"/>
                <a:sym typeface="Raleway"/>
              </a:rPr>
              <a:t>Chapter 8 - Topic 1</a:t>
            </a:r>
            <a:endParaRPr b="1">
              <a:solidFill>
                <a:srgbClr val="FFFFFF"/>
              </a:solidFill>
              <a:latin typeface="Raleway"/>
              <a:ea typeface="Raleway"/>
              <a:cs typeface="Raleway"/>
              <a:sym typeface="Raleway"/>
            </a:endParaRPr>
          </a:p>
        </p:txBody>
      </p:sp>
      <p:cxnSp>
        <p:nvCxnSpPr>
          <p:cNvPr id="148" name="Google Shape;148;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9" name="Google Shape;149;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50" name="Google Shape;150;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57" name="Google Shape;157;p3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58" name="Google Shape;158;p34"/>
          <p:cNvSpPr txBox="1"/>
          <p:nvPr/>
        </p:nvSpPr>
        <p:spPr>
          <a:xfrm>
            <a:off x="685800" y="1078651"/>
            <a:ext cx="4114800" cy="29862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Peran UI/UX dalam pengembangan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Pengembangan perangkat lunak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Siklus hidup pengembangan perangkat lunak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Peran UI/UX dalam pengembangan perangkat lunak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Pengembangan Perangkat Lunak</a:t>
            </a:r>
            <a:endParaRPr/>
          </a:p>
        </p:txBody>
      </p:sp>
      <p:sp>
        <p:nvSpPr>
          <p:cNvPr id="164" name="Google Shape;16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Pengembangan perangkat lunak</a:t>
            </a:r>
            <a:endParaRPr/>
          </a:p>
        </p:txBody>
      </p:sp>
      <p:sp>
        <p:nvSpPr>
          <p:cNvPr id="171" name="Google Shape;171;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Pengembangan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Pengembangan perangkat lunak (software development) adalah serangkaian kegiatan ilmu komputer yang didedikasikan untuk proses pembuatan, perancangan, dan penerapan perangkat lunak (software).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Perangkat lunak itu sendiri adalah kumpulan instruksi atau program yang memberi tahu komputer apa yang harus dilakukan. Lebih tepatnya lagi, perangkat lunak adalah data yang diformat dan disimpan secara digital, termasuk program komputer, dokumentasinya, dan berbagai informasi yang bisa dibaca, dan ditulis oleh komputer. </a:t>
            </a:r>
            <a:endParaRPr sz="1200">
              <a:solidFill>
                <a:schemeClr val="dk1"/>
              </a:solidFill>
              <a:latin typeface="Raleway Medium"/>
              <a:ea typeface="Raleway Medium"/>
              <a:cs typeface="Raleway Medium"/>
              <a:sym typeface="Raleway Medium"/>
            </a:endParaRPr>
          </a:p>
        </p:txBody>
      </p:sp>
      <p:pic>
        <p:nvPicPr>
          <p:cNvPr id="172" name="Google Shape;172;p36"/>
          <p:cNvPicPr preferRelativeResize="0"/>
          <p:nvPr/>
        </p:nvPicPr>
        <p:blipFill rotWithShape="1">
          <a:blip r:embed="rId3">
            <a:alphaModFix/>
          </a:blip>
          <a:srcRect b="0" l="5859" r="20719"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Pengembangan perangkat lunak</a:t>
            </a:r>
            <a:endParaRPr/>
          </a:p>
        </p:txBody>
      </p:sp>
      <p:sp>
        <p:nvSpPr>
          <p:cNvPr id="179" name="Google Shape;179;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Jenis - jenis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umum, ada tiga jenis perangkat lunak, yaitu: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247650" lvl="0" marL="2857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System software, untuk menyediakan fungsi inti seperti sistem operasi, manajemen disk, utilitas, manajemen hardware, dan kebutuhan operasional lainnya;</a:t>
            </a:r>
            <a:endParaRPr sz="1200">
              <a:solidFill>
                <a:schemeClr val="dk1"/>
              </a:solidFill>
              <a:latin typeface="Raleway Medium"/>
              <a:ea typeface="Raleway Medium"/>
              <a:cs typeface="Raleway Medium"/>
              <a:sym typeface="Raleway Medium"/>
            </a:endParaRPr>
          </a:p>
          <a:p>
            <a:pPr indent="-247650" lvl="0" marL="2857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Programming software, untuk memberikan fasilitas bagi programmer seperti editor teks, kompiler, tautan, debugger, dan alat lain untuk membuat kode;</a:t>
            </a:r>
            <a:endParaRPr sz="1200">
              <a:solidFill>
                <a:schemeClr val="dk1"/>
              </a:solidFill>
              <a:latin typeface="Raleway Medium"/>
              <a:ea typeface="Raleway Medium"/>
              <a:cs typeface="Raleway Medium"/>
              <a:sym typeface="Raleway Medium"/>
            </a:endParaRPr>
          </a:p>
          <a:p>
            <a:pPr indent="-247650" lvl="0" marL="2857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Application software, untuk membantu pengguna melakukan tugasnya.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mengenal application software lebih dalam. </a:t>
            </a:r>
            <a:endParaRPr sz="1200">
              <a:solidFill>
                <a:schemeClr val="dk1"/>
              </a:solidFill>
              <a:latin typeface="Raleway Medium"/>
              <a:ea typeface="Raleway Medium"/>
              <a:cs typeface="Raleway Medium"/>
              <a:sym typeface="Raleway Medium"/>
            </a:endParaRPr>
          </a:p>
        </p:txBody>
      </p:sp>
      <p:pic>
        <p:nvPicPr>
          <p:cNvPr id="180" name="Google Shape;180;p3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Pengembangan perangkat lunak</a:t>
            </a:r>
            <a:endParaRPr/>
          </a:p>
        </p:txBody>
      </p:sp>
      <p:sp>
        <p:nvSpPr>
          <p:cNvPr id="187" name="Google Shape;187;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Application software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Contohnya dari perangkat lunak jenis ini adalah rangkaian produktivitas kantor, data management software, media player, dan program keamanan.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Application software juga mengacu pada aplikasi web dan mobile seperti yang digunakan untuk berbelanja di Shopee atau Lazada, memesan kendaraan dengan Gojek, bersosialisasi dengan Facebook, mencari jodoh dengan Tinder atau memposting gambar ke Instagram.</a:t>
            </a:r>
            <a:endParaRPr sz="1200">
              <a:solidFill>
                <a:schemeClr val="dk1"/>
              </a:solidFill>
              <a:latin typeface="Raleway Medium"/>
              <a:ea typeface="Raleway Medium"/>
              <a:cs typeface="Raleway Medium"/>
              <a:sym typeface="Raleway Medium"/>
            </a:endParaRPr>
          </a:p>
        </p:txBody>
      </p:sp>
      <p:pic>
        <p:nvPicPr>
          <p:cNvPr id="188" name="Google Shape;188;p38"/>
          <p:cNvPicPr preferRelativeResize="0"/>
          <p:nvPr/>
        </p:nvPicPr>
        <p:blipFill rotWithShape="1">
          <a:blip r:embed="rId3">
            <a:alphaModFix/>
          </a:blip>
          <a:srcRect b="0" l="26367" r="431"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Pengembangan perangkat lunak</a:t>
            </a:r>
            <a:endParaRPr/>
          </a:p>
        </p:txBody>
      </p:sp>
      <p:sp>
        <p:nvSpPr>
          <p:cNvPr id="195" name="Google Shape;195;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Embedded software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keempat yang lebih jarang dibicarakan adalah embedded software (perangkat lunak tertanam).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Embedded software digunakan untuk mengontrol mesin dan perangkat yang biasanya tidak dianggap sebagai komputer, seperti jaringan telekomunikasi, mobil, robot industri, dan lainnya. Perangkat ini beserta softwarenya, dapat dihubungkan sebagai bagian dari Internet of Things (IoT).</a:t>
            </a:r>
            <a:endParaRPr sz="1200">
              <a:solidFill>
                <a:schemeClr val="dk1"/>
              </a:solidFill>
              <a:latin typeface="Raleway Medium"/>
              <a:ea typeface="Raleway Medium"/>
              <a:cs typeface="Raleway Medium"/>
              <a:sym typeface="Raleway Medium"/>
            </a:endParaRPr>
          </a:p>
        </p:txBody>
      </p:sp>
      <p:pic>
        <p:nvPicPr>
          <p:cNvPr id="196" name="Google Shape;196;p3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Siklus Hidup Pengembangan Perangkat Lunak</a:t>
            </a:r>
            <a:endParaRPr/>
          </a:p>
        </p:txBody>
      </p:sp>
      <p:sp>
        <p:nvSpPr>
          <p:cNvPr id="202" name="Google Shape;20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206" name="Shape 206"/>
        <p:cNvGrpSpPr/>
        <p:nvPr/>
      </p:nvGrpSpPr>
      <p:grpSpPr>
        <a:xfrm>
          <a:off x="0" y="0"/>
          <a:ext cx="0" cy="0"/>
          <a:chOff x="0" y="0"/>
          <a:chExt cx="0" cy="0"/>
        </a:xfrm>
      </p:grpSpPr>
      <p:sp>
        <p:nvSpPr>
          <p:cNvPr id="207" name="Google Shape;207;p41"/>
          <p:cNvSpPr txBox="1"/>
          <p:nvPr/>
        </p:nvSpPr>
        <p:spPr>
          <a:xfrm>
            <a:off x="685800" y="1036320"/>
            <a:ext cx="4114800" cy="2739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None/>
            </a:pPr>
            <a:r>
              <a:rPr b="1" lang="en" sz="4000">
                <a:solidFill>
                  <a:srgbClr val="743673"/>
                </a:solidFill>
                <a:latin typeface="Raleway"/>
                <a:ea typeface="Raleway"/>
                <a:cs typeface="Raleway"/>
                <a:sym typeface="Raleway"/>
              </a:rPr>
              <a:t>Like everything in life, softwares has a life cycle too…</a:t>
            </a:r>
            <a:endParaRPr sz="4000">
              <a:solidFill>
                <a:schemeClr val="dk1"/>
              </a:solidFill>
              <a:latin typeface="Raleway Medium"/>
              <a:ea typeface="Raleway Medium"/>
              <a:cs typeface="Raleway Medium"/>
              <a:sym typeface="Raleway Medium"/>
            </a:endParaRPr>
          </a:p>
        </p:txBody>
      </p:sp>
      <p:sp>
        <p:nvSpPr>
          <p:cNvPr id="208" name="Google Shape;208;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15" name="Google Shape;215;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Siklus hidup pengembangan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bahasa Inggris, siklus hidup pengembangan perangkat lunak dapat diterjemahkan menjadi </a:t>
            </a:r>
            <a:r>
              <a:rPr i="1" lang="en" sz="1200">
                <a:solidFill>
                  <a:schemeClr val="dk1"/>
                </a:solidFill>
                <a:latin typeface="Raleway Medium"/>
                <a:ea typeface="Raleway Medium"/>
                <a:cs typeface="Raleway Medium"/>
                <a:sym typeface="Raleway Medium"/>
              </a:rPr>
              <a:t>software development life cycle </a:t>
            </a:r>
            <a:r>
              <a:rPr lang="en" sz="1200">
                <a:solidFill>
                  <a:schemeClr val="dk1"/>
                </a:solidFill>
                <a:latin typeface="Raleway Medium"/>
                <a:ea typeface="Raleway Medium"/>
                <a:cs typeface="Raleway Medium"/>
                <a:sym typeface="Raleway Medium"/>
              </a:rPr>
              <a:t>yang disingkat menjadi SLDC.</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Sebelum menerangkan langkah penerapan dan cara kerjanya, pertama-tama kita perlu membahas terlebih dahulu definisi dari SDLC.</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SDLC adalah proses pengubahan dan pembuatan sistem, model, serta metodologi yang digunakan untuk mengembangkan software.</a:t>
            </a:r>
            <a:endParaRPr sz="1200">
              <a:solidFill>
                <a:schemeClr val="dk1"/>
              </a:solidFill>
              <a:latin typeface="Raleway Medium"/>
              <a:ea typeface="Raleway Medium"/>
              <a:cs typeface="Raleway Medium"/>
              <a:sym typeface="Raleway Medium"/>
            </a:endParaRPr>
          </a:p>
        </p:txBody>
      </p:sp>
      <p:pic>
        <p:nvPicPr>
          <p:cNvPr id="216" name="Google Shape;216;p42"/>
          <p:cNvPicPr preferRelativeResize="0"/>
          <p:nvPr/>
        </p:nvPicPr>
        <p:blipFill rotWithShape="1">
          <a:blip r:embed="rId3">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23" name="Google Shape;223;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Singkatnya, dalam dunia rekayasa software, ia merupakan langkah-langkah yang bisa diterapkan para engineer dan developer untuk merancang dan mengelola software.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apa SDLC ini? Tentunya untuk menghasilkan output sistem berkualitas tinggi yang sesuai dengan ekspektasi para pengguna dan stakeholder.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Sejatinya, SDLC adalah sebuah proses yang bisa menurunkan biaya pembangunan sebuah software. Sebab, ia didesain untuk mempersingkat waktu produksi secara serentak.</a:t>
            </a:r>
            <a:endParaRPr sz="1200">
              <a:solidFill>
                <a:schemeClr val="dk1"/>
              </a:solidFill>
              <a:latin typeface="Raleway Medium"/>
              <a:ea typeface="Raleway Medium"/>
              <a:cs typeface="Raleway Medium"/>
              <a:sym typeface="Raleway Medium"/>
            </a:endParaRPr>
          </a:p>
        </p:txBody>
      </p:sp>
      <p:pic>
        <p:nvPicPr>
          <p:cNvPr id="224" name="Google Shape;224;p43"/>
          <p:cNvPicPr preferRelativeResize="0"/>
          <p:nvPr/>
        </p:nvPicPr>
        <p:blipFill rotWithShape="1">
          <a:blip r:embed="rId3">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44"/>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30" name="Google Shape;23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32" name="Google Shape;232;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 Penerapan SLDC</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SLDC adalah sebuah pendekatan sistematis yang secara eksplisit memecah pekerjaan menjadi langkah - langkah yang diperlukan untuk mengimplementasikan Sistem Informasi baru atau yang dimodifikasi.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lihat bagan di samping, ada enam langkah utama dalam siklus software development, mari kita telusuri satu per satu.</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5"/>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38" name="Google Shape;23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40" name="Google Shape;240;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Planning (Perencanaan)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Mendefinisikan masalah dan ruang lingkup sistem yang ada pada perangkat lunak.</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Tinjau sistem baru dan tentukan tujuannya.</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Konfirmasi kelayakan dan buat jadwal proyek.</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Selama fase ini, ancaman, kendala, integrasi dan keamanan sistem juga dipertimbangkan.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Laporan kelayakan untuk keseluruhan proyek dibuat pada akhir fase ini.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46"/>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46" name="Google Shape;246;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48" name="Google Shape;248;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Analisis dan spesifikasi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Mengumpulkan, menganalisis, dan memvalidasi informasi.</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Tentukan persyaratan dan prototipe untuk sistem baru.</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Mengevaluasi alternatif dan memprioritaskan persyaratan.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Memeriksa kebutuhan informasi pengguna akhir dan meningkatkan tujuan sistem.</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Dokumen Spesifikasi Persyaratan Perangkat Lunak (SRS), yang menetapkan persyaratan perangkat lunak, perangkat keras, fungsional, dan jaringan dari sistem disiapkan pada akhir fase ini.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47"/>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54" name="Google Shape;25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56" name="Google Shape;256;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Desain Sistem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Desain aplikasi, jaringan, database, antarmuka pengguna, dan antarmuka sistem.</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Mengubah dokumen SRS menjadi struktur logis, yang berisi kumpulan spesifikasi yang terperinci dan lengkap yang dapat diimplementasikan dalam bahasa pemrograman.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Buat rencana kontingensi, pelatihan, pemeliharaan, dan operasi.</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Tinjau desain yang diusulkan. Memastikan bahwa desain akhir harus memenuhi persyaratan yang tercantum dalam dokumen SRS.</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Terakhir, siapkan dokumen desain yang akan digunakan pada fase selanjutnya.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48"/>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62" name="Google Shape;26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64" name="Google Shape;264;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Implementasi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Menerapkan desain ke dalam kode sumber melalui pengkodean.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Menggabungkan semua modul bersama-sama ke dalam lingkungan pelatihan yang mendeteksi kesalahan dan cacat.</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Laporan pengujian yang berisi kesalahan disiapkan melalui rencana pengujian yang mencakup tugas-tugas terkait pengujian seperti pembuatan kasus pengujian, kriteria pengujian, dan alokasi sumber daya untuk pengujian.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Mengintegrasikan sistem informasi ke dalam lingkungannya dan menginstal sistem baru.</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49"/>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70" name="Google Shape;27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72" name="Google Shape;272;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Pengujian dan integrasi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Fase pengujian siklus hidup pengembangan perangkat lunak (SDLC) adalah di mana Anda fokus pada penyelidikan dan penemuan. Selama fase pengujian, pengembang mengetahui apakah kode dan pemrograman mereka berfungsi sesuai dengan kebutuhan pelanggan.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Integrasi perangkat lunak adalah proses menyatukan berbagai jenis subsistem perangkat lunak sehingga menjadi satu kesatuan sistem.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50"/>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
        <p:nvSpPr>
          <p:cNvPr id="278" name="Google Shape;27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80" name="Google Shape;280;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 Pemeliharaan dan dukungan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Menyertakan semua aktivitas seperti dukungan telepon atau dukungan fisik di tempat untuk pengguna yang diperlukan setelah sistem diinstal.</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Menerapkan perubahan yang mungkin dialami perangkat lunak selama periode waktu tertentu, atau menerapkan persyaratan baru apa pun setelah perangkat lunak disebarkan di lokasi pelanggan.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Ini juga mencakup penanganan kesalahan residual dan menyelesaikan masalah apa pun yang mungkin ada dalam sistem bahkan setelah fase pengujian.</a:t>
            </a:r>
            <a:endParaRPr sz="1200">
              <a:solidFill>
                <a:schemeClr val="dk1"/>
              </a:solidFill>
              <a:latin typeface="Raleway Medium"/>
              <a:ea typeface="Raleway Medium"/>
              <a:cs typeface="Raleway Medium"/>
              <a:sym typeface="Raleway Medium"/>
            </a:endParaRPr>
          </a:p>
          <a:p>
            <a:pPr indent="-190500" lvl="0" marL="17145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Pemeliharaan mungkin diperlukan untuk waktu yang lebih lama untuk sistem yang besar dan untuk waktu yang singkat untuk sistem yang lebih kecil.</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sp>
        <p:nvSpPr>
          <p:cNvPr id="287" name="Google Shape;287;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software dirasa bebas cacat, developer dapat mengirimkannya ke pelanggan. Setelah rilis versi produksi, perusahaan software development membuat tim pemeliharaan untuk mengelola masalah yang sedang dihadapi klien saat menggunakan produk.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Pemeliharaan dapat menjadi hot-fix jika itu adalah masalah kecil tetapi kegagalan software yang parah harus memerlukan pembaruan.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8" name="Google Shape;288;p51"/>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295" name="Google Shape;295;p52"/>
          <p:cNvPicPr preferRelativeResize="0"/>
          <p:nvPr/>
        </p:nvPicPr>
        <p:blipFill>
          <a:blip r:embed="rId3">
            <a:alphaModFix/>
          </a:blip>
          <a:stretch>
            <a:fillRect/>
          </a:stretch>
        </p:blipFill>
        <p:spPr>
          <a:xfrm>
            <a:off x="1131337" y="759200"/>
            <a:ext cx="7186125" cy="4154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302" name="Google Shape;302;p53"/>
          <p:cNvPicPr preferRelativeResize="0"/>
          <p:nvPr/>
        </p:nvPicPr>
        <p:blipFill rotWithShape="1">
          <a:blip r:embed="rId3">
            <a:alphaModFix/>
          </a:blip>
          <a:srcRect b="0" l="0" r="1234" t="25138"/>
          <a:stretch/>
        </p:blipFill>
        <p:spPr>
          <a:xfrm>
            <a:off x="185584" y="1339650"/>
            <a:ext cx="8729825" cy="3308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Peran UI/UX dalam pengembangan </a:t>
            </a:r>
            <a:endParaRPr/>
          </a:p>
          <a:p>
            <a:pPr indent="0" lvl="0" marL="0" rtl="0" algn="ctr">
              <a:spcBef>
                <a:spcPts val="0"/>
              </a:spcBef>
              <a:spcAft>
                <a:spcPts val="0"/>
              </a:spcAft>
              <a:buNone/>
            </a:pPr>
            <a:r>
              <a:rPr lang="en"/>
              <a:t>perangkat lunak</a:t>
            </a:r>
            <a:endParaRPr/>
          </a:p>
        </p:txBody>
      </p:sp>
      <p:sp>
        <p:nvSpPr>
          <p:cNvPr id="308" name="Google Shape;308;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pengembangan perangkat lunak</a:t>
            </a:r>
            <a:endParaRPr/>
          </a:p>
        </p:txBody>
      </p:sp>
      <p:sp>
        <p:nvSpPr>
          <p:cNvPr id="315" name="Google Shape;315;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Peran UI/UX dalam pengembangan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tujuan utama bisnis adalah untuk meningkatkan pendapatan dan meningkatkan pertumbuhan bisnis.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mencapai tujuan ini, desain UI/UX memainkan peran penting. Jika sebuah software yang diterbitkan oleh sebuah bisnis memiliki desain yang baik, dengan pengalaman pengguna yang menyenangkan, tentunya  jumlah pengguna akan naik, dan pendapatan akan mengikuti.</a:t>
            </a:r>
            <a:endParaRPr sz="1200">
              <a:solidFill>
                <a:schemeClr val="dk1"/>
              </a:solidFill>
              <a:latin typeface="Raleway Medium"/>
              <a:ea typeface="Raleway Medium"/>
              <a:cs typeface="Raleway Medium"/>
              <a:sym typeface="Raleway Medium"/>
            </a:endParaRPr>
          </a:p>
        </p:txBody>
      </p:sp>
      <p:pic>
        <p:nvPicPr>
          <p:cNvPr id="316" name="Google Shape;316;p55"/>
          <p:cNvPicPr preferRelativeResize="0"/>
          <p:nvPr/>
        </p:nvPicPr>
        <p:blipFill rotWithShape="1">
          <a:blip r:embed="rId3">
            <a:alphaModFix/>
          </a:blip>
          <a:srcRect b="13640" l="0" r="0" t="13647"/>
          <a:stretch/>
        </p:blipFill>
        <p:spPr>
          <a:xfrm>
            <a:off x="5486400" y="1207587"/>
            <a:ext cx="3017520" cy="2743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pengembangan perangkat lunak</a:t>
            </a:r>
            <a:endParaRPr/>
          </a:p>
        </p:txBody>
      </p:sp>
      <p:sp>
        <p:nvSpPr>
          <p:cNvPr id="323" name="Google Shape;323;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Keterlibatan UI/UX pada pengambangan perangkat lunak dapat meliputi: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Riset inisial  (pengguna, market, competitor / pesaing, merk dan usability jika sudah ada produk yang diterbitkan).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Desain perangkat lunak (mulai dari wireframing sampai prototyping)</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Handover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Presentasi dihadapan klien, stakeholders atau para petinggi perusahaan.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(MVP, prototype hingga produk jadi)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6. Pengawasan atas implementasi desain pada tahap development dan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4" name="Google Shape;324;p56"/>
          <p:cNvPicPr preferRelativeResize="0"/>
          <p:nvPr/>
        </p:nvPicPr>
        <p:blipFill rotWithShape="1">
          <a:blip r:embed="rId3">
            <a:alphaModFix/>
          </a:blip>
          <a:srcRect b="15913" l="0" r="0" t="15906"/>
          <a:stretch/>
        </p:blipFill>
        <p:spPr>
          <a:xfrm>
            <a:off x="5486400" y="1207587"/>
            <a:ext cx="3017518" cy="2743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pengembangan perangkat lunak</a:t>
            </a:r>
            <a:endParaRPr/>
          </a:p>
        </p:txBody>
      </p:sp>
      <p:sp>
        <p:nvSpPr>
          <p:cNvPr id="331" name="Google Shape;331;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Peran UI/UX dalam pembuatan aplikasi sangatlah  penting. Jika pengembang membangun perangkat berperforma tinggi tetapi tidak berkonsentrasi pada sifat pengguna, maka menyebabkan perangkat kemungkinan besar akan gagal gagal.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Fungsionalitas aplikasi memang kadang sulit untuk digabungkan dengan desain UI/UX, tetapi penting untuk dilakukan.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2" name="Google Shape;332;p57"/>
          <p:cNvPicPr preferRelativeResize="0"/>
          <p:nvPr/>
        </p:nvPicPr>
        <p:blipFill rotWithShape="1">
          <a:blip r:embed="rId3">
            <a:alphaModFix/>
          </a:blip>
          <a:srcRect b="0" l="7716" r="18861" t="0"/>
          <a:stretch/>
        </p:blipFill>
        <p:spPr>
          <a:xfrm>
            <a:off x="5486400" y="1207587"/>
            <a:ext cx="3017518" cy="274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Quiz</a:t>
            </a:r>
            <a:endParaRPr/>
          </a:p>
        </p:txBody>
      </p:sp>
      <p:sp>
        <p:nvSpPr>
          <p:cNvPr id="338" name="Google Shape;33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4" name="Google Shape;344;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jenis - jenis perangkat lunak,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Embedded Software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System Software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Implant Software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0" name="Google Shape;350;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jenis - jenis perangkat lunak,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Embedded Software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System Software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Implant Software</a:t>
            </a:r>
            <a:endParaRPr b="1" sz="1200">
              <a:solidFill>
                <a:schemeClr val="lt1"/>
              </a:solidFill>
              <a:latin typeface="Raleway"/>
              <a:ea typeface="Raleway"/>
              <a:cs typeface="Raleway"/>
              <a:sym typeface="Raleway"/>
            </a:endParaRPr>
          </a:p>
        </p:txBody>
      </p:sp>
      <p:sp>
        <p:nvSpPr>
          <p:cNvPr id="351" name="Google Shape;351;p60"/>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Istilah implant software tidak berdefinisi dan bukan termasuk salah satu jenis perangkat lunak. </a:t>
            </a:r>
            <a:endParaRPr b="1" sz="1000">
              <a:solidFill>
                <a:srgbClr val="733572"/>
              </a:solidFill>
              <a:latin typeface="Raleway"/>
              <a:ea typeface="Raleway"/>
              <a:cs typeface="Raleway"/>
              <a:sym typeface="Ralewa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7" name="Google Shape;357;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Tujuan system software adalah untuk…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mengontrol mesin dan perangkat yang biasanya tidak dianggap sebagai komputer.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memberikan fasilitas bagi programmer seperti editor teks, kompiler.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menyediakan fungsi inti seperti sistem operasi,</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3" name="Google Shape;363;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Tujuan system software adalah untuk…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mengontrol mesin dan perangkat yang biasanya tidak dianggap sebagai komputer.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memberikan fasilitas bagi programmer seperti editor teks, kompiler.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menyediakan fungsi inti seperti sistem operasi,</a:t>
            </a:r>
            <a:endParaRPr b="1" sz="1200">
              <a:solidFill>
                <a:schemeClr val="lt1"/>
              </a:solidFill>
              <a:latin typeface="Raleway"/>
              <a:ea typeface="Raleway"/>
              <a:cs typeface="Raleway"/>
              <a:sym typeface="Raleway"/>
            </a:endParaRPr>
          </a:p>
        </p:txBody>
      </p:sp>
      <p:sp>
        <p:nvSpPr>
          <p:cNvPr id="364" name="Google Shape;364;p62"/>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System software bertujuan untuk menyediakan fungsi inti seperti sistem operasi, manajemen disk, utilitas, manajemen hardware, dan kebutuhan operasional lainnya;</a:t>
            </a:r>
            <a:endParaRPr b="1" sz="1000">
              <a:solidFill>
                <a:srgbClr val="733572"/>
              </a:solidFill>
              <a:latin typeface="Raleway"/>
              <a:ea typeface="Raleway"/>
              <a:cs typeface="Raleway"/>
              <a:sym typeface="Ralew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0" name="Google Shape;370;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Tujuan embedded software adalah untuk…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mengontrol mesin dan perangkat yang biasanya tidak dianggap sebagai komputer.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memberikan fasilitas bagi programmer seperti editor teks, kompiler.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membantu pengguna komputer melakukan tugasnya.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6" name="Google Shape;376;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Tujuan embedded software adalah untuk…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mengontrol mesin dan perangkat yang biasanya tidak dianggap sebagai komputer.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memberikan fasilitas bagi programmer seperti editor teks, kompiler.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membantu pengguna komputer melakukan tugasnya. </a:t>
            </a:r>
            <a:endParaRPr sz="1200">
              <a:solidFill>
                <a:srgbClr val="A667A5"/>
              </a:solidFill>
              <a:latin typeface="Raleway Medium"/>
              <a:ea typeface="Raleway Medium"/>
              <a:cs typeface="Raleway Medium"/>
              <a:sym typeface="Raleway Medium"/>
            </a:endParaRPr>
          </a:p>
        </p:txBody>
      </p:sp>
      <p:sp>
        <p:nvSpPr>
          <p:cNvPr id="377" name="Google Shape;377;p64"/>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Embedded software digunakan untuk mengontrol mesin dan perangkat yang biasanya tidak dianggap sebagai komputer, seperti jaringan telekomunikasi, mobil, robot industri, dan lainnya.</a:t>
            </a:r>
            <a:endParaRPr b="1" sz="1000">
              <a:solidFill>
                <a:srgbClr val="733572"/>
              </a:solidFill>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Apa itu SDLC?</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kerangka kerja ringan yang membantu orang, tim, dan organisasi menghasilkan nilai melalui solusi adaptif untuk masalah kompleks.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prinsip, teknik, dan prosedur yang digunakan oleh mereka yang bekerja dalam suatu disiplin.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pengubahan dan pembuatan sistem, model, serta metodologi yang digunakan untuk mengembangkan software.</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9" name="Google Shape;389;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Apa itu SDLC?</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kerangka kerja ringan yang membantu orang, tim, dan organisasi menghasilkan nilai melalui solusi adaptif untuk masalah kompleks.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sistem prinsip, teknik, dan prosedur yang digunakan oleh mereka yang bekerja dalam suatu disiplin.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proses pengubahan dan pembuatan sistem, model, serta metodologi yang digunakan untuk mengembangkan software.</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0" name="Google Shape;390;p66"/>
          <p:cNvSpPr/>
          <p:nvPr/>
        </p:nvSpPr>
        <p:spPr>
          <a:xfrm>
            <a:off x="685800" y="3338775"/>
            <a:ext cx="7772400" cy="1050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Kerangka kerja ringan yang membantu orang, tim, dan organisasi menghasilkan nilai melalui solusi adaptif untuk masalah kompleks adalah definisi Scrum.</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sistem prinsip, teknik, dan prosedur yang digunakan oleh mereka yang bekerja dalam suatu disiplin adalah definisi metodologi manajemen proyek (project management methodology).</a:t>
            </a:r>
            <a:endParaRPr b="1" sz="1000">
              <a:solidFill>
                <a:srgbClr val="733572"/>
              </a:solidFill>
              <a:latin typeface="Raleway"/>
              <a:ea typeface="Raleway"/>
              <a:cs typeface="Raleway"/>
              <a:sym typeface="Ralew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6" name="Google Shape;396;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Jika dalam siklus software development ada enam langkah utama, maka langkah kedua-nya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Implementation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Analysis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Planning</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2" name="Google Shape;402;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Jika dalam siklus software development ada enam langkah utama, maka langkah kedua-nya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Implementation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Analysis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Planning</a:t>
            </a:r>
            <a:endParaRPr b="1" sz="1200">
              <a:solidFill>
                <a:schemeClr val="lt1"/>
              </a:solidFill>
              <a:latin typeface="Raleway"/>
              <a:ea typeface="Raleway"/>
              <a:cs typeface="Raleway"/>
              <a:sym typeface="Raleway"/>
            </a:endParaRPr>
          </a:p>
        </p:txBody>
      </p:sp>
      <p:sp>
        <p:nvSpPr>
          <p:cNvPr id="403" name="Google Shape;403;p68"/>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Jika dalam siklus software development ada enam langkah utama, maka langkah kedua-nya adalah planning.</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9" name="Google Shape;409;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Jika dalam siklus software development ada enam langkah utama, maka langkah keempat-nya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Implementation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Analysis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Maintenance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5" name="Google Shape;415;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Jika dalam siklus software development ada enam langkah utama, maka langkah keempat-nya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Testing</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Implementation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Analysis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Maintenance</a:t>
            </a:r>
            <a:endParaRPr sz="1200">
              <a:solidFill>
                <a:srgbClr val="A667A5"/>
              </a:solidFill>
              <a:latin typeface="Raleway Medium"/>
              <a:ea typeface="Raleway Medium"/>
              <a:cs typeface="Raleway Medium"/>
              <a:sym typeface="Raleway Medium"/>
            </a:endParaRPr>
          </a:p>
        </p:txBody>
      </p:sp>
      <p:sp>
        <p:nvSpPr>
          <p:cNvPr id="416" name="Google Shape;416;p70"/>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Jika dalam siklus software development ada enam langkah utama, maka langkah keempat-nya adalah testing &amp; integration.</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23" name="Google Shape;423;p7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24" name="Google Shape;424;p71"/>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6 Phases of The Software Development Life Cycle by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5"/>
              </a:rPr>
              <a:t>Erbis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6"/>
              </a:rPr>
              <a:t>Software Development Life Cycle by Zitoc</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7"/>
              </a:rPr>
              <a:t>Role of UI/UX in Software Development by Starks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8"/>
              </a:rPr>
              <a:t>Technology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9"/>
              </a:rPr>
              <a:t>Importance of UI/UX design in Software Development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10"/>
              </a:rPr>
              <a:t>by Courage Egbude on Medium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28" name="Shape 428"/>
        <p:cNvGrpSpPr/>
        <p:nvPr/>
      </p:nvGrpSpPr>
      <p:grpSpPr>
        <a:xfrm>
          <a:off x="0" y="0"/>
          <a:ext cx="0" cy="0"/>
          <a:chOff x="0" y="0"/>
          <a:chExt cx="0" cy="0"/>
        </a:xfrm>
      </p:grpSpPr>
      <p:sp>
        <p:nvSpPr>
          <p:cNvPr id="429" name="Google Shape;429;p72"/>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0" name="Google Shape;430;p72"/>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1" name="Google Shape;431;p72"/>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2" name="Google Shape;432;p72"/>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3" name="Google Shape;433;p72"/>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34" name="Google Shape;434;p72"/>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35" name="Google Shape;435;p72"/>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36" name="Google Shape;436;p72"/>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