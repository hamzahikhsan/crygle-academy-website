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Raleway"/>
      <p:regular r:id="rId62"/>
      <p:bold r:id="rId63"/>
      <p:italic r:id="rId64"/>
      <p:boldItalic r:id="rId65"/>
    </p:embeddedFont>
    <p:embeddedFont>
      <p:font typeface="Montserrat"/>
      <p:regular r:id="rId66"/>
      <p:bold r:id="rId67"/>
      <p:italic r:id="rId68"/>
      <p:boldItalic r:id="rId69"/>
    </p:embeddedFont>
    <p:embeddedFont>
      <p:font typeface="Lato Black"/>
      <p:bold r:id="rId70"/>
      <p:boldItalic r:id="rId71"/>
    </p:embeddedFont>
    <p:embeddedFont>
      <p:font typeface="Raleway Medium"/>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Medium-bold.fntdata"/><Relationship Id="rId72" Type="http://schemas.openxmlformats.org/officeDocument/2006/relationships/font" Target="fonts/RalewayMedium-regular.fntdata"/><Relationship Id="rId31" Type="http://schemas.openxmlformats.org/officeDocument/2006/relationships/slide" Target="slides/slide25.xml"/><Relationship Id="rId75" Type="http://schemas.openxmlformats.org/officeDocument/2006/relationships/font" Target="fonts/RalewayMedium-boldItalic.fntdata"/><Relationship Id="rId30" Type="http://schemas.openxmlformats.org/officeDocument/2006/relationships/slide" Target="slides/slide24.xml"/><Relationship Id="rId74" Type="http://schemas.openxmlformats.org/officeDocument/2006/relationships/font" Target="fonts/RalewayMedium-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LatoBlack-boldItalic.fntdata"/><Relationship Id="rId70" Type="http://schemas.openxmlformats.org/officeDocument/2006/relationships/font" Target="fonts/LatoBlack-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aleway-italic.fntdata"/><Relationship Id="rId63" Type="http://schemas.openxmlformats.org/officeDocument/2006/relationships/font" Target="fonts/Raleway-bold.fntdata"/><Relationship Id="rId22" Type="http://schemas.openxmlformats.org/officeDocument/2006/relationships/slide" Target="slides/slide16.xml"/><Relationship Id="rId66" Type="http://schemas.openxmlformats.org/officeDocument/2006/relationships/font" Target="fonts/Montserrat-regular.fntdata"/><Relationship Id="rId21" Type="http://schemas.openxmlformats.org/officeDocument/2006/relationships/slide" Target="slides/slide15.xml"/><Relationship Id="rId65" Type="http://schemas.openxmlformats.org/officeDocument/2006/relationships/font" Target="fonts/Raleway-boldItalic.fntdata"/><Relationship Id="rId24" Type="http://schemas.openxmlformats.org/officeDocument/2006/relationships/slide" Target="slides/slide18.xml"/><Relationship Id="rId68" Type="http://schemas.openxmlformats.org/officeDocument/2006/relationships/font" Target="fonts/Montserrat-italic.fntdata"/><Relationship Id="rId23" Type="http://schemas.openxmlformats.org/officeDocument/2006/relationships/slide" Target="slides/slide17.xml"/><Relationship Id="rId67" Type="http://schemas.openxmlformats.org/officeDocument/2006/relationships/font" Target="fonts/Montserrat-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ctadan?utm_source=unsplash&amp;utm_medium=referral&amp;utm_content=creditCopyText" TargetMode="External"/><Relationship Id="rId3" Type="http://schemas.openxmlformats.org/officeDocument/2006/relationships/hyperlink" Target="https://unsplash.com/@octadan?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eksforgeeks.org/difference-between-project-and-produc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ject?utm_source=unsplash&amp;utm_medium=referral&amp;utm_content=creditCopyText" TargetMode="External"/><Relationship Id="rId5" Type="http://schemas.openxmlformats.org/officeDocument/2006/relationships/hyperlink" Target="https://unsplash.com/s/photos/project?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ye_haych?utm_source=unsplash&amp;utm_medium=referral&amp;utm_content=creditCopyText" TargetMode="External"/><Relationship Id="rId3" Type="http://schemas.openxmlformats.org/officeDocument/2006/relationships/hyperlink" Target="https://unsplash.com/@jaye_haych?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inadams?utm_source=unsplash&amp;utm_medium=referral&amp;utm_content=creditCopyText" TargetMode="External"/><Relationship Id="rId3" Type="http://schemas.openxmlformats.org/officeDocument/2006/relationships/hyperlink" Target="https://unsplash.com/@martinadams?utm_source=unsplash&amp;utm_medium=referral&amp;utm_content=creditCopyText" TargetMode="External"/><Relationship Id="rId4" Type="http://schemas.openxmlformats.org/officeDocument/2006/relationships/hyperlink" Target="https://unsplash.com/s/photos/knowledge?utm_source=unsplash&amp;utm_medium=referral&amp;utm_content=creditCopyText" TargetMode="External"/><Relationship Id="rId5" Type="http://schemas.openxmlformats.org/officeDocument/2006/relationships/hyperlink" Target="https://unsplash.com/s/photos/knowledg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c4b10087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c4b10087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3c4b10087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3c4b10087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3c4b1008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23c4b1008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23c4b1008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23c4b1008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Octavian 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3c4b10087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3c4b10087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23c4b1008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23c4b1008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23c4b1008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23c4b1008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3c4b10087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3c4b10087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3c4b1008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3c4b1008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23c4b10087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23c4b10087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23c4b10087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23c4b10087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3c4b10087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3c4b10087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3c4b10087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3c4b10087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https://www.geeksforgeeks.org/difference-between-project-and-product/</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3c4b1008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3c4b1008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3c4b1008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3c4b1008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23c4b10087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23c4b10087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23c4b10087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23c4b10087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3c4b10087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3c4b10087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Jaye Haych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3c4b10087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3c4b10087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c4b1008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c4b1008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23c4b10087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23c4b10087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23c4b10087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23c4b10087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3c4b10087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3c4b10087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23c4b10087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23c4b10087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23c4b10087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23c4b10087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Martin Adams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3c4b10087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3c4b10087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23c4b1008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23c4b1008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23c4b10087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23c4b10087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3c4b10087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3c4b10087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3c4b10087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23c4b10087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23c4b10087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23c4b10087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23c4b10087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23c4b10087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23c4b10087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23c4b10087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23c4b10087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23c4b10087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23c4b10087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23c4b10087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23c4b10087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23c4b10087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23c4b10087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23c4b10087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https://thedigitalprojectmanager.com/tools/what-is-monday-overview/</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23c4b10087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23c4b10087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3c4b10087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23c4b10087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3c4b10087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23c4b10087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https://medium.com/gigaom/dropbox-spaces-and-dropbox-paper-not-totally-integrated-yet-a37d3c0f5d90</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23c4b10087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23c4b10087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23c4b10087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23c4b10087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23c4b10087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23c4b10087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c4b10087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c4b10087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23c4b10087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23c4b10087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23c4b10087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23c4b10087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23c4b10087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23c4b10087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3c4b10087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3c4b10087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23c4b10087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23c4b10087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23c4b10087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23c4b10087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23c4b10087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23c4b10087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23c4b10087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23c4b10087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23c4b10087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23c4b10087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23c4b10087_0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23c4b10087_0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23c4b10087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23c4b10087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3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3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1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3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hyperlink" Target="https://medium.com/gigaom/dropbox-spaces-and-dropbox-paper-not-totally-integrated-yet-a37d3c0f5d90" TargetMode="Externa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1" Type="http://schemas.openxmlformats.org/officeDocument/2006/relationships/hyperlink" Target="https://www.fool.com/the-blueprint/project-management-basics/" TargetMode="External"/><Relationship Id="rId10" Type="http://schemas.openxmlformats.org/officeDocument/2006/relationships/hyperlink" Target="https://www.fool.com/the-blueprint/project-management-basics/" TargetMode="External"/><Relationship Id="rId12" Type="http://schemas.openxmlformats.org/officeDocument/2006/relationships/hyperlink" Target="https://blinkux.com/ideas/why-ux-teams-need-project-managers" TargetMode="External"/><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hyperlink" Target="https://www.geeksforgeeks.org/difference-between-project-and-product/" TargetMode="External"/><Relationship Id="rId9" Type="http://schemas.openxmlformats.org/officeDocument/2006/relationships/hyperlink" Target="https://toggl.com/blog/project-management" TargetMode="External"/><Relationship Id="rId5" Type="http://schemas.openxmlformats.org/officeDocument/2006/relationships/hyperlink" Target="https://www.geeksforgeeks.org/difference-between-project-and-product/" TargetMode="External"/><Relationship Id="rId6" Type="http://schemas.openxmlformats.org/officeDocument/2006/relationships/hyperlink" Target="https://www.accenture.com/us-en/blogs/software-engineering-blog/whats-the-difference-between-a-project-and-a-product" TargetMode="External"/><Relationship Id="rId7" Type="http://schemas.openxmlformats.org/officeDocument/2006/relationships/hyperlink" Target="https://www.accenture.com/us-en/blogs/software-engineering-blog/whats-the-difference-between-a-project-and-a-product" TargetMode="External"/><Relationship Id="rId8" Type="http://schemas.openxmlformats.org/officeDocument/2006/relationships/hyperlink" Target="https://toggl.com/blog/project-management"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5.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cxnSp>
        <p:nvCxnSpPr>
          <p:cNvPr id="147" name="Google Shape;147;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8" name="Google Shape;148;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49" name="Google Shape;149;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3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Manajemen Proyek</a:t>
            </a:r>
            <a:endParaRPr b="1" sz="2400">
              <a:solidFill>
                <a:srgbClr val="FFFFFF"/>
              </a:solidFill>
              <a:latin typeface="Raleway"/>
              <a:ea typeface="Raleway"/>
              <a:cs typeface="Raleway"/>
              <a:sym typeface="Raleway"/>
            </a:endParaRPr>
          </a:p>
          <a:p>
            <a:pPr indent="0" lvl="0" marL="0" rtl="0" algn="l">
              <a:spcBef>
                <a:spcPts val="0"/>
              </a:spcBef>
              <a:spcAft>
                <a:spcPts val="0"/>
              </a:spcAft>
              <a:buClr>
                <a:srgbClr val="000000"/>
              </a:buClr>
              <a:buSzPts val="1100"/>
              <a:buFont typeface="Arial"/>
              <a:buNone/>
            </a:pPr>
            <a:r>
              <a:rPr b="1" lang="en">
                <a:solidFill>
                  <a:srgbClr val="FFFFFF"/>
                </a:solidFill>
                <a:latin typeface="Raleway"/>
                <a:ea typeface="Raleway"/>
                <a:cs typeface="Raleway"/>
                <a:sym typeface="Raleway"/>
              </a:rPr>
              <a:t>Gold - </a:t>
            </a:r>
            <a:r>
              <a:rPr b="1" lang="en">
                <a:solidFill>
                  <a:srgbClr val="FFFFFF"/>
                </a:solidFill>
                <a:latin typeface="Raleway"/>
                <a:ea typeface="Raleway"/>
                <a:cs typeface="Raleway"/>
                <a:sym typeface="Raleway"/>
              </a:rPr>
              <a:t>Chapter 8 - Topic 2</a:t>
            </a:r>
            <a:endParaRPr b="1">
              <a:solidFill>
                <a:srgbClr val="FFFFFF"/>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57" name="Google Shape;157;p3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58" name="Google Shape;158;p34"/>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Manajemen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Apa itu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Manajemen proyek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Project manager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Mengapa tim UI/UX membutuhkan project manager?</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Apa itu proyek?</a:t>
            </a:r>
            <a:endParaRPr/>
          </a:p>
        </p:txBody>
      </p:sp>
      <p:sp>
        <p:nvSpPr>
          <p:cNvPr id="164" name="Google Shape;16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Apa itu proyek?</a:t>
            </a:r>
            <a:endParaRPr/>
          </a:p>
        </p:txBody>
      </p:sp>
      <p:sp>
        <p:nvSpPr>
          <p:cNvPr id="171" name="Google Shape;171;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Definisi sebuah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Berikut adalah definisi proyek yang diberikan oleh Project Management Institute (PMI):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“Sebuah proyek bersifat sementara karena memiliki awal dan akhir yang ditentukan dalam waktu, dan oleh karena itu ruang lingkup dan sumber daya yang ditentukan. Dan sebuah proyek itu unik karena itu bukan operasi rutin, tetapi serangkaian operasi khusus yang dirancang untuk mencapai tujuan tunggal.”</a:t>
            </a:r>
            <a:endParaRPr sz="1200">
              <a:solidFill>
                <a:schemeClr val="dk1"/>
              </a:solidFill>
              <a:latin typeface="Raleway Medium"/>
              <a:ea typeface="Raleway Medium"/>
              <a:cs typeface="Raleway Medium"/>
              <a:sym typeface="Raleway Medium"/>
            </a:endParaRPr>
          </a:p>
        </p:txBody>
      </p:sp>
      <p:pic>
        <p:nvPicPr>
          <p:cNvPr id="172" name="Google Shape;172;p36"/>
          <p:cNvPicPr preferRelativeResize="0"/>
          <p:nvPr/>
        </p:nvPicPr>
        <p:blipFill rotWithShape="1">
          <a:blip r:embed="rId3">
            <a:alphaModFix/>
          </a:blip>
          <a:srcRect b="0" l="21576" r="5109"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Apa itu proyek?</a:t>
            </a:r>
            <a:endParaRPr/>
          </a:p>
        </p:txBody>
      </p:sp>
      <p:sp>
        <p:nvSpPr>
          <p:cNvPr id="179" name="Google Shape;179;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Proyek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Proyek perangkat lunak terdiri dari langkah-langkah yang terlibat dalam membuat produk sebelum benar-benar tersedia ke pasar.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Proyek dapat ditangani oleh hanya beberapa orang atau melibatkan banyak orang (lebih dari 100). Proyek biasanya ditugaskan oleh suatu perusahaan dan dilakukan untuk membentuk produk baru yang belum dibuat.</a:t>
            </a:r>
            <a:endParaRPr sz="1200">
              <a:solidFill>
                <a:schemeClr val="dk1"/>
              </a:solidFill>
              <a:latin typeface="Raleway Medium"/>
              <a:ea typeface="Raleway Medium"/>
              <a:cs typeface="Raleway Medium"/>
              <a:sym typeface="Raleway Medium"/>
            </a:endParaRPr>
          </a:p>
        </p:txBody>
      </p:sp>
      <p:pic>
        <p:nvPicPr>
          <p:cNvPr id="180" name="Google Shape;180;p37"/>
          <p:cNvPicPr preferRelativeResize="0"/>
          <p:nvPr/>
        </p:nvPicPr>
        <p:blipFill rotWithShape="1">
          <a:blip r:embed="rId3">
            <a:alphaModFix/>
          </a:blip>
          <a:srcRect b="0" l="26598" r="87"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Apa itu proyek?</a:t>
            </a:r>
            <a:endParaRPr/>
          </a:p>
        </p:txBody>
      </p:sp>
      <p:sp>
        <p:nvSpPr>
          <p:cNvPr id="187" name="Google Shape;187;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Proyek vs Produk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sisi lain, produk adalah barang, layanan, platform, aplikasi, sistem, dll., yang dibuat, umumnya untuk dijual, untuk memenuhi kebutuhan pelanggan dan bisnis.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ritel dan manufaktur, sebuah produk mungkin berupa bahan yang diubah menjadi barang jadi. Dalam teknologi, produk Anda mungkin berupa perangkat lunak atau layanan, yang memerlukan pemeliharaan.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Produk adalah hasil dari sebuah proyek. Proyek perangkat lunak, ketika selesai, dapat menghasilkan sebuah produk (atau sebuah tingkatan pada produk) yang diterbitkan untuk digunakan pengguna.</a:t>
            </a:r>
            <a:endParaRPr sz="1200">
              <a:solidFill>
                <a:schemeClr val="dk1"/>
              </a:solidFill>
              <a:latin typeface="Raleway Medium"/>
              <a:ea typeface="Raleway Medium"/>
              <a:cs typeface="Raleway Medium"/>
              <a:sym typeface="Raleway Medium"/>
            </a:endParaRPr>
          </a:p>
        </p:txBody>
      </p:sp>
      <p:pic>
        <p:nvPicPr>
          <p:cNvPr id="188" name="Google Shape;188;p38"/>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Manajemen proyek </a:t>
            </a:r>
            <a:endParaRPr/>
          </a:p>
        </p:txBody>
      </p:sp>
      <p:sp>
        <p:nvSpPr>
          <p:cNvPr id="194" name="Google Shape;19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 </a:t>
            </a:r>
            <a:endParaRPr/>
          </a:p>
        </p:txBody>
      </p:sp>
      <p:sp>
        <p:nvSpPr>
          <p:cNvPr id="201" name="Google Shape;201;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Sebuah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proyek umumnya diprakarsai oleh kebutuhan yang dirasakan dalam suatu organisasi. Sebuah proyek akan memiliki awal dan akhir, rencana anggaran, waktu dan sumber daya dan melibatkan tim yang dibangun dengan tujuan.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Tim proyek terdiri dari banyak anggota tim yang berbeda, misalnya, pengguna akhir/pelanggan (dari suatu produk atau layanan), perwakilan dari Teknologi Informasi (TI), pemimpin proyek, analis bisnis, pelatih, sponsor proyek, dan pemangku kepentingan lainnya.</a:t>
            </a:r>
            <a:endParaRPr sz="1200">
              <a:solidFill>
                <a:schemeClr val="dk1"/>
              </a:solidFill>
              <a:latin typeface="Raleway Medium"/>
              <a:ea typeface="Raleway Medium"/>
              <a:cs typeface="Raleway Medium"/>
              <a:sym typeface="Raleway Medium"/>
            </a:endParaRPr>
          </a:p>
        </p:txBody>
      </p:sp>
      <p:pic>
        <p:nvPicPr>
          <p:cNvPr id="202" name="Google Shape;202;p40"/>
          <p:cNvPicPr preferRelativeResize="0"/>
          <p:nvPr/>
        </p:nvPicPr>
        <p:blipFill rotWithShape="1">
          <a:blip r:embed="rId3">
            <a:alphaModFix/>
          </a:blip>
          <a:srcRect b="0" l="18907" r="7778" t="0"/>
          <a:stretch/>
        </p:blipFill>
        <p:spPr>
          <a:xfrm>
            <a:off x="5486400" y="1207587"/>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a:t>
            </a:r>
            <a:endParaRPr/>
          </a:p>
        </p:txBody>
      </p:sp>
      <p:sp>
        <p:nvSpPr>
          <p:cNvPr id="209" name="Google Shape;209;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Manajemen proyek adalah disiplin pengelolaan semua sumber daya yang berbeda dan aspek proyek sedemikian rupa sehingga sumber daya memberikan semua output yang diperlukan untuk menyelesaikan proyek dalam ruang lingkup, waktu, dan kendala biaya yang ditentukan.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 hal tersebut disepakati dalam tahap inisiasi proyek dan pada saat proyek dimulai, semua pemangku kepentingan dan anggota tim akan memiliki pemahaman dan penerimaan yang jelas tentang proses, metodologi, dan hasil yang diharapkan.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10" name="Google Shape;210;p41"/>
          <p:cNvPicPr preferRelativeResize="0"/>
          <p:nvPr/>
        </p:nvPicPr>
        <p:blipFill rotWithShape="1">
          <a:blip r:embed="rId3">
            <a:alphaModFix/>
          </a:blip>
          <a:srcRect b="0" l="17052" r="9633" t="0"/>
          <a:stretch/>
        </p:blipFill>
        <p:spPr>
          <a:xfrm>
            <a:off x="5486400" y="1207587"/>
            <a:ext cx="3017518"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a:t>
            </a:r>
            <a:endParaRPr/>
          </a:p>
        </p:txBody>
      </p:sp>
      <p:sp>
        <p:nvSpPr>
          <p:cNvPr id="217" name="Google Shape;217;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9 bidang utama dalam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manajemen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Integration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Scope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Time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Cost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Quality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Human Resource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Communication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8) Risk Management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9) Procurement Management</a:t>
            </a:r>
            <a:endParaRPr sz="1200">
              <a:solidFill>
                <a:schemeClr val="dk1"/>
              </a:solidFill>
              <a:latin typeface="Raleway Medium"/>
              <a:ea typeface="Raleway Medium"/>
              <a:cs typeface="Raleway Medium"/>
              <a:sym typeface="Raleway Medium"/>
            </a:endParaRPr>
          </a:p>
        </p:txBody>
      </p:sp>
      <p:pic>
        <p:nvPicPr>
          <p:cNvPr id="218" name="Google Shape;218;p42"/>
          <p:cNvPicPr preferRelativeResize="0"/>
          <p:nvPr/>
        </p:nvPicPr>
        <p:blipFill rotWithShape="1">
          <a:blip r:embed="rId3">
            <a:alphaModFix/>
          </a:blip>
          <a:srcRect b="0" l="17052" r="9633" t="0"/>
          <a:stretch/>
        </p:blipFill>
        <p:spPr>
          <a:xfrm>
            <a:off x="5486400" y="1207587"/>
            <a:ext cx="3017518"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 name="Google Shape;224;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a:t>
            </a:r>
            <a:endParaRPr/>
          </a:p>
        </p:txBody>
      </p:sp>
      <p:pic>
        <p:nvPicPr>
          <p:cNvPr id="225" name="Google Shape;225;p43"/>
          <p:cNvPicPr preferRelativeResize="0"/>
          <p:nvPr/>
        </p:nvPicPr>
        <p:blipFill rotWithShape="1">
          <a:blip r:embed="rId3">
            <a:alphaModFix/>
          </a:blip>
          <a:srcRect b="17" l="0" r="0" t="13470"/>
          <a:stretch/>
        </p:blipFill>
        <p:spPr>
          <a:xfrm>
            <a:off x="1293350" y="967600"/>
            <a:ext cx="6557299" cy="3777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a:t>
            </a:r>
            <a:endParaRPr/>
          </a:p>
        </p:txBody>
      </p:sp>
      <p:sp>
        <p:nvSpPr>
          <p:cNvPr id="232" name="Google Shape;232;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 vs Manajemen Produk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Manajemen produk bertujuan untuk mengawasi produk yang dikembangkan dalam suatu organisasi. Ini termasuk mengelola setiap aspek siklus hidup produk, dari tahap analisis hingga manajemen rilis.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Manajemen proyek membantu tim mengatur, melacak, dan melaksanakan pekerjaan dalam suatu proyek. Ini termasuk mengelola pemangku kepentingan, tugas, dan kemajuan; melihat proyek sampai selesai; dan menerapkan alat yang diperlukan untuk sukses. Manajemen proyek juga berfokus pada kolaborasi tim dan mendorongnya melalui penggunaan alat dan permainan membangun tim.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33" name="Google Shape;233;p4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Manajemen proyek</a:t>
            </a:r>
            <a:endParaRPr/>
          </a:p>
        </p:txBody>
      </p:sp>
      <p:pic>
        <p:nvPicPr>
          <p:cNvPr id="240" name="Google Shape;240;p45"/>
          <p:cNvPicPr preferRelativeResize="0"/>
          <p:nvPr/>
        </p:nvPicPr>
        <p:blipFill>
          <a:blip r:embed="rId3">
            <a:alphaModFix/>
          </a:blip>
          <a:stretch>
            <a:fillRect/>
          </a:stretch>
        </p:blipFill>
        <p:spPr>
          <a:xfrm>
            <a:off x="852475" y="1717088"/>
            <a:ext cx="5153025" cy="2181225"/>
          </a:xfrm>
          <a:prstGeom prst="rect">
            <a:avLst/>
          </a:prstGeom>
          <a:noFill/>
          <a:ln>
            <a:noFill/>
          </a:ln>
        </p:spPr>
      </p:pic>
      <p:pic>
        <p:nvPicPr>
          <p:cNvPr id="241" name="Google Shape;241;p45"/>
          <p:cNvPicPr preferRelativeResize="0"/>
          <p:nvPr/>
        </p:nvPicPr>
        <p:blipFill>
          <a:blip r:embed="rId4">
            <a:alphaModFix/>
          </a:blip>
          <a:stretch>
            <a:fillRect/>
          </a:stretch>
        </p:blipFill>
        <p:spPr>
          <a:xfrm>
            <a:off x="6504250" y="914400"/>
            <a:ext cx="1274919" cy="3886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manager</a:t>
            </a:r>
            <a:endParaRPr/>
          </a:p>
        </p:txBody>
      </p:sp>
      <p:sp>
        <p:nvSpPr>
          <p:cNvPr id="247" name="Google Shape;24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manager</a:t>
            </a:r>
            <a:endParaRPr/>
          </a:p>
        </p:txBody>
      </p:sp>
      <p:sp>
        <p:nvSpPr>
          <p:cNvPr id="254" name="Google Shape;254;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dan sasaran organisasi dapat dicapai secara efisien melalui manajemen proyek yang tepat. Manajer proyek atau </a:t>
            </a:r>
            <a:r>
              <a:rPr i="1" lang="en" sz="1200">
                <a:solidFill>
                  <a:schemeClr val="dk1"/>
                </a:solidFill>
                <a:latin typeface="Raleway Medium"/>
                <a:ea typeface="Raleway Medium"/>
                <a:cs typeface="Raleway Medium"/>
                <a:sym typeface="Raleway Medium"/>
              </a:rPr>
              <a:t>project manager </a:t>
            </a:r>
            <a:r>
              <a:rPr lang="en" sz="1200">
                <a:solidFill>
                  <a:schemeClr val="dk1"/>
                </a:solidFill>
                <a:latin typeface="Raleway Medium"/>
                <a:ea typeface="Raleway Medium"/>
                <a:cs typeface="Raleway Medium"/>
                <a:sym typeface="Raleway Medium"/>
              </a:rPr>
              <a:t>memainkan peran kunci dalam mengelola proyek. Mereka memperkirakan semua risiko yang mungkin timbul selama proses produksi dan memastikan bahwa semua risiko ditangani dengan rencana yang tepat.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mengikuti struktur manajemen proyek yang baik, karyawan akan memiliki pemahaman yang baik tentang peran dan tanggung jawab mereka, mereka juga akan mengetahui jadwal pengiriman dan akan memiliki kesempatan untuk merencanakan jadwal mereka dengan tepat. Struktur manajemen proyek yang baik memastikan bahwa proyek selesai dalam jangka waktu tertentu dan sesuai anggaran.</a:t>
            </a:r>
            <a:endParaRPr sz="1200">
              <a:solidFill>
                <a:schemeClr val="dk1"/>
              </a:solidFill>
              <a:latin typeface="Raleway Medium"/>
              <a:ea typeface="Raleway Medium"/>
              <a:cs typeface="Raleway Medium"/>
              <a:sym typeface="Raleway Medium"/>
            </a:endParaRPr>
          </a:p>
        </p:txBody>
      </p:sp>
      <p:pic>
        <p:nvPicPr>
          <p:cNvPr id="255" name="Google Shape;255;p47"/>
          <p:cNvPicPr preferRelativeResize="0"/>
          <p:nvPr/>
        </p:nvPicPr>
        <p:blipFill rotWithShape="1">
          <a:blip r:embed="rId3">
            <a:alphaModFix/>
          </a:blip>
          <a:srcRect b="0" l="-139" r="26825" t="0"/>
          <a:stretch/>
        </p:blipFill>
        <p:spPr>
          <a:xfrm>
            <a:off x="5486400" y="1207587"/>
            <a:ext cx="3017518"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manager</a:t>
            </a:r>
            <a:endParaRPr/>
          </a:p>
        </p:txBody>
      </p:sp>
      <p:sp>
        <p:nvSpPr>
          <p:cNvPr id="262" name="Google Shape;262;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Jadi siapa itu </a:t>
            </a:r>
            <a:r>
              <a:rPr b="1" i="1" lang="en" sz="1800">
                <a:solidFill>
                  <a:srgbClr val="743673"/>
                </a:solidFill>
                <a:highlight>
                  <a:schemeClr val="lt1"/>
                </a:highlight>
                <a:latin typeface="Raleway"/>
                <a:ea typeface="Raleway"/>
                <a:cs typeface="Raleway"/>
                <a:sym typeface="Raleway"/>
              </a:rPr>
              <a:t>project manager?</a:t>
            </a:r>
            <a:endParaRPr b="1" i="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arti luas, manajer proyek (PM) bertanggung jawab untuk merencanakan, mengatur, dan mengarahkan penyelesaian proyek tertentu untuk suatu organisasi sambil memastikan proyek ini tepat waktu, sesuai anggaran, dan dalam ruang lingkup.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Project manager akan menerapkan sebuah metodologi pada proyek sesuai dengan karakteristik proyek dan tujuan. Kita akan membahas metodologi - metodologi manajemen proyek pada sesi berikutnya.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3" name="Google Shape;263;p48"/>
          <p:cNvPicPr preferRelativeResize="0"/>
          <p:nvPr/>
        </p:nvPicPr>
        <p:blipFill rotWithShape="1">
          <a:blip r:embed="rId3">
            <a:alphaModFix/>
          </a:blip>
          <a:srcRect b="0" l="26326" r="359" t="0"/>
          <a:stretch/>
        </p:blipFill>
        <p:spPr>
          <a:xfrm>
            <a:off x="5486400" y="1207587"/>
            <a:ext cx="3017518"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manager</a:t>
            </a:r>
            <a:endParaRPr/>
          </a:p>
        </p:txBody>
      </p:sp>
      <p:sp>
        <p:nvSpPr>
          <p:cNvPr id="270" name="Google Shape;270;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memahami metodologi, ada karakteristik lain yang perlu diingat untuk manajemen proyek yang sukses. Mengingat bahwa setiap proyek terlibat dengan tim proyek serta pemangku kepentingan, Manajer Proyek yang baik tidak hanya harus memiliki keterampilan manajemen waktu yang sangat baik tetapi juga keterampilan orang yang baik seperti: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Excellent communication skills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The ability to be a team player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Excellent interpersonal skills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The ability to negotiate</a:t>
            </a:r>
            <a:endParaRPr sz="1200">
              <a:solidFill>
                <a:schemeClr val="dk1"/>
              </a:solidFill>
              <a:latin typeface="Raleway Medium"/>
              <a:ea typeface="Raleway Medium"/>
              <a:cs typeface="Raleway Medium"/>
              <a:sym typeface="Raleway Medium"/>
            </a:endParaRPr>
          </a:p>
        </p:txBody>
      </p:sp>
      <p:pic>
        <p:nvPicPr>
          <p:cNvPr id="271" name="Google Shape;271;p49"/>
          <p:cNvPicPr preferRelativeResize="0"/>
          <p:nvPr/>
        </p:nvPicPr>
        <p:blipFill rotWithShape="1">
          <a:blip r:embed="rId3">
            <a:alphaModFix/>
          </a:blip>
          <a:srcRect b="0" l="26326" r="359" t="0"/>
          <a:stretch/>
        </p:blipFill>
        <p:spPr>
          <a:xfrm>
            <a:off x="5486400" y="1207587"/>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manager</a:t>
            </a:r>
            <a:endParaRPr/>
          </a:p>
        </p:txBody>
      </p:sp>
      <p:sp>
        <p:nvSpPr>
          <p:cNvPr id="278" name="Google Shape;278;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Dua faktor kunci</a:t>
            </a:r>
            <a:endParaRPr b="1" i="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Project manager yang berpengalaman percaya bahwa ada dua faktor kunci dalam menentukan keberhasilan suatu proyek: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Rekrutmen dan pemilihan anggota proyek yang memenuhi syarat untuk posisi proyek yang relevan sangat penting. Perekrutan anggota tim proyek harus ditangani dengan disiplin dan ketelitian yang sama seperti perekrutan karyawan baru untuk mengisi posisi yang sedang berlangsung dalam bisnis. </a:t>
            </a:r>
            <a:endParaRPr sz="1200">
              <a:solidFill>
                <a:schemeClr val="dk1"/>
              </a:solidFill>
              <a:latin typeface="Raleway Medium"/>
              <a:ea typeface="Raleway Medium"/>
              <a:cs typeface="Raleway Medium"/>
              <a:sym typeface="Raleway Medium"/>
            </a:endParaRPr>
          </a:p>
        </p:txBody>
      </p:sp>
      <p:pic>
        <p:nvPicPr>
          <p:cNvPr id="279" name="Google Shape;279;p50"/>
          <p:cNvPicPr preferRelativeResize="0"/>
          <p:nvPr/>
        </p:nvPicPr>
        <p:blipFill rotWithShape="1">
          <a:blip r:embed="rId3">
            <a:alphaModFix/>
          </a:blip>
          <a:srcRect b="0" l="2038" r="24378" t="0"/>
          <a:stretch/>
        </p:blipFill>
        <p:spPr>
          <a:xfrm>
            <a:off x="5486400" y="1207587"/>
            <a:ext cx="3017518" cy="2743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manager</a:t>
            </a:r>
            <a:endParaRPr/>
          </a:p>
        </p:txBody>
      </p:sp>
      <p:sp>
        <p:nvSpPr>
          <p:cNvPr id="286" name="Google Shape;286;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Metodologi yang terdokumentasi dengan baik yang dibuat sederhana dan mudah beradaptasi dengan berbagai ukuran proyek merupakan landasan penting untuk memastikan keberhasilan proyek.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Metodologi yang terdokumentasi ini perlu dikomunikasikan kepada anggota tim proyek sebagai bagian dari tahap inisiasi. Ini akan memastikan hal-hal setiap orang memiliki pemahaman yang jelas tentang bagaimana kemajuan dan apa yang diharapkan pada setiap tahap dan bahwa metodologi disesuaikan dengan kebutuhan spesifik dari proyek yang sedang dilakukan.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7" name="Google Shape;287;p51"/>
          <p:cNvPicPr preferRelativeResize="0"/>
          <p:nvPr/>
        </p:nvPicPr>
        <p:blipFill rotWithShape="1">
          <a:blip r:embed="rId3">
            <a:alphaModFix/>
          </a:blip>
          <a:srcRect b="0" l="2038" r="24378" t="0"/>
          <a:stretch/>
        </p:blipFill>
        <p:spPr>
          <a:xfrm>
            <a:off x="5486400" y="1207587"/>
            <a:ext cx="3017518"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tim UI/UX membutuhkan </a:t>
            </a:r>
            <a:endParaRPr/>
          </a:p>
          <a:p>
            <a:pPr indent="0" lvl="0" marL="0" rtl="0" algn="ctr">
              <a:spcBef>
                <a:spcPts val="0"/>
              </a:spcBef>
              <a:spcAft>
                <a:spcPts val="0"/>
              </a:spcAft>
              <a:buNone/>
            </a:pPr>
            <a:r>
              <a:rPr lang="en"/>
              <a:t>project manager?</a:t>
            </a:r>
            <a:endParaRPr/>
          </a:p>
        </p:txBody>
      </p:sp>
      <p:sp>
        <p:nvSpPr>
          <p:cNvPr id="293" name="Google Shape;293;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00" name="Google Shape;300;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tim UI/UX membutuhkan project manager?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Proyek UX sangat kompleks dan sering kali melibatkan banyak kontributor dan pemangku kepentingan yang berbeda. Manajer proyek memastikan proyek disampaikan tepat waktu dan tujuan diselesaikan dengan cara yang efektif dan terjangkau.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Manajer proyek yang baik memfasilitasi komunikasi antara tim proyek dan klien untuk menetapkan tujuan dan ekspektasi. Dengan begitu,  peneliti, perancang, dan ahli strategi UX dapat fokus pada masalah yang tepat pada waktu yang tepat, tanpa kehilangan gambaran yang lebih besar.</a:t>
            </a:r>
            <a:endParaRPr sz="1200">
              <a:solidFill>
                <a:schemeClr val="dk1"/>
              </a:solidFill>
              <a:latin typeface="Raleway Medium"/>
              <a:ea typeface="Raleway Medium"/>
              <a:cs typeface="Raleway Medium"/>
              <a:sym typeface="Raleway Medium"/>
            </a:endParaRPr>
          </a:p>
        </p:txBody>
      </p:sp>
      <p:pic>
        <p:nvPicPr>
          <p:cNvPr id="301" name="Google Shape;301;p53"/>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08" name="Google Shape;308;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hal yang membuat project managers penting bagi sebuah proses desain UX, mari kita telusuri mereka.</a:t>
            </a:r>
            <a:endParaRPr sz="1200">
              <a:solidFill>
                <a:schemeClr val="dk1"/>
              </a:solidFill>
              <a:latin typeface="Raleway Medium"/>
              <a:ea typeface="Raleway Medium"/>
              <a:cs typeface="Raleway Medium"/>
              <a:sym typeface="Raleway Medium"/>
            </a:endParaRPr>
          </a:p>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Memandu proses desain dari strategi hingga development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tahu saat itu ketika Anda meraih senter Anda, jentikkan tombol "on" dan merasa lega ketika Anda menyadari bahwa Anda ingat untuk memasukkan baterai? Memiliki manajer proyek (PM) di proyek Anda seperti memiliki satu set baterai yang terisi penuh di senter Anda. Senter menyoroti pintu, dinding, dan sudut untuk memandu Anda melewati ruangan, seperti PM menyoroti peluang dan tantangan untuk memandu Anda melalui sebuah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9" name="Google Shape;309;p54"/>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16" name="Google Shape;316;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Mengantisipasi hambatan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Manajer proyek membuat Anda dan anggota tim Anda tetap teratur selama proses proyek dengan menandai potensi risiko dan menghilangkan hambatan. Dengan itu, tim Anda dapat fokus pada apa yang mereka lakukan yang terbaik.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Mengidentifikasi masalah sebelum terjadi atau mendahului "berita buruk" membuat tim memiliki waktu untuk melakukan penyesuaian agar tidak terjebak di kemudian hari dalam proyek. Pemecahan masalah tingkat tinggi ini akan memungkinkan tim Anda mengerjakan proyek dengan efisien dan percaya diri.</a:t>
            </a:r>
            <a:endParaRPr sz="1200">
              <a:solidFill>
                <a:schemeClr val="dk1"/>
              </a:solidFill>
              <a:latin typeface="Raleway Medium"/>
              <a:ea typeface="Raleway Medium"/>
              <a:cs typeface="Raleway Medium"/>
              <a:sym typeface="Raleway Medium"/>
            </a:endParaRPr>
          </a:p>
        </p:txBody>
      </p:sp>
      <p:pic>
        <p:nvPicPr>
          <p:cNvPr id="317" name="Google Shape;317;p55"/>
          <p:cNvPicPr preferRelativeResize="0"/>
          <p:nvPr/>
        </p:nvPicPr>
        <p:blipFill rotWithShape="1">
          <a:blip r:embed="rId3">
            <a:alphaModFix/>
          </a:blip>
          <a:srcRect b="0" l="26292" r="286" t="0"/>
          <a:stretch/>
        </p:blipFill>
        <p:spPr>
          <a:xfrm>
            <a:off x="5486400" y="1207587"/>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24" name="Google Shape;324;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Menjaga alur komunikasi agar tetap terbuka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Manajer proyek menangani logistik dan komunikasi untuk menjaga agar tim pengiriman lainnya tetap fokus pada melakukan yang terbaik yang mereka lakukan, apakah itu strategi, penggambaran, desain, penelitian, ekspresi merek, teknik, atau semua hal di atas.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penting untuk memiliki tim yang kolaboratif dan suportif, membentuk tim di mana setiap anggota dapat fokus pada kekuatan mereka adalah bagian dari saus rahasia yang memungkinkan tim proyek untuk memberikan pekerjaan yang konsisten dan berkualitas tinggi..</a:t>
            </a:r>
            <a:endParaRPr sz="1200">
              <a:solidFill>
                <a:schemeClr val="dk1"/>
              </a:solidFill>
              <a:latin typeface="Raleway Medium"/>
              <a:ea typeface="Raleway Medium"/>
              <a:cs typeface="Raleway Medium"/>
              <a:sym typeface="Raleway Medium"/>
            </a:endParaRPr>
          </a:p>
        </p:txBody>
      </p:sp>
      <p:pic>
        <p:nvPicPr>
          <p:cNvPr id="325" name="Google Shape;325;p5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32" name="Google Shape;332;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Memiliki pengetahuan tentang berbagai klien dan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Manajer proyek UX sering kali memiliki kedalaman dan keluasan pengetahuan yang berbeda dari kontributor lain di organisasi.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Bergantung pada perusahaan, banyak PM bekerja dengan berbagai klien dan berbagai proyek dan alat kolaborasi. Ini memberi mereka keakraban dengan tren industri dan pemahaman mendalam tentang praktik terbaik perusahaan.</a:t>
            </a:r>
            <a:endParaRPr sz="1200">
              <a:solidFill>
                <a:schemeClr val="dk1"/>
              </a:solidFill>
              <a:latin typeface="Raleway Medium"/>
              <a:ea typeface="Raleway Medium"/>
              <a:cs typeface="Raleway Medium"/>
              <a:sym typeface="Raleway Medium"/>
            </a:endParaRPr>
          </a:p>
        </p:txBody>
      </p:sp>
      <p:pic>
        <p:nvPicPr>
          <p:cNvPr id="333" name="Google Shape;333;p57"/>
          <p:cNvPicPr preferRelativeResize="0"/>
          <p:nvPr/>
        </p:nvPicPr>
        <p:blipFill rotWithShape="1">
          <a:blip r:embed="rId3">
            <a:alphaModFix/>
          </a:blip>
          <a:srcRect b="15070" l="0" r="0" t="15063"/>
          <a:stretch/>
        </p:blipFill>
        <p:spPr>
          <a:xfrm>
            <a:off x="5486400" y="1207587"/>
            <a:ext cx="3017519" cy="2743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40" name="Google Shape;340;p5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Dapat mengadopsi alat kolaborasi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Manajer proyek terampil dalam menyiapkan dan memelihara alat untuk kolaborasi antara tim UX dan klien. Jika diperlukan, sebagian besar PM menyambut baik pembelajaran baru, alat asing yang telah diadopsi klien. Untuk tim internal Anda, ini meringankan beban karena harus menjadi ahli dalam alat baru ini. Untuk klien, dapat berkomunikasi dalam sistem perpesanan mereka sendiri, aplikasi konferensi video, atau alat organisasi membuat semua orang tetap waspada, yang menghemat waktu dan bandwidth mental untuk hal-hal penting — pekerjaan!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1" name="Google Shape;341;p58"/>
          <p:cNvPicPr preferRelativeResize="0"/>
          <p:nvPr/>
        </p:nvPicPr>
        <p:blipFill rotWithShape="1">
          <a:blip r:embed="rId3">
            <a:alphaModFix/>
          </a:blip>
          <a:srcRect b="8659" l="567" r="45910" t="18448"/>
          <a:stretch/>
        </p:blipFill>
        <p:spPr>
          <a:xfrm>
            <a:off x="5486400" y="1207587"/>
            <a:ext cx="3017518" cy="274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48" name="Google Shape;348;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 Memikirkan sisi bisnis dan memperjuangkan budaya yang baik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Manajer proyek adalah pemikir bisnis tetap di perusahaan. Mereka memikirkan gambaran besar dari hasil akhir serta logistik sehari-hari.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manajer proyek memperkuat budaya perusahaan dan moral tim. Dengan menjaga denyut nadi di tim internal dan klien, PM dapat mengidentifikasi titik nyeri dan mengukur apakah klien terlibat dan bahagia.</a:t>
            </a:r>
            <a:endParaRPr sz="1200">
              <a:solidFill>
                <a:schemeClr val="dk1"/>
              </a:solidFill>
              <a:latin typeface="Raleway Medium"/>
              <a:ea typeface="Raleway Medium"/>
              <a:cs typeface="Raleway Medium"/>
              <a:sym typeface="Raleway Medium"/>
            </a:endParaRPr>
          </a:p>
        </p:txBody>
      </p:sp>
      <p:pic>
        <p:nvPicPr>
          <p:cNvPr id="349" name="Google Shape;349;p59"/>
          <p:cNvPicPr preferRelativeResize="0"/>
          <p:nvPr/>
        </p:nvPicPr>
        <p:blipFill rotWithShape="1">
          <a:blip r:embed="rId3">
            <a:alphaModFix/>
          </a:blip>
          <a:srcRect b="0" l="22577" r="4001" t="0"/>
          <a:stretch/>
        </p:blipFill>
        <p:spPr>
          <a:xfrm>
            <a:off x="5486400" y="1207587"/>
            <a:ext cx="3017518"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tim UI/UX membutuhkan project manager?</a:t>
            </a:r>
            <a:endParaRPr/>
          </a:p>
        </p:txBody>
      </p:sp>
      <p:sp>
        <p:nvSpPr>
          <p:cNvPr id="356" name="Google Shape;356;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Tim UX berkembang dengan manajer proyek yang baik</a:t>
            </a:r>
            <a:endParaRPr b="1" sz="1800">
              <a:solidFill>
                <a:srgbClr val="743673"/>
              </a:solidFill>
              <a:highlight>
                <a:schemeClr val="lt1"/>
              </a:highlight>
              <a:latin typeface="Raleway"/>
              <a:ea typeface="Raleway"/>
              <a:cs typeface="Raleway"/>
              <a:sym typeface="Raleway"/>
            </a:endParaRPr>
          </a:p>
          <a:p>
            <a:pPr indent="0" lvl="0" marL="0" rtl="0" algn="just">
              <a:lnSpc>
                <a:spcPct val="100000"/>
              </a:lnSpc>
              <a:spcBef>
                <a:spcPts val="1600"/>
              </a:spcBef>
              <a:spcAft>
                <a:spcPts val="0"/>
              </a:spcAft>
              <a:buNone/>
            </a:pPr>
            <a:r>
              <a:rPr lang="en" sz="1200">
                <a:solidFill>
                  <a:schemeClr val="dk1"/>
                </a:solidFill>
                <a:latin typeface="Raleway Medium"/>
                <a:ea typeface="Raleway Medium"/>
                <a:cs typeface="Raleway Medium"/>
                <a:sym typeface="Raleway Medium"/>
              </a:rPr>
              <a:t>Tim UX mengatasi berbagai tantangan. Desainer, peneliti, dan ahli strategi dapat melakukan pekerjaan terbaik mereka dengan dukungan manajer proyek. </a:t>
            </a:r>
            <a:endParaRPr sz="1200">
              <a:solidFill>
                <a:schemeClr val="dk1"/>
              </a:solidFill>
              <a:latin typeface="Raleway Medium"/>
              <a:ea typeface="Raleway Medium"/>
              <a:cs typeface="Raleway Medium"/>
              <a:sym typeface="Raleway Medium"/>
            </a:endParaRPr>
          </a:p>
          <a:p>
            <a:pPr indent="0" lvl="0" marL="0" rtl="0" algn="just">
              <a:lnSpc>
                <a:spcPct val="100000"/>
              </a:lnSpc>
              <a:spcBef>
                <a:spcPts val="1600"/>
              </a:spcBef>
              <a:spcAft>
                <a:spcPts val="0"/>
              </a:spcAft>
              <a:buNone/>
            </a:pPr>
            <a:r>
              <a:rPr lang="en" sz="1200">
                <a:solidFill>
                  <a:schemeClr val="dk1"/>
                </a:solidFill>
                <a:latin typeface="Raleway Medium"/>
                <a:ea typeface="Raleway Medium"/>
                <a:cs typeface="Raleway Medium"/>
                <a:sym typeface="Raleway Medium"/>
              </a:rPr>
              <a:t>PM menawarkan panduan, struktur, dan banyak pengalaman untuk setiap proyek yang mereka dukung. Sebelum Anda memulai proyek berikutnya, ingatlah untuk menambahkan manajer proyek ke tim Anda dan letakkan baterai itu di senter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57" name="Google Shape;357;p60"/>
          <p:cNvPicPr preferRelativeResize="0"/>
          <p:nvPr/>
        </p:nvPicPr>
        <p:blipFill rotWithShape="1">
          <a:blip r:embed="rId3">
            <a:alphaModFix/>
          </a:blip>
          <a:srcRect b="0" l="9574" r="17004" t="0"/>
          <a:stretch/>
        </p:blipFill>
        <p:spPr>
          <a:xfrm>
            <a:off x="5486400" y="1207587"/>
            <a:ext cx="3017518"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Mari kita review alat - alat untuk kolaborasi proyek</a:t>
            </a:r>
            <a:endParaRPr/>
          </a:p>
        </p:txBody>
      </p:sp>
      <p:sp>
        <p:nvSpPr>
          <p:cNvPr id="363" name="Google Shape;36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370" name="Google Shape;370;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 kolaboratif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Manajemen proyek kolaboratif adalah metode yang digunakan untuk merencanakan, mengoordinasikan, mengontrol, dan memantau proyek yang terdistribusi dan kompleks.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ini memungkinkan tim proyek untuk berkolaborasi lintas departemen, perusahaan, dan batas-batas nasional dan untuk menguasai kompleksitas proyek yang berkembang.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71" name="Google Shape;371;p62">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378" name="Google Shape;378;p6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 kolaboratif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 jenis peralatan (tools) untuk manajemen proyek kolaboratif: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Communication tools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Collaboration and Tracking tools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Document sharing tools</a:t>
            </a:r>
            <a:endParaRPr sz="1200">
              <a:solidFill>
                <a:schemeClr val="dk1"/>
              </a:solidFill>
              <a:latin typeface="Raleway Medium"/>
              <a:ea typeface="Raleway Medium"/>
              <a:cs typeface="Raleway Medium"/>
              <a:sym typeface="Raleway Medium"/>
            </a:endParaRPr>
          </a:p>
        </p:txBody>
      </p:sp>
      <p:pic>
        <p:nvPicPr>
          <p:cNvPr id="379" name="Google Shape;379;p63">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64">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385" name="Google Shape;38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387" name="Google Shape;387;p64"/>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#1: Slack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Slack adalah alat kolaborasi yang menawarkan komunikasi waktu nyata, berbagi file, pengarsipan, dan fungsi pencarian antar anggota tim.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membuat beberapa saluran untuk berbagai kategori atau departemen seperti desain UX, pengembangan web, manajemen proyek, dll.</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65">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393" name="Google Shape;39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395" name="Google Shape;395;p65"/>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#2: Yammer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Yammer menyatukan tim kecil, menengah, dan besar serta membantu perusahaan meningkatkan kolaborasi. Yang membuat Yammer unik adalah fokus yang kuat pada privasi—hanya orang dari domain yang sama yang dapat mengakses ruang.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Yammer membantu Anda membentuk komunitas tempat orang dapat berinteraksi satu sama lain berdasarkan minat mereka dan berbagi ide serta pendapat.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66">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401" name="Google Shape;40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03" name="Google Shape;403;p66"/>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#3: Google Hangouts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Google Hangouts adalah aplikasi perpesanan instan gratis yang memungkinkan Anda mengobrol dan berbicara dengan kolega Anda kapan saja, di mana saja.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Keuntungan utama dari Hangouts adalah kesederhanaannya. Ini dapat diakses oleh pengguna dengan berbagai keterampilan teknologi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67"/>
          <p:cNvPicPr preferRelativeResize="0"/>
          <p:nvPr/>
        </p:nvPicPr>
        <p:blipFill rotWithShape="1">
          <a:blip r:embed="rId3">
            <a:alphaModFix/>
          </a:blip>
          <a:srcRect b="0" l="0" r="6402" t="0"/>
          <a:stretch/>
        </p:blipFill>
        <p:spPr>
          <a:xfrm>
            <a:off x="4094624" y="1236524"/>
            <a:ext cx="4572001" cy="2743206"/>
          </a:xfrm>
          <a:prstGeom prst="rect">
            <a:avLst/>
          </a:prstGeom>
          <a:noFill/>
          <a:ln>
            <a:noFill/>
          </a:ln>
        </p:spPr>
      </p:pic>
      <p:sp>
        <p:nvSpPr>
          <p:cNvPr id="409" name="Google Shape;40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11" name="Google Shape;411;p67"/>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 tool #1: Trello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Trello saat ini adalah salah satu aplikasi manajemen kolaborasi paling populer. Ini memungkinkan anggota tim untuk membuat dan mendistribusikan proyek, serta mengkategorikan item melalui platform dengan cara yang sangat sederhana. Ini juga memungkinkan Anda untuk melacak kemajuan proyek kapan saja.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68"/>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417" name="Google Shape;417;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19" name="Google Shape;419;p68"/>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 tool #2: Asana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Asana adalah salah satu alat manajemen kolaborasi proyek terkemuka saat ini. Ini adalah platform all-in-one termasuk email, dokumen kantor, dan komunikasi.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mengatur semua proyek Anda dalam daftar atau papan. Anda dapat membuat tugas secara langsung dan mengundang anggota tim untuk bergabung dengan proyek. Anda dapat mengatur tenggat waktu agar tugas individu berjalan sesuai rencana.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9"/>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425" name="Google Shape;42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27" name="Google Shape;427;p69"/>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 tool #3: monday.com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monday.com adalah Sistem Operasi Kerja (Work OS) yang mendukung tim untuk menjalankan proyek dan alur kerja dengan mandiri.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Ini adalah OS Kerja yang sederhana dan intuitif, memudahkan tim untuk membentuk alur kerja, menyesuaikan dengan perubahan kebutuhan, menciptakan transparansi, terhubung secara kolaboratif.</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id="432" name="Google Shape;432;p70">
            <a:hlinkClick r:id="rId3"/>
          </p:cNvPr>
          <p:cNvPicPr preferRelativeResize="0"/>
          <p:nvPr/>
        </p:nvPicPr>
        <p:blipFill rotWithShape="1">
          <a:blip r:embed="rId4">
            <a:alphaModFix/>
          </a:blip>
          <a:srcRect b="0" l="8826" r="8834" t="0"/>
          <a:stretch/>
        </p:blipFill>
        <p:spPr>
          <a:xfrm>
            <a:off x="4094624" y="1236524"/>
            <a:ext cx="4572001" cy="2743206"/>
          </a:xfrm>
          <a:prstGeom prst="rect">
            <a:avLst/>
          </a:prstGeom>
          <a:noFill/>
          <a:ln>
            <a:noFill/>
          </a:ln>
        </p:spPr>
      </p:pic>
      <p:sp>
        <p:nvSpPr>
          <p:cNvPr id="433" name="Google Shape;433;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35" name="Google Shape;435;p70"/>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tool #1: Trello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Google Documents adalah alat kantor kolaboratif online yang memungkinkan Anda membuat, mengedit, dan berkolaborasi pada dokumen kapan saja, di mana saja - dan gratis.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71">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441" name="Google Shape;441;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43" name="Google Shape;443;p71"/>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tool #2: Quip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Quip juga merupakan alat pemrosesan dokumen untuk kolaborasi tim, memungkinkan banyak orang mengedit dokumen secara bersamaan. Tidak seperti produk lain, Quip mendukung pesan instan, Anda bisa langsung berkomunikasi dengan anggota tim lainnya. Quip memungkinkan pengguna menyelesaikan pekerjaannya lebih cepat dengan mengurangi email dan rapat.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72">
            <a:hlinkClick r:id="rId3"/>
          </p:cNvPr>
          <p:cNvPicPr preferRelativeResize="0"/>
          <p:nvPr/>
        </p:nvPicPr>
        <p:blipFill rotWithShape="1">
          <a:blip r:embed="rId4">
            <a:alphaModFix/>
          </a:blip>
          <a:srcRect b="0" l="18473" r="0" t="0"/>
          <a:stretch/>
        </p:blipFill>
        <p:spPr>
          <a:xfrm>
            <a:off x="4094634" y="1236524"/>
            <a:ext cx="4571991" cy="2743201"/>
          </a:xfrm>
          <a:prstGeom prst="rect">
            <a:avLst/>
          </a:prstGeom>
          <a:noFill/>
          <a:ln>
            <a:noFill/>
          </a:ln>
        </p:spPr>
      </p:pic>
      <p:sp>
        <p:nvSpPr>
          <p:cNvPr id="449" name="Google Shape;449;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451" name="Google Shape;451;p72"/>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tool #3: Dropbox Paper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Dropbox Paper adalah platform kolaborasi dokumen yang sempurna untuk tim desain yang membantu mereka membuat, mengedit, bertukar pikiran, dan meninjau desain, mengelola tugas, dan bahkan menjalankan rapat online dengan media yang kaya (termasuk teks, gambar, dan video, dll.).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Quiz</a:t>
            </a:r>
            <a:endParaRPr/>
          </a:p>
        </p:txBody>
      </p:sp>
      <p:sp>
        <p:nvSpPr>
          <p:cNvPr id="457" name="Google Shape;457;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3" name="Google Shape;463;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Produk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sesuatu yang memiliki awal dan akhir, rencana anggaran, waktu dan sumber daya dan melibatkan tim yang dibangun dengan tujuan.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langkah-langkah yang terlibat dalam membuat produk sebelum benar-benar tersedia ke pasar.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barang, layanan, platform, aplikasi, sistem, dll., yang dibuat, umumnya untuk dijual,</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9" name="Google Shape;469;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Produk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sesuatu yang memiliki awal dan akhir, rencana anggaran, waktu dan sumber daya dan melibatkan tim yang dibangun dengan tujuan.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langkah-langkah yang terlibat dalam membuat produk sebelum benar-benar tersedia ke pasar.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barang, layanan, platform, aplikasi, sistem, dll., yang dibuat, umumnya untuk dijual,</a:t>
            </a:r>
            <a:endParaRPr b="1" sz="1200">
              <a:solidFill>
                <a:schemeClr val="lt1"/>
              </a:solidFill>
              <a:latin typeface="Raleway"/>
              <a:ea typeface="Raleway"/>
              <a:cs typeface="Raleway"/>
              <a:sym typeface="Raleway"/>
            </a:endParaRPr>
          </a:p>
        </p:txBody>
      </p:sp>
      <p:sp>
        <p:nvSpPr>
          <p:cNvPr id="470" name="Google Shape;470;p75"/>
          <p:cNvSpPr/>
          <p:nvPr/>
        </p:nvSpPr>
        <p:spPr>
          <a:xfrm>
            <a:off x="685800" y="32625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Produk adalah barang, layanan, platform, aplikasi, sistem, dll., yang dibuat, umumnya untuk dijual, untuk memenuhi kebutuhan pelanggan dan bisnis. </a:t>
            </a:r>
            <a:endParaRPr b="1" sz="1000">
              <a:solidFill>
                <a:srgbClr val="733572"/>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6" name="Google Shape;476;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bidang utama dalam manajemen proyek,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Communication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Scope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Design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Integration</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2" name="Google Shape;482;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bidang utama dalam manajemen proyek,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Communication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Scope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Design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Integration</a:t>
            </a:r>
            <a:endParaRPr sz="1200">
              <a:solidFill>
                <a:srgbClr val="A667A5"/>
              </a:solidFill>
              <a:latin typeface="Raleway Medium"/>
              <a:ea typeface="Raleway Medium"/>
              <a:cs typeface="Raleway Medium"/>
              <a:sym typeface="Raleway Medium"/>
            </a:endParaRPr>
          </a:p>
        </p:txBody>
      </p:sp>
      <p:sp>
        <p:nvSpPr>
          <p:cNvPr id="483" name="Google Shape;483;p77"/>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Tentu-nya desain bukan salah satu bidang yang perlu seorang project manager kuasai. Para project manager mungkin dapat belajar sedikit tentang proses desain UI/UX tetapi tidak dapat mengerjakan pekerjaan desain tersebut. </a:t>
            </a:r>
            <a:endParaRPr b="1" sz="1000">
              <a:solidFill>
                <a:srgbClr val="733572"/>
              </a:solidFill>
              <a:latin typeface="Raleway"/>
              <a:ea typeface="Raleway"/>
              <a:cs typeface="Raleway"/>
              <a:sym typeface="Ralew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9" name="Google Shape;489;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bidang utama dalam manajemen proyek,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Risk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Human Resource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Tech Stack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Cost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5" name="Google Shape;495;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bidang utama dalam manajemen proyek,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Risk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Human Resource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Tech Stack</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Cost</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96" name="Google Shape;496;p79"/>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Tentu-nya tech stack bukan salah satu bidang yang perlu seorang project manager kuasai, melainkan bidang yang dikuasai oleh ranah developer / engineer.</a:t>
            </a:r>
            <a:endParaRPr b="1" sz="1000">
              <a:solidFill>
                <a:srgbClr val="733572"/>
              </a:solidFill>
              <a:latin typeface="Raleway"/>
              <a:ea typeface="Raleway"/>
              <a:cs typeface="Raleway"/>
              <a:sym typeface="Raleway"/>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02" name="Google Shape;502;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Mengapa tim UI/UX membutuhkan project manager?</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Memberikan solusi pada hambatan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Memandu proses desain dari strategi hingga development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proses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alat kolaborasi, desain dan development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08" name="Google Shape;508;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Mengapa tim UI/UX membutuhkan project manager?</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Memberikan solusi pada hambatan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Memandu proses desain dari strategi hingga development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Menentukan proses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Menentukan alat kolaborasi, desain dan development</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09" name="Google Shape;509;p81"/>
          <p:cNvSpPr/>
          <p:nvPr/>
        </p:nvSpPr>
        <p:spPr>
          <a:xfrm>
            <a:off x="685800" y="3262575"/>
            <a:ext cx="7772400" cy="874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Seorang project manager </a:t>
            </a:r>
            <a:br>
              <a:rPr b="1" lang="en" sz="1000">
                <a:solidFill>
                  <a:srgbClr val="733572"/>
                </a:solidFill>
                <a:latin typeface="Raleway"/>
                <a:ea typeface="Raleway"/>
                <a:cs typeface="Raleway"/>
                <a:sym typeface="Raleway"/>
              </a:rPr>
            </a:br>
            <a:r>
              <a:rPr b="1" lang="en" sz="1000">
                <a:solidFill>
                  <a:srgbClr val="733572"/>
                </a:solidFill>
                <a:latin typeface="Raleway"/>
                <a:ea typeface="Raleway"/>
                <a:cs typeface="Raleway"/>
                <a:sym typeface="Raleway"/>
              </a:rPr>
              <a:t>1. Dapat mengantisipasi hambatan, tetapi solusi adalah sesuatu yang dirembukkan dengan tim.</a:t>
            </a:r>
            <a:br>
              <a:rPr b="1" lang="en" sz="1000">
                <a:solidFill>
                  <a:srgbClr val="733572"/>
                </a:solidFill>
                <a:latin typeface="Raleway"/>
                <a:ea typeface="Raleway"/>
                <a:cs typeface="Raleway"/>
                <a:sym typeface="Raleway"/>
              </a:rPr>
            </a:br>
            <a:r>
              <a:rPr b="1" lang="en" sz="1000">
                <a:solidFill>
                  <a:srgbClr val="733572"/>
                </a:solidFill>
                <a:latin typeface="Raleway"/>
                <a:ea typeface="Raleway"/>
                <a:cs typeface="Raleway"/>
                <a:sym typeface="Raleway"/>
              </a:rPr>
              <a:t>2. Tidak menentukan proses desain, hai ini harus didiskusikan dengan tim desain.</a:t>
            </a:r>
            <a:br>
              <a:rPr b="1" lang="en" sz="1000">
                <a:solidFill>
                  <a:srgbClr val="733572"/>
                </a:solidFill>
                <a:latin typeface="Raleway"/>
                <a:ea typeface="Raleway"/>
                <a:cs typeface="Raleway"/>
                <a:sym typeface="Raleway"/>
              </a:rPr>
            </a:br>
            <a:r>
              <a:rPr b="1" lang="en" sz="1000">
                <a:solidFill>
                  <a:srgbClr val="733572"/>
                </a:solidFill>
                <a:latin typeface="Raleway"/>
                <a:ea typeface="Raleway"/>
                <a:cs typeface="Raleway"/>
                <a:sym typeface="Raleway"/>
              </a:rPr>
              <a:t>3. Tidak menentukan alat desain dan development (semua tergantung dengan tim, klien dan kebiasaan di perusahaan).</a:t>
            </a:r>
            <a:endParaRPr b="1" sz="1000">
              <a:solidFill>
                <a:srgbClr val="733572"/>
              </a:solidFill>
              <a:latin typeface="Raleway"/>
              <a:ea typeface="Raleway"/>
              <a:cs typeface="Raleway"/>
              <a:sym typeface="Raleway"/>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5" name="Google Shape;515;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Slack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Trello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Yammer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Google Hangouts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monday.com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Asana</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1" name="Google Shape;521;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Slack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Trello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Yammer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Google Hangouts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monday.com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Asana</a:t>
            </a:r>
            <a:endParaRPr b="1" sz="1800">
              <a:solidFill>
                <a:srgbClr val="A667A5"/>
              </a:solidFill>
              <a:latin typeface="Raleway"/>
              <a:ea typeface="Raleway"/>
              <a:cs typeface="Raleway"/>
              <a:sym typeface="Raleway"/>
            </a:endParaRPr>
          </a:p>
        </p:txBody>
      </p:sp>
      <p:sp>
        <p:nvSpPr>
          <p:cNvPr id="522" name="Google Shape;522;p83"/>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Communication Tools: Slack, Yammer, Google Hangouts</a:t>
            </a:r>
            <a:endParaRPr b="1" sz="1200">
              <a:solidFill>
                <a:schemeClr val="dk1"/>
              </a:solidFill>
              <a:latin typeface="Raleway"/>
              <a:ea typeface="Raleway"/>
              <a:cs typeface="Raleway"/>
              <a:sym typeface="Raleway"/>
            </a:endParaRPr>
          </a:p>
        </p:txBody>
      </p:sp>
      <p:sp>
        <p:nvSpPr>
          <p:cNvPr id="523" name="Google Shape;523;p83"/>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Collaboration &amp; Tracking Tools: Trello, Asana, monday.com</a:t>
            </a:r>
            <a:endParaRPr b="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9" name="Google Shape;529;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Slack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Quip</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Yammer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Google Hangouts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Dropbox Paper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5" name="Google Shape;535;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Slack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Quip</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Yammer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Google Hangouts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Dropbox Paper</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36" name="Google Shape;536;p85"/>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Collaboration &amp; Tracking Tools: Slack, Yammer, Google Hangouts</a:t>
            </a:r>
            <a:endParaRPr b="1" sz="1200">
              <a:solidFill>
                <a:schemeClr val="dk1"/>
              </a:solidFill>
              <a:latin typeface="Raleway"/>
              <a:ea typeface="Raleway"/>
              <a:cs typeface="Raleway"/>
              <a:sym typeface="Raleway"/>
            </a:endParaRPr>
          </a:p>
        </p:txBody>
      </p:sp>
      <p:sp>
        <p:nvSpPr>
          <p:cNvPr id="537" name="Google Shape;537;p85"/>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Document Sharing Tools: Quip, Dropbox Paper</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3" name="Google Shape;543;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44" name="Google Shape;544;p8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45" name="Google Shape;545;p86"/>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Difference between Project and Product by Geeks for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5"/>
              </a:rPr>
              <a:t>Geeks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6"/>
              </a:rPr>
              <a:t>What’s the Difference between a Project and a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7"/>
              </a:rPr>
              <a:t>Product? By Accenture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8"/>
              </a:rPr>
              <a:t>Project Management For Beginners: How To Manage A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9"/>
              </a:rPr>
              <a:t>Project From Start To Finish by toggl</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10"/>
              </a:rPr>
              <a:t>Project Management Basics: Everything You Need to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11"/>
              </a:rPr>
              <a:t>Know by theblueprint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a:solidFill>
                  <a:schemeClr val="hlink"/>
                </a:solidFill>
                <a:uFill>
                  <a:noFill/>
                </a:uFill>
                <a:latin typeface="Raleway Medium"/>
                <a:ea typeface="Raleway Medium"/>
                <a:cs typeface="Raleway Medium"/>
                <a:sym typeface="Raleway Medium"/>
                <a:hlinkClick r:id="rId12"/>
              </a:rPr>
              <a:t>Why Your UX Team Needs a Project Manager by Blink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49" name="Shape 549"/>
        <p:cNvGrpSpPr/>
        <p:nvPr/>
      </p:nvGrpSpPr>
      <p:grpSpPr>
        <a:xfrm>
          <a:off x="0" y="0"/>
          <a:ext cx="0" cy="0"/>
          <a:chOff x="0" y="0"/>
          <a:chExt cx="0" cy="0"/>
        </a:xfrm>
      </p:grpSpPr>
      <p:sp>
        <p:nvSpPr>
          <p:cNvPr id="550" name="Google Shape;550;p87"/>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51" name="Google Shape;551;p87"/>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52" name="Google Shape;552;p87"/>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53" name="Google Shape;553;p87"/>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54" name="Google Shape;554;p87"/>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555" name="Google Shape;555;p87"/>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556" name="Google Shape;556;p87"/>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557" name="Google Shape;557;p87"/>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