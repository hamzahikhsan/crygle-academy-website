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Raleway"/>
      <p:regular r:id="rId47"/>
      <p:bold r:id="rId48"/>
      <p:italic r:id="rId49"/>
      <p:boldItalic r:id="rId50"/>
    </p:embeddedFont>
    <p:embeddedFont>
      <p:font typeface="Roboto"/>
      <p:regular r:id="rId51"/>
      <p:bold r:id="rId52"/>
      <p:italic r:id="rId53"/>
      <p:boldItalic r:id="rId54"/>
    </p:embeddedFont>
    <p:embeddedFont>
      <p:font typeface="Montserrat"/>
      <p:regular r:id="rId55"/>
      <p:bold r:id="rId56"/>
      <p:italic r:id="rId57"/>
      <p:boldItalic r:id="rId58"/>
    </p:embeddedFont>
    <p:embeddedFont>
      <p:font typeface="Lato Black"/>
      <p:bold r:id="rId59"/>
      <p:boldItalic r:id="rId60"/>
    </p:embeddedFont>
    <p:embeddedFont>
      <p:font typeface="Raleway Medium"/>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bold.fntdata"/><Relationship Id="rId47" Type="http://schemas.openxmlformats.org/officeDocument/2006/relationships/font" Target="fonts/Raleway-regular.fntdata"/><Relationship Id="rId49"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bold.fntdata"/><Relationship Id="rId61" Type="http://schemas.openxmlformats.org/officeDocument/2006/relationships/font" Target="fonts/RalewayMedium-regular.fntdata"/><Relationship Id="rId20" Type="http://schemas.openxmlformats.org/officeDocument/2006/relationships/slide" Target="slides/slide15.xml"/><Relationship Id="rId64" Type="http://schemas.openxmlformats.org/officeDocument/2006/relationships/font" Target="fonts/RalewayMedium-boldItalic.fntdata"/><Relationship Id="rId63" Type="http://schemas.openxmlformats.org/officeDocument/2006/relationships/font" Target="fonts/RalewayMedium-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Black-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font" Target="fonts/Raleway-boldItalic.fntdata"/><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55" Type="http://schemas.openxmlformats.org/officeDocument/2006/relationships/font" Target="fonts/Montserrat-regular.fntdata"/><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57" Type="http://schemas.openxmlformats.org/officeDocument/2006/relationships/font" Target="fonts/Montserrat-italic.fntdata"/><Relationship Id="rId12" Type="http://schemas.openxmlformats.org/officeDocument/2006/relationships/slide" Target="slides/slide7.xml"/><Relationship Id="rId56" Type="http://schemas.openxmlformats.org/officeDocument/2006/relationships/font" Target="fonts/Montserrat-bold.fntdata"/><Relationship Id="rId15" Type="http://schemas.openxmlformats.org/officeDocument/2006/relationships/slide" Target="slides/slide10.xml"/><Relationship Id="rId59" Type="http://schemas.openxmlformats.org/officeDocument/2006/relationships/font" Target="fonts/LatoBlack-bold.fntdata"/><Relationship Id="rId14" Type="http://schemas.openxmlformats.org/officeDocument/2006/relationships/slide" Target="slides/slide9.xml"/><Relationship Id="rId58"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ui-ux?utm_source=unsplash&amp;utm_medium=referral&amp;utm_content=creditCopyText" TargetMode="External"/><Relationship Id="rId5" Type="http://schemas.openxmlformats.org/officeDocument/2006/relationships/hyperlink" Target="https://unsplash.com/s/photos/ui-ux?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ui-ux?utm_source=unsplash&amp;utm_medium=referral&amp;utm_content=creditCopyText" TargetMode="External"/><Relationship Id="rId5" Type="http://schemas.openxmlformats.org/officeDocument/2006/relationships/hyperlink" Target="https://unsplash.com/s/photos/ui-ux?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ui-ux?utm_source=unsplash&amp;utm_medium=referral&amp;utm_content=creditCopyText" TargetMode="External"/><Relationship Id="rId5" Type="http://schemas.openxmlformats.org/officeDocument/2006/relationships/hyperlink" Target="https://unsplash.com/s/photos/ui-ux?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119caa4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1119caa4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 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 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b12bec43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0b12bec43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a:t>
            </a:r>
            <a:r>
              <a:rPr lang="en">
                <a:solidFill>
                  <a:schemeClr val="dk1"/>
                </a:solidFill>
              </a:rPr>
              <a:t> from https://factsanddetails.com/china/cat3/sub14/item97.html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0b12bec43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0b12bec43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http://ergou.simor.ntua.gr/research/ancientGreece/AncientGreece.htm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0b12bec43e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0b12bec43e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https://en.wikipedia.org/wiki/Hippocrates#/media/File:Ancientgreek_surgical.jpg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0b12bec43e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0b12bec43e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https://wcps.info/productivity-pioneers/frederick-winslow-taylor/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b12bec43e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0b12bec43e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https://www.fastcompany.com/40461624/how-toyota-is-putting-humans-first-in-an-era-of-increasing-automation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b12bec43e_0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b12bec43e_0_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https://forum.ih8mud.com/threads/old-toyota-factory.194731/page-2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0e54dbc4a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0e54dbc4a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https://www.designbyccd.com/henry-dreyfuss/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0e54dbc4a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0e54dbc4a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https://uxmag.com/articles/walt-disney-the-worlds-first-ux-designer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0e54dbc4a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0e54dbc4a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https://fortune.com/2019/01/24/apple-mac-35th-birthday/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0e54dbc4a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0e54dbc4a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https://hcipioneers.wordpress.com/portfolio/don-norman/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0e54dbc4a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0e54dbc4a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https://pn.ispirt.in/an-afternoon-with-don-norman/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0b12bec43e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0b12bec43e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0b12bec43e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0b12bec43e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e54dbc4a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0e54dbc4a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https://www.techspot.com/guides/477-xerox-parc-tech-contributions/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e54dbc4a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e54dbc4a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https://encycloblog.com/steve-jobs-and-the-apple/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0e54dbc4a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0e54dbc4a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http://www.freewarepalm.com/hilang-tapi-tidak-terlupakan-palm/</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0e54dbc4a4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0e54dbc4a4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https://www.ebay.com/p/1602154301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0e54dbc4a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0e54dbc4a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https://time.com/3222128/apple-iphone/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0e54dbc4a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0e54dbc4a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https://www.aljazeera.com/economy/2021/11/19/how-much-does-amazon-know-about-you</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0e54dbc4a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0e54dbc4a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0e54dbc4a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0e54dbc4a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 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0e54dbc4a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0e54dbc4a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0e54dbc4a4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0e54dbc4a4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e54dbc4a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e54dbc4a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0e54dbc4a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0e54dbc4a4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e54dbc4a4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e54dbc4a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e54dbc4a4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e54dbc4a4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1119caa4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1119caa4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1119caa45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1119caa45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1119caa4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1119caa4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1119caa45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1119caa45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11cb8961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11cb8961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factsanddetails.com/china/cat3/sub14/item97.html" TargetMode="Externa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ergou.simor.ntua.gr/research/ancientGreece/AncientGreece.htm" TargetMode="Externa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en.wikipedia.org/wiki/Hippocrates#/media/File:Ancientgreek_surgical.jpg" TargetMode="Externa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cps.info/productivity-pioneers/frederick-winslow-taylor/"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fastcompany.com/40461624/how-toyota-is-putting-humans-first-in-an-era-of-increasing-automation" TargetMode="External"/><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forum.ih8mud.com/threads/old-toyota-factory.194731/page-2" TargetMode="Externa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designbyccd.com/henry-dreyfuss/" TargetMode="External"/><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uxmag.com/articles/walt-disney-the-worlds-first-ux-designer" TargetMode="Externa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fortune.com/2019/01/24/apple-mac-35th-birthday/" TargetMode="External"/><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hcipioneers.wordpress.com/portfolio/don-norman/" TargetMode="Externa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pn.ispirt.in/an-afternoon-with-don-norman/" TargetMode="Externa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hcipioneers.wordpress.com/portfolio/don-norman/" TargetMode="Externa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encycloblog.com/steve-jobs-and-the-apple/" TargetMode="External"/><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www.freewarepalm.com/hilang-tapi-tidak-terlupakan-palm/" TargetMode="External"/><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ebay.com/p/1602154301" TargetMode="Externa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time.com/3222128/apple-iphone/" TargetMode="External"/><Relationship Id="rId4" Type="http://schemas.openxmlformats.org/officeDocument/2006/relationships/image" Target="../media/image2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aljazeera.com/economy/2021/11/19/how-much-does-amazon-know-about-you" TargetMode="External"/><Relationship Id="rId4"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image" Target="../media/image2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hyperlink" Target="https://careerfoundry.com/en/blog/ux-design/the-fascinating-history-of-ux-design-a-definitive-timeline/" TargetMode="External"/><Relationship Id="rId5" Type="http://schemas.openxmlformats.org/officeDocument/2006/relationships/hyperlink" Target="https://www.yukti.io/what-is-user-interface-ui-design-what-a-ui-designer-do/" TargetMode="External"/><Relationship Id="rId6" Type="http://schemas.openxmlformats.org/officeDocument/2006/relationships/hyperlink" Target="https://crm.org/articles/the-godfather-of-ux-don-norman-user-centered-design" TargetMode="External"/><Relationship Id="rId7" Type="http://schemas.openxmlformats.org/officeDocument/2006/relationships/hyperlink" Target="https://uxmag.com/articles/walt-disney-the-worlds-first-ux-designer" TargetMode="External"/><Relationship Id="rId8" Type="http://schemas.openxmlformats.org/officeDocument/2006/relationships/hyperlink" Target="https://uxmag.com/articles/walt-disney-the-worlds-first-ux-designer"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4"/>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Sejarah UI dan UX </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1 - Topic 1</a:t>
            </a:r>
            <a:endParaRPr b="1">
              <a:solidFill>
                <a:srgbClr val="FFFFFF"/>
              </a:solidFill>
              <a:latin typeface="Raleway"/>
              <a:ea typeface="Raleway"/>
              <a:cs typeface="Raleway"/>
              <a:sym typeface="Raleway"/>
            </a:endParaRPr>
          </a:p>
        </p:txBody>
      </p:sp>
      <p:cxnSp>
        <p:nvCxnSpPr>
          <p:cNvPr id="75" name="Google Shape;75;p14"/>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76" name="Google Shape;76;p14"/>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83" name="Google Shape;83;p1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4" name="Google Shape;84;p15"/>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Sejarah UI dan UX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Latar belakang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Sejarah User Experience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Sejarah User Interface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Pengertian UI dan UX dari sejarah</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Latar Belakang</a:t>
            </a:r>
            <a:endParaRPr/>
          </a:p>
        </p:txBody>
      </p:sp>
      <p:sp>
        <p:nvSpPr>
          <p:cNvPr id="90" name="Google Shape;90;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 name="Google Shape;96;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Latar belakang</a:t>
            </a:r>
            <a:endParaRPr/>
          </a:p>
        </p:txBody>
      </p:sp>
      <p:sp>
        <p:nvSpPr>
          <p:cNvPr id="97" name="Google Shape;97;p1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Sejarah UI dan UX</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t>
            </a:r>
            <a:r>
              <a:rPr lang="en" sz="1200">
                <a:solidFill>
                  <a:schemeClr val="dk1"/>
                </a:solidFill>
                <a:latin typeface="Raleway Medium"/>
                <a:ea typeface="Raleway Medium"/>
                <a:cs typeface="Raleway Medium"/>
                <a:sym typeface="Raleway Medium"/>
              </a:rPr>
              <a:t>enjelajahi sejarah UI dan UX sangatlah penting untuk memahami bidang - bidang tersebut secara keseluruhan.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Semakin banyak yang kita ketahui tentang asal-usulnya serta faktor-faktor dan kekuatan yang telah membantu membentuknya, semakin siap kita untuk menavigasi masa depan UI dan UX.</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baru mengenal UI dan UX, menjelajahi sejarahnya berfungsi sebagai pengantar yang bagus untuk memulai proses pembelajaran. </a:t>
            </a:r>
            <a:endParaRPr sz="1200">
              <a:solidFill>
                <a:schemeClr val="dk1"/>
              </a:solidFill>
              <a:latin typeface="Raleway Medium"/>
              <a:ea typeface="Raleway Medium"/>
              <a:cs typeface="Raleway Medium"/>
              <a:sym typeface="Raleway Medium"/>
            </a:endParaRPr>
          </a:p>
        </p:txBody>
      </p:sp>
      <p:pic>
        <p:nvPicPr>
          <p:cNvPr id="98" name="Google Shape;98;p17">
            <a:hlinkClick r:id="rId3"/>
          </p:cNvPr>
          <p:cNvPicPr preferRelativeResize="0"/>
          <p:nvPr/>
        </p:nvPicPr>
        <p:blipFill rotWithShape="1">
          <a:blip r:embed="rId4">
            <a:alphaModFix/>
          </a:blip>
          <a:srcRect b="0" l="13854" r="10810"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Latar belakang</a:t>
            </a:r>
            <a:endParaRPr/>
          </a:p>
        </p:txBody>
      </p:sp>
      <p:sp>
        <p:nvSpPr>
          <p:cNvPr id="105" name="Google Shape;105;p1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mendengar terminologi UI/UX design, biasanya kita mengaitkannya dengan desain aplikasi dan situs web. Hal - hal yang modern.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Istilah UX memang diciptakan baru baru ini, pada tahun 1993 oleh psikolog kognitif dan desainer Don Norman saat bekerja di Apple Computers.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Akan tetapi, tahukah Anda bahwa bidang User Interface (UI) dan User Experience (UX) lebih tua dari yang mungkin kita kira?</a:t>
            </a:r>
            <a:endParaRPr sz="1200">
              <a:solidFill>
                <a:schemeClr val="dk1"/>
              </a:solidFill>
              <a:latin typeface="Raleway Medium"/>
              <a:ea typeface="Raleway Medium"/>
              <a:cs typeface="Raleway Medium"/>
              <a:sym typeface="Raleway Medium"/>
            </a:endParaRPr>
          </a:p>
        </p:txBody>
      </p:sp>
      <p:pic>
        <p:nvPicPr>
          <p:cNvPr id="106" name="Google Shape;106;p18">
            <a:hlinkClick r:id="rId3"/>
          </p:cNvPr>
          <p:cNvPicPr preferRelativeResize="0"/>
          <p:nvPr/>
        </p:nvPicPr>
        <p:blipFill rotWithShape="1">
          <a:blip r:embed="rId4">
            <a:alphaModFix/>
          </a:blip>
          <a:srcRect b="0" l="13854" r="10810"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Sejarah User Experience</a:t>
            </a:r>
            <a:endParaRPr/>
          </a:p>
        </p:txBody>
      </p:sp>
      <p:sp>
        <p:nvSpPr>
          <p:cNvPr id="112" name="Google Shape;112;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Linimasa Sejarah User Experience</a:t>
            </a:r>
            <a:endParaRPr/>
          </a:p>
        </p:txBody>
      </p:sp>
      <p:sp>
        <p:nvSpPr>
          <p:cNvPr id="118" name="Google Shape;118;p20"/>
          <p:cNvSpPr/>
          <p:nvPr/>
        </p:nvSpPr>
        <p:spPr>
          <a:xfrm>
            <a:off x="338659"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19" name="Google Shape;119;p20"/>
          <p:cNvSpPr txBox="1"/>
          <p:nvPr/>
        </p:nvSpPr>
        <p:spPr>
          <a:xfrm>
            <a:off x="132602" y="2841375"/>
            <a:ext cx="8907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4000 SM</a:t>
            </a:r>
            <a:endParaRPr b="1" sz="1200">
              <a:solidFill>
                <a:schemeClr val="lt1"/>
              </a:solidFill>
              <a:latin typeface="Roboto"/>
              <a:ea typeface="Roboto"/>
              <a:cs typeface="Roboto"/>
              <a:sym typeface="Roboto"/>
            </a:endParaRPr>
          </a:p>
        </p:txBody>
      </p:sp>
      <p:grpSp>
        <p:nvGrpSpPr>
          <p:cNvPr id="120" name="Google Shape;120;p20"/>
          <p:cNvGrpSpPr/>
          <p:nvPr/>
        </p:nvGrpSpPr>
        <p:grpSpPr>
          <a:xfrm>
            <a:off x="272449" y="2426177"/>
            <a:ext cx="109751" cy="411825"/>
            <a:chOff x="779149" y="2563700"/>
            <a:chExt cx="195600" cy="411825"/>
          </a:xfrm>
        </p:grpSpPr>
        <p:cxnSp>
          <p:nvCxnSpPr>
            <p:cNvPr id="121" name="Google Shape;121;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22" name="Google Shape;122;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20"/>
          <p:cNvSpPr/>
          <p:nvPr/>
        </p:nvSpPr>
        <p:spPr>
          <a:xfrm>
            <a:off x="1427117"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txBox="1"/>
          <p:nvPr/>
        </p:nvSpPr>
        <p:spPr>
          <a:xfrm>
            <a:off x="1215904" y="2328722"/>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500 SM</a:t>
            </a:r>
            <a:endParaRPr b="1" sz="1200">
              <a:solidFill>
                <a:schemeClr val="lt1"/>
              </a:solidFill>
              <a:latin typeface="Roboto"/>
              <a:ea typeface="Roboto"/>
              <a:cs typeface="Roboto"/>
              <a:sym typeface="Roboto"/>
            </a:endParaRPr>
          </a:p>
        </p:txBody>
      </p:sp>
      <p:sp>
        <p:nvSpPr>
          <p:cNvPr id="125" name="Google Shape;125;p20"/>
          <p:cNvSpPr txBox="1"/>
          <p:nvPr/>
        </p:nvSpPr>
        <p:spPr>
          <a:xfrm>
            <a:off x="201652" y="1892150"/>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4000 SM: Feng Shui &amp; Tiongkok Kuno</a:t>
            </a:r>
            <a:endParaRPr b="1" sz="1000">
              <a:solidFill>
                <a:schemeClr val="lt1"/>
              </a:solidFill>
              <a:latin typeface="Roboto"/>
              <a:ea typeface="Roboto"/>
              <a:cs typeface="Roboto"/>
              <a:sym typeface="Roboto"/>
            </a:endParaRPr>
          </a:p>
        </p:txBody>
      </p:sp>
      <p:sp>
        <p:nvSpPr>
          <p:cNvPr id="126" name="Google Shape;126;p20"/>
          <p:cNvSpPr/>
          <p:nvPr/>
        </p:nvSpPr>
        <p:spPr>
          <a:xfrm>
            <a:off x="2516338"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27" name="Google Shape;127;p20"/>
          <p:cNvSpPr txBox="1"/>
          <p:nvPr/>
        </p:nvSpPr>
        <p:spPr>
          <a:xfrm>
            <a:off x="2271344" y="2841375"/>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1900an</a:t>
            </a:r>
            <a:endParaRPr b="1" sz="1200">
              <a:solidFill>
                <a:schemeClr val="lt1"/>
              </a:solidFill>
              <a:latin typeface="Roboto"/>
              <a:ea typeface="Roboto"/>
              <a:cs typeface="Roboto"/>
              <a:sym typeface="Roboto"/>
            </a:endParaRPr>
          </a:p>
        </p:txBody>
      </p:sp>
      <p:sp>
        <p:nvSpPr>
          <p:cNvPr id="128" name="Google Shape;128;p20"/>
          <p:cNvSpPr/>
          <p:nvPr/>
        </p:nvSpPr>
        <p:spPr>
          <a:xfrm>
            <a:off x="3604796"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txBox="1"/>
          <p:nvPr/>
        </p:nvSpPr>
        <p:spPr>
          <a:xfrm>
            <a:off x="3393583" y="2328722"/>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1940an</a:t>
            </a:r>
            <a:endParaRPr b="1" sz="1200">
              <a:solidFill>
                <a:schemeClr val="lt1"/>
              </a:solidFill>
              <a:latin typeface="Roboto"/>
              <a:ea typeface="Roboto"/>
              <a:cs typeface="Roboto"/>
              <a:sym typeface="Roboto"/>
            </a:endParaRPr>
          </a:p>
        </p:txBody>
      </p:sp>
      <p:sp>
        <p:nvSpPr>
          <p:cNvPr id="130" name="Google Shape;130;p20"/>
          <p:cNvSpPr/>
          <p:nvPr/>
        </p:nvSpPr>
        <p:spPr>
          <a:xfrm>
            <a:off x="4736720"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31" name="Google Shape;131;p20"/>
          <p:cNvSpPr txBox="1"/>
          <p:nvPr/>
        </p:nvSpPr>
        <p:spPr>
          <a:xfrm>
            <a:off x="4491748" y="2841375"/>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1955</a:t>
            </a:r>
            <a:endParaRPr b="1" sz="1200">
              <a:solidFill>
                <a:schemeClr val="lt1"/>
              </a:solidFill>
              <a:latin typeface="Roboto"/>
              <a:ea typeface="Roboto"/>
              <a:cs typeface="Roboto"/>
              <a:sym typeface="Roboto"/>
            </a:endParaRPr>
          </a:p>
        </p:txBody>
      </p:sp>
      <p:sp>
        <p:nvSpPr>
          <p:cNvPr id="132" name="Google Shape;132;p20"/>
          <p:cNvSpPr/>
          <p:nvPr/>
        </p:nvSpPr>
        <p:spPr>
          <a:xfrm>
            <a:off x="5825178"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txBox="1"/>
          <p:nvPr/>
        </p:nvSpPr>
        <p:spPr>
          <a:xfrm>
            <a:off x="5613965" y="2328722"/>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1966</a:t>
            </a:r>
            <a:endParaRPr b="1" sz="1200">
              <a:solidFill>
                <a:schemeClr val="lt1"/>
              </a:solidFill>
              <a:latin typeface="Roboto"/>
              <a:ea typeface="Roboto"/>
              <a:cs typeface="Roboto"/>
              <a:sym typeface="Roboto"/>
            </a:endParaRPr>
          </a:p>
        </p:txBody>
      </p:sp>
      <p:sp>
        <p:nvSpPr>
          <p:cNvPr id="134" name="Google Shape;134;p20"/>
          <p:cNvSpPr/>
          <p:nvPr/>
        </p:nvSpPr>
        <p:spPr>
          <a:xfrm>
            <a:off x="6914399"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35" name="Google Shape;135;p20"/>
          <p:cNvSpPr txBox="1"/>
          <p:nvPr/>
        </p:nvSpPr>
        <p:spPr>
          <a:xfrm>
            <a:off x="6669423" y="2841375"/>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1970an</a:t>
            </a:r>
            <a:endParaRPr b="1" sz="1200">
              <a:solidFill>
                <a:schemeClr val="lt1"/>
              </a:solidFill>
              <a:latin typeface="Roboto"/>
              <a:ea typeface="Roboto"/>
              <a:cs typeface="Roboto"/>
              <a:sym typeface="Roboto"/>
            </a:endParaRPr>
          </a:p>
        </p:txBody>
      </p:sp>
      <p:sp>
        <p:nvSpPr>
          <p:cNvPr id="136" name="Google Shape;136;p20"/>
          <p:cNvSpPr/>
          <p:nvPr/>
        </p:nvSpPr>
        <p:spPr>
          <a:xfrm>
            <a:off x="8002857"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txBox="1"/>
          <p:nvPr/>
        </p:nvSpPr>
        <p:spPr>
          <a:xfrm>
            <a:off x="7791647" y="2328725"/>
            <a:ext cx="6006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1995</a:t>
            </a:r>
            <a:endParaRPr b="1" sz="1200">
              <a:solidFill>
                <a:schemeClr val="lt1"/>
              </a:solidFill>
              <a:latin typeface="Roboto"/>
              <a:ea typeface="Roboto"/>
              <a:cs typeface="Roboto"/>
              <a:sym typeface="Roboto"/>
            </a:endParaRPr>
          </a:p>
        </p:txBody>
      </p:sp>
      <p:grpSp>
        <p:nvGrpSpPr>
          <p:cNvPr id="138" name="Google Shape;138;p20"/>
          <p:cNvGrpSpPr/>
          <p:nvPr/>
        </p:nvGrpSpPr>
        <p:grpSpPr>
          <a:xfrm>
            <a:off x="2454124" y="2426177"/>
            <a:ext cx="109751" cy="411825"/>
            <a:chOff x="779149" y="2563700"/>
            <a:chExt cx="195600" cy="411825"/>
          </a:xfrm>
        </p:grpSpPr>
        <p:cxnSp>
          <p:nvCxnSpPr>
            <p:cNvPr id="139" name="Google Shape;139;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40" name="Google Shape;140;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20"/>
          <p:cNvGrpSpPr/>
          <p:nvPr/>
        </p:nvGrpSpPr>
        <p:grpSpPr>
          <a:xfrm>
            <a:off x="4675388" y="2426177"/>
            <a:ext cx="109751" cy="411825"/>
            <a:chOff x="779149" y="2563700"/>
            <a:chExt cx="195600" cy="411825"/>
          </a:xfrm>
        </p:grpSpPr>
        <p:cxnSp>
          <p:nvCxnSpPr>
            <p:cNvPr id="142" name="Google Shape;142;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43" name="Google Shape;143;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20"/>
          <p:cNvGrpSpPr/>
          <p:nvPr/>
        </p:nvGrpSpPr>
        <p:grpSpPr>
          <a:xfrm>
            <a:off x="6842775" y="2426177"/>
            <a:ext cx="109751" cy="411825"/>
            <a:chOff x="779149" y="2563700"/>
            <a:chExt cx="195600" cy="411825"/>
          </a:xfrm>
        </p:grpSpPr>
        <p:cxnSp>
          <p:nvCxnSpPr>
            <p:cNvPr id="145" name="Google Shape;145;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46" name="Google Shape;146;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 name="Google Shape;147;p20"/>
          <p:cNvGrpSpPr/>
          <p:nvPr/>
        </p:nvGrpSpPr>
        <p:grpSpPr>
          <a:xfrm flipH="1" rot="10800000">
            <a:off x="1363161" y="2800952"/>
            <a:ext cx="109751" cy="411825"/>
            <a:chOff x="779149" y="2563700"/>
            <a:chExt cx="195600" cy="411825"/>
          </a:xfrm>
        </p:grpSpPr>
        <p:cxnSp>
          <p:nvCxnSpPr>
            <p:cNvPr id="148" name="Google Shape;148;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49" name="Google Shape;149;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20"/>
          <p:cNvGrpSpPr/>
          <p:nvPr/>
        </p:nvGrpSpPr>
        <p:grpSpPr>
          <a:xfrm flipH="1" rot="10800000">
            <a:off x="3544836" y="2800952"/>
            <a:ext cx="109751" cy="411825"/>
            <a:chOff x="779149" y="2563700"/>
            <a:chExt cx="195600" cy="411825"/>
          </a:xfrm>
        </p:grpSpPr>
        <p:cxnSp>
          <p:nvCxnSpPr>
            <p:cNvPr id="151" name="Google Shape;151;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52" name="Google Shape;152;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20"/>
          <p:cNvGrpSpPr/>
          <p:nvPr/>
        </p:nvGrpSpPr>
        <p:grpSpPr>
          <a:xfrm flipH="1" rot="10800000">
            <a:off x="5766101" y="2800952"/>
            <a:ext cx="109751" cy="411825"/>
            <a:chOff x="779149" y="2563700"/>
            <a:chExt cx="195600" cy="411825"/>
          </a:xfrm>
        </p:grpSpPr>
        <p:cxnSp>
          <p:nvCxnSpPr>
            <p:cNvPr id="154" name="Google Shape;154;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55" name="Google Shape;155;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20"/>
          <p:cNvGrpSpPr/>
          <p:nvPr/>
        </p:nvGrpSpPr>
        <p:grpSpPr>
          <a:xfrm flipH="1" rot="10800000">
            <a:off x="7933488" y="2800952"/>
            <a:ext cx="109751" cy="411825"/>
            <a:chOff x="779149" y="2563700"/>
            <a:chExt cx="195600" cy="411825"/>
          </a:xfrm>
        </p:grpSpPr>
        <p:cxnSp>
          <p:nvCxnSpPr>
            <p:cNvPr id="157" name="Google Shape;157;p20"/>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158" name="Google Shape;158;p20"/>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20"/>
          <p:cNvSpPr txBox="1"/>
          <p:nvPr/>
        </p:nvSpPr>
        <p:spPr>
          <a:xfrm>
            <a:off x="1266685" y="3302482"/>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Ergonomi dan Yunani Kuno</a:t>
            </a:r>
            <a:endParaRPr b="1" sz="1000">
              <a:solidFill>
                <a:schemeClr val="lt1"/>
              </a:solidFill>
              <a:latin typeface="Roboto"/>
              <a:ea typeface="Roboto"/>
              <a:cs typeface="Roboto"/>
              <a:sym typeface="Roboto"/>
            </a:endParaRPr>
          </a:p>
        </p:txBody>
      </p:sp>
      <p:sp>
        <p:nvSpPr>
          <p:cNvPr id="160" name="Google Shape;160;p20"/>
          <p:cNvSpPr txBox="1"/>
          <p:nvPr/>
        </p:nvSpPr>
        <p:spPr>
          <a:xfrm>
            <a:off x="2370931" y="1815957"/>
            <a:ext cx="1132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Frederick Winslow Taylor dan efisiensi tempat kerja</a:t>
            </a:r>
            <a:endParaRPr b="1" sz="1000">
              <a:solidFill>
                <a:schemeClr val="lt1"/>
              </a:solidFill>
              <a:latin typeface="Roboto"/>
              <a:ea typeface="Roboto"/>
              <a:cs typeface="Roboto"/>
              <a:sym typeface="Roboto"/>
            </a:endParaRPr>
          </a:p>
        </p:txBody>
      </p:sp>
      <p:sp>
        <p:nvSpPr>
          <p:cNvPr id="161" name="Google Shape;161;p20"/>
          <p:cNvSpPr txBox="1"/>
          <p:nvPr/>
        </p:nvSpPr>
        <p:spPr>
          <a:xfrm>
            <a:off x="3449492" y="3302482"/>
            <a:ext cx="1132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Toyota dan nilai dari masukan para pengguna</a:t>
            </a:r>
            <a:endParaRPr b="1" sz="800">
              <a:solidFill>
                <a:schemeClr val="lt1"/>
              </a:solidFill>
              <a:latin typeface="Roboto"/>
              <a:ea typeface="Roboto"/>
              <a:cs typeface="Roboto"/>
              <a:sym typeface="Roboto"/>
            </a:endParaRPr>
          </a:p>
        </p:txBody>
      </p:sp>
      <p:sp>
        <p:nvSpPr>
          <p:cNvPr id="162" name="Google Shape;162;p20"/>
          <p:cNvSpPr txBox="1"/>
          <p:nvPr/>
        </p:nvSpPr>
        <p:spPr>
          <a:xfrm>
            <a:off x="4568152" y="1815950"/>
            <a:ext cx="1132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Henry Dreyfuss dan seni mendesain untuk manusia</a:t>
            </a:r>
            <a:endParaRPr b="1" sz="1000">
              <a:solidFill>
                <a:schemeClr val="lt1"/>
              </a:solidFill>
              <a:latin typeface="Roboto"/>
              <a:ea typeface="Roboto"/>
              <a:cs typeface="Roboto"/>
              <a:sym typeface="Roboto"/>
            </a:endParaRPr>
          </a:p>
        </p:txBody>
      </p:sp>
      <p:sp>
        <p:nvSpPr>
          <p:cNvPr id="163" name="Google Shape;163;p20"/>
          <p:cNvSpPr txBox="1"/>
          <p:nvPr/>
        </p:nvSpPr>
        <p:spPr>
          <a:xfrm>
            <a:off x="6765381" y="1892157"/>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Xerox, Apple dan  era PC</a:t>
            </a:r>
            <a:endParaRPr b="1" sz="1000">
              <a:solidFill>
                <a:schemeClr val="lt1"/>
              </a:solidFill>
              <a:latin typeface="Roboto"/>
              <a:ea typeface="Roboto"/>
              <a:cs typeface="Roboto"/>
              <a:sym typeface="Roboto"/>
            </a:endParaRPr>
          </a:p>
        </p:txBody>
      </p:sp>
      <p:sp>
        <p:nvSpPr>
          <p:cNvPr id="164" name="Google Shape;164;p20"/>
          <p:cNvSpPr txBox="1"/>
          <p:nvPr/>
        </p:nvSpPr>
        <p:spPr>
          <a:xfrm>
            <a:off x="5632335" y="3302482"/>
            <a:ext cx="1132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Walt Disney — </a:t>
            </a:r>
            <a:br>
              <a:rPr b="1" lang="en" sz="800">
                <a:solidFill>
                  <a:schemeClr val="lt1"/>
                </a:solidFill>
                <a:latin typeface="Roboto"/>
                <a:ea typeface="Roboto"/>
                <a:cs typeface="Roboto"/>
                <a:sym typeface="Roboto"/>
              </a:rPr>
            </a:br>
            <a:r>
              <a:rPr b="1" lang="en" sz="800">
                <a:solidFill>
                  <a:schemeClr val="lt1"/>
                </a:solidFill>
                <a:latin typeface="Roboto"/>
                <a:ea typeface="Roboto"/>
                <a:cs typeface="Roboto"/>
                <a:sym typeface="Roboto"/>
              </a:rPr>
              <a:t>UX Designer</a:t>
            </a:r>
            <a:r>
              <a:rPr b="1" lang="en" sz="800">
                <a:solidFill>
                  <a:schemeClr val="lt1"/>
                </a:solidFill>
                <a:latin typeface="Roboto"/>
                <a:ea typeface="Roboto"/>
                <a:cs typeface="Roboto"/>
                <a:sym typeface="Roboto"/>
              </a:rPr>
              <a:t> pertama?</a:t>
            </a:r>
            <a:endParaRPr b="1" sz="1000">
              <a:solidFill>
                <a:schemeClr val="lt1"/>
              </a:solidFill>
              <a:latin typeface="Roboto"/>
              <a:ea typeface="Roboto"/>
              <a:cs typeface="Roboto"/>
              <a:sym typeface="Roboto"/>
            </a:endParaRPr>
          </a:p>
        </p:txBody>
      </p:sp>
      <p:sp>
        <p:nvSpPr>
          <p:cNvPr id="165" name="Google Shape;165;p20"/>
          <p:cNvSpPr txBox="1"/>
          <p:nvPr/>
        </p:nvSpPr>
        <p:spPr>
          <a:xfrm>
            <a:off x="7815142" y="3313595"/>
            <a:ext cx="1132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Donald Norman menjadikan UX design sebuah istilah</a:t>
            </a:r>
            <a:endParaRPr b="1" sz="800">
              <a:solidFill>
                <a:schemeClr val="lt1"/>
              </a:solidFill>
              <a:latin typeface="Roboto"/>
              <a:ea typeface="Roboto"/>
              <a:cs typeface="Roboto"/>
              <a:sym typeface="Roboto"/>
            </a:endParaRPr>
          </a:p>
        </p:txBody>
      </p:sp>
      <p:sp>
        <p:nvSpPr>
          <p:cNvPr id="166" name="Google Shape;166;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2" name="Google Shape;172;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a:t>
            </a:r>
            <a:r>
              <a:rPr lang="en"/>
              <a:t>U</a:t>
            </a:r>
            <a:r>
              <a:rPr lang="en"/>
              <a:t>ser Experience</a:t>
            </a:r>
            <a:endParaRPr/>
          </a:p>
        </p:txBody>
      </p:sp>
      <p:sp>
        <p:nvSpPr>
          <p:cNvPr id="173" name="Google Shape;173;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4000 SM: Feng Shui &amp; </a:t>
            </a:r>
            <a:r>
              <a:rPr b="1" lang="en" sz="1800">
                <a:solidFill>
                  <a:srgbClr val="743673"/>
                </a:solidFill>
                <a:highlight>
                  <a:schemeClr val="lt1"/>
                </a:highlight>
                <a:latin typeface="Raleway"/>
                <a:ea typeface="Raleway"/>
                <a:cs typeface="Raleway"/>
                <a:sym typeface="Raleway"/>
              </a:rPr>
              <a:t>Tiongkok </a:t>
            </a:r>
            <a:r>
              <a:rPr b="1" lang="en" sz="1800">
                <a:solidFill>
                  <a:srgbClr val="743673"/>
                </a:solidFill>
                <a:highlight>
                  <a:schemeClr val="lt1"/>
                </a:highlight>
                <a:latin typeface="Raleway"/>
                <a:ea typeface="Raleway"/>
                <a:cs typeface="Raleway"/>
                <a:sym typeface="Raleway"/>
              </a:rPr>
              <a:t>Kuno</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Prinsip paling dasar dari UX dapat ditelusuri sejauh 4000 SM dengan filosofi Feng Shui. Feng Shui mengacu pada pengaturan spasial objek berdasarkan aliran energi. Dalam praktiknya, Feng Shui mengatur lingkungan dengan cara yang paling optimal, harmonis, dan ramah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adalah seorang desainer interior yang mengatur furnitur sedemikian rupa untuk memudahkan penghuni ruangan, seorang desainer UX akan menerapkan prinsip serupa untuk membuat aplikasi atau situs web. Tujuan akhirnya sama: menciptakan pengalaman ramah pengguna yang intuitif.</a:t>
            </a:r>
            <a:endParaRPr sz="1200">
              <a:solidFill>
                <a:schemeClr val="dk1"/>
              </a:solidFill>
              <a:latin typeface="Raleway Medium"/>
              <a:ea typeface="Raleway Medium"/>
              <a:cs typeface="Raleway Medium"/>
              <a:sym typeface="Raleway Medium"/>
            </a:endParaRPr>
          </a:p>
        </p:txBody>
      </p:sp>
      <p:pic>
        <p:nvPicPr>
          <p:cNvPr id="174" name="Google Shape;174;p21">
            <a:hlinkClick r:id="rId3"/>
          </p:cNvPr>
          <p:cNvPicPr preferRelativeResize="0"/>
          <p:nvPr/>
        </p:nvPicPr>
        <p:blipFill rotWithShape="1">
          <a:blip r:embed="rId4">
            <a:alphaModFix/>
          </a:blip>
          <a:srcRect b="0" l="0" r="0" t="0"/>
          <a:stretch/>
        </p:blipFill>
        <p:spPr>
          <a:xfrm>
            <a:off x="5486400" y="1188720"/>
            <a:ext cx="3017520" cy="23774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0" name="Google Shape;180;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181" name="Google Shape;181;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500</a:t>
            </a:r>
            <a:r>
              <a:rPr b="1" lang="en" sz="1800">
                <a:solidFill>
                  <a:srgbClr val="743673"/>
                </a:solidFill>
                <a:highlight>
                  <a:schemeClr val="lt1"/>
                </a:highlight>
                <a:latin typeface="Raleway"/>
                <a:ea typeface="Raleway"/>
                <a:cs typeface="Raleway"/>
                <a:sym typeface="Raleway"/>
              </a:rPr>
              <a:t> SM: Ergonomi &amp; Yunani Kuno</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Asal muasal UX juga dapat ditemukan pada Yunani Kuno. Pada abad ke-5 SM, peradaban Yunani merancang alat dan tempat kerja mereka berdasarkan prinsip ergonomis.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Ergonomi adalah disiplin ilmu yang mempertimbangkan bagaimana manusia berinteraksi dengan elemen lain dari suatu sistem.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Bagaimana ergonomi terkait dengan UX? Nah, salah satu indikasi terkuat bahwa orang Yunani Kuno sangat menyadari prinsip ergonomis adalah teks yang ditulis oleh Hippocrates.</a:t>
            </a:r>
            <a:endParaRPr sz="1200">
              <a:solidFill>
                <a:schemeClr val="dk1"/>
              </a:solidFill>
              <a:latin typeface="Raleway Medium"/>
              <a:ea typeface="Raleway Medium"/>
              <a:cs typeface="Raleway Medium"/>
              <a:sym typeface="Raleway Medium"/>
            </a:endParaRPr>
          </a:p>
        </p:txBody>
      </p:sp>
      <p:pic>
        <p:nvPicPr>
          <p:cNvPr id="182" name="Google Shape;182;p22">
            <a:hlinkClick r:id="rId3"/>
          </p:cNvPr>
          <p:cNvPicPr preferRelativeResize="0"/>
          <p:nvPr/>
        </p:nvPicPr>
        <p:blipFill rotWithShape="1">
          <a:blip r:embed="rId4">
            <a:alphaModFix/>
          </a:blip>
          <a:srcRect b="-650" l="0" r="0" t="650"/>
          <a:stretch/>
        </p:blipFill>
        <p:spPr>
          <a:xfrm>
            <a:off x="5486400" y="1280160"/>
            <a:ext cx="3017520"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189" name="Google Shape;189;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Hippocrates menjelaskan bagaimana tempat ahli bedah harus diatur. Beliau menyarankan bahwa alat ahli bedah “harus diposisikan sedemikian rupa agar tidak menghalangi ahli bedah, dan juga mudah dijangkau bila diperlukan.”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Sangatlah mirip dengan prinsip UX (salah satunya</a:t>
            </a:r>
            <a:r>
              <a:rPr i="1" lang="en" sz="1200">
                <a:solidFill>
                  <a:schemeClr val="dk1"/>
                </a:solidFill>
                <a:latin typeface="Raleway Medium"/>
                <a:ea typeface="Raleway Medium"/>
                <a:cs typeface="Raleway Medium"/>
                <a:sym typeface="Raleway Medium"/>
              </a:rPr>
              <a:t> Fitt’s law</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190" name="Google Shape;190;p23">
            <a:hlinkClick r:id="rId3"/>
          </p:cNvPr>
          <p:cNvPicPr preferRelativeResize="0"/>
          <p:nvPr/>
        </p:nvPicPr>
        <p:blipFill rotWithShape="1">
          <a:blip r:embed="rId4">
            <a:alphaModFix/>
          </a:blip>
          <a:srcRect b="3314" l="0" r="0" t="3323"/>
          <a:stretch/>
        </p:blipFill>
        <p:spPr>
          <a:xfrm>
            <a:off x="5486400" y="1188720"/>
            <a:ext cx="3017520" cy="23774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197" name="Google Shape;197;p2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Awal 1900-an: Frederick Winslow Taylor dan efisiensi tempat kerja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Frederick Winslow Taylor, seorang insinyur mesin dan pelopor Taylorisme, mempunyai misi untuk membuat tenaga kerja manusia lebih efisien.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tahun 1911, Taylor menulis ‘The Principles of Scientific Management’ yang menjelaskan penelitian ekstensif interaksi antara pekerja dan alat mereka.</a:t>
            </a:r>
            <a:endParaRPr sz="1200">
              <a:solidFill>
                <a:schemeClr val="dk1"/>
              </a:solidFill>
              <a:latin typeface="Raleway Medium"/>
              <a:ea typeface="Raleway Medium"/>
              <a:cs typeface="Raleway Medium"/>
              <a:sym typeface="Raleway Medium"/>
            </a:endParaRPr>
          </a:p>
        </p:txBody>
      </p:sp>
      <p:pic>
        <p:nvPicPr>
          <p:cNvPr id="198" name="Google Shape;198;p24">
            <a:hlinkClick r:id="rId3"/>
          </p:cNvPr>
          <p:cNvPicPr preferRelativeResize="0"/>
          <p:nvPr/>
        </p:nvPicPr>
        <p:blipFill rotWithShape="1">
          <a:blip r:embed="rId4">
            <a:alphaModFix/>
          </a:blip>
          <a:srcRect b="11645" l="0" r="0" t="0"/>
          <a:stretch/>
        </p:blipFill>
        <p:spPr>
          <a:xfrm>
            <a:off x="5486400" y="1188720"/>
            <a:ext cx="3017520" cy="274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05" name="Google Shape;205;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1940-an: Toyota dan nilai dari masukan para pengguna</a:t>
            </a:r>
            <a:endParaRPr b="1" sz="1800">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rPr lang="en" sz="1200">
                <a:solidFill>
                  <a:schemeClr val="dk1"/>
                </a:solidFill>
                <a:latin typeface="Raleway Medium"/>
                <a:ea typeface="Raleway Medium"/>
                <a:cs typeface="Raleway Medium"/>
                <a:sym typeface="Raleway Medium"/>
              </a:rPr>
              <a:t>Pada tahun 1940-an, Toyota dalam upaya efisiensi tempat kerja, mengembangkan sistem produksi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Sistem produksi Toyota didasarkan pada beberapa hal: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Rasa hormat terhadap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Perhatian yang diberikan untuk menciptakan lingkungan kerja yang optimal.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Dorongan aktif dan menganggap penting masukan dari manusia.</a:t>
            </a:r>
            <a:endParaRPr sz="1200">
              <a:solidFill>
                <a:schemeClr val="dk1"/>
              </a:solidFill>
              <a:latin typeface="Raleway Medium"/>
              <a:ea typeface="Raleway Medium"/>
              <a:cs typeface="Raleway Medium"/>
              <a:sym typeface="Raleway Medium"/>
            </a:endParaRPr>
          </a:p>
        </p:txBody>
      </p:sp>
      <p:pic>
        <p:nvPicPr>
          <p:cNvPr id="206" name="Google Shape;206;p25">
            <a:hlinkClick r:id="rId3"/>
          </p:cNvPr>
          <p:cNvPicPr preferRelativeResize="0"/>
          <p:nvPr/>
        </p:nvPicPr>
        <p:blipFill rotWithShape="1">
          <a:blip r:embed="rId4">
            <a:alphaModFix/>
          </a:blip>
          <a:srcRect b="0" l="37304" r="6106" t="0"/>
          <a:stretch/>
        </p:blipFill>
        <p:spPr>
          <a:xfrm>
            <a:off x="5574000" y="1188720"/>
            <a:ext cx="3017520"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13" name="Google Shape;213;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Pekerja pabrik Toyota dapat menghentikan jalur perakitan jika mereka memiliki masukan atau saran untuk meningkatkan proses, sama seperti yang dilakukan desainer UX saat melakukan pengujian kegunaan.</a:t>
            </a:r>
            <a:endParaRPr sz="1200">
              <a:solidFill>
                <a:schemeClr val="dk1"/>
              </a:solidFill>
              <a:latin typeface="Raleway Medium"/>
              <a:ea typeface="Raleway Medium"/>
              <a:cs typeface="Raleway Medium"/>
              <a:sym typeface="Raleway Medium"/>
            </a:endParaRPr>
          </a:p>
        </p:txBody>
      </p:sp>
      <p:pic>
        <p:nvPicPr>
          <p:cNvPr id="214" name="Google Shape;214;p26">
            <a:hlinkClick r:id="rId3"/>
          </p:cNvPr>
          <p:cNvPicPr preferRelativeResize="0"/>
          <p:nvPr/>
        </p:nvPicPr>
        <p:blipFill rotWithShape="1">
          <a:blip r:embed="rId4">
            <a:alphaModFix/>
          </a:blip>
          <a:srcRect b="0" l="19159" r="0" t="0"/>
          <a:stretch/>
        </p:blipFill>
        <p:spPr>
          <a:xfrm>
            <a:off x="5574000" y="1188720"/>
            <a:ext cx="3017520"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21" name="Google Shape;221;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1955: Henry Dreyfuss dan seni mendesain untuk manusia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Tokoh penting lainnya dalam sejarah desain UX adalah Henry Dreyfuss, seorang insinyur industri Amerika yang terkenal karena merancang dan meningkatkan kegunaan produk produk ikonik — termasuk penyedot debu Hoover dan telepon meja.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tahun 1955, Dreyfuss menulis buku 'Designing for People.’ Dreyfuss menjelaskan desain UX secara singkat: “Ketika titik kontak antara produk dan orang-orang menjadi titik gesekan, maka [desainer] telah gagal.” </a:t>
            </a:r>
            <a:endParaRPr sz="1200">
              <a:solidFill>
                <a:schemeClr val="dk1"/>
              </a:solidFill>
              <a:latin typeface="Raleway Medium"/>
              <a:ea typeface="Raleway Medium"/>
              <a:cs typeface="Raleway Medium"/>
              <a:sym typeface="Raleway Medium"/>
            </a:endParaRPr>
          </a:p>
        </p:txBody>
      </p:sp>
      <p:pic>
        <p:nvPicPr>
          <p:cNvPr id="222" name="Google Shape;222;p27">
            <a:hlinkClick r:id="rId3"/>
          </p:cNvPr>
          <p:cNvPicPr preferRelativeResize="0"/>
          <p:nvPr/>
        </p:nvPicPr>
        <p:blipFill rotWithShape="1">
          <a:blip r:embed="rId4">
            <a:alphaModFix/>
          </a:blip>
          <a:srcRect b="9600" l="0" r="0" t="-509"/>
          <a:stretch/>
        </p:blipFill>
        <p:spPr>
          <a:xfrm>
            <a:off x="5574000" y="1188720"/>
            <a:ext cx="3017520"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29" name="Google Shape;229;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1966: Walt Disney — UX designer pertama?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Walt Disney sering dipuji sebagai salah satu desainer UX pertama dalam sejarah. Disney dianggap terobsesi menciptakan pengalaman pengguna yang ajaib, imersif, dan nyaris sempurna, dan cara dia membangun Disney World adalah UX yang jenius.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Prinsip panduan Walt Disney untuk tim insinyurnya yang beliau sebut 'imagineers' adalah tentang mengenal audiens Anda, mengenakan sepatu tamu Anda, berkomunikasi dengan warna, bentuk, tekstur, dan sebagainya.</a:t>
            </a:r>
            <a:endParaRPr b="1" sz="1800">
              <a:solidFill>
                <a:srgbClr val="743673"/>
              </a:solidFill>
              <a:highlight>
                <a:schemeClr val="lt1"/>
              </a:highlight>
              <a:latin typeface="Raleway"/>
              <a:ea typeface="Raleway"/>
              <a:cs typeface="Raleway"/>
              <a:sym typeface="Raleway"/>
            </a:endParaRPr>
          </a:p>
        </p:txBody>
      </p:sp>
      <p:pic>
        <p:nvPicPr>
          <p:cNvPr id="230" name="Google Shape;230;p28">
            <a:hlinkClick r:id="rId3"/>
          </p:cNvPr>
          <p:cNvPicPr preferRelativeResize="0"/>
          <p:nvPr/>
        </p:nvPicPr>
        <p:blipFill rotWithShape="1">
          <a:blip r:embed="rId4">
            <a:alphaModFix/>
          </a:blip>
          <a:srcRect b="0" l="4440" r="19778" t="0"/>
          <a:stretch/>
        </p:blipFill>
        <p:spPr>
          <a:xfrm>
            <a:off x="5574000" y="1188720"/>
            <a:ext cx="3017520"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37" name="Google Shape;237;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1970-an: Xerox, Apple dan era PC</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Era komputer pribadi bermulai pada tahun 1970-an. Pada tahun - tahun tersebut para psikolog dan insinyur bekerja sama untuk meningkatkan pengalaman pengguna. Banyak perkembangan yang paling berpengaruh keluar dari pusat penelitian PARC Xerox, seperti UI grafis dan mouse.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rgbClr val="421E44"/>
                </a:solidFill>
                <a:latin typeface="Raleway"/>
                <a:ea typeface="Raleway"/>
                <a:cs typeface="Raleway"/>
                <a:sym typeface="Raleway"/>
              </a:rPr>
              <a:t>Disinilah sejarah UI desain bermulai. </a:t>
            </a:r>
            <a:r>
              <a:rPr lang="en" sz="1200">
                <a:solidFill>
                  <a:schemeClr val="dk1"/>
                </a:solidFill>
                <a:latin typeface="Raleway Medium"/>
                <a:ea typeface="Raleway Medium"/>
                <a:cs typeface="Raleway Medium"/>
                <a:sym typeface="Raleway Medium"/>
              </a:rPr>
              <a:t>Pada tahun 1984, Apple Macintosh dirilis, PC massal pertama Apple yang menampilkan antarmuka pengguna grafis, layar dan mouse built-in. Sejak itu, Apple telah menjadi inovator sejati dalam pengalaman pengguna, dari iPod pertama pada tahun 2001 hingga iPhone pada tahun 2007. </a:t>
            </a:r>
            <a:endParaRPr b="1" sz="1200">
              <a:solidFill>
                <a:srgbClr val="421E44"/>
              </a:solidFill>
              <a:latin typeface="Raleway"/>
              <a:ea typeface="Raleway"/>
              <a:cs typeface="Raleway"/>
              <a:sym typeface="Raleway"/>
            </a:endParaRPr>
          </a:p>
        </p:txBody>
      </p:sp>
      <p:pic>
        <p:nvPicPr>
          <p:cNvPr id="238" name="Google Shape;238;p29">
            <a:hlinkClick r:id="rId3"/>
          </p:cNvPr>
          <p:cNvPicPr preferRelativeResize="0"/>
          <p:nvPr/>
        </p:nvPicPr>
        <p:blipFill rotWithShape="1">
          <a:blip r:embed="rId4">
            <a:alphaModFix/>
          </a:blip>
          <a:srcRect b="0" l="8799" r="8807" t="0"/>
          <a:stretch/>
        </p:blipFill>
        <p:spPr>
          <a:xfrm>
            <a:off x="5574000" y="1188720"/>
            <a:ext cx="3017520"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45" name="Google Shape;245;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1995: Donald Norman menjadikan User Experience (UX) design sebuah istilah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era ini, desain pengalaman pengguna sudah sangat marak, hanya saja belum memiliki label.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Donald Norman, seorang ilmuwan kognitif, bergabung dengan Apple pada awal 90-an sebagai Arsitek Pengalaman Pengguna (UX), menjadikannya orang pertama yang memiliki label UX dalam jabatannya.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246" name="Google Shape;246;p30">
            <a:hlinkClick r:id="rId3"/>
          </p:cNvPr>
          <p:cNvPicPr preferRelativeResize="0"/>
          <p:nvPr/>
        </p:nvPicPr>
        <p:blipFill rotWithShape="1">
          <a:blip r:embed="rId4">
            <a:alphaModFix/>
          </a:blip>
          <a:srcRect b="0" l="11849" r="11849" t="0"/>
          <a:stretch/>
        </p:blipFill>
        <p:spPr>
          <a:xfrm>
            <a:off x="5574000" y="1188720"/>
            <a:ext cx="3017521" cy="2743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Experience</a:t>
            </a:r>
            <a:endParaRPr/>
          </a:p>
        </p:txBody>
      </p:sp>
      <p:sp>
        <p:nvSpPr>
          <p:cNvPr id="253" name="Google Shape;253;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Norman mengemukakan istilah "desain pengalaman pengguna" sebagai cara untuk mencakup hal - hal yang berhubungan dengan pengalaman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Norman menjelaskan, “Saya menemukan istilah tersebut karena saya pikir antarmuka manusia dan kegunaan terlalu sempit: Saya ingin mencakup semua aspek pengalaman seseorang dengan suatu sistem, termasuk desain industri, grafik, antarmuka, interaksi fisik, dan manual. .”</a:t>
            </a:r>
            <a:endParaRPr b="1" sz="1800">
              <a:solidFill>
                <a:srgbClr val="743673"/>
              </a:solidFill>
              <a:highlight>
                <a:schemeClr val="lt1"/>
              </a:highlight>
              <a:latin typeface="Raleway"/>
              <a:ea typeface="Raleway"/>
              <a:cs typeface="Raleway"/>
              <a:sym typeface="Raleway"/>
            </a:endParaRPr>
          </a:p>
        </p:txBody>
      </p:sp>
      <p:pic>
        <p:nvPicPr>
          <p:cNvPr id="254" name="Google Shape;254;p31">
            <a:hlinkClick r:id="rId3"/>
          </p:cNvPr>
          <p:cNvPicPr preferRelativeResize="0"/>
          <p:nvPr/>
        </p:nvPicPr>
        <p:blipFill rotWithShape="1">
          <a:blip r:embed="rId4">
            <a:alphaModFix/>
          </a:blip>
          <a:srcRect b="0" l="38357" r="2946" t="2940"/>
          <a:stretch/>
        </p:blipFill>
        <p:spPr>
          <a:xfrm>
            <a:off x="5574000" y="1188720"/>
            <a:ext cx="3017521" cy="2743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Sudah mengenal UX dan sejarah-nya? Bagaimana dengan UI? </a:t>
            </a:r>
            <a:endParaRPr/>
          </a:p>
        </p:txBody>
      </p:sp>
      <p:sp>
        <p:nvSpPr>
          <p:cNvPr id="260" name="Google Shape;26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Linimasa Sejarah User Interface</a:t>
            </a:r>
            <a:endParaRPr/>
          </a:p>
        </p:txBody>
      </p:sp>
      <p:sp>
        <p:nvSpPr>
          <p:cNvPr id="266" name="Google Shape;266;p33"/>
          <p:cNvSpPr/>
          <p:nvPr/>
        </p:nvSpPr>
        <p:spPr>
          <a:xfrm>
            <a:off x="2519318"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267" name="Google Shape;267;p33"/>
          <p:cNvSpPr txBox="1"/>
          <p:nvPr/>
        </p:nvSpPr>
        <p:spPr>
          <a:xfrm>
            <a:off x="1918501" y="2841375"/>
            <a:ext cx="13614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1960 - 1980an</a:t>
            </a:r>
            <a:endParaRPr b="1" sz="1200">
              <a:solidFill>
                <a:schemeClr val="lt1"/>
              </a:solidFill>
              <a:latin typeface="Roboto"/>
              <a:ea typeface="Roboto"/>
              <a:cs typeface="Roboto"/>
              <a:sym typeface="Roboto"/>
            </a:endParaRPr>
          </a:p>
        </p:txBody>
      </p:sp>
      <p:grpSp>
        <p:nvGrpSpPr>
          <p:cNvPr id="268" name="Google Shape;268;p33"/>
          <p:cNvGrpSpPr/>
          <p:nvPr/>
        </p:nvGrpSpPr>
        <p:grpSpPr>
          <a:xfrm>
            <a:off x="2453108" y="2426177"/>
            <a:ext cx="109751" cy="411825"/>
            <a:chOff x="779149" y="2563700"/>
            <a:chExt cx="195600" cy="411825"/>
          </a:xfrm>
        </p:grpSpPr>
        <p:cxnSp>
          <p:nvCxnSpPr>
            <p:cNvPr id="269" name="Google Shape;269;p33"/>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270" name="Google Shape;270;p33"/>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33"/>
          <p:cNvSpPr/>
          <p:nvPr/>
        </p:nvSpPr>
        <p:spPr>
          <a:xfrm>
            <a:off x="3607776"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3"/>
          <p:cNvSpPr txBox="1"/>
          <p:nvPr/>
        </p:nvSpPr>
        <p:spPr>
          <a:xfrm>
            <a:off x="3396563" y="2328722"/>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1984</a:t>
            </a:r>
            <a:endParaRPr b="1" sz="1200">
              <a:solidFill>
                <a:schemeClr val="lt1"/>
              </a:solidFill>
              <a:latin typeface="Roboto"/>
              <a:ea typeface="Roboto"/>
              <a:cs typeface="Roboto"/>
              <a:sym typeface="Roboto"/>
            </a:endParaRPr>
          </a:p>
        </p:txBody>
      </p:sp>
      <p:sp>
        <p:nvSpPr>
          <p:cNvPr id="273" name="Google Shape;273;p33"/>
          <p:cNvSpPr txBox="1"/>
          <p:nvPr/>
        </p:nvSpPr>
        <p:spPr>
          <a:xfrm>
            <a:off x="2382311" y="1892150"/>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Era komputer pribadi</a:t>
            </a:r>
            <a:endParaRPr b="1" sz="800">
              <a:solidFill>
                <a:schemeClr val="lt1"/>
              </a:solidFill>
              <a:latin typeface="Roboto"/>
              <a:ea typeface="Roboto"/>
              <a:cs typeface="Roboto"/>
              <a:sym typeface="Roboto"/>
            </a:endParaRPr>
          </a:p>
        </p:txBody>
      </p:sp>
      <p:sp>
        <p:nvSpPr>
          <p:cNvPr id="274" name="Google Shape;274;p33"/>
          <p:cNvSpPr/>
          <p:nvPr/>
        </p:nvSpPr>
        <p:spPr>
          <a:xfrm>
            <a:off x="4696997"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275" name="Google Shape;275;p33"/>
          <p:cNvSpPr txBox="1"/>
          <p:nvPr/>
        </p:nvSpPr>
        <p:spPr>
          <a:xfrm>
            <a:off x="4452004" y="2841375"/>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1994 -1997</a:t>
            </a:r>
            <a:endParaRPr b="1" sz="1200">
              <a:solidFill>
                <a:schemeClr val="lt1"/>
              </a:solidFill>
              <a:latin typeface="Roboto"/>
              <a:ea typeface="Roboto"/>
              <a:cs typeface="Roboto"/>
              <a:sym typeface="Roboto"/>
            </a:endParaRPr>
          </a:p>
        </p:txBody>
      </p:sp>
      <p:sp>
        <p:nvSpPr>
          <p:cNvPr id="276" name="Google Shape;276;p33"/>
          <p:cNvSpPr/>
          <p:nvPr/>
        </p:nvSpPr>
        <p:spPr>
          <a:xfrm>
            <a:off x="5785455"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3"/>
          <p:cNvSpPr txBox="1"/>
          <p:nvPr/>
        </p:nvSpPr>
        <p:spPr>
          <a:xfrm>
            <a:off x="5574242" y="2328722"/>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1997an</a:t>
            </a:r>
            <a:endParaRPr b="1" sz="1200">
              <a:solidFill>
                <a:schemeClr val="lt1"/>
              </a:solidFill>
              <a:latin typeface="Roboto"/>
              <a:ea typeface="Roboto"/>
              <a:cs typeface="Roboto"/>
              <a:sym typeface="Roboto"/>
            </a:endParaRPr>
          </a:p>
        </p:txBody>
      </p:sp>
      <p:sp>
        <p:nvSpPr>
          <p:cNvPr id="278" name="Google Shape;278;p33"/>
          <p:cNvSpPr/>
          <p:nvPr/>
        </p:nvSpPr>
        <p:spPr>
          <a:xfrm>
            <a:off x="6917379" y="2705588"/>
            <a:ext cx="1098900" cy="133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279" name="Google Shape;279;p33"/>
          <p:cNvSpPr txBox="1"/>
          <p:nvPr/>
        </p:nvSpPr>
        <p:spPr>
          <a:xfrm>
            <a:off x="6672407" y="2841375"/>
            <a:ext cx="7230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2000an</a:t>
            </a:r>
            <a:endParaRPr b="1" sz="1200">
              <a:solidFill>
                <a:schemeClr val="lt1"/>
              </a:solidFill>
              <a:latin typeface="Roboto"/>
              <a:ea typeface="Roboto"/>
              <a:cs typeface="Roboto"/>
              <a:sym typeface="Roboto"/>
            </a:endParaRPr>
          </a:p>
        </p:txBody>
      </p:sp>
      <p:sp>
        <p:nvSpPr>
          <p:cNvPr id="280" name="Google Shape;280;p33"/>
          <p:cNvSpPr/>
          <p:nvPr/>
        </p:nvSpPr>
        <p:spPr>
          <a:xfrm>
            <a:off x="8005837" y="2705601"/>
            <a:ext cx="1132200" cy="133500"/>
          </a:xfrm>
          <a:prstGeom prst="rect">
            <a:avLst/>
          </a:prstGeom>
          <a:solidFill>
            <a:srgbClr val="F9CB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3"/>
          <p:cNvSpPr txBox="1"/>
          <p:nvPr/>
        </p:nvSpPr>
        <p:spPr>
          <a:xfrm>
            <a:off x="7794624" y="2328725"/>
            <a:ext cx="14097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lt1"/>
                </a:solidFill>
                <a:latin typeface="Roboto"/>
                <a:ea typeface="Roboto"/>
                <a:cs typeface="Roboto"/>
                <a:sym typeface="Roboto"/>
              </a:rPr>
              <a:t>2011 - sekarang</a:t>
            </a:r>
            <a:endParaRPr b="1" sz="1200">
              <a:solidFill>
                <a:schemeClr val="lt1"/>
              </a:solidFill>
              <a:latin typeface="Roboto"/>
              <a:ea typeface="Roboto"/>
              <a:cs typeface="Roboto"/>
              <a:sym typeface="Roboto"/>
            </a:endParaRPr>
          </a:p>
        </p:txBody>
      </p:sp>
      <p:grpSp>
        <p:nvGrpSpPr>
          <p:cNvPr id="282" name="Google Shape;282;p33"/>
          <p:cNvGrpSpPr/>
          <p:nvPr/>
        </p:nvGrpSpPr>
        <p:grpSpPr>
          <a:xfrm>
            <a:off x="4634783" y="2426177"/>
            <a:ext cx="109751" cy="411825"/>
            <a:chOff x="779149" y="2563700"/>
            <a:chExt cx="195600" cy="411825"/>
          </a:xfrm>
        </p:grpSpPr>
        <p:cxnSp>
          <p:nvCxnSpPr>
            <p:cNvPr id="283" name="Google Shape;283;p33"/>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284" name="Google Shape;284;p33"/>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33"/>
          <p:cNvGrpSpPr/>
          <p:nvPr/>
        </p:nvGrpSpPr>
        <p:grpSpPr>
          <a:xfrm>
            <a:off x="6856047" y="2426177"/>
            <a:ext cx="109751" cy="411825"/>
            <a:chOff x="779149" y="2563700"/>
            <a:chExt cx="195600" cy="411825"/>
          </a:xfrm>
        </p:grpSpPr>
        <p:cxnSp>
          <p:nvCxnSpPr>
            <p:cNvPr id="286" name="Google Shape;286;p33"/>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287" name="Google Shape;287;p33"/>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33"/>
          <p:cNvGrpSpPr/>
          <p:nvPr/>
        </p:nvGrpSpPr>
        <p:grpSpPr>
          <a:xfrm flipH="1" rot="10800000">
            <a:off x="3543821" y="2800952"/>
            <a:ext cx="109751" cy="411825"/>
            <a:chOff x="779149" y="2563700"/>
            <a:chExt cx="195600" cy="411825"/>
          </a:xfrm>
        </p:grpSpPr>
        <p:cxnSp>
          <p:nvCxnSpPr>
            <p:cNvPr id="289" name="Google Shape;289;p33"/>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290" name="Google Shape;290;p33"/>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33"/>
          <p:cNvGrpSpPr/>
          <p:nvPr/>
        </p:nvGrpSpPr>
        <p:grpSpPr>
          <a:xfrm flipH="1" rot="10800000">
            <a:off x="5725496" y="2800952"/>
            <a:ext cx="109751" cy="411825"/>
            <a:chOff x="779149" y="2563700"/>
            <a:chExt cx="195600" cy="411825"/>
          </a:xfrm>
        </p:grpSpPr>
        <p:cxnSp>
          <p:nvCxnSpPr>
            <p:cNvPr id="292" name="Google Shape;292;p33"/>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293" name="Google Shape;293;p33"/>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33"/>
          <p:cNvGrpSpPr/>
          <p:nvPr/>
        </p:nvGrpSpPr>
        <p:grpSpPr>
          <a:xfrm flipH="1" rot="10800000">
            <a:off x="7946760" y="2800952"/>
            <a:ext cx="109751" cy="411825"/>
            <a:chOff x="779149" y="2563700"/>
            <a:chExt cx="195600" cy="411825"/>
          </a:xfrm>
        </p:grpSpPr>
        <p:cxnSp>
          <p:nvCxnSpPr>
            <p:cNvPr id="295" name="Google Shape;295;p33"/>
            <p:cNvCxnSpPr/>
            <p:nvPr/>
          </p:nvCxnSpPr>
          <p:spPr>
            <a:xfrm>
              <a:off x="891775" y="2616125"/>
              <a:ext cx="0" cy="359400"/>
            </a:xfrm>
            <a:prstGeom prst="straightConnector1">
              <a:avLst/>
            </a:prstGeom>
            <a:noFill/>
            <a:ln cap="flat" cmpd="sng" w="9525">
              <a:solidFill>
                <a:schemeClr val="accent1"/>
              </a:solidFill>
              <a:prstDash val="solid"/>
              <a:round/>
              <a:headEnd len="sm" w="sm" type="none"/>
              <a:tailEnd len="sm" w="sm" type="none"/>
            </a:ln>
          </p:spPr>
        </p:cxnSp>
        <p:sp>
          <p:nvSpPr>
            <p:cNvPr id="296" name="Google Shape;296;p33"/>
            <p:cNvSpPr/>
            <p:nvPr/>
          </p:nvSpPr>
          <p:spPr>
            <a:xfrm>
              <a:off x="779149" y="2563700"/>
              <a:ext cx="195600" cy="109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33"/>
          <p:cNvSpPr txBox="1"/>
          <p:nvPr/>
        </p:nvSpPr>
        <p:spPr>
          <a:xfrm>
            <a:off x="3447344" y="3302482"/>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1984: Inspirasi    dari Xerox</a:t>
            </a:r>
            <a:endParaRPr b="1" sz="800">
              <a:solidFill>
                <a:schemeClr val="lt1"/>
              </a:solidFill>
              <a:latin typeface="Roboto"/>
              <a:ea typeface="Roboto"/>
              <a:cs typeface="Roboto"/>
              <a:sym typeface="Roboto"/>
            </a:endParaRPr>
          </a:p>
        </p:txBody>
      </p:sp>
      <p:sp>
        <p:nvSpPr>
          <p:cNvPr id="298" name="Google Shape;298;p33"/>
          <p:cNvSpPr txBox="1"/>
          <p:nvPr/>
        </p:nvSpPr>
        <p:spPr>
          <a:xfrm>
            <a:off x="4565565" y="1892157"/>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Komputer mulai mengecil</a:t>
            </a:r>
            <a:endParaRPr b="1" sz="800">
              <a:solidFill>
                <a:schemeClr val="lt1"/>
              </a:solidFill>
              <a:latin typeface="Roboto"/>
              <a:ea typeface="Roboto"/>
              <a:cs typeface="Roboto"/>
              <a:sym typeface="Roboto"/>
            </a:endParaRPr>
          </a:p>
        </p:txBody>
      </p:sp>
      <p:sp>
        <p:nvSpPr>
          <p:cNvPr id="299" name="Google Shape;299;p33"/>
          <p:cNvSpPr txBox="1"/>
          <p:nvPr/>
        </p:nvSpPr>
        <p:spPr>
          <a:xfrm>
            <a:off x="5630151" y="3302482"/>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Suara untuk interaksi</a:t>
            </a:r>
            <a:endParaRPr b="1" sz="800">
              <a:solidFill>
                <a:schemeClr val="lt1"/>
              </a:solidFill>
              <a:latin typeface="Roboto"/>
              <a:ea typeface="Roboto"/>
              <a:cs typeface="Roboto"/>
              <a:sym typeface="Roboto"/>
            </a:endParaRPr>
          </a:p>
        </p:txBody>
      </p:sp>
      <p:sp>
        <p:nvSpPr>
          <p:cNvPr id="300" name="Google Shape;300;p33"/>
          <p:cNvSpPr txBox="1"/>
          <p:nvPr/>
        </p:nvSpPr>
        <p:spPr>
          <a:xfrm>
            <a:off x="6762786" y="1892150"/>
            <a:ext cx="1132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Pengembangan user interface</a:t>
            </a:r>
            <a:endParaRPr b="1" sz="800">
              <a:solidFill>
                <a:schemeClr val="lt1"/>
              </a:solidFill>
              <a:latin typeface="Roboto"/>
              <a:ea typeface="Roboto"/>
              <a:cs typeface="Roboto"/>
              <a:sym typeface="Roboto"/>
            </a:endParaRPr>
          </a:p>
        </p:txBody>
      </p:sp>
      <p:sp>
        <p:nvSpPr>
          <p:cNvPr id="301" name="Google Shape;301;p33"/>
          <p:cNvSpPr txBox="1"/>
          <p:nvPr/>
        </p:nvSpPr>
        <p:spPr>
          <a:xfrm>
            <a:off x="7812994" y="3302482"/>
            <a:ext cx="1132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800">
                <a:solidFill>
                  <a:schemeClr val="lt1"/>
                </a:solidFill>
                <a:latin typeface="Roboto"/>
                <a:ea typeface="Roboto"/>
                <a:cs typeface="Roboto"/>
                <a:sym typeface="Roboto"/>
              </a:rPr>
              <a:t>Sentuhan, suara dan berbagai macam metode interaksi</a:t>
            </a:r>
            <a:endParaRPr b="1" sz="1000">
              <a:solidFill>
                <a:schemeClr val="lt1"/>
              </a:solidFill>
              <a:latin typeface="Roboto"/>
              <a:ea typeface="Roboto"/>
              <a:cs typeface="Roboto"/>
              <a:sym typeface="Roboto"/>
            </a:endParaRPr>
          </a:p>
        </p:txBody>
      </p:sp>
      <p:sp>
        <p:nvSpPr>
          <p:cNvPr id="302" name="Google Shape;302;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Interface</a:t>
            </a:r>
            <a:endParaRPr/>
          </a:p>
        </p:txBody>
      </p:sp>
      <p:sp>
        <p:nvSpPr>
          <p:cNvPr id="309" name="Google Shape;309;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1960s - 1980s: Era komputer     pribadi (PC)</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yang dibahas pada sejarah User Experience, era komputer pribadi mulai pada tahun 1970an, banyak perkembangan yang paling berpengaruh keluar dari pusat penelitian PARC Xerox, seperti UI grafis dan mouse.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310" name="Google Shape;310;p34">
            <a:hlinkClick r:id="rId3"/>
          </p:cNvPr>
          <p:cNvPicPr preferRelativeResize="0"/>
          <p:nvPr/>
        </p:nvPicPr>
        <p:blipFill rotWithShape="1">
          <a:blip r:embed="rId4">
            <a:alphaModFix/>
          </a:blip>
          <a:srcRect b="5850" l="4465" r="7807" t="6035"/>
          <a:stretch/>
        </p:blipFill>
        <p:spPr>
          <a:xfrm>
            <a:off x="5574000" y="1188720"/>
            <a:ext cx="3017522"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Interface</a:t>
            </a:r>
            <a:endParaRPr/>
          </a:p>
        </p:txBody>
      </p:sp>
      <p:sp>
        <p:nvSpPr>
          <p:cNvPr id="317" name="Google Shape;317;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1984: Inspirasi dari Xerox</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Steve Jobs mengunjungi Parc Xerox pada tahun 1979, dan menemukan inspirasi dari GUI dan mouse mereka yang legendaris. Jobs mengaplikasikan kedua inspirasi tersebut dan menciptakan peristiwa seismik dalam adopsi teknologi. Apple menjual 1 juta Macintosh pada tahun 1988.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IBM, Compaq, dan lainnya dengan cepat mengikuti, menciptakan mouse komputer mereka sendiri.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318" name="Google Shape;318;p35">
            <a:hlinkClick r:id="rId3"/>
          </p:cNvPr>
          <p:cNvPicPr preferRelativeResize="0"/>
          <p:nvPr/>
        </p:nvPicPr>
        <p:blipFill rotWithShape="1">
          <a:blip r:embed="rId4">
            <a:alphaModFix/>
          </a:blip>
          <a:srcRect b="0" l="19063" r="19063" t="0"/>
          <a:stretch/>
        </p:blipFill>
        <p:spPr>
          <a:xfrm>
            <a:off x="5574000" y="1188720"/>
            <a:ext cx="3017521"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Interface</a:t>
            </a:r>
            <a:endParaRPr/>
          </a:p>
        </p:txBody>
      </p:sp>
      <p:sp>
        <p:nvSpPr>
          <p:cNvPr id="325" name="Google Shape;325;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1994-1997: Komputer mulai mengecil</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Mulai tahun 1990-an, laptop mulai menggantikan komputer desktop. Bersamaan dengan itu, muncul perubahan tambahan pada antarmuka mouse/keyboard. Apple mulai memasukkan trackball dan trackpad ke dalam laptop Powerbook-nya, sementara IBM memperkenalkan stik penunjuk yaitu TrackPoint pada laptopnya.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Komputer terus mengecil dari laptop menjadi PC portable, dan kemudian menjadi perangkat yang dapat digenggam. PalmPilot, sebuah perangkat baru juga menjadi populer. Palm memperkenalkan antarmuka pengguna baru, stylus, yang bekerja dengan layar sentuh.</a:t>
            </a:r>
            <a:endParaRPr sz="1200">
              <a:solidFill>
                <a:schemeClr val="dk1"/>
              </a:solidFill>
              <a:latin typeface="Raleway Medium"/>
              <a:ea typeface="Raleway Medium"/>
              <a:cs typeface="Raleway Medium"/>
              <a:sym typeface="Raleway Medium"/>
            </a:endParaRPr>
          </a:p>
        </p:txBody>
      </p:sp>
      <p:pic>
        <p:nvPicPr>
          <p:cNvPr id="326" name="Google Shape;326;p36">
            <a:hlinkClick r:id="rId3"/>
          </p:cNvPr>
          <p:cNvPicPr preferRelativeResize="0"/>
          <p:nvPr/>
        </p:nvPicPr>
        <p:blipFill rotWithShape="1">
          <a:blip r:embed="rId4">
            <a:alphaModFix/>
          </a:blip>
          <a:srcRect b="0" l="13316" r="13316" t="0"/>
          <a:stretch/>
        </p:blipFill>
        <p:spPr>
          <a:xfrm>
            <a:off x="5574000" y="1188720"/>
            <a:ext cx="3017520" cy="2743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Interface</a:t>
            </a:r>
            <a:endParaRPr/>
          </a:p>
        </p:txBody>
      </p:sp>
      <p:sp>
        <p:nvSpPr>
          <p:cNvPr id="333" name="Google Shape;333;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1997an: Suara untuk Interaksi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Suara juga mulai menjadi bentuk interaksi pada awal tahun 1997 dari Dragon NaturallySpeaking.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Dragon (sekarang Nuance, yang mengakuisisi Dragon pada tahun 2000) menjual beberapa juta perangkat lunak interaksi suaranya.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pengenalan asisten suara generasi tersebut, suara benar-benar mulai lepas landas sebagai bentuk interaksi.</a:t>
            </a:r>
            <a:endParaRPr sz="1200">
              <a:solidFill>
                <a:schemeClr val="dk1"/>
              </a:solidFill>
              <a:latin typeface="Raleway Medium"/>
              <a:ea typeface="Raleway Medium"/>
              <a:cs typeface="Raleway Medium"/>
              <a:sym typeface="Raleway Medium"/>
            </a:endParaRPr>
          </a:p>
        </p:txBody>
      </p:sp>
      <p:pic>
        <p:nvPicPr>
          <p:cNvPr id="334" name="Google Shape;334;p37">
            <a:hlinkClick r:id="rId3"/>
          </p:cNvPr>
          <p:cNvPicPr preferRelativeResize="0"/>
          <p:nvPr/>
        </p:nvPicPr>
        <p:blipFill rotWithShape="1">
          <a:blip r:embed="rId4">
            <a:alphaModFix/>
          </a:blip>
          <a:srcRect b="0" l="6001" r="6001" t="0"/>
          <a:stretch/>
        </p:blipFill>
        <p:spPr>
          <a:xfrm>
            <a:off x="5574000" y="1188720"/>
            <a:ext cx="3017520" cy="2743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Interface</a:t>
            </a:r>
            <a:endParaRPr/>
          </a:p>
        </p:txBody>
      </p:sp>
      <p:sp>
        <p:nvSpPr>
          <p:cNvPr id="341" name="Google Shape;341;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2000an: Pengembangan user interface</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GUI Windows 95 untuk pertama kalinya memasukkan tombol tutup kecil dan fitur untuk mengubah ukuran pada setiap jendela.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Menjelang akhir tahun 2000-an desain UI komputer mulai meningkat jauh, disebabkan oleh popularitas smartphone, sekali lagi dipimpin oleh Apple.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Antarmuka sentuh berkembang pesat dengan diperkenalkannya iPhone pada tahun 2007 dan iPad pada tahun 2010. </a:t>
            </a:r>
            <a:endParaRPr sz="1200">
              <a:solidFill>
                <a:schemeClr val="dk1"/>
              </a:solidFill>
              <a:latin typeface="Raleway Medium"/>
              <a:ea typeface="Raleway Medium"/>
              <a:cs typeface="Raleway Medium"/>
              <a:sym typeface="Raleway Medium"/>
            </a:endParaRPr>
          </a:p>
        </p:txBody>
      </p:sp>
      <p:pic>
        <p:nvPicPr>
          <p:cNvPr id="342" name="Google Shape;342;p38">
            <a:hlinkClick r:id="rId3"/>
          </p:cNvPr>
          <p:cNvPicPr preferRelativeResize="0"/>
          <p:nvPr/>
        </p:nvPicPr>
        <p:blipFill rotWithShape="1">
          <a:blip r:embed="rId4">
            <a:alphaModFix/>
          </a:blip>
          <a:srcRect b="9401" l="0" r="0" t="9409"/>
          <a:stretch/>
        </p:blipFill>
        <p:spPr>
          <a:xfrm>
            <a:off x="5574000" y="1188720"/>
            <a:ext cx="3017521" cy="2743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Sejarah User Interface</a:t>
            </a:r>
            <a:endParaRPr/>
          </a:p>
        </p:txBody>
      </p:sp>
      <p:sp>
        <p:nvSpPr>
          <p:cNvPr id="349" name="Google Shape;349;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2011 - sampai sekarang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Sentuhan telah menjadi bagian dari cara kita berinteraksi dengan konten digital saat ini (bukan hanya pada smartphone dan tablet, tetapi pada ATM, peralatan dan lain lain.).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Interaksi berkembang dalam bentuk suara sebagai antarmuka pengguna. Asisten suara mulai naik daun pada tahun 2011 dengan meluncurnya Siri oleh Apple. Sejak itu, perangkat seperti Google Now (2012) dan Amazon Alexa (2014) mulai populer.</a:t>
            </a:r>
            <a:endParaRPr sz="1200">
              <a:solidFill>
                <a:schemeClr val="dk1"/>
              </a:solidFill>
              <a:latin typeface="Raleway Medium"/>
              <a:ea typeface="Raleway Medium"/>
              <a:cs typeface="Raleway Medium"/>
              <a:sym typeface="Raleway Medium"/>
            </a:endParaRPr>
          </a:p>
        </p:txBody>
      </p:sp>
      <p:pic>
        <p:nvPicPr>
          <p:cNvPr id="350" name="Google Shape;350;p39">
            <a:hlinkClick r:id="rId3"/>
          </p:cNvPr>
          <p:cNvPicPr preferRelativeResize="0"/>
          <p:nvPr/>
        </p:nvPicPr>
        <p:blipFill rotWithShape="1">
          <a:blip r:embed="rId4">
            <a:alphaModFix/>
          </a:blip>
          <a:srcRect b="0" l="2235" r="24477" t="0"/>
          <a:stretch/>
        </p:blipFill>
        <p:spPr>
          <a:xfrm>
            <a:off x="5574000" y="1188720"/>
            <a:ext cx="3017520" cy="27431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0"/>
          <p:cNvSpPr txBox="1"/>
          <p:nvPr>
            <p:ph type="title"/>
          </p:nvPr>
        </p:nvSpPr>
        <p:spPr>
          <a:xfrm>
            <a:off x="914400" y="1925250"/>
            <a:ext cx="7315200" cy="12930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Setelah mengenal sejarah UI dan UX, bisakah kita menyimpulkan </a:t>
            </a:r>
            <a:r>
              <a:rPr lang="en">
                <a:solidFill>
                  <a:schemeClr val="accent1"/>
                </a:solidFill>
              </a:rPr>
              <a:t>arti</a:t>
            </a:r>
            <a:r>
              <a:rPr lang="en">
                <a:solidFill>
                  <a:schemeClr val="accent1"/>
                </a:solidFill>
              </a:rPr>
              <a:t> dari terminologi</a:t>
            </a:r>
            <a:endParaRPr>
              <a:solidFill>
                <a:schemeClr val="accent1"/>
              </a:solidFill>
            </a:endParaRPr>
          </a:p>
          <a:p>
            <a:pPr indent="0" lvl="0" marL="0" rtl="0" algn="ctr">
              <a:spcBef>
                <a:spcPts val="0"/>
              </a:spcBef>
              <a:spcAft>
                <a:spcPts val="0"/>
              </a:spcAft>
              <a:buNone/>
            </a:pPr>
            <a:r>
              <a:rPr lang="en">
                <a:solidFill>
                  <a:schemeClr val="accent1"/>
                </a:solidFill>
              </a:rPr>
              <a:t> UI dan UX?</a:t>
            </a:r>
            <a:r>
              <a:rPr lang="en"/>
              <a:t> </a:t>
            </a:r>
            <a:endParaRPr/>
          </a:p>
        </p:txBody>
      </p:sp>
      <p:sp>
        <p:nvSpPr>
          <p:cNvPr id="356" name="Google Shape;35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Arti dari UI dan UX</a:t>
            </a:r>
            <a:endParaRPr/>
          </a:p>
        </p:txBody>
      </p:sp>
      <p:sp>
        <p:nvSpPr>
          <p:cNvPr id="363" name="Google Shape;363;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User Experience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experience: pengalaman pengguna adalah bagaimana pengguna berinteraksi dengan sesuatu hal, lingkungan atau produk.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User Interface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interface: antarmuka pengguna merupakan bentuk tampilan grafis yang berhubungan langsung dengan pengguna. Fungsi UI adalah untuk menghubungkan pengguna dengan sistem, sehingga komputer tersebut dapat digunakan.</a:t>
            </a:r>
            <a:endParaRPr sz="1200">
              <a:solidFill>
                <a:schemeClr val="dk1"/>
              </a:solidFill>
              <a:latin typeface="Raleway Medium"/>
              <a:ea typeface="Raleway Medium"/>
              <a:cs typeface="Raleway Medium"/>
              <a:sym typeface="Raleway Medium"/>
            </a:endParaRPr>
          </a:p>
        </p:txBody>
      </p:sp>
      <p:pic>
        <p:nvPicPr>
          <p:cNvPr id="364" name="Google Shape;364;p41">
            <a:hlinkClick r:id="rId3"/>
          </p:cNvPr>
          <p:cNvPicPr preferRelativeResize="0"/>
          <p:nvPr/>
        </p:nvPicPr>
        <p:blipFill rotWithShape="1">
          <a:blip r:embed="rId4">
            <a:alphaModFix/>
          </a:blip>
          <a:srcRect b="0" l="13854" r="10810" t="0"/>
          <a:stretch/>
        </p:blipFill>
        <p:spPr>
          <a:xfrm>
            <a:off x="5486400" y="1207587"/>
            <a:ext cx="3017518"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70" name="Google Shape;37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6" name="Google Shape;376;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ini adalah pernyataan yang benar tentang sejarah user experience,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Saran </a:t>
            </a:r>
            <a:r>
              <a:rPr lang="en" sz="1200">
                <a:solidFill>
                  <a:schemeClr val="lt1"/>
                </a:solidFill>
                <a:latin typeface="Raleway Medium"/>
                <a:ea typeface="Raleway Medium"/>
                <a:cs typeface="Raleway Medium"/>
                <a:sym typeface="Raleway Medium"/>
              </a:rPr>
              <a:t>Hippocrates tentang bagaimana tempat ahli bedah harus diatur sangatlah mirip dengan prinsip user experience.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Pekerja pabrik Toyota dapat menghentikan jalur perakitan jika mereka memiliki masukan atau saran untuk meningkatkan proses, sama seperti yang dilakukan desainer UX dalam pengujian kegunaan.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Henry Dreyfuss menjelaskan desain UX secara singkat: “Ketika titik kontak antara produk dan orang-orang menjadi titik gesekan, maka [desainer] telah sukses.” </a:t>
            </a:r>
            <a:endParaRPr sz="1800">
              <a:solidFill>
                <a:schemeClr val="lt1"/>
              </a:solidFill>
              <a:latin typeface="Raleway Medium"/>
              <a:ea typeface="Raleway Medium"/>
              <a:cs typeface="Raleway Medium"/>
              <a:sym typeface="Raleway Medium"/>
            </a:endParaRPr>
          </a:p>
        </p:txBody>
      </p:sp>
      <p:sp>
        <p:nvSpPr>
          <p:cNvPr id="377" name="Google Shape;377;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3" name="Google Shape;383;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ini adalah pernyataan yang benar tentang sejarah user experience,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Saran Hippocrates tentang bagaimana tempat ahli bedah harus diatur sangatlah mirip dengan prinsip user experience.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Pekerja pabrik Toyota dapat menghentikan jalur perakitan jika mereka memiliki masukan atau saran untuk meningkatkan proses, sama seperti yang dilakukan desainer UX dalam pengujian kegunaan.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Henry Dreyfuss menjelaskan desain UX secara singkat: “Ketika titik kontak antara produk dan orang-orang menjadi titik gesekan, maka [desainer] telah sukses.” </a:t>
            </a:r>
            <a:endParaRPr b="1" sz="1800">
              <a:solidFill>
                <a:schemeClr val="lt1"/>
              </a:solidFill>
              <a:latin typeface="Raleway"/>
              <a:ea typeface="Raleway"/>
              <a:cs typeface="Raleway"/>
              <a:sym typeface="Raleway"/>
            </a:endParaRPr>
          </a:p>
        </p:txBody>
      </p:sp>
      <p:sp>
        <p:nvSpPr>
          <p:cNvPr id="384" name="Google Shape;384;p44"/>
          <p:cNvSpPr/>
          <p:nvPr/>
        </p:nvSpPr>
        <p:spPr>
          <a:xfrm>
            <a:off x="685800" y="3765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Henry Dreyfuss menjelaskan desain UX secara singkat: “Ketika titik kontak antara produk dan orang-orang menjadi titik gesekan, maka [desainer] telah gagal.” </a:t>
            </a:r>
            <a:endParaRPr b="1" sz="1000">
              <a:solidFill>
                <a:srgbClr val="733572"/>
              </a:solidFill>
              <a:latin typeface="Raleway"/>
              <a:ea typeface="Raleway"/>
              <a:cs typeface="Raleway"/>
              <a:sym typeface="Raleway"/>
            </a:endParaRPr>
          </a:p>
        </p:txBody>
      </p:sp>
      <p:sp>
        <p:nvSpPr>
          <p:cNvPr id="385" name="Google Shape;385;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1" name="Google Shape;391;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ini adalah pernyataan yang benar tentang sejarah user interface,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Steve Jobs mengunjungi Xerox Parc pada tahun 1979, dan inspirasi yang dia temukan yaitu GUI dan mouse menjadi legenda.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Suara mulai menjadi bentuk interaksi dari Dragon NaturallySpeaking pada awal tahun 2007..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GUI Windows 95 untuk pertama kalinya memasukkan tombol tutup kecil dan fitur untuk mengubah ukuran pada setiap jendela pada awal 2000-an.</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2" name="Google Shape;39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8" name="Google Shape;398;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ini adalah pernyataan yang benar tentang sejarah user interface,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Steve Jobs mengunjungi Xerox Parc pada tahun 1979, dan inspirasi yang dia temukan yaitu GUI dan mouse menjadi legenda.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Suara mulai menjadi bentuk interaksi dari Dragon NaturallySpeaking pada awal tahun 2007.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GUI Windows 95 untuk pertama kalinya memasukkan tombol tutup kecil dan fitur untuk mengubah ukuran pada setiap jendela pada awal 2000-an.</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99" name="Google Shape;399;p46"/>
          <p:cNvSpPr/>
          <p:nvPr/>
        </p:nvSpPr>
        <p:spPr>
          <a:xfrm>
            <a:off x="685800" y="3536575"/>
            <a:ext cx="7772400" cy="59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652F67"/>
                </a:solidFill>
                <a:latin typeface="Raleway"/>
                <a:ea typeface="Raleway"/>
                <a:cs typeface="Raleway"/>
                <a:sym typeface="Raleway"/>
              </a:rPr>
              <a:t>Suara mulai menjadi bentuk interaksi dari Dragon NaturallySpeaking pada awal tahun 1997. </a:t>
            </a:r>
            <a:endParaRPr b="1" sz="1000">
              <a:solidFill>
                <a:srgbClr val="652F67"/>
              </a:solidFill>
              <a:latin typeface="Raleway"/>
              <a:ea typeface="Raleway"/>
              <a:cs typeface="Raleway"/>
              <a:sym typeface="Raleway"/>
            </a:endParaRPr>
          </a:p>
        </p:txBody>
      </p:sp>
      <p:sp>
        <p:nvSpPr>
          <p:cNvPr id="400" name="Google Shape;400;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6" name="Google Shape;406;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User interface dapat diartikan sebagai…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Bagaimana pengguna berinteraksi dengan sesuatu hal, lingkungan atau produk.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t>
            </a:r>
            <a:r>
              <a:rPr lang="en" sz="1200">
                <a:solidFill>
                  <a:schemeClr val="lt1"/>
                </a:solidFill>
                <a:latin typeface="Raleway Medium"/>
                <a:ea typeface="Raleway Medium"/>
                <a:cs typeface="Raleway Medium"/>
                <a:sym typeface="Raleway Medium"/>
              </a:rPr>
              <a:t>ampilan grafis yang berhubungan langsung dengan pengguna.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yang dialami pengguna saat melakukan sebuah aktivitas.</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07" name="Google Shape;40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3" name="Google Shape;413;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User interface dapat diartikan sebagai…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Bagaimana pengguna berinteraksi dengan sesuatu hal, lingkungan atau produk.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Tampilan grafis yang berhubungan langsung dengan pengguna.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9B6DBB"/>
              </a:buClr>
              <a:buSzPts val="1200"/>
              <a:buFont typeface="Raleway Medium"/>
              <a:buAutoNum type="alphaUcPeriod"/>
            </a:pPr>
            <a:r>
              <a:rPr lang="en" sz="1200">
                <a:solidFill>
                  <a:srgbClr val="9B6DBB"/>
                </a:solidFill>
                <a:latin typeface="Raleway Medium"/>
                <a:ea typeface="Raleway Medium"/>
                <a:cs typeface="Raleway Medium"/>
                <a:sym typeface="Raleway Medium"/>
              </a:rPr>
              <a:t>Proses yang dialami pengguna saat melakukan sebuah aktivitas.</a:t>
            </a:r>
            <a:endParaRPr sz="1200">
              <a:solidFill>
                <a:srgbClr val="9B6DBB"/>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14" name="Google Shape;414;p48"/>
          <p:cNvSpPr/>
          <p:nvPr/>
        </p:nvSpPr>
        <p:spPr>
          <a:xfrm>
            <a:off x="685800" y="2850775"/>
            <a:ext cx="7772400" cy="59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652F67"/>
                </a:solidFill>
                <a:latin typeface="Raleway"/>
                <a:ea typeface="Raleway"/>
                <a:cs typeface="Raleway"/>
                <a:sym typeface="Raleway"/>
              </a:rPr>
              <a:t>User interface adalah tampilan grafis yang berhubungan langsung dengan pengguna.</a:t>
            </a:r>
            <a:endParaRPr b="1" sz="1000">
              <a:solidFill>
                <a:srgbClr val="652F67"/>
              </a:solidFill>
              <a:latin typeface="Raleway"/>
              <a:ea typeface="Raleway"/>
              <a:cs typeface="Raleway"/>
              <a:sym typeface="Raleway"/>
            </a:endParaRPr>
          </a:p>
        </p:txBody>
      </p:sp>
      <p:sp>
        <p:nvSpPr>
          <p:cNvPr id="415" name="Google Shape;41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1" name="Google Shape;421;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User experience dapat diartikan sebagai…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Bagaimana pengguna berinteraksi dengan sesuatu hal, lingkungan atau produk.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Tampilan grafis yang berhubungan langsung dengan pengguna.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Proses yang dialami pengguna saat melakukan sebuah aktivitas.</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2" name="Google Shape;42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8" name="Google Shape;428;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User experience dapat diartikan sebagai…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Bagaimana pengguna berinteraksi dengan sesuatu hal, lingkungan atau produk.</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Tampilan grafis yang berhubungan langsung dengan pengguna.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Proses yang dialami pengguna saat melakukan sebuah aktivitas.</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9" name="Google Shape;42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50"/>
          <p:cNvSpPr/>
          <p:nvPr/>
        </p:nvSpPr>
        <p:spPr>
          <a:xfrm>
            <a:off x="685800" y="2850775"/>
            <a:ext cx="7772400" cy="59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652F67"/>
                </a:solidFill>
                <a:latin typeface="Raleway"/>
                <a:ea typeface="Raleway"/>
                <a:cs typeface="Raleway"/>
                <a:sym typeface="Raleway"/>
              </a:rPr>
              <a:t>User interface adalah b</a:t>
            </a:r>
            <a:r>
              <a:rPr b="1" lang="en" sz="1000">
                <a:solidFill>
                  <a:srgbClr val="652F67"/>
                </a:solidFill>
                <a:latin typeface="Raleway"/>
                <a:ea typeface="Raleway"/>
                <a:cs typeface="Raleway"/>
                <a:sym typeface="Raleway"/>
              </a:rPr>
              <a:t>agaimana pengguna berinteraksi dengan sesuatu hal, lingkungan atau produk.</a:t>
            </a:r>
            <a:endParaRPr b="1" sz="1000">
              <a:solidFill>
                <a:srgbClr val="652F67"/>
              </a:solidFill>
              <a:latin typeface="Raleway"/>
              <a:ea typeface="Raleway"/>
              <a:cs typeface="Raleway"/>
              <a:sym typeface="Ralew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6" name="Google Shape;436;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Istilah UX memang diciptakan baru baru ini, yaitu pada tahun 1993 oleh psikolog kognitif dan desainer ______ ______ saat bekerja di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Apple Computers.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Steve Jobs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Don Norman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Henry Dreyfuss</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37" name="Google Shape;43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3" name="Google Shape;443;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Istilah UX memang diciptakan baru baru ini, yaitu pada tahun 1993 oleh psikolog kognitif dan desainer ______ ______ saat bekerja di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Apple Computers.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Steve Jobs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Don Norman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Henry Dreyfuss</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44" name="Google Shape;44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52"/>
          <p:cNvSpPr/>
          <p:nvPr/>
        </p:nvSpPr>
        <p:spPr>
          <a:xfrm>
            <a:off x="685800" y="3536575"/>
            <a:ext cx="7772400" cy="59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652F67"/>
                </a:solidFill>
                <a:latin typeface="Raleway"/>
                <a:ea typeface="Raleway"/>
                <a:cs typeface="Raleway"/>
                <a:sym typeface="Raleway"/>
              </a:rPr>
              <a:t>Don Norman juga merupakan seseorang yang mempunyai label UX dalam judul perkerjaannya. </a:t>
            </a:r>
            <a:endParaRPr b="1" sz="1000">
              <a:solidFill>
                <a:srgbClr val="652F67"/>
              </a:solidFill>
              <a:latin typeface="Raleway"/>
              <a:ea typeface="Raleway"/>
              <a:cs typeface="Raleway"/>
              <a:sym typeface="Raleway"/>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1" name="Google Shape;451;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52" name="Google Shape;452;p5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53" name="Google Shape;453;p53"/>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The Fascinating History of UX Design: A Definitive Timeline by careerfoundry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5"/>
              </a:rPr>
              <a:t>What is User Interface (UI) Design ? History and Principles of UI Design by yukti.io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6"/>
              </a:rPr>
              <a:t>The Godfather of UX: Don Norman &amp; User-Centered Design by crm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7"/>
              </a:rPr>
              <a:t>W</a:t>
            </a:r>
            <a:r>
              <a:rPr lang="en" sz="1200">
                <a:solidFill>
                  <a:schemeClr val="accent5"/>
                </a:solidFill>
                <a:uFill>
                  <a:noFill/>
                </a:uFill>
                <a:latin typeface="Raleway Medium"/>
                <a:ea typeface="Raleway Medium"/>
                <a:cs typeface="Raleway Medium"/>
                <a:sym typeface="Raleway Medium"/>
                <a:hlinkClick r:id="rId8">
                  <a:extLst>
                    <a:ext uri="{A12FA001-AC4F-418D-AE19-62706E023703}">
                      <ahyp:hlinkClr val="tx"/>
                    </a:ext>
                  </a:extLst>
                </a:hlinkClick>
              </a:rPr>
              <a:t>alt Disney: The World’s First UX Designer by</a:t>
            </a:r>
            <a:r>
              <a:rPr lang="en" sz="1200">
                <a:solidFill>
                  <a:schemeClr val="accent5"/>
                </a:solidFill>
                <a:latin typeface="Raleway Medium"/>
                <a:ea typeface="Raleway Medium"/>
                <a:cs typeface="Raleway Medium"/>
                <a:sym typeface="Raleway Medium"/>
              </a:rPr>
              <a:t> UX Magazine</a:t>
            </a:r>
            <a:endParaRPr sz="1200">
              <a:solidFill>
                <a:schemeClr val="accent5"/>
              </a:solidFill>
              <a:latin typeface="Raleway Medium"/>
              <a:ea typeface="Raleway Medium"/>
              <a:cs typeface="Raleway Medium"/>
              <a:sym typeface="Raleway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57" name="Shape 457"/>
        <p:cNvGrpSpPr/>
        <p:nvPr/>
      </p:nvGrpSpPr>
      <p:grpSpPr>
        <a:xfrm>
          <a:off x="0" y="0"/>
          <a:ext cx="0" cy="0"/>
          <a:chOff x="0" y="0"/>
          <a:chExt cx="0" cy="0"/>
        </a:xfrm>
      </p:grpSpPr>
      <p:sp>
        <p:nvSpPr>
          <p:cNvPr id="458" name="Google Shape;458;p54"/>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9" name="Google Shape;459;p54"/>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0" name="Google Shape;460;p54"/>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1" name="Google Shape;461;p54"/>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2" name="Google Shape;462;p54"/>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63" name="Google Shape;463;p54"/>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64" name="Google Shape;464;p54"/>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65" name="Google Shape;465;p54"/>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