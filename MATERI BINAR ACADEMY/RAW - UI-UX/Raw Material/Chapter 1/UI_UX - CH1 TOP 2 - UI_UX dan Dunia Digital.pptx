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y="5143500" cx="9144000"/>
  <p:notesSz cx="6858000" cy="9144000"/>
  <p:embeddedFontLst>
    <p:embeddedFont>
      <p:font typeface="Raleway"/>
      <p:regular r:id="rId47"/>
      <p:bold r:id="rId48"/>
      <p:italic r:id="rId49"/>
      <p:boldItalic r:id="rId50"/>
    </p:embeddedFont>
    <p:embeddedFont>
      <p:font typeface="Raleway SemiBold"/>
      <p:regular r:id="rId51"/>
      <p:bold r:id="rId52"/>
      <p:italic r:id="rId53"/>
      <p:boldItalic r:id="rId54"/>
    </p:embeddedFont>
    <p:embeddedFont>
      <p:font typeface="Montserrat"/>
      <p:regular r:id="rId55"/>
      <p:bold r:id="rId56"/>
      <p:italic r:id="rId57"/>
      <p:boldItalic r:id="rId58"/>
    </p:embeddedFont>
    <p:embeddedFont>
      <p:font typeface="Lato Black"/>
      <p:bold r:id="rId59"/>
      <p:boldItalic r:id="rId60"/>
    </p:embeddedFont>
    <p:embeddedFont>
      <p:font typeface="Raleway Medium"/>
      <p:regular r:id="rId61"/>
      <p:bold r:id="rId62"/>
      <p:italic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aleway-bold.fntdata"/><Relationship Id="rId47" Type="http://schemas.openxmlformats.org/officeDocument/2006/relationships/font" Target="fonts/Raleway-regular.fntdata"/><Relationship Id="rId49" Type="http://schemas.openxmlformats.org/officeDocument/2006/relationships/font" Target="fonts/Raleway-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RalewayMedium-bold.fntdata"/><Relationship Id="rId61" Type="http://schemas.openxmlformats.org/officeDocument/2006/relationships/font" Target="fonts/RalewayMedium-regular.fntdata"/><Relationship Id="rId20" Type="http://schemas.openxmlformats.org/officeDocument/2006/relationships/slide" Target="slides/slide15.xml"/><Relationship Id="rId64" Type="http://schemas.openxmlformats.org/officeDocument/2006/relationships/font" Target="fonts/RalewayMedium-boldItalic.fntdata"/><Relationship Id="rId63" Type="http://schemas.openxmlformats.org/officeDocument/2006/relationships/font" Target="fonts/RalewayMedium-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LatoBlack-bold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alewaySemiBold-regular.fntdata"/><Relationship Id="rId50" Type="http://schemas.openxmlformats.org/officeDocument/2006/relationships/font" Target="fonts/Raleway-boldItalic.fntdata"/><Relationship Id="rId53" Type="http://schemas.openxmlformats.org/officeDocument/2006/relationships/font" Target="fonts/RalewaySemiBold-italic.fntdata"/><Relationship Id="rId52" Type="http://schemas.openxmlformats.org/officeDocument/2006/relationships/font" Target="fonts/RalewaySemiBold-bold.fntdata"/><Relationship Id="rId11" Type="http://schemas.openxmlformats.org/officeDocument/2006/relationships/slide" Target="slides/slide6.xml"/><Relationship Id="rId55" Type="http://schemas.openxmlformats.org/officeDocument/2006/relationships/font" Target="fonts/Montserrat-regular.fntdata"/><Relationship Id="rId10" Type="http://schemas.openxmlformats.org/officeDocument/2006/relationships/slide" Target="slides/slide5.xml"/><Relationship Id="rId54" Type="http://schemas.openxmlformats.org/officeDocument/2006/relationships/font" Target="fonts/RalewaySemiBold-boldItalic.fntdata"/><Relationship Id="rId13" Type="http://schemas.openxmlformats.org/officeDocument/2006/relationships/slide" Target="slides/slide8.xml"/><Relationship Id="rId57" Type="http://schemas.openxmlformats.org/officeDocument/2006/relationships/font" Target="fonts/Montserrat-italic.fntdata"/><Relationship Id="rId12" Type="http://schemas.openxmlformats.org/officeDocument/2006/relationships/slide" Target="slides/slide7.xml"/><Relationship Id="rId56" Type="http://schemas.openxmlformats.org/officeDocument/2006/relationships/font" Target="fonts/Montserrat-bold.fntdata"/><Relationship Id="rId15" Type="http://schemas.openxmlformats.org/officeDocument/2006/relationships/slide" Target="slides/slide10.xml"/><Relationship Id="rId59" Type="http://schemas.openxmlformats.org/officeDocument/2006/relationships/font" Target="fonts/LatoBlack-bold.fntdata"/><Relationship Id="rId14" Type="http://schemas.openxmlformats.org/officeDocument/2006/relationships/slide" Target="slides/slide9.xml"/><Relationship Id="rId58" Type="http://schemas.openxmlformats.org/officeDocument/2006/relationships/font" Target="fonts/Montserrat-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ammoqadam?utm_source=unsplash&amp;utm_medium=referral&amp;utm_content=creditCopyText" TargetMode="External"/><Relationship Id="rId3" Type="http://schemas.openxmlformats.org/officeDocument/2006/relationships/hyperlink" Target="https://unsplash.com/@sammoqadam?utm_source=unsplash&amp;utm_medium=referral&amp;utm_content=creditCopyText" TargetMode="External"/><Relationship Id="rId4" Type="http://schemas.openxmlformats.org/officeDocument/2006/relationships/hyperlink" Target="https://unsplash.com/s/photos/digital-world?utm_source=unsplash&amp;utm_medium=referral&amp;utm_content=creditCopyText" TargetMode="External"/><Relationship Id="rId5" Type="http://schemas.openxmlformats.org/officeDocument/2006/relationships/hyperlink" Target="https://unsplash.com/s/photos/digital-world?utm_source=unsplash&amp;utm_medium=referral&amp;utm_content=creditCopyText"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amich_18?utm_source=unsplash&amp;utm_medium=referral&amp;utm_content=creditCopyText" TargetMode="External"/><Relationship Id="rId3" Type="http://schemas.openxmlformats.org/officeDocument/2006/relationships/hyperlink" Target="https://unsplash.com/@samich_18?utm_source=unsplash&amp;utm_medium=referral&amp;utm_content=creditCopyText" TargetMode="External"/><Relationship Id="rId4" Type="http://schemas.openxmlformats.org/officeDocument/2006/relationships/hyperlink" Target="https://unsplash.com/s/photos/online?utm_source=unsplash&amp;utm_medium=referral&amp;utm_content=creditCopyText" TargetMode="External"/><Relationship Id="rId5" Type="http://schemas.openxmlformats.org/officeDocument/2006/relationships/hyperlink" Target="https://unsplash.com/s/photos/online?utm_source=unsplash&amp;utm_medium=referral&amp;utm_content=creditCopyText"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robman?utm_source=unsplash&amp;utm_medium=referral&amp;utm_content=creditCopyText" TargetMode="External"/><Relationship Id="rId3" Type="http://schemas.openxmlformats.org/officeDocument/2006/relationships/hyperlink" Target="https://unsplash.com/@robman?utm_source=unsplash&amp;utm_medium=referral&amp;utm_content=creditCopyText" TargetMode="External"/><Relationship Id="rId4" Type="http://schemas.openxmlformats.org/officeDocument/2006/relationships/hyperlink" Target="https://unsplash.com/s/photos/users?utm_source=unsplash&amp;utm_medium=referral&amp;utm_content=creditCopyText" TargetMode="External"/><Relationship Id="rId5" Type="http://schemas.openxmlformats.org/officeDocument/2006/relationships/hyperlink" Target="https://unsplash.com/s/photos/users?utm_source=unsplash&amp;utm_medium=referral&amp;utm_content=creditCopyText"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robman?utm_source=unsplash&amp;utm_medium=referral&amp;utm_content=creditCopyText" TargetMode="External"/><Relationship Id="rId3" Type="http://schemas.openxmlformats.org/officeDocument/2006/relationships/hyperlink" Target="https://unsplash.com/@robman?utm_source=unsplash&amp;utm_medium=referral&amp;utm_content=creditCopyText" TargetMode="External"/><Relationship Id="rId4" Type="http://schemas.openxmlformats.org/officeDocument/2006/relationships/hyperlink" Target="https://unsplash.com/s/photos/users?utm_source=unsplash&amp;utm_medium=referral&amp;utm_content=creditCopyText" TargetMode="External"/><Relationship Id="rId5" Type="http://schemas.openxmlformats.org/officeDocument/2006/relationships/hyperlink" Target="https://unsplash.com/s/photos/users?utm_source=unsplash&amp;utm_medium=referral&amp;utm_content=creditCopyText"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hyperlink" Target="https://unsplash.com/s/photos/ui-ux-design?utm_source=unsplash&amp;utm_medium=referral&amp;utm_content=creditCopyText" TargetMode="External"/><Relationship Id="rId5" Type="http://schemas.openxmlformats.org/officeDocument/2006/relationships/hyperlink" Target="https://unsplash.com/s/photos/ui-ux-design?utm_source=unsplash&amp;utm_medium=referral&amp;utm_content=creditCopyText"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hyperlink" Target="https://unsplash.com/s/photos/ux-researcher?utm_source=unsplash&amp;utm_medium=referral&amp;utm_content=creditCopyText" TargetMode="External"/><Relationship Id="rId5" Type="http://schemas.openxmlformats.org/officeDocument/2006/relationships/hyperlink" Target="https://unsplash.com/s/photos/ux-researcher?utm_source=unsplash&amp;utm_medium=referral&amp;utm_content=creditCopyText"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craftedbygc?utm_source=unsplash&amp;utm_medium=referral&amp;utm_content=creditCopyText" TargetMode="External"/><Relationship Id="rId3" Type="http://schemas.openxmlformats.org/officeDocument/2006/relationships/hyperlink" Target="https://unsplash.com/@craftedbygc?utm_source=unsplash&amp;utm_medium=referral&amp;utm_content=creditCopyText" TargetMode="External"/><Relationship Id="rId4" Type="http://schemas.openxmlformats.org/officeDocument/2006/relationships/hyperlink" Target="https://unsplash.com/s/photos/ux-writer?utm_source=unsplash&amp;utm_medium=referral&amp;utm_content=creditCopyText" TargetMode="External"/><Relationship Id="rId5" Type="http://schemas.openxmlformats.org/officeDocument/2006/relationships/hyperlink" Target="https://unsplash.com/s/photos/ux-writer?utm_source=unsplash&amp;utm_medium=referral&amp;utm_content=creditCopyText"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hyperlink" Target="https://unsplash.com/s/photos/information-architecture?utm_source=unsplash&amp;utm_medium=referral&amp;utm_content=creditCopyText" TargetMode="External"/><Relationship Id="rId5" Type="http://schemas.openxmlformats.org/officeDocument/2006/relationships/hyperlink" Target="https://unsplash.com/s/photos/information-architecture?utm_source=unsplash&amp;utm_medium=referral&amp;utm_content=creditCopyText"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store?utm_source=unsplash&amp;utm_medium=referral&amp;utm_content=creditCopyText" TargetMode="External"/><Relationship Id="rId3" Type="http://schemas.openxmlformats.org/officeDocument/2006/relationships/hyperlink" Target="https://unsplash.com/@uxstore?utm_source=unsplash&amp;utm_medium=referral&amp;utm_content=creditCopyText" TargetMode="External"/><Relationship Id="rId4" Type="http://schemas.openxmlformats.org/officeDocument/2006/relationships/hyperlink" Target="https://unsplash.com/s/photos/ui-ux-design?utm_source=unsplash&amp;utm_medium=referral&amp;utm_content=creditCopyText" TargetMode="External"/><Relationship Id="rId5" Type="http://schemas.openxmlformats.org/officeDocument/2006/relationships/hyperlink" Target="https://unsplash.com/s/photos/ui-ux-design?utm_source=unsplash&amp;utm_medium=referral&amp;utm_content=creditCopyText"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campaign_creators?utm_source=unsplash&amp;utm_medium=referral&amp;utm_content=creditCopyText" TargetMode="External"/><Relationship Id="rId3" Type="http://schemas.openxmlformats.org/officeDocument/2006/relationships/hyperlink" Target="https://unsplash.com/@campaign_creators?utm_source=unsplash&amp;utm_medium=referral&amp;utm_content=creditCopyText" TargetMode="External"/><Relationship Id="rId4" Type="http://schemas.openxmlformats.org/officeDocument/2006/relationships/hyperlink" Target="https://unsplash.com/s/photos/meeting?utm_source=unsplash&amp;utm_medium=referral&amp;utm_content=creditCopyText" TargetMode="External"/><Relationship Id="rId5" Type="http://schemas.openxmlformats.org/officeDocument/2006/relationships/hyperlink" Target="https://unsplash.com/s/photos/meeting?utm_source=unsplash&amp;utm_medium=referral&amp;utm_content=creditCopyText"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danielkorpai?utm_source=unsplash&amp;utm_medium=referral&amp;utm_content=creditCopyText" TargetMode="External"/><Relationship Id="rId3" Type="http://schemas.openxmlformats.org/officeDocument/2006/relationships/hyperlink" Target="https://unsplash.com/@danielkorpai?utm_source=unsplash&amp;utm_medium=referral&amp;utm_content=creditCopyText" TargetMode="External"/><Relationship Id="rId4" Type="http://schemas.openxmlformats.org/officeDocument/2006/relationships/hyperlink" Target="https://unsplash.com/s/photos/ux-design?utm_source=unsplash&amp;utm_medium=referral&amp;utm_content=creditCopyText" TargetMode="External"/><Relationship Id="rId5" Type="http://schemas.openxmlformats.org/officeDocument/2006/relationships/hyperlink" Target="https://unsplash.com/s/photos/ux-design?utm_source=unsplash&amp;utm_medium=referral&amp;utm_content=creditCopyText"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lvarordesign?utm_source=unsplash&amp;utm_medium=referral&amp;utm_content=creditCopyText" TargetMode="External"/><Relationship Id="rId3" Type="http://schemas.openxmlformats.org/officeDocument/2006/relationships/hyperlink" Target="https://unsplash.com/@alvarordesign?utm_source=unsplash&amp;utm_medium=referral&amp;utm_content=creditCopyText" TargetMode="External"/><Relationship Id="rId4" Type="http://schemas.openxmlformats.org/officeDocument/2006/relationships/hyperlink" Target="https://unsplash.com/s/photos/interaction-designer?utm_source=unsplash&amp;utm_medium=referral&amp;utm_content=creditCopyText" TargetMode="External"/><Relationship Id="rId5" Type="http://schemas.openxmlformats.org/officeDocument/2006/relationships/hyperlink" Target="https://unsplash.com/s/photos/interaction-designer?utm_source=unsplash&amp;utm_medium=referral&amp;utm_content=creditCopyText"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0b12bec43e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10b12bec43e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0b12bec43e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10b12bec43e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Sam Moqadam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0b227ce755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10b227ce75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https://www.quickanddirtytips.com/education/math/what-do-analog-and-digital-mean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0b227ce755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0b227ce755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Samantha Borges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0b12bec43e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0b12bec43e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10b12bec43e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10b12bec43e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Rob Hampson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10b12bec43e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10b12bec43e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Rob Hampson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10b12bec43e_0_8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10b12bec43e_0_8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d1cbec2cef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d1cbec2cef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0b227ce755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10b227ce755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10b227ce755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10b227ce755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10b227ce755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10b227ce755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0b12bec43e_0_9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0b12bec43e_0_9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0b227ce755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10b227ce755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10b227ce755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10b227ce755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10b227ce755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10b227ce755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0b227ce755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10b227ce755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0e54dbc4a4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0e54dbc4a4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Jason Goodman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0b227ce755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10b227ce755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Jason Goodman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0b227ce755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0b227ce755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Green Chameleon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0b227ce755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0b227ce755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Jason Goodman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0b227ce755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0b227ce755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Store</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10b227ce755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10b227ce755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Campaign Creators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0b227ce755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10b227ce755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Daniel Korpai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10b227ce755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10b227ce755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Alvaro Reyes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10b227ce755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10b227ce755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10b12bec43e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10b12bec43e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10e54dbc4a4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10e54dbc4a4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10b227ce755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10b227ce755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10b227ce755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10b227ce755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10b227ce755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10b227ce755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d1cbec2ce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d1cbec2ce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d1cbec2ce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d1cbec2ce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d1cbec2cef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d1cbec2ce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d1cbec2cef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d1cbec2cef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10b227ce755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10b227ce755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10b227ce755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10b227ce755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112cdc6070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112cdc6070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FFFFFF"/>
                </a:solidFill>
                <a:latin typeface="Raleway SemiBold"/>
                <a:ea typeface="Raleway SemiBold"/>
                <a:cs typeface="Raleway SemiBold"/>
                <a:sym typeface="Raleway SemiBold"/>
              </a:rPr>
              <a:t>‹#›</a:t>
            </a:fld>
            <a:endParaRPr sz="1000">
              <a:solidFill>
                <a:srgbClr val="FFFFFF"/>
              </a:solidFill>
              <a:latin typeface="Raleway SemiBold"/>
              <a:ea typeface="Raleway SemiBold"/>
              <a:cs typeface="Raleway SemiBold"/>
              <a:sym typeface="Raleway SemiBo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FFFFFF"/>
                </a:solidFill>
                <a:latin typeface="Raleway SemiBold"/>
                <a:ea typeface="Raleway SemiBold"/>
                <a:cs typeface="Raleway SemiBold"/>
                <a:sym typeface="Raleway SemiBold"/>
              </a:rPr>
              <a:t>‹#›</a:t>
            </a:fld>
            <a:endParaRPr sz="1000">
              <a:solidFill>
                <a:srgbClr val="FFFFFF"/>
              </a:solidFill>
              <a:latin typeface="Raleway SemiBold"/>
              <a:ea typeface="Raleway SemiBold"/>
              <a:cs typeface="Raleway SemiBold"/>
              <a:sym typeface="Raleway SemiBo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unsplash.com/@sammoqadam?utm_source=unsplash&amp;utm_medium=referral&amp;utm_content=creditCopyText" TargetMode="External"/><Relationship Id="rId4" Type="http://schemas.openxmlformats.org/officeDocument/2006/relationships/image" Target="../media/image1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www.quickanddirtytips.com/education/math/what-do-analog-and-digital-mean" TargetMode="External"/><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unsplash.com/@charlesdeluvio?utm_source=unsplash&amp;utm_medium=referral&amp;utm_content=creditCopyText" TargetMode="External"/><Relationship Id="rId4" Type="http://schemas.openxmlformats.org/officeDocument/2006/relationships/image" Target="../media/image1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unsplash.com/@robman?utm_source=unsplash&amp;utm_medium=referral&amp;utm_content=creditCopyText" TargetMode="External"/><Relationship Id="rId4" Type="http://schemas.openxmlformats.org/officeDocument/2006/relationships/image" Target="../media/image1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unsplash.com/@robman?utm_source=unsplash&amp;utm_medium=referral&amp;utm_content=creditCopyText" TargetMode="External"/><Relationship Id="rId4" Type="http://schemas.openxmlformats.org/officeDocument/2006/relationships/image" Target="../media/image1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hyperlink" Target="https://hcipioneers.wordpress.com/portfolio/don-norman/" TargetMode="Externa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image" Target="../media/image17.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image" Target="../media/image1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unsplash.com/@craftedbygc?utm_source=unsplash&amp;utm_medium=referral&amp;utm_content=creditCopyText" TargetMode="External"/><Relationship Id="rId4" Type="http://schemas.openxmlformats.org/officeDocument/2006/relationships/image" Target="../media/image15.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unsplash.com/@charlesdeluvio?utm_source=unsplash&amp;utm_medium=referral&amp;utm_content=creditCopyText" TargetMode="External"/><Relationship Id="rId4" Type="http://schemas.openxmlformats.org/officeDocument/2006/relationships/image" Target="../media/image1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unsplash.com/@uxstore?utm_source=unsplash&amp;utm_medium=referral&amp;utm_content=creditCopyText" TargetMode="External"/><Relationship Id="rId4" Type="http://schemas.openxmlformats.org/officeDocument/2006/relationships/image" Target="../media/image20.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unsplash.com/@campaign_creators?utm_source=unsplash&amp;utm_medium=referral&amp;utm_content=creditCopyText" TargetMode="External"/><Relationship Id="rId4" Type="http://schemas.openxmlformats.org/officeDocument/2006/relationships/image" Target="../media/image19.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unsplash.com/@danielkorpai?utm_source=unsplash&amp;utm_medium=referral&amp;utm_content=creditCopyText" TargetMode="External"/><Relationship Id="rId4" Type="http://schemas.openxmlformats.org/officeDocument/2006/relationships/image" Target="../media/image22.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unsplash.com/@alvarordesign?utm_source=unsplash&amp;utm_medium=referral&amp;utm_content=creditCopyText" TargetMode="External"/><Relationship Id="rId4" Type="http://schemas.openxmlformats.org/officeDocument/2006/relationships/image" Target="../media/image2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png"/><Relationship Id="rId4" Type="http://schemas.openxmlformats.org/officeDocument/2006/relationships/hyperlink" Target="https://www.mckinsey.com/business-functions/mckinsey-digital/our-insights/strategy-for-a-digital-world" TargetMode="External"/><Relationship Id="rId5" Type="http://schemas.openxmlformats.org/officeDocument/2006/relationships/hyperlink" Target="https://uxdesign.cc/the-3-types-of-uxers-519dbbc2211c" TargetMode="External"/><Relationship Id="rId6" Type="http://schemas.openxmlformats.org/officeDocument/2006/relationships/hyperlink" Target="https://www.paldesk.com/user-experience-ux-digital-world/"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73" name="Shape 73"/>
        <p:cNvGrpSpPr/>
        <p:nvPr/>
      </p:nvGrpSpPr>
      <p:grpSpPr>
        <a:xfrm>
          <a:off x="0" y="0"/>
          <a:ext cx="0" cy="0"/>
          <a:chOff x="0" y="0"/>
          <a:chExt cx="0" cy="0"/>
        </a:xfrm>
      </p:grpSpPr>
      <p:sp>
        <p:nvSpPr>
          <p:cNvPr id="74" name="Google Shape;74;p14"/>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Raleway"/>
                <a:ea typeface="Raleway"/>
                <a:cs typeface="Raleway"/>
                <a:sym typeface="Raleway"/>
              </a:rPr>
              <a:t>UI/UX dan Dunia Digital</a:t>
            </a:r>
            <a:endParaRPr b="1" sz="2400">
              <a:solidFill>
                <a:srgbClr val="FFFFFF"/>
              </a:solidFill>
              <a:latin typeface="Raleway"/>
              <a:ea typeface="Raleway"/>
              <a:cs typeface="Raleway"/>
              <a:sym typeface="Raleway"/>
            </a:endParaRPr>
          </a:p>
          <a:p>
            <a:pPr indent="0" lvl="0" marL="0" rtl="0" algn="l">
              <a:spcBef>
                <a:spcPts val="0"/>
              </a:spcBef>
              <a:spcAft>
                <a:spcPts val="0"/>
              </a:spcAft>
              <a:buClr>
                <a:schemeClr val="dk1"/>
              </a:buClr>
              <a:buSzPts val="1100"/>
              <a:buFont typeface="Arial"/>
              <a:buNone/>
            </a:pPr>
            <a:r>
              <a:rPr b="1" lang="en">
                <a:solidFill>
                  <a:schemeClr val="lt1"/>
                </a:solidFill>
                <a:latin typeface="Raleway"/>
                <a:ea typeface="Raleway"/>
                <a:cs typeface="Raleway"/>
                <a:sym typeface="Raleway"/>
              </a:rPr>
              <a:t>Chapter 1 - Topic 2</a:t>
            </a:r>
            <a:endParaRPr b="1">
              <a:solidFill>
                <a:srgbClr val="FFFFFF"/>
              </a:solidFill>
              <a:latin typeface="Raleway"/>
              <a:ea typeface="Raleway"/>
              <a:cs typeface="Raleway"/>
              <a:sym typeface="Raleway"/>
            </a:endParaRPr>
          </a:p>
        </p:txBody>
      </p:sp>
      <p:cxnSp>
        <p:nvCxnSpPr>
          <p:cNvPr id="75" name="Google Shape;75;p14"/>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76" name="Google Shape;76;p14"/>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2" name="Google Shape;82;p1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Agenda</a:t>
            </a:r>
            <a:endParaRPr/>
          </a:p>
        </p:txBody>
      </p:sp>
      <p:pic>
        <p:nvPicPr>
          <p:cNvPr id="83" name="Google Shape;83;p15"/>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84" name="Google Shape;84;p15"/>
          <p:cNvSpPr txBox="1"/>
          <p:nvPr/>
        </p:nvSpPr>
        <p:spPr>
          <a:xfrm>
            <a:off x="685800" y="1024128"/>
            <a:ext cx="4114800" cy="36576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UI/UX dan Dunia Digital</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Pengenalan Dunia Digital</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Peran UI/UX dalam Dunia Digital</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Perbedaan UI vs UX</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Pekerjaan - pekerjaan terkait UI/UX</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6"/>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Sebelum kita menjelajahi UI/UX</a:t>
            </a:r>
            <a:endParaRPr/>
          </a:p>
          <a:p>
            <a:pPr indent="0" lvl="0" marL="0" rtl="0" algn="ctr">
              <a:spcBef>
                <a:spcPts val="0"/>
              </a:spcBef>
              <a:spcAft>
                <a:spcPts val="0"/>
              </a:spcAft>
              <a:buNone/>
            </a:pPr>
            <a:r>
              <a:rPr lang="en"/>
              <a:t>Mari mengenal lebih jauh apa itu </a:t>
            </a:r>
            <a:r>
              <a:rPr lang="en">
                <a:solidFill>
                  <a:srgbClr val="F2AB2F"/>
                </a:solidFill>
              </a:rPr>
              <a:t>dunia digital....</a:t>
            </a:r>
            <a:endParaRPr>
              <a:solidFill>
                <a:srgbClr val="F2AB2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5" name="Google Shape;95;p1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Pengenalan Dunia Digital</a:t>
            </a:r>
            <a:endParaRPr/>
          </a:p>
        </p:txBody>
      </p:sp>
      <p:sp>
        <p:nvSpPr>
          <p:cNvPr id="96" name="Google Shape;96;p17"/>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Dunia Digital</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Ungkapan dunia digital paling sering digunakan ketika mendefinisikan kefasihan digital, dan literasi digital.</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Dunia digital adalah ketersediaan dan penggunaan alat digital untuk berkomunikasi di Internet, perangkat digital, perangkat pintar, dan teknologi lainnya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97" name="Google Shape;97;p17">
            <a:hlinkClick r:id="rId3"/>
          </p:cNvPr>
          <p:cNvPicPr preferRelativeResize="0"/>
          <p:nvPr/>
        </p:nvPicPr>
        <p:blipFill rotWithShape="1">
          <a:blip r:embed="rId4">
            <a:alphaModFix/>
          </a:blip>
          <a:srcRect b="19704" l="0" r="0" t="19704"/>
          <a:stretch/>
        </p:blipFill>
        <p:spPr>
          <a:xfrm>
            <a:off x="5638800" y="1359987"/>
            <a:ext cx="3017517" cy="27431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3" name="Google Shape;103;p1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Pengenalan Dunia Digital</a:t>
            </a:r>
            <a:endParaRPr/>
          </a:p>
        </p:txBody>
      </p:sp>
      <p:sp>
        <p:nvSpPr>
          <p:cNvPr id="104" name="Google Shape;104;p18"/>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Dunia Digital di Masa Lalu</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Ungkapan dunia digital digunakan dalam studi teknik listrik sebelum penciptaan World Wide Web.</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Awalnya itu digunakan untuk menggambarkan prevalensi perangkat elektronik digital sebagai lawan dari perangkat elektronik analog. Artikel yang berkaitan dengan pendidikan di dunia digital menjadi lebih umum pada tahun 1990-an.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05" name="Google Shape;105;p18">
            <a:hlinkClick r:id="rId3"/>
          </p:cNvPr>
          <p:cNvPicPr preferRelativeResize="0"/>
          <p:nvPr/>
        </p:nvPicPr>
        <p:blipFill rotWithShape="1">
          <a:blip r:embed="rId4">
            <a:alphaModFix/>
          </a:blip>
          <a:srcRect b="4545" l="0" r="0" t="4545"/>
          <a:stretch/>
        </p:blipFill>
        <p:spPr>
          <a:xfrm>
            <a:off x="5638800" y="1359987"/>
            <a:ext cx="3017516" cy="274319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1" name="Google Shape;111;p1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Pengenalan Dunia Digital</a:t>
            </a:r>
            <a:endParaRPr/>
          </a:p>
        </p:txBody>
      </p:sp>
      <p:sp>
        <p:nvSpPr>
          <p:cNvPr id="112" name="Google Shape;112;p19"/>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Dunia Digital Sekarang</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Saat ini adalah dunia digital adalah dunia online. Semuanya online.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Manusia mencari produk yang mereka butuhkan secara online, kita online untuk mendapatkan informasi lebih lanjut tentang hampir semua hal, dan kita online untuk berbicara dengan teman.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Setiap kali pelanggan online, bisnis memiliki kesempatan untuk terhubung dengan mereka.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13" name="Google Shape;113;p19">
            <a:hlinkClick r:id="rId3"/>
          </p:cNvPr>
          <p:cNvPicPr preferRelativeResize="0"/>
          <p:nvPr/>
        </p:nvPicPr>
        <p:blipFill rotWithShape="1">
          <a:blip r:embed="rId4">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0"/>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Peran </a:t>
            </a:r>
            <a:r>
              <a:rPr lang="en">
                <a:solidFill>
                  <a:schemeClr val="accent1"/>
                </a:solidFill>
              </a:rPr>
              <a:t>UI/UX</a:t>
            </a:r>
            <a:r>
              <a:rPr lang="en"/>
              <a:t> dalam Dunia Digital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4" name="Google Shape;124;p2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Peran UI/UX dalam Dunia Digital</a:t>
            </a:r>
            <a:endParaRPr/>
          </a:p>
        </p:txBody>
      </p:sp>
      <p:sp>
        <p:nvSpPr>
          <p:cNvPr id="125" name="Google Shape;125;p21"/>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Perkembangan UI dan UX saat ini adalah salah satu fase kunci dalam bisnis. Banyak penelitian telah menunjukkan bahwa tampilan atau kesan pertama dari sebuah situs web sangat penting.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Misalnya, pengguna seluler lima kali lebih mungkin meninggalkan tugas jika situs web tidak dioptimalkan untuk ponsel.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b="1" lang="en" sz="1200">
                <a:solidFill>
                  <a:srgbClr val="512252"/>
                </a:solidFill>
                <a:latin typeface="Raleway"/>
                <a:ea typeface="Raleway"/>
                <a:cs typeface="Raleway"/>
                <a:sym typeface="Raleway"/>
              </a:rPr>
              <a:t>Jika pengguna tidak menganggap situs web Anda bermanfaat, 79% dari mereka akan terus mencari dan mereka akan mencoba menemukan situs lain yang dapat memenuhi kebutuhan mereka.</a:t>
            </a:r>
            <a:endParaRPr b="1" sz="1200">
              <a:solidFill>
                <a:srgbClr val="512252"/>
              </a:solidFill>
              <a:latin typeface="Raleway"/>
              <a:ea typeface="Raleway"/>
              <a:cs typeface="Raleway"/>
              <a:sym typeface="Raleway"/>
            </a:endParaRPr>
          </a:p>
        </p:txBody>
      </p:sp>
      <p:pic>
        <p:nvPicPr>
          <p:cNvPr id="126" name="Google Shape;126;p21">
            <a:hlinkClick r:id="rId3"/>
          </p:cNvPr>
          <p:cNvPicPr preferRelativeResize="0"/>
          <p:nvPr/>
        </p:nvPicPr>
        <p:blipFill rotWithShape="1">
          <a:blip r:embed="rId4">
            <a:alphaModFix/>
          </a:blip>
          <a:srcRect b="0" l="13343" r="13343" t="0"/>
          <a:stretch/>
        </p:blipFill>
        <p:spPr>
          <a:xfrm>
            <a:off x="5486400" y="1280160"/>
            <a:ext cx="3017518" cy="27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2" name="Google Shape;132;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Peran UI/UX dalam Dunia Digital</a:t>
            </a:r>
            <a:endParaRPr/>
          </a:p>
        </p:txBody>
      </p:sp>
      <p:sp>
        <p:nvSpPr>
          <p:cNvPr id="133" name="Google Shape;133;p22"/>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Dalam dunia digital saat ini, perangkat seluler perlahan menjadi cara dominan untuk menjelajah internet.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Sebagian besar tugas yang sebelumnya dilakukan di PC saat ini dilakukan di perangkat seluler. Karena alasan ini, pembuatan aplikasi web yang responsif untuk perangkat seluler menjadi sangat penting.</a:t>
            </a:r>
            <a:endParaRPr sz="1200">
              <a:solidFill>
                <a:schemeClr val="dk1"/>
              </a:solidFill>
              <a:latin typeface="Raleway Medium"/>
              <a:ea typeface="Raleway Medium"/>
              <a:cs typeface="Raleway Medium"/>
              <a:sym typeface="Raleway Medium"/>
            </a:endParaRPr>
          </a:p>
        </p:txBody>
      </p:sp>
      <p:pic>
        <p:nvPicPr>
          <p:cNvPr id="134" name="Google Shape;134;p22">
            <a:hlinkClick r:id="rId3"/>
          </p:cNvPr>
          <p:cNvPicPr preferRelativeResize="0"/>
          <p:nvPr/>
        </p:nvPicPr>
        <p:blipFill rotWithShape="1">
          <a:blip r:embed="rId4">
            <a:alphaModFix/>
          </a:blip>
          <a:srcRect b="0" l="13343" r="13343" t="0"/>
          <a:stretch/>
        </p:blipFill>
        <p:spPr>
          <a:xfrm>
            <a:off x="5486400" y="1280160"/>
            <a:ext cx="3017518" cy="2743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0" name="Google Shape;140;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Peran UI/UX dalam Dunia Digital</a:t>
            </a:r>
            <a:endParaRPr/>
          </a:p>
        </p:txBody>
      </p:sp>
      <p:sp>
        <p:nvSpPr>
          <p:cNvPr id="141" name="Google Shape;141;p23"/>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Dalam dunia digital saat ini ada 3 aspek dari teknologi yaitu</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Goods (Barang)</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Services (Layanan)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Human (Manusia</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145" name="Shape 145"/>
        <p:cNvGrpSpPr/>
        <p:nvPr/>
      </p:nvGrpSpPr>
      <p:grpSpPr>
        <a:xfrm>
          <a:off x="0" y="0"/>
          <a:ext cx="0" cy="0"/>
          <a:chOff x="0" y="0"/>
          <a:chExt cx="0" cy="0"/>
        </a:xfrm>
      </p:grpSpPr>
      <p:sp>
        <p:nvSpPr>
          <p:cNvPr id="146" name="Google Shape;146;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Peran UI/UX dalam Dunia Digital</a:t>
            </a:r>
            <a:endParaRPr/>
          </a:p>
        </p:txBody>
      </p:sp>
      <p:grpSp>
        <p:nvGrpSpPr>
          <p:cNvPr id="147" name="Google Shape;147;p24"/>
          <p:cNvGrpSpPr/>
          <p:nvPr/>
        </p:nvGrpSpPr>
        <p:grpSpPr>
          <a:xfrm>
            <a:off x="3066325" y="1769450"/>
            <a:ext cx="2976975" cy="2703650"/>
            <a:chOff x="3066325" y="1769450"/>
            <a:chExt cx="2976975" cy="2703650"/>
          </a:xfrm>
        </p:grpSpPr>
        <p:pic>
          <p:nvPicPr>
            <p:cNvPr id="148" name="Google Shape;148;p24"/>
            <p:cNvPicPr preferRelativeResize="0"/>
            <p:nvPr/>
          </p:nvPicPr>
          <p:blipFill rotWithShape="1">
            <a:blip r:embed="rId3">
              <a:alphaModFix/>
            </a:blip>
            <a:srcRect b="12465" l="23957" r="28165" t="18815"/>
            <a:stretch/>
          </p:blipFill>
          <p:spPr>
            <a:xfrm>
              <a:off x="3143250" y="1769450"/>
              <a:ext cx="2626701" cy="2439874"/>
            </a:xfrm>
            <a:prstGeom prst="rect">
              <a:avLst/>
            </a:prstGeom>
            <a:noFill/>
            <a:ln>
              <a:noFill/>
            </a:ln>
          </p:spPr>
        </p:pic>
        <p:sp>
          <p:nvSpPr>
            <p:cNvPr id="149" name="Google Shape;149;p24"/>
            <p:cNvSpPr/>
            <p:nvPr/>
          </p:nvSpPr>
          <p:spPr>
            <a:xfrm>
              <a:off x="3066325" y="3659800"/>
              <a:ext cx="604500" cy="813300"/>
            </a:xfrm>
            <a:prstGeom prst="roundRect">
              <a:avLst>
                <a:gd fmla="val 16667" name="adj"/>
              </a:avLst>
            </a:prstGeom>
            <a:solidFill>
              <a:srgbClr val="7436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4"/>
            <p:cNvSpPr/>
            <p:nvPr/>
          </p:nvSpPr>
          <p:spPr>
            <a:xfrm>
              <a:off x="5438800" y="3174750"/>
              <a:ext cx="604500" cy="813300"/>
            </a:xfrm>
            <a:prstGeom prst="roundRect">
              <a:avLst>
                <a:gd fmla="val 16667" name="adj"/>
              </a:avLst>
            </a:prstGeom>
            <a:solidFill>
              <a:srgbClr val="7436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154" name="Shape 154"/>
        <p:cNvGrpSpPr/>
        <p:nvPr/>
      </p:nvGrpSpPr>
      <p:grpSpPr>
        <a:xfrm>
          <a:off x="0" y="0"/>
          <a:ext cx="0" cy="0"/>
          <a:chOff x="0" y="0"/>
          <a:chExt cx="0" cy="0"/>
        </a:xfrm>
      </p:grpSpPr>
      <p:sp>
        <p:nvSpPr>
          <p:cNvPr id="155" name="Google Shape;155;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Peran UI/UX dalam Dunia Digital</a:t>
            </a:r>
            <a:endParaRPr/>
          </a:p>
        </p:txBody>
      </p:sp>
      <p:pic>
        <p:nvPicPr>
          <p:cNvPr id="156" name="Google Shape;156;p25"/>
          <p:cNvPicPr preferRelativeResize="0"/>
          <p:nvPr/>
        </p:nvPicPr>
        <p:blipFill rotWithShape="1">
          <a:blip r:embed="rId3">
            <a:alphaModFix/>
          </a:blip>
          <a:srcRect b="0" l="0" r="0" t="0"/>
          <a:stretch/>
        </p:blipFill>
        <p:spPr>
          <a:xfrm>
            <a:off x="1828800" y="1101308"/>
            <a:ext cx="5486399" cy="355048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2" name="Google Shape;162;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Peran UI/UX dalam Dunia Digital</a:t>
            </a:r>
            <a:endParaRPr/>
          </a:p>
        </p:txBody>
      </p:sp>
      <p:sp>
        <p:nvSpPr>
          <p:cNvPr id="163" name="Google Shape;163;p26"/>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Dalam dunia digital saat ini ada 3 aspek dari teknologi yaitu</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Goods (Barang)</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Services (Layanan)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Human (Manusia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Goods dan services adalah bagian dari produk.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Sebuah produk yang akan digunakan oleh pengguna akan melalui </a:t>
            </a:r>
            <a:r>
              <a:rPr b="1" lang="en" sz="1200">
                <a:solidFill>
                  <a:srgbClr val="512252"/>
                </a:solidFill>
                <a:latin typeface="Raleway"/>
                <a:ea typeface="Raleway"/>
                <a:cs typeface="Raleway"/>
                <a:sym typeface="Raleway"/>
              </a:rPr>
              <a:t>proses pembuatan</a:t>
            </a:r>
            <a:r>
              <a:rPr lang="en" sz="1200">
                <a:solidFill>
                  <a:schemeClr val="dk1"/>
                </a:solidFill>
                <a:latin typeface="Raleway Medium"/>
                <a:ea typeface="Raleway Medium"/>
                <a:cs typeface="Raleway Medium"/>
                <a:sym typeface="Raleway Medium"/>
              </a:rPr>
              <a: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Nah, UI/UX berperan penting dalam proses pembuatan tersebut.</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167" name="Shape 167"/>
        <p:cNvGrpSpPr/>
        <p:nvPr/>
      </p:nvGrpSpPr>
      <p:grpSpPr>
        <a:xfrm>
          <a:off x="0" y="0"/>
          <a:ext cx="0" cy="0"/>
          <a:chOff x="0" y="0"/>
          <a:chExt cx="0" cy="0"/>
        </a:xfrm>
      </p:grpSpPr>
      <p:pic>
        <p:nvPicPr>
          <p:cNvPr id="168" name="Google Shape;168;p27"/>
          <p:cNvPicPr preferRelativeResize="0"/>
          <p:nvPr/>
        </p:nvPicPr>
        <p:blipFill>
          <a:blip r:embed="rId3">
            <a:alphaModFix/>
          </a:blip>
          <a:stretch>
            <a:fillRect/>
          </a:stretch>
        </p:blipFill>
        <p:spPr>
          <a:xfrm>
            <a:off x="1828800" y="1423427"/>
            <a:ext cx="5486400" cy="2753846"/>
          </a:xfrm>
          <a:prstGeom prst="rect">
            <a:avLst/>
          </a:prstGeom>
          <a:noFill/>
          <a:ln>
            <a:noFill/>
          </a:ln>
        </p:spPr>
      </p:pic>
      <p:sp>
        <p:nvSpPr>
          <p:cNvPr id="169" name="Google Shape;169;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Peran UI/UX dalam Dunia Digital</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8"/>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Nah, sekarang mari kita perdalam perbedaan </a:t>
            </a:r>
            <a:endParaRPr/>
          </a:p>
          <a:p>
            <a:pPr indent="0" lvl="0" marL="0" rtl="0" algn="ctr">
              <a:spcBef>
                <a:spcPts val="0"/>
              </a:spcBef>
              <a:spcAft>
                <a:spcPts val="0"/>
              </a:spcAft>
              <a:buNone/>
            </a:pPr>
            <a:r>
              <a:rPr lang="en">
                <a:solidFill>
                  <a:schemeClr val="accent1"/>
                </a:solidFill>
              </a:rPr>
              <a:t>UI vs UX </a:t>
            </a:r>
            <a:endParaRPr>
              <a:solidFill>
                <a:schemeClr val="accen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178" name="Shape 178"/>
        <p:cNvGrpSpPr/>
        <p:nvPr/>
      </p:nvGrpSpPr>
      <p:grpSpPr>
        <a:xfrm>
          <a:off x="0" y="0"/>
          <a:ext cx="0" cy="0"/>
          <a:chOff x="0" y="0"/>
          <a:chExt cx="0" cy="0"/>
        </a:xfrm>
      </p:grpSpPr>
      <p:pic>
        <p:nvPicPr>
          <p:cNvPr id="179" name="Google Shape;179;p29"/>
          <p:cNvPicPr preferRelativeResize="0"/>
          <p:nvPr/>
        </p:nvPicPr>
        <p:blipFill rotWithShape="1">
          <a:blip r:embed="rId3">
            <a:alphaModFix/>
          </a:blip>
          <a:srcRect b="0" l="0" r="0" t="0"/>
          <a:stretch/>
        </p:blipFill>
        <p:spPr>
          <a:xfrm>
            <a:off x="1057950" y="1652025"/>
            <a:ext cx="7028774" cy="1667450"/>
          </a:xfrm>
          <a:prstGeom prst="rect">
            <a:avLst/>
          </a:prstGeom>
          <a:noFill/>
          <a:ln>
            <a:noFill/>
          </a:ln>
        </p:spPr>
      </p:pic>
      <p:sp>
        <p:nvSpPr>
          <p:cNvPr id="180" name="Google Shape;180;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UI vs UX</a:t>
            </a:r>
            <a:endParaRPr/>
          </a:p>
        </p:txBody>
      </p:sp>
      <p:pic>
        <p:nvPicPr>
          <p:cNvPr id="181" name="Google Shape;181;p29"/>
          <p:cNvPicPr preferRelativeResize="0"/>
          <p:nvPr/>
        </p:nvPicPr>
        <p:blipFill>
          <a:blip r:embed="rId4">
            <a:alphaModFix/>
          </a:blip>
          <a:stretch>
            <a:fillRect/>
          </a:stretch>
        </p:blipFill>
        <p:spPr>
          <a:xfrm>
            <a:off x="1057612" y="1652023"/>
            <a:ext cx="7028774" cy="209483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185" name="Shape 185"/>
        <p:cNvGrpSpPr/>
        <p:nvPr/>
      </p:nvGrpSpPr>
      <p:grpSpPr>
        <a:xfrm>
          <a:off x="0" y="0"/>
          <a:ext cx="0" cy="0"/>
          <a:chOff x="0" y="0"/>
          <a:chExt cx="0" cy="0"/>
        </a:xfrm>
      </p:grpSpPr>
      <p:sp>
        <p:nvSpPr>
          <p:cNvPr id="186" name="Google Shape;186;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UI vs UX</a:t>
            </a:r>
            <a:endParaRPr/>
          </a:p>
        </p:txBody>
      </p:sp>
      <p:sp>
        <p:nvSpPr>
          <p:cNvPr id="187" name="Google Shape;187;p30"/>
          <p:cNvSpPr txBox="1"/>
          <p:nvPr/>
        </p:nvSpPr>
        <p:spPr>
          <a:xfrm>
            <a:off x="685800" y="1188720"/>
            <a:ext cx="4114800" cy="32004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b="1" lang="en" sz="1800">
                <a:solidFill>
                  <a:schemeClr val="lt1"/>
                </a:solidFill>
                <a:latin typeface="Raleway"/>
                <a:ea typeface="Raleway"/>
                <a:cs typeface="Raleway"/>
                <a:sym typeface="Raleway"/>
              </a:rPr>
              <a:t>Aturan dasar-nya adalah:</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rPr b="1" lang="en" sz="1800">
                <a:solidFill>
                  <a:schemeClr val="lt1"/>
                </a:solidFill>
                <a:latin typeface="Raleway"/>
                <a:ea typeface="Raleway"/>
                <a:cs typeface="Raleway"/>
                <a:sym typeface="Raleway"/>
              </a:rPr>
              <a:t>UI adalah tampilannya dan</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rPr b="1" lang="en" sz="1800">
                <a:solidFill>
                  <a:schemeClr val="lt1"/>
                </a:solidFill>
                <a:latin typeface="Raleway"/>
                <a:ea typeface="Raleway"/>
                <a:cs typeface="Raleway"/>
                <a:sym typeface="Raleway"/>
              </a:rPr>
              <a:t>UX adalah cara kerjanya.</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rPr b="1" lang="en" sz="1800">
                <a:solidFill>
                  <a:schemeClr val="lt1"/>
                </a:solidFill>
                <a:latin typeface="Raleway"/>
                <a:ea typeface="Raleway"/>
                <a:cs typeface="Raleway"/>
                <a:sym typeface="Raleway"/>
              </a:rPr>
              <a:t>“Jika UX adalah otak dari sebuah produk, maka UI adalah jiwanya.”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rPr b="1" lang="en" sz="1800">
                <a:solidFill>
                  <a:schemeClr val="lt1"/>
                </a:solidFill>
                <a:latin typeface="Raleway"/>
                <a:ea typeface="Raleway"/>
                <a:cs typeface="Raleway"/>
                <a:sym typeface="Raleway"/>
              </a:rPr>
              <a:t>— Anton Mikhaltsov</a:t>
            </a:r>
            <a:endParaRPr b="1" sz="1800">
              <a:solidFill>
                <a:schemeClr val="lt1"/>
              </a:solidFill>
              <a:latin typeface="Raleway"/>
              <a:ea typeface="Raleway"/>
              <a:cs typeface="Raleway"/>
              <a:sym typeface="Raleway"/>
            </a:endParaRPr>
          </a:p>
        </p:txBody>
      </p:sp>
      <p:pic>
        <p:nvPicPr>
          <p:cNvPr id="188" name="Google Shape;188;p30">
            <a:hlinkClick r:id="rId3"/>
          </p:cNvPr>
          <p:cNvPicPr preferRelativeResize="0"/>
          <p:nvPr/>
        </p:nvPicPr>
        <p:blipFill rotWithShape="1">
          <a:blip r:embed="rId4">
            <a:alphaModFix/>
          </a:blip>
          <a:srcRect b="-1910" l="-7103" r="-7103" t="-1920"/>
          <a:stretch/>
        </p:blipFill>
        <p:spPr>
          <a:xfrm>
            <a:off x="5574000" y="1188720"/>
            <a:ext cx="3017521" cy="2743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192" name="Shape 192"/>
        <p:cNvGrpSpPr/>
        <p:nvPr/>
      </p:nvGrpSpPr>
      <p:grpSpPr>
        <a:xfrm>
          <a:off x="0" y="0"/>
          <a:ext cx="0" cy="0"/>
          <a:chOff x="0" y="0"/>
          <a:chExt cx="0" cy="0"/>
        </a:xfrm>
      </p:grpSpPr>
      <p:pic>
        <p:nvPicPr>
          <p:cNvPr id="193" name="Google Shape;193;p31"/>
          <p:cNvPicPr preferRelativeResize="0"/>
          <p:nvPr/>
        </p:nvPicPr>
        <p:blipFill>
          <a:blip r:embed="rId3">
            <a:alphaModFix/>
          </a:blip>
          <a:stretch>
            <a:fillRect/>
          </a:stretch>
        </p:blipFill>
        <p:spPr>
          <a:xfrm>
            <a:off x="1057950" y="2955233"/>
            <a:ext cx="7031735" cy="1313824"/>
          </a:xfrm>
          <a:prstGeom prst="rect">
            <a:avLst/>
          </a:prstGeom>
          <a:noFill/>
          <a:ln>
            <a:noFill/>
          </a:ln>
        </p:spPr>
      </p:pic>
      <p:sp>
        <p:nvSpPr>
          <p:cNvPr id="194" name="Google Shape;194;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UI vs UX</a:t>
            </a:r>
            <a:endParaRPr/>
          </a:p>
        </p:txBody>
      </p:sp>
      <p:sp>
        <p:nvSpPr>
          <p:cNvPr id="195" name="Google Shape;195;p31"/>
          <p:cNvSpPr txBox="1"/>
          <p:nvPr/>
        </p:nvSpPr>
        <p:spPr>
          <a:xfrm>
            <a:off x="1038098" y="1341125"/>
            <a:ext cx="2825400" cy="1233000"/>
          </a:xfrm>
          <a:prstGeom prst="rect">
            <a:avLst/>
          </a:prstGeom>
          <a:noFill/>
          <a:ln>
            <a:noFill/>
          </a:ln>
        </p:spPr>
        <p:txBody>
          <a:bodyPr anchorCtr="0" anchor="ctr" bIns="0" lIns="0" spcFirstLastPara="1" rIns="0" wrap="square" tIns="0">
            <a:spAutoFit/>
          </a:bodyPr>
          <a:lstStyle/>
          <a:p>
            <a:pPr indent="0" lvl="0" marL="0" rtl="0" algn="l">
              <a:lnSpc>
                <a:spcPct val="115000"/>
              </a:lnSpc>
              <a:spcBef>
                <a:spcPts val="0"/>
              </a:spcBef>
              <a:spcAft>
                <a:spcPts val="0"/>
              </a:spcAft>
              <a:buNone/>
            </a:pPr>
            <a:r>
              <a:rPr b="1" lang="en" sz="1800">
                <a:solidFill>
                  <a:schemeClr val="lt1"/>
                </a:solidFill>
                <a:latin typeface="Raleway"/>
                <a:ea typeface="Raleway"/>
                <a:cs typeface="Raleway"/>
                <a:sym typeface="Raleway"/>
              </a:rPr>
              <a:t>visual design</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rPr b="1" lang="en" sz="1800">
                <a:solidFill>
                  <a:schemeClr val="lt1"/>
                </a:solidFill>
                <a:latin typeface="Raleway"/>
                <a:ea typeface="Raleway"/>
                <a:cs typeface="Raleway"/>
                <a:sym typeface="Raleway"/>
              </a:rPr>
              <a:t>interactivity &amp; animation</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rPr b="1" lang="en" sz="1800">
                <a:solidFill>
                  <a:schemeClr val="lt1"/>
                </a:solidFill>
                <a:latin typeface="Raleway"/>
                <a:ea typeface="Raleway"/>
                <a:cs typeface="Raleway"/>
                <a:sym typeface="Raleway"/>
              </a:rPr>
              <a:t>device responsiveness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rPr b="1" lang="en" sz="1800">
                <a:solidFill>
                  <a:schemeClr val="lt1"/>
                </a:solidFill>
                <a:latin typeface="Raleway"/>
                <a:ea typeface="Raleway"/>
                <a:cs typeface="Raleway"/>
                <a:sym typeface="Raleway"/>
              </a:rPr>
              <a:t>brand implementation</a:t>
            </a:r>
            <a:endParaRPr b="1" sz="1800">
              <a:solidFill>
                <a:schemeClr val="lt1"/>
              </a:solidFill>
              <a:latin typeface="Raleway"/>
              <a:ea typeface="Raleway"/>
              <a:cs typeface="Raleway"/>
              <a:sym typeface="Raleway"/>
            </a:endParaRPr>
          </a:p>
        </p:txBody>
      </p:sp>
      <p:sp>
        <p:nvSpPr>
          <p:cNvPr id="196" name="Google Shape;196;p31"/>
          <p:cNvSpPr txBox="1"/>
          <p:nvPr/>
        </p:nvSpPr>
        <p:spPr>
          <a:xfrm>
            <a:off x="5192317" y="1341125"/>
            <a:ext cx="2825400" cy="1233000"/>
          </a:xfrm>
          <a:prstGeom prst="rect">
            <a:avLst/>
          </a:prstGeom>
          <a:noFill/>
          <a:ln>
            <a:noFill/>
          </a:ln>
        </p:spPr>
        <p:txBody>
          <a:bodyPr anchorCtr="0" anchor="ctr" bIns="0" lIns="0" spcFirstLastPara="1" rIns="0" wrap="square" tIns="0">
            <a:spAutoFit/>
          </a:bodyPr>
          <a:lstStyle/>
          <a:p>
            <a:pPr indent="0" lvl="0" marL="0" rtl="0" algn="r">
              <a:lnSpc>
                <a:spcPct val="115000"/>
              </a:lnSpc>
              <a:spcBef>
                <a:spcPts val="0"/>
              </a:spcBef>
              <a:spcAft>
                <a:spcPts val="0"/>
              </a:spcAft>
              <a:buNone/>
            </a:pPr>
            <a:r>
              <a:rPr b="1" lang="en" sz="1800">
                <a:solidFill>
                  <a:schemeClr val="lt1"/>
                </a:solidFill>
                <a:latin typeface="Raleway"/>
                <a:ea typeface="Raleway"/>
                <a:cs typeface="Raleway"/>
                <a:sym typeface="Raleway"/>
              </a:rPr>
              <a:t>strategy &amp; content</a:t>
            </a:r>
            <a:endParaRPr b="1" sz="1800">
              <a:solidFill>
                <a:schemeClr val="lt1"/>
              </a:solidFill>
              <a:latin typeface="Raleway"/>
              <a:ea typeface="Raleway"/>
              <a:cs typeface="Raleway"/>
              <a:sym typeface="Raleway"/>
            </a:endParaRPr>
          </a:p>
          <a:p>
            <a:pPr indent="0" lvl="0" marL="0" rtl="0" algn="r">
              <a:lnSpc>
                <a:spcPct val="115000"/>
              </a:lnSpc>
              <a:spcBef>
                <a:spcPts val="0"/>
              </a:spcBef>
              <a:spcAft>
                <a:spcPts val="0"/>
              </a:spcAft>
              <a:buNone/>
            </a:pPr>
            <a:r>
              <a:rPr b="1" lang="en" sz="1800">
                <a:solidFill>
                  <a:schemeClr val="lt1"/>
                </a:solidFill>
                <a:latin typeface="Raleway"/>
                <a:ea typeface="Raleway"/>
                <a:cs typeface="Raleway"/>
                <a:sym typeface="Raleway"/>
              </a:rPr>
              <a:t>competitor analysis</a:t>
            </a:r>
            <a:endParaRPr b="1" sz="1800">
              <a:solidFill>
                <a:schemeClr val="lt1"/>
              </a:solidFill>
              <a:latin typeface="Raleway"/>
              <a:ea typeface="Raleway"/>
              <a:cs typeface="Raleway"/>
              <a:sym typeface="Raleway"/>
            </a:endParaRPr>
          </a:p>
          <a:p>
            <a:pPr indent="0" lvl="0" marL="0" rtl="0" algn="r">
              <a:lnSpc>
                <a:spcPct val="115000"/>
              </a:lnSpc>
              <a:spcBef>
                <a:spcPts val="0"/>
              </a:spcBef>
              <a:spcAft>
                <a:spcPts val="0"/>
              </a:spcAft>
              <a:buNone/>
            </a:pPr>
            <a:r>
              <a:rPr b="1" lang="en" sz="1800">
                <a:solidFill>
                  <a:schemeClr val="lt1"/>
                </a:solidFill>
                <a:latin typeface="Raleway"/>
                <a:ea typeface="Raleway"/>
                <a:cs typeface="Raleway"/>
                <a:sym typeface="Raleway"/>
              </a:rPr>
              <a:t>wireframing </a:t>
            </a:r>
            <a:endParaRPr b="1" sz="1800">
              <a:solidFill>
                <a:schemeClr val="lt1"/>
              </a:solidFill>
              <a:latin typeface="Raleway"/>
              <a:ea typeface="Raleway"/>
              <a:cs typeface="Raleway"/>
              <a:sym typeface="Raleway"/>
            </a:endParaRPr>
          </a:p>
          <a:p>
            <a:pPr indent="0" lvl="0" marL="0" rtl="0" algn="r">
              <a:lnSpc>
                <a:spcPct val="115000"/>
              </a:lnSpc>
              <a:spcBef>
                <a:spcPts val="0"/>
              </a:spcBef>
              <a:spcAft>
                <a:spcPts val="0"/>
              </a:spcAft>
              <a:buNone/>
            </a:pPr>
            <a:r>
              <a:rPr b="1" lang="en" sz="1800">
                <a:solidFill>
                  <a:schemeClr val="lt1"/>
                </a:solidFill>
                <a:latin typeface="Raleway"/>
                <a:ea typeface="Raleway"/>
                <a:cs typeface="Raleway"/>
                <a:sym typeface="Raleway"/>
              </a:rPr>
              <a:t>research &amp; analysis</a:t>
            </a:r>
            <a:endParaRPr b="1" sz="1800">
              <a:solidFill>
                <a:schemeClr val="lt1"/>
              </a:solidFill>
              <a:latin typeface="Raleway"/>
              <a:ea typeface="Raleway"/>
              <a:cs typeface="Raleway"/>
              <a:sym typeface="Raleway"/>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2"/>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Pekerjaan - pekerjaan terkait </a:t>
            </a:r>
            <a:endParaRPr/>
          </a:p>
          <a:p>
            <a:pPr indent="0" lvl="0" marL="0" rtl="0" algn="ctr">
              <a:spcBef>
                <a:spcPts val="0"/>
              </a:spcBef>
              <a:spcAft>
                <a:spcPts val="0"/>
              </a:spcAft>
              <a:buNone/>
            </a:pPr>
            <a:r>
              <a:rPr lang="en">
                <a:solidFill>
                  <a:schemeClr val="accent1"/>
                </a:solidFill>
              </a:rPr>
              <a:t>UI/UX </a:t>
            </a:r>
            <a:endParaRPr>
              <a:solidFill>
                <a:schemeClr val="accent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7" name="Google Shape;207;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Pekerjaan - pekerjaan terkait UI/UX </a:t>
            </a:r>
            <a:endParaRPr/>
          </a:p>
        </p:txBody>
      </p:sp>
      <p:sp>
        <p:nvSpPr>
          <p:cNvPr id="208" name="Google Shape;208;p3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Beberapa pekerjaan terkait UI dan UX yang umum dan banyak dicari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UX researcher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UX writer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Information Architect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UI/UX designer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5. UX strategist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6. Visual designer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7. Interaction designer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Mari kita jelajahi satu persatu</a:t>
            </a:r>
            <a:endParaRPr sz="1200">
              <a:solidFill>
                <a:schemeClr val="dk1"/>
              </a:solidFill>
              <a:latin typeface="Raleway Medium"/>
              <a:ea typeface="Raleway Medium"/>
              <a:cs typeface="Raleway Medium"/>
              <a:sym typeface="Raleway Medium"/>
            </a:endParaRPr>
          </a:p>
        </p:txBody>
      </p:sp>
      <p:pic>
        <p:nvPicPr>
          <p:cNvPr id="209" name="Google Shape;209;p33">
            <a:hlinkClick r:id="rId3"/>
          </p:cNvPr>
          <p:cNvPicPr preferRelativeResize="0"/>
          <p:nvPr/>
        </p:nvPicPr>
        <p:blipFill rotWithShape="1">
          <a:blip r:embed="rId4">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5" name="Google Shape;215;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Pekerjaan - pekerjaan terkait UI/UX </a:t>
            </a:r>
            <a:endParaRPr/>
          </a:p>
        </p:txBody>
      </p:sp>
      <p:sp>
        <p:nvSpPr>
          <p:cNvPr id="216" name="Google Shape;216;p3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1. UX researcher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UX researcher melakukan penelitian dengan pengguna nyata, mengumpulkan data kualitatif dan kuantitatif tentang bagaimana orang berpikir, merasa, dan berperilaku. Mereka kemudian berbagi wawasan penelitian dengan seluruh tim produk, membantu semua orang memahami audiens target dan menginformasikan strategi desain yang berpusat pada pengguna.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Peneliti UX mengeluarkan dugaan dari proses desain, memastikan bahwa tim memiliki informasi yang cukup untuk membuat keputusan produk berdasarkan data.</a:t>
            </a:r>
            <a:endParaRPr sz="1200">
              <a:solidFill>
                <a:schemeClr val="dk1"/>
              </a:solidFill>
              <a:latin typeface="Raleway Medium"/>
              <a:ea typeface="Raleway Medium"/>
              <a:cs typeface="Raleway Medium"/>
              <a:sym typeface="Raleway Medium"/>
            </a:endParaRPr>
          </a:p>
        </p:txBody>
      </p:sp>
      <p:pic>
        <p:nvPicPr>
          <p:cNvPr id="217" name="Google Shape;217;p34">
            <a:hlinkClick r:id="rId3"/>
          </p:cNvPr>
          <p:cNvPicPr preferRelativeResize="0"/>
          <p:nvPr/>
        </p:nvPicPr>
        <p:blipFill rotWithShape="1">
          <a:blip r:embed="rId4">
            <a:alphaModFix/>
          </a:blip>
          <a:srcRect b="26442" l="0" r="0" t="12966"/>
          <a:stretch/>
        </p:blipFill>
        <p:spPr>
          <a:xfrm>
            <a:off x="5486400" y="1207587"/>
            <a:ext cx="3017517" cy="27431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3" name="Google Shape;223;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Pekerjaan - pekerjaan terkait UI/UX </a:t>
            </a:r>
            <a:endParaRPr/>
          </a:p>
        </p:txBody>
      </p:sp>
      <p:sp>
        <p:nvSpPr>
          <p:cNvPr id="224" name="Google Shape;224;p3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2. UX writer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Menulis biasanya tidak dianggap sebagai bagian dari proses desain produk, tetapi kata-kata pada antarmuka produk memiliki dampak luar biasa pada pengalaman pengguna.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Desainer UI membuat elemen visual dan interaktif dari antarmuka pengguna, penulis UX membuat semua salinan yang sesuai. Penulis UX menyusun semua teks yang ditemui pengguna saat menggunakan produk atau layanan, mulai dari pesan kesalahan yang muncul saat memasukkan sandi yang salah hingga microcopy dalam sebuah tombol.</a:t>
            </a:r>
            <a:endParaRPr sz="1200">
              <a:solidFill>
                <a:schemeClr val="dk1"/>
              </a:solidFill>
              <a:latin typeface="Raleway Medium"/>
              <a:ea typeface="Raleway Medium"/>
              <a:cs typeface="Raleway Medium"/>
              <a:sym typeface="Raleway Medium"/>
            </a:endParaRPr>
          </a:p>
        </p:txBody>
      </p:sp>
      <p:pic>
        <p:nvPicPr>
          <p:cNvPr id="225" name="Google Shape;225;p35">
            <a:hlinkClick r:id="rId3"/>
          </p:cNvPr>
          <p:cNvPicPr preferRelativeResize="0"/>
          <p:nvPr/>
        </p:nvPicPr>
        <p:blipFill rotWithShape="1">
          <a:blip r:embed="rId4">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1" name="Google Shape;231;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Pekerjaan - pekerjaan terkait UI/UX </a:t>
            </a:r>
            <a:endParaRPr/>
          </a:p>
        </p:txBody>
      </p:sp>
      <p:sp>
        <p:nvSpPr>
          <p:cNvPr id="232" name="Google Shape;232;p3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3. Information Architect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Arsitektur informasi adalah organisasi konten di seluruh produk atau sistem. Ini adalah salah satu elemen kunci dari desain pengalaman pengguna karena secara langsung mempengaruhi apakah pengguna dapat menavigasi produk. </a:t>
            </a:r>
            <a:r>
              <a:rPr lang="en" sz="1200">
                <a:solidFill>
                  <a:srgbClr val="512252"/>
                </a:solidFill>
                <a:latin typeface="Raleway Medium"/>
                <a:ea typeface="Raleway Medium"/>
                <a:cs typeface="Raleway Medium"/>
                <a:sym typeface="Raleway Medium"/>
              </a:rPr>
              <a:t>(Kita akan belajar tentang IA lebih lanjut nanti)</a:t>
            </a:r>
            <a:endParaRPr sz="1200">
              <a:solidFill>
                <a:srgbClr val="512252"/>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rgbClr val="512252"/>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Arsitek informasi menentukan cara mengatur informasi di setiap halaman dalam sebuah situs dan bagaimana halaman terhubung untuk membuat navigasi yang logis. Tujuan mereka adalah untuk memudahkan pengguna menemukan apa yang mereka cari.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rgbClr val="512252"/>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rgbClr val="512252"/>
              </a:solidFill>
              <a:latin typeface="Raleway Medium"/>
              <a:ea typeface="Raleway Medium"/>
              <a:cs typeface="Raleway Medium"/>
              <a:sym typeface="Raleway Medium"/>
            </a:endParaRPr>
          </a:p>
        </p:txBody>
      </p:sp>
      <p:pic>
        <p:nvPicPr>
          <p:cNvPr id="233" name="Google Shape;233;p36">
            <a:hlinkClick r:id="rId3"/>
          </p:cNvPr>
          <p:cNvPicPr preferRelativeResize="0"/>
          <p:nvPr/>
        </p:nvPicPr>
        <p:blipFill rotWithShape="1">
          <a:blip r:embed="rId4">
            <a:alphaModFix/>
          </a:blip>
          <a:srcRect b="0" l="24472" r="2214" t="0"/>
          <a:stretch/>
        </p:blipFill>
        <p:spPr>
          <a:xfrm>
            <a:off x="5486400" y="1207587"/>
            <a:ext cx="3017518" cy="2743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9" name="Google Shape;239;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Pekerjaan - pekerjaan terkait UI/UX </a:t>
            </a:r>
            <a:endParaRPr/>
          </a:p>
        </p:txBody>
      </p:sp>
      <p:sp>
        <p:nvSpPr>
          <p:cNvPr id="240" name="Google Shape;240;p3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4. UI/UX designer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Sekarang kita sampai pada judul pekerjaan yang bisa sedikit membingungkan. Meskipun desainer UX dan desainer UI dianggap sebagai dua peran yang terpisah, mereka sering diiklankan sebagai satu peran.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Desainer UX/UI mencakup pengalaman pengguna dan aspek visual desain produk. Mereka melakukan riset pengguna, membuat prototipe dengan ketelitian rendah atau tinggi, melakukan pengujian pengguna, dan mengurus desain antarmuka—mulai dari skema warna dan tipografi hingga desain ikon, </a:t>
            </a:r>
            <a:r>
              <a:rPr i="1" lang="en" sz="1200">
                <a:solidFill>
                  <a:schemeClr val="dk1"/>
                </a:solidFill>
                <a:latin typeface="Raleway Medium"/>
                <a:ea typeface="Raleway Medium"/>
                <a:cs typeface="Raleway Medium"/>
                <a:sym typeface="Raleway Medium"/>
              </a:rPr>
              <a:t>branding</a:t>
            </a:r>
            <a:r>
              <a:rPr lang="en" sz="1200">
                <a:solidFill>
                  <a:schemeClr val="dk1"/>
                </a:solidFill>
                <a:latin typeface="Raleway Medium"/>
                <a:ea typeface="Raleway Medium"/>
                <a:cs typeface="Raleway Medium"/>
                <a:sym typeface="Raleway Medium"/>
              </a:rPr>
              <a:t>, dan elemen - elemen interaktif.</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41" name="Google Shape;241;p37">
            <a:hlinkClick r:id="rId3"/>
          </p:cNvPr>
          <p:cNvPicPr preferRelativeResize="0"/>
          <p:nvPr/>
        </p:nvPicPr>
        <p:blipFill rotWithShape="1">
          <a:blip r:embed="rId4">
            <a:alphaModFix/>
          </a:blip>
          <a:srcRect b="370" l="13316" r="13316" t="-370"/>
          <a:stretch/>
        </p:blipFill>
        <p:spPr>
          <a:xfrm>
            <a:off x="5486400" y="1207587"/>
            <a:ext cx="3017518" cy="274320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7" name="Google Shape;247;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Pekerjaan - pekerjaan terkait UI/UX </a:t>
            </a:r>
            <a:endParaRPr/>
          </a:p>
        </p:txBody>
      </p:sp>
      <p:sp>
        <p:nvSpPr>
          <p:cNvPr id="248" name="Google Shape;248;p3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5. </a:t>
            </a:r>
            <a:r>
              <a:rPr b="1" lang="en" sz="1800">
                <a:solidFill>
                  <a:srgbClr val="743673"/>
                </a:solidFill>
                <a:highlight>
                  <a:schemeClr val="lt1"/>
                </a:highlight>
                <a:latin typeface="Raleway"/>
                <a:ea typeface="Raleway"/>
                <a:cs typeface="Raleway"/>
                <a:sym typeface="Raleway"/>
              </a:rPr>
              <a:t>UX strategist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a:t>
            </a:r>
            <a:r>
              <a:rPr lang="en" sz="1200">
                <a:solidFill>
                  <a:schemeClr val="dk1"/>
                </a:solidFill>
                <a:latin typeface="Raleway Medium"/>
                <a:ea typeface="Raleway Medium"/>
                <a:cs typeface="Raleway Medium"/>
                <a:sym typeface="Raleway Medium"/>
              </a:rPr>
              <a:t>ering disebutkan bahwa sifat desain UX berpusat pada pengguna, tetapi pada kenyataannya, ini bukan hanya tentang merancang produk yang memenuhi kebutuhan pelanggan. UX juga memiliki dampak besar pada bisnis. Praktisi UX bertujuan untuk menemukan </a:t>
            </a:r>
            <a:r>
              <a:rPr i="1" lang="en" sz="1200">
                <a:solidFill>
                  <a:schemeClr val="dk1"/>
                </a:solidFill>
                <a:latin typeface="Raleway Medium"/>
                <a:ea typeface="Raleway Medium"/>
                <a:cs typeface="Raleway Medium"/>
                <a:sym typeface="Raleway Medium"/>
              </a:rPr>
              <a:t>sweet spot </a:t>
            </a:r>
            <a:r>
              <a:rPr lang="en" sz="1200">
                <a:solidFill>
                  <a:schemeClr val="dk1"/>
                </a:solidFill>
                <a:latin typeface="Raleway Medium"/>
                <a:ea typeface="Raleway Medium"/>
                <a:cs typeface="Raleway Medium"/>
                <a:sym typeface="Raleway Medium"/>
              </a:rPr>
              <a:t>antara kebutuhan pengguna dan tujuan bisnis. Seiring waktu, muncullah peran baru: ahli strategi UX.</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Anda dapat menganggap UX strategist sebagai konvergensi desain UX dan strategi bisnis. Ahli strategi UX membawa pola pikir yang berpusat pada pengguna ke ruang rapat, sambil juga memastikan bahwa tim desain bekerja dengan mempertimbangkan tujuan bisnis.</a:t>
            </a:r>
            <a:endParaRPr sz="1200">
              <a:solidFill>
                <a:schemeClr val="dk1"/>
              </a:solidFill>
              <a:latin typeface="Raleway Medium"/>
              <a:ea typeface="Raleway Medium"/>
              <a:cs typeface="Raleway Medium"/>
              <a:sym typeface="Raleway Medium"/>
            </a:endParaRPr>
          </a:p>
        </p:txBody>
      </p:sp>
      <p:pic>
        <p:nvPicPr>
          <p:cNvPr id="249" name="Google Shape;249;p38">
            <a:hlinkClick r:id="rId3"/>
          </p:cNvPr>
          <p:cNvPicPr preferRelativeResize="0"/>
          <p:nvPr/>
        </p:nvPicPr>
        <p:blipFill rotWithShape="1">
          <a:blip r:embed="rId4">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5" name="Google Shape;255;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Pekerjaan - pekerjaan terkait UI/UX </a:t>
            </a:r>
            <a:endParaRPr/>
          </a:p>
        </p:txBody>
      </p:sp>
      <p:sp>
        <p:nvSpPr>
          <p:cNvPr id="256" name="Google Shape;256;p3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6. Visual designer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Seorang desainer visual mendesain untuk berbagai platform, yang mungkin mencakup situs Internet dan intranet, game, film, kios, dan perangkat yang dapat dikenakan.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Singkatnya, mereka membuat konsep, karya seni, dan tata letak untuk proyek digital berdasarkan briefing kreatif dan pertemuan klien.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Baik desainer UI dan desainer visual berurusan dengan tampilan produk. Semua ini adalah bagian dari desain pengalaman pengguna.</a:t>
            </a:r>
            <a:endParaRPr sz="1200">
              <a:solidFill>
                <a:schemeClr val="dk1"/>
              </a:solidFill>
              <a:latin typeface="Raleway Medium"/>
              <a:ea typeface="Raleway Medium"/>
              <a:cs typeface="Raleway Medium"/>
              <a:sym typeface="Raleway Medium"/>
            </a:endParaRPr>
          </a:p>
        </p:txBody>
      </p:sp>
      <p:pic>
        <p:nvPicPr>
          <p:cNvPr id="257" name="Google Shape;257;p39">
            <a:hlinkClick r:id="rId3"/>
          </p:cNvPr>
          <p:cNvPicPr preferRelativeResize="0"/>
          <p:nvPr/>
        </p:nvPicPr>
        <p:blipFill rotWithShape="1">
          <a:blip r:embed="rId4">
            <a:alphaModFix/>
          </a:blip>
          <a:srcRect b="4545" l="0" r="0" t="4545"/>
          <a:stretch/>
        </p:blipFill>
        <p:spPr>
          <a:xfrm>
            <a:off x="5486400" y="1207587"/>
            <a:ext cx="3017518" cy="274319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3" name="Google Shape;263;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Pekerjaan - pekerjaan terkait UI/UX </a:t>
            </a:r>
            <a:endParaRPr/>
          </a:p>
        </p:txBody>
      </p:sp>
      <p:sp>
        <p:nvSpPr>
          <p:cNvPr id="264" name="Google Shape;264;p40"/>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7. Interaction designer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Desainer interaksi adalah profesi yang cukup baru. Desain interaksi adalah bidang studi yang berfokus pada komunikasi yang bermakna, atau "interaksi" antara manusia dan teknologi.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Desainer interaksi menerapkan prinsip-prinsip fisiologis untuk desain produk. Desainer interaksi mencoba membantu manusia melakukan tugas secara intuitif dengan membuat mereka sadar akan setiap layar, aktivitas pada layar tersebut, serta instruksi aktivitas.</a:t>
            </a:r>
            <a:endParaRPr sz="1200">
              <a:solidFill>
                <a:schemeClr val="dk1"/>
              </a:solidFill>
              <a:latin typeface="Raleway Medium"/>
              <a:ea typeface="Raleway Medium"/>
              <a:cs typeface="Raleway Medium"/>
              <a:sym typeface="Raleway Medium"/>
            </a:endParaRPr>
          </a:p>
        </p:txBody>
      </p:sp>
      <p:pic>
        <p:nvPicPr>
          <p:cNvPr id="265" name="Google Shape;265;p40">
            <a:hlinkClick r:id="rId3"/>
          </p:cNvPr>
          <p:cNvPicPr preferRelativeResize="0"/>
          <p:nvPr/>
        </p:nvPicPr>
        <p:blipFill rotWithShape="1">
          <a:blip r:embed="rId4">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1" name="Google Shape;271;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Pekerjaan - pekerjaan terkait UI/UX </a:t>
            </a:r>
            <a:endParaRPr/>
          </a:p>
        </p:txBody>
      </p:sp>
      <p:sp>
        <p:nvSpPr>
          <p:cNvPr id="272" name="Google Shape;272;p4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Kesimpulan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Semua judul pekerjaan yang disebutkan sebelumnya berhubungan dengan UI/UX, namun mereka berhubungan dengan bagian dari keseluruhan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proses UI/UX.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Misalnya: Desainer Visual juga dikenal sebagai Desainer UI; dan Desainer grafis. Mereka adalah spesialis yang fokus pada fase prototipe dari proses desain.</a:t>
            </a:r>
            <a:endParaRPr sz="1200">
              <a:solidFill>
                <a:schemeClr val="dk1"/>
              </a:solidFill>
              <a:latin typeface="Raleway Medium"/>
              <a:ea typeface="Raleway Medium"/>
              <a:cs typeface="Raleway Medium"/>
              <a:sym typeface="Raleway Medium"/>
            </a:endParaRPr>
          </a:p>
        </p:txBody>
      </p:sp>
      <p:pic>
        <p:nvPicPr>
          <p:cNvPr id="273" name="Google Shape;273;p41"/>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2"/>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Saatnya </a:t>
            </a:r>
            <a:r>
              <a:rPr lang="en">
                <a:solidFill>
                  <a:schemeClr val="accent1"/>
                </a:solidFill>
              </a:rPr>
              <a:t>Quiz</a:t>
            </a:r>
            <a:endParaRPr>
              <a:solidFill>
                <a:schemeClr val="accent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284" name="Google Shape;284;p4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Berikut ini adalah pernyataan yang benar tentang perbedaan UI dan UX, kecuali…</a:t>
            </a:r>
            <a:endParaRPr b="1" sz="2800">
              <a:solidFill>
                <a:schemeClr val="accen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UI adalah tampilannya dan UX adalah cara kerjanya.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Jika UX adalah jiwa dari sebuah produk, maka UI adalah otaknya.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UX adalah persepsi seseorang tentang utilitas, kemudahan penggunaan, dan efisiensi sebuah perangkat. UI adalah titik interaksi dan komunikasi manusia-komputer dalam sebuah perangkat.</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290" name="Google Shape;290;p4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Berikut ini adalah pernyataan yang benar tentang perbedaan UI dan UX, kecuali…</a:t>
            </a:r>
            <a:endParaRPr b="1" sz="2800">
              <a:solidFill>
                <a:schemeClr val="accen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UI adalah tampilannya dan UX adalah cara kerjanya.</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Jika UX adalah jiwa dari sebuah produk, maka UI adalah otaknya.</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UX adalah persepsi seseorang tentang utilitas, kemudahan penggunaan, dan efisiensi sebuah perangkat. UI adalah titik interaksi dan komunikasi manusia-komputer dalam sebuah perangkat.</a:t>
            </a:r>
            <a:endParaRPr sz="1200">
              <a:solidFill>
                <a:srgbClr val="A667A5"/>
              </a:solidFill>
              <a:latin typeface="Raleway Medium"/>
              <a:ea typeface="Raleway Medium"/>
              <a:cs typeface="Raleway Medium"/>
              <a:sym typeface="Raleway Medium"/>
            </a:endParaRPr>
          </a:p>
        </p:txBody>
      </p:sp>
      <p:sp>
        <p:nvSpPr>
          <p:cNvPr id="291" name="Google Shape;291;p44"/>
          <p:cNvSpPr/>
          <p:nvPr/>
        </p:nvSpPr>
        <p:spPr>
          <a:xfrm>
            <a:off x="685800" y="33841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“Jika UX adalah otak dari sebuah produk, maka UI adalah jiwanya.” </a:t>
            </a:r>
            <a:endParaRPr b="1" sz="1000">
              <a:solidFill>
                <a:srgbClr val="733572"/>
              </a:solidFill>
              <a:latin typeface="Raleway"/>
              <a:ea typeface="Raleway"/>
              <a:cs typeface="Raleway"/>
              <a:sym typeface="Raleway"/>
            </a:endParaRPr>
          </a:p>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 Anton Mikhaltsov</a:t>
            </a:r>
            <a:endParaRPr b="1" sz="1000">
              <a:solidFill>
                <a:srgbClr val="733572"/>
              </a:solidFill>
              <a:latin typeface="Raleway"/>
              <a:ea typeface="Raleway"/>
              <a:cs typeface="Raleway"/>
              <a:sym typeface="Raleway"/>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297" name="Google Shape;297;p4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ini adalah pernyataan yang benar tentang pekerjaan terkait UI/UX, kecuali…</a:t>
            </a:r>
            <a:endParaRPr b="1" sz="2800">
              <a:solidFill>
                <a:schemeClr val="accen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Desainer UI membuat elemen visual dan interaktif dari antarmuka pengguna, penulis UX membuat semua salinan yang sesuai.</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Arsitek informasi bertujuan untuk menemukan sweet spot antara kebutuhan pengguna dan tujuan bisnis.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Peneliti UX mengeluarkan dugaan dari proses desain, memastikan bahwa tim memiliki informasi yang cukup untuk membuat keputusan produk berdasarkan data.</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03" name="Google Shape;303;p4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ini adalah pernyataan yang benar tentang pekerjaan terkait UI/UX,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Desainer UI membuat elemen visual dan interaktif dari antarmuka pengguna, penulis UX membuat semua salinan yang sesuai.</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Arsitek informasi bertujuan untuk menemukan sweet spot antara kebutuhan pengguna dan tujuan bisnis. </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Peneliti UX mengeluarkan dugaan dari proses desain, memastikan bahwa tim memiliki informasi yang cukup untuk membuat keputusan produk berdasarkan data.</a:t>
            </a:r>
            <a:endParaRPr sz="1200">
              <a:solidFill>
                <a:srgbClr val="A667A5"/>
              </a:solidFill>
              <a:latin typeface="Raleway Medium"/>
              <a:ea typeface="Raleway Medium"/>
              <a:cs typeface="Raleway Medium"/>
              <a:sym typeface="Raleway Medium"/>
            </a:endParaRPr>
          </a:p>
        </p:txBody>
      </p:sp>
      <p:sp>
        <p:nvSpPr>
          <p:cNvPr id="304" name="Google Shape;304;p46"/>
          <p:cNvSpPr/>
          <p:nvPr/>
        </p:nvSpPr>
        <p:spPr>
          <a:xfrm>
            <a:off x="685800" y="37959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Ahli strategi UX (UX strategist) bertujuan untuk menemukan sweet spot antara kebutuhan pengguna dan tujuan bisnis. </a:t>
            </a:r>
            <a:endParaRPr b="1" sz="1000">
              <a:solidFill>
                <a:srgbClr val="733572"/>
              </a:solidFill>
              <a:latin typeface="Raleway"/>
              <a:ea typeface="Raleway"/>
              <a:cs typeface="Raleway"/>
              <a:sym typeface="Raleway"/>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10" name="Google Shape;310;p4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t>
            </a:r>
            <a:r>
              <a:rPr b="1" lang="en" sz="1800">
                <a:solidFill>
                  <a:schemeClr val="lt1"/>
                </a:solidFill>
                <a:latin typeface="Raleway"/>
                <a:ea typeface="Raleway"/>
                <a:cs typeface="Raleway"/>
                <a:sym typeface="Raleway"/>
              </a:rPr>
              <a:t>Desainer UI membuat elemen visual dan interaktif dari antarmuka pengguna, penulis UX __________.</a:t>
            </a:r>
            <a:endParaRPr b="1" sz="2800">
              <a:solidFill>
                <a:schemeClr val="accen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membuat ilustrasi yang sesuai</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membuat semua salinan yang sesuai.</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membuat elemen visual lebih baik.</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membuat desain pengalaman yang sesuai </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16" name="Google Shape;316;p4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1800">
                <a:solidFill>
                  <a:schemeClr val="lt1"/>
                </a:solidFill>
                <a:latin typeface="Raleway"/>
                <a:ea typeface="Raleway"/>
                <a:cs typeface="Raleway"/>
                <a:sym typeface="Raleway"/>
              </a:rPr>
              <a:t> Desainer UI membuat elemen visual dan interaktif dari antarmuka pengguna, penulis UX __________.</a:t>
            </a:r>
            <a:endParaRPr b="1" sz="2800">
              <a:solidFill>
                <a:schemeClr val="accen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membuat ilustrasi yang sesuai</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membuat semua salinan yang sesuai.</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membuat elemen visual lebih baik.</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membuat desain pengalaman yang sesuai </a:t>
            </a:r>
            <a:endParaRPr sz="1200">
              <a:solidFill>
                <a:srgbClr val="A667A5"/>
              </a:solidFill>
              <a:latin typeface="Raleway Medium"/>
              <a:ea typeface="Raleway Medium"/>
              <a:cs typeface="Raleway Medium"/>
              <a:sym typeface="Raleway Medium"/>
            </a:endParaRPr>
          </a:p>
        </p:txBody>
      </p:sp>
      <p:sp>
        <p:nvSpPr>
          <p:cNvPr id="317" name="Google Shape;317;p48"/>
          <p:cNvSpPr/>
          <p:nvPr/>
        </p:nvSpPr>
        <p:spPr>
          <a:xfrm>
            <a:off x="685800" y="34911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Desainer UI membuat elemen visual dan interaktif dari antarmuka pengguna, penulis UX membuat salinan yang sesuai.</a:t>
            </a:r>
            <a:endParaRPr b="1" sz="1000">
              <a:solidFill>
                <a:srgbClr val="733572"/>
              </a:solidFill>
              <a:latin typeface="Raleway"/>
              <a:ea typeface="Raleway"/>
              <a:cs typeface="Raleway"/>
              <a:sym typeface="Raleway"/>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23" name="Google Shape;323;p4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t>
            </a:r>
            <a:r>
              <a:rPr b="1" lang="en" sz="1800">
                <a:solidFill>
                  <a:schemeClr val="lt1"/>
                </a:solidFill>
                <a:latin typeface="Raleway"/>
                <a:ea typeface="Raleway"/>
                <a:cs typeface="Raleway"/>
                <a:sym typeface="Raleway"/>
              </a:rPr>
              <a:t>Dalam dunia digital saat ini ada 3 aspek dari teknologi yaitu</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Goods, services, human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Goods, products, human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Services, human, people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Services, goods, products</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29" name="Google Shape;329;p5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1800">
                <a:solidFill>
                  <a:schemeClr val="lt1"/>
                </a:solidFill>
                <a:latin typeface="Raleway"/>
                <a:ea typeface="Raleway"/>
                <a:cs typeface="Raleway"/>
                <a:sym typeface="Raleway"/>
              </a:rPr>
              <a:t> Dalam dunia digital saat ini ada 3 aspek dari teknologi yaitu</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Goods, services, human</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Goods, products, human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Services, human, people</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Services, goods, products</a:t>
            </a:r>
            <a:endParaRPr sz="1200">
              <a:solidFill>
                <a:srgbClr val="A667A5"/>
              </a:solidFill>
              <a:latin typeface="Raleway Medium"/>
              <a:ea typeface="Raleway Medium"/>
              <a:cs typeface="Raleway Medium"/>
              <a:sym typeface="Raleway Medium"/>
            </a:endParaRPr>
          </a:p>
        </p:txBody>
      </p:sp>
      <p:sp>
        <p:nvSpPr>
          <p:cNvPr id="330" name="Google Shape;330;p50"/>
          <p:cNvSpPr/>
          <p:nvPr/>
        </p:nvSpPr>
        <p:spPr>
          <a:xfrm>
            <a:off x="685800" y="31863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Dalam dunia digital saat ini ada 3 aspek dari teknologi yaitu goods (barang), services (layanan) dan human (manusia).</a:t>
            </a:r>
            <a:endParaRPr b="1" sz="1000">
              <a:solidFill>
                <a:srgbClr val="733572"/>
              </a:solidFill>
              <a:latin typeface="Raleway"/>
              <a:ea typeface="Raleway"/>
              <a:cs typeface="Raleway"/>
              <a:sym typeface="Raleway"/>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36" name="Google Shape;336;p5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Masukkan aktivitas - aktivitas  di bawah pada bidang yang tepat</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research &amp; analysis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interactivity &amp; animation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device responsiveness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brand implementation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competitor analysis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wireframing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visual design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strategy &amp; content</a:t>
            </a:r>
            <a:endParaRPr sz="1200">
              <a:solidFill>
                <a:schemeClr val="lt1"/>
              </a:solidFill>
              <a:latin typeface="Raleway Medium"/>
              <a:ea typeface="Raleway Medium"/>
              <a:cs typeface="Raleway Medium"/>
              <a:sym typeface="Raleway Medium"/>
            </a:endParaRPr>
          </a:p>
          <a:p>
            <a:pPr indent="0" lvl="0" marL="45720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337" name="Google Shape;337;p51"/>
          <p:cNvSpPr txBox="1"/>
          <p:nvPr/>
        </p:nvSpPr>
        <p:spPr>
          <a:xfrm>
            <a:off x="1190498" y="1493525"/>
            <a:ext cx="2825400" cy="277200"/>
          </a:xfrm>
          <a:prstGeom prst="rect">
            <a:avLst/>
          </a:prstGeom>
          <a:noFill/>
          <a:ln>
            <a:noFill/>
          </a:ln>
        </p:spPr>
        <p:txBody>
          <a:bodyPr anchorCtr="0" anchor="ctr" bIns="0" lIns="0" spcFirstLastPara="1" rIns="0" wrap="square" tIns="0">
            <a:spAutoFit/>
          </a:bodyPr>
          <a:lstStyle/>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p:txBody>
      </p:sp>
      <p:sp>
        <p:nvSpPr>
          <p:cNvPr id="338" name="Google Shape;338;p51"/>
          <p:cNvSpPr/>
          <p:nvPr/>
        </p:nvSpPr>
        <p:spPr>
          <a:xfrm>
            <a:off x="4178450" y="1981416"/>
            <a:ext cx="4044900" cy="792000"/>
          </a:xfrm>
          <a:prstGeom prst="rect">
            <a:avLst/>
          </a:prstGeom>
          <a:solidFill>
            <a:srgbClr val="C9DA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UI: </a:t>
            </a:r>
            <a:endParaRPr b="1" sz="1200">
              <a:solidFill>
                <a:schemeClr val="dk1"/>
              </a:solidFill>
              <a:latin typeface="Raleway"/>
              <a:ea typeface="Raleway"/>
              <a:cs typeface="Raleway"/>
              <a:sym typeface="Raleway"/>
            </a:endParaRPr>
          </a:p>
        </p:txBody>
      </p:sp>
      <p:sp>
        <p:nvSpPr>
          <p:cNvPr id="339" name="Google Shape;339;p51"/>
          <p:cNvSpPr/>
          <p:nvPr/>
        </p:nvSpPr>
        <p:spPr>
          <a:xfrm>
            <a:off x="4178450" y="2877350"/>
            <a:ext cx="4044900" cy="792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UX:</a:t>
            </a:r>
            <a:endParaRPr b="1"/>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45" name="Google Shape;345;p5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Masukkan aktivitas - aktivitas  di bawah pada bidang yang tepat</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research &amp; analysis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interactivity &amp; animation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device responsiveness </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brand implementation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competitor analysis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wireframing </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visual design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strategy &amp; content</a:t>
            </a:r>
            <a:endParaRPr sz="1200">
              <a:solidFill>
                <a:srgbClr val="A667A5"/>
              </a:solidFill>
              <a:latin typeface="Raleway Medium"/>
              <a:ea typeface="Raleway Medium"/>
              <a:cs typeface="Raleway Medium"/>
              <a:sym typeface="Raleway Medium"/>
            </a:endParaRPr>
          </a:p>
          <a:p>
            <a:pPr indent="0" lvl="0" marL="457200" rtl="0" algn="l">
              <a:lnSpc>
                <a:spcPct val="115000"/>
              </a:lnSpc>
              <a:spcBef>
                <a:spcPts val="0"/>
              </a:spcBef>
              <a:spcAft>
                <a:spcPts val="0"/>
              </a:spcAft>
              <a:buNone/>
            </a:pPr>
            <a:r>
              <a:t/>
            </a:r>
            <a:endParaRPr sz="1200">
              <a:solidFill>
                <a:srgbClr val="A667A5"/>
              </a:solidFill>
              <a:latin typeface="Raleway Medium"/>
              <a:ea typeface="Raleway Medium"/>
              <a:cs typeface="Raleway Medium"/>
              <a:sym typeface="Raleway Medium"/>
            </a:endParaRPr>
          </a:p>
        </p:txBody>
      </p:sp>
      <p:sp>
        <p:nvSpPr>
          <p:cNvPr id="346" name="Google Shape;346;p52"/>
          <p:cNvSpPr txBox="1"/>
          <p:nvPr/>
        </p:nvSpPr>
        <p:spPr>
          <a:xfrm>
            <a:off x="1190498" y="1493525"/>
            <a:ext cx="2825400" cy="277200"/>
          </a:xfrm>
          <a:prstGeom prst="rect">
            <a:avLst/>
          </a:prstGeom>
          <a:noFill/>
          <a:ln>
            <a:noFill/>
          </a:ln>
        </p:spPr>
        <p:txBody>
          <a:bodyPr anchorCtr="0" anchor="ctr" bIns="0" lIns="0" spcFirstLastPara="1" rIns="0" wrap="square" tIns="0">
            <a:spAutoFit/>
          </a:bodyPr>
          <a:lstStyle/>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p:txBody>
      </p:sp>
      <p:sp>
        <p:nvSpPr>
          <p:cNvPr id="347" name="Google Shape;347;p52"/>
          <p:cNvSpPr/>
          <p:nvPr/>
        </p:nvSpPr>
        <p:spPr>
          <a:xfrm>
            <a:off x="4178450" y="1981416"/>
            <a:ext cx="4044900" cy="792000"/>
          </a:xfrm>
          <a:prstGeom prst="rect">
            <a:avLst/>
          </a:prstGeom>
          <a:solidFill>
            <a:srgbClr val="C9DA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UI: </a:t>
            </a:r>
            <a:r>
              <a:rPr b="1" lang="en" sz="1200">
                <a:solidFill>
                  <a:schemeClr val="dk1"/>
                </a:solidFill>
                <a:latin typeface="Raleway"/>
                <a:ea typeface="Raleway"/>
                <a:cs typeface="Raleway"/>
                <a:sym typeface="Raleway"/>
              </a:rPr>
              <a:t>visual design, interactivity &amp; animation, device responsiveness, brand implementation.</a:t>
            </a:r>
            <a:endParaRPr b="1" sz="1200">
              <a:solidFill>
                <a:schemeClr val="dk1"/>
              </a:solidFill>
              <a:latin typeface="Raleway"/>
              <a:ea typeface="Raleway"/>
              <a:cs typeface="Raleway"/>
              <a:sym typeface="Raleway"/>
            </a:endParaRPr>
          </a:p>
        </p:txBody>
      </p:sp>
      <p:sp>
        <p:nvSpPr>
          <p:cNvPr id="348" name="Google Shape;348;p52"/>
          <p:cNvSpPr/>
          <p:nvPr/>
        </p:nvSpPr>
        <p:spPr>
          <a:xfrm>
            <a:off x="4178450" y="2877350"/>
            <a:ext cx="4044900" cy="792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UX: strategy &amp; content, competitor analysis, wireframing, research &amp; analysis</a:t>
            </a:r>
            <a:endParaRPr b="1"/>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4" name="Google Shape;354;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Referensi dan bacaan lebih lanjut</a:t>
            </a:r>
            <a:endParaRPr/>
          </a:p>
        </p:txBody>
      </p:sp>
      <p:pic>
        <p:nvPicPr>
          <p:cNvPr id="355" name="Google Shape;355;p53"/>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356" name="Google Shape;356;p53"/>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Referensi dan bacaan lebih lanjut</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u="sng">
                <a:solidFill>
                  <a:schemeClr val="hlink"/>
                </a:solidFill>
                <a:latin typeface="Raleway Medium"/>
                <a:ea typeface="Raleway Medium"/>
                <a:cs typeface="Raleway Medium"/>
                <a:sym typeface="Raleway Medium"/>
                <a:hlinkClick r:id="rId4"/>
              </a:rPr>
              <a:t>Strategy for  a digital world by McKinsey</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a:t>
            </a:r>
            <a:r>
              <a:rPr lang="en" sz="1200" u="sng">
                <a:solidFill>
                  <a:schemeClr val="hlink"/>
                </a:solidFill>
                <a:latin typeface="Raleway Medium"/>
                <a:ea typeface="Raleway Medium"/>
                <a:cs typeface="Raleway Medium"/>
                <a:sym typeface="Raleway Medium"/>
                <a:hlinkClick r:id="rId5"/>
              </a:rPr>
              <a:t>3 Types of UXers by UX Collective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a:t>
            </a:r>
            <a:r>
              <a:rPr lang="en" sz="1200" u="sng">
                <a:solidFill>
                  <a:schemeClr val="hlink"/>
                </a:solidFill>
                <a:latin typeface="Raleway Medium"/>
                <a:ea typeface="Raleway Medium"/>
                <a:cs typeface="Raleway Medium"/>
                <a:sym typeface="Raleway Medium"/>
                <a:hlinkClick r:id="rId6"/>
              </a:rPr>
              <a:t> User Experience (UX) in the Digital World by paldesk</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360" name="Shape 360"/>
        <p:cNvGrpSpPr/>
        <p:nvPr/>
      </p:nvGrpSpPr>
      <p:grpSpPr>
        <a:xfrm>
          <a:off x="0" y="0"/>
          <a:ext cx="0" cy="0"/>
          <a:chOff x="0" y="0"/>
          <a:chExt cx="0" cy="0"/>
        </a:xfrm>
      </p:grpSpPr>
      <p:sp>
        <p:nvSpPr>
          <p:cNvPr id="361" name="Google Shape;361;p54"/>
          <p:cNvSpPr/>
          <p:nvPr/>
        </p:nvSpPr>
        <p:spPr>
          <a:xfrm>
            <a:off x="4031975" y="2179724"/>
            <a:ext cx="2448300" cy="24483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2" name="Google Shape;362;p54"/>
          <p:cNvSpPr/>
          <p:nvPr/>
        </p:nvSpPr>
        <p:spPr>
          <a:xfrm>
            <a:off x="2880172" y="732662"/>
            <a:ext cx="3058800" cy="30588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3" name="Google Shape;363;p54"/>
          <p:cNvSpPr/>
          <p:nvPr/>
        </p:nvSpPr>
        <p:spPr>
          <a:xfrm>
            <a:off x="1580031" y="515479"/>
            <a:ext cx="3493200" cy="34932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4" name="Google Shape;364;p54"/>
          <p:cNvSpPr/>
          <p:nvPr/>
        </p:nvSpPr>
        <p:spPr>
          <a:xfrm>
            <a:off x="4787172" y="1388640"/>
            <a:ext cx="2776800" cy="2776800"/>
          </a:xfrm>
          <a:prstGeom prst="ellipse">
            <a:avLst/>
          </a:prstGeom>
          <a:solidFill>
            <a:srgbClr val="5E2B62">
              <a:alpha val="6078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5" name="Google Shape;365;p54"/>
          <p:cNvSpPr/>
          <p:nvPr/>
        </p:nvSpPr>
        <p:spPr>
          <a:xfrm>
            <a:off x="1752271" y="1608981"/>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TERIMA</a:t>
            </a:r>
            <a:endParaRPr b="1" i="0" sz="3600" u="none" cap="none" strike="noStrike">
              <a:solidFill>
                <a:srgbClr val="F2AB2F"/>
              </a:solidFill>
              <a:latin typeface="Montserrat"/>
              <a:ea typeface="Montserrat"/>
              <a:cs typeface="Montserrat"/>
              <a:sym typeface="Montserrat"/>
            </a:endParaRPr>
          </a:p>
        </p:txBody>
      </p:sp>
      <p:sp>
        <p:nvSpPr>
          <p:cNvPr id="366" name="Google Shape;366;p54"/>
          <p:cNvSpPr/>
          <p:nvPr/>
        </p:nvSpPr>
        <p:spPr>
          <a:xfrm>
            <a:off x="1684821" y="2179714"/>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KASIH</a:t>
            </a:r>
            <a:endParaRPr sz="1100"/>
          </a:p>
        </p:txBody>
      </p:sp>
      <p:pic>
        <p:nvPicPr>
          <p:cNvPr id="367" name="Google Shape;367;p54"/>
          <p:cNvPicPr preferRelativeResize="0"/>
          <p:nvPr/>
        </p:nvPicPr>
        <p:blipFill rotWithShape="1">
          <a:blip r:embed="rId3">
            <a:alphaModFix/>
          </a:blip>
          <a:srcRect b="0" l="0" r="13247" t="0"/>
          <a:stretch/>
        </p:blipFill>
        <p:spPr>
          <a:xfrm>
            <a:off x="5450801" y="1946964"/>
            <a:ext cx="1440495" cy="1660396"/>
          </a:xfrm>
          <a:prstGeom prst="rect">
            <a:avLst/>
          </a:prstGeom>
          <a:noFill/>
          <a:ln>
            <a:noFill/>
          </a:ln>
        </p:spPr>
      </p:pic>
      <p:sp>
        <p:nvSpPr>
          <p:cNvPr id="368" name="Google Shape;368;p54"/>
          <p:cNvSpPr/>
          <p:nvPr/>
        </p:nvSpPr>
        <p:spPr>
          <a:xfrm>
            <a:off x="2000840" y="3114985"/>
            <a:ext cx="1341000" cy="13410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