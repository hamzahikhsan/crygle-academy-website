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aleway"/>
      <p:regular r:id="rId32"/>
      <p:bold r:id="rId33"/>
      <p:italic r:id="rId34"/>
      <p:boldItalic r:id="rId35"/>
    </p:embeddedFont>
    <p:embeddedFont>
      <p:font typeface="Raleway SemiBold"/>
      <p:regular r:id="rId36"/>
      <p:bold r:id="rId37"/>
      <p:italic r:id="rId38"/>
      <p:boldItalic r:id="rId39"/>
    </p:embeddedFont>
    <p:embeddedFont>
      <p:font typeface="Montserrat"/>
      <p:regular r:id="rId40"/>
      <p:bold r:id="rId41"/>
      <p:italic r:id="rId42"/>
      <p:boldItalic r:id="rId43"/>
    </p:embeddedFont>
    <p:embeddedFont>
      <p:font typeface="Lato Black"/>
      <p:bold r:id="rId44"/>
      <p:boldItalic r:id="rId45"/>
    </p:embeddedFont>
    <p:embeddedFont>
      <p:font typeface="Raleway Medium"/>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42" Type="http://schemas.openxmlformats.org/officeDocument/2006/relationships/font" Target="fonts/Montserrat-italic.fntdata"/><Relationship Id="rId41" Type="http://schemas.openxmlformats.org/officeDocument/2006/relationships/font" Target="fonts/Montserrat-bold.fntdata"/><Relationship Id="rId44" Type="http://schemas.openxmlformats.org/officeDocument/2006/relationships/font" Target="fonts/LatoBlack-bold.fntdata"/><Relationship Id="rId43" Type="http://schemas.openxmlformats.org/officeDocument/2006/relationships/font" Target="fonts/Montserrat-boldItalic.fntdata"/><Relationship Id="rId46" Type="http://schemas.openxmlformats.org/officeDocument/2006/relationships/font" Target="fonts/RalewayMedium-regular.fntdata"/><Relationship Id="rId45" Type="http://schemas.openxmlformats.org/officeDocument/2006/relationships/font" Target="fonts/LatoBlack-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Medium-italic.fntdata"/><Relationship Id="rId47" Type="http://schemas.openxmlformats.org/officeDocument/2006/relationships/font" Target="fonts/RalewayMedium-bold.fntdata"/><Relationship Id="rId49" Type="http://schemas.openxmlformats.org/officeDocument/2006/relationships/font" Target="fonts/Raleway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Raleway-bold.fntdata"/><Relationship Id="rId32" Type="http://schemas.openxmlformats.org/officeDocument/2006/relationships/font" Target="fonts/Raleway-regular.fntdata"/><Relationship Id="rId35" Type="http://schemas.openxmlformats.org/officeDocument/2006/relationships/font" Target="fonts/Raleway-boldItalic.fntdata"/><Relationship Id="rId34" Type="http://schemas.openxmlformats.org/officeDocument/2006/relationships/font" Target="fonts/Raleway-italic.fntdata"/><Relationship Id="rId37" Type="http://schemas.openxmlformats.org/officeDocument/2006/relationships/font" Target="fonts/RalewaySemiBold-bold.fntdata"/><Relationship Id="rId36" Type="http://schemas.openxmlformats.org/officeDocument/2006/relationships/font" Target="fonts/RalewaySemiBold-regular.fntdata"/><Relationship Id="rId39" Type="http://schemas.openxmlformats.org/officeDocument/2006/relationships/font" Target="fonts/RalewaySemiBold-boldItalic.fntdata"/><Relationship Id="rId38" Type="http://schemas.openxmlformats.org/officeDocument/2006/relationships/font" Target="fonts/RalewaySemi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ga_kononenko?utm_source=unsplash&amp;utm_medium=referral&amp;utm_content=creditCopyText" TargetMode="External"/><Relationship Id="rId3" Type="http://schemas.openxmlformats.org/officeDocument/2006/relationships/hyperlink" Target="https://unsplash.com/@olga_kononenko?utm_source=unsplash&amp;utm_medium=referral&amp;utm_content=creditCopyText" TargetMode="External"/><Relationship Id="rId4" Type="http://schemas.openxmlformats.org/officeDocument/2006/relationships/hyperlink" Target="https://unsplash.com/s/photos/patient?utm_source=unsplash&amp;utm_medium=referral&amp;utm_content=creditCopyText" TargetMode="External"/><Relationship Id="rId5" Type="http://schemas.openxmlformats.org/officeDocument/2006/relationships/hyperlink" Target="https://unsplash.com/s/photos/patient?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Perlu penjelasan lebih lanjut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0b227ce75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0b227ce7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Perlu penjelasan lebih detail serta korelasi dengan UI/UX seperti apa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0e8d20d0b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0e8d20d0b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0e8d20d0b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0e8d20d0b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0b12bec4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0b12bec4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0b227ce75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0b227ce75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https://makemac.grid.id/read/211981848/13-tahun-lalu-steve-jobs-resmi-kenalkan-iphone-generasi-pertama?page=all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0e8d20d0b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0e8d20d0b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https://www.cnet.com/tech/mobile/iphone-at-10-apple-steve-jobs-make-iphone-history-remembering/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0e8d20d0b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0e8d20d0b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https://www.interaction-design.org/literature/article/design-failures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0e8d20d0b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0e8d20d0b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Olga Kononenko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0e8d20d0b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0e8d20d0b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https://uxstudioteam.com/ux-blog/bad-ux-design/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0e8d20d0be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0e8d20d0be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https://uxstudioteam.com/ux-blog/bad-ux-design/</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0e8d20d0be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0e8d20d0b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https://uxstudioteam.com/ux-blog/bad-ux-design/</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0b227ce755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0b227ce755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Masih belum nangkap dimananya kenapa ui/ux itu penting</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0e54dbc4a4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0e54dbc4a4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0e8d20d0b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0e8d20d0b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12c9d1826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12c9d1826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12c9d18266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12c9d18266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12c9d1826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12c9d1826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12c9d18266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12c9d18266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0b227ce755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0b227ce755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https://www.interaction-design.org/literature/article/design-failures</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0e8d20d0be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0e8d20d0be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https://pleated-jeans.com/</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12c9d181f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12c9d181f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latin typeface="Raleway SemiBold"/>
                <a:ea typeface="Raleway SemiBold"/>
                <a:cs typeface="Raleway SemiBold"/>
                <a:sym typeface="Raleway SemiBold"/>
              </a:defRPr>
            </a:lvl1pPr>
            <a:lvl2pPr lvl="1" rtl="0">
              <a:buNone/>
              <a:defRPr>
                <a:solidFill>
                  <a:schemeClr val="lt1"/>
                </a:solidFill>
                <a:latin typeface="Raleway SemiBold"/>
                <a:ea typeface="Raleway SemiBold"/>
                <a:cs typeface="Raleway SemiBold"/>
                <a:sym typeface="Raleway SemiBold"/>
              </a:defRPr>
            </a:lvl2pPr>
            <a:lvl3pPr lvl="2" rtl="0">
              <a:buNone/>
              <a:defRPr>
                <a:solidFill>
                  <a:schemeClr val="lt1"/>
                </a:solidFill>
                <a:latin typeface="Raleway SemiBold"/>
                <a:ea typeface="Raleway SemiBold"/>
                <a:cs typeface="Raleway SemiBold"/>
                <a:sym typeface="Raleway SemiBold"/>
              </a:defRPr>
            </a:lvl3pPr>
            <a:lvl4pPr lvl="3" rtl="0">
              <a:buNone/>
              <a:defRPr>
                <a:solidFill>
                  <a:schemeClr val="lt1"/>
                </a:solidFill>
                <a:latin typeface="Raleway SemiBold"/>
                <a:ea typeface="Raleway SemiBold"/>
                <a:cs typeface="Raleway SemiBold"/>
                <a:sym typeface="Raleway SemiBold"/>
              </a:defRPr>
            </a:lvl4pPr>
            <a:lvl5pPr lvl="4" rtl="0">
              <a:buNone/>
              <a:defRPr>
                <a:solidFill>
                  <a:schemeClr val="lt1"/>
                </a:solidFill>
                <a:latin typeface="Raleway SemiBold"/>
                <a:ea typeface="Raleway SemiBold"/>
                <a:cs typeface="Raleway SemiBold"/>
                <a:sym typeface="Raleway SemiBold"/>
              </a:defRPr>
            </a:lvl5pPr>
            <a:lvl6pPr lvl="5" rtl="0">
              <a:buNone/>
              <a:defRPr>
                <a:solidFill>
                  <a:schemeClr val="lt1"/>
                </a:solidFill>
                <a:latin typeface="Raleway SemiBold"/>
                <a:ea typeface="Raleway SemiBold"/>
                <a:cs typeface="Raleway SemiBold"/>
                <a:sym typeface="Raleway SemiBold"/>
              </a:defRPr>
            </a:lvl6pPr>
            <a:lvl7pPr lvl="6" rtl="0">
              <a:buNone/>
              <a:defRPr>
                <a:solidFill>
                  <a:schemeClr val="lt1"/>
                </a:solidFill>
                <a:latin typeface="Raleway SemiBold"/>
                <a:ea typeface="Raleway SemiBold"/>
                <a:cs typeface="Raleway SemiBold"/>
                <a:sym typeface="Raleway SemiBold"/>
              </a:defRPr>
            </a:lvl7pPr>
            <a:lvl8pPr lvl="7" rtl="0">
              <a:buNone/>
              <a:defRPr>
                <a:solidFill>
                  <a:schemeClr val="lt1"/>
                </a:solidFill>
                <a:latin typeface="Raleway SemiBold"/>
                <a:ea typeface="Raleway SemiBold"/>
                <a:cs typeface="Raleway SemiBold"/>
                <a:sym typeface="Raleway SemiBold"/>
              </a:defRPr>
            </a:lvl8pPr>
            <a:lvl9pPr lvl="8" rtl="0">
              <a:buNone/>
              <a:defRPr>
                <a:solidFill>
                  <a:schemeClr val="lt1"/>
                </a:solidFill>
                <a:latin typeface="Raleway SemiBold"/>
                <a:ea typeface="Raleway SemiBold"/>
                <a:cs typeface="Raleway SemiBold"/>
                <a:sym typeface="Raleway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latin typeface="Raleway SemiBold"/>
                <a:ea typeface="Raleway SemiBold"/>
                <a:cs typeface="Raleway SemiBold"/>
                <a:sym typeface="Raleway SemiBold"/>
              </a:defRPr>
            </a:lvl1pPr>
            <a:lvl2pPr lvl="1" rtl="0">
              <a:buNone/>
              <a:defRPr>
                <a:solidFill>
                  <a:schemeClr val="lt1"/>
                </a:solidFill>
                <a:latin typeface="Raleway SemiBold"/>
                <a:ea typeface="Raleway SemiBold"/>
                <a:cs typeface="Raleway SemiBold"/>
                <a:sym typeface="Raleway SemiBold"/>
              </a:defRPr>
            </a:lvl2pPr>
            <a:lvl3pPr lvl="2" rtl="0">
              <a:buNone/>
              <a:defRPr>
                <a:solidFill>
                  <a:schemeClr val="lt1"/>
                </a:solidFill>
                <a:latin typeface="Raleway SemiBold"/>
                <a:ea typeface="Raleway SemiBold"/>
                <a:cs typeface="Raleway SemiBold"/>
                <a:sym typeface="Raleway SemiBold"/>
              </a:defRPr>
            </a:lvl3pPr>
            <a:lvl4pPr lvl="3" rtl="0">
              <a:buNone/>
              <a:defRPr>
                <a:solidFill>
                  <a:schemeClr val="lt1"/>
                </a:solidFill>
                <a:latin typeface="Raleway SemiBold"/>
                <a:ea typeface="Raleway SemiBold"/>
                <a:cs typeface="Raleway SemiBold"/>
                <a:sym typeface="Raleway SemiBold"/>
              </a:defRPr>
            </a:lvl4pPr>
            <a:lvl5pPr lvl="4" rtl="0">
              <a:buNone/>
              <a:defRPr>
                <a:solidFill>
                  <a:schemeClr val="lt1"/>
                </a:solidFill>
                <a:latin typeface="Raleway SemiBold"/>
                <a:ea typeface="Raleway SemiBold"/>
                <a:cs typeface="Raleway SemiBold"/>
                <a:sym typeface="Raleway SemiBold"/>
              </a:defRPr>
            </a:lvl5pPr>
            <a:lvl6pPr lvl="5" rtl="0">
              <a:buNone/>
              <a:defRPr>
                <a:solidFill>
                  <a:schemeClr val="lt1"/>
                </a:solidFill>
                <a:latin typeface="Raleway SemiBold"/>
                <a:ea typeface="Raleway SemiBold"/>
                <a:cs typeface="Raleway SemiBold"/>
                <a:sym typeface="Raleway SemiBold"/>
              </a:defRPr>
            </a:lvl6pPr>
            <a:lvl7pPr lvl="6" rtl="0">
              <a:buNone/>
              <a:defRPr>
                <a:solidFill>
                  <a:schemeClr val="lt1"/>
                </a:solidFill>
                <a:latin typeface="Raleway SemiBold"/>
                <a:ea typeface="Raleway SemiBold"/>
                <a:cs typeface="Raleway SemiBold"/>
                <a:sym typeface="Raleway SemiBold"/>
              </a:defRPr>
            </a:lvl7pPr>
            <a:lvl8pPr lvl="7" rtl="0">
              <a:buNone/>
              <a:defRPr>
                <a:solidFill>
                  <a:schemeClr val="lt1"/>
                </a:solidFill>
                <a:latin typeface="Raleway SemiBold"/>
                <a:ea typeface="Raleway SemiBold"/>
                <a:cs typeface="Raleway SemiBold"/>
                <a:sym typeface="Raleway SemiBold"/>
              </a:defRPr>
            </a:lvl8pPr>
            <a:lvl9pPr lvl="8" rtl="0">
              <a:buNone/>
              <a:defRPr>
                <a:solidFill>
                  <a:schemeClr val="lt1"/>
                </a:solidFill>
                <a:latin typeface="Raleway SemiBold"/>
                <a:ea typeface="Raleway SemiBold"/>
                <a:cs typeface="Raleway SemiBold"/>
                <a:sym typeface="Raleway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makemac.grid.id/read/211981848/13-tahun-lalu-steve-jobs-resmi-kenalkan-iphone-generasi-pertama?page=all" TargetMode="Externa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cnet.com/tech/mobile/iphone-at-10-apple-steve-jobs-make-iphone-history-remembering/" TargetMode="Externa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interaction-design.org/literature/article/design-failures" TargetMode="Externa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id1lib.org/ireader/5007024"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uxstudioteam.com/ux-blog/bad-ux-design/"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uxstudioteam.com/ux-blog/bad-ux-design/" TargetMode="External"/><Relationship Id="rId4" Type="http://schemas.openxmlformats.org/officeDocument/2006/relationships/image" Target="../media/image9.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uxstudioteam.com/ux-blog/bad-ux-design/" TargetMode="Externa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1" Type="http://schemas.openxmlformats.org/officeDocument/2006/relationships/hyperlink" Target="https://medium.com/@anandvaitheeswaran/user-experience-and-three-mile-island-accident-783344597213" TargetMode="External"/><Relationship Id="rId10" Type="http://schemas.openxmlformats.org/officeDocument/2006/relationships/hyperlink" Target="https://medium.com/@anandvaitheeswaran/user-experience-and-three-mile-island-accident-783344597213" TargetMode="External"/><Relationship Id="rId13" Type="http://schemas.openxmlformats.org/officeDocument/2006/relationships/hyperlink" Target="https://www.core77.com/posts/54026/When-Bad-UI-Design-Kills-Is-Poor-Shift-Lever-Design-to-Blame-for-Death-of-Star-Trek-Actor" TargetMode="External"/><Relationship Id="rId12" Type="http://schemas.openxmlformats.org/officeDocument/2006/relationships/hyperlink" Target="https://www.core77.com/posts/54026/When-Bad-UI-Design-Kills-Is-Poor-Shift-Lever-Design-to-Blame-for-Death-of-Star-Trek-Actor" TargetMode="External"/><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hyperlink" Target="https://bootcamp.uxdesign.cc/watch-out-a-bad-interface-design-kills-seriously-3326f5b038f9" TargetMode="External"/><Relationship Id="rId9" Type="http://schemas.openxmlformats.org/officeDocument/2006/relationships/hyperlink" Target="https://medium.com/tragic-design/how-bad-ux-killed-jenny-ef915419879e" TargetMode="External"/><Relationship Id="rId5" Type="http://schemas.openxmlformats.org/officeDocument/2006/relationships/hyperlink" Target="https://bootcamp.uxdesign.cc/watch-out-a-bad-interface-design-kills-seriously-3326f5b038f9" TargetMode="External"/><Relationship Id="rId6" Type="http://schemas.openxmlformats.org/officeDocument/2006/relationships/hyperlink" Target="https://www.nytimes.com/2003/11/30/magazine/the-guts-of-a-new-machine.html" TargetMode="External"/><Relationship Id="rId7" Type="http://schemas.openxmlformats.org/officeDocument/2006/relationships/hyperlink" Target="https://www.nytimes.com/2003/11/30/magazine/the-guts-of-a-new-machine.html" TargetMode="External"/><Relationship Id="rId8" Type="http://schemas.openxmlformats.org/officeDocument/2006/relationships/hyperlink" Target="https://www.interaction-design.org/literature/article/design-failure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3" name="Shape 73"/>
        <p:cNvGrpSpPr/>
        <p:nvPr/>
      </p:nvGrpSpPr>
      <p:grpSpPr>
        <a:xfrm>
          <a:off x="0" y="0"/>
          <a:ext cx="0" cy="0"/>
          <a:chOff x="0" y="0"/>
          <a:chExt cx="0" cy="0"/>
        </a:xfrm>
      </p:grpSpPr>
      <p:sp>
        <p:nvSpPr>
          <p:cNvPr id="74" name="Google Shape;74;p14"/>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Mengapa UI/UX penting?</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1 - Topic 3</a:t>
            </a:r>
            <a:endParaRPr b="1">
              <a:solidFill>
                <a:srgbClr val="FFFFFF"/>
              </a:solidFill>
              <a:latin typeface="Raleway"/>
              <a:ea typeface="Raleway"/>
              <a:cs typeface="Raleway"/>
              <a:sym typeface="Raleway"/>
            </a:endParaRPr>
          </a:p>
        </p:txBody>
      </p:sp>
      <p:cxnSp>
        <p:nvCxnSpPr>
          <p:cNvPr id="75" name="Google Shape;75;p14"/>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76" name="Google Shape;76;p14"/>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 name="Google Shape;82;p1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Pengantar</a:t>
            </a:r>
            <a:endParaRPr/>
          </a:p>
        </p:txBody>
      </p:sp>
      <p:pic>
        <p:nvPicPr>
          <p:cNvPr id="83" name="Google Shape;83;p1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84" name="Google Shape;84;p15"/>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Mengapa UI/UX desain itu penting? Detailnya kita akan bahas hal-hal berikut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Design hebat, baik dan buruk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Kasus - kasus UI/UX dalam kehidupan sehari - hari</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914400" y="2110050"/>
            <a:ext cx="7315200" cy="9234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a:t>Sekarang, mari kita cari tau apa yang membuat </a:t>
            </a:r>
            <a:r>
              <a:rPr lang="en">
                <a:solidFill>
                  <a:schemeClr val="accent1"/>
                </a:solidFill>
              </a:rPr>
              <a:t>UI/UX itu penting?</a:t>
            </a:r>
            <a:endParaRPr>
              <a:solidFill>
                <a:schemeClr val="accent1"/>
              </a:solidFill>
            </a:endParaRPr>
          </a:p>
        </p:txBody>
      </p:sp>
      <p:sp>
        <p:nvSpPr>
          <p:cNvPr id="90" name="Google Shape;90;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6" name="Google Shape;96;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Design hebat, baik dan buruk</a:t>
            </a:r>
            <a:endParaRPr/>
          </a:p>
        </p:txBody>
      </p:sp>
      <p:sp>
        <p:nvSpPr>
          <p:cNvPr id="97" name="Google Shape;97;p1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Pertama - tama ada yang perlu kita ketahui mengenai sebuah hakikat desain~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Desain yang hebat -&gt; menghasilkan produk terbaik.</a:t>
            </a:r>
            <a:endParaRPr sz="1200">
              <a:solidFill>
                <a:schemeClr val="dk1"/>
              </a:solidFill>
              <a:latin typeface="Raleway Medium"/>
              <a:ea typeface="Raleway Medium"/>
              <a:cs typeface="Raleway Medium"/>
              <a:sym typeface="Raleway Medium"/>
            </a:endParaRPr>
          </a:p>
        </p:txBody>
      </p:sp>
      <p:pic>
        <p:nvPicPr>
          <p:cNvPr id="98" name="Google Shape;98;p17"/>
          <p:cNvPicPr preferRelativeResize="0"/>
          <p:nvPr/>
        </p:nvPicPr>
        <p:blipFill>
          <a:blip r:embed="rId3">
            <a:alphaModFix/>
          </a:blip>
          <a:stretch>
            <a:fillRect/>
          </a:stretch>
        </p:blipFill>
        <p:spPr>
          <a:xfrm>
            <a:off x="5486400" y="1131375"/>
            <a:ext cx="3017524" cy="15505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4" name="Google Shape;104;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Design hebat, baik dan buruk</a:t>
            </a:r>
            <a:endParaRPr/>
          </a:p>
        </p:txBody>
      </p:sp>
      <p:sp>
        <p:nvSpPr>
          <p:cNvPr id="105" name="Google Shape;105;p1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400"/>
              <a:buFont typeface="Arial"/>
              <a:buNone/>
            </a:pPr>
            <a:r>
              <a:rPr b="1" lang="en" sz="1800">
                <a:solidFill>
                  <a:srgbClr val="743673"/>
                </a:solidFill>
                <a:highlight>
                  <a:schemeClr val="lt1"/>
                </a:highlight>
                <a:latin typeface="Raleway"/>
                <a:ea typeface="Raleway"/>
                <a:cs typeface="Raleway"/>
                <a:sym typeface="Raleway"/>
              </a:rPr>
              <a:t>Pertama - tama ada yang perlu kita ketahui mengenai sebuah hakikat desain~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Desain yang hebat -&gt; menghasilkan produk terbaik.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Desain yang baik -&gt; tidak berasa &amp; luput dari perhatian.</a:t>
            </a:r>
            <a:endParaRPr sz="1200">
              <a:solidFill>
                <a:schemeClr val="dk1"/>
              </a:solidFill>
              <a:latin typeface="Raleway Medium"/>
              <a:ea typeface="Raleway Medium"/>
              <a:cs typeface="Raleway Medium"/>
              <a:sym typeface="Raleway Medium"/>
            </a:endParaRPr>
          </a:p>
        </p:txBody>
      </p:sp>
      <p:pic>
        <p:nvPicPr>
          <p:cNvPr id="106" name="Google Shape;106;p18"/>
          <p:cNvPicPr preferRelativeResize="0"/>
          <p:nvPr/>
        </p:nvPicPr>
        <p:blipFill>
          <a:blip r:embed="rId3">
            <a:alphaModFix/>
          </a:blip>
          <a:stretch>
            <a:fillRect/>
          </a:stretch>
        </p:blipFill>
        <p:spPr>
          <a:xfrm>
            <a:off x="5430275" y="1109475"/>
            <a:ext cx="3017949" cy="1579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19"/>
          <p:cNvPicPr preferRelativeResize="0"/>
          <p:nvPr/>
        </p:nvPicPr>
        <p:blipFill>
          <a:blip r:embed="rId3">
            <a:alphaModFix/>
          </a:blip>
          <a:stretch>
            <a:fillRect/>
          </a:stretch>
        </p:blipFill>
        <p:spPr>
          <a:xfrm>
            <a:off x="5393277" y="1109481"/>
            <a:ext cx="3074695" cy="1579925"/>
          </a:xfrm>
          <a:prstGeom prst="rect">
            <a:avLst/>
          </a:prstGeom>
          <a:noFill/>
          <a:ln>
            <a:noFill/>
          </a:ln>
        </p:spPr>
      </p:pic>
      <p:sp>
        <p:nvSpPr>
          <p:cNvPr id="112" name="Google Shape;112;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Design hebat, baik dan buruk</a:t>
            </a:r>
            <a:endParaRPr/>
          </a:p>
        </p:txBody>
      </p:sp>
      <p:sp>
        <p:nvSpPr>
          <p:cNvPr id="114" name="Google Shape;114;p1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400"/>
              <a:buFont typeface="Arial"/>
              <a:buNone/>
            </a:pPr>
            <a:r>
              <a:rPr b="1" lang="en" sz="1800">
                <a:solidFill>
                  <a:srgbClr val="743673"/>
                </a:solidFill>
                <a:highlight>
                  <a:schemeClr val="lt1"/>
                </a:highlight>
                <a:latin typeface="Raleway"/>
                <a:ea typeface="Raleway"/>
                <a:cs typeface="Raleway"/>
                <a:sym typeface="Raleway"/>
              </a:rPr>
              <a:t>Pertama - tama ada yang perlu kita ketahui mengenai sebuah hakikat desain~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Desain yang hebat -&gt; menghasilkan produk terbaik.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Desain yang baik -&gt; tidak berasa &amp; luput dari perhatian.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Desain yang buruk -&gt; dapat membunuh Anda.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914400" y="1925250"/>
            <a:ext cx="7315200" cy="12930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a:t>Wah.. menarik</a:t>
            </a:r>
            <a:r>
              <a:rPr lang="en"/>
              <a:t> juga yaa, Kenapa bisa begitu ya? mari kita telaah beberapa </a:t>
            </a:r>
            <a:r>
              <a:rPr lang="en">
                <a:solidFill>
                  <a:schemeClr val="accent1"/>
                </a:solidFill>
              </a:rPr>
              <a:t>kasus - kasus yang terjadi pada kehidupan sehari - hari.</a:t>
            </a:r>
            <a:endParaRPr>
              <a:solidFill>
                <a:schemeClr val="accent1"/>
              </a:solidFill>
            </a:endParaRPr>
          </a:p>
        </p:txBody>
      </p:sp>
      <p:sp>
        <p:nvSpPr>
          <p:cNvPr id="120" name="Google Shape;120;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Kasus - kasus UI/UX dalam kehidupan sehari - hari</a:t>
            </a:r>
            <a:endParaRPr/>
          </a:p>
        </p:txBody>
      </p:sp>
      <p:sp>
        <p:nvSpPr>
          <p:cNvPr id="127" name="Google Shape;127;p2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1. Desain yang hebat -&gt; menghasilkan produk terbaik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 mana pun teknologi digunakan, merancang pengalaman pengguna yang mulus dan intuitif menjadi sangat penting. Ketika Apple meluncurkan iPhone pada 2007, iPhone langsung menjadi favorit setiap pengguna.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Popularitas dan keberhasilan iPhone dalam mendominasi pasarnya disebabkan dengan keseriusan perancangan produk tersebut.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Hampir seluruh pengalaman dalam produk yang diberikan oleh iPhone pada saat itu sangatlah berbeda jika dibandingkan dengan ponsel lain periode tersebut.</a:t>
            </a:r>
            <a:endParaRPr sz="1200">
              <a:solidFill>
                <a:schemeClr val="dk1"/>
              </a:solidFill>
              <a:latin typeface="Raleway Medium"/>
              <a:ea typeface="Raleway Medium"/>
              <a:cs typeface="Raleway Medium"/>
              <a:sym typeface="Raleway Medium"/>
            </a:endParaRPr>
          </a:p>
        </p:txBody>
      </p:sp>
      <p:pic>
        <p:nvPicPr>
          <p:cNvPr id="128" name="Google Shape;128;p21">
            <a:hlinkClick r:id="rId3"/>
          </p:cNvPr>
          <p:cNvPicPr preferRelativeResize="0"/>
          <p:nvPr/>
        </p:nvPicPr>
        <p:blipFill rotWithShape="1">
          <a:blip r:embed="rId4">
            <a:alphaModFix/>
          </a:blip>
          <a:srcRect b="0" l="13467" r="13459" t="0"/>
          <a:stretch/>
        </p:blipFill>
        <p:spPr>
          <a:xfrm>
            <a:off x="5486400" y="1207587"/>
            <a:ext cx="3017518"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 name="Google Shape;134;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Kasus - kasus UI/UX dalam kehidupan sehari - hari</a:t>
            </a:r>
            <a:endParaRPr/>
          </a:p>
        </p:txBody>
      </p:sp>
      <p:sp>
        <p:nvSpPr>
          <p:cNvPr id="135" name="Google Shape;135;p2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“Kebanyakan orang membuat kesalahan dengan berpikir bahwa desain adalah seperti apa rupa sesuatu. Orang-orang mengira — bahwa para desainer diberikan kotak ini dan diberi tahu, 'Buatlah ini terlihat bagus!' Bagi kami, desain bukanlah seperti itu. [Desain] bukan hanya seperti apa yang rupa dan rasa-nya. Desain adalah cara kerjanya.” — Steve Jobs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Steve Jobs kembali ke Apple pada tahun 1997, dan ia mengubah visi Apple dengan menerapkan prinsip-prinsip design thinking. Strategi yang sama sedang dipraktekkan oleh merek tersebut bahkan sampai hari ini. Meskipun Jobs tidak bersama kita hari ini, dia telah mendirikan salah satu perusahaan paling sukses dan saat ini bernilai hampir $2 triliun [per Agustus 2020].</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36" name="Google Shape;136;p22">
            <a:hlinkClick r:id="rId3"/>
          </p:cNvPr>
          <p:cNvPicPr preferRelativeResize="0"/>
          <p:nvPr/>
        </p:nvPicPr>
        <p:blipFill rotWithShape="1">
          <a:blip r:embed="rId4">
            <a:alphaModFix/>
          </a:blip>
          <a:srcRect b="9506" l="0" r="0" t="9514"/>
          <a:stretch/>
        </p:blipFill>
        <p:spPr>
          <a:xfrm>
            <a:off x="5486400" y="1207587"/>
            <a:ext cx="3017518" cy="27431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2" name="Google Shape;142;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Kasus - kasus UI/UX dalam kehidupan sehari - hari</a:t>
            </a:r>
            <a:endParaRPr/>
          </a:p>
        </p:txBody>
      </p:sp>
      <p:sp>
        <p:nvSpPr>
          <p:cNvPr id="143" name="Google Shape;143;p2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2. Desain yang baik -&gt; tidak berasa &amp; luput dari perhatian.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Kita</a:t>
            </a:r>
            <a:r>
              <a:rPr lang="en" sz="1200">
                <a:solidFill>
                  <a:schemeClr val="dk1"/>
                </a:solidFill>
                <a:latin typeface="Raleway Medium"/>
                <a:ea typeface="Raleway Medium"/>
                <a:cs typeface="Raleway Medium"/>
                <a:sym typeface="Raleway Medium"/>
              </a:rPr>
              <a:t> mungkin tidak terlalu memikirkan bagaimana tombol tombol pada sebuah lift dirancang sampai kita menggunakan lift yang dirancang dengan buruk.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Lihatlah gambar tombol lift di samping, perasaan apa yang akan muncul jika Anda harus menggunakan lift tersebut?</a:t>
            </a:r>
            <a:endParaRPr sz="1200">
              <a:solidFill>
                <a:schemeClr val="dk1"/>
              </a:solidFill>
              <a:latin typeface="Raleway Medium"/>
              <a:ea typeface="Raleway Medium"/>
              <a:cs typeface="Raleway Medium"/>
              <a:sym typeface="Raleway Medium"/>
            </a:endParaRPr>
          </a:p>
        </p:txBody>
      </p:sp>
      <p:pic>
        <p:nvPicPr>
          <p:cNvPr id="144" name="Google Shape;144;p23">
            <a:hlinkClick r:id="rId3"/>
          </p:cNvPr>
          <p:cNvPicPr preferRelativeResize="0"/>
          <p:nvPr/>
        </p:nvPicPr>
        <p:blipFill rotWithShape="1">
          <a:blip r:embed="rId4">
            <a:alphaModFix/>
          </a:blip>
          <a:srcRect b="19266" l="0" r="0" t="19259"/>
          <a:stretch/>
        </p:blipFill>
        <p:spPr>
          <a:xfrm>
            <a:off x="5486400" y="1207587"/>
            <a:ext cx="3017519"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 name="Google Shape;150;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Kasus - kasus UI/UX dalam kehidupan sehari - hari</a:t>
            </a:r>
            <a:endParaRPr/>
          </a:p>
        </p:txBody>
      </p:sp>
      <p:sp>
        <p:nvSpPr>
          <p:cNvPr id="151" name="Google Shape;151;p2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3. Desain yang buruk -&gt; dapat membunuh.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Jonathan Shariat, seorang pemimpin desain UX yang dengan penuh semangat meneliti dunia desain yang berbahaya, menceritakan salah satu kisah yang menjadi terkenal dalam bukunya ‘</a:t>
            </a:r>
            <a:r>
              <a:rPr b="1" lang="en" sz="1200">
                <a:solidFill>
                  <a:schemeClr val="dk1"/>
                </a:solidFill>
                <a:uFill>
                  <a:noFill/>
                </a:uFill>
                <a:latin typeface="Raleway"/>
                <a:ea typeface="Raleway"/>
                <a:cs typeface="Raleway"/>
                <a:sym typeface="Raleway"/>
                <a:hlinkClick r:id="rId3">
                  <a:extLst>
                    <a:ext uri="{A12FA001-AC4F-418D-AE19-62706E023703}">
                      <ahyp:hlinkClr val="tx"/>
                    </a:ext>
                  </a:extLst>
                </a:hlinkClick>
              </a:rPr>
              <a:t>Tragic Design</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Shariat menceritakan kisah seorang pasien kanker yang masih belia. Karena nama asli gadis itu tidak pernah dibagikan, Shariat memanggilnya Jenny.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Jenny telah berjuang dengan penyakitnya untuk waktu yang lama dan mulai minum obat baru di rumah sakit.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Kasus - kasus UI/UX dalam kehidupan sehari - hari</a:t>
            </a:r>
            <a:endParaRPr/>
          </a:p>
        </p:txBody>
      </p:sp>
      <p:sp>
        <p:nvSpPr>
          <p:cNvPr id="158" name="Google Shape;158;p2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lang="en" sz="1200">
                <a:solidFill>
                  <a:schemeClr val="dk1"/>
                </a:solidFill>
                <a:latin typeface="Raleway Medium"/>
                <a:ea typeface="Raleway Medium"/>
                <a:cs typeface="Raleway Medium"/>
                <a:sym typeface="Raleway Medium"/>
              </a:rPr>
              <a:t>Perawatannya sangatlah agresif, Jenny membutuhkan pra-dan pasca-hidrasi selama 3 hari selama masa pengobatan. Perawat - perawatnya bertanggung jawab untuk memasukkan semua data yang diperlukan ke dalam perangkat lunak medis dan, dengan menggunakan perangkat lunak ini, mereka menindaklanjuti status pengobatan sang pasien.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Meskipun para perawat menggunakan perangkat lunak dengan rajin, entah bagaimana mereka melewatkan informasi penting tentang persyaratan hidrasi 3 hari. Sehari setelah perawatannya, Jenny meninggal karena keracunan dan dehidrasi. Perawat yang berpengalaman membuat kesalahan kritis tersebut karena terlalu terganggu saat menggunakan UI dari perangkat lunak medisnya.</a:t>
            </a:r>
            <a:endParaRPr sz="1200">
              <a:solidFill>
                <a:schemeClr val="dk1"/>
              </a:solidFill>
              <a:latin typeface="Raleway Medium"/>
              <a:ea typeface="Raleway Medium"/>
              <a:cs typeface="Raleway Medium"/>
              <a:sym typeface="Raleway Medium"/>
            </a:endParaRPr>
          </a:p>
        </p:txBody>
      </p:sp>
      <p:pic>
        <p:nvPicPr>
          <p:cNvPr id="159" name="Google Shape;159;p25">
            <a:hlinkClick r:id="rId3"/>
          </p:cNvPr>
          <p:cNvPicPr preferRelativeResize="0"/>
          <p:nvPr/>
        </p:nvPicPr>
        <p:blipFill rotWithShape="1">
          <a:blip r:embed="rId4">
            <a:alphaModFix/>
          </a:blip>
          <a:srcRect b="0" l="8753" r="8745" t="0"/>
          <a:stretch/>
        </p:blipFill>
        <p:spPr>
          <a:xfrm>
            <a:off x="5486400" y="1207587"/>
            <a:ext cx="3017520"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Kasus - kasus UI/UX dalam kehidupan sehari - hari</a:t>
            </a:r>
            <a:endParaRPr/>
          </a:p>
        </p:txBody>
      </p:sp>
      <p:sp>
        <p:nvSpPr>
          <p:cNvPr id="165" name="Google Shape;165;p2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chemeClr val="lt1"/>
                </a:solidFill>
                <a:latin typeface="Raleway"/>
                <a:ea typeface="Raleway"/>
                <a:cs typeface="Raleway"/>
                <a:sym typeface="Raleway"/>
              </a:rPr>
              <a:t>Kasus seram lain…</a:t>
            </a:r>
            <a:endParaRPr b="1" sz="1800">
              <a:solidFill>
                <a:schemeClr val="lt1"/>
              </a:solidFill>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lt1"/>
                </a:solidFill>
                <a:latin typeface="Raleway Medium"/>
                <a:ea typeface="Raleway Medium"/>
                <a:cs typeface="Raleway Medium"/>
                <a:sym typeface="Raleway Medium"/>
              </a:rPr>
              <a:t>Pada tanggal 28 Maret 1979, pembangkit listrik tenaga nuklir di Three Mile Island, Pennsylvania Timur mengalami </a:t>
            </a:r>
            <a:r>
              <a:rPr i="1" lang="en" sz="1200">
                <a:solidFill>
                  <a:schemeClr val="lt1"/>
                </a:solidFill>
                <a:latin typeface="Raleway Medium"/>
                <a:ea typeface="Raleway Medium"/>
                <a:cs typeface="Raleway Medium"/>
                <a:sym typeface="Raleway Medium"/>
              </a:rPr>
              <a:t>partial meltdown</a:t>
            </a:r>
            <a:r>
              <a:rPr lang="en" sz="1200">
                <a:solidFill>
                  <a:schemeClr val="lt1"/>
                </a:solidFill>
                <a:latin typeface="Raleway Medium"/>
                <a:ea typeface="Raleway Medium"/>
                <a:cs typeface="Raleway Medium"/>
                <a:sym typeface="Raleway Medium"/>
              </a:rPr>
              <a:t>, memicu kecelakaan nuklir terburuk dalam sejarah AS.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lt1"/>
                </a:solidFill>
                <a:latin typeface="Raleway Medium"/>
                <a:ea typeface="Raleway Medium"/>
                <a:cs typeface="Raleway Medium"/>
                <a:sym typeface="Raleway Medium"/>
              </a:rPr>
              <a:t>Untungnya, kecelakaan tidak memiliki efek kesehatan yang terdeteksi pada pekerja pabrik atau masyarakat.</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lt1"/>
                </a:solidFill>
                <a:latin typeface="Raleway Medium"/>
                <a:ea typeface="Raleway Medium"/>
                <a:cs typeface="Raleway Medium"/>
                <a:sym typeface="Raleway Medium"/>
              </a:rPr>
              <a:t>Masalah dimulai ketika katup pelepas tidak ditutup dengan benar tetapi instrumen di ruang kontrol menunjukkan bahwa katup pelepas telah ditutup dengan benar. Akibatnya, staf pabrik tidak menyadari bahwa air pendingin mengalir keluar dari katup yang terbuka.</a:t>
            </a:r>
            <a:endParaRPr sz="1200">
              <a:solidFill>
                <a:schemeClr val="lt1"/>
              </a:solidFill>
              <a:latin typeface="Raleway Medium"/>
              <a:ea typeface="Raleway Medium"/>
              <a:cs typeface="Raleway Medium"/>
              <a:sym typeface="Raleway Medium"/>
            </a:endParaRPr>
          </a:p>
        </p:txBody>
      </p:sp>
      <p:pic>
        <p:nvPicPr>
          <p:cNvPr id="166" name="Google Shape;166;p26">
            <a:hlinkClick r:id="rId3"/>
          </p:cNvPr>
          <p:cNvPicPr preferRelativeResize="0"/>
          <p:nvPr/>
        </p:nvPicPr>
        <p:blipFill rotWithShape="1">
          <a:blip r:embed="rId4">
            <a:alphaModFix/>
          </a:blip>
          <a:srcRect b="0" l="12874" r="12874" t="0"/>
          <a:stretch/>
        </p:blipFill>
        <p:spPr>
          <a:xfrm>
            <a:off x="5486400" y="1207587"/>
            <a:ext cx="3017518" cy="2743200"/>
          </a:xfrm>
          <a:prstGeom prst="rect">
            <a:avLst/>
          </a:prstGeom>
          <a:noFill/>
          <a:ln>
            <a:noFill/>
          </a:ln>
        </p:spPr>
      </p:pic>
      <p:sp>
        <p:nvSpPr>
          <p:cNvPr id="167" name="Google Shape;167;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Kasus - kasus UI/UX dalam kehidupan sehari - hari</a:t>
            </a:r>
            <a:endParaRPr/>
          </a:p>
        </p:txBody>
      </p:sp>
      <p:sp>
        <p:nvSpPr>
          <p:cNvPr id="173" name="Google Shape;173;p2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chemeClr val="lt1"/>
                </a:solidFill>
                <a:latin typeface="Raleway"/>
                <a:ea typeface="Raleway"/>
                <a:cs typeface="Raleway"/>
                <a:sym typeface="Raleway"/>
              </a:rPr>
              <a:t>Kasus dengan masalah yang mirip…</a:t>
            </a:r>
            <a:endParaRPr b="1" sz="1800">
              <a:solidFill>
                <a:schemeClr val="lt1"/>
              </a:solidFill>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lt1"/>
                </a:solidFill>
                <a:latin typeface="Raleway Medium"/>
                <a:ea typeface="Raleway Medium"/>
                <a:cs typeface="Raleway Medium"/>
                <a:sym typeface="Raleway Medium"/>
              </a:rPr>
              <a:t>Pada tahun 2016, kematian Anton Yelchin mengguncang dunia. Aktor yang dikenal memerankan Komandan Chekov dalam film Star Trek tewas dalam sebuah kecelakaan di jalan masuk rumahnya di Los Angeles.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lt1"/>
                </a:solidFill>
                <a:latin typeface="Raleway Medium"/>
                <a:ea typeface="Raleway Medium"/>
                <a:cs typeface="Raleway Medium"/>
                <a:sym typeface="Raleway Medium"/>
              </a:rPr>
              <a:t>Yelchin ditemukan terjepit di antara mobilnya, Jeep Grand Cherokee 2015, dan gerbang di ujung jalan masuknya. Tampaknya Yelchin telah keluar dari mobil dan berjalan di belakangnya untuk menutup gerbang, percaya bahwa transmisi ada di "Park".  Sebaliknya, transmisi sebenarnya ada dalam "Reverse" atau "Netral", dan mobil meluncur menuruni jalan masuk yang curam, membunuhnya. </a:t>
            </a:r>
            <a:endParaRPr sz="1200">
              <a:solidFill>
                <a:schemeClr val="lt1"/>
              </a:solidFill>
              <a:latin typeface="Raleway Medium"/>
              <a:ea typeface="Raleway Medium"/>
              <a:cs typeface="Raleway Medium"/>
              <a:sym typeface="Raleway Medium"/>
            </a:endParaRPr>
          </a:p>
        </p:txBody>
      </p:sp>
      <p:pic>
        <p:nvPicPr>
          <p:cNvPr id="174" name="Google Shape;174;p27">
            <a:hlinkClick r:id="rId3"/>
          </p:cNvPr>
          <p:cNvPicPr preferRelativeResize="0"/>
          <p:nvPr/>
        </p:nvPicPr>
        <p:blipFill rotWithShape="1">
          <a:blip r:embed="rId4">
            <a:alphaModFix/>
          </a:blip>
          <a:srcRect b="0" l="19063" r="19063" t="0"/>
          <a:stretch/>
        </p:blipFill>
        <p:spPr>
          <a:xfrm>
            <a:off x="5486400" y="1207587"/>
            <a:ext cx="3017518" cy="2743200"/>
          </a:xfrm>
          <a:prstGeom prst="rect">
            <a:avLst/>
          </a:prstGeom>
          <a:noFill/>
          <a:ln>
            <a:noFill/>
          </a:ln>
        </p:spPr>
      </p:pic>
      <p:sp>
        <p:nvSpPr>
          <p:cNvPr id="175" name="Google Shape;175;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Kasus - kasus UI/UX dalam kehidupan sehari - hari</a:t>
            </a:r>
            <a:endParaRPr/>
          </a:p>
        </p:txBody>
      </p:sp>
      <p:sp>
        <p:nvSpPr>
          <p:cNvPr id="182" name="Google Shape;182;p28"/>
          <p:cNvSpPr txBox="1"/>
          <p:nvPr/>
        </p:nvSpPr>
        <p:spPr>
          <a:xfrm>
            <a:off x="685800" y="102987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ini, kita melakukan banyak transaksi hanya dengan smartphone, membiarkan mobil mengemudi sendiri, mengelola rumah secara online, memberikan perangkat kepada anak-anak untuk hiburan.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Kita telah membiarkan teknologi lebih dekat dengan kehidupan sehari - hari. Hidup menjadi jauh lebih nyaman dan mudah.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Akan tetapi, </a:t>
            </a:r>
            <a:r>
              <a:rPr lang="en" sz="1200">
                <a:solidFill>
                  <a:schemeClr val="dk1"/>
                </a:solidFill>
                <a:latin typeface="Raleway Medium"/>
                <a:ea typeface="Raleway Medium"/>
                <a:cs typeface="Raleway Medium"/>
                <a:sym typeface="Raleway Medium"/>
              </a:rPr>
              <a:t> teknologi yang disalahgunakan atau ditafsirkan secara salah </a:t>
            </a:r>
            <a:r>
              <a:rPr lang="en" sz="1200">
                <a:solidFill>
                  <a:schemeClr val="dk1"/>
                </a:solidFill>
                <a:latin typeface="Raleway Medium"/>
                <a:ea typeface="Raleway Medium"/>
                <a:cs typeface="Raleway Medium"/>
                <a:sym typeface="Raleway Medium"/>
              </a:rPr>
              <a:t>juga dapat meningkatkan risiko timbulnya bahaya yang lebih serius. Karena itu, peran desain yang memahami kebutuhan pengguna sangat berperan penting untuk meminimalisir resiko yang ditimbulkan tersebut.</a:t>
            </a:r>
            <a:endParaRPr sz="1200">
              <a:solidFill>
                <a:schemeClr val="dk1"/>
              </a:solidFill>
              <a:latin typeface="Raleway Medium"/>
              <a:ea typeface="Raleway Medium"/>
              <a:cs typeface="Raleway Medium"/>
              <a:sym typeface="Raleway Medium"/>
            </a:endParaRPr>
          </a:p>
        </p:txBody>
      </p:sp>
      <p:pic>
        <p:nvPicPr>
          <p:cNvPr id="183" name="Google Shape;183;p2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kita </a:t>
            </a:r>
            <a:r>
              <a:rPr lang="en">
                <a:solidFill>
                  <a:schemeClr val="accent1"/>
                </a:solidFill>
              </a:rPr>
              <a:t>Quiz</a:t>
            </a:r>
            <a:endParaRPr>
              <a:solidFill>
                <a:schemeClr val="accent1"/>
              </a:solidFill>
            </a:endParaRPr>
          </a:p>
        </p:txBody>
      </p:sp>
      <p:sp>
        <p:nvSpPr>
          <p:cNvPr id="189" name="Google Shape;189;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195" name="Google Shape;195;p3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ini adalah pernyataan yang benar tentang desain, kecuali…</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Desain yang hebat -&gt; menghasilkan produk terbaik.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Desain yang baik -&gt; menarik perhatian.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Desain yang buruk -&gt; dapat membunuh Anda.</a:t>
            </a:r>
            <a:endParaRPr sz="1200">
              <a:solidFill>
                <a:schemeClr val="lt1"/>
              </a:solidFill>
              <a:latin typeface="Raleway Medium"/>
              <a:ea typeface="Raleway Medium"/>
              <a:cs typeface="Raleway Medium"/>
              <a:sym typeface="Raleway Medium"/>
            </a:endParaRPr>
          </a:p>
        </p:txBody>
      </p:sp>
      <p:sp>
        <p:nvSpPr>
          <p:cNvPr id="196" name="Google Shape;196;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02" name="Google Shape;202;p3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ini adalah pernyataan yang benar tentang desain, kecuali…</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Desain yang hebat -&gt; menghasilkan produk terbaik.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Desain yang baik -&gt; menarik perhatian.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Desain yang buruk -&gt; dapat membunuh Anda.</a:t>
            </a:r>
            <a:endParaRPr sz="1200">
              <a:solidFill>
                <a:srgbClr val="A667A5"/>
              </a:solidFill>
              <a:latin typeface="Raleway Medium"/>
              <a:ea typeface="Raleway Medium"/>
              <a:cs typeface="Raleway Medium"/>
              <a:sym typeface="Raleway Medium"/>
            </a:endParaRPr>
          </a:p>
        </p:txBody>
      </p:sp>
      <p:sp>
        <p:nvSpPr>
          <p:cNvPr id="203" name="Google Shape;203;p31"/>
          <p:cNvSpPr/>
          <p:nvPr/>
        </p:nvSpPr>
        <p:spPr>
          <a:xfrm>
            <a:off x="685800" y="2850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Desain yang baik -&gt; tidak berasa &amp; luput dari perhatian.</a:t>
            </a:r>
            <a:endParaRPr b="1" sz="1000">
              <a:solidFill>
                <a:srgbClr val="733572"/>
              </a:solidFill>
              <a:latin typeface="Raleway"/>
              <a:ea typeface="Raleway"/>
              <a:cs typeface="Raleway"/>
              <a:sym typeface="Raleway"/>
            </a:endParaRPr>
          </a:p>
        </p:txBody>
      </p:sp>
      <p:sp>
        <p:nvSpPr>
          <p:cNvPr id="204" name="Google Shape;204;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10" name="Google Shape;210;p3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Desain bukan hanya seperti apa yang _____ dan _____-nya. Desain adalah cara  ______-nya” — Steve Jobs</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rupa, kerja, rasa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rupa, rasa, kerja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bagus, kerja, </a:t>
            </a:r>
            <a:r>
              <a:rPr lang="en" sz="1200">
                <a:solidFill>
                  <a:schemeClr val="lt1"/>
                </a:solidFill>
                <a:latin typeface="Raleway Medium"/>
                <a:ea typeface="Raleway Medium"/>
                <a:cs typeface="Raleway Medium"/>
                <a:sym typeface="Raleway Medium"/>
              </a:rPr>
              <a:t>rupa</a:t>
            </a:r>
            <a:endParaRPr sz="1200">
              <a:solidFill>
                <a:schemeClr val="lt1"/>
              </a:solidFill>
              <a:latin typeface="Raleway Medium"/>
              <a:ea typeface="Raleway Medium"/>
              <a:cs typeface="Raleway Medium"/>
              <a:sym typeface="Raleway Medium"/>
            </a:endParaRPr>
          </a:p>
        </p:txBody>
      </p:sp>
      <p:sp>
        <p:nvSpPr>
          <p:cNvPr id="211" name="Google Shape;211;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17" name="Google Shape;217;p3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Steve Jobs menyatakan bahwa desain bukan hanya seperti apa yang _____ dan _____-nya, melainkan desain adalah cara  ______-nya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rupa, kerja, rasa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rupa, rasa, kerja</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bagus, kerja, rupa</a:t>
            </a:r>
            <a:endParaRPr sz="1200">
              <a:solidFill>
                <a:srgbClr val="A667A5"/>
              </a:solidFill>
              <a:latin typeface="Raleway Medium"/>
              <a:ea typeface="Raleway Medium"/>
              <a:cs typeface="Raleway Medium"/>
              <a:sym typeface="Raleway Medium"/>
            </a:endParaRPr>
          </a:p>
        </p:txBody>
      </p:sp>
      <p:sp>
        <p:nvSpPr>
          <p:cNvPr id="218" name="Google Shape;218;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3"/>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Desain bukan hanya seperti apa yang rupa  dan rasa-nya. Desain adalah cara kerja-nya” — Steve Jobs</a:t>
            </a:r>
            <a:endParaRPr b="1" sz="1000">
              <a:solidFill>
                <a:srgbClr val="733572"/>
              </a:solidFill>
              <a:latin typeface="Raleway"/>
              <a:ea typeface="Raleway"/>
              <a:cs typeface="Raleway"/>
              <a:sym typeface="Ralew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25" name="Google Shape;225;p3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manfaat dari desain UX yang baik,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Kecepatan dalam pekerjaan sehari - hari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Kenyamanan</a:t>
            </a:r>
            <a:r>
              <a:rPr lang="en" sz="1200">
                <a:solidFill>
                  <a:schemeClr val="lt1"/>
                </a:solidFill>
                <a:latin typeface="Raleway Medium"/>
                <a:ea typeface="Raleway Medium"/>
                <a:cs typeface="Raleway Medium"/>
                <a:sym typeface="Raleway Medium"/>
              </a:rPr>
              <a:t> dalam pekerjaan sehari - hari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Kesalahgunaan</a:t>
            </a:r>
            <a:r>
              <a:rPr lang="en" sz="1200">
                <a:solidFill>
                  <a:schemeClr val="lt1"/>
                </a:solidFill>
                <a:latin typeface="Raleway Medium"/>
                <a:ea typeface="Raleway Medium"/>
                <a:cs typeface="Raleway Medium"/>
                <a:sym typeface="Raleway Medium"/>
              </a:rPr>
              <a:t> dalam pekerjaan sehari - hari</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226" name="Google Shape;226;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0" name="Shape 230"/>
        <p:cNvGrpSpPr/>
        <p:nvPr/>
      </p:nvGrpSpPr>
      <p:grpSpPr>
        <a:xfrm>
          <a:off x="0" y="0"/>
          <a:ext cx="0" cy="0"/>
          <a:chOff x="0" y="0"/>
          <a:chExt cx="0" cy="0"/>
        </a:xfrm>
      </p:grpSpPr>
      <p:sp>
        <p:nvSpPr>
          <p:cNvPr id="231" name="Google Shape;231;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32" name="Google Shape;232;p3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manfaat dari desain UX yang baik,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Kecepatan dalam pekerjaan sehari - hari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Kenyamanan dalam pekerjaan sehari - hari</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Kesalahgunaan dalam pekerjaan sehari - hari</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233" name="Google Shape;233;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35"/>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t>
            </a:r>
            <a:endParaRPr b="1" sz="1000">
              <a:solidFill>
                <a:srgbClr val="733572"/>
              </a:solidFill>
              <a:latin typeface="Raleway"/>
              <a:ea typeface="Raleway"/>
              <a:cs typeface="Raleway"/>
              <a:sym typeface="Ralewa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40" name="Google Shape;240;p3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Diskusikan bersama apa yang kurang tepat dengan desain pada gambar dibawah…</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pic>
        <p:nvPicPr>
          <p:cNvPr id="241" name="Google Shape;241;p36"/>
          <p:cNvPicPr preferRelativeResize="0"/>
          <p:nvPr/>
        </p:nvPicPr>
        <p:blipFill rotWithShape="1">
          <a:blip r:embed="rId3">
            <a:alphaModFix/>
          </a:blip>
          <a:srcRect b="32242" l="0" r="0" t="17237"/>
          <a:stretch/>
        </p:blipFill>
        <p:spPr>
          <a:xfrm>
            <a:off x="3847575" y="2125525"/>
            <a:ext cx="4384068" cy="2412524"/>
          </a:xfrm>
          <a:prstGeom prst="rect">
            <a:avLst/>
          </a:prstGeom>
          <a:noFill/>
          <a:ln>
            <a:noFill/>
          </a:ln>
        </p:spPr>
      </p:pic>
      <p:sp>
        <p:nvSpPr>
          <p:cNvPr id="242" name="Google Shape;242;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48" name="Google Shape;248;p3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Diskusikan bersama apa yang kurang tepat </a:t>
            </a:r>
            <a:r>
              <a:rPr b="1" lang="en" sz="1800">
                <a:solidFill>
                  <a:schemeClr val="lt1"/>
                </a:solidFill>
                <a:latin typeface="Raleway"/>
                <a:ea typeface="Raleway"/>
                <a:cs typeface="Raleway"/>
                <a:sym typeface="Raleway"/>
              </a:rPr>
              <a:t>dengan</a:t>
            </a:r>
            <a:r>
              <a:rPr b="1" lang="en" sz="1800">
                <a:solidFill>
                  <a:schemeClr val="lt1"/>
                </a:solidFill>
                <a:latin typeface="Raleway"/>
                <a:ea typeface="Raleway"/>
                <a:cs typeface="Raleway"/>
                <a:sym typeface="Raleway"/>
              </a:rPr>
              <a:t> desain pada gambar dibawah…</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pic>
        <p:nvPicPr>
          <p:cNvPr id="249" name="Google Shape;249;p37"/>
          <p:cNvPicPr preferRelativeResize="0"/>
          <p:nvPr/>
        </p:nvPicPr>
        <p:blipFill rotWithShape="1">
          <a:blip r:embed="rId3">
            <a:alphaModFix/>
          </a:blip>
          <a:srcRect b="6416" l="-110837" r="0" t="6407"/>
          <a:stretch/>
        </p:blipFill>
        <p:spPr>
          <a:xfrm>
            <a:off x="3331250" y="1976600"/>
            <a:ext cx="4657152" cy="2562800"/>
          </a:xfrm>
          <a:prstGeom prst="rect">
            <a:avLst/>
          </a:prstGeom>
          <a:noFill/>
          <a:ln>
            <a:noFill/>
          </a:ln>
        </p:spPr>
      </p:pic>
      <p:sp>
        <p:nvSpPr>
          <p:cNvPr id="250" name="Google Shape;250;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257" name="Google Shape;257;p3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258" name="Google Shape;258;p38"/>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Watch out! A bad UX design kills! Seriously. By </a:t>
            </a:r>
            <a:endParaRPr/>
          </a:p>
          <a:p>
            <a:pPr indent="0" lvl="0" marL="0" rtl="0" algn="just">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5"/>
              </a:rPr>
              <a:t>Bootcamp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a:t>
            </a:r>
            <a:r>
              <a:rPr lang="en" sz="1200" u="sng">
                <a:solidFill>
                  <a:schemeClr val="hlink"/>
                </a:solidFill>
                <a:latin typeface="Raleway Medium"/>
                <a:ea typeface="Raleway Medium"/>
                <a:cs typeface="Raleway Medium"/>
                <a:sym typeface="Raleway Medium"/>
                <a:hlinkClick r:id="rId6"/>
              </a:rPr>
              <a:t> The Guts of a New Machine by The New York Times </a:t>
            </a:r>
            <a:endParaRPr>
              <a:solidFill>
                <a:schemeClr val="dk1"/>
              </a:solidFill>
            </a:endParaRPr>
          </a:p>
          <a:p>
            <a:pPr indent="0" lvl="0" marL="0" rtl="0" algn="just">
              <a:lnSpc>
                <a:spcPct val="115000"/>
              </a:lnSpc>
              <a:spcBef>
                <a:spcPts val="0"/>
              </a:spcBef>
              <a:spcAft>
                <a:spcPts val="0"/>
              </a:spcAft>
              <a:buNone/>
            </a:pPr>
            <a:r>
              <a:rPr lang="en">
                <a:solidFill>
                  <a:schemeClr val="dk1"/>
                </a:solidFill>
              </a:rPr>
              <a:t>   </a:t>
            </a:r>
            <a:r>
              <a:rPr lang="en" sz="1200" u="sng">
                <a:solidFill>
                  <a:schemeClr val="hlink"/>
                </a:solidFill>
                <a:latin typeface="Raleway Medium"/>
                <a:ea typeface="Raleway Medium"/>
                <a:cs typeface="Raleway Medium"/>
                <a:sym typeface="Raleway Medium"/>
                <a:hlinkClick r:id="rId7"/>
              </a:rPr>
              <a:t>Magazine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8"/>
              </a:rPr>
              <a:t>Design Failures by Interaction Design Foundation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u="sng">
                <a:solidFill>
                  <a:schemeClr val="hlink"/>
                </a:solidFill>
                <a:latin typeface="Raleway Medium"/>
                <a:ea typeface="Raleway Medium"/>
                <a:cs typeface="Raleway Medium"/>
                <a:sym typeface="Raleway Medium"/>
                <a:hlinkClick r:id="rId9"/>
              </a:rPr>
              <a:t>How bad UX killed Jenny on medium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lang="en" sz="1200" u="sng">
                <a:solidFill>
                  <a:schemeClr val="hlink"/>
                </a:solidFill>
                <a:latin typeface="Raleway Medium"/>
                <a:ea typeface="Raleway Medium"/>
                <a:cs typeface="Raleway Medium"/>
                <a:sym typeface="Raleway Medium"/>
                <a:hlinkClick r:id="rId10"/>
              </a:rPr>
              <a:t>User Experience and Three mile Island accident on</a:t>
            </a:r>
            <a:endParaRPr>
              <a:solidFill>
                <a:schemeClr val="dk1"/>
              </a:solidFill>
            </a:endParaRPr>
          </a:p>
          <a:p>
            <a:pPr indent="0" lvl="0" marL="0" rtl="0" algn="just">
              <a:lnSpc>
                <a:spcPct val="115000"/>
              </a:lnSpc>
              <a:spcBef>
                <a:spcPts val="0"/>
              </a:spcBef>
              <a:spcAft>
                <a:spcPts val="0"/>
              </a:spcAft>
              <a:buNone/>
            </a:pPr>
            <a:r>
              <a:rPr lang="en">
                <a:solidFill>
                  <a:schemeClr val="dk1"/>
                </a:solidFill>
              </a:rPr>
              <a:t>   </a:t>
            </a:r>
            <a:r>
              <a:rPr lang="en" sz="1200" u="sng">
                <a:solidFill>
                  <a:schemeClr val="hlink"/>
                </a:solidFill>
                <a:latin typeface="Raleway Medium"/>
                <a:ea typeface="Raleway Medium"/>
                <a:cs typeface="Raleway Medium"/>
                <a:sym typeface="Raleway Medium"/>
                <a:hlinkClick r:id="rId11"/>
              </a:rPr>
              <a:t>medium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a:t>
            </a:r>
            <a:r>
              <a:rPr lang="en" sz="1200" u="sng">
                <a:solidFill>
                  <a:schemeClr val="hlink"/>
                </a:solidFill>
                <a:latin typeface="Raleway Medium"/>
                <a:ea typeface="Raleway Medium"/>
                <a:cs typeface="Raleway Medium"/>
                <a:sym typeface="Raleway Medium"/>
                <a:hlinkClick r:id="rId12"/>
              </a:rPr>
              <a:t>When Bad UI Design Kills: Is Poor Shift Lever Design to </a:t>
            </a:r>
            <a:endParaRPr>
              <a:solidFill>
                <a:schemeClr val="dk1"/>
              </a:solidFill>
            </a:endParaRPr>
          </a:p>
          <a:p>
            <a:pPr indent="0" lvl="0" marL="0" rtl="0" algn="just">
              <a:lnSpc>
                <a:spcPct val="115000"/>
              </a:lnSpc>
              <a:spcBef>
                <a:spcPts val="0"/>
              </a:spcBef>
              <a:spcAft>
                <a:spcPts val="0"/>
              </a:spcAft>
              <a:buNone/>
            </a:pPr>
            <a:r>
              <a:rPr lang="en">
                <a:solidFill>
                  <a:schemeClr val="dk1"/>
                </a:solidFill>
              </a:rPr>
              <a:t>   </a:t>
            </a:r>
            <a:r>
              <a:rPr lang="en" sz="1200" u="sng">
                <a:solidFill>
                  <a:schemeClr val="hlink"/>
                </a:solidFill>
                <a:latin typeface="Raleway Medium"/>
                <a:ea typeface="Raleway Medium"/>
                <a:cs typeface="Raleway Medium"/>
                <a:sym typeface="Raleway Medium"/>
                <a:hlinkClick r:id="rId13"/>
              </a:rPr>
              <a:t>Blame for Death of Star Trek Actor? by core77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262" name="Shape 262"/>
        <p:cNvGrpSpPr/>
        <p:nvPr/>
      </p:nvGrpSpPr>
      <p:grpSpPr>
        <a:xfrm>
          <a:off x="0" y="0"/>
          <a:ext cx="0" cy="0"/>
          <a:chOff x="0" y="0"/>
          <a:chExt cx="0" cy="0"/>
        </a:xfrm>
      </p:grpSpPr>
      <p:sp>
        <p:nvSpPr>
          <p:cNvPr id="263" name="Google Shape;263;p39"/>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64" name="Google Shape;264;p39"/>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65" name="Google Shape;265;p39"/>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66" name="Google Shape;266;p39"/>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67" name="Google Shape;267;p39"/>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268" name="Google Shape;268;p39"/>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269" name="Google Shape;269;p39"/>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270" name="Google Shape;270;p39"/>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