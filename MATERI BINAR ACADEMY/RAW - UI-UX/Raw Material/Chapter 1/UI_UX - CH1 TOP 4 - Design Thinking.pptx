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5143500" cx="9144000"/>
  <p:notesSz cx="6858000" cy="9144000"/>
  <p:embeddedFontLst>
    <p:embeddedFont>
      <p:font typeface="Raleway"/>
      <p:regular r:id="rId56"/>
      <p:bold r:id="rId57"/>
      <p:italic r:id="rId58"/>
      <p:boldItalic r:id="rId59"/>
    </p:embeddedFont>
    <p:embeddedFont>
      <p:font typeface="Montserrat"/>
      <p:regular r:id="rId60"/>
      <p:bold r:id="rId61"/>
      <p:italic r:id="rId62"/>
      <p:boldItalic r:id="rId63"/>
    </p:embeddedFont>
    <p:embeddedFont>
      <p:font typeface="Lato Black"/>
      <p:bold r:id="rId64"/>
      <p:boldItalic r:id="rId65"/>
    </p:embeddedFont>
    <p:embeddedFont>
      <p:font typeface="Raleway Medium"/>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ontserrat-italic.fntdata"/><Relationship Id="rId61" Type="http://schemas.openxmlformats.org/officeDocument/2006/relationships/font" Target="fonts/Montserrat-bold.fntdata"/><Relationship Id="rId20" Type="http://schemas.openxmlformats.org/officeDocument/2006/relationships/slide" Target="slides/slide15.xml"/><Relationship Id="rId64" Type="http://schemas.openxmlformats.org/officeDocument/2006/relationships/font" Target="fonts/LatoBlack-bold.fntdata"/><Relationship Id="rId63" Type="http://schemas.openxmlformats.org/officeDocument/2006/relationships/font" Target="fonts/Montserrat-boldItalic.fntdata"/><Relationship Id="rId22" Type="http://schemas.openxmlformats.org/officeDocument/2006/relationships/slide" Target="slides/slide17.xml"/><Relationship Id="rId66" Type="http://schemas.openxmlformats.org/officeDocument/2006/relationships/font" Target="fonts/RalewayMedium-regular.fntdata"/><Relationship Id="rId21" Type="http://schemas.openxmlformats.org/officeDocument/2006/relationships/slide" Target="slides/slide16.xml"/><Relationship Id="rId65" Type="http://schemas.openxmlformats.org/officeDocument/2006/relationships/font" Target="fonts/LatoBlack-boldItalic.fntdata"/><Relationship Id="rId24" Type="http://schemas.openxmlformats.org/officeDocument/2006/relationships/slide" Target="slides/slide19.xml"/><Relationship Id="rId68" Type="http://schemas.openxmlformats.org/officeDocument/2006/relationships/font" Target="fonts/RalewayMedium-italic.fntdata"/><Relationship Id="rId23" Type="http://schemas.openxmlformats.org/officeDocument/2006/relationships/slide" Target="slides/slide18.xml"/><Relationship Id="rId67" Type="http://schemas.openxmlformats.org/officeDocument/2006/relationships/font" Target="fonts/RalewayMedium-bold.fntdata"/><Relationship Id="rId60" Type="http://schemas.openxmlformats.org/officeDocument/2006/relationships/font" Target="fonts/Montserrat-regular.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alewayMedium-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aleway-bold.fntdata"/><Relationship Id="rId12" Type="http://schemas.openxmlformats.org/officeDocument/2006/relationships/slide" Target="slides/slide7.xml"/><Relationship Id="rId56" Type="http://schemas.openxmlformats.org/officeDocument/2006/relationships/font" Target="fonts/Raleway-regular.fntdata"/><Relationship Id="rId15" Type="http://schemas.openxmlformats.org/officeDocument/2006/relationships/slide" Target="slides/slide10.xml"/><Relationship Id="rId59" Type="http://schemas.openxmlformats.org/officeDocument/2006/relationships/font" Target="fonts/Raleway-boldItalic.fntdata"/><Relationship Id="rId14" Type="http://schemas.openxmlformats.org/officeDocument/2006/relationships/slide" Target="slides/slide9.xml"/><Relationship Id="rId58" Type="http://schemas.openxmlformats.org/officeDocument/2006/relationships/font" Target="fonts/Raleway-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diegoph?utm_source=unsplash&amp;utm_medium=referral&amp;utm_content=creditCopyText" TargetMode="External"/><Relationship Id="rId3" Type="http://schemas.openxmlformats.org/officeDocument/2006/relationships/hyperlink" Target="https://unsplash.com/@jdiegoph?utm_source=unsplash&amp;utm_medium=referral&amp;utm_content=creditCopyText" TargetMode="External"/><Relationship Id="rId4" Type="http://schemas.openxmlformats.org/officeDocument/2006/relationships/hyperlink" Target="https://unsplash.com/s/photos/design-thinking?utm_source=unsplash&amp;utm_medium=referral&amp;utm_content=creditCopyText" TargetMode="External"/><Relationship Id="rId5" Type="http://schemas.openxmlformats.org/officeDocument/2006/relationships/hyperlink" Target="https://unsplash.com/s/photos/design-thinking?utm_source=unsplash&amp;utm_medium=referral&amp;utm_content=creditCopyText"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diegoph?utm_source=unsplash&amp;utm_medium=referral&amp;utm_content=creditCopyText" TargetMode="External"/><Relationship Id="rId3" Type="http://schemas.openxmlformats.org/officeDocument/2006/relationships/hyperlink" Target="https://unsplash.com/@jdiegoph?utm_source=unsplash&amp;utm_medium=referral&amp;utm_content=creditCopyText" TargetMode="External"/><Relationship Id="rId4" Type="http://schemas.openxmlformats.org/officeDocument/2006/relationships/hyperlink" Target="https://unsplash.com/s/photos/design-thinking?utm_source=unsplash&amp;utm_medium=referral&amp;utm_content=creditCopyText" TargetMode="External"/><Relationship Id="rId5" Type="http://schemas.openxmlformats.org/officeDocument/2006/relationships/hyperlink" Target="https://unsplash.com/s/photos/design-thinking?utm_source=unsplash&amp;utm_medium=referral&amp;utm_content=creditCopyTex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diegoph?utm_source=unsplash&amp;utm_medium=referral&amp;utm_content=creditCopyText" TargetMode="External"/><Relationship Id="rId3" Type="http://schemas.openxmlformats.org/officeDocument/2006/relationships/hyperlink" Target="https://unsplash.com/@jdiegoph?utm_source=unsplash&amp;utm_medium=referral&amp;utm_content=creditCopyText" TargetMode="External"/><Relationship Id="rId4" Type="http://schemas.openxmlformats.org/officeDocument/2006/relationships/hyperlink" Target="https://unsplash.com/s/photos/design-thinking?utm_source=unsplash&amp;utm_medium=referral&amp;utm_content=creditCopyText" TargetMode="External"/><Relationship Id="rId5" Type="http://schemas.openxmlformats.org/officeDocument/2006/relationships/hyperlink" Target="https://unsplash.com/s/photos/design-thinking?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design-thinking?utm_source=unsplash&amp;utm_medium=referral&amp;utm_content=creditCopyText" TargetMode="External"/><Relationship Id="rId5" Type="http://schemas.openxmlformats.org/officeDocument/2006/relationships/hyperlink" Target="https://unsplash.com/s/photos/design-thinking?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eonbrand?utm_source=unsplash&amp;utm_medium=referral&amp;utm_content=creditCopyText" TargetMode="External"/><Relationship Id="rId3" Type="http://schemas.openxmlformats.org/officeDocument/2006/relationships/hyperlink" Target="https://unsplash.com/@neonbrand?utm_source=unsplash&amp;utm_medium=referral&amp;utm_content=creditCopyText" TargetMode="External"/><Relationship Id="rId4" Type="http://schemas.openxmlformats.org/officeDocument/2006/relationships/hyperlink" Target="https://unsplash.com/s/photos/business?utm_source=unsplash&amp;utm_medium=referral&amp;utm_content=creditCopyText" TargetMode="External"/><Relationship Id="rId5" Type="http://schemas.openxmlformats.org/officeDocument/2006/relationships/hyperlink" Target="https://unsplash.com/s/photos/business?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ui-ux-design?utm_source=unsplash&amp;utm_medium=referral&amp;utm_content=creditCopyText" TargetMode="External"/><Relationship Id="rId5" Type="http://schemas.openxmlformats.org/officeDocument/2006/relationships/hyperlink" Target="https://unsplash.com/s/photos/ui-ux-design?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design-thinking?utm_source=unsplash&amp;utm_medium=referral&amp;utm_content=creditCopyText" TargetMode="External"/><Relationship Id="rId5" Type="http://schemas.openxmlformats.org/officeDocument/2006/relationships/hyperlink" Target="https://unsplash.com/s/photos/design-thinking?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0b12bec43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0b12bec43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0b249276f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0b249276f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Diego PH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0b12bec43e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0b12bec43e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Diego PH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11d0730a8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11d0730a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Diego PH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0b12bec43e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0b12bec43e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0b12bec43e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0b12bec43e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0b249276f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0b249276f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NeONBRAND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0b12bec43e_0_9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0b12bec43e_0_9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0b249276f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0b249276f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0e8c3a84c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0e8c3a84c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131a1533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131a1533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0b249276f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0b249276f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131a15332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131a15332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0b249276f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0b249276f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131a15332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131a15332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0b249276f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0b249276f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131a15332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131a15332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0b249276fa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0b249276fa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131a15332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131a15332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0e54dbc4a4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0e54dbc4a4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0e8c3a84c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0e8c3a84c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0e8c3a84c0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0e8c3a84c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0b227ce755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0b227ce755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Video from https://youtu.be/_r0VX-aU_T8</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0e8c3a84c0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0e8c3a84c0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https://www.spurwingcomms.com/single-post/2019/05/14/the-5-values-of-design-thinking</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10e8c3a84c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10e8c3a84c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0e8c3a84c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0e8c3a84c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0e54dbc4a4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0e54dbc4a4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0e8c3a84c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0e8c3a84c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0e8c3a84c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0e8c3a84c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12ca74d7f8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12ca74d7f8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12ca74d7f8_2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12ca74d7f8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0e8c3a84c0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0e8c3a84c0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0e8c3a84c0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0e8c3a84c0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0e8c3a84c0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0e8c3a84c0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0e8c3a84c0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10e8c3a84c0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12ca74d7f8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12ca74d7f8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12ca74d7f8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12ca74d7f8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12ca74d7f8_2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112ca74d7f8_2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12ca74d7f8_2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12ca74d7f8_2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12ca74d7f8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12ca74d7f8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12ca74d7f8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112ca74d7f8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0e8c3a84c0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0e8c3a84c0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0e8c3a84c0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10e8c3a84c0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0e8c3a84c0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0e8c3a84c0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0e8c3a84c0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0e8c3a84c0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12ca74d7f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112ca74d7f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unsplash.com/@jdiegoph?utm_source=unsplash&amp;utm_medium=referral&amp;utm_content=creditCopyText" TargetMode="External"/><Relationship Id="rId4"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unsplash.com/@jdiegoph?utm_source=unsplash&amp;utm_medium=referral&amp;utm_content=creditCopyText" TargetMode="External"/><Relationship Id="rId4"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unsplash.com/@jdiegoph?utm_source=unsplash&amp;utm_medium=referral&amp;utm_content=creditCopyText" TargetMode="External"/><Relationship Id="rId4"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image" Target="../media/image1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unsplash.com/@neonbrand?utm_source=unsplash&amp;utm_medium=referral&amp;utm_content=creditCopyText" TargetMode="External"/><Relationship Id="rId4"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image" Target="../media/image1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image" Target="../media/image1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drive.google.com/file/d/1RIicrUFBy5oFKntcPCYMxAO7aIz2M_V9/view" TargetMode="Externa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www.spurwingcomms.com/single-post/2019/05/14/the-5-values-of-design-thinking" TargetMode="External"/><Relationship Id="rId4" Type="http://schemas.openxmlformats.org/officeDocument/2006/relationships/image" Target="../media/image14.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1" Type="http://schemas.openxmlformats.org/officeDocument/2006/relationships/hyperlink" Target="https://hbr.org/2018/09/why-design-thinking-works" TargetMode="External"/><Relationship Id="rId10" Type="http://schemas.openxmlformats.org/officeDocument/2006/relationships/hyperlink" Target="https://hbr.org/2018/09/why-design-thinking-works" TargetMode="External"/><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png"/><Relationship Id="rId4" Type="http://schemas.openxmlformats.org/officeDocument/2006/relationships/hyperlink" Target="https://www.interaction-design.org/literature/topics/design-thinking" TargetMode="External"/><Relationship Id="rId9" Type="http://schemas.openxmlformats.org/officeDocument/2006/relationships/hyperlink" Target="https://hbr.org/2018/09/why-design-thinking-works" TargetMode="External"/><Relationship Id="rId5" Type="http://schemas.openxmlformats.org/officeDocument/2006/relationships/hyperlink" Target="https://www.interaction-design.org/literature/article/5-stages-in-the-design-thinking-process" TargetMode="External"/><Relationship Id="rId6" Type="http://schemas.openxmlformats.org/officeDocument/2006/relationships/hyperlink" Target="https://www.interaction-design.org/literature/article/5-stages-in-the-design-thinking-process" TargetMode="External"/><Relationship Id="rId7" Type="http://schemas.openxmlformats.org/officeDocument/2006/relationships/hyperlink" Target="https://www.interaction-design.org/literature/article/5-stages-in-the-design-thinking-process" TargetMode="External"/><Relationship Id="rId8" Type="http://schemas.openxmlformats.org/officeDocument/2006/relationships/hyperlink" Target="https://www.interaction-design.org/literature/article/5-stages-in-the-design-thinking-proces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3" name="Shape 73"/>
        <p:cNvGrpSpPr/>
        <p:nvPr/>
      </p:nvGrpSpPr>
      <p:grpSpPr>
        <a:xfrm>
          <a:off x="0" y="0"/>
          <a:ext cx="0" cy="0"/>
          <a:chOff x="0" y="0"/>
          <a:chExt cx="0" cy="0"/>
        </a:xfrm>
      </p:grpSpPr>
      <p:sp>
        <p:nvSpPr>
          <p:cNvPr id="74" name="Google Shape;74;p14"/>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Design Thinking</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1 - Topic 4</a:t>
            </a:r>
            <a:endParaRPr b="1">
              <a:solidFill>
                <a:srgbClr val="FFFFFF"/>
              </a:solidFill>
              <a:latin typeface="Raleway"/>
              <a:ea typeface="Raleway"/>
              <a:cs typeface="Raleway"/>
              <a:sym typeface="Raleway"/>
            </a:endParaRPr>
          </a:p>
        </p:txBody>
      </p:sp>
      <p:cxnSp>
        <p:nvCxnSpPr>
          <p:cNvPr id="75" name="Google Shape;75;p14"/>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76" name="Google Shape;76;p14"/>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77" name="Google Shape;77;p14"/>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3" name="Google Shape;83;p1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84" name="Google Shape;84;p15"/>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85" name="Google Shape;85;p15"/>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Design Thinking</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Pengenalan Design Thinking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Kegunaan Design Thinking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a:solidFill>
                  <a:schemeClr val="dk1"/>
                </a:solidFill>
                <a:latin typeface="Raleway Medium"/>
                <a:ea typeface="Raleway Medium"/>
                <a:cs typeface="Raleway Medium"/>
                <a:sym typeface="Raleway Medium"/>
              </a:rPr>
              <a:t>5 Fase dalam Design Thinking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a) Pengenalan Fase Empathize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b) Pengenalan Fase Define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c) Pengenalan Fase Ideate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d) Pengenalan Fase Prototype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    e) Pengenalan Fase Test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Pengenalan Design Thinking</a:t>
            </a:r>
            <a:endParaRPr>
              <a:solidFill>
                <a:srgbClr val="F2AB2F"/>
              </a:solidFill>
            </a:endParaRPr>
          </a:p>
        </p:txBody>
      </p:sp>
      <p:sp>
        <p:nvSpPr>
          <p:cNvPr id="91" name="Google Shape;91;p1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7" name="Google Shape;97;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Pengenalan Design Thinking</a:t>
            </a:r>
            <a:endParaRPr/>
          </a:p>
        </p:txBody>
      </p:sp>
      <p:sp>
        <p:nvSpPr>
          <p:cNvPr id="98" name="Google Shape;98;p17"/>
          <p:cNvSpPr txBox="1"/>
          <p:nvPr/>
        </p:nvSpPr>
        <p:spPr>
          <a:xfrm>
            <a:off x="685800" y="1185675"/>
            <a:ext cx="45720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Design Thinking</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Design thinking adalah metodologi desain yang menyediakan pendekatan berbasis solusi untuk memecahkan masalah.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Implementasi design thinking termasuk aktivitas di mana seseorang berusaha untuk: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memahami pengguna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menantang asumsi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mendefinisikan kembali masalah dalam upaya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mengidentifikasi strategi dan solusi alternatif yang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mungkin tidak langsung terlihat dengan pada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pemahaman awal. </a:t>
            </a:r>
            <a:endParaRPr sz="1200">
              <a:solidFill>
                <a:schemeClr val="dk1"/>
              </a:solidFill>
              <a:latin typeface="Raleway Medium"/>
              <a:ea typeface="Raleway Medium"/>
              <a:cs typeface="Raleway Medium"/>
              <a:sym typeface="Raleway Medium"/>
            </a:endParaRPr>
          </a:p>
        </p:txBody>
      </p:sp>
      <p:pic>
        <p:nvPicPr>
          <p:cNvPr id="99" name="Google Shape;99;p17">
            <a:hlinkClick r:id="rId3"/>
          </p:cNvPr>
          <p:cNvPicPr preferRelativeResize="0"/>
          <p:nvPr/>
        </p:nvPicPr>
        <p:blipFill rotWithShape="1">
          <a:blip r:embed="rId4">
            <a:alphaModFix/>
          </a:blip>
          <a:srcRect b="21622" l="26664" r="0" t="25055"/>
          <a:stretch/>
        </p:blipFill>
        <p:spPr>
          <a:xfrm>
            <a:off x="5638800" y="1359987"/>
            <a:ext cx="3017515" cy="27431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 name="Google Shape;105;p1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Pengenalan Design Thinking</a:t>
            </a:r>
            <a:endParaRPr/>
          </a:p>
        </p:txBody>
      </p:sp>
      <p:sp>
        <p:nvSpPr>
          <p:cNvPr id="106" name="Google Shape;106;p1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Design Thinking</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Singkatnya, design thinking merupakan istilah yang digunakan untuk mewakili serangkaian proses kognitif, strategis dan praktis dimana konsep desain dikembangkan.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Daripada mengeluarkan suatu inovasi produk yang nantinya tidak digunakan, maka perusahaan atau organisasi perlu berupaya untuk melihat apa yang benar-benar dibutuhkan untuk menyelesaikan masalah. Maka dari itu, mencari solusi yang berpusat pada ide manusia kreatif adalah pokok penting dalam design thinking.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07" name="Google Shape;107;p18">
            <a:hlinkClick r:id="rId3"/>
          </p:cNvPr>
          <p:cNvPicPr preferRelativeResize="0"/>
          <p:nvPr/>
        </p:nvPicPr>
        <p:blipFill rotWithShape="1">
          <a:blip r:embed="rId4">
            <a:alphaModFix/>
          </a:blip>
          <a:srcRect b="21622" l="26664" r="0" t="25055"/>
          <a:stretch/>
        </p:blipFill>
        <p:spPr>
          <a:xfrm>
            <a:off x="5638800" y="1359987"/>
            <a:ext cx="3017515" cy="27431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Pengenalan Design Thinking</a:t>
            </a:r>
            <a:endParaRPr/>
          </a:p>
        </p:txBody>
      </p:sp>
      <p:sp>
        <p:nvSpPr>
          <p:cNvPr id="114" name="Google Shape;114;p19"/>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Design Thinking</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Lebih lanjutnya menggunakan analogi </a:t>
            </a:r>
            <a:r>
              <a:rPr lang="en" sz="1200">
                <a:solidFill>
                  <a:schemeClr val="dk1"/>
                </a:solidFill>
                <a:latin typeface="Raleway Medium"/>
                <a:ea typeface="Raleway Medium"/>
                <a:cs typeface="Raleway Medium"/>
                <a:sym typeface="Raleway Medium"/>
              </a:rPr>
              <a:t>makanan agar lebih mudah dipahami. Jadi, Design Thinkingnya merupakan sebuah kelas masak. Disitu kamu akan belajar mengenai filosofi belajar memasak, bagaimana cara kerjanya, apa sih bahan-bahan yang dibutuhkan, bagaimana menyiapkan item yang diperlukan. Jadi sekarang kamu punya 2 kunci utama yaitu produk inovatif (Martabak dgn rasa varian baru) dan kelas masak.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15" name="Google Shape;115;p19">
            <a:hlinkClick r:id="rId3"/>
          </p:cNvPr>
          <p:cNvPicPr preferRelativeResize="0"/>
          <p:nvPr/>
        </p:nvPicPr>
        <p:blipFill rotWithShape="1">
          <a:blip r:embed="rId4">
            <a:alphaModFix/>
          </a:blip>
          <a:srcRect b="21622" l="26664" r="0" t="25055"/>
          <a:stretch/>
        </p:blipFill>
        <p:spPr>
          <a:xfrm>
            <a:off x="5638800" y="1359987"/>
            <a:ext cx="3017515" cy="27431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Kegunaan Design Thinking </a:t>
            </a:r>
            <a:endParaRPr/>
          </a:p>
        </p:txBody>
      </p:sp>
      <p:sp>
        <p:nvSpPr>
          <p:cNvPr id="121" name="Google Shape;121;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7" name="Google Shape;127;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Kegunaan Design Thinking</a:t>
            </a:r>
            <a:endParaRPr/>
          </a:p>
        </p:txBody>
      </p:sp>
      <p:sp>
        <p:nvSpPr>
          <p:cNvPr id="128" name="Google Shape;128;p2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Bagaimana kegunaan</a:t>
            </a:r>
            <a:r>
              <a:rPr b="1" lang="en" sz="1800">
                <a:solidFill>
                  <a:srgbClr val="743673"/>
                </a:solidFill>
                <a:highlight>
                  <a:schemeClr val="lt1"/>
                </a:highlight>
                <a:latin typeface="Raleway"/>
                <a:ea typeface="Raleway"/>
                <a:cs typeface="Raleway"/>
                <a:sym typeface="Raleway"/>
              </a:rPr>
              <a:t> Design Thinking itu?</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penerapannya menggunakan design thinking, kamu bisa menyatukan apa yang diinginkan dari sudut pandang manusia dengan apa yang layak secara teknologi dan layak secara ekonomi.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Hal ini juga memungkinkan mereka yang tidak terlatih sebagai desainer untuk menggunakan alat kreatif untuk mengatasi berbagai macam tantangan.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Prosesnya dimulai dengan mengambil tindakan dan memahami pertanyaan yang tepat</a:t>
            </a:r>
            <a:endParaRPr b="1" sz="1200">
              <a:solidFill>
                <a:srgbClr val="512252"/>
              </a:solidFill>
              <a:latin typeface="Raleway"/>
              <a:ea typeface="Raleway"/>
              <a:cs typeface="Raleway"/>
              <a:sym typeface="Raleway"/>
            </a:endParaRPr>
          </a:p>
        </p:txBody>
      </p:sp>
      <p:pic>
        <p:nvPicPr>
          <p:cNvPr id="129" name="Google Shape;129;p21">
            <a:hlinkClick r:id="rId3"/>
          </p:cNvPr>
          <p:cNvPicPr preferRelativeResize="0"/>
          <p:nvPr/>
        </p:nvPicPr>
        <p:blipFill rotWithShape="1">
          <a:blip r:embed="rId4">
            <a:alphaModFix/>
          </a:blip>
          <a:srcRect b="0" l="13343" r="13343" t="0"/>
          <a:stretch/>
        </p:blipFill>
        <p:spPr>
          <a:xfrm>
            <a:off x="5486400" y="1280160"/>
            <a:ext cx="3017518" cy="27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5" name="Google Shape;135;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Kegunaan Design Thinking</a:t>
            </a:r>
            <a:endParaRPr/>
          </a:p>
        </p:txBody>
      </p:sp>
      <p:sp>
        <p:nvSpPr>
          <p:cNvPr id="136" name="Google Shape;136;p22"/>
          <p:cNvSpPr txBox="1"/>
          <p:nvPr/>
        </p:nvSpPr>
        <p:spPr>
          <a:xfrm>
            <a:off x="685800" y="1185672"/>
            <a:ext cx="4114800" cy="3200400"/>
          </a:xfrm>
          <a:prstGeom prst="rect">
            <a:avLst/>
          </a:prstGeom>
          <a:noFill/>
          <a:ln>
            <a:noFill/>
          </a:ln>
        </p:spPr>
        <p:txBody>
          <a:bodyPr anchorCtr="0" anchor="t" bIns="0" lIns="5715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Design thinking dapat membantu tim atau organisasi Anda: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133350" lvl="0" marL="114300" rtl="0" algn="l">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Lebih memahami kebutuhan yang belum terpenuhi dari pelanggan, klien, siswa, pengguna, dll.</a:t>
            </a:r>
            <a:endParaRPr sz="1200">
              <a:solidFill>
                <a:schemeClr val="dk1"/>
              </a:solidFill>
              <a:latin typeface="Raleway Medium"/>
              <a:ea typeface="Raleway Medium"/>
              <a:cs typeface="Raleway Medium"/>
              <a:sym typeface="Raleway Medium"/>
            </a:endParaRPr>
          </a:p>
          <a:p>
            <a:pPr indent="-133350" lvl="0" marL="114300" rtl="0" algn="l">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Mengurangi risiko yang terkait dengan peluncuran ide, produk, dan layanan baru.</a:t>
            </a:r>
            <a:endParaRPr sz="1200">
              <a:solidFill>
                <a:schemeClr val="dk1"/>
              </a:solidFill>
              <a:latin typeface="Raleway Medium"/>
              <a:ea typeface="Raleway Medium"/>
              <a:cs typeface="Raleway Medium"/>
              <a:sym typeface="Raleway Medium"/>
            </a:endParaRPr>
          </a:p>
          <a:p>
            <a:pPr indent="-133350" lvl="0" marL="114300" rtl="0" algn="l">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Menghasilkan solusi yang revolusioner, bukan hanya inkremental.</a:t>
            </a:r>
            <a:endParaRPr sz="1200">
              <a:solidFill>
                <a:schemeClr val="dk1"/>
              </a:solidFill>
              <a:latin typeface="Raleway Medium"/>
              <a:ea typeface="Raleway Medium"/>
              <a:cs typeface="Raleway Medium"/>
              <a:sym typeface="Raleway Medium"/>
            </a:endParaRPr>
          </a:p>
          <a:p>
            <a:pPr indent="-133350" lvl="0" marL="114300" rtl="0" algn="l">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Belajar dan melakukan iterasi dengan lebih cepat.</a:t>
            </a:r>
            <a:endParaRPr sz="1200">
              <a:solidFill>
                <a:schemeClr val="dk1"/>
              </a:solidFill>
              <a:latin typeface="Raleway Medium"/>
              <a:ea typeface="Raleway Medium"/>
              <a:cs typeface="Raleway Medium"/>
              <a:sym typeface="Raleway Medium"/>
            </a:endParaRPr>
          </a:p>
        </p:txBody>
      </p:sp>
      <p:pic>
        <p:nvPicPr>
          <p:cNvPr id="137" name="Google Shape;137;p22">
            <a:hlinkClick r:id="rId3"/>
          </p:cNvPr>
          <p:cNvPicPr preferRelativeResize="0"/>
          <p:nvPr/>
        </p:nvPicPr>
        <p:blipFill rotWithShape="1">
          <a:blip r:embed="rId4">
            <a:alphaModFix/>
          </a:blip>
          <a:srcRect b="0" l="13343" r="13343" t="0"/>
          <a:stretch/>
        </p:blipFill>
        <p:spPr>
          <a:xfrm>
            <a:off x="5486400" y="1280160"/>
            <a:ext cx="3017518" cy="274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5 Fase dalam Design Thinking</a:t>
            </a:r>
            <a:endParaRPr>
              <a:solidFill>
                <a:schemeClr val="accent1"/>
              </a:solidFill>
            </a:endParaRPr>
          </a:p>
        </p:txBody>
      </p:sp>
      <p:sp>
        <p:nvSpPr>
          <p:cNvPr id="143" name="Google Shape;143;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9" name="Google Shape;149;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5 Fase dalam Design Thinking</a:t>
            </a:r>
            <a:endParaRPr/>
          </a:p>
        </p:txBody>
      </p:sp>
      <p:pic>
        <p:nvPicPr>
          <p:cNvPr id="150" name="Google Shape;150;p24"/>
          <p:cNvPicPr preferRelativeResize="0"/>
          <p:nvPr/>
        </p:nvPicPr>
        <p:blipFill>
          <a:blip r:embed="rId3">
            <a:alphaModFix/>
          </a:blip>
          <a:stretch>
            <a:fillRect/>
          </a:stretch>
        </p:blipFill>
        <p:spPr>
          <a:xfrm>
            <a:off x="2137188" y="874874"/>
            <a:ext cx="4869616" cy="3942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6" name="Google Shape;156;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5 Fase dalam Design Thinking</a:t>
            </a:r>
            <a:endParaRPr/>
          </a:p>
        </p:txBody>
      </p:sp>
      <p:sp>
        <p:nvSpPr>
          <p:cNvPr id="157" name="Google Shape;157;p2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Pengenalan Fase Empathize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Fase pertama dari proses Design Thinking adalah untuk mendapatkan pemahaman empatik dari masalah yang Anda coba pecahkan.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Aktivitas kunci pada </a:t>
            </a:r>
            <a:r>
              <a:rPr lang="en" sz="1200">
                <a:solidFill>
                  <a:schemeClr val="dk1"/>
                </a:solidFill>
                <a:latin typeface="Raleway Medium"/>
                <a:ea typeface="Raleway Medium"/>
                <a:cs typeface="Raleway Medium"/>
                <a:sym typeface="Raleway Medium"/>
              </a:rPr>
              <a:t>fase</a:t>
            </a:r>
            <a:r>
              <a:rPr lang="en" sz="1200">
                <a:solidFill>
                  <a:schemeClr val="dk1"/>
                </a:solidFill>
                <a:latin typeface="Raleway Medium"/>
                <a:ea typeface="Raleway Medium"/>
                <a:cs typeface="Raleway Medium"/>
                <a:sym typeface="Raleway Medium"/>
              </a:rPr>
              <a:t> ini adalah </a:t>
            </a:r>
            <a:r>
              <a:rPr b="1" lang="en" sz="1200">
                <a:solidFill>
                  <a:schemeClr val="dk1"/>
                </a:solidFill>
                <a:latin typeface="Raleway"/>
                <a:ea typeface="Raleway"/>
                <a:cs typeface="Raleway"/>
                <a:sym typeface="Raleway"/>
              </a:rPr>
              <a:t>memb</a:t>
            </a:r>
            <a:r>
              <a:rPr b="1" lang="en" sz="1200">
                <a:solidFill>
                  <a:schemeClr val="dk1"/>
                </a:solidFill>
                <a:latin typeface="Raleway"/>
                <a:ea typeface="Raleway"/>
                <a:cs typeface="Raleway"/>
                <a:sym typeface="Raleway"/>
              </a:rPr>
              <a:t>ingkai</a:t>
            </a:r>
            <a:r>
              <a:rPr b="1" lang="en" sz="1200">
                <a:solidFill>
                  <a:schemeClr val="dk1"/>
                </a:solidFill>
                <a:latin typeface="Raleway"/>
                <a:ea typeface="Raleway"/>
                <a:cs typeface="Raleway"/>
                <a:sym typeface="Raleway"/>
              </a:rPr>
              <a:t> pertanyaan</a:t>
            </a:r>
            <a:r>
              <a:rPr lang="en" sz="1200">
                <a:solidFill>
                  <a:schemeClr val="dk1"/>
                </a:solidFill>
                <a:latin typeface="Raleway Medium"/>
                <a:ea typeface="Raleway Medium"/>
                <a:cs typeface="Raleway Medium"/>
                <a:sym typeface="Raleway Medium"/>
              </a:rPr>
              <a:t>: identifikasi pertanyaan pendorong yang menginspirasi orang lain untuk mencari solusi kreatif.</a:t>
            </a:r>
            <a:endParaRPr sz="1200">
              <a:solidFill>
                <a:schemeClr val="dk1"/>
              </a:solidFill>
              <a:latin typeface="Raleway Medium"/>
              <a:ea typeface="Raleway Medium"/>
              <a:cs typeface="Raleway Medium"/>
              <a:sym typeface="Raleway Medium"/>
            </a:endParaRPr>
          </a:p>
        </p:txBody>
      </p:sp>
      <p:pic>
        <p:nvPicPr>
          <p:cNvPr id="158" name="Google Shape;158;p25"/>
          <p:cNvPicPr preferRelativeResize="0"/>
          <p:nvPr/>
        </p:nvPicPr>
        <p:blipFill rotWithShape="1">
          <a:blip r:embed="rId3">
            <a:alphaModFix/>
          </a:blip>
          <a:srcRect b="0" l="23380" r="23374" t="0"/>
          <a:stretch/>
        </p:blipFill>
        <p:spPr>
          <a:xfrm>
            <a:off x="5486400" y="1207587"/>
            <a:ext cx="3017518" cy="2743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4" name="Google Shape;164;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5 Fase dalam Design Thinking</a:t>
            </a:r>
            <a:endParaRPr/>
          </a:p>
        </p:txBody>
      </p:sp>
      <p:sp>
        <p:nvSpPr>
          <p:cNvPr id="165" name="Google Shape;165;p2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tahapan empathize ini, kamu akan terlibat pada aktivitas untuk memahami pengalaman sekaligus motivasi user terhadap suatu produk.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Sejumlah informasi yang berhasil terkumpul bermanfaat selama melaksanakan proses design thinking berikutnya. Lakukan secara objektif untuk mempertimbangkan segala kemungkinan tentang user dan kebutuhannya. Setidaknya, berikut aktivitas yang akan kamu lakukan dalam proses empathize: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b="1" lang="en" sz="1200">
                <a:solidFill>
                  <a:schemeClr val="dk1"/>
                </a:solidFill>
                <a:latin typeface="Raleway"/>
                <a:ea typeface="Raleway"/>
                <a:cs typeface="Raleway"/>
                <a:sym typeface="Raleway"/>
              </a:rPr>
              <a:t>Observasi:</a:t>
            </a:r>
            <a:r>
              <a:rPr lang="en" sz="1200">
                <a:solidFill>
                  <a:schemeClr val="dk1"/>
                </a:solidFill>
                <a:latin typeface="Raleway Medium"/>
                <a:ea typeface="Raleway Medium"/>
                <a:cs typeface="Raleway Medium"/>
                <a:sym typeface="Raleway Medium"/>
              </a:rPr>
              <a:t> Memahami alur, arah, serta hal-hal yang menjadi fokus utama dari para user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b="1" lang="en" sz="1200">
                <a:solidFill>
                  <a:schemeClr val="dk1"/>
                </a:solidFill>
                <a:latin typeface="Raleway"/>
                <a:ea typeface="Raleway"/>
                <a:cs typeface="Raleway"/>
                <a:sym typeface="Raleway"/>
              </a:rPr>
              <a:t>Wawancara kualitatif:</a:t>
            </a:r>
            <a:r>
              <a:rPr lang="en" sz="1200">
                <a:solidFill>
                  <a:schemeClr val="dk1"/>
                </a:solidFill>
                <a:latin typeface="Raleway Medium"/>
                <a:ea typeface="Raleway Medium"/>
                <a:cs typeface="Raleway Medium"/>
                <a:sym typeface="Raleway Medium"/>
              </a:rPr>
              <a:t> Wawancara one-on-one dengan beberapa user untuk memahami perilaku mereka terhadap topik yang kamu jelajahi</a:t>
            </a:r>
            <a:endParaRPr sz="1200">
              <a:solidFill>
                <a:schemeClr val="dk1"/>
              </a:solidFill>
              <a:latin typeface="Raleway Medium"/>
              <a:ea typeface="Raleway Medium"/>
              <a:cs typeface="Raleway Medium"/>
              <a:sym typeface="Raleway Medium"/>
            </a:endParaRPr>
          </a:p>
        </p:txBody>
      </p:sp>
      <p:pic>
        <p:nvPicPr>
          <p:cNvPr id="166" name="Google Shape;166;p26"/>
          <p:cNvPicPr preferRelativeResize="0"/>
          <p:nvPr/>
        </p:nvPicPr>
        <p:blipFill rotWithShape="1">
          <a:blip r:embed="rId3">
            <a:alphaModFix/>
          </a:blip>
          <a:srcRect b="0" l="23380" r="23374" t="0"/>
          <a:stretch/>
        </p:blipFill>
        <p:spPr>
          <a:xfrm>
            <a:off x="5486400" y="1207587"/>
            <a:ext cx="3017518" cy="2743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2" name="Google Shape;172;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5 Fase dalam Design Thinking</a:t>
            </a:r>
            <a:endParaRPr/>
          </a:p>
        </p:txBody>
      </p:sp>
      <p:sp>
        <p:nvSpPr>
          <p:cNvPr id="173" name="Google Shape;173;p2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a:t>
            </a:r>
            <a:r>
              <a:rPr b="1" lang="en" sz="1800">
                <a:solidFill>
                  <a:srgbClr val="743673"/>
                </a:solidFill>
                <a:highlight>
                  <a:schemeClr val="lt1"/>
                </a:highlight>
                <a:latin typeface="Raleway"/>
                <a:ea typeface="Raleway"/>
                <a:cs typeface="Raleway"/>
                <a:sym typeface="Raleway"/>
              </a:rPr>
              <a:t>. Pengenalan Fase Define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Selama fase Define, kamu mengumpulkan informasi yang telah kamu buat dan kumpulkan selama fase Empathize.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Di sinilah kamu akan menganalisis pengamatan Anda dan mensintesisnya untuk menentukan masalah inti yang telah diidentifikasi. Kamu harus berusaha untuk mendefinisikan masalah sebagai pernyataan masalah dengan cara yang berpusat pada manusia.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Tahapan ini membantu UI/UX Designer mengumpulkan ide-ide hebat dalam membangun fitur, fungsi, dan elemen yang memungkinkan. Tujuannya untuk memungkinkan sampai menyelesaikan masalah yang sekiranya dialami oleh user.</a:t>
            </a:r>
            <a:endParaRPr sz="1200">
              <a:solidFill>
                <a:schemeClr val="dk1"/>
              </a:solidFill>
              <a:latin typeface="Raleway Medium"/>
              <a:ea typeface="Raleway Medium"/>
              <a:cs typeface="Raleway Medium"/>
              <a:sym typeface="Raleway Medium"/>
            </a:endParaRPr>
          </a:p>
        </p:txBody>
      </p:sp>
      <p:pic>
        <p:nvPicPr>
          <p:cNvPr id="174" name="Google Shape;174;p27"/>
          <p:cNvPicPr preferRelativeResize="0"/>
          <p:nvPr/>
        </p:nvPicPr>
        <p:blipFill rotWithShape="1">
          <a:blip r:embed="rId3">
            <a:alphaModFix/>
          </a:blip>
          <a:srcRect b="0" l="23380" r="23374" t="0"/>
          <a:stretch/>
        </p:blipFill>
        <p:spPr>
          <a:xfrm>
            <a:off x="5486400" y="1207587"/>
            <a:ext cx="3017518" cy="2743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0" name="Google Shape;180;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5 Fase dalam Design Thinking</a:t>
            </a:r>
            <a:endParaRPr/>
          </a:p>
        </p:txBody>
      </p:sp>
      <p:sp>
        <p:nvSpPr>
          <p:cNvPr id="181" name="Google Shape;181;p28"/>
          <p:cNvSpPr txBox="1"/>
          <p:nvPr/>
        </p:nvSpPr>
        <p:spPr>
          <a:xfrm>
            <a:off x="536925" y="547000"/>
            <a:ext cx="45720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Untuk memudahkan tahapan define, kamu dapat memahami lebih lanjut dengan menjawab pertanyaan-pertanyaan berikut: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Kesulitan atau hambatan yang dihadapi oleh user?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Pola apa yang kamu amati?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Apa masalah besar yang perlu ditangani oleh tim?</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Ketimbang menyatakan, “Kita perlu…”, gantilah dengan sudut pandang user menjadi, “Orang dewasa di Kota A perlu…”.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Aktivitas utama dalam fase define adalah pengelompokkan. Kelompokkan ide bersama-sama dengan tim sampai kamu menemukan tema yang dominan atau paling menonjol untuk diperhatikan. Manfaatkan pengamatan, kutipan, maupun gagasan yang diperoleh selama masa penelitian.</a:t>
            </a:r>
            <a:endParaRPr sz="1200">
              <a:solidFill>
                <a:schemeClr val="dk1"/>
              </a:solidFill>
              <a:latin typeface="Raleway Medium"/>
              <a:ea typeface="Raleway Medium"/>
              <a:cs typeface="Raleway Medium"/>
              <a:sym typeface="Raleway Medium"/>
            </a:endParaRPr>
          </a:p>
        </p:txBody>
      </p:sp>
      <p:pic>
        <p:nvPicPr>
          <p:cNvPr id="182" name="Google Shape;182;p28"/>
          <p:cNvPicPr preferRelativeResize="0"/>
          <p:nvPr/>
        </p:nvPicPr>
        <p:blipFill rotWithShape="1">
          <a:blip r:embed="rId3">
            <a:alphaModFix/>
          </a:blip>
          <a:srcRect b="0" l="23380" r="23374" t="0"/>
          <a:stretch/>
        </p:blipFill>
        <p:spPr>
          <a:xfrm>
            <a:off x="5599075" y="1426037"/>
            <a:ext cx="3017518" cy="2743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8" name="Google Shape;188;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5 Fase dalam Design Thinking</a:t>
            </a:r>
            <a:endParaRPr/>
          </a:p>
        </p:txBody>
      </p:sp>
      <p:sp>
        <p:nvSpPr>
          <p:cNvPr id="189" name="Google Shape;189;p2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Pengenalan Fase Ideate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a:t>
            </a:r>
            <a:r>
              <a:rPr lang="en" sz="1200">
                <a:solidFill>
                  <a:schemeClr val="dk1"/>
                </a:solidFill>
                <a:latin typeface="Raleway Medium"/>
                <a:ea typeface="Raleway Medium"/>
                <a:cs typeface="Raleway Medium"/>
                <a:sym typeface="Raleway Medium"/>
              </a:rPr>
              <a:t> fase ini, desainer siap untuk mulai menghasilkan ide. Anda dapat mulai "berpikir di luar kebiasaan" untuk mengidentifikasi solusi baru terhadap pernyataan masalah yang telah Anda buat, dan Anda dapat mulai mencari cara alternatif untuk melihat masalah tersebut.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Aktivitas kunci untuk pada ini adalah </a:t>
            </a:r>
            <a:r>
              <a:rPr b="1" lang="en" sz="1200">
                <a:solidFill>
                  <a:schemeClr val="dk1"/>
                </a:solidFill>
                <a:latin typeface="Raleway"/>
                <a:ea typeface="Raleway"/>
                <a:cs typeface="Raleway"/>
                <a:sym typeface="Raleway"/>
              </a:rPr>
              <a:t>menghasilkan ide</a:t>
            </a:r>
            <a:r>
              <a:rPr lang="en" sz="1200">
                <a:solidFill>
                  <a:schemeClr val="dk1"/>
                </a:solidFill>
                <a:latin typeface="Raleway Medium"/>
                <a:ea typeface="Raleway Medium"/>
                <a:cs typeface="Raleway Medium"/>
                <a:sym typeface="Raleway Medium"/>
              </a:rPr>
              <a:t>: telusuri solusi nyata untuk mendapatkan ide terobosan.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Tahapan yang ketiga ini adalah tempat untuk menuangkan kreativitas terhadap prototype yang akan dihasilkan. Kamu dan segenap rekan UI dan UX Designer tentunya akan mengadakan sesi khusus agar dapat menghasilkan lebih banyak ide dan sudut pandang baru.</a:t>
            </a:r>
            <a:endParaRPr sz="1200">
              <a:solidFill>
                <a:schemeClr val="dk1"/>
              </a:solidFill>
              <a:latin typeface="Raleway Medium"/>
              <a:ea typeface="Raleway Medium"/>
              <a:cs typeface="Raleway Medium"/>
              <a:sym typeface="Raleway Medium"/>
            </a:endParaRPr>
          </a:p>
        </p:txBody>
      </p:sp>
      <p:pic>
        <p:nvPicPr>
          <p:cNvPr id="190" name="Google Shape;190;p29"/>
          <p:cNvPicPr preferRelativeResize="0"/>
          <p:nvPr/>
        </p:nvPicPr>
        <p:blipFill rotWithShape="1">
          <a:blip r:embed="rId3">
            <a:alphaModFix/>
          </a:blip>
          <a:srcRect b="0" l="23380" r="23374" t="0"/>
          <a:stretch/>
        </p:blipFill>
        <p:spPr>
          <a:xfrm>
            <a:off x="5486400" y="1207587"/>
            <a:ext cx="3017518" cy="2743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6" name="Google Shape;196;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5 Fase dalam Design Thinking</a:t>
            </a:r>
            <a:endParaRPr/>
          </a:p>
        </p:txBody>
      </p:sp>
      <p:sp>
        <p:nvSpPr>
          <p:cNvPr id="197" name="Google Shape;197;p3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Beberapa teknik yang biasa digunakan untuk mengeksekusi proses ideate adalah </a:t>
            </a:r>
            <a:r>
              <a:rPr b="1" lang="en" sz="1200">
                <a:solidFill>
                  <a:schemeClr val="dk1"/>
                </a:solidFill>
                <a:latin typeface="Raleway"/>
                <a:ea typeface="Raleway"/>
                <a:cs typeface="Raleway"/>
                <a:sym typeface="Raleway"/>
              </a:rPr>
              <a:t>mindmapping</a:t>
            </a:r>
            <a:r>
              <a:rPr lang="en" sz="1200">
                <a:solidFill>
                  <a:schemeClr val="dk1"/>
                </a:solidFill>
                <a:latin typeface="Raleway Medium"/>
                <a:ea typeface="Raleway Medium"/>
                <a:cs typeface="Raleway Medium"/>
                <a:sym typeface="Raleway Medium"/>
              </a:rPr>
              <a:t>, </a:t>
            </a:r>
            <a:r>
              <a:rPr b="1" lang="en" sz="1200">
                <a:solidFill>
                  <a:schemeClr val="dk1"/>
                </a:solidFill>
                <a:latin typeface="Raleway"/>
                <a:ea typeface="Raleway"/>
                <a:cs typeface="Raleway"/>
                <a:sym typeface="Raleway"/>
              </a:rPr>
              <a:t>brainstorming</a:t>
            </a:r>
            <a:r>
              <a:rPr lang="en" sz="1200">
                <a:solidFill>
                  <a:schemeClr val="dk1"/>
                </a:solidFill>
                <a:latin typeface="Raleway Medium"/>
                <a:ea typeface="Raleway Medium"/>
                <a:cs typeface="Raleway Medium"/>
                <a:sym typeface="Raleway Medium"/>
              </a:rPr>
              <a:t>, hingga </a:t>
            </a:r>
            <a:r>
              <a:rPr b="1" lang="en" sz="1200">
                <a:solidFill>
                  <a:schemeClr val="dk1"/>
                </a:solidFill>
                <a:latin typeface="Raleway"/>
                <a:ea typeface="Raleway"/>
                <a:cs typeface="Raleway"/>
                <a:sym typeface="Raleway"/>
              </a:rPr>
              <a:t>skenario roleplay</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Dengan latar belakang pengolahan fase ideate tersebut, pikirkan hal-hal outside the box untuk mengidentifikasi alternatif dan solusi terbaik.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Akhir dari fase ini diharapkan membantu penyelidikan dan pengujian terhadap ide-ide yang telah kamu keluarkan. Diskusikan ide yang sudah dipresentasikan kemudian terima masukan dari setiap individu yang ada di dalam tim.</a:t>
            </a:r>
            <a:endParaRPr sz="1200">
              <a:solidFill>
                <a:schemeClr val="dk1"/>
              </a:solidFill>
              <a:latin typeface="Raleway Medium"/>
              <a:ea typeface="Raleway Medium"/>
              <a:cs typeface="Raleway Medium"/>
              <a:sym typeface="Raleway Medium"/>
            </a:endParaRPr>
          </a:p>
        </p:txBody>
      </p:sp>
      <p:pic>
        <p:nvPicPr>
          <p:cNvPr id="198" name="Google Shape;198;p30"/>
          <p:cNvPicPr preferRelativeResize="0"/>
          <p:nvPr/>
        </p:nvPicPr>
        <p:blipFill rotWithShape="1">
          <a:blip r:embed="rId3">
            <a:alphaModFix/>
          </a:blip>
          <a:srcRect b="0" l="23380" r="23374" t="0"/>
          <a:stretch/>
        </p:blipFill>
        <p:spPr>
          <a:xfrm>
            <a:off x="5486400" y="1207587"/>
            <a:ext cx="3017518" cy="2743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4" name="Google Shape;204;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5 Fase dalam Design Thinking</a:t>
            </a:r>
            <a:endParaRPr/>
          </a:p>
        </p:txBody>
      </p:sp>
      <p:sp>
        <p:nvSpPr>
          <p:cNvPr id="205" name="Google Shape;205;p3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Pengenalan Fase Prototype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a:t>
            </a:r>
            <a:r>
              <a:rPr lang="en" sz="1200">
                <a:solidFill>
                  <a:schemeClr val="dk1"/>
                </a:solidFill>
                <a:latin typeface="Raleway Medium"/>
                <a:ea typeface="Raleway Medium"/>
                <a:cs typeface="Raleway Medium"/>
                <a:sym typeface="Raleway Medium"/>
              </a:rPr>
              <a:t>fase</a:t>
            </a:r>
            <a:r>
              <a:rPr lang="en" sz="1200">
                <a:solidFill>
                  <a:schemeClr val="dk1"/>
                </a:solidFill>
                <a:latin typeface="Raleway Medium"/>
                <a:ea typeface="Raleway Medium"/>
                <a:cs typeface="Raleway Medium"/>
                <a:sym typeface="Raleway Medium"/>
              </a:rPr>
              <a:t> ini, tim</a:t>
            </a:r>
            <a:r>
              <a:rPr lang="en" sz="1200">
                <a:solidFill>
                  <a:schemeClr val="dk1"/>
                </a:solidFill>
                <a:latin typeface="Raleway Medium"/>
                <a:ea typeface="Raleway Medium"/>
                <a:cs typeface="Raleway Medium"/>
                <a:sym typeface="Raleway Medium"/>
              </a:rPr>
              <a:t> desain akan mulai menghasilkan sejumlah versi produk, mereka dapat menyelidiki lebih lanjut solusi masalah yang ditemukan pada fase fase sebelumnya.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Aktivitas kunci pada fase ini adalah </a:t>
            </a:r>
            <a:r>
              <a:rPr b="1" lang="en" sz="1200">
                <a:solidFill>
                  <a:schemeClr val="dk1"/>
                </a:solidFill>
                <a:latin typeface="Raleway"/>
                <a:ea typeface="Raleway"/>
                <a:cs typeface="Raleway"/>
                <a:sym typeface="Raleway"/>
              </a:rPr>
              <a:t>menjadikan ide nyata</a:t>
            </a:r>
            <a:r>
              <a:rPr lang="en" sz="1200">
                <a:solidFill>
                  <a:schemeClr val="dk1"/>
                </a:solidFill>
                <a:latin typeface="Raleway Medium"/>
                <a:ea typeface="Raleway Medium"/>
                <a:cs typeface="Raleway Medium"/>
                <a:sym typeface="Raleway Medium"/>
              </a:rPr>
              <a:t>: buat prototipe kasar untuk mempelajari cara membuat ide menjadi lebih baik.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Prototype dapat dibagikan dan diuji dalam ruang lingkup tim, departemen lain, maupun sekelompok orang di luar tim UI/UX design. Fase ini tergolong masa percobaan agar dapat memperoleh solusi paling relevan dengan adanya masalah user.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06" name="Google Shape;206;p31"/>
          <p:cNvPicPr preferRelativeResize="0"/>
          <p:nvPr/>
        </p:nvPicPr>
        <p:blipFill rotWithShape="1">
          <a:blip r:embed="rId3">
            <a:alphaModFix/>
          </a:blip>
          <a:srcRect b="0" l="23380" r="23374" t="0"/>
          <a:stretch/>
        </p:blipFill>
        <p:spPr>
          <a:xfrm>
            <a:off x="5486400" y="1207587"/>
            <a:ext cx="3017518" cy="2743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2" name="Google Shape;212;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5 Fase dalam Design Thinking</a:t>
            </a:r>
            <a:endParaRPr/>
          </a:p>
        </p:txBody>
      </p:sp>
      <p:sp>
        <p:nvSpPr>
          <p:cNvPr id="213" name="Google Shape;213;p3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Solusi yang diimplementasikan pada prototype satu persatu akan diselidiki, diterima, ditingkatkan, diperiksa ulang, atau ditolak berdasarkan pengalaman user sebagai acuan.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Melalui trial and error, solusi yang paling mungkin dapat muncul dalam pemecahan masalah yang teridentifikasi. Peningkatan terhadap berbagai versi prototype sudah jelas dilakukan lewat feedback yang diterima.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Prototype mempresentasikan keberhasilan untuk mencapai pemahaman yang sebenarnya antara produk dengan user.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14" name="Google Shape;214;p32"/>
          <p:cNvPicPr preferRelativeResize="0"/>
          <p:nvPr/>
        </p:nvPicPr>
        <p:blipFill rotWithShape="1">
          <a:blip r:embed="rId3">
            <a:alphaModFix/>
          </a:blip>
          <a:srcRect b="0" l="23380" r="23374" t="0"/>
          <a:stretch/>
        </p:blipFill>
        <p:spPr>
          <a:xfrm>
            <a:off x="5486400" y="1207587"/>
            <a:ext cx="3017518" cy="2743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0" name="Google Shape;220;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5 Fase dalam Design Thinking</a:t>
            </a:r>
            <a:endParaRPr/>
          </a:p>
        </p:txBody>
      </p:sp>
      <p:sp>
        <p:nvSpPr>
          <p:cNvPr id="221" name="Google Shape;221;p3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5</a:t>
            </a:r>
            <a:r>
              <a:rPr b="1" lang="en" sz="1800">
                <a:solidFill>
                  <a:srgbClr val="743673"/>
                </a:solidFill>
                <a:highlight>
                  <a:schemeClr val="lt1"/>
                </a:highlight>
                <a:latin typeface="Raleway"/>
                <a:ea typeface="Raleway"/>
                <a:cs typeface="Raleway"/>
                <a:sym typeface="Raleway"/>
              </a:rPr>
              <a:t>. Pengenalan Fase Test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Prototipe dapat dibagikan dan diuji di dalam tim desain Anda, atau di departemen lain, atau pada sekelompok kecil orang di luar tim desain.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Fase</a:t>
            </a:r>
            <a:r>
              <a:rPr lang="en" sz="1200">
                <a:solidFill>
                  <a:schemeClr val="dk1"/>
                </a:solidFill>
                <a:latin typeface="Raleway Medium"/>
                <a:ea typeface="Raleway Medium"/>
                <a:cs typeface="Raleway Medium"/>
                <a:sym typeface="Raleway Medium"/>
              </a:rPr>
              <a:t> ini adalah tahap percobaan, dan tujuannya adalah untuk mengidentifikasi solusi yang terbaik. Desainer atau evaluator secara ketat menguji produk lengkap menggunakan solusi terbaik yang diidentifikasi selama fase pembuatan prototipe.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Aktivitas kunci pada fase ini adalah </a:t>
            </a:r>
            <a:r>
              <a:rPr b="1" lang="en" sz="1200">
                <a:solidFill>
                  <a:schemeClr val="dk1"/>
                </a:solidFill>
                <a:latin typeface="Raleway"/>
                <a:ea typeface="Raleway"/>
                <a:cs typeface="Raleway"/>
                <a:sym typeface="Raleway"/>
              </a:rPr>
              <a:t>menguji untuk belajar</a:t>
            </a:r>
            <a:r>
              <a:rPr lang="en" sz="1200">
                <a:solidFill>
                  <a:schemeClr val="dk1"/>
                </a:solidFill>
                <a:latin typeface="Raleway Medium"/>
                <a:ea typeface="Raleway Medium"/>
                <a:cs typeface="Raleway Medium"/>
                <a:sym typeface="Raleway Medium"/>
              </a:rPr>
              <a:t>: sempurnakan ide dengan mengumpulkan umpan balik dan bereksperimen ke depan.</a:t>
            </a:r>
            <a:endParaRPr sz="1200">
              <a:solidFill>
                <a:schemeClr val="dk1"/>
              </a:solidFill>
              <a:latin typeface="Raleway Medium"/>
              <a:ea typeface="Raleway Medium"/>
              <a:cs typeface="Raleway Medium"/>
              <a:sym typeface="Raleway Medium"/>
            </a:endParaRPr>
          </a:p>
        </p:txBody>
      </p:sp>
      <p:pic>
        <p:nvPicPr>
          <p:cNvPr id="222" name="Google Shape;222;p33"/>
          <p:cNvPicPr preferRelativeResize="0"/>
          <p:nvPr/>
        </p:nvPicPr>
        <p:blipFill rotWithShape="1">
          <a:blip r:embed="rId3">
            <a:alphaModFix/>
          </a:blip>
          <a:srcRect b="0" l="23380" r="23374" t="0"/>
          <a:stretch/>
        </p:blipFill>
        <p:spPr>
          <a:xfrm>
            <a:off x="5486400" y="1207587"/>
            <a:ext cx="3017518" cy="2743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8" name="Google Shape;228;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5 Fase dalam Design Thinking</a:t>
            </a:r>
            <a:endParaRPr/>
          </a:p>
        </p:txBody>
      </p:sp>
      <p:sp>
        <p:nvSpPr>
          <p:cNvPr id="229" name="Google Shape;229;p3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t>
            </a:r>
            <a:r>
              <a:rPr lang="en" sz="1200">
                <a:solidFill>
                  <a:schemeClr val="dk1"/>
                </a:solidFill>
                <a:latin typeface="Raleway Medium"/>
                <a:ea typeface="Raleway Medium"/>
                <a:cs typeface="Raleway Medium"/>
                <a:sym typeface="Raleway Medium"/>
              </a:rPr>
              <a:t>roses test ini sangat penting karena segala hal adalah tentang user yang menggunakan produk tersebut. Tidak menutup kemungkinan jika kamu harus beranjak untuk kembali ke tahapan sebelumnya. Selain memperoleh wawasan baru, bisa jadi kamu menghasilkan ide-ide baru yang tidak terpikirkan sebelumnya.</a:t>
            </a:r>
            <a:endParaRPr sz="1200">
              <a:solidFill>
                <a:schemeClr val="dk1"/>
              </a:solidFill>
              <a:latin typeface="Raleway Medium"/>
              <a:ea typeface="Raleway Medium"/>
              <a:cs typeface="Raleway Medium"/>
              <a:sym typeface="Raleway Medium"/>
            </a:endParaRPr>
          </a:p>
        </p:txBody>
      </p:sp>
      <p:pic>
        <p:nvPicPr>
          <p:cNvPr id="230" name="Google Shape;230;p34"/>
          <p:cNvPicPr preferRelativeResize="0"/>
          <p:nvPr/>
        </p:nvPicPr>
        <p:blipFill rotWithShape="1">
          <a:blip r:embed="rId3">
            <a:alphaModFix/>
          </a:blip>
          <a:srcRect b="0" l="23380" r="23374" t="0"/>
          <a:stretch/>
        </p:blipFill>
        <p:spPr>
          <a:xfrm>
            <a:off x="5486400" y="1207587"/>
            <a:ext cx="3017518" cy="2743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6" name="Google Shape;236;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5 Fase dalam Design Thinking</a:t>
            </a:r>
            <a:endParaRPr/>
          </a:p>
        </p:txBody>
      </p:sp>
      <p:sp>
        <p:nvSpPr>
          <p:cNvPr id="237" name="Google Shape;237;p3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Design thinking bukanlah proses yang linier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Fase-fase design thinking sebagai langkah-langkah linier, tetapi dalam praktiknya prosesnya tidak selalu linier.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Beberapa dari langkah-langkah ini mungkin terjadi beberapa kali, bahkan mungkin melompat-lompat pada tahapan tersebut.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Proses design thinking bersifat iteratif, fleksibel, dan berfokus pada kolaborasi antara desainer dan pengguna.</a:t>
            </a:r>
            <a:endParaRPr sz="1200">
              <a:solidFill>
                <a:schemeClr val="dk1"/>
              </a:solidFill>
              <a:latin typeface="Raleway Medium"/>
              <a:ea typeface="Raleway Medium"/>
              <a:cs typeface="Raleway Medium"/>
              <a:sym typeface="Raleway Medium"/>
            </a:endParaRPr>
          </a:p>
        </p:txBody>
      </p:sp>
      <p:pic>
        <p:nvPicPr>
          <p:cNvPr id="238" name="Google Shape;238;p35">
            <a:hlinkClick r:id="rId3"/>
          </p:cNvPr>
          <p:cNvPicPr preferRelativeResize="0"/>
          <p:nvPr/>
        </p:nvPicPr>
        <p:blipFill rotWithShape="1">
          <a:blip r:embed="rId4">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4" name="Google Shape;244;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5 Fase dalam Design Thinking</a:t>
            </a:r>
            <a:endParaRPr/>
          </a:p>
        </p:txBody>
      </p:sp>
      <p:sp>
        <p:nvSpPr>
          <p:cNvPr id="245" name="Google Shape;245;p3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Penting untuk dicatat bahwa kelima </a:t>
            </a:r>
            <a:r>
              <a:rPr lang="en" sz="1200">
                <a:solidFill>
                  <a:schemeClr val="dk1"/>
                </a:solidFill>
                <a:latin typeface="Raleway Medium"/>
                <a:ea typeface="Raleway Medium"/>
                <a:cs typeface="Raleway Medium"/>
                <a:sym typeface="Raleway Medium"/>
              </a:rPr>
              <a:t>fase</a:t>
            </a:r>
            <a:r>
              <a:rPr lang="en" sz="1200">
                <a:solidFill>
                  <a:schemeClr val="dk1"/>
                </a:solidFill>
                <a:latin typeface="Raleway Medium"/>
                <a:ea typeface="Raleway Medium"/>
                <a:cs typeface="Raleway Medium"/>
                <a:sym typeface="Raleway Medium"/>
              </a:rPr>
              <a:t> tidak selalu berurutan — mereka tidak harus mengikuti urutan tertentu dan sering kali dapat terjadi secara paralel dan diulang secara berulang. Dengan demikian, </a:t>
            </a:r>
            <a:r>
              <a:rPr lang="en" sz="1200">
                <a:solidFill>
                  <a:schemeClr val="dk1"/>
                </a:solidFill>
                <a:latin typeface="Raleway Medium"/>
                <a:ea typeface="Raleway Medium"/>
                <a:cs typeface="Raleway Medium"/>
                <a:sym typeface="Raleway Medium"/>
              </a:rPr>
              <a:t>fase</a:t>
            </a:r>
            <a:r>
              <a:rPr lang="en" sz="1200">
                <a:solidFill>
                  <a:schemeClr val="dk1"/>
                </a:solidFill>
                <a:latin typeface="Raleway Medium"/>
                <a:ea typeface="Raleway Medium"/>
                <a:cs typeface="Raleway Medium"/>
                <a:sym typeface="Raleway Medium"/>
              </a:rPr>
              <a:t>an harus dipahami sebagai mode berbeda yang berkontribusi pada proyek, daripada langkah berurutan.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Namun, hal yang menakjubkan tentang Design Thinking adalah </a:t>
            </a:r>
            <a:r>
              <a:rPr lang="en" sz="1200">
                <a:solidFill>
                  <a:schemeClr val="dk1"/>
                </a:solidFill>
                <a:latin typeface="Raleway Medium"/>
                <a:ea typeface="Raleway Medium"/>
                <a:cs typeface="Raleway Medium"/>
                <a:sym typeface="Raleway Medium"/>
              </a:rPr>
              <a:t>fase</a:t>
            </a:r>
            <a:r>
              <a:rPr lang="en" sz="1200">
                <a:solidFill>
                  <a:schemeClr val="dk1"/>
                </a:solidFill>
                <a:latin typeface="Raleway Medium"/>
                <a:ea typeface="Raleway Medium"/>
                <a:cs typeface="Raleway Medium"/>
                <a:sym typeface="Raleway Medium"/>
              </a:rPr>
              <a:t>annya yang mensistematisasikan dan mengidentifikasi yang Anda perlu lakukan dalam proyek desain – atau dalam proyek lain yang melibatkan pemecahan masalah yang inovatif.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Setiap proyek akan melibatkan aktivitas khusus untuk produk yang sedang dikembangkan, tetapi ide sentral di balik setiap </a:t>
            </a:r>
            <a:r>
              <a:rPr lang="en" sz="1200">
                <a:solidFill>
                  <a:schemeClr val="dk1"/>
                </a:solidFill>
                <a:latin typeface="Raleway Medium"/>
                <a:ea typeface="Raleway Medium"/>
                <a:cs typeface="Raleway Medium"/>
                <a:sym typeface="Raleway Medium"/>
              </a:rPr>
              <a:t>fase</a:t>
            </a:r>
            <a:r>
              <a:rPr lang="en" sz="1200">
                <a:solidFill>
                  <a:schemeClr val="dk1"/>
                </a:solidFill>
                <a:latin typeface="Raleway Medium"/>
                <a:ea typeface="Raleway Medium"/>
                <a:cs typeface="Raleway Medium"/>
                <a:sym typeface="Raleway Medium"/>
              </a:rPr>
              <a:t> tetap sama.</a:t>
            </a:r>
            <a:endParaRPr sz="1200">
              <a:solidFill>
                <a:schemeClr val="dk1"/>
              </a:solidFill>
              <a:latin typeface="Raleway Medium"/>
              <a:ea typeface="Raleway Medium"/>
              <a:cs typeface="Raleway Medium"/>
              <a:sym typeface="Raleway Medium"/>
            </a:endParaRPr>
          </a:p>
        </p:txBody>
      </p:sp>
      <p:pic>
        <p:nvPicPr>
          <p:cNvPr id="246" name="Google Shape;246;p36">
            <a:hlinkClick r:id="rId3"/>
          </p:cNvPr>
          <p:cNvPicPr preferRelativeResize="0"/>
          <p:nvPr/>
        </p:nvPicPr>
        <p:blipFill rotWithShape="1">
          <a:blip r:embed="rId4">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7"/>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Mari kita tonton video berikut untuk lebih mengenal </a:t>
            </a:r>
            <a:r>
              <a:rPr lang="en">
                <a:solidFill>
                  <a:srgbClr val="F2AB2F"/>
                </a:solidFill>
              </a:rPr>
              <a:t>design thinking</a:t>
            </a:r>
            <a:endParaRPr>
              <a:solidFill>
                <a:srgbClr val="F2AB2F"/>
              </a:solidFill>
            </a:endParaRPr>
          </a:p>
        </p:txBody>
      </p:sp>
      <p:sp>
        <p:nvSpPr>
          <p:cNvPr id="252" name="Google Shape;252;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8" name="Google Shape;258;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5 Fase dalam Design Thinking</a:t>
            </a:r>
            <a:endParaRPr/>
          </a:p>
        </p:txBody>
      </p:sp>
      <p:pic>
        <p:nvPicPr>
          <p:cNvPr id="259" name="Google Shape;259;p38" title="The Design Thinking Process.mp4">
            <a:hlinkClick r:id="rId3"/>
          </p:cNvPr>
          <p:cNvPicPr preferRelativeResize="0"/>
          <p:nvPr/>
        </p:nvPicPr>
        <p:blipFill>
          <a:blip r:embed="rId4">
            <a:alphaModFix/>
          </a:blip>
          <a:stretch>
            <a:fillRect/>
          </a:stretch>
        </p:blipFill>
        <p:spPr>
          <a:xfrm>
            <a:off x="1639487" y="1082075"/>
            <a:ext cx="5865025"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1000"/>
                                        <p:tgtEl>
                                          <p:spTgt spid="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5" name="Google Shape;265;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5 Fase dalam Design Thinking</a:t>
            </a:r>
            <a:endParaRPr/>
          </a:p>
        </p:txBody>
      </p:sp>
      <p:pic>
        <p:nvPicPr>
          <p:cNvPr id="266" name="Google Shape;266;p39">
            <a:hlinkClick r:id="rId3"/>
          </p:cNvPr>
          <p:cNvPicPr preferRelativeResize="0"/>
          <p:nvPr/>
        </p:nvPicPr>
        <p:blipFill>
          <a:blip r:embed="rId4">
            <a:alphaModFix/>
          </a:blip>
          <a:stretch>
            <a:fillRect/>
          </a:stretch>
        </p:blipFill>
        <p:spPr>
          <a:xfrm>
            <a:off x="843000" y="710738"/>
            <a:ext cx="7143750" cy="42862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2" name="Google Shape;272;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5 Fase dalam Design Thinking</a:t>
            </a:r>
            <a:endParaRPr/>
          </a:p>
        </p:txBody>
      </p:sp>
      <p:sp>
        <p:nvSpPr>
          <p:cNvPr id="273" name="Google Shape;273;p4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Kesimpulan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Design Thinking menangani masalah kompleks dengan: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Empathising: Memahami kebutuhan manusia yang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terlibat.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Defining: Membingkai ulang dan mendefinisikan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masalah dengan cara yang berpusat pada manusia.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Ideating: Menciptakan banyak ide dalam sesi ideation.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Prototyping: Mengadopsi pendekatan langsung dalam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pembuatan prototipe.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Testing / Pengujian: Mengembangkan prototipe atau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solusi yang dapat diuji untuk masalah tersebut.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74" name="Google Shape;274;p40"/>
          <p:cNvPicPr preferRelativeResize="0"/>
          <p:nvPr/>
        </p:nvPicPr>
        <p:blipFill rotWithShape="1">
          <a:blip r:embed="rId3">
            <a:alphaModFix/>
          </a:blip>
          <a:srcRect b="0" l="5476" r="5467" t="0"/>
          <a:stretch/>
        </p:blipFill>
        <p:spPr>
          <a:xfrm>
            <a:off x="5486400" y="1207587"/>
            <a:ext cx="3017518" cy="2743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1"/>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280" name="Google Shape;280;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286" name="Google Shape;286;p4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Apa fase pertama dalam proses Design Thinking?</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Define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Empathize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Prototype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Ideate</a:t>
            </a:r>
            <a:endParaRPr sz="1200">
              <a:solidFill>
                <a:schemeClr val="lt1"/>
              </a:solidFill>
              <a:latin typeface="Raleway Medium"/>
              <a:ea typeface="Raleway Medium"/>
              <a:cs typeface="Raleway Medium"/>
              <a:sym typeface="Raleway Medium"/>
            </a:endParaRPr>
          </a:p>
        </p:txBody>
      </p:sp>
      <p:sp>
        <p:nvSpPr>
          <p:cNvPr id="287" name="Google Shape;287;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293" name="Google Shape;293;p4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Apa fase pertama dalam proses Design Thinking?</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Define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Empathize</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Prototype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Ideate</a:t>
            </a:r>
            <a:endParaRPr sz="1200">
              <a:solidFill>
                <a:srgbClr val="A667A5"/>
              </a:solidFill>
              <a:latin typeface="Raleway Medium"/>
              <a:ea typeface="Raleway Medium"/>
              <a:cs typeface="Raleway Medium"/>
              <a:sym typeface="Raleway Medium"/>
            </a:endParaRPr>
          </a:p>
        </p:txBody>
      </p:sp>
      <p:sp>
        <p:nvSpPr>
          <p:cNvPr id="294" name="Google Shape;294;p43"/>
          <p:cNvSpPr/>
          <p:nvPr/>
        </p:nvSpPr>
        <p:spPr>
          <a:xfrm>
            <a:off x="685800" y="3079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Langkah pertama dalam proses design thinking </a:t>
            </a:r>
            <a:r>
              <a:rPr b="1" lang="en" sz="1000">
                <a:solidFill>
                  <a:srgbClr val="733572"/>
                </a:solidFill>
                <a:latin typeface="Raleway"/>
                <a:ea typeface="Raleway"/>
                <a:cs typeface="Raleway"/>
                <a:sym typeface="Raleway"/>
              </a:rPr>
              <a:t>5-fase </a:t>
            </a:r>
            <a:r>
              <a:rPr b="1" lang="en" sz="1000">
                <a:solidFill>
                  <a:srgbClr val="733572"/>
                </a:solidFill>
                <a:latin typeface="Raleway"/>
                <a:ea typeface="Raleway"/>
                <a:cs typeface="Raleway"/>
                <a:sym typeface="Raleway"/>
              </a:rPr>
              <a:t>adalah Empathize, dilanjutkan dengan Define - Ideate - </a:t>
            </a:r>
            <a:endParaRPr b="1" sz="1000">
              <a:solidFill>
                <a:srgbClr val="733572"/>
              </a:solidFill>
              <a:latin typeface="Raleway"/>
              <a:ea typeface="Raleway"/>
              <a:cs typeface="Raleway"/>
              <a:sym typeface="Raleway"/>
            </a:endParaRPr>
          </a:p>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Prototype - Test</a:t>
            </a:r>
            <a:endParaRPr b="1" sz="1000">
              <a:solidFill>
                <a:srgbClr val="733572"/>
              </a:solidFill>
              <a:latin typeface="Raleway"/>
              <a:ea typeface="Raleway"/>
              <a:cs typeface="Raleway"/>
              <a:sym typeface="Raleway"/>
            </a:endParaRPr>
          </a:p>
        </p:txBody>
      </p:sp>
      <p:sp>
        <p:nvSpPr>
          <p:cNvPr id="295" name="Google Shape;295;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01" name="Google Shape;301;p4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Apa fase ke-lima dalam proses Design Thinking?</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Empathize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Test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Prototype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Ideate</a:t>
            </a:r>
            <a:endParaRPr sz="1200">
              <a:solidFill>
                <a:schemeClr val="lt1"/>
              </a:solidFill>
              <a:latin typeface="Raleway Medium"/>
              <a:ea typeface="Raleway Medium"/>
              <a:cs typeface="Raleway Medium"/>
              <a:sym typeface="Raleway Medium"/>
            </a:endParaRPr>
          </a:p>
        </p:txBody>
      </p:sp>
      <p:sp>
        <p:nvSpPr>
          <p:cNvPr id="302" name="Google Shape;302;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08" name="Google Shape;308;p4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Apa fase ke-lima dalam proses Design Thinking?</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Empathize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Test</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Prototype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Ideate</a:t>
            </a:r>
            <a:endParaRPr sz="1200">
              <a:solidFill>
                <a:srgbClr val="A667A5"/>
              </a:solidFill>
              <a:latin typeface="Raleway Medium"/>
              <a:ea typeface="Raleway Medium"/>
              <a:cs typeface="Raleway Medium"/>
              <a:sym typeface="Raleway Medium"/>
            </a:endParaRPr>
          </a:p>
        </p:txBody>
      </p:sp>
      <p:sp>
        <p:nvSpPr>
          <p:cNvPr id="309" name="Google Shape;309;p45"/>
          <p:cNvSpPr/>
          <p:nvPr/>
        </p:nvSpPr>
        <p:spPr>
          <a:xfrm>
            <a:off x="685800" y="3079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Langkah ke-lima dalam proses design thinking 5-</a:t>
            </a:r>
            <a:r>
              <a:rPr b="1" lang="en" sz="1000">
                <a:solidFill>
                  <a:srgbClr val="733572"/>
                </a:solidFill>
                <a:latin typeface="Raleway"/>
                <a:ea typeface="Raleway"/>
                <a:cs typeface="Raleway"/>
                <a:sym typeface="Raleway"/>
              </a:rPr>
              <a:t>fase</a:t>
            </a:r>
            <a:r>
              <a:rPr b="1" lang="en" sz="1000">
                <a:solidFill>
                  <a:srgbClr val="733572"/>
                </a:solidFill>
                <a:latin typeface="Raleway"/>
                <a:ea typeface="Raleway"/>
                <a:cs typeface="Raleway"/>
                <a:sym typeface="Raleway"/>
              </a:rPr>
              <a:t> adalah Test.</a:t>
            </a:r>
            <a:endParaRPr b="1" sz="1000">
              <a:solidFill>
                <a:srgbClr val="733572"/>
              </a:solidFill>
              <a:latin typeface="Raleway"/>
              <a:ea typeface="Raleway"/>
              <a:cs typeface="Raleway"/>
              <a:sym typeface="Raleway"/>
            </a:endParaRPr>
          </a:p>
        </p:txBody>
      </p:sp>
      <p:sp>
        <p:nvSpPr>
          <p:cNvPr id="310" name="Google Shape;310;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16" name="Google Shape;316;p4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Apa fase ke-tiga dalam proses Design Thinking?</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Empathize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Test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Prototype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Ideate</a:t>
            </a:r>
            <a:endParaRPr sz="1200">
              <a:solidFill>
                <a:schemeClr val="lt1"/>
              </a:solidFill>
              <a:latin typeface="Raleway Medium"/>
              <a:ea typeface="Raleway Medium"/>
              <a:cs typeface="Raleway Medium"/>
              <a:sym typeface="Raleway Medium"/>
            </a:endParaRPr>
          </a:p>
        </p:txBody>
      </p:sp>
      <p:sp>
        <p:nvSpPr>
          <p:cNvPr id="317" name="Google Shape;317;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23" name="Google Shape;323;p4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Apa fase ke-tiga dalam proses Design Thinking?</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Empathize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a:buAutoNum type="alphaUcPeriod"/>
            </a:pPr>
            <a:r>
              <a:rPr b="1" lang="en" sz="1200">
                <a:solidFill>
                  <a:srgbClr val="A667A5"/>
                </a:solidFill>
                <a:latin typeface="Raleway"/>
                <a:ea typeface="Raleway"/>
                <a:cs typeface="Raleway"/>
                <a:sym typeface="Raleway"/>
              </a:rPr>
              <a:t>Test</a:t>
            </a:r>
            <a:endParaRPr b="1" sz="1200">
              <a:solidFill>
                <a:srgbClr val="A667A5"/>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Prototype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Ideate</a:t>
            </a:r>
            <a:endParaRPr b="1" sz="1200">
              <a:solidFill>
                <a:schemeClr val="lt1"/>
              </a:solidFill>
              <a:latin typeface="Raleway"/>
              <a:ea typeface="Raleway"/>
              <a:cs typeface="Raleway"/>
              <a:sym typeface="Raleway"/>
            </a:endParaRPr>
          </a:p>
        </p:txBody>
      </p:sp>
      <p:sp>
        <p:nvSpPr>
          <p:cNvPr id="324" name="Google Shape;324;p47"/>
          <p:cNvSpPr/>
          <p:nvPr/>
        </p:nvSpPr>
        <p:spPr>
          <a:xfrm>
            <a:off x="685800" y="3079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Langkah ke-lima dalam proses design thinking 5-</a:t>
            </a:r>
            <a:r>
              <a:rPr b="1" lang="en" sz="1000">
                <a:solidFill>
                  <a:srgbClr val="733572"/>
                </a:solidFill>
                <a:latin typeface="Raleway"/>
                <a:ea typeface="Raleway"/>
                <a:cs typeface="Raleway"/>
                <a:sym typeface="Raleway"/>
              </a:rPr>
              <a:t>fase</a:t>
            </a:r>
            <a:r>
              <a:rPr b="1" lang="en" sz="1000">
                <a:solidFill>
                  <a:srgbClr val="733572"/>
                </a:solidFill>
                <a:latin typeface="Raleway"/>
                <a:ea typeface="Raleway"/>
                <a:cs typeface="Raleway"/>
                <a:sym typeface="Raleway"/>
              </a:rPr>
              <a:t> adalah Ideate.</a:t>
            </a:r>
            <a:endParaRPr b="1" sz="1000">
              <a:solidFill>
                <a:srgbClr val="733572"/>
              </a:solidFill>
              <a:latin typeface="Raleway"/>
              <a:ea typeface="Raleway"/>
              <a:cs typeface="Raleway"/>
              <a:sym typeface="Raleway"/>
            </a:endParaRPr>
          </a:p>
        </p:txBody>
      </p:sp>
      <p:sp>
        <p:nvSpPr>
          <p:cNvPr id="325" name="Google Shape;325;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31" name="Google Shape;331;p4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Aktivitas kunci pada fase ______ adalah membingkai pertanyaan: identifikasi pertanyaan pendorong yang menginspirasi orang lain untuk mencari solusi kreatif.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Empathize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Test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Prototype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Ideate</a:t>
            </a:r>
            <a:endParaRPr sz="1200">
              <a:solidFill>
                <a:schemeClr val="lt1"/>
              </a:solidFill>
              <a:latin typeface="Raleway Medium"/>
              <a:ea typeface="Raleway Medium"/>
              <a:cs typeface="Raleway Medium"/>
              <a:sym typeface="Raleway Medium"/>
            </a:endParaRPr>
          </a:p>
        </p:txBody>
      </p:sp>
      <p:sp>
        <p:nvSpPr>
          <p:cNvPr id="332" name="Google Shape;332;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38" name="Google Shape;338;p4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Aktivitas kunci pada </a:t>
            </a:r>
            <a:r>
              <a:rPr b="1" lang="en" sz="1800">
                <a:solidFill>
                  <a:schemeClr val="lt1"/>
                </a:solidFill>
                <a:latin typeface="Raleway"/>
                <a:ea typeface="Raleway"/>
                <a:cs typeface="Raleway"/>
                <a:sym typeface="Raleway"/>
              </a:rPr>
              <a:t>fase</a:t>
            </a:r>
            <a:r>
              <a:rPr b="1" lang="en" sz="1800">
                <a:solidFill>
                  <a:schemeClr val="lt1"/>
                </a:solidFill>
                <a:latin typeface="Raleway"/>
                <a:ea typeface="Raleway"/>
                <a:cs typeface="Raleway"/>
                <a:sym typeface="Raleway"/>
              </a:rPr>
              <a:t> ______ adalah membingkai pertanyaan: identifikasi pertanyaan pendorong yang menginspirasi orang lain untuk mencari solusi kreatif.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Empathize</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Test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Prototype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Ideate</a:t>
            </a:r>
            <a:endParaRPr sz="1200">
              <a:solidFill>
                <a:srgbClr val="A667A5"/>
              </a:solidFill>
              <a:latin typeface="Raleway Medium"/>
              <a:ea typeface="Raleway Medium"/>
              <a:cs typeface="Raleway Medium"/>
              <a:sym typeface="Raleway Medium"/>
            </a:endParaRPr>
          </a:p>
        </p:txBody>
      </p:sp>
      <p:sp>
        <p:nvSpPr>
          <p:cNvPr id="339" name="Google Shape;339;p49"/>
          <p:cNvSpPr/>
          <p:nvPr/>
        </p:nvSpPr>
        <p:spPr>
          <a:xfrm>
            <a:off x="685800" y="37651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Aktivitas kunci pada </a:t>
            </a:r>
            <a:r>
              <a:rPr b="1" lang="en" sz="1000">
                <a:solidFill>
                  <a:srgbClr val="733572"/>
                </a:solidFill>
                <a:latin typeface="Raleway"/>
                <a:ea typeface="Raleway"/>
                <a:cs typeface="Raleway"/>
                <a:sym typeface="Raleway"/>
              </a:rPr>
              <a:t>fase</a:t>
            </a:r>
            <a:r>
              <a:rPr b="1" lang="en" sz="1000">
                <a:solidFill>
                  <a:srgbClr val="733572"/>
                </a:solidFill>
                <a:latin typeface="Raleway"/>
                <a:ea typeface="Raleway"/>
                <a:cs typeface="Raleway"/>
                <a:sym typeface="Raleway"/>
              </a:rPr>
              <a:t> empathize adalah membingkai pertanyaan: identifikasi pertanyaan pendorong yang menginspirasi orang lain untuk mencari solusi kreatif.</a:t>
            </a:r>
            <a:endParaRPr b="1" sz="1000">
              <a:solidFill>
                <a:srgbClr val="733572"/>
              </a:solidFill>
              <a:latin typeface="Raleway"/>
              <a:ea typeface="Raleway"/>
              <a:cs typeface="Raleway"/>
              <a:sym typeface="Raleway"/>
            </a:endParaRPr>
          </a:p>
        </p:txBody>
      </p:sp>
      <p:sp>
        <p:nvSpPr>
          <p:cNvPr id="340" name="Google Shape;340;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46" name="Google Shape;346;p5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Aktivitas kunci pada fase ______ adalah menghasilkan ide: telusuri solusi nyata untuk mendapatkan ide terobosan.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Empathize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Test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Prototype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Ideate</a:t>
            </a:r>
            <a:endParaRPr sz="1200">
              <a:solidFill>
                <a:schemeClr val="lt1"/>
              </a:solidFill>
              <a:latin typeface="Raleway Medium"/>
              <a:ea typeface="Raleway Medium"/>
              <a:cs typeface="Raleway Medium"/>
              <a:sym typeface="Raleway Medium"/>
            </a:endParaRPr>
          </a:p>
        </p:txBody>
      </p:sp>
      <p:sp>
        <p:nvSpPr>
          <p:cNvPr id="347" name="Google Shape;347;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53" name="Google Shape;353;p5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Aktivitas kunci pada </a:t>
            </a:r>
            <a:r>
              <a:rPr b="1" lang="en" sz="1800">
                <a:solidFill>
                  <a:schemeClr val="lt1"/>
                </a:solidFill>
                <a:latin typeface="Raleway"/>
                <a:ea typeface="Raleway"/>
                <a:cs typeface="Raleway"/>
                <a:sym typeface="Raleway"/>
              </a:rPr>
              <a:t>fase</a:t>
            </a:r>
            <a:r>
              <a:rPr b="1" lang="en" sz="1800">
                <a:solidFill>
                  <a:schemeClr val="lt1"/>
                </a:solidFill>
                <a:latin typeface="Raleway"/>
                <a:ea typeface="Raleway"/>
                <a:cs typeface="Raleway"/>
                <a:sym typeface="Raleway"/>
              </a:rPr>
              <a:t> ______ adalah menghasilkan ide: telusuri solusi nyata untuk mendapatkan ide terobosan.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Empathize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Test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Prototype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Ideate</a:t>
            </a:r>
            <a:endParaRPr b="1" sz="1200">
              <a:solidFill>
                <a:schemeClr val="lt1"/>
              </a:solidFill>
              <a:latin typeface="Raleway"/>
              <a:ea typeface="Raleway"/>
              <a:cs typeface="Raleway"/>
              <a:sym typeface="Raleway"/>
            </a:endParaRPr>
          </a:p>
        </p:txBody>
      </p:sp>
      <p:sp>
        <p:nvSpPr>
          <p:cNvPr id="354" name="Google Shape;354;p51"/>
          <p:cNvSpPr/>
          <p:nvPr/>
        </p:nvSpPr>
        <p:spPr>
          <a:xfrm>
            <a:off x="685800" y="3460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Aktivitas kunci pada </a:t>
            </a:r>
            <a:r>
              <a:rPr b="1" lang="en" sz="1000">
                <a:solidFill>
                  <a:srgbClr val="733572"/>
                </a:solidFill>
                <a:latin typeface="Raleway"/>
                <a:ea typeface="Raleway"/>
                <a:cs typeface="Raleway"/>
                <a:sym typeface="Raleway"/>
              </a:rPr>
              <a:t>fase</a:t>
            </a:r>
            <a:r>
              <a:rPr b="1" lang="en" sz="1000">
                <a:solidFill>
                  <a:srgbClr val="733572"/>
                </a:solidFill>
                <a:latin typeface="Raleway"/>
                <a:ea typeface="Raleway"/>
                <a:cs typeface="Raleway"/>
                <a:sym typeface="Raleway"/>
              </a:rPr>
              <a:t> ideate </a:t>
            </a:r>
            <a:r>
              <a:rPr b="1" lang="en" sz="1000">
                <a:solidFill>
                  <a:srgbClr val="733572"/>
                </a:solidFill>
                <a:latin typeface="Raleway"/>
                <a:ea typeface="Raleway"/>
                <a:cs typeface="Raleway"/>
                <a:sym typeface="Raleway"/>
              </a:rPr>
              <a:t>adalah menghasilkan ide: telusuri solusi nyata untuk mendapatkan ide terobosan.</a:t>
            </a:r>
            <a:endParaRPr b="1" sz="1000">
              <a:solidFill>
                <a:srgbClr val="733572"/>
              </a:solidFill>
              <a:latin typeface="Raleway"/>
              <a:ea typeface="Raleway"/>
              <a:cs typeface="Raleway"/>
              <a:sym typeface="Raleway"/>
            </a:endParaRPr>
          </a:p>
        </p:txBody>
      </p:sp>
      <p:sp>
        <p:nvSpPr>
          <p:cNvPr id="355" name="Google Shape;355;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61" name="Google Shape;361;p5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Aktivitas kunci pada </a:t>
            </a:r>
            <a:r>
              <a:rPr b="1" lang="en" sz="1800">
                <a:solidFill>
                  <a:schemeClr val="lt1"/>
                </a:solidFill>
                <a:latin typeface="Raleway"/>
                <a:ea typeface="Raleway"/>
                <a:cs typeface="Raleway"/>
                <a:sym typeface="Raleway"/>
              </a:rPr>
              <a:t>fase</a:t>
            </a:r>
            <a:r>
              <a:rPr b="1" lang="en" sz="1800">
                <a:solidFill>
                  <a:schemeClr val="lt1"/>
                </a:solidFill>
                <a:latin typeface="Raleway"/>
                <a:ea typeface="Raleway"/>
                <a:cs typeface="Raleway"/>
                <a:sym typeface="Raleway"/>
              </a:rPr>
              <a:t> ______ adalah </a:t>
            </a:r>
            <a:r>
              <a:rPr b="1" lang="en" sz="1800">
                <a:solidFill>
                  <a:schemeClr val="lt1"/>
                </a:solidFill>
                <a:latin typeface="Raleway"/>
                <a:ea typeface="Raleway"/>
                <a:cs typeface="Raleway"/>
                <a:sym typeface="Raleway"/>
              </a:rPr>
              <a:t>menguji untuk belajar: sempurnakan ide dengan mengumpulkan umpan balik dan bereksperimen ke depan.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Empathize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Test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Prototype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Ideate</a:t>
            </a:r>
            <a:endParaRPr sz="1200">
              <a:solidFill>
                <a:schemeClr val="lt1"/>
              </a:solidFill>
              <a:latin typeface="Raleway Medium"/>
              <a:ea typeface="Raleway Medium"/>
              <a:cs typeface="Raleway Medium"/>
              <a:sym typeface="Raleway Medium"/>
            </a:endParaRPr>
          </a:p>
        </p:txBody>
      </p:sp>
      <p:sp>
        <p:nvSpPr>
          <p:cNvPr id="362" name="Google Shape;362;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68" name="Google Shape;368;p5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Aktivitas kunci pada </a:t>
            </a:r>
            <a:r>
              <a:rPr b="1" lang="en" sz="1800">
                <a:solidFill>
                  <a:schemeClr val="lt1"/>
                </a:solidFill>
                <a:latin typeface="Raleway"/>
                <a:ea typeface="Raleway"/>
                <a:cs typeface="Raleway"/>
                <a:sym typeface="Raleway"/>
              </a:rPr>
              <a:t>fase</a:t>
            </a:r>
            <a:r>
              <a:rPr b="1" lang="en" sz="1800">
                <a:solidFill>
                  <a:schemeClr val="lt1"/>
                </a:solidFill>
                <a:latin typeface="Raleway"/>
                <a:ea typeface="Raleway"/>
                <a:cs typeface="Raleway"/>
                <a:sym typeface="Raleway"/>
              </a:rPr>
              <a:t> ______ adalah menguji untuk belajar: sempurnakan ide dengan mengumpulkan umpan balik dan bereksperimen ke depan.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Empathize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Test</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Prototype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Ideate</a:t>
            </a:r>
            <a:endParaRPr sz="1200">
              <a:solidFill>
                <a:srgbClr val="A667A5"/>
              </a:solidFill>
              <a:latin typeface="Raleway Medium"/>
              <a:ea typeface="Raleway Medium"/>
              <a:cs typeface="Raleway Medium"/>
              <a:sym typeface="Raleway Medium"/>
            </a:endParaRPr>
          </a:p>
        </p:txBody>
      </p:sp>
      <p:sp>
        <p:nvSpPr>
          <p:cNvPr id="369" name="Google Shape;369;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0" name="Google Shape;370;p53"/>
          <p:cNvSpPr/>
          <p:nvPr/>
        </p:nvSpPr>
        <p:spPr>
          <a:xfrm>
            <a:off x="685800" y="36889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Aktivitas kunci pada </a:t>
            </a:r>
            <a:r>
              <a:rPr b="1" lang="en" sz="1000">
                <a:solidFill>
                  <a:srgbClr val="733572"/>
                </a:solidFill>
                <a:latin typeface="Raleway"/>
                <a:ea typeface="Raleway"/>
                <a:cs typeface="Raleway"/>
                <a:sym typeface="Raleway"/>
              </a:rPr>
              <a:t>fase</a:t>
            </a:r>
            <a:r>
              <a:rPr b="1" lang="en" sz="1000">
                <a:solidFill>
                  <a:srgbClr val="733572"/>
                </a:solidFill>
                <a:latin typeface="Raleway"/>
                <a:ea typeface="Raleway"/>
                <a:cs typeface="Raleway"/>
                <a:sym typeface="Raleway"/>
              </a:rPr>
              <a:t> test a</a:t>
            </a:r>
            <a:r>
              <a:rPr b="1" lang="en" sz="1000">
                <a:solidFill>
                  <a:srgbClr val="733572"/>
                </a:solidFill>
                <a:latin typeface="Raleway"/>
                <a:ea typeface="Raleway"/>
                <a:cs typeface="Raleway"/>
                <a:sym typeface="Raleway"/>
              </a:rPr>
              <a:t>dalah menguji untuk belajar: sempurnakan ide dengan mengumpulkan umpan balik dan bereksperimen ke depan.</a:t>
            </a:r>
            <a:endParaRPr b="1" sz="1000">
              <a:solidFill>
                <a:srgbClr val="733572"/>
              </a:solidFill>
              <a:latin typeface="Raleway"/>
              <a:ea typeface="Raleway"/>
              <a:cs typeface="Raleway"/>
              <a:sym typeface="Raleway"/>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76" name="Google Shape;376;p5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7</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Aktivitas kunci pada </a:t>
            </a:r>
            <a:r>
              <a:rPr b="1" lang="en" sz="1800">
                <a:solidFill>
                  <a:schemeClr val="lt1"/>
                </a:solidFill>
                <a:latin typeface="Raleway"/>
                <a:ea typeface="Raleway"/>
                <a:cs typeface="Raleway"/>
                <a:sym typeface="Raleway"/>
              </a:rPr>
              <a:t>fase</a:t>
            </a:r>
            <a:r>
              <a:rPr b="1" lang="en" sz="1800">
                <a:solidFill>
                  <a:schemeClr val="lt1"/>
                </a:solidFill>
                <a:latin typeface="Raleway"/>
                <a:ea typeface="Raleway"/>
                <a:cs typeface="Raleway"/>
                <a:sym typeface="Raleway"/>
              </a:rPr>
              <a:t> ______ adalah </a:t>
            </a:r>
            <a:r>
              <a:rPr b="1" lang="en" sz="1800">
                <a:solidFill>
                  <a:schemeClr val="lt1"/>
                </a:solidFill>
                <a:latin typeface="Raleway"/>
                <a:ea typeface="Raleway"/>
                <a:cs typeface="Raleway"/>
                <a:sym typeface="Raleway"/>
              </a:rPr>
              <a:t>menjadikan ide nyata: buat prototipe kasar untuk mempelajari cara membuat ide menjadi lebih baik.</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Empathize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Test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Prototype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Ideate</a:t>
            </a:r>
            <a:endParaRPr sz="1200">
              <a:solidFill>
                <a:schemeClr val="lt1"/>
              </a:solidFill>
              <a:latin typeface="Raleway Medium"/>
              <a:ea typeface="Raleway Medium"/>
              <a:cs typeface="Raleway Medium"/>
              <a:sym typeface="Raleway Medium"/>
            </a:endParaRPr>
          </a:p>
        </p:txBody>
      </p:sp>
      <p:sp>
        <p:nvSpPr>
          <p:cNvPr id="377" name="Google Shape;377;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83" name="Google Shape;383;p5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7.</a:t>
            </a:r>
            <a:r>
              <a:rPr b="1" lang="en" sz="1800">
                <a:solidFill>
                  <a:schemeClr val="lt1"/>
                </a:solidFill>
                <a:latin typeface="Raleway"/>
                <a:ea typeface="Raleway"/>
                <a:cs typeface="Raleway"/>
                <a:sym typeface="Raleway"/>
              </a:rPr>
              <a:t> Aktivitas kunci pada </a:t>
            </a:r>
            <a:r>
              <a:rPr b="1" lang="en" sz="1800">
                <a:solidFill>
                  <a:schemeClr val="lt1"/>
                </a:solidFill>
                <a:latin typeface="Raleway"/>
                <a:ea typeface="Raleway"/>
                <a:cs typeface="Raleway"/>
                <a:sym typeface="Raleway"/>
              </a:rPr>
              <a:t>fase</a:t>
            </a:r>
            <a:r>
              <a:rPr b="1" lang="en" sz="1800">
                <a:solidFill>
                  <a:schemeClr val="lt1"/>
                </a:solidFill>
                <a:latin typeface="Raleway"/>
                <a:ea typeface="Raleway"/>
                <a:cs typeface="Raleway"/>
                <a:sym typeface="Raleway"/>
              </a:rPr>
              <a:t> ______ adalah menjadikan ide nyata: buat prototipe kasar untuk mempelajari cara membuat ide menjadi lebih baik.</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Empathize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Test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Prototype</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Ideate</a:t>
            </a:r>
            <a:endParaRPr sz="1200">
              <a:solidFill>
                <a:srgbClr val="A667A5"/>
              </a:solidFill>
              <a:latin typeface="Raleway Medium"/>
              <a:ea typeface="Raleway Medium"/>
              <a:cs typeface="Raleway Medium"/>
              <a:sym typeface="Raleway Medium"/>
            </a:endParaRPr>
          </a:p>
        </p:txBody>
      </p:sp>
      <p:sp>
        <p:nvSpPr>
          <p:cNvPr id="384" name="Google Shape;384;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5" name="Google Shape;385;p55"/>
          <p:cNvSpPr/>
          <p:nvPr/>
        </p:nvSpPr>
        <p:spPr>
          <a:xfrm>
            <a:off x="685800" y="36889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Aktivitas kunci pada </a:t>
            </a:r>
            <a:r>
              <a:rPr b="1" lang="en" sz="1000">
                <a:solidFill>
                  <a:srgbClr val="733572"/>
                </a:solidFill>
                <a:latin typeface="Raleway"/>
                <a:ea typeface="Raleway"/>
                <a:cs typeface="Raleway"/>
                <a:sym typeface="Raleway"/>
              </a:rPr>
              <a:t>fase</a:t>
            </a:r>
            <a:r>
              <a:rPr b="1" lang="en" sz="1000">
                <a:solidFill>
                  <a:srgbClr val="733572"/>
                </a:solidFill>
                <a:latin typeface="Raleway"/>
                <a:ea typeface="Raleway"/>
                <a:cs typeface="Raleway"/>
                <a:sym typeface="Raleway"/>
              </a:rPr>
              <a:t> prototype adalah menjadikan ide nyata: buat prototipe kasar untuk mempelajari cara membuat ide menjadi lebih baik.</a:t>
            </a:r>
            <a:endParaRPr b="1" sz="1000">
              <a:solidFill>
                <a:srgbClr val="733572"/>
              </a:solidFill>
              <a:latin typeface="Raleway"/>
              <a:ea typeface="Raleway"/>
              <a:cs typeface="Raleway"/>
              <a:sym typeface="Raleway"/>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1" name="Google Shape;391;p5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8</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Mengapa design thinking bukanlah </a:t>
            </a:r>
            <a:r>
              <a:rPr b="1" lang="en" sz="1800">
                <a:solidFill>
                  <a:schemeClr val="lt1"/>
                </a:solidFill>
                <a:latin typeface="Raleway"/>
                <a:ea typeface="Raleway"/>
                <a:cs typeface="Raleway"/>
                <a:sym typeface="Raleway"/>
              </a:rPr>
              <a:t>fase </a:t>
            </a:r>
            <a:r>
              <a:rPr b="1" lang="en" sz="1800">
                <a:solidFill>
                  <a:schemeClr val="lt1"/>
                </a:solidFill>
                <a:latin typeface="Raleway"/>
                <a:ea typeface="Raleway"/>
                <a:cs typeface="Raleway"/>
                <a:sym typeface="Raleway"/>
              </a:rPr>
              <a:t>yang berurutan?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Karena para desainer tidak perlu sebuah sistem untuk melakukan kegiatan - kegiatannya.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Karena kegiatan pada </a:t>
            </a:r>
            <a:r>
              <a:rPr lang="en" sz="1200">
                <a:solidFill>
                  <a:schemeClr val="lt1"/>
                </a:solidFill>
                <a:latin typeface="Raleway Medium"/>
                <a:ea typeface="Raleway Medium"/>
                <a:cs typeface="Raleway Medium"/>
                <a:sym typeface="Raleway Medium"/>
              </a:rPr>
              <a:t>fase</a:t>
            </a:r>
            <a:r>
              <a:rPr lang="en" sz="1200">
                <a:solidFill>
                  <a:schemeClr val="lt1"/>
                </a:solidFill>
                <a:latin typeface="Raleway Medium"/>
                <a:ea typeface="Raleway Medium"/>
                <a:cs typeface="Raleway Medium"/>
                <a:sym typeface="Raleway Medium"/>
              </a:rPr>
              <a:t> - </a:t>
            </a:r>
            <a:r>
              <a:rPr lang="en" sz="1200">
                <a:solidFill>
                  <a:schemeClr val="lt1"/>
                </a:solidFill>
                <a:latin typeface="Raleway Medium"/>
                <a:ea typeface="Raleway Medium"/>
                <a:cs typeface="Raleway Medium"/>
                <a:sym typeface="Raleway Medium"/>
              </a:rPr>
              <a:t>fase</a:t>
            </a:r>
            <a:r>
              <a:rPr lang="en" sz="1200">
                <a:solidFill>
                  <a:schemeClr val="lt1"/>
                </a:solidFill>
                <a:latin typeface="Raleway Medium"/>
                <a:ea typeface="Raleway Medium"/>
                <a:cs typeface="Raleway Medium"/>
                <a:sym typeface="Raleway Medium"/>
              </a:rPr>
              <a:t> design thinking </a:t>
            </a:r>
            <a:r>
              <a:rPr lang="en" sz="1200">
                <a:solidFill>
                  <a:schemeClr val="lt1"/>
                </a:solidFill>
                <a:latin typeface="Raleway Medium"/>
                <a:ea typeface="Raleway Medium"/>
                <a:cs typeface="Raleway Medium"/>
                <a:sym typeface="Raleway Medium"/>
              </a:rPr>
              <a:t>sering kali dapat terjadi secara paralel dan diulang secara berulang.</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392" name="Google Shape;392;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8" name="Google Shape;398;p5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8</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Mengapa design thinking bukanlah </a:t>
            </a:r>
            <a:r>
              <a:rPr b="1" lang="en" sz="1800">
                <a:solidFill>
                  <a:schemeClr val="lt1"/>
                </a:solidFill>
                <a:latin typeface="Raleway"/>
                <a:ea typeface="Raleway"/>
                <a:cs typeface="Raleway"/>
                <a:sym typeface="Raleway"/>
              </a:rPr>
              <a:t>fase</a:t>
            </a:r>
            <a:r>
              <a:rPr b="1" lang="en" sz="1800">
                <a:solidFill>
                  <a:schemeClr val="lt1"/>
                </a:solidFill>
                <a:latin typeface="Raleway"/>
                <a:ea typeface="Raleway"/>
                <a:cs typeface="Raleway"/>
                <a:sym typeface="Raleway"/>
              </a:rPr>
              <a:t>an yang berurutan?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Karena para desainer tidak perlu sebuah sistem untuk melakukan kegiatan - kegiatannya.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Karena kegiatan pada </a:t>
            </a:r>
            <a:r>
              <a:rPr b="1" lang="en" sz="1200">
                <a:solidFill>
                  <a:schemeClr val="lt1"/>
                </a:solidFill>
                <a:latin typeface="Raleway"/>
                <a:ea typeface="Raleway"/>
                <a:cs typeface="Raleway"/>
                <a:sym typeface="Raleway"/>
              </a:rPr>
              <a:t>fase</a:t>
            </a:r>
            <a:r>
              <a:rPr b="1" lang="en" sz="1200">
                <a:solidFill>
                  <a:schemeClr val="lt1"/>
                </a:solidFill>
                <a:latin typeface="Raleway"/>
                <a:ea typeface="Raleway"/>
                <a:cs typeface="Raleway"/>
                <a:sym typeface="Raleway"/>
              </a:rPr>
              <a:t> - </a:t>
            </a:r>
            <a:r>
              <a:rPr b="1" lang="en" sz="1200">
                <a:solidFill>
                  <a:schemeClr val="lt1"/>
                </a:solidFill>
                <a:latin typeface="Raleway"/>
                <a:ea typeface="Raleway"/>
                <a:cs typeface="Raleway"/>
                <a:sym typeface="Raleway"/>
              </a:rPr>
              <a:t>fase</a:t>
            </a:r>
            <a:r>
              <a:rPr b="1" lang="en" sz="1200">
                <a:solidFill>
                  <a:schemeClr val="lt1"/>
                </a:solidFill>
                <a:latin typeface="Raleway"/>
                <a:ea typeface="Raleway"/>
                <a:cs typeface="Raleway"/>
                <a:sym typeface="Raleway"/>
              </a:rPr>
              <a:t> design thinking sering kali dapat terjadi secara paralel dan diulang secara berulang.</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399" name="Google Shape;399;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0" name="Google Shape;400;p57"/>
          <p:cNvSpPr/>
          <p:nvPr/>
        </p:nvSpPr>
        <p:spPr>
          <a:xfrm>
            <a:off x="685800" y="2926975"/>
            <a:ext cx="7772400" cy="6966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Penting untuk dicatat bahwa kelima </a:t>
            </a:r>
            <a:r>
              <a:rPr b="1" lang="en" sz="1000">
                <a:solidFill>
                  <a:srgbClr val="733572"/>
                </a:solidFill>
                <a:latin typeface="Raleway"/>
                <a:ea typeface="Raleway"/>
                <a:cs typeface="Raleway"/>
                <a:sym typeface="Raleway"/>
              </a:rPr>
              <a:t>fase</a:t>
            </a:r>
            <a:r>
              <a:rPr b="1" lang="en" sz="1000">
                <a:solidFill>
                  <a:srgbClr val="733572"/>
                </a:solidFill>
                <a:latin typeface="Raleway"/>
                <a:ea typeface="Raleway"/>
                <a:cs typeface="Raleway"/>
                <a:sym typeface="Raleway"/>
              </a:rPr>
              <a:t> tidak selalu berurutan — mereka tidak harus mengikuti urutan tertentu dan sering kali dapat terjadi secara paralel dan diulang secara berulang. Dengan demikian, </a:t>
            </a:r>
            <a:r>
              <a:rPr b="1" lang="en" sz="1000">
                <a:solidFill>
                  <a:srgbClr val="733572"/>
                </a:solidFill>
                <a:latin typeface="Raleway"/>
                <a:ea typeface="Raleway"/>
                <a:cs typeface="Raleway"/>
                <a:sym typeface="Raleway"/>
              </a:rPr>
              <a:t>fase</a:t>
            </a:r>
            <a:r>
              <a:rPr b="1" lang="en" sz="1000">
                <a:solidFill>
                  <a:srgbClr val="733572"/>
                </a:solidFill>
                <a:latin typeface="Raleway"/>
                <a:ea typeface="Raleway"/>
                <a:cs typeface="Raleway"/>
                <a:sym typeface="Raleway"/>
              </a:rPr>
              <a:t>an harus dipahami sebagai mode berbeda yang berkontribusi pada proyek, daripada langkah berurutan.</a:t>
            </a:r>
            <a:endParaRPr b="1" sz="1000">
              <a:solidFill>
                <a:srgbClr val="733572"/>
              </a:solidFill>
              <a:latin typeface="Raleway"/>
              <a:ea typeface="Raleway"/>
              <a:cs typeface="Raleway"/>
              <a:sym typeface="Raleway"/>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06" name="Google Shape;406;p5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9</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Pernyataan berikut adalah pengertian dari Design Thinking kecuali…</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Design thinking adalah metodologi desain yang menyediakan pendekatan berbasis solusi untuk memecahkan masalah.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Design thinking</a:t>
            </a:r>
            <a:r>
              <a:rPr lang="en" sz="1200">
                <a:solidFill>
                  <a:schemeClr val="lt1"/>
                </a:solidFill>
                <a:latin typeface="Raleway Medium"/>
                <a:ea typeface="Raleway Medium"/>
                <a:cs typeface="Raleway Medium"/>
                <a:sym typeface="Raleway Medium"/>
              </a:rPr>
              <a:t> adalah cara berpikir baru yang revolusioner tentang cara kerja pasar - bagaimana konsumen, perusahaan atau merek, pesaing, dan lainnya berinteraksi dan menciptakan nilai.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De</a:t>
            </a:r>
            <a:r>
              <a:rPr lang="en" sz="1200">
                <a:solidFill>
                  <a:schemeClr val="lt1"/>
                </a:solidFill>
                <a:latin typeface="Raleway Medium"/>
                <a:ea typeface="Raleway Medium"/>
                <a:cs typeface="Raleway Medium"/>
                <a:sym typeface="Raleway Medium"/>
              </a:rPr>
              <a:t>sign thinking adalah istilah yang digunakan untuk mewakili serangkaian proses kognitif, strategis dan praktis dimana konsep desain dikembangkan.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Proses design thinking bersifat iteratif, fleksibel, dan berfokus pada kolaborasi antara desainer dan pengguna.</a:t>
            </a:r>
            <a:endParaRPr sz="1200">
              <a:solidFill>
                <a:schemeClr val="lt1"/>
              </a:solidFill>
              <a:latin typeface="Raleway Medium"/>
              <a:ea typeface="Raleway Medium"/>
              <a:cs typeface="Raleway Medium"/>
              <a:sym typeface="Raleway Medium"/>
            </a:endParaRPr>
          </a:p>
        </p:txBody>
      </p:sp>
      <p:sp>
        <p:nvSpPr>
          <p:cNvPr id="407" name="Google Shape;407;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13" name="Google Shape;413;p5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9</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Pernyataan berikut adalah pengertian dari Design Thinking kecuali…</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Design thinking adalah metodologi desain yang menyediakan pendekatan berbasis solusi untuk memecahkan masalah.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Design thinking adalah cara berpikir baru yang revolusioner tentang cara kerja pasar - bagaimana konsumen, perusahaan atau merek, pesaing, dan lainnya berinteraksi dan menciptakan nilai.</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Design thinking adalah istilah yang digunakan untuk mewakili serangkaian proses kognitif, strategis dan praktis dimana konsep desain dikembangkan.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Proses design thinking bersifat iteratif, fleksibel, dan berfokus pada kolaborasi antara desainer dan pengguna.</a:t>
            </a:r>
            <a:endParaRPr sz="1200">
              <a:solidFill>
                <a:srgbClr val="A667A5"/>
              </a:solidFill>
              <a:latin typeface="Raleway Medium"/>
              <a:ea typeface="Raleway Medium"/>
              <a:cs typeface="Raleway Medium"/>
              <a:sym typeface="Raleway Medium"/>
            </a:endParaRPr>
          </a:p>
        </p:txBody>
      </p:sp>
      <p:sp>
        <p:nvSpPr>
          <p:cNvPr id="414" name="Google Shape;414;p59"/>
          <p:cNvSpPr/>
          <p:nvPr/>
        </p:nvSpPr>
        <p:spPr>
          <a:xfrm>
            <a:off x="685800" y="39937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Cara berpikir baru yang revolusioner tentang cara kerja pasar - bagaimana konsumen, perusahaan atau merek, pesaing, dan lainnya berinteraksi dan menciptakan nilai adalah pengertian dari platform thinking.</a:t>
            </a:r>
            <a:endParaRPr b="1" sz="1000">
              <a:solidFill>
                <a:srgbClr val="733572"/>
              </a:solidFill>
              <a:latin typeface="Raleway"/>
              <a:ea typeface="Raleway"/>
              <a:cs typeface="Raleway"/>
              <a:sym typeface="Raleway"/>
            </a:endParaRPr>
          </a:p>
        </p:txBody>
      </p:sp>
      <p:sp>
        <p:nvSpPr>
          <p:cNvPr id="415" name="Google Shape;415;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1" name="Google Shape;421;p6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10</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Design thinking dapat membantu tim atau organisasi Anda:</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Lebih memahami kebutuhan yang belum terpenuhi dari pelanggan, klien, siswa, pengguna, dll.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Menambah risiko yang terkait dengan peluncuran ide, produk, dan layanan baru.</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Melakukan iterasi dengan lebih lama.</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22" name="Google Shape;422;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8" name="Google Shape;428;p6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10</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Design thinking dapat membantu tim atau organisasi Anda:</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Lebih memahami kebutuhan yang belum terpenuhi dari pelanggan, klien, siswa, pengguna, dll.</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Menambah risiko yang terkait dengan peluncuran ide, produk, dan layanan baru.</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Melakukan iterasi dengan lebih lama.</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29" name="Google Shape;429;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0" name="Google Shape;430;p61"/>
          <p:cNvSpPr/>
          <p:nvPr/>
        </p:nvSpPr>
        <p:spPr>
          <a:xfrm>
            <a:off x="685800" y="2926975"/>
            <a:ext cx="7772400" cy="12993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Design thinking dapat membantu tim atau organisasi Anda:</a:t>
            </a:r>
            <a:endParaRPr b="1" sz="1000">
              <a:solidFill>
                <a:srgbClr val="733572"/>
              </a:solidFill>
              <a:latin typeface="Raleway"/>
              <a:ea typeface="Raleway"/>
              <a:cs typeface="Raleway"/>
              <a:sym typeface="Raleway"/>
            </a:endParaRPr>
          </a:p>
          <a:p>
            <a:pPr indent="-120650" lvl="0" marL="171450" rtl="0" algn="l">
              <a:lnSpc>
                <a:spcPct val="115000"/>
              </a:lnSpc>
              <a:spcBef>
                <a:spcPts val="0"/>
              </a:spcBef>
              <a:spcAft>
                <a:spcPts val="0"/>
              </a:spcAft>
              <a:buClr>
                <a:srgbClr val="733572"/>
              </a:buClr>
              <a:buSzPts val="1000"/>
              <a:buFont typeface="Raleway"/>
              <a:buChar char="●"/>
            </a:pPr>
            <a:r>
              <a:rPr b="1" lang="en" sz="1000">
                <a:solidFill>
                  <a:srgbClr val="733572"/>
                </a:solidFill>
                <a:latin typeface="Raleway"/>
                <a:ea typeface="Raleway"/>
                <a:cs typeface="Raleway"/>
                <a:sym typeface="Raleway"/>
              </a:rPr>
              <a:t>Lebih memahami kebutuhan yang belum terpenuhi dari pelanggan, klien, siswa, pengguna, dll.</a:t>
            </a:r>
            <a:endParaRPr b="1" sz="1000">
              <a:solidFill>
                <a:srgbClr val="733572"/>
              </a:solidFill>
              <a:latin typeface="Raleway"/>
              <a:ea typeface="Raleway"/>
              <a:cs typeface="Raleway"/>
              <a:sym typeface="Raleway"/>
            </a:endParaRPr>
          </a:p>
          <a:p>
            <a:pPr indent="-120650" lvl="0" marL="171450" rtl="0" algn="l">
              <a:lnSpc>
                <a:spcPct val="115000"/>
              </a:lnSpc>
              <a:spcBef>
                <a:spcPts val="0"/>
              </a:spcBef>
              <a:spcAft>
                <a:spcPts val="0"/>
              </a:spcAft>
              <a:buClr>
                <a:srgbClr val="733572"/>
              </a:buClr>
              <a:buSzPts val="1000"/>
              <a:buFont typeface="Raleway"/>
              <a:buChar char="●"/>
            </a:pPr>
            <a:r>
              <a:rPr b="1" lang="en" sz="1000">
                <a:solidFill>
                  <a:srgbClr val="733572"/>
                </a:solidFill>
                <a:latin typeface="Raleway"/>
                <a:ea typeface="Raleway"/>
                <a:cs typeface="Raleway"/>
                <a:sym typeface="Raleway"/>
              </a:rPr>
              <a:t>Mengurangi risiko yang terkait dengan peluncuran ide, produk, dan layanan baru.</a:t>
            </a:r>
            <a:endParaRPr b="1" sz="1000">
              <a:solidFill>
                <a:srgbClr val="733572"/>
              </a:solidFill>
              <a:latin typeface="Raleway"/>
              <a:ea typeface="Raleway"/>
              <a:cs typeface="Raleway"/>
              <a:sym typeface="Raleway"/>
            </a:endParaRPr>
          </a:p>
          <a:p>
            <a:pPr indent="-120650" lvl="0" marL="171450" rtl="0" algn="l">
              <a:lnSpc>
                <a:spcPct val="115000"/>
              </a:lnSpc>
              <a:spcBef>
                <a:spcPts val="0"/>
              </a:spcBef>
              <a:spcAft>
                <a:spcPts val="0"/>
              </a:spcAft>
              <a:buClr>
                <a:srgbClr val="733572"/>
              </a:buClr>
              <a:buSzPts val="1000"/>
              <a:buFont typeface="Raleway"/>
              <a:buChar char="●"/>
            </a:pPr>
            <a:r>
              <a:rPr b="1" lang="en" sz="1000">
                <a:solidFill>
                  <a:srgbClr val="733572"/>
                </a:solidFill>
                <a:latin typeface="Raleway"/>
                <a:ea typeface="Raleway"/>
                <a:cs typeface="Raleway"/>
                <a:sym typeface="Raleway"/>
              </a:rPr>
              <a:t>Menghasilkan solusi yang revolusioner, bukan hanya inkremental.</a:t>
            </a:r>
            <a:endParaRPr b="1" sz="1000">
              <a:solidFill>
                <a:srgbClr val="733572"/>
              </a:solidFill>
              <a:latin typeface="Raleway"/>
              <a:ea typeface="Raleway"/>
              <a:cs typeface="Raleway"/>
              <a:sym typeface="Raleway"/>
            </a:endParaRPr>
          </a:p>
          <a:p>
            <a:pPr indent="-120650" lvl="0" marL="171450" rtl="0" algn="l">
              <a:lnSpc>
                <a:spcPct val="115000"/>
              </a:lnSpc>
              <a:spcBef>
                <a:spcPts val="0"/>
              </a:spcBef>
              <a:spcAft>
                <a:spcPts val="0"/>
              </a:spcAft>
              <a:buClr>
                <a:srgbClr val="733572"/>
              </a:buClr>
              <a:buSzPts val="1000"/>
              <a:buFont typeface="Raleway"/>
              <a:buChar char="●"/>
            </a:pPr>
            <a:r>
              <a:rPr b="1" lang="en" sz="1000">
                <a:solidFill>
                  <a:srgbClr val="733572"/>
                </a:solidFill>
                <a:latin typeface="Raleway"/>
                <a:ea typeface="Raleway"/>
                <a:cs typeface="Raleway"/>
                <a:sym typeface="Raleway"/>
              </a:rPr>
              <a:t>Belajar dan melakukan iterasi dengan lebih cepat.</a:t>
            </a:r>
            <a:endParaRPr b="1" sz="1000">
              <a:solidFill>
                <a:srgbClr val="733572"/>
              </a:solidFill>
              <a:latin typeface="Raleway"/>
              <a:ea typeface="Raleway"/>
              <a:cs typeface="Raleway"/>
              <a:sym typeface="Raleway"/>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6" name="Google Shape;436;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437" name="Google Shape;437;p62"/>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38" name="Google Shape;438;p62"/>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u="sng">
                <a:solidFill>
                  <a:schemeClr val="hlink"/>
                </a:solidFill>
                <a:latin typeface="Raleway Medium"/>
                <a:ea typeface="Raleway Medium"/>
                <a:cs typeface="Raleway Medium"/>
                <a:sym typeface="Raleway Medium"/>
                <a:hlinkClick r:id="rId4"/>
              </a:rPr>
              <a:t>Design Thinking by Interaction Design Foundation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u="sng">
                <a:solidFill>
                  <a:schemeClr val="hlink"/>
                </a:solidFill>
                <a:latin typeface="Raleway Medium"/>
                <a:ea typeface="Raleway Medium"/>
                <a:cs typeface="Raleway Medium"/>
                <a:sym typeface="Raleway Medium"/>
                <a:hlinkClick r:id="rId5"/>
              </a:rPr>
              <a:t>5 Stages in The Design Thinking Process by Interaction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hlink"/>
                </a:solidFill>
                <a:uFill>
                  <a:noFill/>
                </a:uFill>
                <a:latin typeface="Raleway Medium"/>
                <a:ea typeface="Raleway Medium"/>
                <a:cs typeface="Raleway Medium"/>
                <a:sym typeface="Raleway Medium"/>
                <a:hlinkClick r:id="rId6"/>
              </a:rPr>
              <a:t>   </a:t>
            </a:r>
            <a:r>
              <a:rPr lang="en" sz="1200">
                <a:solidFill>
                  <a:schemeClr val="hlink"/>
                </a:solidFill>
                <a:uFill>
                  <a:noFill/>
                </a:uFill>
                <a:latin typeface="Raleway Medium"/>
                <a:ea typeface="Raleway Medium"/>
                <a:cs typeface="Raleway Medium"/>
                <a:sym typeface="Raleway Medium"/>
                <a:hlinkClick r:id="rId7"/>
              </a:rPr>
              <a:t> </a:t>
            </a:r>
            <a:r>
              <a:rPr lang="en" sz="1200" u="sng">
                <a:solidFill>
                  <a:schemeClr val="hlink"/>
                </a:solidFill>
                <a:latin typeface="Raleway Medium"/>
                <a:ea typeface="Raleway Medium"/>
                <a:cs typeface="Raleway Medium"/>
                <a:sym typeface="Raleway Medium"/>
                <a:hlinkClick r:id="rId8"/>
              </a:rPr>
              <a:t>Design Foundation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u="sng">
                <a:solidFill>
                  <a:schemeClr val="hlink"/>
                </a:solidFill>
                <a:latin typeface="Raleway Medium"/>
                <a:ea typeface="Raleway Medium"/>
                <a:cs typeface="Raleway Medium"/>
                <a:sym typeface="Raleway Medium"/>
                <a:hlinkClick r:id="rId9"/>
              </a:rPr>
              <a:t>Why Design Thinking Works by Harvard Business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hlink"/>
                </a:solidFill>
                <a:uFill>
                  <a:noFill/>
                </a:uFill>
                <a:latin typeface="Raleway Medium"/>
                <a:ea typeface="Raleway Medium"/>
                <a:cs typeface="Raleway Medium"/>
                <a:sym typeface="Raleway Medium"/>
                <a:hlinkClick r:id="rId10"/>
              </a:rPr>
              <a:t>    </a:t>
            </a:r>
            <a:r>
              <a:rPr lang="en" sz="1200" u="sng">
                <a:solidFill>
                  <a:schemeClr val="hlink"/>
                </a:solidFill>
                <a:latin typeface="Raleway Medium"/>
                <a:ea typeface="Raleway Medium"/>
                <a:cs typeface="Raleway Medium"/>
                <a:sym typeface="Raleway Medium"/>
                <a:hlinkClick r:id="rId11"/>
              </a:rPr>
              <a:t>Review</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42" name="Shape 442"/>
        <p:cNvGrpSpPr/>
        <p:nvPr/>
      </p:nvGrpSpPr>
      <p:grpSpPr>
        <a:xfrm>
          <a:off x="0" y="0"/>
          <a:ext cx="0" cy="0"/>
          <a:chOff x="0" y="0"/>
          <a:chExt cx="0" cy="0"/>
        </a:xfrm>
      </p:grpSpPr>
      <p:sp>
        <p:nvSpPr>
          <p:cNvPr id="443" name="Google Shape;443;p63"/>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44" name="Google Shape;444;p63"/>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45" name="Google Shape;445;p63"/>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46" name="Google Shape;446;p63"/>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47" name="Google Shape;447;p63"/>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448" name="Google Shape;448;p63"/>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449" name="Google Shape;449;p63"/>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450" name="Google Shape;450;p63"/>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