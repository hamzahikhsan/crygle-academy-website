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aleway"/>
      <p:regular r:id="rId40"/>
      <p:bold r:id="rId41"/>
      <p:italic r:id="rId42"/>
      <p:boldItalic r:id="rId43"/>
    </p:embeddedFont>
    <p:embeddedFont>
      <p:font typeface="Proxima Nova"/>
      <p:regular r:id="rId44"/>
      <p:bold r:id="rId45"/>
      <p:italic r:id="rId46"/>
      <p:boldItalic r:id="rId47"/>
    </p:embeddedFont>
    <p:embeddedFont>
      <p:font typeface="Montserrat"/>
      <p:regular r:id="rId48"/>
      <p:bold r:id="rId49"/>
      <p:italic r:id="rId50"/>
      <p:boldItalic r:id="rId51"/>
    </p:embeddedFont>
    <p:embeddedFont>
      <p:font typeface="Montserrat Medium"/>
      <p:regular r:id="rId52"/>
      <p:bold r:id="rId53"/>
      <p:italic r:id="rId54"/>
      <p:boldItalic r:id="rId55"/>
    </p:embeddedFont>
    <p:embeddedFont>
      <p:font typeface="Lato Black"/>
      <p:bold r:id="rId56"/>
      <p:boldItalic r:id="rId57"/>
    </p:embeddedFont>
    <p:embeddedFont>
      <p:font typeface="Raleway Medium"/>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9" name="Mitha Dwianti"/>
  <p:cmAuthor clrIdx="1" id="1" initials="" lastIdx="1" name="Taopik Barkah"/>
  <p:cmAuthor clrIdx="2" id="2" initials="" lastIdx="1" name="Yulia Siti Rohm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CA5A7B-0F09-4D12-A7F3-FE7B425FF57E}">
  <a:tblStyle styleId="{B3CA5A7B-0F09-4D12-A7F3-FE7B425FF57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DB2FDA0-E3A2-4E4B-AF84-B3E56F9D4CC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aleway-regular.fntdata"/><Relationship Id="rId42" Type="http://schemas.openxmlformats.org/officeDocument/2006/relationships/font" Target="fonts/Raleway-italic.fntdata"/><Relationship Id="rId41" Type="http://schemas.openxmlformats.org/officeDocument/2006/relationships/font" Target="fonts/Raleway-bold.fntdata"/><Relationship Id="rId44" Type="http://schemas.openxmlformats.org/officeDocument/2006/relationships/font" Target="fonts/ProximaNova-regular.fntdata"/><Relationship Id="rId43" Type="http://schemas.openxmlformats.org/officeDocument/2006/relationships/font" Target="fonts/Raleway-boldItalic.fntdata"/><Relationship Id="rId46" Type="http://schemas.openxmlformats.org/officeDocument/2006/relationships/font" Target="fonts/ProximaNova-italic.fntdata"/><Relationship Id="rId45"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Montserrat-regular.fntdata"/><Relationship Id="rId47" Type="http://schemas.openxmlformats.org/officeDocument/2006/relationships/font" Target="fonts/ProximaNova-boldItalic.fntdata"/><Relationship Id="rId49"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schemas.openxmlformats.org/officeDocument/2006/relationships/font" Target="fonts/RalewayMedium-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alewayMedium-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boldItalic.fntdata"/><Relationship Id="rId50" Type="http://schemas.openxmlformats.org/officeDocument/2006/relationships/font" Target="fonts/Montserrat-italic.fntdata"/><Relationship Id="rId53" Type="http://schemas.openxmlformats.org/officeDocument/2006/relationships/font" Target="fonts/MontserratMedium-bold.fntdata"/><Relationship Id="rId52" Type="http://schemas.openxmlformats.org/officeDocument/2006/relationships/font" Target="fonts/MontserratMedium-regular.fntdata"/><Relationship Id="rId11" Type="http://schemas.openxmlformats.org/officeDocument/2006/relationships/slide" Target="slides/slide5.xml"/><Relationship Id="rId55" Type="http://schemas.openxmlformats.org/officeDocument/2006/relationships/font" Target="fonts/MontserratMedium-boldItalic.fntdata"/><Relationship Id="rId10" Type="http://schemas.openxmlformats.org/officeDocument/2006/relationships/slide" Target="slides/slide4.xml"/><Relationship Id="rId54" Type="http://schemas.openxmlformats.org/officeDocument/2006/relationships/font" Target="fonts/MontserratMedium-italic.fntdata"/><Relationship Id="rId13" Type="http://schemas.openxmlformats.org/officeDocument/2006/relationships/slide" Target="slides/slide7.xml"/><Relationship Id="rId57" Type="http://schemas.openxmlformats.org/officeDocument/2006/relationships/font" Target="fonts/LatoBlack-boldItalic.fntdata"/><Relationship Id="rId12" Type="http://schemas.openxmlformats.org/officeDocument/2006/relationships/slide" Target="slides/slide6.xml"/><Relationship Id="rId56" Type="http://schemas.openxmlformats.org/officeDocument/2006/relationships/font" Target="fonts/LatoBlack-bold.fntdata"/><Relationship Id="rId15" Type="http://schemas.openxmlformats.org/officeDocument/2006/relationships/slide" Target="slides/slide9.xml"/><Relationship Id="rId59" Type="http://schemas.openxmlformats.org/officeDocument/2006/relationships/font" Target="fonts/RalewayMedium-bold.fntdata"/><Relationship Id="rId14" Type="http://schemas.openxmlformats.org/officeDocument/2006/relationships/slide" Target="slides/slide8.xml"/><Relationship Id="rId58" Type="http://schemas.openxmlformats.org/officeDocument/2006/relationships/font" Target="fonts/RalewayMedium-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5-19T08:44:23.126">
    <p:pos x="432" y="652"/>
    <p:text>roadmap setiap sprint --&gt; MVP</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2-05-24T08:02:48.045">
    <p:pos x="6000" y="0"/>
    <p:text>untuk UI/UX +PM bisa pakai ini kah? Product knowledge (business process)
Analyzing research findings
Create right user persona &amp; user flows
HIgh fidelity design using design system 
Collaboration</p:text>
  </p:cm>
  <p:cm authorId="1" idx="1" dt="2022-05-24T04:43:58.757">
    <p:pos x="6000" y="0"/>
    <p:text>jadi urutan yang di slide ini diganti ya kak?</p:text>
  </p:cm>
  <p:cm authorId="0" idx="3" dt="2022-05-24T05:27:40.898">
    <p:pos x="6000" y="0"/>
    <p:text>iya ini masukan darikuu... more or less sama sih. cmn mengganti yg visual itu lebih ke analyzing research findings</p:text>
  </p:cm>
  <p:cm authorId="2" idx="1" dt="2022-05-24T08:02:48.045">
    <p:pos x="6000" y="0"/>
    <p:text>thankyou kak mitha ...</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2-05-19T08:48:36.173">
    <p:pos x="432" y="652"/>
    <p:text>- gambaran besar project : membuat situs web / mobile apps SecondHand yang berfungsi sebagai sarana jual - beli barang bekas
- komposisi team 
- deliverable
untuk engineer : ditambahkan fitur MVP nya apa saja</p:text>
  </p:cm>
  <p:cm authorId="0" idx="5" dt="2022-05-19T08:48:36.173">
    <p:pos x="432" y="652"/>
    <p:text>ditambah link untuk melihat komposisi team member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2-05-19T08:48:36.173">
    <p:pos x="432" y="652"/>
    <p:text>- gambaran besar project : membuat situs web / mobile apps SecondHand yang berfungsi sebagai sarana jual - beli barang bekas
- komposisi team 
- deliverable
untuk engineer : ditambahkan fitur MVP nya apa saja</p:text>
  </p:cm>
  <p:cm authorId="0" idx="7" dt="2022-05-19T08:48:36.173">
    <p:pos x="432" y="652"/>
    <p:text>ditambah link untuk melihat komposisi team member</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2-05-19T08:46:30.013">
    <p:pos x="432" y="652"/>
    <p:text>ambil gambar dari Figma Secondhand</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2-05-19T08:47:27.302">
    <p:pos x="432" y="652"/>
    <p:text>sama seperti student report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agaratechnology.com/blog/the-fundamentals-of-ux-and-ui-design/"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agaratechnology.com/blog/the-fundamentals-of-ux-and-ui-design/"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agaratechnology.com/blog/the-fundamentals-of-ux-and-ui-design/"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d6bf95e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d6bf95e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from </a:t>
            </a:r>
            <a:r>
              <a:rPr lang="en" u="sng">
                <a:solidFill>
                  <a:schemeClr val="hlink"/>
                </a:solidFill>
                <a:hlinkClick r:id="rId2"/>
              </a:rPr>
              <a:t>https://sagaratechnology.com/blog/the-fundamentals-of-ux-and-ui-design/</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2e9bd3c36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2e9bd3c36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from </a:t>
            </a:r>
            <a:r>
              <a:rPr lang="en" u="sng">
                <a:solidFill>
                  <a:schemeClr val="hlink"/>
                </a:solidFill>
                <a:hlinkClick r:id="rId2"/>
              </a:rPr>
              <a:t>https://sagaratechnology.com/blog/the-fundamentals-of-ux-and-ui-design/</a:t>
            </a:r>
            <a:r>
              <a:rPr lang="en"/>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2d6bf95ed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2d6bf95ed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ef60fe93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2ef60fe9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f2c0db2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f2c0db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2f2c0db284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2f2c0db28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2d6bf95ed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2d6bf95ed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2d6bf95ed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2d6bf95ed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2d6bf95edc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2d6bf95edc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29950375b9_1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29950375b9_1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29950375b9_1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29950375b9_1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29950375b9_1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29950375b9_1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2d6bf95ed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2d6bf95ed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2d6bf95ed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2d6bf95ed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2d6bf95edc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2d6bf95edc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2d6bf95ed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2d6bf95ed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2d6bf95e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2d6bf95e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2d6bf95edc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2d6bf95edc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2d6bf95ed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2d6bf95ed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2d6bf95edc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2d6bf95ed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2e085760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2e0857602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2d6bf95ed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2d6bf95ed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2e4366622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2e4366622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29950375b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29950375b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from </a:t>
            </a:r>
            <a:r>
              <a:rPr lang="en" u="sng">
                <a:solidFill>
                  <a:schemeClr val="hlink"/>
                </a:solidFill>
                <a:hlinkClick r:id="rId2"/>
              </a:rPr>
              <a:t>https://sagaratechnology.com/blog/the-fundamentals-of-ux-and-ui-design/</a:t>
            </a:r>
            <a:r>
              <a:rPr lang="en"/>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129950375b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129950375b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2c86a73b7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12c86a73b7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2c86a73b7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12c86a73b7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2d613860de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2d613860de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2d613860d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2d613860d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2c86a73b79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2c86a73b79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d1b84128e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d1b84128e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52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figma.com/file/dk4wRyn2ilGJ4MxzP7QZER/Flow-Final-Project?node-id=0%3A1" TargetMode="Externa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omments" Target="../comments/commen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hyperlink" Target="https://www.figma.com/file/LnwgSoGFdbKQesG0hoOU8j/SecondChance?node-id=2%3A5"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hyperlink" Target="https://www.figma.com/file/LnwgSoGFdbKQesG0hoOU8j/SecondChance?node-id=2%3A5"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https://www.figma.com/file/LnwgSoGFdbKQesG0hoOU8j/SecondChance?node-id=2%3A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comments" Target="../comments/commen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comments" Target="../comments/commen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comments" Target="../comments/commen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7" name="Shape 77"/>
        <p:cNvGrpSpPr/>
        <p:nvPr/>
      </p:nvGrpSpPr>
      <p:grpSpPr>
        <a:xfrm>
          <a:off x="0" y="0"/>
          <a:ext cx="0" cy="0"/>
          <a:chOff x="0" y="0"/>
          <a:chExt cx="0" cy="0"/>
        </a:xfrm>
      </p:grpSpPr>
      <p:sp>
        <p:nvSpPr>
          <p:cNvPr id="78" name="Google Shape;78;p15"/>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UI/UX dan PM</a:t>
            </a:r>
            <a:endParaRPr b="1" sz="2400">
              <a:solidFill>
                <a:srgbClr val="FFFFF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Final Project</a:t>
            </a:r>
            <a:endParaRPr b="1">
              <a:solidFill>
                <a:srgbClr val="FFFFFF"/>
              </a:solidFill>
              <a:latin typeface="Montserrat"/>
              <a:ea typeface="Montserrat"/>
              <a:cs typeface="Montserrat"/>
              <a:sym typeface="Montserrat"/>
            </a:endParaRPr>
          </a:p>
        </p:txBody>
      </p:sp>
      <p:cxnSp>
        <p:nvCxnSpPr>
          <p:cNvPr id="79" name="Google Shape;79;p15"/>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0" name="Google Shape;80;p15"/>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1" name="Google Shape;81;p15"/>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 name="Google Shape;87;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Introduction</a:t>
            </a:r>
            <a:endParaRPr>
              <a:latin typeface="Montserrat"/>
              <a:ea typeface="Montserrat"/>
              <a:cs typeface="Montserrat"/>
              <a:sym typeface="Montserrat"/>
            </a:endParaRPr>
          </a:p>
        </p:txBody>
      </p:sp>
      <p:sp>
        <p:nvSpPr>
          <p:cNvPr id="88" name="Google Shape;88;p16"/>
          <p:cNvSpPr txBox="1"/>
          <p:nvPr/>
        </p:nvSpPr>
        <p:spPr>
          <a:xfrm>
            <a:off x="685800" y="1036325"/>
            <a:ext cx="43434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Introduction</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Pada final project ini, ditujukan unt</a:t>
            </a:r>
            <a:r>
              <a:rPr lang="en" sz="1000">
                <a:solidFill>
                  <a:schemeClr val="dk1"/>
                </a:solidFill>
                <a:latin typeface="Montserrat Medium"/>
                <a:ea typeface="Montserrat Medium"/>
                <a:cs typeface="Montserrat Medium"/>
                <a:sym typeface="Montserrat Medium"/>
              </a:rPr>
              <a:t>uk </a:t>
            </a:r>
            <a:r>
              <a:rPr b="1" lang="en" sz="1000">
                <a:solidFill>
                  <a:schemeClr val="dk1"/>
                </a:solidFill>
                <a:latin typeface="Montserrat"/>
                <a:ea typeface="Montserrat"/>
                <a:cs typeface="Montserrat"/>
                <a:sym typeface="Montserrat"/>
              </a:rPr>
              <a:t>mengasah kemampuan UI/UX kita secara keseluruhan, mengaplikasikan apa yang telah dibahas sejak minggu pertama.</a:t>
            </a:r>
            <a:r>
              <a:rPr lang="en" sz="1000">
                <a:solidFill>
                  <a:schemeClr val="dk1"/>
                </a:solidFill>
                <a:latin typeface="Montserrat Medium"/>
                <a:ea typeface="Montserrat Medium"/>
                <a:cs typeface="Montserrat Medium"/>
                <a:sym typeface="Montserrat Medium"/>
              </a:rPr>
              <a:t>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Medium"/>
                <a:ea typeface="Montserrat Medium"/>
                <a:cs typeface="Montserrat Medium"/>
                <a:sym typeface="Montserrat Medium"/>
              </a:rPr>
              <a:t>Kamu memiliki waktu </a:t>
            </a:r>
            <a:r>
              <a:rPr b="1" lang="en" sz="1000">
                <a:solidFill>
                  <a:schemeClr val="dk1"/>
                </a:solidFill>
                <a:latin typeface="Montserrat"/>
                <a:ea typeface="Montserrat"/>
                <a:cs typeface="Montserrat"/>
                <a:sym typeface="Montserrat"/>
              </a:rPr>
              <a:t>3 sprint (6 minggu)</a:t>
            </a:r>
            <a:r>
              <a:rPr lang="en" sz="1000">
                <a:solidFill>
                  <a:schemeClr val="dk1"/>
                </a:solidFill>
                <a:latin typeface="Montserrat Medium"/>
                <a:ea typeface="Montserrat Medium"/>
                <a:cs typeface="Montserrat Medium"/>
                <a:sym typeface="Montserrat Medium"/>
              </a:rPr>
              <a:t> untuk membuat sebuah produk digital - baik aplikasi atau situs web - berdasarkan visi, penelitian, temuan, dan proses UX/UI sesuai dengan yang telah dipelajari.</a:t>
            </a:r>
            <a:endParaRPr b="1" sz="1000">
              <a:solidFill>
                <a:schemeClr val="dk1"/>
              </a:solidFill>
              <a:latin typeface="Montserrat"/>
              <a:ea typeface="Montserrat"/>
              <a:cs typeface="Montserrat"/>
              <a:sym typeface="Montserrat"/>
            </a:endParaRPr>
          </a:p>
        </p:txBody>
      </p:sp>
      <p:pic>
        <p:nvPicPr>
          <p:cNvPr id="89" name="Google Shape;89;p16"/>
          <p:cNvPicPr preferRelativeResize="0"/>
          <p:nvPr/>
        </p:nvPicPr>
        <p:blipFill>
          <a:blip r:embed="rId3">
            <a:alphaModFix/>
          </a:blip>
          <a:stretch>
            <a:fillRect/>
          </a:stretch>
        </p:blipFill>
        <p:spPr>
          <a:xfrm>
            <a:off x="5306950" y="897724"/>
            <a:ext cx="3477601" cy="34776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nvSpPr>
        <p:spPr>
          <a:xfrm>
            <a:off x="685800" y="1036325"/>
            <a:ext cx="4343400" cy="3200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Dalam mengerjakan project ini kamu akan berkolaborasi dengan sesama </a:t>
            </a:r>
            <a:r>
              <a:rPr lang="en" sz="1000">
                <a:solidFill>
                  <a:schemeClr val="dk1"/>
                </a:solidFill>
                <a:latin typeface="Montserrat Medium"/>
                <a:ea typeface="Montserrat Medium"/>
                <a:cs typeface="Montserrat Medium"/>
                <a:sym typeface="Montserrat Medium"/>
              </a:rPr>
              <a:t>member</a:t>
            </a:r>
            <a:r>
              <a:rPr lang="en" sz="1000">
                <a:solidFill>
                  <a:schemeClr val="dk1"/>
                </a:solidFill>
                <a:latin typeface="Montserrat Medium"/>
                <a:ea typeface="Montserrat Medium"/>
                <a:cs typeface="Montserrat Medium"/>
                <a:sym typeface="Montserrat Medium"/>
              </a:rPr>
              <a:t> tim UI/UX dan PM. </a:t>
            </a:r>
            <a:r>
              <a:rPr lang="en" sz="1000">
                <a:solidFill>
                  <a:schemeClr val="dk1"/>
                </a:solidFill>
                <a:latin typeface="Montserrat Medium"/>
                <a:ea typeface="Montserrat Medium"/>
                <a:cs typeface="Montserrat Medium"/>
                <a:sym typeface="Montserrat Medium"/>
              </a:rPr>
              <a:t>Komposisi satu tim yaitu </a:t>
            </a:r>
            <a:r>
              <a:rPr b="1" lang="en" sz="1000">
                <a:solidFill>
                  <a:schemeClr val="dk1"/>
                </a:solidFill>
                <a:latin typeface="Montserrat"/>
                <a:ea typeface="Montserrat"/>
                <a:cs typeface="Montserrat"/>
                <a:sym typeface="Montserrat"/>
              </a:rPr>
              <a:t>UI/UX berjumlah 6 orang dan PM berjumlah 4 orang.</a:t>
            </a:r>
            <a:endParaRPr b="1"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Dalam pelaksanaan final project ini, kamu akan punya pengalaman baru juga lho. Selain akan mengerjakan dalam kelompok, kamu juga akan </a:t>
            </a:r>
            <a:r>
              <a:rPr b="1" lang="en" sz="1000">
                <a:solidFill>
                  <a:schemeClr val="dk1"/>
                </a:solidFill>
                <a:latin typeface="Montserrat"/>
                <a:ea typeface="Montserrat"/>
                <a:cs typeface="Montserrat"/>
                <a:sym typeface="Montserrat"/>
              </a:rPr>
              <a:t>mengimplementasikan Metode Scrum</a:t>
            </a:r>
            <a:r>
              <a:rPr lang="en" sz="1000">
                <a:solidFill>
                  <a:schemeClr val="dk1"/>
                </a:solidFill>
                <a:latin typeface="Montserrat Medium"/>
                <a:ea typeface="Montserrat Medium"/>
                <a:cs typeface="Montserrat Medium"/>
                <a:sym typeface="Montserrat Medium"/>
              </a:rPr>
              <a:t> yang sebelumnya sudah kamu pelajari.</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Tujuan terpenting dari proyek ini adalah </a:t>
            </a:r>
            <a:r>
              <a:rPr b="1" lang="en" sz="1000">
                <a:solidFill>
                  <a:schemeClr val="dk1"/>
                </a:solidFill>
                <a:latin typeface="Montserrat"/>
                <a:ea typeface="Montserrat"/>
                <a:cs typeface="Montserrat"/>
                <a:sym typeface="Montserrat"/>
              </a:rPr>
              <a:t>menikmati proses pembuatan dan pembelajaran yang nantinya akan kamu dapatkan bersama kelompok selama final project ini berjalan.</a:t>
            </a:r>
            <a:r>
              <a:rPr lang="en" sz="1000">
                <a:solidFill>
                  <a:schemeClr val="dk1"/>
                </a:solidFill>
                <a:latin typeface="Montserrat Medium"/>
                <a:ea typeface="Montserrat Medium"/>
                <a:cs typeface="Montserrat Medium"/>
                <a:sym typeface="Montserrat Medium"/>
              </a:rPr>
              <a:t> Jadi kalau ada kesulitan, jangan ragu untuk meminta bantuan kepada teman satu tim, ataupun kepada facil pendampingmu ya!</a:t>
            </a:r>
            <a:endParaRPr sz="1000">
              <a:solidFill>
                <a:schemeClr val="dk1"/>
              </a:solidFill>
              <a:latin typeface="Montserrat Medium"/>
              <a:ea typeface="Montserrat Medium"/>
              <a:cs typeface="Montserrat Medium"/>
              <a:sym typeface="Montserrat Medium"/>
            </a:endParaRPr>
          </a:p>
        </p:txBody>
      </p:sp>
      <p:sp>
        <p:nvSpPr>
          <p:cNvPr id="95" name="Google Shape;95;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Introduction</a:t>
            </a:r>
            <a:endParaRPr>
              <a:latin typeface="Montserrat"/>
              <a:ea typeface="Montserrat"/>
              <a:cs typeface="Montserrat"/>
              <a:sym typeface="Montserrat"/>
            </a:endParaRPr>
          </a:p>
        </p:txBody>
      </p:sp>
      <p:pic>
        <p:nvPicPr>
          <p:cNvPr id="97" name="Google Shape;97;p17"/>
          <p:cNvPicPr preferRelativeResize="0"/>
          <p:nvPr/>
        </p:nvPicPr>
        <p:blipFill>
          <a:blip r:embed="rId3">
            <a:alphaModFix/>
          </a:blip>
          <a:stretch>
            <a:fillRect/>
          </a:stretch>
        </p:blipFill>
        <p:spPr>
          <a:xfrm>
            <a:off x="5306950" y="897724"/>
            <a:ext cx="3477601" cy="34776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04" name="Google Shape;104;p18"/>
          <p:cNvSpPr txBox="1"/>
          <p:nvPr/>
        </p:nvSpPr>
        <p:spPr>
          <a:xfrm>
            <a:off x="512550" y="1036350"/>
            <a:ext cx="4009800" cy="367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Gambaran umum Final Project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Kamu </a:t>
            </a:r>
            <a:r>
              <a:rPr lang="en" sz="1000">
                <a:solidFill>
                  <a:schemeClr val="dk1"/>
                </a:solidFill>
                <a:latin typeface="Montserrat Medium"/>
                <a:ea typeface="Montserrat Medium"/>
                <a:cs typeface="Montserrat Medium"/>
                <a:sym typeface="Montserrat Medium"/>
              </a:rPr>
              <a:t>perlu mengidentifikasi masalah yang menurut kamu sendiri sedang menghadapinya dari waktu ke waktu kemudian membuat sebuah desain aplikasi mobile ataupun website yang mampu memecahkan berbagai masalah di sekitar.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Desain aplikasi merupakan solusi digital untuk permasalahan yang kamu temukan di lingkungan sekitarmu. Fitur dan fungsi juga dibebaskan dan tentunya disesuaikan dengan permasalahan yang kamu angkat.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1000"/>
              </a:spcAft>
              <a:buNone/>
            </a:pPr>
            <a:r>
              <a:t/>
            </a:r>
            <a:endParaRPr sz="1000">
              <a:solidFill>
                <a:schemeClr val="dk2"/>
              </a:solidFill>
              <a:latin typeface="Montserrat Medium"/>
              <a:ea typeface="Montserrat Medium"/>
              <a:cs typeface="Montserrat Medium"/>
              <a:sym typeface="Montserrat Medium"/>
            </a:endParaRPr>
          </a:p>
        </p:txBody>
      </p:sp>
      <p:pic>
        <p:nvPicPr>
          <p:cNvPr id="105" name="Google Shape;105;p18"/>
          <p:cNvPicPr preferRelativeResize="0"/>
          <p:nvPr/>
        </p:nvPicPr>
        <p:blipFill>
          <a:blip r:embed="rId3">
            <a:alphaModFix/>
          </a:blip>
          <a:stretch>
            <a:fillRect/>
          </a:stretch>
        </p:blipFill>
        <p:spPr>
          <a:xfrm>
            <a:off x="4674925" y="1421425"/>
            <a:ext cx="4255775" cy="29012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12" name="Google Shape;112;p19"/>
          <p:cNvSpPr txBox="1"/>
          <p:nvPr/>
        </p:nvSpPr>
        <p:spPr>
          <a:xfrm>
            <a:off x="637700" y="1537600"/>
            <a:ext cx="3935100" cy="25599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Untuk memastikan desain kamu solutif, ada baiknya menentukan profil pengguna yang akan dan seharusnya menggunakan produk kamu.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Profil pengguna tidak dibatasi berdasarkan permasalahan yang diangkat olehmu.</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1000"/>
              </a:spcAft>
              <a:buNone/>
            </a:pPr>
            <a:r>
              <a:t/>
            </a:r>
            <a:endParaRPr sz="1000">
              <a:solidFill>
                <a:schemeClr val="dk2"/>
              </a:solidFill>
              <a:latin typeface="Montserrat Medium"/>
              <a:ea typeface="Montserrat Medium"/>
              <a:cs typeface="Montserrat Medium"/>
              <a:sym typeface="Montserrat Medium"/>
            </a:endParaRPr>
          </a:p>
        </p:txBody>
      </p:sp>
      <p:pic>
        <p:nvPicPr>
          <p:cNvPr id="113" name="Google Shape;113;p19"/>
          <p:cNvPicPr preferRelativeResize="0"/>
          <p:nvPr/>
        </p:nvPicPr>
        <p:blipFill>
          <a:blip r:embed="rId3">
            <a:alphaModFix/>
          </a:blip>
          <a:stretch>
            <a:fillRect/>
          </a:stretch>
        </p:blipFill>
        <p:spPr>
          <a:xfrm>
            <a:off x="4762225" y="1228024"/>
            <a:ext cx="3763274" cy="3454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20" name="Google Shape;120;p20"/>
          <p:cNvSpPr txBox="1"/>
          <p:nvPr/>
        </p:nvSpPr>
        <p:spPr>
          <a:xfrm>
            <a:off x="637700" y="1537600"/>
            <a:ext cx="3935100" cy="25599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Supaya proses desain kamu mantap, sebaiknya perlu juga untuk mencari kompetitor atau aplikasi sejenis serta menemukan kelebihan dan kekurangan dari aplikasi tersebut.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1000"/>
              </a:spcBef>
              <a:spcAft>
                <a:spcPts val="1000"/>
              </a:spcAft>
              <a:buNone/>
            </a:pPr>
            <a:r>
              <a:rPr lang="en" sz="1000">
                <a:solidFill>
                  <a:schemeClr val="dk1"/>
                </a:solidFill>
                <a:latin typeface="Montserrat Medium"/>
                <a:ea typeface="Montserrat Medium"/>
                <a:cs typeface="Montserrat Medium"/>
                <a:sym typeface="Montserrat Medium"/>
              </a:rPr>
              <a:t>Kamu juga diperbolehkan untuk membuat logo sendiri, dengan catatan pastikan tidak melanggar hak cipta. </a:t>
            </a:r>
            <a:endParaRPr sz="1000">
              <a:solidFill>
                <a:schemeClr val="dk2"/>
              </a:solidFill>
              <a:latin typeface="Montserrat Medium"/>
              <a:ea typeface="Montserrat Medium"/>
              <a:cs typeface="Montserrat Medium"/>
              <a:sym typeface="Montserrat Medium"/>
            </a:endParaRPr>
          </a:p>
        </p:txBody>
      </p:sp>
      <p:pic>
        <p:nvPicPr>
          <p:cNvPr id="121" name="Google Shape;121;p20"/>
          <p:cNvPicPr preferRelativeResize="0"/>
          <p:nvPr/>
        </p:nvPicPr>
        <p:blipFill>
          <a:blip r:embed="rId3">
            <a:alphaModFix/>
          </a:blip>
          <a:stretch>
            <a:fillRect/>
          </a:stretch>
        </p:blipFill>
        <p:spPr>
          <a:xfrm>
            <a:off x="4762225" y="1228024"/>
            <a:ext cx="3763274" cy="34542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 name="Google Shape;12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Description</a:t>
            </a:r>
            <a:endParaRPr/>
          </a:p>
        </p:txBody>
      </p:sp>
      <p:sp>
        <p:nvSpPr>
          <p:cNvPr id="128" name="Google Shape;128;p21"/>
          <p:cNvSpPr txBox="1"/>
          <p:nvPr/>
        </p:nvSpPr>
        <p:spPr>
          <a:xfrm>
            <a:off x="637700" y="1537600"/>
            <a:ext cx="3935100" cy="25599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Hal ini juga berlaku untuk font, icon dan vektor yang akan kamu gunakan, pastikan tidak melanggar hak cipta dan lisensi agar tidak kena copyright.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1000">
              <a:solidFill>
                <a:schemeClr val="dk2"/>
              </a:solidFill>
              <a:latin typeface="Montserrat Medium"/>
              <a:ea typeface="Montserrat Medium"/>
              <a:cs typeface="Montserrat Medium"/>
              <a:sym typeface="Montserrat Medium"/>
            </a:endParaRPr>
          </a:p>
        </p:txBody>
      </p:sp>
      <p:pic>
        <p:nvPicPr>
          <p:cNvPr id="129" name="Google Shape;129;p21"/>
          <p:cNvPicPr preferRelativeResize="0"/>
          <p:nvPr/>
        </p:nvPicPr>
        <p:blipFill>
          <a:blip r:embed="rId3">
            <a:alphaModFix/>
          </a:blip>
          <a:stretch>
            <a:fillRect/>
          </a:stretch>
        </p:blipFill>
        <p:spPr>
          <a:xfrm>
            <a:off x="4762225" y="1228024"/>
            <a:ext cx="3763274" cy="34542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Theme </a:t>
            </a:r>
            <a:endParaRPr/>
          </a:p>
        </p:txBody>
      </p:sp>
      <p:sp>
        <p:nvSpPr>
          <p:cNvPr id="136" name="Google Shape;136;p22"/>
          <p:cNvSpPr txBox="1"/>
          <p:nvPr/>
        </p:nvSpPr>
        <p:spPr>
          <a:xfrm>
            <a:off x="487625" y="1250950"/>
            <a:ext cx="7676400" cy="327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solidFill>
                  <a:srgbClr val="743673"/>
                </a:solidFill>
                <a:highlight>
                  <a:srgbClr val="FFFFFF"/>
                </a:highlight>
                <a:latin typeface="Montserrat"/>
                <a:ea typeface="Montserrat"/>
                <a:cs typeface="Montserrat"/>
                <a:sym typeface="Montserrat"/>
              </a:rPr>
              <a:t>Tema :</a:t>
            </a:r>
            <a:r>
              <a:rPr b="1" lang="en" sz="1500">
                <a:solidFill>
                  <a:srgbClr val="000000"/>
                </a:solidFill>
                <a:latin typeface="Montserrat"/>
                <a:ea typeface="Montserrat"/>
                <a:cs typeface="Montserrat"/>
                <a:sym typeface="Montserrat"/>
              </a:rPr>
              <a:t> </a:t>
            </a:r>
            <a:endParaRPr b="1" sz="1500">
              <a:solidFill>
                <a:srgbClr val="000000"/>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rgbClr val="000000"/>
                </a:solidFill>
                <a:latin typeface="Montserrat"/>
                <a:ea typeface="Montserrat"/>
                <a:cs typeface="Montserrat"/>
                <a:sym typeface="Montserrat"/>
              </a:rPr>
              <a:t>E-Commerce Platform </a:t>
            </a:r>
            <a:endParaRPr sz="1000">
              <a:solidFill>
                <a:srgbClr val="000000"/>
              </a:solidFill>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1100"/>
              <a:buFont typeface="Arial"/>
              <a:buNone/>
            </a:pPr>
            <a:r>
              <a:t/>
            </a:r>
            <a:endParaRPr b="1" sz="1600">
              <a:solidFill>
                <a:srgbClr val="743673"/>
              </a:solidFill>
              <a:highlight>
                <a:srgbClr val="FFFFFF"/>
              </a:highlight>
              <a:latin typeface="Montserrat"/>
              <a:ea typeface="Montserrat"/>
              <a:cs typeface="Montserrat"/>
              <a:sym typeface="Montserrat"/>
            </a:endParaRPr>
          </a:p>
          <a:p>
            <a:pPr indent="0" lvl="0" marL="0" rtl="0" algn="l">
              <a:lnSpc>
                <a:spcPct val="115000"/>
              </a:lnSpc>
              <a:spcBef>
                <a:spcPts val="0"/>
              </a:spcBef>
              <a:spcAft>
                <a:spcPts val="0"/>
              </a:spcAft>
              <a:buClr>
                <a:srgbClr val="000000"/>
              </a:buClr>
              <a:buSzPts val="1100"/>
              <a:buFont typeface="Arial"/>
              <a:buNone/>
            </a:pPr>
            <a:r>
              <a:rPr b="1" lang="en" sz="1600">
                <a:solidFill>
                  <a:srgbClr val="743673"/>
                </a:solidFill>
                <a:highlight>
                  <a:srgbClr val="FFFFFF"/>
                </a:highlight>
                <a:latin typeface="Montserrat"/>
                <a:ea typeface="Montserrat"/>
                <a:cs typeface="Montserrat"/>
                <a:sym typeface="Montserrat"/>
              </a:rPr>
              <a:t>Nama Aplikasi :</a:t>
            </a:r>
            <a:r>
              <a:rPr b="1" lang="en" sz="1500">
                <a:solidFill>
                  <a:srgbClr val="000000"/>
                </a:solidFill>
                <a:latin typeface="Montserrat"/>
                <a:ea typeface="Montserrat"/>
                <a:cs typeface="Montserrat"/>
                <a:sym typeface="Montserrat"/>
              </a:rPr>
              <a:t> </a:t>
            </a:r>
            <a:endParaRPr b="1" sz="1500">
              <a:solidFill>
                <a:srgbClr val="000000"/>
              </a:solidFill>
              <a:latin typeface="Montserrat"/>
              <a:ea typeface="Montserrat"/>
              <a:cs typeface="Montserrat"/>
              <a:sym typeface="Montserrat"/>
            </a:endParaRPr>
          </a:p>
          <a:p>
            <a:pPr indent="0" lvl="0" marL="0" rtl="0" algn="just">
              <a:lnSpc>
                <a:spcPct val="115000"/>
              </a:lnSpc>
              <a:spcBef>
                <a:spcPts val="0"/>
              </a:spcBef>
              <a:spcAft>
                <a:spcPts val="0"/>
              </a:spcAft>
              <a:buClr>
                <a:srgbClr val="000000"/>
              </a:buClr>
              <a:buSzPts val="1100"/>
              <a:buFont typeface="Arial"/>
              <a:buNone/>
            </a:pPr>
            <a:r>
              <a:rPr lang="en" sz="1000">
                <a:solidFill>
                  <a:srgbClr val="000000"/>
                </a:solidFill>
                <a:latin typeface="Montserrat"/>
                <a:ea typeface="Montserrat"/>
                <a:cs typeface="Montserrat"/>
                <a:sym typeface="Montserrat"/>
              </a:rPr>
              <a:t>SecondHand</a:t>
            </a:r>
            <a:endParaRPr b="1" sz="1600">
              <a:solidFill>
                <a:srgbClr val="743673"/>
              </a:solidFill>
              <a:highlight>
                <a:srgbClr val="FFFFFF"/>
              </a:highlight>
              <a:latin typeface="Montserrat"/>
              <a:ea typeface="Montserrat"/>
              <a:cs typeface="Montserrat"/>
              <a:sym typeface="Montserrat"/>
            </a:endParaRPr>
          </a:p>
          <a:p>
            <a:pPr indent="0" lvl="0" marL="0" rtl="0" algn="l">
              <a:lnSpc>
                <a:spcPct val="115000"/>
              </a:lnSpc>
              <a:spcBef>
                <a:spcPts val="1600"/>
              </a:spcBef>
              <a:spcAft>
                <a:spcPts val="0"/>
              </a:spcAft>
              <a:buClr>
                <a:srgbClr val="000000"/>
              </a:buClr>
              <a:buSzPts val="1100"/>
              <a:buFont typeface="Arial"/>
              <a:buNone/>
            </a:pPr>
            <a:r>
              <a:rPr b="1" lang="en" sz="1600">
                <a:solidFill>
                  <a:srgbClr val="743673"/>
                </a:solidFill>
                <a:highlight>
                  <a:srgbClr val="FFFFFF"/>
                </a:highlight>
                <a:latin typeface="Montserrat"/>
                <a:ea typeface="Montserrat"/>
                <a:cs typeface="Montserrat"/>
                <a:sym typeface="Montserrat"/>
              </a:rPr>
              <a:t>Deskripsi :</a:t>
            </a:r>
            <a:endParaRPr sz="1100">
              <a:solidFill>
                <a:srgbClr val="000000"/>
              </a:solidFill>
              <a:latin typeface="Montserrat"/>
              <a:ea typeface="Montserrat"/>
              <a:cs typeface="Montserrat"/>
              <a:sym typeface="Montserrat"/>
            </a:endParaRPr>
          </a:p>
          <a:p>
            <a:pPr indent="0" lvl="0" marL="0" rtl="0" algn="just">
              <a:lnSpc>
                <a:spcPct val="115000"/>
              </a:lnSpc>
              <a:spcBef>
                <a:spcPts val="0"/>
              </a:spcBef>
              <a:spcAft>
                <a:spcPts val="1000"/>
              </a:spcAft>
              <a:buClr>
                <a:srgbClr val="000000"/>
              </a:buClr>
              <a:buSzPts val="1100"/>
              <a:buFont typeface="Arial"/>
              <a:buNone/>
            </a:pPr>
            <a:r>
              <a:rPr lang="en" sz="1000">
                <a:solidFill>
                  <a:srgbClr val="000000"/>
                </a:solidFill>
                <a:latin typeface="Montserrat"/>
                <a:ea typeface="Montserrat"/>
                <a:cs typeface="Montserrat"/>
                <a:sym typeface="Montserrat"/>
              </a:rPr>
              <a:t>Platform ini merupakan tempat jual-beli barang secara online, khususnya barang bekas. Platform ini membuka dan menyediakan berbagai jenis kategori kebutuhan. User yang mendaftarkan diri pada aplikasi ini dapat berperan sebagai seller dan buyer dengan menggunakan 1 (satu) akun yang sama. Platform ini akan mempertemukan seller dan buyer untuk dapat melakukan negosiasi barang dan melakukan transaksi langsung di luar platform.</a:t>
            </a:r>
            <a:r>
              <a:rPr lang="en" sz="1000">
                <a:solidFill>
                  <a:srgbClr val="000000"/>
                </a:solidFill>
                <a:latin typeface="Montserrat"/>
                <a:ea typeface="Montserrat"/>
                <a:cs typeface="Montserrat"/>
                <a:sym typeface="Montserrat"/>
              </a:rPr>
              <a:t> </a:t>
            </a:r>
            <a:endParaRPr sz="1100">
              <a:solidFill>
                <a:srgbClr val="000000"/>
              </a:solidFill>
              <a:latin typeface="Muli"/>
              <a:ea typeface="Muli"/>
              <a:cs typeface="Muli"/>
              <a:sym typeface="Mul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Flow</a:t>
            </a:r>
            <a:endParaRPr/>
          </a:p>
        </p:txBody>
      </p:sp>
      <p:sp>
        <p:nvSpPr>
          <p:cNvPr id="143" name="Google Shape;143;p23"/>
          <p:cNvSpPr txBox="1"/>
          <p:nvPr/>
        </p:nvSpPr>
        <p:spPr>
          <a:xfrm>
            <a:off x="1172550" y="1250950"/>
            <a:ext cx="6515700" cy="789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Flow Aplikasi</a:t>
            </a:r>
            <a:r>
              <a:rPr b="1" lang="en" sz="1500">
                <a:solidFill>
                  <a:srgbClr val="000000"/>
                </a:solidFill>
                <a:latin typeface="Montserrat"/>
                <a:ea typeface="Montserrat"/>
                <a:cs typeface="Montserrat"/>
                <a:sym typeface="Montserrat"/>
              </a:rPr>
              <a:t> </a:t>
            </a:r>
            <a:endParaRPr b="1" sz="1500">
              <a:solidFill>
                <a:srgbClr val="000000"/>
              </a:solidFill>
              <a:latin typeface="Montserrat"/>
              <a:ea typeface="Montserrat"/>
              <a:cs typeface="Montserrat"/>
              <a:sym typeface="Montserrat"/>
            </a:endParaRPr>
          </a:p>
          <a:p>
            <a:pPr indent="0" lvl="0" marL="0" rtl="0" algn="ctr">
              <a:lnSpc>
                <a:spcPct val="115000"/>
              </a:lnSpc>
              <a:spcBef>
                <a:spcPts val="0"/>
              </a:spcBef>
              <a:spcAft>
                <a:spcPts val="0"/>
              </a:spcAft>
              <a:buClr>
                <a:srgbClr val="000000"/>
              </a:buClr>
              <a:buSzPts val="1100"/>
              <a:buFont typeface="Arial"/>
              <a:buNone/>
            </a:pPr>
            <a:r>
              <a:rPr lang="en" sz="1000">
                <a:latin typeface="Montserrat"/>
                <a:ea typeface="Montserrat"/>
                <a:cs typeface="Montserrat"/>
                <a:sym typeface="Montserrat"/>
              </a:rPr>
              <a:t>Berikut ini alur aplikasi final project.</a:t>
            </a:r>
            <a:endParaRPr sz="1000">
              <a:latin typeface="Montserrat"/>
              <a:ea typeface="Montserrat"/>
              <a:cs typeface="Montserrat"/>
              <a:sym typeface="Montserrat"/>
            </a:endParaRPr>
          </a:p>
          <a:p>
            <a:pPr indent="0" lvl="0" marL="0" rtl="0" algn="ctr">
              <a:lnSpc>
                <a:spcPct val="115000"/>
              </a:lnSpc>
              <a:spcBef>
                <a:spcPts val="0"/>
              </a:spcBef>
              <a:spcAft>
                <a:spcPts val="0"/>
              </a:spcAft>
              <a:buClr>
                <a:srgbClr val="000000"/>
              </a:buClr>
              <a:buSzPts val="1100"/>
              <a:buFont typeface="Arial"/>
              <a:buNone/>
            </a:pPr>
            <a:r>
              <a:t/>
            </a:r>
            <a:endParaRPr sz="1000">
              <a:latin typeface="Montserrat"/>
              <a:ea typeface="Montserrat"/>
              <a:cs typeface="Montserrat"/>
              <a:sym typeface="Montserrat"/>
            </a:endParaRPr>
          </a:p>
        </p:txBody>
      </p:sp>
      <p:sp>
        <p:nvSpPr>
          <p:cNvPr id="144" name="Google Shape;144;p23"/>
          <p:cNvSpPr txBox="1"/>
          <p:nvPr/>
        </p:nvSpPr>
        <p:spPr>
          <a:xfrm>
            <a:off x="3071988" y="4052625"/>
            <a:ext cx="30000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000"/>
              </a:spcBef>
              <a:spcAft>
                <a:spcPts val="0"/>
              </a:spcAft>
              <a:buNone/>
            </a:pPr>
            <a:r>
              <a:rPr b="1" lang="en" sz="1000" u="sng">
                <a:solidFill>
                  <a:srgbClr val="0097A7"/>
                </a:solidFill>
                <a:latin typeface="Montserrat"/>
                <a:ea typeface="Montserrat"/>
                <a:cs typeface="Montserrat"/>
                <a:sym typeface="Montserrat"/>
                <a:hlinkClick r:id="rId3">
                  <a:extLst>
                    <a:ext uri="{A12FA001-AC4F-418D-AE19-62706E023703}">
                      <ahyp:hlinkClr val="tx"/>
                    </a:ext>
                  </a:extLst>
                </a:hlinkClick>
              </a:rPr>
              <a:t>Detil Flow Aplikasi, Klik Disini!</a:t>
            </a:r>
            <a:endParaRPr b="1"/>
          </a:p>
        </p:txBody>
      </p:sp>
      <p:pic>
        <p:nvPicPr>
          <p:cNvPr id="145" name="Google Shape;145;p23"/>
          <p:cNvPicPr preferRelativeResize="0"/>
          <p:nvPr/>
        </p:nvPicPr>
        <p:blipFill rotWithShape="1">
          <a:blip r:embed="rId4">
            <a:alphaModFix/>
          </a:blip>
          <a:srcRect b="26531" l="0" r="1068" t="48690"/>
          <a:stretch/>
        </p:blipFill>
        <p:spPr>
          <a:xfrm>
            <a:off x="92200" y="2215575"/>
            <a:ext cx="8971024" cy="1263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Roadmaps</a:t>
            </a:r>
            <a:endParaRPr/>
          </a:p>
        </p:txBody>
      </p:sp>
      <p:grpSp>
        <p:nvGrpSpPr>
          <p:cNvPr id="151" name="Google Shape;151;p24"/>
          <p:cNvGrpSpPr/>
          <p:nvPr/>
        </p:nvGrpSpPr>
        <p:grpSpPr>
          <a:xfrm>
            <a:off x="228600" y="1036325"/>
            <a:ext cx="3736470" cy="3754500"/>
            <a:chOff x="685800" y="1036325"/>
            <a:chExt cx="3736470" cy="3754500"/>
          </a:xfrm>
        </p:grpSpPr>
        <p:sp>
          <p:nvSpPr>
            <p:cNvPr id="152" name="Google Shape;152;p24"/>
            <p:cNvSpPr/>
            <p:nvPr/>
          </p:nvSpPr>
          <p:spPr>
            <a:xfrm>
              <a:off x="3183451"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4"/>
            <p:cNvSpPr/>
            <p:nvPr/>
          </p:nvSpPr>
          <p:spPr>
            <a:xfrm flipH="1" rot="10800000">
              <a:off x="3183445"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24"/>
            <p:cNvSpPr txBox="1"/>
            <p:nvPr/>
          </p:nvSpPr>
          <p:spPr>
            <a:xfrm>
              <a:off x="3183428" y="1189415"/>
              <a:ext cx="7263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08</a:t>
              </a:r>
              <a:endParaRPr b="1" i="0" sz="2000" u="none" cap="none" strike="noStrike">
                <a:solidFill>
                  <a:srgbClr val="9225A5"/>
                </a:solidFill>
                <a:latin typeface="Montserrat"/>
                <a:ea typeface="Montserrat"/>
                <a:cs typeface="Montserrat"/>
                <a:sym typeface="Montserrat"/>
              </a:endParaRPr>
            </a:p>
          </p:txBody>
        </p:sp>
        <p:sp>
          <p:nvSpPr>
            <p:cNvPr id="155" name="Google Shape;155;p24"/>
            <p:cNvSpPr txBox="1"/>
            <p:nvPr/>
          </p:nvSpPr>
          <p:spPr>
            <a:xfrm>
              <a:off x="318345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cxnSp>
          <p:nvCxnSpPr>
            <p:cNvPr id="156" name="Google Shape;156;p24"/>
            <p:cNvCxnSpPr/>
            <p:nvPr/>
          </p:nvCxnSpPr>
          <p:spPr>
            <a:xfrm rot="10800000">
              <a:off x="3494622"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57" name="Google Shape;157;p24"/>
            <p:cNvCxnSpPr/>
            <p:nvPr/>
          </p:nvCxnSpPr>
          <p:spPr>
            <a:xfrm rot="10800000">
              <a:off x="3804104"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58" name="Google Shape;158;p24"/>
            <p:cNvCxnSpPr/>
            <p:nvPr/>
          </p:nvCxnSpPr>
          <p:spPr>
            <a:xfrm rot="10800000">
              <a:off x="4113586" y="2415591"/>
              <a:ext cx="0" cy="2370300"/>
            </a:xfrm>
            <a:prstGeom prst="straightConnector1">
              <a:avLst/>
            </a:prstGeom>
            <a:noFill/>
            <a:ln cap="flat" cmpd="sng" w="9525">
              <a:solidFill>
                <a:srgbClr val="9225A5"/>
              </a:solidFill>
              <a:prstDash val="dot"/>
              <a:round/>
              <a:headEnd len="sm" w="sm" type="none"/>
              <a:tailEnd len="sm" w="sm" type="none"/>
            </a:ln>
          </p:spPr>
        </p:cxnSp>
        <p:sp>
          <p:nvSpPr>
            <p:cNvPr id="159" name="Google Shape;159;p24"/>
            <p:cNvSpPr txBox="1"/>
            <p:nvPr/>
          </p:nvSpPr>
          <p:spPr>
            <a:xfrm>
              <a:off x="349669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160" name="Google Shape;160;p24"/>
            <p:cNvSpPr txBox="1"/>
            <p:nvPr/>
          </p:nvSpPr>
          <p:spPr>
            <a:xfrm>
              <a:off x="3809931"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161" name="Google Shape;161;p24"/>
            <p:cNvSpPr txBox="1"/>
            <p:nvPr/>
          </p:nvSpPr>
          <p:spPr>
            <a:xfrm>
              <a:off x="412317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162" name="Google Shape;162;p24"/>
            <p:cNvSpPr/>
            <p:nvPr/>
          </p:nvSpPr>
          <p:spPr>
            <a:xfrm flipH="1" rot="10800000">
              <a:off x="1943833"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4"/>
            <p:cNvSpPr txBox="1"/>
            <p:nvPr/>
          </p:nvSpPr>
          <p:spPr>
            <a:xfrm>
              <a:off x="1943819"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7</a:t>
              </a:r>
              <a:endParaRPr b="1" i="0" sz="2000" u="none" cap="none" strike="noStrike">
                <a:solidFill>
                  <a:srgbClr val="9225A5"/>
                </a:solidFill>
                <a:latin typeface="Montserrat"/>
                <a:ea typeface="Montserrat"/>
                <a:cs typeface="Montserrat"/>
                <a:sym typeface="Montserrat"/>
              </a:endParaRPr>
            </a:p>
          </p:txBody>
        </p:sp>
        <p:cxnSp>
          <p:nvCxnSpPr>
            <p:cNvPr id="164" name="Google Shape;164;p24"/>
            <p:cNvCxnSpPr/>
            <p:nvPr/>
          </p:nvCxnSpPr>
          <p:spPr>
            <a:xfrm rot="10800000">
              <a:off x="2255015"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65" name="Google Shape;165;p24"/>
            <p:cNvCxnSpPr/>
            <p:nvPr/>
          </p:nvCxnSpPr>
          <p:spPr>
            <a:xfrm rot="10800000">
              <a:off x="2564496"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66" name="Google Shape;166;p24"/>
            <p:cNvCxnSpPr/>
            <p:nvPr/>
          </p:nvCxnSpPr>
          <p:spPr>
            <a:xfrm rot="10800000">
              <a:off x="2873978" y="2415591"/>
              <a:ext cx="0" cy="2370300"/>
            </a:xfrm>
            <a:prstGeom prst="straightConnector1">
              <a:avLst/>
            </a:prstGeom>
            <a:noFill/>
            <a:ln cap="flat" cmpd="sng" w="9525">
              <a:solidFill>
                <a:srgbClr val="9225A5"/>
              </a:solidFill>
              <a:prstDash val="dot"/>
              <a:round/>
              <a:headEnd len="sm" w="sm" type="none"/>
              <a:tailEnd len="sm" w="sm" type="none"/>
            </a:ln>
          </p:spPr>
        </p:cxnSp>
        <p:sp>
          <p:nvSpPr>
            <p:cNvPr id="167" name="Google Shape;167;p24"/>
            <p:cNvSpPr txBox="1"/>
            <p:nvPr/>
          </p:nvSpPr>
          <p:spPr>
            <a:xfrm>
              <a:off x="193952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168" name="Google Shape;168;p24"/>
            <p:cNvSpPr txBox="1"/>
            <p:nvPr/>
          </p:nvSpPr>
          <p:spPr>
            <a:xfrm>
              <a:off x="225276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169" name="Google Shape;169;p24"/>
            <p:cNvSpPr txBox="1"/>
            <p:nvPr/>
          </p:nvSpPr>
          <p:spPr>
            <a:xfrm>
              <a:off x="256600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170" name="Google Shape;170;p24"/>
            <p:cNvSpPr txBox="1"/>
            <p:nvPr/>
          </p:nvSpPr>
          <p:spPr>
            <a:xfrm>
              <a:off x="287924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171" name="Google Shape;171;p24"/>
            <p:cNvSpPr txBox="1"/>
            <p:nvPr/>
          </p:nvSpPr>
          <p:spPr>
            <a:xfrm>
              <a:off x="1943836"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July</a:t>
              </a:r>
              <a:endParaRPr b="1" i="0" sz="1000" u="none" cap="none" strike="noStrike">
                <a:solidFill>
                  <a:srgbClr val="551561"/>
                </a:solidFill>
                <a:latin typeface="Montserrat"/>
                <a:ea typeface="Montserrat"/>
                <a:cs typeface="Montserrat"/>
                <a:sym typeface="Montserrat"/>
              </a:endParaRPr>
            </a:p>
          </p:txBody>
        </p:sp>
        <p:sp>
          <p:nvSpPr>
            <p:cNvPr id="172" name="Google Shape;172;p24"/>
            <p:cNvSpPr txBox="1"/>
            <p:nvPr/>
          </p:nvSpPr>
          <p:spPr>
            <a:xfrm>
              <a:off x="318378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Aug</a:t>
              </a:r>
              <a:endParaRPr b="1" i="0" sz="1000" u="none" cap="none" strike="noStrike">
                <a:solidFill>
                  <a:srgbClr val="551561"/>
                </a:solidFill>
                <a:latin typeface="Montserrat"/>
                <a:ea typeface="Montserrat"/>
                <a:cs typeface="Montserrat"/>
                <a:sym typeface="Montserrat"/>
              </a:endParaRPr>
            </a:p>
          </p:txBody>
        </p:sp>
        <p:sp>
          <p:nvSpPr>
            <p:cNvPr id="173" name="Google Shape;173;p24"/>
            <p:cNvSpPr/>
            <p:nvPr/>
          </p:nvSpPr>
          <p:spPr>
            <a:xfrm>
              <a:off x="2255703" y="3477975"/>
              <a:ext cx="635100" cy="2505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174" name="Google Shape;174;p24"/>
            <p:cNvSpPr/>
            <p:nvPr/>
          </p:nvSpPr>
          <p:spPr>
            <a:xfrm>
              <a:off x="3493199" y="3728475"/>
              <a:ext cx="299100" cy="2505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175" name="Google Shape;175;p24"/>
            <p:cNvSpPr/>
            <p:nvPr/>
          </p:nvSpPr>
          <p:spPr>
            <a:xfrm flipH="1" rot="10800000">
              <a:off x="1929720"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24"/>
            <p:cNvSpPr/>
            <p:nvPr/>
          </p:nvSpPr>
          <p:spPr>
            <a:xfrm>
              <a:off x="704190"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24"/>
            <p:cNvSpPr/>
            <p:nvPr/>
          </p:nvSpPr>
          <p:spPr>
            <a:xfrm flipH="1" rot="10800000">
              <a:off x="690108"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24"/>
            <p:cNvSpPr txBox="1"/>
            <p:nvPr/>
          </p:nvSpPr>
          <p:spPr>
            <a:xfrm>
              <a:off x="690094"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6</a:t>
              </a:r>
              <a:endParaRPr b="1" i="0" sz="2000" u="none" cap="none" strike="noStrike">
                <a:solidFill>
                  <a:srgbClr val="9225A5"/>
                </a:solidFill>
                <a:latin typeface="Montserrat"/>
                <a:ea typeface="Montserrat"/>
                <a:cs typeface="Montserrat"/>
                <a:sym typeface="Montserrat"/>
              </a:endParaRPr>
            </a:p>
          </p:txBody>
        </p:sp>
        <p:cxnSp>
          <p:nvCxnSpPr>
            <p:cNvPr id="179" name="Google Shape;179;p24"/>
            <p:cNvCxnSpPr/>
            <p:nvPr/>
          </p:nvCxnSpPr>
          <p:spPr>
            <a:xfrm rot="10800000">
              <a:off x="1001290"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80" name="Google Shape;180;p24"/>
            <p:cNvCxnSpPr/>
            <p:nvPr/>
          </p:nvCxnSpPr>
          <p:spPr>
            <a:xfrm rot="10800000">
              <a:off x="1310771"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181" name="Google Shape;181;p24"/>
            <p:cNvCxnSpPr/>
            <p:nvPr/>
          </p:nvCxnSpPr>
          <p:spPr>
            <a:xfrm rot="10800000">
              <a:off x="1620253" y="2415591"/>
              <a:ext cx="0" cy="2370300"/>
            </a:xfrm>
            <a:prstGeom prst="straightConnector1">
              <a:avLst/>
            </a:prstGeom>
            <a:noFill/>
            <a:ln cap="flat" cmpd="sng" w="9525">
              <a:solidFill>
                <a:srgbClr val="9225A5"/>
              </a:solidFill>
              <a:prstDash val="dot"/>
              <a:round/>
              <a:headEnd len="sm" w="sm" type="none"/>
              <a:tailEnd len="sm" w="sm" type="none"/>
            </a:ln>
          </p:spPr>
        </p:cxnSp>
        <p:sp>
          <p:nvSpPr>
            <p:cNvPr id="182" name="Google Shape;182;p24"/>
            <p:cNvSpPr txBox="1"/>
            <p:nvPr/>
          </p:nvSpPr>
          <p:spPr>
            <a:xfrm>
              <a:off x="68580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183" name="Google Shape;183;p24"/>
            <p:cNvSpPr txBox="1"/>
            <p:nvPr/>
          </p:nvSpPr>
          <p:spPr>
            <a:xfrm>
              <a:off x="99904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184" name="Google Shape;184;p24"/>
            <p:cNvSpPr txBox="1"/>
            <p:nvPr/>
          </p:nvSpPr>
          <p:spPr>
            <a:xfrm>
              <a:off x="1312278"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185" name="Google Shape;185;p24"/>
            <p:cNvSpPr txBox="1"/>
            <p:nvPr/>
          </p:nvSpPr>
          <p:spPr>
            <a:xfrm>
              <a:off x="1625517"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186" name="Google Shape;186;p24"/>
            <p:cNvSpPr txBox="1"/>
            <p:nvPr/>
          </p:nvSpPr>
          <p:spPr>
            <a:xfrm>
              <a:off x="69011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June</a:t>
              </a:r>
              <a:endParaRPr b="1" i="0" sz="1000" u="none" cap="none" strike="noStrike">
                <a:solidFill>
                  <a:srgbClr val="551561"/>
                </a:solidFill>
                <a:latin typeface="Montserrat"/>
                <a:ea typeface="Montserrat"/>
                <a:cs typeface="Montserrat"/>
                <a:sym typeface="Montserrat"/>
              </a:endParaRPr>
            </a:p>
          </p:txBody>
        </p:sp>
        <p:sp>
          <p:nvSpPr>
            <p:cNvPr id="187" name="Google Shape;187;p24"/>
            <p:cNvSpPr/>
            <p:nvPr/>
          </p:nvSpPr>
          <p:spPr>
            <a:xfrm>
              <a:off x="1001299" y="3015700"/>
              <a:ext cx="609000" cy="2505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188" name="Google Shape;188;p24"/>
            <p:cNvSpPr/>
            <p:nvPr/>
          </p:nvSpPr>
          <p:spPr>
            <a:xfrm>
              <a:off x="1944815"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4"/>
            <p:cNvSpPr/>
            <p:nvPr/>
          </p:nvSpPr>
          <p:spPr>
            <a:xfrm>
              <a:off x="1619875" y="3242825"/>
              <a:ext cx="635100" cy="2505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190" name="Google Shape;190;p24"/>
            <p:cNvSpPr/>
            <p:nvPr/>
          </p:nvSpPr>
          <p:spPr>
            <a:xfrm>
              <a:off x="709174" y="2758900"/>
              <a:ext cx="299100" cy="2505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grpSp>
      <p:sp>
        <p:nvSpPr>
          <p:cNvPr id="191" name="Google Shape;191;p24"/>
          <p:cNvSpPr txBox="1"/>
          <p:nvPr/>
        </p:nvSpPr>
        <p:spPr>
          <a:xfrm>
            <a:off x="5626350" y="3919900"/>
            <a:ext cx="3380700" cy="8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8 - 10 Agustus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Slide deck presentasi, credentials file, demonstrasi, project asset, dll dikumpulkan maks. 8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Gladi resik showcase : 9 agustus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Showcase dengan tim Binar : 10 agustus 2022</a:t>
            </a:r>
            <a:endParaRPr sz="850">
              <a:solidFill>
                <a:schemeClr val="dk1"/>
              </a:solidFill>
              <a:latin typeface="Montserrat"/>
              <a:ea typeface="Montserrat"/>
              <a:cs typeface="Montserrat"/>
              <a:sym typeface="Montserrat"/>
            </a:endParaRPr>
          </a:p>
        </p:txBody>
      </p:sp>
      <p:sp>
        <p:nvSpPr>
          <p:cNvPr id="192" name="Google Shape;192;p24"/>
          <p:cNvSpPr txBox="1"/>
          <p:nvPr/>
        </p:nvSpPr>
        <p:spPr>
          <a:xfrm>
            <a:off x="5626350" y="2422600"/>
            <a:ext cx="33807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13 Juni - 22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Proses pengerjaan dilakukan dalam 3x sprint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Setiap sprint planning dan sprint review setiap kelompok akan melakukan presentasi dalam zoom (kelas besar) kepada fasil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Forum diskusi selama sprint berjalan maka kelas akan dibagi menjadi : 1 jam untuk koordinasi progress bersama team, 2 jam untuk diskusi dengan fasil masing-masing stream (</a:t>
            </a:r>
            <a:r>
              <a:rPr i="1" lang="en" sz="850">
                <a:solidFill>
                  <a:schemeClr val="dk1"/>
                </a:solidFill>
                <a:latin typeface="Montserrat"/>
                <a:ea typeface="Montserrat"/>
                <a:cs typeface="Montserrat"/>
                <a:sym typeface="Montserrat"/>
              </a:rPr>
              <a:t>cross stream diperkenankan jika dibutuhkan</a:t>
            </a:r>
            <a:r>
              <a:rPr lang="en" sz="850">
                <a:solidFill>
                  <a:schemeClr val="dk1"/>
                </a:solidFill>
                <a:latin typeface="Montserrat"/>
                <a:ea typeface="Montserrat"/>
                <a:cs typeface="Montserrat"/>
                <a:sym typeface="Montserrat"/>
              </a:rPr>
              <a:t>)</a:t>
            </a:r>
            <a:endParaRPr sz="850">
              <a:solidFill>
                <a:schemeClr val="dk1"/>
              </a:solidFill>
              <a:latin typeface="Montserrat"/>
              <a:ea typeface="Montserrat"/>
              <a:cs typeface="Montserrat"/>
              <a:sym typeface="Montserrat"/>
            </a:endParaRPr>
          </a:p>
        </p:txBody>
      </p:sp>
      <p:sp>
        <p:nvSpPr>
          <p:cNvPr id="193" name="Google Shape;193;p24"/>
          <p:cNvSpPr/>
          <p:nvPr/>
        </p:nvSpPr>
        <p:spPr>
          <a:xfrm>
            <a:off x="4232125" y="1168700"/>
            <a:ext cx="1361100" cy="3582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Montserrat"/>
                <a:ea typeface="Montserrat"/>
                <a:cs typeface="Montserrat"/>
                <a:sym typeface="Montserrat"/>
              </a:rPr>
              <a:t>Final project announcement</a:t>
            </a:r>
            <a:endParaRPr b="1" i="0" sz="1000" u="none" cap="none" strike="noStrike">
              <a:solidFill>
                <a:schemeClr val="lt1"/>
              </a:solidFill>
              <a:latin typeface="Montserrat"/>
              <a:ea typeface="Montserrat"/>
              <a:cs typeface="Montserrat"/>
              <a:sym typeface="Montserrat"/>
            </a:endParaRPr>
          </a:p>
        </p:txBody>
      </p:sp>
      <p:sp>
        <p:nvSpPr>
          <p:cNvPr id="194" name="Google Shape;194;p24"/>
          <p:cNvSpPr/>
          <p:nvPr/>
        </p:nvSpPr>
        <p:spPr>
          <a:xfrm>
            <a:off x="4232118" y="2569200"/>
            <a:ext cx="1361100" cy="2106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1</a:t>
            </a:r>
            <a:endParaRPr b="1" i="0" sz="1000" u="none" cap="none" strike="noStrike">
              <a:solidFill>
                <a:srgbClr val="FFFFFF"/>
              </a:solidFill>
              <a:latin typeface="Montserrat"/>
              <a:ea typeface="Montserrat"/>
              <a:cs typeface="Montserrat"/>
              <a:sym typeface="Montserrat"/>
            </a:endParaRPr>
          </a:p>
        </p:txBody>
      </p:sp>
      <p:sp>
        <p:nvSpPr>
          <p:cNvPr id="195" name="Google Shape;195;p24"/>
          <p:cNvSpPr/>
          <p:nvPr/>
        </p:nvSpPr>
        <p:spPr>
          <a:xfrm>
            <a:off x="4228620" y="2824275"/>
            <a:ext cx="1361100" cy="2106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2</a:t>
            </a:r>
            <a:endParaRPr b="1" i="0" sz="1000" u="none" cap="none" strike="noStrike">
              <a:solidFill>
                <a:srgbClr val="FFFFFF"/>
              </a:solidFill>
              <a:latin typeface="Montserrat"/>
              <a:ea typeface="Montserrat"/>
              <a:cs typeface="Montserrat"/>
              <a:sym typeface="Montserrat"/>
            </a:endParaRPr>
          </a:p>
        </p:txBody>
      </p:sp>
      <p:sp>
        <p:nvSpPr>
          <p:cNvPr id="196" name="Google Shape;196;p24"/>
          <p:cNvSpPr/>
          <p:nvPr/>
        </p:nvSpPr>
        <p:spPr>
          <a:xfrm>
            <a:off x="4227876" y="4060925"/>
            <a:ext cx="1361100" cy="2106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Showcase</a:t>
            </a:r>
            <a:endParaRPr b="1" i="0" sz="1000" u="none" cap="none" strike="noStrike">
              <a:solidFill>
                <a:srgbClr val="FFFFFF"/>
              </a:solidFill>
              <a:latin typeface="Montserrat"/>
              <a:ea typeface="Montserrat"/>
              <a:cs typeface="Montserrat"/>
              <a:sym typeface="Montserrat"/>
            </a:endParaRPr>
          </a:p>
        </p:txBody>
      </p:sp>
      <p:sp>
        <p:nvSpPr>
          <p:cNvPr id="197" name="Google Shape;197;p24"/>
          <p:cNvSpPr txBox="1"/>
          <p:nvPr/>
        </p:nvSpPr>
        <p:spPr>
          <a:xfrm>
            <a:off x="5626449" y="1041500"/>
            <a:ext cx="3380700" cy="138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850">
                <a:solidFill>
                  <a:schemeClr val="dk1"/>
                </a:solidFill>
                <a:latin typeface="Montserrat"/>
                <a:ea typeface="Montserrat"/>
                <a:cs typeface="Montserrat"/>
                <a:sym typeface="Montserrat"/>
              </a:rPr>
              <a:t>10 Juni 2022</a:t>
            </a:r>
            <a:r>
              <a:rPr lang="en" sz="850">
                <a:solidFill>
                  <a:schemeClr val="dk1"/>
                </a:solidFill>
                <a:latin typeface="Montserrat"/>
                <a:ea typeface="Montserrat"/>
                <a:cs typeface="Montserrat"/>
                <a:sym typeface="Montserrat"/>
              </a:rPr>
              <a: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Project discussion (brainstorming bersama tim).</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Sesi kelas akan digunakan untuk sesi diskusi kelompok dengan facil pendamping dalam breakout room</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Setelah diskusi pada sesi pertama dengan kelompok, UI/UX dapat langsung melakukan riset ataupun design terlebih dahulu sebelum sprint dimulai (Sprint planning).</a:t>
            </a:r>
            <a:endParaRPr sz="850">
              <a:solidFill>
                <a:schemeClr val="dk1"/>
              </a:solidFill>
              <a:latin typeface="Montserrat"/>
              <a:ea typeface="Montserrat"/>
              <a:cs typeface="Montserrat"/>
              <a:sym typeface="Montserrat"/>
            </a:endParaRPr>
          </a:p>
        </p:txBody>
      </p:sp>
      <p:sp>
        <p:nvSpPr>
          <p:cNvPr id="198" name="Google Shape;198;p24"/>
          <p:cNvSpPr/>
          <p:nvPr/>
        </p:nvSpPr>
        <p:spPr>
          <a:xfrm>
            <a:off x="4235616" y="3079350"/>
            <a:ext cx="1361100" cy="2106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3</a:t>
            </a:r>
            <a:endParaRPr b="1" i="0" sz="1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2" name="Shape 202"/>
        <p:cNvGrpSpPr/>
        <p:nvPr/>
      </p:nvGrpSpPr>
      <p:grpSpPr>
        <a:xfrm>
          <a:off x="0" y="0"/>
          <a:ext cx="0" cy="0"/>
          <a:chOff x="0" y="0"/>
          <a:chExt cx="0" cy="0"/>
        </a:xfrm>
      </p:grpSpPr>
      <p:sp>
        <p:nvSpPr>
          <p:cNvPr id="203" name="Google Shape;20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205" name="Google Shape;205;p25"/>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Roadmap (Sprint 1)</a:t>
            </a:r>
            <a:endParaRPr sz="1200">
              <a:solidFill>
                <a:schemeClr val="dk1"/>
              </a:solidFill>
              <a:latin typeface="Raleway Medium"/>
              <a:ea typeface="Raleway Medium"/>
              <a:cs typeface="Raleway Medium"/>
              <a:sym typeface="Raleway Medium"/>
            </a:endParaRPr>
          </a:p>
        </p:txBody>
      </p:sp>
      <p:graphicFrame>
        <p:nvGraphicFramePr>
          <p:cNvPr id="206" name="Google Shape;206;p25"/>
          <p:cNvGraphicFramePr/>
          <p:nvPr/>
        </p:nvGraphicFramePr>
        <p:xfrm>
          <a:off x="718984" y="1545300"/>
          <a:ext cx="3000000" cy="3000000"/>
        </p:xfrm>
        <a:graphic>
          <a:graphicData uri="http://schemas.openxmlformats.org/drawingml/2006/table">
            <a:tbl>
              <a:tblPr>
                <a:noFill/>
                <a:tableStyleId>{B3CA5A7B-0F09-4D12-A7F3-FE7B425FF57E}</a:tableStyleId>
              </a:tblPr>
              <a:tblGrid>
                <a:gridCol w="1554400"/>
                <a:gridCol w="1554400"/>
                <a:gridCol w="1554400"/>
                <a:gridCol w="1554400"/>
                <a:gridCol w="1554400"/>
              </a:tblGrid>
              <a:tr h="1181975">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920925">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Problem Statement</a:t>
                      </a:r>
                      <a:endParaRPr b="1" sz="1000">
                        <a:solidFill>
                          <a:srgbClr val="2D092F"/>
                        </a:solidFill>
                      </a:endParaRPr>
                    </a:p>
                    <a:p>
                      <a:pPr indent="0" lvl="0" marL="0" rtl="0" algn="ctr">
                        <a:spcBef>
                          <a:spcPts val="0"/>
                        </a:spcBef>
                        <a:spcAft>
                          <a:spcPts val="0"/>
                        </a:spcAft>
                        <a:buNone/>
                      </a:pPr>
                      <a:r>
                        <a:rPr b="1" lang="en" sz="1000">
                          <a:solidFill>
                            <a:srgbClr val="2D092F"/>
                          </a:solidFill>
                        </a:rPr>
                        <a:t>How Might We’s</a:t>
                      </a:r>
                      <a:endParaRPr b="1" sz="1000">
                        <a:solidFill>
                          <a:srgbClr val="2D092F"/>
                        </a:solidFill>
                      </a:endParaRPr>
                    </a:p>
                    <a:p>
                      <a:pPr indent="0" lvl="0" marL="0" rtl="0" algn="ctr">
                        <a:spcBef>
                          <a:spcPts val="0"/>
                        </a:spcBef>
                        <a:spcAft>
                          <a:spcPts val="0"/>
                        </a:spcAft>
                        <a:buNone/>
                      </a:pPr>
                      <a:r>
                        <a:rPr b="1" lang="en" sz="1000">
                          <a:solidFill>
                            <a:srgbClr val="2D092F"/>
                          </a:solidFill>
                        </a:rPr>
                        <a:t>Competitive Analysis</a:t>
                      </a:r>
                      <a:endParaRPr b="1" sz="1000">
                        <a:solidFill>
                          <a:srgbClr val="2D092F"/>
                        </a:solidFill>
                      </a:endParaRPr>
                    </a:p>
                    <a:p>
                      <a:pPr indent="0" lvl="0" marL="0" rtl="0" algn="ctr">
                        <a:spcBef>
                          <a:spcPts val="0"/>
                        </a:spcBef>
                        <a:spcAft>
                          <a:spcPts val="0"/>
                        </a:spcAft>
                        <a:buNone/>
                      </a:pPr>
                      <a:r>
                        <a:rPr b="1" lang="en" sz="1000">
                          <a:solidFill>
                            <a:srgbClr val="2D092F"/>
                          </a:solidFill>
                        </a:rPr>
                        <a:t>Strategy Blueprint</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Surveys, Interviews</a:t>
                      </a:r>
                      <a:endParaRPr b="1" sz="1000">
                        <a:solidFill>
                          <a:srgbClr val="2D092F"/>
                        </a:solidFill>
                      </a:endParaRPr>
                    </a:p>
                    <a:p>
                      <a:pPr indent="0" lvl="0" marL="0" rtl="0" algn="ctr">
                        <a:spcBef>
                          <a:spcPts val="0"/>
                        </a:spcBef>
                        <a:spcAft>
                          <a:spcPts val="0"/>
                        </a:spcAft>
                        <a:buNone/>
                      </a:pPr>
                      <a:r>
                        <a:rPr b="1" lang="en" sz="1000">
                          <a:solidFill>
                            <a:srgbClr val="2D092F"/>
                          </a:solidFill>
                        </a:rPr>
                        <a:t>Gather the results</a:t>
                      </a:r>
                      <a:endParaRPr b="1" sz="1000">
                        <a:solidFill>
                          <a:srgbClr val="2D092F"/>
                        </a:solidFill>
                      </a:endParaRPr>
                    </a:p>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Empathy Maps</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Affinity Diagrams</a:t>
                      </a:r>
                      <a:endParaRPr b="1" sz="1000">
                        <a:solidFill>
                          <a:srgbClr val="2D092F"/>
                        </a:solidFill>
                      </a:endParaRPr>
                    </a:p>
                    <a:p>
                      <a:pPr indent="0" lvl="0" marL="0" rtl="0" algn="ctr">
                        <a:spcBef>
                          <a:spcPts val="0"/>
                        </a:spcBef>
                        <a:spcAft>
                          <a:spcPts val="0"/>
                        </a:spcAft>
                        <a:buNone/>
                      </a:pPr>
                      <a:r>
                        <a:rPr b="1" lang="en" sz="1000">
                          <a:solidFill>
                            <a:srgbClr val="2D092F"/>
                          </a:solidFill>
                        </a:rPr>
                        <a:t>Storyboards</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User Personas</a:t>
                      </a:r>
                      <a:endParaRPr b="1" sz="1000">
                        <a:solidFill>
                          <a:srgbClr val="2D092F"/>
                        </a:solidFill>
                      </a:endParaRPr>
                    </a:p>
                    <a:p>
                      <a:pPr indent="0" lvl="0" marL="0" rtl="0" algn="ctr">
                        <a:spcBef>
                          <a:spcPts val="0"/>
                        </a:spcBef>
                        <a:spcAft>
                          <a:spcPts val="0"/>
                        </a:spcAft>
                        <a:buNone/>
                      </a:pPr>
                      <a:r>
                        <a:rPr b="1" lang="en" sz="1000">
                          <a:solidFill>
                            <a:srgbClr val="2D092F"/>
                          </a:solidFill>
                        </a:rPr>
                        <a:t>User Stories</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User Journey Maps</a:t>
                      </a:r>
                      <a:endParaRPr b="1" sz="1000">
                        <a:solidFill>
                          <a:srgbClr val="2D092F"/>
                        </a:solidFill>
                      </a:endParaRPr>
                    </a:p>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Flowcharts</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Brainstorm Sessions</a:t>
                      </a:r>
                      <a:endParaRPr b="1" sz="1000">
                        <a:solidFill>
                          <a:srgbClr val="2D092F"/>
                        </a:solidFill>
                      </a:endParaRPr>
                    </a:p>
                    <a:p>
                      <a:pPr indent="0" lvl="0" marL="0" rtl="0" algn="ctr">
                        <a:spcBef>
                          <a:spcPts val="0"/>
                        </a:spcBef>
                        <a:spcAft>
                          <a:spcPts val="0"/>
                        </a:spcAft>
                        <a:buNone/>
                      </a:pPr>
                      <a:r>
                        <a:rPr b="1" lang="en" sz="1000">
                          <a:solidFill>
                            <a:srgbClr val="2D092F"/>
                          </a:solidFill>
                        </a:rPr>
                        <a:t>Mind Maps</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Sketches</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Card Sorting</a:t>
                      </a:r>
                      <a:endParaRPr b="1" sz="1000">
                        <a:solidFill>
                          <a:srgbClr val="2D092F"/>
                        </a:solidFill>
                      </a:endParaRPr>
                    </a:p>
                    <a:p>
                      <a:pPr indent="0" lvl="0" marL="0" rtl="0" algn="ctr">
                        <a:spcBef>
                          <a:spcPts val="0"/>
                        </a:spcBef>
                        <a:spcAft>
                          <a:spcPts val="0"/>
                        </a:spcAft>
                        <a:buNone/>
                      </a:pPr>
                      <a:r>
                        <a:rPr b="1" lang="en" sz="1000">
                          <a:solidFill>
                            <a:srgbClr val="2D092F"/>
                          </a:solidFill>
                        </a:rPr>
                        <a:t>Site Maps</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Wireframes</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Lo-fi Designs</a:t>
                      </a:r>
                      <a:endParaRPr b="1" sz="1000">
                        <a:solidFill>
                          <a:srgbClr val="2D092F"/>
                        </a:solidFill>
                      </a:endParaRPr>
                    </a:p>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207" name="Google Shape;207;p25"/>
          <p:cNvSpPr/>
          <p:nvPr/>
        </p:nvSpPr>
        <p:spPr>
          <a:xfrm>
            <a:off x="91807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Define the problem</a:t>
            </a:r>
            <a:endParaRPr b="1" sz="1000">
              <a:solidFill>
                <a:srgbClr val="421E44"/>
              </a:solidFill>
            </a:endParaRPr>
          </a:p>
        </p:txBody>
      </p:sp>
      <p:sp>
        <p:nvSpPr>
          <p:cNvPr id="208" name="Google Shape;208;p25"/>
          <p:cNvSpPr/>
          <p:nvPr/>
        </p:nvSpPr>
        <p:spPr>
          <a:xfrm>
            <a:off x="24961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Data Collection &amp; Synthesis</a:t>
            </a:r>
            <a:endParaRPr b="1" sz="1000">
              <a:solidFill>
                <a:srgbClr val="421E44"/>
              </a:solidFill>
            </a:endParaRPr>
          </a:p>
        </p:txBody>
      </p:sp>
      <p:sp>
        <p:nvSpPr>
          <p:cNvPr id="209" name="Google Shape;209;p25"/>
          <p:cNvSpPr/>
          <p:nvPr/>
        </p:nvSpPr>
        <p:spPr>
          <a:xfrm>
            <a:off x="39913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Define User</a:t>
            </a:r>
            <a:endParaRPr b="1" sz="1000">
              <a:solidFill>
                <a:srgbClr val="421E44"/>
              </a:solidFill>
            </a:endParaRPr>
          </a:p>
        </p:txBody>
      </p:sp>
      <p:sp>
        <p:nvSpPr>
          <p:cNvPr id="210" name="Google Shape;210;p25"/>
          <p:cNvSpPr/>
          <p:nvPr/>
        </p:nvSpPr>
        <p:spPr>
          <a:xfrm>
            <a:off x="559280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Ideate Solution</a:t>
            </a:r>
            <a:endParaRPr b="1" sz="1000">
              <a:solidFill>
                <a:srgbClr val="421E44"/>
              </a:solidFill>
            </a:endParaRPr>
          </a:p>
        </p:txBody>
      </p:sp>
      <p:sp>
        <p:nvSpPr>
          <p:cNvPr id="211" name="Google Shape;211;p25"/>
          <p:cNvSpPr/>
          <p:nvPr/>
        </p:nvSpPr>
        <p:spPr>
          <a:xfrm>
            <a:off x="713892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Lo-Fi Screens</a:t>
            </a:r>
            <a:endParaRPr b="1" sz="1000">
              <a:solidFill>
                <a:srgbClr val="421E44"/>
              </a:solidFill>
            </a:endParaRPr>
          </a:p>
        </p:txBody>
      </p:sp>
      <p:sp>
        <p:nvSpPr>
          <p:cNvPr id="212" name="Google Shape;212;p25"/>
          <p:cNvSpPr/>
          <p:nvPr/>
        </p:nvSpPr>
        <p:spPr>
          <a:xfrm>
            <a:off x="1421325"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5"/>
          <p:cNvSpPr/>
          <p:nvPr/>
        </p:nvSpPr>
        <p:spPr>
          <a:xfrm>
            <a:off x="29994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5"/>
          <p:cNvSpPr/>
          <p:nvPr/>
        </p:nvSpPr>
        <p:spPr>
          <a:xfrm>
            <a:off x="44946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5"/>
          <p:cNvSpPr/>
          <p:nvPr/>
        </p:nvSpPr>
        <p:spPr>
          <a:xfrm>
            <a:off x="609605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5"/>
          <p:cNvSpPr/>
          <p:nvPr/>
        </p:nvSpPr>
        <p:spPr>
          <a:xfrm>
            <a:off x="76975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sp>
        <p:nvSpPr>
          <p:cNvPr id="221" name="Google Shape;22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2" name="Google Shape;222;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223" name="Google Shape;223;p26"/>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Roadmap (Sprint 2)</a:t>
            </a:r>
            <a:endParaRPr sz="1200">
              <a:solidFill>
                <a:schemeClr val="dk1"/>
              </a:solidFill>
              <a:latin typeface="Raleway Medium"/>
              <a:ea typeface="Raleway Medium"/>
              <a:cs typeface="Raleway Medium"/>
              <a:sym typeface="Raleway Medium"/>
            </a:endParaRPr>
          </a:p>
        </p:txBody>
      </p:sp>
      <p:graphicFrame>
        <p:nvGraphicFramePr>
          <p:cNvPr id="224" name="Google Shape;224;p26"/>
          <p:cNvGraphicFramePr/>
          <p:nvPr/>
        </p:nvGraphicFramePr>
        <p:xfrm>
          <a:off x="718984" y="1545300"/>
          <a:ext cx="3000000" cy="3000000"/>
        </p:xfrm>
        <a:graphic>
          <a:graphicData uri="http://schemas.openxmlformats.org/drawingml/2006/table">
            <a:tbl>
              <a:tblPr>
                <a:noFill/>
                <a:tableStyleId>{B3CA5A7B-0F09-4D12-A7F3-FE7B425FF57E}</a:tableStyleId>
              </a:tblPr>
              <a:tblGrid>
                <a:gridCol w="1554400"/>
                <a:gridCol w="1554400"/>
                <a:gridCol w="1554400"/>
                <a:gridCol w="1554400"/>
                <a:gridCol w="1554400"/>
              </a:tblGrid>
              <a:tr h="1181975">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920925">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endParaRPr b="1" sz="1000">
                        <a:solidFill>
                          <a:srgbClr val="2D092F"/>
                        </a:solidFill>
                      </a:endParaRPr>
                    </a:p>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Test</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Analyse Results / Feedbacks</a:t>
                      </a:r>
                      <a:endParaRPr b="1" sz="1000">
                        <a:solidFill>
                          <a:srgbClr val="2D092F"/>
                        </a:solidFill>
                      </a:endParaRPr>
                    </a:p>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Iterate</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Moodboards</a:t>
                      </a:r>
                      <a:endParaRPr b="1" sz="1000">
                        <a:solidFill>
                          <a:srgbClr val="2D092F"/>
                        </a:solidFill>
                      </a:endParaRPr>
                    </a:p>
                    <a:p>
                      <a:pPr indent="0" lvl="0" marL="0" rtl="0" algn="ctr">
                        <a:spcBef>
                          <a:spcPts val="0"/>
                        </a:spcBef>
                        <a:spcAft>
                          <a:spcPts val="0"/>
                        </a:spcAft>
                        <a:buNone/>
                      </a:pPr>
                      <a:r>
                        <a:rPr b="1" lang="en" sz="1000">
                          <a:solidFill>
                            <a:srgbClr val="2D092F"/>
                          </a:solidFill>
                        </a:rPr>
                        <a:t>Color Options</a:t>
                      </a:r>
                      <a:endParaRPr b="1" sz="1000">
                        <a:solidFill>
                          <a:srgbClr val="2D092F"/>
                        </a:solidFill>
                      </a:endParaRPr>
                    </a:p>
                    <a:p>
                      <a:pPr indent="0" lvl="0" marL="0" rtl="0" algn="ctr">
                        <a:spcBef>
                          <a:spcPts val="0"/>
                        </a:spcBef>
                        <a:spcAft>
                          <a:spcPts val="0"/>
                        </a:spcAft>
                        <a:buNone/>
                      </a:pPr>
                      <a:r>
                        <a:rPr b="1" lang="en" sz="1000">
                          <a:solidFill>
                            <a:srgbClr val="2D092F"/>
                          </a:solidFill>
                        </a:rPr>
                        <a:t>Look &amp; Feel Options</a:t>
                      </a:r>
                      <a:endParaRPr b="1" sz="1000">
                        <a:solidFill>
                          <a:srgbClr val="2D092F"/>
                        </a:solidFill>
                      </a:endParaRPr>
                    </a:p>
                    <a:p>
                      <a:pPr indent="0" lvl="0" marL="0" rtl="0" algn="ctr">
                        <a:spcBef>
                          <a:spcPts val="0"/>
                        </a:spcBef>
                        <a:spcAft>
                          <a:spcPts val="0"/>
                        </a:spcAft>
                        <a:buNone/>
                      </a:pPr>
                      <a:r>
                        <a:rPr b="1" lang="en" sz="1000">
                          <a:solidFill>
                            <a:srgbClr val="2D092F"/>
                          </a:solidFill>
                        </a:rPr>
                        <a:t>Brand Attributes</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Design Systems (From Color to Elevation based on Web </a:t>
                      </a:r>
                      <a:r>
                        <a:rPr b="1" lang="en" sz="1000">
                          <a:solidFill>
                            <a:srgbClr val="2D092F"/>
                          </a:solidFill>
                        </a:rPr>
                        <a:t>Accessibility</a:t>
                      </a:r>
                      <a:r>
                        <a:rPr b="1" lang="en" sz="1000">
                          <a:solidFill>
                            <a:srgbClr val="2D092F"/>
                          </a:solidFill>
                        </a:rPr>
                        <a:t> Guidelines)</a:t>
                      </a:r>
                      <a:endParaRPr b="1" sz="1000">
                        <a:solidFill>
                          <a:srgbClr val="2D092F"/>
                        </a:solidFill>
                      </a:endParaRPr>
                    </a:p>
                    <a:p>
                      <a:pPr indent="0" lvl="0" marL="0" rtl="0" algn="ctr">
                        <a:spcBef>
                          <a:spcPts val="0"/>
                        </a:spcBef>
                        <a:spcAft>
                          <a:spcPts val="0"/>
                        </a:spcAft>
                        <a:buNone/>
                      </a:pPr>
                      <a:r>
                        <a:rPr b="1" lang="en" sz="1000">
                          <a:solidFill>
                            <a:srgbClr val="2D092F"/>
                          </a:solidFill>
                        </a:rPr>
                        <a:t>General Components</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Wireframes / Lo-fi into Hi-Fi Mockups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Wireframes / Lo-fi into Hi-Fi Mockups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225" name="Google Shape;225;p26"/>
          <p:cNvSpPr/>
          <p:nvPr/>
        </p:nvSpPr>
        <p:spPr>
          <a:xfrm>
            <a:off x="91807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Test</a:t>
            </a:r>
            <a:endParaRPr b="1" sz="1000">
              <a:solidFill>
                <a:srgbClr val="421E44"/>
              </a:solidFill>
            </a:endParaRPr>
          </a:p>
        </p:txBody>
      </p:sp>
      <p:sp>
        <p:nvSpPr>
          <p:cNvPr id="226" name="Google Shape;226;p26"/>
          <p:cNvSpPr/>
          <p:nvPr/>
        </p:nvSpPr>
        <p:spPr>
          <a:xfrm>
            <a:off x="24961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Visual Direction</a:t>
            </a:r>
            <a:endParaRPr b="1" sz="1000">
              <a:solidFill>
                <a:srgbClr val="421E44"/>
              </a:solidFill>
            </a:endParaRPr>
          </a:p>
        </p:txBody>
      </p:sp>
      <p:sp>
        <p:nvSpPr>
          <p:cNvPr id="227" name="Google Shape;227;p26"/>
          <p:cNvSpPr/>
          <p:nvPr/>
        </p:nvSpPr>
        <p:spPr>
          <a:xfrm>
            <a:off x="39913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Design System</a:t>
            </a:r>
            <a:endParaRPr b="1" sz="1000">
              <a:solidFill>
                <a:srgbClr val="421E44"/>
              </a:solidFill>
            </a:endParaRPr>
          </a:p>
        </p:txBody>
      </p:sp>
      <p:sp>
        <p:nvSpPr>
          <p:cNvPr id="228" name="Google Shape;228;p26"/>
          <p:cNvSpPr/>
          <p:nvPr/>
        </p:nvSpPr>
        <p:spPr>
          <a:xfrm>
            <a:off x="559280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29" name="Google Shape;229;p26"/>
          <p:cNvSpPr/>
          <p:nvPr/>
        </p:nvSpPr>
        <p:spPr>
          <a:xfrm>
            <a:off x="713892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30" name="Google Shape;230;p26"/>
          <p:cNvSpPr/>
          <p:nvPr/>
        </p:nvSpPr>
        <p:spPr>
          <a:xfrm>
            <a:off x="1421325"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6"/>
          <p:cNvSpPr/>
          <p:nvPr/>
        </p:nvSpPr>
        <p:spPr>
          <a:xfrm>
            <a:off x="29994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6"/>
          <p:cNvSpPr/>
          <p:nvPr/>
        </p:nvSpPr>
        <p:spPr>
          <a:xfrm>
            <a:off x="44946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
          <p:cNvSpPr/>
          <p:nvPr/>
        </p:nvSpPr>
        <p:spPr>
          <a:xfrm>
            <a:off x="609605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6"/>
          <p:cNvSpPr/>
          <p:nvPr/>
        </p:nvSpPr>
        <p:spPr>
          <a:xfrm>
            <a:off x="76975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241" name="Google Shape;241;p27"/>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Roadmap (Sprint 3)</a:t>
            </a:r>
            <a:endParaRPr sz="1200">
              <a:solidFill>
                <a:schemeClr val="dk1"/>
              </a:solidFill>
              <a:latin typeface="Raleway Medium"/>
              <a:ea typeface="Raleway Medium"/>
              <a:cs typeface="Raleway Medium"/>
              <a:sym typeface="Raleway Medium"/>
            </a:endParaRPr>
          </a:p>
        </p:txBody>
      </p:sp>
      <p:graphicFrame>
        <p:nvGraphicFramePr>
          <p:cNvPr id="242" name="Google Shape;242;p27"/>
          <p:cNvGraphicFramePr/>
          <p:nvPr/>
        </p:nvGraphicFramePr>
        <p:xfrm>
          <a:off x="718984" y="1545300"/>
          <a:ext cx="3000000" cy="3000000"/>
        </p:xfrm>
        <a:graphic>
          <a:graphicData uri="http://schemas.openxmlformats.org/drawingml/2006/table">
            <a:tbl>
              <a:tblPr>
                <a:noFill/>
                <a:tableStyleId>{B3CA5A7B-0F09-4D12-A7F3-FE7B425FF57E}</a:tableStyleId>
              </a:tblPr>
              <a:tblGrid>
                <a:gridCol w="1554400"/>
                <a:gridCol w="1554400"/>
                <a:gridCol w="1620775"/>
                <a:gridCol w="1488025"/>
                <a:gridCol w="1554400"/>
              </a:tblGrid>
              <a:tr h="1181975">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l">
                        <a:spcBef>
                          <a:spcPts val="0"/>
                        </a:spcBef>
                        <a:spcAft>
                          <a:spcPts val="0"/>
                        </a:spcAft>
                        <a:buNone/>
                      </a:pPr>
                      <a:r>
                        <a:t/>
                      </a:r>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r h="1920925">
                <a:tc>
                  <a:txBody>
                    <a:bodyPr/>
                    <a:lstStyle/>
                    <a:p>
                      <a:pPr indent="0" lvl="0" marL="0" rtl="0" algn="ctr">
                        <a:spcBef>
                          <a:spcPts val="0"/>
                        </a:spcBef>
                        <a:spcAft>
                          <a:spcPts val="0"/>
                        </a:spcAft>
                        <a:buClr>
                          <a:schemeClr val="dk1"/>
                        </a:buClr>
                        <a:buSzPts val="1100"/>
                        <a:buFont typeface="Arial"/>
                        <a:buNone/>
                      </a:pPr>
                      <a:r>
                        <a:t/>
                      </a:r>
                      <a:endParaRPr b="1" sz="1000">
                        <a:solidFill>
                          <a:srgbClr val="2D092F"/>
                        </a:solidFill>
                      </a:endParaRPr>
                    </a:p>
                    <a:p>
                      <a:pPr indent="0" lvl="0" marL="0" rtl="0" algn="ctr">
                        <a:spcBef>
                          <a:spcPts val="0"/>
                        </a:spcBef>
                        <a:spcAft>
                          <a:spcPts val="0"/>
                        </a:spcAft>
                        <a:buClr>
                          <a:schemeClr val="dk1"/>
                        </a:buClr>
                        <a:buSzPts val="1100"/>
                        <a:buFont typeface="Arial"/>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Hi-Fi Mockups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Adaptive Design</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4358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Hi-Fi Mockups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Adaptive Design</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5922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br>
                        <a:rPr b="1" lang="en" sz="1000">
                          <a:solidFill>
                            <a:srgbClr val="2D092F"/>
                          </a:solidFill>
                        </a:rPr>
                      </a:br>
                      <a:endParaRPr b="1" sz="1000">
                        <a:solidFill>
                          <a:srgbClr val="2D092F"/>
                        </a:solidFill>
                      </a:endParaRPr>
                    </a:p>
                    <a:p>
                      <a:pPr indent="0" lvl="0" marL="0" rtl="0" algn="ctr">
                        <a:spcBef>
                          <a:spcPts val="0"/>
                        </a:spcBef>
                        <a:spcAft>
                          <a:spcPts val="0"/>
                        </a:spcAft>
                        <a:buNone/>
                      </a:pPr>
                      <a:r>
                        <a:rPr b="1" lang="en" sz="1000">
                          <a:solidFill>
                            <a:srgbClr val="2D092F"/>
                          </a:solidFill>
                        </a:rPr>
                        <a:t>Design Clean Up</a:t>
                      </a:r>
                      <a:endParaRPr b="1" sz="1000">
                        <a:solidFill>
                          <a:srgbClr val="2D092F"/>
                        </a:solidFill>
                      </a:endParaRPr>
                    </a:p>
                    <a:p>
                      <a:pPr indent="0" lvl="0" marL="0" rtl="0" algn="ctr">
                        <a:spcBef>
                          <a:spcPts val="0"/>
                        </a:spcBef>
                        <a:spcAft>
                          <a:spcPts val="0"/>
                        </a:spcAft>
                        <a:buNone/>
                      </a:pPr>
                      <a:r>
                        <a:rPr b="1" lang="en" sz="1000">
                          <a:solidFill>
                            <a:srgbClr val="2D092F"/>
                          </a:solidFill>
                        </a:rPr>
                        <a:t>Add micro-interactions</a:t>
                      </a:r>
                      <a:endParaRPr b="1" sz="1000">
                        <a:solidFill>
                          <a:srgbClr val="2D092F"/>
                        </a:solidFill>
                      </a:endParaRPr>
                    </a:p>
                    <a:p>
                      <a:pPr indent="0" lvl="0" marL="0" rtl="0" algn="ctr">
                        <a:spcBef>
                          <a:spcPts val="0"/>
                        </a:spcBef>
                        <a:spcAft>
                          <a:spcPts val="0"/>
                        </a:spcAft>
                        <a:buNone/>
                      </a:pPr>
                      <a:r>
                        <a:rPr b="1" lang="en" sz="1000">
                          <a:solidFill>
                            <a:srgbClr val="2D092F"/>
                          </a:solidFill>
                        </a:rPr>
                        <a:t>Add animations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Link pages to prototype</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7374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Test</a:t>
                      </a:r>
                      <a:endParaRPr b="1" sz="1000">
                        <a:solidFill>
                          <a:srgbClr val="2D092F"/>
                        </a:solidFill>
                      </a:endParaRPr>
                    </a:p>
                    <a:p>
                      <a:pPr indent="0" lvl="0" marL="0" rtl="0" algn="ctr">
                        <a:spcBef>
                          <a:spcPts val="0"/>
                        </a:spcBef>
                        <a:spcAft>
                          <a:spcPts val="0"/>
                        </a:spcAft>
                        <a:buNone/>
                      </a:pPr>
                      <a:r>
                        <a:rPr b="1" lang="en" sz="1000">
                          <a:solidFill>
                            <a:srgbClr val="2D092F"/>
                          </a:solidFill>
                        </a:rPr>
                        <a:t>Analyse Results / Feedbacks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Iterate</a:t>
                      </a:r>
                      <a:endParaRPr b="1" sz="1000">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FFAB40">
                        <a:alpha val="87150"/>
                      </a:srgbClr>
                    </a:solidFill>
                  </a:tcPr>
                </a:tc>
                <a:tc>
                  <a:txBody>
                    <a:bodyPr/>
                    <a:lstStyle/>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To include in your process:</a:t>
                      </a:r>
                      <a:endParaRPr b="1" sz="1000">
                        <a:solidFill>
                          <a:srgbClr val="2D092F"/>
                        </a:solidFill>
                      </a:endParaRPr>
                    </a:p>
                    <a:p>
                      <a:pPr indent="0" lvl="0" marL="0" rtl="0" algn="ctr">
                        <a:spcBef>
                          <a:spcPts val="0"/>
                        </a:spcBef>
                        <a:spcAft>
                          <a:spcPts val="0"/>
                        </a:spcAft>
                        <a:buNone/>
                      </a:pPr>
                      <a:r>
                        <a:t/>
                      </a:r>
                      <a:endParaRPr b="1" sz="1000">
                        <a:solidFill>
                          <a:srgbClr val="2D092F"/>
                        </a:solidFill>
                      </a:endParaRPr>
                    </a:p>
                    <a:p>
                      <a:pPr indent="0" lvl="0" marL="0" rtl="0" algn="ctr">
                        <a:spcBef>
                          <a:spcPts val="0"/>
                        </a:spcBef>
                        <a:spcAft>
                          <a:spcPts val="0"/>
                        </a:spcAft>
                        <a:buNone/>
                      </a:pPr>
                      <a:r>
                        <a:rPr b="1" lang="en" sz="1000">
                          <a:solidFill>
                            <a:srgbClr val="2D092F"/>
                          </a:solidFill>
                        </a:rPr>
                        <a:t>Internal Discussions</a:t>
                      </a:r>
                      <a:endParaRPr b="1" sz="1000">
                        <a:solidFill>
                          <a:srgbClr val="2D092F"/>
                        </a:solidFill>
                      </a:endParaRPr>
                    </a:p>
                    <a:p>
                      <a:pPr indent="0" lvl="0" marL="0" rtl="0" algn="ctr">
                        <a:spcBef>
                          <a:spcPts val="0"/>
                        </a:spcBef>
                        <a:spcAft>
                          <a:spcPts val="0"/>
                        </a:spcAft>
                        <a:buNone/>
                      </a:pPr>
                      <a:r>
                        <a:rPr b="1" lang="en" sz="1000">
                          <a:solidFill>
                            <a:srgbClr val="2D092F"/>
                          </a:solidFill>
                        </a:rPr>
                        <a:t>Slide Creation</a:t>
                      </a:r>
                      <a:endParaRPr b="1" sz="1000">
                        <a:solidFill>
                          <a:srgbClr val="2D092F"/>
                        </a:solidFill>
                      </a:endParaRPr>
                    </a:p>
                    <a:p>
                      <a:pPr indent="0" lvl="0" marL="0" rtl="0" algn="ctr">
                        <a:spcBef>
                          <a:spcPts val="0"/>
                        </a:spcBef>
                        <a:spcAft>
                          <a:spcPts val="0"/>
                        </a:spcAft>
                        <a:buNone/>
                      </a:pPr>
                      <a:r>
                        <a:rPr b="1" lang="en" sz="1000">
                          <a:solidFill>
                            <a:srgbClr val="2D092F"/>
                          </a:solidFill>
                        </a:rPr>
                        <a:t>Rehearsals</a:t>
                      </a:r>
                      <a:endParaRPr b="1" sz="1000">
                        <a:solidFill>
                          <a:srgbClr val="2D092F"/>
                        </a:solidFill>
                      </a:endParaRPr>
                    </a:p>
                    <a:p>
                      <a:pPr indent="0" lvl="0" marL="0" rtl="0" algn="ctr">
                        <a:spcBef>
                          <a:spcPts val="0"/>
                        </a:spcBef>
                        <a:spcAft>
                          <a:spcPts val="0"/>
                        </a:spcAft>
                        <a:buNone/>
                      </a:pPr>
                      <a:r>
                        <a:t/>
                      </a:r>
                      <a:endParaRPr b="1">
                        <a:solidFill>
                          <a:srgbClr val="2D092F"/>
                        </a:solidFill>
                      </a:endParaRPr>
                    </a:p>
                  </a:txBody>
                  <a:tcPr marT="91425" marB="91425" marR="91425" marL="91425">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accent4"/>
                    </a:solidFill>
                  </a:tcPr>
                </a:tc>
              </a:tr>
            </a:tbl>
          </a:graphicData>
        </a:graphic>
      </p:graphicFrame>
      <p:sp>
        <p:nvSpPr>
          <p:cNvPr id="243" name="Google Shape;243;p27"/>
          <p:cNvSpPr/>
          <p:nvPr/>
        </p:nvSpPr>
        <p:spPr>
          <a:xfrm>
            <a:off x="91807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44" name="Google Shape;244;p27"/>
          <p:cNvSpPr/>
          <p:nvPr/>
        </p:nvSpPr>
        <p:spPr>
          <a:xfrm>
            <a:off x="24961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Hi-Fi Screens</a:t>
            </a:r>
            <a:endParaRPr b="1" sz="1000">
              <a:solidFill>
                <a:srgbClr val="421E44"/>
              </a:solidFill>
            </a:endParaRPr>
          </a:p>
        </p:txBody>
      </p:sp>
      <p:sp>
        <p:nvSpPr>
          <p:cNvPr id="245" name="Google Shape;245;p27"/>
          <p:cNvSpPr/>
          <p:nvPr/>
        </p:nvSpPr>
        <p:spPr>
          <a:xfrm>
            <a:off x="406755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Prototype</a:t>
            </a:r>
            <a:endParaRPr b="1" sz="1000">
              <a:solidFill>
                <a:srgbClr val="421E44"/>
              </a:solidFill>
            </a:endParaRPr>
          </a:p>
        </p:txBody>
      </p:sp>
      <p:sp>
        <p:nvSpPr>
          <p:cNvPr id="246" name="Google Shape;246;p27"/>
          <p:cNvSpPr/>
          <p:nvPr/>
        </p:nvSpPr>
        <p:spPr>
          <a:xfrm>
            <a:off x="5592802"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Final Testing</a:t>
            </a:r>
            <a:endParaRPr b="1" sz="1000">
              <a:solidFill>
                <a:srgbClr val="421E44"/>
              </a:solidFill>
            </a:endParaRPr>
          </a:p>
        </p:txBody>
      </p:sp>
      <p:sp>
        <p:nvSpPr>
          <p:cNvPr id="247" name="Google Shape;247;p27"/>
          <p:cNvSpPr/>
          <p:nvPr/>
        </p:nvSpPr>
        <p:spPr>
          <a:xfrm>
            <a:off x="7138927" y="1999450"/>
            <a:ext cx="1161300" cy="485700"/>
          </a:xfrm>
          <a:prstGeom prst="rect">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421E44"/>
                </a:solidFill>
              </a:rPr>
              <a:t>Presentation</a:t>
            </a:r>
            <a:endParaRPr b="1" sz="1000">
              <a:solidFill>
                <a:srgbClr val="421E44"/>
              </a:solidFill>
            </a:endParaRPr>
          </a:p>
          <a:p>
            <a:pPr indent="0" lvl="0" marL="0" rtl="0" algn="ctr">
              <a:spcBef>
                <a:spcPts val="0"/>
              </a:spcBef>
              <a:spcAft>
                <a:spcPts val="0"/>
              </a:spcAft>
              <a:buNone/>
            </a:pPr>
            <a:r>
              <a:rPr b="1" lang="en" sz="1000">
                <a:solidFill>
                  <a:srgbClr val="421E44"/>
                </a:solidFill>
              </a:rPr>
              <a:t>preparation</a:t>
            </a:r>
            <a:endParaRPr b="1" sz="1000">
              <a:solidFill>
                <a:srgbClr val="421E44"/>
              </a:solidFill>
            </a:endParaRPr>
          </a:p>
        </p:txBody>
      </p:sp>
      <p:sp>
        <p:nvSpPr>
          <p:cNvPr id="248" name="Google Shape;248;p27"/>
          <p:cNvSpPr/>
          <p:nvPr/>
        </p:nvSpPr>
        <p:spPr>
          <a:xfrm>
            <a:off x="1421325"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
          <p:cNvSpPr/>
          <p:nvPr/>
        </p:nvSpPr>
        <p:spPr>
          <a:xfrm>
            <a:off x="29994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44946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
          <p:cNvSpPr/>
          <p:nvPr/>
        </p:nvSpPr>
        <p:spPr>
          <a:xfrm>
            <a:off x="609605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
          <p:cNvSpPr/>
          <p:nvPr/>
        </p:nvSpPr>
        <p:spPr>
          <a:xfrm>
            <a:off x="7697500" y="2632616"/>
            <a:ext cx="154800" cy="165900"/>
          </a:xfrm>
          <a:prstGeom prst="ellipse">
            <a:avLst/>
          </a:prstGeom>
          <a:solidFill>
            <a:srgbClr val="F6F8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Requirement &amp; Submit Idea</a:t>
            </a:r>
            <a:endParaRPr/>
          </a:p>
        </p:txBody>
      </p:sp>
      <p:sp>
        <p:nvSpPr>
          <p:cNvPr id="259" name="Google Shape;259;p28"/>
          <p:cNvSpPr txBox="1"/>
          <p:nvPr/>
        </p:nvSpPr>
        <p:spPr>
          <a:xfrm>
            <a:off x="648600" y="1036325"/>
            <a:ext cx="3916500" cy="367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Requirement &amp; Submit Idea</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rgbClr val="F2AB2F"/>
                </a:solidFill>
                <a:latin typeface="Montserrat"/>
                <a:ea typeface="Montserrat"/>
                <a:cs typeface="Montserrat"/>
                <a:sym typeface="Montserrat"/>
              </a:rPr>
              <a:t>MVP</a:t>
            </a:r>
            <a:endParaRPr b="1" sz="1000">
              <a:solidFill>
                <a:srgbClr val="F2AB2F"/>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Registrasi (email &amp; password)</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Implementasi in app notification (notif lonceng)</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Profile detail (foto, no. Hp, alamat tinggal)</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1"/>
              </a:buClr>
              <a:buSzPts val="1000"/>
              <a:buFont typeface="Montserrat Medium"/>
              <a:buAutoNum type="arabicPeriod"/>
            </a:pPr>
            <a:r>
              <a:rPr lang="en" sz="1000">
                <a:solidFill>
                  <a:schemeClr val="dk1"/>
                </a:solidFill>
                <a:latin typeface="Montserrat Medium"/>
                <a:ea typeface="Montserrat Medium"/>
                <a:cs typeface="Montserrat Medium"/>
                <a:sym typeface="Montserrat Medium"/>
              </a:rPr>
              <a:t>Transaksi history (bagi user sebagai buyer)</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rgbClr val="F2AB2F"/>
                </a:solidFill>
                <a:latin typeface="Montserrat"/>
                <a:ea typeface="Montserrat"/>
                <a:cs typeface="Montserrat"/>
                <a:sym typeface="Montserrat"/>
              </a:rPr>
              <a:t>Role</a:t>
            </a:r>
            <a:endParaRPr b="1" sz="1000">
              <a:solidFill>
                <a:srgbClr val="F2AB2F"/>
              </a:solidFill>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Buyer</a:t>
            </a:r>
            <a:endParaRPr b="1" sz="1000">
              <a:solidFill>
                <a:schemeClr val="dk1"/>
              </a:solidFill>
              <a:latin typeface="Montserrat"/>
              <a:ea typeface="Montserrat"/>
              <a:cs typeface="Montserrat"/>
              <a:sym typeface="Montserrat"/>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Listing jualan dari user lain (gambar, deskripsi, harga, dan lokasi)</a:t>
            </a:r>
            <a:endParaRPr sz="1000">
              <a:solidFill>
                <a:schemeClr val="dk1"/>
              </a:solidFill>
              <a:latin typeface="Montserrat Medium"/>
              <a:ea typeface="Montserrat Medium"/>
              <a:cs typeface="Montserrat Medium"/>
              <a:sym typeface="Montserrat Medium"/>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Wishlist user di data lokal</a:t>
            </a:r>
            <a:endParaRPr sz="1000">
              <a:solidFill>
                <a:schemeClr val="dk1"/>
              </a:solidFill>
              <a:latin typeface="Montserrat Medium"/>
              <a:ea typeface="Montserrat Medium"/>
              <a:cs typeface="Montserrat Medium"/>
              <a:sym typeface="Montserrat Medium"/>
            </a:endParaRPr>
          </a:p>
          <a:p>
            <a:pPr indent="-292100" lvl="0" marL="457200" rtl="0" algn="l">
              <a:lnSpc>
                <a:spcPct val="115000"/>
              </a:lnSpc>
              <a:spcBef>
                <a:spcPts val="0"/>
              </a:spcBef>
              <a:spcAft>
                <a:spcPts val="0"/>
              </a:spcAft>
              <a:buClr>
                <a:schemeClr val="dk1"/>
              </a:buClr>
              <a:buSzPts val="1000"/>
              <a:buFont typeface="Montserrat"/>
              <a:buAutoNum type="arabicPeriod"/>
            </a:pPr>
            <a:r>
              <a:rPr b="1" lang="en" sz="1000">
                <a:solidFill>
                  <a:schemeClr val="dk1"/>
                </a:solidFill>
                <a:latin typeface="Montserrat"/>
                <a:ea typeface="Montserrat"/>
                <a:cs typeface="Montserrat"/>
                <a:sym typeface="Montserrat"/>
              </a:rPr>
              <a:t>Seller</a:t>
            </a:r>
            <a:endParaRPr b="1" sz="1000">
              <a:solidFill>
                <a:schemeClr val="dk1"/>
              </a:solidFill>
              <a:latin typeface="Montserrat"/>
              <a:ea typeface="Montserrat"/>
              <a:cs typeface="Montserrat"/>
              <a:sym typeface="Montserrat"/>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Seller punya page sendiri (Product list / My Product)</a:t>
            </a:r>
            <a:endParaRPr sz="1000">
              <a:solidFill>
                <a:schemeClr val="dk1"/>
              </a:solidFill>
              <a:latin typeface="Montserrat Medium"/>
              <a:ea typeface="Montserrat Medium"/>
              <a:cs typeface="Montserrat Medium"/>
              <a:sym typeface="Montserrat Medium"/>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Seller bisa CRUD item listing (gambar, deskripsi, harga lokasi)</a:t>
            </a:r>
            <a:endParaRPr sz="1000">
              <a:solidFill>
                <a:schemeClr val="dk1"/>
              </a:solidFill>
              <a:latin typeface="Montserrat Medium"/>
              <a:ea typeface="Montserrat Medium"/>
              <a:cs typeface="Montserrat Medium"/>
              <a:sym typeface="Montserrat Medium"/>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Item yang dijual dibuat 5 kategori</a:t>
            </a:r>
            <a:endParaRPr sz="1000">
              <a:solidFill>
                <a:schemeClr val="dk1"/>
              </a:solidFill>
              <a:latin typeface="Montserrat Medium"/>
              <a:ea typeface="Montserrat Medium"/>
              <a:cs typeface="Montserrat Medium"/>
              <a:sym typeface="Montserrat Medium"/>
            </a:endParaRPr>
          </a:p>
          <a:p>
            <a:pPr indent="-177800" lvl="0" marL="457200" rtl="0" algn="l">
              <a:lnSpc>
                <a:spcPct val="115000"/>
              </a:lnSpc>
              <a:spcBef>
                <a:spcPts val="0"/>
              </a:spcBef>
              <a:spcAft>
                <a:spcPts val="0"/>
              </a:spcAft>
              <a:buClr>
                <a:schemeClr val="dk1"/>
              </a:buClr>
              <a:buSzPts val="1000"/>
              <a:buFont typeface="Montserrat Medium"/>
              <a:buChar char="●"/>
            </a:pPr>
            <a:r>
              <a:rPr lang="en" sz="1000">
                <a:solidFill>
                  <a:schemeClr val="dk1"/>
                </a:solidFill>
                <a:latin typeface="Montserrat Medium"/>
                <a:ea typeface="Montserrat Medium"/>
                <a:cs typeface="Montserrat Medium"/>
                <a:sym typeface="Montserrat Medium"/>
              </a:rPr>
              <a:t>Maks postingan jualan / user adalah 4 post</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5" name="Google Shape;265;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Requirement &amp; Submit Idea</a:t>
            </a:r>
            <a:endParaRPr/>
          </a:p>
        </p:txBody>
      </p:sp>
      <p:sp>
        <p:nvSpPr>
          <p:cNvPr id="266" name="Google Shape;266;p29"/>
          <p:cNvSpPr txBox="1"/>
          <p:nvPr/>
        </p:nvSpPr>
        <p:spPr>
          <a:xfrm>
            <a:off x="648600" y="738975"/>
            <a:ext cx="3916500" cy="42318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Requirement &amp; Submit Idea</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b="1" sz="1000">
              <a:solidFill>
                <a:srgbClr val="F2AB2F"/>
              </a:solidFill>
              <a:latin typeface="Montserrat"/>
              <a:ea typeface="Montserrat"/>
              <a:cs typeface="Montserrat"/>
              <a:sym typeface="Montserrat"/>
            </a:endParaRPr>
          </a:p>
          <a:p>
            <a:pPr indent="0" lvl="0" marL="0" rtl="0" algn="l">
              <a:lnSpc>
                <a:spcPct val="115000"/>
              </a:lnSpc>
              <a:spcBef>
                <a:spcPts val="0"/>
              </a:spcBef>
              <a:spcAft>
                <a:spcPts val="0"/>
              </a:spcAft>
              <a:buNone/>
            </a:pPr>
            <a:r>
              <a:rPr b="1" lang="en" sz="1100">
                <a:solidFill>
                  <a:srgbClr val="F2AB2F"/>
                </a:solidFill>
                <a:latin typeface="Montserrat"/>
                <a:ea typeface="Montserrat"/>
                <a:cs typeface="Montserrat"/>
                <a:sym typeface="Montserrat"/>
              </a:rPr>
              <a:t>Aspect in general: </a:t>
            </a:r>
            <a:endParaRPr b="1" sz="1100">
              <a:solidFill>
                <a:srgbClr val="F2AB2F"/>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Memenuhi aspek untuk mendukung kebutuhan user dan bisnis</a:t>
            </a:r>
            <a:endParaRPr sz="1000">
              <a:solidFill>
                <a:schemeClr val="dk1"/>
              </a:solidFill>
              <a:latin typeface="Montserrat"/>
              <a:ea typeface="Montserrat"/>
              <a:cs typeface="Montserrat"/>
              <a:sym typeface="Montserrat"/>
            </a:endParaRPr>
          </a:p>
          <a:p>
            <a:pPr indent="0" lvl="0" marL="0" rtl="0" algn="l">
              <a:lnSpc>
                <a:spcPct val="115000"/>
              </a:lnSpc>
              <a:spcBef>
                <a:spcPts val="1000"/>
              </a:spcBef>
              <a:spcAft>
                <a:spcPts val="0"/>
              </a:spcAft>
              <a:buNone/>
            </a:pPr>
            <a:r>
              <a:rPr b="1" lang="en" sz="1100">
                <a:solidFill>
                  <a:srgbClr val="F2AB2F"/>
                </a:solidFill>
                <a:latin typeface="Montserrat"/>
                <a:ea typeface="Montserrat"/>
                <a:cs typeface="Montserrat"/>
                <a:sym typeface="Montserrat"/>
              </a:rPr>
              <a:t>Design Interface: </a:t>
            </a:r>
            <a:endParaRPr sz="11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Menerapkan konsep desain atomik dengan mengimplementasikannya dalam sistem desain</a:t>
            </a:r>
            <a:endParaRPr sz="1000">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Menggunakan desain material standar komponen (Android dan iOS)</a:t>
            </a:r>
            <a:endParaRPr sz="1000">
              <a:solidFill>
                <a:schemeClr val="dk1"/>
              </a:solidFill>
              <a:latin typeface="Montserrat"/>
              <a:ea typeface="Montserrat"/>
              <a:cs typeface="Montserrat"/>
              <a:sym typeface="Montserrat"/>
            </a:endParaRPr>
          </a:p>
          <a:p>
            <a:pPr indent="0" lvl="0" marL="457200" rtl="0" algn="l">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Requirement &amp; Submit Idea</a:t>
            </a:r>
            <a:endParaRPr/>
          </a:p>
        </p:txBody>
      </p:sp>
      <p:sp>
        <p:nvSpPr>
          <p:cNvPr id="273" name="Google Shape;273;p30"/>
          <p:cNvSpPr txBox="1"/>
          <p:nvPr/>
        </p:nvSpPr>
        <p:spPr>
          <a:xfrm>
            <a:off x="685800" y="990600"/>
            <a:ext cx="4309500" cy="3162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100">
                <a:solidFill>
                  <a:srgbClr val="F2AB2F"/>
                </a:solidFill>
                <a:latin typeface="Montserrat"/>
                <a:ea typeface="Montserrat"/>
                <a:cs typeface="Montserrat"/>
                <a:sym typeface="Montserrat"/>
              </a:rPr>
              <a:t>Research &amp; Validation: </a:t>
            </a:r>
            <a:endParaRPr sz="1100">
              <a:solidFill>
                <a:schemeClr val="dk1"/>
              </a:solidFill>
              <a:latin typeface="Montserrat Medium"/>
              <a:ea typeface="Montserrat Medium"/>
              <a:cs typeface="Montserrat Medium"/>
              <a:sym typeface="Montserrat Medium"/>
            </a:endParaRPr>
          </a:p>
          <a:p>
            <a:pPr indent="-177800" lvl="0" marL="2286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Untuk fase eksplorasi diperbolehkan untuk menggunakan primary maupun secondary research.</a:t>
            </a:r>
            <a:endParaRPr sz="1000">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Untuk validasi dan testing wajib melakukan Usability Testing (UT) dengan jumlah minimum 5 participant.</a:t>
            </a:r>
            <a:endParaRPr sz="1000">
              <a:solidFill>
                <a:schemeClr val="dk1"/>
              </a:solidFill>
              <a:latin typeface="Montserrat"/>
              <a:ea typeface="Montserrat"/>
              <a:cs typeface="Montserrat"/>
              <a:sym typeface="Montserrat"/>
            </a:endParaRPr>
          </a:p>
          <a:p>
            <a:pPr indent="-177800" lvl="0" marL="2286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Dokumen UX report dengan format UX Portfolio dengan minimal berisi: </a:t>
            </a:r>
            <a:endParaRPr sz="1000">
              <a:solidFill>
                <a:schemeClr val="dk1"/>
              </a:solidFill>
              <a:latin typeface="Montserrat"/>
              <a:ea typeface="Montserrat"/>
              <a:cs typeface="Montserrat"/>
              <a:sym typeface="Montserrat"/>
            </a:endParaRPr>
          </a:p>
          <a:p>
            <a:pPr indent="0" lvl="0" marL="2286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 Context/Overview</a:t>
            </a:r>
            <a:endParaRPr sz="1000">
              <a:solidFill>
                <a:schemeClr val="dk1"/>
              </a:solidFill>
              <a:latin typeface="Montserrat"/>
              <a:ea typeface="Montserrat"/>
              <a:cs typeface="Montserrat"/>
              <a:sym typeface="Montserrat"/>
            </a:endParaRPr>
          </a:p>
          <a:p>
            <a:pPr indent="0" lvl="0" marL="2286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 Problem Statement</a:t>
            </a:r>
            <a:endParaRPr sz="1000">
              <a:solidFill>
                <a:schemeClr val="dk1"/>
              </a:solidFill>
              <a:latin typeface="Montserrat"/>
              <a:ea typeface="Montserrat"/>
              <a:cs typeface="Montserrat"/>
              <a:sym typeface="Montserrat"/>
            </a:endParaRPr>
          </a:p>
          <a:p>
            <a:pPr indent="0" lvl="0" marL="2286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 Approach &amp; Process</a:t>
            </a:r>
            <a:endParaRPr sz="1000">
              <a:solidFill>
                <a:schemeClr val="dk1"/>
              </a:solidFill>
              <a:latin typeface="Montserrat"/>
              <a:ea typeface="Montserrat"/>
              <a:cs typeface="Montserrat"/>
              <a:sym typeface="Montserrat"/>
            </a:endParaRPr>
          </a:p>
          <a:p>
            <a:pPr indent="0" lvl="0" marL="2286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 Design solution/Output</a:t>
            </a:r>
            <a:endParaRPr sz="1000">
              <a:solidFill>
                <a:schemeClr val="dk1"/>
              </a:solidFill>
              <a:latin typeface="Montserrat"/>
              <a:ea typeface="Montserrat"/>
              <a:cs typeface="Montserrat"/>
              <a:sym typeface="Montserrat"/>
            </a:endParaRPr>
          </a:p>
          <a:p>
            <a:pPr indent="0" lvl="0" marL="228600" rtl="0" algn="just">
              <a:lnSpc>
                <a:spcPct val="115000"/>
              </a:lnSpc>
              <a:spcBef>
                <a:spcPts val="0"/>
              </a:spcBef>
              <a:spcAft>
                <a:spcPts val="1000"/>
              </a:spcAft>
              <a:buNone/>
            </a:pPr>
            <a:r>
              <a:rPr lang="en" sz="1000">
                <a:solidFill>
                  <a:schemeClr val="dk1"/>
                </a:solidFill>
                <a:latin typeface="Montserrat"/>
                <a:ea typeface="Montserrat"/>
                <a:cs typeface="Montserrat"/>
                <a:sym typeface="Montserrat"/>
              </a:rPr>
              <a:t>e. Outcome</a:t>
            </a:r>
            <a:endParaRPr sz="1000">
              <a:solidFill>
                <a:schemeClr val="dk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Interface Aplikasi</a:t>
            </a:r>
            <a:endParaRPr/>
          </a:p>
        </p:txBody>
      </p:sp>
      <p:sp>
        <p:nvSpPr>
          <p:cNvPr id="280" name="Google Shape;280;p31"/>
          <p:cNvSpPr txBox="1"/>
          <p:nvPr/>
        </p:nvSpPr>
        <p:spPr>
          <a:xfrm>
            <a:off x="648600" y="864875"/>
            <a:ext cx="7579200" cy="427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Referensi Interface Aplikasi</a:t>
            </a:r>
            <a:endParaRPr sz="1000">
              <a:solidFill>
                <a:schemeClr val="dk1"/>
              </a:solidFill>
              <a:latin typeface="Montserrat Medium"/>
              <a:ea typeface="Montserrat Medium"/>
              <a:cs typeface="Montserrat Medium"/>
              <a:sym typeface="Montserrat Medium"/>
            </a:endParaRPr>
          </a:p>
          <a:p>
            <a:pPr indent="0" lvl="0" marL="0" rtl="0" algn="ctr">
              <a:lnSpc>
                <a:spcPct val="115000"/>
              </a:lnSpc>
              <a:spcBef>
                <a:spcPts val="0"/>
              </a:spcBef>
              <a:spcAft>
                <a:spcPts val="1000"/>
              </a:spcAft>
              <a:buNone/>
            </a:pPr>
            <a:r>
              <a:t/>
            </a:r>
            <a:endParaRPr sz="1000">
              <a:solidFill>
                <a:schemeClr val="dk1"/>
              </a:solidFill>
              <a:latin typeface="Montserrat Medium"/>
              <a:ea typeface="Montserrat Medium"/>
              <a:cs typeface="Montserrat Medium"/>
              <a:sym typeface="Montserrat Medium"/>
            </a:endParaRPr>
          </a:p>
        </p:txBody>
      </p:sp>
      <p:pic>
        <p:nvPicPr>
          <p:cNvPr id="281" name="Google Shape;281;p31"/>
          <p:cNvPicPr preferRelativeResize="0"/>
          <p:nvPr/>
        </p:nvPicPr>
        <p:blipFill rotWithShape="1">
          <a:blip r:embed="rId3">
            <a:alphaModFix/>
          </a:blip>
          <a:srcRect b="16355" l="17878" r="63762" t="22616"/>
          <a:stretch/>
        </p:blipFill>
        <p:spPr>
          <a:xfrm>
            <a:off x="2007325" y="1270200"/>
            <a:ext cx="1644350" cy="3073200"/>
          </a:xfrm>
          <a:prstGeom prst="rect">
            <a:avLst/>
          </a:prstGeom>
          <a:noFill/>
          <a:ln>
            <a:noFill/>
          </a:ln>
        </p:spPr>
      </p:pic>
      <p:pic>
        <p:nvPicPr>
          <p:cNvPr id="282" name="Google Shape;282;p31"/>
          <p:cNvPicPr preferRelativeResize="0"/>
          <p:nvPr/>
        </p:nvPicPr>
        <p:blipFill rotWithShape="1">
          <a:blip r:embed="rId3">
            <a:alphaModFix/>
          </a:blip>
          <a:srcRect b="16355" l="40470" r="41170" t="22616"/>
          <a:stretch/>
        </p:blipFill>
        <p:spPr>
          <a:xfrm>
            <a:off x="3741738" y="1270200"/>
            <a:ext cx="1644350" cy="3073200"/>
          </a:xfrm>
          <a:prstGeom prst="rect">
            <a:avLst/>
          </a:prstGeom>
          <a:noFill/>
          <a:ln>
            <a:noFill/>
          </a:ln>
        </p:spPr>
      </p:pic>
      <p:pic>
        <p:nvPicPr>
          <p:cNvPr id="283" name="Google Shape;283;p31"/>
          <p:cNvPicPr preferRelativeResize="0"/>
          <p:nvPr/>
        </p:nvPicPr>
        <p:blipFill rotWithShape="1">
          <a:blip r:embed="rId3">
            <a:alphaModFix/>
          </a:blip>
          <a:srcRect b="16355" l="63226" r="18414" t="22616"/>
          <a:stretch/>
        </p:blipFill>
        <p:spPr>
          <a:xfrm>
            <a:off x="7197163" y="1270200"/>
            <a:ext cx="1644350" cy="3073200"/>
          </a:xfrm>
          <a:prstGeom prst="rect">
            <a:avLst/>
          </a:prstGeom>
          <a:noFill/>
          <a:ln>
            <a:noFill/>
          </a:ln>
        </p:spPr>
      </p:pic>
      <p:pic>
        <p:nvPicPr>
          <p:cNvPr id="284" name="Google Shape;284;p31"/>
          <p:cNvPicPr preferRelativeResize="0"/>
          <p:nvPr/>
        </p:nvPicPr>
        <p:blipFill rotWithShape="1">
          <a:blip r:embed="rId4">
            <a:alphaModFix/>
          </a:blip>
          <a:srcRect b="17737" l="18060" r="63459" t="21268"/>
          <a:stretch/>
        </p:blipFill>
        <p:spPr>
          <a:xfrm>
            <a:off x="5469450" y="1270200"/>
            <a:ext cx="1644350" cy="3051356"/>
          </a:xfrm>
          <a:prstGeom prst="rect">
            <a:avLst/>
          </a:prstGeom>
          <a:noFill/>
          <a:ln>
            <a:noFill/>
          </a:ln>
        </p:spPr>
      </p:pic>
      <p:pic>
        <p:nvPicPr>
          <p:cNvPr id="285" name="Google Shape;285;p31"/>
          <p:cNvPicPr preferRelativeResize="0"/>
          <p:nvPr/>
        </p:nvPicPr>
        <p:blipFill rotWithShape="1">
          <a:blip r:embed="rId5">
            <a:alphaModFix/>
          </a:blip>
          <a:srcRect b="7358" l="19194" r="59157" t="19273"/>
          <a:stretch/>
        </p:blipFill>
        <p:spPr>
          <a:xfrm>
            <a:off x="315920" y="1270200"/>
            <a:ext cx="1601331" cy="3051350"/>
          </a:xfrm>
          <a:prstGeom prst="rect">
            <a:avLst/>
          </a:prstGeom>
          <a:noFill/>
          <a:ln>
            <a:noFill/>
          </a:ln>
        </p:spPr>
      </p:pic>
      <p:sp>
        <p:nvSpPr>
          <p:cNvPr id="286" name="Google Shape;286;p31"/>
          <p:cNvSpPr txBox="1"/>
          <p:nvPr/>
        </p:nvSpPr>
        <p:spPr>
          <a:xfrm>
            <a:off x="801000" y="4553650"/>
            <a:ext cx="7579200" cy="427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1000"/>
              </a:spcAft>
              <a:buNone/>
            </a:pPr>
            <a:r>
              <a:rPr b="1" lang="en" sz="1000" u="sng">
                <a:solidFill>
                  <a:srgbClr val="0097A7"/>
                </a:solidFill>
                <a:highlight>
                  <a:srgbClr val="FFFFFF"/>
                </a:highlight>
                <a:latin typeface="Montserrat"/>
                <a:ea typeface="Montserrat"/>
                <a:cs typeface="Montserrat"/>
                <a:sym typeface="Montserrat"/>
                <a:hlinkClick r:id="rId6">
                  <a:extLst>
                    <a:ext uri="{A12FA001-AC4F-418D-AE19-62706E023703}">
                      <ahyp:hlinkClr val="tx"/>
                    </a:ext>
                  </a:extLst>
                </a:hlinkClick>
              </a:rPr>
              <a:t>Tampilan layout klik disini!</a:t>
            </a:r>
            <a:endParaRPr b="1" sz="1000">
              <a:solidFill>
                <a:srgbClr val="000000"/>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Interface Aplikasi</a:t>
            </a:r>
            <a:endParaRPr/>
          </a:p>
        </p:txBody>
      </p:sp>
      <p:sp>
        <p:nvSpPr>
          <p:cNvPr id="293" name="Google Shape;293;p32"/>
          <p:cNvSpPr txBox="1"/>
          <p:nvPr/>
        </p:nvSpPr>
        <p:spPr>
          <a:xfrm>
            <a:off x="648600" y="738975"/>
            <a:ext cx="7579200" cy="5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Referensi Interface Aplikasi</a:t>
            </a:r>
            <a:endParaRPr b="1" sz="1600">
              <a:solidFill>
                <a:srgbClr val="743673"/>
              </a:solidFill>
              <a:highlight>
                <a:schemeClr val="lt1"/>
              </a:highlight>
              <a:latin typeface="Montserrat"/>
              <a:ea typeface="Montserrat"/>
              <a:cs typeface="Montserrat"/>
              <a:sym typeface="Montserrat"/>
            </a:endParaRPr>
          </a:p>
          <a:p>
            <a:pPr indent="0" lvl="0" marL="0" rtl="0" algn="ctr">
              <a:lnSpc>
                <a:spcPct val="100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(Seller)</a:t>
            </a:r>
            <a:endParaRPr b="1" sz="1600">
              <a:solidFill>
                <a:srgbClr val="743673"/>
              </a:solidFill>
              <a:highlight>
                <a:schemeClr val="lt1"/>
              </a:highlight>
              <a:latin typeface="Montserrat"/>
              <a:ea typeface="Montserrat"/>
              <a:cs typeface="Montserrat"/>
              <a:sym typeface="Montserrat"/>
            </a:endParaRPr>
          </a:p>
          <a:p>
            <a:pPr indent="0" lvl="0" marL="0" rtl="0" algn="ctr">
              <a:lnSpc>
                <a:spcPct val="100000"/>
              </a:lnSpc>
              <a:spcBef>
                <a:spcPts val="0"/>
              </a:spcBef>
              <a:spcAft>
                <a:spcPts val="1000"/>
              </a:spcAft>
              <a:buNone/>
            </a:pPr>
            <a:r>
              <a:t/>
            </a:r>
            <a:endParaRPr sz="1000">
              <a:solidFill>
                <a:schemeClr val="dk1"/>
              </a:solidFill>
              <a:latin typeface="Montserrat Medium"/>
              <a:ea typeface="Montserrat Medium"/>
              <a:cs typeface="Montserrat Medium"/>
              <a:sym typeface="Montserrat Medium"/>
            </a:endParaRPr>
          </a:p>
        </p:txBody>
      </p:sp>
      <p:pic>
        <p:nvPicPr>
          <p:cNvPr id="294" name="Google Shape;294;p32"/>
          <p:cNvPicPr preferRelativeResize="0"/>
          <p:nvPr/>
        </p:nvPicPr>
        <p:blipFill rotWithShape="1">
          <a:blip r:embed="rId3">
            <a:alphaModFix/>
          </a:blip>
          <a:srcRect b="15423" l="20904" r="60067" t="19747"/>
          <a:stretch/>
        </p:blipFill>
        <p:spPr>
          <a:xfrm>
            <a:off x="1018641" y="1317400"/>
            <a:ext cx="1692382" cy="3241882"/>
          </a:xfrm>
          <a:prstGeom prst="rect">
            <a:avLst/>
          </a:prstGeom>
          <a:noFill/>
          <a:ln>
            <a:noFill/>
          </a:ln>
        </p:spPr>
      </p:pic>
      <p:pic>
        <p:nvPicPr>
          <p:cNvPr id="295" name="Google Shape;295;p32"/>
          <p:cNvPicPr preferRelativeResize="0"/>
          <p:nvPr/>
        </p:nvPicPr>
        <p:blipFill rotWithShape="1">
          <a:blip r:embed="rId3">
            <a:alphaModFix/>
          </a:blip>
          <a:srcRect b="15423" l="43231" r="37740" t="19747"/>
          <a:stretch/>
        </p:blipFill>
        <p:spPr>
          <a:xfrm>
            <a:off x="2823417" y="1317400"/>
            <a:ext cx="1692382" cy="3241882"/>
          </a:xfrm>
          <a:prstGeom prst="rect">
            <a:avLst/>
          </a:prstGeom>
          <a:noFill/>
          <a:ln>
            <a:noFill/>
          </a:ln>
        </p:spPr>
      </p:pic>
      <p:pic>
        <p:nvPicPr>
          <p:cNvPr id="296" name="Google Shape;296;p32"/>
          <p:cNvPicPr preferRelativeResize="0"/>
          <p:nvPr/>
        </p:nvPicPr>
        <p:blipFill rotWithShape="1">
          <a:blip r:embed="rId4">
            <a:alphaModFix/>
          </a:blip>
          <a:srcRect b="15508" l="26837" r="54349" t="20141"/>
          <a:stretch/>
        </p:blipFill>
        <p:spPr>
          <a:xfrm>
            <a:off x="4628193" y="1317400"/>
            <a:ext cx="1692382" cy="3254600"/>
          </a:xfrm>
          <a:prstGeom prst="rect">
            <a:avLst/>
          </a:prstGeom>
          <a:noFill/>
          <a:ln>
            <a:noFill/>
          </a:ln>
        </p:spPr>
      </p:pic>
      <p:pic>
        <p:nvPicPr>
          <p:cNvPr id="297" name="Google Shape;297;p32"/>
          <p:cNvPicPr preferRelativeResize="0"/>
          <p:nvPr/>
        </p:nvPicPr>
        <p:blipFill rotWithShape="1">
          <a:blip r:embed="rId4">
            <a:alphaModFix/>
          </a:blip>
          <a:srcRect b="15508" l="49004" r="32181" t="20141"/>
          <a:stretch/>
        </p:blipFill>
        <p:spPr>
          <a:xfrm>
            <a:off x="6432969" y="1317400"/>
            <a:ext cx="1692382" cy="3254600"/>
          </a:xfrm>
          <a:prstGeom prst="rect">
            <a:avLst/>
          </a:prstGeom>
          <a:noFill/>
          <a:ln>
            <a:noFill/>
          </a:ln>
        </p:spPr>
      </p:pic>
      <p:sp>
        <p:nvSpPr>
          <p:cNvPr id="298" name="Google Shape;298;p32"/>
          <p:cNvSpPr txBox="1"/>
          <p:nvPr/>
        </p:nvSpPr>
        <p:spPr>
          <a:xfrm>
            <a:off x="801000" y="4553650"/>
            <a:ext cx="7579200" cy="427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1000"/>
              </a:spcAft>
              <a:buNone/>
            </a:pPr>
            <a:r>
              <a:rPr b="1" lang="en" sz="1000" u="sng">
                <a:solidFill>
                  <a:srgbClr val="0097A7"/>
                </a:solidFill>
                <a:highlight>
                  <a:srgbClr val="FFFFFF"/>
                </a:highlight>
                <a:latin typeface="Montserrat"/>
                <a:ea typeface="Montserrat"/>
                <a:cs typeface="Montserrat"/>
                <a:sym typeface="Montserrat"/>
                <a:hlinkClick r:id="rId5">
                  <a:extLst>
                    <a:ext uri="{A12FA001-AC4F-418D-AE19-62706E023703}">
                      <ahyp:hlinkClr val="tx"/>
                    </a:ext>
                  </a:extLst>
                </a:hlinkClick>
              </a:rPr>
              <a:t>Tampilan layout klik disini!</a:t>
            </a:r>
            <a:endParaRPr b="1" sz="1000">
              <a:solidFill>
                <a:srgbClr val="000000"/>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4" name="Google Shape;304;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Interface Aplikasi</a:t>
            </a:r>
            <a:endParaRPr/>
          </a:p>
        </p:txBody>
      </p:sp>
      <p:sp>
        <p:nvSpPr>
          <p:cNvPr id="305" name="Google Shape;305;p33"/>
          <p:cNvSpPr txBox="1"/>
          <p:nvPr/>
        </p:nvSpPr>
        <p:spPr>
          <a:xfrm>
            <a:off x="648600" y="738975"/>
            <a:ext cx="7579200" cy="5535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Referensi Interface Aplikasi</a:t>
            </a:r>
            <a:endParaRPr b="1" sz="1600">
              <a:solidFill>
                <a:srgbClr val="743673"/>
              </a:solidFill>
              <a:highlight>
                <a:schemeClr val="lt1"/>
              </a:highlight>
              <a:latin typeface="Montserrat"/>
              <a:ea typeface="Montserrat"/>
              <a:cs typeface="Montserrat"/>
              <a:sym typeface="Montserrat"/>
            </a:endParaRPr>
          </a:p>
          <a:p>
            <a:pPr indent="0" lvl="0" marL="0" rtl="0" algn="ctr">
              <a:lnSpc>
                <a:spcPct val="100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(Buyer)</a:t>
            </a:r>
            <a:endParaRPr b="1" sz="1600">
              <a:solidFill>
                <a:srgbClr val="743673"/>
              </a:solidFill>
              <a:highlight>
                <a:schemeClr val="lt1"/>
              </a:highlight>
              <a:latin typeface="Montserrat"/>
              <a:ea typeface="Montserrat"/>
              <a:cs typeface="Montserrat"/>
              <a:sym typeface="Montserrat"/>
            </a:endParaRPr>
          </a:p>
          <a:p>
            <a:pPr indent="0" lvl="0" marL="0" rtl="0" algn="ctr">
              <a:lnSpc>
                <a:spcPct val="100000"/>
              </a:lnSpc>
              <a:spcBef>
                <a:spcPts val="0"/>
              </a:spcBef>
              <a:spcAft>
                <a:spcPts val="1000"/>
              </a:spcAft>
              <a:buNone/>
            </a:pPr>
            <a:r>
              <a:t/>
            </a:r>
            <a:endParaRPr sz="1000">
              <a:solidFill>
                <a:schemeClr val="dk1"/>
              </a:solidFill>
              <a:latin typeface="Montserrat Medium"/>
              <a:ea typeface="Montserrat Medium"/>
              <a:cs typeface="Montserrat Medium"/>
              <a:sym typeface="Montserrat Medium"/>
            </a:endParaRPr>
          </a:p>
        </p:txBody>
      </p:sp>
      <p:pic>
        <p:nvPicPr>
          <p:cNvPr id="306" name="Google Shape;306;p33"/>
          <p:cNvPicPr preferRelativeResize="0"/>
          <p:nvPr/>
        </p:nvPicPr>
        <p:blipFill rotWithShape="1">
          <a:blip r:embed="rId3">
            <a:alphaModFix/>
          </a:blip>
          <a:srcRect b="11217" l="18079" r="63664" t="24535"/>
          <a:stretch/>
        </p:blipFill>
        <p:spPr>
          <a:xfrm>
            <a:off x="926050" y="1303200"/>
            <a:ext cx="1729093" cy="3421200"/>
          </a:xfrm>
          <a:prstGeom prst="rect">
            <a:avLst/>
          </a:prstGeom>
          <a:noFill/>
          <a:ln>
            <a:noFill/>
          </a:ln>
        </p:spPr>
      </p:pic>
      <p:pic>
        <p:nvPicPr>
          <p:cNvPr id="307" name="Google Shape;307;p33"/>
          <p:cNvPicPr preferRelativeResize="0"/>
          <p:nvPr/>
        </p:nvPicPr>
        <p:blipFill rotWithShape="1">
          <a:blip r:embed="rId3">
            <a:alphaModFix/>
          </a:blip>
          <a:srcRect b="11217" l="62414" r="18950" t="24535"/>
          <a:stretch/>
        </p:blipFill>
        <p:spPr>
          <a:xfrm>
            <a:off x="2744343" y="1303200"/>
            <a:ext cx="1765070" cy="3421200"/>
          </a:xfrm>
          <a:prstGeom prst="rect">
            <a:avLst/>
          </a:prstGeom>
          <a:noFill/>
          <a:ln>
            <a:noFill/>
          </a:ln>
        </p:spPr>
      </p:pic>
      <p:pic>
        <p:nvPicPr>
          <p:cNvPr id="308" name="Google Shape;308;p33"/>
          <p:cNvPicPr preferRelativeResize="0"/>
          <p:nvPr/>
        </p:nvPicPr>
        <p:blipFill rotWithShape="1">
          <a:blip r:embed="rId4">
            <a:alphaModFix/>
          </a:blip>
          <a:srcRect b="11198" l="26686" r="54536" t="24331"/>
          <a:stretch/>
        </p:blipFill>
        <p:spPr>
          <a:xfrm>
            <a:off x="4598612" y="1303200"/>
            <a:ext cx="1765070" cy="3407295"/>
          </a:xfrm>
          <a:prstGeom prst="rect">
            <a:avLst/>
          </a:prstGeom>
          <a:noFill/>
          <a:ln>
            <a:noFill/>
          </a:ln>
        </p:spPr>
      </p:pic>
      <p:pic>
        <p:nvPicPr>
          <p:cNvPr id="309" name="Google Shape;309;p33"/>
          <p:cNvPicPr preferRelativeResize="0"/>
          <p:nvPr/>
        </p:nvPicPr>
        <p:blipFill rotWithShape="1">
          <a:blip r:embed="rId4">
            <a:alphaModFix/>
          </a:blip>
          <a:srcRect b="11198" l="48997" r="32225" t="24331"/>
          <a:stretch/>
        </p:blipFill>
        <p:spPr>
          <a:xfrm>
            <a:off x="6452881" y="1303200"/>
            <a:ext cx="1765070" cy="3407295"/>
          </a:xfrm>
          <a:prstGeom prst="rect">
            <a:avLst/>
          </a:prstGeom>
          <a:noFill/>
          <a:ln>
            <a:noFill/>
          </a:ln>
        </p:spPr>
      </p:pic>
      <p:sp>
        <p:nvSpPr>
          <p:cNvPr id="310" name="Google Shape;310;p33"/>
          <p:cNvSpPr txBox="1"/>
          <p:nvPr/>
        </p:nvSpPr>
        <p:spPr>
          <a:xfrm>
            <a:off x="801000" y="4706050"/>
            <a:ext cx="7579200" cy="427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1000"/>
              </a:spcAft>
              <a:buNone/>
            </a:pPr>
            <a:r>
              <a:rPr b="1" lang="en" sz="1000" u="sng">
                <a:solidFill>
                  <a:srgbClr val="0097A7"/>
                </a:solidFill>
                <a:highlight>
                  <a:srgbClr val="FFFFFF"/>
                </a:highlight>
                <a:latin typeface="Montserrat"/>
                <a:ea typeface="Montserrat"/>
                <a:cs typeface="Montserrat"/>
                <a:sym typeface="Montserrat"/>
                <a:hlinkClick r:id="rId5">
                  <a:extLst>
                    <a:ext uri="{A12FA001-AC4F-418D-AE19-62706E023703}">
                      <ahyp:hlinkClr val="tx"/>
                    </a:ext>
                  </a:extLst>
                </a:hlinkClick>
              </a:rPr>
              <a:t>Tampilan layout klik disini!</a:t>
            </a:r>
            <a:endParaRPr b="1" sz="1000">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Deliverable </a:t>
            </a:r>
            <a:endParaRPr/>
          </a:p>
        </p:txBody>
      </p:sp>
      <p:sp>
        <p:nvSpPr>
          <p:cNvPr id="317" name="Google Shape;317;p34"/>
          <p:cNvSpPr txBox="1"/>
          <p:nvPr/>
        </p:nvSpPr>
        <p:spPr>
          <a:xfrm>
            <a:off x="648600" y="1036325"/>
            <a:ext cx="4266000" cy="36714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Deliverable Final Project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1000"/>
              </a:spcBef>
              <a:spcAft>
                <a:spcPts val="0"/>
              </a:spcAft>
              <a:buNone/>
            </a:pPr>
            <a:r>
              <a:rPr lang="en" sz="1000">
                <a:solidFill>
                  <a:schemeClr val="dk1"/>
                </a:solidFill>
                <a:latin typeface="Montserrat Medium"/>
                <a:ea typeface="Montserrat Medium"/>
                <a:cs typeface="Montserrat Medium"/>
                <a:sym typeface="Montserrat Medium"/>
              </a:rPr>
              <a:t>Berikut adalah deliverables dari final project:</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Sebuah unggahan d</a:t>
            </a:r>
            <a:r>
              <a:rPr lang="en" sz="1000">
                <a:solidFill>
                  <a:schemeClr val="dk1"/>
                </a:solidFill>
                <a:latin typeface="Montserrat Medium"/>
                <a:ea typeface="Montserrat Medium"/>
                <a:cs typeface="Montserrat Medium"/>
                <a:sym typeface="Montserrat Medium"/>
              </a:rPr>
              <a:t>esain high fidelity </a:t>
            </a:r>
            <a:r>
              <a:rPr lang="en" sz="1000">
                <a:solidFill>
                  <a:schemeClr val="dk1"/>
                </a:solidFill>
                <a:latin typeface="Montserrat Medium"/>
                <a:ea typeface="Montserrat Medium"/>
                <a:cs typeface="Montserrat Medium"/>
                <a:sym typeface="Montserrat Medium"/>
              </a:rPr>
              <a:t>pada portfolio/blog kamu atau platform seperti Medium, LinkedIn dsb.) yang mendokumentasikan seluruh proses desain kamu secara tulisan dan gambar.</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Figma file (.fig) yang berisi desain produk digital (prototypes) kamu yang bisa </a:t>
            </a:r>
            <a:r>
              <a:rPr lang="en" sz="1000">
                <a:solidFill>
                  <a:schemeClr val="dk1"/>
                </a:solidFill>
                <a:latin typeface="Montserrat Medium"/>
                <a:ea typeface="Montserrat Medium"/>
                <a:cs typeface="Montserrat Medium"/>
                <a:sym typeface="Montserrat Medium"/>
              </a:rPr>
              <a:t>di klik</a:t>
            </a:r>
            <a:r>
              <a:rPr lang="en" sz="1000">
                <a:solidFill>
                  <a:schemeClr val="dk1"/>
                </a:solidFill>
                <a:latin typeface="Montserrat Medium"/>
                <a:ea typeface="Montserrat Medium"/>
                <a:cs typeface="Montserrat Medium"/>
                <a:sym typeface="Montserrat Medium"/>
              </a:rPr>
              <a:t> untuk pratinjau desain yang telah dibuat beserta dengan desain sistemnya.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lang="en" sz="1000">
                <a:solidFill>
                  <a:schemeClr val="dk1"/>
                </a:solidFill>
                <a:latin typeface="Montserrat Medium"/>
                <a:ea typeface="Montserrat Medium"/>
                <a:cs typeface="Montserrat Medium"/>
                <a:sym typeface="Montserrat Medium"/>
              </a:rPr>
              <a:t>Presentasi 10 menit: Kamu hanya punya waktu 10 menit untuk membuat penonton jatuh cinta terhadap hasil proyekmu, jadi buatlah presentasi yang singkat dan manis.</a:t>
            </a:r>
            <a:endParaRPr sz="1000">
              <a:solidFill>
                <a:schemeClr val="dk1"/>
              </a:solidFill>
              <a:latin typeface="Montserrat Medium"/>
              <a:ea typeface="Montserrat Medium"/>
              <a:cs typeface="Montserrat Medium"/>
              <a:sym typeface="Montserrat Medium"/>
            </a:endParaRPr>
          </a:p>
        </p:txBody>
      </p:sp>
      <p:pic>
        <p:nvPicPr>
          <p:cNvPr id="318" name="Google Shape;318;p34"/>
          <p:cNvPicPr preferRelativeResize="0"/>
          <p:nvPr/>
        </p:nvPicPr>
        <p:blipFill>
          <a:blip r:embed="rId3">
            <a:alphaModFix/>
          </a:blip>
          <a:stretch>
            <a:fillRect/>
          </a:stretch>
        </p:blipFill>
        <p:spPr>
          <a:xfrm>
            <a:off x="5192400" y="1287750"/>
            <a:ext cx="3629302" cy="31685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4" name="Google Shape;324;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a:t>
            </a:r>
            <a:r>
              <a:rPr lang="en">
                <a:latin typeface="Montserrat"/>
                <a:ea typeface="Montserrat"/>
                <a:cs typeface="Montserrat"/>
                <a:sym typeface="Montserrat"/>
              </a:rPr>
              <a:t>Evaluation Criteria</a:t>
            </a:r>
            <a:endParaRPr/>
          </a:p>
        </p:txBody>
      </p:sp>
      <p:sp>
        <p:nvSpPr>
          <p:cNvPr id="325" name="Google Shape;325;p35"/>
          <p:cNvSpPr txBox="1"/>
          <p:nvPr/>
        </p:nvSpPr>
        <p:spPr>
          <a:xfrm>
            <a:off x="808700" y="832500"/>
            <a:ext cx="7411200" cy="3936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b="1" lang="en">
                <a:solidFill>
                  <a:srgbClr val="F2AB2F"/>
                </a:solidFill>
                <a:latin typeface="Montserrat"/>
                <a:ea typeface="Montserrat"/>
                <a:cs typeface="Montserrat"/>
                <a:sym typeface="Montserrat"/>
              </a:rPr>
              <a:t>Project Management</a:t>
            </a:r>
            <a:endParaRPr>
              <a:solidFill>
                <a:schemeClr val="dk1"/>
              </a:solidFill>
              <a:latin typeface="Montserrat"/>
              <a:ea typeface="Montserrat"/>
              <a:cs typeface="Montserrat"/>
              <a:sym typeface="Montserrat"/>
            </a:endParaRPr>
          </a:p>
        </p:txBody>
      </p:sp>
      <p:sp>
        <p:nvSpPr>
          <p:cNvPr id="326" name="Google Shape;326;p35"/>
          <p:cNvSpPr/>
          <p:nvPr/>
        </p:nvSpPr>
        <p:spPr>
          <a:xfrm>
            <a:off x="1874250" y="1366375"/>
            <a:ext cx="2780400" cy="7092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000">
                <a:solidFill>
                  <a:schemeClr val="lt1"/>
                </a:solidFill>
                <a:latin typeface="Montserrat Medium"/>
                <a:ea typeface="Montserrat Medium"/>
                <a:cs typeface="Montserrat Medium"/>
                <a:sym typeface="Montserrat Medium"/>
              </a:rPr>
              <a:t>Mampu mengimplementasikan kolaborasi tim dengan menggunakan collaboration tools</a:t>
            </a:r>
            <a:endParaRPr sz="1000">
              <a:solidFill>
                <a:schemeClr val="lt1"/>
              </a:solidFill>
              <a:latin typeface="Montserrat Medium"/>
              <a:ea typeface="Montserrat Medium"/>
              <a:cs typeface="Montserrat Medium"/>
              <a:sym typeface="Montserrat Medium"/>
            </a:endParaRPr>
          </a:p>
        </p:txBody>
      </p:sp>
      <p:sp>
        <p:nvSpPr>
          <p:cNvPr id="327" name="Google Shape;327;p35"/>
          <p:cNvSpPr/>
          <p:nvPr/>
        </p:nvSpPr>
        <p:spPr>
          <a:xfrm>
            <a:off x="1874250" y="2263000"/>
            <a:ext cx="2780400" cy="10944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lt1"/>
                </a:solidFill>
                <a:latin typeface="Montserrat Medium"/>
                <a:ea typeface="Montserrat Medium"/>
                <a:cs typeface="Montserrat Medium"/>
                <a:sym typeface="Montserrat Medium"/>
              </a:rPr>
              <a:t>Melakukan dan sintesa terhadap </a:t>
            </a:r>
            <a:endParaRPr sz="1000">
              <a:solidFill>
                <a:schemeClr val="lt1"/>
              </a:solidFill>
              <a:latin typeface="Montserrat Medium"/>
              <a:ea typeface="Montserrat Medium"/>
              <a:cs typeface="Montserrat Medium"/>
              <a:sym typeface="Montserrat Medium"/>
            </a:endParaRPr>
          </a:p>
          <a:p>
            <a:pPr indent="0" lvl="0" marL="0" rtl="0" algn="ctr">
              <a:lnSpc>
                <a:spcPct val="115000"/>
              </a:lnSpc>
              <a:spcBef>
                <a:spcPts val="0"/>
              </a:spcBef>
              <a:spcAft>
                <a:spcPts val="0"/>
              </a:spcAft>
              <a:buNone/>
            </a:pPr>
            <a:r>
              <a:rPr lang="en" sz="1000">
                <a:solidFill>
                  <a:schemeClr val="lt1"/>
                </a:solidFill>
                <a:latin typeface="Montserrat Medium"/>
                <a:ea typeface="Montserrat Medium"/>
                <a:cs typeface="Montserrat Medium"/>
                <a:sym typeface="Montserrat Medium"/>
              </a:rPr>
              <a:t>hasil riset </a:t>
            </a:r>
            <a:endParaRPr sz="1000">
              <a:solidFill>
                <a:schemeClr val="lt1"/>
              </a:solidFill>
              <a:latin typeface="Montserrat Medium"/>
              <a:ea typeface="Montserrat Medium"/>
              <a:cs typeface="Montserrat Medium"/>
              <a:sym typeface="Montserrat Medium"/>
            </a:endParaRPr>
          </a:p>
        </p:txBody>
      </p:sp>
      <p:sp>
        <p:nvSpPr>
          <p:cNvPr id="328" name="Google Shape;328;p35"/>
          <p:cNvSpPr/>
          <p:nvPr/>
        </p:nvSpPr>
        <p:spPr>
          <a:xfrm>
            <a:off x="1874250" y="3531550"/>
            <a:ext cx="2780400" cy="9576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lt1"/>
                </a:solidFill>
                <a:latin typeface="Montserrat Medium"/>
                <a:ea typeface="Montserrat Medium"/>
                <a:cs typeface="Montserrat Medium"/>
                <a:sym typeface="Montserrat Medium"/>
              </a:rPr>
              <a:t>Melakukan evaluasi, pengembangan, dan presentasikan produk pada stakeholder (internal dan eksternal)</a:t>
            </a:r>
            <a:endParaRPr sz="1000">
              <a:solidFill>
                <a:schemeClr val="lt1"/>
              </a:solidFill>
              <a:latin typeface="Montserrat Medium"/>
              <a:ea typeface="Montserrat Medium"/>
              <a:cs typeface="Montserrat Medium"/>
              <a:sym typeface="Montserrat Medium"/>
            </a:endParaRPr>
          </a:p>
        </p:txBody>
      </p:sp>
      <p:sp>
        <p:nvSpPr>
          <p:cNvPr id="329" name="Google Shape;329;p35"/>
          <p:cNvSpPr/>
          <p:nvPr/>
        </p:nvSpPr>
        <p:spPr>
          <a:xfrm>
            <a:off x="4678050" y="1366375"/>
            <a:ext cx="2515500" cy="709200"/>
          </a:xfrm>
          <a:prstGeom prst="rect">
            <a:avLst/>
          </a:prstGeom>
          <a:solidFill>
            <a:srgbClr val="D5A6BD"/>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 1. Task management melalui   </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    collaboration tools (Trello)</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2. PM documentation (PRD)</a:t>
            </a:r>
            <a:endParaRPr sz="900">
              <a:solidFill>
                <a:srgbClr val="4C1130"/>
              </a:solidFill>
              <a:latin typeface="Montserrat Medium"/>
              <a:ea typeface="Montserrat Medium"/>
              <a:cs typeface="Montserrat Medium"/>
              <a:sym typeface="Montserrat Medium"/>
            </a:endParaRPr>
          </a:p>
        </p:txBody>
      </p:sp>
      <p:sp>
        <p:nvSpPr>
          <p:cNvPr id="330" name="Google Shape;330;p35"/>
          <p:cNvSpPr/>
          <p:nvPr/>
        </p:nvSpPr>
        <p:spPr>
          <a:xfrm>
            <a:off x="4678050" y="2263000"/>
            <a:ext cx="2515500" cy="1094400"/>
          </a:xfrm>
          <a:prstGeom prst="rect">
            <a:avLst/>
          </a:prstGeom>
          <a:solidFill>
            <a:srgbClr val="D5A6BD"/>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1. Menentukan metodologi riset</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2. Melakukan riset pasar</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3. User persona</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4. Customer journey map</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5. Membuat business model </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6. Membuat product roadmap</a:t>
            </a:r>
            <a:endParaRPr sz="900">
              <a:solidFill>
                <a:srgbClr val="4C1130"/>
              </a:solidFill>
              <a:latin typeface="Montserrat Medium"/>
              <a:ea typeface="Montserrat Medium"/>
              <a:cs typeface="Montserrat Medium"/>
              <a:sym typeface="Montserrat Medium"/>
            </a:endParaRPr>
          </a:p>
        </p:txBody>
      </p:sp>
      <p:sp>
        <p:nvSpPr>
          <p:cNvPr id="331" name="Google Shape;331;p35"/>
          <p:cNvSpPr/>
          <p:nvPr/>
        </p:nvSpPr>
        <p:spPr>
          <a:xfrm>
            <a:off x="4678050" y="3531550"/>
            <a:ext cx="2515500" cy="957600"/>
          </a:xfrm>
          <a:prstGeom prst="rect">
            <a:avLst/>
          </a:prstGeom>
          <a:solidFill>
            <a:srgbClr val="D5A6BD"/>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1. Scenario testing </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2. Heuristic evaluation</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3. Prioritization</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4. Product revamp</a:t>
            </a:r>
            <a:endParaRPr sz="900">
              <a:solidFill>
                <a:srgbClr val="4C1130"/>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900">
                <a:solidFill>
                  <a:srgbClr val="4C1130"/>
                </a:solidFill>
                <a:latin typeface="Montserrat Medium"/>
                <a:ea typeface="Montserrat Medium"/>
                <a:cs typeface="Montserrat Medium"/>
                <a:sym typeface="Montserrat Medium"/>
              </a:rPr>
              <a:t>5. Pitch deck</a:t>
            </a:r>
            <a:endParaRPr sz="900">
              <a:solidFill>
                <a:srgbClr val="4C1130"/>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7" name="Google Shape;337;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Evaluation Criteria</a:t>
            </a:r>
            <a:endParaRPr/>
          </a:p>
        </p:txBody>
      </p:sp>
      <p:sp>
        <p:nvSpPr>
          <p:cNvPr id="338" name="Google Shape;338;p36"/>
          <p:cNvSpPr txBox="1"/>
          <p:nvPr/>
        </p:nvSpPr>
        <p:spPr>
          <a:xfrm>
            <a:off x="808700" y="832500"/>
            <a:ext cx="7411200" cy="3936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b="1" lang="en">
                <a:solidFill>
                  <a:srgbClr val="F2AB2F"/>
                </a:solidFill>
                <a:latin typeface="Montserrat"/>
                <a:ea typeface="Montserrat"/>
                <a:cs typeface="Montserrat"/>
                <a:sym typeface="Montserrat"/>
              </a:rPr>
              <a:t>UI/UX</a:t>
            </a:r>
            <a:endParaRPr>
              <a:solidFill>
                <a:schemeClr val="dk1"/>
              </a:solidFill>
              <a:latin typeface="Montserrat"/>
              <a:ea typeface="Montserrat"/>
              <a:cs typeface="Montserrat"/>
              <a:sym typeface="Montserrat"/>
            </a:endParaRPr>
          </a:p>
        </p:txBody>
      </p:sp>
      <p:sp>
        <p:nvSpPr>
          <p:cNvPr id="339" name="Google Shape;339;p36"/>
          <p:cNvSpPr/>
          <p:nvPr/>
        </p:nvSpPr>
        <p:spPr>
          <a:xfrm>
            <a:off x="1874250" y="1366375"/>
            <a:ext cx="2780400" cy="7092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000">
                <a:solidFill>
                  <a:schemeClr val="lt1"/>
                </a:solidFill>
                <a:latin typeface="Montserrat Medium"/>
                <a:ea typeface="Montserrat Medium"/>
                <a:cs typeface="Montserrat Medium"/>
                <a:sym typeface="Montserrat Medium"/>
              </a:rPr>
              <a:t>Mampu mengimplementasikan kolaborasi tim dengan menggunakan collaboration tools</a:t>
            </a:r>
            <a:endParaRPr sz="1000">
              <a:solidFill>
                <a:schemeClr val="lt1"/>
              </a:solidFill>
              <a:latin typeface="Montserrat Medium"/>
              <a:ea typeface="Montserrat Medium"/>
              <a:cs typeface="Montserrat Medium"/>
              <a:sym typeface="Montserrat Medium"/>
            </a:endParaRPr>
          </a:p>
        </p:txBody>
      </p:sp>
      <p:sp>
        <p:nvSpPr>
          <p:cNvPr id="340" name="Google Shape;340;p36"/>
          <p:cNvSpPr/>
          <p:nvPr/>
        </p:nvSpPr>
        <p:spPr>
          <a:xfrm>
            <a:off x="1874250" y="2152875"/>
            <a:ext cx="2780400" cy="14433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lt1"/>
                </a:solidFill>
                <a:latin typeface="Montserrat Medium"/>
                <a:ea typeface="Montserrat Medium"/>
                <a:cs typeface="Montserrat Medium"/>
                <a:sym typeface="Montserrat Medium"/>
              </a:rPr>
              <a:t>Mendapatkan insight dari hasil riset untuk merancang alur dan konten saat manusia/user berinteraksi dengan sistem/produk</a:t>
            </a:r>
            <a:endParaRPr sz="1000">
              <a:solidFill>
                <a:schemeClr val="lt1"/>
              </a:solidFill>
              <a:latin typeface="Montserrat Medium"/>
              <a:ea typeface="Montserrat Medium"/>
              <a:cs typeface="Montserrat Medium"/>
              <a:sym typeface="Montserrat Medium"/>
            </a:endParaRPr>
          </a:p>
        </p:txBody>
      </p:sp>
      <p:sp>
        <p:nvSpPr>
          <p:cNvPr id="341" name="Google Shape;341;p36"/>
          <p:cNvSpPr/>
          <p:nvPr/>
        </p:nvSpPr>
        <p:spPr>
          <a:xfrm>
            <a:off x="1874250" y="3690600"/>
            <a:ext cx="2780400" cy="957600"/>
          </a:xfrm>
          <a:prstGeom prst="rect">
            <a:avLst/>
          </a:prstGeom>
          <a:solidFill>
            <a:srgbClr val="74367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000">
                <a:solidFill>
                  <a:schemeClr val="lt1"/>
                </a:solidFill>
                <a:latin typeface="Montserrat Medium"/>
                <a:ea typeface="Montserrat Medium"/>
                <a:cs typeface="Montserrat Medium"/>
                <a:sym typeface="Montserrat Medium"/>
              </a:rPr>
              <a:t>Membuat prototype design yang dapat dipresentasikan pada stakeholder</a:t>
            </a:r>
            <a:endParaRPr sz="1000">
              <a:solidFill>
                <a:schemeClr val="lt1"/>
              </a:solidFill>
              <a:latin typeface="Montserrat Medium"/>
              <a:ea typeface="Montserrat Medium"/>
              <a:cs typeface="Montserrat Medium"/>
              <a:sym typeface="Montserrat Medium"/>
            </a:endParaRPr>
          </a:p>
        </p:txBody>
      </p:sp>
      <p:sp>
        <p:nvSpPr>
          <p:cNvPr id="342" name="Google Shape;342;p36"/>
          <p:cNvSpPr/>
          <p:nvPr/>
        </p:nvSpPr>
        <p:spPr>
          <a:xfrm>
            <a:off x="4678050" y="1366375"/>
            <a:ext cx="2515500" cy="709200"/>
          </a:xfrm>
          <a:prstGeom prst="rect">
            <a:avLst/>
          </a:prstGeom>
          <a:solidFill>
            <a:srgbClr val="D5A6BD"/>
          </a:solidFill>
          <a:ln>
            <a:noFill/>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Brainstorming dan analisis kebutuhan produk dan fitur  bersama stakeholder dengan collaboration tools</a:t>
            </a:r>
            <a:endParaRPr sz="900">
              <a:solidFill>
                <a:srgbClr val="4C1130"/>
              </a:solidFill>
              <a:latin typeface="Montserrat Medium"/>
              <a:ea typeface="Montserrat Medium"/>
              <a:cs typeface="Montserrat Medium"/>
              <a:sym typeface="Montserrat Medium"/>
            </a:endParaRPr>
          </a:p>
        </p:txBody>
      </p:sp>
      <p:sp>
        <p:nvSpPr>
          <p:cNvPr id="343" name="Google Shape;343;p36"/>
          <p:cNvSpPr/>
          <p:nvPr/>
        </p:nvSpPr>
        <p:spPr>
          <a:xfrm>
            <a:off x="4678050" y="2152875"/>
            <a:ext cx="2515500" cy="1443300"/>
          </a:xfrm>
          <a:prstGeom prst="rect">
            <a:avLst/>
          </a:prstGeom>
          <a:solidFill>
            <a:srgbClr val="D5A6BD"/>
          </a:solidFill>
          <a:ln>
            <a:noFill/>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Product requirements and features</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Wireframing</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Membuat User Flow &amp; Wireflow</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Membuat design system</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Mid Fidelity Prototype</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Usability testing (Survey, Questionnaires)</a:t>
            </a:r>
            <a:endParaRPr sz="900">
              <a:solidFill>
                <a:srgbClr val="4C1130"/>
              </a:solidFill>
              <a:latin typeface="Montserrat Medium"/>
              <a:ea typeface="Montserrat Medium"/>
              <a:cs typeface="Montserrat Medium"/>
              <a:sym typeface="Montserrat Medium"/>
            </a:endParaRPr>
          </a:p>
        </p:txBody>
      </p:sp>
      <p:sp>
        <p:nvSpPr>
          <p:cNvPr id="344" name="Google Shape;344;p36"/>
          <p:cNvSpPr/>
          <p:nvPr/>
        </p:nvSpPr>
        <p:spPr>
          <a:xfrm>
            <a:off x="4678050" y="3690600"/>
            <a:ext cx="2515500" cy="957600"/>
          </a:xfrm>
          <a:prstGeom prst="rect">
            <a:avLst/>
          </a:prstGeom>
          <a:solidFill>
            <a:srgbClr val="D5A6BD"/>
          </a:solidFill>
          <a:ln>
            <a:noFill/>
          </a:ln>
        </p:spPr>
        <p:txBody>
          <a:bodyPr anchorCtr="0" anchor="ctr" bIns="91425" lIns="91425" spcFirstLastPara="1" rIns="91425" wrap="square" tIns="91425">
            <a:noAutofit/>
          </a:bodyPr>
          <a:lstStyle/>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High Fidelity Prototypes</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Usability Testing menggunakan tools</a:t>
            </a:r>
            <a:endParaRPr sz="900">
              <a:solidFill>
                <a:srgbClr val="4C1130"/>
              </a:solidFill>
              <a:latin typeface="Montserrat Medium"/>
              <a:ea typeface="Montserrat Medium"/>
              <a:cs typeface="Montserrat Medium"/>
              <a:sym typeface="Montserrat Medium"/>
            </a:endParaRPr>
          </a:p>
          <a:p>
            <a:pPr indent="-285750" lvl="0" marL="457200" rtl="0" algn="l">
              <a:lnSpc>
                <a:spcPct val="115000"/>
              </a:lnSpc>
              <a:spcBef>
                <a:spcPts val="0"/>
              </a:spcBef>
              <a:spcAft>
                <a:spcPts val="0"/>
              </a:spcAft>
              <a:buClr>
                <a:srgbClr val="4C1130"/>
              </a:buClr>
              <a:buSzPts val="900"/>
              <a:buFont typeface="Montserrat Medium"/>
              <a:buAutoNum type="arabicPeriod"/>
            </a:pPr>
            <a:r>
              <a:rPr lang="en" sz="900">
                <a:solidFill>
                  <a:srgbClr val="4C1130"/>
                </a:solidFill>
                <a:latin typeface="Montserrat Medium"/>
                <a:ea typeface="Montserrat Medium"/>
                <a:cs typeface="Montserrat Medium"/>
                <a:sym typeface="Montserrat Medium"/>
              </a:rPr>
              <a:t>Product revamp</a:t>
            </a:r>
            <a:endParaRPr sz="900">
              <a:solidFill>
                <a:srgbClr val="4C1130"/>
              </a:solidFill>
              <a:latin typeface="Montserrat Medium"/>
              <a:ea typeface="Montserrat Medium"/>
              <a:cs typeface="Montserrat Medium"/>
              <a:sym typeface="Montserrat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Scoring</a:t>
            </a:r>
            <a:endParaRPr/>
          </a:p>
        </p:txBody>
      </p:sp>
      <p:sp>
        <p:nvSpPr>
          <p:cNvPr id="351" name="Google Shape;351;p37"/>
          <p:cNvSpPr txBox="1"/>
          <p:nvPr/>
        </p:nvSpPr>
        <p:spPr>
          <a:xfrm>
            <a:off x="979950" y="1410400"/>
            <a:ext cx="7184100" cy="5676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Scoring Final Project</a:t>
            </a:r>
            <a:endParaRPr sz="1000">
              <a:solidFill>
                <a:schemeClr val="dk1"/>
              </a:solidFill>
              <a:latin typeface="Montserrat Medium"/>
              <a:ea typeface="Montserrat Medium"/>
              <a:cs typeface="Montserrat Medium"/>
              <a:sym typeface="Montserrat Medium"/>
            </a:endParaRPr>
          </a:p>
          <a:p>
            <a:pPr indent="0" lvl="0" marL="0" rtl="0" algn="ctr">
              <a:lnSpc>
                <a:spcPct val="115000"/>
              </a:lnSpc>
              <a:spcBef>
                <a:spcPts val="0"/>
              </a:spcBef>
              <a:spcAft>
                <a:spcPts val="1000"/>
              </a:spcAft>
              <a:buNone/>
            </a:pPr>
            <a:r>
              <a:rPr lang="en" sz="1000">
                <a:solidFill>
                  <a:schemeClr val="dk2"/>
                </a:solidFill>
                <a:latin typeface="Montserrat Medium"/>
                <a:ea typeface="Montserrat Medium"/>
                <a:cs typeface="Montserrat Medium"/>
                <a:sym typeface="Montserrat Medium"/>
              </a:rPr>
              <a:t>Penilaian yang perlu dicapai oleh setiap tim mengacu pada lima parameter berikut ini.</a:t>
            </a:r>
            <a:endParaRPr sz="1000">
              <a:solidFill>
                <a:schemeClr val="dk2"/>
              </a:solidFill>
              <a:latin typeface="Montserrat Medium"/>
              <a:ea typeface="Montserrat Medium"/>
              <a:cs typeface="Montserrat Medium"/>
              <a:sym typeface="Montserrat Medium"/>
            </a:endParaRPr>
          </a:p>
        </p:txBody>
      </p:sp>
      <p:graphicFrame>
        <p:nvGraphicFramePr>
          <p:cNvPr id="352" name="Google Shape;352;p37"/>
          <p:cNvGraphicFramePr/>
          <p:nvPr/>
        </p:nvGraphicFramePr>
        <p:xfrm>
          <a:off x="657575" y="2345088"/>
          <a:ext cx="3000000" cy="3000000"/>
        </p:xfrm>
        <a:graphic>
          <a:graphicData uri="http://schemas.openxmlformats.org/drawingml/2006/table">
            <a:tbl>
              <a:tblPr>
                <a:noFill/>
                <a:tableStyleId>{8DB2FDA0-E3A2-4E4B-AF84-B3E56F9D4CC5}</a:tableStyleId>
              </a:tblPr>
              <a:tblGrid>
                <a:gridCol w="1587500"/>
                <a:gridCol w="1587500"/>
                <a:gridCol w="1587500"/>
                <a:gridCol w="1587500"/>
                <a:gridCol w="1587500"/>
              </a:tblGrid>
              <a:tr h="100000">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Product:</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communicate how the product helps the user and business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User flow:</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create and communicate User Flow effectively and easy to understand</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High Fidelity:</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make high fidelity design by using Figma</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Visual:</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show attractive, good-looking and pleasing visual design</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c>
                  <a:txBody>
                    <a:bodyPr/>
                    <a:lstStyle/>
                    <a:p>
                      <a:pPr indent="0" lvl="0" marL="0" rtl="0" algn="ctr">
                        <a:lnSpc>
                          <a:spcPct val="115000"/>
                        </a:lnSpc>
                        <a:spcBef>
                          <a:spcPts val="0"/>
                        </a:spcBef>
                        <a:spcAft>
                          <a:spcPts val="0"/>
                        </a:spcAft>
                        <a:buNone/>
                      </a:pPr>
                      <a:r>
                        <a:rPr b="1" lang="en" sz="1200">
                          <a:solidFill>
                            <a:srgbClr val="FFFFFF"/>
                          </a:solidFill>
                          <a:latin typeface="Proxima Nova"/>
                          <a:ea typeface="Proxima Nova"/>
                          <a:cs typeface="Proxima Nova"/>
                          <a:sym typeface="Proxima Nova"/>
                        </a:rPr>
                        <a:t>Collaboration:</a:t>
                      </a:r>
                      <a:endParaRPr b="1" sz="1200">
                        <a:solidFill>
                          <a:srgbClr val="FFFFFF"/>
                        </a:solidFill>
                        <a:latin typeface="Proxima Nova"/>
                        <a:ea typeface="Proxima Nova"/>
                        <a:cs typeface="Proxima Nova"/>
                        <a:sym typeface="Proxima Nova"/>
                      </a:endParaRPr>
                    </a:p>
                    <a:p>
                      <a:pPr indent="0" lvl="0" marL="0" rtl="0" algn="ctr">
                        <a:lnSpc>
                          <a:spcPct val="115000"/>
                        </a:lnSpc>
                        <a:spcBef>
                          <a:spcPts val="1000"/>
                        </a:spcBef>
                        <a:spcAft>
                          <a:spcPts val="0"/>
                        </a:spcAft>
                        <a:buNone/>
                      </a:pPr>
                      <a:r>
                        <a:rPr lang="en" sz="900">
                          <a:solidFill>
                            <a:srgbClr val="FFFFFF"/>
                          </a:solidFill>
                          <a:latin typeface="Proxima Nova"/>
                          <a:ea typeface="Proxima Nova"/>
                          <a:cs typeface="Proxima Nova"/>
                          <a:sym typeface="Proxima Nova"/>
                        </a:rPr>
                        <a:t>Able to collaborate effectively with other UX teammates during designing process</a:t>
                      </a:r>
                      <a:endParaRPr sz="900">
                        <a:solidFill>
                          <a:srgbClr val="FFFFFF"/>
                        </a:solidFill>
                        <a:latin typeface="Proxima Nova"/>
                        <a:ea typeface="Proxima Nova"/>
                        <a:cs typeface="Proxima Nova"/>
                        <a:sym typeface="Proxima Nova"/>
                      </a:endParaRPr>
                    </a:p>
                  </a:txBody>
                  <a:tcPr marT="19050" marB="19050" marR="28575" marL="2857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743673"/>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Evaluation Criteria</a:t>
            </a:r>
            <a:endParaRPr/>
          </a:p>
        </p:txBody>
      </p:sp>
      <p:sp>
        <p:nvSpPr>
          <p:cNvPr id="359" name="Google Shape;359;p38"/>
          <p:cNvSpPr txBox="1"/>
          <p:nvPr/>
        </p:nvSpPr>
        <p:spPr>
          <a:xfrm>
            <a:off x="637725" y="1243375"/>
            <a:ext cx="5192400" cy="3115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Bagaimana hasil proyek kamu akan dievaluasi?</a:t>
            </a:r>
            <a:endParaRPr b="1" sz="1600">
              <a:solidFill>
                <a:srgbClr val="743673"/>
              </a:solidFill>
              <a:highlight>
                <a:schemeClr val="lt1"/>
              </a:highlight>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b="1" lang="en" sz="1000">
                <a:solidFill>
                  <a:schemeClr val="dk1"/>
                </a:solidFill>
                <a:latin typeface="Montserrat"/>
                <a:ea typeface="Montserrat"/>
                <a:cs typeface="Montserrat"/>
                <a:sym typeface="Montserrat"/>
              </a:rPr>
              <a:t>Presentasi </a:t>
            </a:r>
            <a:r>
              <a:rPr lang="en" sz="1000">
                <a:solidFill>
                  <a:schemeClr val="dk1"/>
                </a:solidFill>
                <a:latin typeface="Montserrat Medium"/>
                <a:ea typeface="Montserrat Medium"/>
                <a:cs typeface="Montserrat Medium"/>
                <a:sym typeface="Montserrat Medium"/>
              </a:rPr>
              <a:t>- Apakah audiens dapat mengerti tujuan produk Anda dengan jelas dan apakah Anda dapat membela desain Anda dengan alasan - alasan yang tepat?</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b="1" lang="en" sz="1000">
                <a:solidFill>
                  <a:schemeClr val="dk1"/>
                </a:solidFill>
                <a:latin typeface="Montserrat"/>
                <a:ea typeface="Montserrat"/>
                <a:cs typeface="Montserrat"/>
                <a:sym typeface="Montserrat"/>
              </a:rPr>
              <a:t>Masalah</a:t>
            </a:r>
            <a:r>
              <a:rPr lang="en" sz="1000">
                <a:solidFill>
                  <a:schemeClr val="dk1"/>
                </a:solidFill>
                <a:latin typeface="Montserrat Medium"/>
                <a:ea typeface="Montserrat Medium"/>
                <a:cs typeface="Montserrat Medium"/>
                <a:sym typeface="Montserrat Medium"/>
              </a:rPr>
              <a:t> - Apakah ide sudah dipikirkan dan dieksplorasi dengan baik? Apakah Anda telah memahami kebutuhan klien?</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b="1" lang="en" sz="1000">
                <a:solidFill>
                  <a:schemeClr val="dk1"/>
                </a:solidFill>
                <a:latin typeface="Montserrat"/>
                <a:ea typeface="Montserrat"/>
                <a:cs typeface="Montserrat"/>
                <a:sym typeface="Montserrat"/>
              </a:rPr>
              <a:t>Proses</a:t>
            </a:r>
            <a:r>
              <a:rPr lang="en" sz="1000">
                <a:solidFill>
                  <a:schemeClr val="dk1"/>
                </a:solidFill>
                <a:latin typeface="Montserrat Medium"/>
                <a:ea typeface="Montserrat Medium"/>
                <a:cs typeface="Montserrat Medium"/>
                <a:sym typeface="Montserrat Medium"/>
              </a:rPr>
              <a:t> - Apakah Anda telah melalui proses user-centered design (UCD) yang benar? Apakah masalah/pain poin diidentifikasi dengan jelas, dan apakah keputusan desain didasarkan pada solusi mereka?</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b="1" lang="en" sz="1000">
                <a:solidFill>
                  <a:schemeClr val="dk1"/>
                </a:solidFill>
                <a:latin typeface="Montserrat"/>
                <a:ea typeface="Montserrat"/>
                <a:cs typeface="Montserrat"/>
                <a:sym typeface="Montserrat"/>
              </a:rPr>
              <a:t>Fungsionalitas</a:t>
            </a:r>
            <a:r>
              <a:rPr lang="en" sz="1000">
                <a:solidFill>
                  <a:schemeClr val="dk1"/>
                </a:solidFill>
                <a:latin typeface="Montserrat Medium"/>
                <a:ea typeface="Montserrat Medium"/>
                <a:cs typeface="Montserrat Medium"/>
                <a:sym typeface="Montserrat Medium"/>
              </a:rPr>
              <a:t> - Apakah fitur dan fungsionalitas memenuhi kebutuhan pengguna dan bisnis?</a:t>
            </a:r>
            <a:endParaRPr sz="1000">
              <a:solidFill>
                <a:schemeClr val="dk1"/>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1"/>
              </a:buClr>
              <a:buSzPts val="1000"/>
              <a:buFont typeface="Montserrat Medium"/>
              <a:buAutoNum type="arabicParenR"/>
            </a:pPr>
            <a:r>
              <a:rPr b="1" lang="en" sz="1000">
                <a:solidFill>
                  <a:schemeClr val="dk1"/>
                </a:solidFill>
                <a:latin typeface="Montserrat"/>
                <a:ea typeface="Montserrat"/>
                <a:cs typeface="Montserrat"/>
                <a:sym typeface="Montserrat"/>
              </a:rPr>
              <a:t>Kegunaan</a:t>
            </a:r>
            <a:r>
              <a:rPr lang="en" sz="1000">
                <a:solidFill>
                  <a:schemeClr val="dk1"/>
                </a:solidFill>
                <a:latin typeface="Montserrat Medium"/>
                <a:ea typeface="Montserrat Medium"/>
                <a:cs typeface="Montserrat Medium"/>
                <a:sym typeface="Montserrat Medium"/>
              </a:rPr>
              <a:t> - Apakah aplikasi mudah dinavigasi dan memberikan pengalaman yang menyenangkan?</a:t>
            </a:r>
            <a:endParaRPr sz="1000">
              <a:solidFill>
                <a:schemeClr val="dk1"/>
              </a:solidFill>
              <a:latin typeface="Montserrat Medium"/>
              <a:ea typeface="Montserrat Medium"/>
              <a:cs typeface="Montserrat Medium"/>
              <a:sym typeface="Montserrat Medium"/>
            </a:endParaRPr>
          </a:p>
        </p:txBody>
      </p:sp>
      <p:pic>
        <p:nvPicPr>
          <p:cNvPr id="360" name="Google Shape;360;p38"/>
          <p:cNvPicPr preferRelativeResize="0"/>
          <p:nvPr/>
        </p:nvPicPr>
        <p:blipFill>
          <a:blip r:embed="rId3">
            <a:alphaModFix/>
          </a:blip>
          <a:stretch>
            <a:fillRect/>
          </a:stretch>
        </p:blipFill>
        <p:spPr>
          <a:xfrm>
            <a:off x="6420275" y="1023250"/>
            <a:ext cx="1885450" cy="3555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364" name="Shape 364"/>
        <p:cNvGrpSpPr/>
        <p:nvPr/>
      </p:nvGrpSpPr>
      <p:grpSpPr>
        <a:xfrm>
          <a:off x="0" y="0"/>
          <a:ext cx="0" cy="0"/>
          <a:chOff x="0" y="0"/>
          <a:chExt cx="0" cy="0"/>
        </a:xfrm>
      </p:grpSpPr>
      <p:sp>
        <p:nvSpPr>
          <p:cNvPr id="365" name="Google Shape;365;p39"/>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6" name="Google Shape;366;p39"/>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7" name="Google Shape;367;p39"/>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8" name="Google Shape;368;p39"/>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9" name="Google Shape;369;p39"/>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370" name="Google Shape;370;p39"/>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371" name="Google Shape;371;p39"/>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372" name="Google Shape;372;p39"/>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sp>
        <p:nvSpPr>
          <p:cNvPr id="377" name="Google Shape;37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379" name="Google Shape;379;p40"/>
          <p:cNvSpPr txBox="1"/>
          <p:nvPr/>
        </p:nvSpPr>
        <p:spPr>
          <a:xfrm>
            <a:off x="685800" y="1036325"/>
            <a:ext cx="4343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Raleway"/>
                <a:ea typeface="Raleway"/>
                <a:cs typeface="Raleway"/>
                <a:sym typeface="Raleway"/>
              </a:rPr>
              <a:t>Introduction</a:t>
            </a:r>
            <a:endParaRPr sz="10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2"/>
                </a:solidFill>
                <a:latin typeface="Montserrat Medium"/>
                <a:ea typeface="Montserrat Medium"/>
                <a:cs typeface="Montserrat Medium"/>
                <a:sym typeface="Montserrat Medium"/>
              </a:rPr>
              <a:t>Pada final project ini, ditujukan untuk </a:t>
            </a:r>
            <a:r>
              <a:rPr lang="en" sz="1000">
                <a:solidFill>
                  <a:schemeClr val="dk2"/>
                </a:solidFill>
                <a:latin typeface="Montserrat Medium"/>
                <a:ea typeface="Montserrat Medium"/>
                <a:cs typeface="Montserrat Medium"/>
                <a:sym typeface="Montserrat Medium"/>
              </a:rPr>
              <a:t>mengasah</a:t>
            </a:r>
            <a:r>
              <a:rPr lang="en" sz="1000">
                <a:solidFill>
                  <a:schemeClr val="dk2"/>
                </a:solidFill>
                <a:latin typeface="Montserrat Medium"/>
                <a:ea typeface="Montserrat Medium"/>
                <a:cs typeface="Montserrat Medium"/>
                <a:sym typeface="Montserrat Medium"/>
              </a:rPr>
              <a:t> kemampuan UI/UX kita secara keseluruhan, dan mengaplikasikan pengetahuan yang telah </a:t>
            </a:r>
            <a:r>
              <a:rPr lang="en" sz="1000">
                <a:solidFill>
                  <a:schemeClr val="dk2"/>
                </a:solidFill>
                <a:latin typeface="Montserrat Medium"/>
                <a:ea typeface="Montserrat Medium"/>
                <a:cs typeface="Montserrat Medium"/>
                <a:sym typeface="Montserrat Medium"/>
              </a:rPr>
              <a:t>dipelajari mulai</a:t>
            </a:r>
            <a:r>
              <a:rPr lang="en" sz="1000">
                <a:solidFill>
                  <a:schemeClr val="dk2"/>
                </a:solidFill>
                <a:latin typeface="Montserrat Medium"/>
                <a:ea typeface="Montserrat Medium"/>
                <a:cs typeface="Montserrat Medium"/>
                <a:sym typeface="Montserrat Medium"/>
              </a:rPr>
              <a:t> dari chapter 0 - 8. </a:t>
            </a: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2"/>
                </a:solidFill>
                <a:latin typeface="Montserrat Medium"/>
                <a:ea typeface="Montserrat Medium"/>
                <a:cs typeface="Montserrat Medium"/>
                <a:sym typeface="Montserrat Medium"/>
              </a:rPr>
              <a:t>Kamu </a:t>
            </a:r>
            <a:r>
              <a:rPr lang="en" sz="1000">
                <a:solidFill>
                  <a:schemeClr val="dk2"/>
                </a:solidFill>
                <a:latin typeface="Montserrat Medium"/>
                <a:ea typeface="Montserrat Medium"/>
                <a:cs typeface="Montserrat Medium"/>
                <a:sym typeface="Montserrat Medium"/>
              </a:rPr>
              <a:t>memiliki waktu selama 3 sprint (6 minggu) untuk membuat sebuah produk digital, baik itu aplikasi ataupun situs web - berdasarkan visi,riset, temuan, dan proses UX/UI yang kamu pilih sesuai dengan apa yang telah dipelajari.</a:t>
            </a: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dk2"/>
                </a:solidFill>
                <a:latin typeface="Montserrat"/>
                <a:ea typeface="Montserrat"/>
                <a:cs typeface="Montserrat"/>
                <a:sym typeface="Montserrat"/>
              </a:rPr>
              <a:t>Tujuan terpenting dari proyek ini adalah menikmati proses pembuatan dan penyajiannya, jadi pilihlah subjek yang sangat kamu minati!</a:t>
            </a:r>
            <a:endParaRPr b="1" sz="1000">
              <a:solidFill>
                <a:schemeClr val="dk2"/>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3" name="Shape 383"/>
        <p:cNvGrpSpPr/>
        <p:nvPr/>
      </p:nvGrpSpPr>
      <p:grpSpPr>
        <a:xfrm>
          <a:off x="0" y="0"/>
          <a:ext cx="0" cy="0"/>
          <a:chOff x="0" y="0"/>
          <a:chExt cx="0" cy="0"/>
        </a:xfrm>
      </p:grpSpPr>
      <p:sp>
        <p:nvSpPr>
          <p:cNvPr id="384" name="Google Shape;384;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386" name="Google Shape;386;p41"/>
          <p:cNvSpPr txBox="1"/>
          <p:nvPr/>
        </p:nvSpPr>
        <p:spPr>
          <a:xfrm>
            <a:off x="648600" y="1036325"/>
            <a:ext cx="7044900" cy="3671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Gambaran Umum Final Project</a:t>
            </a:r>
            <a:endParaRPr sz="10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2"/>
                </a:solidFill>
                <a:latin typeface="Montserrat Medium"/>
                <a:ea typeface="Montserrat Medium"/>
                <a:cs typeface="Montserrat Medium"/>
                <a:sym typeface="Montserrat Medium"/>
              </a:rPr>
              <a:t>Anda perlu mengidentifikasi masalah yang menurut anda atau kenalan anda yang sedang menghadapinya dari waktu ke waktu.</a:t>
            </a:r>
            <a:br>
              <a:rPr lang="en" sz="1000">
                <a:solidFill>
                  <a:schemeClr val="dk2"/>
                </a:solidFill>
                <a:latin typeface="Montserrat Medium"/>
                <a:ea typeface="Montserrat Medium"/>
                <a:cs typeface="Montserrat Medium"/>
                <a:sym typeface="Montserrat Medium"/>
              </a:rPr>
            </a:br>
            <a:endParaRPr sz="1000">
              <a:solidFill>
                <a:schemeClr val="dk2"/>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2"/>
                </a:solidFill>
                <a:latin typeface="Montserrat Medium"/>
                <a:ea typeface="Montserrat Medium"/>
                <a:cs typeface="Montserrat Medium"/>
                <a:sym typeface="Montserrat Medium"/>
              </a:rPr>
              <a:t>Kami sangat menyarankan anda untuk berkolaborasi dengan sesama member tim UI/UX dan PM dalam proyek ini. Komposisi tim UI/UX berjumlah 6 orang dan PM berjumlah 4 orang.</a:t>
            </a:r>
            <a:endParaRPr sz="1000">
              <a:solidFill>
                <a:schemeClr val="dk2"/>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br>
              <a:rPr lang="en" sz="1000">
                <a:solidFill>
                  <a:schemeClr val="dk2"/>
                </a:solidFill>
                <a:latin typeface="Montserrat Medium"/>
                <a:ea typeface="Montserrat Medium"/>
                <a:cs typeface="Montserrat Medium"/>
                <a:sym typeface="Montserrat Medium"/>
              </a:rPr>
            </a:br>
            <a:r>
              <a:rPr lang="en" sz="1000">
                <a:solidFill>
                  <a:schemeClr val="dk2"/>
                </a:solidFill>
                <a:latin typeface="Montserrat Medium"/>
                <a:ea typeface="Montserrat Medium"/>
                <a:cs typeface="Montserrat Medium"/>
                <a:sym typeface="Montserrat Medium"/>
              </a:rPr>
              <a:t>Berikut adalah deliverables dari final project:</a:t>
            </a:r>
            <a:endParaRPr sz="1000">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2"/>
              </a:buClr>
              <a:buSzPts val="1000"/>
              <a:buFont typeface="Montserrat Medium"/>
              <a:buAutoNum type="arabicParenR"/>
            </a:pPr>
            <a:r>
              <a:rPr lang="en" sz="1000">
                <a:solidFill>
                  <a:schemeClr val="dk2"/>
                </a:solidFill>
                <a:latin typeface="Montserrat Medium"/>
                <a:ea typeface="Montserrat Medium"/>
                <a:cs typeface="Montserrat Medium"/>
                <a:sym typeface="Montserrat Medium"/>
              </a:rPr>
              <a:t>Sebuah unggahan (pada portfolio/blog Anda atau platform seperti Medium, dsb.) untuk mendokumentasikan seluruh proses desain Anda secara tulisan dan gambar.</a:t>
            </a:r>
            <a:endParaRPr sz="1000">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2"/>
              </a:buClr>
              <a:buSzPts val="1000"/>
              <a:buFont typeface="Montserrat Medium"/>
              <a:buAutoNum type="arabicParenR"/>
            </a:pPr>
            <a:r>
              <a:rPr lang="en" sz="1000">
                <a:solidFill>
                  <a:schemeClr val="dk2"/>
                </a:solidFill>
                <a:latin typeface="Montserrat Medium"/>
                <a:ea typeface="Montserrat Medium"/>
                <a:cs typeface="Montserrat Medium"/>
                <a:sym typeface="Montserrat Medium"/>
              </a:rPr>
              <a:t>Figma file yang berisi desain produk digital (prototypes) kamu beserta dengan desain sistemnya.</a:t>
            </a:r>
            <a:endParaRPr sz="1000">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1000"/>
              </a:spcBef>
              <a:spcAft>
                <a:spcPts val="0"/>
              </a:spcAft>
              <a:buClr>
                <a:schemeClr val="dk2"/>
              </a:buClr>
              <a:buSzPts val="1000"/>
              <a:buFont typeface="Montserrat Medium"/>
              <a:buAutoNum type="arabicParenR"/>
            </a:pPr>
            <a:r>
              <a:rPr lang="en" sz="1000">
                <a:solidFill>
                  <a:schemeClr val="dk2"/>
                </a:solidFill>
                <a:latin typeface="Montserrat Medium"/>
                <a:ea typeface="Montserrat Medium"/>
                <a:cs typeface="Montserrat Medium"/>
                <a:sym typeface="Montserrat Medium"/>
              </a:rPr>
              <a:t>Presentasi 10 menit: Kamu hanya punya waktu 10 menit untuk membuat penonton jatuh cinta terhadap hasil proyekmu, jadi buatlah presentasi yang singkat dan manis.</a:t>
            </a:r>
            <a:endParaRPr sz="1000">
              <a:solidFill>
                <a:schemeClr val="dk2"/>
              </a:solidFill>
              <a:latin typeface="Montserrat Medium"/>
              <a:ea typeface="Montserrat Medium"/>
              <a:cs typeface="Montserrat Medium"/>
              <a:sym typeface="Montserrat Mediu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 name="Shape 390"/>
        <p:cNvGrpSpPr/>
        <p:nvPr/>
      </p:nvGrpSpPr>
      <p:grpSpPr>
        <a:xfrm>
          <a:off x="0" y="0"/>
          <a:ext cx="0" cy="0"/>
          <a:chOff x="0" y="0"/>
          <a:chExt cx="0" cy="0"/>
        </a:xfrm>
      </p:grpSpPr>
      <p:sp>
        <p:nvSpPr>
          <p:cNvPr id="391" name="Google Shape;391;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393" name="Google Shape;393;p42"/>
          <p:cNvSpPr txBox="1"/>
          <p:nvPr/>
        </p:nvSpPr>
        <p:spPr>
          <a:xfrm>
            <a:off x="685800" y="1036325"/>
            <a:ext cx="7846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Final Project Brief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perlu mengidentifikasi masalah yang Anda atau seseorang yang Anda kenal sedang hadapi dari waktu ke waktu.</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Kami sangat menyarankan Anda untuk berkolaborasi antara UI/UX dan PM dalam proyek ini. Satu tim UI/UX berisi atas 6 orang UI/UX dan …. PM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Berikut adalah deliverables dari final project untuk course UI/UX:</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br>
              <a:rPr lang="en" sz="1200">
                <a:solidFill>
                  <a:srgbClr val="141B1F"/>
                </a:solidFill>
                <a:highlight>
                  <a:srgbClr val="F6F8F9"/>
                </a:highlight>
              </a:rPr>
            </a:br>
            <a:r>
              <a:rPr lang="en" sz="1200">
                <a:solidFill>
                  <a:srgbClr val="141B1F"/>
                </a:solidFill>
                <a:highlight>
                  <a:srgbClr val="F6F8F9"/>
                </a:highlight>
              </a:rPr>
              <a:t>1) </a:t>
            </a:r>
            <a:r>
              <a:rPr lang="en" sz="1200">
                <a:solidFill>
                  <a:schemeClr val="dk1"/>
                </a:solidFill>
                <a:latin typeface="Raleway Medium"/>
                <a:ea typeface="Raleway Medium"/>
                <a:cs typeface="Raleway Medium"/>
                <a:sym typeface="Raleway Medium"/>
              </a:rPr>
              <a:t>Sebuah unggahan (pada portfolio/blog Anda atau platform seperti Medium) mendokumentasikan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seluruh proses desain Anda secara tulisan dan gambar.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Figma file yang berisi desain produk digital (prototypes) Anda serta desain sistemnya.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Presentasi 10 menit: Anda hanya punya waktu 10 menit untuk membuat penonton jatuh cinta, jadi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buatlah presentasi yang singkat dan manis.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Berikut adalah deliverables dari final project untuk course PM:</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PRD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Deck hasil riset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etc.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7" name="Shape 397"/>
        <p:cNvGrpSpPr/>
        <p:nvPr/>
      </p:nvGrpSpPr>
      <p:grpSpPr>
        <a:xfrm>
          <a:off x="0" y="0"/>
          <a:ext cx="0" cy="0"/>
          <a:chOff x="0" y="0"/>
          <a:chExt cx="0" cy="0"/>
        </a:xfrm>
      </p:grpSpPr>
      <p:sp>
        <p:nvSpPr>
          <p:cNvPr id="398" name="Google Shape;398;p43"/>
          <p:cNvSpPr txBox="1"/>
          <p:nvPr/>
        </p:nvSpPr>
        <p:spPr>
          <a:xfrm>
            <a:off x="685800" y="1036325"/>
            <a:ext cx="7846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Final Project Brief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MVP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highlight>
                  <a:srgbClr val="FCE5CD"/>
                </a:highlight>
                <a:latin typeface="Raleway Medium"/>
                <a:ea typeface="Raleway Medium"/>
                <a:cs typeface="Raleway Medium"/>
                <a:sym typeface="Raleway Medium"/>
              </a:rPr>
              <a:t>Additional features (terutama untuk ios , RN, dan And)</a:t>
            </a:r>
            <a:endParaRPr sz="1200">
              <a:solidFill>
                <a:schemeClr val="dk1"/>
              </a:solidFill>
              <a:highlight>
                <a:srgbClr val="FCE5CD"/>
              </a:highlight>
              <a:latin typeface="Raleway Medium"/>
              <a:ea typeface="Raleway Medium"/>
              <a:cs typeface="Raleway Medium"/>
              <a:sym typeface="Raleway Medium"/>
            </a:endParaRPr>
          </a:p>
        </p:txBody>
      </p:sp>
      <p:sp>
        <p:nvSpPr>
          <p:cNvPr id="399" name="Google Shape;399;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0" name="Google Shape;400;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4" name="Shape 404"/>
        <p:cNvGrpSpPr/>
        <p:nvPr/>
      </p:nvGrpSpPr>
      <p:grpSpPr>
        <a:xfrm>
          <a:off x="0" y="0"/>
          <a:ext cx="0" cy="0"/>
          <a:chOff x="0" y="0"/>
          <a:chExt cx="0" cy="0"/>
        </a:xfrm>
      </p:grpSpPr>
      <p:sp>
        <p:nvSpPr>
          <p:cNvPr id="405" name="Google Shape;405;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Final Project - Roadmaps</a:t>
            </a:r>
            <a:endParaRPr/>
          </a:p>
        </p:txBody>
      </p:sp>
      <p:grpSp>
        <p:nvGrpSpPr>
          <p:cNvPr id="406" name="Google Shape;406;p44"/>
          <p:cNvGrpSpPr/>
          <p:nvPr/>
        </p:nvGrpSpPr>
        <p:grpSpPr>
          <a:xfrm>
            <a:off x="228600" y="1036325"/>
            <a:ext cx="3736470" cy="3754500"/>
            <a:chOff x="685800" y="1036325"/>
            <a:chExt cx="3736470" cy="3754500"/>
          </a:xfrm>
        </p:grpSpPr>
        <p:sp>
          <p:nvSpPr>
            <p:cNvPr id="407" name="Google Shape;407;p44"/>
            <p:cNvSpPr/>
            <p:nvPr/>
          </p:nvSpPr>
          <p:spPr>
            <a:xfrm>
              <a:off x="3183451"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4"/>
            <p:cNvSpPr/>
            <p:nvPr/>
          </p:nvSpPr>
          <p:spPr>
            <a:xfrm flipH="1" rot="10800000">
              <a:off x="3183445"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44"/>
            <p:cNvSpPr txBox="1"/>
            <p:nvPr/>
          </p:nvSpPr>
          <p:spPr>
            <a:xfrm>
              <a:off x="3183428" y="1189415"/>
              <a:ext cx="7263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08</a:t>
              </a:r>
              <a:endParaRPr b="1" i="0" sz="2000" u="none" cap="none" strike="noStrike">
                <a:solidFill>
                  <a:srgbClr val="9225A5"/>
                </a:solidFill>
                <a:latin typeface="Montserrat"/>
                <a:ea typeface="Montserrat"/>
                <a:cs typeface="Montserrat"/>
                <a:sym typeface="Montserrat"/>
              </a:endParaRPr>
            </a:p>
          </p:txBody>
        </p:sp>
        <p:sp>
          <p:nvSpPr>
            <p:cNvPr id="410" name="Google Shape;410;p44"/>
            <p:cNvSpPr txBox="1"/>
            <p:nvPr/>
          </p:nvSpPr>
          <p:spPr>
            <a:xfrm>
              <a:off x="318345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cxnSp>
          <p:nvCxnSpPr>
            <p:cNvPr id="411" name="Google Shape;411;p44"/>
            <p:cNvCxnSpPr/>
            <p:nvPr/>
          </p:nvCxnSpPr>
          <p:spPr>
            <a:xfrm rot="10800000">
              <a:off x="3494622"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12" name="Google Shape;412;p44"/>
            <p:cNvCxnSpPr/>
            <p:nvPr/>
          </p:nvCxnSpPr>
          <p:spPr>
            <a:xfrm rot="10800000">
              <a:off x="3804104"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13" name="Google Shape;413;p44"/>
            <p:cNvCxnSpPr/>
            <p:nvPr/>
          </p:nvCxnSpPr>
          <p:spPr>
            <a:xfrm rot="10800000">
              <a:off x="4113586" y="2415591"/>
              <a:ext cx="0" cy="2370300"/>
            </a:xfrm>
            <a:prstGeom prst="straightConnector1">
              <a:avLst/>
            </a:prstGeom>
            <a:noFill/>
            <a:ln cap="flat" cmpd="sng" w="9525">
              <a:solidFill>
                <a:srgbClr val="9225A5"/>
              </a:solidFill>
              <a:prstDash val="dot"/>
              <a:round/>
              <a:headEnd len="sm" w="sm" type="none"/>
              <a:tailEnd len="sm" w="sm" type="none"/>
            </a:ln>
          </p:spPr>
        </p:cxnSp>
        <p:sp>
          <p:nvSpPr>
            <p:cNvPr id="414" name="Google Shape;414;p44"/>
            <p:cNvSpPr txBox="1"/>
            <p:nvPr/>
          </p:nvSpPr>
          <p:spPr>
            <a:xfrm>
              <a:off x="349669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415" name="Google Shape;415;p44"/>
            <p:cNvSpPr txBox="1"/>
            <p:nvPr/>
          </p:nvSpPr>
          <p:spPr>
            <a:xfrm>
              <a:off x="3809931"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416" name="Google Shape;416;p44"/>
            <p:cNvSpPr txBox="1"/>
            <p:nvPr/>
          </p:nvSpPr>
          <p:spPr>
            <a:xfrm>
              <a:off x="412317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417" name="Google Shape;417;p44"/>
            <p:cNvSpPr/>
            <p:nvPr/>
          </p:nvSpPr>
          <p:spPr>
            <a:xfrm flipH="1" rot="10800000">
              <a:off x="1943833"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4"/>
            <p:cNvSpPr txBox="1"/>
            <p:nvPr/>
          </p:nvSpPr>
          <p:spPr>
            <a:xfrm>
              <a:off x="1943819"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7</a:t>
              </a:r>
              <a:endParaRPr b="1" i="0" sz="2000" u="none" cap="none" strike="noStrike">
                <a:solidFill>
                  <a:srgbClr val="9225A5"/>
                </a:solidFill>
                <a:latin typeface="Montserrat"/>
                <a:ea typeface="Montserrat"/>
                <a:cs typeface="Montserrat"/>
                <a:sym typeface="Montserrat"/>
              </a:endParaRPr>
            </a:p>
          </p:txBody>
        </p:sp>
        <p:cxnSp>
          <p:nvCxnSpPr>
            <p:cNvPr id="419" name="Google Shape;419;p44"/>
            <p:cNvCxnSpPr/>
            <p:nvPr/>
          </p:nvCxnSpPr>
          <p:spPr>
            <a:xfrm rot="10800000">
              <a:off x="2255015"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20" name="Google Shape;420;p44"/>
            <p:cNvCxnSpPr/>
            <p:nvPr/>
          </p:nvCxnSpPr>
          <p:spPr>
            <a:xfrm rot="10800000">
              <a:off x="2564496"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21" name="Google Shape;421;p44"/>
            <p:cNvCxnSpPr/>
            <p:nvPr/>
          </p:nvCxnSpPr>
          <p:spPr>
            <a:xfrm rot="10800000">
              <a:off x="2873978" y="2415591"/>
              <a:ext cx="0" cy="2370300"/>
            </a:xfrm>
            <a:prstGeom prst="straightConnector1">
              <a:avLst/>
            </a:prstGeom>
            <a:noFill/>
            <a:ln cap="flat" cmpd="sng" w="9525">
              <a:solidFill>
                <a:srgbClr val="9225A5"/>
              </a:solidFill>
              <a:prstDash val="dot"/>
              <a:round/>
              <a:headEnd len="sm" w="sm" type="none"/>
              <a:tailEnd len="sm" w="sm" type="none"/>
            </a:ln>
          </p:spPr>
        </p:cxnSp>
        <p:sp>
          <p:nvSpPr>
            <p:cNvPr id="422" name="Google Shape;422;p44"/>
            <p:cNvSpPr txBox="1"/>
            <p:nvPr/>
          </p:nvSpPr>
          <p:spPr>
            <a:xfrm>
              <a:off x="193952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423" name="Google Shape;423;p44"/>
            <p:cNvSpPr txBox="1"/>
            <p:nvPr/>
          </p:nvSpPr>
          <p:spPr>
            <a:xfrm>
              <a:off x="2252765"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424" name="Google Shape;424;p44"/>
            <p:cNvSpPr txBox="1"/>
            <p:nvPr/>
          </p:nvSpPr>
          <p:spPr>
            <a:xfrm>
              <a:off x="2566003"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425" name="Google Shape;425;p44"/>
            <p:cNvSpPr txBox="1"/>
            <p:nvPr/>
          </p:nvSpPr>
          <p:spPr>
            <a:xfrm>
              <a:off x="2879242"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426" name="Google Shape;426;p44"/>
            <p:cNvSpPr txBox="1"/>
            <p:nvPr/>
          </p:nvSpPr>
          <p:spPr>
            <a:xfrm>
              <a:off x="1943836"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July</a:t>
              </a:r>
              <a:endParaRPr b="1" i="0" sz="1000" u="none" cap="none" strike="noStrike">
                <a:solidFill>
                  <a:srgbClr val="551561"/>
                </a:solidFill>
                <a:latin typeface="Montserrat"/>
                <a:ea typeface="Montserrat"/>
                <a:cs typeface="Montserrat"/>
                <a:sym typeface="Montserrat"/>
              </a:endParaRPr>
            </a:p>
          </p:txBody>
        </p:sp>
        <p:sp>
          <p:nvSpPr>
            <p:cNvPr id="427" name="Google Shape;427;p44"/>
            <p:cNvSpPr txBox="1"/>
            <p:nvPr/>
          </p:nvSpPr>
          <p:spPr>
            <a:xfrm>
              <a:off x="318378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Aug</a:t>
              </a:r>
              <a:endParaRPr b="1" i="0" sz="1000" u="none" cap="none" strike="noStrike">
                <a:solidFill>
                  <a:srgbClr val="551561"/>
                </a:solidFill>
                <a:latin typeface="Montserrat"/>
                <a:ea typeface="Montserrat"/>
                <a:cs typeface="Montserrat"/>
                <a:sym typeface="Montserrat"/>
              </a:endParaRPr>
            </a:p>
          </p:txBody>
        </p:sp>
        <p:sp>
          <p:nvSpPr>
            <p:cNvPr id="428" name="Google Shape;428;p44"/>
            <p:cNvSpPr/>
            <p:nvPr/>
          </p:nvSpPr>
          <p:spPr>
            <a:xfrm>
              <a:off x="2255703" y="3477975"/>
              <a:ext cx="635100" cy="2505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429" name="Google Shape;429;p44"/>
            <p:cNvSpPr/>
            <p:nvPr/>
          </p:nvSpPr>
          <p:spPr>
            <a:xfrm>
              <a:off x="3493199" y="3728475"/>
              <a:ext cx="299100" cy="2505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430" name="Google Shape;430;p44"/>
            <p:cNvSpPr/>
            <p:nvPr/>
          </p:nvSpPr>
          <p:spPr>
            <a:xfrm flipH="1" rot="10800000">
              <a:off x="1929720"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4"/>
            <p:cNvSpPr/>
            <p:nvPr/>
          </p:nvSpPr>
          <p:spPr>
            <a:xfrm>
              <a:off x="704190"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4"/>
            <p:cNvSpPr/>
            <p:nvPr/>
          </p:nvSpPr>
          <p:spPr>
            <a:xfrm flipH="1" rot="10800000">
              <a:off x="690108" y="1036401"/>
              <a:ext cx="1238700" cy="153000"/>
            </a:xfrm>
            <a:prstGeom prst="rect">
              <a:avLst/>
            </a:prstGeom>
            <a:solidFill>
              <a:srgbClr val="9225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4"/>
            <p:cNvSpPr txBox="1"/>
            <p:nvPr/>
          </p:nvSpPr>
          <p:spPr>
            <a:xfrm>
              <a:off x="690094" y="1189415"/>
              <a:ext cx="731400" cy="956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9225A5"/>
                  </a:solidFill>
                  <a:latin typeface="Montserrat"/>
                  <a:ea typeface="Montserrat"/>
                  <a:cs typeface="Montserrat"/>
                  <a:sym typeface="Montserrat"/>
                </a:rPr>
                <a:t>0</a:t>
              </a:r>
              <a:r>
                <a:rPr b="1" lang="en" sz="2000">
                  <a:solidFill>
                    <a:srgbClr val="9225A5"/>
                  </a:solidFill>
                  <a:latin typeface="Montserrat"/>
                  <a:ea typeface="Montserrat"/>
                  <a:cs typeface="Montserrat"/>
                  <a:sym typeface="Montserrat"/>
                </a:rPr>
                <a:t>6</a:t>
              </a:r>
              <a:endParaRPr b="1" i="0" sz="2000" u="none" cap="none" strike="noStrike">
                <a:solidFill>
                  <a:srgbClr val="9225A5"/>
                </a:solidFill>
                <a:latin typeface="Montserrat"/>
                <a:ea typeface="Montserrat"/>
                <a:cs typeface="Montserrat"/>
                <a:sym typeface="Montserrat"/>
              </a:endParaRPr>
            </a:p>
          </p:txBody>
        </p:sp>
        <p:cxnSp>
          <p:nvCxnSpPr>
            <p:cNvPr id="434" name="Google Shape;434;p44"/>
            <p:cNvCxnSpPr/>
            <p:nvPr/>
          </p:nvCxnSpPr>
          <p:spPr>
            <a:xfrm rot="10800000">
              <a:off x="1001290"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35" name="Google Shape;435;p44"/>
            <p:cNvCxnSpPr/>
            <p:nvPr/>
          </p:nvCxnSpPr>
          <p:spPr>
            <a:xfrm rot="10800000">
              <a:off x="1310771" y="2415591"/>
              <a:ext cx="0" cy="2370300"/>
            </a:xfrm>
            <a:prstGeom prst="straightConnector1">
              <a:avLst/>
            </a:prstGeom>
            <a:noFill/>
            <a:ln cap="flat" cmpd="sng" w="9525">
              <a:solidFill>
                <a:srgbClr val="9225A5"/>
              </a:solidFill>
              <a:prstDash val="dot"/>
              <a:round/>
              <a:headEnd len="sm" w="sm" type="none"/>
              <a:tailEnd len="sm" w="sm" type="none"/>
            </a:ln>
          </p:spPr>
        </p:cxnSp>
        <p:cxnSp>
          <p:nvCxnSpPr>
            <p:cNvPr id="436" name="Google Shape;436;p44"/>
            <p:cNvCxnSpPr/>
            <p:nvPr/>
          </p:nvCxnSpPr>
          <p:spPr>
            <a:xfrm rot="10800000">
              <a:off x="1620253" y="2415591"/>
              <a:ext cx="0" cy="2370300"/>
            </a:xfrm>
            <a:prstGeom prst="straightConnector1">
              <a:avLst/>
            </a:prstGeom>
            <a:noFill/>
            <a:ln cap="flat" cmpd="sng" w="9525">
              <a:solidFill>
                <a:srgbClr val="9225A5"/>
              </a:solidFill>
              <a:prstDash val="dot"/>
              <a:round/>
              <a:headEnd len="sm" w="sm" type="none"/>
              <a:tailEnd len="sm" w="sm" type="none"/>
            </a:ln>
          </p:spPr>
        </p:cxnSp>
        <p:sp>
          <p:nvSpPr>
            <p:cNvPr id="437" name="Google Shape;437;p44"/>
            <p:cNvSpPr txBox="1"/>
            <p:nvPr/>
          </p:nvSpPr>
          <p:spPr>
            <a:xfrm>
              <a:off x="68580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W1</a:t>
              </a:r>
              <a:endParaRPr b="1" i="0" sz="700" u="none" cap="none" strike="noStrike">
                <a:solidFill>
                  <a:srgbClr val="9225A5"/>
                </a:solidFill>
                <a:latin typeface="Montserrat"/>
                <a:ea typeface="Montserrat"/>
                <a:cs typeface="Montserrat"/>
                <a:sym typeface="Montserrat"/>
              </a:endParaRPr>
            </a:p>
          </p:txBody>
        </p:sp>
        <p:sp>
          <p:nvSpPr>
            <p:cNvPr id="438" name="Google Shape;438;p44"/>
            <p:cNvSpPr txBox="1"/>
            <p:nvPr/>
          </p:nvSpPr>
          <p:spPr>
            <a:xfrm>
              <a:off x="999040"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W2</a:t>
              </a:r>
              <a:endParaRPr b="1" i="0" sz="700" u="none" cap="none" strike="noStrike">
                <a:solidFill>
                  <a:srgbClr val="9225A5"/>
                </a:solidFill>
                <a:latin typeface="Montserrat"/>
                <a:ea typeface="Montserrat"/>
                <a:cs typeface="Montserrat"/>
                <a:sym typeface="Montserrat"/>
              </a:endParaRPr>
            </a:p>
          </p:txBody>
        </p:sp>
        <p:sp>
          <p:nvSpPr>
            <p:cNvPr id="439" name="Google Shape;439;p44"/>
            <p:cNvSpPr txBox="1"/>
            <p:nvPr/>
          </p:nvSpPr>
          <p:spPr>
            <a:xfrm>
              <a:off x="1312278"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W3</a:t>
              </a:r>
              <a:endParaRPr b="1" i="0" sz="700" u="none" cap="none" strike="noStrike">
                <a:solidFill>
                  <a:srgbClr val="9225A5"/>
                </a:solidFill>
                <a:latin typeface="Montserrat"/>
                <a:ea typeface="Montserrat"/>
                <a:cs typeface="Montserrat"/>
                <a:sym typeface="Montserrat"/>
              </a:endParaRPr>
            </a:p>
          </p:txBody>
        </p:sp>
        <p:sp>
          <p:nvSpPr>
            <p:cNvPr id="440" name="Google Shape;440;p44"/>
            <p:cNvSpPr txBox="1"/>
            <p:nvPr/>
          </p:nvSpPr>
          <p:spPr>
            <a:xfrm>
              <a:off x="1625517" y="2333691"/>
              <a:ext cx="299100" cy="215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9225A5"/>
                  </a:solidFill>
                  <a:latin typeface="Montserrat"/>
                  <a:ea typeface="Montserrat"/>
                  <a:cs typeface="Montserrat"/>
                  <a:sym typeface="Montserrat"/>
                </a:rPr>
                <a:t>W4</a:t>
              </a:r>
              <a:endParaRPr b="1" i="0" sz="700" u="none" cap="none" strike="noStrike">
                <a:solidFill>
                  <a:srgbClr val="9225A5"/>
                </a:solidFill>
                <a:latin typeface="Montserrat"/>
                <a:ea typeface="Montserrat"/>
                <a:cs typeface="Montserrat"/>
                <a:sym typeface="Montserrat"/>
              </a:endParaRPr>
            </a:p>
          </p:txBody>
        </p:sp>
        <p:sp>
          <p:nvSpPr>
            <p:cNvPr id="441" name="Google Shape;441;p44"/>
            <p:cNvSpPr txBox="1"/>
            <p:nvPr/>
          </p:nvSpPr>
          <p:spPr>
            <a:xfrm>
              <a:off x="690111" y="1189414"/>
              <a:ext cx="1233600" cy="215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lang="en" sz="1000">
                  <a:solidFill>
                    <a:srgbClr val="551561"/>
                  </a:solidFill>
                  <a:latin typeface="Montserrat"/>
                  <a:ea typeface="Montserrat"/>
                  <a:cs typeface="Montserrat"/>
                  <a:sym typeface="Montserrat"/>
                </a:rPr>
                <a:t>June</a:t>
              </a:r>
              <a:endParaRPr b="1" i="0" sz="1000" u="none" cap="none" strike="noStrike">
                <a:solidFill>
                  <a:srgbClr val="551561"/>
                </a:solidFill>
                <a:latin typeface="Montserrat"/>
                <a:ea typeface="Montserrat"/>
                <a:cs typeface="Montserrat"/>
                <a:sym typeface="Montserrat"/>
              </a:endParaRPr>
            </a:p>
          </p:txBody>
        </p:sp>
        <p:sp>
          <p:nvSpPr>
            <p:cNvPr id="442" name="Google Shape;442;p44"/>
            <p:cNvSpPr/>
            <p:nvPr/>
          </p:nvSpPr>
          <p:spPr>
            <a:xfrm>
              <a:off x="1001299" y="3015700"/>
              <a:ext cx="609000" cy="2505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443" name="Google Shape;443;p44"/>
            <p:cNvSpPr/>
            <p:nvPr/>
          </p:nvSpPr>
          <p:spPr>
            <a:xfrm>
              <a:off x="1944815" y="1036325"/>
              <a:ext cx="1238700" cy="3754500"/>
            </a:xfrm>
            <a:prstGeom prst="rect">
              <a:avLst/>
            </a:prstGeom>
            <a:noFill/>
            <a:ln cap="flat" cmpd="sng" w="9525">
              <a:solidFill>
                <a:srgbClr val="9225A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44"/>
            <p:cNvSpPr/>
            <p:nvPr/>
          </p:nvSpPr>
          <p:spPr>
            <a:xfrm>
              <a:off x="1619875" y="3242825"/>
              <a:ext cx="635100" cy="2505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sp>
          <p:nvSpPr>
            <p:cNvPr id="445" name="Google Shape;445;p44"/>
            <p:cNvSpPr/>
            <p:nvPr/>
          </p:nvSpPr>
          <p:spPr>
            <a:xfrm>
              <a:off x="709174" y="2758900"/>
              <a:ext cx="299100" cy="2505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FFFFFF"/>
                </a:solidFill>
                <a:latin typeface="Montserrat"/>
                <a:ea typeface="Montserrat"/>
                <a:cs typeface="Montserrat"/>
                <a:sym typeface="Montserrat"/>
              </a:endParaRPr>
            </a:p>
          </p:txBody>
        </p:sp>
      </p:grpSp>
      <p:sp>
        <p:nvSpPr>
          <p:cNvPr id="446" name="Google Shape;446;p44"/>
          <p:cNvSpPr txBox="1"/>
          <p:nvPr/>
        </p:nvSpPr>
        <p:spPr>
          <a:xfrm>
            <a:off x="5626350" y="3919900"/>
            <a:ext cx="3380700" cy="8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8 - 10 Agustus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Slide deck presentasi, credentials file, demonstrasi, project asset, dll dikumpulkan maks. 8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Gladi resik showcase : 9 agustus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Showcase dengan tim Binar : 10 agustus 2022</a:t>
            </a:r>
            <a:endParaRPr sz="850">
              <a:solidFill>
                <a:schemeClr val="dk1"/>
              </a:solidFill>
              <a:latin typeface="Montserrat"/>
              <a:ea typeface="Montserrat"/>
              <a:cs typeface="Montserrat"/>
              <a:sym typeface="Montserrat"/>
            </a:endParaRPr>
          </a:p>
        </p:txBody>
      </p:sp>
      <p:sp>
        <p:nvSpPr>
          <p:cNvPr id="447" name="Google Shape;447;p44"/>
          <p:cNvSpPr txBox="1"/>
          <p:nvPr/>
        </p:nvSpPr>
        <p:spPr>
          <a:xfrm>
            <a:off x="5626350" y="2422600"/>
            <a:ext cx="33807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50">
                <a:solidFill>
                  <a:schemeClr val="dk1"/>
                </a:solidFill>
                <a:latin typeface="Montserrat"/>
                <a:ea typeface="Montserrat"/>
                <a:cs typeface="Montserrat"/>
                <a:sym typeface="Montserrat"/>
              </a:rPr>
              <a:t>13 Juni - 22 Juli 2022</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Proses pengerjaan dilakukan dalam 3x sprint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Setiap sprint planning dan sprint review setiap kelompok akan melakukan presentasi dalam zoom (kelas besar) kepada fasil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Forum diskusi selama sprint berjalan maka kelas akan dibagi menjadi : 1 jam untuk koordinasi progress bersama team, 2 jam untuk diskusi dengan fasil masing-masing stream (</a:t>
            </a:r>
            <a:r>
              <a:rPr i="1" lang="en" sz="850">
                <a:solidFill>
                  <a:schemeClr val="dk1"/>
                </a:solidFill>
                <a:latin typeface="Montserrat"/>
                <a:ea typeface="Montserrat"/>
                <a:cs typeface="Montserrat"/>
                <a:sym typeface="Montserrat"/>
              </a:rPr>
              <a:t>cross stream diperkenankan jika dibutuhkan</a:t>
            </a:r>
            <a:r>
              <a:rPr lang="en" sz="850">
                <a:solidFill>
                  <a:schemeClr val="dk1"/>
                </a:solidFill>
                <a:latin typeface="Montserrat"/>
                <a:ea typeface="Montserrat"/>
                <a:cs typeface="Montserrat"/>
                <a:sym typeface="Montserrat"/>
              </a:rPr>
              <a:t>)</a:t>
            </a:r>
            <a:endParaRPr sz="850">
              <a:solidFill>
                <a:schemeClr val="dk1"/>
              </a:solidFill>
              <a:latin typeface="Montserrat"/>
              <a:ea typeface="Montserrat"/>
              <a:cs typeface="Montserrat"/>
              <a:sym typeface="Montserrat"/>
            </a:endParaRPr>
          </a:p>
        </p:txBody>
      </p:sp>
      <p:sp>
        <p:nvSpPr>
          <p:cNvPr id="448" name="Google Shape;448;p44"/>
          <p:cNvSpPr/>
          <p:nvPr/>
        </p:nvSpPr>
        <p:spPr>
          <a:xfrm>
            <a:off x="4232125" y="1168700"/>
            <a:ext cx="1361100" cy="358200"/>
          </a:xfrm>
          <a:prstGeom prst="rect">
            <a:avLst/>
          </a:prstGeom>
          <a:solidFill>
            <a:srgbClr val="A667A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chemeClr val="lt1"/>
                </a:solidFill>
                <a:latin typeface="Montserrat"/>
                <a:ea typeface="Montserrat"/>
                <a:cs typeface="Montserrat"/>
                <a:sym typeface="Montserrat"/>
              </a:rPr>
              <a:t>Final project announcement</a:t>
            </a:r>
            <a:endParaRPr b="1" i="0" sz="1000" u="none" cap="none" strike="noStrike">
              <a:solidFill>
                <a:schemeClr val="lt1"/>
              </a:solidFill>
              <a:latin typeface="Montserrat"/>
              <a:ea typeface="Montserrat"/>
              <a:cs typeface="Montserrat"/>
              <a:sym typeface="Montserrat"/>
            </a:endParaRPr>
          </a:p>
        </p:txBody>
      </p:sp>
      <p:sp>
        <p:nvSpPr>
          <p:cNvPr id="449" name="Google Shape;449;p44"/>
          <p:cNvSpPr/>
          <p:nvPr/>
        </p:nvSpPr>
        <p:spPr>
          <a:xfrm>
            <a:off x="4232118" y="2569200"/>
            <a:ext cx="1361100" cy="210600"/>
          </a:xfrm>
          <a:prstGeom prst="rect">
            <a:avLst/>
          </a:prstGeom>
          <a:solidFill>
            <a:srgbClr val="F9CB9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1</a:t>
            </a:r>
            <a:endParaRPr b="1" i="0" sz="1000" u="none" cap="none" strike="noStrike">
              <a:solidFill>
                <a:srgbClr val="FFFFFF"/>
              </a:solidFill>
              <a:latin typeface="Montserrat"/>
              <a:ea typeface="Montserrat"/>
              <a:cs typeface="Montserrat"/>
              <a:sym typeface="Montserrat"/>
            </a:endParaRPr>
          </a:p>
        </p:txBody>
      </p:sp>
      <p:sp>
        <p:nvSpPr>
          <p:cNvPr id="450" name="Google Shape;450;p44"/>
          <p:cNvSpPr/>
          <p:nvPr/>
        </p:nvSpPr>
        <p:spPr>
          <a:xfrm>
            <a:off x="4228620" y="2824275"/>
            <a:ext cx="1361100" cy="210600"/>
          </a:xfrm>
          <a:prstGeom prst="rect">
            <a:avLst/>
          </a:prstGeom>
          <a:solidFill>
            <a:srgbClr val="F6B26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2</a:t>
            </a:r>
            <a:endParaRPr b="1" i="0" sz="1000" u="none" cap="none" strike="noStrike">
              <a:solidFill>
                <a:srgbClr val="FFFFFF"/>
              </a:solidFill>
              <a:latin typeface="Montserrat"/>
              <a:ea typeface="Montserrat"/>
              <a:cs typeface="Montserrat"/>
              <a:sym typeface="Montserrat"/>
            </a:endParaRPr>
          </a:p>
        </p:txBody>
      </p:sp>
      <p:sp>
        <p:nvSpPr>
          <p:cNvPr id="451" name="Google Shape;451;p44"/>
          <p:cNvSpPr/>
          <p:nvPr/>
        </p:nvSpPr>
        <p:spPr>
          <a:xfrm>
            <a:off x="4227876" y="4060925"/>
            <a:ext cx="1361100" cy="210600"/>
          </a:xfrm>
          <a:prstGeom prst="rect">
            <a:avLst/>
          </a:prstGeom>
          <a:solidFill>
            <a:srgbClr val="7436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Showcase</a:t>
            </a:r>
            <a:endParaRPr b="1" i="0" sz="1000" u="none" cap="none" strike="noStrike">
              <a:solidFill>
                <a:srgbClr val="FFFFFF"/>
              </a:solidFill>
              <a:latin typeface="Montserrat"/>
              <a:ea typeface="Montserrat"/>
              <a:cs typeface="Montserrat"/>
              <a:sym typeface="Montserrat"/>
            </a:endParaRPr>
          </a:p>
        </p:txBody>
      </p:sp>
      <p:sp>
        <p:nvSpPr>
          <p:cNvPr id="452" name="Google Shape;452;p44"/>
          <p:cNvSpPr txBox="1"/>
          <p:nvPr/>
        </p:nvSpPr>
        <p:spPr>
          <a:xfrm>
            <a:off x="5626449" y="1041500"/>
            <a:ext cx="3380700" cy="138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850">
                <a:solidFill>
                  <a:schemeClr val="dk1"/>
                </a:solidFill>
                <a:latin typeface="Montserrat"/>
                <a:ea typeface="Montserrat"/>
                <a:cs typeface="Montserrat"/>
                <a:sym typeface="Montserrat"/>
              </a:rPr>
              <a:t>10 Juni 2022</a:t>
            </a:r>
            <a:r>
              <a:rPr lang="en" sz="850">
                <a:solidFill>
                  <a:schemeClr val="dk1"/>
                </a:solidFill>
                <a:latin typeface="Montserrat"/>
                <a:ea typeface="Montserrat"/>
                <a:cs typeface="Montserrat"/>
                <a:sym typeface="Montserrat"/>
              </a:rPr>
              <a:t> </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Project discussion (brainstorming bersama tim).</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Sesi kelas akan digunakan untuk sesi diskusi kelompok dengan facil pendamping dalam breakout room</a:t>
            </a:r>
            <a:endParaRPr sz="850">
              <a:solidFill>
                <a:schemeClr val="dk1"/>
              </a:solidFill>
              <a:latin typeface="Montserrat"/>
              <a:ea typeface="Montserrat"/>
              <a:cs typeface="Montserrat"/>
              <a:sym typeface="Montserrat"/>
            </a:endParaRPr>
          </a:p>
          <a:p>
            <a:pPr indent="-225425" lvl="0" marL="228600" rtl="0" algn="l">
              <a:spcBef>
                <a:spcPts val="0"/>
              </a:spcBef>
              <a:spcAft>
                <a:spcPts val="0"/>
              </a:spcAft>
              <a:buClr>
                <a:schemeClr val="dk1"/>
              </a:buClr>
              <a:buSzPts val="850"/>
              <a:buFont typeface="Montserrat"/>
              <a:buChar char="●"/>
            </a:pPr>
            <a:r>
              <a:rPr lang="en" sz="850">
                <a:solidFill>
                  <a:schemeClr val="dk1"/>
                </a:solidFill>
                <a:latin typeface="Montserrat"/>
                <a:ea typeface="Montserrat"/>
                <a:cs typeface="Montserrat"/>
                <a:sym typeface="Montserrat"/>
              </a:rPr>
              <a:t>Setelah diskusi pada sesi pertama dengan kelompok, UI/UX dapat langsung melakukan riset ataupun design terlebih dahulu sebelum sprint dimulai (Sprint planning).</a:t>
            </a:r>
            <a:endParaRPr sz="850">
              <a:solidFill>
                <a:schemeClr val="dk1"/>
              </a:solidFill>
              <a:latin typeface="Montserrat"/>
              <a:ea typeface="Montserrat"/>
              <a:cs typeface="Montserrat"/>
              <a:sym typeface="Montserrat"/>
            </a:endParaRPr>
          </a:p>
        </p:txBody>
      </p:sp>
      <p:sp>
        <p:nvSpPr>
          <p:cNvPr id="453" name="Google Shape;453;p44"/>
          <p:cNvSpPr/>
          <p:nvPr/>
        </p:nvSpPr>
        <p:spPr>
          <a:xfrm>
            <a:off x="4235616" y="3079350"/>
            <a:ext cx="1361100" cy="210600"/>
          </a:xfrm>
          <a:prstGeom prst="rect">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lang="en" sz="1000">
                <a:solidFill>
                  <a:srgbClr val="FFFFFF"/>
                </a:solidFill>
                <a:latin typeface="Montserrat"/>
                <a:ea typeface="Montserrat"/>
                <a:cs typeface="Montserrat"/>
                <a:sym typeface="Montserrat"/>
              </a:rPr>
              <a:t>Sprint 3</a:t>
            </a:r>
            <a:endParaRPr b="1" i="0" sz="1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7" name="Shape 457"/>
        <p:cNvGrpSpPr/>
        <p:nvPr/>
      </p:nvGrpSpPr>
      <p:grpSpPr>
        <a:xfrm>
          <a:off x="0" y="0"/>
          <a:ext cx="0" cy="0"/>
          <a:chOff x="0" y="0"/>
          <a:chExt cx="0" cy="0"/>
        </a:xfrm>
      </p:grpSpPr>
      <p:sp>
        <p:nvSpPr>
          <p:cNvPr id="458" name="Google Shape;458;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460" name="Google Shape;460;p45"/>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Referensi Interface Aplikasi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Final Project</a:t>
            </a:r>
            <a:endParaRPr/>
          </a:p>
        </p:txBody>
      </p:sp>
      <p:sp>
        <p:nvSpPr>
          <p:cNvPr id="467" name="Google Shape;467;p46"/>
          <p:cNvSpPr txBox="1"/>
          <p:nvPr/>
        </p:nvSpPr>
        <p:spPr>
          <a:xfrm>
            <a:off x="685800" y="1036325"/>
            <a:ext cx="7305300" cy="27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Criteria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1" name="Shape 471"/>
        <p:cNvGrpSpPr/>
        <p:nvPr/>
      </p:nvGrpSpPr>
      <p:grpSpPr>
        <a:xfrm>
          <a:off x="0" y="0"/>
          <a:ext cx="0" cy="0"/>
          <a:chOff x="0" y="0"/>
          <a:chExt cx="0" cy="0"/>
        </a:xfrm>
      </p:grpSpPr>
      <p:sp>
        <p:nvSpPr>
          <p:cNvPr id="472" name="Google Shape;47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473" name="Google Shape;47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Challenge</a:t>
            </a:r>
            <a:endParaRPr/>
          </a:p>
        </p:txBody>
      </p:sp>
      <p:sp>
        <p:nvSpPr>
          <p:cNvPr id="474" name="Google Shape;474;p47"/>
          <p:cNvSpPr txBox="1"/>
          <p:nvPr/>
        </p:nvSpPr>
        <p:spPr>
          <a:xfrm>
            <a:off x="685800" y="1188725"/>
            <a:ext cx="7930800" cy="2415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600"/>
              </a:spcBef>
              <a:spcAft>
                <a:spcPts val="0"/>
              </a:spcAft>
              <a:buClr>
                <a:schemeClr val="dk1"/>
              </a:buClr>
              <a:buSzPts val="1100"/>
              <a:buFont typeface="Arial"/>
              <a:buNone/>
            </a:pPr>
            <a:r>
              <a:rPr b="1" lang="en" sz="1800">
                <a:solidFill>
                  <a:schemeClr val="lt1"/>
                </a:solidFill>
                <a:latin typeface="Raleway"/>
                <a:ea typeface="Raleway"/>
                <a:cs typeface="Raleway"/>
                <a:sym typeface="Raleway"/>
              </a:rPr>
              <a:t>Bagaimana hasil proyek kamu akan dievaluasi?</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a:buAutoNum type="arabicParenR"/>
            </a:pPr>
            <a:r>
              <a:rPr b="1" lang="en" sz="1200">
                <a:solidFill>
                  <a:schemeClr val="lt1"/>
                </a:solidFill>
                <a:latin typeface="Raleway"/>
                <a:ea typeface="Raleway"/>
                <a:cs typeface="Raleway"/>
                <a:sym typeface="Raleway"/>
              </a:rPr>
              <a:t>Presentasi - </a:t>
            </a:r>
            <a:r>
              <a:rPr lang="en" sz="1200">
                <a:solidFill>
                  <a:schemeClr val="lt1"/>
                </a:solidFill>
                <a:latin typeface="Raleway Medium"/>
                <a:ea typeface="Raleway Medium"/>
                <a:cs typeface="Raleway Medium"/>
                <a:sym typeface="Raleway Medium"/>
              </a:rPr>
              <a:t>Apakah audiens dapat mengerti tujuan produk Anda dengan jelas dan apakah Anda dapat membela desain Anda dengan alasan - alasan yang tepat?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rabicParenR"/>
            </a:pPr>
            <a:r>
              <a:rPr b="1" lang="en" sz="1200">
                <a:solidFill>
                  <a:schemeClr val="lt1"/>
                </a:solidFill>
                <a:latin typeface="Raleway"/>
                <a:ea typeface="Raleway"/>
                <a:cs typeface="Raleway"/>
                <a:sym typeface="Raleway"/>
              </a:rPr>
              <a:t>Masalah - </a:t>
            </a:r>
            <a:r>
              <a:rPr lang="en" sz="1200">
                <a:solidFill>
                  <a:schemeClr val="lt1"/>
                </a:solidFill>
                <a:latin typeface="Raleway Medium"/>
                <a:ea typeface="Raleway Medium"/>
                <a:cs typeface="Raleway Medium"/>
                <a:sym typeface="Raleway Medium"/>
              </a:rPr>
              <a:t>Apakah ide sudah dipikirkan dan dieksplorasi dengan baik? Apakah Anda telah memahami kebutuhan klien?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rabicParenR"/>
            </a:pPr>
            <a:r>
              <a:rPr b="1" lang="en" sz="1200">
                <a:solidFill>
                  <a:schemeClr val="lt1"/>
                </a:solidFill>
                <a:latin typeface="Raleway"/>
                <a:ea typeface="Raleway"/>
                <a:cs typeface="Raleway"/>
                <a:sym typeface="Raleway"/>
              </a:rPr>
              <a:t>Proses - </a:t>
            </a:r>
            <a:r>
              <a:rPr lang="en" sz="1200">
                <a:solidFill>
                  <a:schemeClr val="lt1"/>
                </a:solidFill>
                <a:latin typeface="Raleway Medium"/>
                <a:ea typeface="Raleway Medium"/>
                <a:cs typeface="Raleway Medium"/>
                <a:sym typeface="Raleway Medium"/>
              </a:rPr>
              <a:t>Apakah Anda telah melalui proses user-centered design (UCD) yang benar? Apakah masalah/pain poin diidentifikasi dengan jelas, dan apakah keputusan desain didasarkan pada solusi mereka?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rabicParenR"/>
            </a:pPr>
            <a:r>
              <a:rPr b="1" lang="en" sz="1200">
                <a:solidFill>
                  <a:schemeClr val="lt1"/>
                </a:solidFill>
                <a:latin typeface="Raleway"/>
                <a:ea typeface="Raleway"/>
                <a:cs typeface="Raleway"/>
                <a:sym typeface="Raleway"/>
              </a:rPr>
              <a:t>Fungsionalitas - </a:t>
            </a:r>
            <a:r>
              <a:rPr lang="en" sz="1200">
                <a:solidFill>
                  <a:schemeClr val="lt1"/>
                </a:solidFill>
                <a:latin typeface="Raleway Medium"/>
                <a:ea typeface="Raleway Medium"/>
                <a:cs typeface="Raleway Medium"/>
                <a:sym typeface="Raleway Medium"/>
              </a:rPr>
              <a:t>Apakah fitur dan fungsionalitas memenuhi kebutuhan pengguna dan bisnis?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rabicParenR"/>
            </a:pPr>
            <a:r>
              <a:rPr b="1" lang="en" sz="1200">
                <a:solidFill>
                  <a:schemeClr val="lt1"/>
                </a:solidFill>
                <a:latin typeface="Raleway"/>
                <a:ea typeface="Raleway"/>
                <a:cs typeface="Raleway"/>
                <a:sym typeface="Raleway"/>
              </a:rPr>
              <a:t>Kegunaan - </a:t>
            </a:r>
            <a:r>
              <a:rPr lang="en" sz="1200">
                <a:solidFill>
                  <a:schemeClr val="lt1"/>
                </a:solidFill>
                <a:latin typeface="Raleway Medium"/>
                <a:ea typeface="Raleway Medium"/>
                <a:cs typeface="Raleway Medium"/>
                <a:sym typeface="Raleway Medium"/>
              </a:rPr>
              <a:t>Apakah aplikasi mudah dinavigasi dan memberikan pengalaman yang menyenangkan?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