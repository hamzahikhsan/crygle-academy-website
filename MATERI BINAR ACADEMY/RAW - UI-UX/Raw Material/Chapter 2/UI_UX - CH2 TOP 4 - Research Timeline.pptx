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embeddedFontLst>
    <p:embeddedFont>
      <p:font typeface="Raleway"/>
      <p:regular r:id="rId49"/>
      <p:bold r:id="rId50"/>
      <p:italic r:id="rId51"/>
      <p:boldItalic r:id="rId52"/>
    </p:embeddedFont>
    <p:embeddedFont>
      <p:font typeface="Montserrat"/>
      <p:regular r:id="rId53"/>
      <p:bold r:id="rId54"/>
      <p:italic r:id="rId55"/>
      <p:boldItalic r:id="rId56"/>
    </p:embeddedFont>
    <p:embeddedFont>
      <p:font typeface="Lato Black"/>
      <p:bold r:id="rId57"/>
      <p:boldItalic r:id="rId58"/>
    </p:embeddedFont>
    <p:embeddedFont>
      <p:font typeface="Raleway Medium"/>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Raleway-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alewayMedium-boldItalic.fntdata"/><Relationship Id="rId61" Type="http://schemas.openxmlformats.org/officeDocument/2006/relationships/font" Target="fonts/RalewayMedium-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alewayMedium-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italic.fntdata"/><Relationship Id="rId50" Type="http://schemas.openxmlformats.org/officeDocument/2006/relationships/font" Target="fonts/Raleway-bold.fntdata"/><Relationship Id="rId53" Type="http://schemas.openxmlformats.org/officeDocument/2006/relationships/font" Target="fonts/Montserrat-regular.fntdata"/><Relationship Id="rId52" Type="http://schemas.openxmlformats.org/officeDocument/2006/relationships/font" Target="fonts/Raleway-boldItalic.fntdata"/><Relationship Id="rId11" Type="http://schemas.openxmlformats.org/officeDocument/2006/relationships/slide" Target="slides/slide5.xml"/><Relationship Id="rId55" Type="http://schemas.openxmlformats.org/officeDocument/2006/relationships/font" Target="fonts/Montserrat-italic.fntdata"/><Relationship Id="rId10" Type="http://schemas.openxmlformats.org/officeDocument/2006/relationships/slide" Target="slides/slide4.xml"/><Relationship Id="rId54" Type="http://schemas.openxmlformats.org/officeDocument/2006/relationships/font" Target="fonts/Montserrat-bold.fntdata"/><Relationship Id="rId13" Type="http://schemas.openxmlformats.org/officeDocument/2006/relationships/slide" Target="slides/slide7.xml"/><Relationship Id="rId57" Type="http://schemas.openxmlformats.org/officeDocument/2006/relationships/font" Target="fonts/LatoBlack-bold.fntdata"/><Relationship Id="rId12" Type="http://schemas.openxmlformats.org/officeDocument/2006/relationships/slide" Target="slides/slide6.xml"/><Relationship Id="rId56" Type="http://schemas.openxmlformats.org/officeDocument/2006/relationships/font" Target="fonts/Montserrat-boldItalic.fntdata"/><Relationship Id="rId15" Type="http://schemas.openxmlformats.org/officeDocument/2006/relationships/slide" Target="slides/slide9.xml"/><Relationship Id="rId59" Type="http://schemas.openxmlformats.org/officeDocument/2006/relationships/font" Target="fonts/RalewayMedium-regular.fntdata"/><Relationship Id="rId14" Type="http://schemas.openxmlformats.org/officeDocument/2006/relationships/slide" Target="slides/slide8.xml"/><Relationship Id="rId58" Type="http://schemas.openxmlformats.org/officeDocument/2006/relationships/font" Target="fonts/LatoBlack-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animal-shelter?utm_source=unsplash&amp;utm_medium=referral&amp;utm_content=creditCopyText" TargetMode="External"/><Relationship Id="rId5" Type="http://schemas.openxmlformats.org/officeDocument/2006/relationships/hyperlink" Target="https://unsplash.com/s/photos/animal-shelter?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lhnk?utm_source=unsplash&amp;utm_medium=referral&amp;utm_content=creditCopyText" TargetMode="Externa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hyperlink" Target="https://unsplash.com/s/photos/user-researcher?utm_source=unsplash&amp;utm_medium=referral&amp;utm_content=creditCopyText" TargetMode="External"/><Relationship Id="rId5" Type="http://schemas.openxmlformats.org/officeDocument/2006/relationships/hyperlink" Target="https://unsplash.com/s/photos/user-researcher?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obuagency?utm_source=unsplash&amp;utm_medium=referral&amp;utm_content=creditCopyText" TargetMode="External"/><Relationship Id="rId3" Type="http://schemas.openxmlformats.org/officeDocument/2006/relationships/hyperlink" Target="https://unsplash.com/@kobuagency?utm_source=unsplash&amp;utm_medium=referral&amp;utm_content=creditCopyText" TargetMode="External"/><Relationship Id="rId4" Type="http://schemas.openxmlformats.org/officeDocument/2006/relationships/hyperlink" Target="https://unsplash.com/s/photos/website?utm_source=unsplash&amp;utm_medium=referral&amp;utm_content=creditCopyText" TargetMode="External"/><Relationship Id="rId5" Type="http://schemas.openxmlformats.org/officeDocument/2006/relationships/hyperlink" Target="https://unsplash.com/s/photos/website?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nginakyur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lhnk?utm_source=unsplash&amp;utm_medium=referral&amp;utm_content=creditCopyText" TargetMode="Externa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hyperlink" Target="https://unsplash.com/s/photos/user-researcher?utm_source=unsplash&amp;utm_medium=referral&amp;utm_content=creditCopyText" TargetMode="External"/><Relationship Id="rId5" Type="http://schemas.openxmlformats.org/officeDocument/2006/relationships/hyperlink" Target="https://unsplash.com/s/photos/user-researcher?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lhnk?utm_source=unsplash&amp;utm_medium=referral&amp;utm_content=creditCopyText" TargetMode="Externa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hyperlink" Target="https://unsplash.com/s/photos/user-researcher?utm_source=unsplash&amp;utm_medium=referral&amp;utm_content=creditCopyText" TargetMode="External"/><Relationship Id="rId5" Type="http://schemas.openxmlformats.org/officeDocument/2006/relationships/hyperlink" Target="https://unsplash.com/s/photos/user-researcher?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estocks?utm_source=unsplash&amp;utm_medium=referral&amp;utm_content=creditCopyText" TargetMode="Externa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ceage26?utm_source=unsplash&amp;utm_medium=referral&amp;utm_content=creditCopyText" TargetMode="Externa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hyperlink" Target="https://unsplash.com/s/photos/timeline?utm_source=unsplash&amp;utm_medium=referral&amp;utm_content=creditCopyText" TargetMode="External"/><Relationship Id="rId5" Type="http://schemas.openxmlformats.org/officeDocument/2006/relationships/hyperlink" Target="https://unsplash.com/s/photos/timeline?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ceage26?utm_source=unsplash&amp;utm_medium=referral&amp;utm_content=creditCopyText" TargetMode="Externa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hyperlink" Target="https://unsplash.com/s/photos/timeline?utm_source=unsplash&amp;utm_medium=referral&amp;utm_content=creditCopyText" TargetMode="External"/><Relationship Id="rId5" Type="http://schemas.openxmlformats.org/officeDocument/2006/relationships/hyperlink" Target="https://unsplash.com/s/photos/timeline?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0f816abf1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0f816abf1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d1c2ecca74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d1c2ecca74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0f816abf1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0f816abf1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Paul Hanaoka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0f816abf1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0f816abf1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KOBU Agency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0f816abf1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0f816abf1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engin akyurt</a:t>
            </a:r>
            <a:r>
              <a:rPr lang="en">
                <a:solidFill>
                  <a:schemeClr val="dk1"/>
                </a:solidFill>
              </a:rPr>
              <a:t> on 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d1c2ecc95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d1c2ecc95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0f816abf1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0f816abf1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0f816abdff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0f816abdff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https://uxdesign.cc/the-life-and-timelines-of-research-projects-3eb9001d74c</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0f816abf1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0f816abf1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https://uxdesign.cc/the-life-and-timelines-of-research-projects-3eb9001d74c</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0f816abf19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0f816abf19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0f816abf19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0f816abf19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https://dscout.com/people-nerds/generative-research-complete-guide</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0f816abf19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0f816abf19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https://dscout.com/people-nerds/generative-research-complete-guide</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0f816abf19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0f816abf19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Paul Hanaoka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1447d42a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1447d42a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Paul Hanaoka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0f816abf19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0f816abf19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freestocks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0f816abf19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0f816abf19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0f816abf19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0f816abf1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https://uxdesign.cc/the-life-and-timelines-of-research-projects-3eb9001d74c</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0f816abf19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0f816abf19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0f816abf19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0f816abf19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Adrian Hernandez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0f816abf19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0f816abf19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https://uxdesign.cc/the-life-and-timelines-of-research-projects-3eb9001d74c</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0f816abf19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0f816abf19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https://uxdesign.cc/the-life-and-timelines-of-research-projects-3eb9001d74c</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0f816abf19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0f816abf19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https://uxdesign.cc/the-life-and-timelines-of-research-projects-3eb9001d74c</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0f816abf19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0f816abf19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https://uxdesign.cc/the-life-and-timelines-of-research-projects-3eb9001d74c</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0f816abf19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0f816abf19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Adrian Hernandez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0f816abf19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0f816abf19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0f816abdff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0f816abdff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0f816abf19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0f816abf19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0f816abf19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0f816abf19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0f816abf19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0f816abf19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0f816abf19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0f816abf19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0f816abf19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0f816abf19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0f816abf19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0f816abf19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0f816abf19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0f816abf19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11cd39fe3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11cd39fe3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11cd39fe3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11cd39fe3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11cd39fe3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11cd39fe3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8" name="Shape 98"/>
        <p:cNvGrpSpPr/>
        <p:nvPr/>
      </p:nvGrpSpPr>
      <p:grpSpPr>
        <a:xfrm>
          <a:off x="0" y="0"/>
          <a:ext cx="0" cy="0"/>
          <a:chOff x="0" y="0"/>
          <a:chExt cx="0" cy="0"/>
        </a:xfrm>
      </p:grpSpPr>
      <p:sp>
        <p:nvSpPr>
          <p:cNvPr id="99" name="Google Shape;99;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0" name="Google Shape;100;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5" name="Shape 105"/>
        <p:cNvGrpSpPr/>
        <p:nvPr/>
      </p:nvGrpSpPr>
      <p:grpSpPr>
        <a:xfrm>
          <a:off x="0" y="0"/>
          <a:ext cx="0" cy="0"/>
          <a:chOff x="0" y="0"/>
          <a:chExt cx="0" cy="0"/>
        </a:xfrm>
      </p:grpSpPr>
      <p:sp>
        <p:nvSpPr>
          <p:cNvPr id="106" name="Google Shape;106;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7" name="Google Shape;10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08" name="Google Shape;10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sp>
        <p:nvSpPr>
          <p:cNvPr id="110" name="Google Shape;110;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1" name="Google Shape;111;p2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2" name="Google Shape;112;p2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3" name="Google Shape;11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7" name="Shape 117"/>
        <p:cNvGrpSpPr/>
        <p:nvPr/>
      </p:nvGrpSpPr>
      <p:grpSpPr>
        <a:xfrm>
          <a:off x="0" y="0"/>
          <a:ext cx="0" cy="0"/>
          <a:chOff x="0" y="0"/>
          <a:chExt cx="0" cy="0"/>
        </a:xfrm>
      </p:grpSpPr>
      <p:sp>
        <p:nvSpPr>
          <p:cNvPr id="118" name="Google Shape;118;p2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9" name="Google Shape;119;p2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0" name="Google Shape;12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1" name="Shape 121"/>
        <p:cNvGrpSpPr/>
        <p:nvPr/>
      </p:nvGrpSpPr>
      <p:grpSpPr>
        <a:xfrm>
          <a:off x="0" y="0"/>
          <a:ext cx="0" cy="0"/>
          <a:chOff x="0" y="0"/>
          <a:chExt cx="0" cy="0"/>
        </a:xfrm>
      </p:grpSpPr>
      <p:sp>
        <p:nvSpPr>
          <p:cNvPr id="122" name="Google Shape;122;p2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3" name="Google Shape;12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4" name="Shape 124"/>
        <p:cNvGrpSpPr/>
        <p:nvPr/>
      </p:nvGrpSpPr>
      <p:grpSpPr>
        <a:xfrm>
          <a:off x="0" y="0"/>
          <a:ext cx="0" cy="0"/>
          <a:chOff x="0" y="0"/>
          <a:chExt cx="0" cy="0"/>
        </a:xfrm>
      </p:grpSpPr>
      <p:sp>
        <p:nvSpPr>
          <p:cNvPr id="125" name="Google Shape;125;p2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7" name="Google Shape;127;p2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28" name="Google Shape;128;p2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29" name="Google Shape;12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0" name="Shape 130"/>
        <p:cNvGrpSpPr/>
        <p:nvPr/>
      </p:nvGrpSpPr>
      <p:grpSpPr>
        <a:xfrm>
          <a:off x="0" y="0"/>
          <a:ext cx="0" cy="0"/>
          <a:chOff x="0" y="0"/>
          <a:chExt cx="0" cy="0"/>
        </a:xfrm>
      </p:grpSpPr>
      <p:sp>
        <p:nvSpPr>
          <p:cNvPr id="131" name="Google Shape;131;p2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32" name="Google Shape;13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3" name="Shape 133"/>
        <p:cNvGrpSpPr/>
        <p:nvPr/>
      </p:nvGrpSpPr>
      <p:grpSpPr>
        <a:xfrm>
          <a:off x="0" y="0"/>
          <a:ext cx="0" cy="0"/>
          <a:chOff x="0" y="0"/>
          <a:chExt cx="0" cy="0"/>
        </a:xfrm>
      </p:grpSpPr>
      <p:sp>
        <p:nvSpPr>
          <p:cNvPr id="134" name="Google Shape;134;p3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5" name="Google Shape;135;p3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36" name="Google Shape;13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7" name="Shape 137"/>
        <p:cNvGrpSpPr/>
        <p:nvPr/>
      </p:nvGrpSpPr>
      <p:grpSpPr>
        <a:xfrm>
          <a:off x="0" y="0"/>
          <a:ext cx="0" cy="0"/>
          <a:chOff x="0" y="0"/>
          <a:chExt cx="0" cy="0"/>
        </a:xfrm>
      </p:grpSpPr>
      <p:sp>
        <p:nvSpPr>
          <p:cNvPr id="138" name="Google Shape;13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9.xml"/><Relationship Id="rId10" Type="http://schemas.openxmlformats.org/officeDocument/2006/relationships/slideLayout" Target="../slideLayouts/slideLayout28.xml"/><Relationship Id="rId12" Type="http://schemas.openxmlformats.org/officeDocument/2006/relationships/theme" Target="../theme/theme2.xml"/><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9" Type="http://schemas.openxmlformats.org/officeDocument/2006/relationships/slideLayout" Target="../slideLayouts/slideLayout27.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96" name="Google Shape;96;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97" name="Google Shape;9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unsplash.com/@kobuagency?utm_source=unsplash&amp;utm_medium=referral&amp;utm_content=creditCopyText" TargetMode="Externa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enginakyurt" TargetMode="Externa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image" Target="../media/image6.png"/><Relationship Id="rId5" Type="http://schemas.openxmlformats.org/officeDocument/2006/relationships/hyperlink" Target="https://unsplash.com/@plhnk?utm_source=unsplash&amp;utm_medium=referral&amp;utm_content=creditCopyTex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image" Target="../media/image6.png"/><Relationship Id="rId5" Type="http://schemas.openxmlformats.org/officeDocument/2006/relationships/hyperlink" Target="https://unsplash.com/@plhnk?utm_source=unsplash&amp;utm_medium=referral&amp;utm_content=creditCopyTex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blog.leanstack.com/what-is-a-job-to-be-done-jtbd/" TargetMode="Externa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blog.leanstack.com/what-is-a-job-to-be-done-jtbd/" TargetMode="Externa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unsplash.com/@freestocks?utm_source=unsplash&amp;utm_medium=referral&amp;utm_content=creditCopyText" TargetMode="External"/><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image" Target="../media/image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1" Type="http://schemas.openxmlformats.org/officeDocument/2006/relationships/hyperlink" Target="https://www.usertesting.com/blog/generative-vs-evaluation-research" TargetMode="External"/><Relationship Id="rId10" Type="http://schemas.openxmlformats.org/officeDocument/2006/relationships/hyperlink" Target="https://www.usertesting.com/blog/generative-vs-evaluation-research" TargetMode="External"/><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png"/><Relationship Id="rId4" Type="http://schemas.openxmlformats.org/officeDocument/2006/relationships/hyperlink" Target="https://uxdesign.cc/the-life-and-timelines-of-research-projects-3eb9001d74c" TargetMode="External"/><Relationship Id="rId9" Type="http://schemas.openxmlformats.org/officeDocument/2006/relationships/hyperlink" Target="https://www.usertesting.com/blog/generative-vs-evaluation-research" TargetMode="External"/><Relationship Id="rId5" Type="http://schemas.openxmlformats.org/officeDocument/2006/relationships/hyperlink" Target="https://uxdesign.cc/the-life-and-timelines-of-research-projects-3eb9001d74c" TargetMode="External"/><Relationship Id="rId6" Type="http://schemas.openxmlformats.org/officeDocument/2006/relationships/hyperlink" Target="https://uxdesign.cc/a-breakdown-of-ux-research-types-bd127c10b364" TargetMode="External"/><Relationship Id="rId7" Type="http://schemas.openxmlformats.org/officeDocument/2006/relationships/hyperlink" Target="https://www.usertesting.com/blog/generative-vs-evaluation-research" TargetMode="External"/><Relationship Id="rId8" Type="http://schemas.openxmlformats.org/officeDocument/2006/relationships/hyperlink" Target="https://www.usertesting.com/blog/generative-vs-evaluation-research"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42" name="Shape 142"/>
        <p:cNvGrpSpPr/>
        <p:nvPr/>
      </p:nvGrpSpPr>
      <p:grpSpPr>
        <a:xfrm>
          <a:off x="0" y="0"/>
          <a:ext cx="0" cy="0"/>
          <a:chOff x="0" y="0"/>
          <a:chExt cx="0" cy="0"/>
        </a:xfrm>
      </p:grpSpPr>
      <p:sp>
        <p:nvSpPr>
          <p:cNvPr id="143" name="Google Shape;143;p32"/>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Research Timeline</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2 - Topic 4</a:t>
            </a:r>
            <a:endParaRPr b="1">
              <a:solidFill>
                <a:srgbClr val="FFFFFF"/>
              </a:solidFill>
              <a:latin typeface="Raleway"/>
              <a:ea typeface="Raleway"/>
              <a:cs typeface="Raleway"/>
              <a:sym typeface="Raleway"/>
            </a:endParaRPr>
          </a:p>
        </p:txBody>
      </p:sp>
      <p:cxnSp>
        <p:nvCxnSpPr>
          <p:cNvPr id="144" name="Google Shape;144;p32"/>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45" name="Google Shape;145;p32"/>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46" name="Google Shape;146;p32"/>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2" name="Google Shape;152;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53" name="Google Shape;153;p3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54" name="Google Shape;154;p33"/>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Research Timeline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Melihat sebuah skenario</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Siklus hidup </a:t>
            </a:r>
            <a:r>
              <a:rPr lang="en" sz="1200">
                <a:solidFill>
                  <a:schemeClr val="dk1"/>
                </a:solidFill>
                <a:latin typeface="Raleway Medium"/>
                <a:ea typeface="Raleway Medium"/>
                <a:cs typeface="Raleway Medium"/>
                <a:sym typeface="Raleway Medium"/>
              </a:rPr>
              <a:t>proyek penelitian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a:t>
            </a:r>
            <a:r>
              <a:rPr lang="en" sz="1200">
                <a:solidFill>
                  <a:schemeClr val="dk1"/>
                </a:solidFill>
                <a:latin typeface="Raleway Medium"/>
                <a:ea typeface="Raleway Medium"/>
                <a:cs typeface="Raleway Medium"/>
                <a:sym typeface="Raleway Medium"/>
              </a:rPr>
              <a:t>) Macam - macam penelitian dan metodenya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Timeline proyek penelitian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Untuk memahami </a:t>
            </a:r>
            <a:r>
              <a:rPr lang="en">
                <a:solidFill>
                  <a:schemeClr val="accent1"/>
                </a:solidFill>
              </a:rPr>
              <a:t>research timeline</a:t>
            </a:r>
            <a:r>
              <a:rPr lang="en"/>
              <a:t> sebuah proyek, mari kita lihat sebuah skenario</a:t>
            </a:r>
            <a:endParaRPr/>
          </a:p>
        </p:txBody>
      </p:sp>
      <p:sp>
        <p:nvSpPr>
          <p:cNvPr id="160" name="Google Shape;160;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Melihat sebuah skenario</a:t>
            </a:r>
            <a:endParaRPr/>
          </a:p>
        </p:txBody>
      </p:sp>
      <p:sp>
        <p:nvSpPr>
          <p:cNvPr id="167" name="Google Shape;167;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Proyek penelitian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Bagi mereka yang belum bekerja di perusahaan teknologi atau produk, mungkin sulit membayangkan seperti apa proyek penelitian itu nantinya.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Maka dari itu, kita perlu menggali lebih dalam proses riset yang tampaknya misterius dan hanya didiskusikan di balik pintu tertutup…</a:t>
            </a:r>
            <a:endParaRPr sz="1200">
              <a:solidFill>
                <a:schemeClr val="dk1"/>
              </a:solidFill>
              <a:latin typeface="Raleway Medium"/>
              <a:ea typeface="Raleway Medium"/>
              <a:cs typeface="Raleway Medium"/>
              <a:sym typeface="Raleway Medium"/>
            </a:endParaRPr>
          </a:p>
        </p:txBody>
      </p:sp>
      <p:pic>
        <p:nvPicPr>
          <p:cNvPr id="168" name="Google Shape;168;p3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Melihat sebuah skenario</a:t>
            </a:r>
            <a:endParaRPr/>
          </a:p>
        </p:txBody>
      </p:sp>
      <p:sp>
        <p:nvSpPr>
          <p:cNvPr id="175" name="Google Shape;175;p3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Sebuah skenario....</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Bayangkan Anda bekerja di Best Friends Animal Society, sebuah organisasi kesejahteraan hewan di Amerika yang didedikasikan untuk mengakhiri kematian hewan pendamping (seperti anjing atau kucing) di tempat - tempat penampungan.</a:t>
            </a:r>
            <a:endParaRPr sz="1200">
              <a:solidFill>
                <a:schemeClr val="dk1"/>
              </a:solidFill>
              <a:latin typeface="Raleway Medium"/>
              <a:ea typeface="Raleway Medium"/>
              <a:cs typeface="Raleway Medium"/>
              <a:sym typeface="Raleway Medium"/>
            </a:endParaRPr>
          </a:p>
        </p:txBody>
      </p:sp>
      <p:pic>
        <p:nvPicPr>
          <p:cNvPr id="176" name="Google Shape;176;p36">
            <a:hlinkClick r:id="rId3"/>
          </p:cNvPr>
          <p:cNvPicPr preferRelativeResize="0"/>
          <p:nvPr/>
        </p:nvPicPr>
        <p:blipFill rotWithShape="1">
          <a:blip r:embed="rId4">
            <a:alphaModFix/>
          </a:blip>
          <a:srcRect b="0" l="13316" r="13316" t="0"/>
          <a:stretch/>
        </p:blipFill>
        <p:spPr>
          <a:xfrm>
            <a:off x="5486400" y="1280160"/>
            <a:ext cx="3017518" cy="2743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Melihat sebuah skenario</a:t>
            </a:r>
            <a:endParaRPr/>
          </a:p>
        </p:txBody>
      </p:sp>
      <p:sp>
        <p:nvSpPr>
          <p:cNvPr id="183" name="Google Shape;183;p3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Sebuah skenario....</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Anda adalah seorang user researcher yang bekerja di organisasi tersebut. Anda bekerja dengan departemen yang berbeda - beda, seperti departemen teknologi, produk dan pemasaran.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Anda juga berkolaborasi dengan para manajer produk, UX designers, dan developers untuk memberdayakan tim dalam membuat keputusan terbaik bagi organisasi.</a:t>
            </a:r>
            <a:endParaRPr sz="1200">
              <a:solidFill>
                <a:schemeClr val="dk1"/>
              </a:solidFill>
              <a:latin typeface="Raleway Medium"/>
              <a:ea typeface="Raleway Medium"/>
              <a:cs typeface="Raleway Medium"/>
              <a:sym typeface="Raleway Medium"/>
            </a:endParaRPr>
          </a:p>
        </p:txBody>
      </p:sp>
      <p:pic>
        <p:nvPicPr>
          <p:cNvPr id="184" name="Google Shape;184;p37">
            <a:hlinkClick r:id="rId3"/>
          </p:cNvPr>
          <p:cNvPicPr preferRelativeResize="0"/>
          <p:nvPr/>
        </p:nvPicPr>
        <p:blipFill rotWithShape="1">
          <a:blip r:embed="rId4">
            <a:alphaModFix/>
          </a:blip>
          <a:srcRect b="-472" l="0" r="0" t="39881"/>
          <a:stretch/>
        </p:blipFill>
        <p:spPr>
          <a:xfrm>
            <a:off x="5486400" y="1280160"/>
            <a:ext cx="3017517" cy="2743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0" name="Google Shape;190;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Melihat sebuah skenario</a:t>
            </a:r>
            <a:endParaRPr/>
          </a:p>
        </p:txBody>
      </p:sp>
      <p:sp>
        <p:nvSpPr>
          <p:cNvPr id="191" name="Google Shape;191;p3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Biasanya, sebuah proyek penelitian Anda datang kepada Anda dalam dua cara berbeda: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Dari wawasan penelitian sebelumnya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Dari pemangku kepentingan (stakeholder) internal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Untuk skenario ini, kita akan fokus pada yang kedua.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Sebuah proyek penelitian mendarat di meja Anda dari salah satu manajer produk. Baru-baru ini, mereka telah melihat penurunan penggunaan area "adopsi" pada situs web perusahaan. Manajer produk melihat Google Analytics dan menyaksikan penurunan yang cukup besar pada rasio klik. Tim yang bertanggung jawab atas fungsi tersebut ingin memahami apa yang salah.</a:t>
            </a:r>
            <a:endParaRPr sz="1200">
              <a:solidFill>
                <a:schemeClr val="dk1"/>
              </a:solidFill>
              <a:latin typeface="Raleway Medium"/>
              <a:ea typeface="Raleway Medium"/>
              <a:cs typeface="Raleway Medium"/>
              <a:sym typeface="Raleway Medium"/>
            </a:endParaRPr>
          </a:p>
        </p:txBody>
      </p:sp>
      <p:pic>
        <p:nvPicPr>
          <p:cNvPr id="192" name="Google Shape;192;p38">
            <a:hlinkClick r:id="rId3"/>
          </p:cNvPr>
          <p:cNvPicPr preferRelativeResize="0"/>
          <p:nvPr/>
        </p:nvPicPr>
        <p:blipFill rotWithShape="1">
          <a:blip r:embed="rId4">
            <a:alphaModFix/>
          </a:blip>
          <a:srcRect b="0" l="17052" r="9633" t="0"/>
          <a:stretch/>
        </p:blipFill>
        <p:spPr>
          <a:xfrm>
            <a:off x="5486400" y="1280160"/>
            <a:ext cx="3017518"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8" name="Google Shape;198;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Melihat sebuah skenario</a:t>
            </a:r>
            <a:endParaRPr/>
          </a:p>
        </p:txBody>
      </p:sp>
      <p:sp>
        <p:nvSpPr>
          <p:cNvPr id="199" name="Google Shape;199;p3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Pernyataan penelitian: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Organisasi ingin lebih memahami model mental pengguna perihal adopsi hewan untuk meningkatkan situs web.</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Raleway"/>
                <a:ea typeface="Raleway"/>
                <a:cs typeface="Raleway"/>
                <a:sym typeface="Raleway"/>
              </a:rPr>
              <a:t>Tujuan penelitian:</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Memahami pendapat pengguna terkait pengadopsian, secara umum.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Menemukan bagaimana pengguna saat ini berinteraksi dengan fitur adopsi pada situs web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3) Menemukan titik kesulitan (pain points)  dalam proses adopsi, secara umum, dan pada situs web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4) Menemukan aplikasi/situs web lain yang berinteraksi dengan pengguna untuk mengadopsi hewan dan pengalaman mereka dengan aplikasi/situs web tersebut</a:t>
            </a:r>
            <a:endParaRPr sz="1200">
              <a:solidFill>
                <a:schemeClr val="dk1"/>
              </a:solidFill>
              <a:latin typeface="Raleway Medium"/>
              <a:ea typeface="Raleway Medium"/>
              <a:cs typeface="Raleway Medium"/>
              <a:sym typeface="Raleway Medium"/>
            </a:endParaRPr>
          </a:p>
        </p:txBody>
      </p:sp>
      <p:pic>
        <p:nvPicPr>
          <p:cNvPr id="200" name="Google Shape;200;p39">
            <a:hlinkClick r:id="rId3"/>
          </p:cNvPr>
          <p:cNvPicPr preferRelativeResize="0"/>
          <p:nvPr/>
        </p:nvPicPr>
        <p:blipFill rotWithShape="1">
          <a:blip r:embed="rId4">
            <a:alphaModFix/>
          </a:blip>
          <a:srcRect b="0" l="0" r="19067" t="0"/>
          <a:stretch/>
        </p:blipFill>
        <p:spPr>
          <a:xfrm>
            <a:off x="5486400" y="1280160"/>
            <a:ext cx="3017518" cy="2743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Sebelum kita menyelami timeline dari skenario contoh, penting untuk melihat </a:t>
            </a:r>
            <a:r>
              <a:rPr lang="en">
                <a:solidFill>
                  <a:schemeClr val="accent1"/>
                </a:solidFill>
              </a:rPr>
              <a:t>siklus hidup dari sebuah proyek penelitian.</a:t>
            </a:r>
            <a:endParaRPr>
              <a:solidFill>
                <a:schemeClr val="accent1"/>
              </a:solidFill>
            </a:endParaRPr>
          </a:p>
        </p:txBody>
      </p:sp>
      <p:sp>
        <p:nvSpPr>
          <p:cNvPr id="206" name="Google Shape;20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41"/>
          <p:cNvPicPr preferRelativeResize="0"/>
          <p:nvPr/>
        </p:nvPicPr>
        <p:blipFill>
          <a:blip r:embed="rId3">
            <a:alphaModFix/>
          </a:blip>
          <a:stretch>
            <a:fillRect/>
          </a:stretch>
        </p:blipFill>
        <p:spPr>
          <a:xfrm>
            <a:off x="0" y="0"/>
            <a:ext cx="9149812" cy="5143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B08A"/>
        </a:solidFill>
      </p:bgPr>
    </p:bg>
    <p:spTree>
      <p:nvGrpSpPr>
        <p:cNvPr id="215" name="Shape 215"/>
        <p:cNvGrpSpPr/>
        <p:nvPr/>
      </p:nvGrpSpPr>
      <p:grpSpPr>
        <a:xfrm>
          <a:off x="0" y="0"/>
          <a:ext cx="0" cy="0"/>
          <a:chOff x="0" y="0"/>
          <a:chExt cx="0" cy="0"/>
        </a:xfrm>
      </p:grpSpPr>
      <p:pic>
        <p:nvPicPr>
          <p:cNvPr id="216" name="Google Shape;216;p42"/>
          <p:cNvPicPr preferRelativeResize="0"/>
          <p:nvPr/>
        </p:nvPicPr>
        <p:blipFill rotWithShape="1">
          <a:blip r:embed="rId3">
            <a:alphaModFix/>
          </a:blip>
          <a:srcRect b="3830" l="6629" r="0" t="31799"/>
          <a:stretch/>
        </p:blipFill>
        <p:spPr>
          <a:xfrm>
            <a:off x="1615400" y="824963"/>
            <a:ext cx="5913201" cy="2291951"/>
          </a:xfrm>
          <a:prstGeom prst="rect">
            <a:avLst/>
          </a:prstGeom>
          <a:noFill/>
          <a:ln>
            <a:noFill/>
          </a:ln>
        </p:spPr>
      </p:pic>
      <p:sp>
        <p:nvSpPr>
          <p:cNvPr id="217" name="Google Shape;217;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proyek penelitian</a:t>
            </a:r>
            <a:endParaRPr/>
          </a:p>
        </p:txBody>
      </p:sp>
      <p:sp>
        <p:nvSpPr>
          <p:cNvPr id="219" name="Google Shape;219;p42"/>
          <p:cNvSpPr txBox="1"/>
          <p:nvPr/>
        </p:nvSpPr>
        <p:spPr>
          <a:xfrm>
            <a:off x="685800" y="3286675"/>
            <a:ext cx="7818000" cy="1459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Perlu ditekankan bahwa timeline diatas adalah timeline yang ideal. Akan tetapi, penelitian tidak selalu terjadi dengan cara yang linier (dan bersih). Seringkali, Anda harus melompat langsung ke rekrutmen karena jadwal atau melakukan penelitian saat merekrut.</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Seperti yang Anda lihat, sebelum Anda terjun langsung ke penelitian, Anda melalui langkah-langkah untuk benar-benar memahami dan mendefinisikan masalah dan tujuan penelitian. Anda bertemu dengan pemangku kepentingan untuk memastikan keselarasan dan menjawab pertanyaan klarifikasi</a:t>
            </a:r>
            <a:endParaRPr b="1" sz="1200">
              <a:solidFill>
                <a:schemeClr val="lt1"/>
              </a:solidFill>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B08A"/>
        </a:solidFill>
      </p:bgPr>
    </p:bg>
    <p:spTree>
      <p:nvGrpSpPr>
        <p:cNvPr id="223" name="Shape 223"/>
        <p:cNvGrpSpPr/>
        <p:nvPr/>
      </p:nvGrpSpPr>
      <p:grpSpPr>
        <a:xfrm>
          <a:off x="0" y="0"/>
          <a:ext cx="0" cy="0"/>
          <a:chOff x="0" y="0"/>
          <a:chExt cx="0" cy="0"/>
        </a:xfrm>
      </p:grpSpPr>
      <p:pic>
        <p:nvPicPr>
          <p:cNvPr id="224" name="Google Shape;224;p43"/>
          <p:cNvPicPr preferRelativeResize="0"/>
          <p:nvPr/>
        </p:nvPicPr>
        <p:blipFill rotWithShape="1">
          <a:blip r:embed="rId3">
            <a:alphaModFix/>
          </a:blip>
          <a:srcRect b="3830" l="6629" r="0" t="31799"/>
          <a:stretch/>
        </p:blipFill>
        <p:spPr>
          <a:xfrm>
            <a:off x="1615400" y="824963"/>
            <a:ext cx="5913201" cy="2291951"/>
          </a:xfrm>
          <a:prstGeom prst="rect">
            <a:avLst/>
          </a:prstGeom>
          <a:noFill/>
          <a:ln>
            <a:noFill/>
          </a:ln>
        </p:spPr>
      </p:pic>
      <p:sp>
        <p:nvSpPr>
          <p:cNvPr id="225" name="Google Shape;225;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proyek penelitian</a:t>
            </a:r>
            <a:endParaRPr/>
          </a:p>
        </p:txBody>
      </p:sp>
      <p:sp>
        <p:nvSpPr>
          <p:cNvPr id="227" name="Google Shape;227;p43"/>
          <p:cNvSpPr txBox="1"/>
          <p:nvPr/>
        </p:nvSpPr>
        <p:spPr>
          <a:xfrm>
            <a:off x="685800" y="3286675"/>
            <a:ext cx="7818000" cy="103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Bisa dibilang, langkah 1–6 adalah yang paling penting karena mengarahkan proyek ke arah tertentu.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Contohnya, pernyataan dan tujuan penelitian membantu menentukan metodologi, rekrutmen, dan panduan diskusi. Efek blok bangunan inilah mengapa sangat penting untuk mengambil langkah-langkah awal sebelum terjun ke penelitian.</a:t>
            </a:r>
            <a:endParaRPr b="1" sz="1200">
              <a:solidFill>
                <a:schemeClr val="lt1"/>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Macam - macam penelitian dan metodenya</a:t>
            </a:r>
            <a:endParaRPr/>
          </a:p>
        </p:txBody>
      </p:sp>
      <p:sp>
        <p:nvSpPr>
          <p:cNvPr id="233" name="Google Shape;23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penelitian dan metodenya</a:t>
            </a:r>
            <a:endParaRPr/>
          </a:p>
        </p:txBody>
      </p:sp>
      <p:sp>
        <p:nvSpPr>
          <p:cNvPr id="240" name="Google Shape;240;p4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Macam - macam penelitian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a:t>
            </a:r>
            <a:r>
              <a:rPr lang="en" sz="1200">
                <a:solidFill>
                  <a:schemeClr val="dk1"/>
                </a:solidFill>
                <a:latin typeface="Raleway Medium"/>
                <a:ea typeface="Raleway Medium"/>
                <a:cs typeface="Raleway Medium"/>
                <a:sym typeface="Raleway Medium"/>
              </a:rPr>
              <a:t>) Penelitian yang murni generatif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Penelitian yang murni evaluatif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3) Perpaduan antara penelitian generatif dan evaluatif (hibrida)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grpSp>
        <p:nvGrpSpPr>
          <p:cNvPr id="241" name="Google Shape;241;p45"/>
          <p:cNvGrpSpPr/>
          <p:nvPr/>
        </p:nvGrpSpPr>
        <p:grpSpPr>
          <a:xfrm>
            <a:off x="5410200" y="1280150"/>
            <a:ext cx="3271179" cy="2743199"/>
            <a:chOff x="5486400" y="1280150"/>
            <a:chExt cx="3271179" cy="2743199"/>
          </a:xfrm>
        </p:grpSpPr>
        <p:pic>
          <p:nvPicPr>
            <p:cNvPr id="242" name="Google Shape;242;p45">
              <a:hlinkClick r:id="rId3"/>
            </p:cNvPr>
            <p:cNvPicPr preferRelativeResize="0"/>
            <p:nvPr/>
          </p:nvPicPr>
          <p:blipFill rotWithShape="1">
            <a:blip r:embed="rId4">
              <a:alphaModFix/>
            </a:blip>
            <a:srcRect b="0" l="9847" r="49957" t="0"/>
            <a:stretch/>
          </p:blipFill>
          <p:spPr>
            <a:xfrm>
              <a:off x="5486400" y="1280150"/>
              <a:ext cx="1909276" cy="2743199"/>
            </a:xfrm>
            <a:prstGeom prst="rect">
              <a:avLst/>
            </a:prstGeom>
            <a:noFill/>
            <a:ln>
              <a:noFill/>
            </a:ln>
          </p:spPr>
        </p:pic>
        <p:pic>
          <p:nvPicPr>
            <p:cNvPr id="243" name="Google Shape;243;p45">
              <a:hlinkClick r:id="rId5"/>
            </p:cNvPr>
            <p:cNvPicPr preferRelativeResize="0"/>
            <p:nvPr/>
          </p:nvPicPr>
          <p:blipFill rotWithShape="1">
            <a:blip r:embed="rId4">
              <a:alphaModFix/>
            </a:blip>
            <a:srcRect b="0" l="51534" r="9521" t="0"/>
            <a:stretch/>
          </p:blipFill>
          <p:spPr>
            <a:xfrm>
              <a:off x="6907679" y="1280150"/>
              <a:ext cx="1849900" cy="2743199"/>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penelitian dan metodenya</a:t>
            </a:r>
            <a:endParaRPr/>
          </a:p>
        </p:txBody>
      </p:sp>
      <p:sp>
        <p:nvSpPr>
          <p:cNvPr id="250" name="Google Shape;250;p4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Bagaimana menentukan macam untuk diimplementasikan?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Berikut yang dapat dilalui saat memutuskan: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Apakah kita ingin memahami model mental, frustrasi terhadap metode kita saat ini, atau bagaimana pengguna berpikir tentang konsep secara umum? Apakah kita terlihat agnostik terhadap produk kita? -&gt; Penelitian generatif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Apakah kita ingin melihat</a:t>
            </a:r>
            <a:r>
              <a:rPr i="1" lang="en" sz="1200">
                <a:solidFill>
                  <a:schemeClr val="dk1"/>
                </a:solidFill>
                <a:latin typeface="Raleway Medium"/>
                <a:ea typeface="Raleway Medium"/>
                <a:cs typeface="Raleway Medium"/>
                <a:sym typeface="Raleway Medium"/>
              </a:rPr>
              <a:t> pain points</a:t>
            </a:r>
            <a:r>
              <a:rPr lang="en" sz="1200">
                <a:solidFill>
                  <a:schemeClr val="dk1"/>
                </a:solidFill>
                <a:latin typeface="Raleway Medium"/>
                <a:ea typeface="Raleway Medium"/>
                <a:cs typeface="Raleway Medium"/>
                <a:sym typeface="Raleway Medium"/>
              </a:rPr>
              <a:t> yang terkait dengan produk atau layanan kita? -&gt; Penelitian evaluatif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3) Apakah ada campuran keduanya? -&gt; Penelitian hibrida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grpSp>
        <p:nvGrpSpPr>
          <p:cNvPr id="251" name="Google Shape;251;p46"/>
          <p:cNvGrpSpPr/>
          <p:nvPr/>
        </p:nvGrpSpPr>
        <p:grpSpPr>
          <a:xfrm>
            <a:off x="5410200" y="1280150"/>
            <a:ext cx="3271179" cy="2743199"/>
            <a:chOff x="5486400" y="1280150"/>
            <a:chExt cx="3271179" cy="2743199"/>
          </a:xfrm>
        </p:grpSpPr>
        <p:pic>
          <p:nvPicPr>
            <p:cNvPr id="252" name="Google Shape;252;p46">
              <a:hlinkClick r:id="rId3"/>
            </p:cNvPr>
            <p:cNvPicPr preferRelativeResize="0"/>
            <p:nvPr/>
          </p:nvPicPr>
          <p:blipFill rotWithShape="1">
            <a:blip r:embed="rId4">
              <a:alphaModFix/>
            </a:blip>
            <a:srcRect b="0" l="9847" r="49957" t="0"/>
            <a:stretch/>
          </p:blipFill>
          <p:spPr>
            <a:xfrm>
              <a:off x="5486400" y="1280150"/>
              <a:ext cx="1909276" cy="2743199"/>
            </a:xfrm>
            <a:prstGeom prst="rect">
              <a:avLst/>
            </a:prstGeom>
            <a:noFill/>
            <a:ln>
              <a:noFill/>
            </a:ln>
          </p:spPr>
        </p:pic>
        <p:pic>
          <p:nvPicPr>
            <p:cNvPr id="253" name="Google Shape;253;p46">
              <a:hlinkClick r:id="rId5"/>
            </p:cNvPr>
            <p:cNvPicPr preferRelativeResize="0"/>
            <p:nvPr/>
          </p:nvPicPr>
          <p:blipFill rotWithShape="1">
            <a:blip r:embed="rId4">
              <a:alphaModFix/>
            </a:blip>
            <a:srcRect b="0" l="51534" r="9521" t="0"/>
            <a:stretch/>
          </p:blipFill>
          <p:spPr>
            <a:xfrm>
              <a:off x="6907679" y="1280150"/>
              <a:ext cx="1849900" cy="2743199"/>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9" name="Google Shape;259;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penelitian dan metodenya</a:t>
            </a:r>
            <a:endParaRPr/>
          </a:p>
        </p:txBody>
      </p:sp>
      <p:sp>
        <p:nvSpPr>
          <p:cNvPr id="260" name="Google Shape;260;p47"/>
          <p:cNvSpPr txBox="1"/>
          <p:nvPr/>
        </p:nvSpPr>
        <p:spPr>
          <a:xfrm>
            <a:off x="685800" y="1185675"/>
            <a:ext cx="4114800" cy="3615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Metode - metode yang dapat digunakan untuk penelitian generatif</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1x1 diskusi mendalam (alias wawancara)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Pertanyaan kontekstual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3) Model mental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4) Wawancara perjalanan pelanggan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5) JTBD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JTBD = A Job to be Done adalah proses yang dilalui konsumen setiap kali dia ingin mengubah situasi kehidupannya yang ada menjadi situasi yang lebih menyenangkan atau mudah.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61" name="Google Shape;261;p47">
            <a:hlinkClick r:id="rId3"/>
          </p:cNvPr>
          <p:cNvPicPr preferRelativeResize="0"/>
          <p:nvPr/>
        </p:nvPicPr>
        <p:blipFill rotWithShape="1">
          <a:blip r:embed="rId4">
            <a:alphaModFix/>
          </a:blip>
          <a:srcRect b="0" l="2611" r="14228" t="0"/>
          <a:stretch/>
        </p:blipFill>
        <p:spPr>
          <a:xfrm>
            <a:off x="5173925" y="1280150"/>
            <a:ext cx="3330000" cy="27432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7" name="Google Shape;267;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penelitian dan metodenya</a:t>
            </a:r>
            <a:endParaRPr/>
          </a:p>
        </p:txBody>
      </p:sp>
      <p:sp>
        <p:nvSpPr>
          <p:cNvPr id="268" name="Google Shape;268;p48"/>
          <p:cNvSpPr txBox="1"/>
          <p:nvPr/>
        </p:nvSpPr>
        <p:spPr>
          <a:xfrm>
            <a:off x="685800" y="1185675"/>
            <a:ext cx="4114800" cy="3615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JTBD = A Job to be Done adalah proses yang dilalui konsumen setiap kali dia ingin mengubah situasi kehidupannya yang ada menjadi situasi yang lebih menyenangkan atau mudah.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Seperti analoginya </a:t>
            </a:r>
            <a:r>
              <a:rPr lang="en" sz="1200">
                <a:solidFill>
                  <a:schemeClr val="dk1"/>
                </a:solidFill>
                <a:latin typeface="Raleway Medium"/>
                <a:ea typeface="Raleway Medium"/>
                <a:cs typeface="Raleway Medium"/>
                <a:sym typeface="Raleway Medium"/>
              </a:rPr>
              <a:t>adalah produk gadget/tablet. Orang bukan ingin saja membeli gadget/tablet, tetapi orang itu membelinya untuk melakukan hal‑hal yang luar biasa, experience baru yang bisa digunakan dengan gadget/tablet.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Jadi dalam The Jobs To Be Done, kita bukan belajar tentang membuat produk saja, tetapi memadukan antara konteks solusi, produk dan outcomes, yaitu memahami ketiganya, bukan sekedar produknya.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69" name="Google Shape;269;p48">
            <a:hlinkClick r:id="rId3"/>
          </p:cNvPr>
          <p:cNvPicPr preferRelativeResize="0"/>
          <p:nvPr/>
        </p:nvPicPr>
        <p:blipFill rotWithShape="1">
          <a:blip r:embed="rId4">
            <a:alphaModFix/>
          </a:blip>
          <a:srcRect b="0" l="2611" r="14228" t="0"/>
          <a:stretch/>
        </p:blipFill>
        <p:spPr>
          <a:xfrm>
            <a:off x="5173925" y="1280150"/>
            <a:ext cx="3330000" cy="27432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penelitian dan metodenya</a:t>
            </a:r>
            <a:endParaRPr/>
          </a:p>
        </p:txBody>
      </p:sp>
      <p:sp>
        <p:nvSpPr>
          <p:cNvPr id="276" name="Google Shape;276;p4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Metode - metode yang dapat digunakan untuk penelitian evaluatif</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Pengujian kegunaan / usability testing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3) Pengujian A/B</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4) Analisis kompetitif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5) Perbandingan / benchmarking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6) Survei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202124"/>
                </a:solidFill>
                <a:highlight>
                  <a:srgbClr val="FFFFFF"/>
                </a:highlight>
                <a:latin typeface="Raleway Medium"/>
                <a:ea typeface="Raleway Medium"/>
                <a:cs typeface="Raleway Medium"/>
                <a:sym typeface="Raleway Medium"/>
              </a:rPr>
              <a:t>A/B testing = eksperimen yang menguji perubahan conversion rate antara beberapa variasi dalam website.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77" name="Google Shape;277;p49">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Macam - macam penelitian dan metodenya</a:t>
            </a:r>
            <a:endParaRPr/>
          </a:p>
        </p:txBody>
      </p:sp>
      <p:sp>
        <p:nvSpPr>
          <p:cNvPr id="284" name="Google Shape;284;p5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Metode - metode yang dapat digunakan untuk penelitian hibrida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1x1 diskusi mendalam + pengujiaan kegunaan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Card sorting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3) 1x1 diskusi mendalam + survei lanjutan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Card sorting = penyortiran kartu adalah metode yang digunakan untuk membantu merancang atau mengevaluasi arsitektur informasi suatu situs. Dalam sesi penyortiran kartu, peserta mengatur topik ke dalam kategori yang masuk akal bagi mereka.</a:t>
            </a:r>
            <a:endParaRPr sz="1200">
              <a:solidFill>
                <a:schemeClr val="dk1"/>
              </a:solidFill>
              <a:latin typeface="Raleway Medium"/>
              <a:ea typeface="Raleway Medium"/>
              <a:cs typeface="Raleway Medium"/>
              <a:sym typeface="Raleway Medium"/>
            </a:endParaRPr>
          </a:p>
        </p:txBody>
      </p:sp>
      <p:pic>
        <p:nvPicPr>
          <p:cNvPr id="285" name="Google Shape;285;p50">
            <a:hlinkClick r:id="rId3"/>
          </p:cNvPr>
          <p:cNvPicPr preferRelativeResize="0"/>
          <p:nvPr/>
        </p:nvPicPr>
        <p:blipFill rotWithShape="1">
          <a:blip r:embed="rId4">
            <a:alphaModFix/>
          </a:blip>
          <a:srcRect b="0" l="13343" r="13343" t="0"/>
          <a:stretch/>
        </p:blipFill>
        <p:spPr>
          <a:xfrm>
            <a:off x="5486400" y="1280160"/>
            <a:ext cx="3017518" cy="274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51"/>
          <p:cNvPicPr preferRelativeResize="0"/>
          <p:nvPr/>
        </p:nvPicPr>
        <p:blipFill rotWithShape="1">
          <a:blip r:embed="rId3">
            <a:alphaModFix/>
          </a:blip>
          <a:srcRect b="0" l="0" r="0" t="0"/>
          <a:stretch/>
        </p:blipFill>
        <p:spPr>
          <a:xfrm>
            <a:off x="0" y="0"/>
            <a:ext cx="9149812" cy="51434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Timeline sebuah proyek penelitian</a:t>
            </a:r>
            <a:endParaRPr/>
          </a:p>
        </p:txBody>
      </p:sp>
      <p:sp>
        <p:nvSpPr>
          <p:cNvPr id="296" name="Google Shape;296;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2" name="Google Shape;302;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Timeline proyek penelitian</a:t>
            </a:r>
            <a:endParaRPr/>
          </a:p>
        </p:txBody>
      </p:sp>
      <p:sp>
        <p:nvSpPr>
          <p:cNvPr id="303" name="Google Shape;303;p5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Pada umumnya…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Timeline sebuah proyek bisa memakan lebih dari tiga hingga enam minggu.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Timeline dapat mencakup hanya penelitian generatif (yaitu total sekitar empat minggu) atau hanya pengujian kegunaan (yaitu sekitar tiga minggu).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Timeline standar lainnya adalah melakukan penelitian generatif untuk memahami masalah, dan kemudian membuat prototipe berbasis wawasan untuk uji kegunaan.</a:t>
            </a:r>
            <a:endParaRPr sz="1200">
              <a:solidFill>
                <a:schemeClr val="dk1"/>
              </a:solidFill>
              <a:latin typeface="Raleway Medium"/>
              <a:ea typeface="Raleway Medium"/>
              <a:cs typeface="Raleway Medium"/>
              <a:sym typeface="Raleway Medium"/>
            </a:endParaRPr>
          </a:p>
        </p:txBody>
      </p:sp>
      <p:pic>
        <p:nvPicPr>
          <p:cNvPr id="304" name="Google Shape;304;p53">
            <a:hlinkClick r:id="rId3"/>
          </p:cNvPr>
          <p:cNvPicPr preferRelativeResize="0"/>
          <p:nvPr/>
        </p:nvPicPr>
        <p:blipFill rotWithShape="1">
          <a:blip r:embed="rId4">
            <a:alphaModFix/>
          </a:blip>
          <a:srcRect b="0" l="16997" r="16991" t="0"/>
          <a:stretch/>
        </p:blipFill>
        <p:spPr>
          <a:xfrm>
            <a:off x="5486400" y="1280160"/>
            <a:ext cx="3017518" cy="274320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54"/>
          <p:cNvPicPr preferRelativeResize="0"/>
          <p:nvPr/>
        </p:nvPicPr>
        <p:blipFill rotWithShape="1">
          <a:blip r:embed="rId3">
            <a:alphaModFix/>
          </a:blip>
          <a:srcRect b="0" l="0" r="0" t="0"/>
          <a:stretch/>
        </p:blipFill>
        <p:spPr>
          <a:xfrm>
            <a:off x="0" y="0"/>
            <a:ext cx="9149812" cy="51434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B08A"/>
        </a:solidFill>
      </p:bgPr>
    </p:bg>
    <p:spTree>
      <p:nvGrpSpPr>
        <p:cNvPr id="313" name="Shape 313"/>
        <p:cNvGrpSpPr/>
        <p:nvPr/>
      </p:nvGrpSpPr>
      <p:grpSpPr>
        <a:xfrm>
          <a:off x="0" y="0"/>
          <a:ext cx="0" cy="0"/>
          <a:chOff x="0" y="0"/>
          <a:chExt cx="0" cy="0"/>
        </a:xfrm>
      </p:grpSpPr>
      <p:pic>
        <p:nvPicPr>
          <p:cNvPr id="314" name="Google Shape;314;p55"/>
          <p:cNvPicPr preferRelativeResize="0"/>
          <p:nvPr/>
        </p:nvPicPr>
        <p:blipFill rotWithShape="1">
          <a:blip r:embed="rId3">
            <a:alphaModFix/>
          </a:blip>
          <a:srcRect b="-2380" l="0" r="0" t="33590"/>
          <a:stretch/>
        </p:blipFill>
        <p:spPr>
          <a:xfrm>
            <a:off x="1553829" y="803800"/>
            <a:ext cx="6036334" cy="2334275"/>
          </a:xfrm>
          <a:prstGeom prst="rect">
            <a:avLst/>
          </a:prstGeom>
          <a:noFill/>
          <a:ln>
            <a:noFill/>
          </a:ln>
        </p:spPr>
      </p:pic>
      <p:sp>
        <p:nvSpPr>
          <p:cNvPr id="315" name="Google Shape;315;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Timeline proyek penelitian</a:t>
            </a:r>
            <a:endParaRPr/>
          </a:p>
        </p:txBody>
      </p:sp>
      <p:sp>
        <p:nvSpPr>
          <p:cNvPr id="317" name="Google Shape;317;p55"/>
          <p:cNvSpPr txBox="1"/>
          <p:nvPr/>
        </p:nvSpPr>
        <p:spPr>
          <a:xfrm>
            <a:off x="685800" y="3286675"/>
            <a:ext cx="7818000" cy="1459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Seperti yang Anda lihat, pada gambar di atas, sang researcher memutuskan untuk menjalankan dua studi yang terpisah.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Pertama, diskusi mendalam 1x1 dilakukan untuk memahami tujuan berikut:</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1) Memahami bagaimana pendapat pengguna tentang adopsi, secara umum</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2) Menemukan pain points dalam proses adopsi, secara umum</a:t>
            </a:r>
            <a:endParaRPr b="1" sz="1200">
              <a:solidFill>
                <a:schemeClr val="lt1"/>
              </a:solidFill>
              <a:latin typeface="Raleway"/>
              <a:ea typeface="Raleway"/>
              <a:cs typeface="Raleway"/>
              <a:sym typeface="Ralewa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B08A"/>
        </a:solidFill>
      </p:bgPr>
    </p:bg>
    <p:spTree>
      <p:nvGrpSpPr>
        <p:cNvPr id="321" name="Shape 321"/>
        <p:cNvGrpSpPr/>
        <p:nvPr/>
      </p:nvGrpSpPr>
      <p:grpSpPr>
        <a:xfrm>
          <a:off x="0" y="0"/>
          <a:ext cx="0" cy="0"/>
          <a:chOff x="0" y="0"/>
          <a:chExt cx="0" cy="0"/>
        </a:xfrm>
      </p:grpSpPr>
      <p:pic>
        <p:nvPicPr>
          <p:cNvPr id="322" name="Google Shape;322;p56"/>
          <p:cNvPicPr preferRelativeResize="0"/>
          <p:nvPr/>
        </p:nvPicPr>
        <p:blipFill rotWithShape="1">
          <a:blip r:embed="rId3">
            <a:alphaModFix/>
          </a:blip>
          <a:srcRect b="-2380" l="0" r="0" t="33590"/>
          <a:stretch/>
        </p:blipFill>
        <p:spPr>
          <a:xfrm>
            <a:off x="1553829" y="803800"/>
            <a:ext cx="6036334" cy="2334275"/>
          </a:xfrm>
          <a:prstGeom prst="rect">
            <a:avLst/>
          </a:prstGeom>
          <a:noFill/>
          <a:ln>
            <a:noFill/>
          </a:ln>
        </p:spPr>
      </p:pic>
      <p:sp>
        <p:nvSpPr>
          <p:cNvPr id="323" name="Google Shape;32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Timeline proyek penelitian</a:t>
            </a:r>
            <a:endParaRPr/>
          </a:p>
        </p:txBody>
      </p:sp>
      <p:sp>
        <p:nvSpPr>
          <p:cNvPr id="325" name="Google Shape;325;p56"/>
          <p:cNvSpPr txBox="1"/>
          <p:nvPr/>
        </p:nvSpPr>
        <p:spPr>
          <a:xfrm>
            <a:off x="685800" y="3286675"/>
            <a:ext cx="7818000" cy="1246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Setelah</a:t>
            </a:r>
            <a:r>
              <a:rPr b="1" lang="en" sz="1200">
                <a:solidFill>
                  <a:schemeClr val="lt1"/>
                </a:solidFill>
                <a:latin typeface="Raleway"/>
                <a:ea typeface="Raleway"/>
                <a:cs typeface="Raleway"/>
                <a:sym typeface="Raleway"/>
              </a:rPr>
              <a:t> itu, sang researcher menjalankan uji kegunaan untuk mencakup tujuan berikut:</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1) Menemukan bagaimana pengguna saat ini berinteraksi dengan fitur adopsi pada situs web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2) Menemukan </a:t>
            </a:r>
            <a:r>
              <a:rPr b="1" i="1" lang="en" sz="1200">
                <a:solidFill>
                  <a:schemeClr val="lt1"/>
                </a:solidFill>
                <a:latin typeface="Raleway"/>
                <a:ea typeface="Raleway"/>
                <a:cs typeface="Raleway"/>
                <a:sym typeface="Raleway"/>
              </a:rPr>
              <a:t>pain points </a:t>
            </a:r>
            <a:r>
              <a:rPr b="1" lang="en" sz="1200">
                <a:solidFill>
                  <a:schemeClr val="lt1"/>
                </a:solidFill>
                <a:latin typeface="Raleway"/>
                <a:ea typeface="Raleway"/>
                <a:cs typeface="Raleway"/>
                <a:sym typeface="Raleway"/>
              </a:rPr>
              <a:t>dalam proses adopsi pada situs web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3) Menemukan  aplikasi/situs web lain yang berinteraksi dengan pengguna untuk mengadopsi hewan dan pengalaman mereka dengan merek</a:t>
            </a:r>
            <a:endParaRPr b="1" sz="1200">
              <a:solidFill>
                <a:schemeClr val="lt1"/>
              </a:solidFill>
              <a:latin typeface="Raleway"/>
              <a:ea typeface="Raleway"/>
              <a:cs typeface="Raleway"/>
              <a:sym typeface="Ralew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B08A"/>
        </a:solidFill>
      </p:bgPr>
    </p:bg>
    <p:spTree>
      <p:nvGrpSpPr>
        <p:cNvPr id="329" name="Shape 329"/>
        <p:cNvGrpSpPr/>
        <p:nvPr/>
      </p:nvGrpSpPr>
      <p:grpSpPr>
        <a:xfrm>
          <a:off x="0" y="0"/>
          <a:ext cx="0" cy="0"/>
          <a:chOff x="0" y="0"/>
          <a:chExt cx="0" cy="0"/>
        </a:xfrm>
      </p:grpSpPr>
      <p:pic>
        <p:nvPicPr>
          <p:cNvPr id="330" name="Google Shape;330;p57"/>
          <p:cNvPicPr preferRelativeResize="0"/>
          <p:nvPr/>
        </p:nvPicPr>
        <p:blipFill rotWithShape="1">
          <a:blip r:embed="rId3">
            <a:alphaModFix/>
          </a:blip>
          <a:srcRect b="-2380" l="0" r="0" t="33590"/>
          <a:stretch/>
        </p:blipFill>
        <p:spPr>
          <a:xfrm>
            <a:off x="1553829" y="803800"/>
            <a:ext cx="6036334" cy="2334275"/>
          </a:xfrm>
          <a:prstGeom prst="rect">
            <a:avLst/>
          </a:prstGeom>
          <a:noFill/>
          <a:ln>
            <a:noFill/>
          </a:ln>
        </p:spPr>
      </p:pic>
      <p:sp>
        <p:nvSpPr>
          <p:cNvPr id="331" name="Google Shape;331;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2" name="Google Shape;332;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Timeline proyek penelitian</a:t>
            </a:r>
            <a:endParaRPr/>
          </a:p>
        </p:txBody>
      </p:sp>
      <p:sp>
        <p:nvSpPr>
          <p:cNvPr id="333" name="Google Shape;333;p57"/>
          <p:cNvSpPr txBox="1"/>
          <p:nvPr/>
        </p:nvSpPr>
        <p:spPr>
          <a:xfrm>
            <a:off x="685800" y="3286675"/>
            <a:ext cx="7818000" cy="103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Dalam studi evaluatif ini, sang researcher juga (dapat) menawarkan prototipe untuk diuji pengguna selain melihat produk live langsung.</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Raleway"/>
                <a:ea typeface="Raleway"/>
                <a:cs typeface="Raleway"/>
                <a:sym typeface="Raleway"/>
              </a:rPr>
              <a:t>Atau, sang researcher mungkin harus menjalankan studi evaluatif terpisah untuk menguji prototipe tersebut.</a:t>
            </a:r>
            <a:endParaRPr b="1" sz="1200">
              <a:solidFill>
                <a:schemeClr val="lt1"/>
              </a:solidFill>
              <a:latin typeface="Raleway"/>
              <a:ea typeface="Raleway"/>
              <a:cs typeface="Raleway"/>
              <a:sym typeface="Raleway"/>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Timeline proyek penelitian</a:t>
            </a:r>
            <a:endParaRPr/>
          </a:p>
        </p:txBody>
      </p:sp>
      <p:sp>
        <p:nvSpPr>
          <p:cNvPr id="340" name="Google Shape;340;p5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Pada umumnya…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L</a:t>
            </a:r>
            <a:r>
              <a:rPr lang="en" sz="1200">
                <a:solidFill>
                  <a:schemeClr val="dk1"/>
                </a:solidFill>
                <a:latin typeface="Raleway Medium"/>
                <a:ea typeface="Raleway Medium"/>
                <a:cs typeface="Raleway Medium"/>
                <a:sym typeface="Raleway Medium"/>
              </a:rPr>
              <a:t>angkah-langkah dan timeline yang telah dipresentasikan adalah yang ideal, akan tetapi tidak diharuskan.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Anda mungkin harus melakukan riset dalam dua minggu, atau Anda mungkin tidak memiliki anggaran untuk menjalankan dua atau tiga studi terpisah.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Dalam hal ini, Anda harus memilih antara penelitian generatif dan evaluatif. Selain itu, Anda mungkin sudah memiliki hasil dari penelitian sebelumnya yang dapat mempercepat proses. </a:t>
            </a:r>
            <a:endParaRPr sz="1200">
              <a:solidFill>
                <a:schemeClr val="dk1"/>
              </a:solidFill>
              <a:latin typeface="Raleway Medium"/>
              <a:ea typeface="Raleway Medium"/>
              <a:cs typeface="Raleway Medium"/>
              <a:sym typeface="Raleway Medium"/>
            </a:endParaRPr>
          </a:p>
        </p:txBody>
      </p:sp>
      <p:pic>
        <p:nvPicPr>
          <p:cNvPr id="341" name="Google Shape;341;p58">
            <a:hlinkClick r:id="rId3"/>
          </p:cNvPr>
          <p:cNvPicPr preferRelativeResize="0"/>
          <p:nvPr/>
        </p:nvPicPr>
        <p:blipFill rotWithShape="1">
          <a:blip r:embed="rId4">
            <a:alphaModFix/>
          </a:blip>
          <a:srcRect b="0" l="16997" r="16991" t="0"/>
          <a:stretch/>
        </p:blipFill>
        <p:spPr>
          <a:xfrm>
            <a:off x="5486400" y="1280160"/>
            <a:ext cx="3017518" cy="274320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47" name="Google Shape;347;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3" name="Google Shape;353;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Perpaduan antara penelitian generatif dan evaluatif  disebut penelitian…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54" name="Google Shape;354;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0" name="Google Shape;360;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Perpaduan antara penelitian generatif dan evaluatif  disebut penelitian </a:t>
            </a:r>
            <a:r>
              <a:rPr b="1" lang="en" sz="1800">
                <a:solidFill>
                  <a:schemeClr val="accent1"/>
                </a:solidFill>
                <a:latin typeface="Raleway"/>
                <a:ea typeface="Raleway"/>
                <a:cs typeface="Raleway"/>
                <a:sym typeface="Raleway"/>
              </a:rPr>
              <a:t>hibrida</a:t>
            </a:r>
            <a:endParaRPr b="1" sz="1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61" name="Google Shape;361;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61"/>
          <p:cNvSpPr/>
          <p:nvPr/>
        </p:nvSpPr>
        <p:spPr>
          <a:xfrm>
            <a:off x="685800" y="2164975"/>
            <a:ext cx="7772400" cy="8499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Macam - macam penelitian</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1) Penelitian yang murni generatif</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2) Penelitian yang murni evaluatif</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3) Perpaduan antara penelitian generatif dan evaluatif (hibrida)</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t/>
            </a:r>
            <a:endParaRPr b="1" sz="1000">
              <a:solidFill>
                <a:srgbClr val="733572"/>
              </a:solidFill>
              <a:latin typeface="Raleway"/>
              <a:ea typeface="Raleway"/>
              <a:cs typeface="Raleway"/>
              <a:sym typeface="Ralewa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8" name="Google Shape;368;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metode penelitian yang termasuk dalam penelitian generatif,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1x1 diskusi mendalam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Card sorting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Model mental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Wawancara perjalanan pelanggan</a:t>
            </a:r>
            <a:endParaRPr sz="1200">
              <a:solidFill>
                <a:schemeClr val="lt1"/>
              </a:solidFill>
              <a:latin typeface="Raleway Medium"/>
              <a:ea typeface="Raleway Medium"/>
              <a:cs typeface="Raleway Medium"/>
              <a:sym typeface="Raleway Medium"/>
            </a:endParaRPr>
          </a:p>
        </p:txBody>
      </p:sp>
      <p:sp>
        <p:nvSpPr>
          <p:cNvPr id="369" name="Google Shape;369;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5" name="Google Shape;375;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beberapa metode penelitian yang termasuk dalam penelitian generatif,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1x1 diskusi mendalam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Card sorting</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Model mental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Wawancara perjalanan pelanggan</a:t>
            </a:r>
            <a:endParaRPr sz="1200">
              <a:solidFill>
                <a:srgbClr val="A667A5"/>
              </a:solidFill>
              <a:latin typeface="Raleway Medium"/>
              <a:ea typeface="Raleway Medium"/>
              <a:cs typeface="Raleway Medium"/>
              <a:sym typeface="Raleway Medium"/>
            </a:endParaRPr>
          </a:p>
        </p:txBody>
      </p:sp>
      <p:sp>
        <p:nvSpPr>
          <p:cNvPr id="376" name="Google Shape;376;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63"/>
          <p:cNvSpPr/>
          <p:nvPr/>
        </p:nvSpPr>
        <p:spPr>
          <a:xfrm>
            <a:off x="685800" y="3536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Card sorting adalah metode yang digunakan untuk membantu merancang atau mengevaluasi arsitektur informasi suatu situs. Card sorting termasuk dalam penelitian hibrida.</a:t>
            </a:r>
            <a:endParaRPr b="1" sz="1000">
              <a:solidFill>
                <a:srgbClr val="733572"/>
              </a:solidFill>
              <a:latin typeface="Raleway"/>
              <a:ea typeface="Raleway"/>
              <a:cs typeface="Raleway"/>
              <a:sym typeface="Ralewa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3" name="Google Shape;383;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metode penelitian yang termasuk dalam penelitian evaluatif,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Pengujian kegunaan / usability testing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JTBD</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Perbandingan / benchmarking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Survei</a:t>
            </a:r>
            <a:endParaRPr sz="1200">
              <a:solidFill>
                <a:schemeClr val="lt1"/>
              </a:solidFill>
              <a:latin typeface="Raleway Medium"/>
              <a:ea typeface="Raleway Medium"/>
              <a:cs typeface="Raleway Medium"/>
              <a:sym typeface="Raleway Medium"/>
            </a:endParaRPr>
          </a:p>
        </p:txBody>
      </p:sp>
      <p:sp>
        <p:nvSpPr>
          <p:cNvPr id="384" name="Google Shape;384;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0" name="Google Shape;390;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Berikut adalah beberapa metode penelitian yang termasuk dalam penelitian evaluatif,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Pengujian kegunaan / usability testing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JTBD</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Perbandingan / benchmarking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Survei</a:t>
            </a:r>
            <a:endParaRPr sz="1200">
              <a:solidFill>
                <a:srgbClr val="A667A5"/>
              </a:solidFill>
              <a:latin typeface="Raleway Medium"/>
              <a:ea typeface="Raleway Medium"/>
              <a:cs typeface="Raleway Medium"/>
              <a:sym typeface="Raleway Medium"/>
            </a:endParaRPr>
          </a:p>
        </p:txBody>
      </p:sp>
      <p:sp>
        <p:nvSpPr>
          <p:cNvPr id="391" name="Google Shape;391;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65"/>
          <p:cNvSpPr/>
          <p:nvPr/>
        </p:nvSpPr>
        <p:spPr>
          <a:xfrm>
            <a:off x="685800" y="3536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 Job to be Done adalah proses yang dilalui konsumen setiap kali dia ingin mengubah situasi kehidupannya yang ada menjadi situasi yang lebih menyenangkan atau mudah. JTBD termasuk dalam penelitian generatif.</a:t>
            </a:r>
            <a:endParaRPr b="1" sz="1000">
              <a:solidFill>
                <a:srgbClr val="733572"/>
              </a:solidFill>
              <a:latin typeface="Raleway"/>
              <a:ea typeface="Raleway"/>
              <a:cs typeface="Raleway"/>
              <a:sym typeface="Raleway"/>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8" name="Google Shape;398;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metode penelitian yang termasuk dalam penelitian hibrida,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1x1 diskusi mendalam + pengujiaan kegunaan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Pengujian kegunaan + A/B testing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Card sorting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1x1 diskusi mendalam + survei lanjutan</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p:txBody>
      </p:sp>
      <p:sp>
        <p:nvSpPr>
          <p:cNvPr id="399" name="Google Shape;399;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5" name="Google Shape;405;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beberapa metode penelitian yang termasuk dalam penelitian hibrida,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1x1 diskusi mendalam + pengujiaan kegunaan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Pengujian kegunaan + A/B testing</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Card sorting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1x1 diskusi mendalam + survei lanjutan</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p:txBody>
      </p:sp>
      <p:sp>
        <p:nvSpPr>
          <p:cNvPr id="406" name="Google Shape;406;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67"/>
          <p:cNvSpPr/>
          <p:nvPr/>
        </p:nvSpPr>
        <p:spPr>
          <a:xfrm>
            <a:off x="685800" y="3536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Pengujian kegunaan adalah penelitian evaluatif, begituga A/B testing. Campuran dari keduanya tidak menjadikan penelitian sebuah penelitian yang hibrida.</a:t>
            </a:r>
            <a:endParaRPr b="1" sz="1000">
              <a:solidFill>
                <a:srgbClr val="733572"/>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3" name="Google Shape;413;p6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metode penelitian yang termasuk dalam penelitian evaluatif,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Pengujian kegunaan / usability testing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Pengujian A/B</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Penyusunan problem statement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Perbandingan / benchmarking</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p:txBody>
      </p:sp>
      <p:sp>
        <p:nvSpPr>
          <p:cNvPr id="414" name="Google Shape;414;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0" name="Google Shape;420;p6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metode penelitian yang termasuk dalam penelitian evaluatif,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Pengujian kegunaan / usability testing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Pengujian A/B</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Penyusunan problem statement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Perbandingan / benchmarking</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p:txBody>
      </p:sp>
      <p:sp>
        <p:nvSpPr>
          <p:cNvPr id="421" name="Google Shape;421;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69"/>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Penyusunan problem statement haruslah dilakukan sebelum penelitian dan tidak termasuk dalam penenlitian evaluatif.</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28" name="Google Shape;428;p7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Sebelum melakukan penelitian, Anda harus melakukan kegiatan - kegiatan dibawah ini,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Menelusuri penelitian relevan yang dilakukan sebelumnya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Menentukan research objectives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Menyusun problem statement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Melakukan brainstorming</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p:txBody>
      </p:sp>
      <p:sp>
        <p:nvSpPr>
          <p:cNvPr id="429" name="Google Shape;429;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35" name="Google Shape;435;p7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Sebelum melakukan penelitian, Anda harus melakukan kegiatan - kegiatan dibawah ini,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Menelusuri penelitian relevan yang dilakukan sebelumnya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Menentukan research objectives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Menyusun problem statement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Melakukan brainstorming</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p:txBody>
      </p:sp>
      <p:sp>
        <p:nvSpPr>
          <p:cNvPr id="436" name="Google Shape;436;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7" name="Google Shape;437;p71"/>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Brainstorming biasanya dilakukan setelah ada hasil penelitian untuk meluncurkan ide - ide baru.</a:t>
            </a:r>
            <a:endParaRPr b="1" sz="1000">
              <a:solidFill>
                <a:srgbClr val="733572"/>
              </a:solidFill>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3" name="Google Shape;443;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44" name="Google Shape;444;p7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45" name="Google Shape;445;p72"/>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The life and timelines of research projects by UX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5"/>
              </a:rPr>
              <a:t>Collective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6"/>
              </a:rPr>
              <a:t>A breakdown of UX research types by UX Collective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7"/>
              </a:rPr>
              <a:t>Generative vs. evaluation research: what’s the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8"/>
              </a:rPr>
              <a:t>    </a:t>
            </a:r>
            <a:r>
              <a:rPr lang="en" sz="1200" u="sng">
                <a:solidFill>
                  <a:schemeClr val="hlink"/>
                </a:solidFill>
                <a:latin typeface="Raleway Medium"/>
                <a:ea typeface="Raleway Medium"/>
                <a:cs typeface="Raleway Medium"/>
                <a:sym typeface="Raleway Medium"/>
                <a:hlinkClick r:id="rId9"/>
              </a:rPr>
              <a:t>difference and why do we need each? by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10"/>
              </a:rPr>
              <a:t>    </a:t>
            </a:r>
            <a:r>
              <a:rPr lang="en" sz="1200" u="sng">
                <a:solidFill>
                  <a:schemeClr val="hlink"/>
                </a:solidFill>
                <a:latin typeface="Raleway Medium"/>
                <a:ea typeface="Raleway Medium"/>
                <a:cs typeface="Raleway Medium"/>
                <a:sym typeface="Raleway Medium"/>
                <a:hlinkClick r:id="rId11"/>
              </a:rPr>
              <a:t>usertesting.com</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49" name="Shape 449"/>
        <p:cNvGrpSpPr/>
        <p:nvPr/>
      </p:nvGrpSpPr>
      <p:grpSpPr>
        <a:xfrm>
          <a:off x="0" y="0"/>
          <a:ext cx="0" cy="0"/>
          <a:chOff x="0" y="0"/>
          <a:chExt cx="0" cy="0"/>
        </a:xfrm>
      </p:grpSpPr>
      <p:sp>
        <p:nvSpPr>
          <p:cNvPr id="450" name="Google Shape;450;p73"/>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1" name="Google Shape;451;p73"/>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2" name="Google Shape;452;p73"/>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3" name="Google Shape;453;p73"/>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54" name="Google Shape;454;p73"/>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55" name="Google Shape;455;p73"/>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56" name="Google Shape;456;p73"/>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57" name="Google Shape;457;p73"/>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