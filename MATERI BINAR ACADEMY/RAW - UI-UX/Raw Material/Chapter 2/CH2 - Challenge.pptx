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Roboto"/>
      <p:regular r:id="rId21"/>
      <p:bold r:id="rId22"/>
      <p:italic r:id="rId23"/>
      <p:boldItalic r:id="rId24"/>
    </p:embeddedFont>
    <p:embeddedFont>
      <p:font typeface="Raleway ExtraBold"/>
      <p:bold r:id="rId25"/>
      <p:boldItalic r:id="rId26"/>
    </p:embeddedFont>
    <p:embeddedFont>
      <p:font typeface="Montserrat"/>
      <p:regular r:id="rId27"/>
      <p:bold r:id="rId28"/>
      <p:italic r:id="rId29"/>
      <p:boldItalic r:id="rId30"/>
    </p:embeddedFont>
    <p:embeddedFont>
      <p:font typeface="Lato Black"/>
      <p:bold r:id="rId31"/>
      <p:boldItalic r:id="rId32"/>
    </p:embeddedFont>
    <p:embeddedFont>
      <p:font typeface="Raleway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24">
          <p15:clr>
            <a:srgbClr val="A4A3A4"/>
          </p15:clr>
        </p15:guide>
        <p15:guide id="2" pos="2921">
          <p15:clr>
            <a:srgbClr val="A4A3A4"/>
          </p15:clr>
        </p15:guide>
        <p15:guide id="3" orient="horz" pos="576">
          <p15:clr>
            <a:srgbClr val="9AA0A6"/>
          </p15:clr>
        </p15:guide>
        <p15:guide id="4" pos="2976">
          <p15:clr>
            <a:srgbClr val="9AA0A6"/>
          </p15:clr>
        </p15:guide>
        <p15:guide id="5" pos="307">
          <p15:clr>
            <a:srgbClr val="9AA0A6"/>
          </p15:clr>
        </p15:guide>
        <p15:guide id="6" pos="4934">
          <p15:clr>
            <a:srgbClr val="9AA0A6"/>
          </p15:clr>
        </p15:guide>
        <p15:guide id="7" pos="542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921"/>
        <p:guide pos="576" orient="horz"/>
        <p:guide pos="2976"/>
        <p:guide pos="307"/>
        <p:guide pos="4934"/>
        <p:guide pos="54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ExtraBold-boldItalic.fntdata"/><Relationship Id="rId25" Type="http://schemas.openxmlformats.org/officeDocument/2006/relationships/font" Target="fonts/RalewayExtraBold-bold.fntdata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Black-bold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33" Type="http://schemas.openxmlformats.org/officeDocument/2006/relationships/font" Target="fonts/RalewayMedium-regular.fntdata"/><Relationship Id="rId10" Type="http://schemas.openxmlformats.org/officeDocument/2006/relationships/slide" Target="slides/slide5.xml"/><Relationship Id="rId32" Type="http://schemas.openxmlformats.org/officeDocument/2006/relationships/font" Target="fonts/LatoBlack-boldItalic.fntdata"/><Relationship Id="rId13" Type="http://schemas.openxmlformats.org/officeDocument/2006/relationships/slide" Target="slides/slide8.xml"/><Relationship Id="rId35" Type="http://schemas.openxmlformats.org/officeDocument/2006/relationships/font" Target="fonts/RalewayMedium-italic.fntdata"/><Relationship Id="rId12" Type="http://schemas.openxmlformats.org/officeDocument/2006/relationships/slide" Target="slides/slide7.xml"/><Relationship Id="rId34" Type="http://schemas.openxmlformats.org/officeDocument/2006/relationships/font" Target="fonts/RalewayMedium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RalewayMedium-boldItalic.fntdata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19" Type="http://schemas.openxmlformats.org/officeDocument/2006/relationships/font" Target="fonts/Raleway-italic.fntdata"/><Relationship Id="rId18" Type="http://schemas.openxmlformats.org/officeDocument/2006/relationships/font" Target="fonts/Ralew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b9cd5a79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7b9cd5a79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11656a099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11656a099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11656a099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11656a099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11656a099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11656a099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11656a099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11656a099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0e8c3a84c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0e8c3a84c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d1b84128e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d1b84128e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d1b84128e4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d1b84128e4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d1b84128e4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d1b84128e4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11656a09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11656a09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0e54dbc4a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0e54dbc4a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73357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73357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914400" y="2210700"/>
            <a:ext cx="7315200" cy="7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aleway"/>
              <a:buNone/>
              <a:defRPr b="1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6" name="Google Shape;16;p4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" name="Google Shape;22;p4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23" name="Google Shape;23;p4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73357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oogle Shape;34;p5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35" name="Google Shape;35;p5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2" name="Google Shape;7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2386875" y="2507550"/>
            <a:ext cx="58692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Challenge</a:t>
            </a:r>
            <a:endParaRPr b="1" sz="24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Chapter 2</a:t>
            </a:r>
            <a:endParaRPr b="1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79" name="Google Shape;79;p15"/>
          <p:cNvCxnSpPr/>
          <p:nvPr/>
        </p:nvCxnSpPr>
        <p:spPr>
          <a:xfrm flipH="1" rot="10800000">
            <a:off x="705500" y="3560750"/>
            <a:ext cx="7727400" cy="57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425" y="1951500"/>
            <a:ext cx="1181925" cy="143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>
            <p:ph idx="4294967295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cxnSp>
        <p:nvCxnSpPr>
          <p:cNvPr id="88" name="Google Shape;88;p16"/>
          <p:cNvCxnSpPr>
            <a:stCxn id="89" idx="0"/>
            <a:endCxn id="90" idx="1"/>
          </p:cNvCxnSpPr>
          <p:nvPr/>
        </p:nvCxnSpPr>
        <p:spPr>
          <a:xfrm rot="-5400000">
            <a:off x="4803066" y="1296700"/>
            <a:ext cx="297600" cy="929100"/>
          </a:xfrm>
          <a:prstGeom prst="bentConnector2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1" name="Google Shape;91;p16"/>
          <p:cNvSpPr txBox="1"/>
          <p:nvPr/>
        </p:nvSpPr>
        <p:spPr>
          <a:xfrm>
            <a:off x="1306925" y="2749225"/>
            <a:ext cx="1539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ACCEPTANCE CRITERIA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Kriteria pengumpulan challenge yang harus kamu penuhi untuk dapat melewati chapter</a:t>
            </a:r>
            <a:endParaRPr i="0" sz="14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92" name="Google Shape;92;p16"/>
          <p:cNvCxnSpPr/>
          <p:nvPr/>
        </p:nvCxnSpPr>
        <p:spPr>
          <a:xfrm rot="10800000">
            <a:off x="2823118" y="3621379"/>
            <a:ext cx="8574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0" name="Google Shape;90;p16"/>
          <p:cNvSpPr txBox="1"/>
          <p:nvPr/>
        </p:nvSpPr>
        <p:spPr>
          <a:xfrm>
            <a:off x="5416276" y="1119975"/>
            <a:ext cx="1539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SKILL METRICS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rgbClr val="743673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teknis yang akan </a:t>
            </a:r>
            <a:br>
              <a:rPr lang="en" sz="1000"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kamu pelajari</a:t>
            </a:r>
            <a:endParaRPr i="0" sz="8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6141000" y="3130225"/>
            <a:ext cx="1728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DELIVERY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Hal yang akan kamu lakukan untuk dapat melewati chapter</a:t>
            </a:r>
            <a:endParaRPr i="0" sz="14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94" name="Google Shape;94;p16"/>
          <p:cNvCxnSpPr/>
          <p:nvPr/>
        </p:nvCxnSpPr>
        <p:spPr>
          <a:xfrm>
            <a:off x="5045757" y="3554223"/>
            <a:ext cx="11121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5" name="Google Shape;95;p16"/>
          <p:cNvSpPr/>
          <p:nvPr/>
        </p:nvSpPr>
        <p:spPr>
          <a:xfrm rot="3599998">
            <a:off x="3282759" y="1881863"/>
            <a:ext cx="2398198" cy="2398198"/>
          </a:xfrm>
          <a:prstGeom prst="blockArc">
            <a:avLst>
              <a:gd fmla="val 12622480" name="adj1"/>
              <a:gd fmla="val 19781569" name="adj2"/>
              <a:gd fmla="val 20773" name="adj3"/>
            </a:avLst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 rot="10800000">
            <a:off x="3294359" y="1863407"/>
            <a:ext cx="2398200" cy="2398200"/>
          </a:xfrm>
          <a:prstGeom prst="blockArc">
            <a:avLst>
              <a:gd fmla="val 12622480" name="adj1"/>
              <a:gd fmla="val 19662822" name="adj2"/>
              <a:gd fmla="val 20729" name="adj3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 rot="-3599998">
            <a:off x="3304038" y="1881533"/>
            <a:ext cx="2398198" cy="2398198"/>
          </a:xfrm>
          <a:prstGeom prst="blockArc">
            <a:avLst>
              <a:gd fmla="val 12622480" name="adj1"/>
              <a:gd fmla="val 19703271" name="adj2"/>
              <a:gd fmla="val 20851" name="adj3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" name="Google Shape;98;p16"/>
          <p:cNvGrpSpPr/>
          <p:nvPr/>
        </p:nvGrpSpPr>
        <p:grpSpPr>
          <a:xfrm rot="-7200164">
            <a:off x="3427565" y="3301183"/>
            <a:ext cx="505638" cy="506061"/>
            <a:chOff x="1967628" y="812211"/>
            <a:chExt cx="588000" cy="588000"/>
          </a:xfrm>
        </p:grpSpPr>
        <p:sp>
          <p:nvSpPr>
            <p:cNvPr id="99" name="Google Shape;99;p16"/>
            <p:cNvSpPr/>
            <p:nvPr/>
          </p:nvSpPr>
          <p:spPr>
            <a:xfrm rot="39023">
              <a:off x="1970909" y="815492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1C232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 rot="10800000">
              <a:off x="1970875" y="815525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16"/>
          <p:cNvGrpSpPr/>
          <p:nvPr/>
        </p:nvGrpSpPr>
        <p:grpSpPr>
          <a:xfrm>
            <a:off x="4228368" y="1878239"/>
            <a:ext cx="505621" cy="506092"/>
            <a:chOff x="1970048" y="811613"/>
            <a:chExt cx="588000" cy="588000"/>
          </a:xfrm>
        </p:grpSpPr>
        <p:sp>
          <p:nvSpPr>
            <p:cNvPr id="102" name="Google Shape;102;p16"/>
            <p:cNvSpPr/>
            <p:nvPr/>
          </p:nvSpPr>
          <p:spPr>
            <a:xfrm rot="39023">
              <a:off x="1973329" y="814894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B45F06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 rot="10800000">
              <a:off x="1973295" y="814927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B45F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" name="Google Shape;104;p16"/>
          <p:cNvGrpSpPr/>
          <p:nvPr/>
        </p:nvGrpSpPr>
        <p:grpSpPr>
          <a:xfrm rot="7200164">
            <a:off x="5063146" y="3282197"/>
            <a:ext cx="505638" cy="506061"/>
            <a:chOff x="1977085" y="811649"/>
            <a:chExt cx="588000" cy="588000"/>
          </a:xfrm>
        </p:grpSpPr>
        <p:sp>
          <p:nvSpPr>
            <p:cNvPr id="105" name="Google Shape;105;p16"/>
            <p:cNvSpPr/>
            <p:nvPr/>
          </p:nvSpPr>
          <p:spPr>
            <a:xfrm rot="39023">
              <a:off x="1980366" y="814930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FAB40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 rot="10800000">
              <a:off x="1980332" y="814963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FAB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16"/>
          <p:cNvSpPr txBox="1"/>
          <p:nvPr/>
        </p:nvSpPr>
        <p:spPr>
          <a:xfrm>
            <a:off x="4267266" y="1910050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 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3460468" y="3342679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5097031" y="3328107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1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 Metrics</a:t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1097280" y="1645920"/>
            <a:ext cx="65838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menentukan research objective dan questions.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membuat sebuah research hypothesis.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memilih metode research dan mengemukakan alasan atas metode (atau metode - metode) yang dipilih.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mengukur waktu dan menyusun sebuah research timeline.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menyusun sebuah rencana penelitian secara keseluruhan.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presentasi virtual di depan kelas dengan singkat dan padat.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200" u="none" cap="none" strike="noStrike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SKILL METRICS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1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Delivery Documents</a:t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1097280" y="1645920"/>
            <a:ext cx="65838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Research objective dan questions.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Research hypothesis.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Metode research dan penjelasan kenapa memilih metode tersebut.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Research timeline.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Deck (dengan Google Slides) berisi 8 halaman untuk mempresentasikan rencana penelitian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Presentasi deck di depan kelas.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DELIVERY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1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Acceptance Criteria</a:t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CRITERIA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1097280" y="1645920"/>
            <a:ext cx="65838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Merancang r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esearch objective dan questions.</a:t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Membuat 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Research hypothesis.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Menentukan Metode research dan penjelasan kenapa memilih metode tersebut.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Membuat Research timeline.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Merancang susunan deck (rencana penelitian)</a:t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Melakukan 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Presentasi deck di depan kelas.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Chapter 2</a:t>
            </a:r>
            <a:endParaRPr/>
          </a:p>
        </p:txBody>
      </p:sp>
      <p:sp>
        <p:nvSpPr>
          <p:cNvPr id="142" name="Google Shape;142;p20"/>
          <p:cNvSpPr txBox="1"/>
          <p:nvPr/>
        </p:nvSpPr>
        <p:spPr>
          <a:xfrm>
            <a:off x="685800" y="118872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Chapter 2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Pada chapter ini, kita telah melalui topik - topik berikut: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1) Design Thinking: Empathize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2) UX Research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3) Research Objectives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4) Research Timeline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5) Metode - metode UX research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Untuk menyelesaikan chapter, mari kita menyelesaikan challenge berikut.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48" name="Google Shape;148;p2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49" name="Google Shape;149;p21"/>
          <p:cNvSpPr txBox="1"/>
          <p:nvPr/>
        </p:nvSpPr>
        <p:spPr>
          <a:xfrm>
            <a:off x="685800" y="1188725"/>
            <a:ext cx="7930800" cy="26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Challenge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Kamu perlu merencanakan sebuah penelitian</a:t>
            </a: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untuk menyelesaikan challenge.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1. Membaca dengan seksama sebuah prompt, dan berdasarkan prompt tersebut: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2</a:t>
            </a: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. Menyusun research objective dan questions. </a:t>
            </a:r>
            <a:endParaRPr sz="1200">
              <a:solidFill>
                <a:schemeClr val="accen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3. Membuat research hypothesis.</a:t>
            </a:r>
            <a:endParaRPr sz="1200">
              <a:solidFill>
                <a:schemeClr val="accen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4. Menentukan metode research.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5. Menyusun research timeline.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6. Membuat sebuah deck (dengan Google Slides) berisi 8 halaman untuk mempresentasikan rencana penelitian yang berisi research objective dan questions, research hypothesis dan metode research yang telah ditentukan.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7. Mempresentasikan rencana penelitian di depan kelas.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56" name="Google Shape;156;p22"/>
          <p:cNvSpPr txBox="1"/>
          <p:nvPr/>
        </p:nvSpPr>
        <p:spPr>
          <a:xfrm>
            <a:off x="685800" y="1188725"/>
            <a:ext cx="7354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Prompt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Asosiasi Alzheimer menerima sebagian dana dari Google untuk meneliti bagaimana Google Home dapat mendukung orang-orang dengan Alzheimer dalam mengelola aktivitas sehari - hari dan menjalin berhubungan dengan orang-orang yang mereka sayangi.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Dalam waktu empat minggu, kamu perlu menunjukkan potensi Google Home dalam meningkatkan kualitas hidup mereka.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63" name="Google Shape;163;p23"/>
          <p:cNvSpPr txBox="1"/>
          <p:nvPr/>
        </p:nvSpPr>
        <p:spPr>
          <a:xfrm>
            <a:off x="685800" y="1188725"/>
            <a:ext cx="7930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Challenge Point 6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Membuat sebuah deck (dengan Google Slides) berisi 8 halaman untuk mempresentasikan rencana penelitian yang berisi research objective dan questions, research hypothesis dan metode research yang telah ditentukan.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Slide 1 berisi judul, nama dan tanggal.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Slide 2 berisi research objective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Slide 3 berisi research questions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Slide 4 berisi research hypothesis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Slide 5 berisi research method dan penjelasan kenapa method tersebut kamu pilih.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Slide 6 - 7 berisi research timeline.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Slide 8 berisi ucapan terimakasih dan penutup.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9" name="Google Shape;169;p2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70" name="Google Shape;170;p24"/>
          <p:cNvSpPr txBox="1"/>
          <p:nvPr/>
        </p:nvSpPr>
        <p:spPr>
          <a:xfrm>
            <a:off x="685800" y="1188725"/>
            <a:ext cx="7930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Challenge Point 7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Mempresentasikan rencana penelitian di depan kelas.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Setiap siswa mempresentasikan deck di depan kelas.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Maksimal waktu presentasi ditentukan oleh fasilitator.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Awali presentasi dengan mengenalkan diri.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/>
          <p:nvPr/>
        </p:nvSpPr>
        <p:spPr>
          <a:xfrm>
            <a:off x="4031975" y="2179724"/>
            <a:ext cx="2448300" cy="24483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5"/>
          <p:cNvSpPr/>
          <p:nvPr/>
        </p:nvSpPr>
        <p:spPr>
          <a:xfrm>
            <a:off x="2880172" y="732662"/>
            <a:ext cx="3058800" cy="30588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5"/>
          <p:cNvSpPr/>
          <p:nvPr/>
        </p:nvSpPr>
        <p:spPr>
          <a:xfrm>
            <a:off x="1580031" y="515479"/>
            <a:ext cx="3493200" cy="34932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5"/>
          <p:cNvSpPr/>
          <p:nvPr/>
        </p:nvSpPr>
        <p:spPr>
          <a:xfrm>
            <a:off x="4787172" y="1388640"/>
            <a:ext cx="2776800" cy="2776800"/>
          </a:xfrm>
          <a:prstGeom prst="ellipse">
            <a:avLst/>
          </a:prstGeom>
          <a:solidFill>
            <a:srgbClr val="5E2B62">
              <a:alpha val="6078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/>
          <p:nvPr/>
        </p:nvSpPr>
        <p:spPr>
          <a:xfrm>
            <a:off x="1752271" y="1608981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TERIMA</a:t>
            </a:r>
            <a:endParaRPr b="1" i="0" sz="3600" u="none" cap="none" strike="noStrike">
              <a:solidFill>
                <a:srgbClr val="F2AB2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5"/>
          <p:cNvSpPr/>
          <p:nvPr/>
        </p:nvSpPr>
        <p:spPr>
          <a:xfrm>
            <a:off x="1684821" y="2179714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KASIH</a:t>
            </a:r>
            <a:endParaRPr sz="1100"/>
          </a:p>
        </p:txBody>
      </p:sp>
      <p:pic>
        <p:nvPicPr>
          <p:cNvPr id="181" name="Google Shape;181;p25"/>
          <p:cNvPicPr preferRelativeResize="0"/>
          <p:nvPr/>
        </p:nvPicPr>
        <p:blipFill rotWithShape="1">
          <a:blip r:embed="rId3">
            <a:alphaModFix/>
          </a:blip>
          <a:srcRect b="0" l="0" r="13247" t="0"/>
          <a:stretch/>
        </p:blipFill>
        <p:spPr>
          <a:xfrm>
            <a:off x="5450801" y="1946964"/>
            <a:ext cx="1440495" cy="166039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5"/>
          <p:cNvSpPr/>
          <p:nvPr/>
        </p:nvSpPr>
        <p:spPr>
          <a:xfrm>
            <a:off x="2000840" y="3114985"/>
            <a:ext cx="1341000" cy="13410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