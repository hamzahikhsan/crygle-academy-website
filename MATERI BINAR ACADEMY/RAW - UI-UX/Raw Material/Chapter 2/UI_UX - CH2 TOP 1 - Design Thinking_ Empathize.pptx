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Raleway"/>
      <p:regular r:id="rId51"/>
      <p:bold r:id="rId52"/>
      <p:italic r:id="rId53"/>
      <p:boldItalic r:id="rId54"/>
    </p:embeddedFont>
    <p:embeddedFont>
      <p:font typeface="Roboto"/>
      <p:regular r:id="rId55"/>
      <p:bold r:id="rId56"/>
      <p:italic r:id="rId57"/>
      <p:boldItalic r:id="rId58"/>
    </p:embeddedFont>
    <p:embeddedFont>
      <p:font typeface="Montserrat"/>
      <p:regular r:id="rId59"/>
      <p:bold r:id="rId60"/>
      <p:italic r:id="rId61"/>
      <p:boldItalic r:id="rId62"/>
    </p:embeddedFont>
    <p:embeddedFont>
      <p:font typeface="Lato Black"/>
      <p:bold r:id="rId63"/>
      <p:boldItalic r:id="rId64"/>
    </p:embeddedFont>
    <p:embeddedFont>
      <p:font typeface="Raleway Medium"/>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Italic.fntdata"/><Relationship Id="rId61" Type="http://schemas.openxmlformats.org/officeDocument/2006/relationships/font" Target="fonts/Montserrat-italic.fntdata"/><Relationship Id="rId20" Type="http://schemas.openxmlformats.org/officeDocument/2006/relationships/slide" Target="slides/slide15.xml"/><Relationship Id="rId64" Type="http://schemas.openxmlformats.org/officeDocument/2006/relationships/font" Target="fonts/LatoBlack-boldItalic.fntdata"/><Relationship Id="rId63" Type="http://schemas.openxmlformats.org/officeDocument/2006/relationships/font" Target="fonts/LatoBlack-bold.fntdata"/><Relationship Id="rId22" Type="http://schemas.openxmlformats.org/officeDocument/2006/relationships/slide" Target="slides/slide17.xml"/><Relationship Id="rId66" Type="http://schemas.openxmlformats.org/officeDocument/2006/relationships/font" Target="fonts/RalewayMedium-bold.fntdata"/><Relationship Id="rId21" Type="http://schemas.openxmlformats.org/officeDocument/2006/relationships/slide" Target="slides/slide16.xml"/><Relationship Id="rId65" Type="http://schemas.openxmlformats.org/officeDocument/2006/relationships/font" Target="fonts/RalewayMedium-regular.fntdata"/><Relationship Id="rId24" Type="http://schemas.openxmlformats.org/officeDocument/2006/relationships/slide" Target="slides/slide19.xml"/><Relationship Id="rId68" Type="http://schemas.openxmlformats.org/officeDocument/2006/relationships/font" Target="fonts/RalewayMedium-boldItalic.fntdata"/><Relationship Id="rId23" Type="http://schemas.openxmlformats.org/officeDocument/2006/relationships/slide" Target="slides/slide18.xml"/><Relationship Id="rId67" Type="http://schemas.openxmlformats.org/officeDocument/2006/relationships/font" Target="fonts/RalewayMedium-italic.fntdata"/><Relationship Id="rId60" Type="http://schemas.openxmlformats.org/officeDocument/2006/relationships/font" Target="fonts/Montserrat-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regular.fntdata"/><Relationship Id="rId50" Type="http://schemas.openxmlformats.org/officeDocument/2006/relationships/slide" Target="slides/slide45.xml"/><Relationship Id="rId53" Type="http://schemas.openxmlformats.org/officeDocument/2006/relationships/font" Target="fonts/Raleway-italic.fntdata"/><Relationship Id="rId52" Type="http://schemas.openxmlformats.org/officeDocument/2006/relationships/font" Target="fonts/Raleway-bold.fntdata"/><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Raleway-boldItalic.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Montserrat-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shcala?utm_source=unsplash&amp;utm_medium=referral&amp;utm_content=creditCopyText" TargetMode="External"/><Relationship Id="rId3" Type="http://schemas.openxmlformats.org/officeDocument/2006/relationships/hyperlink" Target="https://unsplash.com/@joshcala?utm_source=unsplash&amp;utm_medium=referral&amp;utm_content=creditCopyText" TargetMode="External"/><Relationship Id="rId4" Type="http://schemas.openxmlformats.org/officeDocument/2006/relationships/hyperlink" Target="https://unsplash.com/s/photos/empathy?utm_source=unsplash&amp;utm_medium=referral&amp;utm_content=creditCopyText" TargetMode="External"/><Relationship Id="rId5" Type="http://schemas.openxmlformats.org/officeDocument/2006/relationships/hyperlink" Target="https://unsplash.com/s/photos/empathy?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upernov?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milymorter?utm_source=unsplash&amp;utm_medium=referral&amp;utm_content=creditCopyText" TargetMode="External"/><Relationship Id="rId3" Type="http://schemas.openxmlformats.org/officeDocument/2006/relationships/hyperlink" Target="https://unsplash.com/@emilymorter?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bayreuther?utm_source=unsplash&amp;utm_medium=referral&amp;utm_content=creditCopyText" TargetMode="External"/><Relationship Id="rId3" Type="http://schemas.openxmlformats.org/officeDocument/2006/relationships/hyperlink" Target="https://unsplash.com/@wbayreuther?utm_source=unsplash&amp;utm_medium=referral&amp;utm_content=creditCopyText" TargetMode="External"/><Relationship Id="rId4" Type="http://schemas.openxmlformats.org/officeDocument/2006/relationships/hyperlink" Target="https://unsplash.com/s/photos/taking-a-video?utm_source=unsplash&amp;utm_medium=referral&amp;utm_content=creditCopyText" TargetMode="External"/><Relationship Id="rId5" Type="http://schemas.openxmlformats.org/officeDocument/2006/relationships/hyperlink" Target="https://unsplash.com/s/photos/taking-a-video?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inkedinsalesnavigator?utm_source=unsplash&amp;utm_medium=referral&amp;utm_content=creditCopyText" TargetMode="Externa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brkett?utm_source=unsplash&amp;utm_medium=referral&amp;utm_content=creditCopyText" TargetMode="External"/><Relationship Id="rId3" Type="http://schemas.openxmlformats.org/officeDocument/2006/relationships/hyperlink" Target="https://unsplash.com/@abrkett?utm_source=unsplash&amp;utm_medium=referral&amp;utm_content=creditCopyText" TargetMode="External"/><Relationship Id="rId4" Type="http://schemas.openxmlformats.org/officeDocument/2006/relationships/hyperlink" Target="https://unsplash.com/s/photos/following-a-person?utm_source=unsplash&amp;utm_medium=referral&amp;utm_content=creditCopyText" TargetMode="External"/><Relationship Id="rId5" Type="http://schemas.openxmlformats.org/officeDocument/2006/relationships/hyperlink" Target="https://unsplash.com/s/photos/following-a-person?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cospradobr?utm_source=unsplash&amp;utm_medium=referral&amp;utm_content=creditCopyText" TargetMode="Externa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hyperlink" Target="https://unsplash.com/s/photos/diary?utm_source=unsplash&amp;utm_medium=referral&amp;utm_content=creditCopyText" TargetMode="External"/><Relationship Id="rId5" Type="http://schemas.openxmlformats.org/officeDocument/2006/relationships/hyperlink" Target="https://unsplash.com/s/photos/diary?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trickperkins?utm_source=unsplash&amp;utm_medium=referral&amp;utm_content=creditCopyText" TargetMode="Externa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hyperlink" Target="https://unsplash.com/s/photos/users?utm_source=unsplash&amp;utm_medium=referral&amp;utm_content=creditCopyText" TargetMode="External"/><Relationship Id="rId5" Type="http://schemas.openxmlformats.org/officeDocument/2006/relationships/hyperlink" Target="https://unsplash.com/s/photos/users?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f7e77748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f7e77748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0f7e7774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0f7e7774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0b249276f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0b249276f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Josh Calabrese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f7e77748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f7e7774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136ccf25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136ccf25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36ccf258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136ccf258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136ccf258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136ccf258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36ccf258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36ccf258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0b227ce75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0b227ce75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a:solidFill>
                  <a:schemeClr val="dk1"/>
                </a:solidFill>
              </a:rPr>
              <a:t>https://www.interaction-design.org/literature/topics/empathy</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Edi Libedinsky</a:t>
            </a:r>
            <a:r>
              <a:rPr lang="en">
                <a:solidFill>
                  <a:schemeClr val="dk1"/>
                </a:solidFill>
              </a:rPr>
              <a:t> on 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0f7e777481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0f7e777481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https://www.interaction-design.org/literature/topics/empathize</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0f7e77748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0f7e77748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Emily Morter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f7e77748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f7e77748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f7e777481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f7e777481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William Bayreuther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0f7e777481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0f7e777481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LinkedIn Sales Solutions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0f7e777481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0f7e777481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Adam Birkett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0f7e777481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0f7e777481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Marcos Paulo Prado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0f7e777481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0f7e777481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Patrick Perkins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0f7e77748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0f7e77748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0f7e777481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0f7e777481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https://www.nngroup.com/articles/empathy-mapping/</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f7e777481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f7e777481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https://www.nngroup.com/articles/empathy-mapping/</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0f7e777481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0f7e777481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https://www.nngroup.com/articles/empathy-mapping/</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f7e777481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f7e777481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0f7e777481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0f7e777481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0f7e777481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0f7e777481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f7e777481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f7e777481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0f7e777481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0f7e777481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0e8c3a84c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0e8c3a84c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0f7e777481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0f7e777481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0e8c3a84c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0e8c3a84c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0f7e777481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0f7e777481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0e8c3a84c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0e8c3a84c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0f7e777481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0f7e777481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0f7e777481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0f7e777481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0f7e777481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0f7e777481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1ce9e92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11ce9e92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unsplash.com/@joshcala?utm_source=unsplash&amp;utm_medium=referral&amp;utm_content=creditCopyText" TargetMode="External"/><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drive.google.com/file/d/1JljIx7PFFwP4yLh93BWmUFDOIQPGDWs0/view" TargetMode="External"/><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unsplash.com/@supernov?utm_source=unsplash&amp;utm_medium=referral&amp;utm_content=creditCopyText" TargetMode="External"/><Relationship Id="rId4"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unsplash.com/@emilymorter?utm_source=unsplash&amp;utm_medium=referral&amp;utm_content=creditCopyText" TargetMode="Externa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unsplash.com/@wbayreuther?utm_source=unsplash&amp;utm_medium=referral&amp;utm_content=creditCopyText" TargetMode="External"/><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unsplash.com/@abrkett?utm_source=unsplash&amp;utm_medium=referral&amp;utm_content=creditCopyText" TargetMode="External"/><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unsplash.com/@marcospradobr?utm_source=unsplash&amp;utm_medium=referral&amp;utm_content=creditCopyText" TargetMode="External"/><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patrickperkins?utm_source=unsplash&amp;utm_medium=referral&amp;utm_content=creditCopyText" TargetMode="External"/><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nngroup.com/articles/empathy-mapping/" TargetMode="Externa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jpg"/><Relationship Id="rId4" Type="http://schemas.openxmlformats.org/officeDocument/2006/relationships/hyperlink" Target="https://www.nngroup.com/articles/empathy-mapping/" TargetMode="External"/><Relationship Id="rId5" Type="http://schemas.openxmlformats.org/officeDocument/2006/relationships/hyperlink" Target="https://www.ibm.com/design/thinking/page/toolkit/activity/empathy-map" TargetMode="External"/><Relationship Id="rId6" Type="http://schemas.openxmlformats.org/officeDocument/2006/relationships/hyperlink" Target="https://www.nngroup.com/articles/empathy-mapping/" TargetMode="External"/><Relationship Id="rId7"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www.nngroup.com/articles/empathy-mapping/" TargetMode="External"/><Relationship Id="rId4" Type="http://schemas.openxmlformats.org/officeDocument/2006/relationships/image" Target="../media/image2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www.nngroup.com/articles/empathy-mapping/" TargetMode="Externa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0" Type="http://schemas.openxmlformats.org/officeDocument/2006/relationships/hyperlink" Target="https://www.nngroup.com/articles/empathy-mapping/" TargetMode="External"/><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nngroup.com/articles/empathy-mapp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empath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 name="Shape 73"/>
        <p:cNvGrpSpPr/>
        <p:nvPr/>
      </p:nvGrpSpPr>
      <p:grpSpPr>
        <a:xfrm>
          <a:off x="0" y="0"/>
          <a:ext cx="0" cy="0"/>
          <a:chOff x="0" y="0"/>
          <a:chExt cx="0" cy="0"/>
        </a:xfrm>
      </p:grpSpPr>
      <p:sp>
        <p:nvSpPr>
          <p:cNvPr id="74" name="Google Shape;74;p14"/>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Empathize</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2 - Topic 1</a:t>
            </a:r>
            <a:endParaRPr b="1">
              <a:solidFill>
                <a:srgbClr val="FFFFFF"/>
              </a:solidFill>
              <a:latin typeface="Raleway"/>
              <a:ea typeface="Raleway"/>
              <a:cs typeface="Raleway"/>
              <a:sym typeface="Raleway"/>
            </a:endParaRPr>
          </a:p>
        </p:txBody>
      </p:sp>
      <p:cxnSp>
        <p:nvCxnSpPr>
          <p:cNvPr id="75" name="Google Shape;75;p14"/>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76" name="Google Shape;76;p14"/>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77" name="Google Shape;77;p14"/>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3" name="Google Shape;83;p1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84" name="Google Shape;84;p1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85" name="Google Shape;85;p15"/>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Empathize</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Empathizing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dk1"/>
                </a:solidFill>
                <a:latin typeface="Raleway Medium"/>
                <a:ea typeface="Raleway Medium"/>
                <a:cs typeface="Raleway Medium"/>
                <a:sym typeface="Raleway Medium"/>
              </a:rPr>
              <a:t>Mengapa fase empathizing penting?</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Kegiatan pada fase empathizing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Empathy Maps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92" name="Google Shape;92;p1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b="1" lang="en" sz="1200">
                <a:solidFill>
                  <a:schemeClr val="dk1"/>
                </a:solidFill>
                <a:latin typeface="Raleway"/>
                <a:ea typeface="Raleway"/>
                <a:cs typeface="Raleway"/>
                <a:sym typeface="Raleway"/>
              </a:rPr>
              <a:t>Empathizing</a:t>
            </a:r>
            <a:r>
              <a:rPr lang="en" sz="1200">
                <a:solidFill>
                  <a:schemeClr val="dk1"/>
                </a:solidFill>
                <a:latin typeface="Raleway Medium"/>
                <a:ea typeface="Raleway Medium"/>
                <a:cs typeface="Raleway Medium"/>
                <a:sym typeface="Raleway Medium"/>
              </a:rPr>
              <a:t>: Memahami kebutuhan manusia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b="1" lang="en" sz="1200">
                <a:solidFill>
                  <a:schemeClr val="dk1"/>
                </a:solidFill>
                <a:latin typeface="Raleway"/>
                <a:ea typeface="Raleway"/>
                <a:cs typeface="Raleway"/>
                <a:sym typeface="Raleway"/>
              </a:rPr>
              <a:t>Defining</a:t>
            </a:r>
            <a:r>
              <a:rPr lang="en" sz="1200">
                <a:solidFill>
                  <a:schemeClr val="dk1"/>
                </a:solidFill>
                <a:latin typeface="Raleway Medium"/>
                <a:ea typeface="Raleway Medium"/>
                <a:cs typeface="Raleway Medium"/>
                <a:sym typeface="Raleway Medium"/>
              </a:rPr>
              <a:t>: Membingkai ulang dan mendefinisikan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b="1" lang="en" sz="1200">
                <a:solidFill>
                  <a:schemeClr val="dk1"/>
                </a:solidFill>
                <a:latin typeface="Raleway"/>
                <a:ea typeface="Raleway"/>
                <a:cs typeface="Raleway"/>
                <a:sym typeface="Raleway"/>
              </a:rPr>
              <a:t>Ideating</a:t>
            </a:r>
            <a:r>
              <a:rPr lang="en" sz="1200">
                <a:solidFill>
                  <a:schemeClr val="dk1"/>
                </a:solidFill>
                <a:latin typeface="Raleway Medium"/>
                <a:ea typeface="Raleway Medium"/>
                <a:cs typeface="Raleway Medium"/>
                <a:sym typeface="Raleway Medium"/>
              </a:rPr>
              <a:t>: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b="1" lang="en" sz="1200">
                <a:solidFill>
                  <a:schemeClr val="dk1"/>
                </a:solidFill>
                <a:latin typeface="Raleway"/>
                <a:ea typeface="Raleway"/>
                <a:cs typeface="Raleway"/>
                <a:sym typeface="Raleway"/>
              </a:rPr>
              <a:t>Prototyping</a:t>
            </a:r>
            <a:r>
              <a:rPr lang="en" sz="1200">
                <a:solidFill>
                  <a:schemeClr val="dk1"/>
                </a:solidFill>
                <a:latin typeface="Raleway Medium"/>
                <a:ea typeface="Raleway Medium"/>
                <a:cs typeface="Raleway Medium"/>
                <a:sym typeface="Raleway Medium"/>
              </a:rPr>
              <a:t>: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b="1" lang="en" sz="1200">
                <a:solidFill>
                  <a:schemeClr val="dk1"/>
                </a:solidFill>
                <a:latin typeface="Raleway"/>
                <a:ea typeface="Raleway"/>
                <a:cs typeface="Raleway"/>
                <a:sym typeface="Raleway"/>
              </a:rPr>
              <a:t>Testing/Pengujian</a:t>
            </a:r>
            <a:r>
              <a:rPr lang="en" sz="1200">
                <a:solidFill>
                  <a:schemeClr val="dk1"/>
                </a:solidFill>
                <a:latin typeface="Raleway Medium"/>
                <a:ea typeface="Raleway Medium"/>
                <a:cs typeface="Raleway Medium"/>
                <a:sym typeface="Raleway Medium"/>
              </a:rPr>
              <a:t>: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p:txBody>
      </p:sp>
      <p:pic>
        <p:nvPicPr>
          <p:cNvPr id="93" name="Google Shape;93;p16"/>
          <p:cNvPicPr preferRelativeResize="0"/>
          <p:nvPr/>
        </p:nvPicPr>
        <p:blipFill>
          <a:blip r:embed="rId3">
            <a:alphaModFix/>
          </a:blip>
          <a:stretch>
            <a:fillRect/>
          </a:stretch>
        </p:blipFill>
        <p:spPr>
          <a:xfrm>
            <a:off x="4892100" y="1753138"/>
            <a:ext cx="4038601" cy="207156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a:t>
            </a:r>
            <a:r>
              <a:rPr lang="en"/>
              <a:t>mpathazing Phase</a:t>
            </a:r>
            <a:endParaRPr>
              <a:solidFill>
                <a:srgbClr val="F2AB2F"/>
              </a:solidFill>
            </a:endParaRPr>
          </a:p>
        </p:txBody>
      </p:sp>
      <p:sp>
        <p:nvSpPr>
          <p:cNvPr id="99" name="Google Shape;99;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Empathizing</a:t>
            </a:r>
            <a:endParaRPr/>
          </a:p>
        </p:txBody>
      </p:sp>
      <p:sp>
        <p:nvSpPr>
          <p:cNvPr id="106" name="Google Shape;106;p1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Tahap pertama dari proses Design Thinking adalah untuk mendapatkan pemahaman empatik dari masalah yang Anda coba pecahkan.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tahap ini adalah </a:t>
            </a:r>
            <a:r>
              <a:rPr b="1" lang="en" sz="1200">
                <a:solidFill>
                  <a:schemeClr val="dk1"/>
                </a:solidFill>
                <a:latin typeface="Raleway"/>
                <a:ea typeface="Raleway"/>
                <a:cs typeface="Raleway"/>
                <a:sym typeface="Raleway"/>
              </a:rPr>
              <a:t>membingkai pertanyaan</a:t>
            </a:r>
            <a:r>
              <a:rPr lang="en" sz="1200">
                <a:solidFill>
                  <a:schemeClr val="dk1"/>
                </a:solidFill>
                <a:latin typeface="Raleway Medium"/>
                <a:ea typeface="Raleway Medium"/>
                <a:cs typeface="Raleway Medium"/>
                <a:sym typeface="Raleway Medium"/>
              </a:rPr>
              <a:t>: identifikasi pertanyaan pendorong yang menginspirasi orang lain untuk mencari solusi kreatif.</a:t>
            </a:r>
            <a:endParaRPr sz="1200">
              <a:solidFill>
                <a:schemeClr val="dk1"/>
              </a:solidFill>
              <a:latin typeface="Raleway Medium"/>
              <a:ea typeface="Raleway Medium"/>
              <a:cs typeface="Raleway Medium"/>
              <a:sym typeface="Raleway Medium"/>
            </a:endParaRPr>
          </a:p>
        </p:txBody>
      </p:sp>
      <p:pic>
        <p:nvPicPr>
          <p:cNvPr id="107" name="Google Shape;107;p18"/>
          <p:cNvPicPr preferRelativeResize="0"/>
          <p:nvPr/>
        </p:nvPicPr>
        <p:blipFill>
          <a:blip r:embed="rId3">
            <a:alphaModFix/>
          </a:blip>
          <a:stretch>
            <a:fillRect/>
          </a:stretch>
        </p:blipFill>
        <p:spPr>
          <a:xfrm>
            <a:off x="5412025" y="1521062"/>
            <a:ext cx="3152075" cy="2101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Empathizing</a:t>
            </a:r>
            <a:endParaRPr/>
          </a:p>
        </p:txBody>
      </p:sp>
      <p:sp>
        <p:nvSpPr>
          <p:cNvPr id="114" name="Google Shape;114;p1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Empathizing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umumnya, berempati adalah bagaimana kita sebagai manusia </a:t>
            </a:r>
            <a:r>
              <a:rPr b="1" lang="en" sz="1200">
                <a:solidFill>
                  <a:schemeClr val="dk1"/>
                </a:solidFill>
                <a:latin typeface="Raleway"/>
                <a:ea typeface="Raleway"/>
                <a:cs typeface="Raleway"/>
                <a:sym typeface="Raleway"/>
              </a:rPr>
              <a:t>memahami, mencerminkan, membagikan ekspresi, motivasi dan berbagi perasaan sesama.</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Sederhananya, dengan </a:t>
            </a:r>
            <a:r>
              <a:rPr b="1" lang="en" sz="1200">
                <a:solidFill>
                  <a:schemeClr val="dk1"/>
                </a:solidFill>
                <a:latin typeface="Raleway"/>
                <a:ea typeface="Raleway"/>
                <a:cs typeface="Raleway"/>
                <a:sym typeface="Raleway"/>
              </a:rPr>
              <a:t>berempati</a:t>
            </a:r>
            <a:r>
              <a:rPr lang="en" sz="1200">
                <a:solidFill>
                  <a:schemeClr val="dk1"/>
                </a:solidFill>
                <a:latin typeface="Raleway Medium"/>
                <a:ea typeface="Raleway Medium"/>
                <a:cs typeface="Raleway Medium"/>
                <a:sym typeface="Raleway Medium"/>
              </a:rPr>
              <a:t> maka kita berusaha </a:t>
            </a:r>
            <a:r>
              <a:rPr b="1" lang="en" sz="1200">
                <a:solidFill>
                  <a:schemeClr val="dk1"/>
                </a:solidFill>
                <a:latin typeface="Raleway"/>
                <a:ea typeface="Raleway"/>
                <a:cs typeface="Raleway"/>
                <a:sym typeface="Raleway"/>
              </a:rPr>
              <a:t>menempatkan diri di posisi orang lain</a:t>
            </a:r>
            <a:r>
              <a:rPr lang="en" sz="1200">
                <a:solidFill>
                  <a:schemeClr val="dk1"/>
                </a:solidFill>
                <a:latin typeface="Raleway Medium"/>
                <a:ea typeface="Raleway Medium"/>
                <a:cs typeface="Raleway Medium"/>
                <a:sym typeface="Raleway Medium"/>
              </a:rPr>
              <a:t>. Ketika kamu merasakan sesuatu karena orang lain, tindakan tersebut adalah </a:t>
            </a:r>
            <a:r>
              <a:rPr b="1" lang="en" sz="1200">
                <a:solidFill>
                  <a:schemeClr val="dk1"/>
                </a:solidFill>
                <a:latin typeface="Raleway"/>
                <a:ea typeface="Raleway"/>
                <a:cs typeface="Raleway"/>
                <a:sym typeface="Raleway"/>
              </a:rPr>
              <a:t>berempati.</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Ketika Anda menangis menonton adegan yang sangat menyedihkan dalam sebuah film. ... Ketika Anda melihat seseorang yang </a:t>
            </a:r>
            <a:r>
              <a:rPr b="1" lang="en" sz="1200">
                <a:solidFill>
                  <a:schemeClr val="dk1"/>
                </a:solidFill>
                <a:latin typeface="Raleway"/>
                <a:ea typeface="Raleway"/>
                <a:cs typeface="Raleway"/>
                <a:sym typeface="Raleway"/>
              </a:rPr>
              <a:t>membutuhkan</a:t>
            </a:r>
            <a:r>
              <a:rPr lang="en" sz="1200">
                <a:solidFill>
                  <a:schemeClr val="dk1"/>
                </a:solidFill>
                <a:latin typeface="Raleway Medium"/>
                <a:ea typeface="Raleway Medium"/>
                <a:cs typeface="Raleway Medium"/>
                <a:sym typeface="Raleway Medium"/>
              </a:rPr>
              <a:t> dan </a:t>
            </a:r>
            <a:r>
              <a:rPr b="1" lang="en" sz="1200">
                <a:solidFill>
                  <a:schemeClr val="dk1"/>
                </a:solidFill>
                <a:latin typeface="Raleway"/>
                <a:ea typeface="Raleway"/>
                <a:cs typeface="Raleway"/>
                <a:sym typeface="Raleway"/>
              </a:rPr>
              <a:t>menawarkan</a:t>
            </a:r>
            <a:r>
              <a:rPr lang="en" sz="1200">
                <a:solidFill>
                  <a:schemeClr val="dk1"/>
                </a:solidFill>
                <a:latin typeface="Raleway Medium"/>
                <a:ea typeface="Raleway Medium"/>
                <a:cs typeface="Raleway Medium"/>
                <a:sym typeface="Raleway Medium"/>
              </a:rPr>
              <a:t> orang tersebut makanan atau uang, itu adalah</a:t>
            </a:r>
            <a:r>
              <a:rPr b="1" lang="en" sz="1200">
                <a:solidFill>
                  <a:schemeClr val="dk1"/>
                </a:solidFill>
                <a:latin typeface="Raleway"/>
                <a:ea typeface="Raleway"/>
                <a:cs typeface="Raleway"/>
                <a:sym typeface="Raleway"/>
              </a:rPr>
              <a:t> empati</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115" name="Google Shape;115;p19">
            <a:hlinkClick r:id="rId3"/>
          </p:cNvPr>
          <p:cNvPicPr preferRelativeResize="0"/>
          <p:nvPr/>
        </p:nvPicPr>
        <p:blipFill rotWithShape="1">
          <a:blip r:embed="rId4">
            <a:alphaModFix/>
          </a:blip>
          <a:srcRect b="0" l="24472" r="2214" t="0"/>
          <a:stretch/>
        </p:blipFill>
        <p:spPr>
          <a:xfrm>
            <a:off x="5638800" y="1359987"/>
            <a:ext cx="3017513"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sih fase </a:t>
            </a:r>
            <a:r>
              <a:rPr lang="en">
                <a:solidFill>
                  <a:srgbClr val="F2AB2F"/>
                </a:solidFill>
              </a:rPr>
              <a:t>e</a:t>
            </a:r>
            <a:r>
              <a:rPr lang="en">
                <a:solidFill>
                  <a:srgbClr val="F2AB2F"/>
                </a:solidFill>
              </a:rPr>
              <a:t>mpathizing</a:t>
            </a:r>
            <a:r>
              <a:rPr lang="en"/>
              <a:t> itu suatu hal yang penting?</a:t>
            </a:r>
            <a:endParaRPr>
              <a:solidFill>
                <a:srgbClr val="F2AB2F"/>
              </a:solidFill>
            </a:endParaRPr>
          </a:p>
        </p:txBody>
      </p:sp>
      <p:sp>
        <p:nvSpPr>
          <p:cNvPr id="121" name="Google Shape;121;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empathizing penting?</a:t>
            </a:r>
            <a:endParaRPr/>
          </a:p>
        </p:txBody>
      </p:sp>
      <p:sp>
        <p:nvSpPr>
          <p:cNvPr id="128" name="Google Shape;128;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Mengapa empathizing penting?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Berempati sangatlah penting untuk proses desain yang berpusat pada manusia. Empati memungkinkan pemikir desain untuk mengesampingkan asumsi mereka sendiri dan mendapatkan wawasan tentang pengguna dan kebutuhan mereka.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Sejumlah besar informasi yang dikumpulkan pada fase empathizing digunakan selama fase berikutnya dan dipakai untuk mengembangkan pemahaman terbaik terhadap pengguna, kebutuhan mereka, dan masalah yang mendasari pengembangan produk.</a:t>
            </a:r>
            <a:endParaRPr sz="1200">
              <a:solidFill>
                <a:schemeClr val="dk1"/>
              </a:solidFill>
              <a:latin typeface="Raleway Medium"/>
              <a:ea typeface="Raleway Medium"/>
              <a:cs typeface="Raleway Medium"/>
              <a:sym typeface="Raleway Medium"/>
            </a:endParaRPr>
          </a:p>
        </p:txBody>
      </p:sp>
      <p:pic>
        <p:nvPicPr>
          <p:cNvPr id="129" name="Google Shape;129;p21">
            <a:hlinkClick r:id="rId3"/>
          </p:cNvPr>
          <p:cNvPicPr preferRelativeResize="0"/>
          <p:nvPr/>
        </p:nvPicPr>
        <p:blipFill rotWithShape="1">
          <a:blip r:embed="rId4">
            <a:alphaModFix/>
          </a:blip>
          <a:srcRect b="0" l="26578" r="0" t="0"/>
          <a:stretch/>
        </p:blipFill>
        <p:spPr>
          <a:xfrm>
            <a:off x="5638800" y="1359987"/>
            <a:ext cx="3017513"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empathizing penting?</a:t>
            </a:r>
            <a:endParaRPr/>
          </a:p>
        </p:txBody>
      </p:sp>
      <p:sp>
        <p:nvSpPr>
          <p:cNvPr id="136" name="Google Shape;136;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Contohnya begini…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Suatu hari kita lihat ada seorang </a:t>
            </a:r>
            <a:r>
              <a:rPr b="1" lang="en" sz="1200">
                <a:solidFill>
                  <a:schemeClr val="dk1"/>
                </a:solidFill>
                <a:latin typeface="Raleway"/>
                <a:ea typeface="Raleway"/>
                <a:cs typeface="Raleway"/>
                <a:sym typeface="Raleway"/>
              </a:rPr>
              <a:t>ibu-ibu lansia</a:t>
            </a:r>
            <a:r>
              <a:rPr lang="en" sz="1200">
                <a:solidFill>
                  <a:schemeClr val="dk1"/>
                </a:solidFill>
                <a:latin typeface="Raleway Medium"/>
                <a:ea typeface="Raleway Medium"/>
                <a:cs typeface="Raleway Medium"/>
                <a:sym typeface="Raleway Medium"/>
              </a:rPr>
              <a:t> yang </a:t>
            </a:r>
            <a:r>
              <a:rPr b="1" lang="en" sz="1200">
                <a:solidFill>
                  <a:schemeClr val="dk1"/>
                </a:solidFill>
                <a:latin typeface="Raleway"/>
                <a:ea typeface="Raleway"/>
                <a:cs typeface="Raleway"/>
                <a:sym typeface="Raleway"/>
              </a:rPr>
              <a:t>kesulitan</a:t>
            </a:r>
            <a:r>
              <a:rPr lang="en" sz="1200">
                <a:solidFill>
                  <a:schemeClr val="dk1"/>
                </a:solidFill>
                <a:latin typeface="Raleway Medium"/>
                <a:ea typeface="Raleway Medium"/>
                <a:cs typeface="Raleway Medium"/>
                <a:sym typeface="Raleway Medium"/>
              </a:rPr>
              <a:t> ketika ingin melihat jadwal kereta api yang akan ia tumpangi pada layar monitor informasi stasiun, karena tampilan informasi jadwal pada layar monitor terlalu kecil.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Kalau lagi berhadapan sama situasi kayak gini, kira-kira hal apa yang bakal kamu lakuin?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Ketika melihat hal tersebut, seseorang yang </a:t>
            </a:r>
            <a:r>
              <a:rPr b="1" lang="en" sz="1200">
                <a:solidFill>
                  <a:schemeClr val="dk1"/>
                </a:solidFill>
                <a:latin typeface="Raleway"/>
                <a:ea typeface="Raleway"/>
                <a:cs typeface="Raleway"/>
                <a:sym typeface="Raleway"/>
              </a:rPr>
              <a:t>berempati</a:t>
            </a:r>
            <a:r>
              <a:rPr lang="en" sz="1200">
                <a:solidFill>
                  <a:schemeClr val="dk1"/>
                </a:solidFill>
                <a:latin typeface="Raleway Medium"/>
                <a:ea typeface="Raleway Medium"/>
                <a:cs typeface="Raleway Medium"/>
                <a:sym typeface="Raleway Medium"/>
              </a:rPr>
              <a:t> akan langsung mengambil langkah untuk membantu ibu lansia itu memberi tahu secara langsung terkait kapan jadwal kereta akan berangkat dan harus bersiap di peron dari jam berapa.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empathizing penting?</a:t>
            </a:r>
            <a:endParaRPr/>
          </a:p>
        </p:txBody>
      </p:sp>
      <p:sp>
        <p:nvSpPr>
          <p:cNvPr id="143" name="Google Shape;143;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Dalam menjalankan perannya, seorang UI/UX Designer ditantang untuk menciptakan sesuatu yang dapat menyelesaikan masalah user dan memenuhi kebutuhan mereka melalui produk yang dirancang.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Karena tantangan inilah, penting bagi kita untuk bisa memahami masalah dan kebutuhan user secara menyeluruh.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empathizing penting?</a:t>
            </a:r>
            <a:endParaRPr/>
          </a:p>
        </p:txBody>
      </p:sp>
      <p:sp>
        <p:nvSpPr>
          <p:cNvPr id="150" name="Google Shape;150;p2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Dalam proses memahami user ini, bersikap empati tentunya sangat diperlukan!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Jika tidak berlandaskan empati, pemahaman akan masalah dan kebutuhan user bisa menjadi tidak akurat, karena kita tidak berupaya memahami user secara utuh dengan memposisikan diri sebagai user.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Dengan berempati memungkinkan kita untuk memahami tidak hanya kendala, tetapi juga harapan, ketakutan, kemampuan, keterbatasan, alasan, dan tujuan dari user dalam produk yang dibuat.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empathizing penting?</a:t>
            </a:r>
            <a:endParaRPr/>
          </a:p>
        </p:txBody>
      </p:sp>
      <p:sp>
        <p:nvSpPr>
          <p:cNvPr id="157" name="Google Shape;157;p2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Maka dari itu, dalam proses </a:t>
            </a:r>
            <a:r>
              <a:rPr b="1" lang="en" sz="1200">
                <a:solidFill>
                  <a:schemeClr val="dk1"/>
                </a:solidFill>
                <a:latin typeface="Raleway"/>
                <a:ea typeface="Raleway"/>
                <a:cs typeface="Raleway"/>
                <a:sym typeface="Raleway"/>
              </a:rPr>
              <a:t>pemahaman user</a:t>
            </a:r>
            <a:r>
              <a:rPr lang="en" sz="1200">
                <a:solidFill>
                  <a:schemeClr val="dk1"/>
                </a:solidFill>
                <a:latin typeface="Raleway Medium"/>
                <a:ea typeface="Raleway Medium"/>
                <a:cs typeface="Raleway Medium"/>
                <a:sym typeface="Raleway Medium"/>
              </a:rPr>
              <a:t> yang berlandaskan </a:t>
            </a:r>
            <a:r>
              <a:rPr b="1" lang="en" sz="1200">
                <a:solidFill>
                  <a:schemeClr val="dk1"/>
                </a:solidFill>
                <a:latin typeface="Raleway"/>
                <a:ea typeface="Raleway"/>
                <a:cs typeface="Raleway"/>
                <a:sym typeface="Raleway"/>
              </a:rPr>
              <a:t>empati</a:t>
            </a:r>
            <a:r>
              <a:rPr lang="en" sz="1200">
                <a:solidFill>
                  <a:schemeClr val="dk1"/>
                </a:solidFill>
                <a:latin typeface="Raleway Medium"/>
                <a:ea typeface="Raleway Medium"/>
                <a:cs typeface="Raleway Medium"/>
                <a:sym typeface="Raleway Medium"/>
              </a:rPr>
              <a:t>, seorang UI/UX Designer tidak hanya menyelesaikan kebutuhan user saja, tetapi produk yang kita rancang dapat meningkatkan kualitas kehidupan user dengan mengatasi permasalahan atau pain points yang dihadapi user.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Kualitas hidup user itu bisa dilihat dari banyak sudut pandang, bisa soal kesehatan, lingkungan sosial, perilaku dan aktivitas sehari-hari, dan sebagainya.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Hal yang penting kita harus sadari apa yang kita rancang bukan sekadar ekspresi diri atau saling adu kreativitas semata. Sehingga tujuan yang lebih utamanya adalah memecahkan masalah user dan memuaskan keinginan mereka.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6" title="1.5 Design With Empathy.mp4">
            <a:hlinkClick r:id="rId3"/>
          </p:cNvPr>
          <p:cNvPicPr preferRelativeResize="0"/>
          <p:nvPr/>
        </p:nvPicPr>
        <p:blipFill>
          <a:blip r:embed="rId4">
            <a:alphaModFix/>
          </a:blip>
          <a:stretch>
            <a:fillRect/>
          </a:stretch>
        </p:blipFill>
        <p:spPr>
          <a:xfrm>
            <a:off x="1639475" y="1083423"/>
            <a:ext cx="6095999" cy="3426314"/>
          </a:xfrm>
          <a:prstGeom prst="rect">
            <a:avLst/>
          </a:prstGeom>
          <a:noFill/>
          <a:ln>
            <a:noFill/>
          </a:ln>
        </p:spPr>
      </p:pic>
      <p:sp>
        <p:nvSpPr>
          <p:cNvPr id="163" name="Google Shape;163;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fase empathizing penting?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Kegiatan pada fase empathizing</a:t>
            </a:r>
            <a:endParaRPr/>
          </a:p>
        </p:txBody>
      </p:sp>
      <p:sp>
        <p:nvSpPr>
          <p:cNvPr id="170" name="Google Shape;17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8">
            <a:hlinkClick r:id="rId3"/>
          </p:cNvPr>
          <p:cNvPicPr preferRelativeResize="0"/>
          <p:nvPr/>
        </p:nvPicPr>
        <p:blipFill rotWithShape="1">
          <a:blip r:embed="rId4">
            <a:alphaModFix/>
          </a:blip>
          <a:srcRect b="9468" l="20987" r="13447" t="9460"/>
          <a:stretch/>
        </p:blipFill>
        <p:spPr>
          <a:xfrm>
            <a:off x="5486400" y="1280150"/>
            <a:ext cx="3017523" cy="2743200"/>
          </a:xfrm>
          <a:prstGeom prst="rect">
            <a:avLst/>
          </a:prstGeom>
          <a:noFill/>
          <a:ln>
            <a:noFill/>
          </a:ln>
        </p:spPr>
      </p:pic>
      <p:sp>
        <p:nvSpPr>
          <p:cNvPr id="176" name="Google Shape;176;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178" name="Google Shape;178;p2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Kegiatan pada fase empathizing</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rgbClr val="733572"/>
                </a:solidFill>
                <a:latin typeface="Raleway"/>
                <a:ea typeface="Raleway"/>
                <a:cs typeface="Raleway"/>
                <a:sym typeface="Raleway"/>
              </a:rPr>
              <a:t>To empathize is to research. </a:t>
            </a:r>
            <a:endParaRPr b="1" sz="12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t/>
            </a:r>
            <a:endParaRPr i="1"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harus terus-menerus mengingatkan diri sendiri untuk mempertanyakan semua yang Anda amati daripada menghakimi.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juga harus mendengarkan orang lain dengan pikiran terbuka daripada fokus pada poin yang mengkonfirmasi bias Anda. Karena bias kita secara alami akan menyusup ke dalam cara kita memandang dunia dan situasi yang kita pertimbangkan.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184" name="Google Shape;184;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pic>
        <p:nvPicPr>
          <p:cNvPr id="185" name="Google Shape;185;p29"/>
          <p:cNvPicPr preferRelativeResize="0"/>
          <p:nvPr/>
        </p:nvPicPr>
        <p:blipFill rotWithShape="1">
          <a:blip r:embed="rId3">
            <a:alphaModFix/>
          </a:blip>
          <a:srcRect b="0" l="893" r="4058" t="0"/>
          <a:stretch/>
        </p:blipFill>
        <p:spPr>
          <a:xfrm>
            <a:off x="0" y="992500"/>
            <a:ext cx="9144000" cy="3655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191" name="Google Shape;191;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2" name="Google Shape;192;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193" name="Google Shape;193;p3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Bagaimana Berempati untuk Mendapatkan Wawasan yang Benar?</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Ada banyak cara untuk berempati (yang sebenarnya bisa termasuk dalam topik UX research) mari kita telaah beberapa…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1">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199" name="Google Shape;199;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0" name="Google Shape;200;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201" name="Google Shape;201;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1. Pengamatan pengguna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Renungkan pertanyaan-pertanyaan dibawah 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 - Anda merinci pengamatan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"Bagaimana?" – Anda menganalisis cara pengguna melakukan sesuatu (mis., dengan susah payah).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"Mengapa?" – Anda membuat tebakan terpelajar tentang emosi dan motivasi pengguna.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2">
            <a:hlinkClick r:id="rId3"/>
          </p:cNvPr>
          <p:cNvPicPr preferRelativeResize="0"/>
          <p:nvPr/>
        </p:nvPicPr>
        <p:blipFill rotWithShape="1">
          <a:blip r:embed="rId4">
            <a:alphaModFix/>
          </a:blip>
          <a:srcRect b="0" l="26609" r="26609" t="0"/>
          <a:stretch/>
        </p:blipFill>
        <p:spPr>
          <a:xfrm>
            <a:off x="5486400" y="1280150"/>
            <a:ext cx="3017523" cy="2743199"/>
          </a:xfrm>
          <a:prstGeom prst="rect">
            <a:avLst/>
          </a:prstGeom>
          <a:noFill/>
          <a:ln>
            <a:noFill/>
          </a:ln>
        </p:spPr>
      </p:pic>
      <p:sp>
        <p:nvSpPr>
          <p:cNvPr id="207" name="Google Shape;207;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209" name="Google Shape;209;p3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Melakukan studi berbasis foto dan/atau video pada lingkungan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merekam pengguna saat mereka mencoba memecahkan masalah yang Anda usulkan untuk diselesaikan.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Rekaman tersebut bisa Anda jadikan bukti nyata untuk diajukan kepada tim atau atasan Anda.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3">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215" name="Google Shape;215;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217" name="Google Shape;217;p3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Mewawancarai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Tim Anda menggunakan metode </a:t>
            </a:r>
            <a:r>
              <a:rPr i="1" lang="en" sz="1200">
                <a:solidFill>
                  <a:schemeClr val="dk1"/>
                </a:solidFill>
                <a:latin typeface="Raleway Medium"/>
                <a:ea typeface="Raleway Medium"/>
                <a:cs typeface="Raleway Medium"/>
                <a:sym typeface="Raleway Medium"/>
              </a:rPr>
              <a:t>brainstorming</a:t>
            </a:r>
            <a:r>
              <a:rPr lang="en" sz="1200">
                <a:solidFill>
                  <a:schemeClr val="dk1"/>
                </a:solidFill>
                <a:latin typeface="Raleway Medium"/>
                <a:ea typeface="Raleway Medium"/>
                <a:cs typeface="Raleway Medium"/>
                <a:sym typeface="Raleway Medium"/>
              </a:rPr>
              <a:t> untuk terlebih dahulu menemukan pertanyaan yang tepat untuk diajukan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Kemudian, Anda dapat langsung menanyakan kepada pengguna dalam suasana yang nyaman di mana mereka dapat menanggapi pertanyaan dengan terbuka dan sungguh-sungguh.</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4">
            <a:hlinkClick r:id="rId3"/>
          </p:cNvPr>
          <p:cNvPicPr preferRelativeResize="0"/>
          <p:nvPr/>
        </p:nvPicPr>
        <p:blipFill rotWithShape="1">
          <a:blip r:embed="rId4">
            <a:alphaModFix/>
          </a:blip>
          <a:srcRect b="38233" l="0" r="0" t="1175"/>
          <a:stretch/>
        </p:blipFill>
        <p:spPr>
          <a:xfrm>
            <a:off x="5486400" y="1280150"/>
            <a:ext cx="3017524" cy="2743199"/>
          </a:xfrm>
          <a:prstGeom prst="rect">
            <a:avLst/>
          </a:prstGeom>
          <a:noFill/>
          <a:ln>
            <a:noFill/>
          </a:ln>
        </p:spPr>
      </p:pic>
      <p:sp>
        <p:nvSpPr>
          <p:cNvPr id="223" name="Google Shape;223;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4" name="Google Shape;224;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225" name="Google Shape;225;p3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Shadowing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Shadowing atau pengintaian bisa dilakukan dimana Anda mengikuti pengguna berkeliling untuk merasakan pengalaman sehari-hari dari apa yang mereka alami.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Tentunya, Anda perlu meminta izin kepada sang pengguna untuk melakukan pengintaian tersebut.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5">
            <a:hlinkClick r:id="rId3"/>
          </p:cNvPr>
          <p:cNvPicPr preferRelativeResize="0"/>
          <p:nvPr/>
        </p:nvPicPr>
        <p:blipFill rotWithShape="1">
          <a:blip r:embed="rId4">
            <a:alphaModFix/>
          </a:blip>
          <a:srcRect b="19704" l="0" r="0" t="19704"/>
          <a:stretch/>
        </p:blipFill>
        <p:spPr>
          <a:xfrm>
            <a:off x="5486400" y="1280150"/>
            <a:ext cx="3017524" cy="2743199"/>
          </a:xfrm>
          <a:prstGeom prst="rect">
            <a:avLst/>
          </a:prstGeom>
          <a:noFill/>
          <a:ln>
            <a:noFill/>
          </a:ln>
        </p:spPr>
      </p:pic>
      <p:sp>
        <p:nvSpPr>
          <p:cNvPr id="231" name="Google Shape;23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2" name="Google Shape;23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233" name="Google Shape;233;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Studi Buku Harian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a:t>
            </a:r>
            <a:r>
              <a:rPr lang="en" sz="1200">
                <a:solidFill>
                  <a:schemeClr val="dk1"/>
                </a:solidFill>
                <a:latin typeface="Raleway Medium"/>
                <a:ea typeface="Raleway Medium"/>
                <a:cs typeface="Raleway Medium"/>
                <a:sym typeface="Raleway Medium"/>
              </a:rPr>
              <a:t>membiarkan pengguna melaporkan kegiatan mereka sendiri.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halnya survei, Anda mengandalkan pengguna untuk mencatat sesuatu untuk Anda. Bedanya dengan survei, studi buku harian membantu menangkap "efek setelah" selama (biasanya) periode 1 hingga 2 minggu.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Catatan: studi buku harian saja tidak dapat mengungkapkan poin rasa sakit secara efektif; mereka paling baik dikombinasikan dengan wawancara.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6">
            <a:hlinkClick r:id="rId3"/>
          </p:cNvPr>
          <p:cNvPicPr preferRelativeResize="0"/>
          <p:nvPr/>
        </p:nvPicPr>
        <p:blipFill rotWithShape="1">
          <a:blip r:embed="rId4">
            <a:alphaModFix/>
          </a:blip>
          <a:srcRect b="0" l="0" r="26686" t="0"/>
          <a:stretch/>
        </p:blipFill>
        <p:spPr>
          <a:xfrm>
            <a:off x="5486400" y="1280150"/>
            <a:ext cx="3017523" cy="2743200"/>
          </a:xfrm>
          <a:prstGeom prst="rect">
            <a:avLst/>
          </a:prstGeom>
          <a:noFill/>
          <a:ln>
            <a:noFill/>
          </a:ln>
        </p:spPr>
      </p:pic>
      <p:sp>
        <p:nvSpPr>
          <p:cNvPr id="239" name="Google Shape;23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Kegiatan pada fase empathizing</a:t>
            </a:r>
            <a:endParaRPr/>
          </a:p>
        </p:txBody>
      </p:sp>
      <p:sp>
        <p:nvSpPr>
          <p:cNvPr id="241" name="Google Shape;241;p3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Catatan pada fase empathazing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Pendekatan apa pun yang Anda ambil, berhati-hatilah dalam merumuskan solusi pada tahap ini.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Bayangkan masalah pengguna secara realistis. Ketika Anda dan tim desain Anda menyadari realitas pengguna dan bersemangat membantu dan memecahkan masalah nyata pengguna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akan menuai wawasan berharga yang pada akhirnya dapat diterjemahkan ke dalam produk yang akan disukai para pengguna.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Empathy Maps</a:t>
            </a:r>
            <a:endParaRPr/>
          </a:p>
        </p:txBody>
      </p:sp>
      <p:sp>
        <p:nvSpPr>
          <p:cNvPr id="247" name="Google Shape;24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8">
            <a:hlinkClick r:id="rId3"/>
          </p:cNvPr>
          <p:cNvPicPr preferRelativeResize="0"/>
          <p:nvPr/>
        </p:nvPicPr>
        <p:blipFill rotWithShape="1">
          <a:blip r:embed="rId4">
            <a:alphaModFix/>
          </a:blip>
          <a:srcRect b="3851" l="0" r="3540" t="10561"/>
          <a:stretch/>
        </p:blipFill>
        <p:spPr>
          <a:xfrm>
            <a:off x="5486400" y="1280150"/>
            <a:ext cx="3017519" cy="2743199"/>
          </a:xfrm>
          <a:prstGeom prst="rect">
            <a:avLst/>
          </a:prstGeom>
          <a:noFill/>
          <a:ln>
            <a:noFill/>
          </a:ln>
        </p:spPr>
      </p:pic>
      <p:sp>
        <p:nvSpPr>
          <p:cNvPr id="253" name="Google Shape;25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Empathy Maps</a:t>
            </a:r>
            <a:endParaRPr/>
          </a:p>
        </p:txBody>
      </p:sp>
      <p:sp>
        <p:nvSpPr>
          <p:cNvPr id="255" name="Google Shape;255;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Empathy Maps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Alat seperti </a:t>
            </a:r>
            <a:r>
              <a:rPr b="1" lang="en" sz="1200">
                <a:solidFill>
                  <a:schemeClr val="dk1"/>
                </a:solidFill>
                <a:latin typeface="Raleway"/>
                <a:ea typeface="Raleway"/>
                <a:cs typeface="Raleway"/>
                <a:sym typeface="Raleway"/>
              </a:rPr>
              <a:t>empathy maps</a:t>
            </a:r>
            <a:r>
              <a:rPr lang="en" sz="1200">
                <a:solidFill>
                  <a:schemeClr val="dk1"/>
                </a:solidFill>
                <a:latin typeface="Raleway Medium"/>
                <a:ea typeface="Raleway Medium"/>
                <a:cs typeface="Raleway Medium"/>
                <a:sym typeface="Raleway Medium"/>
              </a:rPr>
              <a:t>/</a:t>
            </a:r>
            <a:r>
              <a:rPr b="1" lang="en" sz="1200">
                <a:solidFill>
                  <a:schemeClr val="dk1"/>
                </a:solidFill>
                <a:latin typeface="Raleway"/>
                <a:ea typeface="Raleway"/>
                <a:cs typeface="Raleway"/>
                <a:sym typeface="Raleway"/>
              </a:rPr>
              <a:t>peta empati</a:t>
            </a:r>
            <a:r>
              <a:rPr lang="en" sz="1200">
                <a:solidFill>
                  <a:schemeClr val="dk1"/>
                </a:solidFill>
                <a:latin typeface="Raleway Medium"/>
                <a:ea typeface="Raleway Medium"/>
                <a:cs typeface="Raleway Medium"/>
                <a:sym typeface="Raleway Medium"/>
              </a:rPr>
              <a:t> bisa menjadi cara yang bagus untuk menggabungkan semua informasi berharga yang diperoleh dari kegiatan - kegiatan yang telah kita diskusikan.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Peta empati menangkap apa yang orang lakukan, katakan, pikirkan, dan rasakan dalam konteks masalah. Mereka membantu Anda dan tim desain Anda memahami konteks masalah lebih luas.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Bagaimana cara membuat sebuah peta empati?</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Empathy Maps</a:t>
            </a:r>
            <a:endParaRPr/>
          </a:p>
        </p:txBody>
      </p:sp>
      <p:grpSp>
        <p:nvGrpSpPr>
          <p:cNvPr id="262" name="Google Shape;262;p39"/>
          <p:cNvGrpSpPr/>
          <p:nvPr/>
        </p:nvGrpSpPr>
        <p:grpSpPr>
          <a:xfrm>
            <a:off x="0" y="1097494"/>
            <a:ext cx="2214600" cy="3217636"/>
            <a:chOff x="0" y="1189989"/>
            <a:chExt cx="2214600" cy="3217636"/>
          </a:xfrm>
        </p:grpSpPr>
        <p:sp>
          <p:nvSpPr>
            <p:cNvPr id="263" name="Google Shape;263;p39"/>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4 Kuadran</a:t>
              </a:r>
              <a:endParaRPr>
                <a:solidFill>
                  <a:srgbClr val="FFFFFF"/>
                </a:solidFill>
                <a:latin typeface="Raleway Medium"/>
                <a:ea typeface="Raleway Medium"/>
                <a:cs typeface="Raleway Medium"/>
                <a:sym typeface="Raleway Medium"/>
              </a:endParaRPr>
            </a:p>
          </p:txBody>
        </p:sp>
        <p:sp>
          <p:nvSpPr>
            <p:cNvPr id="264" name="Google Shape;264;p39"/>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Peta empati tradisional dibagi menjadi 4 kuadran (Says, Thinks, Does, and Feels), dengan pengguna atau persona di tengah. </a:t>
              </a:r>
              <a:endParaRPr sz="1100">
                <a:latin typeface="Raleway Medium"/>
                <a:ea typeface="Raleway Medium"/>
                <a:cs typeface="Raleway Medium"/>
                <a:sym typeface="Raleway Medium"/>
              </a:endParaRPr>
            </a:p>
          </p:txBody>
        </p:sp>
      </p:grpSp>
      <p:grpSp>
        <p:nvGrpSpPr>
          <p:cNvPr id="265" name="Google Shape;265;p39"/>
          <p:cNvGrpSpPr/>
          <p:nvPr/>
        </p:nvGrpSpPr>
        <p:grpSpPr>
          <a:xfrm>
            <a:off x="1838325" y="1097280"/>
            <a:ext cx="2064000" cy="3217850"/>
            <a:chOff x="1838325" y="1189775"/>
            <a:chExt cx="2064000" cy="3217850"/>
          </a:xfrm>
        </p:grpSpPr>
        <p:sp>
          <p:nvSpPr>
            <p:cNvPr id="266" name="Google Shape;266;p39"/>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Says</a:t>
              </a:r>
              <a:endParaRPr>
                <a:solidFill>
                  <a:srgbClr val="FFFFFF"/>
                </a:solidFill>
                <a:latin typeface="Raleway Medium"/>
                <a:ea typeface="Raleway Medium"/>
                <a:cs typeface="Raleway Medium"/>
                <a:sym typeface="Raleway Medium"/>
              </a:endParaRPr>
            </a:p>
          </p:txBody>
        </p:sp>
        <p:sp>
          <p:nvSpPr>
            <p:cNvPr id="267" name="Google Shape;267;p39"/>
            <p:cNvSpPr txBox="1"/>
            <p:nvPr/>
          </p:nvSpPr>
          <p:spPr>
            <a:xfrm>
              <a:off x="20172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Kuadran Says berisi apa yang pengguna katakan dengan lantang dalam sebuah wawancara atau studi lainnya. Idealnya, berisi kutipan kata demi kata dan langsung dari penelitian.</a:t>
              </a:r>
              <a:endParaRPr sz="1100">
                <a:latin typeface="Raleway Medium"/>
                <a:ea typeface="Raleway Medium"/>
                <a:cs typeface="Raleway Medium"/>
                <a:sym typeface="Raleway Medium"/>
              </a:endParaRPr>
            </a:p>
          </p:txBody>
        </p:sp>
      </p:grpSp>
      <p:grpSp>
        <p:nvGrpSpPr>
          <p:cNvPr id="268" name="Google Shape;268;p39"/>
          <p:cNvGrpSpPr/>
          <p:nvPr/>
        </p:nvGrpSpPr>
        <p:grpSpPr>
          <a:xfrm>
            <a:off x="3516750" y="1097280"/>
            <a:ext cx="2064000" cy="3217850"/>
            <a:chOff x="3516750" y="1189775"/>
            <a:chExt cx="2064000" cy="3217850"/>
          </a:xfrm>
        </p:grpSpPr>
        <p:sp>
          <p:nvSpPr>
            <p:cNvPr id="269" name="Google Shape;269;p39"/>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Thinks</a:t>
              </a:r>
              <a:endParaRPr>
                <a:solidFill>
                  <a:srgbClr val="FFFFFF"/>
                </a:solidFill>
                <a:latin typeface="Raleway Medium"/>
                <a:ea typeface="Raleway Medium"/>
                <a:cs typeface="Raleway Medium"/>
                <a:sym typeface="Raleway Medium"/>
              </a:endParaRPr>
            </a:p>
          </p:txBody>
        </p:sp>
        <p:sp>
          <p:nvSpPr>
            <p:cNvPr id="270" name="Google Shape;270;p39"/>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Kuadran Thinks menangkap apa yang dipikirkan pengguna sepanjang pengalaman. Berikan perhatian khusus pada apa yang dipikirkan pengguna, tetapi mungkin tidak mau menyuarakannya. </a:t>
              </a:r>
              <a:endParaRPr sz="1100">
                <a:latin typeface="Raleway Medium"/>
                <a:ea typeface="Raleway Medium"/>
                <a:cs typeface="Raleway Medium"/>
                <a:sym typeface="Raleway Medium"/>
              </a:endParaRPr>
            </a:p>
          </p:txBody>
        </p:sp>
      </p:grpSp>
      <p:grpSp>
        <p:nvGrpSpPr>
          <p:cNvPr id="271" name="Google Shape;271;p39"/>
          <p:cNvGrpSpPr/>
          <p:nvPr/>
        </p:nvGrpSpPr>
        <p:grpSpPr>
          <a:xfrm>
            <a:off x="6874025" y="1097280"/>
            <a:ext cx="2064000" cy="3217850"/>
            <a:chOff x="6874025" y="1189775"/>
            <a:chExt cx="2064000" cy="3217850"/>
          </a:xfrm>
        </p:grpSpPr>
        <p:sp>
          <p:nvSpPr>
            <p:cNvPr id="272" name="Google Shape;272;p39"/>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Feels</a:t>
              </a:r>
              <a:endParaRPr>
                <a:solidFill>
                  <a:srgbClr val="FFFFFF"/>
                </a:solidFill>
                <a:latin typeface="Raleway Medium"/>
                <a:ea typeface="Raleway Medium"/>
                <a:cs typeface="Raleway Medium"/>
                <a:sym typeface="Raleway Medium"/>
              </a:endParaRPr>
            </a:p>
          </p:txBody>
        </p:sp>
        <p:sp>
          <p:nvSpPr>
            <p:cNvPr id="273" name="Google Shape;273;p39"/>
            <p:cNvSpPr txBox="1"/>
            <p:nvPr/>
          </p:nvSpPr>
          <p:spPr>
            <a:xfrm>
              <a:off x="71838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Kuadran Feels adalah keadaan emosional pengguna, sering direpresentasikan sebagai kata sifat ditambah kalimat pendek untuk konteks. </a:t>
              </a:r>
              <a:endParaRPr sz="1100">
                <a:latin typeface="Raleway Medium"/>
                <a:ea typeface="Raleway Medium"/>
                <a:cs typeface="Raleway Medium"/>
                <a:sym typeface="Raleway Medium"/>
              </a:endParaRPr>
            </a:p>
          </p:txBody>
        </p:sp>
      </p:grpSp>
      <p:grpSp>
        <p:nvGrpSpPr>
          <p:cNvPr id="274" name="Google Shape;274;p39"/>
          <p:cNvGrpSpPr/>
          <p:nvPr/>
        </p:nvGrpSpPr>
        <p:grpSpPr>
          <a:xfrm>
            <a:off x="5195350" y="1097280"/>
            <a:ext cx="2064000" cy="3217850"/>
            <a:chOff x="5195350" y="1189775"/>
            <a:chExt cx="2064000" cy="3217850"/>
          </a:xfrm>
        </p:grpSpPr>
        <p:sp>
          <p:nvSpPr>
            <p:cNvPr id="275" name="Google Shape;275;p39"/>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Does</a:t>
              </a:r>
              <a:endParaRPr>
                <a:solidFill>
                  <a:srgbClr val="FFFFFF"/>
                </a:solidFill>
                <a:latin typeface="Raleway Medium"/>
                <a:ea typeface="Raleway Medium"/>
                <a:cs typeface="Raleway Medium"/>
                <a:sym typeface="Raleway Medium"/>
              </a:endParaRPr>
            </a:p>
          </p:txBody>
        </p:sp>
        <p:sp>
          <p:nvSpPr>
            <p:cNvPr id="276" name="Google Shape;276;p39"/>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Kuadran Does mencakup tindakan yang dilakukan pengguna. Dari penelitian, apa yang dilakukan pengguna secara fisik? Bagaimana cara pengguna melakukannya?</a:t>
              </a:r>
              <a:endParaRPr sz="1100">
                <a:latin typeface="Raleway Medium"/>
                <a:ea typeface="Raleway Medium"/>
                <a:cs typeface="Raleway Medium"/>
                <a:sym typeface="Raleway Medium"/>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Empathy Maps</a:t>
            </a:r>
            <a:endParaRPr/>
          </a:p>
        </p:txBody>
      </p:sp>
      <p:grpSp>
        <p:nvGrpSpPr>
          <p:cNvPr id="283" name="Google Shape;283;p40"/>
          <p:cNvGrpSpPr/>
          <p:nvPr/>
        </p:nvGrpSpPr>
        <p:grpSpPr>
          <a:xfrm>
            <a:off x="0" y="1097494"/>
            <a:ext cx="2214600" cy="3217636"/>
            <a:chOff x="0" y="1189989"/>
            <a:chExt cx="2214600" cy="3217636"/>
          </a:xfrm>
        </p:grpSpPr>
        <p:sp>
          <p:nvSpPr>
            <p:cNvPr id="284" name="Google Shape;284;p40"/>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4 Kuadran</a:t>
              </a:r>
              <a:endParaRPr>
                <a:solidFill>
                  <a:srgbClr val="FFFFFF"/>
                </a:solidFill>
                <a:latin typeface="Raleway Medium"/>
                <a:ea typeface="Raleway Medium"/>
                <a:cs typeface="Raleway Medium"/>
                <a:sym typeface="Raleway Medium"/>
              </a:endParaRPr>
            </a:p>
          </p:txBody>
        </p:sp>
        <p:sp>
          <p:nvSpPr>
            <p:cNvPr id="285" name="Google Shape;285;p40"/>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Berikut contoh - contoh isi pada 4 Kuadran saat berbelanja menggunakan sebuah online store:</a:t>
              </a:r>
              <a:endParaRPr sz="1100">
                <a:latin typeface="Raleway Medium"/>
                <a:ea typeface="Raleway Medium"/>
                <a:cs typeface="Raleway Medium"/>
                <a:sym typeface="Raleway Medium"/>
              </a:endParaRPr>
            </a:p>
          </p:txBody>
        </p:sp>
      </p:grpSp>
      <p:grpSp>
        <p:nvGrpSpPr>
          <p:cNvPr id="286" name="Google Shape;286;p40"/>
          <p:cNvGrpSpPr/>
          <p:nvPr/>
        </p:nvGrpSpPr>
        <p:grpSpPr>
          <a:xfrm>
            <a:off x="1838325" y="1097280"/>
            <a:ext cx="2064000" cy="3217850"/>
            <a:chOff x="1838325" y="1189775"/>
            <a:chExt cx="2064000" cy="3217850"/>
          </a:xfrm>
        </p:grpSpPr>
        <p:sp>
          <p:nvSpPr>
            <p:cNvPr id="287" name="Google Shape;287;p40"/>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Says</a:t>
              </a:r>
              <a:endParaRPr>
                <a:solidFill>
                  <a:srgbClr val="FFFFFF"/>
                </a:solidFill>
                <a:latin typeface="Raleway Medium"/>
                <a:ea typeface="Raleway Medium"/>
                <a:cs typeface="Raleway Medium"/>
                <a:sym typeface="Raleway Medium"/>
              </a:endParaRPr>
            </a:p>
          </p:txBody>
        </p:sp>
        <p:sp>
          <p:nvSpPr>
            <p:cNvPr id="288" name="Google Shape;288;p40"/>
            <p:cNvSpPr txBox="1"/>
            <p:nvPr/>
          </p:nvSpPr>
          <p:spPr>
            <a:xfrm>
              <a:off x="20172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“Saya setia kepada (e-commerce lain) karena saya tidak pernah memiliki pengalaman buruk.”</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"Aku ingin sesuatu yang bisa diandalkan."</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"Saya tidak mengerti apa yang harus dilakukan dari sini."</a:t>
              </a:r>
              <a:endParaRPr sz="1100">
                <a:latin typeface="Raleway Medium"/>
                <a:ea typeface="Raleway Medium"/>
                <a:cs typeface="Raleway Medium"/>
                <a:sym typeface="Raleway Medium"/>
              </a:endParaRPr>
            </a:p>
          </p:txBody>
        </p:sp>
      </p:grpSp>
      <p:grpSp>
        <p:nvGrpSpPr>
          <p:cNvPr id="289" name="Google Shape;289;p40"/>
          <p:cNvGrpSpPr/>
          <p:nvPr/>
        </p:nvGrpSpPr>
        <p:grpSpPr>
          <a:xfrm>
            <a:off x="3516750" y="1097280"/>
            <a:ext cx="2064000" cy="3217850"/>
            <a:chOff x="3516750" y="1189775"/>
            <a:chExt cx="2064000" cy="3217850"/>
          </a:xfrm>
        </p:grpSpPr>
        <p:sp>
          <p:nvSpPr>
            <p:cNvPr id="290" name="Google Shape;290;p40"/>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Thinks</a:t>
              </a:r>
              <a:endParaRPr>
                <a:solidFill>
                  <a:srgbClr val="FFFFFF"/>
                </a:solidFill>
                <a:latin typeface="Raleway Medium"/>
                <a:ea typeface="Raleway Medium"/>
                <a:cs typeface="Raleway Medium"/>
                <a:sym typeface="Raleway Medium"/>
              </a:endParaRPr>
            </a:p>
          </p:txBody>
        </p:sp>
        <p:sp>
          <p:nvSpPr>
            <p:cNvPr id="291" name="Google Shape;291;p40"/>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“Ini benar-benar menjengkelkan.”</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"Apakah aku bodoh karena tidak memahami ini?"</a:t>
              </a:r>
              <a:endParaRPr sz="1100">
                <a:latin typeface="Raleway Medium"/>
                <a:ea typeface="Raleway Medium"/>
                <a:cs typeface="Raleway Medium"/>
                <a:sym typeface="Raleway Medium"/>
              </a:endParaRPr>
            </a:p>
          </p:txBody>
        </p:sp>
      </p:grpSp>
      <p:grpSp>
        <p:nvGrpSpPr>
          <p:cNvPr id="292" name="Google Shape;292;p40"/>
          <p:cNvGrpSpPr/>
          <p:nvPr/>
        </p:nvGrpSpPr>
        <p:grpSpPr>
          <a:xfrm>
            <a:off x="6874025" y="1097280"/>
            <a:ext cx="2064000" cy="3217850"/>
            <a:chOff x="6874025" y="1189775"/>
            <a:chExt cx="2064000" cy="3217850"/>
          </a:xfrm>
        </p:grpSpPr>
        <p:sp>
          <p:nvSpPr>
            <p:cNvPr id="293" name="Google Shape;293;p40"/>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Feels</a:t>
              </a:r>
              <a:endParaRPr>
                <a:solidFill>
                  <a:srgbClr val="FFFFFF"/>
                </a:solidFill>
                <a:latin typeface="Raleway Medium"/>
                <a:ea typeface="Raleway Medium"/>
                <a:cs typeface="Raleway Medium"/>
                <a:sym typeface="Raleway Medium"/>
              </a:endParaRPr>
            </a:p>
          </p:txBody>
        </p:sp>
        <p:sp>
          <p:nvSpPr>
            <p:cNvPr id="294" name="Google Shape;294;p40"/>
            <p:cNvSpPr txBox="1"/>
            <p:nvPr/>
          </p:nvSpPr>
          <p:spPr>
            <a:xfrm>
              <a:off x="71838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Tidak sabar: halaman dimuat terlalu lambat</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Bingung: terlalu banyak harga yang kontradiktif</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Khawatir: mereka melakukan sesuatu yang salah</a:t>
              </a:r>
              <a:endParaRPr sz="1100">
                <a:latin typeface="Raleway Medium"/>
                <a:ea typeface="Raleway Medium"/>
                <a:cs typeface="Raleway Medium"/>
                <a:sym typeface="Raleway Medium"/>
              </a:endParaRPr>
            </a:p>
          </p:txBody>
        </p:sp>
      </p:grpSp>
      <p:grpSp>
        <p:nvGrpSpPr>
          <p:cNvPr id="295" name="Google Shape;295;p40"/>
          <p:cNvGrpSpPr/>
          <p:nvPr/>
        </p:nvGrpSpPr>
        <p:grpSpPr>
          <a:xfrm>
            <a:off x="5195350" y="1097280"/>
            <a:ext cx="2064000" cy="3217850"/>
            <a:chOff x="5195350" y="1189775"/>
            <a:chExt cx="2064000" cy="3217850"/>
          </a:xfrm>
        </p:grpSpPr>
        <p:sp>
          <p:nvSpPr>
            <p:cNvPr id="296" name="Google Shape;296;p40"/>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Does</a:t>
              </a:r>
              <a:endParaRPr>
                <a:solidFill>
                  <a:srgbClr val="FFFFFF"/>
                </a:solidFill>
                <a:latin typeface="Raleway Medium"/>
                <a:ea typeface="Raleway Medium"/>
                <a:cs typeface="Raleway Medium"/>
                <a:sym typeface="Raleway Medium"/>
              </a:endParaRPr>
            </a:p>
          </p:txBody>
        </p:sp>
        <p:sp>
          <p:nvSpPr>
            <p:cNvPr id="297" name="Google Shape;297;p40"/>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Refresh halaman beberapa kali.</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Melihat toko - toko lain untuk membandingkan harga.</a:t>
              </a:r>
              <a:endParaRPr sz="1100">
                <a:latin typeface="Raleway Medium"/>
                <a:ea typeface="Raleway Medium"/>
                <a:cs typeface="Raleway Medium"/>
                <a:sym typeface="Raleway Medium"/>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Empathy Maps</a:t>
            </a:r>
            <a:endParaRPr/>
          </a:p>
        </p:txBody>
      </p:sp>
      <p:pic>
        <p:nvPicPr>
          <p:cNvPr id="304" name="Google Shape;304;p41"/>
          <p:cNvPicPr preferRelativeResize="0"/>
          <p:nvPr/>
        </p:nvPicPr>
        <p:blipFill>
          <a:blip r:embed="rId3">
            <a:alphaModFix/>
          </a:blip>
          <a:stretch>
            <a:fillRect/>
          </a:stretch>
        </p:blipFill>
        <p:spPr>
          <a:xfrm>
            <a:off x="4582201" y="936699"/>
            <a:ext cx="4026650" cy="3469600"/>
          </a:xfrm>
          <a:prstGeom prst="rect">
            <a:avLst/>
          </a:prstGeom>
          <a:noFill/>
          <a:ln>
            <a:noFill/>
          </a:ln>
        </p:spPr>
      </p:pic>
      <p:sp>
        <p:nvSpPr>
          <p:cNvPr id="305" name="Google Shape;305;p41"/>
          <p:cNvSpPr txBox="1"/>
          <p:nvPr/>
        </p:nvSpPr>
        <p:spPr>
          <a:xfrm>
            <a:off x="1034346" y="4439787"/>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a:solidFill>
                  <a:srgbClr val="5E2B62"/>
                </a:solidFill>
                <a:uFill>
                  <a:noFill/>
                </a:uFill>
                <a:latin typeface="Roboto"/>
                <a:ea typeface="Roboto"/>
                <a:cs typeface="Roboto"/>
                <a:sym typeface="Roboto"/>
                <a:hlinkClick r:id="rId4">
                  <a:extLst>
                    <a:ext uri="{A12FA001-AC4F-418D-AE19-62706E023703}">
                      <ahyp:hlinkClr val="tx"/>
                    </a:ext>
                  </a:extLst>
                </a:hlinkClick>
              </a:rPr>
              <a:t>Nielsen Norman Group</a:t>
            </a:r>
            <a:endParaRPr b="1" sz="1000">
              <a:solidFill>
                <a:srgbClr val="5E2B62"/>
              </a:solidFill>
              <a:latin typeface="Roboto"/>
              <a:ea typeface="Roboto"/>
              <a:cs typeface="Roboto"/>
              <a:sym typeface="Roboto"/>
            </a:endParaRPr>
          </a:p>
        </p:txBody>
      </p:sp>
      <p:sp>
        <p:nvSpPr>
          <p:cNvPr id="306" name="Google Shape;306;p41"/>
          <p:cNvSpPr txBox="1"/>
          <p:nvPr/>
        </p:nvSpPr>
        <p:spPr>
          <a:xfrm>
            <a:off x="5186421" y="4439787"/>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a:solidFill>
                  <a:srgbClr val="733572"/>
                </a:solidFill>
                <a:uFill>
                  <a:noFill/>
                </a:uFill>
                <a:latin typeface="Roboto"/>
                <a:ea typeface="Roboto"/>
                <a:cs typeface="Roboto"/>
                <a:sym typeface="Roboto"/>
                <a:hlinkClick r:id="rId5">
                  <a:extLst>
                    <a:ext uri="{A12FA001-AC4F-418D-AE19-62706E023703}">
                      <ahyp:hlinkClr val="tx"/>
                    </a:ext>
                  </a:extLst>
                </a:hlinkClick>
              </a:rPr>
              <a:t>IBM</a:t>
            </a:r>
            <a:endParaRPr b="1" sz="1000">
              <a:solidFill>
                <a:srgbClr val="733572"/>
              </a:solidFill>
              <a:latin typeface="Roboto"/>
              <a:ea typeface="Roboto"/>
              <a:cs typeface="Roboto"/>
              <a:sym typeface="Roboto"/>
            </a:endParaRPr>
          </a:p>
        </p:txBody>
      </p:sp>
      <p:pic>
        <p:nvPicPr>
          <p:cNvPr id="307" name="Google Shape;307;p41">
            <a:hlinkClick r:id="rId6"/>
          </p:cNvPr>
          <p:cNvPicPr preferRelativeResize="0"/>
          <p:nvPr/>
        </p:nvPicPr>
        <p:blipFill rotWithShape="1">
          <a:blip r:embed="rId7">
            <a:alphaModFix/>
          </a:blip>
          <a:srcRect b="3851" l="0" r="3540" t="10561"/>
          <a:stretch/>
        </p:blipFill>
        <p:spPr>
          <a:xfrm>
            <a:off x="535150" y="926984"/>
            <a:ext cx="3816600" cy="34695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Empathy Maps</a:t>
            </a:r>
            <a:endParaRPr/>
          </a:p>
        </p:txBody>
      </p:sp>
      <p:sp>
        <p:nvSpPr>
          <p:cNvPr id="314" name="Google Shape;314;p42"/>
          <p:cNvSpPr txBox="1"/>
          <p:nvPr/>
        </p:nvSpPr>
        <p:spPr>
          <a:xfrm>
            <a:off x="3162900" y="4439787"/>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a:solidFill>
                  <a:srgbClr val="733572"/>
                </a:solidFill>
                <a:uFill>
                  <a:noFill/>
                </a:uFill>
                <a:latin typeface="Roboto"/>
                <a:ea typeface="Roboto"/>
                <a:cs typeface="Roboto"/>
                <a:sym typeface="Roboto"/>
                <a:hlinkClick r:id="rId3">
                  <a:extLst>
                    <a:ext uri="{A12FA001-AC4F-418D-AE19-62706E023703}">
                      <ahyp:hlinkClr val="tx"/>
                    </a:ext>
                  </a:extLst>
                </a:hlinkClick>
              </a:rPr>
              <a:t>Sakjose.com</a:t>
            </a:r>
            <a:endParaRPr b="1" sz="1000">
              <a:solidFill>
                <a:srgbClr val="733572"/>
              </a:solidFill>
              <a:latin typeface="Roboto"/>
              <a:ea typeface="Roboto"/>
              <a:cs typeface="Roboto"/>
              <a:sym typeface="Roboto"/>
            </a:endParaRPr>
          </a:p>
        </p:txBody>
      </p:sp>
      <p:pic>
        <p:nvPicPr>
          <p:cNvPr id="315" name="Google Shape;315;p42"/>
          <p:cNvPicPr preferRelativeResize="0"/>
          <p:nvPr/>
        </p:nvPicPr>
        <p:blipFill>
          <a:blip r:embed="rId4">
            <a:alphaModFix/>
          </a:blip>
          <a:stretch>
            <a:fillRect/>
          </a:stretch>
        </p:blipFill>
        <p:spPr>
          <a:xfrm>
            <a:off x="1959000" y="927000"/>
            <a:ext cx="4907284" cy="3469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43">
            <a:hlinkClick r:id="rId3"/>
          </p:cNvPr>
          <p:cNvPicPr preferRelativeResize="0"/>
          <p:nvPr/>
        </p:nvPicPr>
        <p:blipFill rotWithShape="1">
          <a:blip r:embed="rId4">
            <a:alphaModFix/>
          </a:blip>
          <a:srcRect b="11046" l="0" r="0" t="11053"/>
          <a:stretch/>
        </p:blipFill>
        <p:spPr>
          <a:xfrm>
            <a:off x="5486400" y="1280150"/>
            <a:ext cx="3017519" cy="2743200"/>
          </a:xfrm>
          <a:prstGeom prst="rect">
            <a:avLst/>
          </a:prstGeom>
          <a:noFill/>
          <a:ln>
            <a:noFill/>
          </a:ln>
        </p:spPr>
      </p:pic>
      <p:sp>
        <p:nvSpPr>
          <p:cNvPr id="321" name="Google Shape;32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Empathy Maps</a:t>
            </a:r>
            <a:endParaRPr/>
          </a:p>
        </p:txBody>
      </p:sp>
      <p:sp>
        <p:nvSpPr>
          <p:cNvPr id="323" name="Google Shape;323;p4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Mari kita coba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Pikirkan sebuah proses yang menurut Anda perlu peningkatan, contohnya: membeli kuota melalui aplikasi atau membeli TV baru online.</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28571"/>
              </a:lnSpc>
              <a:spcBef>
                <a:spcPts val="0"/>
              </a:spcBef>
              <a:spcAft>
                <a:spcPts val="0"/>
              </a:spcAft>
              <a:buNone/>
            </a:pPr>
            <a:r>
              <a:rPr lang="en" sz="1200">
                <a:solidFill>
                  <a:schemeClr val="dk1"/>
                </a:solidFill>
                <a:latin typeface="Raleway Medium"/>
                <a:ea typeface="Raleway Medium"/>
                <a:cs typeface="Raleway Medium"/>
                <a:sym typeface="Raleway Medium"/>
              </a:rPr>
              <a:t>Buatlah empathy map dengan 4 kuadran seperti gambar disebelah.</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kita </a:t>
            </a:r>
            <a:r>
              <a:rPr lang="en">
                <a:solidFill>
                  <a:schemeClr val="accent1"/>
                </a:solidFill>
              </a:rPr>
              <a:t>Quiz</a:t>
            </a:r>
            <a:endParaRPr>
              <a:solidFill>
                <a:schemeClr val="accent1"/>
              </a:solidFill>
            </a:endParaRPr>
          </a:p>
        </p:txBody>
      </p:sp>
      <p:sp>
        <p:nvSpPr>
          <p:cNvPr id="329" name="Google Shape;32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5" name="Google Shape;335;p4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Menurut kamu, manakah pernyataan yang tepat dibawah ini mengenai hakikat b</a:t>
            </a:r>
            <a:r>
              <a:rPr b="1" lang="en" sz="1800">
                <a:solidFill>
                  <a:schemeClr val="lt1"/>
                </a:solidFill>
                <a:latin typeface="Raleway"/>
                <a:ea typeface="Raleway"/>
                <a:cs typeface="Raleway"/>
                <a:sym typeface="Raleway"/>
              </a:rPr>
              <a:t>erempati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Berempati adalah bagaimana kita sebagai manusia menyukai dan membagi perasaan sesama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Berempati adalah bagaimana kita sebagai manusia m</a:t>
            </a:r>
            <a:r>
              <a:rPr lang="en" sz="1200">
                <a:solidFill>
                  <a:schemeClr val="lt1"/>
                </a:solidFill>
                <a:latin typeface="Raleway Medium"/>
                <a:ea typeface="Raleway Medium"/>
                <a:cs typeface="Raleway Medium"/>
                <a:sym typeface="Raleway Medium"/>
              </a:rPr>
              <a:t>emahami dan berbagi perasaan sesama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Berempati adalah bagaimana kita sebagai manusia m</a:t>
            </a:r>
            <a:r>
              <a:rPr lang="en" sz="1200">
                <a:solidFill>
                  <a:schemeClr val="lt1"/>
                </a:solidFill>
                <a:latin typeface="Raleway Medium"/>
                <a:ea typeface="Raleway Medium"/>
                <a:cs typeface="Raleway Medium"/>
                <a:sym typeface="Raleway Medium"/>
              </a:rPr>
              <a:t>enyakiti dan berbagi perasaan sesama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Berempati adalah bagaimana kita sebagai manusia m</a:t>
            </a:r>
            <a:r>
              <a:rPr lang="en" sz="1200">
                <a:solidFill>
                  <a:schemeClr val="lt1"/>
                </a:solidFill>
                <a:latin typeface="Raleway Medium"/>
                <a:ea typeface="Raleway Medium"/>
                <a:cs typeface="Raleway Medium"/>
                <a:sym typeface="Raleway Medium"/>
              </a:rPr>
              <a:t>encintai dan membagi perasaan sesama</a:t>
            </a:r>
            <a:endParaRPr sz="1200">
              <a:solidFill>
                <a:schemeClr val="lt1"/>
              </a:solidFill>
              <a:latin typeface="Raleway Medium"/>
              <a:ea typeface="Raleway Medium"/>
              <a:cs typeface="Raleway Medium"/>
              <a:sym typeface="Raleway Medium"/>
            </a:endParaRPr>
          </a:p>
        </p:txBody>
      </p:sp>
      <p:sp>
        <p:nvSpPr>
          <p:cNvPr id="336" name="Google Shape;336;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2" name="Google Shape;342;p4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Menurut kamu, manakah pernyataan yang tepat dibawah ini mengenai hakikat berempati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Berempati adalah bagaimana kita sebagai manusia menyukai dan membagi perasaan sesama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Berempati adalah bagaimana kita sebagai manusia memahami dan berbagi perasaan sesama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Berempati adalah bagaimana kita sebagai manusia menyakiti dan berbagi perasaan sesama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Berempati adalah bagaimana kita sebagai manusia mencintai dan membagi perasaan sesama</a:t>
            </a:r>
            <a:endParaRPr sz="1200">
              <a:solidFill>
                <a:srgbClr val="A667A5"/>
              </a:solidFill>
              <a:latin typeface="Raleway Medium"/>
              <a:ea typeface="Raleway Medium"/>
              <a:cs typeface="Raleway Medium"/>
              <a:sym typeface="Raleway Medium"/>
            </a:endParaRPr>
          </a:p>
        </p:txBody>
      </p:sp>
      <p:sp>
        <p:nvSpPr>
          <p:cNvPr id="343" name="Google Shape;343;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6"/>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Berempati adalah bagaimana kita sebagai manusia memahami dan berbagi perasaan sesama.</a:t>
            </a:r>
            <a:endParaRPr b="1" sz="1000">
              <a:solidFill>
                <a:srgbClr val="733572"/>
              </a:solidFill>
              <a:latin typeface="Raleway"/>
              <a:ea typeface="Raleway"/>
              <a:cs typeface="Raleway"/>
              <a:sym typeface="Ralew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0" name="Google Shape;350;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Menurut kamu, dibawah ini yang merupakan arti dari bias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Prasangka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a:t>
            </a:r>
            <a:r>
              <a:rPr lang="en" sz="1200">
                <a:solidFill>
                  <a:schemeClr val="lt1"/>
                </a:solidFill>
                <a:latin typeface="Raleway Medium"/>
                <a:ea typeface="Raleway Medium"/>
                <a:cs typeface="Raleway Medium"/>
                <a:sym typeface="Raleway Medium"/>
              </a:rPr>
              <a:t>bjektivitas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Keadilan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Kewajaran</a:t>
            </a:r>
            <a:endParaRPr sz="1200">
              <a:solidFill>
                <a:schemeClr val="lt1"/>
              </a:solidFill>
              <a:latin typeface="Raleway Medium"/>
              <a:ea typeface="Raleway Medium"/>
              <a:cs typeface="Raleway Medium"/>
              <a:sym typeface="Raleway Medium"/>
            </a:endParaRPr>
          </a:p>
        </p:txBody>
      </p:sp>
      <p:sp>
        <p:nvSpPr>
          <p:cNvPr id="351" name="Google Shape;351;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7" name="Google Shape;357;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Menurut kamu, dibawah ini yang merupakan arti dari bias adalah…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Prasangka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Objektivitas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Keadilan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Kewajaran</a:t>
            </a:r>
            <a:endParaRPr sz="1200">
              <a:solidFill>
                <a:srgbClr val="A667A5"/>
              </a:solidFill>
              <a:latin typeface="Raleway Medium"/>
              <a:ea typeface="Raleway Medium"/>
              <a:cs typeface="Raleway Medium"/>
              <a:sym typeface="Raleway Medium"/>
            </a:endParaRPr>
          </a:p>
        </p:txBody>
      </p:sp>
      <p:sp>
        <p:nvSpPr>
          <p:cNvPr id="358" name="Google Shape;35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8"/>
          <p:cNvSpPr/>
          <p:nvPr/>
        </p:nvSpPr>
        <p:spPr>
          <a:xfrm>
            <a:off x="685800" y="30793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Bias = prasangka. Pada fase empathazing, Anda harus mendengarkan orang lain dengan pikiran terbuka daripada fokus pada poin yang mengkonfirmasi bias Anda. Karena bias kita secara alami akan menyusup ke dalam cara kita memandang dunia dan situasi yang kita pertimbangkan.</a:t>
            </a:r>
            <a:endParaRPr b="1" sz="1000">
              <a:solidFill>
                <a:srgbClr val="733572"/>
              </a:solidFill>
              <a:latin typeface="Raleway"/>
              <a:ea typeface="Raleway"/>
              <a:cs typeface="Raleway"/>
              <a:sym typeface="Raleway"/>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5" name="Google Shape;365;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Ada banyak cara untuk berempati,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Pengintaian / shadowing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Studi buku harian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Wawancara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Brainstorming</a:t>
            </a:r>
            <a:endParaRPr sz="1200">
              <a:solidFill>
                <a:schemeClr val="lt1"/>
              </a:solidFill>
              <a:latin typeface="Raleway Medium"/>
              <a:ea typeface="Raleway Medium"/>
              <a:cs typeface="Raleway Medium"/>
              <a:sym typeface="Raleway Medium"/>
            </a:endParaRPr>
          </a:p>
        </p:txBody>
      </p:sp>
      <p:sp>
        <p:nvSpPr>
          <p:cNvPr id="366" name="Google Shape;366;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2" name="Google Shape;372;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Ada banyak cara untuk berempati,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Pengintaian / shadowing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Studi buku harian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Wawancara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Stalking</a:t>
            </a:r>
            <a:endParaRPr b="1" sz="1200">
              <a:solidFill>
                <a:schemeClr val="lt1"/>
              </a:solidFill>
              <a:latin typeface="Raleway"/>
              <a:ea typeface="Raleway"/>
              <a:cs typeface="Raleway"/>
              <a:sym typeface="Raleway"/>
            </a:endParaRPr>
          </a:p>
        </p:txBody>
      </p:sp>
      <p:sp>
        <p:nvSpPr>
          <p:cNvPr id="373" name="Google Shape;37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50"/>
          <p:cNvSpPr/>
          <p:nvPr/>
        </p:nvSpPr>
        <p:spPr>
          <a:xfrm>
            <a:off x="685800" y="30793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Menguntit adalah pengintaian yang dilakukan tanpa izin dan/atau berulang oleh individu atau kelompok terhadap </a:t>
            </a:r>
            <a:endParaRPr b="1" sz="10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orang lain.</a:t>
            </a:r>
            <a:endParaRPr b="1" sz="1000">
              <a:solidFill>
                <a:srgbClr val="733572"/>
              </a:solidFill>
              <a:latin typeface="Raleway"/>
              <a:ea typeface="Raleway"/>
              <a:cs typeface="Raleway"/>
              <a:sym typeface="Ralew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0" name="Google Shape;380;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Ada 4 kuadran dalam sebuah peta empati,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Says, thinks, believes, does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Says, thinks, believes, feels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t>
            </a:r>
            <a:r>
              <a:rPr lang="en" sz="1200">
                <a:solidFill>
                  <a:schemeClr val="lt1"/>
                </a:solidFill>
                <a:latin typeface="Raleway Medium"/>
                <a:ea typeface="Raleway Medium"/>
                <a:cs typeface="Raleway Medium"/>
                <a:sym typeface="Raleway Medium"/>
              </a:rPr>
              <a:t>hinks, does, feels, acts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Says, thinks, does, feels</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81" name="Google Shape;381;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7" name="Google Shape;387;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Ada 4 kuadran dalam sebuah peta empati,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Says, thinks, believes, does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Says, thinks, believes, feels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Thinks, does, feels, acts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Says, thinks, does, feels</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388" name="Google Shape;38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52"/>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Peta empati tradisional dibagi menjadi 4 kuadran (Says, Thinks, Does, and Feels), dengan pengguna atau persona di tengah. </a:t>
            </a:r>
            <a:endParaRPr b="1" sz="1000">
              <a:solidFill>
                <a:srgbClr val="733572"/>
              </a:solidFill>
              <a:latin typeface="Raleway"/>
              <a:ea typeface="Raleway"/>
              <a:cs typeface="Raleway"/>
              <a:sym typeface="Raleway"/>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5" name="Google Shape;395;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Kuadran Feels berisi tentang…</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apa yang pengguna katakan dengan lantang.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keadaan emosional pengguna.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tindakan yang dilakukan pengguna.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pikiran</a:t>
            </a:r>
            <a:r>
              <a:rPr lang="en" sz="1200">
                <a:solidFill>
                  <a:schemeClr val="lt1"/>
                </a:solidFill>
                <a:latin typeface="Raleway Medium"/>
                <a:ea typeface="Raleway Medium"/>
                <a:cs typeface="Raleway Medium"/>
                <a:sym typeface="Raleway Medium"/>
              </a:rPr>
              <a:t> pengguna sepanjang pengalaman</a:t>
            </a:r>
            <a:endParaRPr sz="1200">
              <a:solidFill>
                <a:schemeClr val="lt1"/>
              </a:solidFill>
              <a:latin typeface="Raleway Medium"/>
              <a:ea typeface="Raleway Medium"/>
              <a:cs typeface="Raleway Medium"/>
              <a:sym typeface="Raleway Medium"/>
            </a:endParaRPr>
          </a:p>
        </p:txBody>
      </p:sp>
      <p:sp>
        <p:nvSpPr>
          <p:cNvPr id="396" name="Google Shape;39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2" name="Google Shape;402;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Kuadran Feels berisi tentang…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apa yang pengguna katakan dengan lantang.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keadaan emosional pengguna.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tindakan yang dilakukan pengguna.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pikiran pengguna sepanjang pengalaman</a:t>
            </a:r>
            <a:endParaRPr sz="1200">
              <a:solidFill>
                <a:srgbClr val="A667A5"/>
              </a:solidFill>
              <a:latin typeface="Raleway Medium"/>
              <a:ea typeface="Raleway Medium"/>
              <a:cs typeface="Raleway Medium"/>
              <a:sym typeface="Raleway Medium"/>
            </a:endParaRPr>
          </a:p>
        </p:txBody>
      </p:sp>
      <p:sp>
        <p:nvSpPr>
          <p:cNvPr id="403" name="Google Shape;403;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4" name="Google Shape;404;p54"/>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Pilihan A adalah isi dari kuadran says, C adalah isi dari kuardan Does da D adalah isi dari kuadran Thinks </a:t>
            </a:r>
            <a:endParaRPr b="1" sz="1000">
              <a:solidFill>
                <a:srgbClr val="733572"/>
              </a:solidFill>
              <a:latin typeface="Raleway"/>
              <a:ea typeface="Raleway"/>
              <a:cs typeface="Raleway"/>
              <a:sym typeface="Ralewa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0" name="Google Shape;410;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Aktivitas kunci pada tahap ______ adalah membingkai pertanyaan: identifikasi pertanyaan pendorong yang menginspirasi orang lain untuk mencari solusi kreatif.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Empathize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Test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Prototype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Ideate</a:t>
            </a:r>
            <a:endParaRPr sz="1200">
              <a:solidFill>
                <a:schemeClr val="lt1"/>
              </a:solidFill>
              <a:latin typeface="Raleway Medium"/>
              <a:ea typeface="Raleway Medium"/>
              <a:cs typeface="Raleway Medium"/>
              <a:sym typeface="Raleway Medium"/>
            </a:endParaRPr>
          </a:p>
        </p:txBody>
      </p:sp>
      <p:sp>
        <p:nvSpPr>
          <p:cNvPr id="411" name="Google Shape;411;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17" name="Google Shape;417;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Aktivitas kunci pada tahap ______ adalah membingkai pertanyaan: identifikasi pertanyaan pendorong yang menginspirasi orang lain untuk mencari solusi kreatif.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Empathize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Test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Prototype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Ideate</a:t>
            </a:r>
            <a:endParaRPr sz="1200">
              <a:solidFill>
                <a:srgbClr val="A667A5"/>
              </a:solidFill>
              <a:latin typeface="Raleway Medium"/>
              <a:ea typeface="Raleway Medium"/>
              <a:cs typeface="Raleway Medium"/>
              <a:sym typeface="Raleway Medium"/>
            </a:endParaRPr>
          </a:p>
        </p:txBody>
      </p:sp>
      <p:sp>
        <p:nvSpPr>
          <p:cNvPr id="418" name="Google Shape;418;p56"/>
          <p:cNvSpPr/>
          <p:nvPr/>
        </p:nvSpPr>
        <p:spPr>
          <a:xfrm>
            <a:off x="685800" y="3765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Aktivitas kunci pada tahap empathize adalah membingkai pertanyaan: identifikasi pertanyaan pendorong yang menginspirasi orang lain untuk mencari solusi kreatif.</a:t>
            </a:r>
            <a:endParaRPr b="1" sz="1000">
              <a:solidFill>
                <a:srgbClr val="733572"/>
              </a:solidFill>
              <a:latin typeface="Raleway"/>
              <a:ea typeface="Raleway"/>
              <a:cs typeface="Raleway"/>
              <a:sym typeface="Raleway"/>
            </a:endParaRPr>
          </a:p>
        </p:txBody>
      </p:sp>
      <p:sp>
        <p:nvSpPr>
          <p:cNvPr id="419" name="Google Shape;419;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26" name="Google Shape;426;p5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27" name="Google Shape;427;p57"/>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5"/>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6"/>
              </a:rPr>
              <a:t>    </a:t>
            </a:r>
            <a:r>
              <a:rPr lang="en" sz="1200" u="sng">
                <a:solidFill>
                  <a:schemeClr val="hlink"/>
                </a:solidFill>
                <a:latin typeface="Raleway Medium"/>
                <a:ea typeface="Raleway Medium"/>
                <a:cs typeface="Raleway Medium"/>
                <a:sym typeface="Raleway Medium"/>
                <a:hlinkClick r:id="rId7"/>
              </a:rPr>
              <a:t>Design Foundation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Empathy by Interaction Design Foundation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9"/>
              </a:rPr>
              <a:t>Empathy Mapping: The First Step in Design Thinking by </a:t>
            </a:r>
            <a:endParaRPr/>
          </a:p>
          <a:p>
            <a:pPr indent="0" lvl="0" marL="0" rtl="0" algn="just">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0"/>
              </a:rPr>
              <a:t>Nielsen Norman Group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31" name="Shape 431"/>
        <p:cNvGrpSpPr/>
        <p:nvPr/>
      </p:nvGrpSpPr>
      <p:grpSpPr>
        <a:xfrm>
          <a:off x="0" y="0"/>
          <a:ext cx="0" cy="0"/>
          <a:chOff x="0" y="0"/>
          <a:chExt cx="0" cy="0"/>
        </a:xfrm>
      </p:grpSpPr>
      <p:sp>
        <p:nvSpPr>
          <p:cNvPr id="432" name="Google Shape;432;p58"/>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3" name="Google Shape;433;p58"/>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4" name="Google Shape;434;p58"/>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5" name="Google Shape;435;p58"/>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6" name="Google Shape;436;p58"/>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37" name="Google Shape;437;p58"/>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38" name="Google Shape;438;p58"/>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39" name="Google Shape;439;p58"/>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