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Raleway"/>
      <p:regular r:id="rId53"/>
      <p:bold r:id="rId54"/>
      <p:italic r:id="rId55"/>
      <p:boldItalic r:id="rId56"/>
    </p:embeddedFont>
    <p:embeddedFont>
      <p:font typeface="Montserrat"/>
      <p:regular r:id="rId57"/>
      <p:bold r:id="rId58"/>
      <p:italic r:id="rId59"/>
      <p:boldItalic r:id="rId60"/>
    </p:embeddedFont>
    <p:embeddedFont>
      <p:font typeface="Lato Black"/>
      <p:bold r:id="rId61"/>
      <p:boldItalic r:id="rId62"/>
    </p:embeddedFont>
    <p:embeddedFont>
      <p:font typeface="Raleway Medium"/>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lack-boldItalic.fntdata"/><Relationship Id="rId61" Type="http://schemas.openxmlformats.org/officeDocument/2006/relationships/font" Target="fonts/LatoBlack-bold.fntdata"/><Relationship Id="rId20" Type="http://schemas.openxmlformats.org/officeDocument/2006/relationships/slide" Target="slides/slide15.xml"/><Relationship Id="rId64" Type="http://schemas.openxmlformats.org/officeDocument/2006/relationships/font" Target="fonts/RalewayMedium-bold.fntdata"/><Relationship Id="rId63" Type="http://schemas.openxmlformats.org/officeDocument/2006/relationships/font" Target="fonts/RalewayMedium-regular.fntdata"/><Relationship Id="rId22" Type="http://schemas.openxmlformats.org/officeDocument/2006/relationships/slide" Target="slides/slide17.xml"/><Relationship Id="rId66" Type="http://schemas.openxmlformats.org/officeDocument/2006/relationships/font" Target="fonts/RalewayMedium-boldItalic.fntdata"/><Relationship Id="rId21" Type="http://schemas.openxmlformats.org/officeDocument/2006/relationships/slide" Target="slides/slide16.xml"/><Relationship Id="rId65" Type="http://schemas.openxmlformats.org/officeDocument/2006/relationships/font" Target="fonts/RalewayMedium-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aleway-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italic.fntdata"/><Relationship Id="rId10" Type="http://schemas.openxmlformats.org/officeDocument/2006/relationships/slide" Target="slides/slide5.xml"/><Relationship Id="rId54" Type="http://schemas.openxmlformats.org/officeDocument/2006/relationships/font" Target="fonts/Raleway-bold.fntdata"/><Relationship Id="rId13" Type="http://schemas.openxmlformats.org/officeDocument/2006/relationships/slide" Target="slides/slide8.xml"/><Relationship Id="rId57" Type="http://schemas.openxmlformats.org/officeDocument/2006/relationships/font" Target="fonts/Montserrat-regular.fntdata"/><Relationship Id="rId12" Type="http://schemas.openxmlformats.org/officeDocument/2006/relationships/slide" Target="slides/slide7.xml"/><Relationship Id="rId56" Type="http://schemas.openxmlformats.org/officeDocument/2006/relationships/font" Target="fonts/Raleway-boldItalic.fntdata"/><Relationship Id="rId15" Type="http://schemas.openxmlformats.org/officeDocument/2006/relationships/slide" Target="slides/slide10.xml"/><Relationship Id="rId59" Type="http://schemas.openxmlformats.org/officeDocument/2006/relationships/font" Target="fonts/Montserrat-italic.fntdata"/><Relationship Id="rId14" Type="http://schemas.openxmlformats.org/officeDocument/2006/relationships/slide" Target="slides/slide9.xml"/><Relationship Id="rId58" Type="http://schemas.openxmlformats.org/officeDocument/2006/relationships/font" Target="fonts/Montserra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animal-shelter?utm_source=unsplash&amp;utm_medium=referral&amp;utm_content=creditCopyText" TargetMode="External"/><Relationship Id="rId5" Type="http://schemas.openxmlformats.org/officeDocument/2006/relationships/hyperlink" Target="https://unsplash.com/s/photos/animal-shelt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kson?utm_source=unsplash&amp;utm_medium=referral&amp;utm_content=creditCopyText" TargetMode="External"/><Relationship Id="rId3" Type="http://schemas.openxmlformats.org/officeDocument/2006/relationships/hyperlink" Target="https://unsplash.com/@akson?utm_source=unsplash&amp;utm_medium=referral&amp;utm_content=creditCopyText" TargetMode="External"/><Relationship Id="rId4" Type="http://schemas.openxmlformats.org/officeDocument/2006/relationships/hyperlink" Target="https://unsplash.com/s/photos/focus-groups?utm_source=unsplash&amp;utm_medium=referral&amp;utm_content=creditCopyText" TargetMode="External"/><Relationship Id="rId5" Type="http://schemas.openxmlformats.org/officeDocument/2006/relationships/hyperlink" Target="https://unsplash.com/s/photos/focus-groups?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kson?utm_source=unsplash&amp;utm_medium=referral&amp;utm_content=creditCopyText" TargetMode="External"/><Relationship Id="rId3" Type="http://schemas.openxmlformats.org/officeDocument/2006/relationships/hyperlink" Target="https://unsplash.com/@akson?utm_source=unsplash&amp;utm_medium=referral&amp;utm_content=creditCopyText" TargetMode="External"/><Relationship Id="rId4" Type="http://schemas.openxmlformats.org/officeDocument/2006/relationships/hyperlink" Target="https://unsplash.com/s/photos/focus-groups?utm_source=unsplash&amp;utm_medium=referral&amp;utm_content=creditCopyText" TargetMode="External"/><Relationship Id="rId5" Type="http://schemas.openxmlformats.org/officeDocument/2006/relationships/hyperlink" Target="https://unsplash.com/s/photos/focus-groups?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lodiso?utm_source=unsplash&amp;utm_medium=referral&amp;utm_content=creditCopyText" TargetMode="External"/><Relationship Id="rId3" Type="http://schemas.openxmlformats.org/officeDocument/2006/relationships/hyperlink" Target="https://unsplash.com/@elodiso?utm_source=unsplash&amp;utm_medium=referral&amp;utm_content=creditCopyText" TargetMode="External"/><Relationship Id="rId4" Type="http://schemas.openxmlformats.org/officeDocument/2006/relationships/hyperlink" Target="https://unsplash.com/s/photos/form?utm_source=unsplash&amp;utm_medium=referral&amp;utm_content=creditCopyText" TargetMode="External"/><Relationship Id="rId5" Type="http://schemas.openxmlformats.org/officeDocument/2006/relationships/hyperlink" Target="https://unsplash.com/s/photos/for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lodiso?utm_source=unsplash&amp;utm_medium=referral&amp;utm_content=creditCopyText" TargetMode="External"/><Relationship Id="rId3" Type="http://schemas.openxmlformats.org/officeDocument/2006/relationships/hyperlink" Target="https://unsplash.com/@elodiso?utm_source=unsplash&amp;utm_medium=referral&amp;utm_content=creditCopyText" TargetMode="External"/><Relationship Id="rId4" Type="http://schemas.openxmlformats.org/officeDocument/2006/relationships/hyperlink" Target="https://unsplash.com/s/photos/form?utm_source=unsplash&amp;utm_medium=referral&amp;utm_content=creditCopyText" TargetMode="External"/><Relationship Id="rId5" Type="http://schemas.openxmlformats.org/officeDocument/2006/relationships/hyperlink" Target="https://unsplash.com/s/photos/form?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parcipatory-design?utm_source=unsplash&amp;utm_medium=referral&amp;utm_content=creditCopyText" TargetMode="External"/><Relationship Id="rId5" Type="http://schemas.openxmlformats.org/officeDocument/2006/relationships/hyperlink" Target="https://unsplash.com/s/photos/parcipatory-desig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parcipatory-design?utm_source=unsplash&amp;utm_medium=referral&amp;utm_content=creditCopyText" TargetMode="External"/><Relationship Id="rId5" Type="http://schemas.openxmlformats.org/officeDocument/2006/relationships/hyperlink" Target="https://unsplash.com/s/photos/parcipatory-design?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cospradobr?utm_source=unsplash&amp;utm_medium=referral&amp;utm_content=creditCopyText" TargetMode="Externa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hyperlink" Target="https://unsplash.com/s/photos/diary?utm_source=unsplash&amp;utm_medium=referral&amp;utm_content=creditCopyText" TargetMode="External"/><Relationship Id="rId5" Type="http://schemas.openxmlformats.org/officeDocument/2006/relationships/hyperlink" Target="https://unsplash.com/s/photos/diary?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cospradobr?utm_source=unsplash&amp;utm_medium=referral&amp;utm_content=creditCopyText" TargetMode="Externa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hyperlink" Target="https://unsplash.com/s/photos/diary?utm_source=unsplash&amp;utm_medium=referral&amp;utm_content=creditCopyText" TargetMode="External"/><Relationship Id="rId5" Type="http://schemas.openxmlformats.org/officeDocument/2006/relationships/hyperlink" Target="https://unsplash.com/s/photos/diary?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f9c40da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f9c40da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0f816abf1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0f816abf1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d1c2ecca74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d1c2ecca74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0f816abf19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0f816abf19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0f9c40da3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0f9c40da3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f9c40da36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f9c40da36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0f9c40da3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0f9c40da3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5a28c5ce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5a28c5c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5a28c5ce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5a28c5ce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0f9c40da3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0f9c40da3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Akson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f9c40da3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f9c40da3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Akson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0f9c40da3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0f9c40da3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Leon Dewiwje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0f9c40da36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0f9c40da3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Leon Dewiwje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f9c40da3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f9c40da3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0f9c40da36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0f9c40da36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0f9c40da36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0f9c40da36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Marcos Paulo Prado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f9c40da3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f9c40da3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Marcos Paulo Prado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f9c40da3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f9c40da3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5a28c5ce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5a28c5ce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f9c40da3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f9c40da3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f9c40da3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f9c40da3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f9c40da36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f9c40da36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0f9c40da36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0f9c40da36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f9c40da3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f9c40da3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https://www.youtube.com/watch?v=25RqpGJ4tJ8</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0f9c40da36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0f9c40da36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5a28c5ce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5a28c5ce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0f9c40da3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0f9c40da3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Design Instruct. Copyright terms and licence: All rights reserved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f9c40da36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f9c40da3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Author/Copyright holder: Design Instruct. Copyright terms and licence: All rights reserved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f9c40da3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f9c40da3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0f9c40da36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0f9c40da36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0f816abdff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0f816abdff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0f9c40da36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0f9c40da3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0f9c40da3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0f9c40da3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0f9c40da36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0f9c40da36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10cad9e1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10cad9e1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0cad9e12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0cad9e12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0cad9e1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0cad9e12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0cad9e12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0cad9e12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2cb3230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2cb3230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12cb32305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12cb32305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12cb3230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12cb3230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akson?utm_source=unsplash&amp;utm_medium=referral&amp;utm_content=creditCopyText" TargetMode="Externa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unsplash.com/@akson?utm_source=unsplash&amp;utm_medium=referral&amp;utm_content=creditCopyText" TargetMode="Externa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unsplash.com/@elodiso?utm_source=unsplash&amp;utm_medium=referral&amp;utm_content=creditCopyText" TargetMode="External"/><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elodiso?utm_source=unsplash&amp;utm_medium=referral&amp;utm_content=creditCopyText"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www.youtube.com/watch?v=25RqpGJ4tJ8" TargetMode="External"/><Relationship Id="rId4"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bananacom.optimalworkshop.com/optimalsort/bananacom-demo-survey-open" TargetMode="Externa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bananacom.optimalworkshop.com/optimalsort/bananacom-demo-survey-closed" TargetMode="External"/><Relationship Id="rId4" Type="http://schemas.openxmlformats.org/officeDocument/2006/relationships/hyperlink" Target="https://unsplash.com/@kellysikkema?utm_source=unsplash&amp;utm_medium=referral&amp;utm_content=creditCopyText" TargetMode="External"/><Relationship Id="rId5"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bananacom.optimalworkshop.com/optimalsort/bananacom-demo-survey-image" TargetMode="External"/><Relationship Id="rId4" Type="http://schemas.openxmlformats.org/officeDocument/2006/relationships/hyperlink" Target="https://unsplash.com/@kellysikkema?utm_source=unsplash&amp;utm_medium=referral&amp;utm_content=creditCopyText" TargetMode="External"/><Relationship Id="rId5"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1" Type="http://schemas.openxmlformats.org/officeDocument/2006/relationships/hyperlink" Target="https://www.usertesting.com/blog/generative-vs-evaluation-research" TargetMode="External"/><Relationship Id="rId10" Type="http://schemas.openxmlformats.org/officeDocument/2006/relationships/hyperlink" Target="https://www.usertesting.com/blog/generative-vs-evaluation-research" TargetMode="External"/><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hyperlink" Target="https://uxdesign.cc/the-life-and-timelines-of-research-projects-3eb9001d74c" TargetMode="External"/><Relationship Id="rId9" Type="http://schemas.openxmlformats.org/officeDocument/2006/relationships/hyperlink" Target="https://www.usertesting.com/blog/generative-vs-evaluation-research" TargetMode="External"/><Relationship Id="rId5" Type="http://schemas.openxmlformats.org/officeDocument/2006/relationships/hyperlink" Target="https://uxdesign.cc/the-life-and-timelines-of-research-projects-3eb9001d74c" TargetMode="External"/><Relationship Id="rId6" Type="http://schemas.openxmlformats.org/officeDocument/2006/relationships/hyperlink" Target="https://uxdesign.cc/a-breakdown-of-ux-research-types-bd127c10b364" TargetMode="External"/><Relationship Id="rId7" Type="http://schemas.openxmlformats.org/officeDocument/2006/relationships/hyperlink" Target="https://www.usertesting.com/blog/generative-vs-evaluation-research" TargetMode="External"/><Relationship Id="rId8" Type="http://schemas.openxmlformats.org/officeDocument/2006/relationships/hyperlink" Target="https://www.usertesting.com/blog/generative-vs-evaluation-researc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Metode - metode UX research</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2 - Topic 5</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Metode - metode UX research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Card sorting dalam UX research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Melakukan card sorting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a:t>
            </a:r>
            <a:r>
              <a:rPr lang="en" sz="1200">
                <a:solidFill>
                  <a:schemeClr val="dk1"/>
                </a:solidFill>
                <a:latin typeface="Raleway Medium"/>
                <a:ea typeface="Raleway Medium"/>
                <a:cs typeface="Raleway Medium"/>
                <a:sym typeface="Raleway Medium"/>
              </a:rPr>
              <a:t>) Mencoba simulasi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 name="Google Shape;11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16" name="Google Shape;116;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Recap</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research atau UX research merujuk pada berbagai metode ilmiah yang dapat kita gunakan untuk memahami pikiran, perasaan, dan perilaku orang-orang yang menggunakan suatu produk / layanan.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Pemahaman tersebut biasanya didapat melalui proses observasi apa yang mereka lakukan atau dengan langsung meminta feedback dari apa yang mereka alami.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7" name="Google Shape;117;p22"/>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Kali ini, kita akan lebih mendalami </a:t>
            </a:r>
            <a:r>
              <a:rPr lang="en">
                <a:solidFill>
                  <a:schemeClr val="accent1"/>
                </a:solidFill>
              </a:rPr>
              <a:t>beberapa metode UX research </a:t>
            </a:r>
            <a:r>
              <a:rPr lang="en"/>
              <a:t>yang sering digunakan untuk memahami pengguna</a:t>
            </a:r>
            <a:endParaRPr/>
          </a:p>
        </p:txBody>
      </p:sp>
      <p:sp>
        <p:nvSpPr>
          <p:cNvPr id="123" name="Google Shape;12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30" name="Google Shape;13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Metode - metode UX research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Metode - metode UX research yang digunakan untuk memahami pengguna tentunya ada banyak macamnya.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Bahkan ada beberapa metode dengan istilah yang beda namun fungsi dan penggunaannya sama.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Perlu diingat, bahwa kamu akan membutuhkan metode pendekatan dengan user di setiap tahapan design thinking yang tidak hanya di awal ataupun akhir proses.</a:t>
            </a:r>
            <a:endParaRPr sz="1200">
              <a:solidFill>
                <a:schemeClr val="dk1"/>
              </a:solidFill>
              <a:latin typeface="Raleway Medium"/>
              <a:ea typeface="Raleway Medium"/>
              <a:cs typeface="Raleway Medium"/>
              <a:sym typeface="Raleway Medium"/>
            </a:endParaRPr>
          </a:p>
        </p:txBody>
      </p:sp>
      <p:pic>
        <p:nvPicPr>
          <p:cNvPr id="131" name="Google Shape;131;p2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38" name="Google Shape;138;p25"/>
          <p:cNvSpPr txBox="1"/>
          <p:nvPr/>
        </p:nvSpPr>
        <p:spPr>
          <a:xfrm>
            <a:off x="1519850" y="1064638"/>
            <a:ext cx="6104400" cy="844500"/>
          </a:xfrm>
          <a:prstGeom prst="rect">
            <a:avLst/>
          </a:prstGeom>
          <a:noFill/>
          <a:ln>
            <a:noFill/>
          </a:ln>
        </p:spPr>
        <p:txBody>
          <a:bodyPr anchorCtr="0" anchor="t" bIns="91425" lIns="91425" spcFirstLastPara="1" rIns="91425" wrap="square" tIns="91425">
            <a:spAutoFit/>
          </a:bodyPr>
          <a:lstStyle/>
          <a:p>
            <a:pPr indent="0" lvl="0" marL="0" rtl="0" algn="ctr">
              <a:lnSpc>
                <a:spcPct val="128571"/>
              </a:lnSpc>
              <a:spcBef>
                <a:spcPts val="0"/>
              </a:spcBef>
              <a:spcAft>
                <a:spcPts val="0"/>
              </a:spcAft>
              <a:buNone/>
            </a:pPr>
            <a:r>
              <a:rPr lang="en" sz="1200">
                <a:solidFill>
                  <a:srgbClr val="F8F9FA"/>
                </a:solidFill>
                <a:latin typeface="Raleway Medium"/>
                <a:ea typeface="Raleway Medium"/>
                <a:cs typeface="Raleway Medium"/>
                <a:sym typeface="Raleway Medium"/>
              </a:rPr>
              <a:t>Setiap metode pendekatan mempunyai penggunaan dan fungsi yang berbeda. Berikut beberapa metode yang paling sering digunakan untuk mendapatkan informasi user</a:t>
            </a:r>
            <a:endParaRPr sz="1200">
              <a:solidFill>
                <a:srgbClr val="F8F9FA"/>
              </a:solidFill>
              <a:latin typeface="Raleway Medium"/>
              <a:ea typeface="Raleway Medium"/>
              <a:cs typeface="Raleway Medium"/>
              <a:sym typeface="Raleway Medium"/>
            </a:endParaRPr>
          </a:p>
        </p:txBody>
      </p:sp>
      <p:pic>
        <p:nvPicPr>
          <p:cNvPr id="139" name="Google Shape;139;p25"/>
          <p:cNvPicPr preferRelativeResize="0"/>
          <p:nvPr/>
        </p:nvPicPr>
        <p:blipFill>
          <a:blip r:embed="rId3">
            <a:alphaModFix/>
          </a:blip>
          <a:stretch>
            <a:fillRect/>
          </a:stretch>
        </p:blipFill>
        <p:spPr>
          <a:xfrm>
            <a:off x="1519750" y="2128738"/>
            <a:ext cx="6104375" cy="2483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46" name="Google Shape;146;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Wawancara / interviews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Interviews (wawancara) biasanya dilakukan face-to-face antara pewawancara dan peserta (user). Pada proses ini, kita dapat mengeksplorasi dan mengidentifikasi informasi dari user secara rinci terkait untuk mencari tahu sikap, kepercayaan, dan pengalaman pengguna terhadap suatu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Karena bersifat kualitatif (non-statistik) hasil wawancara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perlu dianalisis dengan cermat. </a:t>
            </a:r>
            <a:endParaRPr sz="1200">
              <a:solidFill>
                <a:schemeClr val="dk1"/>
              </a:solidFill>
              <a:latin typeface="Raleway Medium"/>
              <a:ea typeface="Raleway Medium"/>
              <a:cs typeface="Raleway Medium"/>
              <a:sym typeface="Raleway Medium"/>
            </a:endParaRPr>
          </a:p>
        </p:txBody>
      </p:sp>
      <p:pic>
        <p:nvPicPr>
          <p:cNvPr id="147" name="Google Shape;147;p26">
            <a:hlinkClick r:id="rId3"/>
          </p:cNvPr>
          <p:cNvPicPr preferRelativeResize="0"/>
          <p:nvPr/>
        </p:nvPicPr>
        <p:blipFill rotWithShape="1">
          <a:blip r:embed="rId4">
            <a:alphaModFix/>
          </a:blip>
          <a:srcRect b="0" l="13343" r="13343" t="0"/>
          <a:stretch/>
        </p:blipFill>
        <p:spPr>
          <a:xfrm>
            <a:off x="5486400" y="1280160"/>
            <a:ext cx="3017518" cy="27432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54" name="Google Shape;154;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1. Wawancara / interviews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a:t>
            </a:r>
            <a:r>
              <a:rPr lang="en" sz="1200">
                <a:solidFill>
                  <a:schemeClr val="dk1"/>
                </a:solidFill>
                <a:latin typeface="Raleway Medium"/>
                <a:ea typeface="Raleway Medium"/>
                <a:cs typeface="Raleway Medium"/>
                <a:sym typeface="Raleway Medium"/>
              </a:rPr>
              <a:t>nterviews biasanya dilakukan di awal proses desain supaya UX designer dan para pemangku kepentingan atau stakeholders memahami dengan baik ketentuan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yang perlu diterapkan pada produk yang akan dibuat untuk pelanggan.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Analoginya~</a:t>
            </a:r>
            <a:endParaRPr sz="1200">
              <a:solidFill>
                <a:schemeClr val="dk1"/>
              </a:solidFill>
              <a:latin typeface="Raleway Medium"/>
              <a:ea typeface="Raleway Medium"/>
              <a:cs typeface="Raleway Medium"/>
              <a:sym typeface="Raleway Medium"/>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Kamu ingin tahu apa kendala yang sebenarnya orang rasakan terkait fitur aplikasi online booking servis kendaraan, melalui pendapat, dan saran dari orang-orang yang menggunakannya sehingga bisa dijadikan referensi.</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155" name="Google Shape;155;p27">
            <a:hlinkClick r:id="rId3"/>
          </p:cNvPr>
          <p:cNvPicPr preferRelativeResize="0"/>
          <p:nvPr/>
        </p:nvPicPr>
        <p:blipFill rotWithShape="1">
          <a:blip r:embed="rId4">
            <a:alphaModFix/>
          </a:blip>
          <a:srcRect b="0" l="13343" r="13343" t="0"/>
          <a:stretch/>
        </p:blipFill>
        <p:spPr>
          <a:xfrm>
            <a:off x="5486400" y="1280160"/>
            <a:ext cx="3017518" cy="27432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62" name="Google Shape;162;p2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2. Card Sorting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merupakan metode untuk menentukan struktur atau kategori dari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Kita analogikan sebuah </a:t>
            </a:r>
            <a:r>
              <a:rPr lang="en" sz="1200">
                <a:solidFill>
                  <a:schemeClr val="dk1"/>
                </a:solidFill>
                <a:latin typeface="Raleway Medium"/>
                <a:ea typeface="Raleway Medium"/>
                <a:cs typeface="Raleway Medium"/>
                <a:sym typeface="Raleway Medium"/>
              </a:rPr>
              <a:t>Item produk yang tersedia dalam sebuah aplikasi toko online banyak sekali. Hal ini menyulitkan pengguna dalam memilih produk yang diinginkan. Juga menyulitkan bagi pemilik aplikasi untuk menentukan item mana yang perlu ditampilkan.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Metode Card Sorting dapat digunakan untuk membantu menentukan item atau fitur mana yang perlu dikembangkan lebih dulu.</a:t>
            </a:r>
            <a:endParaRPr b="1" sz="1200">
              <a:solidFill>
                <a:schemeClr val="dk1"/>
              </a:solidFill>
              <a:latin typeface="Raleway"/>
              <a:ea typeface="Raleway"/>
              <a:cs typeface="Raleway"/>
              <a:sym typeface="Raleway"/>
            </a:endParaRPr>
          </a:p>
        </p:txBody>
      </p:sp>
      <p:pic>
        <p:nvPicPr>
          <p:cNvPr id="163" name="Google Shape;163;p28">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70" name="Google Shape;170;p2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2. Card Sorting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Dalam Card shorting ini, seorang user diminta untuk menyortir informasi/kategori yang tertulis pada sepaket kartu. Hasil pengelompokkan yang didapat dari berbagai user nantinya akan dikombinasikan dalam analisis statistik, kemudian diimplementasikan sebagai Information Architecture (IA)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dilakukan di awal proses desain karena hasil analisis IA yang didapat akan diterapkan sebagai input pembuatan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p:txBody>
      </p:sp>
      <p:pic>
        <p:nvPicPr>
          <p:cNvPr id="171" name="Google Shape;171;p29">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78" name="Google Shape;178;p3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1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Metode Card Sorting ini memberikan pilihan pada sekelompok user untuk menentukan item produk atau fitur yang lebih diutamakan atau yang menjadi fokus utama.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Cobalah buka pengaturan di handphone kamu. Banyak sekali kan menunya?. Tapi kamu bisa dengan mudah untuk menemukan menu yang kamu inginkan seperti tampilan, keamanan, profil suara, jaringan dsb. Karena menu menu tersebut sudah dikelompokkan dengan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 </a:t>
            </a:r>
            <a:endParaRPr b="1" sz="1200">
              <a:solidFill>
                <a:schemeClr val="dk1"/>
              </a:solidFill>
              <a:latin typeface="Raleway"/>
              <a:ea typeface="Raleway"/>
              <a:cs typeface="Raleway"/>
              <a:sym typeface="Raleway"/>
            </a:endParaRPr>
          </a:p>
        </p:txBody>
      </p:sp>
      <p:pic>
        <p:nvPicPr>
          <p:cNvPr id="179" name="Google Shape;179;p30">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86" name="Google Shape;186;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2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Raleway Medium"/>
                <a:ea typeface="Raleway Medium"/>
                <a:cs typeface="Raleway Medium"/>
                <a:sym typeface="Raleway Medium"/>
              </a:rPr>
              <a:t>Contoh pada aplikasi OnlineFood untuk menentukan kategori produk apa saja yang perlu ditampilkan pada halaman utama sebuah aplikasi pemesanan makanan secara online. Rumah makan yang ada terdiri dari banyak jenis mulai dari makanan utama maupun cemilan. </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Raleway Medium"/>
                <a:ea typeface="Raleway Medium"/>
                <a:cs typeface="Raleway Medium"/>
                <a:sym typeface="Raleway Medium"/>
              </a:rPr>
              <a:t>Peneliti ingin mengetahui kategori apa saja yang perlu ditampilkan lebih dulu. Sebagai contoh pilihan kategori yang ada yaitu kategori terbaru, kategori rekomendasi, kategori terdekat, kategori minuman, dan kategori makanan paling laris dan enak.</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Raleway Medium"/>
                <a:ea typeface="Raleway Medium"/>
                <a:cs typeface="Raleway Medium"/>
                <a:sym typeface="Raleway Medium"/>
              </a:rPr>
              <a:t> </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Raleway Medium"/>
                <a:ea typeface="Raleway Medium"/>
                <a:cs typeface="Raleway Medium"/>
                <a:sym typeface="Raleway Medium"/>
              </a:rPr>
              <a:t>Pilihan kategori diberikan pada user untuk diurutkan sesuai prioritas user. Dari hasil urutan yang ditentukan user, kemudian dilakukan analisa, mana pilihan yang paling banyak akan menjadi kategori utama dan diurutkan sesuai pilihan terbanyak dari user.</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 </a:t>
            </a:r>
            <a:endParaRPr b="1" sz="1200">
              <a:solidFill>
                <a:schemeClr val="dk1"/>
              </a:solidFill>
              <a:latin typeface="Raleway"/>
              <a:ea typeface="Raleway"/>
              <a:cs typeface="Raleway"/>
              <a:sym typeface="Raleway"/>
            </a:endParaRPr>
          </a:p>
        </p:txBody>
      </p:sp>
      <p:pic>
        <p:nvPicPr>
          <p:cNvPr id="187" name="Google Shape;187;p31">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194" name="Google Shape;194;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Focus Groups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Focus Groups biasanya mengundang kelompok user dari suatu produk untuk berbagi pemikiran, perasaan, ide, dan pengalaman mereka mengenai suatu topik.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Kegiatan ini sangat membutuhkan moderator yang handal dan analis yang dapat mensintesis hasil observasi selama diskusi. </a:t>
            </a:r>
            <a:endParaRPr sz="1200">
              <a:solidFill>
                <a:schemeClr val="dk1"/>
              </a:solidFill>
              <a:latin typeface="Raleway Medium"/>
              <a:ea typeface="Raleway Medium"/>
              <a:cs typeface="Raleway Medium"/>
              <a:sym typeface="Raleway Medium"/>
            </a:endParaRPr>
          </a:p>
        </p:txBody>
      </p:sp>
      <p:pic>
        <p:nvPicPr>
          <p:cNvPr id="195" name="Google Shape;195;p32">
            <a:hlinkClick r:id="rId3"/>
          </p:cNvPr>
          <p:cNvPicPr preferRelativeResize="0"/>
          <p:nvPr/>
        </p:nvPicPr>
        <p:blipFill rotWithShape="1">
          <a:blip r:embed="rId4">
            <a:alphaModFix/>
          </a:blip>
          <a:srcRect b="0" l="16299" r="16292" t="0"/>
          <a:stretch/>
        </p:blipFill>
        <p:spPr>
          <a:xfrm>
            <a:off x="5486400" y="1280160"/>
            <a:ext cx="3017518" cy="27432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02" name="Google Shape;202;p3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3. Focus Groups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Kegiatan biasanya dilakukan di awal proses desain karena hasil sintesis dari Focus Groups nantinya akan diterapkan dalam rancangan desain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03" name="Google Shape;203;p33">
            <a:hlinkClick r:id="rId3"/>
          </p:cNvPr>
          <p:cNvPicPr preferRelativeResize="0"/>
          <p:nvPr/>
        </p:nvPicPr>
        <p:blipFill rotWithShape="1">
          <a:blip r:embed="rId4">
            <a:alphaModFix/>
          </a:blip>
          <a:srcRect b="0" l="16299" r="16292" t="0"/>
          <a:stretch/>
        </p:blipFill>
        <p:spPr>
          <a:xfrm>
            <a:off x="5486400" y="1280160"/>
            <a:ext cx="3017518" cy="27432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10" name="Google Shape;210;p3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Kuesioner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Kuesioner adalah sarana untuk meminta tanggapan dari user, bisa spesifik terkait produk atau hal lain yang berkaitan.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Dalam suatu kuesioner user dapat menjawab serangkaian pertanyaan. Hasil kuesioner biasanya akan dianalisis menghasilkan data statistik. </a:t>
            </a:r>
            <a:endParaRPr b="1" sz="1200">
              <a:solidFill>
                <a:schemeClr val="dk1"/>
              </a:solidFill>
              <a:latin typeface="Raleway"/>
              <a:ea typeface="Raleway"/>
              <a:cs typeface="Raleway"/>
              <a:sym typeface="Raleway"/>
            </a:endParaRPr>
          </a:p>
        </p:txBody>
      </p:sp>
      <p:pic>
        <p:nvPicPr>
          <p:cNvPr id="211" name="Google Shape;211;p34">
            <a:hlinkClick r:id="rId3"/>
          </p:cNvPr>
          <p:cNvPicPr preferRelativeResize="0"/>
          <p:nvPr/>
        </p:nvPicPr>
        <p:blipFill rotWithShape="1">
          <a:blip r:embed="rId4">
            <a:alphaModFix/>
          </a:blip>
          <a:srcRect b="0" l="12859" r="39371" t="34844"/>
          <a:stretch/>
        </p:blipFill>
        <p:spPr>
          <a:xfrm>
            <a:off x="5486400" y="1280160"/>
            <a:ext cx="3017518" cy="27432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18" name="Google Shape;218;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4. Kuesioner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Kuesioner dapat dilakukan di awal atau iterasi pengembangan produk. Umumnya metode ini dilakukan jika tim produk membutuhkan tanggapan dari sampel dalam jumlah besar.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p:txBody>
      </p:sp>
      <p:pic>
        <p:nvPicPr>
          <p:cNvPr id="219" name="Google Shape;219;p35">
            <a:hlinkClick r:id="rId3"/>
          </p:cNvPr>
          <p:cNvPicPr preferRelativeResize="0"/>
          <p:nvPr/>
        </p:nvPicPr>
        <p:blipFill rotWithShape="1">
          <a:blip r:embed="rId4">
            <a:alphaModFix/>
          </a:blip>
          <a:srcRect b="0" l="12859" r="39371" t="34844"/>
          <a:stretch/>
        </p:blipFill>
        <p:spPr>
          <a:xfrm>
            <a:off x="5486400" y="1280160"/>
            <a:ext cx="3017518" cy="27432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26" name="Google Shape;226;p3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Participatory Design</a:t>
            </a:r>
            <a:r>
              <a:rPr b="1" lang="en" sz="1800">
                <a:solidFill>
                  <a:srgbClr val="743673"/>
                </a:solidFill>
                <a:highlight>
                  <a:schemeClr val="lt1"/>
                </a:highlight>
                <a:latin typeface="Raleway"/>
                <a:ea typeface="Raleway"/>
                <a:cs typeface="Raleway"/>
                <a:sym typeface="Raleway"/>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Pada Participatory Design, user dilibatkan secara aktif dalam penentuan masalah, proses desain, dan pengambilan keputusan.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Hasil dari metode ini biasanya berupa mapping atau prototype dari suatu produk.</a:t>
            </a:r>
            <a:endParaRPr b="1" sz="1200">
              <a:solidFill>
                <a:schemeClr val="dk1"/>
              </a:solidFill>
              <a:latin typeface="Raleway"/>
              <a:ea typeface="Raleway"/>
              <a:cs typeface="Raleway"/>
              <a:sym typeface="Raleway"/>
            </a:endParaRPr>
          </a:p>
        </p:txBody>
      </p:sp>
      <p:pic>
        <p:nvPicPr>
          <p:cNvPr id="227" name="Google Shape;227;p36">
            <a:hlinkClick r:id="rId3"/>
          </p:cNvPr>
          <p:cNvPicPr preferRelativeResize="0"/>
          <p:nvPr/>
        </p:nvPicPr>
        <p:blipFill rotWithShape="1">
          <a:blip r:embed="rId4">
            <a:alphaModFix/>
          </a:blip>
          <a:srcRect b="0" l="13289" r="13289" t="0"/>
          <a:stretch/>
        </p:blipFill>
        <p:spPr>
          <a:xfrm>
            <a:off x="5486400" y="1280160"/>
            <a:ext cx="3017518" cy="27432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34" name="Google Shape;234;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5. Participatory Design </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Metode ini umumnya dilakukan di awal dan iterasi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pengembangan suatu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p:txBody>
      </p:sp>
      <p:pic>
        <p:nvPicPr>
          <p:cNvPr id="235" name="Google Shape;235;p37">
            <a:hlinkClick r:id="rId3"/>
          </p:cNvPr>
          <p:cNvPicPr preferRelativeResize="0"/>
          <p:nvPr/>
        </p:nvPicPr>
        <p:blipFill rotWithShape="1">
          <a:blip r:embed="rId4">
            <a:alphaModFix/>
          </a:blip>
          <a:srcRect b="0" l="13289" r="13289" t="0"/>
          <a:stretch/>
        </p:blipFill>
        <p:spPr>
          <a:xfrm>
            <a:off x="5486400" y="1280160"/>
            <a:ext cx="3017518" cy="27432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42" name="Google Shape;242;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Studi Buku Harian / Diary Study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Diary study memuat data dan pengalaman sehari-hari dari seorang individu. Metode ini memberikan informasi dari kurun waktu hari hingga bulan. Kesulitan dari metode ini adalah proses analisis terhadap data kualitatif yang sangat banyak.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43" name="Google Shape;243;p38">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50" name="Google Shape;250;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Studi Buku Harian / Diary Study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Diary Study biasanya dilakukan di awal proses desain supaya UX designer dan stakeholders memahami secara mendalam bagaimana kebiasaan, pemikiran, hingga kebutuhan user.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Data yang didapat nantinya akan dipertimbangkan pada strategi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51" name="Google Shape;251;p39">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58" name="Google Shape;258;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7</a:t>
            </a:r>
            <a:r>
              <a:rPr b="1" lang="en" sz="1800">
                <a:solidFill>
                  <a:srgbClr val="743673"/>
                </a:solidFill>
                <a:highlight>
                  <a:schemeClr val="lt1"/>
                </a:highlight>
                <a:latin typeface="Raleway"/>
                <a:ea typeface="Raleway"/>
                <a:cs typeface="Raleway"/>
                <a:sym typeface="Raleway"/>
              </a:rPr>
              <a:t>. Penelitian Kegunaan /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Usability Testing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Usability Testing merupakan salah satu metode untuk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mengevaluasi produk yang paling sering digunakan. Tujuan dari metode ini adalah mengetahui tanggapan berupa kesulitan, ide, dan pengetahuan baru terkait produk yang sedang diujikan. Pada sesi usability testing, seorang user diminta untuk melakukan serangkaian tugas sementara moderator mengamati dan mendokumentasikan semua tanggapan user.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59" name="Google Shape;259;p40">
            <a:hlinkClick r:id="rId3"/>
          </p:cNvPr>
          <p:cNvPicPr preferRelativeResize="0"/>
          <p:nvPr/>
        </p:nvPicPr>
        <p:blipFill rotWithShape="1">
          <a:blip r:embed="rId4">
            <a:alphaModFix/>
          </a:blip>
          <a:srcRect b="0" l="13343" r="13343" t="0"/>
          <a:stretch/>
        </p:blipFill>
        <p:spPr>
          <a:xfrm>
            <a:off x="5486400" y="1280160"/>
            <a:ext cx="3017518" cy="27432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66" name="Google Shape;266;p4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7. Penelitian Kegunaan /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Usability Testing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Analoginya </a:t>
            </a:r>
            <a:r>
              <a:rPr lang="en" sz="1200">
                <a:solidFill>
                  <a:schemeClr val="dk1"/>
                </a:solidFill>
                <a:latin typeface="Raleway Medium"/>
                <a:ea typeface="Raleway Medium"/>
                <a:cs typeface="Raleway Medium"/>
                <a:sym typeface="Raleway Medium"/>
              </a:rPr>
              <a:t>produk yang ingin diuji yakni aplikasi NangorLearn, maka kita bisa menggunakan Usability Testing, karena dengan menggunakan Usability Testing, kita bisa mengetahui bagaimana perilaku pengguna dalam menggunakan produk sekaligus bisa menanyakan lebih lanjut terkait apa yang mereka butuhkan, problem atau kendala apa yang mereka rasakan, ekspektasi mereka ketika menggunakan aplikasi, dan pertanyaan lain yang dirasa perlu.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67" name="Google Shape;267;p41">
            <a:hlinkClick r:id="rId3"/>
          </p:cNvPr>
          <p:cNvPicPr preferRelativeResize="0"/>
          <p:nvPr/>
        </p:nvPicPr>
        <p:blipFill rotWithShape="1">
          <a:blip r:embed="rId4">
            <a:alphaModFix/>
          </a:blip>
          <a:srcRect b="0" l="13343" r="13343" t="0"/>
          <a:stretch/>
        </p:blipFill>
        <p:spPr>
          <a:xfrm>
            <a:off x="5486400" y="1280160"/>
            <a:ext cx="3017518" cy="274320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UX research</a:t>
            </a:r>
            <a:endParaRPr/>
          </a:p>
        </p:txBody>
      </p:sp>
      <p:sp>
        <p:nvSpPr>
          <p:cNvPr id="274" name="Google Shape;274;p4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7</a:t>
            </a:r>
            <a:r>
              <a:rPr b="1" lang="en" sz="1800">
                <a:solidFill>
                  <a:srgbClr val="743673"/>
                </a:solidFill>
                <a:highlight>
                  <a:schemeClr val="lt1"/>
                </a:highlight>
                <a:latin typeface="Raleway"/>
                <a:ea typeface="Raleway"/>
                <a:cs typeface="Raleway"/>
                <a:sym typeface="Raleway"/>
              </a:rPr>
              <a:t>. Penelitian Kegunaan /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Usability Testing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Metode ini biasanya dilaksanakan pada awal dan akhir proses pengembangan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Output dari metode ini dapat berupa data non-statistik dan statistik.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75" name="Google Shape;275;p42">
            <a:hlinkClick r:id="rId3"/>
          </p:cNvPr>
          <p:cNvPicPr preferRelativeResize="0"/>
          <p:nvPr/>
        </p:nvPicPr>
        <p:blipFill rotWithShape="1">
          <a:blip r:embed="rId4">
            <a:alphaModFix/>
          </a:blip>
          <a:srcRect b="0" l="13343" r="13343" t="0"/>
          <a:stretch/>
        </p:blipFill>
        <p:spPr>
          <a:xfrm>
            <a:off x="5486400" y="1280160"/>
            <a:ext cx="3017518" cy="27432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Nah, ada satu metode penelitian yang perlu kita coba mainkan yaitu </a:t>
            </a:r>
            <a:r>
              <a:rPr lang="en">
                <a:solidFill>
                  <a:schemeClr val="accent1"/>
                </a:solidFill>
              </a:rPr>
              <a:t>Card Sorting</a:t>
            </a:r>
            <a:endParaRPr>
              <a:solidFill>
                <a:schemeClr val="accent1"/>
              </a:solidFill>
            </a:endParaRPr>
          </a:p>
        </p:txBody>
      </p:sp>
      <p:sp>
        <p:nvSpPr>
          <p:cNvPr id="281" name="Google Shape;28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Card sorting</a:t>
            </a:r>
            <a:endParaRPr/>
          </a:p>
        </p:txBody>
      </p:sp>
      <p:sp>
        <p:nvSpPr>
          <p:cNvPr id="288" name="Google Shape;288;p4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Recap, c</a:t>
            </a:r>
            <a:r>
              <a:rPr b="1" lang="en" sz="1800">
                <a:solidFill>
                  <a:srgbClr val="743673"/>
                </a:solidFill>
                <a:highlight>
                  <a:schemeClr val="lt1"/>
                </a:highlight>
                <a:latin typeface="Raleway"/>
                <a:ea typeface="Raleway"/>
                <a:cs typeface="Raleway"/>
                <a:sym typeface="Raleway"/>
              </a:rPr>
              <a:t>ard sorting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Apa dan bagaimana?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merupakan metode untuk menentukan struktur atau kategori dari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ini memberikan pilihan pada sekelompok user untuk menentukan item produk atau fitur yang lebih diutamakan atau yang menjadi fokus utama.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Peneliti membuat beberapa pilihan dalam bentuk kartu kemudian diberikan pada user untuk diurutkan sesuai prioritasnya.</a:t>
            </a:r>
            <a:endParaRPr b="1" sz="1200">
              <a:solidFill>
                <a:schemeClr val="dk1"/>
              </a:solidFill>
              <a:latin typeface="Raleway"/>
              <a:ea typeface="Raleway"/>
              <a:cs typeface="Raleway"/>
              <a:sym typeface="Raleway"/>
            </a:endParaRPr>
          </a:p>
        </p:txBody>
      </p:sp>
      <p:pic>
        <p:nvPicPr>
          <p:cNvPr id="289" name="Google Shape;289;p44">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Card sorting</a:t>
            </a:r>
            <a:endParaRPr/>
          </a:p>
        </p:txBody>
      </p:sp>
      <p:sp>
        <p:nvSpPr>
          <p:cNvPr id="296" name="Google Shape;296;p4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Dilakukan kapan?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dilakukan di awal proses desain karena hasil analisis information architecture yang didapat akan diterapkan sebagai input pembuatan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Information architecture (IA) itu apa?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Arsitektur informasi adalah praktik memutuskan bagaimana mengatur bagian-bagian dari sesuatu (contohnya: website ataupun aplikasi) agar dapat dimengerti yang akan kita pelajari lebih lanjut pada topik- topik berikutnya.</a:t>
            </a:r>
            <a:endParaRPr sz="1200">
              <a:solidFill>
                <a:schemeClr val="dk1"/>
              </a:solidFill>
              <a:latin typeface="Raleway Medium"/>
              <a:ea typeface="Raleway Medium"/>
              <a:cs typeface="Raleway Medium"/>
              <a:sym typeface="Raleway Medium"/>
            </a:endParaRPr>
          </a:p>
        </p:txBody>
      </p:sp>
      <p:pic>
        <p:nvPicPr>
          <p:cNvPr id="297" name="Google Shape;297;p45">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Card sorting</a:t>
            </a:r>
            <a:endParaRPr/>
          </a:p>
        </p:txBody>
      </p:sp>
      <p:pic>
        <p:nvPicPr>
          <p:cNvPr descr="Start getting user feedback today: https://www.playbookux.com/&#10;____________________________________________ &#10;&#10;#ux #userexperience #cardsorting #userresearch #whiteboard" id="304" name="Google Shape;304;p46" title="What's Card Sorting in User Experience Research?">
            <a:hlinkClick r:id="rId3"/>
          </p:cNvPr>
          <p:cNvPicPr preferRelativeResize="0"/>
          <p:nvPr/>
        </p:nvPicPr>
        <p:blipFill>
          <a:blip r:embed="rId4">
            <a:alphaModFix/>
          </a:blip>
          <a:stretch>
            <a:fillRect/>
          </a:stretch>
        </p:blipFill>
        <p:spPr>
          <a:xfrm>
            <a:off x="1884600" y="807602"/>
            <a:ext cx="5527200" cy="4145400"/>
          </a:xfrm>
          <a:prstGeom prst="rect">
            <a:avLst/>
          </a:prstGeom>
          <a:noFill/>
          <a:ln>
            <a:noFill/>
          </a:ln>
        </p:spPr>
      </p:pic>
      <p:sp>
        <p:nvSpPr>
          <p:cNvPr id="305" name="Google Shape;305;p46"/>
          <p:cNvSpPr/>
          <p:nvPr/>
        </p:nvSpPr>
        <p:spPr>
          <a:xfrm>
            <a:off x="1842275" y="792700"/>
            <a:ext cx="5897700" cy="57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6"/>
          <p:cNvSpPr/>
          <p:nvPr/>
        </p:nvSpPr>
        <p:spPr>
          <a:xfrm>
            <a:off x="1699350" y="4380000"/>
            <a:ext cx="5897700" cy="57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Mari kita coba sebuah </a:t>
            </a:r>
            <a:r>
              <a:rPr lang="en">
                <a:solidFill>
                  <a:schemeClr val="accent1"/>
                </a:solidFill>
              </a:rPr>
              <a:t>simulasi untuk </a:t>
            </a:r>
            <a:endParaRPr>
              <a:solidFill>
                <a:schemeClr val="accent1"/>
              </a:solidFill>
            </a:endParaRPr>
          </a:p>
          <a:p>
            <a:pPr indent="0" lvl="0" marL="0" rtl="0" algn="ctr">
              <a:spcBef>
                <a:spcPts val="0"/>
              </a:spcBef>
              <a:spcAft>
                <a:spcPts val="0"/>
              </a:spcAft>
              <a:buNone/>
            </a:pPr>
            <a:r>
              <a:rPr lang="en">
                <a:solidFill>
                  <a:schemeClr val="accent1"/>
                </a:solidFill>
              </a:rPr>
              <a:t>melakukan card sorting</a:t>
            </a:r>
            <a:endParaRPr>
              <a:solidFill>
                <a:schemeClr val="accent1"/>
              </a:solidFill>
            </a:endParaRPr>
          </a:p>
        </p:txBody>
      </p:sp>
      <p:sp>
        <p:nvSpPr>
          <p:cNvPr id="312" name="Google Shape;31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Card sorting</a:t>
            </a:r>
            <a:endParaRPr/>
          </a:p>
        </p:txBody>
      </p:sp>
      <p:sp>
        <p:nvSpPr>
          <p:cNvPr id="319" name="Google Shape;319;p4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sendiri ada versi </a:t>
            </a:r>
            <a:r>
              <a:rPr b="1" lang="en" sz="1200">
                <a:solidFill>
                  <a:schemeClr val="dk1"/>
                </a:solidFill>
                <a:latin typeface="Raleway"/>
                <a:ea typeface="Raleway"/>
                <a:cs typeface="Raleway"/>
                <a:sym typeface="Raleway"/>
              </a:rPr>
              <a:t>terbuka</a:t>
            </a:r>
            <a:r>
              <a:rPr lang="en" sz="1200">
                <a:solidFill>
                  <a:schemeClr val="dk1"/>
                </a:solidFill>
                <a:latin typeface="Raleway Medium"/>
                <a:ea typeface="Raleway Medium"/>
                <a:cs typeface="Raleway Medium"/>
                <a:sym typeface="Raleway Medium"/>
              </a:rPr>
              <a:t> dan </a:t>
            </a:r>
            <a:r>
              <a:rPr b="1" lang="en" sz="1200">
                <a:solidFill>
                  <a:schemeClr val="dk1"/>
                </a:solidFill>
                <a:latin typeface="Raleway"/>
                <a:ea typeface="Raleway"/>
                <a:cs typeface="Raleway"/>
                <a:sym typeface="Raleway"/>
              </a:rPr>
              <a:t>tertutup</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Versi </a:t>
            </a:r>
            <a:r>
              <a:rPr b="1" lang="en" sz="1200">
                <a:solidFill>
                  <a:schemeClr val="dk1"/>
                </a:solidFill>
                <a:latin typeface="Raleway"/>
                <a:ea typeface="Raleway"/>
                <a:cs typeface="Raleway"/>
                <a:sym typeface="Raleway"/>
              </a:rPr>
              <a:t>terbuka </a:t>
            </a:r>
            <a:r>
              <a:rPr lang="en" sz="1200">
                <a:solidFill>
                  <a:schemeClr val="dk1"/>
                </a:solidFill>
                <a:latin typeface="Raleway Medium"/>
                <a:ea typeface="Raleway Medium"/>
                <a:cs typeface="Raleway Medium"/>
                <a:sym typeface="Raleway Medium"/>
              </a:rPr>
              <a:t>adalah dengan memperbolehkan user untuk membuat kelompok dan memberi nama kelompok dari kumpulan halaman.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Versi </a:t>
            </a:r>
            <a:r>
              <a:rPr b="1" lang="en" sz="1200">
                <a:solidFill>
                  <a:schemeClr val="dk1"/>
                </a:solidFill>
                <a:latin typeface="Raleway"/>
                <a:ea typeface="Raleway"/>
                <a:cs typeface="Raleway"/>
                <a:sym typeface="Raleway"/>
              </a:rPr>
              <a:t>tertutup</a:t>
            </a:r>
            <a:r>
              <a:rPr lang="en" sz="1200">
                <a:solidFill>
                  <a:schemeClr val="dk1"/>
                </a:solidFill>
                <a:latin typeface="Raleway Medium"/>
                <a:ea typeface="Raleway Medium"/>
                <a:cs typeface="Raleway Medium"/>
                <a:sym typeface="Raleway Medium"/>
              </a:rPr>
              <a:t> adalah ketika kita sudah menentukan kelompok kelompok menu dan meminta user untuk memasukkan halaman yang ada ke kelompok menu yang menurut mereka relevan.</a:t>
            </a:r>
            <a:endParaRPr sz="1200">
              <a:solidFill>
                <a:schemeClr val="dk1"/>
              </a:solidFill>
              <a:latin typeface="Raleway Medium"/>
              <a:ea typeface="Raleway Medium"/>
              <a:cs typeface="Raleway Medium"/>
              <a:sym typeface="Raleway Medium"/>
            </a:endParaRPr>
          </a:p>
        </p:txBody>
      </p:sp>
      <p:pic>
        <p:nvPicPr>
          <p:cNvPr id="320" name="Google Shape;320;p48">
            <a:hlinkClick r:id="rId3"/>
          </p:cNvPr>
          <p:cNvPicPr preferRelativeResize="0"/>
          <p:nvPr/>
        </p:nvPicPr>
        <p:blipFill rotWithShape="1">
          <a:blip r:embed="rId4">
            <a:alphaModFix/>
          </a:blip>
          <a:srcRect b="19704" l="0" r="0" t="19704"/>
          <a:stretch/>
        </p:blipFill>
        <p:spPr>
          <a:xfrm>
            <a:off x="5486400" y="1280160"/>
            <a:ext cx="3017517" cy="274320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Simulasi card</a:t>
            </a:r>
            <a:r>
              <a:rPr lang="en"/>
              <a:t> sorting</a:t>
            </a:r>
            <a:endParaRPr/>
          </a:p>
        </p:txBody>
      </p:sp>
      <p:sp>
        <p:nvSpPr>
          <p:cNvPr id="327" name="Google Shape;327;p4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Open card sort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u="sng">
                <a:solidFill>
                  <a:schemeClr val="hlink"/>
                </a:solidFill>
                <a:latin typeface="Raleway"/>
                <a:ea typeface="Raleway"/>
                <a:cs typeface="Raleway"/>
                <a:sym typeface="Raleway"/>
                <a:hlinkClick r:id="rId3"/>
              </a:rPr>
              <a:t>Klik untuk mencoba demo</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Peserta diminta untuk mengatur topik dari konten situs web Anda ke dalam grup yang masuk akal untuk mereka dan kemudian menamai setiap grup yang mereka buat dengan cara yang menurut mereka menggambarkan konten secara akurat.</a:t>
            </a:r>
            <a:endParaRPr b="1" sz="1200">
              <a:solidFill>
                <a:schemeClr val="dk1"/>
              </a:solidFill>
              <a:latin typeface="Raleway"/>
              <a:ea typeface="Raleway"/>
              <a:cs typeface="Raleway"/>
              <a:sym typeface="Raleway"/>
            </a:endParaRPr>
          </a:p>
        </p:txBody>
      </p:sp>
      <p:pic>
        <p:nvPicPr>
          <p:cNvPr id="328" name="Google Shape;328;p49"/>
          <p:cNvPicPr preferRelativeResize="0"/>
          <p:nvPr/>
        </p:nvPicPr>
        <p:blipFill rotWithShape="1">
          <a:blip r:embed="rId4">
            <a:alphaModFix/>
          </a:blip>
          <a:srcRect b="0" l="0" r="0" t="0"/>
          <a:stretch/>
        </p:blipFill>
        <p:spPr>
          <a:xfrm>
            <a:off x="5486400" y="1280149"/>
            <a:ext cx="3017524" cy="3017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Simulasi card sorting</a:t>
            </a:r>
            <a:endParaRPr/>
          </a:p>
        </p:txBody>
      </p:sp>
      <p:sp>
        <p:nvSpPr>
          <p:cNvPr id="335" name="Google Shape;335;p5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Closed</a:t>
            </a:r>
            <a:r>
              <a:rPr b="1" lang="en" sz="1800">
                <a:solidFill>
                  <a:srgbClr val="743673"/>
                </a:solidFill>
                <a:highlight>
                  <a:schemeClr val="lt1"/>
                </a:highlight>
                <a:latin typeface="Raleway"/>
                <a:ea typeface="Raleway"/>
                <a:cs typeface="Raleway"/>
                <a:sym typeface="Raleway"/>
              </a:rPr>
              <a:t> card sort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u="sng">
                <a:solidFill>
                  <a:schemeClr val="hlink"/>
                </a:solidFill>
                <a:latin typeface="Raleway"/>
                <a:ea typeface="Raleway"/>
                <a:cs typeface="Raleway"/>
                <a:sym typeface="Raleway"/>
                <a:hlinkClick r:id="rId3"/>
              </a:rPr>
              <a:t>Klik untuk mencoba demo</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Penyortiran kartu tertutup adalah variasi di mana pengguna diberikan rangkaian nama kategori yang telah ditentukan sebelumnya, dan mereka diminta untuk mengatur masing-masing kartu ke dalam kategori yang telah ditentukan.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Penyortiran kartu tertutup tidak mengungkapkan bagaimana pengguna mengkonseptualisasikan serangkaian topik.</a:t>
            </a:r>
            <a:endParaRPr b="1" sz="1200">
              <a:solidFill>
                <a:schemeClr val="dk1"/>
              </a:solidFill>
              <a:latin typeface="Raleway"/>
              <a:ea typeface="Raleway"/>
              <a:cs typeface="Raleway"/>
              <a:sym typeface="Raleway"/>
            </a:endParaRPr>
          </a:p>
        </p:txBody>
      </p:sp>
      <p:pic>
        <p:nvPicPr>
          <p:cNvPr id="336" name="Google Shape;336;p50">
            <a:hlinkClick r:id="rId4"/>
          </p:cNvPr>
          <p:cNvPicPr preferRelativeResize="0"/>
          <p:nvPr/>
        </p:nvPicPr>
        <p:blipFill rotWithShape="1">
          <a:blip r:embed="rId5">
            <a:alphaModFix/>
          </a:blip>
          <a:srcRect b="-70444" l="0" r="0" t="0"/>
          <a:stretch/>
        </p:blipFill>
        <p:spPr>
          <a:xfrm>
            <a:off x="5486400" y="1280160"/>
            <a:ext cx="3017517" cy="27432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Simulasi card sorting</a:t>
            </a:r>
            <a:endParaRPr/>
          </a:p>
        </p:txBody>
      </p:sp>
      <p:sp>
        <p:nvSpPr>
          <p:cNvPr id="343" name="Google Shape;343;p5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Image</a:t>
            </a:r>
            <a:r>
              <a:rPr b="1" lang="en" sz="1800">
                <a:solidFill>
                  <a:srgbClr val="743673"/>
                </a:solidFill>
                <a:highlight>
                  <a:schemeClr val="lt1"/>
                </a:highlight>
                <a:latin typeface="Raleway"/>
                <a:ea typeface="Raleway"/>
                <a:cs typeface="Raleway"/>
                <a:sym typeface="Raleway"/>
              </a:rPr>
              <a:t> card sort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u="sng">
                <a:solidFill>
                  <a:schemeClr val="hlink"/>
                </a:solidFill>
                <a:latin typeface="Raleway"/>
                <a:ea typeface="Raleway"/>
                <a:cs typeface="Raleway"/>
                <a:sym typeface="Raleway"/>
                <a:hlinkClick r:id="rId3"/>
              </a:rPr>
              <a:t>Klik untuk mencoba demo</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Image card sort dapat berupa open atau card sort. Pada simulasi diatas, card sorting dilakukan secara open.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Perbedaan image card sorting dengan yang sebelum - sebelumnya adalah penggunaan gambar sebagai </a:t>
            </a:r>
            <a:r>
              <a:rPr i="1" lang="en" sz="1200">
                <a:solidFill>
                  <a:schemeClr val="dk1"/>
                </a:solidFill>
                <a:latin typeface="Raleway Medium"/>
                <a:ea typeface="Raleway Medium"/>
                <a:cs typeface="Raleway Medium"/>
                <a:sym typeface="Raleway Medium"/>
              </a:rPr>
              <a:t>cards</a:t>
            </a:r>
            <a:r>
              <a:rPr lang="en" sz="1200">
                <a:solidFill>
                  <a:schemeClr val="dk1"/>
                </a:solidFill>
                <a:latin typeface="Raleway Medium"/>
                <a:ea typeface="Raleway Medium"/>
                <a:cs typeface="Raleway Medium"/>
                <a:sym typeface="Raleway Medium"/>
              </a:rPr>
              <a:t> yang perlu dikumpulkan ke dalam sebuah kategori.</a:t>
            </a:r>
            <a:endParaRPr sz="1200">
              <a:solidFill>
                <a:schemeClr val="dk1"/>
              </a:solidFill>
              <a:latin typeface="Raleway Medium"/>
              <a:ea typeface="Raleway Medium"/>
              <a:cs typeface="Raleway Medium"/>
              <a:sym typeface="Raleway Medium"/>
            </a:endParaRPr>
          </a:p>
        </p:txBody>
      </p:sp>
      <p:pic>
        <p:nvPicPr>
          <p:cNvPr id="344" name="Google Shape;344;p51">
            <a:hlinkClick r:id="rId4"/>
          </p:cNvPr>
          <p:cNvPicPr preferRelativeResize="0"/>
          <p:nvPr/>
        </p:nvPicPr>
        <p:blipFill rotWithShape="1">
          <a:blip r:embed="rId5">
            <a:alphaModFix/>
          </a:blip>
          <a:srcRect b="0" l="13422" r="13429" t="0"/>
          <a:stretch/>
        </p:blipFill>
        <p:spPr>
          <a:xfrm>
            <a:off x="5486400" y="1280160"/>
            <a:ext cx="3017517" cy="274320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50" name="Google Shape;350;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6" name="Google Shape;356;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Anda akan membutuhkan metode pendekatan dengan pengguna pada  ______ design thinking.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Tahapan kedua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Setiap tahapan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Satu tahapan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Tahapan pertama</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p:txBody>
      </p:sp>
      <p:sp>
        <p:nvSpPr>
          <p:cNvPr id="357" name="Google Shape;357;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3" name="Google Shape;363;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Anda akan membutuhkan metode pendekatan dengan pengguna pada  ______ design thinking.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Tahapan kedua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Setiap tahapan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Satu tahapan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Tahapan pertama</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p:txBody>
      </p:sp>
      <p:sp>
        <p:nvSpPr>
          <p:cNvPr id="364" name="Google Shape;36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54"/>
          <p:cNvSpPr/>
          <p:nvPr/>
        </p:nvSpPr>
        <p:spPr>
          <a:xfrm>
            <a:off x="685800" y="3536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Anda akan membutuhkan metode pendekatan dengan pengguna pada setiap tahapan design thinking, tidak hanya diawal atau diakhir.</a:t>
            </a:r>
            <a:endParaRPr b="1" sz="1000">
              <a:solidFill>
                <a:srgbClr val="733572"/>
              </a:solidFill>
              <a:latin typeface="Raleway"/>
              <a:ea typeface="Raleway"/>
              <a:cs typeface="Raleway"/>
              <a:sym typeface="Ralew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1" name="Google Shape;371;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Card sorting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Diskusi mendalam yang dilakukan secara face-to-face.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 satu metode untuk menentukan struktur atau kategori dari produk.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Sarana untuk meminta tanggapan dari user, bisa spesifik terkait produk atau hal lain yang berkaitan.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 satu metode untuk mengevaluasi produk yang paling sering digunakan. </a:t>
            </a:r>
            <a:endParaRPr sz="1200">
              <a:solidFill>
                <a:schemeClr val="lt1"/>
              </a:solidFill>
              <a:latin typeface="Raleway Medium"/>
              <a:ea typeface="Raleway Medium"/>
              <a:cs typeface="Raleway Medium"/>
              <a:sym typeface="Raleway Medium"/>
            </a:endParaRPr>
          </a:p>
        </p:txBody>
      </p:sp>
      <p:sp>
        <p:nvSpPr>
          <p:cNvPr id="372" name="Google Shape;37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8" name="Google Shape;378;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Card sorting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Diskusi mendalam yang dilakukan secara face-to-face.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Salah</a:t>
            </a:r>
            <a:r>
              <a:rPr b="1" lang="en" sz="1200">
                <a:solidFill>
                  <a:schemeClr val="lt1"/>
                </a:solidFill>
                <a:latin typeface="Raleway"/>
                <a:ea typeface="Raleway"/>
                <a:cs typeface="Raleway"/>
                <a:sym typeface="Raleway"/>
              </a:rPr>
              <a:t> satu metode untuk menentukan struktur atau kategori dari produk.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Sarana untuk meminta tanggapan dari user, bisa spesifik terkait produk atau hal lain yang berkaitan.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Salah satu metode untuk mengevaluasi produk yang paling sering digunakan. </a:t>
            </a:r>
            <a:endParaRPr sz="1200">
              <a:solidFill>
                <a:srgbClr val="A667A5"/>
              </a:solidFill>
              <a:latin typeface="Raleway Medium"/>
              <a:ea typeface="Raleway Medium"/>
              <a:cs typeface="Raleway Medium"/>
              <a:sym typeface="Raleway Medium"/>
            </a:endParaRPr>
          </a:p>
        </p:txBody>
      </p:sp>
      <p:sp>
        <p:nvSpPr>
          <p:cNvPr id="379" name="Google Shape;37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56"/>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Card sorting adalah metode yang digunakan untuk membantu merancang atau mengevaluasi arsitektur informasi suatu situs dan menentukan struktur atau kategori dari sebuah produk. </a:t>
            </a:r>
            <a:endParaRPr b="1" sz="1000">
              <a:solidFill>
                <a:srgbClr val="733572"/>
              </a:solidFill>
              <a:latin typeface="Raleway"/>
              <a:ea typeface="Raleway"/>
              <a:cs typeface="Raleway"/>
              <a:sym typeface="Ralew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6" name="Google Shape;386;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Usability testing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Diskusi mendalam yang dilakukan secara face-to-face.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 satu metode untuk menentukan struktur atau kategori dari produk.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Sarana untuk meminta tanggapan dari user, bisa spesifik terkait produk atau hal lain yang berkaitan.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 satu metode untuk mengevaluasi produk yang paling sering digunakan. </a:t>
            </a:r>
            <a:endParaRPr sz="1200">
              <a:solidFill>
                <a:schemeClr val="lt1"/>
              </a:solidFill>
              <a:latin typeface="Raleway Medium"/>
              <a:ea typeface="Raleway Medium"/>
              <a:cs typeface="Raleway Medium"/>
              <a:sym typeface="Raleway Medium"/>
            </a:endParaRPr>
          </a:p>
        </p:txBody>
      </p:sp>
      <p:sp>
        <p:nvSpPr>
          <p:cNvPr id="387" name="Google Shape;38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3" name="Google Shape;393;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Usability testing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Diskusi mendalam yang dilakukan secara face-to-face.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Salah satu metode untuk menentukan struktur atau kategori dari produk.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Sarana untuk meminta tanggapan dari user, bisa spesifik terkait produk atau hal lain yang berkaitan.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Salah satu metode untuk mengevaluasi produk yang paling sering digunakan. </a:t>
            </a:r>
            <a:endParaRPr b="1" sz="1200">
              <a:solidFill>
                <a:schemeClr val="lt1"/>
              </a:solidFill>
              <a:latin typeface="Raleway"/>
              <a:ea typeface="Raleway"/>
              <a:cs typeface="Raleway"/>
              <a:sym typeface="Raleway"/>
            </a:endParaRPr>
          </a:p>
        </p:txBody>
      </p:sp>
      <p:sp>
        <p:nvSpPr>
          <p:cNvPr id="394" name="Google Shape;394;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58"/>
          <p:cNvSpPr/>
          <p:nvPr/>
        </p:nvSpPr>
        <p:spPr>
          <a:xfrm>
            <a:off x="685800" y="3231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Usability Testing merupakan salah satu metode untuk mengevaluasi produk yang paling sering digunakan. Tujuan dari metode ini adalah mengetahui tanggapan berupa kesulitan, ide, dan pengetahuan baru terkait produk yang sedang diujikan. </a:t>
            </a:r>
            <a:endParaRPr b="1" sz="1000">
              <a:solidFill>
                <a:srgbClr val="733572"/>
              </a:solidFill>
              <a:latin typeface="Raleway"/>
              <a:ea typeface="Raleway"/>
              <a:cs typeface="Raleway"/>
              <a:sym typeface="Ralewa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1" name="Google Shape;401;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letak perbedaan antara focus groups dan wawancara,</a:t>
            </a:r>
            <a:r>
              <a:rPr b="1" lang="en" sz="1800">
                <a:solidFill>
                  <a:schemeClr val="lt1"/>
                </a:solidFill>
                <a:latin typeface="Raleway"/>
                <a:ea typeface="Raleway"/>
                <a:cs typeface="Raleway"/>
                <a:sym typeface="Raleway"/>
              </a:rPr>
              <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a:t>
            </a:r>
            <a:r>
              <a:rPr lang="en" sz="1200">
                <a:solidFill>
                  <a:schemeClr val="lt1"/>
                </a:solidFill>
                <a:latin typeface="Raleway Medium"/>
                <a:ea typeface="Raleway Medium"/>
                <a:cs typeface="Raleway Medium"/>
                <a:sym typeface="Raleway Medium"/>
              </a:rPr>
              <a:t> groups adalah bentuk khusus dari wawancara kelompok, di mana interaksi antara peserta didorong. Wawancara melibatkan mengajukan pertanyaan individu atau suatu kelompok kecil tentang suatu topik.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 groups dilakukan dengan bersamaan sedangkan wawancara satu persatu.</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 groups dilakukan satu persatu sedangkan wawancara bersamaan.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 groups merupakan diskusi informal antara anggota kelompok di mana setiap anggota diperbolehkan untuk mempresentasikan pandangannya. Sedangkan wawancara adalah semacam sesi tanya jawab formal di mana orang tersebut harus menjawab pertanyaan yang diajukan oleh panel.</a:t>
            </a:r>
            <a:endParaRPr sz="1200">
              <a:solidFill>
                <a:schemeClr val="lt1"/>
              </a:solidFill>
              <a:latin typeface="Raleway Medium"/>
              <a:ea typeface="Raleway Medium"/>
              <a:cs typeface="Raleway Medium"/>
              <a:sym typeface="Raleway Medium"/>
            </a:endParaRPr>
          </a:p>
        </p:txBody>
      </p:sp>
      <p:sp>
        <p:nvSpPr>
          <p:cNvPr id="402" name="Google Shape;402;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8" name="Google Shape;408;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letak perbedaan antara focus groups dan wawancara,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Focus groups adalah bentuk khusus dari wawancara kelompok, di mana interaksi antara peserta didorong. Wawancara melibatkan mengajukan pertanyaan individu atau suatu kelompok kecil tentang suatu topik.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Focus groups dilakukan dengan bersamaan sedangkan wawancara satu persatu.</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Focus groups dilakukan satu persatu sedangkan wawancara bersamaan.</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Focus groups merupakan diskusi informal antara anggota kelompok di mana setiap anggota diperbolehkan untuk mempresentasikan pandangannya. Sedangkan wawancara adalah semacam sesi tanya jawab formal di mana orang tersebut harus menjawab pertanyaan yang diajukan oleh panel.</a:t>
            </a:r>
            <a:endParaRPr sz="1200">
              <a:solidFill>
                <a:srgbClr val="A667A5"/>
              </a:solidFill>
              <a:latin typeface="Raleway Medium"/>
              <a:ea typeface="Raleway Medium"/>
              <a:cs typeface="Raleway Medium"/>
              <a:sym typeface="Raleway Medium"/>
            </a:endParaRPr>
          </a:p>
        </p:txBody>
      </p:sp>
      <p:sp>
        <p:nvSpPr>
          <p:cNvPr id="409" name="Google Shape;409;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60"/>
          <p:cNvSpPr/>
          <p:nvPr/>
        </p:nvSpPr>
        <p:spPr>
          <a:xfrm>
            <a:off x="685800" y="4222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Focus groups dilakukan bersamaan sedangkan wawancara dilakukan satu persatu.</a:t>
            </a:r>
            <a:endParaRPr b="1" sz="1000">
              <a:solidFill>
                <a:srgbClr val="733572"/>
              </a:solidFill>
              <a:latin typeface="Raleway"/>
              <a:ea typeface="Raleway"/>
              <a:cs typeface="Raleway"/>
              <a:sym typeface="Ralewa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6" name="Google Shape;416;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Dalam card sort tertutup, peserta </a:t>
            </a:r>
            <a:r>
              <a:rPr b="1" lang="en" sz="1800">
                <a:solidFill>
                  <a:schemeClr val="lt1"/>
                </a:solidFill>
                <a:latin typeface="Raleway"/>
                <a:ea typeface="Raleway"/>
                <a:cs typeface="Raleway"/>
                <a:sym typeface="Raleway"/>
              </a:rPr>
              <a:t>diminta untuk mengatur masing-masing kartu ______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dan menamakan kartu - kartu tersebut.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 dalam kategori dan menamakan kategori tersebut.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 dalam kategori yang telah ditentukan.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dan menentukan kategori yang pas. </a:t>
            </a:r>
            <a:endParaRPr sz="1200">
              <a:solidFill>
                <a:schemeClr val="lt1"/>
              </a:solidFill>
              <a:latin typeface="Raleway Medium"/>
              <a:ea typeface="Raleway Medium"/>
              <a:cs typeface="Raleway Medium"/>
              <a:sym typeface="Raleway Medium"/>
            </a:endParaRPr>
          </a:p>
        </p:txBody>
      </p:sp>
      <p:sp>
        <p:nvSpPr>
          <p:cNvPr id="417" name="Google Shape;417;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3" name="Google Shape;423;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Dalam card sort tertutup, peserta diminta untuk mengatur masing-masing kartu ______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dan menamakan kartu - kartu tersebut.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 dalam kategori dan menamakan kategori tersebut.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ke dalam kategori yang telah ditentukan.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dan menentukan kategori yang pas. </a:t>
            </a:r>
            <a:endParaRPr sz="1200">
              <a:solidFill>
                <a:srgbClr val="A667A5"/>
              </a:solidFill>
              <a:latin typeface="Raleway Medium"/>
              <a:ea typeface="Raleway Medium"/>
              <a:cs typeface="Raleway Medium"/>
              <a:sym typeface="Raleway Medium"/>
            </a:endParaRPr>
          </a:p>
        </p:txBody>
      </p:sp>
      <p:sp>
        <p:nvSpPr>
          <p:cNvPr id="424" name="Google Shape;424;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2"/>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Penyortiran kartu tertutup adalah variasi di mana pengguna diberikan rangkaian nama kategori yang telah ditentukan sebelumnya, dan mereka diminta untuk mengatur masing-masing kartu ke dalam kategori yang telah ditentukan.</a:t>
            </a:r>
            <a:endParaRPr b="1" sz="1000">
              <a:solidFill>
                <a:srgbClr val="733572"/>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1" name="Google Shape;431;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Pendekatan dengan pengguna dilakukan…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 akhir proses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 setiap tahapan design thinking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 awal proses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di tengah proses</a:t>
            </a:r>
            <a:endParaRPr sz="1200">
              <a:solidFill>
                <a:schemeClr val="lt1"/>
              </a:solidFill>
              <a:latin typeface="Raleway Medium"/>
              <a:ea typeface="Raleway Medium"/>
              <a:cs typeface="Raleway Medium"/>
              <a:sym typeface="Raleway Medium"/>
            </a:endParaRPr>
          </a:p>
        </p:txBody>
      </p:sp>
      <p:sp>
        <p:nvSpPr>
          <p:cNvPr id="432" name="Google Shape;432;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8" name="Google Shape;438;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Pendekatan dengan pengguna dilakukan…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di akhir proses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di setiap tahapan design thinking</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di awal proses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di tengah proses</a:t>
            </a:r>
            <a:endParaRPr sz="1200">
              <a:solidFill>
                <a:srgbClr val="A667A5"/>
              </a:solidFill>
              <a:latin typeface="Raleway Medium"/>
              <a:ea typeface="Raleway Medium"/>
              <a:cs typeface="Raleway Medium"/>
              <a:sym typeface="Raleway Medium"/>
            </a:endParaRPr>
          </a:p>
        </p:txBody>
      </p:sp>
      <p:sp>
        <p:nvSpPr>
          <p:cNvPr id="439" name="Google Shape;439;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4"/>
          <p:cNvSpPr/>
          <p:nvPr/>
        </p:nvSpPr>
        <p:spPr>
          <a:xfrm>
            <a:off x="685800" y="3231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Anda akan membutuhkan metode pendekatan dengan pengguna di setiap tahapan design thinking, tidak hanya di awal atau akhir proses.</a:t>
            </a:r>
            <a:endParaRPr b="1" sz="1000">
              <a:solidFill>
                <a:srgbClr val="733572"/>
              </a:solidFill>
              <a:latin typeface="Raleway"/>
              <a:ea typeface="Raleway"/>
              <a:cs typeface="Raleway"/>
              <a:sym typeface="Ralew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47" name="Google Shape;447;p6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48" name="Google Shape;448;p65"/>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The life and timelines of research projects by UX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Collective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6"/>
              </a:rPr>
              <a:t>A breakdown of UX research types by UX Collective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7"/>
              </a:rPr>
              <a:t>Generative vs. evaluation research: what’s the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8"/>
              </a:rPr>
              <a:t>    </a:t>
            </a:r>
            <a:r>
              <a:rPr lang="en" sz="1200" u="sng">
                <a:solidFill>
                  <a:schemeClr val="hlink"/>
                </a:solidFill>
                <a:latin typeface="Raleway Medium"/>
                <a:ea typeface="Raleway Medium"/>
                <a:cs typeface="Raleway Medium"/>
                <a:sym typeface="Raleway Medium"/>
                <a:hlinkClick r:id="rId9"/>
              </a:rPr>
              <a:t>difference and why do we need each? by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0"/>
              </a:rPr>
              <a:t>    </a:t>
            </a:r>
            <a:r>
              <a:rPr lang="en" sz="1200" u="sng">
                <a:solidFill>
                  <a:schemeClr val="hlink"/>
                </a:solidFill>
                <a:latin typeface="Raleway Medium"/>
                <a:ea typeface="Raleway Medium"/>
                <a:cs typeface="Raleway Medium"/>
                <a:sym typeface="Raleway Medium"/>
                <a:hlinkClick r:id="rId11"/>
              </a:rPr>
              <a:t>usertesting.com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52" name="Shape 452"/>
        <p:cNvGrpSpPr/>
        <p:nvPr/>
      </p:nvGrpSpPr>
      <p:grpSpPr>
        <a:xfrm>
          <a:off x="0" y="0"/>
          <a:ext cx="0" cy="0"/>
          <a:chOff x="0" y="0"/>
          <a:chExt cx="0" cy="0"/>
        </a:xfrm>
      </p:grpSpPr>
      <p:sp>
        <p:nvSpPr>
          <p:cNvPr id="453" name="Google Shape;453;p66"/>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4" name="Google Shape;454;p66"/>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5" name="Google Shape;455;p66"/>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6" name="Google Shape;456;p66"/>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7" name="Google Shape;457;p66"/>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58" name="Google Shape;458;p66"/>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59" name="Google Shape;459;p66"/>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60" name="Google Shape;460;p66"/>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