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embeddedFontLst>
    <p:embeddedFont>
      <p:font typeface="Raleway"/>
      <p:regular r:id="rId54"/>
      <p:bold r:id="rId55"/>
      <p:italic r:id="rId56"/>
      <p:boldItalic r:id="rId57"/>
    </p:embeddedFont>
    <p:embeddedFont>
      <p:font typeface="Montserrat"/>
      <p:regular r:id="rId58"/>
      <p:bold r:id="rId59"/>
      <p:italic r:id="rId60"/>
      <p:boldItalic r:id="rId61"/>
    </p:embeddedFont>
    <p:embeddedFont>
      <p:font typeface="Raleway Black"/>
      <p:bold r:id="rId62"/>
      <p:boldItalic r:id="rId63"/>
    </p:embeddedFont>
    <p:embeddedFont>
      <p:font typeface="Lato Black"/>
      <p:bold r:id="rId64"/>
      <p:boldItalic r:id="rId65"/>
    </p:embeddedFont>
    <p:embeddedFont>
      <p:font typeface="Raleway Medium"/>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Black-bold.fntdata"/><Relationship Id="rId61" Type="http://schemas.openxmlformats.org/officeDocument/2006/relationships/font" Target="fonts/Montserrat-boldItalic.fntdata"/><Relationship Id="rId20" Type="http://schemas.openxmlformats.org/officeDocument/2006/relationships/slide" Target="slides/slide15.xml"/><Relationship Id="rId64" Type="http://schemas.openxmlformats.org/officeDocument/2006/relationships/font" Target="fonts/LatoBlack-bold.fntdata"/><Relationship Id="rId63" Type="http://schemas.openxmlformats.org/officeDocument/2006/relationships/font" Target="fonts/RalewayBlack-boldItalic.fntdata"/><Relationship Id="rId22" Type="http://schemas.openxmlformats.org/officeDocument/2006/relationships/slide" Target="slides/slide17.xml"/><Relationship Id="rId66" Type="http://schemas.openxmlformats.org/officeDocument/2006/relationships/font" Target="fonts/RalewayMedium-regular.fntdata"/><Relationship Id="rId21" Type="http://schemas.openxmlformats.org/officeDocument/2006/relationships/slide" Target="slides/slide16.xml"/><Relationship Id="rId65" Type="http://schemas.openxmlformats.org/officeDocument/2006/relationships/font" Target="fonts/LatoBlack-boldItalic.fntdata"/><Relationship Id="rId24" Type="http://schemas.openxmlformats.org/officeDocument/2006/relationships/slide" Target="slides/slide19.xml"/><Relationship Id="rId68" Type="http://schemas.openxmlformats.org/officeDocument/2006/relationships/font" Target="fonts/RalewayMedium-italic.fntdata"/><Relationship Id="rId23" Type="http://schemas.openxmlformats.org/officeDocument/2006/relationships/slide" Target="slides/slide18.xml"/><Relationship Id="rId67" Type="http://schemas.openxmlformats.org/officeDocument/2006/relationships/font" Target="fonts/RalewayMedium-bold.fntdata"/><Relationship Id="rId60" Type="http://schemas.openxmlformats.org/officeDocument/2006/relationships/font" Target="fonts/Montserrat-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Medium-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aleway-bold.fntdata"/><Relationship Id="rId10" Type="http://schemas.openxmlformats.org/officeDocument/2006/relationships/slide" Target="slides/slide5.xml"/><Relationship Id="rId54" Type="http://schemas.openxmlformats.org/officeDocument/2006/relationships/font" Target="fonts/Raleway-regular.fntdata"/><Relationship Id="rId13" Type="http://schemas.openxmlformats.org/officeDocument/2006/relationships/slide" Target="slides/slide8.xml"/><Relationship Id="rId57" Type="http://schemas.openxmlformats.org/officeDocument/2006/relationships/font" Target="fonts/Raleway-boldItalic.fntdata"/><Relationship Id="rId12" Type="http://schemas.openxmlformats.org/officeDocument/2006/relationships/slide" Target="slides/slide7.xml"/><Relationship Id="rId56" Type="http://schemas.openxmlformats.org/officeDocument/2006/relationships/font" Target="fonts/Raleway-italic.fntdata"/><Relationship Id="rId15" Type="http://schemas.openxmlformats.org/officeDocument/2006/relationships/slide" Target="slides/slide10.xml"/><Relationship Id="rId59" Type="http://schemas.openxmlformats.org/officeDocument/2006/relationships/font" Target="fonts/Montserrat-bold.fntdata"/><Relationship Id="rId14" Type="http://schemas.openxmlformats.org/officeDocument/2006/relationships/slide" Target="slides/slide9.xml"/><Relationship Id="rId58" Type="http://schemas.openxmlformats.org/officeDocument/2006/relationships/font" Target="fonts/Montserrat-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nginakyur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enbjork?utm_source=unsplash&amp;utm_medium=referral&amp;utm_content=creditCopyText" TargetMode="External"/><Relationship Id="rId3" Type="http://schemas.openxmlformats.org/officeDocument/2006/relationships/hyperlink" Target="https://unsplash.com/@martenbjork?utm_source=unsplash&amp;utm_medium=referral&amp;utm_content=creditCopyText" TargetMode="External"/><Relationship Id="rId4" Type="http://schemas.openxmlformats.org/officeDocument/2006/relationships/hyperlink" Target="https://unsplash.com/s/photos/hotel?utm_source=unsplash&amp;utm_medium=referral&amp;utm_content=creditCopyText" TargetMode="External"/><Relationship Id="rId5" Type="http://schemas.openxmlformats.org/officeDocument/2006/relationships/hyperlink" Target="https://unsplash.com/s/photos/hotel?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enbjork?utm_source=unsplash&amp;utm_medium=referral&amp;utm_content=creditCopyText" TargetMode="External"/><Relationship Id="rId3" Type="http://schemas.openxmlformats.org/officeDocument/2006/relationships/hyperlink" Target="https://unsplash.com/@martenbjork?utm_source=unsplash&amp;utm_medium=referral&amp;utm_content=creditCopyText" TargetMode="External"/><Relationship Id="rId4" Type="http://schemas.openxmlformats.org/officeDocument/2006/relationships/hyperlink" Target="https://unsplash.com/s/photos/hotel?utm_source=unsplash&amp;utm_medium=referral&amp;utm_content=creditCopyText" TargetMode="External"/><Relationship Id="rId5" Type="http://schemas.openxmlformats.org/officeDocument/2006/relationships/hyperlink" Target="https://unsplash.com/s/photos/hotel?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zolkin?utm_source=unsplash&amp;utm_medium=referral&amp;utm_content=creditCopyText" TargetMode="External"/><Relationship Id="rId3" Type="http://schemas.openxmlformats.org/officeDocument/2006/relationships/hyperlink" Target="https://unsplash.com/@szolkin?utm_source=unsplash&amp;utm_medium=referral&amp;utm_content=creditCopyText" TargetMode="External"/><Relationship Id="rId4" Type="http://schemas.openxmlformats.org/officeDocument/2006/relationships/hyperlink" Target="https://unsplash.com/s/photos/form-online?utm_source=unsplash&amp;utm_medium=referral&amp;utm_content=creditCopyText" TargetMode="External"/><Relationship Id="rId5" Type="http://schemas.openxmlformats.org/officeDocument/2006/relationships/hyperlink" Target="https://unsplash.com/s/photos/form-online?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zolkin?utm_source=unsplash&amp;utm_medium=referral&amp;utm_content=creditCopyText" TargetMode="External"/><Relationship Id="rId3" Type="http://schemas.openxmlformats.org/officeDocument/2006/relationships/hyperlink" Target="https://unsplash.com/@szolkin?utm_source=unsplash&amp;utm_medium=referral&amp;utm_content=creditCopyText" TargetMode="External"/><Relationship Id="rId4" Type="http://schemas.openxmlformats.org/officeDocument/2006/relationships/hyperlink" Target="https://unsplash.com/s/photos/form-online?utm_source=unsplash&amp;utm_medium=referral&amp;utm_content=creditCopyText" TargetMode="External"/><Relationship Id="rId5" Type="http://schemas.openxmlformats.org/officeDocument/2006/relationships/hyperlink" Target="https://unsplash.com/s/photos/form-online?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roxyclick?utm_source=unsplash&amp;utm_medium=referral&amp;utm_content=creditCopyText" TargetMode="External"/><Relationship Id="rId3" Type="http://schemas.openxmlformats.org/officeDocument/2006/relationships/hyperlink" Target="https://unsplash.com/@proxyclick?utm_source=unsplash&amp;utm_medium=referral&amp;utm_content=creditCopyText" TargetMode="External"/><Relationship Id="rId4" Type="http://schemas.openxmlformats.org/officeDocument/2006/relationships/hyperlink" Target="https://unsplash.com/s/photos/hotel-visitor?utm_source=unsplash&amp;utm_medium=referral&amp;utm_content=creditCopyText" TargetMode="External"/><Relationship Id="rId5" Type="http://schemas.openxmlformats.org/officeDocument/2006/relationships/hyperlink" Target="https://unsplash.com/s/photos/hotel-visitor?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roxyclick?utm_source=unsplash&amp;utm_medium=referral&amp;utm_content=creditCopyText" TargetMode="External"/><Relationship Id="rId3" Type="http://schemas.openxmlformats.org/officeDocument/2006/relationships/hyperlink" Target="https://unsplash.com/@proxyclick?utm_source=unsplash&amp;utm_medium=referral&amp;utm_content=creditCopyText" TargetMode="External"/><Relationship Id="rId4" Type="http://schemas.openxmlformats.org/officeDocument/2006/relationships/hyperlink" Target="https://unsplash.com/s/photos/hotel-visitor?utm_source=unsplash&amp;utm_medium=referral&amp;utm_content=creditCopyText" TargetMode="External"/><Relationship Id="rId5" Type="http://schemas.openxmlformats.org/officeDocument/2006/relationships/hyperlink" Target="https://unsplash.com/s/photos/hotel-visitor?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nnaholinger?utm_source=unsplash&amp;utm_medium=referral&amp;utm_content=creditCopyText" TargetMode="External"/><Relationship Id="rId3" Type="http://schemas.openxmlformats.org/officeDocument/2006/relationships/hyperlink" Target="https://unsplash.com/@hannaholinger?utm_source=unsplash&amp;utm_medium=referral&amp;utm_content=creditCopyText" TargetMode="External"/><Relationship Id="rId4" Type="http://schemas.openxmlformats.org/officeDocument/2006/relationships/hyperlink" Target="https://unsplash.com/s/photos/note?utm_source=unsplash&amp;utm_medium=referral&amp;utm_content=creditCopyText" TargetMode="External"/><Relationship Id="rId5" Type="http://schemas.openxmlformats.org/officeDocument/2006/relationships/hyperlink" Target="https://unsplash.com/s/photos/note?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d1c2ecca7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d1c2ecca7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d1c2ecca7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d1c2ecca7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0f7e7774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0f7e7774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0b249276f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0b249276f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d1c2ecc95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d1c2ecc95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d1c2ecca74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d1c2ecca74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d1c2ecca74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d1c2ecca74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0f816abdff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0f816abdff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d1c2ecca74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d1c2ecca74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d1c2ecca74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d1c2ecca74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d1c2ecc95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d1c2ecc95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d1c2ecc95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d1c2ecc95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d1c2ecca74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d1c2ecca74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engin akyurt</a:t>
            </a:r>
            <a:r>
              <a:rPr lang="en">
                <a:solidFill>
                  <a:schemeClr val="dk1"/>
                </a:solidFill>
              </a:rPr>
              <a:t> on 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d1c2ecca74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d1c2ecca74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Marten Bjork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0f816abdf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0f816abdf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Marten Bjork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0f816abdff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0f816abdff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Sergey Zolkin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0f816abdff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0f816abdff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Sergey Zolkin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0f816abdff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0f816abdf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Proxyclick Visitor Management System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0f816abdff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0f816abdff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Proxyclick Visitor Management System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0f816abdff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0f816abdff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0f816abdff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0f816abdff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0f816abdff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0f816abdff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0f816abdff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0f816abdff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0f816abdff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0f816abdff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f816abdff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0f816abdff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0f816abdff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0f816abdff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https://uxdesign.cc/elevate-your-research-objectives-745cf9415d5b</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0f816abdff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0f816abdff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0f816abdff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0f816abdff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0f816abdff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0f816abdff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0f816abdff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0f816abdff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Hannah Olinger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0f816abdff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0f816abdff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0e8c3a84c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0e8c3a84c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0f816abdff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0f816abdff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0f816abdff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0f816abdff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0f816abdff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0f816abdff_1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0f816abdff_1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0f816abdff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0f816abdff_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0f816abdff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0f816abdff_1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0f816abdff_1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0f816abdff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0f816abdff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12c7c3ac60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12c7c3ac60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12c7c3ac6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12c7c3ac6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12c7c3ac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12c7c3ac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behance.net/gallery/93156527/Project-Management-UX-Case-Study" TargetMode="External"/><Relationship Id="rId4" Type="http://schemas.openxmlformats.org/officeDocument/2006/relationships/hyperlink" Target="https://www.behance.net/gallery/120639037/Black-Eye-Coffee-A-UIUX-Case-Study" TargetMode="External"/><Relationship Id="rId5" Type="http://schemas.openxmlformats.org/officeDocument/2006/relationships/image" Target="../media/image18.png"/><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unsplash.com/@enginakyurt" TargetMode="Externa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unsplash.com/@martenbjork?utm_source=unsplash&amp;utm_medium=referral&amp;utm_content=creditCopyText" TargetMode="External"/><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unsplash.com/@martenbjork?utm_source=unsplash&amp;utm_medium=referral&amp;utm_content=creditCopyText" TargetMode="External"/><Relationship Id="rId4"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unsplash.com/@szolkin?utm_source=unsplash&amp;utm_medium=referral&amp;utm_content=creditCopyText" TargetMode="External"/><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unsplash.com/@szolkin?utm_source=unsplash&amp;utm_medium=referral&amp;utm_content=creditCopyText" TargetMode="External"/><Relationship Id="rId4"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unsplash.com/@proxyclick?utm_source=unsplash&amp;utm_medium=referral&amp;utm_content=creditCopyText" TargetMode="External"/><Relationship Id="rId4"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nsplash.com/@proxyclick?utm_source=unsplash&amp;utm_medium=referral&amp;utm_content=creditCopyText" TargetMode="External"/><Relationship Id="rId4"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unsplash.com/@hannaholinger?utm_source=unsplash&amp;utm_medium=referral&amp;utm_content=creditCopyText" TargetMode="External"/><Relationship Id="rId4" Type="http://schemas.openxmlformats.org/officeDocument/2006/relationships/image" Target="../media/image1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1" Type="http://schemas.openxmlformats.org/officeDocument/2006/relationships/hyperlink" Target="https://www.linkedin.com/pulse/defining-ux-research-objectives-zornitza-yovcheva#:~:text=A%20UX%20research%20objective%20is,from%20carrying%20out%20the%20research.&amp;text=Delineate%20and%20align%20with%20the,and%20tools%20at%20your%20disposal" TargetMode="External"/><Relationship Id="rId10" Type="http://schemas.openxmlformats.org/officeDocument/2006/relationships/hyperlink" Target="https://www.linkedin.com/pulse/defining-ux-research-objectives-zornitza-yovcheva#:~:text=A%20UX%20research%20objective%20is,from%20carrying%20out%20the%20research.&amp;text=Delineate%20and%20align%20with%20the,and%20tools%20at%20your%20disposal" TargetMode="External"/><Relationship Id="rId12" Type="http://schemas.openxmlformats.org/officeDocument/2006/relationships/hyperlink" Target="https://uxdesign.cc/elevate-your-research-objectives-745cf9415d5b" TargetMode="External"/><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png"/><Relationship Id="rId4" Type="http://schemas.openxmlformats.org/officeDocument/2006/relationships/hyperlink" Target="https://careerfoundry.com/en/blog/ux-design/problem-statement-ux/" TargetMode="External"/><Relationship Id="rId9" Type="http://schemas.openxmlformats.org/officeDocument/2006/relationships/hyperlink" Target="https://www.linkedin.com/pulse/defining-ux-research-objectives-zornitza-yovcheva#:~:text=A%20UX%20research%20objective%20is,from%20carrying%20out%20the%20research.&amp;text=Delineate%20and%20align%20with%20the,and%20tools%20at%20your%20disposal" TargetMode="External"/><Relationship Id="rId5" Type="http://schemas.openxmlformats.org/officeDocument/2006/relationships/hyperlink" Target="https://careerfoundry.com/en/blog/ux-design/problem-statement-ux/" TargetMode="External"/><Relationship Id="rId6" Type="http://schemas.openxmlformats.org/officeDocument/2006/relationships/hyperlink" Target="https://www.uxpin.com/studio/blog/ux-research-plan/" TargetMode="External"/><Relationship Id="rId7" Type="http://schemas.openxmlformats.org/officeDocument/2006/relationships/hyperlink" Target="https://www.uxpin.com/studio/blog/ux-research-plan/" TargetMode="External"/><Relationship Id="rId8" Type="http://schemas.openxmlformats.org/officeDocument/2006/relationships/hyperlink" Target="https://www.uxpin.com/studio/blog/ux-research-pla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3" name="Shape 93"/>
        <p:cNvGrpSpPr/>
        <p:nvPr/>
      </p:nvGrpSpPr>
      <p:grpSpPr>
        <a:xfrm>
          <a:off x="0" y="0"/>
          <a:ext cx="0" cy="0"/>
          <a:chOff x="0" y="0"/>
          <a:chExt cx="0" cy="0"/>
        </a:xfrm>
      </p:grpSpPr>
      <p:sp>
        <p:nvSpPr>
          <p:cNvPr id="94" name="Google Shape;94;p19"/>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Research Objectives</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2 - Topic 3</a:t>
            </a:r>
            <a:endParaRPr b="1">
              <a:solidFill>
                <a:srgbClr val="FFFFFF"/>
              </a:solidFill>
              <a:latin typeface="Raleway"/>
              <a:ea typeface="Raleway"/>
              <a:cs typeface="Raleway"/>
              <a:sym typeface="Raleway"/>
            </a:endParaRPr>
          </a:p>
        </p:txBody>
      </p:sp>
      <p:cxnSp>
        <p:nvCxnSpPr>
          <p:cNvPr id="95" name="Google Shape;95;p19"/>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96" name="Google Shape;96;p19"/>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97" name="Google Shape;97;p19"/>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 name="Google Shape;103;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4" name="Google Shape;104;p2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5" name="Google Shape;105;p20"/>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Research Objectives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Research objectives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dk1"/>
                </a:solidFill>
                <a:latin typeface="Raleway Medium"/>
                <a:ea typeface="Raleway Medium"/>
                <a:cs typeface="Raleway Medium"/>
                <a:sym typeface="Raleway Medium"/>
              </a:rPr>
              <a:t>Menyusun problem statement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dk1"/>
                </a:solidFill>
                <a:latin typeface="Raleway Medium"/>
                <a:ea typeface="Raleway Medium"/>
                <a:cs typeface="Raleway Medium"/>
                <a:sym typeface="Raleway Medium"/>
              </a:rPr>
              <a:t>Menyusun research objectives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dk1"/>
                </a:solidFill>
                <a:latin typeface="Raleway Medium"/>
                <a:ea typeface="Raleway Medium"/>
                <a:cs typeface="Raleway Medium"/>
                <a:sym typeface="Raleway Medium"/>
              </a:rPr>
              <a:t>Research objectives dan questions</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 name="Google Shape;111;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 UX research</a:t>
            </a:r>
            <a:endParaRPr/>
          </a:p>
        </p:txBody>
      </p:sp>
      <p:sp>
        <p:nvSpPr>
          <p:cNvPr id="112" name="Google Shape;112;p2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Sebelum masuk ke research objectives yuk kita recap dulu~</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Seperti yang sudah dijelaskan pada topik sebelumnya, </a:t>
            </a:r>
            <a:r>
              <a:rPr b="1" lang="en" sz="1200">
                <a:solidFill>
                  <a:schemeClr val="dk1"/>
                </a:solidFill>
                <a:latin typeface="Raleway"/>
                <a:ea typeface="Raleway"/>
                <a:cs typeface="Raleway"/>
                <a:sym typeface="Raleway"/>
              </a:rPr>
              <a:t>User Research</a:t>
            </a:r>
            <a:r>
              <a:rPr lang="en" sz="1200">
                <a:solidFill>
                  <a:schemeClr val="dk1"/>
                </a:solidFill>
                <a:latin typeface="Raleway Medium"/>
                <a:ea typeface="Raleway Medium"/>
                <a:cs typeface="Raleway Medium"/>
                <a:sym typeface="Raleway Medium"/>
              </a:rPr>
              <a:t> atau </a:t>
            </a:r>
            <a:r>
              <a:rPr b="1" lang="en" sz="1200">
                <a:solidFill>
                  <a:schemeClr val="dk1"/>
                </a:solidFill>
                <a:latin typeface="Raleway"/>
                <a:ea typeface="Raleway"/>
                <a:cs typeface="Raleway"/>
                <a:sym typeface="Raleway"/>
              </a:rPr>
              <a:t>UX research</a:t>
            </a:r>
            <a:r>
              <a:rPr lang="en" sz="1200">
                <a:solidFill>
                  <a:schemeClr val="dk1"/>
                </a:solidFill>
                <a:latin typeface="Raleway Medium"/>
                <a:ea typeface="Raleway Medium"/>
                <a:cs typeface="Raleway Medium"/>
                <a:sym typeface="Raleway Medium"/>
              </a:rPr>
              <a:t> merujuk pada berbagai metode ilmiah yang dapat kita gunakan untuk </a:t>
            </a:r>
            <a:r>
              <a:rPr b="1" lang="en" sz="1200">
                <a:solidFill>
                  <a:schemeClr val="dk1"/>
                </a:solidFill>
                <a:latin typeface="Raleway"/>
                <a:ea typeface="Raleway"/>
                <a:cs typeface="Raleway"/>
                <a:sym typeface="Raleway"/>
              </a:rPr>
              <a:t>memahami pikiran, perasaan, dan perilaku orang-orang yang menggunakan suatu produk/layanan.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Pemahaman tersebut biasanya didapat melalui proses </a:t>
            </a:r>
            <a:r>
              <a:rPr b="1" lang="en" sz="1200">
                <a:solidFill>
                  <a:schemeClr val="dk1"/>
                </a:solidFill>
                <a:latin typeface="Raleway"/>
                <a:ea typeface="Raleway"/>
                <a:cs typeface="Raleway"/>
                <a:sym typeface="Raleway"/>
              </a:rPr>
              <a:t>observasi </a:t>
            </a:r>
            <a:r>
              <a:rPr lang="en" sz="1200">
                <a:solidFill>
                  <a:schemeClr val="dk1"/>
                </a:solidFill>
                <a:latin typeface="Raleway Medium"/>
                <a:ea typeface="Raleway Medium"/>
                <a:cs typeface="Raleway Medium"/>
                <a:sym typeface="Raleway Medium"/>
              </a:rPr>
              <a:t>apa yang mereka lakukan atau dengan langsung meminta </a:t>
            </a:r>
            <a:r>
              <a:rPr b="1" lang="en" sz="1200">
                <a:solidFill>
                  <a:schemeClr val="dk1"/>
                </a:solidFill>
                <a:latin typeface="Raleway"/>
                <a:ea typeface="Raleway"/>
                <a:cs typeface="Raleway"/>
                <a:sym typeface="Raleway"/>
              </a:rPr>
              <a:t>feedback</a:t>
            </a:r>
            <a:r>
              <a:rPr lang="en" sz="1200">
                <a:solidFill>
                  <a:schemeClr val="dk1"/>
                </a:solidFill>
                <a:latin typeface="Raleway Medium"/>
                <a:ea typeface="Raleway Medium"/>
                <a:cs typeface="Raleway Medium"/>
                <a:sym typeface="Raleway Medium"/>
              </a:rPr>
              <a:t> dari apa yang mereka alami.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13" name="Google Shape;113;p21"/>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 name="Google Shape;119;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 L</a:t>
            </a:r>
            <a:r>
              <a:rPr lang="en"/>
              <a:t>angkah - langkah research</a:t>
            </a:r>
            <a:endParaRPr/>
          </a:p>
        </p:txBody>
      </p:sp>
      <p:grpSp>
        <p:nvGrpSpPr>
          <p:cNvPr id="120" name="Google Shape;120;p22"/>
          <p:cNvGrpSpPr/>
          <p:nvPr/>
        </p:nvGrpSpPr>
        <p:grpSpPr>
          <a:xfrm>
            <a:off x="0" y="1326094"/>
            <a:ext cx="2214600" cy="3217636"/>
            <a:chOff x="0" y="1189989"/>
            <a:chExt cx="2214600" cy="3217636"/>
          </a:xfrm>
        </p:grpSpPr>
        <p:sp>
          <p:nvSpPr>
            <p:cNvPr id="121" name="Google Shape;121;p22"/>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lang="en">
                  <a:solidFill>
                    <a:srgbClr val="FFFFFF"/>
                  </a:solidFill>
                  <a:latin typeface="Raleway Medium"/>
                  <a:ea typeface="Raleway Medium"/>
                  <a:cs typeface="Raleway Medium"/>
                  <a:sym typeface="Raleway Medium"/>
                </a:rPr>
                <a:t>1 Tujuan</a:t>
              </a:r>
              <a:endParaRPr>
                <a:solidFill>
                  <a:srgbClr val="FFFFFF"/>
                </a:solidFill>
                <a:latin typeface="Raleway Medium"/>
                <a:ea typeface="Raleway Medium"/>
                <a:cs typeface="Raleway Medium"/>
                <a:sym typeface="Raleway Medium"/>
              </a:endParaRPr>
            </a:p>
          </p:txBody>
        </p:sp>
        <p:sp>
          <p:nvSpPr>
            <p:cNvPr id="122" name="Google Shape;122;p22"/>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Kesenjangan pengetahuan apa yang harus diatasi atau diisi?</a:t>
              </a:r>
              <a:endParaRPr b="1" sz="1100">
                <a:solidFill>
                  <a:srgbClr val="743673"/>
                </a:solidFill>
                <a:latin typeface="Raleway"/>
                <a:ea typeface="Raleway"/>
                <a:cs typeface="Raleway"/>
                <a:sym typeface="Raleway"/>
              </a:endParaRPr>
            </a:p>
          </p:txBody>
        </p:sp>
      </p:grpSp>
      <p:grpSp>
        <p:nvGrpSpPr>
          <p:cNvPr id="123" name="Google Shape;123;p22"/>
          <p:cNvGrpSpPr/>
          <p:nvPr/>
        </p:nvGrpSpPr>
        <p:grpSpPr>
          <a:xfrm>
            <a:off x="1838325" y="1325880"/>
            <a:ext cx="2064000" cy="3498650"/>
            <a:chOff x="1838325" y="1189775"/>
            <a:chExt cx="2064000" cy="3498650"/>
          </a:xfrm>
        </p:grpSpPr>
        <p:sp>
          <p:nvSpPr>
            <p:cNvPr id="124" name="Google Shape;124;p22"/>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2 Hipotesis</a:t>
              </a:r>
              <a:endParaRPr>
                <a:solidFill>
                  <a:srgbClr val="FFFFFF"/>
                </a:solidFill>
                <a:latin typeface="Raleway Medium"/>
                <a:ea typeface="Raleway Medium"/>
                <a:cs typeface="Raleway Medium"/>
                <a:sym typeface="Raleway Medium"/>
              </a:endParaRPr>
            </a:p>
          </p:txBody>
        </p:sp>
        <p:sp>
          <p:nvSpPr>
            <p:cNvPr id="125" name="Google Shape;125;p22"/>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Apa yang kita pikir, kita pahami tentang pengguna?</a:t>
              </a:r>
              <a:endParaRPr sz="1100">
                <a:latin typeface="Raleway Medium"/>
                <a:ea typeface="Raleway Medium"/>
                <a:cs typeface="Raleway Medium"/>
                <a:sym typeface="Raleway Medium"/>
              </a:endParaRPr>
            </a:p>
          </p:txBody>
        </p:sp>
      </p:grpSp>
      <p:grpSp>
        <p:nvGrpSpPr>
          <p:cNvPr id="126" name="Google Shape;126;p22"/>
          <p:cNvGrpSpPr/>
          <p:nvPr/>
        </p:nvGrpSpPr>
        <p:grpSpPr>
          <a:xfrm>
            <a:off x="3516750" y="1325880"/>
            <a:ext cx="2064000" cy="3217850"/>
            <a:chOff x="3516750" y="1189775"/>
            <a:chExt cx="2064000" cy="3217850"/>
          </a:xfrm>
        </p:grpSpPr>
        <p:sp>
          <p:nvSpPr>
            <p:cNvPr id="127" name="Google Shape;127;p22"/>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3 Metode</a:t>
              </a:r>
              <a:endParaRPr>
                <a:solidFill>
                  <a:srgbClr val="FFFFFF"/>
                </a:solidFill>
                <a:latin typeface="Raleway Medium"/>
                <a:ea typeface="Raleway Medium"/>
                <a:cs typeface="Raleway Medium"/>
                <a:sym typeface="Raleway Medium"/>
              </a:endParaRPr>
            </a:p>
          </p:txBody>
        </p:sp>
        <p:sp>
          <p:nvSpPr>
            <p:cNvPr id="128" name="Google Shape;128;p22"/>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Metode penelitian mana yang paling baik diterapkan berdasarkan waktu dan sumber daya kita?</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p:txBody>
        </p:sp>
      </p:grpSp>
      <p:grpSp>
        <p:nvGrpSpPr>
          <p:cNvPr id="129" name="Google Shape;129;p22"/>
          <p:cNvGrpSpPr/>
          <p:nvPr/>
        </p:nvGrpSpPr>
        <p:grpSpPr>
          <a:xfrm>
            <a:off x="6874025" y="1325880"/>
            <a:ext cx="2064000" cy="3790250"/>
            <a:chOff x="6874025" y="1189775"/>
            <a:chExt cx="2064000" cy="3790250"/>
          </a:xfrm>
        </p:grpSpPr>
        <p:sp>
          <p:nvSpPr>
            <p:cNvPr id="130" name="Google Shape;130;p22"/>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5 Persatuan</a:t>
              </a:r>
              <a:endParaRPr>
                <a:solidFill>
                  <a:srgbClr val="FFFFFF"/>
                </a:solidFill>
                <a:latin typeface="Raleway Medium"/>
                <a:ea typeface="Raleway Medium"/>
                <a:cs typeface="Raleway Medium"/>
                <a:sym typeface="Raleway Medium"/>
              </a:endParaRPr>
            </a:p>
          </p:txBody>
        </p:sp>
        <p:sp>
          <p:nvSpPr>
            <p:cNvPr id="131" name="Google Shape;131;p22"/>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Isi kesenjangan pengetahuan, validasi / batalkan hipotesis dan temukan peluang.</a:t>
              </a:r>
              <a:endParaRPr sz="1100">
                <a:latin typeface="Raleway Medium"/>
                <a:ea typeface="Raleway Medium"/>
                <a:cs typeface="Raleway Medium"/>
                <a:sym typeface="Raleway Medium"/>
              </a:endParaRPr>
            </a:p>
          </p:txBody>
        </p:sp>
      </p:grpSp>
      <p:grpSp>
        <p:nvGrpSpPr>
          <p:cNvPr id="132" name="Google Shape;132;p22"/>
          <p:cNvGrpSpPr/>
          <p:nvPr/>
        </p:nvGrpSpPr>
        <p:grpSpPr>
          <a:xfrm>
            <a:off x="5195350" y="1325880"/>
            <a:ext cx="2064000" cy="3217850"/>
            <a:chOff x="5195350" y="1189775"/>
            <a:chExt cx="2064000" cy="3217850"/>
          </a:xfrm>
        </p:grpSpPr>
        <p:sp>
          <p:nvSpPr>
            <p:cNvPr id="133" name="Google Shape;133;p22"/>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4 Pengadaan</a:t>
              </a:r>
              <a:endParaRPr>
                <a:solidFill>
                  <a:srgbClr val="FFFFFF"/>
                </a:solidFill>
                <a:latin typeface="Raleway Medium"/>
                <a:ea typeface="Raleway Medium"/>
                <a:cs typeface="Raleway Medium"/>
                <a:sym typeface="Raleway Medium"/>
              </a:endParaRPr>
            </a:p>
          </p:txBody>
        </p:sp>
        <p:sp>
          <p:nvSpPr>
            <p:cNvPr id="134" name="Google Shape;134;p22"/>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latin typeface="Raleway Medium"/>
                  <a:ea typeface="Raleway Medium"/>
                  <a:cs typeface="Raleway Medium"/>
                  <a:sym typeface="Raleway Medium"/>
                </a:rPr>
                <a:t>Kumpulkan data berdasarkan metode yang dipilih</a:t>
              </a:r>
              <a:endParaRPr sz="11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solidFill>
                  <a:schemeClr val="dk1"/>
                </a:solidFill>
                <a:latin typeface="Raleway Medium"/>
                <a:ea typeface="Raleway Medium"/>
                <a:cs typeface="Raleway Medium"/>
                <a:sym typeface="Raleway Medium"/>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 memulai research, hal </a:t>
            </a:r>
            <a:r>
              <a:rPr lang="en"/>
              <a:t>yang perlu </a:t>
            </a:r>
            <a:endParaRPr/>
          </a:p>
          <a:p>
            <a:pPr indent="0" lvl="0" marL="0" rtl="0" algn="ctr">
              <a:spcBef>
                <a:spcPts val="0"/>
              </a:spcBef>
              <a:spcAft>
                <a:spcPts val="0"/>
              </a:spcAft>
              <a:buNone/>
            </a:pPr>
            <a:r>
              <a:rPr lang="en"/>
              <a:t>dilakukan pertama adalah menentukan </a:t>
            </a:r>
            <a:endParaRPr/>
          </a:p>
          <a:p>
            <a:pPr indent="0" lvl="0" marL="0" rtl="0" algn="ctr">
              <a:spcBef>
                <a:spcPts val="0"/>
              </a:spcBef>
              <a:spcAft>
                <a:spcPts val="0"/>
              </a:spcAft>
              <a:buNone/>
            </a:pPr>
            <a:r>
              <a:rPr lang="en">
                <a:solidFill>
                  <a:schemeClr val="accent1"/>
                </a:solidFill>
              </a:rPr>
              <a:t>research objectives</a:t>
            </a:r>
            <a:endParaRPr>
              <a:solidFill>
                <a:schemeClr val="accent1"/>
              </a:solidFill>
            </a:endParaRPr>
          </a:p>
        </p:txBody>
      </p:sp>
      <p:sp>
        <p:nvSpPr>
          <p:cNvPr id="140" name="Google Shape;14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6" name="Google Shape;146;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a:t>
            </a:r>
            <a:endParaRPr/>
          </a:p>
        </p:txBody>
      </p:sp>
      <p:sp>
        <p:nvSpPr>
          <p:cNvPr id="147" name="Google Shape;147;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Apa itu research objectives?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Research objectives </a:t>
            </a:r>
            <a:r>
              <a:rPr lang="en" sz="1200">
                <a:solidFill>
                  <a:schemeClr val="dk1"/>
                </a:solidFill>
                <a:latin typeface="Raleway Medium"/>
                <a:ea typeface="Raleway Medium"/>
                <a:cs typeface="Raleway Medium"/>
                <a:sym typeface="Raleway Medium"/>
              </a:rPr>
              <a:t>(tujuan penelitian) merupakan dasar utama untuk kamu ketika akan melakukan sebuah penelitian untuk mengumpulkan ide-ide spesifik yang ingin kamu pelajari lebih lanjut selama penelitian dan pertanyaan-pertanyaan yang ingin kamu jawab selama penelitian.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Sehingga pada dasarnya, tujuan penelitian itu sendirilah yang akan mendorong keseluruhan proyek.</a:t>
            </a:r>
            <a:endParaRPr sz="1200">
              <a:solidFill>
                <a:schemeClr val="dk1"/>
              </a:solidFill>
              <a:latin typeface="Raleway Medium"/>
              <a:ea typeface="Raleway Medium"/>
              <a:cs typeface="Raleway Medium"/>
              <a:sym typeface="Raleway Medium"/>
            </a:endParaRPr>
          </a:p>
        </p:txBody>
      </p:sp>
      <p:pic>
        <p:nvPicPr>
          <p:cNvPr id="148" name="Google Shape;148;p24"/>
          <p:cNvPicPr preferRelativeResize="0"/>
          <p:nvPr/>
        </p:nvPicPr>
        <p:blipFill rotWithShape="1">
          <a:blip r:embed="rId3">
            <a:alphaModFix/>
          </a:blip>
          <a:srcRect b="29" l="0" r="0" t="29"/>
          <a:stretch/>
        </p:blipFill>
        <p:spPr>
          <a:xfrm>
            <a:off x="5426925" y="839325"/>
            <a:ext cx="2726475" cy="3769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4" name="Google Shape;154;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a:t>
            </a:r>
            <a:endParaRPr/>
          </a:p>
        </p:txBody>
      </p:sp>
      <p:sp>
        <p:nvSpPr>
          <p:cNvPr id="155" name="Google Shape;155;p25"/>
          <p:cNvSpPr txBox="1"/>
          <p:nvPr/>
        </p:nvSpPr>
        <p:spPr>
          <a:xfrm>
            <a:off x="685800" y="971547"/>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Research objectives itu dimulai dari sebuah problem statement (pernyataan masalah)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Sebelum memulai penelitian, kamu harus memulainya dengan sebuah </a:t>
            </a:r>
            <a:r>
              <a:rPr b="1" lang="en" sz="1200">
                <a:solidFill>
                  <a:schemeClr val="dk1"/>
                </a:solidFill>
                <a:latin typeface="Raleway"/>
                <a:ea typeface="Raleway"/>
                <a:cs typeface="Raleway"/>
                <a:sym typeface="Raleway"/>
              </a:rPr>
              <a:t>problem statement</a:t>
            </a:r>
            <a:r>
              <a:rPr lang="en" sz="1200">
                <a:solidFill>
                  <a:schemeClr val="dk1"/>
                </a:solidFill>
                <a:latin typeface="Raleway Medium"/>
                <a:ea typeface="Raleway Medium"/>
                <a:cs typeface="Raleway Medium"/>
                <a:sym typeface="Raleway Medium"/>
              </a:rPr>
              <a:t> atau </a:t>
            </a:r>
            <a:r>
              <a:rPr b="1" lang="en" sz="1200">
                <a:solidFill>
                  <a:schemeClr val="dk1"/>
                </a:solidFill>
                <a:latin typeface="Raleway"/>
                <a:ea typeface="Raleway"/>
                <a:cs typeface="Raleway"/>
                <a:sym typeface="Raleway"/>
              </a:rPr>
              <a:t>pernyataan masalah.</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Pernyataan masalah itu merupakan </a:t>
            </a:r>
            <a:r>
              <a:rPr b="1" lang="en" sz="1200">
                <a:solidFill>
                  <a:schemeClr val="dk1"/>
                </a:solidFill>
                <a:latin typeface="Raleway"/>
                <a:ea typeface="Raleway"/>
                <a:cs typeface="Raleway"/>
                <a:sym typeface="Raleway"/>
              </a:rPr>
              <a:t>pernyataan sentral </a:t>
            </a:r>
            <a:r>
              <a:rPr lang="en" sz="1200">
                <a:solidFill>
                  <a:schemeClr val="dk1"/>
                </a:solidFill>
                <a:latin typeface="Raleway Medium"/>
                <a:ea typeface="Raleway Medium"/>
                <a:cs typeface="Raleway Medium"/>
                <a:sym typeface="Raleway Medium"/>
              </a:rPr>
              <a:t>yang harus dijawab oleh </a:t>
            </a:r>
            <a:r>
              <a:rPr b="1" lang="en" sz="1200">
                <a:solidFill>
                  <a:schemeClr val="dk1"/>
                </a:solidFill>
                <a:latin typeface="Raleway"/>
                <a:ea typeface="Raleway"/>
                <a:cs typeface="Raleway"/>
                <a:sym typeface="Raleway"/>
              </a:rPr>
              <a:t>temuan penelitian</a:t>
            </a:r>
            <a:r>
              <a:rPr lang="en" sz="1200">
                <a:solidFill>
                  <a:schemeClr val="dk1"/>
                </a:solidFill>
                <a:latin typeface="Raleway Medium"/>
                <a:ea typeface="Raleway Medium"/>
                <a:cs typeface="Raleway Medium"/>
                <a:sym typeface="Raleway Medium"/>
              </a:rPr>
              <a:t>.</a:t>
            </a:r>
            <a:r>
              <a:rPr b="1" lang="en" sz="1200">
                <a:solidFill>
                  <a:schemeClr val="dk1"/>
                </a:solidFill>
                <a:latin typeface="Raleway"/>
                <a:ea typeface="Raleway"/>
                <a:cs typeface="Raleway"/>
                <a:sym typeface="Raleway"/>
              </a:rPr>
              <a:t> Pernyataan masalah adalah apa yang akan kita pelajari</a:t>
            </a:r>
            <a:r>
              <a:rPr lang="en" sz="1200">
                <a:solidFill>
                  <a:schemeClr val="dk1"/>
                </a:solidFill>
                <a:latin typeface="Raleway Medium"/>
                <a:ea typeface="Raleway Medium"/>
                <a:cs typeface="Raleway Medium"/>
                <a:sym typeface="Raleway Medium"/>
              </a:rPr>
              <a:t>, dan merupakan </a:t>
            </a:r>
            <a:r>
              <a:rPr b="1" lang="en" sz="1200">
                <a:solidFill>
                  <a:schemeClr val="dk1"/>
                </a:solidFill>
                <a:latin typeface="Raleway"/>
                <a:ea typeface="Raleway"/>
                <a:cs typeface="Raleway"/>
                <a:sym typeface="Raleway"/>
              </a:rPr>
              <a:t>topik menyeluruh dari proyek penelitian</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p:txBody>
      </p:sp>
      <p:pic>
        <p:nvPicPr>
          <p:cNvPr id="156" name="Google Shape;156;p25"/>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a:t>
            </a:r>
            <a:endParaRPr/>
          </a:p>
        </p:txBody>
      </p:sp>
      <p:sp>
        <p:nvSpPr>
          <p:cNvPr id="163" name="Google Shape;163;p2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Daftar tujuan penelitian yang ditulis dengan baik itu…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Selaras dengan tujuan proyek.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Menggambarkan keseluruhan pendekatan dan pertanyaan yang mungkin kamu ajukan.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Mendikte metode penelitian yang paling sesuai untuk diterapkan.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Menentukan hasil yang akan diperoleh dari penelitian tersebut.</a:t>
            </a:r>
            <a:endParaRPr sz="1200">
              <a:solidFill>
                <a:schemeClr val="dk1"/>
              </a:solidFill>
              <a:latin typeface="Raleway Medium"/>
              <a:ea typeface="Raleway Medium"/>
              <a:cs typeface="Raleway Medium"/>
              <a:sym typeface="Raleway Medium"/>
            </a:endParaRPr>
          </a:p>
        </p:txBody>
      </p:sp>
      <p:pic>
        <p:nvPicPr>
          <p:cNvPr id="164" name="Google Shape;164;p26"/>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a:t>
            </a:r>
            <a:endParaRPr/>
          </a:p>
        </p:txBody>
      </p:sp>
      <p:sp>
        <p:nvSpPr>
          <p:cNvPr id="171" name="Google Shape;171;p2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Catatan pada tujuan penelitian</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rPr lang="en" sz="1200">
                <a:solidFill>
                  <a:schemeClr val="dk1"/>
                </a:solidFill>
                <a:latin typeface="Raleway Medium"/>
                <a:ea typeface="Raleway Medium"/>
                <a:cs typeface="Raleway Medium"/>
                <a:sym typeface="Raleway Medium"/>
              </a:rPr>
              <a:t>Mendefinisikan tujuan penelitian bisa menantang dan terlihat seperti permainan catur.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rPr lang="en" sz="1200">
                <a:solidFill>
                  <a:schemeClr val="dk1"/>
                </a:solidFill>
                <a:latin typeface="Raleway Medium"/>
                <a:ea typeface="Raleway Medium"/>
                <a:cs typeface="Raleway Medium"/>
                <a:sym typeface="Raleway Medium"/>
              </a:rPr>
              <a:t>Kamu perlu membayangkan dan memainkan seluruh proses di kepala kamu sendiri bahkan sebelum kamu memulainya.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72" name="Google Shape;172;p27"/>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Sebelum menyusun research objectives, kita perlu menyusun </a:t>
            </a:r>
            <a:r>
              <a:rPr lang="en">
                <a:solidFill>
                  <a:schemeClr val="accent1"/>
                </a:solidFill>
              </a:rPr>
              <a:t>problem statement</a:t>
            </a:r>
            <a:endParaRPr>
              <a:solidFill>
                <a:schemeClr val="accent1"/>
              </a:solidFill>
            </a:endParaRPr>
          </a:p>
        </p:txBody>
      </p:sp>
      <p:sp>
        <p:nvSpPr>
          <p:cNvPr id="178" name="Google Shape;17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problem statement</a:t>
            </a:r>
            <a:endParaRPr/>
          </a:p>
        </p:txBody>
      </p:sp>
      <p:sp>
        <p:nvSpPr>
          <p:cNvPr id="184" name="Google Shape;184;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5" name="Google Shape;185;p29"/>
          <p:cNvPicPr preferRelativeResize="0"/>
          <p:nvPr/>
        </p:nvPicPr>
        <p:blipFill>
          <a:blip r:embed="rId3">
            <a:alphaModFix/>
          </a:blip>
          <a:stretch>
            <a:fillRect/>
          </a:stretch>
        </p:blipFill>
        <p:spPr>
          <a:xfrm>
            <a:off x="0" y="1317875"/>
            <a:ext cx="9144000" cy="2742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problem statement</a:t>
            </a:r>
            <a:endParaRPr/>
          </a:p>
        </p:txBody>
      </p:sp>
      <p:grpSp>
        <p:nvGrpSpPr>
          <p:cNvPr id="192" name="Google Shape;192;p30"/>
          <p:cNvGrpSpPr/>
          <p:nvPr/>
        </p:nvGrpSpPr>
        <p:grpSpPr>
          <a:xfrm>
            <a:off x="0" y="960334"/>
            <a:ext cx="2214600" cy="3217636"/>
            <a:chOff x="0" y="1189989"/>
            <a:chExt cx="2214600" cy="3217636"/>
          </a:xfrm>
        </p:grpSpPr>
        <p:sp>
          <p:nvSpPr>
            <p:cNvPr id="193" name="Google Shape;193;p30"/>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Who</a:t>
              </a:r>
              <a:endParaRPr>
                <a:solidFill>
                  <a:srgbClr val="FFFFFF"/>
                </a:solidFill>
                <a:latin typeface="Raleway Medium"/>
                <a:ea typeface="Raleway Medium"/>
                <a:cs typeface="Raleway Medium"/>
                <a:sym typeface="Raleway Medium"/>
              </a:endParaRPr>
            </a:p>
          </p:txBody>
        </p:sp>
        <p:sp>
          <p:nvSpPr>
            <p:cNvPr id="194" name="Google Shape;194;p30"/>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(Who) Siapa yang terpengaruh oleh masalah?</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Mungkin ada beberapa grup pengguna yang terpengaruh oleh masalah tertentu dengan cara yang berbeda.</a:t>
              </a:r>
              <a:endParaRPr sz="1100">
                <a:latin typeface="Raleway Medium"/>
                <a:ea typeface="Raleway Medium"/>
                <a:cs typeface="Raleway Medium"/>
                <a:sym typeface="Raleway Medium"/>
              </a:endParaRPr>
            </a:p>
          </p:txBody>
        </p:sp>
      </p:grpSp>
      <p:grpSp>
        <p:nvGrpSpPr>
          <p:cNvPr id="195" name="Google Shape;195;p30"/>
          <p:cNvGrpSpPr/>
          <p:nvPr/>
        </p:nvGrpSpPr>
        <p:grpSpPr>
          <a:xfrm>
            <a:off x="1838325" y="960120"/>
            <a:ext cx="2064000" cy="3498650"/>
            <a:chOff x="1838325" y="1189775"/>
            <a:chExt cx="2064000" cy="3498650"/>
          </a:xfrm>
        </p:grpSpPr>
        <p:sp>
          <p:nvSpPr>
            <p:cNvPr id="196" name="Google Shape;196;p30"/>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What</a:t>
              </a:r>
              <a:endParaRPr>
                <a:solidFill>
                  <a:srgbClr val="FFFFFF"/>
                </a:solidFill>
                <a:latin typeface="Raleway Medium"/>
                <a:ea typeface="Raleway Medium"/>
                <a:cs typeface="Raleway Medium"/>
                <a:sym typeface="Raleway Medium"/>
              </a:endParaRPr>
            </a:p>
          </p:txBody>
        </p:sp>
        <p:sp>
          <p:nvSpPr>
            <p:cNvPr id="197" name="Google Shape;197;p30"/>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(What) Apa masalahnya?</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Tidak mengandung solusi. Tinggalkan solusi dari pernyataan masalah Anda. Pada awal penemuan, ada terlalu banyak yang tidak diketahui, sehingga solusi terbaik tidak jelas. </a:t>
              </a:r>
              <a:endParaRPr sz="1100">
                <a:latin typeface="Raleway Medium"/>
                <a:ea typeface="Raleway Medium"/>
                <a:cs typeface="Raleway Medium"/>
                <a:sym typeface="Raleway Medium"/>
              </a:endParaRPr>
            </a:p>
          </p:txBody>
        </p:sp>
      </p:grpSp>
      <p:grpSp>
        <p:nvGrpSpPr>
          <p:cNvPr id="198" name="Google Shape;198;p30"/>
          <p:cNvGrpSpPr/>
          <p:nvPr/>
        </p:nvGrpSpPr>
        <p:grpSpPr>
          <a:xfrm>
            <a:off x="3516750" y="960120"/>
            <a:ext cx="2064000" cy="3217850"/>
            <a:chOff x="3516750" y="1189775"/>
            <a:chExt cx="2064000" cy="3217850"/>
          </a:xfrm>
        </p:grpSpPr>
        <p:sp>
          <p:nvSpPr>
            <p:cNvPr id="199" name="Google Shape;199;p30"/>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Where</a:t>
              </a:r>
              <a:endParaRPr>
                <a:solidFill>
                  <a:srgbClr val="FFFFFF"/>
                </a:solidFill>
                <a:latin typeface="Raleway Medium"/>
                <a:ea typeface="Raleway Medium"/>
                <a:cs typeface="Raleway Medium"/>
                <a:sym typeface="Raleway Medium"/>
              </a:endParaRPr>
            </a:p>
          </p:txBody>
        </p:sp>
        <p:sp>
          <p:nvSpPr>
            <p:cNvPr id="200" name="Google Shape;200;p30"/>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(Where) Di mana masalah ini terjadi?</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Organisasi atau departemen mana yang bermasalah dan apa masalahnya?</a:t>
              </a:r>
              <a:endParaRPr sz="1100">
                <a:latin typeface="Raleway Medium"/>
                <a:ea typeface="Raleway Medium"/>
                <a:cs typeface="Raleway Medium"/>
                <a:sym typeface="Raleway Medium"/>
              </a:endParaRPr>
            </a:p>
          </p:txBody>
        </p:sp>
      </p:grpSp>
      <p:grpSp>
        <p:nvGrpSpPr>
          <p:cNvPr id="201" name="Google Shape;201;p30"/>
          <p:cNvGrpSpPr/>
          <p:nvPr/>
        </p:nvGrpSpPr>
        <p:grpSpPr>
          <a:xfrm>
            <a:off x="6874025" y="960120"/>
            <a:ext cx="2064000" cy="3790250"/>
            <a:chOff x="6874025" y="1189775"/>
            <a:chExt cx="2064000" cy="3790250"/>
          </a:xfrm>
        </p:grpSpPr>
        <p:sp>
          <p:nvSpPr>
            <p:cNvPr id="202" name="Google Shape;202;p30"/>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Why</a:t>
              </a:r>
              <a:endParaRPr>
                <a:solidFill>
                  <a:srgbClr val="FFFFFF"/>
                </a:solidFill>
                <a:latin typeface="Raleway Medium"/>
                <a:ea typeface="Raleway Medium"/>
                <a:cs typeface="Raleway Medium"/>
                <a:sym typeface="Raleway Medium"/>
              </a:endParaRPr>
            </a:p>
          </p:txBody>
        </p:sp>
        <p:sp>
          <p:nvSpPr>
            <p:cNvPr id="203" name="Google Shape;203;p30"/>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(Why) Mengapa masalah terjadi? Mengapa masalah itu penting?</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Dampak masalah pada organisasi. Jika masalahnya tidak diperbaiki, apa pengaruhnya terhadap organisasi? Kerusakan reputasi? Membayar biaya yang tidak dapat dihindari? </a:t>
              </a:r>
              <a:endParaRPr sz="1100">
                <a:latin typeface="Raleway Medium"/>
                <a:ea typeface="Raleway Medium"/>
                <a:cs typeface="Raleway Medium"/>
                <a:sym typeface="Raleway Medium"/>
              </a:endParaRPr>
            </a:p>
          </p:txBody>
        </p:sp>
      </p:grpSp>
      <p:grpSp>
        <p:nvGrpSpPr>
          <p:cNvPr id="204" name="Google Shape;204;p30"/>
          <p:cNvGrpSpPr/>
          <p:nvPr/>
        </p:nvGrpSpPr>
        <p:grpSpPr>
          <a:xfrm>
            <a:off x="5195350" y="960120"/>
            <a:ext cx="2064000" cy="3217850"/>
            <a:chOff x="5195350" y="1189775"/>
            <a:chExt cx="2064000" cy="3217850"/>
          </a:xfrm>
        </p:grpSpPr>
        <p:sp>
          <p:nvSpPr>
            <p:cNvPr id="205" name="Google Shape;205;p30"/>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When</a:t>
              </a:r>
              <a:endParaRPr>
                <a:solidFill>
                  <a:srgbClr val="FFFFFF"/>
                </a:solidFill>
                <a:latin typeface="Raleway Medium"/>
                <a:ea typeface="Raleway Medium"/>
                <a:cs typeface="Raleway Medium"/>
                <a:sym typeface="Raleway Medium"/>
              </a:endParaRPr>
            </a:p>
          </p:txBody>
        </p:sp>
        <p:sp>
          <p:nvSpPr>
            <p:cNvPr id="206" name="Google Shape;206;p30"/>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(When) Kapan masalah terjadi?</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Tidak harus mengandung waktu/jadwal yang tepat. </a:t>
              </a:r>
              <a:r>
                <a:rPr lang="en" sz="1100">
                  <a:solidFill>
                    <a:schemeClr val="dk1"/>
                  </a:solidFill>
                  <a:latin typeface="Raleway Medium"/>
                  <a:ea typeface="Raleway Medium"/>
                  <a:cs typeface="Raleway Medium"/>
                  <a:sym typeface="Raleway Medium"/>
                </a:rPr>
                <a:t>Setiap setelah/sebelum kejadian (trigger) apa masalah muncul? </a:t>
              </a:r>
              <a:endParaRPr sz="1100">
                <a:latin typeface="Raleway Medium"/>
                <a:ea typeface="Raleway Medium"/>
                <a:cs typeface="Raleway Medium"/>
                <a:sym typeface="Raleway Medium"/>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problem statement</a:t>
            </a:r>
            <a:endParaRPr/>
          </a:p>
        </p:txBody>
      </p:sp>
      <p:sp>
        <p:nvSpPr>
          <p:cNvPr id="213" name="Google Shape;213;p31"/>
          <p:cNvSpPr txBox="1"/>
          <p:nvPr/>
        </p:nvSpPr>
        <p:spPr>
          <a:xfrm>
            <a:off x="1141684" y="4211187"/>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000">
                <a:solidFill>
                  <a:srgbClr val="5E2B62"/>
                </a:solidFill>
                <a:uFill>
                  <a:noFill/>
                </a:uFill>
                <a:latin typeface="Raleway"/>
                <a:ea typeface="Raleway"/>
                <a:cs typeface="Raleway"/>
                <a:sym typeface="Raleway"/>
                <a:hlinkClick r:id="rId3">
                  <a:extLst>
                    <a:ext uri="{A12FA001-AC4F-418D-AE19-62706E023703}">
                      <ahyp:hlinkClr val="tx"/>
                    </a:ext>
                  </a:extLst>
                </a:hlinkClick>
              </a:rPr>
              <a:t>Project and Repository Management</a:t>
            </a:r>
            <a:endParaRPr b="1" sz="1000">
              <a:solidFill>
                <a:srgbClr val="5E2B62"/>
              </a:solidFill>
              <a:latin typeface="Raleway"/>
              <a:ea typeface="Raleway"/>
              <a:cs typeface="Raleway"/>
              <a:sym typeface="Raleway"/>
            </a:endParaRPr>
          </a:p>
        </p:txBody>
      </p:sp>
      <p:sp>
        <p:nvSpPr>
          <p:cNvPr id="214" name="Google Shape;214;p31"/>
          <p:cNvSpPr txBox="1"/>
          <p:nvPr/>
        </p:nvSpPr>
        <p:spPr>
          <a:xfrm>
            <a:off x="5614796" y="4211187"/>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000">
                <a:solidFill>
                  <a:srgbClr val="5E2B62"/>
                </a:solidFill>
                <a:uFill>
                  <a:noFill/>
                </a:uFill>
                <a:latin typeface="Raleway"/>
                <a:ea typeface="Raleway"/>
                <a:cs typeface="Raleway"/>
                <a:sym typeface="Raleway"/>
                <a:hlinkClick r:id="rId4">
                  <a:extLst>
                    <a:ext uri="{A12FA001-AC4F-418D-AE19-62706E023703}">
                      <ahyp:hlinkClr val="tx"/>
                    </a:ext>
                  </a:extLst>
                </a:hlinkClick>
              </a:rPr>
              <a:t>Black Eye Coffee</a:t>
            </a:r>
            <a:endParaRPr b="1" sz="1000">
              <a:solidFill>
                <a:srgbClr val="5E2B62"/>
              </a:solidFill>
              <a:latin typeface="Raleway"/>
              <a:ea typeface="Raleway"/>
              <a:cs typeface="Raleway"/>
              <a:sym typeface="Raleway"/>
            </a:endParaRPr>
          </a:p>
        </p:txBody>
      </p:sp>
      <p:pic>
        <p:nvPicPr>
          <p:cNvPr id="215" name="Google Shape;215;p31"/>
          <p:cNvPicPr preferRelativeResize="0"/>
          <p:nvPr/>
        </p:nvPicPr>
        <p:blipFill>
          <a:blip r:embed="rId5">
            <a:alphaModFix/>
          </a:blip>
          <a:stretch>
            <a:fillRect/>
          </a:stretch>
        </p:blipFill>
        <p:spPr>
          <a:xfrm>
            <a:off x="0" y="916649"/>
            <a:ext cx="5101576" cy="3158076"/>
          </a:xfrm>
          <a:prstGeom prst="rect">
            <a:avLst/>
          </a:prstGeom>
          <a:noFill/>
          <a:ln>
            <a:noFill/>
          </a:ln>
        </p:spPr>
      </p:pic>
      <p:pic>
        <p:nvPicPr>
          <p:cNvPr id="216" name="Google Shape;216;p31"/>
          <p:cNvPicPr preferRelativeResize="0"/>
          <p:nvPr/>
        </p:nvPicPr>
        <p:blipFill>
          <a:blip r:embed="rId6">
            <a:alphaModFix/>
          </a:blip>
          <a:stretch>
            <a:fillRect/>
          </a:stretch>
        </p:blipFill>
        <p:spPr>
          <a:xfrm>
            <a:off x="4903775" y="1513363"/>
            <a:ext cx="4240225" cy="22691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Setelah kita pelajari tahapan penyusunan problem statement, langkah berikutnya kita bahas penyusunan research objectives itu seperti apa sih~</a:t>
            </a:r>
            <a:endParaRPr/>
          </a:p>
        </p:txBody>
      </p:sp>
      <p:sp>
        <p:nvSpPr>
          <p:cNvPr id="222" name="Google Shape;222;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grpSp>
        <p:nvGrpSpPr>
          <p:cNvPr id="229" name="Google Shape;229;p33"/>
          <p:cNvGrpSpPr/>
          <p:nvPr/>
        </p:nvGrpSpPr>
        <p:grpSpPr>
          <a:xfrm>
            <a:off x="0" y="1189989"/>
            <a:ext cx="2214600" cy="3217636"/>
            <a:chOff x="0" y="1189989"/>
            <a:chExt cx="2214600" cy="3217636"/>
          </a:xfrm>
        </p:grpSpPr>
        <p:sp>
          <p:nvSpPr>
            <p:cNvPr id="230" name="Google Shape;230;p33"/>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lang="en">
                  <a:solidFill>
                    <a:srgbClr val="FFFFFF"/>
                  </a:solidFill>
                  <a:latin typeface="Raleway Medium"/>
                  <a:ea typeface="Raleway Medium"/>
                  <a:cs typeface="Raleway Medium"/>
                  <a:sym typeface="Raleway Medium"/>
                </a:rPr>
                <a:t>Step 1</a:t>
              </a:r>
              <a:endParaRPr>
                <a:solidFill>
                  <a:srgbClr val="FFFFFF"/>
                </a:solidFill>
                <a:latin typeface="Raleway Medium"/>
                <a:ea typeface="Raleway Medium"/>
                <a:cs typeface="Raleway Medium"/>
                <a:sym typeface="Raleway Medium"/>
              </a:endParaRPr>
            </a:p>
          </p:txBody>
        </p:sp>
        <p:sp>
          <p:nvSpPr>
            <p:cNvPr id="231" name="Google Shape;231;p33"/>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Mulailah dengan tujuan proyek dan problem statement / </a:t>
              </a:r>
              <a:r>
                <a:rPr lang="en" sz="1100">
                  <a:latin typeface="Raleway Medium"/>
                  <a:ea typeface="Raleway Medium"/>
                  <a:cs typeface="Raleway Medium"/>
                  <a:sym typeface="Raleway Medium"/>
                </a:rPr>
                <a:t>pernyataan</a:t>
              </a:r>
              <a:r>
                <a:rPr lang="en" sz="1100">
                  <a:latin typeface="Raleway Medium"/>
                  <a:ea typeface="Raleway Medium"/>
                  <a:cs typeface="Raleway Medium"/>
                  <a:sym typeface="Raleway Medium"/>
                </a:rPr>
                <a:t> masalah.</a:t>
              </a:r>
              <a:endParaRPr sz="1100">
                <a:latin typeface="Raleway Medium"/>
                <a:ea typeface="Raleway Medium"/>
                <a:cs typeface="Raleway Medium"/>
                <a:sym typeface="Raleway Medium"/>
              </a:endParaRPr>
            </a:p>
          </p:txBody>
        </p:sp>
      </p:grpSp>
      <p:grpSp>
        <p:nvGrpSpPr>
          <p:cNvPr id="232" name="Google Shape;232;p33"/>
          <p:cNvGrpSpPr/>
          <p:nvPr/>
        </p:nvGrpSpPr>
        <p:grpSpPr>
          <a:xfrm>
            <a:off x="1838325" y="1189775"/>
            <a:ext cx="2064000" cy="3498650"/>
            <a:chOff x="1838325" y="1189775"/>
            <a:chExt cx="2064000" cy="3498650"/>
          </a:xfrm>
        </p:grpSpPr>
        <p:sp>
          <p:nvSpPr>
            <p:cNvPr id="233" name="Google Shape;233;p33"/>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2</a:t>
              </a:r>
              <a:endParaRPr>
                <a:solidFill>
                  <a:srgbClr val="FFFFFF"/>
                </a:solidFill>
                <a:latin typeface="Raleway Medium"/>
                <a:ea typeface="Raleway Medium"/>
                <a:cs typeface="Raleway Medium"/>
                <a:sym typeface="Raleway Medium"/>
              </a:endParaRPr>
            </a:p>
          </p:txBody>
        </p:sp>
        <p:sp>
          <p:nvSpPr>
            <p:cNvPr id="234" name="Google Shape;234;p33"/>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Gambarkan dan tentukan sampai mana tujuan Anda dapat dicapai.</a:t>
              </a:r>
              <a:endParaRPr sz="1100">
                <a:latin typeface="Raleway Medium"/>
                <a:ea typeface="Raleway Medium"/>
                <a:cs typeface="Raleway Medium"/>
                <a:sym typeface="Raleway Medium"/>
              </a:endParaRPr>
            </a:p>
          </p:txBody>
        </p:sp>
      </p:grpSp>
      <p:grpSp>
        <p:nvGrpSpPr>
          <p:cNvPr id="235" name="Google Shape;235;p33"/>
          <p:cNvGrpSpPr/>
          <p:nvPr/>
        </p:nvGrpSpPr>
        <p:grpSpPr>
          <a:xfrm>
            <a:off x="3516750" y="1189775"/>
            <a:ext cx="2064000" cy="3217850"/>
            <a:chOff x="3516750" y="1189775"/>
            <a:chExt cx="2064000" cy="3217850"/>
          </a:xfrm>
        </p:grpSpPr>
        <p:sp>
          <p:nvSpPr>
            <p:cNvPr id="236" name="Google Shape;236;p33"/>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3</a:t>
              </a:r>
              <a:endParaRPr>
                <a:solidFill>
                  <a:srgbClr val="FFFFFF"/>
                </a:solidFill>
                <a:latin typeface="Raleway Medium"/>
                <a:ea typeface="Raleway Medium"/>
                <a:cs typeface="Raleway Medium"/>
                <a:sym typeface="Raleway Medium"/>
              </a:endParaRPr>
            </a:p>
          </p:txBody>
        </p:sp>
        <p:sp>
          <p:nvSpPr>
            <p:cNvPr id="237" name="Google Shape;237;p33"/>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Selalu ingatkan diri atas tujuan dan hasil yang dapat diperoleh.</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p:txBody>
        </p:sp>
      </p:grpSp>
      <p:grpSp>
        <p:nvGrpSpPr>
          <p:cNvPr id="238" name="Google Shape;238;p33"/>
          <p:cNvGrpSpPr/>
          <p:nvPr/>
        </p:nvGrpSpPr>
        <p:grpSpPr>
          <a:xfrm>
            <a:off x="6874025" y="1189775"/>
            <a:ext cx="2064000" cy="3790250"/>
            <a:chOff x="6874025" y="1189775"/>
            <a:chExt cx="2064000" cy="3790250"/>
          </a:xfrm>
        </p:grpSpPr>
        <p:sp>
          <p:nvSpPr>
            <p:cNvPr id="239" name="Google Shape;239;p33"/>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5</a:t>
              </a:r>
              <a:endParaRPr>
                <a:solidFill>
                  <a:srgbClr val="FFFFFF"/>
                </a:solidFill>
                <a:latin typeface="Raleway Medium"/>
                <a:ea typeface="Raleway Medium"/>
                <a:cs typeface="Raleway Medium"/>
                <a:sym typeface="Raleway Medium"/>
              </a:endParaRPr>
            </a:p>
          </p:txBody>
        </p:sp>
        <p:sp>
          <p:nvSpPr>
            <p:cNvPr id="240" name="Google Shape;240;p33"/>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Pastikan daftar tujuan disetujui oleh semua pemangku kepentingan (stakeholder)</a:t>
              </a:r>
              <a:endParaRPr sz="1100">
                <a:latin typeface="Raleway Medium"/>
                <a:ea typeface="Raleway Medium"/>
                <a:cs typeface="Raleway Medium"/>
                <a:sym typeface="Raleway Medium"/>
              </a:endParaRPr>
            </a:p>
          </p:txBody>
        </p:sp>
      </p:grpSp>
      <p:grpSp>
        <p:nvGrpSpPr>
          <p:cNvPr id="241" name="Google Shape;241;p33"/>
          <p:cNvGrpSpPr/>
          <p:nvPr/>
        </p:nvGrpSpPr>
        <p:grpSpPr>
          <a:xfrm>
            <a:off x="5195350" y="1189775"/>
            <a:ext cx="2064000" cy="3217850"/>
            <a:chOff x="5195350" y="1189775"/>
            <a:chExt cx="2064000" cy="3217850"/>
          </a:xfrm>
        </p:grpSpPr>
        <p:sp>
          <p:nvSpPr>
            <p:cNvPr id="242" name="Google Shape;242;p33"/>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4</a:t>
              </a:r>
              <a:endParaRPr>
                <a:solidFill>
                  <a:srgbClr val="FFFFFF"/>
                </a:solidFill>
                <a:latin typeface="Raleway Medium"/>
                <a:ea typeface="Raleway Medium"/>
                <a:cs typeface="Raleway Medium"/>
                <a:sym typeface="Raleway Medium"/>
              </a:endParaRPr>
            </a:p>
          </p:txBody>
        </p:sp>
        <p:sp>
          <p:nvSpPr>
            <p:cNvPr id="243" name="Google Shape;243;p33"/>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rgbClr val="000000"/>
                  </a:solidFill>
                  <a:latin typeface="Raleway Medium"/>
                  <a:ea typeface="Raleway Medium"/>
                  <a:cs typeface="Raleway Medium"/>
                  <a:sym typeface="Raleway Medium"/>
                </a:rPr>
                <a:t>Struktur tujuan seperti menceritakan sebuah cerita.</a:t>
              </a:r>
              <a:endParaRPr sz="1100">
                <a:latin typeface="Raleway Medium"/>
                <a:ea typeface="Raleway Medium"/>
                <a:cs typeface="Raleway Medium"/>
                <a:sym typeface="Raleway Medium"/>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250" name="Google Shape;250;p3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Step 1: Mulailah dengan tujuan proyek dan problem statement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Pikirkan tentang tujuan utama proyek dan mengapa Anda ingin melakukan penelitian sejak awal. Mari kita bayangkan bahwa sebuah hotel telah memperhatikan bahwa mereka kehilangan tamu hotel karena pelayanan yang buruk. Mereka ingin meningkatkan pengalaman pelanggan.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Saat menentukan tujuan penelitian pada kasus ini, pikirkan tentang apa yang tidak jelas yaitu pelayanan. Maka dari itu, salah satu hal pertama yang perlu dipahami adalah pengalaman pelanggan saat ini.</a:t>
            </a:r>
            <a:endParaRPr sz="1200">
              <a:solidFill>
                <a:schemeClr val="dk1"/>
              </a:solidFill>
              <a:latin typeface="Raleway Medium"/>
              <a:ea typeface="Raleway Medium"/>
              <a:cs typeface="Raleway Medium"/>
              <a:sym typeface="Raleway Medium"/>
            </a:endParaRPr>
          </a:p>
        </p:txBody>
      </p:sp>
      <p:pic>
        <p:nvPicPr>
          <p:cNvPr id="251" name="Google Shape;251;p34">
            <a:hlinkClick r:id="rId3"/>
          </p:cNvPr>
          <p:cNvPicPr preferRelativeResize="0"/>
          <p:nvPr/>
        </p:nvPicPr>
        <p:blipFill rotWithShape="1">
          <a:blip r:embed="rId4">
            <a:alphaModFix/>
          </a:blip>
          <a:srcRect b="0" l="0" r="19067" t="0"/>
          <a:stretch/>
        </p:blipFill>
        <p:spPr>
          <a:xfrm>
            <a:off x="5486400" y="1280160"/>
            <a:ext cx="3017518" cy="27432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258" name="Google Shape;258;p3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Step 2: </a:t>
            </a:r>
            <a:r>
              <a:rPr b="1" lang="en" sz="1800">
                <a:solidFill>
                  <a:srgbClr val="743673"/>
                </a:solidFill>
                <a:highlight>
                  <a:schemeClr val="lt1"/>
                </a:highlight>
                <a:latin typeface="Raleway"/>
                <a:ea typeface="Raleway"/>
                <a:cs typeface="Raleway"/>
                <a:sym typeface="Raleway"/>
              </a:rPr>
              <a:t>Gambarkan dan tentukan sampai mana tujuan Anda dapat dicapai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Anda perlu memastikan bahwa Anda dapat mencapai semua tujuan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Ambil contoh sebelumnya tujuan untuk "Memahami pengalaman pelanggan hotel saat ini" berarti sangat luas. Bagian mana dari pengalaman pelanggan yang ingin Anda pelajari?</a:t>
            </a:r>
            <a:endParaRPr sz="1200">
              <a:solidFill>
                <a:schemeClr val="dk1"/>
              </a:solidFill>
              <a:latin typeface="Raleway Medium"/>
              <a:ea typeface="Raleway Medium"/>
              <a:cs typeface="Raleway Medium"/>
              <a:sym typeface="Raleway Medium"/>
            </a:endParaRPr>
          </a:p>
        </p:txBody>
      </p:sp>
      <p:pic>
        <p:nvPicPr>
          <p:cNvPr id="259" name="Google Shape;259;p35">
            <a:hlinkClick r:id="rId3"/>
          </p:cNvPr>
          <p:cNvPicPr preferRelativeResize="0"/>
          <p:nvPr/>
        </p:nvPicPr>
        <p:blipFill rotWithShape="1">
          <a:blip r:embed="rId4">
            <a:alphaModFix/>
          </a:blip>
          <a:srcRect b="0" l="26326" r="359" t="0"/>
          <a:stretch/>
        </p:blipFill>
        <p:spPr>
          <a:xfrm>
            <a:off x="5486400" y="1280160"/>
            <a:ext cx="3017518"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266" name="Google Shape;266;p3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Pengalaman layanan hotel dapat dipengaruhi oleh, antara lain, titik kontak yang ada, persepsi yang sudah ada sebelumnya tentang layanan tersebut.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Pengalaman pelanggan juga dapat berubah seiring waktu - selama proses pemesanan, saat tiba di hotel, selama menginap di hotel.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Daripada mengatakan Anda akan memahami pengalaman pelanggan, buatlah lebih spesifik misalnya: </a:t>
            </a:r>
            <a:r>
              <a:rPr b="1" lang="en" sz="1200">
                <a:solidFill>
                  <a:schemeClr val="dk1"/>
                </a:solidFill>
                <a:latin typeface="Raleway"/>
                <a:ea typeface="Raleway"/>
                <a:cs typeface="Raleway"/>
                <a:sym typeface="Raleway"/>
              </a:rPr>
              <a:t>identifikasi pengalaman dan masalah negatif pelanggan selama proses pemesanan hotel.</a:t>
            </a:r>
            <a:endParaRPr b="1" sz="1200">
              <a:solidFill>
                <a:schemeClr val="dk1"/>
              </a:solidFill>
              <a:latin typeface="Raleway"/>
              <a:ea typeface="Raleway"/>
              <a:cs typeface="Raleway"/>
              <a:sym typeface="Raleway"/>
            </a:endParaRPr>
          </a:p>
        </p:txBody>
      </p:sp>
      <p:pic>
        <p:nvPicPr>
          <p:cNvPr id="267" name="Google Shape;267;p36">
            <a:hlinkClick r:id="rId3"/>
          </p:cNvPr>
          <p:cNvPicPr preferRelativeResize="0"/>
          <p:nvPr/>
        </p:nvPicPr>
        <p:blipFill rotWithShape="1">
          <a:blip r:embed="rId4">
            <a:alphaModFix/>
          </a:blip>
          <a:srcRect b="0" l="26326" r="359" t="0"/>
          <a:stretch/>
        </p:blipFill>
        <p:spPr>
          <a:xfrm>
            <a:off x="5486400" y="1280160"/>
            <a:ext cx="3017518" cy="274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274" name="Google Shape;274;p3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Step 3: </a:t>
            </a:r>
            <a:r>
              <a:rPr b="1" lang="en" sz="1800">
                <a:solidFill>
                  <a:srgbClr val="743673"/>
                </a:solidFill>
                <a:highlight>
                  <a:schemeClr val="lt1"/>
                </a:highlight>
                <a:latin typeface="Raleway"/>
                <a:ea typeface="Raleway"/>
                <a:cs typeface="Raleway"/>
                <a:sym typeface="Raleway"/>
              </a:rPr>
              <a:t>Selalu ingatkan diri atas tujuan dan hasil yang dapat diperoleh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Daftar tujuan adalah ‘checklist’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Tulis setiap tujuan dan (secara visual) bayangkan bagaimana hasilnya akan terlihat &amp; terjawab tujuan dalam pikiran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Misalnya, </a:t>
            </a:r>
            <a:r>
              <a:rPr b="1" lang="en" sz="1200">
                <a:solidFill>
                  <a:schemeClr val="dk1"/>
                </a:solidFill>
                <a:latin typeface="Raleway"/>
                <a:ea typeface="Raleway"/>
                <a:cs typeface="Raleway"/>
                <a:sym typeface="Raleway"/>
              </a:rPr>
              <a:t>pengalaman negatif </a:t>
            </a:r>
            <a:r>
              <a:rPr lang="en" sz="1200">
                <a:solidFill>
                  <a:schemeClr val="dk1"/>
                </a:solidFill>
                <a:latin typeface="Raleway Medium"/>
                <a:ea typeface="Raleway Medium"/>
                <a:cs typeface="Raleway Medium"/>
                <a:sym typeface="Raleway Medium"/>
              </a:rPr>
              <a:t>selama proses pemesanan menggunakan berupa formulir pemesanan offline yang sangat panjang dan memakan waktu.</a:t>
            </a:r>
            <a:endParaRPr sz="1200">
              <a:solidFill>
                <a:schemeClr val="dk1"/>
              </a:solidFill>
              <a:latin typeface="Raleway Medium"/>
              <a:ea typeface="Raleway Medium"/>
              <a:cs typeface="Raleway Medium"/>
              <a:sym typeface="Raleway Medium"/>
            </a:endParaRPr>
          </a:p>
        </p:txBody>
      </p:sp>
      <p:pic>
        <p:nvPicPr>
          <p:cNvPr id="275" name="Google Shape;275;p37">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282" name="Google Shape;282;p3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Sekarang pikirkan tentang hasil dari proyek tersebut.</a:t>
            </a:r>
            <a:r>
              <a:rPr lang="en" sz="1200">
                <a:solidFill>
                  <a:schemeClr val="dk1"/>
                </a:solidFill>
                <a:latin typeface="Raleway Medium"/>
                <a:ea typeface="Raleway Medium"/>
                <a:cs typeface="Raleway Medium"/>
                <a:sym typeface="Raleway Medium"/>
              </a:rPr>
              <a:t> </a:t>
            </a:r>
            <a:r>
              <a:rPr lang="en" sz="1200">
                <a:solidFill>
                  <a:schemeClr val="dk1"/>
                </a:solidFill>
                <a:latin typeface="Raleway Medium"/>
                <a:ea typeface="Raleway Medium"/>
                <a:cs typeface="Raleway Medium"/>
                <a:sym typeface="Raleway Medium"/>
              </a:rPr>
              <a:t>Bagaimana kamu akan menggunakan apa yang telah kamu pelajari?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Misalnya, berdasarkan pengalaman negatif, kamu dapat merekomendasikan cara meningkatkan formulir pemesanan melalui situs web atau aplikasi.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83" name="Google Shape;283;p38">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290" name="Google Shape;290;p3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Step 4: </a:t>
            </a:r>
            <a:r>
              <a:rPr b="1" lang="en" sz="1800">
                <a:solidFill>
                  <a:srgbClr val="743673"/>
                </a:solidFill>
                <a:highlight>
                  <a:schemeClr val="lt1"/>
                </a:highlight>
                <a:latin typeface="Raleway"/>
                <a:ea typeface="Raleway"/>
                <a:cs typeface="Raleway"/>
                <a:sym typeface="Raleway"/>
              </a:rPr>
              <a:t>Struktur tujuan seperti menceritakan sebuah cerita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Ini mungkin bagian yang paling sulit, tetapi yang akan membuat hidup kamu lebih mudah.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Jika kita kembali ke contoh studi hotel, tiga tahap penelitian dapat dilakukan untuk: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 Mengidentifikasi pengalaman positif dan negatif selama proses pemesanan;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ii) Memahami interaksi dengan titik kontak saat pelanggan menginap di hotel;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iii) Mengukur wawasan tentang pengalaman dengan komunikasi pasca-kunjungan dan tindak lanjut.</a:t>
            </a:r>
            <a:endParaRPr sz="1200">
              <a:solidFill>
                <a:schemeClr val="dk1"/>
              </a:solidFill>
              <a:latin typeface="Raleway Medium"/>
              <a:ea typeface="Raleway Medium"/>
              <a:cs typeface="Raleway Medium"/>
              <a:sym typeface="Raleway Medium"/>
            </a:endParaRPr>
          </a:p>
        </p:txBody>
      </p:sp>
      <p:pic>
        <p:nvPicPr>
          <p:cNvPr id="291" name="Google Shape;291;p39">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298" name="Google Shape;298;p4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Sekarang, tiga tujuan tersebut </a:t>
            </a:r>
            <a:r>
              <a:rPr lang="en" sz="1200">
                <a:solidFill>
                  <a:schemeClr val="dk1"/>
                </a:solidFill>
                <a:latin typeface="Raleway Medium"/>
                <a:ea typeface="Raleway Medium"/>
                <a:cs typeface="Raleway Medium"/>
                <a:sym typeface="Raleway Medium"/>
              </a:rPr>
              <a:t>merangkap</a:t>
            </a:r>
            <a:r>
              <a:rPr lang="en" sz="1200">
                <a:solidFill>
                  <a:schemeClr val="dk1"/>
                </a:solidFill>
                <a:latin typeface="Raleway Medium"/>
                <a:ea typeface="Raleway Medium"/>
                <a:cs typeface="Raleway Medium"/>
                <a:sym typeface="Raleway Medium"/>
              </a:rPr>
              <a:t> tiga tahap proses kunjungan: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sebelum, selama, setelah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dan temuan utama yang akan kita dapatkan pada akhirnya adalah terkait dengan pengalaman, titik kontak, dan komunikasi.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99" name="Google Shape;299;p40">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306" name="Google Shape;306;p4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Step 5: Pastikan daftar tujuan disetujui oleh semua pemangku kepentingan (stakeholder)</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Setelah kamu menulis daftar tujuan, kamu perlu menunjukkannya kepada semua pemangku kepentingan dan memastikan bahwa mereka semua setuju tentang daftar tujuan akhir yang telah dibuat.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Tentunya hal ini penting banget, karena ini berarti bahwa nanti mereka tidak akan dapat mengabaikan hasil penelitian yang telah disepakati.</a:t>
            </a:r>
            <a:endParaRPr sz="1200">
              <a:solidFill>
                <a:schemeClr val="dk1"/>
              </a:solidFill>
              <a:latin typeface="Raleway Medium"/>
              <a:ea typeface="Raleway Medium"/>
              <a:cs typeface="Raleway Medium"/>
              <a:sym typeface="Raleway Medium"/>
            </a:endParaRPr>
          </a:p>
        </p:txBody>
      </p:sp>
      <p:pic>
        <p:nvPicPr>
          <p:cNvPr id="307" name="Google Shape;307;p41">
            <a:hlinkClick r:id="rId3"/>
          </p:cNvPr>
          <p:cNvPicPr preferRelativeResize="0"/>
          <p:nvPr/>
        </p:nvPicPr>
        <p:blipFill rotWithShape="1">
          <a:blip r:embed="rId4">
            <a:alphaModFix/>
          </a:blip>
          <a:srcRect b="0" l="13289" r="13289" t="0"/>
          <a:stretch/>
        </p:blipFill>
        <p:spPr>
          <a:xfrm>
            <a:off x="5486400" y="1280160"/>
            <a:ext cx="3017518"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42">
            <a:hlinkClick r:id="rId3"/>
          </p:cNvPr>
          <p:cNvPicPr preferRelativeResize="0"/>
          <p:nvPr/>
        </p:nvPicPr>
        <p:blipFill rotWithShape="1">
          <a:blip r:embed="rId4">
            <a:alphaModFix/>
          </a:blip>
          <a:srcRect b="0" l="13289" r="13289" t="0"/>
          <a:stretch/>
        </p:blipFill>
        <p:spPr>
          <a:xfrm>
            <a:off x="5486400" y="1280160"/>
            <a:ext cx="3017518" cy="2743200"/>
          </a:xfrm>
          <a:prstGeom prst="rect">
            <a:avLst/>
          </a:prstGeom>
          <a:noFill/>
          <a:ln>
            <a:noFill/>
          </a:ln>
        </p:spPr>
      </p:pic>
      <p:sp>
        <p:nvSpPr>
          <p:cNvPr id="313" name="Google Shape;313;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315" name="Google Shape;315;p4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Oleh karena itu, p</a:t>
            </a:r>
            <a:r>
              <a:rPr lang="en" sz="1200">
                <a:solidFill>
                  <a:schemeClr val="dk1"/>
                </a:solidFill>
                <a:latin typeface="Raleway Medium"/>
                <a:ea typeface="Raleway Medium"/>
                <a:cs typeface="Raleway Medium"/>
                <a:sym typeface="Raleway Medium"/>
              </a:rPr>
              <a:t>roses kamu dalam mendefinisikan tujuan harus fleksibel dan berulang. Kembalilah pada tujuan ketika kamu memulai, selama dan setelah kamu melakukan penelitian.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Kemudian bersiaplah untuk mempelajari dan menyempurnakannya untuk tahapan proyek selanjutnya.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Kita telaah contoh berikut~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1" name="Google Shape;321;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322" name="Google Shape;322;p43"/>
          <p:cNvSpPr txBox="1"/>
          <p:nvPr/>
        </p:nvSpPr>
        <p:spPr>
          <a:xfrm>
            <a:off x="685800" y="1185675"/>
            <a:ext cx="77769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Contoh 1:</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743673"/>
              </a:solidFill>
              <a:highlight>
                <a:schemeClr val="lt1"/>
              </a:highlight>
              <a:latin typeface="Raleway"/>
              <a:ea typeface="Raleway"/>
              <a:cs typeface="Raleway"/>
              <a:sym typeface="Raleway"/>
            </a:endParaRPr>
          </a:p>
          <a:p>
            <a:pPr indent="0" lvl="0" marL="0" rtl="0" algn="l">
              <a:lnSpc>
                <a:spcPct val="128571"/>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Buruk</a:t>
            </a:r>
            <a:r>
              <a:rPr b="1" lang="en" sz="1200">
                <a:solidFill>
                  <a:schemeClr val="dk1"/>
                </a:solidFill>
                <a:latin typeface="Raleway"/>
                <a:ea typeface="Raleway"/>
                <a:cs typeface="Raleway"/>
                <a:sym typeface="Raleway"/>
              </a:rPr>
              <a:t>: </a:t>
            </a:r>
            <a:endParaRPr b="1" sz="1200">
              <a:solidFill>
                <a:schemeClr val="dk1"/>
              </a:solidFill>
              <a:latin typeface="Raleway"/>
              <a:ea typeface="Raleway"/>
              <a:cs typeface="Raleway"/>
              <a:sym typeface="Raleway"/>
            </a:endParaRPr>
          </a:p>
          <a:p>
            <a:pPr indent="0" lvl="0" marL="0" rtl="0" algn="l">
              <a:lnSpc>
                <a:spcPct val="128571"/>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Pahami mengapa orang bepergian.</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Lebih baik:</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Pahami perjalanan tentang bagaimana dan mengapa orang memilih untuk bepergian.</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28571"/>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Mengapa lebih baik?</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Tujuan buruk, karena untuk "mengerti mengapa orang bepergian" masih terlalu luas, dan lebih terasa seperti pernyataan masalah. Dengan tujuan itu, tidak akan benar-benar memiliki arah, atau batasan.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43673"/>
              </a:solidFill>
              <a:highlight>
                <a:schemeClr val="lt1"/>
              </a:highlight>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8" name="Google Shape;328;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329" name="Google Shape;329;p44"/>
          <p:cNvSpPr txBox="1"/>
          <p:nvPr/>
        </p:nvSpPr>
        <p:spPr>
          <a:xfrm>
            <a:off x="685800" y="1185675"/>
            <a:ext cx="77769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Contoh 2:</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Buruk:</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Cari tahu cara untuk membuat orang membeli asuransi penerbangan.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Lebih baik: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Mengungkap proses pemikiran orang dan pengalaman mereka sebelum membeli asuransi penerbangan.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Mengapa lebih baik?</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Kami tidak ingin mencari tahu bagaimana membuat seseorang melakukan sesuatu, karena, bagaimana caranya mengajukan pertanyaan yang bagus untuk mendapatkan informasi itu? Dan kami lebih tertarik untuk melihat apa proses pemikiran mereka di balik asuransi penerbangan, dan jika/mengapa mereka menggunakannya atau tidak menggunakannya.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research objectives</a:t>
            </a:r>
            <a:endParaRPr/>
          </a:p>
        </p:txBody>
      </p:sp>
      <p:sp>
        <p:nvSpPr>
          <p:cNvPr id="336" name="Google Shape;336;p45"/>
          <p:cNvSpPr txBox="1"/>
          <p:nvPr/>
        </p:nvSpPr>
        <p:spPr>
          <a:xfrm>
            <a:off x="685800" y="1185675"/>
            <a:ext cx="77769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Contoh 3:</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Buruk:</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Cari tahu mengapa orang menggunakan Expedia untuk memesan perjalanan.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Lebih baik: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Temukan berbagai </a:t>
            </a:r>
            <a:r>
              <a:rPr i="1" lang="en" sz="1200">
                <a:solidFill>
                  <a:schemeClr val="dk1"/>
                </a:solidFill>
                <a:latin typeface="Raleway Medium"/>
                <a:ea typeface="Raleway Medium"/>
                <a:cs typeface="Raleway Medium"/>
                <a:sym typeface="Raleway Medium"/>
              </a:rPr>
              <a:t>tools </a:t>
            </a:r>
            <a:r>
              <a:rPr lang="en" sz="1200">
                <a:solidFill>
                  <a:schemeClr val="dk1"/>
                </a:solidFill>
                <a:latin typeface="Raleway Medium"/>
                <a:ea typeface="Raleway Medium"/>
                <a:cs typeface="Raleway Medium"/>
                <a:sym typeface="Raleway Medium"/>
              </a:rPr>
              <a:t>yang digunakan orang saat memutuskan untuk bepergian, dan bagaimana perasaan mereka tentang setiap </a:t>
            </a:r>
            <a:r>
              <a:rPr i="1" lang="en" sz="1200">
                <a:solidFill>
                  <a:schemeClr val="dk1"/>
                </a:solidFill>
                <a:latin typeface="Raleway Medium"/>
                <a:ea typeface="Raleway Medium"/>
                <a:cs typeface="Raleway Medium"/>
                <a:sym typeface="Raleway Medium"/>
              </a:rPr>
              <a:t>tools </a:t>
            </a:r>
            <a:r>
              <a:rPr lang="en" sz="1200">
                <a:solidFill>
                  <a:schemeClr val="dk1"/>
                </a:solidFill>
                <a:latin typeface="Raleway Medium"/>
                <a:ea typeface="Raleway Medium"/>
                <a:cs typeface="Raleway Medium"/>
                <a:sym typeface="Raleway Medium"/>
              </a:rPr>
              <a:t>yang digunakan.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Mengapa lebih baik?</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 Ini bisa membantu jika Expedia adalah tools yang sering digunakan pengguna anda alih-alih platform Anda. Namun, lebih baik untuk bertanya terlebih dahulu, secara umum, jenis tools lain apa yang digunakan, sehingga Anda tidak terlalu fokus dan kehilangan peluang lain untuk dijelajahi.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Setelah menyusun</a:t>
            </a:r>
            <a:r>
              <a:rPr lang="en"/>
              <a:t> research objectives, mari menyusun research questions</a:t>
            </a:r>
            <a:endParaRPr/>
          </a:p>
        </p:txBody>
      </p:sp>
      <p:sp>
        <p:nvSpPr>
          <p:cNvPr id="342" name="Google Shape;342;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id="347" name="Google Shape;347;p47"/>
          <p:cNvPicPr preferRelativeResize="0"/>
          <p:nvPr/>
        </p:nvPicPr>
        <p:blipFill rotWithShape="1">
          <a:blip r:embed="rId3">
            <a:alphaModFix/>
          </a:blip>
          <a:srcRect b="0" l="7345" r="7345" t="0"/>
          <a:stretch/>
        </p:blipFill>
        <p:spPr>
          <a:xfrm>
            <a:off x="5440400" y="904392"/>
            <a:ext cx="3094001" cy="3453199"/>
          </a:xfrm>
          <a:prstGeom prst="rect">
            <a:avLst/>
          </a:prstGeom>
          <a:noFill/>
          <a:ln>
            <a:noFill/>
          </a:ln>
        </p:spPr>
      </p:pic>
      <p:sp>
        <p:nvSpPr>
          <p:cNvPr id="348" name="Google Shape;348;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 dan questions</a:t>
            </a:r>
            <a:endParaRPr/>
          </a:p>
        </p:txBody>
      </p:sp>
      <p:sp>
        <p:nvSpPr>
          <p:cNvPr id="350" name="Google Shape;350;p4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Sudah punya research objectives? Lalu?</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Tujuan penelitian membingkai </a:t>
            </a:r>
            <a:r>
              <a:rPr b="1" lang="en" sz="1200">
                <a:solidFill>
                  <a:schemeClr val="dk1"/>
                </a:solidFill>
                <a:latin typeface="Raleway"/>
                <a:ea typeface="Raleway"/>
                <a:cs typeface="Raleway"/>
                <a:sym typeface="Raleway"/>
              </a:rPr>
              <a:t>pertanyaan penelitian</a:t>
            </a:r>
            <a:r>
              <a:rPr lang="en" sz="1200">
                <a:solidFill>
                  <a:schemeClr val="dk1"/>
                </a:solidFill>
                <a:latin typeface="Raleway Medium"/>
                <a:ea typeface="Raleway Medium"/>
                <a:cs typeface="Raleway Medium"/>
                <a:sym typeface="Raleway Medium"/>
              </a:rPr>
              <a:t> (</a:t>
            </a:r>
            <a:r>
              <a:rPr i="1" lang="en" sz="1200">
                <a:solidFill>
                  <a:schemeClr val="dk1"/>
                </a:solidFill>
                <a:latin typeface="Raleway Medium"/>
                <a:ea typeface="Raleway Medium"/>
                <a:cs typeface="Raleway Medium"/>
                <a:sym typeface="Raleway Medium"/>
              </a:rPr>
              <a:t>research questions</a:t>
            </a:r>
            <a:r>
              <a:rPr lang="en" sz="1200">
                <a:solidFill>
                  <a:schemeClr val="dk1"/>
                </a:solidFill>
                <a:latin typeface="Raleway Medium"/>
                <a:ea typeface="Raleway Medium"/>
                <a:cs typeface="Raleway Medium"/>
                <a:sym typeface="Raleway Medium"/>
              </a:rPr>
              <a:t>) </a:t>
            </a:r>
            <a:r>
              <a:rPr b="1" lang="en" sz="1200">
                <a:solidFill>
                  <a:schemeClr val="dk1"/>
                </a:solidFill>
                <a:latin typeface="Raleway"/>
                <a:ea typeface="Raleway"/>
                <a:cs typeface="Raleway"/>
                <a:sym typeface="Raleway"/>
              </a:rPr>
              <a:t>generatif</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Pertanyaan - pertanyaan Anda harus dapat memberi Anda wawasan yang menjawab tujuan Anda. Jadi, ketika Anda mengajukan pertanyaan kepada responden, pastikan pertanyaan tersebut  pada akhirnya dapat menjawab salah satu tujuan. Ubah setiap tujuan menjadi 3-5 pertanyaan.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 dan questions</a:t>
            </a:r>
            <a:endParaRPr/>
          </a:p>
        </p:txBody>
      </p:sp>
      <p:sp>
        <p:nvSpPr>
          <p:cNvPr id="357" name="Google Shape;357;p48"/>
          <p:cNvSpPr txBox="1"/>
          <p:nvPr/>
        </p:nvSpPr>
        <p:spPr>
          <a:xfrm>
            <a:off x="685800" y="1185675"/>
            <a:ext cx="77769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Contoh 1:</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43673"/>
              </a:solidFill>
              <a:highlight>
                <a:schemeClr val="lt1"/>
              </a:highlight>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Tujuan: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Memahami proses end-to-end tentang bagaimana peserta saat ini membuat keputusan perjalanan.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1: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Pikirkan tentang terakhir kali Anda bepergian, pandu saya melalui proses pengambilan keputusan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2: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Jelaskan bagaimana perasaan Anda selama proses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3</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Jelaskan pada saya tentang faktor-faktor lain?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 dan questions</a:t>
            </a:r>
            <a:endParaRPr/>
          </a:p>
        </p:txBody>
      </p:sp>
      <p:sp>
        <p:nvSpPr>
          <p:cNvPr id="364" name="Google Shape;364;p49"/>
          <p:cNvSpPr txBox="1"/>
          <p:nvPr/>
        </p:nvSpPr>
        <p:spPr>
          <a:xfrm>
            <a:off x="685800" y="1185675"/>
            <a:ext cx="77769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Contoh 2:</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43673"/>
              </a:solidFill>
              <a:highlight>
                <a:schemeClr val="lt1"/>
              </a:highlight>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Tujuan: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Mengidentifikasi masalah atau hambatan yang peserta hadapi ketika mencoba membuat keputusan perjalanan.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1: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Jelaskan terakhir kali Anda mengalami masalah saat membuat keputusan perjalanan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2: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Apakah Anda dapat memecahkan masalah tersebut? Apa yang Anda lakukan untuk mencoba memecahkan masalah?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3:</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Bagaimana Anda akan memperbaiki atau mengubah situasi supaya masalah yang sama tidak terulang?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 dan questions</a:t>
            </a:r>
            <a:endParaRPr/>
          </a:p>
        </p:txBody>
      </p:sp>
      <p:sp>
        <p:nvSpPr>
          <p:cNvPr id="371" name="Google Shape;371;p50"/>
          <p:cNvSpPr txBox="1"/>
          <p:nvPr/>
        </p:nvSpPr>
        <p:spPr>
          <a:xfrm>
            <a:off x="685800" y="1185675"/>
            <a:ext cx="77769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Contoh 3:</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43673"/>
              </a:solidFill>
              <a:highlight>
                <a:schemeClr val="lt1"/>
              </a:highlight>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Tujuan: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Temukan berbagai alat yang digunakan peserta untuk membuat keputusan perjalanan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1: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Jelaskan kepada saya tentang berbagai alat yang Anda gunakan saat membuat keputusan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2: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Jelaskan pengalaman Anda dengan berbagai alat alat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Pertanyaan 3: </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Bandingkan pengalaman berbeda yang Anda miliki dengan alat ATAU jelaskan alat apa pun yang pernah Anda dengar dan belum pernah digunakan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objectives dan questions</a:t>
            </a:r>
            <a:endParaRPr/>
          </a:p>
        </p:txBody>
      </p:sp>
      <p:sp>
        <p:nvSpPr>
          <p:cNvPr id="378" name="Google Shape;378;p5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Sebuah catatan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Dengan memulai proyek dengan tujuan penelitian yang kuat, kamu lebih memungkinkan untuk mendapatkan wawasan yang berdampak, dapat ditindaklanjuti, dan mendalam yang akan membantu untuk memberitahu perusahaan tentang langkah terbaik selanjutnya akan seperti apa.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379" name="Google Shape;379;p51">
            <a:hlinkClick r:id="rId3"/>
          </p:cNvPr>
          <p:cNvPicPr preferRelativeResize="0"/>
          <p:nvPr/>
        </p:nvPicPr>
        <p:blipFill rotWithShape="1">
          <a:blip r:embed="rId4">
            <a:alphaModFix/>
          </a:blip>
          <a:srcRect b="19660" l="0" r="0" t="19660"/>
          <a:stretch/>
        </p:blipFill>
        <p:spPr>
          <a:xfrm>
            <a:off x="5486400" y="1280160"/>
            <a:ext cx="3017519" cy="27431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85" name="Google Shape;385;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1" name="Google Shape;391;p5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Pada dasarnya, _____ mendorong keseluruhan proyek Anda.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pernyataan masalah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Tujuan penelitian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Pertanyaan penelitian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Problem statement</a:t>
            </a:r>
            <a:endParaRPr sz="1200">
              <a:solidFill>
                <a:schemeClr val="lt1"/>
              </a:solidFill>
              <a:latin typeface="Raleway Medium"/>
              <a:ea typeface="Raleway Medium"/>
              <a:cs typeface="Raleway Medium"/>
              <a:sym typeface="Raleway Medium"/>
            </a:endParaRPr>
          </a:p>
        </p:txBody>
      </p:sp>
      <p:sp>
        <p:nvSpPr>
          <p:cNvPr id="392" name="Google Shape;392;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8" name="Google Shape;398;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Pada dasarnya, _____ mendorong keseluruhan proyek Anda.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pernyataan</a:t>
            </a:r>
            <a:r>
              <a:rPr lang="en" sz="1200">
                <a:solidFill>
                  <a:srgbClr val="A667A5"/>
                </a:solidFill>
                <a:latin typeface="Raleway Medium"/>
                <a:ea typeface="Raleway Medium"/>
                <a:cs typeface="Raleway Medium"/>
                <a:sym typeface="Raleway Medium"/>
              </a:rPr>
              <a:t> masalah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Tujuan penelitian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Pertanyaan penelitian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Problem statement</a:t>
            </a:r>
            <a:endParaRPr sz="1200">
              <a:solidFill>
                <a:srgbClr val="A667A5"/>
              </a:solidFill>
              <a:latin typeface="Raleway Medium"/>
              <a:ea typeface="Raleway Medium"/>
              <a:cs typeface="Raleway Medium"/>
              <a:sym typeface="Raleway Medium"/>
            </a:endParaRPr>
          </a:p>
        </p:txBody>
      </p:sp>
      <p:sp>
        <p:nvSpPr>
          <p:cNvPr id="399" name="Google Shape;399;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54"/>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Pada dasarnya, tujuan penelitian mendorong keseluruhan proyek Anda.</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Catatan: </a:t>
            </a:r>
            <a:r>
              <a:rPr b="1" lang="en" sz="1000">
                <a:solidFill>
                  <a:srgbClr val="733572"/>
                </a:solidFill>
                <a:latin typeface="Raleway"/>
                <a:ea typeface="Raleway"/>
                <a:cs typeface="Raleway"/>
                <a:sym typeface="Raleway"/>
              </a:rPr>
              <a:t>pernyataan</a:t>
            </a:r>
            <a:r>
              <a:rPr b="1" lang="en" sz="1000">
                <a:solidFill>
                  <a:srgbClr val="733572"/>
                </a:solidFill>
                <a:latin typeface="Raleway"/>
                <a:ea typeface="Raleway"/>
                <a:cs typeface="Raleway"/>
                <a:sym typeface="Raleway"/>
              </a:rPr>
              <a:t> masalah = problem statement.</a:t>
            </a:r>
            <a:endParaRPr b="1" sz="1000">
              <a:solidFill>
                <a:srgbClr val="733572"/>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6" name="Google Shape;406;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Sebelum menyusun research objectives, kita perlu menyusun _____.</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Problem objectives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Research objectives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Problem statement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Research questions</a:t>
            </a:r>
            <a:endParaRPr sz="2800">
              <a:solidFill>
                <a:schemeClr val="lt1"/>
              </a:solidFill>
              <a:latin typeface="Raleway"/>
              <a:ea typeface="Raleway"/>
              <a:cs typeface="Raleway"/>
              <a:sym typeface="Raleway"/>
            </a:endParaRPr>
          </a:p>
        </p:txBody>
      </p:sp>
      <p:sp>
        <p:nvSpPr>
          <p:cNvPr id="407" name="Google Shape;407;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3" name="Google Shape;413;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Sebelum menyusun research objectives, kita perlu menyusun _____.</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Problem objectives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Research objectives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Problem statement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Research questions</a:t>
            </a:r>
            <a:endParaRPr sz="2800">
              <a:solidFill>
                <a:srgbClr val="A667A5"/>
              </a:solidFill>
              <a:latin typeface="Raleway"/>
              <a:ea typeface="Raleway"/>
              <a:cs typeface="Raleway"/>
              <a:sym typeface="Raleway"/>
            </a:endParaRPr>
          </a:p>
        </p:txBody>
      </p:sp>
      <p:sp>
        <p:nvSpPr>
          <p:cNvPr id="414" name="Google Shape;414;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5" name="Google Shape;415;p56"/>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Sebelum menyusun research objectives kita perlu menyusun problem statement / </a:t>
            </a:r>
            <a:r>
              <a:rPr b="1" lang="en" sz="1000">
                <a:solidFill>
                  <a:srgbClr val="733572"/>
                </a:solidFill>
                <a:latin typeface="Raleway"/>
                <a:ea typeface="Raleway"/>
                <a:cs typeface="Raleway"/>
                <a:sym typeface="Raleway"/>
              </a:rPr>
              <a:t>pernyataan</a:t>
            </a:r>
            <a:r>
              <a:rPr b="1" lang="en" sz="1000">
                <a:solidFill>
                  <a:srgbClr val="733572"/>
                </a:solidFill>
                <a:latin typeface="Raleway"/>
                <a:ea typeface="Raleway"/>
                <a:cs typeface="Raleway"/>
                <a:sym typeface="Raleway"/>
              </a:rPr>
              <a:t> masalah.</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Catatan: tidak ada istilah problem objectives. </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1" name="Google Shape;421;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Untuk menyusun research objectives, hal yang perlu dilakukan setelah menyusun problem statement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Gambarkan dan tentukan sampai mana tujuan Anda dapat dicapai.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Pastikan daftar tujuan disetujui oleh semua pemangku kepentingan (stakeholder)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Selalu ingatkan diri atas tujuan dan hasil yang dapat diperoleh.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Gambarkan dan ceritakan tujuan kepada diri sendiri berulang kali.</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2" name="Google Shape;422;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8" name="Google Shape;428;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Untuk menyusun research objectives, hal yang perlu dilakukan setelah menyusun problem statement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Gambarkan dan tentukan sampai mana tujuan Anda dapat dicapai.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Pastikan daftar tujuan disetujui oleh semua pemangku kepentingan (stakeholder)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Selalu ingatkan diri atas tujuan dan hasil yang dapat diperoleh.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Gambarkan dan ceritakan tujuan kepada diri sendiri berulang kali.</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29" name="Google Shape;429;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58"/>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Opsi D tidaklah penting dan tidak termasuk dalam langkah - langkah menyusun research objectives.</a:t>
            </a:r>
            <a:endParaRPr b="1" sz="1000">
              <a:solidFill>
                <a:srgbClr val="733572"/>
              </a:solidFill>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6" name="Google Shape;436;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Mengapa kita perlu mengkomunikasikan tujuan penelitian kepada para stakeholder?</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Supaya mereka mengetahui hasil pada saat itu juga..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Supaya mereka menemukan hasil.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Supaya mereka dapat mengabaikan hasil.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Supaya mereka tidak dapat mengabaikan hasil.</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37" name="Google Shape;437;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43" name="Google Shape;443;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Mengapa kita perlu mengkomunikasikan tujuan penelitian kepada para stakeholder?</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Supaya mereka mengetahui hasil pada saat itu juga..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Supaya mereka menemukan hasil.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Supaya mereka dapat mengabaikan hasil.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Supaya mereka tidak dapat mengabaikan hasil.</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44" name="Google Shape;444;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5" name="Google Shape;445;p60"/>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Jika para stakeholder sudah setuju pada tujuan penelitian, mereka perlu mementingkan dan peduli terhadap hasil penelitian yang dilakukan.</a:t>
            </a:r>
            <a:endParaRPr b="1" sz="1000">
              <a:solidFill>
                <a:srgbClr val="733572"/>
              </a:solidFill>
              <a:latin typeface="Raleway"/>
              <a:ea typeface="Raleway"/>
              <a:cs typeface="Raleway"/>
              <a:sym typeface="Ralew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51" name="Google Shape;451;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Tujuan: Mengidentifikasi masalah atau hambatan yang peserta hadapi ketika mencoba membuat keputusan perjalanan. Berikut adalah pertanyaan yang tepat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Jelaskan terakhir kali Anda mengalami masalah saat membuat keputusan perjalanan?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Apakah Anda dapat memecahkan masalah tersebut?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Apa yang Anda lakukan untuk mencoba memecahkan masalah?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Bagaimana Anda akan memperbaiki atau mengubah situasi supaya masalah yang sama terulang?</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52" name="Google Shape;452;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58" name="Google Shape;458;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Tujuan: Mengidentifikasi masalah atau hambatan yang peserta hadapi ketika mencoba membuat keputusan perjalanan. Berikut adalah pertanyaan yang tepat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Jelaskan terakhir kali Anda mengalami masalah saat membuat keputusan perjalanan?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Apakah Anda dapat memecahkan masalah tersebut?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Apa yang Anda lakukan untuk mencoba memecahkan masalah?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Bagaimana Anda akan memperbaiki atau mengubah situasi supaya masalah yang sama terulang?</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59" name="Google Shape;459;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62"/>
          <p:cNvSpPr/>
          <p:nvPr/>
        </p:nvSpPr>
        <p:spPr>
          <a:xfrm>
            <a:off x="685800" y="3765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Yang tepat adalah: bagaimana Anda akan memperbaiki atau mengubah situasi supaya masalah yang sama </a:t>
            </a:r>
            <a:r>
              <a:rPr lang="en" sz="1000">
                <a:solidFill>
                  <a:srgbClr val="733572"/>
                </a:solidFill>
                <a:latin typeface="Raleway Black"/>
                <a:ea typeface="Raleway Black"/>
                <a:cs typeface="Raleway Black"/>
                <a:sym typeface="Raleway Black"/>
              </a:rPr>
              <a:t>tidak</a:t>
            </a:r>
            <a:r>
              <a:rPr b="1" lang="en" sz="1000">
                <a:solidFill>
                  <a:srgbClr val="733572"/>
                </a:solidFill>
                <a:latin typeface="Raleway"/>
                <a:ea typeface="Raleway"/>
                <a:cs typeface="Raleway"/>
                <a:sym typeface="Raleway"/>
              </a:rPr>
              <a:t> terulang?</a:t>
            </a:r>
            <a:endParaRPr b="1" sz="1000">
              <a:solidFill>
                <a:srgbClr val="733572"/>
              </a:solidFill>
              <a:latin typeface="Raleway"/>
              <a:ea typeface="Raleway"/>
              <a:cs typeface="Raleway"/>
              <a:sym typeface="Ralewa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6" name="Google Shape;466;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Proses Anda dalam mendefinisikan tujuan harus…</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Fleksibel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Detil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Kaku</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Tertutup</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67" name="Google Shape;467;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3" name="Google Shape;473;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Proses Anda dalam mendefinisikan tujuan harus…</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Fleksibel</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Detil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Kaku</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Tertutup</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74" name="Google Shape;474;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5" name="Google Shape;475;p64"/>
          <p:cNvSpPr/>
          <p:nvPr/>
        </p:nvSpPr>
        <p:spPr>
          <a:xfrm>
            <a:off x="685800" y="3231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Proses Anda dalam mendefinisikan tujuan harus fleksibel dan berulang. Kembalilah ke tujuan ketika Anda memulai, selama dan setelah Anda melakukan penelitian. </a:t>
            </a:r>
            <a:endParaRPr b="1" sz="1000">
              <a:solidFill>
                <a:srgbClr val="733572"/>
              </a:solidFill>
              <a:latin typeface="Raleway"/>
              <a:ea typeface="Raleway"/>
              <a:cs typeface="Raleway"/>
              <a:sym typeface="Raleway"/>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82" name="Google Shape;482;p6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83" name="Google Shape;483;p65"/>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What Is a Problem Statement in UX? (And How To Write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5"/>
              </a:rPr>
              <a:t>One) by careerfoundry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6"/>
              </a:rPr>
              <a:t>Creating A User Research Plan (with Examples) by UX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7"/>
              </a:rPr>
              <a:t>    </a:t>
            </a:r>
            <a:r>
              <a:rPr lang="en" sz="1200" u="sng">
                <a:solidFill>
                  <a:schemeClr val="hlink"/>
                </a:solidFill>
                <a:latin typeface="Raleway Medium"/>
                <a:ea typeface="Raleway Medium"/>
                <a:cs typeface="Raleway Medium"/>
                <a:sym typeface="Raleway Medium"/>
                <a:hlinkClick r:id="rId8"/>
              </a:rPr>
              <a:t>Pin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9"/>
              </a:rPr>
              <a:t>Defining UX Research Objectives by Zoe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10"/>
              </a:rPr>
              <a:t>    </a:t>
            </a:r>
            <a:r>
              <a:rPr lang="en" sz="1200" u="sng">
                <a:solidFill>
                  <a:schemeClr val="hlink"/>
                </a:solidFill>
                <a:latin typeface="Raleway Medium"/>
                <a:ea typeface="Raleway Medium"/>
                <a:cs typeface="Raleway Medium"/>
                <a:sym typeface="Raleway Medium"/>
                <a:hlinkClick r:id="rId11"/>
              </a:rPr>
              <a:t>Yovcheva-Dimov on LinkedIn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12"/>
              </a:rPr>
              <a:t>Elevate your research objectives by UX Collective</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87" name="Shape 487"/>
        <p:cNvGrpSpPr/>
        <p:nvPr/>
      </p:nvGrpSpPr>
      <p:grpSpPr>
        <a:xfrm>
          <a:off x="0" y="0"/>
          <a:ext cx="0" cy="0"/>
          <a:chOff x="0" y="0"/>
          <a:chExt cx="0" cy="0"/>
        </a:xfrm>
      </p:grpSpPr>
      <p:sp>
        <p:nvSpPr>
          <p:cNvPr id="488" name="Google Shape;488;p66"/>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89" name="Google Shape;489;p66"/>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90" name="Google Shape;490;p66"/>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91" name="Google Shape;491;p66"/>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92" name="Google Shape;492;p66"/>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93" name="Google Shape;493;p66"/>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94" name="Google Shape;494;p66"/>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95" name="Google Shape;495;p66"/>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