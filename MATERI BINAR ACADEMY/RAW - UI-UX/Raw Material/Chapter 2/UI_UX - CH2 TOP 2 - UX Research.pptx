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y="5143500" cx="9144000"/>
  <p:notesSz cx="6858000" cy="9144000"/>
  <p:embeddedFontLst>
    <p:embeddedFont>
      <p:font typeface="Raleway"/>
      <p:regular r:id="rId48"/>
      <p:bold r:id="rId49"/>
      <p:italic r:id="rId50"/>
      <p:boldItalic r:id="rId51"/>
    </p:embeddedFont>
    <p:embeddedFont>
      <p:font typeface="Roboto"/>
      <p:regular r:id="rId52"/>
      <p:bold r:id="rId53"/>
      <p:italic r:id="rId54"/>
      <p:boldItalic r:id="rId55"/>
    </p:embeddedFont>
    <p:embeddedFont>
      <p:font typeface="Montserrat"/>
      <p:regular r:id="rId56"/>
      <p:bold r:id="rId57"/>
      <p:italic r:id="rId58"/>
      <p:boldItalic r:id="rId59"/>
    </p:embeddedFont>
    <p:embeddedFont>
      <p:font typeface="Lato Black"/>
      <p:bold r:id="rId60"/>
      <p:boldItalic r:id="rId61"/>
    </p:embeddedFont>
    <p:embeddedFont>
      <p:font typeface="Raleway Medium"/>
      <p:regular r:id="rId62"/>
      <p:bold r:id="rId63"/>
      <p:italic r:id="rId64"/>
      <p:boldItalic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aleway-regular.fntdata"/><Relationship Id="rId47" Type="http://schemas.openxmlformats.org/officeDocument/2006/relationships/slide" Target="slides/slide42.xml"/><Relationship Id="rId49" Type="http://schemas.openxmlformats.org/officeDocument/2006/relationships/font" Target="fonts/Raleway-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RalewayMedium-regular.fntdata"/><Relationship Id="rId61" Type="http://schemas.openxmlformats.org/officeDocument/2006/relationships/font" Target="fonts/LatoBlack-boldItalic.fntdata"/><Relationship Id="rId20" Type="http://schemas.openxmlformats.org/officeDocument/2006/relationships/slide" Target="slides/slide15.xml"/><Relationship Id="rId64" Type="http://schemas.openxmlformats.org/officeDocument/2006/relationships/font" Target="fonts/RalewayMedium-italic.fntdata"/><Relationship Id="rId63" Type="http://schemas.openxmlformats.org/officeDocument/2006/relationships/font" Target="fonts/RalewayMedium-bold.fntdata"/><Relationship Id="rId22" Type="http://schemas.openxmlformats.org/officeDocument/2006/relationships/slide" Target="slides/slide17.xml"/><Relationship Id="rId21" Type="http://schemas.openxmlformats.org/officeDocument/2006/relationships/slide" Target="slides/slide16.xml"/><Relationship Id="rId65" Type="http://schemas.openxmlformats.org/officeDocument/2006/relationships/font" Target="fonts/RalewayMedium-boldItalic.fnt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LatoBlack-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aleway-boldItalic.fntdata"/><Relationship Id="rId50" Type="http://schemas.openxmlformats.org/officeDocument/2006/relationships/font" Target="fonts/Raleway-italic.fntdata"/><Relationship Id="rId53" Type="http://schemas.openxmlformats.org/officeDocument/2006/relationships/font" Target="fonts/Roboto-bold.fntdata"/><Relationship Id="rId52" Type="http://schemas.openxmlformats.org/officeDocument/2006/relationships/font" Target="fonts/Roboto-regular.fntdata"/><Relationship Id="rId11" Type="http://schemas.openxmlformats.org/officeDocument/2006/relationships/slide" Target="slides/slide6.xml"/><Relationship Id="rId55" Type="http://schemas.openxmlformats.org/officeDocument/2006/relationships/font" Target="fonts/Roboto-boldItalic.fntdata"/><Relationship Id="rId10" Type="http://schemas.openxmlformats.org/officeDocument/2006/relationships/slide" Target="slides/slide5.xml"/><Relationship Id="rId54" Type="http://schemas.openxmlformats.org/officeDocument/2006/relationships/font" Target="fonts/Roboto-italic.fntdata"/><Relationship Id="rId13" Type="http://schemas.openxmlformats.org/officeDocument/2006/relationships/slide" Target="slides/slide8.xml"/><Relationship Id="rId57" Type="http://schemas.openxmlformats.org/officeDocument/2006/relationships/font" Target="fonts/Montserrat-bold.fntdata"/><Relationship Id="rId12" Type="http://schemas.openxmlformats.org/officeDocument/2006/relationships/slide" Target="slides/slide7.xml"/><Relationship Id="rId56" Type="http://schemas.openxmlformats.org/officeDocument/2006/relationships/font" Target="fonts/Montserrat-regular.fntdata"/><Relationship Id="rId15" Type="http://schemas.openxmlformats.org/officeDocument/2006/relationships/slide" Target="slides/slide10.xml"/><Relationship Id="rId59" Type="http://schemas.openxmlformats.org/officeDocument/2006/relationships/font" Target="fonts/Montserrat-boldItalic.fntdata"/><Relationship Id="rId14" Type="http://schemas.openxmlformats.org/officeDocument/2006/relationships/slide" Target="slides/slide9.xml"/><Relationship Id="rId58" Type="http://schemas.openxmlformats.org/officeDocument/2006/relationships/font" Target="fonts/Montserrat-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research?utm_source=unsplash&amp;utm_medium=referral&amp;utm_content=creditCopyText" TargetMode="External"/><Relationship Id="rId5" Type="http://schemas.openxmlformats.org/officeDocument/2006/relationships/hyperlink" Target="https://unsplash.com/s/photos/research?utm_source=unsplash&amp;utm_medium=referral&amp;utm_content=creditCopyText"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research?utm_source=unsplash&amp;utm_medium=referral&amp;utm_content=creditCopyText" TargetMode="External"/><Relationship Id="rId5" Type="http://schemas.openxmlformats.org/officeDocument/2006/relationships/hyperlink" Target="https://unsplash.com/s/photos/research?utm_source=unsplash&amp;utm_medium=referral&amp;utm_content=creditCopyText"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research?utm_source=unsplash&amp;utm_medium=referral&amp;utm_content=creditCopyText" TargetMode="External"/><Relationship Id="rId5" Type="http://schemas.openxmlformats.org/officeDocument/2006/relationships/hyperlink" Target="https://unsplash.com/s/photos/research?utm_source=unsplash&amp;utm_medium=referral&amp;utm_content=creditCopyText"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research?utm_source=unsplash&amp;utm_medium=referral&amp;utm_content=creditCopyText" TargetMode="External"/><Relationship Id="rId5" Type="http://schemas.openxmlformats.org/officeDocument/2006/relationships/hyperlink" Target="https://unsplash.com/s/photos/research?utm_source=unsplash&amp;utm_medium=referral&amp;utm_content=creditCopyText"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tilclassics?utm_source=unsplash&amp;utm_medium=referral&amp;utm_content=creditCopyText" TargetMode="External"/><Relationship Id="rId3" Type="http://schemas.openxmlformats.org/officeDocument/2006/relationships/hyperlink" Target="https://unsplash.com/@stilclassics?utm_source=unsplash&amp;utm_medium=referral&amp;utm_content=creditCopyText" TargetMode="External"/><Relationship Id="rId4" Type="http://schemas.openxmlformats.org/officeDocument/2006/relationships/hyperlink" Target="https://unsplash.com/s/photos/planning?utm_source=unsplash&amp;utm_medium=referral&amp;utm_content=creditCopyText" TargetMode="External"/><Relationship Id="rId5" Type="http://schemas.openxmlformats.org/officeDocument/2006/relationships/hyperlink" Target="https://unsplash.com/s/photos/planning?utm_source=unsplash&amp;utm_medium=referral&amp;utm_content=creditCopyText"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tekton_tools?utm_source=unsplash&amp;utm_medium=referral&amp;utm_content=creditCopyText" TargetMode="External"/><Relationship Id="rId3" Type="http://schemas.openxmlformats.org/officeDocument/2006/relationships/hyperlink" Target="https://unsplash.com/@tekton_tools?utm_source=unsplash&amp;utm_medium=referral&amp;utm_content=creditCopyText" TargetMode="External"/><Relationship Id="rId4" Type="http://schemas.openxmlformats.org/officeDocument/2006/relationships/hyperlink" Target="https://unsplash.com/s/photos/toolbox?utm_source=unsplash&amp;utm_medium=referral&amp;utm_content=creditCopyText" TargetMode="External"/><Relationship Id="rId5" Type="http://schemas.openxmlformats.org/officeDocument/2006/relationships/hyperlink" Target="https://unsplash.com/s/photos/toolbox?utm_source=unsplash&amp;utm_medium=referral&amp;utm_content=creditCopyText"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freddymarschall?utm_source=unsplash&amp;utm_medium=referral&amp;utm_content=creditCopyText" TargetMode="External"/><Relationship Id="rId3" Type="http://schemas.openxmlformats.org/officeDocument/2006/relationships/hyperlink" Target="https://unsplash.com/@freddymarschall?utm_source=unsplash&amp;utm_medium=referral&amp;utm_content=creditCopyText" TargetMode="External"/><Relationship Id="rId4" Type="http://schemas.openxmlformats.org/officeDocument/2006/relationships/hyperlink" Target="https://unsplash.com/s/photos/observe?utm_source=unsplash&amp;utm_medium=referral&amp;utm_content=creditCopyText" TargetMode="External"/><Relationship Id="rId5" Type="http://schemas.openxmlformats.org/officeDocument/2006/relationships/hyperlink" Target="https://unsplash.com/s/photos/observe?utm_source=unsplash&amp;utm_medium=referral&amp;utm_content=creditCopyText"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ux-research?utm_source=unsplash&amp;utm_medium=referral&amp;utm_content=creditCopyText" TargetMode="External"/><Relationship Id="rId5" Type="http://schemas.openxmlformats.org/officeDocument/2006/relationships/hyperlink" Target="https://unsplash.com/s/photos/ux-research?utm_source=unsplash&amp;utm_medium=referral&amp;utm_content=creditCopyText"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kellysikkema?utm_source=unsplash&amp;utm_medium=referral&amp;utm_content=creditCopyText" TargetMode="External"/><Relationship Id="rId3" Type="http://schemas.openxmlformats.org/officeDocument/2006/relationships/hyperlink" Target="https://unsplash.com/@kellysikkema?utm_source=unsplash&amp;utm_medium=referral&amp;utm_content=creditCopyText" TargetMode="External"/><Relationship Id="rId4" Type="http://schemas.openxmlformats.org/officeDocument/2006/relationships/hyperlink" Target="https://unsplash.com/s/photos/ux-research?utm_source=unsplash&amp;utm_medium=referral&amp;utm_content=creditCopyText" TargetMode="External"/><Relationship Id="rId5" Type="http://schemas.openxmlformats.org/officeDocument/2006/relationships/hyperlink" Target="https://unsplash.com/s/photos/ux-research?utm_source=unsplash&amp;utm_medium=referral&amp;utm_content=creditCopyText"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0b12bec43e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10b12bec43e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10f7e77748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10f7e77748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10b249276f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10b249276f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d1c2ecc95a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d1c2ecc95a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1121959f42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1121959f42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d1c2ecc95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d1c2ecc95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d1c2ecc95a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d1c2ecc95a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121959f42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121959f42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121959f42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1121959f42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d1c2ecc95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d1c2ecc95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0f7e777481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0f7e777481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0b12bec43e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0b12bec43e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https://www.amazon.com/Practical-Research-Planning-Enhanced-Pearson/dp/0133747182</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d1c2ecc95a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d1c2ecc95a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https://www.amazon.com/Practical-Research-Planning-Enhanced-Pearson/dp/0133747182</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d1c2ecc95a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d1c2ecc95a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https://www.amazon.com/Practical-Research-Planning-Enhanced-Pearson/dp/0133747182</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0b12bec43e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0b12bec43e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10b12bec43e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10b12bec43e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STIL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10f7e777481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10f7e777481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Tekton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0f7e777481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0f7e777481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Frederick Marschall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d1c2ecc95a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d1c2ecc95a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10f7e777481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10f7e777481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d1c2ecc95a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d1c2ecc95a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d1c2ecc95a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d1c2ecc95a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Kelly Sikkema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d1c2ecc95a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d1c2ecc95a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d1c2ecc95a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d1c2ecc95a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https://www.nngroup.com/articles/ux-research-cheat-sheet/</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d1c2ecc95a_0_4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d1c2ecc95a_0_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https://npengage.com/nonprofit-fundraising/nonprofit-web-design-process-part-surveys-and-interviews/</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d1c2ecc95a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d1c2ecc95a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https://www.nngroup.com/articles/which-ux-research-methods/</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d1c2ecc95a_0_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d1c2ecc95a_0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https://www.nngroup.com/articles/which-ux-research-methods/</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10e8c3a84c0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10e8c3a84c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d1c2ecc95a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d1c2ecc95a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10e8c3a84c0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10e8c3a84c0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10f7e777481_0_5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10f7e777481_0_5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10e8c3a84c0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10e8c3a84c0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d1c2ecc95a_0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d1c2ecc95a_0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10e8c3a84c0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10e8c3a84c0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d1c2ecc95a_0_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d1c2ecc95a_0_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0f7e777481_0_5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10f7e777481_0_5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d1c2ecc95a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d1c2ecc95a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112ccaa42a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112ccaa42a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image" Target="../media/image1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image" Target="../media/image1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id1lib.org/book/5005929/6882ba" TargetMode="External"/><Relationship Id="rId4" Type="http://schemas.openxmlformats.org/officeDocument/2006/relationships/hyperlink" Target="https://www.amazon.com/Practical-Research-Planning-Enhanced-Pearson/dp/0133747182" TargetMode="External"/><Relationship Id="rId5" Type="http://schemas.openxmlformats.org/officeDocument/2006/relationships/image" Target="../media/image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www.amazon.com/Practical-Research-Planning-Enhanced-Pearson/dp/0133747182" TargetMode="External"/><Relationship Id="rId4" Type="http://schemas.openxmlformats.org/officeDocument/2006/relationships/image" Target="../media/image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www.amazon.com/Practical-Research-Planning-Enhanced-Pearson/dp/0133747182" TargetMode="External"/><Relationship Id="rId4" Type="http://schemas.openxmlformats.org/officeDocument/2006/relationships/image" Target="../media/image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unsplash.com/@stilclassics?utm_source=unsplash&amp;utm_medium=referral&amp;utm_content=creditCopyText" TargetMode="External"/><Relationship Id="rId4" Type="http://schemas.openxmlformats.org/officeDocument/2006/relationships/image" Target="../media/image1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unsplash.com/@tekton_tools?utm_source=unsplash&amp;utm_medium=referral&amp;utm_content=creditCopyText" TargetMode="External"/><Relationship Id="rId4" Type="http://schemas.openxmlformats.org/officeDocument/2006/relationships/image" Target="../media/image1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image" Target="../media/image1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unsplash.com/@kellysikkema?utm_source=unsplash&amp;utm_medium=referral&amp;utm_content=creditCopyText" TargetMode="External"/><Relationship Id="rId4" Type="http://schemas.openxmlformats.org/officeDocument/2006/relationships/image" Target="../media/image19.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www.nngroup.com/articles/ux-research-cheat-sheet/" TargetMode="External"/><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unsplash.com/@tekton_tools?utm_source=unsplash&amp;utm_medium=referral&amp;utm_content=creditCopyText" TargetMode="External"/><Relationship Id="rId4" Type="http://schemas.openxmlformats.org/officeDocument/2006/relationships/image" Target="../media/image18.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0" Type="http://schemas.openxmlformats.org/officeDocument/2006/relationships/hyperlink" Target="https://www.uxmatters.com/mt/archives/2017/11/qualities-of-effective-user-researchers.php" TargetMode="External"/><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png"/><Relationship Id="rId4" Type="http://schemas.openxmlformats.org/officeDocument/2006/relationships/hyperlink" Target="https://www.interaction-design.org/literature/topics/ux-research#:~:text=UX%20(user%20experience)%20research%20is,uncover%20problems%20and%20design%20opportunities." TargetMode="External"/><Relationship Id="rId9" Type="http://schemas.openxmlformats.org/officeDocument/2006/relationships/hyperlink" Target="https://www.nngroup.com/articles/which-ux-research-methods/" TargetMode="External"/><Relationship Id="rId5" Type="http://schemas.openxmlformats.org/officeDocument/2006/relationships/hyperlink" Target="https://www.interaction-design.org/literature/topics/ux-research#:~:text=UX%20(user%20experience)%20research%20is,uncover%20problems%20and%20design%20opportunities." TargetMode="External"/><Relationship Id="rId6" Type="http://schemas.openxmlformats.org/officeDocument/2006/relationships/hyperlink" Target="https://www.interaction-design.org/literature/topics/ux-research#:~:text=UX%20(user%20experience)%20research%20is,uncover%20problems%20and%20design%20opportunities." TargetMode="External"/><Relationship Id="rId7" Type="http://schemas.openxmlformats.org/officeDocument/2006/relationships/hyperlink" Target="https://www.nngroup.com/articles/ux-research-cheat-sheet/" TargetMode="External"/><Relationship Id="rId8" Type="http://schemas.openxmlformats.org/officeDocument/2006/relationships/hyperlink" Target="https://www.nngroup.com/articles/which-ux-research-methods/"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85" name="Shape 85"/>
        <p:cNvGrpSpPr/>
        <p:nvPr/>
      </p:nvGrpSpPr>
      <p:grpSpPr>
        <a:xfrm>
          <a:off x="0" y="0"/>
          <a:ext cx="0" cy="0"/>
          <a:chOff x="0" y="0"/>
          <a:chExt cx="0" cy="0"/>
        </a:xfrm>
      </p:grpSpPr>
      <p:sp>
        <p:nvSpPr>
          <p:cNvPr id="86" name="Google Shape;86;p17"/>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Raleway"/>
                <a:ea typeface="Raleway"/>
                <a:cs typeface="Raleway"/>
                <a:sym typeface="Raleway"/>
              </a:rPr>
              <a:t>UX Research</a:t>
            </a:r>
            <a:endParaRPr b="1" sz="2400">
              <a:solidFill>
                <a:srgbClr val="FFFFFF"/>
              </a:solidFill>
              <a:latin typeface="Raleway"/>
              <a:ea typeface="Raleway"/>
              <a:cs typeface="Raleway"/>
              <a:sym typeface="Raleway"/>
            </a:endParaRPr>
          </a:p>
          <a:p>
            <a:pPr indent="0" lvl="0" marL="0" rtl="0" algn="l">
              <a:spcBef>
                <a:spcPts val="0"/>
              </a:spcBef>
              <a:spcAft>
                <a:spcPts val="0"/>
              </a:spcAft>
              <a:buClr>
                <a:schemeClr val="dk1"/>
              </a:buClr>
              <a:buSzPts val="1100"/>
              <a:buFont typeface="Arial"/>
              <a:buNone/>
            </a:pPr>
            <a:r>
              <a:rPr b="1" lang="en">
                <a:solidFill>
                  <a:schemeClr val="lt1"/>
                </a:solidFill>
                <a:latin typeface="Raleway"/>
                <a:ea typeface="Raleway"/>
                <a:cs typeface="Raleway"/>
                <a:sym typeface="Raleway"/>
              </a:rPr>
              <a:t>Chapter 2 - Topic 2</a:t>
            </a:r>
            <a:endParaRPr b="1">
              <a:solidFill>
                <a:srgbClr val="FFFFFF"/>
              </a:solidFill>
              <a:latin typeface="Raleway"/>
              <a:ea typeface="Raleway"/>
              <a:cs typeface="Raleway"/>
              <a:sym typeface="Raleway"/>
            </a:endParaRPr>
          </a:p>
        </p:txBody>
      </p:sp>
      <p:cxnSp>
        <p:nvCxnSpPr>
          <p:cNvPr id="87" name="Google Shape;87;p17"/>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88" name="Google Shape;88;p17"/>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89" name="Google Shape;89;p17"/>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5" name="Google Shape;95;p1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Agenda</a:t>
            </a:r>
            <a:endParaRPr/>
          </a:p>
        </p:txBody>
      </p:sp>
      <p:pic>
        <p:nvPicPr>
          <p:cNvPr id="96" name="Google Shape;96;p18"/>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97" name="Google Shape;97;p18"/>
          <p:cNvSpPr txBox="1"/>
          <p:nvPr/>
        </p:nvSpPr>
        <p:spPr>
          <a:xfrm>
            <a:off x="685800" y="1024128"/>
            <a:ext cx="4114800" cy="36576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UX Research</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a:solidFill>
                  <a:schemeClr val="dk1"/>
                </a:solidFill>
                <a:latin typeface="Raleway Medium"/>
                <a:ea typeface="Raleway Medium"/>
                <a:cs typeface="Raleway Medium"/>
                <a:sym typeface="Raleway Medium"/>
              </a:rPr>
              <a:t>Research dan UX Research</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Mengapa research</a:t>
            </a:r>
            <a:r>
              <a:rPr lang="en" sz="1200">
                <a:solidFill>
                  <a:schemeClr val="dk1"/>
                </a:solidFill>
                <a:latin typeface="Raleway Medium"/>
                <a:ea typeface="Raleway Medium"/>
                <a:cs typeface="Raleway Medium"/>
                <a:sym typeface="Raleway Medium"/>
              </a:rPr>
              <a:t> penting?</a:t>
            </a:r>
            <a:r>
              <a:rPr lang="en" sz="1200">
                <a:solidFill>
                  <a:schemeClr val="dk1"/>
                </a:solidFill>
                <a:latin typeface="Raleway Medium"/>
                <a:ea typeface="Raleway Medium"/>
                <a:cs typeface="Raleway Medium"/>
                <a:sym typeface="Raleway Medium"/>
              </a:rPr>
              <a:t>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Karakter - karakter research</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Langkah - langkah research</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a:t>
            </a:r>
            <a:r>
              <a:rPr lang="en" sz="1200">
                <a:solidFill>
                  <a:schemeClr val="dk1"/>
                </a:solidFill>
                <a:latin typeface="Raleway Medium"/>
                <a:ea typeface="Raleway Medium"/>
                <a:cs typeface="Raleway Medium"/>
                <a:sym typeface="Raleway Medium"/>
              </a:rPr>
              <a:t>Menentukan metode research</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Pada pembahasan kali ini, kita akan mempelajari apa itu</a:t>
            </a:r>
            <a:r>
              <a:rPr lang="en"/>
              <a:t> </a:t>
            </a:r>
            <a:r>
              <a:rPr lang="en">
                <a:solidFill>
                  <a:schemeClr val="accent1"/>
                </a:solidFill>
              </a:rPr>
              <a:t>UX Research </a:t>
            </a:r>
            <a:r>
              <a:rPr lang="en"/>
              <a:t>?</a:t>
            </a:r>
            <a:endParaRPr/>
          </a:p>
        </p:txBody>
      </p:sp>
      <p:sp>
        <p:nvSpPr>
          <p:cNvPr id="103" name="Google Shape;103;p1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9" name="Google Shape;109;p2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Research dan UX Research</a:t>
            </a:r>
            <a:endParaRPr/>
          </a:p>
        </p:txBody>
      </p:sp>
      <p:sp>
        <p:nvSpPr>
          <p:cNvPr id="110" name="Google Shape;110;p2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Sebelum beranjak menuju UX Research, kita harus tau apa itu research / riset?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ri.set /risêt/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Penyelidikan (penelitian) suatu masalah secara bersistem, kritis, dan ilmiah untuk meningkatkan pengetahuan dan pengertian, mendapatkan fakta yang baru, atau melakukan penafsiran yang lebih baik.</a:t>
            </a:r>
            <a:endParaRPr sz="1200">
              <a:solidFill>
                <a:schemeClr val="dk1"/>
              </a:solidFill>
              <a:latin typeface="Raleway Medium"/>
              <a:ea typeface="Raleway Medium"/>
              <a:cs typeface="Raleway Medium"/>
              <a:sym typeface="Raleway Medium"/>
            </a:endParaRPr>
          </a:p>
        </p:txBody>
      </p:sp>
      <p:pic>
        <p:nvPicPr>
          <p:cNvPr id="111" name="Google Shape;111;p20"/>
          <p:cNvPicPr preferRelativeResize="0"/>
          <p:nvPr/>
        </p:nvPicPr>
        <p:blipFill rotWithShape="1">
          <a:blip r:embed="rId3">
            <a:alphaModFix/>
          </a:blip>
          <a:srcRect b="29" l="0" r="0" t="29"/>
          <a:stretch/>
        </p:blipFill>
        <p:spPr>
          <a:xfrm>
            <a:off x="5426925" y="839325"/>
            <a:ext cx="2726475" cy="37696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7" name="Google Shape;117;p2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Research dan UX Research</a:t>
            </a:r>
            <a:endParaRPr/>
          </a:p>
        </p:txBody>
      </p:sp>
      <p:sp>
        <p:nvSpPr>
          <p:cNvPr id="118" name="Google Shape;118;p21"/>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Research dalam siklus desain</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Riset dapat dilakukan kapan saja dalam siklus desain.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Setiap proyek pastinya berbeda, sehingga tahapannya tidak selalu terkotak dengan rapi. Akhir dari satu siklus adalah awal dari siklus berikutnya.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Dalam proses desain, yang terpenting bukanlah menjalankan daftar aktivitas yang sangat besar dalam urutan yang kaku, tetapi untuk memulai di suatu tempat dan belajar lebih banyak dan lebih banyak lagi seiring berjalannya waktu.</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19" name="Google Shape;119;p21"/>
          <p:cNvPicPr preferRelativeResize="0"/>
          <p:nvPr/>
        </p:nvPicPr>
        <p:blipFill rotWithShape="1">
          <a:blip r:embed="rId3">
            <a:alphaModFix/>
          </a:blip>
          <a:srcRect b="0" l="7170" r="7161" t="0"/>
          <a:stretch/>
        </p:blipFill>
        <p:spPr>
          <a:xfrm>
            <a:off x="5426925" y="839325"/>
            <a:ext cx="2726474" cy="37696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5" name="Google Shape;125;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Research dan UX Research</a:t>
            </a:r>
            <a:endParaRPr/>
          </a:p>
        </p:txBody>
      </p:sp>
      <p:sp>
        <p:nvSpPr>
          <p:cNvPr id="126" name="Google Shape;126;p22"/>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Lalu, apa itu UX Research</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User research atau UX research merujuk pada berbagai metode ilmiah yang dapat kita gunakan untuk memahami pikiran, perasaan, dan perilaku orang-orang yang menggunakan suatu produk / layanan.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Pemahaman tersebut biasanya didapat melalui proses observasi apa yang mereka lakukan atau dengan langsung meminta feedback dari apa yang mereka alami.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27" name="Google Shape;127;p22"/>
          <p:cNvPicPr preferRelativeResize="0"/>
          <p:nvPr/>
        </p:nvPicPr>
        <p:blipFill rotWithShape="1">
          <a:blip r:embed="rId3">
            <a:alphaModFix/>
          </a:blip>
          <a:srcRect b="0" l="7170" r="7161" t="0"/>
          <a:stretch/>
        </p:blipFill>
        <p:spPr>
          <a:xfrm>
            <a:off x="5426925" y="839325"/>
            <a:ext cx="2726474" cy="37696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3" name="Google Shape;133;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Research dan UX Research</a:t>
            </a:r>
            <a:endParaRPr/>
          </a:p>
        </p:txBody>
      </p:sp>
      <p:sp>
        <p:nvSpPr>
          <p:cNvPr id="134" name="Google Shape;134;p23"/>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Saat melakukan proses UX Research, memahami pengguna bukan hanya sekadar melakukan tanya-jawab biasa, layaknya penelitian biasanya dengan responden.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Dalam sebuah tim UX Design yang baik pada umumnya akan melakukan kegiatan research dengan berlandaskan hasil proses </a:t>
            </a:r>
            <a:r>
              <a:rPr b="1" lang="en" sz="1200">
                <a:solidFill>
                  <a:schemeClr val="dk1"/>
                </a:solidFill>
                <a:latin typeface="Raleway"/>
                <a:ea typeface="Raleway"/>
                <a:cs typeface="Raleway"/>
                <a:sym typeface="Raleway"/>
              </a:rPr>
              <a:t>empati</a:t>
            </a:r>
            <a:r>
              <a:rPr lang="en" sz="1200">
                <a:solidFill>
                  <a:schemeClr val="dk1"/>
                </a:solidFill>
                <a:latin typeface="Raleway Medium"/>
                <a:ea typeface="Raleway Medium"/>
                <a:cs typeface="Raleway Medium"/>
                <a:sym typeface="Raleway Medium"/>
              </a:rPr>
              <a:t> yang telah dijelaskan pada topik sebelumnya.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35" name="Google Shape;135;p23"/>
          <p:cNvPicPr preferRelativeResize="0"/>
          <p:nvPr/>
        </p:nvPicPr>
        <p:blipFill rotWithShape="1">
          <a:blip r:embed="rId3">
            <a:alphaModFix/>
          </a:blip>
          <a:srcRect b="0" l="7170" r="7161" t="0"/>
          <a:stretch/>
        </p:blipFill>
        <p:spPr>
          <a:xfrm>
            <a:off x="5426925" y="839325"/>
            <a:ext cx="2726474" cy="37696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4"/>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Mengapa </a:t>
            </a:r>
            <a:r>
              <a:rPr lang="en">
                <a:solidFill>
                  <a:schemeClr val="accent1"/>
                </a:solidFill>
              </a:rPr>
              <a:t>research</a:t>
            </a:r>
            <a:r>
              <a:rPr lang="en"/>
              <a:t> penting?</a:t>
            </a:r>
            <a:endParaRPr/>
          </a:p>
        </p:txBody>
      </p:sp>
      <p:sp>
        <p:nvSpPr>
          <p:cNvPr id="141" name="Google Shape;141;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7" name="Google Shape;147;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Mengapa research penting?</a:t>
            </a:r>
            <a:endParaRPr/>
          </a:p>
        </p:txBody>
      </p:sp>
      <p:sp>
        <p:nvSpPr>
          <p:cNvPr id="148" name="Google Shape;148;p25"/>
          <p:cNvSpPr txBox="1"/>
          <p:nvPr/>
        </p:nvSpPr>
        <p:spPr>
          <a:xfrm>
            <a:off x="685800" y="1083195"/>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Mengapa research penting?</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a:t>
            </a:r>
            <a:r>
              <a:rPr lang="en" sz="1200">
                <a:solidFill>
                  <a:schemeClr val="dk1"/>
                </a:solidFill>
                <a:latin typeface="Raleway Medium"/>
                <a:ea typeface="Raleway Medium"/>
                <a:cs typeface="Raleway Medium"/>
                <a:sym typeface="Raleway Medium"/>
              </a:rPr>
              <a:t>awabannya sederhana: </a:t>
            </a:r>
            <a:r>
              <a:rPr i="1" lang="en" sz="1200">
                <a:solidFill>
                  <a:schemeClr val="dk1"/>
                </a:solidFill>
                <a:latin typeface="Raleway Medium"/>
                <a:ea typeface="Raleway Medium"/>
                <a:cs typeface="Raleway Medium"/>
                <a:sym typeface="Raleway Medium"/>
              </a:rPr>
              <a:t>without research, we are designing based on assumptions.</a:t>
            </a:r>
            <a:endParaRPr i="1"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Riset sebagai cara buat memahami user agar pembacaan terhadap masalah yang dialami user bisa terarah.</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Tepatnya, tanpa sebuah riset, kita mendesain berdasarkan asumsi. Asumsi kita dapat memiliki bias.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49" name="Google Shape;149;p25">
            <a:hlinkClick r:id="rId3"/>
          </p:cNvPr>
          <p:cNvPicPr preferRelativeResize="0"/>
          <p:nvPr/>
        </p:nvPicPr>
        <p:blipFill rotWithShape="1">
          <a:blip r:embed="rId4">
            <a:alphaModFix/>
          </a:blip>
          <a:srcRect b="0" l="0" r="26686" t="0"/>
          <a:stretch/>
        </p:blipFill>
        <p:spPr>
          <a:xfrm>
            <a:off x="5638800" y="1359987"/>
            <a:ext cx="3017513" cy="2743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5" name="Google Shape;155;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Mengapa research penting?</a:t>
            </a:r>
            <a:endParaRPr/>
          </a:p>
        </p:txBody>
      </p:sp>
      <p:sp>
        <p:nvSpPr>
          <p:cNvPr id="156" name="Google Shape;156;p26"/>
          <p:cNvSpPr txBox="1"/>
          <p:nvPr/>
        </p:nvSpPr>
        <p:spPr>
          <a:xfrm>
            <a:off x="685800" y="1083195"/>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Tahukah apa itu bias?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Secara istilah, bias adalah penyimpangan dalam berpikir yang cenderung mengalami kesalahan. Bias adalah prasangka kita terhadap sesuatu hal yang belum tentu berdasarkan fakta atau hasil yang konkrit.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2" name="Google Shape;162;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Mengapa research penting?</a:t>
            </a:r>
            <a:endParaRPr/>
          </a:p>
        </p:txBody>
      </p:sp>
      <p:sp>
        <p:nvSpPr>
          <p:cNvPr id="163" name="Google Shape;163;p27"/>
          <p:cNvSpPr txBox="1"/>
          <p:nvPr/>
        </p:nvSpPr>
        <p:spPr>
          <a:xfrm>
            <a:off x="685800" y="1083195"/>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Oleh karena itu,  dengan melakukan riset kita bisa mendapatkan informasi selengkap mungkin dan mengolahnya menjadi solusi yang user-friendly.</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Insight yang akan didapatkan dari riset nantinya digunakan untuk memastikan bahwa semua keputusan desain produk bermanfaat bagi user.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9" name="Google Shape;169;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Mengapa research penting?</a:t>
            </a:r>
            <a:endParaRPr/>
          </a:p>
        </p:txBody>
      </p:sp>
      <p:sp>
        <p:nvSpPr>
          <p:cNvPr id="170" name="Google Shape;170;p2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Tujuan dari sebuah research</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Mengidentifikasi masalah dan tantangan.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Validasi / membatalkan asumsi.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Menemukan pola dan kesamaan pada seluruh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kelompok target pengguna -&gt; kebutuhan, tujuan, dan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model mental mereka.</a:t>
            </a:r>
            <a:endParaRPr sz="1200">
              <a:solidFill>
                <a:schemeClr val="dk1"/>
              </a:solidFill>
              <a:latin typeface="Raleway Medium"/>
              <a:ea typeface="Raleway Medium"/>
              <a:cs typeface="Raleway Medium"/>
              <a:sym typeface="Raleway Medium"/>
            </a:endParaRPr>
          </a:p>
        </p:txBody>
      </p:sp>
      <p:pic>
        <p:nvPicPr>
          <p:cNvPr id="171" name="Google Shape;171;p28">
            <a:hlinkClick r:id="rId3"/>
          </p:cNvPr>
          <p:cNvPicPr preferRelativeResize="0"/>
          <p:nvPr/>
        </p:nvPicPr>
        <p:blipFill rotWithShape="1">
          <a:blip r:embed="rId4">
            <a:alphaModFix/>
          </a:blip>
          <a:srcRect b="0" l="9898" r="17268" t="0"/>
          <a:stretch/>
        </p:blipFill>
        <p:spPr>
          <a:xfrm>
            <a:off x="5638800" y="1359987"/>
            <a:ext cx="3017513" cy="274320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9"/>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Sebelum kita </a:t>
            </a:r>
            <a:r>
              <a:rPr lang="en"/>
              <a:t>memulai research, alangkah baiknya jika kita mengerti</a:t>
            </a:r>
            <a:r>
              <a:rPr lang="en">
                <a:solidFill>
                  <a:schemeClr val="accent1"/>
                </a:solidFill>
              </a:rPr>
              <a:t> karakter - karakter dari sebuah </a:t>
            </a:r>
            <a:r>
              <a:rPr lang="en">
                <a:solidFill>
                  <a:schemeClr val="accent1"/>
                </a:solidFill>
              </a:rPr>
              <a:t>research</a:t>
            </a:r>
            <a:endParaRPr>
              <a:solidFill>
                <a:schemeClr val="accent1"/>
              </a:solidFill>
            </a:endParaRPr>
          </a:p>
        </p:txBody>
      </p:sp>
      <p:sp>
        <p:nvSpPr>
          <p:cNvPr id="177" name="Google Shape;177;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3" name="Google Shape;183;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Karakter - karakter research</a:t>
            </a:r>
            <a:endParaRPr/>
          </a:p>
        </p:txBody>
      </p:sp>
      <p:sp>
        <p:nvSpPr>
          <p:cNvPr id="184" name="Google Shape;184;p30"/>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Karakter - karakter riset</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Menurut Paul Leedy dalam </a:t>
            </a:r>
            <a:r>
              <a:rPr lang="en" sz="1200" u="sng">
                <a:solidFill>
                  <a:schemeClr val="hlink"/>
                </a:solidFill>
                <a:latin typeface="Raleway Medium"/>
                <a:ea typeface="Raleway Medium"/>
                <a:cs typeface="Raleway Medium"/>
                <a:sym typeface="Raleway Medium"/>
                <a:hlinkClick r:id="rId3"/>
              </a:rPr>
              <a:t>Practical Research</a:t>
            </a:r>
            <a:r>
              <a:rPr lang="en" sz="1200">
                <a:solidFill>
                  <a:schemeClr val="dk1"/>
                </a:solidFill>
                <a:latin typeface="Raleway Medium"/>
                <a:ea typeface="Raleway Medium"/>
                <a:cs typeface="Raleway Medium"/>
                <a:sym typeface="Raleway Medium"/>
              </a:rPr>
              <a:t>, ada 8</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karakteristik riset:</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133350" lvl="0" marL="171450" rtl="0" algn="just">
              <a:lnSpc>
                <a:spcPct val="115000"/>
              </a:lnSpc>
              <a:spcBef>
                <a:spcPts val="0"/>
              </a:spcBef>
              <a:spcAft>
                <a:spcPts val="0"/>
              </a:spcAft>
              <a:buClr>
                <a:schemeClr val="dk1"/>
              </a:buClr>
              <a:buSzPts val="1200"/>
              <a:buFont typeface="Raleway Medium"/>
              <a:buAutoNum type="arabicParenR"/>
            </a:pPr>
            <a:r>
              <a:rPr lang="en" sz="1200">
                <a:solidFill>
                  <a:schemeClr val="dk1"/>
                </a:solidFill>
                <a:latin typeface="Raleway Medium"/>
                <a:ea typeface="Raleway Medium"/>
                <a:cs typeface="Raleway Medium"/>
                <a:sym typeface="Raleway Medium"/>
              </a:rPr>
              <a:t>Riset bermula dari </a:t>
            </a:r>
            <a:r>
              <a:rPr b="1" lang="en" sz="1200">
                <a:solidFill>
                  <a:schemeClr val="dk1"/>
                </a:solidFill>
                <a:latin typeface="Raleway"/>
                <a:ea typeface="Raleway"/>
                <a:cs typeface="Raleway"/>
                <a:sym typeface="Raleway"/>
              </a:rPr>
              <a:t>satu pertanyaan atau masalah besar</a:t>
            </a:r>
            <a:r>
              <a:rPr lang="en" sz="1200">
                <a:solidFill>
                  <a:schemeClr val="dk1"/>
                </a:solidFill>
                <a:latin typeface="Raleway Medium"/>
                <a:ea typeface="Raleway Medium"/>
                <a:cs typeface="Raleway Medium"/>
                <a:sym typeface="Raleway Medium"/>
              </a:rPr>
              <a:t>.</a:t>
            </a:r>
            <a:endParaRPr sz="1200">
              <a:solidFill>
                <a:schemeClr val="dk1"/>
              </a:solidFill>
              <a:latin typeface="Raleway Medium"/>
              <a:ea typeface="Raleway Medium"/>
              <a:cs typeface="Raleway Medium"/>
              <a:sym typeface="Raleway Medium"/>
            </a:endParaRPr>
          </a:p>
          <a:p>
            <a:pPr indent="-133350" lvl="0" marL="171450" rtl="0" algn="just">
              <a:lnSpc>
                <a:spcPct val="115000"/>
              </a:lnSpc>
              <a:spcBef>
                <a:spcPts val="0"/>
              </a:spcBef>
              <a:spcAft>
                <a:spcPts val="0"/>
              </a:spcAft>
              <a:buClr>
                <a:schemeClr val="dk1"/>
              </a:buClr>
              <a:buSzPts val="1200"/>
              <a:buFont typeface="Raleway Medium"/>
              <a:buAutoNum type="arabicParenR"/>
            </a:pPr>
            <a:r>
              <a:rPr lang="en" sz="1200">
                <a:solidFill>
                  <a:schemeClr val="dk1"/>
                </a:solidFill>
                <a:latin typeface="Raleway Medium"/>
                <a:ea typeface="Raleway Medium"/>
                <a:cs typeface="Raleway Medium"/>
                <a:sym typeface="Raleway Medium"/>
              </a:rPr>
              <a:t>Untuk bisa memecahkan masalah, riset butuh penjabaran </a:t>
            </a:r>
            <a:r>
              <a:rPr b="1" lang="en" sz="1200">
                <a:solidFill>
                  <a:schemeClr val="dk1"/>
                </a:solidFill>
                <a:latin typeface="Raleway"/>
                <a:ea typeface="Raleway"/>
                <a:cs typeface="Raleway"/>
                <a:sym typeface="Raleway"/>
              </a:rPr>
              <a:t>tujuan yang jelas</a:t>
            </a:r>
            <a:r>
              <a:rPr lang="en" sz="1200">
                <a:solidFill>
                  <a:schemeClr val="dk1"/>
                </a:solidFill>
                <a:latin typeface="Raleway Medium"/>
                <a:ea typeface="Raleway Medium"/>
                <a:cs typeface="Raleway Medium"/>
                <a:sym typeface="Raleway Medium"/>
              </a:rPr>
              <a:t>. </a:t>
            </a:r>
            <a:endParaRPr sz="1200">
              <a:solidFill>
                <a:schemeClr val="dk1"/>
              </a:solidFill>
              <a:latin typeface="Raleway Medium"/>
              <a:ea typeface="Raleway Medium"/>
              <a:cs typeface="Raleway Medium"/>
              <a:sym typeface="Raleway Medium"/>
            </a:endParaRPr>
          </a:p>
          <a:p>
            <a:pPr indent="-133350" lvl="0" marL="171450" rtl="0" algn="just">
              <a:lnSpc>
                <a:spcPct val="115000"/>
              </a:lnSpc>
              <a:spcBef>
                <a:spcPts val="0"/>
              </a:spcBef>
              <a:spcAft>
                <a:spcPts val="0"/>
              </a:spcAft>
              <a:buClr>
                <a:schemeClr val="dk1"/>
              </a:buClr>
              <a:buSzPts val="1200"/>
              <a:buFont typeface="Raleway Medium"/>
              <a:buAutoNum type="arabicParenR"/>
            </a:pPr>
            <a:r>
              <a:rPr lang="en" sz="1200">
                <a:solidFill>
                  <a:schemeClr val="dk1"/>
                </a:solidFill>
                <a:latin typeface="Raleway Medium"/>
                <a:ea typeface="Raleway Medium"/>
                <a:cs typeface="Raleway Medium"/>
                <a:sym typeface="Raleway Medium"/>
              </a:rPr>
              <a:t>Riset membutuhkan </a:t>
            </a:r>
            <a:r>
              <a:rPr b="1" lang="en" sz="1200">
                <a:solidFill>
                  <a:schemeClr val="dk1"/>
                </a:solidFill>
                <a:latin typeface="Raleway"/>
                <a:ea typeface="Raleway"/>
                <a:cs typeface="Raleway"/>
                <a:sym typeface="Raleway"/>
              </a:rPr>
              <a:t>rencana spesifik</a:t>
            </a:r>
            <a:r>
              <a:rPr lang="en" sz="1200">
                <a:solidFill>
                  <a:schemeClr val="dk1"/>
                </a:solidFill>
                <a:latin typeface="Raleway Medium"/>
                <a:ea typeface="Raleway Medium"/>
                <a:cs typeface="Raleway Medium"/>
                <a:sym typeface="Raleway Medium"/>
              </a:rPr>
              <a:t> untuk mencapai tujuan tersebut. Beberapa hal yang perlu diputuskan, contohnya:</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Di mana mendapatkan data? </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Bagaimana mengumpulkan data tersebut? </a:t>
            </a:r>
            <a:endParaRPr sz="1200">
              <a:solidFill>
                <a:schemeClr val="dk1"/>
              </a:solidFill>
              <a:latin typeface="Raleway Medium"/>
              <a:ea typeface="Raleway Medium"/>
              <a:cs typeface="Raleway Medium"/>
              <a:sym typeface="Raleway Medium"/>
            </a:endParaRPr>
          </a:p>
          <a:p>
            <a:pPr indent="-304800" lvl="0" marL="457200" rtl="0" algn="just">
              <a:lnSpc>
                <a:spcPct val="115000"/>
              </a:lnSpc>
              <a:spcBef>
                <a:spcPts val="0"/>
              </a:spcBef>
              <a:spcAft>
                <a:spcPts val="0"/>
              </a:spcAft>
              <a:buClr>
                <a:schemeClr val="dk1"/>
              </a:buClr>
              <a:buSzPts val="1200"/>
              <a:buFont typeface="Raleway Medium"/>
              <a:buChar char="●"/>
            </a:pPr>
            <a:r>
              <a:rPr lang="en" sz="1200">
                <a:solidFill>
                  <a:schemeClr val="dk1"/>
                </a:solidFill>
                <a:latin typeface="Raleway Medium"/>
                <a:ea typeface="Raleway Medium"/>
                <a:cs typeface="Raleway Medium"/>
                <a:sym typeface="Raleway Medium"/>
              </a:rPr>
              <a:t>Apakah data yang ada korelasi dengan permasalahan yang ditetapkan dalam riset?</a:t>
            </a:r>
            <a:endParaRPr sz="1200">
              <a:solidFill>
                <a:schemeClr val="dk1"/>
              </a:solidFill>
              <a:latin typeface="Raleway Medium"/>
              <a:ea typeface="Raleway Medium"/>
              <a:cs typeface="Raleway Medium"/>
              <a:sym typeface="Raleway Medium"/>
            </a:endParaRPr>
          </a:p>
        </p:txBody>
      </p:sp>
      <p:pic>
        <p:nvPicPr>
          <p:cNvPr id="185" name="Google Shape;185;p30">
            <a:hlinkClick r:id="rId4"/>
          </p:cNvPr>
          <p:cNvPicPr preferRelativeResize="0"/>
          <p:nvPr/>
        </p:nvPicPr>
        <p:blipFill rotWithShape="1">
          <a:blip r:embed="rId5">
            <a:alphaModFix/>
          </a:blip>
          <a:srcRect b="7287" l="23187" r="23187" t="0"/>
          <a:stretch/>
        </p:blipFill>
        <p:spPr>
          <a:xfrm>
            <a:off x="5638800" y="1359987"/>
            <a:ext cx="3017513" cy="2743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1" name="Google Shape;191;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Karakter - karakter research</a:t>
            </a:r>
            <a:endParaRPr/>
          </a:p>
        </p:txBody>
      </p:sp>
      <p:sp>
        <p:nvSpPr>
          <p:cNvPr id="192" name="Google Shape;192;p31"/>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133350" lvl="0" marL="171450" rtl="0" algn="just">
              <a:lnSpc>
                <a:spcPct val="115000"/>
              </a:lnSpc>
              <a:spcBef>
                <a:spcPts val="0"/>
              </a:spcBef>
              <a:spcAft>
                <a:spcPts val="0"/>
              </a:spcAft>
              <a:buClr>
                <a:schemeClr val="dk1"/>
              </a:buClr>
              <a:buSzPts val="1200"/>
              <a:buFont typeface="Raleway Medium"/>
              <a:buAutoNum type="arabicParenR" startAt="4"/>
            </a:pPr>
            <a:r>
              <a:rPr lang="en" sz="1200">
                <a:solidFill>
                  <a:schemeClr val="dk1"/>
                </a:solidFill>
                <a:latin typeface="Raleway Medium"/>
                <a:ea typeface="Raleway Medium"/>
                <a:cs typeface="Raleway Medium"/>
                <a:sym typeface="Raleway Medium"/>
              </a:rPr>
              <a:t>Untuk mempermudah menjawab permasalahan, biasanya </a:t>
            </a:r>
            <a:r>
              <a:rPr b="1" lang="en" sz="1200">
                <a:solidFill>
                  <a:schemeClr val="dk1"/>
                </a:solidFill>
                <a:latin typeface="Raleway"/>
                <a:ea typeface="Raleway"/>
                <a:cs typeface="Raleway"/>
                <a:sym typeface="Raleway"/>
              </a:rPr>
              <a:t>masalah utama dipecah menjadi beberapa sub masalah.</a:t>
            </a:r>
            <a:r>
              <a:rPr lang="en" sz="1200">
                <a:solidFill>
                  <a:schemeClr val="dk1"/>
                </a:solidFill>
                <a:latin typeface="Raleway Medium"/>
                <a:ea typeface="Raleway Medium"/>
                <a:cs typeface="Raleway Medium"/>
                <a:sym typeface="Raleway Medium"/>
              </a:rPr>
              <a:t> </a:t>
            </a:r>
            <a:endParaRPr sz="1200">
              <a:solidFill>
                <a:schemeClr val="dk1"/>
              </a:solidFill>
              <a:latin typeface="Raleway Medium"/>
              <a:ea typeface="Raleway Medium"/>
              <a:cs typeface="Raleway Medium"/>
              <a:sym typeface="Raleway Medium"/>
            </a:endParaRPr>
          </a:p>
          <a:p>
            <a:pPr indent="-133350" lvl="0" marL="171450" rtl="0" algn="just">
              <a:lnSpc>
                <a:spcPct val="115000"/>
              </a:lnSpc>
              <a:spcBef>
                <a:spcPts val="0"/>
              </a:spcBef>
              <a:spcAft>
                <a:spcPts val="0"/>
              </a:spcAft>
              <a:buClr>
                <a:schemeClr val="dk1"/>
              </a:buClr>
              <a:buSzPts val="1200"/>
              <a:buFont typeface="Raleway Medium"/>
              <a:buAutoNum type="arabicParenR" startAt="4"/>
            </a:pPr>
            <a:r>
              <a:rPr lang="en" sz="1200">
                <a:solidFill>
                  <a:schemeClr val="dk1"/>
                </a:solidFill>
                <a:latin typeface="Raleway Medium"/>
                <a:ea typeface="Raleway Medium"/>
                <a:cs typeface="Raleway Medium"/>
                <a:sym typeface="Raleway Medium"/>
              </a:rPr>
              <a:t>Riset dieksekusi berdasarkan </a:t>
            </a:r>
            <a:r>
              <a:rPr b="1" lang="en" sz="1200">
                <a:solidFill>
                  <a:schemeClr val="dk1"/>
                </a:solidFill>
                <a:latin typeface="Raleway"/>
                <a:ea typeface="Raleway"/>
                <a:cs typeface="Raleway"/>
                <a:sym typeface="Raleway"/>
              </a:rPr>
              <a:t>pemetaan masalah</a:t>
            </a:r>
            <a:r>
              <a:rPr lang="en" sz="1200">
                <a:solidFill>
                  <a:schemeClr val="dk1"/>
                </a:solidFill>
                <a:latin typeface="Raleway Medium"/>
                <a:ea typeface="Raleway Medium"/>
                <a:cs typeface="Raleway Medium"/>
                <a:sym typeface="Raleway Medium"/>
              </a:rPr>
              <a:t>, </a:t>
            </a:r>
            <a:r>
              <a:rPr b="1" lang="en" sz="1200">
                <a:solidFill>
                  <a:schemeClr val="dk1"/>
                </a:solidFill>
                <a:latin typeface="Raleway"/>
                <a:ea typeface="Raleway"/>
                <a:cs typeface="Raleway"/>
                <a:sym typeface="Raleway"/>
              </a:rPr>
              <a:t>pertanyaan</a:t>
            </a:r>
            <a:r>
              <a:rPr lang="en" sz="1200">
                <a:solidFill>
                  <a:schemeClr val="dk1"/>
                </a:solidFill>
                <a:latin typeface="Raleway Medium"/>
                <a:ea typeface="Raleway Medium"/>
                <a:cs typeface="Raleway Medium"/>
                <a:sym typeface="Raleway Medium"/>
              </a:rPr>
              <a:t>, atau </a:t>
            </a:r>
            <a:r>
              <a:rPr b="1" lang="en" sz="1200">
                <a:solidFill>
                  <a:schemeClr val="dk1"/>
                </a:solidFill>
                <a:latin typeface="Raleway"/>
                <a:ea typeface="Raleway"/>
                <a:cs typeface="Raleway"/>
                <a:sym typeface="Raleway"/>
              </a:rPr>
              <a:t>hipotesis </a:t>
            </a:r>
            <a:r>
              <a:rPr lang="en" sz="1200">
                <a:solidFill>
                  <a:schemeClr val="dk1"/>
                </a:solidFill>
                <a:latin typeface="Raleway Medium"/>
                <a:ea typeface="Raleway Medium"/>
                <a:cs typeface="Raleway Medium"/>
                <a:sym typeface="Raleway Medium"/>
              </a:rPr>
              <a:t>riset yang spesifik. Hipotesis adalah satu (atau lebih) asumsi/dugaan logis yang memberikan jawaban sementara tentang permasalahan riset berdasarkan penyelidikan awal. Hipotesis mengarahkan kita ke sumber-sumber informasi yang membantu kita untuk menyelesaikan dan menjawab permasalahan riset yang sudah ditetapkan. </a:t>
            </a:r>
            <a:endParaRPr sz="1200">
              <a:solidFill>
                <a:schemeClr val="dk1"/>
              </a:solidFill>
              <a:latin typeface="Raleway Medium"/>
              <a:ea typeface="Raleway Medium"/>
              <a:cs typeface="Raleway Medium"/>
              <a:sym typeface="Raleway Medium"/>
            </a:endParaRPr>
          </a:p>
          <a:p>
            <a:pPr indent="-133350" lvl="0" marL="171450" rtl="0" algn="just">
              <a:lnSpc>
                <a:spcPct val="115000"/>
              </a:lnSpc>
              <a:spcBef>
                <a:spcPts val="0"/>
              </a:spcBef>
              <a:spcAft>
                <a:spcPts val="0"/>
              </a:spcAft>
              <a:buClr>
                <a:schemeClr val="dk1"/>
              </a:buClr>
              <a:buSzPts val="1200"/>
              <a:buFont typeface="Raleway Medium"/>
              <a:buAutoNum type="arabicParenR" startAt="4"/>
            </a:pPr>
            <a:r>
              <a:rPr lang="en" sz="1200">
                <a:solidFill>
                  <a:schemeClr val="dk1"/>
                </a:solidFill>
                <a:latin typeface="Raleway Medium"/>
                <a:ea typeface="Raleway Medium"/>
                <a:cs typeface="Raleway Medium"/>
                <a:sym typeface="Raleway Medium"/>
              </a:rPr>
              <a:t>Dalam riset, </a:t>
            </a:r>
            <a:r>
              <a:rPr b="1" lang="en" sz="1200">
                <a:solidFill>
                  <a:schemeClr val="dk1"/>
                </a:solidFill>
                <a:latin typeface="Raleway"/>
                <a:ea typeface="Raleway"/>
                <a:cs typeface="Raleway"/>
                <a:sym typeface="Raleway"/>
              </a:rPr>
              <a:t>asumsi</a:t>
            </a:r>
            <a:r>
              <a:rPr lang="en" sz="1200">
                <a:solidFill>
                  <a:schemeClr val="dk1"/>
                </a:solidFill>
                <a:latin typeface="Raleway Medium"/>
                <a:ea typeface="Raleway Medium"/>
                <a:cs typeface="Raleway Medium"/>
                <a:sym typeface="Raleway Medium"/>
              </a:rPr>
              <a:t> merupakan hal penting untuk ditetapkan. Asumsi adalah kondisi yang ditetapkan sehingga jangkauan riset jelas batasnya.</a:t>
            </a:r>
            <a:endParaRPr sz="1200">
              <a:solidFill>
                <a:schemeClr val="dk1"/>
              </a:solidFill>
              <a:latin typeface="Raleway Medium"/>
              <a:ea typeface="Raleway Medium"/>
              <a:cs typeface="Raleway Medium"/>
              <a:sym typeface="Raleway Medium"/>
            </a:endParaRPr>
          </a:p>
        </p:txBody>
      </p:sp>
      <p:pic>
        <p:nvPicPr>
          <p:cNvPr id="193" name="Google Shape;193;p31">
            <a:hlinkClick r:id="rId3"/>
          </p:cNvPr>
          <p:cNvPicPr preferRelativeResize="0"/>
          <p:nvPr/>
        </p:nvPicPr>
        <p:blipFill rotWithShape="1">
          <a:blip r:embed="rId4">
            <a:alphaModFix/>
          </a:blip>
          <a:srcRect b="7287" l="23187" r="23187" t="0"/>
          <a:stretch/>
        </p:blipFill>
        <p:spPr>
          <a:xfrm>
            <a:off x="5638800" y="1359987"/>
            <a:ext cx="3017513" cy="2743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9" name="Google Shape;199;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Karakter - karakter research</a:t>
            </a:r>
            <a:endParaRPr/>
          </a:p>
        </p:txBody>
      </p:sp>
      <p:sp>
        <p:nvSpPr>
          <p:cNvPr id="200" name="Google Shape;200;p32"/>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133350" lvl="0" marL="171450" rtl="0" algn="just">
              <a:lnSpc>
                <a:spcPct val="115000"/>
              </a:lnSpc>
              <a:spcBef>
                <a:spcPts val="0"/>
              </a:spcBef>
              <a:spcAft>
                <a:spcPts val="0"/>
              </a:spcAft>
              <a:buClr>
                <a:schemeClr val="dk1"/>
              </a:buClr>
              <a:buSzPts val="1200"/>
              <a:buFont typeface="Raleway Medium"/>
              <a:buAutoNum type="arabicParenR" startAt="7"/>
            </a:pPr>
            <a:r>
              <a:rPr lang="en" sz="1200">
                <a:solidFill>
                  <a:schemeClr val="dk1"/>
                </a:solidFill>
                <a:latin typeface="Raleway Medium"/>
                <a:ea typeface="Raleway Medium"/>
                <a:cs typeface="Raleway Medium"/>
                <a:sym typeface="Raleway Medium"/>
              </a:rPr>
              <a:t>Riset membutuhkan </a:t>
            </a:r>
            <a:r>
              <a:rPr b="1" lang="en" sz="1200">
                <a:solidFill>
                  <a:schemeClr val="dk1"/>
                </a:solidFill>
                <a:latin typeface="Raleway"/>
                <a:ea typeface="Raleway"/>
                <a:cs typeface="Raleway"/>
                <a:sym typeface="Raleway"/>
              </a:rPr>
              <a:t>data</a:t>
            </a:r>
            <a:r>
              <a:rPr lang="en" sz="1200">
                <a:solidFill>
                  <a:schemeClr val="dk1"/>
                </a:solidFill>
                <a:latin typeface="Raleway Medium"/>
                <a:ea typeface="Raleway Medium"/>
                <a:cs typeface="Raleway Medium"/>
                <a:sym typeface="Raleway Medium"/>
              </a:rPr>
              <a:t> dan </a:t>
            </a:r>
            <a:r>
              <a:rPr b="1" lang="en" sz="1200">
                <a:solidFill>
                  <a:schemeClr val="dk1"/>
                </a:solidFill>
                <a:latin typeface="Raleway"/>
                <a:ea typeface="Raleway"/>
                <a:cs typeface="Raleway"/>
                <a:sym typeface="Raleway"/>
              </a:rPr>
              <a:t>interpretasi</a:t>
            </a:r>
            <a:r>
              <a:rPr lang="en" sz="1200">
                <a:solidFill>
                  <a:schemeClr val="dk1"/>
                </a:solidFill>
                <a:latin typeface="Raleway Medium"/>
                <a:ea typeface="Raleway Medium"/>
                <a:cs typeface="Raleway Medium"/>
                <a:sym typeface="Raleway Medium"/>
              </a:rPr>
              <a:t>nya</a:t>
            </a:r>
            <a:r>
              <a:rPr lang="en" sz="1200">
                <a:solidFill>
                  <a:schemeClr val="dk1"/>
                </a:solidFill>
                <a:latin typeface="Raleway Medium"/>
                <a:ea typeface="Raleway Medium"/>
                <a:cs typeface="Raleway Medium"/>
                <a:sym typeface="Raleway Medium"/>
              </a:rPr>
              <a:t> untuk menyelesaikan masalah yang mendasarinya. Pentingnya data bergantung pada bagaimana peneliti memberi arti dan menarik intisari dari data-data yang tersedia. Di dalam riset data yang tidak </a:t>
            </a:r>
            <a:r>
              <a:rPr lang="en" sz="1200">
                <a:solidFill>
                  <a:schemeClr val="dk1"/>
                </a:solidFill>
                <a:latin typeface="Raleway Medium"/>
                <a:ea typeface="Raleway Medium"/>
                <a:cs typeface="Raleway Medium"/>
                <a:sym typeface="Raleway Medium"/>
              </a:rPr>
              <a:t>diinterpretasikan</a:t>
            </a:r>
            <a:r>
              <a:rPr lang="en" sz="1200">
                <a:solidFill>
                  <a:schemeClr val="dk1"/>
                </a:solidFill>
                <a:latin typeface="Raleway Medium"/>
                <a:ea typeface="Raleway Medium"/>
                <a:cs typeface="Raleway Medium"/>
                <a:sym typeface="Raleway Medium"/>
              </a:rPr>
              <a:t>/diterjemahkan tidak berarti apapun. </a:t>
            </a:r>
            <a:endParaRPr sz="1200">
              <a:solidFill>
                <a:schemeClr val="dk1"/>
              </a:solidFill>
              <a:latin typeface="Raleway Medium"/>
              <a:ea typeface="Raleway Medium"/>
              <a:cs typeface="Raleway Medium"/>
              <a:sym typeface="Raleway Medium"/>
            </a:endParaRPr>
          </a:p>
          <a:p>
            <a:pPr indent="-133350" lvl="0" marL="171450" rtl="0" algn="just">
              <a:lnSpc>
                <a:spcPct val="115000"/>
              </a:lnSpc>
              <a:spcBef>
                <a:spcPts val="0"/>
              </a:spcBef>
              <a:spcAft>
                <a:spcPts val="0"/>
              </a:spcAft>
              <a:buClr>
                <a:schemeClr val="dk1"/>
              </a:buClr>
              <a:buSzPts val="1200"/>
              <a:buFont typeface="Raleway Medium"/>
              <a:buAutoNum type="arabicParenR" startAt="7"/>
            </a:pPr>
            <a:r>
              <a:rPr lang="en" sz="1200">
                <a:solidFill>
                  <a:schemeClr val="dk1"/>
                </a:solidFill>
                <a:latin typeface="Raleway Medium"/>
                <a:ea typeface="Raleway Medium"/>
                <a:cs typeface="Raleway Medium"/>
                <a:sym typeface="Raleway Medium"/>
              </a:rPr>
              <a:t>Riset bersifat </a:t>
            </a:r>
            <a:r>
              <a:rPr b="1" lang="en" sz="1200">
                <a:solidFill>
                  <a:schemeClr val="dk1"/>
                </a:solidFill>
                <a:latin typeface="Raleway"/>
                <a:ea typeface="Raleway"/>
                <a:cs typeface="Raleway"/>
                <a:sym typeface="Raleway"/>
              </a:rPr>
              <a:t>siklu</a:t>
            </a:r>
            <a:r>
              <a:rPr b="1" lang="en" sz="1200">
                <a:solidFill>
                  <a:schemeClr val="dk1"/>
                </a:solidFill>
                <a:latin typeface="Raleway"/>
                <a:ea typeface="Raleway"/>
                <a:cs typeface="Raleway"/>
                <a:sym typeface="Raleway"/>
              </a:rPr>
              <a:t>s</a:t>
            </a:r>
            <a:r>
              <a:rPr lang="en" sz="1200">
                <a:solidFill>
                  <a:schemeClr val="dk1"/>
                </a:solidFill>
                <a:latin typeface="Raleway Medium"/>
                <a:ea typeface="Raleway Medium"/>
                <a:cs typeface="Raleway Medium"/>
                <a:sym typeface="Raleway Medium"/>
              </a:rPr>
              <a:t>.</a:t>
            </a:r>
            <a:endParaRPr sz="1200">
              <a:solidFill>
                <a:schemeClr val="dk1"/>
              </a:solidFill>
              <a:latin typeface="Raleway Medium"/>
              <a:ea typeface="Raleway Medium"/>
              <a:cs typeface="Raleway Medium"/>
              <a:sym typeface="Raleway Medium"/>
            </a:endParaRPr>
          </a:p>
        </p:txBody>
      </p:sp>
      <p:pic>
        <p:nvPicPr>
          <p:cNvPr id="201" name="Google Shape;201;p32">
            <a:hlinkClick r:id="rId3"/>
          </p:cNvPr>
          <p:cNvPicPr preferRelativeResize="0"/>
          <p:nvPr/>
        </p:nvPicPr>
        <p:blipFill rotWithShape="1">
          <a:blip r:embed="rId4">
            <a:alphaModFix/>
          </a:blip>
          <a:srcRect b="7287" l="23187" r="23187" t="0"/>
          <a:stretch/>
        </p:blipFill>
        <p:spPr>
          <a:xfrm>
            <a:off x="5638800" y="1359987"/>
            <a:ext cx="3017513" cy="2743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Bagaimana kita dapat memulai </a:t>
            </a:r>
            <a:r>
              <a:rPr lang="en">
                <a:solidFill>
                  <a:schemeClr val="accent1"/>
                </a:solidFill>
              </a:rPr>
              <a:t>melakukan research?</a:t>
            </a:r>
            <a:endParaRPr>
              <a:solidFill>
                <a:schemeClr val="accent1"/>
              </a:solidFill>
            </a:endParaRPr>
          </a:p>
        </p:txBody>
      </p:sp>
      <p:sp>
        <p:nvSpPr>
          <p:cNvPr id="207" name="Google Shape;207;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pic>
        <p:nvPicPr>
          <p:cNvPr id="212" name="Google Shape;212;p34">
            <a:hlinkClick r:id="rId3"/>
          </p:cNvPr>
          <p:cNvPicPr preferRelativeResize="0"/>
          <p:nvPr/>
        </p:nvPicPr>
        <p:blipFill rotWithShape="1">
          <a:blip r:embed="rId4">
            <a:alphaModFix/>
          </a:blip>
          <a:srcRect b="6518" l="0" r="0" t="33291"/>
          <a:stretch/>
        </p:blipFill>
        <p:spPr>
          <a:xfrm>
            <a:off x="5486400" y="1280150"/>
            <a:ext cx="3017524" cy="2743199"/>
          </a:xfrm>
          <a:prstGeom prst="rect">
            <a:avLst/>
          </a:prstGeom>
          <a:noFill/>
          <a:ln>
            <a:noFill/>
          </a:ln>
        </p:spPr>
      </p:pic>
      <p:sp>
        <p:nvSpPr>
          <p:cNvPr id="213" name="Google Shape;213;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4" name="Google Shape;214;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Langkah - langkah research</a:t>
            </a:r>
            <a:endParaRPr/>
          </a:p>
        </p:txBody>
      </p:sp>
      <p:sp>
        <p:nvSpPr>
          <p:cNvPr id="215" name="Google Shape;215;p34"/>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Perencanaan research</a:t>
            </a:r>
            <a:endParaRPr b="1" sz="1200">
              <a:solidFill>
                <a:srgbClr val="733572"/>
              </a:solidFill>
              <a:latin typeface="Raleway"/>
              <a:ea typeface="Raleway"/>
              <a:cs typeface="Raleway"/>
              <a:sym typeface="Raleway"/>
            </a:endParaRPr>
          </a:p>
          <a:p>
            <a:pPr indent="0" lvl="0" marL="0" rtl="0" algn="l">
              <a:lnSpc>
                <a:spcPct val="115000"/>
              </a:lnSpc>
              <a:spcBef>
                <a:spcPts val="0"/>
              </a:spcBef>
              <a:spcAft>
                <a:spcPts val="0"/>
              </a:spcAft>
              <a:buNone/>
            </a:pPr>
            <a:r>
              <a:t/>
            </a:r>
            <a:endParaRPr i="1"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Perencanaan adalah tahap awal yang paling penting sebelum riset dimulai. Pada tahap ini kita harus memutuskan metode yang akan digunakan, list pertanyaan/skenario yang akan dipaparkan pada user, hingga apa tolak ukur dan dokumentasi yang sesuai.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Namun, sebelum melakukan itu semua, tanyakan pada diri sendiri: kenapa kita melakukan riset ini? Apa tujuan yang ingin kita capai? Apa yang ingin kita tingkatkan?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Jawabannya akan membantu untuk menentukan metode dan strategi riset kita.</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id="220" name="Google Shape;220;p35">
            <a:hlinkClick r:id="rId3"/>
          </p:cNvPr>
          <p:cNvPicPr preferRelativeResize="0"/>
          <p:nvPr/>
        </p:nvPicPr>
        <p:blipFill rotWithShape="1">
          <a:blip r:embed="rId4">
            <a:alphaModFix/>
          </a:blip>
          <a:srcRect b="0" l="13343" r="13343" t="0"/>
          <a:stretch/>
        </p:blipFill>
        <p:spPr>
          <a:xfrm>
            <a:off x="5486400" y="1280150"/>
            <a:ext cx="3017523" cy="2743200"/>
          </a:xfrm>
          <a:prstGeom prst="rect">
            <a:avLst/>
          </a:prstGeom>
          <a:noFill/>
          <a:ln>
            <a:noFill/>
          </a:ln>
        </p:spPr>
      </p:pic>
      <p:sp>
        <p:nvSpPr>
          <p:cNvPr id="221" name="Google Shape;221;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2" name="Google Shape;222;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Langkah - langkah research</a:t>
            </a:r>
            <a:endParaRPr/>
          </a:p>
        </p:txBody>
      </p:sp>
      <p:sp>
        <p:nvSpPr>
          <p:cNvPr id="223" name="Google Shape;223;p35"/>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Memulai research</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Kita bisa memulai research dengan menganalogikan UX Research sebagai tool box atau kotak perkakas.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Akan ada banyak jenis dan metode research, seiring perkembangannya. Kuncinya kita harus bisa memilihnya berdasarkan tujuan dan topik dari permasalahan yang ingin didalami.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Hati-hati dan ingat; jangan terjebak di satu alat karena di dalam kotak perkakas karena ada banyak alat yang bisa kita gunakan untuk satu tujuan.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rgbClr val="733572"/>
                </a:solidFill>
              </a:rPr>
              <a:t>‹#›</a:t>
            </a:fld>
            <a:endParaRPr>
              <a:solidFill>
                <a:srgbClr val="733572"/>
              </a:solidFill>
            </a:endParaRPr>
          </a:p>
        </p:txBody>
      </p:sp>
      <p:sp>
        <p:nvSpPr>
          <p:cNvPr id="229" name="Google Shape;229;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Langkah - langkah research</a:t>
            </a:r>
            <a:endParaRPr/>
          </a:p>
        </p:txBody>
      </p:sp>
      <p:pic>
        <p:nvPicPr>
          <p:cNvPr id="230" name="Google Shape;230;p36"/>
          <p:cNvPicPr preferRelativeResize="0"/>
          <p:nvPr/>
        </p:nvPicPr>
        <p:blipFill>
          <a:blip r:embed="rId3">
            <a:alphaModFix/>
          </a:blip>
          <a:stretch>
            <a:fillRect/>
          </a:stretch>
        </p:blipFill>
        <p:spPr>
          <a:xfrm>
            <a:off x="1151975" y="1326775"/>
            <a:ext cx="6992450" cy="2794749"/>
          </a:xfrm>
          <a:prstGeom prst="rect">
            <a:avLst/>
          </a:prstGeom>
          <a:noFill/>
          <a:ln>
            <a:noFill/>
          </a:ln>
        </p:spPr>
      </p:pic>
      <p:sp>
        <p:nvSpPr>
          <p:cNvPr id="231" name="Google Shape;231;p36"/>
          <p:cNvSpPr txBox="1"/>
          <p:nvPr/>
        </p:nvSpPr>
        <p:spPr>
          <a:xfrm>
            <a:off x="2879255" y="847875"/>
            <a:ext cx="3385500" cy="384900"/>
          </a:xfrm>
          <a:prstGeom prst="rect">
            <a:avLst/>
          </a:prstGeom>
          <a:noFill/>
          <a:ln>
            <a:noFill/>
          </a:ln>
        </p:spPr>
        <p:txBody>
          <a:bodyPr anchorCtr="0" anchor="t" bIns="91425" lIns="91425" spcFirstLastPara="1" rIns="91425" wrap="square" tIns="91425">
            <a:spAutoFit/>
          </a:bodyPr>
          <a:lstStyle/>
          <a:p>
            <a:pPr indent="0" lvl="0" marL="0" marR="38100" rtl="0" algn="ctr">
              <a:lnSpc>
                <a:spcPct val="128571"/>
              </a:lnSpc>
              <a:spcBef>
                <a:spcPts val="0"/>
              </a:spcBef>
              <a:spcAft>
                <a:spcPts val="0"/>
              </a:spcAft>
              <a:buNone/>
            </a:pPr>
            <a:r>
              <a:rPr b="1" lang="en" sz="1300">
                <a:solidFill>
                  <a:srgbClr val="FFFFFF"/>
                </a:solidFill>
                <a:highlight>
                  <a:srgbClr val="733572"/>
                </a:highlight>
                <a:latin typeface="Roboto"/>
                <a:ea typeface="Roboto"/>
                <a:cs typeface="Roboto"/>
                <a:sym typeface="Roboto"/>
              </a:rPr>
              <a:t> Beberapa Area Riset</a:t>
            </a:r>
            <a:r>
              <a:rPr b="1" lang="en" sz="1300">
                <a:solidFill>
                  <a:srgbClr val="581F57"/>
                </a:solidFill>
                <a:highlight>
                  <a:srgbClr val="733572"/>
                </a:highlight>
                <a:latin typeface="Roboto"/>
                <a:ea typeface="Roboto"/>
                <a:cs typeface="Roboto"/>
                <a:sym typeface="Roboto"/>
              </a:rPr>
              <a:t>.</a:t>
            </a:r>
            <a:endParaRPr b="1" sz="1300">
              <a:solidFill>
                <a:srgbClr val="581F57"/>
              </a:solidFill>
              <a:highlight>
                <a:srgbClr val="733572"/>
              </a:highlight>
              <a:latin typeface="Roboto"/>
              <a:ea typeface="Roboto"/>
              <a:cs typeface="Roboto"/>
              <a:sym typeface="Roboto"/>
            </a:endParaRPr>
          </a:p>
        </p:txBody>
      </p:sp>
      <p:sp>
        <p:nvSpPr>
          <p:cNvPr id="232" name="Google Shape;232;p36"/>
          <p:cNvSpPr txBox="1"/>
          <p:nvPr/>
        </p:nvSpPr>
        <p:spPr>
          <a:xfrm>
            <a:off x="1151976" y="3514625"/>
            <a:ext cx="1503000" cy="606900"/>
          </a:xfrm>
          <a:prstGeom prst="rect">
            <a:avLst/>
          </a:prstGeom>
          <a:noFill/>
          <a:ln>
            <a:noFill/>
          </a:ln>
        </p:spPr>
        <p:txBody>
          <a:bodyPr anchorCtr="0" anchor="t" bIns="91425" lIns="91425" spcFirstLastPara="1" rIns="91425" wrap="square" tIns="91425">
            <a:spAutoFit/>
          </a:bodyPr>
          <a:lstStyle/>
          <a:p>
            <a:pPr indent="0" lvl="0" marL="0" rtl="0" algn="ctr">
              <a:lnSpc>
                <a:spcPct val="128571"/>
              </a:lnSpc>
              <a:spcBef>
                <a:spcPts val="0"/>
              </a:spcBef>
              <a:spcAft>
                <a:spcPts val="0"/>
              </a:spcAft>
              <a:buNone/>
            </a:pPr>
            <a:r>
              <a:rPr lang="en" sz="1200">
                <a:latin typeface="Roboto"/>
                <a:ea typeface="Roboto"/>
                <a:cs typeface="Roboto"/>
                <a:sym typeface="Roboto"/>
              </a:rPr>
              <a:t>To internal user</a:t>
            </a:r>
            <a:endParaRPr sz="1200">
              <a:latin typeface="Roboto"/>
              <a:ea typeface="Roboto"/>
              <a:cs typeface="Roboto"/>
              <a:sym typeface="Roboto"/>
            </a:endParaRPr>
          </a:p>
          <a:p>
            <a:pPr indent="0" lvl="0" marL="0" rtl="0" algn="ctr">
              <a:lnSpc>
                <a:spcPct val="128571"/>
              </a:lnSpc>
              <a:spcBef>
                <a:spcPts val="0"/>
              </a:spcBef>
              <a:spcAft>
                <a:spcPts val="0"/>
              </a:spcAft>
              <a:buNone/>
            </a:pPr>
            <a:r>
              <a:rPr lang="en" sz="1200">
                <a:latin typeface="Roboto"/>
                <a:ea typeface="Roboto"/>
                <a:cs typeface="Roboto"/>
                <a:sym typeface="Roboto"/>
              </a:rPr>
              <a:t>(stakeholder)</a:t>
            </a:r>
            <a:endParaRPr sz="1200">
              <a:latin typeface="Roboto"/>
              <a:ea typeface="Roboto"/>
              <a:cs typeface="Roboto"/>
              <a:sym typeface="Roboto"/>
            </a:endParaRPr>
          </a:p>
        </p:txBody>
      </p:sp>
      <p:sp>
        <p:nvSpPr>
          <p:cNvPr id="233" name="Google Shape;233;p36"/>
          <p:cNvSpPr txBox="1"/>
          <p:nvPr/>
        </p:nvSpPr>
        <p:spPr>
          <a:xfrm>
            <a:off x="3363300" y="4197725"/>
            <a:ext cx="2444400" cy="606900"/>
          </a:xfrm>
          <a:prstGeom prst="rect">
            <a:avLst/>
          </a:prstGeom>
          <a:noFill/>
          <a:ln>
            <a:noFill/>
          </a:ln>
        </p:spPr>
        <p:txBody>
          <a:bodyPr anchorCtr="0" anchor="t" bIns="91425" lIns="91425" spcFirstLastPara="1" rIns="91425" wrap="square" tIns="91425">
            <a:spAutoFit/>
          </a:bodyPr>
          <a:lstStyle/>
          <a:p>
            <a:pPr indent="0" lvl="0" marL="0" rtl="0" algn="ctr">
              <a:lnSpc>
                <a:spcPct val="128571"/>
              </a:lnSpc>
              <a:spcBef>
                <a:spcPts val="0"/>
              </a:spcBef>
              <a:spcAft>
                <a:spcPts val="0"/>
              </a:spcAft>
              <a:buNone/>
            </a:pPr>
            <a:r>
              <a:rPr lang="en" sz="1200">
                <a:latin typeface="Roboto"/>
                <a:ea typeface="Roboto"/>
                <a:cs typeface="Roboto"/>
                <a:sym typeface="Roboto"/>
              </a:rPr>
              <a:t>To competitions, inspirations, and analogous examples</a:t>
            </a:r>
            <a:endParaRPr sz="1200">
              <a:latin typeface="Roboto"/>
              <a:ea typeface="Roboto"/>
              <a:cs typeface="Roboto"/>
              <a:sym typeface="Roboto"/>
            </a:endParaRPr>
          </a:p>
        </p:txBody>
      </p:sp>
      <p:sp>
        <p:nvSpPr>
          <p:cNvPr id="234" name="Google Shape;234;p36"/>
          <p:cNvSpPr txBox="1"/>
          <p:nvPr/>
        </p:nvSpPr>
        <p:spPr>
          <a:xfrm>
            <a:off x="6516026" y="3590825"/>
            <a:ext cx="1503000" cy="606900"/>
          </a:xfrm>
          <a:prstGeom prst="rect">
            <a:avLst/>
          </a:prstGeom>
          <a:noFill/>
          <a:ln>
            <a:noFill/>
          </a:ln>
        </p:spPr>
        <p:txBody>
          <a:bodyPr anchorCtr="0" anchor="t" bIns="91425" lIns="91425" spcFirstLastPara="1" rIns="91425" wrap="square" tIns="91425">
            <a:spAutoFit/>
          </a:bodyPr>
          <a:lstStyle/>
          <a:p>
            <a:pPr indent="0" lvl="0" marL="0" rtl="0" algn="ctr">
              <a:lnSpc>
                <a:spcPct val="128571"/>
              </a:lnSpc>
              <a:spcBef>
                <a:spcPts val="0"/>
              </a:spcBef>
              <a:spcAft>
                <a:spcPts val="0"/>
              </a:spcAft>
              <a:buNone/>
            </a:pPr>
            <a:r>
              <a:rPr lang="en" sz="1200">
                <a:latin typeface="Roboto"/>
                <a:ea typeface="Roboto"/>
                <a:cs typeface="Roboto"/>
                <a:sym typeface="Roboto"/>
              </a:rPr>
              <a:t>To different</a:t>
            </a:r>
            <a:endParaRPr sz="1200">
              <a:latin typeface="Roboto"/>
              <a:ea typeface="Roboto"/>
              <a:cs typeface="Roboto"/>
              <a:sym typeface="Roboto"/>
            </a:endParaRPr>
          </a:p>
          <a:p>
            <a:pPr indent="0" lvl="0" marL="0" rtl="0" algn="ctr">
              <a:lnSpc>
                <a:spcPct val="128571"/>
              </a:lnSpc>
              <a:spcBef>
                <a:spcPts val="0"/>
              </a:spcBef>
              <a:spcAft>
                <a:spcPts val="0"/>
              </a:spcAft>
              <a:buNone/>
            </a:pPr>
            <a:r>
              <a:rPr lang="en" sz="1200">
                <a:latin typeface="Roboto"/>
                <a:ea typeface="Roboto"/>
                <a:cs typeface="Roboto"/>
                <a:sym typeface="Roboto"/>
              </a:rPr>
              <a:t>types of users</a:t>
            </a:r>
            <a:endParaRPr sz="1200">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b="0" lang="en">
                <a:solidFill>
                  <a:srgbClr val="733572"/>
                </a:solidFill>
                <a:latin typeface="Raleway Medium"/>
                <a:ea typeface="Raleway Medium"/>
                <a:cs typeface="Raleway Medium"/>
                <a:sym typeface="Raleway Medium"/>
              </a:rPr>
              <a:t>‹#›</a:t>
            </a:fld>
            <a:endParaRPr b="0">
              <a:solidFill>
                <a:srgbClr val="733572"/>
              </a:solidFill>
              <a:latin typeface="Raleway Medium"/>
              <a:ea typeface="Raleway Medium"/>
              <a:cs typeface="Raleway Medium"/>
              <a:sym typeface="Raleway Medium"/>
            </a:endParaRPr>
          </a:p>
        </p:txBody>
      </p:sp>
      <p:sp>
        <p:nvSpPr>
          <p:cNvPr id="240" name="Google Shape;240;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Langkah - langkah research</a:t>
            </a:r>
            <a:endParaRPr/>
          </a:p>
        </p:txBody>
      </p:sp>
      <p:grpSp>
        <p:nvGrpSpPr>
          <p:cNvPr id="241" name="Google Shape;241;p37"/>
          <p:cNvGrpSpPr/>
          <p:nvPr/>
        </p:nvGrpSpPr>
        <p:grpSpPr>
          <a:xfrm>
            <a:off x="0" y="1326094"/>
            <a:ext cx="2214600" cy="3217636"/>
            <a:chOff x="0" y="1189989"/>
            <a:chExt cx="2214600" cy="3217636"/>
          </a:xfrm>
        </p:grpSpPr>
        <p:sp>
          <p:nvSpPr>
            <p:cNvPr id="242" name="Google Shape;242;p37"/>
            <p:cNvSpPr/>
            <p:nvPr/>
          </p:nvSpPr>
          <p:spPr>
            <a:xfrm>
              <a:off x="0" y="1189989"/>
              <a:ext cx="2214600" cy="669000"/>
            </a:xfrm>
            <a:prstGeom prst="homePlate">
              <a:avLst>
                <a:gd fmla="val 50000" name="adj"/>
              </a:avLst>
            </a:prstGeom>
            <a:solidFill>
              <a:srgbClr val="733572"/>
            </a:solidFill>
            <a:ln>
              <a:noFill/>
            </a:ln>
          </p:spPr>
          <p:txBody>
            <a:bodyPr anchorCtr="0" anchor="ctr" bIns="91425" lIns="91425" spcFirstLastPara="1" rIns="91425" wrap="square" tIns="91425">
              <a:noAutofit/>
            </a:bodyPr>
            <a:lstStyle/>
            <a:p>
              <a:pPr indent="0" lvl="0" marL="457200" rtl="0" algn="l">
                <a:spcBef>
                  <a:spcPts val="0"/>
                </a:spcBef>
                <a:spcAft>
                  <a:spcPts val="0"/>
                </a:spcAft>
                <a:buNone/>
              </a:pPr>
              <a:r>
                <a:rPr lang="en">
                  <a:solidFill>
                    <a:srgbClr val="FFFFFF"/>
                  </a:solidFill>
                  <a:latin typeface="Raleway Medium"/>
                  <a:ea typeface="Raleway Medium"/>
                  <a:cs typeface="Raleway Medium"/>
                  <a:sym typeface="Raleway Medium"/>
                </a:rPr>
                <a:t>1 Tujuan</a:t>
              </a:r>
              <a:endParaRPr>
                <a:solidFill>
                  <a:srgbClr val="FFFFFF"/>
                </a:solidFill>
                <a:latin typeface="Raleway Medium"/>
                <a:ea typeface="Raleway Medium"/>
                <a:cs typeface="Raleway Medium"/>
                <a:sym typeface="Raleway Medium"/>
              </a:endParaRPr>
            </a:p>
          </p:txBody>
        </p:sp>
        <p:sp>
          <p:nvSpPr>
            <p:cNvPr id="243" name="Google Shape;243;p37"/>
            <p:cNvSpPr txBox="1"/>
            <p:nvPr/>
          </p:nvSpPr>
          <p:spPr>
            <a:xfrm>
              <a:off x="2950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Kesenjangan pengetahuan apa yang harus diatasi atau diisi?</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rPr b="1" lang="en" sz="1100">
                  <a:solidFill>
                    <a:srgbClr val="743673"/>
                  </a:solidFill>
                  <a:latin typeface="Raleway"/>
                  <a:ea typeface="Raleway"/>
                  <a:cs typeface="Raleway"/>
                  <a:sym typeface="Raleway"/>
                </a:rPr>
                <a:t>Kita akan mempelajari research objectives (tujuan) lebih dalam pada kelas berikutnya!</a:t>
              </a:r>
              <a:endParaRPr b="1" sz="1100">
                <a:solidFill>
                  <a:srgbClr val="743673"/>
                </a:solidFill>
                <a:latin typeface="Raleway"/>
                <a:ea typeface="Raleway"/>
                <a:cs typeface="Raleway"/>
                <a:sym typeface="Raleway"/>
              </a:endParaRPr>
            </a:p>
          </p:txBody>
        </p:sp>
      </p:grpSp>
      <p:grpSp>
        <p:nvGrpSpPr>
          <p:cNvPr id="244" name="Google Shape;244;p37"/>
          <p:cNvGrpSpPr/>
          <p:nvPr/>
        </p:nvGrpSpPr>
        <p:grpSpPr>
          <a:xfrm>
            <a:off x="1838325" y="1325880"/>
            <a:ext cx="2064000" cy="3498650"/>
            <a:chOff x="1838325" y="1189775"/>
            <a:chExt cx="2064000" cy="3498650"/>
          </a:xfrm>
        </p:grpSpPr>
        <p:sp>
          <p:nvSpPr>
            <p:cNvPr id="245" name="Google Shape;245;p37"/>
            <p:cNvSpPr/>
            <p:nvPr/>
          </p:nvSpPr>
          <p:spPr>
            <a:xfrm>
              <a:off x="1838325"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2 Hipotesis</a:t>
              </a:r>
              <a:endParaRPr>
                <a:solidFill>
                  <a:srgbClr val="FFFFFF"/>
                </a:solidFill>
                <a:latin typeface="Raleway Medium"/>
                <a:ea typeface="Raleway Medium"/>
                <a:cs typeface="Raleway Medium"/>
                <a:sym typeface="Raleway Medium"/>
              </a:endParaRPr>
            </a:p>
          </p:txBody>
        </p:sp>
        <p:sp>
          <p:nvSpPr>
            <p:cNvPr id="246" name="Google Shape;246;p37"/>
            <p:cNvSpPr txBox="1"/>
            <p:nvPr/>
          </p:nvSpPr>
          <p:spPr>
            <a:xfrm>
              <a:off x="2017250" y="2057125"/>
              <a:ext cx="1624500" cy="263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Apa yang kita pikir kita pahami tentang pengguna?</a:t>
              </a:r>
              <a:endParaRPr sz="1100">
                <a:latin typeface="Raleway Medium"/>
                <a:ea typeface="Raleway Medium"/>
                <a:cs typeface="Raleway Medium"/>
                <a:sym typeface="Raleway Medium"/>
              </a:endParaRPr>
            </a:p>
          </p:txBody>
        </p:sp>
      </p:grpSp>
      <p:grpSp>
        <p:nvGrpSpPr>
          <p:cNvPr id="247" name="Google Shape;247;p37"/>
          <p:cNvGrpSpPr/>
          <p:nvPr/>
        </p:nvGrpSpPr>
        <p:grpSpPr>
          <a:xfrm>
            <a:off x="3516750" y="1325880"/>
            <a:ext cx="2064000" cy="3217850"/>
            <a:chOff x="3516750" y="1189775"/>
            <a:chExt cx="2064000" cy="3217850"/>
          </a:xfrm>
        </p:grpSpPr>
        <p:sp>
          <p:nvSpPr>
            <p:cNvPr id="248" name="Google Shape;248;p37"/>
            <p:cNvSpPr/>
            <p:nvPr/>
          </p:nvSpPr>
          <p:spPr>
            <a:xfrm>
              <a:off x="3516750"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3 Metode</a:t>
              </a:r>
              <a:endParaRPr>
                <a:solidFill>
                  <a:srgbClr val="FFFFFF"/>
                </a:solidFill>
                <a:latin typeface="Raleway Medium"/>
                <a:ea typeface="Raleway Medium"/>
                <a:cs typeface="Raleway Medium"/>
                <a:sym typeface="Raleway Medium"/>
              </a:endParaRPr>
            </a:p>
          </p:txBody>
        </p:sp>
        <p:sp>
          <p:nvSpPr>
            <p:cNvPr id="249" name="Google Shape;249;p37"/>
            <p:cNvSpPr txBox="1"/>
            <p:nvPr/>
          </p:nvSpPr>
          <p:spPr>
            <a:xfrm>
              <a:off x="37394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Metode penelitian mana yang paling baik diterapkan berdasarkan waktu dan sumber daya kita?</a:t>
              </a:r>
              <a:endParaRPr sz="1100">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100">
                <a:latin typeface="Raleway Medium"/>
                <a:ea typeface="Raleway Medium"/>
                <a:cs typeface="Raleway Medium"/>
                <a:sym typeface="Raleway Medium"/>
              </a:endParaRPr>
            </a:p>
          </p:txBody>
        </p:sp>
      </p:grpSp>
      <p:grpSp>
        <p:nvGrpSpPr>
          <p:cNvPr id="250" name="Google Shape;250;p37"/>
          <p:cNvGrpSpPr/>
          <p:nvPr/>
        </p:nvGrpSpPr>
        <p:grpSpPr>
          <a:xfrm>
            <a:off x="6874025" y="1325880"/>
            <a:ext cx="2064000" cy="3790250"/>
            <a:chOff x="6874025" y="1189775"/>
            <a:chExt cx="2064000" cy="3790250"/>
          </a:xfrm>
        </p:grpSpPr>
        <p:sp>
          <p:nvSpPr>
            <p:cNvPr id="251" name="Google Shape;251;p37"/>
            <p:cNvSpPr/>
            <p:nvPr/>
          </p:nvSpPr>
          <p:spPr>
            <a:xfrm>
              <a:off x="6874025"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5 Persatuan</a:t>
              </a:r>
              <a:endParaRPr>
                <a:solidFill>
                  <a:srgbClr val="FFFFFF"/>
                </a:solidFill>
                <a:latin typeface="Raleway Medium"/>
                <a:ea typeface="Raleway Medium"/>
                <a:cs typeface="Raleway Medium"/>
                <a:sym typeface="Raleway Medium"/>
              </a:endParaRPr>
            </a:p>
          </p:txBody>
        </p:sp>
        <p:sp>
          <p:nvSpPr>
            <p:cNvPr id="252" name="Google Shape;252;p37"/>
            <p:cNvSpPr txBox="1"/>
            <p:nvPr/>
          </p:nvSpPr>
          <p:spPr>
            <a:xfrm>
              <a:off x="7183850" y="2057125"/>
              <a:ext cx="1624500" cy="292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Isi kesenjangan pengetahuan, validasi / batalkan hipotesis dan temukan peluang.</a:t>
              </a:r>
              <a:endParaRPr sz="1100">
                <a:latin typeface="Raleway Medium"/>
                <a:ea typeface="Raleway Medium"/>
                <a:cs typeface="Raleway Medium"/>
                <a:sym typeface="Raleway Medium"/>
              </a:endParaRPr>
            </a:p>
          </p:txBody>
        </p:sp>
      </p:grpSp>
      <p:grpSp>
        <p:nvGrpSpPr>
          <p:cNvPr id="253" name="Google Shape;253;p37"/>
          <p:cNvGrpSpPr/>
          <p:nvPr/>
        </p:nvGrpSpPr>
        <p:grpSpPr>
          <a:xfrm>
            <a:off x="5195350" y="1325880"/>
            <a:ext cx="2064000" cy="3217850"/>
            <a:chOff x="5195350" y="1189775"/>
            <a:chExt cx="2064000" cy="3217850"/>
          </a:xfrm>
        </p:grpSpPr>
        <p:sp>
          <p:nvSpPr>
            <p:cNvPr id="254" name="Google Shape;254;p37"/>
            <p:cNvSpPr/>
            <p:nvPr/>
          </p:nvSpPr>
          <p:spPr>
            <a:xfrm>
              <a:off x="5195350"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4 Pengadaan</a:t>
              </a:r>
              <a:endParaRPr>
                <a:solidFill>
                  <a:srgbClr val="FFFFFF"/>
                </a:solidFill>
                <a:latin typeface="Raleway Medium"/>
                <a:ea typeface="Raleway Medium"/>
                <a:cs typeface="Raleway Medium"/>
                <a:sym typeface="Raleway Medium"/>
              </a:endParaRPr>
            </a:p>
          </p:txBody>
        </p:sp>
        <p:sp>
          <p:nvSpPr>
            <p:cNvPr id="255" name="Google Shape;255;p37"/>
            <p:cNvSpPr txBox="1"/>
            <p:nvPr/>
          </p:nvSpPr>
          <p:spPr>
            <a:xfrm>
              <a:off x="54616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solidFill>
                    <a:schemeClr val="dk1"/>
                  </a:solidFill>
                  <a:latin typeface="Raleway Medium"/>
                  <a:ea typeface="Raleway Medium"/>
                  <a:cs typeface="Raleway Medium"/>
                  <a:sym typeface="Raleway Medium"/>
                </a:rPr>
                <a:t>Kumpulkan data berdasarkan metode yang dipilih</a:t>
              </a:r>
              <a:endParaRPr sz="11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100">
                <a:solidFill>
                  <a:schemeClr val="dk1"/>
                </a:solidFill>
                <a:latin typeface="Raleway Medium"/>
                <a:ea typeface="Raleway Medium"/>
                <a:cs typeface="Raleway Medium"/>
                <a:sym typeface="Raleway Medium"/>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8"/>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Menentukan metode research</a:t>
            </a:r>
            <a:endParaRPr/>
          </a:p>
        </p:txBody>
      </p:sp>
      <p:sp>
        <p:nvSpPr>
          <p:cNvPr id="261" name="Google Shape;261;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id="266" name="Google Shape;266;p39">
            <a:hlinkClick r:id="rId3"/>
          </p:cNvPr>
          <p:cNvPicPr preferRelativeResize="0"/>
          <p:nvPr/>
        </p:nvPicPr>
        <p:blipFill rotWithShape="1">
          <a:blip r:embed="rId4">
            <a:alphaModFix/>
          </a:blip>
          <a:srcRect b="0" l="13343" r="13343" t="0"/>
          <a:stretch/>
        </p:blipFill>
        <p:spPr>
          <a:xfrm>
            <a:off x="5486400" y="1280150"/>
            <a:ext cx="3017523" cy="2743200"/>
          </a:xfrm>
          <a:prstGeom prst="rect">
            <a:avLst/>
          </a:prstGeom>
          <a:noFill/>
          <a:ln>
            <a:noFill/>
          </a:ln>
        </p:spPr>
      </p:pic>
      <p:sp>
        <p:nvSpPr>
          <p:cNvPr id="267" name="Google Shape;267;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8" name="Google Shape;268;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Menentukan metode research</a:t>
            </a:r>
            <a:endParaRPr/>
          </a:p>
        </p:txBody>
      </p:sp>
      <p:sp>
        <p:nvSpPr>
          <p:cNvPr id="269" name="Google Shape;269;p39"/>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Menentukan metode research</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Saat memutuskan dari mana harus memulai atau apa yang harus difokuskan terlebih dahulu, gunakan beberapa metode UX disebutkan sebelumnya.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Beberapa metode mungkin lebih tepat daripada yang lain, tergantung pada batasan waktu, kematangan sistem, jenis produk atau layanan, dan perhatian utama saat ini.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Sebaiknya gunakan metode yang berbeda atau bergantian setiap siklus produk.</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id="274" name="Google Shape;274;p40">
            <a:hlinkClick r:id="rId3"/>
          </p:cNvPr>
          <p:cNvPicPr preferRelativeResize="0"/>
          <p:nvPr/>
        </p:nvPicPr>
        <p:blipFill rotWithShape="1">
          <a:blip r:embed="rId4">
            <a:alphaModFix/>
          </a:blip>
          <a:srcRect b="0" l="15426" r="11740" t="0"/>
          <a:stretch/>
        </p:blipFill>
        <p:spPr>
          <a:xfrm>
            <a:off x="5486400" y="1280150"/>
            <a:ext cx="3017523" cy="2743198"/>
          </a:xfrm>
          <a:prstGeom prst="rect">
            <a:avLst/>
          </a:prstGeom>
          <a:noFill/>
          <a:ln>
            <a:noFill/>
          </a:ln>
        </p:spPr>
      </p:pic>
      <p:sp>
        <p:nvSpPr>
          <p:cNvPr id="275" name="Google Shape;275;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6" name="Google Shape;276;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Menentukan metode research</a:t>
            </a:r>
            <a:endParaRPr/>
          </a:p>
        </p:txBody>
      </p:sp>
      <p:sp>
        <p:nvSpPr>
          <p:cNvPr id="277" name="Google Shape;277;p40"/>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Menentukan metode research</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Faktor - faktor yang perlu dipertimbangkan saat menentukan metode research yang tepat: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1) Deadline waktu yang tersedia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2) Budget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3) Jumlah anggota tim atau crew yang terlibat. Karena,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    masing-masing metode research punya keunikan dan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    karakteristik masing-masing.</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rgbClr val="733572"/>
                </a:solidFill>
              </a:rPr>
              <a:t>‹#›</a:t>
            </a:fld>
            <a:endParaRPr>
              <a:solidFill>
                <a:srgbClr val="733572"/>
              </a:solidFill>
            </a:endParaRPr>
          </a:p>
        </p:txBody>
      </p:sp>
      <p:sp>
        <p:nvSpPr>
          <p:cNvPr id="283" name="Google Shape;283;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Menentukan metode research</a:t>
            </a:r>
            <a:endParaRPr/>
          </a:p>
        </p:txBody>
      </p:sp>
      <p:sp>
        <p:nvSpPr>
          <p:cNvPr id="284" name="Google Shape;284;p41"/>
          <p:cNvSpPr/>
          <p:nvPr/>
        </p:nvSpPr>
        <p:spPr>
          <a:xfrm>
            <a:off x="0" y="945094"/>
            <a:ext cx="2726700" cy="669000"/>
          </a:xfrm>
          <a:prstGeom prst="homePlate">
            <a:avLst>
              <a:gd fmla="val 50000" name="adj"/>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Discover (Empathize)</a:t>
            </a:r>
            <a:endParaRPr>
              <a:solidFill>
                <a:srgbClr val="FFFFFF"/>
              </a:solidFill>
              <a:latin typeface="Raleway Medium"/>
              <a:ea typeface="Raleway Medium"/>
              <a:cs typeface="Raleway Medium"/>
              <a:sym typeface="Raleway Medium"/>
            </a:endParaRPr>
          </a:p>
        </p:txBody>
      </p:sp>
      <p:sp>
        <p:nvSpPr>
          <p:cNvPr id="285" name="Google Shape;285;p41"/>
          <p:cNvSpPr/>
          <p:nvPr/>
        </p:nvSpPr>
        <p:spPr>
          <a:xfrm>
            <a:off x="2263425" y="944880"/>
            <a:ext cx="25413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Define+Ideate</a:t>
            </a:r>
            <a:endParaRPr>
              <a:solidFill>
                <a:srgbClr val="FFFFFF"/>
              </a:solidFill>
              <a:latin typeface="Raleway Medium"/>
              <a:ea typeface="Raleway Medium"/>
              <a:cs typeface="Raleway Medium"/>
              <a:sym typeface="Raleway Medium"/>
            </a:endParaRPr>
          </a:p>
        </p:txBody>
      </p:sp>
      <p:sp>
        <p:nvSpPr>
          <p:cNvPr id="286" name="Google Shape;286;p41"/>
          <p:cNvSpPr/>
          <p:nvPr/>
        </p:nvSpPr>
        <p:spPr>
          <a:xfrm>
            <a:off x="4329974" y="944880"/>
            <a:ext cx="25413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Prototype+Test</a:t>
            </a:r>
            <a:endParaRPr>
              <a:solidFill>
                <a:srgbClr val="FFFFFF"/>
              </a:solidFill>
              <a:latin typeface="Raleway Medium"/>
              <a:ea typeface="Raleway Medium"/>
              <a:cs typeface="Raleway Medium"/>
              <a:sym typeface="Raleway Medium"/>
            </a:endParaRPr>
          </a:p>
        </p:txBody>
      </p:sp>
      <p:sp>
        <p:nvSpPr>
          <p:cNvPr id="287" name="Google Shape;287;p41"/>
          <p:cNvSpPr/>
          <p:nvPr/>
        </p:nvSpPr>
        <p:spPr>
          <a:xfrm>
            <a:off x="6396739" y="944880"/>
            <a:ext cx="2541300" cy="669000"/>
          </a:xfrm>
          <a:prstGeom prst="chevron">
            <a:avLst>
              <a:gd fmla="val 50000" name="adj"/>
            </a:avLst>
          </a:prstGeom>
          <a:solidFill>
            <a:srgbClr val="5E2B62">
              <a:alpha val="4392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aleway Medium"/>
                <a:ea typeface="Raleway Medium"/>
                <a:cs typeface="Raleway Medium"/>
                <a:sym typeface="Raleway Medium"/>
              </a:rPr>
              <a:t>Test</a:t>
            </a:r>
            <a:endParaRPr>
              <a:solidFill>
                <a:srgbClr val="FFFFFF"/>
              </a:solidFill>
              <a:latin typeface="Raleway Medium"/>
              <a:ea typeface="Raleway Medium"/>
              <a:cs typeface="Raleway Medium"/>
              <a:sym typeface="Raleway Medium"/>
            </a:endParaRPr>
          </a:p>
        </p:txBody>
      </p:sp>
      <p:pic>
        <p:nvPicPr>
          <p:cNvPr id="288" name="Google Shape;288;p41"/>
          <p:cNvPicPr preferRelativeResize="0"/>
          <p:nvPr/>
        </p:nvPicPr>
        <p:blipFill rotWithShape="1">
          <a:blip r:embed="rId3">
            <a:alphaModFix/>
          </a:blip>
          <a:srcRect b="74425" l="34410" r="33323" t="10780"/>
          <a:stretch/>
        </p:blipFill>
        <p:spPr>
          <a:xfrm>
            <a:off x="414600" y="1689226"/>
            <a:ext cx="1772750" cy="1252824"/>
          </a:xfrm>
          <a:prstGeom prst="rect">
            <a:avLst/>
          </a:prstGeom>
          <a:noFill/>
          <a:ln>
            <a:noFill/>
          </a:ln>
        </p:spPr>
      </p:pic>
      <p:pic>
        <p:nvPicPr>
          <p:cNvPr id="289" name="Google Shape;289;p41"/>
          <p:cNvPicPr preferRelativeResize="0"/>
          <p:nvPr/>
        </p:nvPicPr>
        <p:blipFill rotWithShape="1">
          <a:blip r:embed="rId3">
            <a:alphaModFix/>
          </a:blip>
          <a:srcRect b="48789" l="34410" r="33323" t="29799"/>
          <a:stretch/>
        </p:blipFill>
        <p:spPr>
          <a:xfrm>
            <a:off x="2647700" y="1689226"/>
            <a:ext cx="1772750" cy="1813126"/>
          </a:xfrm>
          <a:prstGeom prst="rect">
            <a:avLst/>
          </a:prstGeom>
          <a:noFill/>
          <a:ln>
            <a:noFill/>
          </a:ln>
        </p:spPr>
      </p:pic>
      <p:pic>
        <p:nvPicPr>
          <p:cNvPr id="290" name="Google Shape;290;p41"/>
          <p:cNvPicPr preferRelativeResize="0"/>
          <p:nvPr/>
        </p:nvPicPr>
        <p:blipFill rotWithShape="1">
          <a:blip r:embed="rId3">
            <a:alphaModFix/>
          </a:blip>
          <a:srcRect b="25227" l="34410" r="33323" t="58575"/>
          <a:stretch/>
        </p:blipFill>
        <p:spPr>
          <a:xfrm>
            <a:off x="4714250" y="1723805"/>
            <a:ext cx="1772750" cy="1371602"/>
          </a:xfrm>
          <a:prstGeom prst="rect">
            <a:avLst/>
          </a:prstGeom>
          <a:noFill/>
          <a:ln>
            <a:noFill/>
          </a:ln>
        </p:spPr>
      </p:pic>
      <p:pic>
        <p:nvPicPr>
          <p:cNvPr id="291" name="Google Shape;291;p41"/>
          <p:cNvPicPr preferRelativeResize="0"/>
          <p:nvPr/>
        </p:nvPicPr>
        <p:blipFill rotWithShape="1">
          <a:blip r:embed="rId3">
            <a:alphaModFix/>
          </a:blip>
          <a:srcRect b="5307" l="34410" r="33323" t="78494"/>
          <a:stretch/>
        </p:blipFill>
        <p:spPr>
          <a:xfrm>
            <a:off x="6871275" y="1723781"/>
            <a:ext cx="1772750" cy="1371602"/>
          </a:xfrm>
          <a:prstGeom prst="rect">
            <a:avLst/>
          </a:prstGeom>
          <a:noFill/>
          <a:ln>
            <a:noFill/>
          </a:ln>
        </p:spPr>
      </p:pic>
      <p:pic>
        <p:nvPicPr>
          <p:cNvPr id="292" name="Google Shape;292;p41"/>
          <p:cNvPicPr preferRelativeResize="0"/>
          <p:nvPr/>
        </p:nvPicPr>
        <p:blipFill rotWithShape="1">
          <a:blip r:embed="rId3">
            <a:alphaModFix/>
          </a:blip>
          <a:srcRect b="72439" l="64934" r="2800" t="10780"/>
          <a:stretch/>
        </p:blipFill>
        <p:spPr>
          <a:xfrm>
            <a:off x="414600" y="2942051"/>
            <a:ext cx="1772750" cy="1420925"/>
          </a:xfrm>
          <a:prstGeom prst="rect">
            <a:avLst/>
          </a:prstGeom>
          <a:noFill/>
          <a:ln>
            <a:noFill/>
          </a:ln>
        </p:spPr>
      </p:pic>
      <p:pic>
        <p:nvPicPr>
          <p:cNvPr id="293" name="Google Shape;293;p41"/>
          <p:cNvPicPr preferRelativeResize="0"/>
          <p:nvPr/>
        </p:nvPicPr>
        <p:blipFill rotWithShape="1">
          <a:blip r:embed="rId3">
            <a:alphaModFix/>
          </a:blip>
          <a:srcRect b="54135" l="64934" r="2800" t="29667"/>
          <a:stretch/>
        </p:blipFill>
        <p:spPr>
          <a:xfrm>
            <a:off x="2647700" y="3502351"/>
            <a:ext cx="1772750" cy="1371602"/>
          </a:xfrm>
          <a:prstGeom prst="rect">
            <a:avLst/>
          </a:prstGeom>
          <a:noFill/>
          <a:ln>
            <a:noFill/>
          </a:ln>
        </p:spPr>
      </p:pic>
      <p:pic>
        <p:nvPicPr>
          <p:cNvPr id="294" name="Google Shape;294;p41"/>
          <p:cNvPicPr preferRelativeResize="0"/>
          <p:nvPr/>
        </p:nvPicPr>
        <p:blipFill rotWithShape="1">
          <a:blip r:embed="rId3">
            <a:alphaModFix/>
          </a:blip>
          <a:srcRect b="25303" l="64934" r="2800" t="57917"/>
          <a:stretch/>
        </p:blipFill>
        <p:spPr>
          <a:xfrm>
            <a:off x="4714250" y="3171601"/>
            <a:ext cx="1772750" cy="1420925"/>
          </a:xfrm>
          <a:prstGeom prst="rect">
            <a:avLst/>
          </a:prstGeom>
          <a:noFill/>
          <a:ln>
            <a:noFill/>
          </a:ln>
        </p:spPr>
      </p:pic>
      <p:pic>
        <p:nvPicPr>
          <p:cNvPr id="295" name="Google Shape;295;p41"/>
          <p:cNvPicPr preferRelativeResize="0"/>
          <p:nvPr/>
        </p:nvPicPr>
        <p:blipFill rotWithShape="1">
          <a:blip r:embed="rId3">
            <a:alphaModFix/>
          </a:blip>
          <a:srcRect b="5119" l="64934" r="2800" t="78101"/>
          <a:stretch/>
        </p:blipFill>
        <p:spPr>
          <a:xfrm>
            <a:off x="6871275" y="3171576"/>
            <a:ext cx="1772750" cy="14209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b="0" lang="en">
                <a:solidFill>
                  <a:srgbClr val="733572"/>
                </a:solidFill>
                <a:latin typeface="Raleway Medium"/>
                <a:ea typeface="Raleway Medium"/>
                <a:cs typeface="Raleway Medium"/>
                <a:sym typeface="Raleway Medium"/>
              </a:rPr>
              <a:t>‹#›</a:t>
            </a:fld>
            <a:endParaRPr b="0">
              <a:solidFill>
                <a:srgbClr val="733572"/>
              </a:solidFill>
              <a:latin typeface="Raleway Medium"/>
              <a:ea typeface="Raleway Medium"/>
              <a:cs typeface="Raleway Medium"/>
              <a:sym typeface="Raleway Medium"/>
            </a:endParaRPr>
          </a:p>
        </p:txBody>
      </p:sp>
      <p:sp>
        <p:nvSpPr>
          <p:cNvPr id="301" name="Google Shape;301;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Menentukan metode research</a:t>
            </a:r>
            <a:endParaRPr/>
          </a:p>
        </p:txBody>
      </p:sp>
      <p:pic>
        <p:nvPicPr>
          <p:cNvPr id="302" name="Google Shape;302;p42">
            <a:hlinkClick r:id="rId3"/>
          </p:cNvPr>
          <p:cNvPicPr preferRelativeResize="0"/>
          <p:nvPr/>
        </p:nvPicPr>
        <p:blipFill rotWithShape="1">
          <a:blip r:embed="rId4">
            <a:alphaModFix/>
          </a:blip>
          <a:srcRect b="4637" l="540" r="1257" t="521"/>
          <a:stretch/>
        </p:blipFill>
        <p:spPr>
          <a:xfrm>
            <a:off x="2607549" y="837900"/>
            <a:ext cx="4059099" cy="40273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pic>
        <p:nvPicPr>
          <p:cNvPr id="307" name="Google Shape;307;p43">
            <a:hlinkClick r:id="rId3"/>
          </p:cNvPr>
          <p:cNvPicPr preferRelativeResize="0"/>
          <p:nvPr/>
        </p:nvPicPr>
        <p:blipFill rotWithShape="1">
          <a:blip r:embed="rId4">
            <a:alphaModFix/>
          </a:blip>
          <a:srcRect b="0" l="777" r="767" t="0"/>
          <a:stretch/>
        </p:blipFill>
        <p:spPr>
          <a:xfrm>
            <a:off x="5486400" y="1280150"/>
            <a:ext cx="3017523" cy="2743199"/>
          </a:xfrm>
          <a:prstGeom prst="rect">
            <a:avLst/>
          </a:prstGeom>
          <a:noFill/>
          <a:ln>
            <a:noFill/>
          </a:ln>
        </p:spPr>
      </p:pic>
      <p:sp>
        <p:nvSpPr>
          <p:cNvPr id="308" name="Google Shape;308;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9" name="Google Shape;309;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Menentukan metode research</a:t>
            </a:r>
            <a:endParaRPr/>
          </a:p>
        </p:txBody>
      </p:sp>
      <p:sp>
        <p:nvSpPr>
          <p:cNvPr id="310" name="Google Shape;310;p43"/>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Kerangka kerja 3 dimensi</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Untuk lebih memahami kapan harus menggunakan metode mana, akan sangat membantu untuk melihat dengan kerangka kerja 3 dimensi (3 dimensional framework) dengan sumbu berikut: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1) Sikap vs. Perilaku - Attitudinal vs. Behavioral</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aleway Medium"/>
                <a:ea typeface="Raleway Medium"/>
                <a:cs typeface="Raleway Medium"/>
                <a:sym typeface="Raleway Medium"/>
              </a:rPr>
              <a:t>2) Kualitatif vs. Kuantitatif</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b="0" lang="en">
                <a:solidFill>
                  <a:srgbClr val="733572"/>
                </a:solidFill>
                <a:latin typeface="Raleway Medium"/>
                <a:ea typeface="Raleway Medium"/>
                <a:cs typeface="Raleway Medium"/>
                <a:sym typeface="Raleway Medium"/>
              </a:rPr>
              <a:t>‹#›</a:t>
            </a:fld>
            <a:endParaRPr b="0">
              <a:solidFill>
                <a:srgbClr val="733572"/>
              </a:solidFill>
              <a:latin typeface="Raleway Medium"/>
              <a:ea typeface="Raleway Medium"/>
              <a:cs typeface="Raleway Medium"/>
              <a:sym typeface="Raleway Medium"/>
            </a:endParaRPr>
          </a:p>
        </p:txBody>
      </p:sp>
      <p:sp>
        <p:nvSpPr>
          <p:cNvPr id="316" name="Google Shape;316;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Menentukan metode research</a:t>
            </a:r>
            <a:endParaRPr/>
          </a:p>
        </p:txBody>
      </p:sp>
      <p:pic>
        <p:nvPicPr>
          <p:cNvPr id="317" name="Google Shape;317;p44"/>
          <p:cNvPicPr preferRelativeResize="0"/>
          <p:nvPr/>
        </p:nvPicPr>
        <p:blipFill>
          <a:blip r:embed="rId3">
            <a:alphaModFix/>
          </a:blip>
          <a:stretch>
            <a:fillRect/>
          </a:stretch>
        </p:blipFill>
        <p:spPr>
          <a:xfrm>
            <a:off x="1805088" y="816000"/>
            <a:ext cx="5533830" cy="40608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b="0" lang="en">
                <a:solidFill>
                  <a:srgbClr val="733572"/>
                </a:solidFill>
                <a:latin typeface="Raleway Medium"/>
                <a:ea typeface="Raleway Medium"/>
                <a:cs typeface="Raleway Medium"/>
                <a:sym typeface="Raleway Medium"/>
              </a:rPr>
              <a:t>‹#›</a:t>
            </a:fld>
            <a:endParaRPr b="0">
              <a:solidFill>
                <a:srgbClr val="733572"/>
              </a:solidFill>
              <a:latin typeface="Raleway Medium"/>
              <a:ea typeface="Raleway Medium"/>
              <a:cs typeface="Raleway Medium"/>
              <a:sym typeface="Raleway Medium"/>
            </a:endParaRPr>
          </a:p>
        </p:txBody>
      </p:sp>
      <p:sp>
        <p:nvSpPr>
          <p:cNvPr id="323" name="Google Shape;323;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Menentukan metode research</a:t>
            </a:r>
            <a:endParaRPr/>
          </a:p>
        </p:txBody>
      </p:sp>
      <p:pic>
        <p:nvPicPr>
          <p:cNvPr id="324" name="Google Shape;324;p45"/>
          <p:cNvPicPr preferRelativeResize="0"/>
          <p:nvPr/>
        </p:nvPicPr>
        <p:blipFill rotWithShape="1">
          <a:blip r:embed="rId3">
            <a:alphaModFix/>
          </a:blip>
          <a:srcRect b="0" l="0" r="0" t="0"/>
          <a:stretch/>
        </p:blipFill>
        <p:spPr>
          <a:xfrm>
            <a:off x="1480800" y="816000"/>
            <a:ext cx="6182075" cy="406080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6"/>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Saatnya </a:t>
            </a:r>
            <a:r>
              <a:rPr lang="en">
                <a:solidFill>
                  <a:schemeClr val="accent1"/>
                </a:solidFill>
              </a:rPr>
              <a:t>Quiz</a:t>
            </a:r>
            <a:endParaRPr>
              <a:solidFill>
                <a:schemeClr val="accent1"/>
              </a:solidFill>
            </a:endParaRPr>
          </a:p>
        </p:txBody>
      </p:sp>
      <p:sp>
        <p:nvSpPr>
          <p:cNvPr id="330" name="Google Shape;330;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36" name="Google Shape;336;p4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UX research merujuk pada berbagai metode ilmiah yang dapat kita gunakan untuk memahami _______ pengguna suatu produk / layanan.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pikiran, perasaan, dan persetujuan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perasaan, perilaku dan jabatan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perkataan, perilaku dan perhitungan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pikiran, perasaan, dan perilaku</a:t>
            </a:r>
            <a:endParaRPr sz="1200">
              <a:solidFill>
                <a:schemeClr val="lt1"/>
              </a:solidFill>
              <a:latin typeface="Raleway Medium"/>
              <a:ea typeface="Raleway Medium"/>
              <a:cs typeface="Raleway Medium"/>
              <a:sym typeface="Raleway Medium"/>
            </a:endParaRPr>
          </a:p>
        </p:txBody>
      </p:sp>
      <p:sp>
        <p:nvSpPr>
          <p:cNvPr id="337" name="Google Shape;337;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43" name="Google Shape;343;p4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UX research merujuk pada berbagai metode ilmiah yang dapat kita gunakan untuk memahami _______ pengguna suatu produk / layanan. </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pikiran, perasaan, dan persetujuan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perasaan, perilaku dan jabatan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perkataan, perilaku dan perhitungan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pikiran, perasaan, dan perilaku</a:t>
            </a:r>
            <a:endParaRPr b="1" sz="1200">
              <a:solidFill>
                <a:schemeClr val="lt1"/>
              </a:solidFill>
              <a:latin typeface="Raleway"/>
              <a:ea typeface="Raleway"/>
              <a:cs typeface="Raleway"/>
              <a:sym typeface="Raleway"/>
            </a:endParaRPr>
          </a:p>
        </p:txBody>
      </p:sp>
      <p:sp>
        <p:nvSpPr>
          <p:cNvPr id="344" name="Google Shape;344;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5" name="Google Shape;345;p48"/>
          <p:cNvSpPr/>
          <p:nvPr/>
        </p:nvSpPr>
        <p:spPr>
          <a:xfrm>
            <a:off x="685800" y="34603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UX research merujuk pada berbagai metode ilmiah yang dapat kita gunakan untuk memahami pikiran, perasaan dan perilaku pengguna suatu produk / layanan. </a:t>
            </a:r>
            <a:endParaRPr b="1" sz="1000">
              <a:solidFill>
                <a:srgbClr val="733572"/>
              </a:solidFill>
              <a:latin typeface="Raleway"/>
              <a:ea typeface="Raleway"/>
              <a:cs typeface="Raleway"/>
              <a:sym typeface="Raleway"/>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51" name="Google Shape;351;p4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1800">
                <a:solidFill>
                  <a:schemeClr val="lt1"/>
                </a:solidFill>
                <a:latin typeface="Raleway"/>
                <a:ea typeface="Raleway"/>
                <a:cs typeface="Raleway"/>
                <a:sym typeface="Raleway"/>
              </a:rPr>
              <a:t> Without research, we are designing based on ______.</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Assumptions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Objectivity</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Fairness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Facts</a:t>
            </a:r>
            <a:endParaRPr sz="2800">
              <a:solidFill>
                <a:schemeClr val="lt1"/>
              </a:solidFill>
              <a:latin typeface="Raleway"/>
              <a:ea typeface="Raleway"/>
              <a:cs typeface="Raleway"/>
              <a:sym typeface="Raleway"/>
            </a:endParaRPr>
          </a:p>
        </p:txBody>
      </p:sp>
      <p:sp>
        <p:nvSpPr>
          <p:cNvPr id="352" name="Google Shape;352;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58" name="Google Shape;358;p5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1800">
                <a:solidFill>
                  <a:schemeClr val="lt1"/>
                </a:solidFill>
                <a:latin typeface="Raleway"/>
                <a:ea typeface="Raleway"/>
                <a:cs typeface="Raleway"/>
                <a:sym typeface="Raleway"/>
              </a:rPr>
              <a:t> W</a:t>
            </a:r>
            <a:r>
              <a:rPr b="1" lang="en" sz="1800">
                <a:solidFill>
                  <a:schemeClr val="lt1"/>
                </a:solidFill>
                <a:latin typeface="Raleway"/>
                <a:ea typeface="Raleway"/>
                <a:cs typeface="Raleway"/>
                <a:sym typeface="Raleway"/>
              </a:rPr>
              <a:t>ithout research, we are designing based on ______.</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Assumptions</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Objectivity</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Fairness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Facts</a:t>
            </a:r>
            <a:endParaRPr sz="1200">
              <a:solidFill>
                <a:srgbClr val="A667A5"/>
              </a:solidFill>
              <a:latin typeface="Raleway Medium"/>
              <a:ea typeface="Raleway Medium"/>
              <a:cs typeface="Raleway Medium"/>
              <a:sym typeface="Raleway Medium"/>
            </a:endParaRPr>
          </a:p>
        </p:txBody>
      </p:sp>
      <p:sp>
        <p:nvSpPr>
          <p:cNvPr id="359" name="Google Shape;359;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0" name="Google Shape;360;p50"/>
          <p:cNvSpPr/>
          <p:nvPr/>
        </p:nvSpPr>
        <p:spPr>
          <a:xfrm>
            <a:off x="685800" y="3079375"/>
            <a:ext cx="7772400" cy="8001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Without research, we are designing based on assumptions.  Tepatnya, tanpa sebuah riset, kita mendesain berdasarkan asumsi. Asumsi kita dapat memiliki bias.</a:t>
            </a:r>
            <a:endParaRPr b="1" sz="1000">
              <a:solidFill>
                <a:srgbClr val="733572"/>
              </a:solidFill>
              <a:latin typeface="Raleway"/>
              <a:ea typeface="Raleway"/>
              <a:cs typeface="Raleway"/>
              <a:sym typeface="Raleway"/>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66" name="Google Shape;366;p5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t>
            </a:r>
            <a:r>
              <a:rPr b="1" lang="en" sz="1800">
                <a:solidFill>
                  <a:schemeClr val="lt1"/>
                </a:solidFill>
                <a:latin typeface="Raleway"/>
                <a:ea typeface="Raleway"/>
                <a:cs typeface="Raleway"/>
                <a:sym typeface="Raleway"/>
              </a:rPr>
              <a:t>Riset bersifat siklus. Apakah pernyataan tersebut…</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Benar</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Salah</a:t>
            </a:r>
            <a:endParaRPr sz="1200">
              <a:solidFill>
                <a:schemeClr val="lt1"/>
              </a:solidFill>
              <a:latin typeface="Raleway Medium"/>
              <a:ea typeface="Raleway Medium"/>
              <a:cs typeface="Raleway Medium"/>
              <a:sym typeface="Raleway Medium"/>
            </a:endParaRPr>
          </a:p>
        </p:txBody>
      </p:sp>
      <p:sp>
        <p:nvSpPr>
          <p:cNvPr id="367" name="Google Shape;367;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73" name="Google Shape;373;p5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1800">
                <a:solidFill>
                  <a:schemeClr val="lt1"/>
                </a:solidFill>
                <a:latin typeface="Raleway"/>
                <a:ea typeface="Raleway"/>
                <a:cs typeface="Raleway"/>
                <a:sym typeface="Raleway"/>
              </a:rPr>
              <a:t> Riset bersifat siklus. Apakah pernyataan tersebut…</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Benar</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Salah</a:t>
            </a:r>
            <a:endParaRPr sz="1200">
              <a:solidFill>
                <a:srgbClr val="A667A5"/>
              </a:solidFill>
              <a:latin typeface="Raleway Medium"/>
              <a:ea typeface="Raleway Medium"/>
              <a:cs typeface="Raleway Medium"/>
              <a:sym typeface="Raleway Medium"/>
            </a:endParaRPr>
          </a:p>
        </p:txBody>
      </p:sp>
      <p:sp>
        <p:nvSpPr>
          <p:cNvPr id="374" name="Google Shape;374;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5" name="Google Shape;375;p52"/>
          <p:cNvSpPr/>
          <p:nvPr/>
        </p:nvSpPr>
        <p:spPr>
          <a:xfrm>
            <a:off x="685800" y="2698375"/>
            <a:ext cx="7772400" cy="8001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Benar. Dalam proses desain, yang terpenting bukanlah menjalankan daftar aktivitas yang sangat besar dalam urutan yang kaku, tetapi untuk memulai di suatu tempat dan belajar lebih banyak dan lebih banyak lagi seiring berjalannya waktu.</a:t>
            </a:r>
            <a:endParaRPr b="1" sz="1000">
              <a:solidFill>
                <a:srgbClr val="733572"/>
              </a:solidFill>
              <a:latin typeface="Raleway"/>
              <a:ea typeface="Raleway"/>
              <a:cs typeface="Raleway"/>
              <a:sym typeface="Raleway"/>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81" name="Google Shape;381;p5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2800">
                <a:solidFill>
                  <a:schemeClr val="accent1"/>
                </a:solidFill>
                <a:latin typeface="Raleway"/>
                <a:ea typeface="Raleway"/>
                <a:cs typeface="Raleway"/>
                <a:sym typeface="Raleway"/>
              </a:rPr>
              <a:t>. </a:t>
            </a:r>
            <a:r>
              <a:rPr b="1" lang="en" sz="1800">
                <a:solidFill>
                  <a:schemeClr val="lt1"/>
                </a:solidFill>
                <a:latin typeface="Raleway"/>
                <a:ea typeface="Raleway"/>
                <a:cs typeface="Raleway"/>
                <a:sym typeface="Raleway"/>
              </a:rPr>
              <a:t>Faktor - faktor yang perlu dipertimbangkan saat menentukan metode research yang tepat,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Waktu</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Budget</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Jumlah anggota tim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Gender anggota tim</a:t>
            </a:r>
            <a:endParaRPr sz="1200">
              <a:solidFill>
                <a:schemeClr val="lt1"/>
              </a:solidFill>
              <a:latin typeface="Raleway Medium"/>
              <a:ea typeface="Raleway Medium"/>
              <a:cs typeface="Raleway Medium"/>
              <a:sym typeface="Raleway Medium"/>
            </a:endParaRPr>
          </a:p>
        </p:txBody>
      </p:sp>
      <p:sp>
        <p:nvSpPr>
          <p:cNvPr id="382" name="Google Shape;382;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88" name="Google Shape;388;p5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 </a:t>
            </a:r>
            <a:r>
              <a:rPr b="1" lang="en" sz="1800">
                <a:solidFill>
                  <a:schemeClr val="lt1"/>
                </a:solidFill>
                <a:latin typeface="Raleway"/>
                <a:ea typeface="Raleway"/>
                <a:cs typeface="Raleway"/>
                <a:sym typeface="Raleway"/>
              </a:rPr>
              <a:t>Faktor - faktor yang perlu dipertimbangkan saat menentukan metode research yang tepat,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Waktu</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Budget</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Jumlah anggota tim </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Gender anggota tim</a:t>
            </a:r>
            <a:endParaRPr b="1" sz="1200">
              <a:solidFill>
                <a:schemeClr val="lt1"/>
              </a:solidFill>
              <a:latin typeface="Raleway"/>
              <a:ea typeface="Raleway"/>
              <a:cs typeface="Raleway"/>
              <a:sym typeface="Raleway"/>
            </a:endParaRPr>
          </a:p>
        </p:txBody>
      </p:sp>
      <p:sp>
        <p:nvSpPr>
          <p:cNvPr id="389" name="Google Shape;389;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0" name="Google Shape;390;p54"/>
          <p:cNvSpPr/>
          <p:nvPr/>
        </p:nvSpPr>
        <p:spPr>
          <a:xfrm>
            <a:off x="685800" y="34603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Gender anggota tim tidak mempengaruhi aktivitas apapun dalam proses menentukan research.</a:t>
            </a:r>
            <a:endParaRPr b="1" sz="1000">
              <a:solidFill>
                <a:srgbClr val="733572"/>
              </a:solidFill>
              <a:latin typeface="Raleway"/>
              <a:ea typeface="Raleway"/>
              <a:cs typeface="Raleway"/>
              <a:sym typeface="Raleway"/>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396" name="Google Shape;396;p5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Attitudinal vs. ______, Kualitatif vs. Kuantitatif</a:t>
            </a:r>
            <a:endParaRPr b="1" sz="2800">
              <a:solidFill>
                <a:schemeClr val="accen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Natural</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Developmental</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Behavioral</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Generative</a:t>
            </a:r>
            <a:endParaRPr sz="1200">
              <a:solidFill>
                <a:schemeClr val="lt1"/>
              </a:solidFill>
              <a:latin typeface="Raleway Medium"/>
              <a:ea typeface="Raleway Medium"/>
              <a:cs typeface="Raleway Medium"/>
              <a:sym typeface="Raleway Medium"/>
            </a:endParaRPr>
          </a:p>
        </p:txBody>
      </p:sp>
      <p:sp>
        <p:nvSpPr>
          <p:cNvPr id="397" name="Google Shape;397;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403" name="Google Shape;403;p5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Attitudinal vs. ______, Kualitatif vs. Kuantitatif</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Natural</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Developmental</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Behavioral</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Generative</a:t>
            </a:r>
            <a:endParaRPr sz="1200">
              <a:solidFill>
                <a:srgbClr val="A667A5"/>
              </a:solidFill>
              <a:latin typeface="Raleway Medium"/>
              <a:ea typeface="Raleway Medium"/>
              <a:cs typeface="Raleway Medium"/>
              <a:sym typeface="Raleway Medium"/>
            </a:endParaRPr>
          </a:p>
        </p:txBody>
      </p:sp>
      <p:sp>
        <p:nvSpPr>
          <p:cNvPr id="404" name="Google Shape;404;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5" name="Google Shape;405;p56"/>
          <p:cNvSpPr/>
          <p:nvPr/>
        </p:nvSpPr>
        <p:spPr>
          <a:xfrm>
            <a:off x="685800" y="31555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Sikap vs. Perilaku - Attitudinal vs. Behavioral, Kualitatif vs. Kuantitatif</a:t>
            </a:r>
            <a:endParaRPr b="1" sz="1000">
              <a:solidFill>
                <a:srgbClr val="733572"/>
              </a:solidFill>
              <a:latin typeface="Raleway"/>
              <a:ea typeface="Raleway"/>
              <a:cs typeface="Raleway"/>
              <a:sym typeface="Raleway"/>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1" name="Google Shape;411;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Referensi dan bacaan lebih lanjut</a:t>
            </a:r>
            <a:endParaRPr/>
          </a:p>
        </p:txBody>
      </p:sp>
      <p:pic>
        <p:nvPicPr>
          <p:cNvPr id="412" name="Google Shape;412;p57"/>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413" name="Google Shape;413;p57"/>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Referensi dan bacaan lebih lanjut</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u="sng">
                <a:solidFill>
                  <a:schemeClr val="hlink"/>
                </a:solidFill>
                <a:latin typeface="Raleway Medium"/>
                <a:ea typeface="Raleway Medium"/>
                <a:cs typeface="Raleway Medium"/>
                <a:sym typeface="Raleway Medium"/>
                <a:hlinkClick r:id="rId4"/>
              </a:rPr>
              <a:t>What is UX Research? </a:t>
            </a:r>
            <a:r>
              <a:rPr lang="en" sz="1200" u="sng">
                <a:solidFill>
                  <a:schemeClr val="hlink"/>
                </a:solidFill>
                <a:latin typeface="Raleway Medium"/>
                <a:ea typeface="Raleway Medium"/>
                <a:cs typeface="Raleway Medium"/>
                <a:sym typeface="Raleway Medium"/>
                <a:hlinkClick r:id="rId5"/>
              </a:rPr>
              <a:t>b</a:t>
            </a:r>
            <a:r>
              <a:rPr lang="en" sz="1200" u="sng">
                <a:solidFill>
                  <a:schemeClr val="hlink"/>
                </a:solidFill>
                <a:latin typeface="Raleway Medium"/>
                <a:ea typeface="Raleway Medium"/>
                <a:cs typeface="Raleway Medium"/>
                <a:sym typeface="Raleway Medium"/>
                <a:hlinkClick r:id="rId6"/>
              </a:rPr>
              <a:t>y Interaction Design Foundation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a:t>
            </a:r>
            <a:r>
              <a:rPr lang="en" sz="1200" u="sng">
                <a:solidFill>
                  <a:schemeClr val="hlink"/>
                </a:solidFill>
                <a:latin typeface="Raleway Medium"/>
                <a:ea typeface="Raleway Medium"/>
                <a:cs typeface="Raleway Medium"/>
                <a:sym typeface="Raleway Medium"/>
                <a:hlinkClick r:id="rId7"/>
              </a:rPr>
              <a:t>UX Research Cheat Sheet by Nielsen Norman Group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a:t>
            </a:r>
            <a:r>
              <a:rPr lang="en" sz="1200" u="sng">
                <a:solidFill>
                  <a:schemeClr val="hlink"/>
                </a:solidFill>
                <a:latin typeface="Raleway Medium"/>
                <a:ea typeface="Raleway Medium"/>
                <a:cs typeface="Raleway Medium"/>
                <a:sym typeface="Raleway Medium"/>
                <a:hlinkClick r:id="rId8"/>
              </a:rPr>
              <a:t>When to Use Which User-Experience Research </a:t>
            </a:r>
            <a:endParaRPr/>
          </a:p>
          <a:p>
            <a:pPr indent="0" lvl="0" marL="0" rtl="0" algn="l">
              <a:lnSpc>
                <a:spcPct val="115000"/>
              </a:lnSpc>
              <a:spcBef>
                <a:spcPts val="0"/>
              </a:spcBef>
              <a:spcAft>
                <a:spcPts val="0"/>
              </a:spcAft>
              <a:buNone/>
            </a:pPr>
            <a:r>
              <a:rPr lang="en"/>
              <a:t>   </a:t>
            </a:r>
            <a:r>
              <a:rPr lang="en" sz="1200" u="sng">
                <a:solidFill>
                  <a:schemeClr val="hlink"/>
                </a:solidFill>
                <a:latin typeface="Raleway Medium"/>
                <a:ea typeface="Raleway Medium"/>
                <a:cs typeface="Raleway Medium"/>
                <a:sym typeface="Raleway Medium"/>
                <a:hlinkClick r:id="rId9"/>
              </a:rPr>
              <a:t>Methods by Nielsen Norman Group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a:t>
            </a:r>
            <a:r>
              <a:rPr lang="en" sz="1200" u="sng">
                <a:solidFill>
                  <a:schemeClr val="hlink"/>
                </a:solidFill>
                <a:latin typeface="Raleway Medium"/>
                <a:ea typeface="Raleway Medium"/>
                <a:cs typeface="Raleway Medium"/>
                <a:sym typeface="Raleway Medium"/>
                <a:hlinkClick r:id="rId10"/>
              </a:rPr>
              <a:t>Qualities of Effective User Researchers by UX Matters</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417" name="Shape 417"/>
        <p:cNvGrpSpPr/>
        <p:nvPr/>
      </p:nvGrpSpPr>
      <p:grpSpPr>
        <a:xfrm>
          <a:off x="0" y="0"/>
          <a:ext cx="0" cy="0"/>
          <a:chOff x="0" y="0"/>
          <a:chExt cx="0" cy="0"/>
        </a:xfrm>
      </p:grpSpPr>
      <p:sp>
        <p:nvSpPr>
          <p:cNvPr id="418" name="Google Shape;418;p58"/>
          <p:cNvSpPr/>
          <p:nvPr/>
        </p:nvSpPr>
        <p:spPr>
          <a:xfrm>
            <a:off x="4031975" y="2179724"/>
            <a:ext cx="2448300" cy="24483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19" name="Google Shape;419;p58"/>
          <p:cNvSpPr/>
          <p:nvPr/>
        </p:nvSpPr>
        <p:spPr>
          <a:xfrm>
            <a:off x="2880172" y="732662"/>
            <a:ext cx="3058800" cy="30588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20" name="Google Shape;420;p58"/>
          <p:cNvSpPr/>
          <p:nvPr/>
        </p:nvSpPr>
        <p:spPr>
          <a:xfrm>
            <a:off x="1580031" y="515479"/>
            <a:ext cx="3493200" cy="34932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21" name="Google Shape;421;p58"/>
          <p:cNvSpPr/>
          <p:nvPr/>
        </p:nvSpPr>
        <p:spPr>
          <a:xfrm>
            <a:off x="4787172" y="1388640"/>
            <a:ext cx="2776800" cy="2776800"/>
          </a:xfrm>
          <a:prstGeom prst="ellipse">
            <a:avLst/>
          </a:prstGeom>
          <a:solidFill>
            <a:srgbClr val="5E2B62">
              <a:alpha val="6078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22" name="Google Shape;422;p58"/>
          <p:cNvSpPr/>
          <p:nvPr/>
        </p:nvSpPr>
        <p:spPr>
          <a:xfrm>
            <a:off x="1752271" y="1608981"/>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TERIMA</a:t>
            </a:r>
            <a:endParaRPr b="1" i="0" sz="3600" u="none" cap="none" strike="noStrike">
              <a:solidFill>
                <a:srgbClr val="F2AB2F"/>
              </a:solidFill>
              <a:latin typeface="Montserrat"/>
              <a:ea typeface="Montserrat"/>
              <a:cs typeface="Montserrat"/>
              <a:sym typeface="Montserrat"/>
            </a:endParaRPr>
          </a:p>
        </p:txBody>
      </p:sp>
      <p:sp>
        <p:nvSpPr>
          <p:cNvPr id="423" name="Google Shape;423;p58"/>
          <p:cNvSpPr/>
          <p:nvPr/>
        </p:nvSpPr>
        <p:spPr>
          <a:xfrm>
            <a:off x="1684821" y="2179714"/>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KASIH</a:t>
            </a:r>
            <a:endParaRPr sz="1100"/>
          </a:p>
        </p:txBody>
      </p:sp>
      <p:pic>
        <p:nvPicPr>
          <p:cNvPr id="424" name="Google Shape;424;p58"/>
          <p:cNvPicPr preferRelativeResize="0"/>
          <p:nvPr/>
        </p:nvPicPr>
        <p:blipFill rotWithShape="1">
          <a:blip r:embed="rId3">
            <a:alphaModFix/>
          </a:blip>
          <a:srcRect b="0" l="0" r="13247" t="0"/>
          <a:stretch/>
        </p:blipFill>
        <p:spPr>
          <a:xfrm>
            <a:off x="5450801" y="1946964"/>
            <a:ext cx="1440495" cy="1660396"/>
          </a:xfrm>
          <a:prstGeom prst="rect">
            <a:avLst/>
          </a:prstGeom>
          <a:noFill/>
          <a:ln>
            <a:noFill/>
          </a:ln>
        </p:spPr>
      </p:pic>
      <p:sp>
        <p:nvSpPr>
          <p:cNvPr id="425" name="Google Shape;425;p58"/>
          <p:cNvSpPr/>
          <p:nvPr/>
        </p:nvSpPr>
        <p:spPr>
          <a:xfrm>
            <a:off x="2000840" y="3114985"/>
            <a:ext cx="1341000" cy="13410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