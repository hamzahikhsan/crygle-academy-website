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Montserrat"/>
      <p:regular r:id="rId60"/>
      <p:bold r:id="rId61"/>
      <p:italic r:id="rId62"/>
      <p:boldItalic r:id="rId63"/>
    </p:embeddedFont>
    <p:embeddedFont>
      <p:font typeface="Lato Black"/>
      <p:bold r:id="rId64"/>
      <p:boldItalic r:id="rId65"/>
    </p:embeddedFont>
    <p:embeddedFont>
      <p:font typeface="Raleway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5.xml"/><Relationship Id="rId64" Type="http://schemas.openxmlformats.org/officeDocument/2006/relationships/font" Target="fonts/LatoBlack-bold.fntdata"/><Relationship Id="rId63" Type="http://schemas.openxmlformats.org/officeDocument/2006/relationships/font" Target="fonts/Montserrat-boldItalic.fntdata"/><Relationship Id="rId22" Type="http://schemas.openxmlformats.org/officeDocument/2006/relationships/slide" Target="slides/slide17.xml"/><Relationship Id="rId66" Type="http://schemas.openxmlformats.org/officeDocument/2006/relationships/font" Target="fonts/RalewayMedium-regular.fntdata"/><Relationship Id="rId21" Type="http://schemas.openxmlformats.org/officeDocument/2006/relationships/slide" Target="slides/slide16.xml"/><Relationship Id="rId65" Type="http://schemas.openxmlformats.org/officeDocument/2006/relationships/font" Target="fonts/LatoBlack-boldItalic.fntdata"/><Relationship Id="rId24" Type="http://schemas.openxmlformats.org/officeDocument/2006/relationships/slide" Target="slides/slide19.xml"/><Relationship Id="rId68" Type="http://schemas.openxmlformats.org/officeDocument/2006/relationships/font" Target="fonts/RalewayMedium-italic.fntdata"/><Relationship Id="rId23" Type="http://schemas.openxmlformats.org/officeDocument/2006/relationships/slide" Target="slides/slide18.xml"/><Relationship Id="rId67" Type="http://schemas.openxmlformats.org/officeDocument/2006/relationships/font" Target="fonts/RalewayMedium-bold.fntdata"/><Relationship Id="rId60" Type="http://schemas.openxmlformats.org/officeDocument/2006/relationships/font" Target="fonts/Montserra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nnaholinger?utm_source=unsplash&amp;utm_medium=referral&amp;utm_content=creditCopyText" TargetMode="Externa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e_buzz?utm_source=unsplash&amp;utm_medium=referral&amp;utm_content=creditCopyText" TargetMode="External"/><Relationship Id="rId3" Type="http://schemas.openxmlformats.org/officeDocument/2006/relationships/hyperlink" Target="https://unsplash.com/@le_buzz?utm_source=unsplash&amp;utm_medium=referral&amp;utm_content=creditCopyText" TargetMode="External"/><Relationship Id="rId4" Type="http://schemas.openxmlformats.org/officeDocument/2006/relationships/hyperlink" Target="https://unsplash.com/s/photos/website?utm_source=unsplash&amp;utm_medium=referral&amp;utm_content=creditCopyText" TargetMode="External"/><Relationship Id="rId5" Type="http://schemas.openxmlformats.org/officeDocument/2006/relationships/hyperlink" Target="https://unsplash.com/s/photos/website?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22e1f8b40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22e1f8b40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2e1f8b40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2e1f8b40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22e1f8b40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22e1f8b40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22e1f8b40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22e1f8b40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Hannah Olinger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2e1f8b40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2e1f8b40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2e1f8b40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2e1f8b40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2e1f8b407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2e1f8b40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2e1f8b407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2e1f8b407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2e1f8b40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2e1f8b40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22e1f8b407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22e1f8b407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22e1f8b4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22e1f8b4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22e1f8b40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22e1f8b40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22e1f8b40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22e1f8b40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2e1f8b407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22e1f8b407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22e1f8b407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22e1f8b407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2e1f8b407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22e1f8b407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22e1f8b407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22e1f8b407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22e1f8b407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22e1f8b407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22e1f8b407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22e1f8b407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22e1f8b40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22e1f8b40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22e1f8b407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22e1f8b407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22e1f8b40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22e1f8b40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1a1a4f969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1a1a4f969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 Buzz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22e1f8b407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22e1f8b407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22e1f8b407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22e1f8b407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22e1f8b40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22e1f8b40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22e1f8b407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22e1f8b407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22e1f8b407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22e1f8b407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22e1f8b407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22e1f8b407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1882651c6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1882651c6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22e1f8b40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22e1f8b40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1882651c6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1882651c61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22e1f8b407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22e1f8b407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1882651c6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1882651c6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22e1f8b40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22e1f8b40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98a76781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98a76781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22e1f8b407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22e1f8b407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98a76781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98a76781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22e1f8b407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22e1f8b407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2e1f8b407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2e1f8b407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22e1f8b407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22e1f8b407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google.com/presentation/d/1ngNFUmycKkQvmj-ZM5TZRQJTbNUPuioL7bDG8ZpBPfE/edit?usp=sharing" TargetMode="External"/><Relationship Id="rId4" Type="http://schemas.openxmlformats.org/officeDocument/2006/relationships/hyperlink" Target="https://www.nngroup.com/articles/ux-design-portfolios/" TargetMode="External"/><Relationship Id="rId5"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nngroup.com/articles/ux-design-portfolios/"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portfolio.adobe.com/" TargetMode="Externa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xfol.io/" TargetMode="Externa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pinterest.com" TargetMode="Externa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cargo.site/" TargetMode="Externa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carbonmade.com/" TargetMode="Externa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pixpa.com/" TargetMode="Externa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www.youtube.com/watch?v=_NSA2OvivIM" TargetMode="Externa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youtube.com/watch?v=hUNdNgoT34A" TargetMode="Externa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www.youtube.com/watch?v=J2XglTkUmig" TargetMode="Externa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0" Type="http://schemas.openxmlformats.org/officeDocument/2006/relationships/hyperlink" Target="https://uxdesignmastery.com/ux-portfolio-case-study-template-plus-examples-from-successful-hires/" TargetMode="Externa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hyperlink" Target="https://www.nngroup.com/articles/ux-design-portfolios/" TargetMode="External"/><Relationship Id="rId9" Type="http://schemas.openxmlformats.org/officeDocument/2006/relationships/hyperlink" Target="https://uxdesignmastery.com/ux-portfolio-case-study-template-plus-examples-from-successful-hires/" TargetMode="External"/><Relationship Id="rId5" Type="http://schemas.openxmlformats.org/officeDocument/2006/relationships/hyperlink" Target="https://www.uxbeginner.com/ux-portfolio-course/#" TargetMode="External"/><Relationship Id="rId6" Type="http://schemas.openxmlformats.org/officeDocument/2006/relationships/hyperlink" Target="https://www.uxbeginner.com/ux-portfolio-course/#" TargetMode="External"/><Relationship Id="rId7" Type="http://schemas.openxmlformats.org/officeDocument/2006/relationships/hyperlink" Target="https://careerfoundry.com/en/blog/ux-design/best-free-ux-ui-portfolio-websites/#pixpa" TargetMode="External"/><Relationship Id="rId8" Type="http://schemas.openxmlformats.org/officeDocument/2006/relationships/hyperlink" Target="https://careerfoundry.com/en/blog/ux-design/best-free-ux-ui-portfolio-websites/#pixpa"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Menyusun Portfolio</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7 - Topic 3</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Menyusun </a:t>
            </a:r>
            <a:r>
              <a:rPr b="1" lang="en" sz="1800">
                <a:solidFill>
                  <a:srgbClr val="743673"/>
                </a:solidFill>
                <a:highlight>
                  <a:schemeClr val="lt1"/>
                </a:highlight>
                <a:latin typeface="Raleway"/>
                <a:ea typeface="Raleway"/>
                <a:cs typeface="Raleway"/>
                <a:sym typeface="Raleway"/>
              </a:rPr>
              <a:t>portfolio</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Strategi Content-first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Piramida UX Portfolio</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Platform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No-code website builders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Strategi Content-first</a:t>
            </a:r>
            <a:endParaRPr/>
          </a:p>
        </p:txBody>
      </p:sp>
      <p:sp>
        <p:nvSpPr>
          <p:cNvPr id="115" name="Google Shape;11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119" name="Shape 119"/>
        <p:cNvGrpSpPr/>
        <p:nvPr/>
      </p:nvGrpSpPr>
      <p:grpSpPr>
        <a:xfrm>
          <a:off x="0" y="0"/>
          <a:ext cx="0" cy="0"/>
          <a:chOff x="0" y="0"/>
          <a:chExt cx="0" cy="0"/>
        </a:xfrm>
      </p:grpSpPr>
      <p:sp>
        <p:nvSpPr>
          <p:cNvPr id="120" name="Google Shape;120;p23"/>
          <p:cNvSpPr txBox="1"/>
          <p:nvPr/>
        </p:nvSpPr>
        <p:spPr>
          <a:xfrm>
            <a:off x="685800" y="1188725"/>
            <a:ext cx="54975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4000">
                <a:solidFill>
                  <a:srgbClr val="743673"/>
                </a:solidFill>
                <a:latin typeface="Raleway"/>
                <a:ea typeface="Raleway"/>
                <a:cs typeface="Raleway"/>
                <a:sym typeface="Raleway"/>
              </a:rPr>
              <a:t>Looking for jobs without a portfolio is like going overseas without a passport </a:t>
            </a:r>
            <a:endParaRPr sz="4000">
              <a:solidFill>
                <a:schemeClr val="dk1"/>
              </a:solidFill>
              <a:latin typeface="Raleway Medium"/>
              <a:ea typeface="Raleway Medium"/>
              <a:cs typeface="Raleway Medium"/>
              <a:sym typeface="Raleway Medium"/>
            </a:endParaRPr>
          </a:p>
        </p:txBody>
      </p:sp>
      <p:sp>
        <p:nvSpPr>
          <p:cNvPr id="121" name="Google Shape;12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28" name="Google Shape;128;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Menyusun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Portfolio akan selalu menjadi bagian dari proses seorang desainer. Sebuah portfolio dapat menunjukkan keterampilan serta pengalaman Anda sebagai seorang desainer, dan menarik para rekruter atau klien untuk mempekerjakan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proses penyusunan portfolio memungkinkan Anda untuk mengidentifikasi keterampilan dan pencapaian Anda sambil merenungkan pekerjaan yang ingin Anda lakukan di masa depan.</a:t>
            </a:r>
            <a:endParaRPr sz="1200">
              <a:solidFill>
                <a:schemeClr val="dk1"/>
              </a:solidFill>
              <a:latin typeface="Raleway Medium"/>
              <a:ea typeface="Raleway Medium"/>
              <a:cs typeface="Raleway Medium"/>
              <a:sym typeface="Raleway Medium"/>
            </a:endParaRPr>
          </a:p>
        </p:txBody>
      </p:sp>
      <p:pic>
        <p:nvPicPr>
          <p:cNvPr id="129" name="Google Shape;129;p24"/>
          <p:cNvPicPr preferRelativeResize="0"/>
          <p:nvPr/>
        </p:nvPicPr>
        <p:blipFill rotWithShape="1">
          <a:blip r:embed="rId3">
            <a:alphaModFix/>
          </a:blip>
          <a:srcRect b="0" l="20762" r="5923"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36" name="Google Shape;136;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Mengawali Penyusunan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Daripada menghabiskan waktu berjam-jam mengutak - atik detail desain yang tidak begitu penting.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awal penyusunan portfolio, kita perlu mengawali proses dengan menulis konten untuk studi kasus yang akan ditampilkan. Jika masih ragu dari mana Anda dapat memulai tulisan, Anda dapat:</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Mengikuti alur penyusunan studi kasus (</a:t>
            </a:r>
            <a:r>
              <a:rPr lang="en" sz="1200" u="sng">
                <a:solidFill>
                  <a:schemeClr val="hlink"/>
                </a:solidFill>
                <a:latin typeface="Raleway Medium"/>
                <a:ea typeface="Raleway Medium"/>
                <a:cs typeface="Raleway Medium"/>
                <a:sym typeface="Raleway Medium"/>
                <a:hlinkClick r:id="rId3"/>
              </a:rPr>
              <a:t>chapter 7.1)</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Menggunakan sebuah templat konten yang terbukti ampuh dan dapat mempercepat pembuatan studi kasus →  portfolio UX Anda (</a:t>
            </a:r>
            <a:r>
              <a:rPr lang="en" sz="1200" u="sng">
                <a:solidFill>
                  <a:schemeClr val="hlink"/>
                </a:solidFill>
                <a:latin typeface="Raleway Medium"/>
                <a:ea typeface="Raleway Medium"/>
                <a:cs typeface="Raleway Medium"/>
                <a:sym typeface="Raleway Medium"/>
                <a:hlinkClick r:id="rId4"/>
              </a:rPr>
              <a:t>NNGroup case study template</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137" name="Google Shape;137;p25"/>
          <p:cNvPicPr preferRelativeResize="0"/>
          <p:nvPr/>
        </p:nvPicPr>
        <p:blipFill rotWithShape="1">
          <a:blip r:embed="rId5">
            <a:alphaModFix/>
          </a:blip>
          <a:srcRect b="19660" l="0" r="0" t="19660"/>
          <a:stretch/>
        </p:blipFill>
        <p:spPr>
          <a:xfrm>
            <a:off x="5486400" y="1207587"/>
            <a:ext cx="3017516" cy="2743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44" name="Google Shape;144;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Strategi content-first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Content-first</a:t>
            </a:r>
            <a:r>
              <a:rPr lang="en" sz="1200">
                <a:solidFill>
                  <a:schemeClr val="dk1"/>
                </a:solidFill>
                <a:latin typeface="Raleway Medium"/>
                <a:ea typeface="Raleway Medium"/>
                <a:cs typeface="Raleway Medium"/>
                <a:sym typeface="Raleway Medium"/>
              </a:rPr>
              <a:t> berarti mempertimbangkan konten sejak awal dalam proses penyusunan portfolio. Kita telah banyak membahas studi kasus dan cara menyusunnya dengan baik pada pertemuan sebelumnya. Nah, pada dasarnya, memulai dari menulis studi kasus dalam proses menyusun portfolio adalah praktik yang terbaik dan selaras dengan </a:t>
            </a:r>
            <a:r>
              <a:rPr b="1" lang="en" sz="1200">
                <a:solidFill>
                  <a:schemeClr val="dk1"/>
                </a:solidFill>
                <a:latin typeface="Raleway"/>
                <a:ea typeface="Raleway"/>
                <a:cs typeface="Raleway"/>
                <a:sym typeface="Raleway"/>
              </a:rPr>
              <a:t>strategi content-first dimana yang diutamakan adalah konten.</a:t>
            </a:r>
            <a:endParaRPr b="1" sz="1200">
              <a:solidFill>
                <a:schemeClr val="dk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Pendekatan content-first tidak mengharuskan konten sepenuhnya ditulis dan dipoles sebelum memulai desain atau penambahan elemen visual. Mendefinisikan struktur konten adalah yang terpenting.</a:t>
            </a:r>
            <a:endParaRPr sz="1200">
              <a:solidFill>
                <a:schemeClr val="dk1"/>
              </a:solidFill>
              <a:latin typeface="Raleway Medium"/>
              <a:ea typeface="Raleway Medium"/>
              <a:cs typeface="Raleway Medium"/>
              <a:sym typeface="Raleway Medium"/>
            </a:endParaRPr>
          </a:p>
        </p:txBody>
      </p:sp>
      <p:pic>
        <p:nvPicPr>
          <p:cNvPr id="145" name="Google Shape;145;p26"/>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52" name="Google Shape;152;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Menggunakan sebuah templat untuk konten studi kasus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Ingatkan bahwa sebuah portfolio dapat berbentuk sebuah website atau PDF.</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Nah, cara mengatur konten pada sebuah website dan PDF cukup berbeda. Saat menyusun portfolio berbasis web, Anda perlu menahan keinginan untuk mendesain secara berlebihan pada template, konten Anda harus menjadi fokus utama dan situs Anda harus mudah dinavigasi dan dikonsumsi. Pada sebuah PDF, Anda dapat dengan mudah menghapus dan menambahkan konten yang yang disesuaikan dengan pekerjaan yang Anda sedang lamar.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53" name="Google Shape;153;p27"/>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60" name="Google Shape;160;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Templat konten pada</a:t>
            </a:r>
            <a:r>
              <a:rPr b="1" lang="en" sz="1800">
                <a:solidFill>
                  <a:srgbClr val="743673"/>
                </a:solidFill>
                <a:highlight>
                  <a:schemeClr val="lt1"/>
                </a:highlight>
                <a:latin typeface="Raleway"/>
                <a:ea typeface="Raleway"/>
                <a:cs typeface="Raleway"/>
                <a:sym typeface="Raleway"/>
              </a:rPr>
              <a:t> sebuah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website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mungkin perlu memasukkan 3 sampai 5 studi kasus pada website portfolio Anda. Walaupun studi kasus Anda berbeda - beda (warna, elemen visual dll), Anda tetap perlu menjaga templat yang sama untuk semua studi kasus.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Templat tersebut juga perlu Anda gunakan dari tahap awal penulisan. Dengan menggunakan templat yang cukup seragam, pengguna Anda akan mengerti tulisan Anda dari satu kasus ke kasus lainnya dengan sangat mudah. </a:t>
            </a:r>
            <a:endParaRPr sz="1200">
              <a:solidFill>
                <a:schemeClr val="dk1"/>
              </a:solidFill>
              <a:latin typeface="Raleway Medium"/>
              <a:ea typeface="Raleway Medium"/>
              <a:cs typeface="Raleway Medium"/>
              <a:sym typeface="Raleway Medium"/>
            </a:endParaRPr>
          </a:p>
        </p:txBody>
      </p:sp>
      <p:pic>
        <p:nvPicPr>
          <p:cNvPr id="161" name="Google Shape;161;p28"/>
          <p:cNvPicPr preferRelativeResize="0"/>
          <p:nvPr/>
        </p:nvPicPr>
        <p:blipFill rotWithShape="1">
          <a:blip r:embed="rId3">
            <a:alphaModFix/>
          </a:blip>
          <a:srcRect b="0" l="13421" r="21457" t="0"/>
          <a:stretch/>
        </p:blipFill>
        <p:spPr>
          <a:xfrm>
            <a:off x="5486400" y="1207587"/>
            <a:ext cx="3017516" cy="2743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68" name="Google Shape;168;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Templat konten pada sebuah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PDF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Media populer lainnya untuk portfolio adalah PDF digital atau dek slide, yang juga berfungsi sebagai presentasi proyek Anda.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membuat portfolio PDF, simpanlah PDF master yang mencakupi semua proyek Anda. Saat Anda melamar pekerjaan, Anda dapat dengan mudah menyembunyikan proyek yang tidak relevan dan menampilkan portfolio yang </a:t>
            </a:r>
            <a:r>
              <a:rPr i="1" lang="en" sz="1200">
                <a:solidFill>
                  <a:schemeClr val="dk1"/>
                </a:solidFill>
                <a:latin typeface="Raleway Medium"/>
                <a:ea typeface="Raleway Medium"/>
                <a:cs typeface="Raleway Medium"/>
                <a:sym typeface="Raleway Medium"/>
              </a:rPr>
              <a:t>spot-on</a:t>
            </a:r>
            <a:r>
              <a:rPr lang="en" sz="1200">
                <a:solidFill>
                  <a:schemeClr val="dk1"/>
                </a:solidFill>
                <a:latin typeface="Raleway Medium"/>
                <a:ea typeface="Raleway Medium"/>
                <a:cs typeface="Raleway Medium"/>
                <a:sym typeface="Raleway Medium"/>
              </a:rPr>
              <a:t> pada rekruter / perusahaan yang Anda lamar.</a:t>
            </a:r>
            <a:endParaRPr sz="1200">
              <a:solidFill>
                <a:schemeClr val="dk1"/>
              </a:solidFill>
              <a:latin typeface="Raleway Medium"/>
              <a:ea typeface="Raleway Medium"/>
              <a:cs typeface="Raleway Medium"/>
              <a:sym typeface="Raleway Medium"/>
            </a:endParaRPr>
          </a:p>
        </p:txBody>
      </p:sp>
      <p:pic>
        <p:nvPicPr>
          <p:cNvPr id="169" name="Google Shape;169;p29"/>
          <p:cNvPicPr preferRelativeResize="0"/>
          <p:nvPr/>
        </p:nvPicPr>
        <p:blipFill rotWithShape="1">
          <a:blip r:embed="rId3">
            <a:alphaModFix/>
          </a:blip>
          <a:srcRect b="0" l="-111" r="26097" t="0"/>
          <a:stretch/>
        </p:blipFill>
        <p:spPr>
          <a:xfrm>
            <a:off x="5486400" y="1207587"/>
            <a:ext cx="3017518" cy="27431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Strategi content-first</a:t>
            </a:r>
            <a:endParaRPr/>
          </a:p>
        </p:txBody>
      </p:sp>
      <p:sp>
        <p:nvSpPr>
          <p:cNvPr id="176" name="Google Shape;176;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Templat konten studi kasus dari Nielsen Norman Group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Nielsen Norman Group menyediakan sebuah templat yang dapat Anda gunakan saat mulai menulis konten. Templat yang mereka sediakan ada dua, satu untuk portfolio berbasis web dan satu untuk PDF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Sekali lagi, ingatlah a</a:t>
            </a:r>
            <a:r>
              <a:rPr lang="en" sz="1200">
                <a:solidFill>
                  <a:schemeClr val="dk1"/>
                </a:solidFill>
                <a:latin typeface="Raleway Medium"/>
                <a:ea typeface="Raleway Medium"/>
                <a:cs typeface="Raleway Medium"/>
                <a:sym typeface="Raleway Medium"/>
              </a:rPr>
              <a:t>papun format yang Anda pilih, buat template dasar yang akan Anda ikuti sehingga semua proyek Anda terlihat kohesif.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Lihat templat disini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77" name="Google Shape;177;p30"/>
          <p:cNvPicPr preferRelativeResize="0"/>
          <p:nvPr/>
        </p:nvPicPr>
        <p:blipFill rotWithShape="1">
          <a:blip r:embed="rId4">
            <a:alphaModFix/>
          </a:blip>
          <a:srcRect b="44512" l="0" r="0" t="0"/>
          <a:stretch/>
        </p:blipFill>
        <p:spPr>
          <a:xfrm>
            <a:off x="5486400" y="1207587"/>
            <a:ext cx="3017519" cy="2743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Piramida UX Portfolio</a:t>
            </a:r>
            <a:endParaRPr/>
          </a:p>
        </p:txBody>
      </p:sp>
      <p:sp>
        <p:nvSpPr>
          <p:cNvPr id="183" name="Google Shape;18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187" name="Shape 187"/>
        <p:cNvGrpSpPr/>
        <p:nvPr/>
      </p:nvGrpSpPr>
      <p:grpSpPr>
        <a:xfrm>
          <a:off x="0" y="0"/>
          <a:ext cx="0" cy="0"/>
          <a:chOff x="0" y="0"/>
          <a:chExt cx="0" cy="0"/>
        </a:xfrm>
      </p:grpSpPr>
      <p:sp>
        <p:nvSpPr>
          <p:cNvPr id="188" name="Google Shape;188;p32"/>
          <p:cNvSpPr txBox="1"/>
          <p:nvPr/>
        </p:nvSpPr>
        <p:spPr>
          <a:xfrm>
            <a:off x="696850" y="847800"/>
            <a:ext cx="5497500" cy="3447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4000">
                <a:solidFill>
                  <a:srgbClr val="743673"/>
                </a:solidFill>
                <a:latin typeface="Raleway"/>
                <a:ea typeface="Raleway"/>
                <a:cs typeface="Raleway"/>
                <a:sym typeface="Raleway"/>
              </a:rPr>
              <a:t>UX Portfolio Pyramid helps you build your UX portfolio with maximum focus and minimum distractions</a:t>
            </a:r>
            <a:endParaRPr sz="4000">
              <a:solidFill>
                <a:schemeClr val="dk1"/>
              </a:solidFill>
              <a:latin typeface="Raleway Medium"/>
              <a:ea typeface="Raleway Medium"/>
              <a:cs typeface="Raleway Medium"/>
              <a:sym typeface="Raleway Medium"/>
            </a:endParaRPr>
          </a:p>
        </p:txBody>
      </p:sp>
      <p:sp>
        <p:nvSpPr>
          <p:cNvPr id="189" name="Google Shape;189;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sp>
        <p:nvSpPr>
          <p:cNvPr id="196" name="Google Shape;196;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Piramida UX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Seringkali kita bingung atas </a:t>
            </a:r>
            <a:r>
              <a:rPr lang="en" sz="1200">
                <a:solidFill>
                  <a:schemeClr val="dk1"/>
                </a:solidFill>
                <a:latin typeface="Raleway Medium"/>
                <a:ea typeface="Raleway Medium"/>
                <a:cs typeface="Raleway Medium"/>
                <a:sym typeface="Raleway Medium"/>
              </a:rPr>
              <a:t>konten apa yang harus dimasukkan ke dalam portfolio UX, dan bagaimana menyusun konten - konten tersebut supaya enak di baca.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seringkali kita berada di posisi dimana kita telah menulis studi kasus akan tetapi masih bingung bagaimana menampilkan studi kasus dengan hasil desain atau bukti - bukti proses desain secara bersamaan.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mengatasi kebingungan - kebingungan diatas, kita dapat merujuk pada piramida UX portfolio (gambar di samping).</a:t>
            </a:r>
            <a:endParaRPr sz="1200">
              <a:solidFill>
                <a:schemeClr val="dk1"/>
              </a:solidFill>
              <a:latin typeface="Raleway Medium"/>
              <a:ea typeface="Raleway Medium"/>
              <a:cs typeface="Raleway Medium"/>
              <a:sym typeface="Raleway Medium"/>
            </a:endParaRPr>
          </a:p>
        </p:txBody>
      </p:sp>
      <p:pic>
        <p:nvPicPr>
          <p:cNvPr id="197" name="Google Shape;197;p33"/>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sp>
        <p:nvSpPr>
          <p:cNvPr id="204" name="Google Shape;204;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Piramida UX Portfolio adalah sebuah framework (kerangka kerja) yang dapat membantu Anda membangun portfolio UX Anda dengan fokus maksimum dan gangguan minimum.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Tentunya, kerangka kerja (piramida) di samping dapat diimplementasikan setelah Anda telah menyelesaikan proyek Anda secara keseluruhan.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perlu memulai dengan </a:t>
            </a:r>
            <a:r>
              <a:rPr i="1" lang="en" sz="1200">
                <a:solidFill>
                  <a:schemeClr val="dk1"/>
                </a:solidFill>
                <a:latin typeface="Raleway Medium"/>
                <a:ea typeface="Raleway Medium"/>
                <a:cs typeface="Raleway Medium"/>
                <a:sym typeface="Raleway Medium"/>
              </a:rPr>
              <a:t>written content </a:t>
            </a:r>
            <a:r>
              <a:rPr lang="en" sz="1200">
                <a:solidFill>
                  <a:schemeClr val="dk1"/>
                </a:solidFill>
                <a:latin typeface="Raleway Medium"/>
                <a:ea typeface="Raleway Medium"/>
                <a:cs typeface="Raleway Medium"/>
                <a:sym typeface="Raleway Medium"/>
              </a:rPr>
              <a:t>atau konten tertulis. Susunlah konten Anda seperti yang telah kita pelajari pada bab studi kasus, dari judul sampai hasil. </a:t>
            </a:r>
            <a:endParaRPr sz="1200">
              <a:solidFill>
                <a:schemeClr val="dk1"/>
              </a:solidFill>
              <a:latin typeface="Raleway Medium"/>
              <a:ea typeface="Raleway Medium"/>
              <a:cs typeface="Raleway Medium"/>
              <a:sym typeface="Raleway Medium"/>
            </a:endParaRPr>
          </a:p>
        </p:txBody>
      </p:sp>
      <p:pic>
        <p:nvPicPr>
          <p:cNvPr id="205" name="Google Shape;205;p34"/>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pic>
        <p:nvPicPr>
          <p:cNvPr id="206" name="Google Shape;206;p34"/>
          <p:cNvPicPr preferRelativeResize="0"/>
          <p:nvPr/>
        </p:nvPicPr>
        <p:blipFill rotWithShape="1">
          <a:blip r:embed="rId4">
            <a:alphaModFix/>
          </a:blip>
          <a:srcRect b="34361" l="20001" r="24808" t="0"/>
          <a:stretch/>
        </p:blipFill>
        <p:spPr>
          <a:xfrm>
            <a:off x="6006350" y="1200150"/>
            <a:ext cx="1927426" cy="15452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sp>
        <p:nvSpPr>
          <p:cNvPr id="213" name="Google Shape;213;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Sembari Anda menyusun </a:t>
            </a:r>
            <a:r>
              <a:rPr i="1" lang="en" sz="1200">
                <a:solidFill>
                  <a:schemeClr val="dk1"/>
                </a:solidFill>
                <a:latin typeface="Raleway Medium"/>
                <a:ea typeface="Raleway Medium"/>
                <a:cs typeface="Raleway Medium"/>
                <a:sym typeface="Raleway Medium"/>
              </a:rPr>
              <a:t>written content </a:t>
            </a:r>
            <a:r>
              <a:rPr lang="en" sz="1200">
                <a:solidFill>
                  <a:schemeClr val="dk1"/>
                </a:solidFill>
                <a:latin typeface="Raleway Medium"/>
                <a:ea typeface="Raleway Medium"/>
                <a:cs typeface="Raleway Medium"/>
                <a:sym typeface="Raleway Medium"/>
              </a:rPr>
              <a:t>atau studi kasus Anda, Anda dapat memikirkan visual - visual apa yang dapat menemani tulisan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Tentunya, hasil - hasil desain dan juga dokumentasi proses desain Anda seperti user journey maps, wireframes, atau hasil card sorting </a:t>
            </a:r>
            <a:r>
              <a:rPr lang="en" sz="1200">
                <a:solidFill>
                  <a:schemeClr val="dk1"/>
                </a:solidFill>
                <a:latin typeface="Raleway Medium"/>
                <a:ea typeface="Raleway Medium"/>
                <a:cs typeface="Raleway Medium"/>
                <a:sym typeface="Raleway Medium"/>
              </a:rPr>
              <a:t>juga </a:t>
            </a:r>
            <a:r>
              <a:rPr lang="en" sz="1200">
                <a:solidFill>
                  <a:schemeClr val="dk1"/>
                </a:solidFill>
                <a:latin typeface="Raleway Medium"/>
                <a:ea typeface="Raleway Medium"/>
                <a:cs typeface="Raleway Medium"/>
                <a:sym typeface="Raleway Medium"/>
              </a:rPr>
              <a:t>dapat menemani </a:t>
            </a:r>
            <a:r>
              <a:rPr i="1" lang="en" sz="1200">
                <a:solidFill>
                  <a:schemeClr val="dk1"/>
                </a:solidFill>
                <a:latin typeface="Raleway Medium"/>
                <a:ea typeface="Raleway Medium"/>
                <a:cs typeface="Raleway Medium"/>
                <a:sym typeface="Raleway Medium"/>
              </a:rPr>
              <a:t>written content </a:t>
            </a:r>
            <a:r>
              <a:rPr lang="en" sz="1200">
                <a:solidFill>
                  <a:schemeClr val="dk1"/>
                </a:solidFill>
                <a:latin typeface="Raleway Medium"/>
                <a:ea typeface="Raleway Medium"/>
                <a:cs typeface="Raleway Medium"/>
                <a:sym typeface="Raleway Medium"/>
              </a:rPr>
              <a:t>Anda. </a:t>
            </a:r>
            <a:endParaRPr sz="1200">
              <a:solidFill>
                <a:schemeClr val="dk1"/>
              </a:solidFill>
              <a:latin typeface="Raleway Medium"/>
              <a:ea typeface="Raleway Medium"/>
              <a:cs typeface="Raleway Medium"/>
              <a:sym typeface="Raleway Medium"/>
            </a:endParaRPr>
          </a:p>
        </p:txBody>
      </p:sp>
      <p:pic>
        <p:nvPicPr>
          <p:cNvPr id="214" name="Google Shape;214;p35"/>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pic>
        <p:nvPicPr>
          <p:cNvPr id="215" name="Google Shape;215;p35"/>
          <p:cNvPicPr preferRelativeResize="0"/>
          <p:nvPr/>
        </p:nvPicPr>
        <p:blipFill rotWithShape="1">
          <a:blip r:embed="rId4">
            <a:alphaModFix/>
          </a:blip>
          <a:srcRect b="56807" l="20001" r="24808" t="0"/>
          <a:stretch/>
        </p:blipFill>
        <p:spPr>
          <a:xfrm>
            <a:off x="6006350" y="1200150"/>
            <a:ext cx="1927426" cy="1016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 name="Google Shape;22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sp>
        <p:nvSpPr>
          <p:cNvPr id="222" name="Google Shape;222;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Nah, yang terakhir adalah packaging.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Packaging yang dimaksudkan disini adalah bagaimana Anda merangkai semua studi kasus Anda yang berisi written content dan visuals menjadi satu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umumnya, packaging yang dimaksudkan pada konteks ini adalah sebuah website portfolio.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perlu mengemas studi kasus Anda satu per satu, dan membungkusnya dengan desain website yang baik informatif dan on-brand agar menarik perhatian target audiens Anda. </a:t>
            </a:r>
            <a:endParaRPr sz="1200">
              <a:solidFill>
                <a:schemeClr val="dk1"/>
              </a:solidFill>
              <a:latin typeface="Raleway Medium"/>
              <a:ea typeface="Raleway Medium"/>
              <a:cs typeface="Raleway Medium"/>
              <a:sym typeface="Raleway Medium"/>
            </a:endParaRPr>
          </a:p>
        </p:txBody>
      </p:sp>
      <p:pic>
        <p:nvPicPr>
          <p:cNvPr id="223" name="Google Shape;223;p36"/>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pic>
        <p:nvPicPr>
          <p:cNvPr id="230" name="Google Shape;230;p37"/>
          <p:cNvPicPr preferRelativeResize="0"/>
          <p:nvPr/>
        </p:nvPicPr>
        <p:blipFill rotWithShape="1">
          <a:blip r:embed="rId3">
            <a:alphaModFix/>
          </a:blip>
          <a:srcRect b="0" l="0" r="0" t="0"/>
          <a:stretch/>
        </p:blipFill>
        <p:spPr>
          <a:xfrm>
            <a:off x="910276" y="1817162"/>
            <a:ext cx="7593648" cy="1812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Platform - platform portfolio</a:t>
            </a:r>
            <a:endParaRPr/>
          </a:p>
        </p:txBody>
      </p:sp>
      <p:sp>
        <p:nvSpPr>
          <p:cNvPr id="236" name="Google Shape;23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43" name="Google Shape;243;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Platform - platform portfolio</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Walaupun portfolio dalam bentuk PDF atau dalam bentuk unggahan pada Dribbble/Behance mencukupi, alangkah baiknya jika kita juga belajar membuat website sembari menyusun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Maka dari itu, mari kita telusuri beberapa platform dimana Anda dapat membuat portfolio berbasis web Anda dengan mudah dan tanpa perlu mendalami web programming.</a:t>
            </a:r>
            <a:endParaRPr sz="1200">
              <a:solidFill>
                <a:schemeClr val="dk1"/>
              </a:solidFill>
              <a:latin typeface="Raleway Medium"/>
              <a:ea typeface="Raleway Medium"/>
              <a:cs typeface="Raleway Medium"/>
              <a:sym typeface="Raleway Medium"/>
            </a:endParaRPr>
          </a:p>
        </p:txBody>
      </p:sp>
      <p:pic>
        <p:nvPicPr>
          <p:cNvPr id="244" name="Google Shape;244;p39"/>
          <p:cNvPicPr preferRelativeResize="0"/>
          <p:nvPr/>
        </p:nvPicPr>
        <p:blipFill rotWithShape="1">
          <a:blip r:embed="rId3">
            <a:alphaModFix/>
          </a:blip>
          <a:srcRect b="0" l="20762" r="5923" t="0"/>
          <a:stretch/>
        </p:blipFill>
        <p:spPr>
          <a:xfrm>
            <a:off x="5486400" y="1207587"/>
            <a:ext cx="3017518"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51" name="Google Shape;251;p40"/>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Adobe Portfolio</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Adobe Portfolio, salah satu alat gratis yang disertakan dalam paket Adobe Creative Cloud berbayar, memungkinkan desainer untuk membuat situs portfolio yang indah dan berkualitas tinggi.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52" name="Google Shape;252;p40">
            <a:hlinkClick r:id="rId3"/>
          </p:cNvPr>
          <p:cNvPicPr preferRelativeResize="0"/>
          <p:nvPr/>
        </p:nvPicPr>
        <p:blipFill rotWithShape="1">
          <a:blip r:embed="rId4">
            <a:alphaModFix/>
          </a:blip>
          <a:srcRect b="11703" l="0" r="0" t="-301"/>
          <a:stretch/>
        </p:blipFill>
        <p:spPr>
          <a:xfrm>
            <a:off x="685800" y="2400300"/>
            <a:ext cx="4780452" cy="2247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59" name="Google Shape;259;p41"/>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UXfolio</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opsi untuk menyematkan prototipe dan dukungan copywriting dalam platform, uxfol.io mendorong desainer untuk menampilkan proses dan keputusan desain mereka dalam portfolio (tidak hanya hasil jadi).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60" name="Google Shape;260;p41">
            <a:hlinkClick r:id="rId3"/>
          </p:cNvPr>
          <p:cNvPicPr preferRelativeResize="0"/>
          <p:nvPr/>
        </p:nvPicPr>
        <p:blipFill rotWithShape="1">
          <a:blip r:embed="rId4">
            <a:alphaModFix/>
          </a:blip>
          <a:srcRect b="11703" l="0" r="0" t="-301"/>
          <a:stretch/>
        </p:blipFill>
        <p:spPr>
          <a:xfrm>
            <a:off x="685800" y="2400300"/>
            <a:ext cx="4780452" cy="2247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67" name="Google Shape;267;p42"/>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Wix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Baik Wix dan WordPress memungkinkan Anda membuat situs web tanpa belajar coding. Wix terutama mempunyai banyak fitur dan templat yang memudahkan desainer untuk menampilkan situs yang seamless.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68" name="Google Shape;268;p42">
            <a:hlinkClick r:id="rId3"/>
          </p:cNvPr>
          <p:cNvPicPr preferRelativeResize="0"/>
          <p:nvPr/>
        </p:nvPicPr>
        <p:blipFill rotWithShape="1">
          <a:blip r:embed="rId4">
            <a:alphaModFix/>
          </a:blip>
          <a:srcRect b="11779" l="0" r="0" t="-212"/>
          <a:stretch/>
        </p:blipFill>
        <p:spPr>
          <a:xfrm>
            <a:off x="685800" y="2400300"/>
            <a:ext cx="4780452" cy="2247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4" name="Google Shape;274;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75" name="Google Shape;275;p4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Cargo</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Ditujukan untuk desainer yang menyukai avant-garde, Cargo memungkinkan desainer untuk membuat situs web portfolio pribadi yang berdiri sendiri dengan URL mereka sendiri. </a:t>
            </a:r>
            <a:endParaRPr sz="1200">
              <a:solidFill>
                <a:schemeClr val="dk1"/>
              </a:solidFill>
              <a:latin typeface="Raleway Medium"/>
              <a:ea typeface="Raleway Medium"/>
              <a:cs typeface="Raleway Medium"/>
              <a:sym typeface="Raleway Medium"/>
            </a:endParaRPr>
          </a:p>
        </p:txBody>
      </p:sp>
      <p:pic>
        <p:nvPicPr>
          <p:cNvPr id="276" name="Google Shape;276;p43">
            <a:hlinkClick r:id="rId3"/>
          </p:cNvPr>
          <p:cNvPicPr preferRelativeResize="0"/>
          <p:nvPr/>
        </p:nvPicPr>
        <p:blipFill rotWithShape="1">
          <a:blip r:embed="rId4">
            <a:alphaModFix/>
          </a:blip>
          <a:srcRect b="5744" l="0" r="0" t="5744"/>
          <a:stretch/>
        </p:blipFill>
        <p:spPr>
          <a:xfrm>
            <a:off x="685800" y="2400300"/>
            <a:ext cx="4780452" cy="2247898"/>
          </a:xfrm>
          <a:prstGeom prst="rect">
            <a:avLst/>
          </a:prstGeom>
          <a:noFill/>
          <a:ln>
            <a:noFill/>
          </a:ln>
        </p:spPr>
      </p:pic>
      <p:sp>
        <p:nvSpPr>
          <p:cNvPr id="277" name="Google Shape;277;p43"/>
          <p:cNvSpPr txBox="1"/>
          <p:nvPr/>
        </p:nvSpPr>
        <p:spPr>
          <a:xfrm>
            <a:off x="5680200" y="2834500"/>
            <a:ext cx="2849100" cy="121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Tidak seperti situs web portfolio gratis biasa yang memungkinkan desainer membuat akun, desainer pemula memerlukan undangan untuk bergabung dengan Cargo.</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84" name="Google Shape;284;p4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Carbonmade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Carbonmade membantu Anda memamerkan pekerjaan Anda dan ditemukan. Sempurna untuk fotografer, ilustrator, desainer gerak, desainer grafis, copywriter dan para pekerja kreatif lainnya.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5" name="Google Shape;285;p44">
            <a:hlinkClick r:id="rId3"/>
          </p:cNvPr>
          <p:cNvPicPr preferRelativeResize="0"/>
          <p:nvPr/>
        </p:nvPicPr>
        <p:blipFill rotWithShape="1">
          <a:blip r:embed="rId4">
            <a:alphaModFix/>
          </a:blip>
          <a:srcRect b="11779" l="0" r="0" t="-212"/>
          <a:stretch/>
        </p:blipFill>
        <p:spPr>
          <a:xfrm>
            <a:off x="685800" y="2400300"/>
            <a:ext cx="4780452" cy="2247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292" name="Google Shape;292;p45"/>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Pixpa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pekerjaan Anda berkisar pada visual yang memukau, Pixpa adalah pilihan yang tepat untuk Anda. Galeri Pixpa memberi opsi tampilan gambar dengan fleksibilitas yang tinggi.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93" name="Google Shape;293;p45">
            <a:hlinkClick r:id="rId3"/>
          </p:cNvPr>
          <p:cNvPicPr preferRelativeResize="0"/>
          <p:nvPr/>
        </p:nvPicPr>
        <p:blipFill rotWithShape="1">
          <a:blip r:embed="rId4">
            <a:alphaModFix/>
          </a:blip>
          <a:srcRect b="5579" l="0" r="0" t="5579"/>
          <a:stretch/>
        </p:blipFill>
        <p:spPr>
          <a:xfrm>
            <a:off x="685800" y="2400300"/>
            <a:ext cx="4780452" cy="22478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No code website builders</a:t>
            </a:r>
            <a:endParaRPr/>
          </a:p>
        </p:txBody>
      </p:sp>
      <p:sp>
        <p:nvSpPr>
          <p:cNvPr id="299" name="Google Shape;29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No code website builders</a:t>
            </a:r>
            <a:endParaRPr/>
          </a:p>
        </p:txBody>
      </p:sp>
      <p:sp>
        <p:nvSpPr>
          <p:cNvPr id="306" name="Google Shape;306;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No Code Website Builders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Pembuat situs web (Website builders) adalah alat yang pada umumnya memungkinkan pembuatan situs web tanpa pengeditan kode manual.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Mereka terbagi dalam dua kategori: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alat kepemilikan online yang disediakan oleh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perusahaan hosting web. Ini biasanya ditujukan bagi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pengguna untuk membangun situs pribadi mereka.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perangkat lunak offline yang berjalan di komputer,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membuat halaman dan kemudian dapat menerbitkan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halaman ini di host mana pun. (sering dianggap sebagai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"perangkat lunak desain situs web", daripada "pembuat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situs web".)</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07" name="Google Shape;307;p4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No code website builders</a:t>
            </a:r>
            <a:endParaRPr/>
          </a:p>
        </p:txBody>
      </p:sp>
      <p:sp>
        <p:nvSpPr>
          <p:cNvPr id="314" name="Google Shape;314;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Mari mencoba!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 contoh yang kita bahas sebelumnya termasuk dalam kategori pertama yaitu alat kepemilikan online yang disediakan oleh perusahaan hosting web. Ini biasanya ditujukan bagi.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sesi ini, mari kita coba dua website builders yaitu Wix dan Adobe Portfolio. </a:t>
            </a:r>
            <a:endParaRPr sz="1200">
              <a:solidFill>
                <a:schemeClr val="dk1"/>
              </a:solidFill>
              <a:latin typeface="Raleway Medium"/>
              <a:ea typeface="Raleway Medium"/>
              <a:cs typeface="Raleway Medium"/>
              <a:sym typeface="Raleway Medium"/>
            </a:endParaRPr>
          </a:p>
        </p:txBody>
      </p:sp>
      <p:pic>
        <p:nvPicPr>
          <p:cNvPr id="315" name="Google Shape;315;p48"/>
          <p:cNvPicPr preferRelativeResize="0"/>
          <p:nvPr/>
        </p:nvPicPr>
        <p:blipFill rotWithShape="1">
          <a:blip r:embed="rId3">
            <a:alphaModFix/>
          </a:blip>
          <a:srcRect b="0" l="22575" r="22575" t="0"/>
          <a:stretch/>
        </p:blipFill>
        <p:spPr>
          <a:xfrm>
            <a:off x="5486400" y="1207587"/>
            <a:ext cx="3017518" cy="2743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1" name="Google Shape;32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322" name="Google Shape;322;p49"/>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Tutorial pendek untuk membuat portfolio dengan Wix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Pada tutorial di bawah ini (klik gambar untuk melihat video), Anda akan mempelajari cara membuat sebuah website dalam hitungan menit dengan Wix Advanced Options.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3" name="Google Shape;323;p49">
            <a:hlinkClick r:id="rId3"/>
          </p:cNvPr>
          <p:cNvPicPr preferRelativeResize="0"/>
          <p:nvPr/>
        </p:nvPicPr>
        <p:blipFill rotWithShape="1">
          <a:blip r:embed="rId4">
            <a:alphaModFix/>
          </a:blip>
          <a:srcRect b="-1173" l="0" r="0" t="16125"/>
          <a:stretch/>
        </p:blipFill>
        <p:spPr>
          <a:xfrm>
            <a:off x="685800" y="2400300"/>
            <a:ext cx="4780450" cy="22479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9" name="Google Shape;32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330" name="Google Shape;330;p50"/>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Tutorial pendek untuk membuat portfolio dengan Adobe Portfolio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tutorial di bawah ini (klik gambar untuk melihat video), Anda akan mempelajari cara membuat sebuah website dalam hitungan menit dengan Wix Advanced Options.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31" name="Google Shape;331;p50">
            <a:hlinkClick r:id="rId3"/>
          </p:cNvPr>
          <p:cNvPicPr preferRelativeResize="0"/>
          <p:nvPr/>
        </p:nvPicPr>
        <p:blipFill rotWithShape="1">
          <a:blip r:embed="rId4">
            <a:alphaModFix/>
          </a:blip>
          <a:srcRect b="8319" l="0" r="0" t="8319"/>
          <a:stretch/>
        </p:blipFill>
        <p:spPr>
          <a:xfrm>
            <a:off x="685800" y="2400300"/>
            <a:ext cx="4780448" cy="2247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7" name="Google Shape;33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Platform - platform portfolio</a:t>
            </a:r>
            <a:endParaRPr/>
          </a:p>
        </p:txBody>
      </p:sp>
      <p:sp>
        <p:nvSpPr>
          <p:cNvPr id="338" name="Google Shape;338;p51"/>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 Webinar: Membangun Portofolio UX yang Luar Biasa?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Webinar ini tidak terlalu berkaitan dengan website builders, akan tetapi jika Anda mempunyai waktu senggang tontonlah webinar ini untuk menambah ilmu terkait penyusunan portfolio.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39" name="Google Shape;339;p51">
            <a:hlinkClick r:id="rId3"/>
          </p:cNvPr>
          <p:cNvPicPr preferRelativeResize="0"/>
          <p:nvPr/>
        </p:nvPicPr>
        <p:blipFill rotWithShape="1">
          <a:blip r:embed="rId4">
            <a:alphaModFix/>
          </a:blip>
          <a:srcRect b="-3188" l="0" r="0" t="19506"/>
          <a:stretch/>
        </p:blipFill>
        <p:spPr>
          <a:xfrm>
            <a:off x="685800" y="2400300"/>
            <a:ext cx="4780452" cy="2247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No code website builders</a:t>
            </a:r>
            <a:endParaRPr/>
          </a:p>
        </p:txBody>
      </p:sp>
      <p:sp>
        <p:nvSpPr>
          <p:cNvPr id="346" name="Google Shape;346;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Ingatlah…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t>
            </a:r>
            <a:r>
              <a:rPr lang="en" sz="1200">
                <a:solidFill>
                  <a:schemeClr val="dk1"/>
                </a:solidFill>
                <a:latin typeface="Raleway Medium"/>
                <a:ea typeface="Raleway Medium"/>
                <a:cs typeface="Raleway Medium"/>
                <a:sym typeface="Raleway Medium"/>
              </a:rPr>
              <a:t>aat Anda mengerjakan proyek baru, simpan semua artefak atau proses dokumen untuk digunakan sebagai studi kasus di masa mendatang dalam portfolio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membuat portfolio desain UX Anda, ingat tip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Curate, curate, curate</a:t>
            </a:r>
            <a:endParaRPr sz="1200">
              <a:solidFill>
                <a:schemeClr val="dk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Tunjukkan karya nyata, meski berantakan</a:t>
            </a:r>
            <a:endParaRPr sz="1200">
              <a:solidFill>
                <a:schemeClr val="dk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Sorot kolaborasi dengan tim</a:t>
            </a:r>
            <a:endParaRPr sz="1200">
              <a:solidFill>
                <a:schemeClr val="dk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Renungkan siapa Anda sebagai seorang desainer dan di mana Anda ingin berada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52" name="Google Shape;35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8" name="Google Shape;358;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Jika masih ragu dari mana Anda dapat memulai tulisan studi kasus, Anda dapat melakukan hal - hal berikut,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Mengikuti alur penyusunan studi kasus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Menggunakan sebuah templat konten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Menyalin konten dari sebuah platform</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4" name="Google Shape;364;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Jika masih ragu dari mana Anda dapat memulai tulisan studi kasus, Anda dapat melakukan hal - hal berikut,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Mengikuti alur penyusunan studi kasus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Menggunakan sebuah templat konten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Menyalin konten dari sebuah platform</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65" name="Google Shape;365;p55"/>
          <p:cNvSpPr/>
          <p:nvPr/>
        </p:nvSpPr>
        <p:spPr>
          <a:xfrm>
            <a:off x="685800" y="32625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Menyalin konten dari sebuah platform bukanlah praktik yang dianjurkan untuk memulai tulisan. Konten yang Anda salin belum tentu konten yang baik, dan dapat mengarahkan Anda ke plagiarisme.</a:t>
            </a:r>
            <a:endParaRPr b="1" sz="1000">
              <a:solidFill>
                <a:srgbClr val="733572"/>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1" name="Google Shape;371;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Pendekatan content-first mengharuskan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Adanya konten final sebelum menambahkan visual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Adanya struktur konten sebelum menambahkan visual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Adanya elemen visual sebelum struktur konten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7" name="Google Shape;377;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Pendekatan content-first mengharuskan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Adanya konten final sebelum menambahkan visual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Adanya struktur konten sebelum menambahkan visual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Adanya elemen visual sebelum struktur konten</a:t>
            </a:r>
            <a:endParaRPr sz="1200">
              <a:solidFill>
                <a:srgbClr val="A667A5"/>
              </a:solidFill>
              <a:latin typeface="Raleway Medium"/>
              <a:ea typeface="Raleway Medium"/>
              <a:cs typeface="Raleway Medium"/>
              <a:sym typeface="Raleway Medium"/>
            </a:endParaRPr>
          </a:p>
        </p:txBody>
      </p:sp>
      <p:sp>
        <p:nvSpPr>
          <p:cNvPr id="378" name="Google Shape;378;p57"/>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Pendekatan content-first tidak mengharuskan konten sepenuhnya ditulis dan dipoles sebelum memulai desain atau penambahan elemen visual. Mendefinisikan struktur konten adalah yang terpenting.</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4" name="Google Shape;384;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alasan - alasan mengapa Anda perlu mempunyai templat yang cukup seragam untuk studi kasus - studi kasus Anda, kecuali…</a:t>
            </a:r>
            <a:endParaRPr sz="1800">
              <a:solidFill>
                <a:schemeClr val="lt1"/>
              </a:solidFill>
              <a:latin typeface="Raleway Medium"/>
              <a:ea typeface="Raleway Medium"/>
              <a:cs typeface="Raleway Medium"/>
              <a:sym typeface="Raleway Medium"/>
            </a:endParaRPr>
          </a:p>
          <a:p>
            <a:pPr indent="0" lvl="0" marL="45720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Untuk memudahkan pembaca saat beralih dari satu studi kasus ke yang lainnya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a:t>
            </a:r>
            <a:r>
              <a:rPr lang="en" sz="1200">
                <a:solidFill>
                  <a:schemeClr val="lt1"/>
                </a:solidFill>
                <a:latin typeface="Raleway Medium"/>
                <a:ea typeface="Raleway Medium"/>
                <a:cs typeface="Raleway Medium"/>
                <a:sym typeface="Raleway Medium"/>
              </a:rPr>
              <a:t>ntuk memberikan rasa identitas (brand) pada tulisan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Untuk menunjukkan bahwa proyek - proyek Anda mengalami proses yang sama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0" name="Google Shape;390;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alasan - alasan mengapa Anda perlu mempunyai templat yang cukup seragam untuk studi kasus - studi kasus Anda, kecuali…</a:t>
            </a:r>
            <a:endParaRPr sz="1800">
              <a:solidFill>
                <a:schemeClr val="lt1"/>
              </a:solidFill>
              <a:latin typeface="Raleway Medium"/>
              <a:ea typeface="Raleway Medium"/>
              <a:cs typeface="Raleway Medium"/>
              <a:sym typeface="Raleway Medium"/>
            </a:endParaRPr>
          </a:p>
          <a:p>
            <a:pPr indent="0" lvl="0" marL="45720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Untuk memudahkan pembaca saat beralih dari satu studi kasus ke yang lainnya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Untuk memberikan rasa identitas (brand) pada tulisan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Untuk menunjukkan bahwa proyek - proyek Anda mengalami proses yang sama</a:t>
            </a:r>
            <a:endParaRPr b="1" sz="1200">
              <a:solidFill>
                <a:schemeClr val="lt1"/>
              </a:solidFill>
              <a:latin typeface="Raleway"/>
              <a:ea typeface="Raleway"/>
              <a:cs typeface="Raleway"/>
              <a:sym typeface="Raleway"/>
            </a:endParaRPr>
          </a:p>
        </p:txBody>
      </p:sp>
      <p:sp>
        <p:nvSpPr>
          <p:cNvPr id="391" name="Google Shape;391;p59"/>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Pendekatan content-first tidak mengharuskan konten sepenuhnya ditulis dan dipoles sebelum memulai desain atau penambahan elemen visual. Mendefinisikan struktur konten adalah yang terpenting.</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7" name="Google Shape;397;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Piramida Portofolio UX membantu Anda membangun portfolio UX Anda dengan…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Fokus maksimum dan gangguan maksimum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a:t>
            </a:r>
            <a:r>
              <a:rPr lang="en" sz="1200">
                <a:solidFill>
                  <a:schemeClr val="lt1"/>
                </a:solidFill>
                <a:latin typeface="Raleway Medium"/>
                <a:ea typeface="Raleway Medium"/>
                <a:cs typeface="Raleway Medium"/>
                <a:sym typeface="Raleway Medium"/>
              </a:rPr>
              <a:t>okus maksimum dan gangguan minimum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Fokus minimum dan gangguan maksimum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Fokus minimum dan gangguan minimum</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3" name="Google Shape;403;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 </a:t>
            </a:r>
            <a:r>
              <a:rPr b="1" lang="en" sz="1800">
                <a:solidFill>
                  <a:schemeClr val="lt1"/>
                </a:solidFill>
                <a:latin typeface="Raleway"/>
                <a:ea typeface="Raleway"/>
                <a:cs typeface="Raleway"/>
                <a:sym typeface="Raleway"/>
              </a:rPr>
              <a:t>Piramida Portofolio UX membantu Anda membangun </a:t>
            </a:r>
            <a:r>
              <a:rPr b="1" lang="en" sz="1800">
                <a:solidFill>
                  <a:schemeClr val="lt1"/>
                </a:solidFill>
                <a:latin typeface="Raleway"/>
                <a:ea typeface="Raleway"/>
                <a:cs typeface="Raleway"/>
                <a:sym typeface="Raleway"/>
              </a:rPr>
              <a:t>portfolio</a:t>
            </a:r>
            <a:r>
              <a:rPr b="1" lang="en" sz="1800">
                <a:solidFill>
                  <a:schemeClr val="lt1"/>
                </a:solidFill>
                <a:latin typeface="Raleway"/>
                <a:ea typeface="Raleway"/>
                <a:cs typeface="Raleway"/>
                <a:sym typeface="Raleway"/>
              </a:rPr>
              <a:t> UX Anda dengan…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Fokus maksimum dan gangguan maksimum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Fokus maksimum dan gangguan minimum</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Fokus minimum dan gangguan maksimum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Fokus minimum dan gangguan minimum</a:t>
            </a:r>
            <a:endParaRPr sz="1200">
              <a:solidFill>
                <a:srgbClr val="A667A5"/>
              </a:solidFill>
              <a:latin typeface="Raleway Medium"/>
              <a:ea typeface="Raleway Medium"/>
              <a:cs typeface="Raleway Medium"/>
              <a:sym typeface="Raleway Medium"/>
            </a:endParaRPr>
          </a:p>
        </p:txBody>
      </p:sp>
      <p:sp>
        <p:nvSpPr>
          <p:cNvPr id="404" name="Google Shape;404;p61"/>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UX Portfolio Pyramid helps you build your UX portfolio with maximum focus and minimum distractions</a:t>
            </a:r>
            <a:endParaRPr b="1" sz="1000">
              <a:solidFill>
                <a:srgbClr val="733572"/>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0" name="Google Shape;410;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Pada dasar Piramida UX Portfolio, Anda dapat menemukan…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Visuals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Packaging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Written Content</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6" name="Google Shape;416;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Pada dasar Piramida UX Portfolio, Anda dapat menemukan…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Visuals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Packaging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Written Content</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17" name="Google Shape;417;p63"/>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Kita perlu mengawali proses dengan written konten, lalu menambahkan visuals dan baru membungkus (package) konten dan visual kita dengan menarik.</a:t>
            </a:r>
            <a:endParaRPr b="1" sz="1000">
              <a:solidFill>
                <a:srgbClr val="733572"/>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3" name="Google Shape;423;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Berikut adalah beberapa platform dimana Anda dapat membuat portfolio berbasis web,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Wix</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Uxfolio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Cargo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Dreamweaver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9" name="Google Shape;429;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beberapa platform dimana Anda dapat membuat portfolio berbasis web,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Wix</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Uxfolio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Cargo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Dreamweaver</a:t>
            </a:r>
            <a:endParaRPr b="1" sz="1200">
              <a:solidFill>
                <a:schemeClr val="lt1"/>
              </a:solidFill>
              <a:latin typeface="Raleway"/>
              <a:ea typeface="Raleway"/>
              <a:cs typeface="Raleway"/>
              <a:sym typeface="Raleway"/>
            </a:endParaRPr>
          </a:p>
        </p:txBody>
      </p:sp>
      <p:sp>
        <p:nvSpPr>
          <p:cNvPr id="430" name="Google Shape;430;p65"/>
          <p:cNvSpPr/>
          <p:nvPr/>
        </p:nvSpPr>
        <p:spPr>
          <a:xfrm>
            <a:off x="685800" y="34149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Adobe Dreamweaver adalah program pembuatan situs web yang memungkinkan Anda membangun dan menerbitkan halaman web hampir di mana saja dengan perangkat lunak yang mendukung HTML, CSS, JavaScript, dan lainnya</a:t>
            </a:r>
            <a:endParaRPr b="1" sz="1000">
              <a:solidFill>
                <a:srgbClr val="733572"/>
              </a:solidFill>
              <a:latin typeface="Raleway"/>
              <a:ea typeface="Raleway"/>
              <a:cs typeface="Raleway"/>
              <a:sym typeface="Ralew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6" name="Google Shape;436;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7</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Website builders terbagi menjadi</a:t>
            </a:r>
            <a:r>
              <a:rPr b="1" lang="en" sz="1800">
                <a:solidFill>
                  <a:schemeClr val="lt1"/>
                </a:solidFill>
                <a:latin typeface="Raleway"/>
                <a:ea typeface="Raleway"/>
                <a:cs typeface="Raleway"/>
                <a:sym typeface="Raleway"/>
              </a:rPr>
              <a:t> dua kategori, salah satunya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alat kepemilikan online yang disediakan oleh perusahaan hosting web.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perangkat lunak online yang berjalan di komputer,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alat kepemilikan offline yang disediakan oleh perusahaan hosting web.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2" name="Google Shape;442;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7.</a:t>
            </a:r>
            <a:r>
              <a:rPr b="1" lang="en" sz="1800">
                <a:solidFill>
                  <a:schemeClr val="lt1"/>
                </a:solidFill>
                <a:latin typeface="Raleway"/>
                <a:ea typeface="Raleway"/>
                <a:cs typeface="Raleway"/>
                <a:sym typeface="Raleway"/>
              </a:rPr>
              <a:t> Website builders terbagi menjadi dua kategori, salah satunya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alat kepemilikan online yang disediakan oleh perusahaan hosting web.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perangkat lunak online yang berjalan di komputer,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alat kepemilikan offline yang disediakan oleh perusahaan hosting web. </a:t>
            </a:r>
            <a:endParaRPr sz="1200">
              <a:solidFill>
                <a:srgbClr val="A667A5"/>
              </a:solidFill>
              <a:latin typeface="Raleway Medium"/>
              <a:ea typeface="Raleway Medium"/>
              <a:cs typeface="Raleway Medium"/>
              <a:sym typeface="Raleway Medium"/>
            </a:endParaRPr>
          </a:p>
        </p:txBody>
      </p:sp>
      <p:sp>
        <p:nvSpPr>
          <p:cNvPr id="443" name="Google Shape;443;p67"/>
          <p:cNvSpPr/>
          <p:nvPr/>
        </p:nvSpPr>
        <p:spPr>
          <a:xfrm>
            <a:off x="685800" y="3262576"/>
            <a:ext cx="7772400" cy="1126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Website builders terbagi menjadi dua kategori: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1) alat kepemilikan online yang disediakan oleh  perusahaan hosting web. Ini biasanya ditujukan bagi   pengguna untuk membangun situs pribadi mereka.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2) perangkat lunak offline yang berjalan di komputer,  membuat halaman dan kemudian dapat menerbitkan halaman ini di host mana pun. (sering dianggap sebagai "perangkat lunak desain situs web", daripada "pembuat  situs web".)</a:t>
            </a:r>
            <a:endParaRPr b="1" sz="1000">
              <a:solidFill>
                <a:srgbClr val="733572"/>
              </a:solidFill>
              <a:latin typeface="Raleway"/>
              <a:ea typeface="Raleway"/>
              <a:cs typeface="Raleway"/>
              <a:sym typeface="Ralew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50" name="Google Shape;450;p6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51" name="Google Shape;451;p6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UX Design Portfolios by Nielsen Norman Group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5"/>
              </a:rPr>
              <a:t>Build a UX portfolio to land your dream UX job by UX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6"/>
              </a:rPr>
              <a:t>Beginner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7"/>
              </a:rPr>
              <a:t>The Best Free UX/UI Portfolio Websites to Use in 2022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8"/>
              </a:rPr>
              <a:t>     by CareerFoundry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9"/>
              </a:rPr>
              <a:t>UX Portfolio Case Study template (plus examples from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10"/>
              </a:rPr>
              <a:t>successful hires) by UX Design Mastery</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55" name="Shape 455"/>
        <p:cNvGrpSpPr/>
        <p:nvPr/>
      </p:nvGrpSpPr>
      <p:grpSpPr>
        <a:xfrm>
          <a:off x="0" y="0"/>
          <a:ext cx="0" cy="0"/>
          <a:chOff x="0" y="0"/>
          <a:chExt cx="0" cy="0"/>
        </a:xfrm>
      </p:grpSpPr>
      <p:sp>
        <p:nvSpPr>
          <p:cNvPr id="456" name="Google Shape;456;p6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7" name="Google Shape;457;p6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8" name="Google Shape;458;p6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9" name="Google Shape;459;p6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0" name="Google Shape;460;p6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61" name="Google Shape;461;p6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62" name="Google Shape;462;p6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63" name="Google Shape;463;p6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