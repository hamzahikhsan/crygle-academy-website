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Raleway"/>
      <p:regular r:id="rId46"/>
      <p:bold r:id="rId47"/>
      <p:italic r:id="rId48"/>
      <p:boldItalic r:id="rId49"/>
    </p:embeddedFont>
    <p:embeddedFont>
      <p:font typeface="Roboto Thin"/>
      <p:regular r:id="rId50"/>
      <p:bold r:id="rId51"/>
      <p:italic r:id="rId52"/>
      <p:boldItalic r:id="rId53"/>
    </p:embeddedFont>
    <p:embeddedFont>
      <p:font typeface="Roboto Medium"/>
      <p:regular r:id="rId54"/>
      <p:bold r:id="rId55"/>
      <p:italic r:id="rId56"/>
      <p:boldItalic r:id="rId57"/>
    </p:embeddedFont>
    <p:embeddedFont>
      <p:font typeface="Roboto"/>
      <p:regular r:id="rId58"/>
      <p:bold r:id="rId59"/>
      <p:italic r:id="rId60"/>
      <p:boldItalic r:id="rId61"/>
    </p:embeddedFont>
    <p:embeddedFont>
      <p:font typeface="Montserrat"/>
      <p:regular r:id="rId62"/>
      <p:bold r:id="rId63"/>
      <p:italic r:id="rId64"/>
      <p:boldItalic r:id="rId65"/>
    </p:embeddedFont>
    <p:embeddedFont>
      <p:font typeface="Lato Black"/>
      <p:bold r:id="rId66"/>
      <p:boldItalic r:id="rId67"/>
    </p:embeddedFont>
    <p:embeddedFont>
      <p:font typeface="Raleway Medium"/>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aleway-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italic.fntdata"/><Relationship Id="rId47" Type="http://schemas.openxmlformats.org/officeDocument/2006/relationships/font" Target="fonts/Raleway-bold.fntdata"/><Relationship Id="rId49"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alewayMedium-boldItalic.fntdata"/><Relationship Id="rId70" Type="http://schemas.openxmlformats.org/officeDocument/2006/relationships/font" Target="fonts/RalewayMedium-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regular.fntdata"/><Relationship Id="rId61" Type="http://schemas.openxmlformats.org/officeDocument/2006/relationships/font" Target="fonts/Roboto-boldItalic.fntdata"/><Relationship Id="rId20" Type="http://schemas.openxmlformats.org/officeDocument/2006/relationships/slide" Target="slides/slide15.xml"/><Relationship Id="rId64" Type="http://schemas.openxmlformats.org/officeDocument/2006/relationships/font" Target="fonts/Montserrat-italic.fntdata"/><Relationship Id="rId63" Type="http://schemas.openxmlformats.org/officeDocument/2006/relationships/font" Target="fonts/Montserrat-bold.fntdata"/><Relationship Id="rId22" Type="http://schemas.openxmlformats.org/officeDocument/2006/relationships/slide" Target="slides/slide17.xml"/><Relationship Id="rId66" Type="http://schemas.openxmlformats.org/officeDocument/2006/relationships/font" Target="fonts/LatoBlack-bold.fntdata"/><Relationship Id="rId21" Type="http://schemas.openxmlformats.org/officeDocument/2006/relationships/slide" Target="slides/slide16.xml"/><Relationship Id="rId65" Type="http://schemas.openxmlformats.org/officeDocument/2006/relationships/font" Target="fonts/Montserrat-boldItalic.fntdata"/><Relationship Id="rId24" Type="http://schemas.openxmlformats.org/officeDocument/2006/relationships/slide" Target="slides/slide19.xml"/><Relationship Id="rId68" Type="http://schemas.openxmlformats.org/officeDocument/2006/relationships/font" Target="fonts/RalewayMedium-regular.fntdata"/><Relationship Id="rId23" Type="http://schemas.openxmlformats.org/officeDocument/2006/relationships/slide" Target="slides/slide18.xml"/><Relationship Id="rId67" Type="http://schemas.openxmlformats.org/officeDocument/2006/relationships/font" Target="fonts/LatoBlack-boldItalic.fntdata"/><Relationship Id="rId60" Type="http://schemas.openxmlformats.org/officeDocument/2006/relationships/font" Target="fonts/Roboto-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Thin-bold.fntdata"/><Relationship Id="rId50" Type="http://schemas.openxmlformats.org/officeDocument/2006/relationships/font" Target="fonts/RobotoThin-regular.fntdata"/><Relationship Id="rId53" Type="http://schemas.openxmlformats.org/officeDocument/2006/relationships/font" Target="fonts/RobotoThin-boldItalic.fntdata"/><Relationship Id="rId52" Type="http://schemas.openxmlformats.org/officeDocument/2006/relationships/font" Target="fonts/RobotoThin-italic.fntdata"/><Relationship Id="rId11" Type="http://schemas.openxmlformats.org/officeDocument/2006/relationships/slide" Target="slides/slide6.xml"/><Relationship Id="rId55" Type="http://schemas.openxmlformats.org/officeDocument/2006/relationships/font" Target="fonts/RobotoMedium-bold.fntdata"/><Relationship Id="rId10" Type="http://schemas.openxmlformats.org/officeDocument/2006/relationships/slide" Target="slides/slide5.xml"/><Relationship Id="rId54" Type="http://schemas.openxmlformats.org/officeDocument/2006/relationships/font" Target="fonts/RobotoMedium-regular.fntdata"/><Relationship Id="rId13" Type="http://schemas.openxmlformats.org/officeDocument/2006/relationships/slide" Target="slides/slide8.xml"/><Relationship Id="rId57" Type="http://schemas.openxmlformats.org/officeDocument/2006/relationships/font" Target="fonts/RobotoMedium-boldItalic.fntdata"/><Relationship Id="rId12" Type="http://schemas.openxmlformats.org/officeDocument/2006/relationships/slide" Target="slides/slide7.xml"/><Relationship Id="rId56" Type="http://schemas.openxmlformats.org/officeDocument/2006/relationships/font" Target="fonts/RobotoMedium-italic.fntdata"/><Relationship Id="rId15" Type="http://schemas.openxmlformats.org/officeDocument/2006/relationships/slide" Target="slides/slide10.xml"/><Relationship Id="rId59" Type="http://schemas.openxmlformats.org/officeDocument/2006/relationships/font" Target="fonts/Roboto-bold.fntdata"/><Relationship Id="rId14" Type="http://schemas.openxmlformats.org/officeDocument/2006/relationships/slide" Target="slides/slide9.xml"/><Relationship Id="rId58" Type="http://schemas.openxmlformats.org/officeDocument/2006/relationships/font" Target="fonts/Robot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problem?utm_source=unsplash&amp;utm_medium=referral&amp;utm_content=creditCopyText" TargetMode="External"/><Relationship Id="rId5" Type="http://schemas.openxmlformats.org/officeDocument/2006/relationships/hyperlink" Target="https://unsplash.com/s/photos/problem?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oppyperfectionist?utm_source=unsplash&amp;utm_medium=referral&amp;utm_content=creditCopyText" TargetMode="External"/><Relationship Id="rId3" Type="http://schemas.openxmlformats.org/officeDocument/2006/relationships/hyperlink" Target="https://unsplash.com/@sloppyperfectionist?utm_source=unsplash&amp;utm_medium=referral&amp;utm_content=creditCopyText" TargetMode="External"/><Relationship Id="rId4" Type="http://schemas.openxmlformats.org/officeDocument/2006/relationships/hyperlink" Target="https://unsplash.com/s/photos/problem?utm_source=unsplash&amp;utm_medium=referral&amp;utm_content=creditCopyText" TargetMode="External"/><Relationship Id="rId5" Type="http://schemas.openxmlformats.org/officeDocument/2006/relationships/hyperlink" Target="https://unsplash.com/s/photos/problem?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problem?utm_source=unsplash&amp;utm_medium=referral&amp;utm_content=creditCopyText" TargetMode="External"/><Relationship Id="rId5" Type="http://schemas.openxmlformats.org/officeDocument/2006/relationships/hyperlink" Target="https://unsplash.com/s/photos/problem?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galeria?utm_source=unsplash&amp;utm_medium=referral&amp;utm_content=creditCopyText" TargetMode="External"/><Relationship Id="rId3" Type="http://schemas.openxmlformats.org/officeDocument/2006/relationships/hyperlink" Target="https://unsplash.com/@rgaleria?utm_source=unsplash&amp;utm_medium=referral&amp;utm_content=creditCopyText" TargetMode="External"/><Relationship Id="rId4" Type="http://schemas.openxmlformats.org/officeDocument/2006/relationships/hyperlink" Target="https://unsplash.com/s/photos/connect?utm_source=unsplash&amp;utm_medium=referral&amp;utm_content=creditCopyText" TargetMode="External"/><Relationship Id="rId5" Type="http://schemas.openxmlformats.org/officeDocument/2006/relationships/hyperlink" Target="https://unsplash.com/s/photos/connect?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ge2edgemedia?utm_source=unsplash&amp;utm_medium=referral&amp;utm_content=creditCopyText" TargetMode="External"/><Relationship Id="rId3" Type="http://schemas.openxmlformats.org/officeDocument/2006/relationships/hyperlink" Target="https://unsplash.com/@edge2edgemedia?utm_source=unsplash&amp;utm_medium=referral&amp;utm_content=creditCopyText" TargetMode="External"/><Relationship Id="rId4" Type="http://schemas.openxmlformats.org/officeDocument/2006/relationships/hyperlink" Target="https://unsplash.com/s/photos/problem-statement?utm_source=unsplash&amp;utm_medium=referral&amp;utm_content=creditCopyText" TargetMode="External"/><Relationship Id="rId5" Type="http://schemas.openxmlformats.org/officeDocument/2006/relationships/hyperlink" Target="https://unsplash.com/s/photos/problem-statement?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evhoein?utm_source=unsplash&amp;utm_medium=referral&amp;utm_content=creditCopyText" TargetMode="External"/><Relationship Id="rId3" Type="http://schemas.openxmlformats.org/officeDocument/2006/relationships/hyperlink" Target="https://unsplash.com/@sevhoein?utm_source=unsplash&amp;utm_medium=referral&amp;utm_content=creditCopyText" TargetMode="External"/><Relationship Id="rId4" Type="http://schemas.openxmlformats.org/officeDocument/2006/relationships/hyperlink" Target="https://unsplash.com/s/photos/guide?utm_source=unsplash&amp;utm_medium=referral&amp;utm_content=creditCopyText" TargetMode="External"/><Relationship Id="rId5" Type="http://schemas.openxmlformats.org/officeDocument/2006/relationships/hyperlink" Target="https://unsplash.com/s/photos/guide?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zzl?utm_source=unsplash&amp;utm_medium=referral&amp;utm_content=creditCopyText" TargetMode="Externa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ancotheshooter?utm_source=unsplash&amp;utm_medium=referral&amp;utm_content=creditCopyText" TargetMode="Externa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hyperlink" Target="https://unsplash.com/s/photos/eating-healthy?utm_source=unsplash&amp;utm_medium=referral&amp;utm_content=creditCopyText" TargetMode="External"/><Relationship Id="rId5" Type="http://schemas.openxmlformats.org/officeDocument/2006/relationships/hyperlink" Target="https://unsplash.com/s/photos/eating-healthy?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ancotheshooter?utm_source=unsplash&amp;utm_medium=referral&amp;utm_content=creditCopyText" TargetMode="Externa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hyperlink" Target="https://unsplash.com/s/photos/eating-healthy?utm_source=unsplash&amp;utm_medium=referral&amp;utm_content=creditCopyText" TargetMode="External"/><Relationship Id="rId5" Type="http://schemas.openxmlformats.org/officeDocument/2006/relationships/hyperlink" Target="https://unsplash.com/s/photos/eating-healthy?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ancotheshooter?utm_source=unsplash&amp;utm_medium=referral&amp;utm_content=creditCopyText" TargetMode="Externa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hyperlink" Target="https://unsplash.com/s/photos/eating-healthy?utm_source=unsplash&amp;utm_medium=referral&amp;utm_content=creditCopyText" TargetMode="External"/><Relationship Id="rId5" Type="http://schemas.openxmlformats.org/officeDocument/2006/relationships/hyperlink" Target="https://unsplash.com/s/photos/eating-healthy?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cospradobr?utm_source=unsplash&amp;utm_medium=referral&amp;utm_content=creditCopyText" TargetMode="External"/><Relationship Id="rId3" Type="http://schemas.openxmlformats.org/officeDocument/2006/relationships/hyperlink" Target="https://unsplash.com/@marcospradobr?utm_source=unsplash&amp;utm_medium=referral&amp;utm_content=creditCopyText" TargetMode="External"/><Relationship Id="rId4" Type="http://schemas.openxmlformats.org/officeDocument/2006/relationships/hyperlink" Target="https://unsplash.com/s/photos/diary?utm_source=unsplash&amp;utm_medium=referral&amp;utm_content=creditCopyText" TargetMode="External"/><Relationship Id="rId5" Type="http://schemas.openxmlformats.org/officeDocument/2006/relationships/hyperlink" Target="https://unsplash.com/s/photos/diary?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rlahrnndz?utm_source=unsplash&amp;utm_medium=referral&amp;utm_content=creditCopyText" TargetMode="External"/><Relationship Id="rId3" Type="http://schemas.openxmlformats.org/officeDocument/2006/relationships/hyperlink" Target="https://unsplash.com/@karlahrnndz?utm_source=unsplash&amp;utm_medium=referral&amp;utm_content=creditCopyText" TargetMode="External"/><Relationship Id="rId4" Type="http://schemas.openxmlformats.org/officeDocument/2006/relationships/hyperlink" Target="https://unsplash.com/s/photos/problem?utm_source=unsplash&amp;utm_medium=referral&amp;utm_content=creditCopyText" TargetMode="External"/><Relationship Id="rId5" Type="http://schemas.openxmlformats.org/officeDocument/2006/relationships/hyperlink" Target="https://unsplash.com/s/photos/problem?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0f7e77748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0f7e77748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0f8956bdb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0f8956bdb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0b249276f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0b249276f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0f7e77748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0f7e77748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Hans-Peter Gauster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f8956bdb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f8956bdb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0f670bd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0f670bd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Ricardo Gomez Angel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0b12bec4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0b12bec4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Edge2Edge Media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0f670bd1a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0f670bd1a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Severin Höin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0f670bd1a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0f670bd1a_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0f670bd1a_1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10f670bd1a_1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0f670bd1a_1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0f670bd1a_1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0f670bd1a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0f670bd1a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Marcel Strauß</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0f670bd1a_1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0f670bd1a_1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10f670bd1a_1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10f670bd1a_1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0f670bd1a_1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0f670bd1a_1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10f670bd1a_1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10f670bd1a_1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0f670bd1a_1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0f670bd1a_1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Franco DeBartolo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10f670bd1a_1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10f670bd1a_1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Franco DeBartolo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10f670bd1a_1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10f670bd1a_1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Franco DeBartolo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10f670bd1a_1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10f670bd1a_1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Marcos Paulo Prado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0f7e777481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0f7e777481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Karla Hernandez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10f670bd1a_1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10f670bd1a_1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0e8c3a84c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0e8c3a84c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10f670bd1a_1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10f670bd1a_1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10f670bd1a_1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10f670bd1a_1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0f670bd1a_1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0f670bd1a_1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10f670bd1a_1_1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10f670bd1a_1_1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10f670bd1a_1_1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10f670bd1a_1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10f670bd1a_1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10f670bd1a_1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0f670bd1a_1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0f670bd1a_1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0f670bd1a_1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10f670bd1a_1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12cd053b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12cd053b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sloppyperfectionist?utm_source=unsplash&amp;utm_medium=referral&amp;utm_content=creditCopyText" TargetMode="Externa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nsplash.com/@rgaleria?utm_source=unsplash&amp;utm_medium=referral&amp;utm_content=creditCopyText" TargetMode="Externa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nsplash.com/@edge2edgemedia?utm_source=unsplash&amp;utm_medium=referral&amp;utm_content=creditCopyText" TargetMode="Externa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nsplash.com/@sevhoein?utm_source=unsplash&amp;utm_medium=referral&amp;utm_content=creditCopyText" TargetMode="Externa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image" Target="../media/image1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unsplash.com/@marcospradobr?utm_source=unsplash&amp;utm_medium=referral&amp;utm_content=creditCopyText" TargetMode="External"/><Relationship Id="rId4"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unsplash.com/@karlahrnndz?utm_source=unsplash&amp;utm_medium=referral&amp;utm_content=creditCopyText" TargetMode="External"/><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7.jpg"/></Relationships>
</file>

<file path=ppt/slides/_rels/slide39.xml.rels><?xml version="1.0" encoding="UTF-8" standalone="yes"?><Relationships xmlns="http://schemas.openxmlformats.org/package/2006/relationships"><Relationship Id="rId11" Type="http://schemas.openxmlformats.org/officeDocument/2006/relationships/hyperlink" Target="https://careerfoundry.com/en/blog/ux-design/stage-two-design-thinking-define-the-problem" TargetMode="External"/><Relationship Id="rId10" Type="http://schemas.openxmlformats.org/officeDocument/2006/relationships/hyperlink" Target="https://www.interaction-design.org/literature/topics/defining-the-problem" TargetMode="External"/><Relationship Id="rId13" Type="http://schemas.openxmlformats.org/officeDocument/2006/relationships/hyperlink" Target="https://careerfoundry.com/en/blog/ux-design/stage-two-design-thinking-define-the-problem" TargetMode="External"/><Relationship Id="rId12" Type="http://schemas.openxmlformats.org/officeDocument/2006/relationships/hyperlink" Target="https://careerfoundry.com/en/blog/ux-design/stage-two-design-thinking-define-the-problem" TargetMode="External"/><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www.interaction-design.org/literature/topics/defining-the-problem"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article/5-stages-in-the-design-thinking-process" TargetMode="External"/><Relationship Id="rId7" Type="http://schemas.openxmlformats.org/officeDocument/2006/relationships/hyperlink" Target="https://www.interaction-design.org/literature/article/5-stages-in-the-design-thinking-process" TargetMode="External"/><Relationship Id="rId8" Type="http://schemas.openxmlformats.org/officeDocument/2006/relationships/hyperlink" Target="https://www.interaction-design.org/literature/topics/defining-the-proble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7" name="Shape 77"/>
        <p:cNvGrpSpPr/>
        <p:nvPr/>
      </p:nvGrpSpPr>
      <p:grpSpPr>
        <a:xfrm>
          <a:off x="0" y="0"/>
          <a:ext cx="0" cy="0"/>
          <a:chOff x="0" y="0"/>
          <a:chExt cx="0" cy="0"/>
        </a:xfrm>
      </p:grpSpPr>
      <p:sp>
        <p:nvSpPr>
          <p:cNvPr id="78" name="Google Shape;78;p15"/>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Define Pt 1</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3 - Topic 1</a:t>
            </a:r>
            <a:endParaRPr b="1">
              <a:solidFill>
                <a:srgbClr val="FFFFFF"/>
              </a:solidFill>
              <a:latin typeface="Raleway"/>
              <a:ea typeface="Raleway"/>
              <a:cs typeface="Raleway"/>
              <a:sym typeface="Raleway"/>
            </a:endParaRPr>
          </a:p>
        </p:txBody>
      </p:sp>
      <p:cxnSp>
        <p:nvCxnSpPr>
          <p:cNvPr id="79" name="Google Shape;79;p15"/>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0" name="Google Shape;80;p15"/>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1" name="Google Shape;81;p15"/>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 name="Google Shape;87;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88" name="Google Shape;88;p1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9" name="Google Shape;89;p16"/>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 Define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Defining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dk1"/>
                </a:solidFill>
                <a:latin typeface="Raleway Medium"/>
                <a:ea typeface="Raleway Medium"/>
                <a:cs typeface="Raleway Medium"/>
                <a:sym typeface="Raleway Medium"/>
              </a:rPr>
              <a:t>Mengapa fase defining penting?</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dk1"/>
                </a:solidFill>
                <a:latin typeface="Raleway Medium"/>
                <a:ea typeface="Raleway Medium"/>
                <a:cs typeface="Raleway Medium"/>
                <a:sym typeface="Raleway Medium"/>
              </a:rPr>
              <a:t>Kegiatan pada fase defining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 name="Google Shape;95;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96" name="Google Shape;96;p1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Thinking menangani masalah kompleks dengan: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Empathizing: Memahami kebutuhan manusia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yang terlibat.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b="1" lang="en" sz="1200">
                <a:solidFill>
                  <a:schemeClr val="dk1"/>
                </a:solidFill>
                <a:latin typeface="Raleway"/>
                <a:ea typeface="Raleway"/>
                <a:cs typeface="Raleway"/>
                <a:sym typeface="Raleway"/>
              </a:rPr>
              <a:t>Defining: Membingkai ulang dan mendefinisikan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    masalah dengan cara yang berpusat pada manusia.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Ideating: Menciptakan banyak ide dalam sesi ideation.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Prototyping: Mengadopsi pendekatan langsung dalam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pembuatan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Testing / Pengujian: Mengembangkan prototipe atau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solusi yang dapat diuji untuk masalah tersebut.</a:t>
            </a:r>
            <a:endParaRPr sz="1200">
              <a:solidFill>
                <a:schemeClr val="dk1"/>
              </a:solidFill>
              <a:latin typeface="Raleway Medium"/>
              <a:ea typeface="Raleway Medium"/>
              <a:cs typeface="Raleway Medium"/>
              <a:sym typeface="Raleway Medium"/>
            </a:endParaRPr>
          </a:p>
        </p:txBody>
      </p:sp>
      <p:pic>
        <p:nvPicPr>
          <p:cNvPr id="97" name="Google Shape;97;p17"/>
          <p:cNvPicPr preferRelativeResize="0"/>
          <p:nvPr/>
        </p:nvPicPr>
        <p:blipFill rotWithShape="1">
          <a:blip r:embed="rId3">
            <a:alphaModFix/>
          </a:blip>
          <a:srcRect b="0" l="5476" r="5467" t="0"/>
          <a:stretch/>
        </p:blipFill>
        <p:spPr>
          <a:xfrm>
            <a:off x="5486400" y="1207587"/>
            <a:ext cx="3017518"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Apa itu Defining?</a:t>
            </a:r>
            <a:endParaRPr>
              <a:solidFill>
                <a:srgbClr val="F2AB2F"/>
              </a:solidFill>
            </a:endParaRPr>
          </a:p>
        </p:txBody>
      </p:sp>
      <p:sp>
        <p:nvSpPr>
          <p:cNvPr id="103" name="Google Shape;103;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 name="Google Shape;109;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Defining</a:t>
            </a:r>
            <a:endParaRPr/>
          </a:p>
        </p:txBody>
      </p:sp>
      <p:sp>
        <p:nvSpPr>
          <p:cNvPr id="110" name="Google Shape;110;p1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Selama tahap Define, Anda mengumpulkan informasi yang telah Anda buat dan kumpulkan selama tahap Empathize.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sinilah Anda akan menganalisis pengamatan Anda dan mensintesisnya untuk menentukan masalah inti apa yang telah teridentifikasi. Anda harus berusaha untuk mendefinisikan masalah sebagai pernyataan masalah dengan cara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fase ini adalah </a:t>
            </a:r>
            <a:r>
              <a:rPr b="1" lang="en" sz="1200">
                <a:solidFill>
                  <a:schemeClr val="dk1"/>
                </a:solidFill>
                <a:latin typeface="Raleway"/>
                <a:ea typeface="Raleway"/>
                <a:cs typeface="Raleway"/>
                <a:sym typeface="Raleway"/>
              </a:rPr>
              <a:t>mengumpulkan inspirasi: </a:t>
            </a:r>
            <a:r>
              <a:rPr lang="en" sz="1200">
                <a:solidFill>
                  <a:schemeClr val="dk1"/>
                </a:solidFill>
                <a:latin typeface="Raleway Medium"/>
                <a:ea typeface="Raleway Medium"/>
                <a:cs typeface="Raleway Medium"/>
                <a:sym typeface="Raleway Medium"/>
              </a:rPr>
              <a:t>memikirkan hal - hal baru dan menemukan apa yang benar-benar dibutuhkan pengguna.</a:t>
            </a:r>
            <a:endParaRPr sz="1200">
              <a:solidFill>
                <a:schemeClr val="dk1"/>
              </a:solidFill>
              <a:latin typeface="Raleway Medium"/>
              <a:ea typeface="Raleway Medium"/>
              <a:cs typeface="Raleway Medium"/>
              <a:sym typeface="Raleway Medium"/>
            </a:endParaRPr>
          </a:p>
        </p:txBody>
      </p:sp>
      <p:pic>
        <p:nvPicPr>
          <p:cNvPr id="111" name="Google Shape;111;p19"/>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Defining</a:t>
            </a:r>
            <a:endParaRPr/>
          </a:p>
        </p:txBody>
      </p:sp>
      <p:sp>
        <p:nvSpPr>
          <p:cNvPr id="118" name="Google Shape;118;p2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Defining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Proses defining bermulai dari menyatukan informasi yang dikumpulkan pada tahap pertama (empathizing -&gt; research), dan dilanjutkan dengan mendefinisikan pernyataan masalah (problem statement) dengan jelas.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Seperti yang telah kita bahas chapter sebelumnya, pernyataan masalah adalah deskripsi singkat tentang masalah yang harus ditangani atau kondisi yang harus diperbaiki.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Pernyataan masalah mengidentifikasi kesenjangan antara keadaan saat ini dan tujuan yang diinginkan dari suatu proses atau produk / layanan.</a:t>
            </a:r>
            <a:endParaRPr sz="1200">
              <a:solidFill>
                <a:schemeClr val="dk1"/>
              </a:solidFill>
              <a:latin typeface="Raleway Medium"/>
              <a:ea typeface="Raleway Medium"/>
              <a:cs typeface="Raleway Medium"/>
              <a:sym typeface="Raleway Medium"/>
            </a:endParaRPr>
          </a:p>
        </p:txBody>
      </p:sp>
      <p:pic>
        <p:nvPicPr>
          <p:cNvPr id="119" name="Google Shape;119;p20">
            <a:hlinkClick r:id="rId3"/>
          </p:cNvPr>
          <p:cNvPicPr preferRelativeResize="0"/>
          <p:nvPr/>
        </p:nvPicPr>
        <p:blipFill rotWithShape="1">
          <a:blip r:embed="rId4">
            <a:alphaModFix/>
          </a:blip>
          <a:srcRect b="0" l="13343" r="13343" t="0"/>
          <a:stretch/>
        </p:blipFill>
        <p:spPr>
          <a:xfrm>
            <a:off x="5638800" y="1359987"/>
            <a:ext cx="3017513"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Mengapa fase </a:t>
            </a:r>
            <a:r>
              <a:rPr lang="en">
                <a:solidFill>
                  <a:srgbClr val="F2AB2F"/>
                </a:solidFill>
              </a:rPr>
              <a:t>defining</a:t>
            </a:r>
            <a:r>
              <a:rPr lang="en"/>
              <a:t> penting?</a:t>
            </a:r>
            <a:endParaRPr>
              <a:solidFill>
                <a:srgbClr val="F2AB2F"/>
              </a:solidFill>
            </a:endParaRPr>
          </a:p>
        </p:txBody>
      </p:sp>
      <p:sp>
        <p:nvSpPr>
          <p:cNvPr id="125" name="Google Shape;125;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1" name="Google Shape;131;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defining penting?</a:t>
            </a:r>
            <a:endParaRPr/>
          </a:p>
        </p:txBody>
      </p:sp>
      <p:sp>
        <p:nvSpPr>
          <p:cNvPr id="132" name="Google Shape;132;p2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Mengapa defining penting?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Proses defining akan membantu para desainer mengumpulkan ide - ide hebat untuk membangun fitur, fungsi, atau elemen desain yang memungkinkan mereka menyelesaikan masalah atau, paling tidak, memungkinkan pengguna menyelesaikan sendiri masalah dengan kesulitan minimal.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Fase define memastikan Anda sepenuhnya memahami tujuan proyek desain Anda, membantu Anda untuk mengartikulasikan masalah desain Anda, dan memberikan tujuan yang jelas untuk dikerjakan.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133" name="Google Shape;133;p22">
            <a:hlinkClick r:id="rId3"/>
          </p:cNvPr>
          <p:cNvPicPr preferRelativeResize="0"/>
          <p:nvPr/>
        </p:nvPicPr>
        <p:blipFill rotWithShape="1">
          <a:blip r:embed="rId4">
            <a:alphaModFix/>
          </a:blip>
          <a:srcRect b="0" l="13262" r="13262" t="0"/>
          <a:stretch/>
        </p:blipFill>
        <p:spPr>
          <a:xfrm>
            <a:off x="5638800" y="1359987"/>
            <a:ext cx="3017513" cy="27431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 name="Google Shape;139;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defining penting?</a:t>
            </a:r>
            <a:endParaRPr/>
          </a:p>
        </p:txBody>
      </p:sp>
      <p:sp>
        <p:nvSpPr>
          <p:cNvPr id="140" name="Google Shape;140;p23"/>
          <p:cNvSpPr txBox="1"/>
          <p:nvPr/>
        </p:nvSpPr>
        <p:spPr>
          <a:xfrm>
            <a:off x="685800" y="971547"/>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Mengapa problem statement sangatlah penting dalam fase Define?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Pernyataan atau pernyataan masalah yang bermakna dapat mengarahkan Anda ke arah yang benar, membantu Anda memulai proses ideation (fase ketiga dari proses Design Thinking) dan menyusun solusi.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Tanpa pernyataan masalah yang terdefinisi dengan baik, sulit untuk mengetahui apa yang Anda tuju. Pekerjaan Anda akan kurang fokus, dan desain akhir akan terganggu. Tidak hanya itu: dengan tidak adanya pernyataan masalah yang jelas, sangat sulit untuk menjelaskan kepada pemangku kepentingan dan anggota tim apa yang ingin Anda capai.</a:t>
            </a:r>
            <a:endParaRPr sz="1200">
              <a:solidFill>
                <a:schemeClr val="dk1"/>
              </a:solidFill>
              <a:latin typeface="Raleway Medium"/>
              <a:ea typeface="Raleway Medium"/>
              <a:cs typeface="Raleway Medium"/>
              <a:sym typeface="Raleway Medium"/>
            </a:endParaRPr>
          </a:p>
        </p:txBody>
      </p:sp>
      <p:pic>
        <p:nvPicPr>
          <p:cNvPr id="141" name="Google Shape;141;p23">
            <a:hlinkClick r:id="rId3"/>
          </p:cNvPr>
          <p:cNvPicPr preferRelativeResize="0"/>
          <p:nvPr/>
        </p:nvPicPr>
        <p:blipFill rotWithShape="1">
          <a:blip r:embed="rId4">
            <a:alphaModFix/>
          </a:blip>
          <a:srcRect b="0" l="26578" r="0" t="0"/>
          <a:stretch/>
        </p:blipFill>
        <p:spPr>
          <a:xfrm>
            <a:off x="5638800" y="1359987"/>
            <a:ext cx="3017513"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Kegiatan pada fase defining</a:t>
            </a:r>
            <a:endParaRPr/>
          </a:p>
        </p:txBody>
      </p:sp>
      <p:sp>
        <p:nvSpPr>
          <p:cNvPr id="147" name="Google Shape;147;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5">
            <a:hlinkClick r:id="rId3"/>
          </p:cNvPr>
          <p:cNvPicPr preferRelativeResize="0"/>
          <p:nvPr/>
        </p:nvPicPr>
        <p:blipFill rotWithShape="1">
          <a:blip r:embed="rId4">
            <a:alphaModFix/>
          </a:blip>
          <a:srcRect b="0" l="19596" r="10365" t="0"/>
          <a:stretch/>
        </p:blipFill>
        <p:spPr>
          <a:xfrm>
            <a:off x="5486400" y="1280150"/>
            <a:ext cx="3017523" cy="2743199"/>
          </a:xfrm>
          <a:prstGeom prst="rect">
            <a:avLst/>
          </a:prstGeom>
          <a:noFill/>
          <a:ln>
            <a:noFill/>
          </a:ln>
        </p:spPr>
      </p:pic>
      <p:sp>
        <p:nvSpPr>
          <p:cNvPr id="153" name="Google Shape;153;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4" name="Google Shape;154;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155" name="Google Shape;155;p2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Hubungan fase empathizing dan defining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fase empathizing, kita telah melakukan analisis untuk memecah semua yang telah diamati dan temukan tentang pengguna menjadi komponen - komponen yang lebih kecil dan lebih mudah dikelola—misalnya, membagi tindakan dan perilaku pengguna ke dalam kategori "apa", "mengapa", dan "bagaimana".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fase defining, kita menyatukan kembali komponen-komponen ini, mensintesis temuan tersebut untuk membuat gambaran keseluruhan yang mendetail.</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6">
            <a:hlinkClick r:id="rId3"/>
          </p:cNvPr>
          <p:cNvPicPr preferRelativeResize="0"/>
          <p:nvPr/>
        </p:nvPicPr>
        <p:blipFill rotWithShape="1">
          <a:blip r:embed="rId4">
            <a:alphaModFix/>
          </a:blip>
          <a:srcRect b="0" l="13476" r="13476" t="0"/>
          <a:stretch/>
        </p:blipFill>
        <p:spPr>
          <a:xfrm>
            <a:off x="5486400" y="1280150"/>
            <a:ext cx="3017523" cy="2743198"/>
          </a:xfrm>
          <a:prstGeom prst="rect">
            <a:avLst/>
          </a:prstGeom>
          <a:noFill/>
          <a:ln>
            <a:noFill/>
          </a:ln>
        </p:spPr>
      </p:pic>
      <p:sp>
        <p:nvSpPr>
          <p:cNvPr id="161" name="Google Shape;161;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163" name="Google Shape;163;p2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Kegiatan pada fase defining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Sebagai langkah kedua dalam proses Design Thinking, fase define didedikasikan untuk mendefinisikan masalah: masalah apa yang akan Anda coba selesaikan? Dengan kata lain, apa tantangan desain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Karena kita telah menelaah cara menyusun pernyataan masalah minggu lalu, mari kita telaah seperti apakah pernyataan yang baik itu.</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7">
            <a:hlinkClick r:id="rId3"/>
          </p:cNvPr>
          <p:cNvPicPr preferRelativeResize="0"/>
          <p:nvPr/>
        </p:nvPicPr>
        <p:blipFill rotWithShape="1">
          <a:blip r:embed="rId4">
            <a:alphaModFix/>
          </a:blip>
          <a:srcRect b="19704" l="0" r="0" t="19704"/>
          <a:stretch/>
        </p:blipFill>
        <p:spPr>
          <a:xfrm>
            <a:off x="5486400" y="1280150"/>
            <a:ext cx="3017524" cy="2743199"/>
          </a:xfrm>
          <a:prstGeom prst="rect">
            <a:avLst/>
          </a:prstGeom>
          <a:noFill/>
          <a:ln>
            <a:noFill/>
          </a:ln>
        </p:spPr>
      </p:pic>
      <p:sp>
        <p:nvSpPr>
          <p:cNvPr id="169" name="Google Shape;169;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171" name="Google Shape;171;p2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a:t>
            </a:r>
            <a:r>
              <a:rPr b="1" lang="en" sz="1800">
                <a:solidFill>
                  <a:srgbClr val="743673"/>
                </a:solidFill>
                <a:highlight>
                  <a:schemeClr val="lt1"/>
                </a:highlight>
                <a:latin typeface="Raleway"/>
                <a:ea typeface="Raleway"/>
                <a:cs typeface="Raleway"/>
                <a:sym typeface="Raleway"/>
              </a:rPr>
              <a:t>ernyataan</a:t>
            </a:r>
            <a:r>
              <a:rPr b="1" lang="en" sz="1800">
                <a:solidFill>
                  <a:srgbClr val="743673"/>
                </a:solidFill>
                <a:highlight>
                  <a:schemeClr val="lt1"/>
                </a:highlight>
                <a:latin typeface="Raleway"/>
                <a:ea typeface="Raleway"/>
                <a:cs typeface="Raleway"/>
                <a:sym typeface="Raleway"/>
              </a:rPr>
              <a:t> masalah yang baik</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Pernyataan masalah yang baik haruslah berpusat pada manusia dan berfokus pada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Berdasarkan wawasan yang Anda kumpulkan dalam fase empati, pernyataan masalah berfokus pada pengguna dan kebutuhan mereka—bukan pada spesifikasi produk atau hasil bisnis.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Berikut adalah beberapa petunjuk yang akan membantu Anda membuat pernyataan masalah yang bermakna: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grpSp>
        <p:nvGrpSpPr>
          <p:cNvPr id="178" name="Google Shape;178;p28"/>
          <p:cNvGrpSpPr/>
          <p:nvPr/>
        </p:nvGrpSpPr>
        <p:grpSpPr>
          <a:xfrm>
            <a:off x="762048" y="1099443"/>
            <a:ext cx="2390497" cy="3393161"/>
            <a:chOff x="1126863" y="2013875"/>
            <a:chExt cx="1944600" cy="1569600"/>
          </a:xfrm>
        </p:grpSpPr>
        <p:sp>
          <p:nvSpPr>
            <p:cNvPr id="179" name="Google Shape;179;p28"/>
            <p:cNvSpPr/>
            <p:nvPr/>
          </p:nvSpPr>
          <p:spPr>
            <a:xfrm>
              <a:off x="1126863" y="2013875"/>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80" name="Google Shape;180;p28"/>
            <p:cNvSpPr txBox="1"/>
            <p:nvPr/>
          </p:nvSpPr>
          <p:spPr>
            <a:xfrm>
              <a:off x="1351627" y="2124400"/>
              <a:ext cx="1451700" cy="24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Fokus kepada pengguna</a:t>
              </a:r>
              <a:endParaRPr sz="1100">
                <a:solidFill>
                  <a:srgbClr val="FFFFFF"/>
                </a:solidFill>
                <a:latin typeface="Raleway"/>
                <a:ea typeface="Raleway"/>
                <a:cs typeface="Raleway"/>
                <a:sym typeface="Raleway"/>
              </a:endParaRPr>
            </a:p>
          </p:txBody>
        </p:sp>
        <p:sp>
          <p:nvSpPr>
            <p:cNvPr id="181" name="Google Shape;181;p28"/>
            <p:cNvSpPr txBox="1"/>
            <p:nvPr/>
          </p:nvSpPr>
          <p:spPr>
            <a:xfrm>
              <a:off x="1351625" y="2384804"/>
              <a:ext cx="1451700" cy="110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50">
                  <a:solidFill>
                    <a:srgbClr val="FFFFFF"/>
                  </a:solidFill>
                  <a:latin typeface="Raleway"/>
                  <a:ea typeface="Raleway"/>
                  <a:cs typeface="Raleway"/>
                  <a:sym typeface="Raleway"/>
                </a:rPr>
                <a:t>Pengguna dan kebutuhan mereka harus berada di depan dan di tengah pernyataan masalah Anda. Hindari pernyataan yang dimulai dengan “kita perlu…” atau “produk harus”, </a:t>
              </a:r>
              <a:r>
                <a:rPr lang="en" sz="1050">
                  <a:solidFill>
                    <a:srgbClr val="FFFFFF"/>
                  </a:solidFill>
                  <a:latin typeface="Raleway"/>
                  <a:ea typeface="Raleway"/>
                  <a:cs typeface="Raleway"/>
                  <a:sym typeface="Raleway"/>
                </a:rPr>
                <a:t>berkonsentrasilah</a:t>
              </a:r>
              <a:r>
                <a:rPr lang="en" sz="1050">
                  <a:solidFill>
                    <a:srgbClr val="FFFFFF"/>
                  </a:solidFill>
                  <a:latin typeface="Raleway"/>
                  <a:ea typeface="Raleway"/>
                  <a:cs typeface="Raleway"/>
                  <a:sym typeface="Raleway"/>
                </a:rPr>
                <a:t> pada perspektif pengguna seperti “Pegawai swasta yang bekerja membutuhkan…”</a:t>
              </a:r>
              <a:endParaRPr sz="1050">
                <a:solidFill>
                  <a:srgbClr val="FFFFFF"/>
                </a:solidFill>
                <a:latin typeface="Raleway"/>
                <a:ea typeface="Raleway"/>
                <a:cs typeface="Raleway"/>
                <a:sym typeface="Raleway"/>
              </a:endParaRPr>
            </a:p>
          </p:txBody>
        </p:sp>
      </p:grpSp>
      <p:grpSp>
        <p:nvGrpSpPr>
          <p:cNvPr id="182" name="Google Shape;182;p28"/>
          <p:cNvGrpSpPr/>
          <p:nvPr/>
        </p:nvGrpSpPr>
        <p:grpSpPr>
          <a:xfrm>
            <a:off x="3024478" y="1845248"/>
            <a:ext cx="260366" cy="282475"/>
            <a:chOff x="3157188" y="909150"/>
            <a:chExt cx="470400" cy="470400"/>
          </a:xfrm>
        </p:grpSpPr>
        <p:sp>
          <p:nvSpPr>
            <p:cNvPr id="183" name="Google Shape;183;p28"/>
            <p:cNvSpPr/>
            <p:nvPr/>
          </p:nvSpPr>
          <p:spPr>
            <a:xfrm>
              <a:off x="3157188" y="909150"/>
              <a:ext cx="470400" cy="4704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84" name="Google Shape;184;p28"/>
            <p:cNvSpPr/>
            <p:nvPr/>
          </p:nvSpPr>
          <p:spPr>
            <a:xfrm>
              <a:off x="3243138" y="995100"/>
              <a:ext cx="298500" cy="298500"/>
            </a:xfrm>
            <a:prstGeom prst="mathPlus">
              <a:avLst>
                <a:gd fmla="val 9900" name="adj1"/>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0" name="Google Shape;190;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grpSp>
        <p:nvGrpSpPr>
          <p:cNvPr id="191" name="Google Shape;191;p29"/>
          <p:cNvGrpSpPr/>
          <p:nvPr/>
        </p:nvGrpSpPr>
        <p:grpSpPr>
          <a:xfrm>
            <a:off x="3150108" y="1099591"/>
            <a:ext cx="2183980" cy="3393161"/>
            <a:chOff x="3071457" y="2013875"/>
            <a:chExt cx="1944600" cy="1569600"/>
          </a:xfrm>
        </p:grpSpPr>
        <p:sp>
          <p:nvSpPr>
            <p:cNvPr id="192" name="Google Shape;192;p29"/>
            <p:cNvSpPr/>
            <p:nvPr/>
          </p:nvSpPr>
          <p:spPr>
            <a:xfrm flipH="1" rot="10800000">
              <a:off x="3071457" y="2013875"/>
              <a:ext cx="1944600" cy="1569600"/>
            </a:xfrm>
            <a:prstGeom prst="round2DiagRect">
              <a:avLst>
                <a:gd fmla="val 0" name="adj1"/>
                <a:gd fmla="val 17764" name="adj2"/>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93" name="Google Shape;193;p29"/>
            <p:cNvSpPr txBox="1"/>
            <p:nvPr/>
          </p:nvSpPr>
          <p:spPr>
            <a:xfrm>
              <a:off x="3316102" y="2122781"/>
              <a:ext cx="1451700" cy="2421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Buatlah pernyataan yang luas</a:t>
              </a:r>
              <a:endParaRPr sz="1100">
                <a:solidFill>
                  <a:srgbClr val="FFFFFF"/>
                </a:solidFill>
                <a:latin typeface="Raleway"/>
                <a:ea typeface="Raleway"/>
                <a:cs typeface="Raleway"/>
                <a:sym typeface="Raleway"/>
              </a:endParaRPr>
            </a:p>
          </p:txBody>
        </p:sp>
        <p:sp>
          <p:nvSpPr>
            <p:cNvPr id="194" name="Google Shape;194;p29"/>
            <p:cNvSpPr txBox="1"/>
            <p:nvPr/>
          </p:nvSpPr>
          <p:spPr>
            <a:xfrm>
              <a:off x="3316100" y="2385029"/>
              <a:ext cx="1451700" cy="10572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00">
                  <a:solidFill>
                    <a:srgbClr val="FFFFFF"/>
                  </a:solidFill>
                  <a:latin typeface="Raleway"/>
                  <a:ea typeface="Raleway"/>
                  <a:cs typeface="Raleway"/>
                  <a:sym typeface="Raleway"/>
                </a:rPr>
                <a:t>Pernyataan masalah yang baik menyisakan ruang untuk inovasi dan kebebasan kreatif. Penting untuk membuatnya cukup luas untuk mengundang berbagai ide yang berbeda; menghindari referensi ke solusi khusus atau persyaratan teknis.</a:t>
              </a:r>
              <a:endParaRPr sz="1000">
                <a:solidFill>
                  <a:srgbClr val="FFFFFF"/>
                </a:solidFill>
                <a:latin typeface="Raleway"/>
                <a:ea typeface="Raleway"/>
                <a:cs typeface="Raleway"/>
                <a:sym typeface="Raleway"/>
              </a:endParaRPr>
            </a:p>
          </p:txBody>
        </p:sp>
      </p:grpSp>
      <p:grpSp>
        <p:nvGrpSpPr>
          <p:cNvPr id="195" name="Google Shape;195;p29"/>
          <p:cNvGrpSpPr/>
          <p:nvPr/>
        </p:nvGrpSpPr>
        <p:grpSpPr>
          <a:xfrm>
            <a:off x="762048" y="1099443"/>
            <a:ext cx="2390497" cy="3393161"/>
            <a:chOff x="1126863" y="2013875"/>
            <a:chExt cx="1944600" cy="1569600"/>
          </a:xfrm>
        </p:grpSpPr>
        <p:sp>
          <p:nvSpPr>
            <p:cNvPr id="196" name="Google Shape;196;p29"/>
            <p:cNvSpPr/>
            <p:nvPr/>
          </p:nvSpPr>
          <p:spPr>
            <a:xfrm>
              <a:off x="1126863" y="2013875"/>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97" name="Google Shape;197;p29"/>
            <p:cNvSpPr txBox="1"/>
            <p:nvPr/>
          </p:nvSpPr>
          <p:spPr>
            <a:xfrm>
              <a:off x="1351627" y="2124400"/>
              <a:ext cx="1451700" cy="24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Fokus kepada pengguna</a:t>
              </a:r>
              <a:endParaRPr sz="1100">
                <a:solidFill>
                  <a:srgbClr val="FFFFFF"/>
                </a:solidFill>
                <a:latin typeface="Raleway"/>
                <a:ea typeface="Raleway"/>
                <a:cs typeface="Raleway"/>
                <a:sym typeface="Raleway"/>
              </a:endParaRPr>
            </a:p>
          </p:txBody>
        </p:sp>
        <p:sp>
          <p:nvSpPr>
            <p:cNvPr id="198" name="Google Shape;198;p29"/>
            <p:cNvSpPr txBox="1"/>
            <p:nvPr/>
          </p:nvSpPr>
          <p:spPr>
            <a:xfrm>
              <a:off x="1351625" y="2384804"/>
              <a:ext cx="1451700" cy="110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50">
                  <a:solidFill>
                    <a:srgbClr val="FFFFFF"/>
                  </a:solidFill>
                  <a:latin typeface="Raleway"/>
                  <a:ea typeface="Raleway"/>
                  <a:cs typeface="Raleway"/>
                  <a:sym typeface="Raleway"/>
                </a:rPr>
                <a:t>Pengguna dan kebutuhan mereka harus berada di depan dan di tengah pernyataan masalah Anda. Hindari pernyataan yang dimulai dengan “kita perlu…” atau “produk harus”, berkonsentrasilah pada perspektif pengguna seperti “Pegawai swasta yang bekerja membutuhkan…”</a:t>
              </a:r>
              <a:endParaRPr sz="1050">
                <a:solidFill>
                  <a:srgbClr val="FFFFFF"/>
                </a:solidFill>
                <a:latin typeface="Raleway"/>
                <a:ea typeface="Raleway"/>
                <a:cs typeface="Raleway"/>
                <a:sym typeface="Raleway"/>
              </a:endParaRPr>
            </a:p>
          </p:txBody>
        </p:sp>
      </p:grpSp>
      <p:grpSp>
        <p:nvGrpSpPr>
          <p:cNvPr id="199" name="Google Shape;199;p29"/>
          <p:cNvGrpSpPr/>
          <p:nvPr/>
        </p:nvGrpSpPr>
        <p:grpSpPr>
          <a:xfrm>
            <a:off x="3024478" y="1845248"/>
            <a:ext cx="260366" cy="282475"/>
            <a:chOff x="3157188" y="909150"/>
            <a:chExt cx="470400" cy="470400"/>
          </a:xfrm>
        </p:grpSpPr>
        <p:sp>
          <p:nvSpPr>
            <p:cNvPr id="200" name="Google Shape;200;p29"/>
            <p:cNvSpPr/>
            <p:nvPr/>
          </p:nvSpPr>
          <p:spPr>
            <a:xfrm>
              <a:off x="3157188" y="909150"/>
              <a:ext cx="470400" cy="4704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01" name="Google Shape;201;p29"/>
            <p:cNvSpPr/>
            <p:nvPr/>
          </p:nvSpPr>
          <p:spPr>
            <a:xfrm>
              <a:off x="3243138" y="995100"/>
              <a:ext cx="298500" cy="298500"/>
            </a:xfrm>
            <a:prstGeom prst="mathPlus">
              <a:avLst>
                <a:gd fmla="val 9900" name="adj1"/>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grpSp>
        <p:nvGrpSpPr>
          <p:cNvPr id="208" name="Google Shape;208;p30"/>
          <p:cNvGrpSpPr/>
          <p:nvPr/>
        </p:nvGrpSpPr>
        <p:grpSpPr>
          <a:xfrm>
            <a:off x="3150108" y="1099591"/>
            <a:ext cx="2183980" cy="3393161"/>
            <a:chOff x="3071457" y="2013875"/>
            <a:chExt cx="1944600" cy="1569600"/>
          </a:xfrm>
        </p:grpSpPr>
        <p:sp>
          <p:nvSpPr>
            <p:cNvPr id="209" name="Google Shape;209;p30"/>
            <p:cNvSpPr/>
            <p:nvPr/>
          </p:nvSpPr>
          <p:spPr>
            <a:xfrm flipH="1" rot="10800000">
              <a:off x="3071457" y="2013875"/>
              <a:ext cx="1944600" cy="1569600"/>
            </a:xfrm>
            <a:prstGeom prst="round2DiagRect">
              <a:avLst>
                <a:gd fmla="val 0" name="adj1"/>
                <a:gd fmla="val 17764" name="adj2"/>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10" name="Google Shape;210;p30"/>
            <p:cNvSpPr txBox="1"/>
            <p:nvPr/>
          </p:nvSpPr>
          <p:spPr>
            <a:xfrm>
              <a:off x="3316102" y="2122781"/>
              <a:ext cx="1451700" cy="2421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Buatlah pernyataan yang luas</a:t>
              </a:r>
              <a:endParaRPr sz="1100">
                <a:solidFill>
                  <a:srgbClr val="FFFFFF"/>
                </a:solidFill>
                <a:latin typeface="Raleway"/>
                <a:ea typeface="Raleway"/>
                <a:cs typeface="Raleway"/>
                <a:sym typeface="Raleway"/>
              </a:endParaRPr>
            </a:p>
          </p:txBody>
        </p:sp>
        <p:sp>
          <p:nvSpPr>
            <p:cNvPr id="211" name="Google Shape;211;p30"/>
            <p:cNvSpPr txBox="1"/>
            <p:nvPr/>
          </p:nvSpPr>
          <p:spPr>
            <a:xfrm>
              <a:off x="3316100" y="2385029"/>
              <a:ext cx="1451700" cy="10572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00">
                  <a:solidFill>
                    <a:srgbClr val="FFFFFF"/>
                  </a:solidFill>
                  <a:latin typeface="Raleway"/>
                  <a:ea typeface="Raleway"/>
                  <a:cs typeface="Raleway"/>
                  <a:sym typeface="Raleway"/>
                </a:rPr>
                <a:t>Pernyataan masalah yang baik menyisakan ruang untuk inovasi dan kebebasan kreatif. Penting untuk membuatnya cukup luas untuk mengundang berbagai ide yang berbeda; menghindari referensi ke solusi khusus atau persyaratan teknis.</a:t>
              </a:r>
              <a:endParaRPr sz="1000">
                <a:solidFill>
                  <a:srgbClr val="FFFFFF"/>
                </a:solidFill>
                <a:latin typeface="Raleway"/>
                <a:ea typeface="Raleway"/>
                <a:cs typeface="Raleway"/>
                <a:sym typeface="Raleway"/>
              </a:endParaRPr>
            </a:p>
          </p:txBody>
        </p:sp>
      </p:grpSp>
      <p:grpSp>
        <p:nvGrpSpPr>
          <p:cNvPr id="212" name="Google Shape;212;p30"/>
          <p:cNvGrpSpPr/>
          <p:nvPr/>
        </p:nvGrpSpPr>
        <p:grpSpPr>
          <a:xfrm>
            <a:off x="762048" y="1099443"/>
            <a:ext cx="2390497" cy="3393161"/>
            <a:chOff x="1126863" y="2013875"/>
            <a:chExt cx="1944600" cy="1569600"/>
          </a:xfrm>
        </p:grpSpPr>
        <p:sp>
          <p:nvSpPr>
            <p:cNvPr id="213" name="Google Shape;213;p30"/>
            <p:cNvSpPr/>
            <p:nvPr/>
          </p:nvSpPr>
          <p:spPr>
            <a:xfrm>
              <a:off x="1126863" y="2013875"/>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14" name="Google Shape;214;p30"/>
            <p:cNvSpPr txBox="1"/>
            <p:nvPr/>
          </p:nvSpPr>
          <p:spPr>
            <a:xfrm>
              <a:off x="1351627" y="2124400"/>
              <a:ext cx="1451700" cy="24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Fokus kepada pengguna</a:t>
              </a:r>
              <a:endParaRPr sz="1100">
                <a:solidFill>
                  <a:srgbClr val="FFFFFF"/>
                </a:solidFill>
                <a:latin typeface="Raleway"/>
                <a:ea typeface="Raleway"/>
                <a:cs typeface="Raleway"/>
                <a:sym typeface="Raleway"/>
              </a:endParaRPr>
            </a:p>
          </p:txBody>
        </p:sp>
        <p:sp>
          <p:nvSpPr>
            <p:cNvPr id="215" name="Google Shape;215;p30"/>
            <p:cNvSpPr txBox="1"/>
            <p:nvPr/>
          </p:nvSpPr>
          <p:spPr>
            <a:xfrm>
              <a:off x="1351625" y="2384804"/>
              <a:ext cx="1451700" cy="110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50">
                  <a:solidFill>
                    <a:srgbClr val="FFFFFF"/>
                  </a:solidFill>
                  <a:latin typeface="Raleway"/>
                  <a:ea typeface="Raleway"/>
                  <a:cs typeface="Raleway"/>
                  <a:sym typeface="Raleway"/>
                </a:rPr>
                <a:t>Pengguna dan kebutuhan mereka harus berada di depan dan di tengah pernyataan masalah Anda. Hindari pernyataan yang dimulai dengan “kita perlu…” atau “produk harus”, berkonsentrasilah pada perspektif pengguna seperti “Pegawai swasta yang bekerja membutuhkan…”</a:t>
              </a:r>
              <a:endParaRPr sz="1050">
                <a:solidFill>
                  <a:srgbClr val="FFFFFF"/>
                </a:solidFill>
                <a:latin typeface="Raleway"/>
                <a:ea typeface="Raleway"/>
                <a:cs typeface="Raleway"/>
                <a:sym typeface="Raleway"/>
              </a:endParaRPr>
            </a:p>
          </p:txBody>
        </p:sp>
      </p:grpSp>
      <p:grpSp>
        <p:nvGrpSpPr>
          <p:cNvPr id="216" name="Google Shape;216;p30"/>
          <p:cNvGrpSpPr/>
          <p:nvPr/>
        </p:nvGrpSpPr>
        <p:grpSpPr>
          <a:xfrm>
            <a:off x="5326800" y="1099590"/>
            <a:ext cx="3001200" cy="3393161"/>
            <a:chOff x="5015938" y="2013875"/>
            <a:chExt cx="3001200" cy="1569600"/>
          </a:xfrm>
        </p:grpSpPr>
        <p:sp>
          <p:nvSpPr>
            <p:cNvPr id="217" name="Google Shape;217;p30"/>
            <p:cNvSpPr/>
            <p:nvPr/>
          </p:nvSpPr>
          <p:spPr>
            <a:xfrm>
              <a:off x="5015938" y="2013875"/>
              <a:ext cx="3001200" cy="1569600"/>
            </a:xfrm>
            <a:prstGeom prst="round2DiagRect">
              <a:avLst>
                <a:gd fmla="val 0" name="adj1"/>
                <a:gd fmla="val 17764" name="adj2"/>
              </a:avLst>
            </a:prstGeom>
            <a:solidFill>
              <a:srgbClr val="5E2B6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p:txBody>
        </p:sp>
        <p:sp>
          <p:nvSpPr>
            <p:cNvPr id="218" name="Google Shape;218;p30"/>
            <p:cNvSpPr txBox="1"/>
            <p:nvPr/>
          </p:nvSpPr>
          <p:spPr>
            <a:xfrm>
              <a:off x="5360226" y="2122782"/>
              <a:ext cx="2417100" cy="24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Buatlah pernyataan dengan tujuan yang dapat dikelola</a:t>
              </a:r>
              <a:endParaRPr sz="1100">
                <a:solidFill>
                  <a:srgbClr val="FFFFFF"/>
                </a:solidFill>
                <a:latin typeface="Raleway"/>
                <a:ea typeface="Raleway"/>
                <a:cs typeface="Raleway"/>
                <a:sym typeface="Raleway"/>
              </a:endParaRPr>
            </a:p>
          </p:txBody>
        </p:sp>
        <p:sp>
          <p:nvSpPr>
            <p:cNvPr id="219" name="Google Shape;219;p30"/>
            <p:cNvSpPr txBox="1"/>
            <p:nvPr/>
          </p:nvSpPr>
          <p:spPr>
            <a:xfrm>
              <a:off x="5360225" y="2385030"/>
              <a:ext cx="2417100" cy="5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aleway"/>
                  <a:ea typeface="Raleway"/>
                  <a:cs typeface="Raleway"/>
                  <a:sym typeface="Raleway"/>
                </a:rPr>
                <a:t>Pada saat yang sama, pernyataan masalah Anda harus memandu Anda dan memberikan arahan. Jika terlalu luas dalam hal kebutuhan dan tujuan pengguna, Anda akan kesulitan untuk mendapatkan solusi yang sesuai.</a:t>
              </a:r>
              <a:endParaRPr sz="1000">
                <a:solidFill>
                  <a:srgbClr val="FFFFFF"/>
                </a:solidFill>
                <a:latin typeface="Raleway"/>
                <a:ea typeface="Raleway"/>
                <a:cs typeface="Raleway"/>
                <a:sym typeface="Raleway"/>
              </a:endParaRPr>
            </a:p>
            <a:p>
              <a:pPr indent="0" lvl="0" marL="0" rtl="0" algn="l">
                <a:lnSpc>
                  <a:spcPct val="115000"/>
                </a:lnSpc>
                <a:spcBef>
                  <a:spcPts val="1600"/>
                </a:spcBef>
                <a:spcAft>
                  <a:spcPts val="0"/>
                </a:spcAft>
                <a:buNone/>
              </a:pPr>
              <a:r>
                <a:rPr lang="en" sz="1000">
                  <a:solidFill>
                    <a:srgbClr val="FFFFFF"/>
                  </a:solidFill>
                  <a:latin typeface="Raleway"/>
                  <a:ea typeface="Raleway"/>
                  <a:cs typeface="Raleway"/>
                  <a:sym typeface="Raleway"/>
                </a:rPr>
                <a:t> Jadi, jangan mencoba menjawab terlalu banyak kebutuhan pengguna dalam satu pernyataan masalah; prioritaskan dan bingkai masalah Anda dengan sesuai.</a:t>
              </a:r>
              <a:endParaRPr sz="100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t/>
              </a:r>
              <a:endParaRPr sz="1000">
                <a:solidFill>
                  <a:srgbClr val="FFFFFF"/>
                </a:solidFill>
                <a:latin typeface="Raleway"/>
                <a:ea typeface="Raleway"/>
                <a:cs typeface="Raleway"/>
                <a:sym typeface="Raleway"/>
              </a:endParaRPr>
            </a:p>
          </p:txBody>
        </p:sp>
      </p:grpSp>
      <p:grpSp>
        <p:nvGrpSpPr>
          <p:cNvPr id="220" name="Google Shape;220;p30"/>
          <p:cNvGrpSpPr/>
          <p:nvPr/>
        </p:nvGrpSpPr>
        <p:grpSpPr>
          <a:xfrm>
            <a:off x="5196344" y="1845200"/>
            <a:ext cx="261571" cy="282492"/>
            <a:chOff x="4858109" y="2631368"/>
            <a:chExt cx="316442" cy="315000"/>
          </a:xfrm>
        </p:grpSpPr>
        <p:sp>
          <p:nvSpPr>
            <p:cNvPr id="221" name="Google Shape;221;p30"/>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22" name="Google Shape;222;p30"/>
            <p:cNvSpPr/>
            <p:nvPr/>
          </p:nvSpPr>
          <p:spPr>
            <a:xfrm>
              <a:off x="4858109" y="2739300"/>
              <a:ext cx="239100" cy="990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grpSp>
      <p:grpSp>
        <p:nvGrpSpPr>
          <p:cNvPr id="223" name="Google Shape;223;p30"/>
          <p:cNvGrpSpPr/>
          <p:nvPr/>
        </p:nvGrpSpPr>
        <p:grpSpPr>
          <a:xfrm>
            <a:off x="3024478" y="1845248"/>
            <a:ext cx="260366" cy="282475"/>
            <a:chOff x="3157188" y="909150"/>
            <a:chExt cx="470400" cy="470400"/>
          </a:xfrm>
        </p:grpSpPr>
        <p:sp>
          <p:nvSpPr>
            <p:cNvPr id="224" name="Google Shape;224;p30"/>
            <p:cNvSpPr/>
            <p:nvPr/>
          </p:nvSpPr>
          <p:spPr>
            <a:xfrm>
              <a:off x="3157188" y="909150"/>
              <a:ext cx="470400" cy="4704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25" name="Google Shape;225;p30"/>
            <p:cNvSpPr/>
            <p:nvPr/>
          </p:nvSpPr>
          <p:spPr>
            <a:xfrm>
              <a:off x="3243138" y="995100"/>
              <a:ext cx="298500" cy="298500"/>
            </a:xfrm>
            <a:prstGeom prst="mathPlus">
              <a:avLst>
                <a:gd fmla="val 9900" name="adj1"/>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9" name="Shape 229"/>
        <p:cNvGrpSpPr/>
        <p:nvPr/>
      </p:nvGrpSpPr>
      <p:grpSpPr>
        <a:xfrm>
          <a:off x="0" y="0"/>
          <a:ext cx="0" cy="0"/>
          <a:chOff x="0" y="0"/>
          <a:chExt cx="0" cy="0"/>
        </a:xfrm>
      </p:grpSpPr>
      <p:sp>
        <p:nvSpPr>
          <p:cNvPr id="230" name="Google Shape;23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232" name="Google Shape;232;p3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Ke-empat pertanyaan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Mengajukan pertanyaan yang tepat akan membantu Anda meletakkan jari Anda pada pernyataan masalah yang tepat.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semua temuan Anda dari fase empati, tanyakan pada diri Anda empat pertanyaan: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Siapa, apa, di mana, dan mengapa?</a:t>
            </a:r>
            <a:endParaRPr sz="1200">
              <a:solidFill>
                <a:schemeClr val="dk1"/>
              </a:solidFill>
              <a:latin typeface="Raleway Medium"/>
              <a:ea typeface="Raleway Medium"/>
              <a:cs typeface="Raleway Medium"/>
              <a:sym typeface="Raleway Medium"/>
            </a:endParaRPr>
          </a:p>
        </p:txBody>
      </p:sp>
      <p:pic>
        <p:nvPicPr>
          <p:cNvPr id="233" name="Google Shape;233;p31">
            <a:hlinkClick r:id="rId3"/>
          </p:cNvPr>
          <p:cNvPicPr preferRelativeResize="0"/>
          <p:nvPr/>
        </p:nvPicPr>
        <p:blipFill rotWithShape="1">
          <a:blip r:embed="rId4">
            <a:alphaModFix/>
          </a:blip>
          <a:srcRect b="16335" l="0" r="0" t="23073"/>
          <a:stretch/>
        </p:blipFill>
        <p:spPr>
          <a:xfrm>
            <a:off x="5486400" y="1280150"/>
            <a:ext cx="3017524" cy="2743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grpSp>
        <p:nvGrpSpPr>
          <p:cNvPr id="240" name="Google Shape;240;p32"/>
          <p:cNvGrpSpPr/>
          <p:nvPr/>
        </p:nvGrpSpPr>
        <p:grpSpPr>
          <a:xfrm>
            <a:off x="1138824" y="1092943"/>
            <a:ext cx="7007770" cy="856319"/>
            <a:chOff x="1593000" y="2322558"/>
            <a:chExt cx="5957975" cy="643510"/>
          </a:xfrm>
        </p:grpSpPr>
        <p:sp>
          <p:nvSpPr>
            <p:cNvPr id="241" name="Google Shape;241;p32"/>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2"/>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2"/>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Siapa yang mengalami masalah? </a:t>
              </a:r>
              <a:endParaRPr sz="1000">
                <a:solidFill>
                  <a:srgbClr val="FFFFFF"/>
                </a:solidFill>
                <a:latin typeface="Roboto"/>
                <a:ea typeface="Roboto"/>
                <a:cs typeface="Roboto"/>
                <a:sym typeface="Roboto"/>
              </a:endParaRPr>
            </a:p>
          </p:txBody>
        </p:sp>
        <p:sp>
          <p:nvSpPr>
            <p:cNvPr id="245" name="Google Shape;245;p32"/>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2"/>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247" name="Google Shape;247;p32"/>
            <p:cNvSpPr/>
            <p:nvPr/>
          </p:nvSpPr>
          <p:spPr>
            <a:xfrm>
              <a:off x="4121504" y="2323747"/>
              <a:ext cx="29784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Dengan kata lain, siapa pengguna target Anda; siapa yang akan menjadi fokus pernyataan masalah Anda?</a:t>
              </a:r>
              <a:endParaRPr sz="800">
                <a:solidFill>
                  <a:srgbClr val="A72A1E"/>
                </a:solidFill>
                <a:latin typeface="Roboto"/>
                <a:ea typeface="Roboto"/>
                <a:cs typeface="Roboto"/>
                <a:sym typeface="Robo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grpSp>
        <p:nvGrpSpPr>
          <p:cNvPr id="254" name="Google Shape;254;p33"/>
          <p:cNvGrpSpPr/>
          <p:nvPr/>
        </p:nvGrpSpPr>
        <p:grpSpPr>
          <a:xfrm>
            <a:off x="1138824" y="1092943"/>
            <a:ext cx="7007770" cy="856319"/>
            <a:chOff x="1593000" y="2322558"/>
            <a:chExt cx="5957975" cy="643510"/>
          </a:xfrm>
        </p:grpSpPr>
        <p:sp>
          <p:nvSpPr>
            <p:cNvPr id="255" name="Google Shape;255;p33"/>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3"/>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3"/>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3"/>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Siapa yang mengalami masalah? </a:t>
              </a:r>
              <a:endParaRPr sz="1000">
                <a:solidFill>
                  <a:srgbClr val="FFFFFF"/>
                </a:solidFill>
                <a:latin typeface="Roboto"/>
                <a:ea typeface="Roboto"/>
                <a:cs typeface="Roboto"/>
                <a:sym typeface="Roboto"/>
              </a:endParaRPr>
            </a:p>
          </p:txBody>
        </p:sp>
        <p:sp>
          <p:nvSpPr>
            <p:cNvPr id="259" name="Google Shape;259;p3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3"/>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261" name="Google Shape;261;p33"/>
            <p:cNvSpPr/>
            <p:nvPr/>
          </p:nvSpPr>
          <p:spPr>
            <a:xfrm>
              <a:off x="4121504" y="2323747"/>
              <a:ext cx="29784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Dengan kata lain, siapa pengguna target Anda; siapa yang akan menjadi fokus pernyataan masalah Anda?</a:t>
              </a:r>
              <a:endParaRPr sz="800">
                <a:solidFill>
                  <a:srgbClr val="A72A1E"/>
                </a:solidFill>
                <a:latin typeface="Roboto"/>
                <a:ea typeface="Roboto"/>
                <a:cs typeface="Roboto"/>
                <a:sym typeface="Roboto"/>
              </a:endParaRPr>
            </a:p>
          </p:txBody>
        </p:sp>
      </p:grpSp>
      <p:grpSp>
        <p:nvGrpSpPr>
          <p:cNvPr id="262" name="Google Shape;262;p33"/>
          <p:cNvGrpSpPr/>
          <p:nvPr/>
        </p:nvGrpSpPr>
        <p:grpSpPr>
          <a:xfrm>
            <a:off x="1133211" y="1941134"/>
            <a:ext cx="7013356" cy="856319"/>
            <a:chOff x="1593000" y="2322558"/>
            <a:chExt cx="5962724" cy="643510"/>
          </a:xfrm>
        </p:grpSpPr>
        <p:sp>
          <p:nvSpPr>
            <p:cNvPr id="263" name="Google Shape;263;p33"/>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3"/>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3"/>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3"/>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Apa masalahnya?</a:t>
              </a:r>
              <a:endParaRPr sz="1000">
                <a:solidFill>
                  <a:srgbClr val="FFFFFF"/>
                </a:solidFill>
                <a:latin typeface="Roboto"/>
                <a:ea typeface="Roboto"/>
                <a:cs typeface="Roboto"/>
                <a:sym typeface="Roboto"/>
              </a:endParaRPr>
            </a:p>
          </p:txBody>
        </p:sp>
        <p:sp>
          <p:nvSpPr>
            <p:cNvPr id="267" name="Google Shape;267;p3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3"/>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269" name="Google Shape;269;p33"/>
            <p:cNvSpPr/>
            <p:nvPr/>
          </p:nvSpPr>
          <p:spPr>
            <a:xfrm>
              <a:off x="4118624" y="2323753"/>
              <a:ext cx="34371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Berdasarkan observasi yang Anda lakukan selama fase empati, apa saja masalah dan pain point yang sering muncul? Tugas apa yang coba diselesaikan pengguna, dan apa yang menghalangi mereka?</a:t>
              </a:r>
              <a:endParaRPr sz="1000">
                <a:solidFill>
                  <a:schemeClr val="lt1"/>
                </a:solidFill>
                <a:latin typeface="Roboto Medium"/>
                <a:ea typeface="Roboto Medium"/>
                <a:cs typeface="Roboto Medium"/>
                <a:sym typeface="Roboto Medium"/>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grpSp>
        <p:nvGrpSpPr>
          <p:cNvPr id="276" name="Google Shape;276;p34"/>
          <p:cNvGrpSpPr/>
          <p:nvPr/>
        </p:nvGrpSpPr>
        <p:grpSpPr>
          <a:xfrm>
            <a:off x="1138824" y="1092943"/>
            <a:ext cx="7007770" cy="856319"/>
            <a:chOff x="1593000" y="2322558"/>
            <a:chExt cx="5957975" cy="643510"/>
          </a:xfrm>
        </p:grpSpPr>
        <p:sp>
          <p:nvSpPr>
            <p:cNvPr id="277" name="Google Shape;277;p34"/>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4"/>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4"/>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4"/>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Siapa yang mengalami masalah? </a:t>
              </a:r>
              <a:endParaRPr sz="1000">
                <a:solidFill>
                  <a:srgbClr val="FFFFFF"/>
                </a:solidFill>
                <a:latin typeface="Roboto"/>
                <a:ea typeface="Roboto"/>
                <a:cs typeface="Roboto"/>
                <a:sym typeface="Roboto"/>
              </a:endParaRPr>
            </a:p>
          </p:txBody>
        </p:sp>
        <p:sp>
          <p:nvSpPr>
            <p:cNvPr id="281" name="Google Shape;281;p34"/>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4"/>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283" name="Google Shape;283;p34"/>
            <p:cNvSpPr/>
            <p:nvPr/>
          </p:nvSpPr>
          <p:spPr>
            <a:xfrm>
              <a:off x="4121504" y="2323747"/>
              <a:ext cx="29784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Dengan kata lain, siapa pengguna target Anda; siapa yang akan menjadi fokus pernyataan masalah Anda?</a:t>
              </a:r>
              <a:endParaRPr sz="800">
                <a:solidFill>
                  <a:srgbClr val="A72A1E"/>
                </a:solidFill>
                <a:latin typeface="Roboto"/>
                <a:ea typeface="Roboto"/>
                <a:cs typeface="Roboto"/>
                <a:sym typeface="Roboto"/>
              </a:endParaRPr>
            </a:p>
          </p:txBody>
        </p:sp>
      </p:grpSp>
      <p:grpSp>
        <p:nvGrpSpPr>
          <p:cNvPr id="284" name="Google Shape;284;p34"/>
          <p:cNvGrpSpPr/>
          <p:nvPr/>
        </p:nvGrpSpPr>
        <p:grpSpPr>
          <a:xfrm>
            <a:off x="1133211" y="1941134"/>
            <a:ext cx="7013356" cy="856319"/>
            <a:chOff x="1593000" y="2322558"/>
            <a:chExt cx="5962724" cy="643510"/>
          </a:xfrm>
        </p:grpSpPr>
        <p:sp>
          <p:nvSpPr>
            <p:cNvPr id="285" name="Google Shape;285;p34"/>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4"/>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4"/>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4"/>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Apa masalahnya?</a:t>
              </a:r>
              <a:endParaRPr sz="1000">
                <a:solidFill>
                  <a:srgbClr val="FFFFFF"/>
                </a:solidFill>
                <a:latin typeface="Roboto"/>
                <a:ea typeface="Roboto"/>
                <a:cs typeface="Roboto"/>
                <a:sym typeface="Roboto"/>
              </a:endParaRPr>
            </a:p>
          </p:txBody>
        </p:sp>
        <p:sp>
          <p:nvSpPr>
            <p:cNvPr id="289" name="Google Shape;289;p34"/>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4"/>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291" name="Google Shape;291;p34"/>
            <p:cNvSpPr/>
            <p:nvPr/>
          </p:nvSpPr>
          <p:spPr>
            <a:xfrm>
              <a:off x="4118624" y="2323753"/>
              <a:ext cx="34371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Berdasarkan observasi yang Anda lakukan selama fase empati, apa saja masalah dan pain point yang sering muncul? Tugas apa yang coba diselesaikan pengguna, dan apa yang menghalangi mereka?</a:t>
              </a:r>
              <a:endParaRPr sz="1000">
                <a:solidFill>
                  <a:schemeClr val="lt1"/>
                </a:solidFill>
                <a:latin typeface="Roboto Medium"/>
                <a:ea typeface="Roboto Medium"/>
                <a:cs typeface="Roboto Medium"/>
                <a:sym typeface="Roboto Medium"/>
              </a:endParaRPr>
            </a:p>
          </p:txBody>
        </p:sp>
      </p:grpSp>
      <p:grpSp>
        <p:nvGrpSpPr>
          <p:cNvPr id="292" name="Google Shape;292;p34"/>
          <p:cNvGrpSpPr/>
          <p:nvPr/>
        </p:nvGrpSpPr>
        <p:grpSpPr>
          <a:xfrm>
            <a:off x="1138836" y="2789345"/>
            <a:ext cx="7007770" cy="856319"/>
            <a:chOff x="1593000" y="2322558"/>
            <a:chExt cx="5957975" cy="643510"/>
          </a:xfrm>
        </p:grpSpPr>
        <p:sp>
          <p:nvSpPr>
            <p:cNvPr id="293" name="Google Shape;293;p34"/>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4"/>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4"/>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4"/>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Di mana masalah muncul?</a:t>
              </a:r>
              <a:endParaRPr sz="1000">
                <a:solidFill>
                  <a:srgbClr val="FFFFFF"/>
                </a:solidFill>
                <a:latin typeface="Roboto"/>
                <a:ea typeface="Roboto"/>
                <a:cs typeface="Roboto"/>
                <a:sym typeface="Roboto"/>
              </a:endParaRPr>
            </a:p>
          </p:txBody>
        </p:sp>
        <p:sp>
          <p:nvSpPr>
            <p:cNvPr id="297" name="Google Shape;297;p34"/>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4"/>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299" name="Google Shape;299;p34"/>
            <p:cNvSpPr/>
            <p:nvPr/>
          </p:nvSpPr>
          <p:spPr>
            <a:xfrm>
              <a:off x="4128710" y="2323750"/>
              <a:ext cx="29712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Dalam ruang apa (fisik atau digital), situasi atau konteks pengguna ketika mereka menghadapi masalah ini? Apakah ada orang lain yang terlibat?</a:t>
              </a:r>
              <a:endParaRPr sz="800">
                <a:solidFill>
                  <a:srgbClr val="A72A1E"/>
                </a:solidFill>
                <a:latin typeface="Roboto"/>
                <a:ea typeface="Roboto"/>
                <a:cs typeface="Roboto"/>
                <a:sym typeface="Roboto"/>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grpSp>
        <p:nvGrpSpPr>
          <p:cNvPr id="306" name="Google Shape;306;p35"/>
          <p:cNvGrpSpPr/>
          <p:nvPr/>
        </p:nvGrpSpPr>
        <p:grpSpPr>
          <a:xfrm>
            <a:off x="1138824" y="1092943"/>
            <a:ext cx="7007770" cy="856319"/>
            <a:chOff x="1593000" y="2322558"/>
            <a:chExt cx="5957975" cy="643510"/>
          </a:xfrm>
        </p:grpSpPr>
        <p:sp>
          <p:nvSpPr>
            <p:cNvPr id="307" name="Google Shape;307;p35"/>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5"/>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5"/>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5"/>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Siapa yang mengalami masalah? </a:t>
              </a:r>
              <a:endParaRPr sz="1000">
                <a:solidFill>
                  <a:srgbClr val="FFFFFF"/>
                </a:solidFill>
                <a:latin typeface="Roboto"/>
                <a:ea typeface="Roboto"/>
                <a:cs typeface="Roboto"/>
                <a:sym typeface="Roboto"/>
              </a:endParaRPr>
            </a:p>
          </p:txBody>
        </p:sp>
        <p:sp>
          <p:nvSpPr>
            <p:cNvPr id="311" name="Google Shape;311;p35"/>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5"/>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313" name="Google Shape;313;p35"/>
            <p:cNvSpPr/>
            <p:nvPr/>
          </p:nvSpPr>
          <p:spPr>
            <a:xfrm>
              <a:off x="4121504" y="2323747"/>
              <a:ext cx="29784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Dengan kata lain, siapa pengguna target Anda; siapa yang akan menjadi fokus pernyataan masalah Anda?</a:t>
              </a:r>
              <a:endParaRPr sz="800">
                <a:solidFill>
                  <a:srgbClr val="A72A1E"/>
                </a:solidFill>
                <a:latin typeface="Roboto"/>
                <a:ea typeface="Roboto"/>
                <a:cs typeface="Roboto"/>
                <a:sym typeface="Roboto"/>
              </a:endParaRPr>
            </a:p>
          </p:txBody>
        </p:sp>
      </p:grpSp>
      <p:grpSp>
        <p:nvGrpSpPr>
          <p:cNvPr id="314" name="Google Shape;314;p35"/>
          <p:cNvGrpSpPr/>
          <p:nvPr/>
        </p:nvGrpSpPr>
        <p:grpSpPr>
          <a:xfrm>
            <a:off x="1133211" y="1941134"/>
            <a:ext cx="7013356" cy="856319"/>
            <a:chOff x="1593000" y="2322558"/>
            <a:chExt cx="5962724" cy="643510"/>
          </a:xfrm>
        </p:grpSpPr>
        <p:sp>
          <p:nvSpPr>
            <p:cNvPr id="315" name="Google Shape;315;p35"/>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5"/>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5"/>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5"/>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Apa masalahnya?</a:t>
              </a:r>
              <a:endParaRPr sz="1000">
                <a:solidFill>
                  <a:srgbClr val="FFFFFF"/>
                </a:solidFill>
                <a:latin typeface="Roboto"/>
                <a:ea typeface="Roboto"/>
                <a:cs typeface="Roboto"/>
                <a:sym typeface="Roboto"/>
              </a:endParaRPr>
            </a:p>
          </p:txBody>
        </p:sp>
        <p:sp>
          <p:nvSpPr>
            <p:cNvPr id="319" name="Google Shape;319;p35"/>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5"/>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321" name="Google Shape;321;p35"/>
            <p:cNvSpPr/>
            <p:nvPr/>
          </p:nvSpPr>
          <p:spPr>
            <a:xfrm>
              <a:off x="4118624" y="2323753"/>
              <a:ext cx="34371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Berdasarkan observasi yang Anda lakukan selama fase empati, apa saja masalah dan pain point yang sering muncul? Tugas apa yang coba diselesaikan pengguna, dan apa yang menghalangi mereka?</a:t>
              </a:r>
              <a:endParaRPr sz="1000">
                <a:solidFill>
                  <a:schemeClr val="lt1"/>
                </a:solidFill>
                <a:latin typeface="Roboto Medium"/>
                <a:ea typeface="Roboto Medium"/>
                <a:cs typeface="Roboto Medium"/>
                <a:sym typeface="Roboto Medium"/>
              </a:endParaRPr>
            </a:p>
          </p:txBody>
        </p:sp>
      </p:grpSp>
      <p:grpSp>
        <p:nvGrpSpPr>
          <p:cNvPr id="322" name="Google Shape;322;p35"/>
          <p:cNvGrpSpPr/>
          <p:nvPr/>
        </p:nvGrpSpPr>
        <p:grpSpPr>
          <a:xfrm>
            <a:off x="1138836" y="2789345"/>
            <a:ext cx="7007770" cy="856319"/>
            <a:chOff x="1593000" y="2322558"/>
            <a:chExt cx="5957975" cy="643510"/>
          </a:xfrm>
        </p:grpSpPr>
        <p:sp>
          <p:nvSpPr>
            <p:cNvPr id="323" name="Google Shape;323;p35"/>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5"/>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5"/>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5"/>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Di mana masalah muncul?</a:t>
              </a:r>
              <a:endParaRPr sz="1000">
                <a:solidFill>
                  <a:srgbClr val="FFFFFF"/>
                </a:solidFill>
                <a:latin typeface="Roboto"/>
                <a:ea typeface="Roboto"/>
                <a:cs typeface="Roboto"/>
                <a:sym typeface="Roboto"/>
              </a:endParaRPr>
            </a:p>
          </p:txBody>
        </p:sp>
        <p:sp>
          <p:nvSpPr>
            <p:cNvPr id="327" name="Google Shape;327;p35"/>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5"/>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329" name="Google Shape;329;p35"/>
            <p:cNvSpPr/>
            <p:nvPr/>
          </p:nvSpPr>
          <p:spPr>
            <a:xfrm>
              <a:off x="4128710" y="2323750"/>
              <a:ext cx="29712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Dalam ruang apa (fisik atau digital), situasi atau konteks pengguna ketika mereka menghadapi masalah ini? Apakah ada orang lain yang terlibat?</a:t>
              </a:r>
              <a:endParaRPr sz="800">
                <a:solidFill>
                  <a:srgbClr val="A72A1E"/>
                </a:solidFill>
                <a:latin typeface="Roboto"/>
                <a:ea typeface="Roboto"/>
                <a:cs typeface="Roboto"/>
                <a:sym typeface="Roboto"/>
              </a:endParaRPr>
            </a:p>
          </p:txBody>
        </p:sp>
      </p:grpSp>
      <p:grpSp>
        <p:nvGrpSpPr>
          <p:cNvPr id="330" name="Google Shape;330;p35"/>
          <p:cNvGrpSpPr/>
          <p:nvPr/>
        </p:nvGrpSpPr>
        <p:grpSpPr>
          <a:xfrm>
            <a:off x="1138836" y="3633159"/>
            <a:ext cx="7007770" cy="856319"/>
            <a:chOff x="1593000" y="2322558"/>
            <a:chExt cx="5957975" cy="643510"/>
          </a:xfrm>
        </p:grpSpPr>
        <p:sp>
          <p:nvSpPr>
            <p:cNvPr id="331" name="Google Shape;331;p35"/>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5"/>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5"/>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5"/>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Mengapa masalah </a:t>
              </a:r>
              <a:endParaRPr sz="1000">
                <a:solidFill>
                  <a:srgbClr val="FFFFFF"/>
                </a:solidFill>
                <a:latin typeface="Roboto Medium"/>
                <a:ea typeface="Roboto Medium"/>
                <a:cs typeface="Roboto Medium"/>
                <a:sym typeface="Roboto Medium"/>
              </a:endParaRPr>
            </a:p>
            <a:p>
              <a:pPr indent="0" lvl="0" marL="0" rtl="0" algn="l">
                <a:lnSpc>
                  <a:spcPct val="115000"/>
                </a:lnSpc>
                <a:spcBef>
                  <a:spcPts val="0"/>
                </a:spcBef>
                <a:spcAft>
                  <a:spcPts val="0"/>
                </a:spcAft>
                <a:buNone/>
              </a:pPr>
              <a:r>
                <a:rPr lang="en" sz="1000">
                  <a:solidFill>
                    <a:srgbClr val="FFFFFF"/>
                  </a:solidFill>
                  <a:latin typeface="Roboto Medium"/>
                  <a:ea typeface="Roboto Medium"/>
                  <a:cs typeface="Roboto Medium"/>
                  <a:sym typeface="Roboto Medium"/>
                </a:rPr>
                <a:t>tersebut penting?</a:t>
              </a:r>
              <a:endParaRPr sz="1000">
                <a:solidFill>
                  <a:srgbClr val="FFFFFF"/>
                </a:solidFill>
                <a:latin typeface="Roboto"/>
                <a:ea typeface="Roboto"/>
                <a:cs typeface="Roboto"/>
                <a:sym typeface="Roboto"/>
              </a:endParaRPr>
            </a:p>
          </p:txBody>
        </p:sp>
        <p:sp>
          <p:nvSpPr>
            <p:cNvPr id="335" name="Google Shape;335;p35"/>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5"/>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sp>
          <p:nvSpPr>
            <p:cNvPr id="337" name="Google Shape;337;p35"/>
            <p:cNvSpPr/>
            <p:nvPr/>
          </p:nvSpPr>
          <p:spPr>
            <a:xfrm>
              <a:off x="4128710" y="2323750"/>
              <a:ext cx="29712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Medium"/>
                  <a:ea typeface="Roboto Medium"/>
                  <a:cs typeface="Roboto Medium"/>
                  <a:sym typeface="Roboto Medium"/>
                </a:rPr>
                <a:t>Mengapa penting untuk menyelesaikan masalah tersebut? Nilai apa yang akan diberikan kepada pengguna, dan kepada bisnis?</a:t>
              </a:r>
              <a:endParaRPr sz="800">
                <a:solidFill>
                  <a:srgbClr val="A72A1E"/>
                </a:solidFill>
                <a:latin typeface="Roboto"/>
                <a:ea typeface="Roboto"/>
                <a:cs typeface="Roboto"/>
                <a:sym typeface="Roboto"/>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344" name="Google Shape;344;p3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Ke-lima pertanyaan mengapa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Strategi berbasis pertanyaan lainnya adalah </a:t>
            </a:r>
            <a:r>
              <a:rPr b="1" lang="en" sz="1200">
                <a:solidFill>
                  <a:schemeClr val="dk1"/>
                </a:solidFill>
                <a:latin typeface="Raleway"/>
                <a:ea typeface="Raleway"/>
                <a:cs typeface="Raleway"/>
                <a:sym typeface="Raleway"/>
              </a:rPr>
              <a:t>teknik lima mengapa (the five whys). </a:t>
            </a:r>
            <a:r>
              <a:rPr lang="en" sz="1200">
                <a:solidFill>
                  <a:schemeClr val="dk1"/>
                </a:solidFill>
                <a:latin typeface="Raleway Medium"/>
                <a:ea typeface="Raleway Medium"/>
                <a:cs typeface="Raleway Medium"/>
                <a:sym typeface="Raleway Medium"/>
              </a:rPr>
              <a:t>Teknik ini dapat membantu Anda menggali lebih dalam masalah dan menelusuri akarnya. Jika Anda mengidentifikasi akar masalahnya, Anda memiliki sesuatu yang dapat Anda tindak lanjuti; suatu cakupan khusus untuk memfokuskan upaya pemecahan masalah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ambil contoh tentang seorang pekerja muda yang ingin makan sehat, tetapi sulit melakukannya. Inilah cara Anda menggunakan lima alasan untuk memecahkan masalah dan menemukan akar masalahnya:</a:t>
            </a:r>
            <a:endParaRPr sz="1200">
              <a:solidFill>
                <a:schemeClr val="dk1"/>
              </a:solidFill>
              <a:latin typeface="Raleway Medium"/>
              <a:ea typeface="Raleway Medium"/>
              <a:cs typeface="Raleway Medium"/>
              <a:sym typeface="Raleway Medium"/>
            </a:endParaRPr>
          </a:p>
        </p:txBody>
      </p:sp>
      <p:pic>
        <p:nvPicPr>
          <p:cNvPr id="345" name="Google Shape;345;p36">
            <a:hlinkClick r:id="rId3"/>
          </p:cNvPr>
          <p:cNvPicPr preferRelativeResize="0"/>
          <p:nvPr/>
        </p:nvPicPr>
        <p:blipFill rotWithShape="1">
          <a:blip r:embed="rId4">
            <a:alphaModFix/>
          </a:blip>
          <a:srcRect b="19704" l="0" r="0" t="19704"/>
          <a:stretch/>
        </p:blipFill>
        <p:spPr>
          <a:xfrm>
            <a:off x="5486400" y="1280150"/>
            <a:ext cx="3017524" cy="2743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352" name="Google Shape;352;p3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Mengapa dia tidak makan dengan sehat? → Dia memesan takeaway setiap hari.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Mengapa dia memesan takeaway setiap hari? → Kulkas dan lemarinya kosong.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Mengapa lemari es dan lemari kosong? → Dia belum berbelanja bahan makanan selama lebih dari seminggu.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Kenapa dia tidak berbelanja bahan makanan? → Dia tidak punya waktu untuk pergi ke supermarket.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Kenapa dia tidak punya waktu? → Dia bekerja berjam-jam dan kelelahan.</a:t>
            </a:r>
            <a:endParaRPr sz="1200">
              <a:solidFill>
                <a:schemeClr val="dk1"/>
              </a:solidFill>
              <a:latin typeface="Raleway Medium"/>
              <a:ea typeface="Raleway Medium"/>
              <a:cs typeface="Raleway Medium"/>
              <a:sym typeface="Raleway Medium"/>
            </a:endParaRPr>
          </a:p>
        </p:txBody>
      </p:sp>
      <p:pic>
        <p:nvPicPr>
          <p:cNvPr id="353" name="Google Shape;353;p37">
            <a:hlinkClick r:id="rId3"/>
          </p:cNvPr>
          <p:cNvPicPr preferRelativeResize="0"/>
          <p:nvPr/>
        </p:nvPicPr>
        <p:blipFill rotWithShape="1">
          <a:blip r:embed="rId4">
            <a:alphaModFix/>
          </a:blip>
          <a:srcRect b="19704" l="0" r="0" t="19704"/>
          <a:stretch/>
        </p:blipFill>
        <p:spPr>
          <a:xfrm>
            <a:off x="5486400" y="1280150"/>
            <a:ext cx="3017524" cy="27431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360" name="Google Shape;360;p3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Akar penyebabnya di sini adalah kurangnya waktu.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Maka dari itu,  solusi Anda mungkin harus berfokus pada efisiensi dan kenyamanan. Pernyataan masalah terakhir Anda mungkin terlihat seperti ini: "Para pekerja muda membutuhkan solusi cepat dan nyaman untuk makan sehat."</a:t>
            </a:r>
            <a:endParaRPr sz="1200">
              <a:solidFill>
                <a:schemeClr val="dk1"/>
              </a:solidFill>
              <a:latin typeface="Raleway Medium"/>
              <a:ea typeface="Raleway Medium"/>
              <a:cs typeface="Raleway Medium"/>
              <a:sym typeface="Raleway Medium"/>
            </a:endParaRPr>
          </a:p>
        </p:txBody>
      </p:sp>
      <p:pic>
        <p:nvPicPr>
          <p:cNvPr id="361" name="Google Shape;361;p38">
            <a:hlinkClick r:id="rId3"/>
          </p:cNvPr>
          <p:cNvPicPr preferRelativeResize="0"/>
          <p:nvPr/>
        </p:nvPicPr>
        <p:blipFill rotWithShape="1">
          <a:blip r:embed="rId4">
            <a:alphaModFix/>
          </a:blip>
          <a:srcRect b="19704" l="0" r="0" t="19704"/>
          <a:stretch/>
        </p:blipFill>
        <p:spPr>
          <a:xfrm>
            <a:off x="5486400" y="1280150"/>
            <a:ext cx="3017524" cy="2743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39">
            <a:hlinkClick r:id="rId3"/>
          </p:cNvPr>
          <p:cNvPicPr preferRelativeResize="0"/>
          <p:nvPr/>
        </p:nvPicPr>
        <p:blipFill rotWithShape="1">
          <a:blip r:embed="rId4">
            <a:alphaModFix/>
          </a:blip>
          <a:srcRect b="19704" l="0" r="0" t="19704"/>
          <a:stretch/>
        </p:blipFill>
        <p:spPr>
          <a:xfrm>
            <a:off x="5486400" y="1280150"/>
            <a:ext cx="3017524" cy="2743199"/>
          </a:xfrm>
          <a:prstGeom prst="rect">
            <a:avLst/>
          </a:prstGeom>
          <a:noFill/>
          <a:ln>
            <a:noFill/>
          </a:ln>
        </p:spPr>
      </p:pic>
      <p:sp>
        <p:nvSpPr>
          <p:cNvPr id="367" name="Google Shape;367;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369" name="Google Shape;369;p3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t>
            </a:r>
            <a:r>
              <a:rPr lang="en" sz="1200">
                <a:solidFill>
                  <a:schemeClr val="dk1"/>
                </a:solidFill>
                <a:latin typeface="Raleway Medium"/>
                <a:ea typeface="Raleway Medium"/>
                <a:cs typeface="Raleway Medium"/>
                <a:sym typeface="Raleway Medium"/>
              </a:rPr>
              <a:t>aat Anda melalui proses Design Thinking, Anda akan terus-menerus merujuk kembali ke pernyataan masalah Anda untuk memastikan Anda bergerak ke arah yang benar.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Pernyataan masalah yang dipikirkan dengan matang akan membuat Anda tetap pada jalur yang tepat, membantu Anda </a:t>
            </a:r>
            <a:r>
              <a:rPr lang="en" sz="1200">
                <a:solidFill>
                  <a:schemeClr val="dk1"/>
                </a:solidFill>
                <a:latin typeface="Raleway Medium"/>
                <a:ea typeface="Raleway Medium"/>
                <a:cs typeface="Raleway Medium"/>
                <a:sym typeface="Raleway Medium"/>
              </a:rPr>
              <a:t>mengkomunikasikan</a:t>
            </a:r>
            <a:r>
              <a:rPr lang="en" sz="1200">
                <a:solidFill>
                  <a:schemeClr val="dk1"/>
                </a:solidFill>
                <a:latin typeface="Raleway Medium"/>
                <a:ea typeface="Raleway Medium"/>
                <a:cs typeface="Raleway Medium"/>
                <a:sym typeface="Raleway Medium"/>
              </a:rPr>
              <a:t> tujuan Anda kepada pemangku kepentingan utama, dan pada akhirnya membawa Anda pada solusi masalah pengguna.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40">
            <a:hlinkClick r:id="rId3"/>
          </p:cNvPr>
          <p:cNvPicPr preferRelativeResize="0"/>
          <p:nvPr/>
        </p:nvPicPr>
        <p:blipFill rotWithShape="1">
          <a:blip r:embed="rId4">
            <a:alphaModFix/>
          </a:blip>
          <a:srcRect b="13689" l="0" r="0" t="13689"/>
          <a:stretch/>
        </p:blipFill>
        <p:spPr>
          <a:xfrm>
            <a:off x="5486400" y="1280150"/>
            <a:ext cx="3017524" cy="2743199"/>
          </a:xfrm>
          <a:prstGeom prst="rect">
            <a:avLst/>
          </a:prstGeom>
          <a:noFill/>
          <a:ln>
            <a:noFill/>
          </a:ln>
        </p:spPr>
      </p:pic>
      <p:sp>
        <p:nvSpPr>
          <p:cNvPr id="375" name="Google Shape;375;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6" name="Google Shape;376;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defining</a:t>
            </a:r>
            <a:endParaRPr/>
          </a:p>
        </p:txBody>
      </p:sp>
      <p:sp>
        <p:nvSpPr>
          <p:cNvPr id="377" name="Google Shape;377;p4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akhir fase definisi, Anda akan mengubah temuan Anda dari fase empathizing menjadi pernyataan masalah yang bermakna dan dapat ditindaklanjuti.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pernyataan masalah Anda, Anda akan siap untuk beralih ke fase ide, di mana Anda akan mengubah </a:t>
            </a:r>
            <a:r>
              <a:rPr lang="en" sz="1200">
                <a:solidFill>
                  <a:schemeClr val="dk1"/>
                </a:solidFill>
                <a:latin typeface="Raleway Medium"/>
                <a:ea typeface="Raleway Medium"/>
                <a:cs typeface="Raleway Medium"/>
                <a:sym typeface="Raleway Medium"/>
              </a:rPr>
              <a:t>pernyataan</a:t>
            </a:r>
            <a:r>
              <a:rPr lang="en" sz="1200">
                <a:solidFill>
                  <a:schemeClr val="dk1"/>
                </a:solidFill>
                <a:latin typeface="Raleway Medium"/>
                <a:ea typeface="Raleway Medium"/>
                <a:cs typeface="Raleway Medium"/>
                <a:sym typeface="Raleway Medium"/>
              </a:rPr>
              <a:t> masalah Anda menjadi pertanyaan "bagaimana mungkin kita…” (“how might we…”) dan menghasilkan solusi potensial sebanyak mungkin.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83" name="Google Shape;383;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9" name="Google Shape;389;p4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Aktivitas kunci pada fase define adalah mengumpulkan inspirasi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mengulang hal - hal baru dan menyimpulkan solusi yang tepat.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memikirkan hal - hal baru dan menemukan apa yang benar-benar dibutuhkan pengguna.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memikirkan hal - hal baru dan menemukan apa yang benar - benar dibutuhkan bisnis.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memikirkan hal - hal baru dan melakukan riset.</a:t>
            </a:r>
            <a:endParaRPr sz="1200">
              <a:solidFill>
                <a:schemeClr val="lt1"/>
              </a:solidFill>
              <a:latin typeface="Raleway Medium"/>
              <a:ea typeface="Raleway Medium"/>
              <a:cs typeface="Raleway Medium"/>
              <a:sym typeface="Raleway Medium"/>
            </a:endParaRPr>
          </a:p>
        </p:txBody>
      </p:sp>
      <p:sp>
        <p:nvSpPr>
          <p:cNvPr id="390" name="Google Shape;390;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6" name="Google Shape;396;p4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Aktivitas kunci pada fase define adalah mengumpulkan inspirasi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mengulang hal - hal baru dan menyimpulkan solusi yang tepat.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memikirkan hal - hal baru dan menemukan apa yang benar-benar dibutuhkan pengguna.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memikirkan hal - hal baru dan menemukan apa yang benar - benar dibutuhkan bisnis.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memikirkan hal - hal baru dan melakukan riset.</a:t>
            </a:r>
            <a:endParaRPr sz="1200">
              <a:solidFill>
                <a:srgbClr val="A667A5"/>
              </a:solidFill>
              <a:latin typeface="Raleway Medium"/>
              <a:ea typeface="Raleway Medium"/>
              <a:cs typeface="Raleway Medium"/>
              <a:sym typeface="Raleway Medium"/>
            </a:endParaRPr>
          </a:p>
        </p:txBody>
      </p:sp>
      <p:sp>
        <p:nvSpPr>
          <p:cNvPr id="397" name="Google Shape;397;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43"/>
          <p:cNvSpPr/>
          <p:nvPr/>
        </p:nvSpPr>
        <p:spPr>
          <a:xfrm>
            <a:off x="685800" y="33841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Pada fase define, kita tidak langsung menyimpulkan sebuah solusi dan belum terlalu memikirkan apa yang diperlukan bisnis. Aktivitas kunci pada fase define adalah mengumpulkan inspirasi yaitu memikirkan hal - hal baru dan menemukan apa yang benar-benar dibutuhkan pengguna.</a:t>
            </a:r>
            <a:endParaRPr b="1" sz="1000">
              <a:solidFill>
                <a:srgbClr val="733572"/>
              </a:solidFill>
              <a:latin typeface="Raleway"/>
              <a:ea typeface="Raleway"/>
              <a:cs typeface="Raleway"/>
              <a:sym typeface="Ralew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4" name="Google Shape;404;p4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Pernyataan masalah yang baik haruslah berpusat pada manusia dan berfokus pada _________.</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bisnis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perusahaan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kenyataan</a:t>
            </a:r>
            <a:endParaRPr sz="1200">
              <a:solidFill>
                <a:schemeClr val="lt1"/>
              </a:solidFill>
              <a:latin typeface="Raleway Medium"/>
              <a:ea typeface="Raleway Medium"/>
              <a:cs typeface="Raleway Medium"/>
              <a:sym typeface="Raleway Medium"/>
            </a:endParaRPr>
          </a:p>
        </p:txBody>
      </p:sp>
      <p:sp>
        <p:nvSpPr>
          <p:cNvPr id="405" name="Google Shape;405;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1" name="Google Shape;411;p4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Pernyataan masalah yang baik haruslah berpusat pada manusia dan berfokus pada _________.</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pengguna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bisnis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perusahaan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kenyataan</a:t>
            </a:r>
            <a:endParaRPr sz="1200">
              <a:solidFill>
                <a:srgbClr val="A667A5"/>
              </a:solidFill>
              <a:latin typeface="Raleway Medium"/>
              <a:ea typeface="Raleway Medium"/>
              <a:cs typeface="Raleway Medium"/>
              <a:sym typeface="Raleway Medium"/>
            </a:endParaRPr>
          </a:p>
        </p:txBody>
      </p:sp>
      <p:sp>
        <p:nvSpPr>
          <p:cNvPr id="412" name="Google Shape;41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45"/>
          <p:cNvSpPr/>
          <p:nvPr/>
        </p:nvSpPr>
        <p:spPr>
          <a:xfrm>
            <a:off x="685800" y="34603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Pernyataan masalah yang baik haruslah berpusat pada manusia dan berfokus pada pengguna.</a:t>
            </a:r>
            <a:endParaRPr b="1" sz="1000">
              <a:solidFill>
                <a:srgbClr val="733572"/>
              </a:solidFill>
              <a:latin typeface="Raleway"/>
              <a:ea typeface="Raleway"/>
              <a:cs typeface="Raleway"/>
              <a:sym typeface="Ralewa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9" name="Google Shape;419;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Saat Anda melalui proses Design Thinking, Anda akan terus-menerus merujuk kembali ke ______________ Anda untuk memastikan Anda bergerak ke arah yang benar.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pertanyaan masalah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kenyataan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pernyataan masalah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empati</a:t>
            </a:r>
            <a:endParaRPr sz="1200">
              <a:solidFill>
                <a:schemeClr val="lt1"/>
              </a:solidFill>
              <a:latin typeface="Raleway Medium"/>
              <a:ea typeface="Raleway Medium"/>
              <a:cs typeface="Raleway Medium"/>
              <a:sym typeface="Raleway Medium"/>
            </a:endParaRPr>
          </a:p>
        </p:txBody>
      </p:sp>
      <p:sp>
        <p:nvSpPr>
          <p:cNvPr id="420" name="Google Shape;420;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6" name="Google Shape;426;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Saat Anda melalui proses Design Thinking, Anda akan terus-menerus merujuk kembali ke ______________ Anda untuk memastikan Anda bergerak ke arah yang benar.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pertanyaan masalah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kenyataan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pernyataan masalah</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empati</a:t>
            </a:r>
            <a:endParaRPr sz="1200">
              <a:solidFill>
                <a:srgbClr val="A667A5"/>
              </a:solidFill>
              <a:latin typeface="Raleway Medium"/>
              <a:ea typeface="Raleway Medium"/>
              <a:cs typeface="Raleway Medium"/>
              <a:sym typeface="Raleway Medium"/>
            </a:endParaRPr>
          </a:p>
        </p:txBody>
      </p:sp>
      <p:sp>
        <p:nvSpPr>
          <p:cNvPr id="427" name="Google Shape;427;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47"/>
          <p:cNvSpPr/>
          <p:nvPr/>
        </p:nvSpPr>
        <p:spPr>
          <a:xfrm>
            <a:off x="685800" y="37651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Saat Anda melalui proses Design Thinking, Anda akan terus-menerus merujuk kembali ke pernyataan masalah Anda untuk memastikan Anda bergerak ke arah yang benar.</a:t>
            </a:r>
            <a:endParaRPr b="1" sz="1000">
              <a:solidFill>
                <a:srgbClr val="733572"/>
              </a:solidFill>
              <a:latin typeface="Raleway"/>
              <a:ea typeface="Raleway"/>
              <a:cs typeface="Raleway"/>
              <a:sym typeface="Raleway"/>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4" name="Google Shape;434;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Secara teori, fase define dilanjutkan oleh fase…</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p:txBody>
      </p:sp>
      <p:sp>
        <p:nvSpPr>
          <p:cNvPr id="435" name="Google Shape;43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1" name="Google Shape;441;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Secara teori, fase define dilanjutkan oleh fase…</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empathize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ideate</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test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prototype</a:t>
            </a:r>
            <a:endParaRPr sz="1200">
              <a:solidFill>
                <a:srgbClr val="A667A5"/>
              </a:solidFill>
              <a:latin typeface="Raleway Medium"/>
              <a:ea typeface="Raleway Medium"/>
              <a:cs typeface="Raleway Medium"/>
              <a:sym typeface="Raleway Medium"/>
            </a:endParaRPr>
          </a:p>
        </p:txBody>
      </p:sp>
      <p:sp>
        <p:nvSpPr>
          <p:cNvPr id="442" name="Google Shape;44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3" name="Google Shape;443;p49"/>
          <p:cNvSpPr/>
          <p:nvPr/>
        </p:nvSpPr>
        <p:spPr>
          <a:xfrm>
            <a:off x="685800" y="31555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Secara teori, berikut adalah kelima fase design thinking: empathize, define, ideate, prototype dan test.</a:t>
            </a:r>
            <a:endParaRPr b="1" sz="1000">
              <a:solidFill>
                <a:srgbClr val="733572"/>
              </a:solidFill>
              <a:latin typeface="Raleway"/>
              <a:ea typeface="Raleway"/>
              <a:cs typeface="Raleway"/>
              <a:sym typeface="Raleway"/>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9" name="Google Shape;449;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Mengajukan _______ yang tepat akan membantu Anda meletakkan jari Anda pada _______ masalah yang tepat.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solusi, pernyataan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penyataan, pertanyaan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masalah, pernyataan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pertanyaan, pernyataan</a:t>
            </a:r>
            <a:endParaRPr sz="1200">
              <a:solidFill>
                <a:schemeClr val="lt1"/>
              </a:solidFill>
              <a:latin typeface="Raleway Medium"/>
              <a:ea typeface="Raleway Medium"/>
              <a:cs typeface="Raleway Medium"/>
              <a:sym typeface="Raleway Medium"/>
            </a:endParaRPr>
          </a:p>
          <a:p>
            <a:pPr indent="0" lvl="0" marL="45720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50" name="Google Shape;450;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56" name="Google Shape;456;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Mengajukan _______ yang tepat akan membantu Anda meletakkan jari Anda pada _______ masalah yang tepat.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solusi, pernyataan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penyataan, pertanyaan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masalah, pernyataan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pertanyaan, pernyataan</a:t>
            </a:r>
            <a:endParaRPr b="1" sz="1200">
              <a:solidFill>
                <a:schemeClr val="lt1"/>
              </a:solidFill>
              <a:latin typeface="Raleway"/>
              <a:ea typeface="Raleway"/>
              <a:cs typeface="Raleway"/>
              <a:sym typeface="Raleway"/>
            </a:endParaRPr>
          </a:p>
          <a:p>
            <a:pPr indent="0" lvl="0" marL="45720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57" name="Google Shape;457;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8" name="Google Shape;458;p51"/>
          <p:cNvSpPr/>
          <p:nvPr/>
        </p:nvSpPr>
        <p:spPr>
          <a:xfrm>
            <a:off x="685800" y="35365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Mengajukan pertanyaan yang tepat akan membantu Anda meletakkan jadi Anda pada pernyataan masalah yang tepat.</a:t>
            </a:r>
            <a:endParaRPr b="1" sz="1000">
              <a:solidFill>
                <a:srgbClr val="733572"/>
              </a:solidFill>
              <a:latin typeface="Raleway"/>
              <a:ea typeface="Raleway"/>
              <a:cs typeface="Raleway"/>
              <a:sym typeface="Ralewa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4" name="Google Shape;464;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Diskusikan gambar dibawah ini dan kaitannya dengan hubungan fase empathizing dan defining.</a:t>
            </a:r>
            <a:endParaRPr sz="1200">
              <a:solidFill>
                <a:schemeClr val="lt1"/>
              </a:solidFill>
              <a:latin typeface="Raleway Medium"/>
              <a:ea typeface="Raleway Medium"/>
              <a:cs typeface="Raleway Medium"/>
              <a:sym typeface="Raleway Medium"/>
            </a:endParaRPr>
          </a:p>
        </p:txBody>
      </p:sp>
      <p:sp>
        <p:nvSpPr>
          <p:cNvPr id="465" name="Google Shape;465;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66" name="Google Shape;466;p52"/>
          <p:cNvPicPr preferRelativeResize="0"/>
          <p:nvPr/>
        </p:nvPicPr>
        <p:blipFill>
          <a:blip r:embed="rId3">
            <a:alphaModFix/>
          </a:blip>
          <a:stretch>
            <a:fillRect/>
          </a:stretch>
        </p:blipFill>
        <p:spPr>
          <a:xfrm>
            <a:off x="4517500" y="1973550"/>
            <a:ext cx="3935594" cy="24325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73" name="Google Shape;473;p5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74" name="Google Shape;474;p53"/>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a:t>
            </a:r>
            <a:r>
              <a:rPr lang="en" sz="1200" u="sng">
                <a:solidFill>
                  <a:schemeClr val="accent5"/>
                </a:solidFill>
                <a:latin typeface="Raleway Medium"/>
                <a:ea typeface="Raleway Medium"/>
                <a:cs typeface="Raleway Medium"/>
                <a:sym typeface="Raleway Medium"/>
                <a:hlinkClick r:id="rId4">
                  <a:extLst>
                    <a:ext uri="{A12FA001-AC4F-418D-AE19-62706E023703}">
                      <ahyp:hlinkClr val="tx"/>
                    </a:ext>
                  </a:extLst>
                </a:hlinkClick>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a:t>
            </a:r>
            <a:r>
              <a:rPr lang="en" sz="1200" u="sng">
                <a:solidFill>
                  <a:schemeClr val="accent5"/>
                </a:solidFill>
                <a:latin typeface="Raleway Medium"/>
                <a:ea typeface="Raleway Medium"/>
                <a:cs typeface="Raleway Medium"/>
                <a:sym typeface="Raleway Medium"/>
                <a:hlinkClick r:id="rId5">
                  <a:extLst>
                    <a:ext uri="{A12FA001-AC4F-418D-AE19-62706E023703}">
                      <ahyp:hlinkClr val="tx"/>
                    </a:ext>
                  </a:extLst>
                </a:hlinkClick>
              </a:rPr>
              <a:t>5 Stages in The Design Thinking Process by Interaction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accent5"/>
                </a:solidFill>
                <a:uFill>
                  <a:noFill/>
                </a:uFill>
                <a:latin typeface="Raleway Medium"/>
                <a:ea typeface="Raleway Medium"/>
                <a:cs typeface="Raleway Medium"/>
                <a:sym typeface="Raleway Medium"/>
                <a:hlinkClick r:id="rId6">
                  <a:extLst>
                    <a:ext uri="{A12FA001-AC4F-418D-AE19-62706E023703}">
                      <ahyp:hlinkClr val="tx"/>
                    </a:ext>
                  </a:extLst>
                </a:hlinkClick>
              </a:rPr>
              <a:t>    </a:t>
            </a:r>
            <a:r>
              <a:rPr lang="en" sz="1200" u="sng">
                <a:solidFill>
                  <a:schemeClr val="accent5"/>
                </a:solidFill>
                <a:latin typeface="Raleway Medium"/>
                <a:ea typeface="Raleway Medium"/>
                <a:cs typeface="Raleway Medium"/>
                <a:sym typeface="Raleway Medium"/>
                <a:hlinkClick r:id="rId7">
                  <a:extLst>
                    <a:ext uri="{A12FA001-AC4F-418D-AE19-62706E023703}">
                      <ahyp:hlinkClr val="tx"/>
                    </a:ext>
                  </a:extLst>
                </a:hlinkClick>
              </a:rPr>
              <a:t>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8"/>
              </a:rPr>
              <a:t>Defining The Problem  by Interaction Design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9"/>
              </a:rPr>
              <a:t>    </a:t>
            </a:r>
            <a:r>
              <a:rPr lang="en" sz="1200" u="sng">
                <a:solidFill>
                  <a:schemeClr val="hlink"/>
                </a:solidFill>
                <a:latin typeface="Raleway Medium"/>
                <a:ea typeface="Raleway Medium"/>
                <a:cs typeface="Raleway Medium"/>
                <a:sym typeface="Raleway Medium"/>
                <a:hlinkClick r:id="rId10"/>
              </a:rPr>
              <a:t>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11"/>
              </a:rPr>
              <a:t>Stage 2 in the Design Thinking Process: Define the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12"/>
              </a:rPr>
              <a:t>    </a:t>
            </a:r>
            <a:r>
              <a:rPr lang="en" sz="1200" u="sng">
                <a:solidFill>
                  <a:schemeClr val="hlink"/>
                </a:solidFill>
                <a:latin typeface="Raleway Medium"/>
                <a:ea typeface="Raleway Medium"/>
                <a:cs typeface="Raleway Medium"/>
                <a:sym typeface="Raleway Medium"/>
                <a:hlinkClick r:id="rId13"/>
              </a:rPr>
              <a:t>Problem by careerfoundry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78" name="Shape 478"/>
        <p:cNvGrpSpPr/>
        <p:nvPr/>
      </p:nvGrpSpPr>
      <p:grpSpPr>
        <a:xfrm>
          <a:off x="0" y="0"/>
          <a:ext cx="0" cy="0"/>
          <a:chOff x="0" y="0"/>
          <a:chExt cx="0" cy="0"/>
        </a:xfrm>
      </p:grpSpPr>
      <p:sp>
        <p:nvSpPr>
          <p:cNvPr id="479" name="Google Shape;479;p54"/>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80" name="Google Shape;480;p54"/>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81" name="Google Shape;481;p54"/>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82" name="Google Shape;482;p54"/>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83" name="Google Shape;483;p54"/>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84" name="Google Shape;484;p54"/>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85" name="Google Shape;485;p54"/>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86" name="Google Shape;486;p54"/>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