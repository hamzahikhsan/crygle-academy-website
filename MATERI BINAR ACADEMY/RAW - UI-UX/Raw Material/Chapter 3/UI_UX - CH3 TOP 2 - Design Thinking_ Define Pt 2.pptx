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Lst>
  <p:sldSz cy="5143500" cx="9144000"/>
  <p:notesSz cx="6858000" cy="9144000"/>
  <p:embeddedFontLst>
    <p:embeddedFont>
      <p:font typeface="Raleway"/>
      <p:regular r:id="rId82"/>
      <p:bold r:id="rId83"/>
      <p:italic r:id="rId84"/>
      <p:boldItalic r:id="rId85"/>
    </p:embeddedFont>
    <p:embeddedFont>
      <p:font typeface="Roboto Thin"/>
      <p:regular r:id="rId86"/>
      <p:bold r:id="rId87"/>
      <p:italic r:id="rId88"/>
      <p:boldItalic r:id="rId89"/>
    </p:embeddedFont>
    <p:embeddedFont>
      <p:font typeface="Roboto"/>
      <p:regular r:id="rId90"/>
      <p:bold r:id="rId91"/>
      <p:italic r:id="rId92"/>
      <p:boldItalic r:id="rId93"/>
    </p:embeddedFont>
    <p:embeddedFont>
      <p:font typeface="Roboto Medium"/>
      <p:regular r:id="rId94"/>
      <p:bold r:id="rId95"/>
      <p:italic r:id="rId96"/>
      <p:boldItalic r:id="rId97"/>
    </p:embeddedFont>
    <p:embeddedFont>
      <p:font typeface="Montserrat"/>
      <p:regular r:id="rId98"/>
      <p:bold r:id="rId99"/>
      <p:italic r:id="rId100"/>
      <p:boldItalic r:id="rId101"/>
    </p:embeddedFont>
    <p:embeddedFont>
      <p:font typeface="Lato Black"/>
      <p:bold r:id="rId102"/>
      <p:boldItalic r:id="rId103"/>
    </p:embeddedFont>
    <p:embeddedFont>
      <p:font typeface="Raleway Medium"/>
      <p:regular r:id="rId104"/>
      <p:bold r:id="rId105"/>
      <p:italic r:id="rId106"/>
      <p:boldItalic r:id="rId10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font" Target="fonts/RalewayMedium-boldItalic.fntdata"/><Relationship Id="rId106" Type="http://schemas.openxmlformats.org/officeDocument/2006/relationships/font" Target="fonts/RalewayMedium-italic.fntdata"/><Relationship Id="rId105" Type="http://schemas.openxmlformats.org/officeDocument/2006/relationships/font" Target="fonts/RalewayMedium-bold.fntdata"/><Relationship Id="rId104" Type="http://schemas.openxmlformats.org/officeDocument/2006/relationships/font" Target="fonts/RalewayMedium-regular.fnt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font" Target="fonts/LatoBlack-boldItalic.fntdata"/><Relationship Id="rId102" Type="http://schemas.openxmlformats.org/officeDocument/2006/relationships/font" Target="fonts/LatoBlack-bold.fntdata"/><Relationship Id="rId101" Type="http://schemas.openxmlformats.org/officeDocument/2006/relationships/font" Target="fonts/Montserrat-boldItalic.fntdata"/><Relationship Id="rId100" Type="http://schemas.openxmlformats.org/officeDocument/2006/relationships/font" Target="fonts/Montserrat-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font" Target="fonts/RobotoMedium-bold.fntdata"/><Relationship Id="rId94" Type="http://schemas.openxmlformats.org/officeDocument/2006/relationships/font" Target="fonts/RobotoMedium-regular.fntdata"/><Relationship Id="rId97" Type="http://schemas.openxmlformats.org/officeDocument/2006/relationships/font" Target="fonts/RobotoMedium-boldItalic.fntdata"/><Relationship Id="rId96" Type="http://schemas.openxmlformats.org/officeDocument/2006/relationships/font" Target="fonts/RobotoMedium-italic.fntdata"/><Relationship Id="rId11" Type="http://schemas.openxmlformats.org/officeDocument/2006/relationships/slide" Target="slides/slide6.xml"/><Relationship Id="rId99" Type="http://schemas.openxmlformats.org/officeDocument/2006/relationships/font" Target="fonts/Montserrat-bold.fntdata"/><Relationship Id="rId10" Type="http://schemas.openxmlformats.org/officeDocument/2006/relationships/slide" Target="slides/slide5.xml"/><Relationship Id="rId98" Type="http://schemas.openxmlformats.org/officeDocument/2006/relationships/font" Target="fonts/Montserrat-regular.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font" Target="fonts/Roboto-bold.fntdata"/><Relationship Id="rId90" Type="http://schemas.openxmlformats.org/officeDocument/2006/relationships/font" Target="fonts/Roboto-regular.fntdata"/><Relationship Id="rId93" Type="http://schemas.openxmlformats.org/officeDocument/2006/relationships/font" Target="fonts/Roboto-boldItalic.fntdata"/><Relationship Id="rId92" Type="http://schemas.openxmlformats.org/officeDocument/2006/relationships/font" Target="fonts/Robot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font" Target="fonts/Raleway-italic.fntdata"/><Relationship Id="rId83" Type="http://schemas.openxmlformats.org/officeDocument/2006/relationships/font" Target="fonts/Raleway-bold.fntdata"/><Relationship Id="rId86" Type="http://schemas.openxmlformats.org/officeDocument/2006/relationships/font" Target="fonts/RobotoThin-regular.fntdata"/><Relationship Id="rId85" Type="http://schemas.openxmlformats.org/officeDocument/2006/relationships/font" Target="fonts/Raleway-boldItalic.fntdata"/><Relationship Id="rId88" Type="http://schemas.openxmlformats.org/officeDocument/2006/relationships/font" Target="fonts/RobotoThin-italic.fntdata"/><Relationship Id="rId87" Type="http://schemas.openxmlformats.org/officeDocument/2006/relationships/font" Target="fonts/RobotoThin-bold.fntdata"/><Relationship Id="rId89" Type="http://schemas.openxmlformats.org/officeDocument/2006/relationships/font" Target="fonts/RobotoThin-boldItalic.fntdata"/><Relationship Id="rId80" Type="http://schemas.openxmlformats.org/officeDocument/2006/relationships/slide" Target="slides/slide75.xml"/><Relationship Id="rId82" Type="http://schemas.openxmlformats.org/officeDocument/2006/relationships/font" Target="fonts/Raleway-regular.fntdata"/><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avement_special?utm_source=unsplash&amp;utm_medium=referral&amp;utm_content=creditCopyText" TargetMode="External"/><Relationship Id="rId3" Type="http://schemas.openxmlformats.org/officeDocument/2006/relationships/hyperlink" Target="https://unsplash.com/@pavement_special?utm_source=unsplash&amp;utm_medium=referral&amp;utm_content=creditCopyText" TargetMode="External"/><Relationship Id="rId4" Type="http://schemas.openxmlformats.org/officeDocument/2006/relationships/hyperlink" Target="https://unsplash.com/s/photos/opportunity?utm_source=unsplash&amp;utm_medium=referral&amp;utm_content=creditCopyText" TargetMode="External"/><Relationship Id="rId5" Type="http://schemas.openxmlformats.org/officeDocument/2006/relationships/hyperlink" Target="https://unsplash.com/s/photos/opportunity?utm_source=unsplash&amp;utm_medium=referral&amp;utm_content=creditCopyText"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oymeraki?utm_source=unsplash&amp;utm_medium=referral&amp;utm_content=creditCopyText" TargetMode="External"/><Relationship Id="rId3" Type="http://schemas.openxmlformats.org/officeDocument/2006/relationships/hyperlink" Target="https://unsplash.com/@soymeraki?utm_source=unsplash&amp;utm_medium=referral&amp;utm_content=creditCopyText" TargetMode="External"/><Relationship Id="rId4" Type="http://schemas.openxmlformats.org/officeDocument/2006/relationships/hyperlink" Target="https://unsplash.com/s/photos/opportunity?utm_source=unsplash&amp;utm_medium=referral&amp;utm_content=creditCopyText" TargetMode="External"/><Relationship Id="rId5" Type="http://schemas.openxmlformats.org/officeDocument/2006/relationships/hyperlink" Target="https://unsplash.com/s/photos/opportunity?utm_source=unsplash&amp;utm_medium=referral&amp;utm_content=creditCopyTex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data-user?utm_source=unsplash&amp;utm_medium=referral&amp;utm_content=creditCopyText" TargetMode="External"/><Relationship Id="rId5" Type="http://schemas.openxmlformats.org/officeDocument/2006/relationships/hyperlink" Target="https://unsplash.com/s/photos/data-user?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kobowens1?utm_source=unsplash&amp;utm_medium=referral&amp;utm_content=creditCopyText" TargetMode="External"/><Relationship Id="rId3" Type="http://schemas.openxmlformats.org/officeDocument/2006/relationships/hyperlink" Target="https://unsplash.com/@jakobowens1?utm_source=unsplash&amp;utm_medium=referral&amp;utm_content=creditCopyText" TargetMode="External"/><Relationship Id="rId4" Type="http://schemas.openxmlformats.org/officeDocument/2006/relationships/hyperlink" Target="https://unsplash.com/s/photos/point-of-view?utm_source=unsplash&amp;utm_medium=referral&amp;utm_content=creditCopyText" TargetMode="External"/><Relationship Id="rId5" Type="http://schemas.openxmlformats.org/officeDocument/2006/relationships/hyperlink" Target="https://unsplash.com/s/photos/point-of-view?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arpsjoseph?utm_source=unsplash&amp;utm_medium=referral&amp;utm_content=creditCopyText" TargetMode="External"/><Relationship Id="rId3" Type="http://schemas.openxmlformats.org/officeDocument/2006/relationships/hyperlink" Target="https://unsplash.com/@harpsjoseph?utm_source=unsplash&amp;utm_medium=referral&amp;utm_content=creditCopyText" TargetMode="External"/><Relationship Id="rId4" Type="http://schemas.openxmlformats.org/officeDocument/2006/relationships/hyperlink" Target="https://unsplash.com/s/photos/user-persona?utm_source=unsplash&amp;utm_medium=referral&amp;utm_content=creditCopyText" TargetMode="External"/><Relationship Id="rId5" Type="http://schemas.openxmlformats.org/officeDocument/2006/relationships/hyperlink" Target="https://unsplash.com/s/photos/user-persona?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arpsjoseph?utm_source=unsplash&amp;utm_medium=referral&amp;utm_content=creditCopyText" TargetMode="External"/><Relationship Id="rId3" Type="http://schemas.openxmlformats.org/officeDocument/2006/relationships/hyperlink" Target="https://unsplash.com/@harpsjoseph?utm_source=unsplash&amp;utm_medium=referral&amp;utm_content=creditCopyText" TargetMode="External"/><Relationship Id="rId4" Type="http://schemas.openxmlformats.org/officeDocument/2006/relationships/hyperlink" Target="https://unsplash.com/s/photos/user-persona?utm_source=unsplash&amp;utm_medium=referral&amp;utm_content=creditCopyText" TargetMode="External"/><Relationship Id="rId5" Type="http://schemas.openxmlformats.org/officeDocument/2006/relationships/hyperlink" Target="https://unsplash.com/s/photos/user-persona?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arpsjoseph?utm_source=unsplash&amp;utm_medium=referral&amp;utm_content=creditCopyText" TargetMode="External"/><Relationship Id="rId3" Type="http://schemas.openxmlformats.org/officeDocument/2006/relationships/hyperlink" Target="https://unsplash.com/@harpsjoseph?utm_source=unsplash&amp;utm_medium=referral&amp;utm_content=creditCopyText" TargetMode="External"/><Relationship Id="rId4" Type="http://schemas.openxmlformats.org/officeDocument/2006/relationships/hyperlink" Target="https://unsplash.com/s/photos/user-persona?utm_source=unsplash&amp;utm_medium=referral&amp;utm_content=creditCopyText" TargetMode="External"/><Relationship Id="rId5" Type="http://schemas.openxmlformats.org/officeDocument/2006/relationships/hyperlink" Target="https://unsplash.com/s/photos/user-persona?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arpsjoseph?utm_source=unsplash&amp;utm_medium=referral&amp;utm_content=creditCopyText" TargetMode="External"/><Relationship Id="rId3" Type="http://schemas.openxmlformats.org/officeDocument/2006/relationships/hyperlink" Target="https://unsplash.com/@harpsjoseph?utm_source=unsplash&amp;utm_medium=referral&amp;utm_content=creditCopyText" TargetMode="External"/><Relationship Id="rId4" Type="http://schemas.openxmlformats.org/officeDocument/2006/relationships/hyperlink" Target="https://unsplash.com/s/photos/user-persona?utm_source=unsplash&amp;utm_medium=referral&amp;utm_content=creditCopyText" TargetMode="External"/><Relationship Id="rId5" Type="http://schemas.openxmlformats.org/officeDocument/2006/relationships/hyperlink" Target="https://unsplash.com/s/photos/user-persona?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oadtripwithraj?utm_source=unsplash&amp;utm_medium=referral&amp;utm_content=creditCopyText" TargetMode="External"/><Relationship Id="rId3" Type="http://schemas.openxmlformats.org/officeDocument/2006/relationships/hyperlink" Target="https://unsplash.com/@roadtripwithraj?utm_source=unsplash&amp;utm_medium=referral&amp;utm_content=creditCopyText" TargetMode="External"/><Relationship Id="rId4" Type="http://schemas.openxmlformats.org/officeDocument/2006/relationships/hyperlink" Target="https://unsplash.com/s/photos/pain-points?utm_source=unsplash&amp;utm_medium=referral&amp;utm_content=creditCopyText" TargetMode="External"/><Relationship Id="rId5" Type="http://schemas.openxmlformats.org/officeDocument/2006/relationships/hyperlink" Target="https://unsplash.com/s/photos/pain-points?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philberndt?utm_source=unsplash&amp;utm_medium=referral&amp;utm_content=creditCopyText" TargetMode="External"/><Relationship Id="rId3" Type="http://schemas.openxmlformats.org/officeDocument/2006/relationships/hyperlink" Target="https://unsplash.com/@philberndt?utm_source=unsplash&amp;utm_medium=referral&amp;utm_content=creditCopyText" TargetMode="External"/><Relationship Id="rId4" Type="http://schemas.openxmlformats.org/officeDocument/2006/relationships/hyperlink" Target="https://unsplash.com/s/photos/room?utm_source=unsplash&amp;utm_medium=referral&amp;utm_content=creditCopyText" TargetMode="External"/><Relationship Id="rId5" Type="http://schemas.openxmlformats.org/officeDocument/2006/relationships/hyperlink" Target="https://unsplash.com/s/photos/room?utm_source=unsplash&amp;utm_medium=referral&amp;utm_content=creditCopyText"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ser-journey-map?utm_source=unsplash&amp;utm_medium=referral&amp;utm_content=creditCopyText" TargetMode="External"/><Relationship Id="rId5" Type="http://schemas.openxmlformats.org/officeDocument/2006/relationships/hyperlink" Target="https://unsplash.com/s/photos/user-journey-map?utm_source=unsplash&amp;utm_medium=referral&amp;utm_content=creditCopyText"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ser-journey-map?utm_source=unsplash&amp;utm_medium=referral&amp;utm_content=creditCopyText" TargetMode="External"/><Relationship Id="rId5" Type="http://schemas.openxmlformats.org/officeDocument/2006/relationships/hyperlink" Target="https://unsplash.com/s/photos/user-journey-map?utm_source=unsplash&amp;utm_medium=referral&amp;utm_content=creditCopyText"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ser-journey-map?utm_source=unsplash&amp;utm_medium=referral&amp;utm_content=creditCopyText" TargetMode="External"/><Relationship Id="rId5" Type="http://schemas.openxmlformats.org/officeDocument/2006/relationships/hyperlink" Target="https://unsplash.com/s/photos/user-journey-map?utm_source=unsplash&amp;utm_medium=referral&amp;utm_content=creditCopyText"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ser-journey-map?utm_source=unsplash&amp;utm_medium=referral&amp;utm_content=creditCopyText" TargetMode="External"/><Relationship Id="rId5" Type="http://schemas.openxmlformats.org/officeDocument/2006/relationships/hyperlink" Target="https://unsplash.com/s/photos/user-journey-map?utm_source=unsplash&amp;utm_medium=referral&amp;utm_content=creditCopyText"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user-journey-map?utm_source=unsplash&amp;utm_medium=referral&amp;utm_content=creditCopyText" TargetMode="External"/><Relationship Id="rId5" Type="http://schemas.openxmlformats.org/officeDocument/2006/relationships/hyperlink" Target="https://unsplash.com/s/photos/user-journey-map?utm_source=unsplash&amp;utm_medium=referral&amp;utm_content=creditCopyText"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abriellefaithhenderson?utm_source=unsplash&amp;utm_medium=referral&amp;utm_content=creditCopyText" TargetMode="External"/><Relationship Id="rId3" Type="http://schemas.openxmlformats.org/officeDocument/2006/relationships/hyperlink" Target="https://unsplash.com/@gabriellefaithhenderson?utm_source=unsplash&amp;utm_medium=referral&amp;utm_content=creditCopyText" TargetMode="External"/><Relationship Id="rId4" Type="http://schemas.openxmlformats.org/officeDocument/2006/relationships/hyperlink" Target="https://unsplash.com/s/photos/college-student?utm_source=unsplash&amp;utm_medium=referral&amp;utm_content=creditCopyText" TargetMode="External"/><Relationship Id="rId5" Type="http://schemas.openxmlformats.org/officeDocument/2006/relationships/hyperlink" Target="https://unsplash.com/s/photos/college-student?utm_source=unsplash&amp;utm_medium=referral&amp;utm_content=creditCopyText"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10f670bd1a_1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10f670bd1a_1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Riccardo Annandale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1127d2a46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1127d2a46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Javier Allegue Barros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1127d2a46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1127d2a46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1127d2a46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1127d2a46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1127d2a46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1127d2a46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1127d2a467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1127d2a467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1127d2a467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1127d2a467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1127d2a467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1127d2a46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1127d2a467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1127d2a467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1127d2a467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1127d2a467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Jakob Owens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1127d2a467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1127d2a467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1127d2a467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1127d2a467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https://www.oreilly.com/library/view/hands-on-ux-design/9781788626699/1b429cd1-267d-4664-9602-966a2062b53f.xhtml</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1127d2a467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1127d2a467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https://www.oreilly.com/library/view/hands-on-ux-design/9781788626699/1b429cd1-267d-4664-9602-966a2062b53f.xhtml</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1127d2a467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1127d2a467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Harps Joseph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1127d2a467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1127d2a467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Harps Joseph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1127d2a467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1127d2a467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https://xtensio.com/user-persona-template/</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1127d2a467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1127d2a467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https://riyanthisianturi.com/persona/</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1127d2a467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1127d2a467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https://www.jeffbullas.com/reduce-facebook-ad-costs/</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11127d2a467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11127d2a467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https://ergomania-ux.medium.com/the-ultimate-guide-to-creating-personas-and-how-to-use-them-to-enhance-your-business-1066b0d1f50b</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1127d2a467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1127d2a467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https://www.interaction-design.org/discuss/event/creation-of-personas-apr-13th-2019</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1127d2a467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1127d2a467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Harps Joseph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1127d2a467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11127d2a467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1127d2a467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11127d2a467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Maxim Hopman</a:t>
            </a:r>
            <a:r>
              <a:rPr lang="en">
                <a:solidFill>
                  <a:schemeClr val="dk1"/>
                </a:solidFill>
              </a:rPr>
              <a:t> </a:t>
            </a:r>
            <a:r>
              <a:rPr lang="en">
                <a:solidFill>
                  <a:schemeClr val="dk1"/>
                </a:solidFill>
              </a:rPr>
              <a:t>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1127d2a467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1127d2a467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Road Trip with Raj</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1127d2a467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1127d2a467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https://ecommerce-platforms.com/ecommerce-selling-advice/12-e-commerce-sites-inspirational-checkouts</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1127d2a467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11127d2a467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https://home.bluesnap.com/snap-center/blog/4-payment-page-design-examples-to-copy/</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1127d2a467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1127d2a467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1127d2a467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1127d2a467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1127d2a467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1127d2a467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https://careerfoundry.com/en/blog/ux-design/personas-vs-jtbd/</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1127d2a467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1127d2a467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https://careerfoundry.com/en/blog/ux-design/personas-vs-jtbd/</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11127d2a467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11127d2a467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https://careerfoundry.com/en/blog/ux-design/personas-vs-jtbd/</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11127d2a467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11127d2a467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Philipp Berndt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1127d2a467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11127d2a467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1127d2a467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1127d2a467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11127d2a467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11127d2a467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https://www.slideteam.net/customer-journey-mapping-example-improvement-opportunities.html</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1127d2a467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1127d2a467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1127d2a467_0_4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11127d2a467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1127d2a467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1127d2a467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11127d2a467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11127d2a467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11127d2a467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11127d2a467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1127d2a467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1127d2a467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11127d2a467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11127d2a467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Gabrielle Henderson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11127d2a467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11127d2a467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https://www.nngroup.com/articles/journey-mapping-101/</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11127d2a467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11127d2a467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https://www.nngroup.com/articles/journey-mapping-101/</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11127d2a467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11127d2a467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https://www.nngroup.com/articles/journey-mapping-101/</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11127d2a467_0_5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1" name="Google Shape;521;g11127d2a467_0_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https://www.nngroup.com/articles/journey-mapping-101/</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11127d2a467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11127d2a467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https://www.nngroup.com/articles/journey-mapping-101/</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11127d2a467_0_6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11127d2a467_0_6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https://www.nngroup.com/articles/journey-mapping-101/</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11127d2a467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11127d2a467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https://www.interaction-design.org/discuss/event/creation-of-personas-apr-13th-2019</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11127d2a467_0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11127d2a467_0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https://www.interaction-design.org/discuss/event/creation-of-personas-apr-13th-2019</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d1ea7c62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d1ea7c62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https://digital.gov/2015/08/12/journey-mapping-the-customer-experience-a-usa-gov-case-study/</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11127d2a467_0_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11127d2a467_0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https://www.interaction-design.org/discuss/event/creation-of-personas-apr-13th-2019</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11127d2a467_0_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11127d2a467_0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https://www.interaction-design.org/discuss/event/creation-of-personas-apr-13th-2019</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11127d2a467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11127d2a467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11127d2a467_0_6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11127d2a467_0_6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https://www.nngroup.com/articles/journey-mapping-101/</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11127d2a467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11127d2a467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https://www.nngroup.com/articles/journey-mapping-101/</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11127d2a467_0_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11127d2a467_0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https://www.nngroup.com/articles/journey-mapping-101/</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11127d2a467_0_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11127d2a467_0_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https://www.nngroup.com/articles/journey-mapping-101/</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11127d2a4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11127d2a4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10e8c3a84c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10e8c3a84c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11127d2a467_0_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11127d2a467_0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11127d2a467_0_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11127d2a467_0_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11127d2a467_0_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11127d2a467_0_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11127d2a467_0_7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11127d2a467_0_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11127d2a467_0_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11127d2a467_0_7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11127d2a467_0_7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11127d2a467_0_7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11127d2a467_0_7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11127d2a467_0_7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11127d2a467_0_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11127d2a467_0_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11127d2a467_0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11127d2a467_0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112c66a922d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8" name="Google Shape;708;g112c66a922d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112c66a922d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112c66a922d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112c66a92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112c66a92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unsplash.com/@pavement_special" TargetMode="External"/><Relationship Id="rId4" Type="http://schemas.openxmlformats.org/officeDocument/2006/relationships/image" Target="../media/image3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unsplash.com/@soymeraki?utm_source=unsplash&amp;utm_medium=referral&amp;utm_content=creditCopyText" TargetMode="External"/><Relationship Id="rId4" Type="http://schemas.openxmlformats.org/officeDocument/2006/relationships/image" Target="../media/image1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image" Target="../media/image2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unsplash.com/@jakobowens1?utm_source=unsplash&amp;utm_medium=referral&amp;utm_content=creditCopyText" TargetMode="External"/><Relationship Id="rId4" Type="http://schemas.openxmlformats.org/officeDocument/2006/relationships/image" Target="../media/image2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unsplash.com/@harpsjoseph?utm_source=unsplash&amp;utm_medium=referral&amp;utm_content=creditCopyText" TargetMode="Externa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unsplash.com/@harpsjoseph?utm_source=unsplash&amp;utm_medium=referral&amp;utm_content=creditCopyText" TargetMode="Externa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xtensio.com/user-persona-template/" TargetMode="Externa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ergomania-ux.medium.com/the-ultimate-guide-to-creating-personas-and-how-to-use-them-to-enhance-your-business-1066b0d1f50b" TargetMode="External"/><Relationship Id="rId4" Type="http://schemas.openxmlformats.org/officeDocument/2006/relationships/image" Target="../media/image1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unsplash.com/@harpsjoseph?utm_source=unsplash&amp;utm_medium=referral&amp;utm_content=creditCopyText" TargetMode="External"/><Relationship Id="rId4" Type="http://schemas.openxmlformats.org/officeDocument/2006/relationships/image" Target="../media/image2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unsplash.com/@nampoh?utm_source=unsplash&amp;utm_medium=referral&amp;utm_content=creditCopyText" TargetMode="External"/><Relationship Id="rId4" Type="http://schemas.openxmlformats.org/officeDocument/2006/relationships/image" Target="../media/image1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unsplash.com/@roadtripwithraj?utm_source=unsplash&amp;utm_medium=referral&amp;utm_content=creditCopyText" TargetMode="External"/><Relationship Id="rId4" Type="http://schemas.openxmlformats.org/officeDocument/2006/relationships/image" Target="../media/image2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unsplash.com/@harpsjoseph?utm_source=unsplash&amp;utm_medium=referral&amp;utm_content=creditCopyText" TargetMode="Externa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unsplash.com/@harpsjoseph?utm_source=unsplash&amp;utm_medium=referral&amp;utm_content=creditCopyText" TargetMode="Externa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careerfoundry.com/en/blog/ux-design/what-is-a-persona/" TargetMode="External"/><Relationship Id="rId4" Type="http://schemas.openxmlformats.org/officeDocument/2006/relationships/image" Target="../media/image1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careerfoundry.com/en/blog/ux-design/what-is-a-persona/" TargetMode="External"/><Relationship Id="rId4" Type="http://schemas.openxmlformats.org/officeDocument/2006/relationships/image" Target="../media/image1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careerfoundry.com/en/blog/ux-design/what-is-a-persona/" TargetMode="External"/><Relationship Id="rId4" Type="http://schemas.openxmlformats.org/officeDocument/2006/relationships/image" Target="../media/image1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unsplash.com/@philberndt?utm_source=unsplash&amp;utm_medium=referral&amp;utm_content=creditCopyText" TargetMode="External"/><Relationship Id="rId4" Type="http://schemas.openxmlformats.org/officeDocument/2006/relationships/image" Target="../media/image2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www.slideteam.net/customer-journey-mapping-example-improvement-opportunities.html" TargetMode="External"/><Relationship Id="rId4" Type="http://schemas.openxmlformats.org/officeDocument/2006/relationships/image" Target="../media/image17.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image" Target="../media/image32.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image" Target="../media/image3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image" Target="../media/image32.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image" Target="../media/image32.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unsplash.com/@gabriellefaithhenderson?utm_source=unsplash&amp;utm_medium=referral&amp;utm_content=creditCopyText" TargetMode="External"/><Relationship Id="rId4" Type="http://schemas.openxmlformats.org/officeDocument/2006/relationships/image" Target="../media/image35.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2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9.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3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3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3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1" Type="http://schemas.openxmlformats.org/officeDocument/2006/relationships/hyperlink" Target="https://www.nngroup.com/articles/journey-mapping-101/" TargetMode="External"/><Relationship Id="rId10" Type="http://schemas.openxmlformats.org/officeDocument/2006/relationships/hyperlink" Target="https://www.interaction-design.org/literature/topics/defining-the-problem" TargetMode="External"/><Relationship Id="rId13" Type="http://schemas.openxmlformats.org/officeDocument/2006/relationships/hyperlink" Target="https://www.nngroup.com/articles/customer-journey-mapping/" TargetMode="External"/><Relationship Id="rId12" Type="http://schemas.openxmlformats.org/officeDocument/2006/relationships/hyperlink" Target="https://www.nngroup.com/articles/customer-journey-mapping/" TargetMode="External"/><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3.png"/><Relationship Id="rId4" Type="http://schemas.openxmlformats.org/officeDocument/2006/relationships/hyperlink" Target="https://www.interaction-design.org/literature/topics/design-thinking" TargetMode="External"/><Relationship Id="rId9" Type="http://schemas.openxmlformats.org/officeDocument/2006/relationships/hyperlink" Target="https://www.interaction-design.org/literature/topics/defining-the-problem" TargetMode="External"/><Relationship Id="rId14" Type="http://schemas.openxmlformats.org/officeDocument/2006/relationships/hyperlink" Target="https://www.nngroup.com/articles/customer-journey-mapping/" TargetMode="External"/><Relationship Id="rId5" Type="http://schemas.openxmlformats.org/officeDocument/2006/relationships/hyperlink" Target="https://www.interaction-design.org/literature/article/5-stages-in-the-design-thinking-process" TargetMode="External"/><Relationship Id="rId6" Type="http://schemas.openxmlformats.org/officeDocument/2006/relationships/hyperlink" Target="https://www.interaction-design.org/literature/article/5-stages-in-the-design-thinking-process" TargetMode="External"/><Relationship Id="rId7" Type="http://schemas.openxmlformats.org/officeDocument/2006/relationships/hyperlink" Target="https://www.interaction-design.org/literature/article/5-stages-in-the-design-thinking-process" TargetMode="External"/><Relationship Id="rId8" Type="http://schemas.openxmlformats.org/officeDocument/2006/relationships/hyperlink" Target="https://www.interaction-design.org/literature/topics/defining-the-problem"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81" name="Shape 81"/>
        <p:cNvGrpSpPr/>
        <p:nvPr/>
      </p:nvGrpSpPr>
      <p:grpSpPr>
        <a:xfrm>
          <a:off x="0" y="0"/>
          <a:ext cx="0" cy="0"/>
          <a:chOff x="0" y="0"/>
          <a:chExt cx="0" cy="0"/>
        </a:xfrm>
      </p:grpSpPr>
      <p:sp>
        <p:nvSpPr>
          <p:cNvPr id="82" name="Google Shape;82;p16"/>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Design Thinking: Define Pt 2</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3 - Topic 2</a:t>
            </a:r>
            <a:endParaRPr b="1">
              <a:solidFill>
                <a:srgbClr val="FFFFFF"/>
              </a:solidFill>
              <a:latin typeface="Raleway"/>
              <a:ea typeface="Raleway"/>
              <a:cs typeface="Raleway"/>
              <a:sym typeface="Raleway"/>
            </a:endParaRPr>
          </a:p>
        </p:txBody>
      </p:sp>
      <p:cxnSp>
        <p:nvCxnSpPr>
          <p:cNvPr id="83" name="Google Shape;83;p16"/>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84" name="Google Shape;84;p16"/>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85" name="Google Shape;85;p16"/>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1" name="Google Shape;91;p1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92" name="Google Shape;92;p17"/>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93" name="Google Shape;93;p17"/>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Design Thinking: Define Pt 2</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Memahami user (pengguna)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Proses memahami user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User personas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Pain points dan room for improvements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User journey maps</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Memahami User (Pengguna)</a:t>
            </a:r>
            <a:endParaRPr>
              <a:solidFill>
                <a:schemeClr val="accent1"/>
              </a:solidFill>
            </a:endParaRPr>
          </a:p>
        </p:txBody>
      </p:sp>
      <p:sp>
        <p:nvSpPr>
          <p:cNvPr id="99" name="Google Shape;99;p1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 name="Google Shape;105;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Memahami user (pengguna)</a:t>
            </a:r>
            <a:endParaRPr/>
          </a:p>
        </p:txBody>
      </p:sp>
      <p:sp>
        <p:nvSpPr>
          <p:cNvPr id="106" name="Google Shape;106;p19"/>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Ingatkah?</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topik sebelumnya, kita telah memahami bahwa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pengembangan produk bukan sekedar untuk menciptakan inovasi baru, melainkan untuk memenuhi kebutuhan dari suatu peluang yang muncul dari pengguna untuk membutuhkan produk kita.</a:t>
            </a:r>
            <a:endParaRPr sz="1200">
              <a:solidFill>
                <a:schemeClr val="dk1"/>
              </a:solidFill>
              <a:latin typeface="Raleway Medium"/>
              <a:ea typeface="Raleway Medium"/>
              <a:cs typeface="Raleway Medium"/>
              <a:sym typeface="Raleway Medium"/>
            </a:endParaRPr>
          </a:p>
        </p:txBody>
      </p:sp>
      <p:pic>
        <p:nvPicPr>
          <p:cNvPr id="107" name="Google Shape;107;p19">
            <a:hlinkClick r:id="rId3"/>
          </p:cNvPr>
          <p:cNvPicPr preferRelativeResize="0"/>
          <p:nvPr/>
        </p:nvPicPr>
        <p:blipFill rotWithShape="1">
          <a:blip r:embed="rId4">
            <a:alphaModFix/>
          </a:blip>
          <a:srcRect b="0" l="5907" r="5916" t="0"/>
          <a:stretch/>
        </p:blipFill>
        <p:spPr>
          <a:xfrm>
            <a:off x="5486400" y="1280150"/>
            <a:ext cx="3017524" cy="27431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Memahami user (pengguna)</a:t>
            </a:r>
            <a:endParaRPr/>
          </a:p>
        </p:txBody>
      </p:sp>
      <p:sp>
        <p:nvSpPr>
          <p:cNvPr id="114" name="Google Shape;114;p2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Akan tetapi</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Bukankah produk dibuat untuk memenuhi kebutuhan perusahaan (business needs) dan kebutuhan pengguna (user needs)?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Terus bagaimana jika kebutuhan bisnis perusahaan dan user berbeda?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15" name="Google Shape;115;p20">
            <a:hlinkClick r:id="rId3"/>
          </p:cNvPr>
          <p:cNvPicPr preferRelativeResize="0"/>
          <p:nvPr/>
        </p:nvPicPr>
        <p:blipFill rotWithShape="1">
          <a:blip r:embed="rId4">
            <a:alphaModFix/>
          </a:blip>
          <a:srcRect b="7484" l="19179" r="14015" t="52038"/>
          <a:stretch/>
        </p:blipFill>
        <p:spPr>
          <a:xfrm>
            <a:off x="5486400" y="1280150"/>
            <a:ext cx="3017524" cy="27431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Memahami user (pengguna)</a:t>
            </a:r>
            <a:endParaRPr/>
          </a:p>
        </p:txBody>
      </p:sp>
      <p:sp>
        <p:nvSpPr>
          <p:cNvPr id="122" name="Google Shape;122;p21"/>
          <p:cNvSpPr txBox="1"/>
          <p:nvPr/>
        </p:nvSpPr>
        <p:spPr>
          <a:xfrm>
            <a:off x="685800" y="1185675"/>
            <a:ext cx="7825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Cerita…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Alkisah, terdapat apartemen dengan satu lift.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Suatu hari pengurus apartemen bingung karena banyak warga yang protes karena lift yang lambat, membuat mereka harus menunggu lama. Bahkan sebagian warga mengancam untuk tidak melanjutkan kontrak mereka. Ketika warga ditanyakan solusi yang terbaik, kebanyakan dari mereka memberikan solusi yang menurut mereka cepat dan praktis, namun memakan biaya yang besar.</a:t>
            </a:r>
            <a:endParaRPr sz="1200">
              <a:solidFill>
                <a:schemeClr val="dk1"/>
              </a:solidFill>
              <a:latin typeface="Raleway Medium"/>
              <a:ea typeface="Raleway Medium"/>
              <a:cs typeface="Raleway Medium"/>
              <a:sym typeface="Raleway Medium"/>
            </a:endParaRPr>
          </a:p>
        </p:txBody>
      </p:sp>
      <p:pic>
        <p:nvPicPr>
          <p:cNvPr id="123" name="Google Shape;123;p21"/>
          <p:cNvPicPr preferRelativeResize="0"/>
          <p:nvPr/>
        </p:nvPicPr>
        <p:blipFill>
          <a:blip r:embed="rId3">
            <a:alphaModFix/>
          </a:blip>
          <a:stretch>
            <a:fillRect/>
          </a:stretch>
        </p:blipFill>
        <p:spPr>
          <a:xfrm>
            <a:off x="619829" y="3142557"/>
            <a:ext cx="6359325" cy="1396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9" name="Google Shape;129;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Memahami user (pengguna)</a:t>
            </a:r>
            <a:endParaRPr/>
          </a:p>
        </p:txBody>
      </p:sp>
      <p:sp>
        <p:nvSpPr>
          <p:cNvPr id="130" name="Google Shape;130;p22"/>
          <p:cNvSpPr txBox="1"/>
          <p:nvPr/>
        </p:nvSpPr>
        <p:spPr>
          <a:xfrm>
            <a:off x="685800" y="1185675"/>
            <a:ext cx="7825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Ketika dilaporkan… m</a:t>
            </a:r>
            <a:r>
              <a:rPr lang="en" sz="1200">
                <a:solidFill>
                  <a:schemeClr val="dk1"/>
                </a:solidFill>
                <a:latin typeface="Raleway Medium"/>
                <a:ea typeface="Raleway Medium"/>
                <a:cs typeface="Raleway Medium"/>
                <a:sym typeface="Raleway Medium"/>
              </a:rPr>
              <a:t>anager apartemen justru memberikan solusi yang lebih sederhana dan murah: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Manajer meminta untuk meletakkan cermin di samping pintu masuk lift. Ide ini terbukti efektif dan mengurangi komplain dari warga. Berkat cermin tersebut, orang jadi lupa berapa lama mereka telah menunggu lift.</a:t>
            </a:r>
            <a:endParaRPr sz="1200">
              <a:solidFill>
                <a:schemeClr val="dk1"/>
              </a:solidFill>
              <a:latin typeface="Raleway Medium"/>
              <a:ea typeface="Raleway Medium"/>
              <a:cs typeface="Raleway Medium"/>
              <a:sym typeface="Raleway Medium"/>
            </a:endParaRPr>
          </a:p>
        </p:txBody>
      </p:sp>
      <p:pic>
        <p:nvPicPr>
          <p:cNvPr id="131" name="Google Shape;131;p22"/>
          <p:cNvPicPr preferRelativeResize="0"/>
          <p:nvPr/>
        </p:nvPicPr>
        <p:blipFill>
          <a:blip r:embed="rId3">
            <a:alphaModFix/>
          </a:blip>
          <a:stretch>
            <a:fillRect/>
          </a:stretch>
        </p:blipFill>
        <p:spPr>
          <a:xfrm>
            <a:off x="569020" y="2269365"/>
            <a:ext cx="6359324" cy="249648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3"/>
          <p:cNvPicPr preferRelativeResize="0"/>
          <p:nvPr/>
        </p:nvPicPr>
        <p:blipFill>
          <a:blip r:embed="rId3">
            <a:alphaModFix/>
          </a:blip>
          <a:stretch>
            <a:fillRect/>
          </a:stretch>
        </p:blipFill>
        <p:spPr>
          <a:xfrm>
            <a:off x="5069600" y="963776"/>
            <a:ext cx="3769599" cy="3604250"/>
          </a:xfrm>
          <a:prstGeom prst="rect">
            <a:avLst/>
          </a:prstGeom>
          <a:noFill/>
          <a:ln>
            <a:noFill/>
          </a:ln>
        </p:spPr>
      </p:pic>
      <p:sp>
        <p:nvSpPr>
          <p:cNvPr id="137" name="Google Shape;137;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8" name="Google Shape;138;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Memahami user (pengguna)</a:t>
            </a:r>
            <a:endParaRPr/>
          </a:p>
        </p:txBody>
      </p:sp>
      <p:sp>
        <p:nvSpPr>
          <p:cNvPr id="139" name="Google Shape;139;p23"/>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Kesimpulannya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Tidak semua hal yang dikatakan user adalah solusi. Karena user tidak selalu memahami masalah yang mereka hadapi.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kasus lift tadi, berangkat dari kebutuhan bisnis apartemen yang butuh solusi termurah, mereka justru dapat menemukan solusi yang lebih efektif bagi user maupun perusahaan.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4"/>
          <p:cNvPicPr preferRelativeResize="0"/>
          <p:nvPr/>
        </p:nvPicPr>
        <p:blipFill>
          <a:blip r:embed="rId3">
            <a:alphaModFix/>
          </a:blip>
          <a:stretch>
            <a:fillRect/>
          </a:stretch>
        </p:blipFill>
        <p:spPr>
          <a:xfrm>
            <a:off x="5069600" y="963776"/>
            <a:ext cx="3769599" cy="3604250"/>
          </a:xfrm>
          <a:prstGeom prst="rect">
            <a:avLst/>
          </a:prstGeom>
          <a:noFill/>
          <a:ln>
            <a:noFill/>
          </a:ln>
        </p:spPr>
      </p:pic>
      <p:sp>
        <p:nvSpPr>
          <p:cNvPr id="145" name="Google Shape;145;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6" name="Google Shape;146;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Memahami user (pengguna)</a:t>
            </a:r>
            <a:endParaRPr/>
          </a:p>
        </p:txBody>
      </p:sp>
      <p:sp>
        <p:nvSpPr>
          <p:cNvPr id="147" name="Google Shape;147;p24"/>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User vs business</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Keduanya sama-sama penting dan saling menyesuaikan dengan kemampuan perusahaan yang mengembangkan produk (yang digunakan user).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Sebagai seseorang dalam bidang user experience, kita harus bisa memperhatikan situasi dan kondisi dari kedua sisi dengan baik dan detail.</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Proses Memahami User</a:t>
            </a:r>
            <a:endParaRPr>
              <a:solidFill>
                <a:schemeClr val="accent1"/>
              </a:solidFill>
            </a:endParaRPr>
          </a:p>
        </p:txBody>
      </p:sp>
      <p:sp>
        <p:nvSpPr>
          <p:cNvPr id="153" name="Google Shape;153;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81F57"/>
        </a:solidFill>
      </p:bgPr>
    </p:bg>
    <p:spTree>
      <p:nvGrpSpPr>
        <p:cNvPr id="157" name="Shape 157"/>
        <p:cNvGrpSpPr/>
        <p:nvPr/>
      </p:nvGrpSpPr>
      <p:grpSpPr>
        <a:xfrm>
          <a:off x="0" y="0"/>
          <a:ext cx="0" cy="0"/>
          <a:chOff x="0" y="0"/>
          <a:chExt cx="0" cy="0"/>
        </a:xfrm>
      </p:grpSpPr>
      <p:pic>
        <p:nvPicPr>
          <p:cNvPr id="158" name="Google Shape;158;p26"/>
          <p:cNvPicPr preferRelativeResize="0"/>
          <p:nvPr/>
        </p:nvPicPr>
        <p:blipFill rotWithShape="1">
          <a:blip r:embed="rId3">
            <a:alphaModFix/>
          </a:blip>
          <a:srcRect b="11200" l="0" r="0" t="13019"/>
          <a:stretch/>
        </p:blipFill>
        <p:spPr>
          <a:xfrm>
            <a:off x="2063488" y="1676475"/>
            <a:ext cx="4968419" cy="3047925"/>
          </a:xfrm>
          <a:prstGeom prst="rect">
            <a:avLst/>
          </a:prstGeom>
          <a:noFill/>
          <a:ln>
            <a:noFill/>
          </a:ln>
        </p:spPr>
      </p:pic>
      <p:sp>
        <p:nvSpPr>
          <p:cNvPr id="159" name="Google Shape;159;p26"/>
          <p:cNvSpPr txBox="1"/>
          <p:nvPr/>
        </p:nvSpPr>
        <p:spPr>
          <a:xfrm>
            <a:off x="533400" y="909375"/>
            <a:ext cx="8028600" cy="606900"/>
          </a:xfrm>
          <a:prstGeom prst="rect">
            <a:avLst/>
          </a:prstGeom>
          <a:noFill/>
          <a:ln>
            <a:noFill/>
          </a:ln>
        </p:spPr>
        <p:txBody>
          <a:bodyPr anchorCtr="0" anchor="t" bIns="91425" lIns="91425" spcFirstLastPara="1" rIns="91425" wrap="square" tIns="91425">
            <a:spAutoFit/>
          </a:bodyPr>
          <a:lstStyle/>
          <a:p>
            <a:pPr indent="0" lvl="0" marL="0" rtl="0" algn="ctr">
              <a:lnSpc>
                <a:spcPct val="128571"/>
              </a:lnSpc>
              <a:spcBef>
                <a:spcPts val="0"/>
              </a:spcBef>
              <a:spcAft>
                <a:spcPts val="0"/>
              </a:spcAft>
              <a:buNone/>
            </a:pPr>
            <a:r>
              <a:rPr lang="en" sz="1200">
                <a:solidFill>
                  <a:srgbClr val="F8F9FA"/>
                </a:solidFill>
                <a:latin typeface="Raleway Medium"/>
                <a:ea typeface="Raleway Medium"/>
                <a:cs typeface="Raleway Medium"/>
                <a:sym typeface="Raleway Medium"/>
              </a:rPr>
              <a:t>K</a:t>
            </a:r>
            <a:r>
              <a:rPr lang="en" sz="1200">
                <a:solidFill>
                  <a:srgbClr val="F8F9FA"/>
                </a:solidFill>
                <a:latin typeface="Raleway Medium"/>
                <a:ea typeface="Raleway Medium"/>
                <a:cs typeface="Raleway Medium"/>
                <a:sym typeface="Raleway Medium"/>
              </a:rPr>
              <a:t>apan saja waktu yang tepat untuk memahami user?</a:t>
            </a:r>
            <a:endParaRPr sz="1200">
              <a:solidFill>
                <a:srgbClr val="F8F9FA"/>
              </a:solidFill>
              <a:latin typeface="Raleway Medium"/>
              <a:ea typeface="Raleway Medium"/>
              <a:cs typeface="Raleway Medium"/>
              <a:sym typeface="Raleway Medium"/>
            </a:endParaRPr>
          </a:p>
          <a:p>
            <a:pPr indent="0" lvl="0" marL="0" rtl="0" algn="ctr">
              <a:lnSpc>
                <a:spcPct val="128571"/>
              </a:lnSpc>
              <a:spcBef>
                <a:spcPts val="0"/>
              </a:spcBef>
              <a:spcAft>
                <a:spcPts val="0"/>
              </a:spcAft>
              <a:buNone/>
            </a:pPr>
            <a:r>
              <a:rPr lang="en" sz="1200">
                <a:solidFill>
                  <a:srgbClr val="F8F9FA"/>
                </a:solidFill>
                <a:latin typeface="Raleway Medium"/>
                <a:ea typeface="Raleway Medium"/>
                <a:cs typeface="Raleway Medium"/>
                <a:sym typeface="Raleway Medium"/>
              </a:rPr>
              <a:t>Seperti memahami produk, proses memahami user juga dilakukan di setiap tahapan pengembangan produk.</a:t>
            </a:r>
            <a:endParaRPr sz="1200">
              <a:solidFill>
                <a:srgbClr val="F8F9FA"/>
              </a:solidFill>
              <a:latin typeface="Raleway Medium"/>
              <a:ea typeface="Raleway Medium"/>
              <a:cs typeface="Raleway Medium"/>
              <a:sym typeface="Raleway Medium"/>
            </a:endParaRPr>
          </a:p>
        </p:txBody>
      </p:sp>
      <p:sp>
        <p:nvSpPr>
          <p:cNvPr id="160" name="Google Shape;160;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Proses memahami user</a:t>
            </a:r>
            <a:endParaRPr/>
          </a:p>
        </p:txBody>
      </p:sp>
      <p:sp>
        <p:nvSpPr>
          <p:cNvPr id="161" name="Google Shape;161;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7" name="Google Shape;167;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Proses memahami user</a:t>
            </a:r>
            <a:endParaRPr/>
          </a:p>
        </p:txBody>
      </p:sp>
      <p:sp>
        <p:nvSpPr>
          <p:cNvPr id="168" name="Google Shape;168;p27"/>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Memahami user</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setiap proses memahami user, biasanya diawali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dengan proses pengumpulan data dari user.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Data dapat terkumpul melalui statistik, </a:t>
            </a:r>
            <a:r>
              <a:rPr i="1" lang="en" sz="1200">
                <a:solidFill>
                  <a:schemeClr val="dk1"/>
                </a:solidFill>
                <a:latin typeface="Raleway Medium"/>
                <a:ea typeface="Raleway Medium"/>
                <a:cs typeface="Raleway Medium"/>
                <a:sym typeface="Raleway Medium"/>
              </a:rPr>
              <a:t>shared understanding</a:t>
            </a:r>
            <a:r>
              <a:rPr lang="en" sz="1200">
                <a:solidFill>
                  <a:schemeClr val="dk1"/>
                </a:solidFill>
                <a:latin typeface="Raleway Medium"/>
                <a:ea typeface="Raleway Medium"/>
                <a:cs typeface="Raleway Medium"/>
                <a:sym typeface="Raleway Medium"/>
              </a:rPr>
              <a:t>, maupun riset, atau bahkan kombinasi dari keduanya.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69" name="Google Shape;169;p27">
            <a:hlinkClick r:id="rId3"/>
          </p:cNvPr>
          <p:cNvPicPr preferRelativeResize="0"/>
          <p:nvPr/>
        </p:nvPicPr>
        <p:blipFill rotWithShape="1">
          <a:blip r:embed="rId4">
            <a:alphaModFix/>
          </a:blip>
          <a:srcRect b="0" l="13289" r="13289" t="0"/>
          <a:stretch/>
        </p:blipFill>
        <p:spPr>
          <a:xfrm>
            <a:off x="5486400" y="1280150"/>
            <a:ext cx="3017523" cy="2743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Proses memahami user</a:t>
            </a:r>
            <a:endParaRPr/>
          </a:p>
        </p:txBody>
      </p:sp>
      <p:sp>
        <p:nvSpPr>
          <p:cNvPr id="176" name="Google Shape;176;p2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Point-of-views</a:t>
            </a:r>
            <a:r>
              <a:rPr b="1" lang="en" sz="1800">
                <a:solidFill>
                  <a:srgbClr val="743673"/>
                </a:solidFill>
                <a:highlight>
                  <a:schemeClr val="lt1"/>
                </a:highlight>
                <a:latin typeface="Raleway"/>
                <a:ea typeface="Raleway"/>
                <a:cs typeface="Raleway"/>
                <a:sym typeface="Raleway"/>
              </a:rPr>
              <a:t>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Dari data yang Anda dapatkan, bisa mengarah kepada suatu point-of-view (POV) yang berguna sebagai panduan utama selama proses desain. POV adalah pandangan yang memberikan panduan yang fokus pada karakter spesifik, temuan, dan kebutuhan user.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Bagaimana kita dapat mempunyai point-of-view yang tepat? Kita buat sebuah user persona.</a:t>
            </a:r>
            <a:endParaRPr sz="1200">
              <a:solidFill>
                <a:schemeClr val="dk1"/>
              </a:solidFill>
              <a:latin typeface="Raleway Medium"/>
              <a:ea typeface="Raleway Medium"/>
              <a:cs typeface="Raleway Medium"/>
              <a:sym typeface="Raleway Medium"/>
            </a:endParaRPr>
          </a:p>
        </p:txBody>
      </p:sp>
      <p:pic>
        <p:nvPicPr>
          <p:cNvPr id="177" name="Google Shape;177;p28">
            <a:hlinkClick r:id="rId3"/>
          </p:cNvPr>
          <p:cNvPicPr preferRelativeResize="0"/>
          <p:nvPr/>
        </p:nvPicPr>
        <p:blipFill rotWithShape="1">
          <a:blip r:embed="rId4">
            <a:alphaModFix/>
          </a:blip>
          <a:srcRect b="0" l="13181" r="13181" t="0"/>
          <a:stretch/>
        </p:blipFill>
        <p:spPr>
          <a:xfrm>
            <a:off x="5486400" y="1280150"/>
            <a:ext cx="3017523" cy="2743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9"/>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User Personas</a:t>
            </a:r>
            <a:endParaRPr>
              <a:solidFill>
                <a:schemeClr val="accent1"/>
              </a:solidFill>
            </a:endParaRPr>
          </a:p>
        </p:txBody>
      </p:sp>
      <p:sp>
        <p:nvSpPr>
          <p:cNvPr id="183" name="Google Shape;183;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9" name="Google Shape;189;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personas</a:t>
            </a:r>
            <a:endParaRPr/>
          </a:p>
        </p:txBody>
      </p:sp>
      <p:sp>
        <p:nvSpPr>
          <p:cNvPr id="190" name="Google Shape;190;p3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Apa itu user persona?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Persona pengguna adalah karakter fiksi atau aktual, yang Anda buat berdasarkan penelitian Anda untuk mewakili berbagai jenis pengguna yang mungkin menggunakan layanan, produk, situs, atau merek Anda.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Membuat persona membantu desainer untuk memahami kebutuhan, pengalaman, perilaku, dan tujuan pengguna.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191" name="Google Shape;191;p30">
            <a:hlinkClick r:id="rId3"/>
          </p:cNvPr>
          <p:cNvPicPr preferRelativeResize="0"/>
          <p:nvPr/>
        </p:nvPicPr>
        <p:blipFill rotWithShape="1">
          <a:blip r:embed="rId4">
            <a:alphaModFix/>
          </a:blip>
          <a:srcRect b="8888" l="-2033" r="53145" t="2222"/>
          <a:stretch/>
        </p:blipFill>
        <p:spPr>
          <a:xfrm>
            <a:off x="5486400" y="1280150"/>
            <a:ext cx="3017525" cy="2743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7" name="Google Shape;197;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personas</a:t>
            </a:r>
            <a:endParaRPr/>
          </a:p>
        </p:txBody>
      </p:sp>
      <p:sp>
        <p:nvSpPr>
          <p:cNvPr id="198" name="Google Shape;198;p3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Tujuan </a:t>
            </a:r>
            <a:r>
              <a:rPr b="1" lang="en" sz="1800">
                <a:solidFill>
                  <a:srgbClr val="743673"/>
                </a:solidFill>
                <a:highlight>
                  <a:schemeClr val="lt1"/>
                </a:highlight>
                <a:latin typeface="Raleway"/>
                <a:ea typeface="Raleway"/>
                <a:cs typeface="Raleway"/>
                <a:sym typeface="Raleway"/>
              </a:rPr>
              <a:t>user persona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Tujuan persona adalah untuk membuat representasi yang andal dan realistis dari segmen audiens utama Anda untuk referensi.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Representasi ini harus didasarkan pada penelitian pengguna kualitatif dan kuantitatif serta analisis web. Ingat, persona Anda hanya sebaik penelitian di baliknya.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dapat membuat sebuah user persona yang baik dengan 10 tahap yang cukup simpel. </a:t>
            </a:r>
            <a:endParaRPr sz="1200">
              <a:solidFill>
                <a:schemeClr val="dk1"/>
              </a:solidFill>
              <a:latin typeface="Raleway Medium"/>
              <a:ea typeface="Raleway Medium"/>
              <a:cs typeface="Raleway Medium"/>
              <a:sym typeface="Raleway Medium"/>
            </a:endParaRPr>
          </a:p>
        </p:txBody>
      </p:sp>
      <p:pic>
        <p:nvPicPr>
          <p:cNvPr id="199" name="Google Shape;199;p31">
            <a:hlinkClick r:id="rId3"/>
          </p:cNvPr>
          <p:cNvPicPr preferRelativeResize="0"/>
          <p:nvPr/>
        </p:nvPicPr>
        <p:blipFill rotWithShape="1">
          <a:blip r:embed="rId4">
            <a:alphaModFix/>
          </a:blip>
          <a:srcRect b="8888" l="-2033" r="53145" t="2222"/>
          <a:stretch/>
        </p:blipFill>
        <p:spPr>
          <a:xfrm>
            <a:off x="5486400" y="1280150"/>
            <a:ext cx="3017525" cy="2743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5" name="Google Shape;205;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personas</a:t>
            </a:r>
            <a:endParaRPr/>
          </a:p>
        </p:txBody>
      </p:sp>
      <p:grpSp>
        <p:nvGrpSpPr>
          <p:cNvPr id="206" name="Google Shape;206;p32"/>
          <p:cNvGrpSpPr/>
          <p:nvPr/>
        </p:nvGrpSpPr>
        <p:grpSpPr>
          <a:xfrm>
            <a:off x="0" y="1037589"/>
            <a:ext cx="2214600" cy="3217636"/>
            <a:chOff x="0" y="1189989"/>
            <a:chExt cx="2214600" cy="3217636"/>
          </a:xfrm>
        </p:grpSpPr>
        <p:sp>
          <p:nvSpPr>
            <p:cNvPr id="207" name="Google Shape;207;p32"/>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Step 1</a:t>
              </a:r>
              <a:endParaRPr>
                <a:solidFill>
                  <a:srgbClr val="FFFFFF"/>
                </a:solidFill>
                <a:latin typeface="Roboto"/>
                <a:ea typeface="Roboto"/>
                <a:cs typeface="Roboto"/>
                <a:sym typeface="Roboto"/>
              </a:endParaRPr>
            </a:p>
          </p:txBody>
        </p:sp>
        <p:sp>
          <p:nvSpPr>
            <p:cNvPr id="208" name="Google Shape;208;p32"/>
            <p:cNvSpPr txBox="1"/>
            <p:nvPr/>
          </p:nvSpPr>
          <p:spPr>
            <a:xfrm>
              <a:off x="2950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oboto"/>
                  <a:ea typeface="Roboto"/>
                  <a:cs typeface="Roboto"/>
                  <a:sym typeface="Roboto"/>
                </a:rPr>
                <a:t>Kumpulkan data ekstensif tentang </a:t>
              </a:r>
              <a:r>
                <a:rPr lang="en" sz="1100">
                  <a:solidFill>
                    <a:srgbClr val="000000"/>
                  </a:solidFill>
                  <a:latin typeface="Roboto"/>
                  <a:ea typeface="Roboto"/>
                  <a:cs typeface="Roboto"/>
                  <a:sym typeface="Roboto"/>
                </a:rPr>
                <a:t>target </a:t>
              </a:r>
              <a:r>
                <a:rPr lang="en" sz="1100">
                  <a:latin typeface="Roboto"/>
                  <a:ea typeface="Roboto"/>
                  <a:cs typeface="Roboto"/>
                  <a:sym typeface="Roboto"/>
                </a:rPr>
                <a:t>pengguna.</a:t>
              </a:r>
              <a:endParaRPr sz="1100">
                <a:latin typeface="Roboto"/>
                <a:ea typeface="Roboto"/>
                <a:cs typeface="Roboto"/>
                <a:sym typeface="Roboto"/>
              </a:endParaRPr>
            </a:p>
          </p:txBody>
        </p:sp>
      </p:grpSp>
      <p:grpSp>
        <p:nvGrpSpPr>
          <p:cNvPr id="209" name="Google Shape;209;p32"/>
          <p:cNvGrpSpPr/>
          <p:nvPr/>
        </p:nvGrpSpPr>
        <p:grpSpPr>
          <a:xfrm>
            <a:off x="1838325" y="1037375"/>
            <a:ext cx="2064000" cy="3498650"/>
            <a:chOff x="1838325" y="1189775"/>
            <a:chExt cx="2064000" cy="3498650"/>
          </a:xfrm>
        </p:grpSpPr>
        <p:sp>
          <p:nvSpPr>
            <p:cNvPr id="210" name="Google Shape;210;p32"/>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Step 2</a:t>
              </a:r>
              <a:endParaRPr>
                <a:solidFill>
                  <a:srgbClr val="FFFFFF"/>
                </a:solidFill>
                <a:latin typeface="Roboto"/>
                <a:ea typeface="Roboto"/>
                <a:cs typeface="Roboto"/>
                <a:sym typeface="Roboto"/>
              </a:endParaRPr>
            </a:p>
          </p:txBody>
        </p:sp>
        <p:sp>
          <p:nvSpPr>
            <p:cNvPr id="211" name="Google Shape;211;p32"/>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oboto"/>
                  <a:ea typeface="Roboto"/>
                  <a:cs typeface="Roboto"/>
                  <a:sym typeface="Roboto"/>
                </a:rPr>
                <a:t>Tentukan kualitas dan perbedaan antara pengguna. </a:t>
              </a:r>
              <a:endParaRPr sz="1100">
                <a:latin typeface="Roboto"/>
                <a:ea typeface="Roboto"/>
                <a:cs typeface="Roboto"/>
                <a:sym typeface="Roboto"/>
              </a:endParaRPr>
            </a:p>
            <a:p>
              <a:pPr indent="0" lvl="0" marL="0" rtl="0" algn="l">
                <a:lnSpc>
                  <a:spcPct val="115000"/>
                </a:lnSpc>
                <a:spcBef>
                  <a:spcPts val="0"/>
                </a:spcBef>
                <a:spcAft>
                  <a:spcPts val="0"/>
                </a:spcAft>
                <a:buNone/>
              </a:pPr>
              <a:r>
                <a:t/>
              </a:r>
              <a:endParaRPr sz="1100">
                <a:latin typeface="Roboto"/>
                <a:ea typeface="Roboto"/>
                <a:cs typeface="Roboto"/>
                <a:sym typeface="Roboto"/>
              </a:endParaRPr>
            </a:p>
            <a:p>
              <a:pPr indent="0" lvl="0" marL="0" rtl="0" algn="l">
                <a:lnSpc>
                  <a:spcPct val="115000"/>
                </a:lnSpc>
                <a:spcBef>
                  <a:spcPts val="0"/>
                </a:spcBef>
                <a:spcAft>
                  <a:spcPts val="0"/>
                </a:spcAft>
                <a:buNone/>
              </a:pPr>
              <a:r>
                <a:rPr lang="en" sz="1100">
                  <a:latin typeface="Roboto"/>
                  <a:ea typeface="Roboto"/>
                  <a:cs typeface="Roboto"/>
                  <a:sym typeface="Roboto"/>
                </a:rPr>
                <a:t>Kembangkan hipotesis dari penelitian.</a:t>
              </a:r>
              <a:endParaRPr sz="1100">
                <a:latin typeface="Roboto"/>
                <a:ea typeface="Roboto"/>
                <a:cs typeface="Roboto"/>
                <a:sym typeface="Roboto"/>
              </a:endParaRPr>
            </a:p>
          </p:txBody>
        </p:sp>
      </p:grpSp>
      <p:grpSp>
        <p:nvGrpSpPr>
          <p:cNvPr id="212" name="Google Shape;212;p32"/>
          <p:cNvGrpSpPr/>
          <p:nvPr/>
        </p:nvGrpSpPr>
        <p:grpSpPr>
          <a:xfrm>
            <a:off x="3516750" y="1037375"/>
            <a:ext cx="2064000" cy="3217850"/>
            <a:chOff x="3516750" y="1189775"/>
            <a:chExt cx="2064000" cy="3217850"/>
          </a:xfrm>
        </p:grpSpPr>
        <p:sp>
          <p:nvSpPr>
            <p:cNvPr id="213" name="Google Shape;213;p32"/>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Step 3</a:t>
              </a:r>
              <a:endParaRPr>
                <a:solidFill>
                  <a:srgbClr val="FFFFFF"/>
                </a:solidFill>
                <a:latin typeface="Roboto"/>
                <a:ea typeface="Roboto"/>
                <a:cs typeface="Roboto"/>
                <a:sym typeface="Roboto"/>
              </a:endParaRPr>
            </a:p>
          </p:txBody>
        </p:sp>
        <p:sp>
          <p:nvSpPr>
            <p:cNvPr id="214" name="Google Shape;214;p32"/>
            <p:cNvSpPr txBox="1"/>
            <p:nvPr/>
          </p:nvSpPr>
          <p:spPr>
            <a:xfrm>
              <a:off x="37394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oboto"/>
                  <a:ea typeface="Roboto"/>
                  <a:cs typeface="Roboto"/>
                  <a:sym typeface="Roboto"/>
                </a:rPr>
                <a:t>Pastikan </a:t>
              </a:r>
              <a:r>
                <a:rPr i="1" lang="en" sz="1100">
                  <a:latin typeface="Roboto"/>
                  <a:ea typeface="Roboto"/>
                  <a:cs typeface="Roboto"/>
                  <a:sym typeface="Roboto"/>
                </a:rPr>
                <a:t>stakeholders </a:t>
              </a:r>
              <a:r>
                <a:rPr lang="en" sz="1100">
                  <a:latin typeface="Roboto"/>
                  <a:ea typeface="Roboto"/>
                  <a:cs typeface="Roboto"/>
                  <a:sym typeface="Roboto"/>
                </a:rPr>
                <a:t>menyetujui hipotesis tentang pengguna.</a:t>
              </a:r>
              <a:endParaRPr sz="1100">
                <a:latin typeface="Roboto"/>
                <a:ea typeface="Roboto"/>
                <a:cs typeface="Roboto"/>
                <a:sym typeface="Roboto"/>
              </a:endParaRPr>
            </a:p>
          </p:txBody>
        </p:sp>
      </p:grpSp>
      <p:grpSp>
        <p:nvGrpSpPr>
          <p:cNvPr id="215" name="Google Shape;215;p32"/>
          <p:cNvGrpSpPr/>
          <p:nvPr/>
        </p:nvGrpSpPr>
        <p:grpSpPr>
          <a:xfrm>
            <a:off x="6874025" y="1037375"/>
            <a:ext cx="2064000" cy="3790250"/>
            <a:chOff x="6874025" y="1189775"/>
            <a:chExt cx="2064000" cy="3790250"/>
          </a:xfrm>
        </p:grpSpPr>
        <p:sp>
          <p:nvSpPr>
            <p:cNvPr id="216" name="Google Shape;216;p32"/>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Step 5</a:t>
              </a:r>
              <a:endParaRPr>
                <a:solidFill>
                  <a:srgbClr val="FFFFFF"/>
                </a:solidFill>
                <a:latin typeface="Roboto"/>
                <a:ea typeface="Roboto"/>
                <a:cs typeface="Roboto"/>
                <a:sym typeface="Roboto"/>
              </a:endParaRPr>
            </a:p>
          </p:txBody>
        </p:sp>
        <p:sp>
          <p:nvSpPr>
            <p:cNvPr id="217" name="Google Shape;217;p32"/>
            <p:cNvSpPr txBox="1"/>
            <p:nvPr/>
          </p:nvSpPr>
          <p:spPr>
            <a:xfrm>
              <a:off x="7183850" y="2057125"/>
              <a:ext cx="1624500" cy="292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oboto"/>
                  <a:ea typeface="Roboto"/>
                  <a:cs typeface="Roboto"/>
                  <a:sym typeface="Roboto"/>
                </a:rPr>
                <a:t>Sebutkan dan jelaskan setiap persona dalam 1-2 halaman termasuk yang disebutkan pada kotak dibawah.</a:t>
              </a:r>
              <a:endParaRPr sz="1100">
                <a:latin typeface="Roboto"/>
                <a:ea typeface="Roboto"/>
                <a:cs typeface="Roboto"/>
                <a:sym typeface="Roboto"/>
              </a:endParaRPr>
            </a:p>
            <a:p>
              <a:pPr indent="0" lvl="0" marL="0" rtl="0" algn="l">
                <a:lnSpc>
                  <a:spcPct val="115000"/>
                </a:lnSpc>
                <a:spcBef>
                  <a:spcPts val="0"/>
                </a:spcBef>
                <a:spcAft>
                  <a:spcPts val="0"/>
                </a:spcAft>
                <a:buNone/>
              </a:pPr>
              <a:r>
                <a:t/>
              </a:r>
              <a:endParaRPr sz="1100">
                <a:latin typeface="Roboto"/>
                <a:ea typeface="Roboto"/>
                <a:cs typeface="Roboto"/>
                <a:sym typeface="Roboto"/>
              </a:endParaRPr>
            </a:p>
          </p:txBody>
        </p:sp>
      </p:grpSp>
      <p:grpSp>
        <p:nvGrpSpPr>
          <p:cNvPr id="218" name="Google Shape;218;p32"/>
          <p:cNvGrpSpPr/>
          <p:nvPr/>
        </p:nvGrpSpPr>
        <p:grpSpPr>
          <a:xfrm>
            <a:off x="5195350" y="1037375"/>
            <a:ext cx="2064000" cy="3217850"/>
            <a:chOff x="5195350" y="1189775"/>
            <a:chExt cx="2064000" cy="3217850"/>
          </a:xfrm>
        </p:grpSpPr>
        <p:sp>
          <p:nvSpPr>
            <p:cNvPr id="219" name="Google Shape;219;p32"/>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Step 4</a:t>
              </a:r>
              <a:endParaRPr>
                <a:solidFill>
                  <a:srgbClr val="FFFFFF"/>
                </a:solidFill>
                <a:latin typeface="Roboto"/>
                <a:ea typeface="Roboto"/>
                <a:cs typeface="Roboto"/>
                <a:sym typeface="Roboto"/>
              </a:endParaRPr>
            </a:p>
          </p:txBody>
        </p:sp>
        <p:sp>
          <p:nvSpPr>
            <p:cNvPr id="220" name="Google Shape;220;p32"/>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rgbClr val="000000"/>
                  </a:solidFill>
                  <a:latin typeface="Roboto"/>
                  <a:ea typeface="Roboto"/>
                  <a:cs typeface="Roboto"/>
                  <a:sym typeface="Roboto"/>
                </a:rPr>
                <a:t>Tentukan jumlah persona – lebih dari satu per proyek, tetapi fokuslah terutama pada satu.</a:t>
              </a:r>
              <a:endParaRPr sz="1100">
                <a:latin typeface="Roboto"/>
                <a:ea typeface="Roboto"/>
                <a:cs typeface="Roboto"/>
                <a:sym typeface="Roboto"/>
              </a:endParaRPr>
            </a:p>
          </p:txBody>
        </p:sp>
      </p:grpSp>
      <p:sp>
        <p:nvSpPr>
          <p:cNvPr id="221" name="Google Shape;221;p32"/>
          <p:cNvSpPr/>
          <p:nvPr/>
        </p:nvSpPr>
        <p:spPr>
          <a:xfrm>
            <a:off x="3986650" y="3238525"/>
            <a:ext cx="4729500" cy="1512900"/>
          </a:xfrm>
          <a:prstGeom prst="rect">
            <a:avLst/>
          </a:prstGeom>
          <a:solidFill>
            <a:srgbClr val="733572"/>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spcBef>
                <a:spcPts val="0"/>
              </a:spcBef>
              <a:spcAft>
                <a:spcPts val="0"/>
              </a:spcAft>
              <a:buClr>
                <a:srgbClr val="FFFFFF"/>
              </a:buClr>
              <a:buSzPts val="1100"/>
              <a:buFont typeface="Roboto"/>
              <a:buAutoNum type="arabicPeriod"/>
            </a:pPr>
            <a:r>
              <a:rPr lang="en" sz="1100">
                <a:solidFill>
                  <a:srgbClr val="FFFFFF"/>
                </a:solidFill>
                <a:latin typeface="Roboto"/>
                <a:ea typeface="Roboto"/>
                <a:cs typeface="Roboto"/>
                <a:sym typeface="Roboto"/>
              </a:rPr>
              <a:t>Sebuah avatar</a:t>
            </a:r>
            <a:endParaRPr sz="1100">
              <a:solidFill>
                <a:srgbClr val="FFFFFF"/>
              </a:solidFill>
              <a:latin typeface="Roboto"/>
              <a:ea typeface="Roboto"/>
              <a:cs typeface="Roboto"/>
              <a:sym typeface="Roboto"/>
            </a:endParaRPr>
          </a:p>
          <a:p>
            <a:pPr indent="-298450" lvl="0" marL="457200" rtl="0" algn="l">
              <a:spcBef>
                <a:spcPts val="0"/>
              </a:spcBef>
              <a:spcAft>
                <a:spcPts val="0"/>
              </a:spcAft>
              <a:buClr>
                <a:srgbClr val="FFFFFF"/>
              </a:buClr>
              <a:buSzPts val="1100"/>
              <a:buFont typeface="Roboto"/>
              <a:buAutoNum type="arabicPeriod"/>
            </a:pPr>
            <a:r>
              <a:rPr lang="en" sz="1100">
                <a:solidFill>
                  <a:srgbClr val="FFFFFF"/>
                </a:solidFill>
                <a:latin typeface="Roboto"/>
                <a:ea typeface="Roboto"/>
                <a:cs typeface="Roboto"/>
                <a:sym typeface="Roboto"/>
              </a:rPr>
              <a:t>Nilai, pendidikan, gaya hidup, kebutuhan, sikap, keinginan, keterbatasan, tujuan, dan pola perilaku pengguna.</a:t>
            </a:r>
            <a:endParaRPr sz="1100">
              <a:solidFill>
                <a:srgbClr val="FFFFFF"/>
              </a:solidFill>
              <a:latin typeface="Roboto"/>
              <a:ea typeface="Roboto"/>
              <a:cs typeface="Roboto"/>
              <a:sym typeface="Roboto"/>
            </a:endParaRPr>
          </a:p>
          <a:p>
            <a:pPr indent="-298450" lvl="0" marL="457200" rtl="0" algn="l">
              <a:spcBef>
                <a:spcPts val="0"/>
              </a:spcBef>
              <a:spcAft>
                <a:spcPts val="0"/>
              </a:spcAft>
              <a:buClr>
                <a:srgbClr val="FFFFFF"/>
              </a:buClr>
              <a:buSzPts val="1100"/>
              <a:buFont typeface="Roboto"/>
              <a:buAutoNum type="arabicPeriod"/>
            </a:pPr>
            <a:r>
              <a:rPr lang="en" sz="1100">
                <a:solidFill>
                  <a:srgbClr val="FFFFFF"/>
                </a:solidFill>
                <a:latin typeface="Roboto"/>
                <a:ea typeface="Roboto"/>
                <a:cs typeface="Roboto"/>
                <a:sym typeface="Roboto"/>
              </a:rPr>
              <a:t>Detail tambahan tentang persona (misalnya, minat) – apa pun untuk membuatnya lebih nyata dan relevan serta membantu membangun empati. </a:t>
            </a:r>
            <a:r>
              <a:rPr b="1" lang="en" sz="1100">
                <a:solidFill>
                  <a:srgbClr val="FFFFFF"/>
                </a:solidFill>
                <a:latin typeface="Roboto"/>
                <a:ea typeface="Roboto"/>
                <a:cs typeface="Roboto"/>
                <a:sym typeface="Roboto"/>
              </a:rPr>
              <a:t>Sebuah cerita tertulis lebih baik daripada poin-poin.*</a:t>
            </a:r>
            <a:endParaRPr b="1" sz="1100">
              <a:solidFill>
                <a:srgbClr val="FFFFFF"/>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7" name="Google Shape;227;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personas</a:t>
            </a:r>
            <a:endParaRPr/>
          </a:p>
        </p:txBody>
      </p:sp>
      <p:grpSp>
        <p:nvGrpSpPr>
          <p:cNvPr id="228" name="Google Shape;228;p33"/>
          <p:cNvGrpSpPr/>
          <p:nvPr/>
        </p:nvGrpSpPr>
        <p:grpSpPr>
          <a:xfrm>
            <a:off x="0" y="1033486"/>
            <a:ext cx="2214600" cy="3217636"/>
            <a:chOff x="0" y="1189989"/>
            <a:chExt cx="2214600" cy="3217636"/>
          </a:xfrm>
        </p:grpSpPr>
        <p:sp>
          <p:nvSpPr>
            <p:cNvPr id="229" name="Google Shape;229;p33"/>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Step 6</a:t>
              </a:r>
              <a:endParaRPr>
                <a:solidFill>
                  <a:srgbClr val="FFFFFF"/>
                </a:solidFill>
                <a:latin typeface="Roboto"/>
                <a:ea typeface="Roboto"/>
                <a:cs typeface="Roboto"/>
                <a:sym typeface="Roboto"/>
              </a:endParaRPr>
            </a:p>
          </p:txBody>
        </p:sp>
        <p:sp>
          <p:nvSpPr>
            <p:cNvPr id="230" name="Google Shape;230;p33"/>
            <p:cNvSpPr txBox="1"/>
            <p:nvPr/>
          </p:nvSpPr>
          <p:spPr>
            <a:xfrm>
              <a:off x="2950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oboto"/>
                  <a:ea typeface="Roboto"/>
                  <a:cs typeface="Roboto"/>
                  <a:sym typeface="Roboto"/>
                </a:rPr>
                <a:t>Jelaskan beberapa situasi/skenario yang mendorong persona untuk menggunakan produk Anda – tempatkan dia dalam konteks dengan masalah yang harus diatasi.</a:t>
              </a:r>
              <a:endParaRPr sz="1100">
                <a:latin typeface="Roboto"/>
                <a:ea typeface="Roboto"/>
                <a:cs typeface="Roboto"/>
                <a:sym typeface="Roboto"/>
              </a:endParaRPr>
            </a:p>
          </p:txBody>
        </p:sp>
      </p:grpSp>
      <p:grpSp>
        <p:nvGrpSpPr>
          <p:cNvPr id="231" name="Google Shape;231;p33"/>
          <p:cNvGrpSpPr/>
          <p:nvPr/>
        </p:nvGrpSpPr>
        <p:grpSpPr>
          <a:xfrm>
            <a:off x="1838325" y="1033272"/>
            <a:ext cx="2064000" cy="3498650"/>
            <a:chOff x="1838325" y="1189775"/>
            <a:chExt cx="2064000" cy="3498650"/>
          </a:xfrm>
        </p:grpSpPr>
        <p:sp>
          <p:nvSpPr>
            <p:cNvPr id="232" name="Google Shape;232;p33"/>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Step 7</a:t>
              </a:r>
              <a:endParaRPr>
                <a:solidFill>
                  <a:srgbClr val="FFFFFF"/>
                </a:solidFill>
                <a:latin typeface="Roboto"/>
                <a:ea typeface="Roboto"/>
                <a:cs typeface="Roboto"/>
                <a:sym typeface="Roboto"/>
              </a:endParaRPr>
            </a:p>
          </p:txBody>
        </p:sp>
        <p:sp>
          <p:nvSpPr>
            <p:cNvPr id="233" name="Google Shape;233;p33"/>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oboto"/>
                  <a:ea typeface="Roboto"/>
                  <a:cs typeface="Roboto"/>
                  <a:sym typeface="Roboto"/>
                </a:rPr>
                <a:t>Sertakan semua orang yang terlibat dalam proyek sehingga mereka akan menerima persona atau menyarankan revisi.</a:t>
              </a:r>
              <a:endParaRPr sz="1100">
                <a:latin typeface="Roboto"/>
                <a:ea typeface="Roboto"/>
                <a:cs typeface="Roboto"/>
                <a:sym typeface="Roboto"/>
              </a:endParaRPr>
            </a:p>
          </p:txBody>
        </p:sp>
      </p:grpSp>
      <p:grpSp>
        <p:nvGrpSpPr>
          <p:cNvPr id="234" name="Google Shape;234;p33"/>
          <p:cNvGrpSpPr/>
          <p:nvPr/>
        </p:nvGrpSpPr>
        <p:grpSpPr>
          <a:xfrm>
            <a:off x="3516750" y="1033272"/>
            <a:ext cx="2064000" cy="3217850"/>
            <a:chOff x="3516750" y="1189775"/>
            <a:chExt cx="2064000" cy="3217850"/>
          </a:xfrm>
        </p:grpSpPr>
        <p:sp>
          <p:nvSpPr>
            <p:cNvPr id="235" name="Google Shape;235;p33"/>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Step 8</a:t>
              </a:r>
              <a:endParaRPr>
                <a:solidFill>
                  <a:srgbClr val="FFFFFF"/>
                </a:solidFill>
                <a:latin typeface="Roboto"/>
                <a:ea typeface="Roboto"/>
                <a:cs typeface="Roboto"/>
                <a:sym typeface="Roboto"/>
              </a:endParaRPr>
            </a:p>
          </p:txBody>
        </p:sp>
        <p:sp>
          <p:nvSpPr>
            <p:cNvPr id="236" name="Google Shape;236;p33"/>
            <p:cNvSpPr txBox="1"/>
            <p:nvPr/>
          </p:nvSpPr>
          <p:spPr>
            <a:xfrm>
              <a:off x="37394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oboto"/>
                  <a:ea typeface="Roboto"/>
                  <a:cs typeface="Roboto"/>
                  <a:sym typeface="Roboto"/>
                </a:rPr>
                <a:t>Kirimi mereka persona untuk digunakan dalam pekerjaan mereka.</a:t>
              </a:r>
              <a:endParaRPr sz="1100">
                <a:latin typeface="Roboto"/>
                <a:ea typeface="Roboto"/>
                <a:cs typeface="Roboto"/>
                <a:sym typeface="Roboto"/>
              </a:endParaRPr>
            </a:p>
            <a:p>
              <a:pPr indent="0" lvl="0" marL="0" rtl="0" algn="l">
                <a:lnSpc>
                  <a:spcPct val="115000"/>
                </a:lnSpc>
                <a:spcBef>
                  <a:spcPts val="0"/>
                </a:spcBef>
                <a:spcAft>
                  <a:spcPts val="0"/>
                </a:spcAft>
                <a:buNone/>
              </a:pPr>
              <a:r>
                <a:t/>
              </a:r>
              <a:endParaRPr sz="1100">
                <a:latin typeface="Roboto"/>
                <a:ea typeface="Roboto"/>
                <a:cs typeface="Roboto"/>
                <a:sym typeface="Roboto"/>
              </a:endParaRPr>
            </a:p>
          </p:txBody>
        </p:sp>
      </p:grpSp>
      <p:grpSp>
        <p:nvGrpSpPr>
          <p:cNvPr id="237" name="Google Shape;237;p33"/>
          <p:cNvGrpSpPr/>
          <p:nvPr/>
        </p:nvGrpSpPr>
        <p:grpSpPr>
          <a:xfrm>
            <a:off x="6874025" y="1033272"/>
            <a:ext cx="2064000" cy="3790250"/>
            <a:chOff x="6874025" y="1189775"/>
            <a:chExt cx="2064000" cy="3790250"/>
          </a:xfrm>
        </p:grpSpPr>
        <p:sp>
          <p:nvSpPr>
            <p:cNvPr id="238" name="Google Shape;238;p33"/>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Step 10</a:t>
              </a:r>
              <a:endParaRPr>
                <a:solidFill>
                  <a:srgbClr val="FFFFFF"/>
                </a:solidFill>
                <a:latin typeface="Roboto"/>
                <a:ea typeface="Roboto"/>
                <a:cs typeface="Roboto"/>
                <a:sym typeface="Roboto"/>
              </a:endParaRPr>
            </a:p>
          </p:txBody>
        </p:sp>
        <p:sp>
          <p:nvSpPr>
            <p:cNvPr id="239" name="Google Shape;239;p33"/>
            <p:cNvSpPr txBox="1"/>
            <p:nvPr/>
          </p:nvSpPr>
          <p:spPr>
            <a:xfrm>
              <a:off x="7183850" y="2057125"/>
              <a:ext cx="1624500" cy="292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oboto"/>
                  <a:ea typeface="Roboto"/>
                  <a:cs typeface="Roboto"/>
                  <a:sym typeface="Roboto"/>
                </a:rPr>
                <a:t>Lakukan penyesuaian terus-menerus – kunjungi kembali persona; menambahkan fitur baru; tambahkan persona baru yang diperlukan; membuang persona usang.</a:t>
              </a:r>
              <a:endParaRPr sz="1100">
                <a:latin typeface="Roboto"/>
                <a:ea typeface="Roboto"/>
                <a:cs typeface="Roboto"/>
                <a:sym typeface="Roboto"/>
              </a:endParaRPr>
            </a:p>
          </p:txBody>
        </p:sp>
      </p:grpSp>
      <p:grpSp>
        <p:nvGrpSpPr>
          <p:cNvPr id="240" name="Google Shape;240;p33"/>
          <p:cNvGrpSpPr/>
          <p:nvPr/>
        </p:nvGrpSpPr>
        <p:grpSpPr>
          <a:xfrm>
            <a:off x="5195350" y="1033272"/>
            <a:ext cx="2064000" cy="3217850"/>
            <a:chOff x="5195350" y="1189775"/>
            <a:chExt cx="2064000" cy="3217850"/>
          </a:xfrm>
        </p:grpSpPr>
        <p:sp>
          <p:nvSpPr>
            <p:cNvPr id="241" name="Google Shape;241;p33"/>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Step 9</a:t>
              </a:r>
              <a:endParaRPr>
                <a:solidFill>
                  <a:srgbClr val="FFFFFF"/>
                </a:solidFill>
                <a:latin typeface="Roboto"/>
                <a:ea typeface="Roboto"/>
                <a:cs typeface="Roboto"/>
                <a:sym typeface="Roboto"/>
              </a:endParaRPr>
            </a:p>
          </p:txBody>
        </p:sp>
        <p:sp>
          <p:nvSpPr>
            <p:cNvPr id="242" name="Google Shape;242;p33"/>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rgbClr val="000000"/>
                  </a:solidFill>
                  <a:latin typeface="Roboto"/>
                  <a:ea typeface="Roboto"/>
                  <a:cs typeface="Roboto"/>
                  <a:sym typeface="Roboto"/>
                </a:rPr>
                <a:t>Pastikan semua orang mengembangkan skenario – ini harus memaparkan persona secara optimal ke kasus penggunaan potensial.</a:t>
              </a:r>
              <a:endParaRPr sz="1100">
                <a:solidFill>
                  <a:srgbClr val="000000"/>
                </a:solidFill>
                <a:latin typeface="Roboto"/>
                <a:ea typeface="Roboto"/>
                <a:cs typeface="Roboto"/>
                <a:sym typeface="Roboto"/>
              </a:endParaRPr>
            </a:p>
            <a:p>
              <a:pPr indent="0" lvl="0" marL="0" rtl="0" algn="l">
                <a:lnSpc>
                  <a:spcPct val="115000"/>
                </a:lnSpc>
                <a:spcBef>
                  <a:spcPts val="0"/>
                </a:spcBef>
                <a:spcAft>
                  <a:spcPts val="0"/>
                </a:spcAft>
                <a:buNone/>
              </a:pPr>
              <a:r>
                <a:t/>
              </a:r>
              <a:endParaRPr sz="1100">
                <a:solidFill>
                  <a:srgbClr val="000000"/>
                </a:solidFill>
                <a:latin typeface="Roboto"/>
                <a:ea typeface="Roboto"/>
                <a:cs typeface="Roboto"/>
                <a:sym typeface="Robot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8" name="Google Shape;248;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personas</a:t>
            </a:r>
            <a:endParaRPr/>
          </a:p>
        </p:txBody>
      </p:sp>
      <p:sp>
        <p:nvSpPr>
          <p:cNvPr id="249" name="Google Shape;249;p34"/>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user persona #1</a:t>
            </a:r>
            <a:endParaRPr sz="1200">
              <a:solidFill>
                <a:schemeClr val="dk1"/>
              </a:solidFill>
              <a:latin typeface="Raleway Medium"/>
              <a:ea typeface="Raleway Medium"/>
              <a:cs typeface="Raleway Medium"/>
              <a:sym typeface="Raleway Medium"/>
            </a:endParaRPr>
          </a:p>
        </p:txBody>
      </p:sp>
      <p:pic>
        <p:nvPicPr>
          <p:cNvPr id="250" name="Google Shape;250;p34">
            <a:hlinkClick r:id="rId3"/>
          </p:cNvPr>
          <p:cNvPicPr preferRelativeResize="0"/>
          <p:nvPr/>
        </p:nvPicPr>
        <p:blipFill>
          <a:blip r:embed="rId4">
            <a:alphaModFix/>
          </a:blip>
          <a:stretch>
            <a:fillRect/>
          </a:stretch>
        </p:blipFill>
        <p:spPr>
          <a:xfrm>
            <a:off x="2627550" y="773300"/>
            <a:ext cx="6277448" cy="4135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6" name="Google Shape;256;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personas</a:t>
            </a:r>
            <a:endParaRPr/>
          </a:p>
        </p:txBody>
      </p:sp>
      <p:sp>
        <p:nvSpPr>
          <p:cNvPr id="257" name="Google Shape;257;p35"/>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user persona #2</a:t>
            </a:r>
            <a:endParaRPr sz="1200">
              <a:solidFill>
                <a:schemeClr val="dk1"/>
              </a:solidFill>
              <a:latin typeface="Raleway Medium"/>
              <a:ea typeface="Raleway Medium"/>
              <a:cs typeface="Raleway Medium"/>
              <a:sym typeface="Raleway Medium"/>
            </a:endParaRPr>
          </a:p>
        </p:txBody>
      </p:sp>
      <p:pic>
        <p:nvPicPr>
          <p:cNvPr id="258" name="Google Shape;258;p35"/>
          <p:cNvPicPr preferRelativeResize="0"/>
          <p:nvPr/>
        </p:nvPicPr>
        <p:blipFill rotWithShape="1">
          <a:blip r:embed="rId3">
            <a:alphaModFix/>
          </a:blip>
          <a:srcRect b="0" l="4026" r="4036" t="0"/>
          <a:stretch/>
        </p:blipFill>
        <p:spPr>
          <a:xfrm>
            <a:off x="2627550" y="773300"/>
            <a:ext cx="6277448" cy="41353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4" name="Google Shape;264;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personas</a:t>
            </a:r>
            <a:endParaRPr/>
          </a:p>
        </p:txBody>
      </p:sp>
      <p:sp>
        <p:nvSpPr>
          <p:cNvPr id="265" name="Google Shape;265;p36"/>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user persona #3</a:t>
            </a:r>
            <a:endParaRPr sz="1200">
              <a:solidFill>
                <a:schemeClr val="dk1"/>
              </a:solidFill>
              <a:latin typeface="Raleway Medium"/>
              <a:ea typeface="Raleway Medium"/>
              <a:cs typeface="Raleway Medium"/>
              <a:sym typeface="Raleway Medium"/>
            </a:endParaRPr>
          </a:p>
        </p:txBody>
      </p:sp>
      <p:pic>
        <p:nvPicPr>
          <p:cNvPr id="266" name="Google Shape;266;p36"/>
          <p:cNvPicPr preferRelativeResize="0"/>
          <p:nvPr/>
        </p:nvPicPr>
        <p:blipFill rotWithShape="1">
          <a:blip r:embed="rId3">
            <a:alphaModFix/>
          </a:blip>
          <a:srcRect b="0" l="4026" r="4036" t="0"/>
          <a:stretch/>
        </p:blipFill>
        <p:spPr>
          <a:xfrm>
            <a:off x="2627550" y="773300"/>
            <a:ext cx="6277448" cy="41353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2" name="Google Shape;272;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personas</a:t>
            </a:r>
            <a:endParaRPr/>
          </a:p>
        </p:txBody>
      </p:sp>
      <p:sp>
        <p:nvSpPr>
          <p:cNvPr id="273" name="Google Shape;273;p37"/>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user persona #4</a:t>
            </a:r>
            <a:endParaRPr sz="1200">
              <a:solidFill>
                <a:schemeClr val="dk1"/>
              </a:solidFill>
              <a:latin typeface="Raleway Medium"/>
              <a:ea typeface="Raleway Medium"/>
              <a:cs typeface="Raleway Medium"/>
              <a:sym typeface="Raleway Medium"/>
            </a:endParaRPr>
          </a:p>
        </p:txBody>
      </p:sp>
      <p:pic>
        <p:nvPicPr>
          <p:cNvPr id="274" name="Google Shape;274;p37"/>
          <p:cNvPicPr preferRelativeResize="0"/>
          <p:nvPr/>
        </p:nvPicPr>
        <p:blipFill rotWithShape="1">
          <a:blip r:embed="rId3">
            <a:alphaModFix/>
          </a:blip>
          <a:srcRect b="6823" l="14045" r="14218" t="6144"/>
          <a:stretch/>
        </p:blipFill>
        <p:spPr>
          <a:xfrm>
            <a:off x="3509000" y="1005850"/>
            <a:ext cx="4503426" cy="36423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0" name="Google Shape;280;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personas</a:t>
            </a:r>
            <a:endParaRPr/>
          </a:p>
        </p:txBody>
      </p:sp>
      <p:sp>
        <p:nvSpPr>
          <p:cNvPr id="281" name="Google Shape;281;p38"/>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user persona #5</a:t>
            </a:r>
            <a:endParaRPr sz="1200">
              <a:solidFill>
                <a:schemeClr val="dk1"/>
              </a:solidFill>
              <a:latin typeface="Raleway Medium"/>
              <a:ea typeface="Raleway Medium"/>
              <a:cs typeface="Raleway Medium"/>
              <a:sym typeface="Raleway Medium"/>
            </a:endParaRPr>
          </a:p>
        </p:txBody>
      </p:sp>
      <p:pic>
        <p:nvPicPr>
          <p:cNvPr id="282" name="Google Shape;282;p38">
            <a:hlinkClick r:id="rId3"/>
          </p:cNvPr>
          <p:cNvPicPr preferRelativeResize="0"/>
          <p:nvPr/>
        </p:nvPicPr>
        <p:blipFill rotWithShape="1">
          <a:blip r:embed="rId4">
            <a:alphaModFix/>
          </a:blip>
          <a:srcRect b="3691" l="-4810" r="0" t="-1347"/>
          <a:stretch/>
        </p:blipFill>
        <p:spPr>
          <a:xfrm>
            <a:off x="2627550" y="773300"/>
            <a:ext cx="6277448" cy="41353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8" name="Google Shape;288;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personas</a:t>
            </a:r>
            <a:endParaRPr/>
          </a:p>
        </p:txBody>
      </p:sp>
      <p:sp>
        <p:nvSpPr>
          <p:cNvPr id="289" name="Google Shape;289;p39"/>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Persona yang efektif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dk1"/>
                </a:solidFill>
                <a:latin typeface="Raleway Medium"/>
                <a:ea typeface="Raleway Medium"/>
                <a:cs typeface="Raleway Medium"/>
                <a:sym typeface="Raleway Medium"/>
              </a:rPr>
              <a:t>M</a:t>
            </a:r>
            <a:r>
              <a:rPr lang="en" sz="1200">
                <a:solidFill>
                  <a:schemeClr val="dk1"/>
                </a:solidFill>
                <a:latin typeface="Raleway Medium"/>
                <a:ea typeface="Raleway Medium"/>
                <a:cs typeface="Raleway Medium"/>
                <a:sym typeface="Raleway Medium"/>
              </a:rPr>
              <a:t>ewakili grup pengguna utama untuk situs web, produk atau layanan Anda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Mengekspresikan dan fokus pada kebutuhan dan harapan utama dari kelompok pengguna yang paling penting bagi produk atau layanan Anda.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Memberikan gambaran yang jelas tentang harapan pengguna dan kemungkinan mereka menggunakan produk atau layanan Anda.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Membantu mengungkap fitur dan fungsionalitas universal.</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Menjelaskan karakter pengguna dan latar belakang, tujuan, dan nilai - nilai mereka.</a:t>
            </a:r>
            <a:endParaRPr sz="1200">
              <a:solidFill>
                <a:schemeClr val="dk1"/>
              </a:solidFill>
              <a:latin typeface="Raleway Medium"/>
              <a:ea typeface="Raleway Medium"/>
              <a:cs typeface="Raleway Medium"/>
              <a:sym typeface="Raleway Medium"/>
            </a:endParaRPr>
          </a:p>
        </p:txBody>
      </p:sp>
      <p:pic>
        <p:nvPicPr>
          <p:cNvPr id="290" name="Google Shape;290;p39">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0"/>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Pain Points dan Room for Improvements</a:t>
            </a:r>
            <a:endParaRPr>
              <a:solidFill>
                <a:schemeClr val="accent1"/>
              </a:solidFill>
            </a:endParaRPr>
          </a:p>
        </p:txBody>
      </p:sp>
      <p:sp>
        <p:nvSpPr>
          <p:cNvPr id="296" name="Google Shape;296;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2" name="Google Shape;302;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Pain points dan room for improvements</a:t>
            </a:r>
            <a:endParaRPr/>
          </a:p>
        </p:txBody>
      </p:sp>
      <p:sp>
        <p:nvSpPr>
          <p:cNvPr id="303" name="Google Shape;303;p41"/>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Mengenakan sepatu user Anda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Sepanjang siklus hidup proyek, jika memungkinkan, perbarui informasi Anda dengan konteks pengguna secara konstan.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berbagai metode di mana Anda dapat memastikan feedback/keluhan pelanggan melalui questionnaires, interviews, focus groups dan lain - lain.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Anda bekerja untuk sebuah perusahaan, sangat penting untuk melakukan semua ini secara teratur. Dengan cara ini Anda tetap terhubung dengan pengguna dan membantu meningkatkan empati. Empati membantu Anda memecahkan masalah dengan lebih baik.</a:t>
            </a:r>
            <a:endParaRPr sz="1200">
              <a:solidFill>
                <a:schemeClr val="dk1"/>
              </a:solidFill>
              <a:latin typeface="Raleway Medium"/>
              <a:ea typeface="Raleway Medium"/>
              <a:cs typeface="Raleway Medium"/>
              <a:sym typeface="Raleway Medium"/>
            </a:endParaRPr>
          </a:p>
        </p:txBody>
      </p:sp>
      <p:pic>
        <p:nvPicPr>
          <p:cNvPr id="304" name="Google Shape;304;p41">
            <a:hlinkClick r:id="rId3"/>
          </p:cNvPr>
          <p:cNvPicPr preferRelativeResize="0"/>
          <p:nvPr/>
        </p:nvPicPr>
        <p:blipFill rotWithShape="1">
          <a:blip r:embed="rId4">
            <a:alphaModFix/>
          </a:blip>
          <a:srcRect b="15913" l="0" r="0" t="15906"/>
          <a:stretch/>
        </p:blipFill>
        <p:spPr>
          <a:xfrm>
            <a:off x="5486400" y="1280150"/>
            <a:ext cx="3017522" cy="27431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0" name="Google Shape;310;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Pain points dan room for improvements</a:t>
            </a:r>
            <a:endParaRPr/>
          </a:p>
        </p:txBody>
      </p:sp>
      <p:sp>
        <p:nvSpPr>
          <p:cNvPr id="311" name="Google Shape;311;p4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Apa itu pain points?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Pain points (titik nyeri) mengacu pada masalah yang sangat spesifik yang dialami pelanggan produk atau layanan tertentu Anda. Anda dapat menganggap titik nyeri sebagai masalah.</a:t>
            </a:r>
            <a:endParaRPr sz="1200">
              <a:solidFill>
                <a:schemeClr val="dk1"/>
              </a:solidFill>
              <a:latin typeface="Raleway Medium"/>
              <a:ea typeface="Raleway Medium"/>
              <a:cs typeface="Raleway Medium"/>
              <a:sym typeface="Raleway Medium"/>
            </a:endParaRPr>
          </a:p>
        </p:txBody>
      </p:sp>
      <p:pic>
        <p:nvPicPr>
          <p:cNvPr id="312" name="Google Shape;312;p42">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8" name="Google Shape;318;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Pain points dan room for improvements</a:t>
            </a:r>
            <a:endParaRPr/>
          </a:p>
        </p:txBody>
      </p:sp>
      <p:sp>
        <p:nvSpPr>
          <p:cNvPr id="319" name="Google Shape;319;p43"/>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pain point #1</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Misalnya, jika pelanggan menggunakan platform e-commerce dan jika proses checkout dan pembayaran agak lama, maka mereka mungkin akan berhenti dan beralih ke penyedia e-commerce lain. Ini adalah pain point, yang jika tim produk dapat mengidentifikasi dan memperbaikinya, dapat meningkatkan konversi mereka.</a:t>
            </a:r>
            <a:endParaRPr sz="1200">
              <a:solidFill>
                <a:schemeClr val="dk1"/>
              </a:solidFill>
              <a:latin typeface="Raleway Medium"/>
              <a:ea typeface="Raleway Medium"/>
              <a:cs typeface="Raleway Medium"/>
              <a:sym typeface="Raleway Medium"/>
            </a:endParaRPr>
          </a:p>
        </p:txBody>
      </p:sp>
      <p:pic>
        <p:nvPicPr>
          <p:cNvPr id="320" name="Google Shape;320;p43">
            <a:hlinkClick r:id="rId3"/>
          </p:cNvPr>
          <p:cNvPicPr preferRelativeResize="0"/>
          <p:nvPr/>
        </p:nvPicPr>
        <p:blipFill rotWithShape="1">
          <a:blip r:embed="rId4">
            <a:alphaModFix/>
          </a:blip>
          <a:srcRect b="0" l="0" r="15490" t="0"/>
          <a:stretch/>
        </p:blipFill>
        <p:spPr>
          <a:xfrm>
            <a:off x="5486400" y="1280150"/>
            <a:ext cx="3017523" cy="27432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6" name="Google Shape;326;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Pain points dan room for improvements</a:t>
            </a:r>
            <a:endParaRPr/>
          </a:p>
        </p:txBody>
      </p:sp>
      <p:sp>
        <p:nvSpPr>
          <p:cNvPr id="327" name="Google Shape;327;p44"/>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pain point #2</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Contoh lain dari titik nyeri UX yang umum adalah masalah pembayaran yang dihadapi pengguna ketika mereka ingin membayar produk atau layanan secara online.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bukti bahwa hampir 68% pengguna meninggalkan keranjang belanja mereka saat mencoba melakukan pembelian. Alasan untuk ini bisa banyak seperti alur situs tidak dirancang dengan benar, proses check out yang lama dan rumit, dan lain - lain.</a:t>
            </a:r>
            <a:endParaRPr sz="1200">
              <a:solidFill>
                <a:schemeClr val="dk1"/>
              </a:solidFill>
              <a:latin typeface="Raleway Medium"/>
              <a:ea typeface="Raleway Medium"/>
              <a:cs typeface="Raleway Medium"/>
              <a:sym typeface="Raleway Medium"/>
            </a:endParaRPr>
          </a:p>
        </p:txBody>
      </p:sp>
      <p:pic>
        <p:nvPicPr>
          <p:cNvPr id="328" name="Google Shape;328;p44">
            <a:hlinkClick r:id="rId3"/>
          </p:cNvPr>
          <p:cNvPicPr preferRelativeResize="0"/>
          <p:nvPr/>
        </p:nvPicPr>
        <p:blipFill rotWithShape="1">
          <a:blip r:embed="rId4">
            <a:alphaModFix/>
          </a:blip>
          <a:srcRect b="0" l="4720" r="50539" t="0"/>
          <a:stretch/>
        </p:blipFill>
        <p:spPr>
          <a:xfrm>
            <a:off x="5486400" y="1280150"/>
            <a:ext cx="3017523" cy="27432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4" name="Google Shape;334;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Pain points dan room for improvements</a:t>
            </a:r>
            <a:endParaRPr/>
          </a:p>
        </p:txBody>
      </p:sp>
      <p:sp>
        <p:nvSpPr>
          <p:cNvPr id="335" name="Google Shape;335;p45"/>
          <p:cNvSpPr txBox="1"/>
          <p:nvPr/>
        </p:nvSpPr>
        <p:spPr>
          <a:xfrm>
            <a:off x="685800" y="1185675"/>
            <a:ext cx="78180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bagaimana kita menemukan sebuah pain point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Ambil contoh berikut dari pengecer multinasional besar Inggris yang berspesialisasi dalam menjual pakaian, produk rumah tangga dan produk makanan.</a:t>
            </a:r>
            <a:endParaRPr sz="1200">
              <a:solidFill>
                <a:schemeClr val="dk1"/>
              </a:solidFill>
              <a:latin typeface="Raleway Medium"/>
              <a:ea typeface="Raleway Medium"/>
              <a:cs typeface="Raleway Medium"/>
              <a:sym typeface="Raleway Medium"/>
            </a:endParaRPr>
          </a:p>
        </p:txBody>
      </p:sp>
      <p:pic>
        <p:nvPicPr>
          <p:cNvPr id="336" name="Google Shape;336;p45"/>
          <p:cNvPicPr preferRelativeResize="0"/>
          <p:nvPr/>
        </p:nvPicPr>
        <p:blipFill>
          <a:blip r:embed="rId3">
            <a:alphaModFix/>
          </a:blip>
          <a:stretch>
            <a:fillRect/>
          </a:stretch>
        </p:blipFill>
        <p:spPr>
          <a:xfrm>
            <a:off x="3980600" y="2254700"/>
            <a:ext cx="4446999" cy="2545902"/>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2" name="Google Shape;342;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Pain points dan room for improvements</a:t>
            </a:r>
            <a:endParaRPr/>
          </a:p>
        </p:txBody>
      </p:sp>
      <p:sp>
        <p:nvSpPr>
          <p:cNvPr id="343" name="Google Shape;343;p46"/>
          <p:cNvSpPr txBox="1"/>
          <p:nvPr/>
        </p:nvSpPr>
        <p:spPr>
          <a:xfrm>
            <a:off x="685800" y="1185675"/>
            <a:ext cx="78180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Sa</a:t>
            </a:r>
            <a:r>
              <a:rPr lang="en" sz="1200">
                <a:solidFill>
                  <a:schemeClr val="dk1"/>
                </a:solidFill>
                <a:latin typeface="Raleway Medium"/>
                <a:ea typeface="Raleway Medium"/>
                <a:cs typeface="Raleway Medium"/>
                <a:sym typeface="Raleway Medium"/>
              </a:rPr>
              <a:t>tu hal aneh tentang proses checkout mereka adalah bahwa opsi untuk checkout tamu tidak menonjol sama sekali di situs.  Anda mungkin perlu meluangkan waktu untuk mencari tahu di mana pilihan ini terletak! Ini adalah pain point yang dapat menyebabkan pelanggan meninggalkan checkout mereka!</a:t>
            </a:r>
            <a:endParaRPr sz="1200">
              <a:solidFill>
                <a:schemeClr val="dk1"/>
              </a:solidFill>
              <a:latin typeface="Raleway Medium"/>
              <a:ea typeface="Raleway Medium"/>
              <a:cs typeface="Raleway Medium"/>
              <a:sym typeface="Raleway Medium"/>
            </a:endParaRPr>
          </a:p>
        </p:txBody>
      </p:sp>
      <p:pic>
        <p:nvPicPr>
          <p:cNvPr id="344" name="Google Shape;344;p46"/>
          <p:cNvPicPr preferRelativeResize="0"/>
          <p:nvPr/>
        </p:nvPicPr>
        <p:blipFill>
          <a:blip r:embed="rId3">
            <a:alphaModFix/>
          </a:blip>
          <a:stretch>
            <a:fillRect/>
          </a:stretch>
        </p:blipFill>
        <p:spPr>
          <a:xfrm>
            <a:off x="3980600" y="2102300"/>
            <a:ext cx="4446999" cy="2545902"/>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grpSp>
        <p:nvGrpSpPr>
          <p:cNvPr id="349" name="Google Shape;349;p47"/>
          <p:cNvGrpSpPr/>
          <p:nvPr/>
        </p:nvGrpSpPr>
        <p:grpSpPr>
          <a:xfrm>
            <a:off x="3357901" y="1815940"/>
            <a:ext cx="5145579" cy="2984621"/>
            <a:chOff x="1731963" y="1143000"/>
            <a:chExt cx="5680074" cy="3552274"/>
          </a:xfrm>
        </p:grpSpPr>
        <p:pic>
          <p:nvPicPr>
            <p:cNvPr id="350" name="Google Shape;350;p47">
              <a:hlinkClick r:id="rId3"/>
            </p:cNvPr>
            <p:cNvPicPr preferRelativeResize="0"/>
            <p:nvPr/>
          </p:nvPicPr>
          <p:blipFill rotWithShape="1">
            <a:blip r:embed="rId4">
              <a:alphaModFix/>
            </a:blip>
            <a:srcRect b="0" l="0" r="0" t="11504"/>
            <a:stretch/>
          </p:blipFill>
          <p:spPr>
            <a:xfrm>
              <a:off x="1731963" y="1143000"/>
              <a:ext cx="5680074" cy="3552274"/>
            </a:xfrm>
            <a:prstGeom prst="rect">
              <a:avLst/>
            </a:prstGeom>
            <a:noFill/>
            <a:ln cap="flat" cmpd="sng" w="9525">
              <a:solidFill>
                <a:srgbClr val="595959"/>
              </a:solidFill>
              <a:prstDash val="solid"/>
              <a:round/>
              <a:headEnd len="sm" w="sm" type="none"/>
              <a:tailEnd len="sm" w="sm" type="none"/>
            </a:ln>
          </p:spPr>
        </p:pic>
        <p:sp>
          <p:nvSpPr>
            <p:cNvPr id="351" name="Google Shape;351;p47"/>
            <p:cNvSpPr txBox="1"/>
            <p:nvPr/>
          </p:nvSpPr>
          <p:spPr>
            <a:xfrm>
              <a:off x="1804150" y="1759350"/>
              <a:ext cx="638700" cy="47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Alex</a:t>
              </a:r>
              <a:endParaRPr b="1"/>
            </a:p>
          </p:txBody>
        </p:sp>
      </p:grpSp>
      <p:sp>
        <p:nvSpPr>
          <p:cNvPr id="352" name="Google Shape;352;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3" name="Google Shape;353;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Pain points dan room for improvements</a:t>
            </a:r>
            <a:endParaRPr/>
          </a:p>
        </p:txBody>
      </p:sp>
      <p:sp>
        <p:nvSpPr>
          <p:cNvPr id="354" name="Google Shape;354;p47"/>
          <p:cNvSpPr txBox="1"/>
          <p:nvPr/>
        </p:nvSpPr>
        <p:spPr>
          <a:xfrm>
            <a:off x="685800" y="1185675"/>
            <a:ext cx="78180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Kita juga bisa menggunakan user persona dalam mengkomunikasikan pain points. profil persona berisi detail tentang pelanggan seperti demografi, kebutuhan dan tujuan, motivasi, dan juga poin rasa sakit.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160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grpSp>
        <p:nvGrpSpPr>
          <p:cNvPr id="359" name="Google Shape;359;p48"/>
          <p:cNvGrpSpPr/>
          <p:nvPr/>
        </p:nvGrpSpPr>
        <p:grpSpPr>
          <a:xfrm>
            <a:off x="3357901" y="1206340"/>
            <a:ext cx="5145579" cy="2984621"/>
            <a:chOff x="1731963" y="1143000"/>
            <a:chExt cx="5680074" cy="3552274"/>
          </a:xfrm>
        </p:grpSpPr>
        <p:pic>
          <p:nvPicPr>
            <p:cNvPr id="360" name="Google Shape;360;p48">
              <a:hlinkClick r:id="rId3"/>
            </p:cNvPr>
            <p:cNvPicPr preferRelativeResize="0"/>
            <p:nvPr/>
          </p:nvPicPr>
          <p:blipFill rotWithShape="1">
            <a:blip r:embed="rId4">
              <a:alphaModFix/>
            </a:blip>
            <a:srcRect b="0" l="0" r="0" t="11504"/>
            <a:stretch/>
          </p:blipFill>
          <p:spPr>
            <a:xfrm>
              <a:off x="1731963" y="1143000"/>
              <a:ext cx="5680074" cy="3552274"/>
            </a:xfrm>
            <a:prstGeom prst="rect">
              <a:avLst/>
            </a:prstGeom>
            <a:noFill/>
            <a:ln cap="flat" cmpd="sng" w="9525">
              <a:solidFill>
                <a:srgbClr val="595959"/>
              </a:solidFill>
              <a:prstDash val="solid"/>
              <a:round/>
              <a:headEnd len="sm" w="sm" type="none"/>
              <a:tailEnd len="sm" w="sm" type="none"/>
            </a:ln>
          </p:spPr>
        </p:pic>
        <p:sp>
          <p:nvSpPr>
            <p:cNvPr id="361" name="Google Shape;361;p48"/>
            <p:cNvSpPr txBox="1"/>
            <p:nvPr/>
          </p:nvSpPr>
          <p:spPr>
            <a:xfrm>
              <a:off x="1804150" y="1759350"/>
              <a:ext cx="638700" cy="47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Alex</a:t>
              </a:r>
              <a:endParaRPr b="1"/>
            </a:p>
          </p:txBody>
        </p:sp>
      </p:grpSp>
      <p:sp>
        <p:nvSpPr>
          <p:cNvPr id="362" name="Google Shape;362;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3" name="Google Shape;363;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Pain points dan room for improvements</a:t>
            </a:r>
            <a:endParaRPr/>
          </a:p>
        </p:txBody>
      </p:sp>
      <p:sp>
        <p:nvSpPr>
          <p:cNvPr id="364" name="Google Shape;364;p48"/>
          <p:cNvSpPr txBox="1"/>
          <p:nvPr/>
        </p:nvSpPr>
        <p:spPr>
          <a:xfrm>
            <a:off x="685800" y="1185675"/>
            <a:ext cx="23982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Membaca pain points disamping membuat kita berpikir tentang Alex sebagai orang yang aktif dan metodis, yang sibuk dan membutuhkan satu tempat untuk memeriksa kondisi cuaca untuk berbagai aktivitas dan lokasi terdekat.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Tapi, aplikasi yang ia gunakan saat ini tidak menarik (yaitu memiliki antarmuka pengguna yang buruk), tidak akurat, dan secara keseluruhan telah menciptakan UX yang buruk untuknya.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grpSp>
        <p:nvGrpSpPr>
          <p:cNvPr id="369" name="Google Shape;369;p49"/>
          <p:cNvGrpSpPr/>
          <p:nvPr/>
        </p:nvGrpSpPr>
        <p:grpSpPr>
          <a:xfrm>
            <a:off x="3357901" y="1206340"/>
            <a:ext cx="5145579" cy="2984621"/>
            <a:chOff x="1731963" y="1143000"/>
            <a:chExt cx="5680074" cy="3552274"/>
          </a:xfrm>
        </p:grpSpPr>
        <p:pic>
          <p:nvPicPr>
            <p:cNvPr id="370" name="Google Shape;370;p49">
              <a:hlinkClick r:id="rId3"/>
            </p:cNvPr>
            <p:cNvPicPr preferRelativeResize="0"/>
            <p:nvPr/>
          </p:nvPicPr>
          <p:blipFill rotWithShape="1">
            <a:blip r:embed="rId4">
              <a:alphaModFix/>
            </a:blip>
            <a:srcRect b="0" l="0" r="0" t="11504"/>
            <a:stretch/>
          </p:blipFill>
          <p:spPr>
            <a:xfrm>
              <a:off x="1731963" y="1143000"/>
              <a:ext cx="5680074" cy="3552274"/>
            </a:xfrm>
            <a:prstGeom prst="rect">
              <a:avLst/>
            </a:prstGeom>
            <a:noFill/>
            <a:ln cap="flat" cmpd="sng" w="9525">
              <a:solidFill>
                <a:srgbClr val="595959"/>
              </a:solidFill>
              <a:prstDash val="solid"/>
              <a:round/>
              <a:headEnd len="sm" w="sm" type="none"/>
              <a:tailEnd len="sm" w="sm" type="none"/>
            </a:ln>
          </p:spPr>
        </p:pic>
        <p:sp>
          <p:nvSpPr>
            <p:cNvPr id="371" name="Google Shape;371;p49"/>
            <p:cNvSpPr txBox="1"/>
            <p:nvPr/>
          </p:nvSpPr>
          <p:spPr>
            <a:xfrm>
              <a:off x="1804150" y="1759350"/>
              <a:ext cx="638700" cy="47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Alex</a:t>
              </a:r>
              <a:endParaRPr b="1"/>
            </a:p>
          </p:txBody>
        </p:sp>
      </p:grpSp>
      <p:sp>
        <p:nvSpPr>
          <p:cNvPr id="372" name="Google Shape;372;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3" name="Google Shape;373;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Pain points dan room for improvements</a:t>
            </a:r>
            <a:endParaRPr/>
          </a:p>
        </p:txBody>
      </p:sp>
      <p:sp>
        <p:nvSpPr>
          <p:cNvPr id="374" name="Google Shape;374;p49"/>
          <p:cNvSpPr txBox="1"/>
          <p:nvPr/>
        </p:nvSpPr>
        <p:spPr>
          <a:xfrm>
            <a:off x="685800" y="1185675"/>
            <a:ext cx="23982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Sekarang, apa yang dikatakan pain points kepada kita? Pain points tersebut  memberitahu kita bahwa ada pasar potensial di sini untuk pengembangan aplikasi cuaca yang akurat (yang menampilkan informasi dari berbagai sumber dan diperbarui secara berkala) dan memiliki antarmuka yang modern dan bersih!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Pain points ini menginformasikan perlunya desain dan aplikasi khusus untuk segmen pengguna yang cocok dengan Alex</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0" name="Google Shape;380;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Pain points dan room for improvements</a:t>
            </a:r>
            <a:endParaRPr/>
          </a:p>
        </p:txBody>
      </p:sp>
      <p:sp>
        <p:nvSpPr>
          <p:cNvPr id="381" name="Google Shape;381;p5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Nah, sekarang apa itu room for improvements?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Room for improvements adalah kemungkinan atau harapan bahwa seseorang atau sesuatu akan meningkat (menjadi lebih baik).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Setelah kita menemukan pain point dari sebuah hal, kita bisa menentukan room for improvements.</a:t>
            </a:r>
            <a:endParaRPr sz="1200">
              <a:solidFill>
                <a:schemeClr val="dk1"/>
              </a:solidFill>
              <a:latin typeface="Raleway Medium"/>
              <a:ea typeface="Raleway Medium"/>
              <a:cs typeface="Raleway Medium"/>
              <a:sym typeface="Raleway Medium"/>
            </a:endParaRPr>
          </a:p>
        </p:txBody>
      </p:sp>
      <p:pic>
        <p:nvPicPr>
          <p:cNvPr id="382" name="Google Shape;382;p50">
            <a:hlinkClick r:id="rId3"/>
          </p:cNvPr>
          <p:cNvPicPr preferRelativeResize="0"/>
          <p:nvPr/>
        </p:nvPicPr>
        <p:blipFill rotWithShape="1">
          <a:blip r:embed="rId4">
            <a:alphaModFix/>
          </a:blip>
          <a:srcRect b="0" l="10386" r="10386" t="0"/>
          <a:stretch/>
        </p:blipFill>
        <p:spPr>
          <a:xfrm>
            <a:off x="5486400" y="1280150"/>
            <a:ext cx="3017523" cy="274320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8" name="Google Shape;388;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Pain points dan room for improvements</a:t>
            </a:r>
            <a:endParaRPr/>
          </a:p>
        </p:txBody>
      </p:sp>
      <p:sp>
        <p:nvSpPr>
          <p:cNvPr id="389" name="Google Shape;389;p51"/>
          <p:cNvSpPr txBox="1"/>
          <p:nvPr/>
        </p:nvSpPr>
        <p:spPr>
          <a:xfrm>
            <a:off x="685800" y="1185675"/>
            <a:ext cx="78180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bagaimana kita menemukan sebuah room for improvement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Lagi - lagi, kita ambil</a:t>
            </a:r>
            <a:r>
              <a:rPr lang="en" sz="1200">
                <a:solidFill>
                  <a:schemeClr val="dk1"/>
                </a:solidFill>
                <a:latin typeface="Raleway Medium"/>
                <a:ea typeface="Raleway Medium"/>
                <a:cs typeface="Raleway Medium"/>
                <a:sym typeface="Raleway Medium"/>
              </a:rPr>
              <a:t> contoh berikut dari pengecer multinasional besar Inggris yang berspesialisasi dalam menjual pakaian, produk rumah tangga dan produk makanan.</a:t>
            </a:r>
            <a:endParaRPr sz="1200">
              <a:solidFill>
                <a:schemeClr val="dk1"/>
              </a:solidFill>
              <a:latin typeface="Raleway Medium"/>
              <a:ea typeface="Raleway Medium"/>
              <a:cs typeface="Raleway Medium"/>
              <a:sym typeface="Raleway Medium"/>
            </a:endParaRPr>
          </a:p>
        </p:txBody>
      </p:sp>
      <p:pic>
        <p:nvPicPr>
          <p:cNvPr id="390" name="Google Shape;390;p51"/>
          <p:cNvPicPr preferRelativeResize="0"/>
          <p:nvPr/>
        </p:nvPicPr>
        <p:blipFill>
          <a:blip r:embed="rId3">
            <a:alphaModFix/>
          </a:blip>
          <a:stretch>
            <a:fillRect/>
          </a:stretch>
        </p:blipFill>
        <p:spPr>
          <a:xfrm>
            <a:off x="3980600" y="2254700"/>
            <a:ext cx="4446999" cy="2545902"/>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6" name="Google Shape;396;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Pain points dan room for improvements</a:t>
            </a:r>
            <a:endParaRPr/>
          </a:p>
        </p:txBody>
      </p:sp>
      <p:sp>
        <p:nvSpPr>
          <p:cNvPr id="397" name="Google Shape;397;p52"/>
          <p:cNvSpPr txBox="1"/>
          <p:nvPr/>
        </p:nvSpPr>
        <p:spPr>
          <a:xfrm>
            <a:off x="685800" y="1185675"/>
            <a:ext cx="78180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Dimanakah letak room for improvement dari contoh ini?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Kita bisa mulai dari memperbaiki letak button yang ditampilkan pada halaman.</a:t>
            </a:r>
            <a:endParaRPr sz="1200">
              <a:solidFill>
                <a:schemeClr val="dk1"/>
              </a:solidFill>
              <a:latin typeface="Raleway Medium"/>
              <a:ea typeface="Raleway Medium"/>
              <a:cs typeface="Raleway Medium"/>
              <a:sym typeface="Raleway Medium"/>
            </a:endParaRPr>
          </a:p>
        </p:txBody>
      </p:sp>
      <p:pic>
        <p:nvPicPr>
          <p:cNvPr id="398" name="Google Shape;398;p52"/>
          <p:cNvPicPr preferRelativeResize="0"/>
          <p:nvPr/>
        </p:nvPicPr>
        <p:blipFill>
          <a:blip r:embed="rId3">
            <a:alphaModFix/>
          </a:blip>
          <a:stretch>
            <a:fillRect/>
          </a:stretch>
        </p:blipFill>
        <p:spPr>
          <a:xfrm>
            <a:off x="3980600" y="2102300"/>
            <a:ext cx="4446999" cy="2545902"/>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4" name="Google Shape;404;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Pain points dan room for improvements</a:t>
            </a:r>
            <a:endParaRPr/>
          </a:p>
        </p:txBody>
      </p:sp>
      <p:sp>
        <p:nvSpPr>
          <p:cNvPr id="405" name="Google Shape;405;p53"/>
          <p:cNvSpPr txBox="1"/>
          <p:nvPr/>
        </p:nvSpPr>
        <p:spPr>
          <a:xfrm>
            <a:off x="685800" y="1185675"/>
            <a:ext cx="78180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Kita juga bisa menggunakan </a:t>
            </a:r>
            <a:r>
              <a:rPr b="1" lang="en" sz="1200">
                <a:solidFill>
                  <a:schemeClr val="dk1"/>
                </a:solidFill>
                <a:latin typeface="Raleway"/>
                <a:ea typeface="Raleway"/>
                <a:cs typeface="Raleway"/>
                <a:sym typeface="Raleway"/>
              </a:rPr>
              <a:t>user journey map</a:t>
            </a:r>
            <a:r>
              <a:rPr lang="en" sz="1200">
                <a:solidFill>
                  <a:schemeClr val="dk1"/>
                </a:solidFill>
                <a:latin typeface="Raleway Medium"/>
                <a:ea typeface="Raleway Medium"/>
                <a:cs typeface="Raleway Medium"/>
                <a:sym typeface="Raleway Medium"/>
              </a:rPr>
              <a:t> dalam menemukan dan mengkomunikasikan room for improvements setelah kita menemukan opportunities (peluang).</a:t>
            </a:r>
            <a:endParaRPr sz="1200">
              <a:solidFill>
                <a:schemeClr val="dk1"/>
              </a:solidFill>
              <a:latin typeface="Raleway Medium"/>
              <a:ea typeface="Raleway Medium"/>
              <a:cs typeface="Raleway Medium"/>
              <a:sym typeface="Raleway Medium"/>
            </a:endParaRPr>
          </a:p>
        </p:txBody>
      </p:sp>
      <p:pic>
        <p:nvPicPr>
          <p:cNvPr id="406" name="Google Shape;406;p53">
            <a:hlinkClick r:id="rId3"/>
          </p:cNvPr>
          <p:cNvPicPr preferRelativeResize="0"/>
          <p:nvPr/>
        </p:nvPicPr>
        <p:blipFill rotWithShape="1">
          <a:blip r:embed="rId4">
            <a:alphaModFix/>
          </a:blip>
          <a:srcRect b="8174" l="0" r="0" t="16694"/>
          <a:stretch/>
        </p:blipFill>
        <p:spPr>
          <a:xfrm>
            <a:off x="3510150" y="1764075"/>
            <a:ext cx="4871851" cy="2745025"/>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4"/>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User journey maps</a:t>
            </a:r>
            <a:endParaRPr>
              <a:solidFill>
                <a:schemeClr val="accent1"/>
              </a:solidFill>
            </a:endParaRPr>
          </a:p>
        </p:txBody>
      </p:sp>
      <p:sp>
        <p:nvSpPr>
          <p:cNvPr id="412" name="Google Shape;412;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8" name="Google Shape;418;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419" name="Google Shape;419;p55"/>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Apa itu user journey map?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User journey map adalah sebuah gambaran tahap-tahap yang mendeskripsikan interaksi user dengan layanan atau produk kita yang dalam konteks ini yaitu website atau aplikasi.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Singkatnya, UJM adalah sebuah visualisasi dari proses yang seseorang lalui untuk mencapai sebuah tujuan.</a:t>
            </a:r>
            <a:endParaRPr sz="1200">
              <a:solidFill>
                <a:schemeClr val="dk1"/>
              </a:solidFill>
              <a:latin typeface="Raleway Medium"/>
              <a:ea typeface="Raleway Medium"/>
              <a:cs typeface="Raleway Medium"/>
              <a:sym typeface="Raleway Medium"/>
            </a:endParaRPr>
          </a:p>
        </p:txBody>
      </p:sp>
      <p:pic>
        <p:nvPicPr>
          <p:cNvPr id="420" name="Google Shape;420;p55">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6" name="Google Shape;426;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427" name="Google Shape;427;p56"/>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Tujuan user journey map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User journey map atau dikenal juga sebagai customer journey map merupakan sebuah tool desain yang penting untuk memahami produk atau layanan menurut perspektif pengguna. User journey map menggambarkan visualisasi langkah-langkah yang diambil pengguna untuk mencapai tujuannya. User journey mempunyai 2 fungsi yaitu:</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Mendemonstrasikan cara pengguna berinteraksi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dengan produk, website, atau layanan pada saat ini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Mendemonstrasikan kemungkinan cara pengguna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berinteraksi dengan produk, website, atau layanan di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masa depan.</a:t>
            </a:r>
            <a:endParaRPr sz="1200">
              <a:solidFill>
                <a:schemeClr val="dk1"/>
              </a:solidFill>
              <a:latin typeface="Raleway Medium"/>
              <a:ea typeface="Raleway Medium"/>
              <a:cs typeface="Raleway Medium"/>
              <a:sym typeface="Raleway Medium"/>
            </a:endParaRPr>
          </a:p>
        </p:txBody>
      </p:sp>
      <p:pic>
        <p:nvPicPr>
          <p:cNvPr id="428" name="Google Shape;428;p56">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4" name="Google Shape;434;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435" name="Google Shape;435;p57"/>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Pentingnya sebuah user journey map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Menentukan titik kontak perjalanan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Menyatukan pemahaman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Melacak key performance indicator* (KPI)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Menemukan kekurangan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Key performance indicator adalah Indikator kinerja atau indikator kinerja utama atau ukuran kinerja terpilih adalah metrik finansial atau non-finansial yang digunakan untuk membantu suatu organisasi menentukan dan mengukur kemajuan terhadap sasaran organisasi.</a:t>
            </a:r>
            <a:endParaRPr sz="1200">
              <a:solidFill>
                <a:schemeClr val="dk1"/>
              </a:solidFill>
              <a:latin typeface="Raleway Medium"/>
              <a:ea typeface="Raleway Medium"/>
              <a:cs typeface="Raleway Medium"/>
              <a:sym typeface="Raleway Medium"/>
            </a:endParaRPr>
          </a:p>
        </p:txBody>
      </p:sp>
      <p:pic>
        <p:nvPicPr>
          <p:cNvPr id="436" name="Google Shape;436;p57">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2" name="Google Shape;442;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443" name="Google Shape;443;p58"/>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Jenis - jenis user journey map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Current and future state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Assumption dan research based</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Day in a life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Circular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Dan banyak lainnya.</a:t>
            </a:r>
            <a:endParaRPr sz="1200">
              <a:solidFill>
                <a:schemeClr val="dk1"/>
              </a:solidFill>
              <a:latin typeface="Raleway Medium"/>
              <a:ea typeface="Raleway Medium"/>
              <a:cs typeface="Raleway Medium"/>
              <a:sym typeface="Raleway Medium"/>
            </a:endParaRPr>
          </a:p>
        </p:txBody>
      </p:sp>
      <p:pic>
        <p:nvPicPr>
          <p:cNvPr id="444" name="Google Shape;444;p58">
            <a:hlinkClick r:id="rId3"/>
          </p:cNvPr>
          <p:cNvPicPr preferRelativeResize="0"/>
          <p:nvPr/>
        </p:nvPicPr>
        <p:blipFill rotWithShape="1">
          <a:blip r:embed="rId4">
            <a:alphaModFix/>
          </a:blip>
          <a:srcRect b="0" l="13343" r="13343" t="0"/>
          <a:stretch/>
        </p:blipFill>
        <p:spPr>
          <a:xfrm>
            <a:off x="5486400" y="1280150"/>
            <a:ext cx="3017523" cy="27432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0" name="Google Shape;450;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451" name="Google Shape;451;p59"/>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Ada beberapa komponen inti dari sebuah user journey map, diantaranya adalah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Mari kita telaah sebuah contoh…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grpSp>
        <p:nvGrpSpPr>
          <p:cNvPr id="452" name="Google Shape;452;p59"/>
          <p:cNvGrpSpPr/>
          <p:nvPr/>
        </p:nvGrpSpPr>
        <p:grpSpPr>
          <a:xfrm>
            <a:off x="5095660" y="1770587"/>
            <a:ext cx="3496618" cy="683972"/>
            <a:chOff x="1593000" y="2322558"/>
            <a:chExt cx="2437517" cy="643375"/>
          </a:xfrm>
        </p:grpSpPr>
        <p:sp>
          <p:nvSpPr>
            <p:cNvPr id="453" name="Google Shape;453;p59"/>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9"/>
            <p:cNvSpPr/>
            <p:nvPr/>
          </p:nvSpPr>
          <p:spPr>
            <a:xfrm rot="-5400000">
              <a:off x="3196442"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59"/>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rgbClr val="FFFFFF"/>
                  </a:solidFill>
                  <a:latin typeface="Roboto Medium"/>
                  <a:ea typeface="Roboto Medium"/>
                  <a:cs typeface="Roboto Medium"/>
                  <a:sym typeface="Roboto Medium"/>
                </a:rPr>
                <a:t>Scenarios + Expectations</a:t>
              </a:r>
              <a:endParaRPr>
                <a:solidFill>
                  <a:srgbClr val="FFFFFF"/>
                </a:solidFill>
                <a:latin typeface="Roboto"/>
                <a:ea typeface="Roboto"/>
                <a:cs typeface="Roboto"/>
                <a:sym typeface="Roboto"/>
              </a:endParaRPr>
            </a:p>
          </p:txBody>
        </p:sp>
        <p:sp>
          <p:nvSpPr>
            <p:cNvPr id="456" name="Google Shape;456;p59"/>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9"/>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02</a:t>
              </a:r>
              <a:endParaRPr sz="2600">
                <a:solidFill>
                  <a:srgbClr val="FFFFFF"/>
                </a:solidFill>
                <a:latin typeface="Roboto Thin"/>
                <a:ea typeface="Roboto Thin"/>
                <a:cs typeface="Roboto Thin"/>
                <a:sym typeface="Roboto Thin"/>
              </a:endParaRPr>
            </a:p>
          </p:txBody>
        </p:sp>
      </p:grpSp>
      <p:grpSp>
        <p:nvGrpSpPr>
          <p:cNvPr id="458" name="Google Shape;458;p59"/>
          <p:cNvGrpSpPr/>
          <p:nvPr/>
        </p:nvGrpSpPr>
        <p:grpSpPr>
          <a:xfrm>
            <a:off x="5102520" y="2448213"/>
            <a:ext cx="3496618" cy="683972"/>
            <a:chOff x="1593000" y="2322558"/>
            <a:chExt cx="2437517" cy="643375"/>
          </a:xfrm>
        </p:grpSpPr>
        <p:sp>
          <p:nvSpPr>
            <p:cNvPr id="459" name="Google Shape;459;p59"/>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59"/>
            <p:cNvSpPr/>
            <p:nvPr/>
          </p:nvSpPr>
          <p:spPr>
            <a:xfrm rot="-5400000">
              <a:off x="3196442"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59"/>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rgbClr val="FFFFFF"/>
                  </a:solidFill>
                  <a:latin typeface="Roboto Medium"/>
                  <a:ea typeface="Roboto Medium"/>
                  <a:cs typeface="Roboto Medium"/>
                  <a:sym typeface="Roboto Medium"/>
                </a:rPr>
                <a:t>Journey Phases</a:t>
              </a:r>
              <a:endParaRPr>
                <a:solidFill>
                  <a:srgbClr val="FFFFFF"/>
                </a:solidFill>
                <a:latin typeface="Roboto"/>
                <a:ea typeface="Roboto"/>
                <a:cs typeface="Roboto"/>
                <a:sym typeface="Roboto"/>
              </a:endParaRPr>
            </a:p>
          </p:txBody>
        </p:sp>
        <p:sp>
          <p:nvSpPr>
            <p:cNvPr id="462" name="Google Shape;462;p59"/>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59"/>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03</a:t>
              </a:r>
              <a:endParaRPr sz="2600">
                <a:solidFill>
                  <a:srgbClr val="FFFFFF"/>
                </a:solidFill>
                <a:latin typeface="Roboto Thin"/>
                <a:ea typeface="Roboto Thin"/>
                <a:cs typeface="Roboto Thin"/>
                <a:sym typeface="Roboto Thin"/>
              </a:endParaRPr>
            </a:p>
          </p:txBody>
        </p:sp>
      </p:grpSp>
      <p:grpSp>
        <p:nvGrpSpPr>
          <p:cNvPr id="464" name="Google Shape;464;p59"/>
          <p:cNvGrpSpPr/>
          <p:nvPr/>
        </p:nvGrpSpPr>
        <p:grpSpPr>
          <a:xfrm>
            <a:off x="5102520" y="3122328"/>
            <a:ext cx="3496618" cy="683972"/>
            <a:chOff x="1593000" y="2322558"/>
            <a:chExt cx="2437517" cy="643375"/>
          </a:xfrm>
        </p:grpSpPr>
        <p:sp>
          <p:nvSpPr>
            <p:cNvPr id="465" name="Google Shape;465;p59"/>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59"/>
            <p:cNvSpPr/>
            <p:nvPr/>
          </p:nvSpPr>
          <p:spPr>
            <a:xfrm rot="-5400000">
              <a:off x="3196442"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59"/>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rgbClr val="FFFFFF"/>
                  </a:solidFill>
                  <a:latin typeface="Roboto Medium"/>
                  <a:ea typeface="Roboto Medium"/>
                  <a:cs typeface="Roboto Medium"/>
                  <a:sym typeface="Roboto Medium"/>
                </a:rPr>
                <a:t>Actions, Mindsets &amp; Emotions</a:t>
              </a:r>
              <a:endParaRPr>
                <a:solidFill>
                  <a:srgbClr val="FFFFFF"/>
                </a:solidFill>
                <a:latin typeface="Roboto"/>
                <a:ea typeface="Roboto"/>
                <a:cs typeface="Roboto"/>
                <a:sym typeface="Roboto"/>
              </a:endParaRPr>
            </a:p>
          </p:txBody>
        </p:sp>
        <p:sp>
          <p:nvSpPr>
            <p:cNvPr id="468" name="Google Shape;468;p59"/>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59"/>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04</a:t>
              </a:r>
              <a:endParaRPr sz="2600">
                <a:solidFill>
                  <a:srgbClr val="FFFFFF"/>
                </a:solidFill>
                <a:latin typeface="Roboto Thin"/>
                <a:ea typeface="Roboto Thin"/>
                <a:cs typeface="Roboto Thin"/>
                <a:sym typeface="Roboto Thin"/>
              </a:endParaRPr>
            </a:p>
          </p:txBody>
        </p:sp>
      </p:grpSp>
      <p:grpSp>
        <p:nvGrpSpPr>
          <p:cNvPr id="470" name="Google Shape;470;p59"/>
          <p:cNvGrpSpPr/>
          <p:nvPr/>
        </p:nvGrpSpPr>
        <p:grpSpPr>
          <a:xfrm>
            <a:off x="5102505" y="1092975"/>
            <a:ext cx="3496618" cy="683972"/>
            <a:chOff x="1593000" y="2322558"/>
            <a:chExt cx="2437517" cy="643375"/>
          </a:xfrm>
        </p:grpSpPr>
        <p:sp>
          <p:nvSpPr>
            <p:cNvPr id="471" name="Google Shape;471;p59"/>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59"/>
            <p:cNvSpPr/>
            <p:nvPr/>
          </p:nvSpPr>
          <p:spPr>
            <a:xfrm rot="-5400000">
              <a:off x="3196442"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59"/>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59"/>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01</a:t>
              </a:r>
              <a:endParaRPr sz="2600">
                <a:solidFill>
                  <a:srgbClr val="FFFFFF"/>
                </a:solidFill>
                <a:latin typeface="Roboto Thin"/>
                <a:ea typeface="Roboto Thin"/>
                <a:cs typeface="Roboto Thin"/>
                <a:sym typeface="Roboto Thin"/>
              </a:endParaRPr>
            </a:p>
          </p:txBody>
        </p:sp>
        <p:sp>
          <p:nvSpPr>
            <p:cNvPr id="475" name="Google Shape;475;p59"/>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rgbClr val="FFFFFF"/>
                  </a:solidFill>
                  <a:latin typeface="Roboto Medium"/>
                  <a:ea typeface="Roboto Medium"/>
                  <a:cs typeface="Roboto Medium"/>
                  <a:sym typeface="Roboto Medium"/>
                </a:rPr>
                <a:t>Actor</a:t>
              </a:r>
              <a:endParaRPr>
                <a:solidFill>
                  <a:srgbClr val="FFFFFF"/>
                </a:solidFill>
                <a:latin typeface="Roboto"/>
                <a:ea typeface="Roboto"/>
                <a:cs typeface="Roboto"/>
                <a:sym typeface="Roboto"/>
              </a:endParaRPr>
            </a:p>
          </p:txBody>
        </p:sp>
      </p:grpSp>
      <p:grpSp>
        <p:nvGrpSpPr>
          <p:cNvPr id="476" name="Google Shape;476;p59"/>
          <p:cNvGrpSpPr/>
          <p:nvPr/>
        </p:nvGrpSpPr>
        <p:grpSpPr>
          <a:xfrm>
            <a:off x="5095660" y="3803453"/>
            <a:ext cx="3496618" cy="683972"/>
            <a:chOff x="1593000" y="2322558"/>
            <a:chExt cx="2437517" cy="643375"/>
          </a:xfrm>
        </p:grpSpPr>
        <p:sp>
          <p:nvSpPr>
            <p:cNvPr id="477" name="Google Shape;477;p59"/>
            <p:cNvSpPr/>
            <p:nvPr/>
          </p:nvSpPr>
          <p:spPr>
            <a:xfrm flipH="1">
              <a:off x="1894316" y="2322575"/>
              <a:ext cx="1844400" cy="642600"/>
            </a:xfrm>
            <a:prstGeom prst="rect">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59"/>
            <p:cNvSpPr/>
            <p:nvPr/>
          </p:nvSpPr>
          <p:spPr>
            <a:xfrm rot="-5400000">
              <a:off x="3196442" y="2131858"/>
              <a:ext cx="643375" cy="1024775"/>
            </a:xfrm>
            <a:prstGeom prst="flowChartOffpageConnector">
              <a:avLst/>
            </a:prstGeom>
            <a:solidFill>
              <a:srgbClr val="A667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59"/>
            <p:cNvSpPr/>
            <p:nvPr/>
          </p:nvSpPr>
          <p:spPr>
            <a:xfrm>
              <a:off x="2342635" y="2399958"/>
              <a:ext cx="15423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a:solidFill>
                    <a:srgbClr val="FFFFFF"/>
                  </a:solidFill>
                  <a:latin typeface="Roboto Medium"/>
                  <a:ea typeface="Roboto Medium"/>
                  <a:cs typeface="Roboto Medium"/>
                  <a:sym typeface="Roboto Medium"/>
                </a:rPr>
                <a:t>Opportunities</a:t>
              </a:r>
              <a:endParaRPr>
                <a:solidFill>
                  <a:srgbClr val="FFFFFF"/>
                </a:solidFill>
                <a:latin typeface="Roboto"/>
                <a:ea typeface="Roboto"/>
                <a:cs typeface="Roboto"/>
                <a:sym typeface="Roboto"/>
              </a:endParaRPr>
            </a:p>
          </p:txBody>
        </p:sp>
        <p:sp>
          <p:nvSpPr>
            <p:cNvPr id="480" name="Google Shape;480;p59"/>
            <p:cNvSpPr/>
            <p:nvPr/>
          </p:nvSpPr>
          <p:spPr>
            <a:xfrm>
              <a:off x="1593000" y="2322568"/>
              <a:ext cx="690000" cy="642300"/>
            </a:xfrm>
            <a:prstGeom prst="rect">
              <a:avLst/>
            </a:prstGeom>
            <a:solidFill>
              <a:srgbClr val="B02C20"/>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59"/>
            <p:cNvSpPr/>
            <p:nvPr/>
          </p:nvSpPr>
          <p:spPr>
            <a:xfrm>
              <a:off x="1593000" y="2322575"/>
              <a:ext cx="690000" cy="642600"/>
            </a:xfrm>
            <a:prstGeom prst="rect">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600">
                  <a:solidFill>
                    <a:srgbClr val="FFFFFF"/>
                  </a:solidFill>
                  <a:latin typeface="Roboto Thin"/>
                  <a:ea typeface="Roboto Thin"/>
                  <a:cs typeface="Roboto Thin"/>
                  <a:sym typeface="Roboto Thin"/>
                </a:rPr>
                <a:t>05</a:t>
              </a:r>
              <a:endParaRPr sz="2600">
                <a:solidFill>
                  <a:srgbClr val="FFFFFF"/>
                </a:solidFill>
                <a:latin typeface="Roboto Thin"/>
                <a:ea typeface="Roboto Thin"/>
                <a:cs typeface="Roboto Thin"/>
                <a:sym typeface="Roboto Thin"/>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7" name="Google Shape;487;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488" name="Google Shape;488;p60"/>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Actor</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b="1" lang="en" sz="1200">
                <a:solidFill>
                  <a:schemeClr val="dk1"/>
                </a:solidFill>
                <a:latin typeface="Raleway"/>
                <a:ea typeface="Raleway"/>
                <a:cs typeface="Raleway"/>
                <a:sym typeface="Raleway"/>
              </a:rPr>
              <a:t>Nama</a:t>
            </a:r>
            <a:r>
              <a:rPr lang="en" sz="1200">
                <a:solidFill>
                  <a:schemeClr val="dk1"/>
                </a:solidFill>
                <a:latin typeface="Raleway Medium"/>
                <a:ea typeface="Raleway Medium"/>
                <a:cs typeface="Raleway Medium"/>
                <a:sym typeface="Raleway Medium"/>
              </a:rPr>
              <a:t>: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Jamie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b="1" lang="en" sz="1200">
                <a:solidFill>
                  <a:schemeClr val="dk1"/>
                </a:solidFill>
                <a:latin typeface="Raleway"/>
                <a:ea typeface="Raleway"/>
                <a:cs typeface="Raleway"/>
                <a:sym typeface="Raleway"/>
              </a:rPr>
              <a:t>Tentang Jamie:</a:t>
            </a:r>
            <a:endParaRPr b="1" sz="1200">
              <a:solidFill>
                <a:schemeClr val="dk1"/>
              </a:solidFill>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Seorang mahasiswi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Berumur 19 tahun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Secara finansial masih bergantung kepada orang tua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Orang tua Jamie berada di kelas ekonomi menengah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Jamie sedang menabung untuk membeli webcam baru,</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salah satu keperluan kelas online di universitas-nya.</a:t>
            </a:r>
            <a:endParaRPr sz="1200">
              <a:solidFill>
                <a:schemeClr val="dk1"/>
              </a:solidFill>
              <a:latin typeface="Raleway Medium"/>
              <a:ea typeface="Raleway Medium"/>
              <a:cs typeface="Raleway Medium"/>
              <a:sym typeface="Raleway Medium"/>
            </a:endParaRPr>
          </a:p>
        </p:txBody>
      </p:sp>
      <p:pic>
        <p:nvPicPr>
          <p:cNvPr id="489" name="Google Shape;489;p60">
            <a:hlinkClick r:id="rId3"/>
          </p:cNvPr>
          <p:cNvPicPr preferRelativeResize="0"/>
          <p:nvPr/>
        </p:nvPicPr>
        <p:blipFill rotWithShape="1">
          <a:blip r:embed="rId4">
            <a:alphaModFix/>
          </a:blip>
          <a:srcRect b="38233" l="0" r="0" t="1175"/>
          <a:stretch/>
        </p:blipFill>
        <p:spPr>
          <a:xfrm>
            <a:off x="5486400" y="1280150"/>
            <a:ext cx="3017524" cy="274319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5" name="Google Shape;495;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496" name="Google Shape;496;p61"/>
          <p:cNvSpPr txBox="1"/>
          <p:nvPr/>
        </p:nvSpPr>
        <p:spPr>
          <a:xfrm>
            <a:off x="685800" y="1185672"/>
            <a:ext cx="3200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a:t>
            </a:r>
            <a:r>
              <a:rPr b="1" lang="en" sz="1800">
                <a:solidFill>
                  <a:srgbClr val="743673"/>
                </a:solidFill>
                <a:highlight>
                  <a:schemeClr val="lt1"/>
                </a:highlight>
                <a:latin typeface="Raleway"/>
                <a:ea typeface="Raleway"/>
                <a:cs typeface="Raleway"/>
                <a:sym typeface="Raleway"/>
              </a:rPr>
              <a:t>) Scenario + Expectations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Contoh </a:t>
            </a:r>
            <a:r>
              <a:rPr b="1" lang="en" sz="1200">
                <a:solidFill>
                  <a:schemeClr val="dk1"/>
                </a:solidFill>
                <a:latin typeface="Raleway"/>
                <a:ea typeface="Raleway"/>
                <a:cs typeface="Raleway"/>
                <a:sym typeface="Raleway"/>
              </a:rPr>
              <a:t>skenario</a:t>
            </a:r>
            <a:r>
              <a:rPr lang="en" sz="1200">
                <a:solidFill>
                  <a:schemeClr val="dk1"/>
                </a:solidFill>
                <a:latin typeface="Raleway Medium"/>
                <a:ea typeface="Raleway Medium"/>
                <a:cs typeface="Raleway Medium"/>
                <a:sym typeface="Raleway Medium"/>
              </a:rPr>
              <a:t> disini adalah untuk beralih paket data seluler untuk menghemat uang dan menabung.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b="1" lang="en" sz="1200">
                <a:solidFill>
                  <a:schemeClr val="dk1"/>
                </a:solidFill>
                <a:latin typeface="Raleway"/>
                <a:ea typeface="Raleway"/>
                <a:cs typeface="Raleway"/>
                <a:sym typeface="Raleway"/>
              </a:rPr>
              <a:t>Ekspektasi-nya </a:t>
            </a:r>
            <a:r>
              <a:rPr lang="en" sz="1200">
                <a:solidFill>
                  <a:schemeClr val="dk1"/>
                </a:solidFill>
                <a:latin typeface="Raleway Medium"/>
                <a:ea typeface="Raleway Medium"/>
                <a:cs typeface="Raleway Medium"/>
                <a:sym typeface="Raleway Medium"/>
              </a:rPr>
              <a:t>adalah untuk menemukan informasi yang diperlukan supaya bisa menentukan paket data seluler yang mana yang paling hemat. </a:t>
            </a:r>
            <a:endParaRPr sz="1200">
              <a:solidFill>
                <a:schemeClr val="dk1"/>
              </a:solidFill>
              <a:latin typeface="Raleway Medium"/>
              <a:ea typeface="Raleway Medium"/>
              <a:cs typeface="Raleway Medium"/>
              <a:sym typeface="Raleway Medium"/>
            </a:endParaRPr>
          </a:p>
        </p:txBody>
      </p:sp>
      <p:pic>
        <p:nvPicPr>
          <p:cNvPr id="497" name="Google Shape;497;p61"/>
          <p:cNvPicPr preferRelativeResize="0"/>
          <p:nvPr/>
        </p:nvPicPr>
        <p:blipFill rotWithShape="1">
          <a:blip r:embed="rId3">
            <a:alphaModFix/>
          </a:blip>
          <a:srcRect b="78494" l="0" r="0" t="0"/>
          <a:stretch/>
        </p:blipFill>
        <p:spPr>
          <a:xfrm>
            <a:off x="4424025" y="990600"/>
            <a:ext cx="4135426" cy="81535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3" name="Google Shape;503;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504" name="Google Shape;504;p62"/>
          <p:cNvSpPr txBox="1"/>
          <p:nvPr/>
        </p:nvSpPr>
        <p:spPr>
          <a:xfrm>
            <a:off x="685800" y="1185672"/>
            <a:ext cx="3200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Journey Phases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Fase perjalanan (tahapan perjalanan) akan bervariasi dari satu skenario ke yang lain. Setiap organisasi biasanya mempunyai data untuk membantunya menentukan fase - fase dalam sebuah perjalanan pelanggan. </a:t>
            </a:r>
            <a:endParaRPr sz="1200">
              <a:solidFill>
                <a:schemeClr val="dk1"/>
              </a:solidFill>
              <a:latin typeface="Raleway Medium"/>
              <a:ea typeface="Raleway Medium"/>
              <a:cs typeface="Raleway Medium"/>
              <a:sym typeface="Raleway Medium"/>
            </a:endParaRPr>
          </a:p>
        </p:txBody>
      </p:sp>
      <p:pic>
        <p:nvPicPr>
          <p:cNvPr id="505" name="Google Shape;505;p62"/>
          <p:cNvPicPr preferRelativeResize="0"/>
          <p:nvPr/>
        </p:nvPicPr>
        <p:blipFill rotWithShape="1">
          <a:blip r:embed="rId3">
            <a:alphaModFix/>
          </a:blip>
          <a:srcRect b="71259" l="0" r="0" t="0"/>
          <a:stretch/>
        </p:blipFill>
        <p:spPr>
          <a:xfrm>
            <a:off x="4424025" y="990600"/>
            <a:ext cx="4135426" cy="10896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1" name="Google Shape;511;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512" name="Google Shape;512;p63"/>
          <p:cNvSpPr txBox="1"/>
          <p:nvPr/>
        </p:nvSpPr>
        <p:spPr>
          <a:xfrm>
            <a:off x="685800" y="1185672"/>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Actions, emotions dan mindsets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Actions atau tindakan adalah perilaku aktual dan langkah - langkah yang diambil oleh sang pengguna.</a:t>
            </a:r>
            <a:endParaRPr sz="1200">
              <a:solidFill>
                <a:schemeClr val="dk1"/>
              </a:solidFill>
              <a:latin typeface="Raleway Medium"/>
              <a:ea typeface="Raleway Medium"/>
              <a:cs typeface="Raleway Medium"/>
              <a:sym typeface="Raleway Medium"/>
            </a:endParaRPr>
          </a:p>
        </p:txBody>
      </p:sp>
      <p:pic>
        <p:nvPicPr>
          <p:cNvPr id="513" name="Google Shape;513;p63"/>
          <p:cNvPicPr preferRelativeResize="0"/>
          <p:nvPr/>
        </p:nvPicPr>
        <p:blipFill rotWithShape="1">
          <a:blip r:embed="rId3">
            <a:alphaModFix/>
          </a:blip>
          <a:srcRect b="19406" l="0" r="0" t="0"/>
          <a:stretch/>
        </p:blipFill>
        <p:spPr>
          <a:xfrm>
            <a:off x="4424025" y="990600"/>
            <a:ext cx="4135426" cy="3055624"/>
          </a:xfrm>
          <a:prstGeom prst="rect">
            <a:avLst/>
          </a:prstGeom>
          <a:noFill/>
          <a:ln>
            <a:noFill/>
          </a:ln>
        </p:spPr>
      </p:pic>
      <p:sp>
        <p:nvSpPr>
          <p:cNvPr id="514" name="Google Shape;514;p63"/>
          <p:cNvSpPr/>
          <p:nvPr/>
        </p:nvSpPr>
        <p:spPr>
          <a:xfrm>
            <a:off x="4629150" y="2571750"/>
            <a:ext cx="480000" cy="183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63"/>
          <p:cNvSpPr/>
          <p:nvPr/>
        </p:nvSpPr>
        <p:spPr>
          <a:xfrm>
            <a:off x="5109150" y="3432800"/>
            <a:ext cx="548700" cy="183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63"/>
          <p:cNvSpPr/>
          <p:nvPr/>
        </p:nvSpPr>
        <p:spPr>
          <a:xfrm>
            <a:off x="6084525" y="3665225"/>
            <a:ext cx="548700" cy="183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63"/>
          <p:cNvSpPr/>
          <p:nvPr/>
        </p:nvSpPr>
        <p:spPr>
          <a:xfrm>
            <a:off x="6819850" y="3249800"/>
            <a:ext cx="548700" cy="183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63"/>
          <p:cNvSpPr/>
          <p:nvPr/>
        </p:nvSpPr>
        <p:spPr>
          <a:xfrm>
            <a:off x="7692350" y="2754750"/>
            <a:ext cx="548700" cy="183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4" name="Google Shape;524;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525" name="Google Shape;525;p64"/>
          <p:cNvSpPr txBox="1"/>
          <p:nvPr/>
        </p:nvSpPr>
        <p:spPr>
          <a:xfrm>
            <a:off x="685800" y="1185672"/>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 Actions, mindsets dan emotions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Mindsets atau pola pikir umumnya bergantung kepada pemikiran, pertanyaan dan motivasi pengguna pada berbagai tahap dalam perjalanan.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Saat penelitian, kita bisa menemukan mindsets pengguna kata demi kata.  </a:t>
            </a:r>
            <a:endParaRPr sz="1200">
              <a:solidFill>
                <a:schemeClr val="dk1"/>
              </a:solidFill>
              <a:latin typeface="Raleway Medium"/>
              <a:ea typeface="Raleway Medium"/>
              <a:cs typeface="Raleway Medium"/>
              <a:sym typeface="Raleway Medium"/>
            </a:endParaRPr>
          </a:p>
        </p:txBody>
      </p:sp>
      <p:pic>
        <p:nvPicPr>
          <p:cNvPr id="526" name="Google Shape;526;p64"/>
          <p:cNvPicPr preferRelativeResize="0"/>
          <p:nvPr/>
        </p:nvPicPr>
        <p:blipFill rotWithShape="1">
          <a:blip r:embed="rId3">
            <a:alphaModFix/>
          </a:blip>
          <a:srcRect b="19406" l="0" r="0" t="0"/>
          <a:stretch/>
        </p:blipFill>
        <p:spPr>
          <a:xfrm>
            <a:off x="4424025" y="990600"/>
            <a:ext cx="4135426" cy="3055624"/>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2" name="Google Shape;532;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533" name="Google Shape;533;p65"/>
          <p:cNvSpPr txBox="1"/>
          <p:nvPr/>
        </p:nvSpPr>
        <p:spPr>
          <a:xfrm>
            <a:off x="685800" y="1185672"/>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 Actions, mindsets dan emotions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Emosi pengguna seringkali di plot sebagai garis tunggal yang melintangi seluruh perjalanan.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Emosi pengguna bisa naik dan turun. Seringkali garis yang terlintang tersebut diberi label atau emoji agar pembacanya mengerti emosi apa yang pengguna sedang alami. </a:t>
            </a:r>
            <a:endParaRPr sz="1200">
              <a:solidFill>
                <a:schemeClr val="dk1"/>
              </a:solidFill>
              <a:latin typeface="Raleway Medium"/>
              <a:ea typeface="Raleway Medium"/>
              <a:cs typeface="Raleway Medium"/>
              <a:sym typeface="Raleway Medium"/>
            </a:endParaRPr>
          </a:p>
        </p:txBody>
      </p:sp>
      <p:pic>
        <p:nvPicPr>
          <p:cNvPr id="534" name="Google Shape;534;p65"/>
          <p:cNvPicPr preferRelativeResize="0"/>
          <p:nvPr/>
        </p:nvPicPr>
        <p:blipFill rotWithShape="1">
          <a:blip r:embed="rId3">
            <a:alphaModFix/>
          </a:blip>
          <a:srcRect b="19406" l="0" r="0" t="0"/>
          <a:stretch/>
        </p:blipFill>
        <p:spPr>
          <a:xfrm>
            <a:off x="4424025" y="990600"/>
            <a:ext cx="4135426" cy="305562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0" name="Google Shape;540;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541" name="Google Shape;541;p66"/>
          <p:cNvSpPr txBox="1"/>
          <p:nvPr/>
        </p:nvSpPr>
        <p:spPr>
          <a:xfrm>
            <a:off x="685800" y="1185672"/>
            <a:ext cx="3200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5</a:t>
            </a:r>
            <a:r>
              <a:rPr b="1" lang="en" sz="1800">
                <a:solidFill>
                  <a:srgbClr val="743673"/>
                </a:solidFill>
                <a:highlight>
                  <a:schemeClr val="lt1"/>
                </a:highlight>
                <a:latin typeface="Raleway"/>
                <a:ea typeface="Raleway"/>
                <a:cs typeface="Raleway"/>
                <a:sym typeface="Raleway"/>
              </a:rPr>
              <a:t>)  Opportunities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Wawasan dan peluang membantu pembaca menarik kesimpulan dan pengetahuan secara menyeluruh dari UJM.</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Apa yang akan kami lakukan setelah mengetahui informasi tentang pengguna? Dimana peluang terbesarnya? Solusi apa yang bisa kita berikan jika ada masalah&gt;</a:t>
            </a:r>
            <a:endParaRPr sz="1200">
              <a:solidFill>
                <a:schemeClr val="dk1"/>
              </a:solidFill>
              <a:latin typeface="Raleway Medium"/>
              <a:ea typeface="Raleway Medium"/>
              <a:cs typeface="Raleway Medium"/>
              <a:sym typeface="Raleway Medium"/>
            </a:endParaRPr>
          </a:p>
        </p:txBody>
      </p:sp>
      <p:pic>
        <p:nvPicPr>
          <p:cNvPr id="542" name="Google Shape;542;p66"/>
          <p:cNvPicPr preferRelativeResize="0"/>
          <p:nvPr/>
        </p:nvPicPr>
        <p:blipFill rotWithShape="1">
          <a:blip r:embed="rId3">
            <a:alphaModFix/>
          </a:blip>
          <a:srcRect b="0" l="0" r="0" t="0"/>
          <a:stretch/>
        </p:blipFill>
        <p:spPr>
          <a:xfrm>
            <a:off x="4424025" y="990600"/>
            <a:ext cx="4135426" cy="379142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8" name="Google Shape;548;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549" name="Google Shape;549;p67"/>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user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journey map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#1</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UJM yang sederhana dan lugas berdasarkan pengalaman seorang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individu.</a:t>
            </a:r>
            <a:endParaRPr b="1" sz="1800">
              <a:solidFill>
                <a:srgbClr val="743673"/>
              </a:solidFill>
              <a:highlight>
                <a:schemeClr val="lt1"/>
              </a:highlight>
              <a:latin typeface="Raleway"/>
              <a:ea typeface="Raleway"/>
              <a:cs typeface="Raleway"/>
              <a:sym typeface="Raleway"/>
            </a:endParaRPr>
          </a:p>
        </p:txBody>
      </p:sp>
      <p:pic>
        <p:nvPicPr>
          <p:cNvPr id="550" name="Google Shape;550;p67"/>
          <p:cNvPicPr preferRelativeResize="0"/>
          <p:nvPr/>
        </p:nvPicPr>
        <p:blipFill rotWithShape="1">
          <a:blip r:embed="rId3">
            <a:alphaModFix/>
          </a:blip>
          <a:srcRect b="4907" l="-4558" r="0" t="359"/>
          <a:stretch/>
        </p:blipFill>
        <p:spPr>
          <a:xfrm>
            <a:off x="2627550" y="773300"/>
            <a:ext cx="6277447" cy="413535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6" name="Google Shape;556;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557" name="Google Shape;557;p68"/>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user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journey map</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#2</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UJM yang sederhana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yang berdasarkan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pengalaman pengguna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dan kesimpulan yang</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ditarik dari pengalaman</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tersebut.</a:t>
            </a:r>
            <a:endParaRPr sz="1200">
              <a:solidFill>
                <a:schemeClr val="dk1"/>
              </a:solidFill>
              <a:latin typeface="Raleway Medium"/>
              <a:ea typeface="Raleway Medium"/>
              <a:cs typeface="Raleway Medium"/>
              <a:sym typeface="Raleway Medium"/>
            </a:endParaRPr>
          </a:p>
        </p:txBody>
      </p:sp>
      <p:pic>
        <p:nvPicPr>
          <p:cNvPr id="558" name="Google Shape;558;p68"/>
          <p:cNvPicPr preferRelativeResize="0"/>
          <p:nvPr/>
        </p:nvPicPr>
        <p:blipFill rotWithShape="1">
          <a:blip r:embed="rId3">
            <a:alphaModFix/>
          </a:blip>
          <a:srcRect b="922" l="0" r="0" t="922"/>
          <a:stretch/>
        </p:blipFill>
        <p:spPr>
          <a:xfrm>
            <a:off x="2627550" y="773300"/>
            <a:ext cx="6277446" cy="41353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4" name="Google Shape;564;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565" name="Google Shape;565;p69"/>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user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journey map</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#3</a:t>
            </a:r>
            <a:endParaRPr b="1" sz="1800">
              <a:solidFill>
                <a:srgbClr val="743673"/>
              </a:solidFill>
              <a:highlight>
                <a:schemeClr val="lt1"/>
              </a:highlight>
              <a:latin typeface="Raleway"/>
              <a:ea typeface="Raleway"/>
              <a:cs typeface="Raleway"/>
              <a:sym typeface="Raleway"/>
            </a:endParaRPr>
          </a:p>
          <a:p>
            <a:pPr indent="0" lvl="0" marL="0" rtl="0" algn="l">
              <a:lnSpc>
                <a:spcPct val="100000"/>
              </a:lnSpc>
              <a:spcBef>
                <a:spcPts val="160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UJM yang satu ini juga sederhana dan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Mudah untuk dimengerti.</a:t>
            </a:r>
            <a:endParaRPr sz="1200">
              <a:solidFill>
                <a:schemeClr val="dk1"/>
              </a:solidFill>
              <a:latin typeface="Raleway Medium"/>
              <a:ea typeface="Raleway Medium"/>
              <a:cs typeface="Raleway Medium"/>
              <a:sym typeface="Raleway Medium"/>
            </a:endParaRPr>
          </a:p>
        </p:txBody>
      </p:sp>
      <p:pic>
        <p:nvPicPr>
          <p:cNvPr id="566" name="Google Shape;566;p69"/>
          <p:cNvPicPr preferRelativeResize="0"/>
          <p:nvPr/>
        </p:nvPicPr>
        <p:blipFill rotWithShape="1">
          <a:blip r:embed="rId3">
            <a:alphaModFix/>
          </a:blip>
          <a:srcRect b="826" l="0" r="-19431" t="826"/>
          <a:stretch/>
        </p:blipFill>
        <p:spPr>
          <a:xfrm>
            <a:off x="2627550" y="773300"/>
            <a:ext cx="6277445" cy="41353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2" name="Google Shape;572;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573" name="Google Shape;573;p70"/>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user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journey map</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#4</a:t>
            </a:r>
            <a:br>
              <a:rPr b="1" lang="en" sz="1800">
                <a:solidFill>
                  <a:srgbClr val="743673"/>
                </a:solidFill>
                <a:highlight>
                  <a:schemeClr val="lt1"/>
                </a:highlight>
                <a:latin typeface="Raleway"/>
                <a:ea typeface="Raleway"/>
                <a:cs typeface="Raleway"/>
                <a:sym typeface="Raleway"/>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UJM yang satu ini adalah format yang digunakan Carnegie Mellon University dalam menggambarkan perjalanan mahasiswa dalam kampus dan perubahan - perubahan yang diusulkan untuk mengoptimalkan pengalaman.</a:t>
            </a:r>
            <a:endParaRPr sz="1200">
              <a:solidFill>
                <a:schemeClr val="dk1"/>
              </a:solidFill>
              <a:latin typeface="Raleway Medium"/>
              <a:ea typeface="Raleway Medium"/>
              <a:cs typeface="Raleway Medium"/>
              <a:sym typeface="Raleway Medium"/>
            </a:endParaRPr>
          </a:p>
        </p:txBody>
      </p:sp>
      <p:pic>
        <p:nvPicPr>
          <p:cNvPr id="574" name="Google Shape;574;p70"/>
          <p:cNvPicPr preferRelativeResize="0"/>
          <p:nvPr/>
        </p:nvPicPr>
        <p:blipFill rotWithShape="1">
          <a:blip r:embed="rId3">
            <a:alphaModFix/>
          </a:blip>
          <a:srcRect b="0" l="-13378" r="0" t="0"/>
          <a:stretch/>
        </p:blipFill>
        <p:spPr>
          <a:xfrm>
            <a:off x="2627550" y="773300"/>
            <a:ext cx="6277445" cy="4135351"/>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0" name="Google Shape;580;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581" name="Google Shape;581;p71"/>
          <p:cNvSpPr txBox="1"/>
          <p:nvPr/>
        </p:nvSpPr>
        <p:spPr>
          <a:xfrm>
            <a:off x="685800" y="1185675"/>
            <a:ext cx="2215500" cy="3200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Contoh user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journey map</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#5</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UJM yang satu ini sangatlah informatif dan padat. Format seperti ini bisa kontraproduktif dikarenakan rumit dan penuh.</a:t>
            </a:r>
            <a:endParaRPr b="1" sz="1800">
              <a:solidFill>
                <a:srgbClr val="743673"/>
              </a:solidFill>
              <a:highlight>
                <a:schemeClr val="lt1"/>
              </a:highlight>
              <a:latin typeface="Raleway"/>
              <a:ea typeface="Raleway"/>
              <a:cs typeface="Raleway"/>
              <a:sym typeface="Raleway"/>
            </a:endParaRPr>
          </a:p>
        </p:txBody>
      </p:sp>
      <p:pic>
        <p:nvPicPr>
          <p:cNvPr id="582" name="Google Shape;582;p71"/>
          <p:cNvPicPr preferRelativeResize="0"/>
          <p:nvPr/>
        </p:nvPicPr>
        <p:blipFill rotWithShape="1">
          <a:blip r:embed="rId3">
            <a:alphaModFix/>
          </a:blip>
          <a:srcRect b="0" l="-15300" r="0" t="0"/>
          <a:stretch/>
        </p:blipFill>
        <p:spPr>
          <a:xfrm>
            <a:off x="2627550" y="773300"/>
            <a:ext cx="6277444" cy="4135351"/>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72"/>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Mari mencoba membuat</a:t>
            </a:r>
            <a:r>
              <a:rPr lang="en">
                <a:solidFill>
                  <a:srgbClr val="F2AB2F"/>
                </a:solidFill>
              </a:rPr>
              <a:t> user journey map</a:t>
            </a:r>
            <a:endParaRPr>
              <a:solidFill>
                <a:srgbClr val="F2AB2F"/>
              </a:solidFill>
            </a:endParaRPr>
          </a:p>
        </p:txBody>
      </p:sp>
      <p:sp>
        <p:nvSpPr>
          <p:cNvPr id="588" name="Google Shape;588;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4" name="Google Shape;594;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595" name="Google Shape;595;p73"/>
          <p:cNvSpPr txBox="1"/>
          <p:nvPr/>
        </p:nvSpPr>
        <p:spPr>
          <a:xfrm>
            <a:off x="685800" y="1185672"/>
            <a:ext cx="3200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Format yang sederhana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Unduh template:</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https://media.nngroup.com/media/articles/attachments/JMTemplate.pdf</a:t>
            </a:r>
            <a:endParaRPr sz="1200">
              <a:solidFill>
                <a:schemeClr val="dk1"/>
              </a:solidFill>
              <a:latin typeface="Raleway Medium"/>
              <a:ea typeface="Raleway Medium"/>
              <a:cs typeface="Raleway Medium"/>
              <a:sym typeface="Raleway Medium"/>
            </a:endParaRPr>
          </a:p>
        </p:txBody>
      </p:sp>
      <p:pic>
        <p:nvPicPr>
          <p:cNvPr id="596" name="Google Shape;596;p73"/>
          <p:cNvPicPr preferRelativeResize="0"/>
          <p:nvPr/>
        </p:nvPicPr>
        <p:blipFill>
          <a:blip r:embed="rId3">
            <a:alphaModFix/>
          </a:blip>
          <a:stretch>
            <a:fillRect/>
          </a:stretch>
        </p:blipFill>
        <p:spPr>
          <a:xfrm>
            <a:off x="4053900" y="1109463"/>
            <a:ext cx="4953001" cy="3436203"/>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2" name="Google Shape;602;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603" name="Google Shape;603;p74"/>
          <p:cNvSpPr txBox="1"/>
          <p:nvPr/>
        </p:nvSpPr>
        <p:spPr>
          <a:xfrm>
            <a:off x="685800" y="1185672"/>
            <a:ext cx="3200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Zona A</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Zona A atau zona lensa memberikan batasan pada peta dan menetapkan</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1) Persona (siapa) dan</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2) Skenario (apa) yang akan diperiksa</a:t>
            </a:r>
            <a:endParaRPr sz="1200">
              <a:solidFill>
                <a:schemeClr val="dk1"/>
              </a:solidFill>
              <a:latin typeface="Raleway Medium"/>
              <a:ea typeface="Raleway Medium"/>
              <a:cs typeface="Raleway Medium"/>
              <a:sym typeface="Raleway Medium"/>
            </a:endParaRPr>
          </a:p>
        </p:txBody>
      </p:sp>
      <p:pic>
        <p:nvPicPr>
          <p:cNvPr id="604" name="Google Shape;604;p74"/>
          <p:cNvPicPr preferRelativeResize="0"/>
          <p:nvPr/>
        </p:nvPicPr>
        <p:blipFill>
          <a:blip r:embed="rId3">
            <a:alphaModFix/>
          </a:blip>
          <a:stretch>
            <a:fillRect/>
          </a:stretch>
        </p:blipFill>
        <p:spPr>
          <a:xfrm>
            <a:off x="4053900" y="1109463"/>
            <a:ext cx="4953001" cy="3436203"/>
          </a:xfrm>
          <a:prstGeom prst="rect">
            <a:avLst/>
          </a:prstGeom>
          <a:noFill/>
          <a:ln>
            <a:noFill/>
          </a:ln>
        </p:spPr>
      </p:pic>
      <p:sp>
        <p:nvSpPr>
          <p:cNvPr id="605" name="Google Shape;605;p74"/>
          <p:cNvSpPr/>
          <p:nvPr/>
        </p:nvSpPr>
        <p:spPr>
          <a:xfrm>
            <a:off x="4126235" y="1897375"/>
            <a:ext cx="3989100" cy="2651700"/>
          </a:xfrm>
          <a:prstGeom prst="rect">
            <a:avLst/>
          </a:prstGeom>
          <a:solidFill>
            <a:srgbClr val="080101">
              <a:alpha val="6648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7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1" name="Google Shape;611;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612" name="Google Shape;612;p75"/>
          <p:cNvSpPr txBox="1"/>
          <p:nvPr/>
        </p:nvSpPr>
        <p:spPr>
          <a:xfrm>
            <a:off x="685800" y="1185672"/>
            <a:ext cx="3200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Zona B</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Zona B adalah zona inti dari peta pengalaman yang divisualisasikan, beberapa hal dalam zona ini umumnya adalah</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3) fase - fase perjalanan</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4) tindakan (actions)</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5) pola pikir (mindsets)</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6) perasaan/emosi  (emotions)</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yang dialami pengguna selama proses perjalanan.</a:t>
            </a:r>
            <a:endParaRPr sz="1200">
              <a:solidFill>
                <a:schemeClr val="dk1"/>
              </a:solidFill>
              <a:latin typeface="Raleway Medium"/>
              <a:ea typeface="Raleway Medium"/>
              <a:cs typeface="Raleway Medium"/>
              <a:sym typeface="Raleway Medium"/>
            </a:endParaRPr>
          </a:p>
        </p:txBody>
      </p:sp>
      <p:pic>
        <p:nvPicPr>
          <p:cNvPr id="613" name="Google Shape;613;p75"/>
          <p:cNvPicPr preferRelativeResize="0"/>
          <p:nvPr/>
        </p:nvPicPr>
        <p:blipFill>
          <a:blip r:embed="rId3">
            <a:alphaModFix/>
          </a:blip>
          <a:stretch>
            <a:fillRect/>
          </a:stretch>
        </p:blipFill>
        <p:spPr>
          <a:xfrm>
            <a:off x="4053900" y="1109463"/>
            <a:ext cx="4953001" cy="3436203"/>
          </a:xfrm>
          <a:prstGeom prst="rect">
            <a:avLst/>
          </a:prstGeom>
          <a:noFill/>
          <a:ln>
            <a:noFill/>
          </a:ln>
        </p:spPr>
      </p:pic>
      <p:sp>
        <p:nvSpPr>
          <p:cNvPr id="614" name="Google Shape;614;p75"/>
          <p:cNvSpPr/>
          <p:nvPr/>
        </p:nvSpPr>
        <p:spPr>
          <a:xfrm>
            <a:off x="4126225" y="3451850"/>
            <a:ext cx="3989100" cy="1097100"/>
          </a:xfrm>
          <a:prstGeom prst="rect">
            <a:avLst/>
          </a:prstGeom>
          <a:solidFill>
            <a:srgbClr val="080101">
              <a:alpha val="6648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75"/>
          <p:cNvSpPr/>
          <p:nvPr/>
        </p:nvSpPr>
        <p:spPr>
          <a:xfrm>
            <a:off x="4126225" y="1185675"/>
            <a:ext cx="3989100" cy="723000"/>
          </a:xfrm>
          <a:prstGeom prst="rect">
            <a:avLst/>
          </a:prstGeom>
          <a:solidFill>
            <a:srgbClr val="080101">
              <a:alpha val="6648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7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1" name="Google Shape;621;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User journey maps</a:t>
            </a:r>
            <a:endParaRPr/>
          </a:p>
        </p:txBody>
      </p:sp>
      <p:sp>
        <p:nvSpPr>
          <p:cNvPr id="622" name="Google Shape;622;p76"/>
          <p:cNvSpPr txBox="1"/>
          <p:nvPr/>
        </p:nvSpPr>
        <p:spPr>
          <a:xfrm>
            <a:off x="685800" y="1185672"/>
            <a:ext cx="3200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Zona C</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Output dari sebuah UJM dapat bervariasi berdasarkan situasi dan tujuan bisnis.</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Menuliskan output secara general dapat membantu praktisi UX untuk menemukan hal - hal baru dan mengeluarkan ide.</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7) Peluang (opportunities)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8) Kepemilikan internal (internal ownership)</a:t>
            </a:r>
            <a:endParaRPr sz="1200">
              <a:solidFill>
                <a:schemeClr val="dk1"/>
              </a:solidFill>
              <a:latin typeface="Raleway Medium"/>
              <a:ea typeface="Raleway Medium"/>
              <a:cs typeface="Raleway Medium"/>
              <a:sym typeface="Raleway Medium"/>
            </a:endParaRPr>
          </a:p>
        </p:txBody>
      </p:sp>
      <p:pic>
        <p:nvPicPr>
          <p:cNvPr id="623" name="Google Shape;623;p76"/>
          <p:cNvPicPr preferRelativeResize="0"/>
          <p:nvPr/>
        </p:nvPicPr>
        <p:blipFill>
          <a:blip r:embed="rId3">
            <a:alphaModFix/>
          </a:blip>
          <a:stretch>
            <a:fillRect/>
          </a:stretch>
        </p:blipFill>
        <p:spPr>
          <a:xfrm>
            <a:off x="4053900" y="1109463"/>
            <a:ext cx="4953001" cy="3436203"/>
          </a:xfrm>
          <a:prstGeom prst="rect">
            <a:avLst/>
          </a:prstGeom>
          <a:noFill/>
          <a:ln>
            <a:noFill/>
          </a:ln>
        </p:spPr>
      </p:pic>
      <p:sp>
        <p:nvSpPr>
          <p:cNvPr id="624" name="Google Shape;624;p76"/>
          <p:cNvSpPr/>
          <p:nvPr/>
        </p:nvSpPr>
        <p:spPr>
          <a:xfrm>
            <a:off x="4126225" y="1185675"/>
            <a:ext cx="3989100" cy="2220600"/>
          </a:xfrm>
          <a:prstGeom prst="rect">
            <a:avLst/>
          </a:prstGeom>
          <a:solidFill>
            <a:srgbClr val="080101">
              <a:alpha val="6648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77"/>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630" name="Google Shape;630;p7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36" name="Google Shape;636;p7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User vs business, manakah yang lebih penting?</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User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Business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Tidak ada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Keduanya</a:t>
            </a:r>
            <a:endParaRPr sz="1200">
              <a:solidFill>
                <a:schemeClr val="lt1"/>
              </a:solidFill>
              <a:latin typeface="Raleway Medium"/>
              <a:ea typeface="Raleway Medium"/>
              <a:cs typeface="Raleway Medium"/>
              <a:sym typeface="Raleway Medium"/>
            </a:endParaRPr>
          </a:p>
        </p:txBody>
      </p:sp>
      <p:sp>
        <p:nvSpPr>
          <p:cNvPr id="637" name="Google Shape;637;p7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43" name="Google Shape;643;p7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User vs business, manakah yang lebih penting?</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User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Business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Tidak ada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Keduanya</a:t>
            </a:r>
            <a:endParaRPr b="1" sz="1200">
              <a:solidFill>
                <a:schemeClr val="lt1"/>
              </a:solidFill>
              <a:latin typeface="Raleway"/>
              <a:ea typeface="Raleway"/>
              <a:cs typeface="Raleway"/>
              <a:sym typeface="Raleway"/>
            </a:endParaRPr>
          </a:p>
        </p:txBody>
      </p:sp>
      <p:sp>
        <p:nvSpPr>
          <p:cNvPr id="644" name="Google Shape;644;p7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5" name="Google Shape;645;p79"/>
          <p:cNvSpPr/>
          <p:nvPr/>
        </p:nvSpPr>
        <p:spPr>
          <a:xfrm>
            <a:off x="685800" y="32317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Keduanya sama-sama penting dan saling menyesuaikan dengan kemampuan perusahaan yang mengembangkan produk (yang digunakan user). </a:t>
            </a:r>
            <a:endParaRPr b="1" sz="1000">
              <a:solidFill>
                <a:srgbClr val="733572"/>
              </a:solidFill>
              <a:latin typeface="Raleway"/>
              <a:ea typeface="Raleway"/>
              <a:cs typeface="Raleway"/>
              <a:sym typeface="Raleway"/>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51" name="Google Shape;651;p8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pain points seorang pengguna e-commerce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Pengguna mengalami masalah saat checkout.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Pengguna </a:t>
            </a:r>
            <a:r>
              <a:rPr lang="en" sz="1200">
                <a:solidFill>
                  <a:schemeClr val="lt1"/>
                </a:solidFill>
                <a:latin typeface="Raleway Medium"/>
                <a:ea typeface="Raleway Medium"/>
                <a:cs typeface="Raleway Medium"/>
                <a:sym typeface="Raleway Medium"/>
              </a:rPr>
              <a:t>frustasi</a:t>
            </a:r>
            <a:r>
              <a:rPr lang="en" sz="1200">
                <a:solidFill>
                  <a:schemeClr val="lt1"/>
                </a:solidFill>
                <a:latin typeface="Raleway Medium"/>
                <a:ea typeface="Raleway Medium"/>
                <a:cs typeface="Raleway Medium"/>
                <a:sym typeface="Raleway Medium"/>
              </a:rPr>
              <a:t> karena tidak bisa menghapus barang yang telah ditambahkan kedalam cart.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Pengguna frustasi karena tidak mampu membeli barang yang telah ditambahkan kedalam cart,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Pengguna mengalami loading time yang sangat lama saat memasukan alamat.</a:t>
            </a:r>
            <a:endParaRPr sz="1200">
              <a:solidFill>
                <a:schemeClr val="lt1"/>
              </a:solidFill>
              <a:latin typeface="Raleway Medium"/>
              <a:ea typeface="Raleway Medium"/>
              <a:cs typeface="Raleway Medium"/>
              <a:sym typeface="Raleway Medium"/>
            </a:endParaRPr>
          </a:p>
        </p:txBody>
      </p:sp>
      <p:sp>
        <p:nvSpPr>
          <p:cNvPr id="652" name="Google Shape;652;p8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58" name="Google Shape;658;p8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Berikut adalah pain points seorang pengguna e-commerce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Pengguna mengalami masalah saat checkout.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Pengguna frustasi karena tidak bisa menghapus barang yang telah ditambahkan kedalam cart.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Pengguna frustasi karena tidak mampu membeli barang yang telah ditambahkan kedalam cart,</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Pengguna mengalami loading time yang sangat lama saat memasukan alamat.</a:t>
            </a:r>
            <a:endParaRPr sz="1200">
              <a:solidFill>
                <a:srgbClr val="A667A5"/>
              </a:solidFill>
              <a:latin typeface="Raleway Medium"/>
              <a:ea typeface="Raleway Medium"/>
              <a:cs typeface="Raleway Medium"/>
              <a:sym typeface="Raleway Medium"/>
            </a:endParaRPr>
          </a:p>
        </p:txBody>
      </p:sp>
      <p:sp>
        <p:nvSpPr>
          <p:cNvPr id="659" name="Google Shape;659;p8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0" name="Google Shape;660;p81"/>
          <p:cNvSpPr/>
          <p:nvPr/>
        </p:nvSpPr>
        <p:spPr>
          <a:xfrm>
            <a:off x="685800" y="3155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Opsi C bukanlah masalah user experience </a:t>
            </a:r>
            <a:r>
              <a:rPr b="1" lang="en" sz="1000">
                <a:solidFill>
                  <a:srgbClr val="733572"/>
                </a:solidFill>
                <a:latin typeface="Raleway"/>
                <a:ea typeface="Raleway"/>
                <a:cs typeface="Raleway"/>
                <a:sym typeface="Raleway"/>
              </a:rPr>
              <a:t>melainkan masalah personal sang pengguna.</a:t>
            </a:r>
            <a:endParaRPr b="1" sz="1000">
              <a:solidFill>
                <a:srgbClr val="733572"/>
              </a:solidFill>
              <a:latin typeface="Raleway"/>
              <a:ea typeface="Raleway"/>
              <a:cs typeface="Raleway"/>
              <a:sym typeface="Raleway"/>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66" name="Google Shape;666;p8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Ada beberapa komponen inti dari sebuah user journey map,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Aktor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Skenario</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Solusi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Mindset</a:t>
            </a:r>
            <a:endParaRPr sz="1200">
              <a:solidFill>
                <a:schemeClr val="lt1"/>
              </a:solidFill>
              <a:latin typeface="Raleway Medium"/>
              <a:ea typeface="Raleway Medium"/>
              <a:cs typeface="Raleway Medium"/>
              <a:sym typeface="Raleway Medium"/>
            </a:endParaRPr>
          </a:p>
        </p:txBody>
      </p:sp>
      <p:sp>
        <p:nvSpPr>
          <p:cNvPr id="667" name="Google Shape;667;p8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73" name="Google Shape;673;p8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Ada beberapa komponen inti dari sebuah user journey map,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Aktor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Skenario</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Solusi</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Mindset</a:t>
            </a:r>
            <a:endParaRPr sz="1200">
              <a:solidFill>
                <a:srgbClr val="A667A5"/>
              </a:solidFill>
              <a:latin typeface="Raleway Medium"/>
              <a:ea typeface="Raleway Medium"/>
              <a:cs typeface="Raleway Medium"/>
              <a:sym typeface="Raleway Medium"/>
            </a:endParaRPr>
          </a:p>
        </p:txBody>
      </p:sp>
      <p:sp>
        <p:nvSpPr>
          <p:cNvPr id="674" name="Google Shape;674;p8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5" name="Google Shape;675;p83"/>
          <p:cNvSpPr/>
          <p:nvPr/>
        </p:nvSpPr>
        <p:spPr>
          <a:xfrm>
            <a:off x="685800" y="3460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Solusi bukanlah bagian dari sebuah user journey map, terutama UJM yang dirangkai pada fase define.</a:t>
            </a:r>
            <a:endParaRPr b="1" sz="1000">
              <a:solidFill>
                <a:srgbClr val="733572"/>
              </a:solidFill>
              <a:latin typeface="Raleway"/>
              <a:ea typeface="Raleway"/>
              <a:cs typeface="Raleway"/>
              <a:sym typeface="Raleway"/>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8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81" name="Google Shape;681;p8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Tujuan sebuah user journey map adalah berikut,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Menentukan titik kontak perjalanan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Menentukan user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Melacak key performance indicator* (KPI)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Menemukan kekurangan</a:t>
            </a:r>
            <a:endParaRPr sz="1200">
              <a:solidFill>
                <a:schemeClr val="lt1"/>
              </a:solidFill>
              <a:latin typeface="Raleway Medium"/>
              <a:ea typeface="Raleway Medium"/>
              <a:cs typeface="Raleway Medium"/>
              <a:sym typeface="Raleway Medium"/>
            </a:endParaRPr>
          </a:p>
        </p:txBody>
      </p:sp>
      <p:sp>
        <p:nvSpPr>
          <p:cNvPr id="682" name="Google Shape;682;p8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8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88" name="Google Shape;688;p8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Tujuan sebuah user journey map adalah berikut,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Menentukan titik kontak perjalanan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Menentukan user</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Melacak key performance indicator* (KPI)</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Menemukan kekurangan</a:t>
            </a:r>
            <a:endParaRPr sz="1200">
              <a:solidFill>
                <a:srgbClr val="A667A5"/>
              </a:solidFill>
              <a:latin typeface="Raleway Medium"/>
              <a:ea typeface="Raleway Medium"/>
              <a:cs typeface="Raleway Medium"/>
              <a:sym typeface="Raleway Medium"/>
            </a:endParaRPr>
          </a:p>
        </p:txBody>
      </p:sp>
      <p:sp>
        <p:nvSpPr>
          <p:cNvPr id="689" name="Google Shape;689;p8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0" name="Google Shape;690;p85"/>
          <p:cNvSpPr/>
          <p:nvPr/>
        </p:nvSpPr>
        <p:spPr>
          <a:xfrm>
            <a:off x="685800" y="3155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User perlu ditentukan sebelum membuat user journey map.</a:t>
            </a:r>
            <a:endParaRPr b="1" sz="1000">
              <a:solidFill>
                <a:srgbClr val="733572"/>
              </a:solidFill>
              <a:latin typeface="Raleway"/>
              <a:ea typeface="Raleway"/>
              <a:cs typeface="Raleway"/>
              <a:sym typeface="Raleway"/>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8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96" name="Google Shape;696;p8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beberapa zona dari </a:t>
            </a:r>
            <a:r>
              <a:rPr b="1" lang="en" sz="1800">
                <a:solidFill>
                  <a:schemeClr val="lt1"/>
                </a:solidFill>
                <a:latin typeface="Raleway"/>
                <a:ea typeface="Raleway"/>
                <a:cs typeface="Raleway"/>
                <a:sym typeface="Raleway"/>
              </a:rPr>
              <a:t>format </a:t>
            </a:r>
            <a:r>
              <a:rPr b="1" lang="en" sz="1800">
                <a:solidFill>
                  <a:schemeClr val="lt1"/>
                </a:solidFill>
                <a:latin typeface="Raleway"/>
                <a:ea typeface="Raleway"/>
                <a:cs typeface="Raleway"/>
                <a:sym typeface="Raleway"/>
              </a:rPr>
              <a:t>UJM yang sederhana,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Zona insights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Zona experience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Zona lens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Zona opportunities</a:t>
            </a:r>
            <a:endParaRPr sz="1200">
              <a:solidFill>
                <a:schemeClr val="lt1"/>
              </a:solidFill>
              <a:latin typeface="Raleway Medium"/>
              <a:ea typeface="Raleway Medium"/>
              <a:cs typeface="Raleway Medium"/>
              <a:sym typeface="Raleway Medium"/>
            </a:endParaRPr>
          </a:p>
        </p:txBody>
      </p:sp>
      <p:sp>
        <p:nvSpPr>
          <p:cNvPr id="697" name="Google Shape;697;p8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8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703" name="Google Shape;703;p8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Berikut adalah beberapa zona dari </a:t>
            </a:r>
            <a:r>
              <a:rPr b="1" lang="en" sz="1800">
                <a:solidFill>
                  <a:schemeClr val="lt1"/>
                </a:solidFill>
                <a:latin typeface="Raleway"/>
                <a:ea typeface="Raleway"/>
                <a:cs typeface="Raleway"/>
                <a:sym typeface="Raleway"/>
              </a:rPr>
              <a:t>format </a:t>
            </a:r>
            <a:r>
              <a:rPr b="1" lang="en" sz="1800">
                <a:solidFill>
                  <a:schemeClr val="lt1"/>
                </a:solidFill>
                <a:latin typeface="Raleway"/>
                <a:ea typeface="Raleway"/>
                <a:cs typeface="Raleway"/>
                <a:sym typeface="Raleway"/>
              </a:rPr>
              <a:t>UJM yang sederhana,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Zona insights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Zona experience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Zona lens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Zona opportunities</a:t>
            </a:r>
            <a:endParaRPr b="1" sz="1200">
              <a:solidFill>
                <a:schemeClr val="lt1"/>
              </a:solidFill>
              <a:latin typeface="Raleway"/>
              <a:ea typeface="Raleway"/>
              <a:cs typeface="Raleway"/>
              <a:sym typeface="Raleway"/>
            </a:endParaRPr>
          </a:p>
        </p:txBody>
      </p:sp>
      <p:sp>
        <p:nvSpPr>
          <p:cNvPr id="704" name="Google Shape;704;p8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05" name="Google Shape;705;p87"/>
          <p:cNvSpPr/>
          <p:nvPr/>
        </p:nvSpPr>
        <p:spPr>
          <a:xfrm>
            <a:off x="685800" y="3460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Ada tiga zona dari UJM format yang sederhana yaitu zona lens, zona experience dan zona insights.</a:t>
            </a:r>
            <a:endParaRPr b="1" sz="1000">
              <a:solidFill>
                <a:srgbClr val="733572"/>
              </a:solidFill>
              <a:latin typeface="Raleway"/>
              <a:ea typeface="Raleway"/>
              <a:cs typeface="Raleway"/>
              <a:sym typeface="Raleway"/>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8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711" name="Google Shape;711;p8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Berikut adalah beberapa hal yang termasuk dari zona B sebuah </a:t>
            </a:r>
            <a:r>
              <a:rPr b="1" lang="en" sz="1800">
                <a:solidFill>
                  <a:schemeClr val="lt1"/>
                </a:solidFill>
                <a:latin typeface="Raleway"/>
                <a:ea typeface="Raleway"/>
                <a:cs typeface="Raleway"/>
                <a:sym typeface="Raleway"/>
              </a:rPr>
              <a:t>format </a:t>
            </a:r>
            <a:r>
              <a:rPr b="1" lang="en" sz="1800">
                <a:solidFill>
                  <a:schemeClr val="lt1"/>
                </a:solidFill>
                <a:latin typeface="Raleway"/>
                <a:ea typeface="Raleway"/>
                <a:cs typeface="Raleway"/>
                <a:sym typeface="Raleway"/>
              </a:rPr>
              <a:t>UJM yang sederhana,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fase - fase perjalanan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tindakan (actions)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pola pikir (mindsets)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opportunities (peluang)</a:t>
            </a:r>
            <a:endParaRPr sz="1200">
              <a:solidFill>
                <a:schemeClr val="lt1"/>
              </a:solidFill>
              <a:latin typeface="Raleway Medium"/>
              <a:ea typeface="Raleway Medium"/>
              <a:cs typeface="Raleway Medium"/>
              <a:sym typeface="Raleway Medium"/>
            </a:endParaRPr>
          </a:p>
        </p:txBody>
      </p:sp>
      <p:sp>
        <p:nvSpPr>
          <p:cNvPr id="712" name="Google Shape;712;p8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8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718" name="Google Shape;718;p8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Berikut adalah beberapa hal yang termasuk dari zona B sebuah </a:t>
            </a:r>
            <a:r>
              <a:rPr b="1" lang="en" sz="1800">
                <a:solidFill>
                  <a:schemeClr val="lt1"/>
                </a:solidFill>
                <a:latin typeface="Raleway"/>
                <a:ea typeface="Raleway"/>
                <a:cs typeface="Raleway"/>
                <a:sym typeface="Raleway"/>
              </a:rPr>
              <a:t>format </a:t>
            </a:r>
            <a:r>
              <a:rPr b="1" lang="en" sz="1800">
                <a:solidFill>
                  <a:schemeClr val="lt1"/>
                </a:solidFill>
                <a:latin typeface="Raleway"/>
                <a:ea typeface="Raleway"/>
                <a:cs typeface="Raleway"/>
                <a:sym typeface="Raleway"/>
              </a:rPr>
              <a:t>UJM yang sederhana,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fase - fase perjalanan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tindakan (actions)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pola pikir (mindsets)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opportunities (peluang)</a:t>
            </a:r>
            <a:endParaRPr b="1" sz="1200">
              <a:solidFill>
                <a:schemeClr val="lt1"/>
              </a:solidFill>
              <a:latin typeface="Raleway"/>
              <a:ea typeface="Raleway"/>
              <a:cs typeface="Raleway"/>
              <a:sym typeface="Raleway"/>
            </a:endParaRPr>
          </a:p>
        </p:txBody>
      </p:sp>
      <p:sp>
        <p:nvSpPr>
          <p:cNvPr id="719" name="Google Shape;719;p8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20" name="Google Shape;720;p89"/>
          <p:cNvSpPr/>
          <p:nvPr/>
        </p:nvSpPr>
        <p:spPr>
          <a:xfrm>
            <a:off x="685800" y="34603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Opportunities berada di Zona C dari </a:t>
            </a:r>
            <a:r>
              <a:rPr b="1" lang="en" sz="1000">
                <a:solidFill>
                  <a:srgbClr val="733572"/>
                </a:solidFill>
                <a:latin typeface="Raleway"/>
                <a:ea typeface="Raleway"/>
                <a:cs typeface="Raleway"/>
                <a:sym typeface="Raleway"/>
              </a:rPr>
              <a:t>format </a:t>
            </a:r>
            <a:r>
              <a:rPr b="1" lang="en" sz="1000">
                <a:solidFill>
                  <a:srgbClr val="733572"/>
                </a:solidFill>
                <a:latin typeface="Raleway"/>
                <a:ea typeface="Raleway"/>
                <a:cs typeface="Raleway"/>
                <a:sym typeface="Raleway"/>
              </a:rPr>
              <a:t>UJM yang sederhana.</a:t>
            </a:r>
            <a:endParaRPr b="1" sz="1000">
              <a:solidFill>
                <a:srgbClr val="733572"/>
              </a:solidFill>
              <a:latin typeface="Raleway"/>
              <a:ea typeface="Raleway"/>
              <a:cs typeface="Raleway"/>
              <a:sym typeface="Raleway"/>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9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26" name="Google Shape;726;p9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727" name="Google Shape;727;p90"/>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728" name="Google Shape;728;p90"/>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u="sng">
                <a:solidFill>
                  <a:schemeClr val="accent5"/>
                </a:solidFill>
                <a:latin typeface="Raleway Medium"/>
                <a:ea typeface="Raleway Medium"/>
                <a:cs typeface="Raleway Medium"/>
                <a:sym typeface="Raleway Medium"/>
                <a:hlinkClick r:id="rId4">
                  <a:extLst>
                    <a:ext uri="{A12FA001-AC4F-418D-AE19-62706E023703}">
                      <ahyp:hlinkClr val="tx"/>
                    </a:ext>
                  </a:extLst>
                </a:hlinkClick>
              </a:rPr>
              <a:t>Design Thinking by Interaction Design 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u="sng">
                <a:solidFill>
                  <a:schemeClr val="accent5"/>
                </a:solidFill>
                <a:latin typeface="Raleway Medium"/>
                <a:ea typeface="Raleway Medium"/>
                <a:cs typeface="Raleway Medium"/>
                <a:sym typeface="Raleway Medium"/>
                <a:hlinkClick r:id="rId5">
                  <a:extLst>
                    <a:ext uri="{A12FA001-AC4F-418D-AE19-62706E023703}">
                      <ahyp:hlinkClr val="tx"/>
                    </a:ext>
                  </a:extLst>
                </a:hlinkClick>
              </a:rPr>
              <a:t>5 Stages in The Design Thinking Process by Interaction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accent5"/>
                </a:solidFill>
                <a:uFill>
                  <a:noFill/>
                </a:uFill>
                <a:latin typeface="Raleway Medium"/>
                <a:ea typeface="Raleway Medium"/>
                <a:cs typeface="Raleway Medium"/>
                <a:sym typeface="Raleway Medium"/>
                <a:hlinkClick r:id="rId6">
                  <a:extLst>
                    <a:ext uri="{A12FA001-AC4F-418D-AE19-62706E023703}">
                      <ahyp:hlinkClr val="tx"/>
                    </a:ext>
                  </a:extLst>
                </a:hlinkClick>
              </a:rPr>
              <a:t>    </a:t>
            </a:r>
            <a:r>
              <a:rPr lang="en" sz="1200" u="sng">
                <a:solidFill>
                  <a:schemeClr val="accent5"/>
                </a:solidFill>
                <a:latin typeface="Raleway Medium"/>
                <a:ea typeface="Raleway Medium"/>
                <a:cs typeface="Raleway Medium"/>
                <a:sym typeface="Raleway Medium"/>
                <a:hlinkClick r:id="rId7">
                  <a:extLst>
                    <a:ext uri="{A12FA001-AC4F-418D-AE19-62706E023703}">
                      <ahyp:hlinkClr val="tx"/>
                    </a:ext>
                  </a:extLst>
                </a:hlinkClick>
              </a:rPr>
              <a:t>Design 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a:t>
            </a:r>
            <a:r>
              <a:rPr lang="en" sz="1200" u="sng">
                <a:solidFill>
                  <a:schemeClr val="hlink"/>
                </a:solidFill>
                <a:latin typeface="Raleway Medium"/>
                <a:ea typeface="Raleway Medium"/>
                <a:cs typeface="Raleway Medium"/>
                <a:sym typeface="Raleway Medium"/>
                <a:hlinkClick r:id="rId8"/>
              </a:rPr>
              <a:t>Defining The Problem  by Interaction Design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hlink"/>
                </a:solidFill>
                <a:uFill>
                  <a:noFill/>
                </a:uFill>
                <a:latin typeface="Raleway Medium"/>
                <a:ea typeface="Raleway Medium"/>
                <a:cs typeface="Raleway Medium"/>
                <a:sym typeface="Raleway Medium"/>
                <a:hlinkClick r:id="rId9"/>
              </a:rPr>
              <a:t>    </a:t>
            </a:r>
            <a:r>
              <a:rPr lang="en" sz="1200" u="sng">
                <a:solidFill>
                  <a:schemeClr val="hlink"/>
                </a:solidFill>
                <a:latin typeface="Raleway Medium"/>
                <a:ea typeface="Raleway Medium"/>
                <a:cs typeface="Raleway Medium"/>
                <a:sym typeface="Raleway Medium"/>
                <a:hlinkClick r:id="rId10"/>
              </a:rPr>
              <a:t>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lang="en" sz="1200" u="sng">
                <a:solidFill>
                  <a:schemeClr val="hlink"/>
                </a:solidFill>
                <a:latin typeface="Raleway Medium"/>
                <a:ea typeface="Raleway Medium"/>
                <a:cs typeface="Raleway Medium"/>
                <a:sym typeface="Raleway Medium"/>
                <a:hlinkClick r:id="rId11"/>
              </a:rPr>
              <a:t>Journey Mapping 101 by Nielsen Norman Group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a:t>
            </a:r>
            <a:r>
              <a:rPr lang="en" sz="1200" u="sng">
                <a:solidFill>
                  <a:schemeClr val="hlink"/>
                </a:solidFill>
                <a:latin typeface="Raleway Medium"/>
                <a:ea typeface="Raleway Medium"/>
                <a:cs typeface="Raleway Medium"/>
                <a:sym typeface="Raleway Medium"/>
                <a:hlinkClick r:id="rId12"/>
              </a:rPr>
              <a:t>When and How to Create Customer Journey Maps by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hlink"/>
                </a:solidFill>
                <a:uFill>
                  <a:noFill/>
                </a:uFill>
                <a:latin typeface="Raleway Medium"/>
                <a:ea typeface="Raleway Medium"/>
                <a:cs typeface="Raleway Medium"/>
                <a:sym typeface="Raleway Medium"/>
                <a:hlinkClick r:id="rId13"/>
              </a:rPr>
              <a:t>    </a:t>
            </a:r>
            <a:r>
              <a:rPr lang="en" sz="1200" u="sng">
                <a:solidFill>
                  <a:schemeClr val="hlink"/>
                </a:solidFill>
                <a:latin typeface="Raleway Medium"/>
                <a:ea typeface="Raleway Medium"/>
                <a:cs typeface="Raleway Medium"/>
                <a:sym typeface="Raleway Medium"/>
                <a:hlinkClick r:id="rId14"/>
              </a:rPr>
              <a:t>Nielsen Norman Group</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732" name="Shape 732"/>
        <p:cNvGrpSpPr/>
        <p:nvPr/>
      </p:nvGrpSpPr>
      <p:grpSpPr>
        <a:xfrm>
          <a:off x="0" y="0"/>
          <a:ext cx="0" cy="0"/>
          <a:chOff x="0" y="0"/>
          <a:chExt cx="0" cy="0"/>
        </a:xfrm>
      </p:grpSpPr>
      <p:sp>
        <p:nvSpPr>
          <p:cNvPr id="733" name="Google Shape;733;p91"/>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734" name="Google Shape;734;p91"/>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735" name="Google Shape;735;p91"/>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736" name="Google Shape;736;p91"/>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737" name="Google Shape;737;p91"/>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738" name="Google Shape;738;p91"/>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739" name="Google Shape;739;p91"/>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740" name="Google Shape;740;p91"/>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