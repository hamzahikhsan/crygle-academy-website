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y="5143500" cx="9144000"/>
  <p:notesSz cx="6858000" cy="9144000"/>
  <p:embeddedFontLst>
    <p:embeddedFont>
      <p:font typeface="Raleway"/>
      <p:regular r:id="rId59"/>
      <p:bold r:id="rId60"/>
      <p:italic r:id="rId61"/>
      <p:boldItalic r:id="rId62"/>
    </p:embeddedFont>
    <p:embeddedFont>
      <p:font typeface="Montserrat"/>
      <p:regular r:id="rId63"/>
      <p:bold r:id="rId64"/>
      <p:italic r:id="rId65"/>
      <p:boldItalic r:id="rId66"/>
    </p:embeddedFont>
    <p:embeddedFont>
      <p:font typeface="Lato Black"/>
      <p:bold r:id="rId67"/>
      <p:boldItalic r:id="rId68"/>
    </p:embeddedFont>
    <p:embeddedFont>
      <p:font typeface="Raleway Medium"/>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2" Type="http://schemas.openxmlformats.org/officeDocument/2006/relationships/font" Target="fonts/RalewayMedium-bold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alewayMedium-italic.fntdata"/><Relationship Id="rId70" Type="http://schemas.openxmlformats.org/officeDocument/2006/relationships/font" Target="fonts/RalewayMedium-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aleway-boldItalic.fntdata"/><Relationship Id="rId61" Type="http://schemas.openxmlformats.org/officeDocument/2006/relationships/font" Target="fonts/Raleway-italic.fntdata"/><Relationship Id="rId20" Type="http://schemas.openxmlformats.org/officeDocument/2006/relationships/slide" Target="slides/slide15.xml"/><Relationship Id="rId64" Type="http://schemas.openxmlformats.org/officeDocument/2006/relationships/font" Target="fonts/Montserrat-bold.fntdata"/><Relationship Id="rId63" Type="http://schemas.openxmlformats.org/officeDocument/2006/relationships/font" Target="fonts/Montserrat-regular.fntdata"/><Relationship Id="rId22" Type="http://schemas.openxmlformats.org/officeDocument/2006/relationships/slide" Target="slides/slide17.xml"/><Relationship Id="rId66" Type="http://schemas.openxmlformats.org/officeDocument/2006/relationships/font" Target="fonts/Montserrat-boldItalic.fntdata"/><Relationship Id="rId21" Type="http://schemas.openxmlformats.org/officeDocument/2006/relationships/slide" Target="slides/slide16.xml"/><Relationship Id="rId65" Type="http://schemas.openxmlformats.org/officeDocument/2006/relationships/font" Target="fonts/Montserrat-italic.fntdata"/><Relationship Id="rId24" Type="http://schemas.openxmlformats.org/officeDocument/2006/relationships/slide" Target="slides/slide19.xml"/><Relationship Id="rId68" Type="http://schemas.openxmlformats.org/officeDocument/2006/relationships/font" Target="fonts/LatoBlack-boldItalic.fntdata"/><Relationship Id="rId23" Type="http://schemas.openxmlformats.org/officeDocument/2006/relationships/slide" Target="slides/slide18.xml"/><Relationship Id="rId67" Type="http://schemas.openxmlformats.org/officeDocument/2006/relationships/font" Target="fonts/LatoBlack-bold.fntdata"/><Relationship Id="rId60" Type="http://schemas.openxmlformats.org/officeDocument/2006/relationships/font" Target="fonts/Raleway-bold.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Medium-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Raleway-regular.fntdata"/><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 Id="rId5" Type="http://schemas.openxmlformats.org/officeDocument/2006/relationships/hyperlink" Target="https://unsplash.com/?utm_source=unsplash&amp;utm_medium=referral&amp;utm_content=creditCopyTex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isualdesign_inspiration?utm_source=unsplash&amp;utm_medium=referral&amp;utm_content=creditCopyText" TargetMode="External"/><Relationship Id="rId3" Type="http://schemas.openxmlformats.org/officeDocument/2006/relationships/hyperlink" Target="https://unsplash.com/@visualdesign_inspiration?utm_source=unsplash&amp;utm_medium=referral&amp;utm_content=creditCopyText" TargetMode="External"/><Relationship Id="rId4" Type="http://schemas.openxmlformats.org/officeDocument/2006/relationships/hyperlink" Target="https://unsplash.com/s/photos/wireframes?utm_source=unsplash&amp;utm_medium=referral&amp;utm_content=creditCopyText" TargetMode="External"/><Relationship Id="rId5" Type="http://schemas.openxmlformats.org/officeDocument/2006/relationships/hyperlink" Target="https://unsplash.com/s/photos/wireframes?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isualdesign_inspiration?utm_source=unsplash&amp;utm_medium=referral&amp;utm_content=creditCopyText" TargetMode="External"/><Relationship Id="rId3" Type="http://schemas.openxmlformats.org/officeDocument/2006/relationships/hyperlink" Target="https://unsplash.com/@visualdesign_inspiration?utm_source=unsplash&amp;utm_medium=referral&amp;utm_content=creditCopyText" TargetMode="External"/><Relationship Id="rId4" Type="http://schemas.openxmlformats.org/officeDocument/2006/relationships/hyperlink" Target="https://unsplash.com/s/photos/wireframes?utm_source=unsplash&amp;utm_medium=referral&amp;utm_content=creditCopyText" TargetMode="External"/><Relationship Id="rId5" Type="http://schemas.openxmlformats.org/officeDocument/2006/relationships/hyperlink" Target="https://unsplash.com/s/photos/wireframes?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isualdesign_inspiration?utm_source=unsplash&amp;utm_medium=referral&amp;utm_content=creditCopyText" TargetMode="External"/><Relationship Id="rId3" Type="http://schemas.openxmlformats.org/officeDocument/2006/relationships/hyperlink" Target="https://unsplash.com/@visualdesign_inspiration?utm_source=unsplash&amp;utm_medium=referral&amp;utm_content=creditCopyText" TargetMode="External"/><Relationship Id="rId4" Type="http://schemas.openxmlformats.org/officeDocument/2006/relationships/hyperlink" Target="https://unsplash.com/s/photos/wireframes?utm_source=unsplash&amp;utm_medium=referral&amp;utm_content=creditCopyText" TargetMode="External"/><Relationship Id="rId5" Type="http://schemas.openxmlformats.org/officeDocument/2006/relationships/hyperlink" Target="https://unsplash.com/s/photos/wireframes?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s-ux?utm_source=unsplash&amp;utm_medium=referral&amp;utm_content=creditCopyText" TargetMode="External"/><Relationship Id="rId5" Type="http://schemas.openxmlformats.org/officeDocument/2006/relationships/hyperlink" Target="https://unsplash.com/s/photos/prototypes-ux?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cksondavid?utm_source=unsplash&amp;utm_medium=referral&amp;utm_content=creditCopyText" TargetMode="External"/><Relationship Id="rId3" Type="http://schemas.openxmlformats.org/officeDocument/2006/relationships/hyperlink" Target="https://unsplash.com/@jacksondavid?utm_source=unsplash&amp;utm_medium=referral&amp;utm_content=creditCopyText" TargetMode="External"/><Relationship Id="rId4" Type="http://schemas.openxmlformats.org/officeDocument/2006/relationships/hyperlink" Target="https://unsplash.com/s/photos/giving?utm_source=unsplash&amp;utm_medium=referral&amp;utm_content=creditCopyText" TargetMode="External"/><Relationship Id="rId5" Type="http://schemas.openxmlformats.org/officeDocument/2006/relationships/hyperlink" Target="https://unsplash.com/s/photos/giving?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cksondavid?utm_source=unsplash&amp;utm_medium=referral&amp;utm_content=creditCopyText" TargetMode="External"/><Relationship Id="rId3" Type="http://schemas.openxmlformats.org/officeDocument/2006/relationships/hyperlink" Target="https://unsplash.com/@jacksondavid?utm_source=unsplash&amp;utm_medium=referral&amp;utm_content=creditCopyText" TargetMode="External"/><Relationship Id="rId4" Type="http://schemas.openxmlformats.org/officeDocument/2006/relationships/hyperlink" Target="https://unsplash.com/s/photos/giving?utm_source=unsplash&amp;utm_medium=referral&amp;utm_content=creditCopyText" TargetMode="External"/><Relationship Id="rId5" Type="http://schemas.openxmlformats.org/officeDocument/2006/relationships/hyperlink" Target="https://unsplash.com/s/photos/giving?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cksondavid?utm_source=unsplash&amp;utm_medium=referral&amp;utm_content=creditCopyText" TargetMode="External"/><Relationship Id="rId3" Type="http://schemas.openxmlformats.org/officeDocument/2006/relationships/hyperlink" Target="https://unsplash.com/@jacksondavid?utm_source=unsplash&amp;utm_medium=referral&amp;utm_content=creditCopyText" TargetMode="External"/><Relationship Id="rId4" Type="http://schemas.openxmlformats.org/officeDocument/2006/relationships/hyperlink" Target="https://unsplash.com/s/photos/giving?utm_source=unsplash&amp;utm_medium=referral&amp;utm_content=creditCopyText" TargetMode="External"/><Relationship Id="rId5" Type="http://schemas.openxmlformats.org/officeDocument/2006/relationships/hyperlink" Target="https://unsplash.com/s/photos/giving?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cksondavid?utm_source=unsplash&amp;utm_medium=referral&amp;utm_content=creditCopyText" TargetMode="External"/><Relationship Id="rId3" Type="http://schemas.openxmlformats.org/officeDocument/2006/relationships/hyperlink" Target="https://unsplash.com/@jacksondavid?utm_source=unsplash&amp;utm_medium=referral&amp;utm_content=creditCopyText" TargetMode="External"/><Relationship Id="rId4" Type="http://schemas.openxmlformats.org/officeDocument/2006/relationships/hyperlink" Target="https://unsplash.com/s/photos/giving?utm_source=unsplash&amp;utm_medium=referral&amp;utm_content=creditCopyText" TargetMode="External"/><Relationship Id="rId5" Type="http://schemas.openxmlformats.org/officeDocument/2006/relationships/hyperlink" Target="https://unsplash.com/s/photos/giving?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cksondavid?utm_source=unsplash&amp;utm_medium=referral&amp;utm_content=creditCopyText" TargetMode="External"/><Relationship Id="rId3" Type="http://schemas.openxmlformats.org/officeDocument/2006/relationships/hyperlink" Target="https://unsplash.com/@jacksondavid?utm_source=unsplash&amp;utm_medium=referral&amp;utm_content=creditCopyText" TargetMode="External"/><Relationship Id="rId4" Type="http://schemas.openxmlformats.org/officeDocument/2006/relationships/hyperlink" Target="https://unsplash.com/s/photos/giving?utm_source=unsplash&amp;utm_medium=referral&amp;utm_content=creditCopyText" TargetMode="External"/><Relationship Id="rId5" Type="http://schemas.openxmlformats.org/officeDocument/2006/relationships/hyperlink" Target="https://unsplash.com/s/photos/giving?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13d6c8b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113d6c8b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1421c87e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11421c87e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11421c87e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11421c87e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11421c87e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11421c87e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Visual Design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11421c87e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11421c87e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17b7bcf68e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17b7bcf68e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Visual Design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17b7bcf68e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17b7bcf68e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Visual Design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11421c87e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11421c87e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11421c87ef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11421c87ef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11421c87e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11421c87e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11421c87e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11421c87e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11421c87ef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11421c87e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11421c87ef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11421c87ef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11421c87ef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11421c87ef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11421c87e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11421c87e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11421c87ef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11421c87ef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11421c87ef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11421c87ef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11421c87ef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11421c87e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11421c87ef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11421c87ef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11421c87ef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11421c87ef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https://thedigitalprojectmanager.com/tools/what-is-monday-overview/</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11421c87ef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11421c87ef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11421c87ef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11421c87ef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11421c87ef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11421c87ef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https://medium.com/gigaom/dropbox-spaces-and-dropbox-paper-not-totally-integrated-yet-a37d3c0f5d90</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11421c87ef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11421c87ef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11421c87ef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11421c87ef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Jackson David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17b7bcf6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17b7bcf6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Jackson David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17b7bcf68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117b7bcf68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Jackson David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17b7bcf68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17b7bcf68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Jackson David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17b7bcf68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17b7bcf68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Jackson David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11421c87ef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11421c87ef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11421c87ef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11421c87ef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11421c87ef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11421c87ef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11421c87ef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11421c87ef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11421c87ef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11421c87ef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https://files.design/blog/figma-plugins-overview</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11421c87ef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11421c87ef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115741799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115741799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115741799d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115741799d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115741799d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115741799d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115741799d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115741799d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115741799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115741799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1115741799d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1115741799d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1115741799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1115741799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d1e1db147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d1e1db147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d1e1db147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d1e1db147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115741799d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115741799d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115741799d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115741799d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115741799d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1115741799d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d1e1db147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d1e1db147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image" Target="../media/image3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4.jpg"/><Relationship Id="rId5" Type="http://schemas.openxmlformats.org/officeDocument/2006/relationships/image" Target="../media/image6.png"/><Relationship Id="rId6"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unsplash.com/@visualdesign_inspiration?utm_source=unsplash&amp;utm_medium=referral&amp;utm_content=creditCopyText" TargetMode="External"/><Relationship Id="rId4" Type="http://schemas.openxmlformats.org/officeDocument/2006/relationships/image" Target="../media/image2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10.png"/></Relationships>
</file>

<file path=ppt/slides/_rels/slide9.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hyperlink" Target="https://www.invisionapp.com/studio" TargetMode="External"/><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sketch.com/" TargetMode="External"/><Relationship Id="rId4" Type="http://schemas.openxmlformats.org/officeDocument/2006/relationships/hyperlink" Target="https://www.sketch.com/" TargetMode="External"/><Relationship Id="rId9" Type="http://schemas.openxmlformats.org/officeDocument/2006/relationships/hyperlink" Target="https://www.invisionapp.com/studio" TargetMode="External"/><Relationship Id="rId5" Type="http://schemas.openxmlformats.org/officeDocument/2006/relationships/hyperlink" Target="https://www.adobe.com/sea/products/xd.html" TargetMode="External"/><Relationship Id="rId6" Type="http://schemas.openxmlformats.org/officeDocument/2006/relationships/hyperlink" Target="https://www.adobe.com/sea/products/xd.html" TargetMode="External"/><Relationship Id="rId7" Type="http://schemas.openxmlformats.org/officeDocument/2006/relationships/hyperlink" Target="https://www.figma.com/" TargetMode="External"/><Relationship Id="rId8" Type="http://schemas.openxmlformats.org/officeDocument/2006/relationships/hyperlink" Target="https://www.figma.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adobe.com/sea/products/photoshop.html?sdid=12B9DXDJ&amp;mv=search&amp;ef_id=CjwKCAjwk6-LBhBZEiwAOUUDp3J6T56IQCPTtKdEqRDeVjOn_YNvbGZDA7ksIwB3CsqUh2nTuFLJnhoCZq8QAvD_BwE:G:s&amp;s_kwcid=AL!3085!3!424783730141!e!!g!!adobe%20photoshop!703952628!38400836578&amp;gclid=CjwKCAjwk6-LBhBZEiwAOUUDp3J6T56IQCPTtKdEqRDeVjOn_YNvbGZDA7ksIwB3CsqUh2nTuFLJnhoCZq8QAvD_BwE" TargetMode="External"/><Relationship Id="rId4" Type="http://schemas.openxmlformats.org/officeDocument/2006/relationships/hyperlink" Target="https://www.adobe.com/sea/products/photoshop.html?sdid=12B9DXDJ&amp;mv=search&amp;ef_id=CjwKCAjwk6-LBhBZEiwAOUUDp3J6T56IQCPTtKdEqRDeVjOn_YNvbGZDA7ksIwB3CsqUh2nTuFLJnhoCZq8QAvD_BwE:G:s&amp;s_kwcid=AL!3085!3!424783730141!e!!g!!adobe%20photoshop!703952628!38400836578&amp;gclid=CjwKCAjwk6-LBhBZEiwAOUUDp3J6T56IQCPTtKdEqRDeVjOn_YNvbGZDA7ksIwB3CsqUh2nTuFLJnhoCZq8QAvD_BwE" TargetMode="External"/><Relationship Id="rId5" Type="http://schemas.openxmlformats.org/officeDocument/2006/relationships/hyperlink" Target="https://www.adobe.com/sea/products/illustrator.html" TargetMode="External"/><Relationship Id="rId6" Type="http://schemas.openxmlformats.org/officeDocument/2006/relationships/hyperlink" Target="https://www.adobe.com/sea/products/illustrator.html" TargetMode="External"/><Relationship Id="rId7"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image" Target="../media/image3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41.jpg"/><Relationship Id="rId5"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image" Target="../media/image4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image" Target="../media/image4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2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2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medium.com/gigaom/dropbox-spaces-and-dropbox-paper-not-totally-integrated-yet-a37d3c0f5d90" TargetMode="Externa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unsplash.com/@jacksondavid?utm_source=unsplash&amp;utm_medium=referral&amp;utm_content=creditCopyText" TargetMode="External"/><Relationship Id="rId4" Type="http://schemas.openxmlformats.org/officeDocument/2006/relationships/image" Target="../media/image4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2.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2.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blog.bitsrc.io/15-designer-and-developer-collaboration-tools-for-2021-8fae54ac2298" TargetMode="External"/><Relationship Id="rId4" Type="http://schemas.openxmlformats.org/officeDocument/2006/relationships/image" Target="../media/image34.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blog.bitsrc.io/15-designer-and-developer-collaboration-tools-for-2021-8fae54ac2298" TargetMode="Externa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blog.bitsrc.io/15-designer-and-developer-collaboration-tools-for-2021-8fae54ac2298" TargetMode="External"/><Relationship Id="rId4" Type="http://schemas.openxmlformats.org/officeDocument/2006/relationships/image" Target="../media/image46.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files.design/blog/figma-plugins-overview" TargetMode="Externa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youtu.be/uuWoxom0IGw" TargetMode="External"/><Relationship Id="rId4" Type="http://schemas.openxmlformats.org/officeDocument/2006/relationships/hyperlink" Target="https://youtu.be/nXMNkw6QW_4" TargetMode="External"/><Relationship Id="rId5"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15.png"/><Relationship Id="rId4" Type="http://schemas.openxmlformats.org/officeDocument/2006/relationships/image" Target="../media/image4.jpg"/><Relationship Id="rId5" Type="http://schemas.openxmlformats.org/officeDocument/2006/relationships/image" Target="../media/image6.png"/><Relationship Id="rId6" Type="http://schemas.openxmlformats.org/officeDocument/2006/relationships/image" Target="../media/image5.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15.png"/><Relationship Id="rId4" Type="http://schemas.openxmlformats.org/officeDocument/2006/relationships/image" Target="../media/image4.jpg"/><Relationship Id="rId5" Type="http://schemas.openxmlformats.org/officeDocument/2006/relationships/image" Target="../media/image6.png"/><Relationship Id="rId6" Type="http://schemas.openxmlformats.org/officeDocument/2006/relationships/image" Target="../media/image5.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2.png"/><Relationship Id="rId4" Type="http://schemas.openxmlformats.org/officeDocument/2006/relationships/hyperlink" Target="https://www.mockplus.com/blog/post/project-collaboration-software" TargetMode="External"/><Relationship Id="rId5" Type="http://schemas.openxmlformats.org/officeDocument/2006/relationships/hyperlink" Target="https://www.mockplus.com/blog/post/project-collaboration-software" TargetMode="External"/><Relationship Id="rId6" Type="http://schemas.openxmlformats.org/officeDocument/2006/relationships/hyperlink" Target="https://files.design/blog/figma-plugins-overview" TargetMode="External"/><Relationship Id="rId7" Type="http://schemas.openxmlformats.org/officeDocument/2006/relationships/hyperlink" Target="https://blog.bitsrc.io/15-designer-and-developer-collaboration-tools-for-2021-8fae54ac2298" TargetMode="External"/><Relationship Id="rId8" Type="http://schemas.openxmlformats.org/officeDocument/2006/relationships/hyperlink" Target="https://blog.bitsrc.io/15-designer-and-developer-collaboration-tools-for-2021-8fae54ac2298"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1" name="Shape 81"/>
        <p:cNvGrpSpPr/>
        <p:nvPr/>
      </p:nvGrpSpPr>
      <p:grpSpPr>
        <a:xfrm>
          <a:off x="0" y="0"/>
          <a:ext cx="0" cy="0"/>
          <a:chOff x="0" y="0"/>
          <a:chExt cx="0" cy="0"/>
        </a:xfrm>
      </p:grpSpPr>
      <p:sp>
        <p:nvSpPr>
          <p:cNvPr id="82" name="Google Shape;82;p16"/>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Peralatan UI/UX Design</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3 - Topic 4</a:t>
            </a:r>
            <a:endParaRPr b="1">
              <a:solidFill>
                <a:srgbClr val="FFFFFF"/>
              </a:solidFill>
              <a:latin typeface="Raleway"/>
              <a:ea typeface="Raleway"/>
              <a:cs typeface="Raleway"/>
              <a:sym typeface="Raleway"/>
            </a:endParaRPr>
          </a:p>
        </p:txBody>
      </p:sp>
      <p:cxnSp>
        <p:nvCxnSpPr>
          <p:cNvPr id="83" name="Google Shape;83;p16"/>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84" name="Google Shape;84;p16"/>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85" name="Google Shape;85;p16"/>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1" name="Google Shape;91;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92" name="Google Shape;92;p17"/>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93" name="Google Shape;93;p17"/>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Peralatan UI/UX Design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Peralatan brainstorming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Peralatan wireframing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Peralatan prototyping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Peralatan kolaborasi proyek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Peralatan handoff</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Mengenal plugin</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Peralatan brainstorming</a:t>
            </a:r>
            <a:endParaRPr>
              <a:solidFill>
                <a:schemeClr val="accent1"/>
              </a:solidFill>
            </a:endParaRPr>
          </a:p>
        </p:txBody>
      </p:sp>
      <p:sp>
        <p:nvSpPr>
          <p:cNvPr id="99" name="Google Shape;99;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 name="Google Shape;105;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brainstorming</a:t>
            </a:r>
            <a:endParaRPr/>
          </a:p>
        </p:txBody>
      </p:sp>
      <p:sp>
        <p:nvSpPr>
          <p:cNvPr id="106" name="Google Shape;106;p1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Brainstorming adalah metode untuk menemukan ide-ide baru, yang didasarkan pada spontanitas dan kreativitas. Konsep dasar dari brainstorming adalah melatih otak manusia untuk memicu munculnya ide dan kemudian meletakkan ide-ide tersebut pada sebuah gambar, mind map, flowchart, tulisan dan lain lain.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beberapa peralatan umum untuk membantu proses brainstorming menjadi lancar.</a:t>
            </a:r>
            <a:endParaRPr sz="1200">
              <a:solidFill>
                <a:schemeClr val="dk1"/>
              </a:solidFill>
              <a:latin typeface="Raleway Medium"/>
              <a:ea typeface="Raleway Medium"/>
              <a:cs typeface="Raleway Medium"/>
              <a:sym typeface="Raleway Medium"/>
            </a:endParaRPr>
          </a:p>
        </p:txBody>
      </p:sp>
      <p:pic>
        <p:nvPicPr>
          <p:cNvPr id="107" name="Google Shape;107;p19">
            <a:hlinkClick r:id="rId3"/>
          </p:cNvPr>
          <p:cNvPicPr preferRelativeResize="0"/>
          <p:nvPr/>
        </p:nvPicPr>
        <p:blipFill rotWithShape="1">
          <a:blip r:embed="rId4">
            <a:alphaModFix/>
          </a:blip>
          <a:srcRect b="0" l="19063" r="19063" t="0"/>
          <a:stretch/>
        </p:blipFill>
        <p:spPr>
          <a:xfrm>
            <a:off x="5486400" y="1280150"/>
            <a:ext cx="3017523" cy="27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brainstorming</a:t>
            </a:r>
            <a:endParaRPr/>
          </a:p>
        </p:txBody>
      </p:sp>
      <p:pic>
        <p:nvPicPr>
          <p:cNvPr id="114" name="Google Shape;114;p20"/>
          <p:cNvPicPr preferRelativeResize="0"/>
          <p:nvPr/>
        </p:nvPicPr>
        <p:blipFill rotWithShape="1">
          <a:blip r:embed="rId3">
            <a:alphaModFix/>
          </a:blip>
          <a:srcRect b="0" l="21854" r="21848" t="0"/>
          <a:stretch/>
        </p:blipFill>
        <p:spPr>
          <a:xfrm>
            <a:off x="1120275" y="1841400"/>
            <a:ext cx="1371599" cy="1371600"/>
          </a:xfrm>
          <a:prstGeom prst="rect">
            <a:avLst/>
          </a:prstGeom>
          <a:noFill/>
          <a:ln>
            <a:noFill/>
          </a:ln>
        </p:spPr>
      </p:pic>
      <p:sp>
        <p:nvSpPr>
          <p:cNvPr id="115" name="Google Shape;115;p20"/>
          <p:cNvSpPr txBox="1"/>
          <p:nvPr/>
        </p:nvSpPr>
        <p:spPr>
          <a:xfrm>
            <a:off x="1374675" y="3365400"/>
            <a:ext cx="86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latin typeface="Raleway"/>
                <a:ea typeface="Raleway"/>
                <a:cs typeface="Raleway"/>
                <a:sym typeface="Raleway"/>
              </a:rPr>
              <a:t>Draw.io</a:t>
            </a:r>
            <a:endParaRPr b="1" sz="1200">
              <a:latin typeface="Raleway"/>
              <a:ea typeface="Raleway"/>
              <a:cs typeface="Raleway"/>
              <a:sym typeface="Raleway"/>
            </a:endParaRPr>
          </a:p>
        </p:txBody>
      </p:sp>
      <p:pic>
        <p:nvPicPr>
          <p:cNvPr id="116" name="Google Shape;116;p20"/>
          <p:cNvPicPr preferRelativeResize="0"/>
          <p:nvPr/>
        </p:nvPicPr>
        <p:blipFill rotWithShape="1">
          <a:blip r:embed="rId4">
            <a:alphaModFix/>
          </a:blip>
          <a:srcRect b="0" l="0" r="0" t="0"/>
          <a:stretch/>
        </p:blipFill>
        <p:spPr>
          <a:xfrm>
            <a:off x="2853475" y="1841400"/>
            <a:ext cx="1371600" cy="1371600"/>
          </a:xfrm>
          <a:prstGeom prst="rect">
            <a:avLst/>
          </a:prstGeom>
          <a:noFill/>
          <a:ln>
            <a:noFill/>
          </a:ln>
        </p:spPr>
      </p:pic>
      <p:sp>
        <p:nvSpPr>
          <p:cNvPr id="117" name="Google Shape;117;p20"/>
          <p:cNvSpPr txBox="1"/>
          <p:nvPr/>
        </p:nvSpPr>
        <p:spPr>
          <a:xfrm>
            <a:off x="3014275" y="3365400"/>
            <a:ext cx="105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latin typeface="Raleway"/>
                <a:ea typeface="Raleway"/>
                <a:cs typeface="Raleway"/>
                <a:sym typeface="Raleway"/>
              </a:rPr>
              <a:t>LucidChart</a:t>
            </a:r>
            <a:endParaRPr b="1" sz="1200">
              <a:latin typeface="Raleway"/>
              <a:ea typeface="Raleway"/>
              <a:cs typeface="Raleway"/>
              <a:sym typeface="Raleway"/>
            </a:endParaRPr>
          </a:p>
        </p:txBody>
      </p:sp>
      <p:pic>
        <p:nvPicPr>
          <p:cNvPr id="118" name="Google Shape;118;p20"/>
          <p:cNvPicPr preferRelativeResize="0"/>
          <p:nvPr/>
        </p:nvPicPr>
        <p:blipFill rotWithShape="1">
          <a:blip r:embed="rId5">
            <a:alphaModFix/>
          </a:blip>
          <a:srcRect b="0" l="0" r="0" t="0"/>
          <a:stretch/>
        </p:blipFill>
        <p:spPr>
          <a:xfrm>
            <a:off x="4626050" y="1841400"/>
            <a:ext cx="1371599" cy="1371600"/>
          </a:xfrm>
          <a:prstGeom prst="rect">
            <a:avLst/>
          </a:prstGeom>
          <a:noFill/>
          <a:ln>
            <a:noFill/>
          </a:ln>
        </p:spPr>
      </p:pic>
      <p:sp>
        <p:nvSpPr>
          <p:cNvPr id="119" name="Google Shape;119;p20"/>
          <p:cNvSpPr txBox="1"/>
          <p:nvPr/>
        </p:nvSpPr>
        <p:spPr>
          <a:xfrm>
            <a:off x="4786850" y="3365400"/>
            <a:ext cx="105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aleway"/>
                <a:ea typeface="Raleway"/>
                <a:cs typeface="Raleway"/>
                <a:sym typeface="Raleway"/>
              </a:rPr>
              <a:t>Coggle</a:t>
            </a:r>
            <a:endParaRPr b="1" sz="1200">
              <a:latin typeface="Raleway"/>
              <a:ea typeface="Raleway"/>
              <a:cs typeface="Raleway"/>
              <a:sym typeface="Raleway"/>
            </a:endParaRPr>
          </a:p>
        </p:txBody>
      </p:sp>
      <p:sp>
        <p:nvSpPr>
          <p:cNvPr id="120" name="Google Shape;120;p20"/>
          <p:cNvSpPr txBox="1"/>
          <p:nvPr/>
        </p:nvSpPr>
        <p:spPr>
          <a:xfrm>
            <a:off x="6398625" y="3365400"/>
            <a:ext cx="1625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aleway"/>
                <a:ea typeface="Raleway"/>
                <a:cs typeface="Raleway"/>
                <a:sym typeface="Raleway"/>
              </a:rPr>
              <a:t>Google Docs</a:t>
            </a:r>
            <a:endParaRPr b="1" sz="1200">
              <a:latin typeface="Raleway"/>
              <a:ea typeface="Raleway"/>
              <a:cs typeface="Raleway"/>
              <a:sym typeface="Raleway"/>
            </a:endParaRPr>
          </a:p>
        </p:txBody>
      </p:sp>
      <p:pic>
        <p:nvPicPr>
          <p:cNvPr id="121" name="Google Shape;121;p20"/>
          <p:cNvPicPr preferRelativeResize="0"/>
          <p:nvPr/>
        </p:nvPicPr>
        <p:blipFill rotWithShape="1">
          <a:blip r:embed="rId6">
            <a:alphaModFix/>
          </a:blip>
          <a:srcRect b="0" l="18112" r="19921" t="0"/>
          <a:stretch/>
        </p:blipFill>
        <p:spPr>
          <a:xfrm>
            <a:off x="6426675" y="1682688"/>
            <a:ext cx="1569001" cy="1689025"/>
          </a:xfrm>
          <a:prstGeom prst="rect">
            <a:avLst/>
          </a:prstGeom>
          <a:noFill/>
          <a:ln>
            <a:noFill/>
          </a:ln>
        </p:spPr>
      </p:pic>
      <p:sp>
        <p:nvSpPr>
          <p:cNvPr id="122" name="Google Shape;122;p20"/>
          <p:cNvSpPr txBox="1"/>
          <p:nvPr/>
        </p:nvSpPr>
        <p:spPr>
          <a:xfrm>
            <a:off x="545550" y="873775"/>
            <a:ext cx="8052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Brainstorming</a:t>
            </a:r>
            <a:r>
              <a:rPr b="1" lang="en" sz="1800">
                <a:solidFill>
                  <a:srgbClr val="743673"/>
                </a:solidFill>
                <a:highlight>
                  <a:schemeClr val="lt1"/>
                </a:highlight>
                <a:latin typeface="Raleway"/>
                <a:ea typeface="Raleway"/>
                <a:cs typeface="Raleway"/>
                <a:sym typeface="Raleway"/>
              </a:rPr>
              <a:t> tools yang bisa kita gunakan: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Peralatan wireframing</a:t>
            </a:r>
            <a:endParaRPr>
              <a:solidFill>
                <a:schemeClr val="accent1"/>
              </a:solidFill>
            </a:endParaRPr>
          </a:p>
        </p:txBody>
      </p:sp>
      <p:sp>
        <p:nvSpPr>
          <p:cNvPr id="128" name="Google Shape;128;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4" name="Google Shape;134;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wireframing</a:t>
            </a:r>
            <a:endParaRPr/>
          </a:p>
        </p:txBody>
      </p:sp>
      <p:sp>
        <p:nvSpPr>
          <p:cNvPr id="135" name="Google Shape;135;p2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Apa itu wireframing?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Wireframing adalah proses pembuatan wireframe, yang pada umumnya dilakukan sebelum pembuatan produk tersebut dilakukan.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Wireframe adalah sebuah kerangka untuk menata suatu item di laman website atau aplikasi. Kita akan mempelajari wireframing dengan lebih jelas pada topik berikutnya.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36" name="Google Shape;136;p22">
            <a:hlinkClick r:id="rId3"/>
          </p:cNvPr>
          <p:cNvPicPr preferRelativeResize="0"/>
          <p:nvPr/>
        </p:nvPicPr>
        <p:blipFill rotWithShape="1">
          <a:blip r:embed="rId4">
            <a:alphaModFix/>
          </a:blip>
          <a:srcRect b="0" l="8753" r="8745" t="0"/>
          <a:stretch/>
        </p:blipFill>
        <p:spPr>
          <a:xfrm>
            <a:off x="5486400" y="1280150"/>
            <a:ext cx="3017523" cy="27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2" name="Google Shape;142;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wireframing</a:t>
            </a:r>
            <a:endParaRPr/>
          </a:p>
        </p:txBody>
      </p:sp>
      <p:pic>
        <p:nvPicPr>
          <p:cNvPr id="143" name="Google Shape;143;p23"/>
          <p:cNvPicPr preferRelativeResize="0"/>
          <p:nvPr/>
        </p:nvPicPr>
        <p:blipFill rotWithShape="1">
          <a:blip r:embed="rId3">
            <a:alphaModFix/>
          </a:blip>
          <a:srcRect b="39759" l="27382" r="23561" t="11184"/>
          <a:stretch/>
        </p:blipFill>
        <p:spPr>
          <a:xfrm>
            <a:off x="1233000" y="1762050"/>
            <a:ext cx="1371599" cy="1371600"/>
          </a:xfrm>
          <a:prstGeom prst="rect">
            <a:avLst/>
          </a:prstGeom>
          <a:noFill/>
          <a:ln>
            <a:noFill/>
          </a:ln>
        </p:spPr>
      </p:pic>
      <p:sp>
        <p:nvSpPr>
          <p:cNvPr id="144" name="Google Shape;144;p23"/>
          <p:cNvSpPr txBox="1"/>
          <p:nvPr/>
        </p:nvSpPr>
        <p:spPr>
          <a:xfrm>
            <a:off x="1393800" y="3286050"/>
            <a:ext cx="105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aleway"/>
                <a:ea typeface="Raleway"/>
                <a:cs typeface="Raleway"/>
                <a:sym typeface="Raleway"/>
              </a:rPr>
              <a:t>Balsamiq</a:t>
            </a:r>
            <a:endParaRPr b="1" sz="1200">
              <a:latin typeface="Raleway"/>
              <a:ea typeface="Raleway"/>
              <a:cs typeface="Raleway"/>
              <a:sym typeface="Raleway"/>
            </a:endParaRPr>
          </a:p>
        </p:txBody>
      </p:sp>
      <p:pic>
        <p:nvPicPr>
          <p:cNvPr id="145" name="Google Shape;145;p23"/>
          <p:cNvPicPr preferRelativeResize="0"/>
          <p:nvPr/>
        </p:nvPicPr>
        <p:blipFill rotWithShape="1">
          <a:blip r:embed="rId4">
            <a:alphaModFix/>
          </a:blip>
          <a:srcRect b="0" l="0" r="0" t="0"/>
          <a:stretch/>
        </p:blipFill>
        <p:spPr>
          <a:xfrm>
            <a:off x="2966200" y="1762050"/>
            <a:ext cx="1371599" cy="1371600"/>
          </a:xfrm>
          <a:prstGeom prst="rect">
            <a:avLst/>
          </a:prstGeom>
          <a:noFill/>
          <a:ln>
            <a:noFill/>
          </a:ln>
        </p:spPr>
      </p:pic>
      <p:sp>
        <p:nvSpPr>
          <p:cNvPr id="146" name="Google Shape;146;p23"/>
          <p:cNvSpPr txBox="1"/>
          <p:nvPr/>
        </p:nvSpPr>
        <p:spPr>
          <a:xfrm>
            <a:off x="3127000" y="3286050"/>
            <a:ext cx="105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aleway"/>
                <a:ea typeface="Raleway"/>
                <a:cs typeface="Raleway"/>
                <a:sym typeface="Raleway"/>
              </a:rPr>
              <a:t>MockPlus</a:t>
            </a:r>
            <a:endParaRPr b="1" sz="1200">
              <a:latin typeface="Raleway"/>
              <a:ea typeface="Raleway"/>
              <a:cs typeface="Raleway"/>
              <a:sym typeface="Raleway"/>
            </a:endParaRPr>
          </a:p>
        </p:txBody>
      </p:sp>
      <p:pic>
        <p:nvPicPr>
          <p:cNvPr id="147" name="Google Shape;147;p23"/>
          <p:cNvPicPr preferRelativeResize="0"/>
          <p:nvPr/>
        </p:nvPicPr>
        <p:blipFill rotWithShape="1">
          <a:blip r:embed="rId5">
            <a:alphaModFix/>
          </a:blip>
          <a:srcRect b="0" l="0" r="0" t="0"/>
          <a:stretch/>
        </p:blipFill>
        <p:spPr>
          <a:xfrm>
            <a:off x="4738775" y="1762050"/>
            <a:ext cx="1371599" cy="1371600"/>
          </a:xfrm>
          <a:prstGeom prst="rect">
            <a:avLst/>
          </a:prstGeom>
          <a:noFill/>
          <a:ln>
            <a:noFill/>
          </a:ln>
        </p:spPr>
      </p:pic>
      <p:sp>
        <p:nvSpPr>
          <p:cNvPr id="148" name="Google Shape;148;p23"/>
          <p:cNvSpPr txBox="1"/>
          <p:nvPr/>
        </p:nvSpPr>
        <p:spPr>
          <a:xfrm>
            <a:off x="4899575" y="3286050"/>
            <a:ext cx="105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aleway"/>
                <a:ea typeface="Raleway"/>
                <a:cs typeface="Raleway"/>
                <a:sym typeface="Raleway"/>
              </a:rPr>
              <a:t>UXPin</a:t>
            </a:r>
            <a:endParaRPr b="1" sz="1200">
              <a:latin typeface="Raleway"/>
              <a:ea typeface="Raleway"/>
              <a:cs typeface="Raleway"/>
              <a:sym typeface="Raleway"/>
            </a:endParaRPr>
          </a:p>
        </p:txBody>
      </p:sp>
      <p:sp>
        <p:nvSpPr>
          <p:cNvPr id="149" name="Google Shape;149;p23"/>
          <p:cNvSpPr txBox="1"/>
          <p:nvPr/>
        </p:nvSpPr>
        <p:spPr>
          <a:xfrm>
            <a:off x="6511350" y="3286050"/>
            <a:ext cx="1371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aleway"/>
                <a:ea typeface="Raleway"/>
                <a:cs typeface="Raleway"/>
                <a:sym typeface="Raleway"/>
              </a:rPr>
              <a:t>Justinmind</a:t>
            </a:r>
            <a:endParaRPr b="1" sz="1200">
              <a:latin typeface="Raleway"/>
              <a:ea typeface="Raleway"/>
              <a:cs typeface="Raleway"/>
              <a:sym typeface="Raleway"/>
            </a:endParaRPr>
          </a:p>
        </p:txBody>
      </p:sp>
      <p:pic>
        <p:nvPicPr>
          <p:cNvPr id="150" name="Google Shape;150;p23"/>
          <p:cNvPicPr preferRelativeResize="0"/>
          <p:nvPr/>
        </p:nvPicPr>
        <p:blipFill rotWithShape="1">
          <a:blip r:embed="rId6">
            <a:alphaModFix/>
          </a:blip>
          <a:srcRect b="0" l="17936" r="17936" t="0"/>
          <a:stretch/>
        </p:blipFill>
        <p:spPr>
          <a:xfrm>
            <a:off x="6539400" y="1762050"/>
            <a:ext cx="1427596" cy="1371600"/>
          </a:xfrm>
          <a:prstGeom prst="rect">
            <a:avLst/>
          </a:prstGeom>
          <a:noFill/>
          <a:ln>
            <a:noFill/>
          </a:ln>
        </p:spPr>
      </p:pic>
      <p:sp>
        <p:nvSpPr>
          <p:cNvPr id="151" name="Google Shape;151;p23"/>
          <p:cNvSpPr txBox="1"/>
          <p:nvPr/>
        </p:nvSpPr>
        <p:spPr>
          <a:xfrm>
            <a:off x="545550" y="873775"/>
            <a:ext cx="8052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Wireframing</a:t>
            </a:r>
            <a:r>
              <a:rPr b="1" lang="en" sz="1800">
                <a:solidFill>
                  <a:srgbClr val="743673"/>
                </a:solidFill>
                <a:highlight>
                  <a:schemeClr val="lt1"/>
                </a:highlight>
                <a:latin typeface="Raleway"/>
                <a:ea typeface="Raleway"/>
                <a:cs typeface="Raleway"/>
                <a:sym typeface="Raleway"/>
              </a:rPr>
              <a:t> t</a:t>
            </a:r>
            <a:r>
              <a:rPr b="1" lang="en" sz="1800">
                <a:solidFill>
                  <a:srgbClr val="743673"/>
                </a:solidFill>
                <a:highlight>
                  <a:schemeClr val="lt1"/>
                </a:highlight>
                <a:latin typeface="Raleway"/>
                <a:ea typeface="Raleway"/>
                <a:cs typeface="Raleway"/>
                <a:sym typeface="Raleway"/>
              </a:rPr>
              <a:t>ools yang bisa kita gunakan untuk membuat mockup: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7" name="Google Shape;157;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wireframing</a:t>
            </a:r>
            <a:endParaRPr/>
          </a:p>
        </p:txBody>
      </p:sp>
      <p:sp>
        <p:nvSpPr>
          <p:cNvPr id="158" name="Google Shape;158;p2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Selain itu, ada berbagai tools lain juga yang bisa kita gunakan untuk membuat mockup:</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accent1"/>
                </a:solidFill>
                <a:latin typeface="Raleway Medium"/>
                <a:ea typeface="Raleway Medium"/>
                <a:cs typeface="Raleway Medium"/>
                <a:sym typeface="Raleway Medium"/>
              </a:rPr>
              <a:t>Mockup Apps</a:t>
            </a:r>
            <a:endParaRPr sz="1200">
              <a:solidFill>
                <a:schemeClr val="accen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Mockup apps adalah tools yang dirancang untuk mempermudah kita dalam mendesain sebuah digital produk.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000"/>
              </a:spcBef>
              <a:spcAft>
                <a:spcPts val="0"/>
              </a:spcAft>
              <a:buClr>
                <a:schemeClr val="dk1"/>
              </a:buClr>
              <a:buSzPts val="1100"/>
              <a:buFont typeface="Arial"/>
              <a:buNone/>
            </a:pPr>
            <a:r>
              <a:rPr lang="en" sz="1200">
                <a:solidFill>
                  <a:schemeClr val="dk1"/>
                </a:solidFill>
                <a:latin typeface="Raleway"/>
                <a:ea typeface="Raleway"/>
                <a:cs typeface="Raleway"/>
                <a:sym typeface="Raleway"/>
              </a:rPr>
              <a:t>Tools yang paling populer digunakan di antaranya adalah</a:t>
            </a:r>
            <a:r>
              <a:rPr lang="en" sz="1200">
                <a:solidFill>
                  <a:schemeClr val="dk1"/>
                </a:solidFill>
                <a:uFill>
                  <a:noFill/>
                </a:uFill>
                <a:latin typeface="Raleway"/>
                <a:ea typeface="Raleway"/>
                <a:cs typeface="Raleway"/>
                <a:sym typeface="Raleway"/>
                <a:hlinkClick r:id="rId3">
                  <a:extLst>
                    <a:ext uri="{A12FA001-AC4F-418D-AE19-62706E023703}">
                      <ahyp:hlinkClr val="tx"/>
                    </a:ext>
                  </a:extLst>
                </a:hlinkClick>
              </a:rPr>
              <a:t> </a:t>
            </a:r>
            <a:r>
              <a:rPr lang="en" sz="1200" u="sng">
                <a:solidFill>
                  <a:schemeClr val="hlink"/>
                </a:solidFill>
                <a:latin typeface="Raleway"/>
                <a:ea typeface="Raleway"/>
                <a:cs typeface="Raleway"/>
                <a:sym typeface="Raleway"/>
                <a:hlinkClick r:id="rId4"/>
              </a:rPr>
              <a:t>Sketch</a:t>
            </a:r>
            <a:r>
              <a:rPr lang="en" sz="1200">
                <a:solidFill>
                  <a:srgbClr val="FFAB40"/>
                </a:solidFill>
                <a:latin typeface="Raleway"/>
                <a:ea typeface="Raleway"/>
                <a:cs typeface="Raleway"/>
                <a:sym typeface="Raleway"/>
              </a:rPr>
              <a:t>,</a:t>
            </a:r>
            <a:r>
              <a:rPr lang="en" sz="1200">
                <a:solidFill>
                  <a:srgbClr val="FFAB40"/>
                </a:solidFill>
                <a:uFill>
                  <a:noFill/>
                </a:uFill>
                <a:latin typeface="Raleway"/>
                <a:ea typeface="Raleway"/>
                <a:cs typeface="Raleway"/>
                <a:sym typeface="Raleway"/>
                <a:hlinkClick r:id="rId5">
                  <a:extLst>
                    <a:ext uri="{A12FA001-AC4F-418D-AE19-62706E023703}">
                      <ahyp:hlinkClr val="tx"/>
                    </a:ext>
                  </a:extLst>
                </a:hlinkClick>
              </a:rPr>
              <a:t> </a:t>
            </a:r>
            <a:r>
              <a:rPr lang="en" sz="1200" u="sng">
                <a:solidFill>
                  <a:schemeClr val="hlink"/>
                </a:solidFill>
                <a:latin typeface="Raleway"/>
                <a:ea typeface="Raleway"/>
                <a:cs typeface="Raleway"/>
                <a:sym typeface="Raleway"/>
                <a:hlinkClick r:id="rId6"/>
              </a:rPr>
              <a:t>Adobe XD</a:t>
            </a:r>
            <a:r>
              <a:rPr lang="en" sz="1200">
                <a:solidFill>
                  <a:srgbClr val="FFAB40"/>
                </a:solidFill>
                <a:latin typeface="Raleway"/>
                <a:ea typeface="Raleway"/>
                <a:cs typeface="Raleway"/>
                <a:sym typeface="Raleway"/>
              </a:rPr>
              <a:t>,</a:t>
            </a:r>
            <a:r>
              <a:rPr lang="en" sz="1200">
                <a:solidFill>
                  <a:srgbClr val="FFAB40"/>
                </a:solidFill>
                <a:uFill>
                  <a:noFill/>
                </a:uFill>
                <a:latin typeface="Raleway"/>
                <a:ea typeface="Raleway"/>
                <a:cs typeface="Raleway"/>
                <a:sym typeface="Raleway"/>
                <a:hlinkClick r:id="rId7">
                  <a:extLst>
                    <a:ext uri="{A12FA001-AC4F-418D-AE19-62706E023703}">
                      <ahyp:hlinkClr val="tx"/>
                    </a:ext>
                  </a:extLst>
                </a:hlinkClick>
              </a:rPr>
              <a:t> </a:t>
            </a:r>
            <a:r>
              <a:rPr lang="en" sz="1200" u="sng">
                <a:solidFill>
                  <a:schemeClr val="hlink"/>
                </a:solidFill>
                <a:latin typeface="Raleway"/>
                <a:ea typeface="Raleway"/>
                <a:cs typeface="Raleway"/>
                <a:sym typeface="Raleway"/>
                <a:hlinkClick r:id="rId8"/>
              </a:rPr>
              <a:t>Figma</a:t>
            </a:r>
            <a:r>
              <a:rPr lang="en" sz="1200">
                <a:solidFill>
                  <a:srgbClr val="FFAB40"/>
                </a:solidFill>
                <a:latin typeface="Raleway"/>
                <a:ea typeface="Raleway"/>
                <a:cs typeface="Raleway"/>
                <a:sym typeface="Raleway"/>
              </a:rPr>
              <a:t>, </a:t>
            </a:r>
            <a:r>
              <a:rPr lang="en" sz="1200">
                <a:solidFill>
                  <a:schemeClr val="dk1"/>
                </a:solidFill>
                <a:latin typeface="Raleway"/>
                <a:ea typeface="Raleway"/>
                <a:cs typeface="Raleway"/>
                <a:sym typeface="Raleway"/>
              </a:rPr>
              <a:t>dan</a:t>
            </a:r>
            <a:r>
              <a:rPr lang="en" sz="1200">
                <a:solidFill>
                  <a:srgbClr val="FFAB40"/>
                </a:solidFill>
                <a:uFill>
                  <a:noFill/>
                </a:uFill>
                <a:latin typeface="Raleway"/>
                <a:ea typeface="Raleway"/>
                <a:cs typeface="Raleway"/>
                <a:sym typeface="Raleway"/>
                <a:hlinkClick r:id="rId9">
                  <a:extLst>
                    <a:ext uri="{A12FA001-AC4F-418D-AE19-62706E023703}">
                      <ahyp:hlinkClr val="tx"/>
                    </a:ext>
                  </a:extLst>
                </a:hlinkClick>
              </a:rPr>
              <a:t> </a:t>
            </a:r>
            <a:r>
              <a:rPr lang="en" sz="1200" u="sng">
                <a:solidFill>
                  <a:schemeClr val="hlink"/>
                </a:solidFill>
                <a:latin typeface="Raleway"/>
                <a:ea typeface="Raleway"/>
                <a:cs typeface="Raleway"/>
                <a:sym typeface="Raleway"/>
                <a:hlinkClick r:id="rId10"/>
              </a:rPr>
              <a:t>Invision Studio.</a:t>
            </a:r>
            <a:endParaRPr sz="1200" u="sng">
              <a:solidFill>
                <a:schemeClr val="hlink"/>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59" name="Google Shape;159;p24"/>
          <p:cNvPicPr preferRelativeResize="0"/>
          <p:nvPr/>
        </p:nvPicPr>
        <p:blipFill>
          <a:blip r:embed="rId11">
            <a:alphaModFix/>
          </a:blip>
          <a:stretch>
            <a:fillRect/>
          </a:stretch>
        </p:blipFill>
        <p:spPr>
          <a:xfrm>
            <a:off x="4800600" y="1533938"/>
            <a:ext cx="4038601" cy="187445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5" name="Google Shape;165;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wireframing</a:t>
            </a:r>
            <a:endParaRPr/>
          </a:p>
        </p:txBody>
      </p:sp>
      <p:sp>
        <p:nvSpPr>
          <p:cNvPr id="166" name="Google Shape;166;p25"/>
          <p:cNvSpPr txBox="1"/>
          <p:nvPr/>
        </p:nvSpPr>
        <p:spPr>
          <a:xfrm>
            <a:off x="487625"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Clr>
                <a:schemeClr val="dk1"/>
              </a:buClr>
              <a:buSzPts val="1100"/>
              <a:buFont typeface="Arial"/>
              <a:buNone/>
            </a:pPr>
            <a:r>
              <a:rPr b="1" lang="en" sz="1200">
                <a:solidFill>
                  <a:srgbClr val="FFAB40"/>
                </a:solidFill>
                <a:latin typeface="Montserrat"/>
                <a:ea typeface="Montserrat"/>
                <a:cs typeface="Montserrat"/>
                <a:sym typeface="Montserrat"/>
              </a:rPr>
              <a:t>Graphic Design Software</a:t>
            </a:r>
            <a:endParaRPr b="1" sz="1200">
              <a:solidFill>
                <a:srgbClr val="FFAB40"/>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200">
                <a:solidFill>
                  <a:schemeClr val="dk1"/>
                </a:solidFill>
                <a:latin typeface="Montserrat"/>
                <a:ea typeface="Montserrat"/>
                <a:cs typeface="Montserrat"/>
                <a:sym typeface="Montserrat"/>
              </a:rPr>
              <a:t>Beberapa desainer lebih memilih untuk membuat mockup dengan software desain grafis yang sudah sering digunakan, misalnya seperti</a:t>
            </a:r>
            <a:r>
              <a:rPr lang="en" sz="1200">
                <a:solidFill>
                  <a:schemeClr val="dk1"/>
                </a:solidFill>
                <a:uFill>
                  <a:noFill/>
                </a:uFill>
                <a:latin typeface="Montserrat"/>
                <a:ea typeface="Montserrat"/>
                <a:cs typeface="Montserrat"/>
                <a:sym typeface="Montserrat"/>
                <a:hlinkClick r:id="rId3">
                  <a:extLst>
                    <a:ext uri="{A12FA001-AC4F-418D-AE19-62706E023703}">
                      <ahyp:hlinkClr val="tx"/>
                    </a:ext>
                  </a:extLst>
                </a:hlinkClick>
              </a:rPr>
              <a:t> </a:t>
            </a:r>
            <a:r>
              <a:rPr b="1" lang="en" sz="1200" u="sng">
                <a:solidFill>
                  <a:schemeClr val="hlink"/>
                </a:solidFill>
                <a:latin typeface="Montserrat"/>
                <a:ea typeface="Montserrat"/>
                <a:cs typeface="Montserrat"/>
                <a:sym typeface="Montserrat"/>
                <a:hlinkClick r:id="rId4"/>
              </a:rPr>
              <a:t>Adobe Photoshop</a:t>
            </a:r>
            <a:r>
              <a:rPr b="1" lang="en" sz="1200">
                <a:solidFill>
                  <a:srgbClr val="FFAB40"/>
                </a:solidFill>
                <a:latin typeface="Montserrat"/>
                <a:ea typeface="Montserrat"/>
                <a:cs typeface="Montserrat"/>
                <a:sym typeface="Montserrat"/>
              </a:rPr>
              <a:t>,</a:t>
            </a:r>
            <a:r>
              <a:rPr b="1" lang="en" sz="1200">
                <a:solidFill>
                  <a:srgbClr val="FFAB40"/>
                </a:solidFill>
                <a:uFill>
                  <a:noFill/>
                </a:uFill>
                <a:latin typeface="Montserrat"/>
                <a:ea typeface="Montserrat"/>
                <a:cs typeface="Montserrat"/>
                <a:sym typeface="Montserrat"/>
                <a:hlinkClick r:id="rId5">
                  <a:extLst>
                    <a:ext uri="{A12FA001-AC4F-418D-AE19-62706E023703}">
                      <ahyp:hlinkClr val="tx"/>
                    </a:ext>
                  </a:extLst>
                </a:hlinkClick>
              </a:rPr>
              <a:t> </a:t>
            </a:r>
            <a:r>
              <a:rPr b="1" lang="en" sz="1200" u="sng">
                <a:solidFill>
                  <a:schemeClr val="hlink"/>
                </a:solidFill>
                <a:latin typeface="Montserrat"/>
                <a:ea typeface="Montserrat"/>
                <a:cs typeface="Montserrat"/>
                <a:sym typeface="Montserrat"/>
                <a:hlinkClick r:id="rId6"/>
              </a:rPr>
              <a:t>Adobe Illustrator</a:t>
            </a:r>
            <a:r>
              <a:rPr b="1" lang="en" sz="1200">
                <a:solidFill>
                  <a:srgbClr val="FFAB40"/>
                </a:solidFill>
                <a:latin typeface="Montserrat"/>
                <a:ea typeface="Montserrat"/>
                <a:cs typeface="Montserrat"/>
                <a:sym typeface="Montserrat"/>
              </a:rPr>
              <a:t>,</a:t>
            </a:r>
            <a:r>
              <a:rPr lang="en" sz="1200">
                <a:solidFill>
                  <a:schemeClr val="dk1"/>
                </a:solidFill>
                <a:latin typeface="Montserrat"/>
                <a:ea typeface="Montserrat"/>
                <a:cs typeface="Montserrat"/>
                <a:sym typeface="Montserrat"/>
              </a:rPr>
              <a:t> dsb.</a:t>
            </a:r>
            <a:endParaRPr sz="1200">
              <a:solidFill>
                <a:schemeClr val="dk1"/>
              </a:solidFill>
              <a:latin typeface="Montserrat"/>
              <a:ea typeface="Montserrat"/>
              <a:cs typeface="Montserrat"/>
              <a:sym typeface="Montserrat"/>
            </a:endParaRPr>
          </a:p>
        </p:txBody>
      </p:sp>
      <p:pic>
        <p:nvPicPr>
          <p:cNvPr id="167" name="Google Shape;167;p25"/>
          <p:cNvPicPr preferRelativeResize="0"/>
          <p:nvPr/>
        </p:nvPicPr>
        <p:blipFill>
          <a:blip r:embed="rId7">
            <a:alphaModFix/>
          </a:blip>
          <a:stretch>
            <a:fillRect/>
          </a:stretch>
        </p:blipFill>
        <p:spPr>
          <a:xfrm>
            <a:off x="5330325" y="1822710"/>
            <a:ext cx="3159450" cy="1498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Peralatan prototyping</a:t>
            </a:r>
            <a:endParaRPr>
              <a:solidFill>
                <a:schemeClr val="accent1"/>
              </a:solidFill>
            </a:endParaRPr>
          </a:p>
        </p:txBody>
      </p:sp>
      <p:sp>
        <p:nvSpPr>
          <p:cNvPr id="173" name="Google Shape;173;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9" name="Google Shape;179;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prototyping</a:t>
            </a:r>
            <a:endParaRPr/>
          </a:p>
        </p:txBody>
      </p:sp>
      <p:sp>
        <p:nvSpPr>
          <p:cNvPr id="180" name="Google Shape;180;p2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Proses desain vs prototyping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Proses desain mencakup semua proses yang dilakukan dalam merancang sebuah produk, termasuk proses pembuatan prototipe.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Prototipe adalah sampel awal, model, atau rilis produk yang dibangun untuk menguji konsep atau proses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81" name="Google Shape;181;p27">
            <a:hlinkClick r:id="rId3"/>
          </p:cNvPr>
          <p:cNvPicPr preferRelativeResize="0"/>
          <p:nvPr/>
        </p:nvPicPr>
        <p:blipFill rotWithShape="1">
          <a:blip r:embed="rId4">
            <a:alphaModFix/>
          </a:blip>
          <a:srcRect b="0" l="0" r="17498" t="0"/>
          <a:stretch/>
        </p:blipFill>
        <p:spPr>
          <a:xfrm>
            <a:off x="5486400" y="1280150"/>
            <a:ext cx="3017523" cy="274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7" name="Google Shape;187;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prototyping</a:t>
            </a:r>
            <a:endParaRPr/>
          </a:p>
        </p:txBody>
      </p:sp>
      <p:pic>
        <p:nvPicPr>
          <p:cNvPr id="188" name="Google Shape;188;p28"/>
          <p:cNvPicPr preferRelativeResize="0"/>
          <p:nvPr/>
        </p:nvPicPr>
        <p:blipFill rotWithShape="1">
          <a:blip r:embed="rId3">
            <a:alphaModFix/>
          </a:blip>
          <a:srcRect b="0" l="0" r="0" t="0"/>
          <a:stretch/>
        </p:blipFill>
        <p:spPr>
          <a:xfrm>
            <a:off x="1233000" y="1746810"/>
            <a:ext cx="1371599" cy="1371601"/>
          </a:xfrm>
          <a:prstGeom prst="rect">
            <a:avLst/>
          </a:prstGeom>
          <a:noFill/>
          <a:ln>
            <a:noFill/>
          </a:ln>
        </p:spPr>
      </p:pic>
      <p:sp>
        <p:nvSpPr>
          <p:cNvPr id="189" name="Google Shape;189;p28"/>
          <p:cNvSpPr txBox="1"/>
          <p:nvPr/>
        </p:nvSpPr>
        <p:spPr>
          <a:xfrm>
            <a:off x="1393800" y="3270810"/>
            <a:ext cx="105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aleway"/>
                <a:ea typeface="Raleway"/>
                <a:cs typeface="Raleway"/>
                <a:sym typeface="Raleway"/>
              </a:rPr>
              <a:t>Adobe XD</a:t>
            </a:r>
            <a:endParaRPr b="1" sz="1200">
              <a:latin typeface="Raleway"/>
              <a:ea typeface="Raleway"/>
              <a:cs typeface="Raleway"/>
              <a:sym typeface="Raleway"/>
            </a:endParaRPr>
          </a:p>
        </p:txBody>
      </p:sp>
      <p:pic>
        <p:nvPicPr>
          <p:cNvPr id="190" name="Google Shape;190;p28"/>
          <p:cNvPicPr preferRelativeResize="0"/>
          <p:nvPr/>
        </p:nvPicPr>
        <p:blipFill rotWithShape="1">
          <a:blip r:embed="rId4">
            <a:alphaModFix/>
          </a:blip>
          <a:srcRect b="-22025" l="-15323" r="-15310" t="-22025"/>
          <a:stretch/>
        </p:blipFill>
        <p:spPr>
          <a:xfrm>
            <a:off x="2966200" y="1746810"/>
            <a:ext cx="1371600" cy="1371600"/>
          </a:xfrm>
          <a:prstGeom prst="rect">
            <a:avLst/>
          </a:prstGeom>
          <a:noFill/>
          <a:ln>
            <a:noFill/>
          </a:ln>
        </p:spPr>
      </p:pic>
      <p:sp>
        <p:nvSpPr>
          <p:cNvPr id="191" name="Google Shape;191;p28"/>
          <p:cNvSpPr txBox="1"/>
          <p:nvPr/>
        </p:nvSpPr>
        <p:spPr>
          <a:xfrm>
            <a:off x="3127000" y="3270810"/>
            <a:ext cx="105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aleway"/>
                <a:ea typeface="Raleway"/>
                <a:cs typeface="Raleway"/>
                <a:sym typeface="Raleway"/>
              </a:rPr>
              <a:t>Sketch</a:t>
            </a:r>
            <a:endParaRPr b="1" sz="1200">
              <a:latin typeface="Raleway"/>
              <a:ea typeface="Raleway"/>
              <a:cs typeface="Raleway"/>
              <a:sym typeface="Raleway"/>
            </a:endParaRPr>
          </a:p>
        </p:txBody>
      </p:sp>
      <p:pic>
        <p:nvPicPr>
          <p:cNvPr id="192" name="Google Shape;192;p28"/>
          <p:cNvPicPr preferRelativeResize="0"/>
          <p:nvPr/>
        </p:nvPicPr>
        <p:blipFill rotWithShape="1">
          <a:blip r:embed="rId5">
            <a:alphaModFix/>
          </a:blip>
          <a:srcRect b="0" l="22587" r="22587" t="0"/>
          <a:stretch/>
        </p:blipFill>
        <p:spPr>
          <a:xfrm>
            <a:off x="4738775" y="1746810"/>
            <a:ext cx="1371598" cy="1371600"/>
          </a:xfrm>
          <a:prstGeom prst="rect">
            <a:avLst/>
          </a:prstGeom>
          <a:noFill/>
          <a:ln>
            <a:noFill/>
          </a:ln>
        </p:spPr>
      </p:pic>
      <p:sp>
        <p:nvSpPr>
          <p:cNvPr id="193" name="Google Shape;193;p28"/>
          <p:cNvSpPr txBox="1"/>
          <p:nvPr/>
        </p:nvSpPr>
        <p:spPr>
          <a:xfrm>
            <a:off x="4899575" y="3270810"/>
            <a:ext cx="105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aleway"/>
                <a:ea typeface="Raleway"/>
                <a:cs typeface="Raleway"/>
                <a:sym typeface="Raleway"/>
              </a:rPr>
              <a:t>Figma</a:t>
            </a:r>
            <a:endParaRPr b="1" sz="1200">
              <a:latin typeface="Raleway"/>
              <a:ea typeface="Raleway"/>
              <a:cs typeface="Raleway"/>
              <a:sym typeface="Raleway"/>
            </a:endParaRPr>
          </a:p>
        </p:txBody>
      </p:sp>
      <p:sp>
        <p:nvSpPr>
          <p:cNvPr id="194" name="Google Shape;194;p28"/>
          <p:cNvSpPr txBox="1"/>
          <p:nvPr/>
        </p:nvSpPr>
        <p:spPr>
          <a:xfrm>
            <a:off x="6511350" y="3270810"/>
            <a:ext cx="1371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aleway"/>
                <a:ea typeface="Raleway"/>
                <a:cs typeface="Raleway"/>
                <a:sym typeface="Raleway"/>
              </a:rPr>
              <a:t>Google Slides</a:t>
            </a:r>
            <a:endParaRPr b="1" sz="1200">
              <a:latin typeface="Raleway"/>
              <a:ea typeface="Raleway"/>
              <a:cs typeface="Raleway"/>
              <a:sym typeface="Raleway"/>
            </a:endParaRPr>
          </a:p>
        </p:txBody>
      </p:sp>
      <p:pic>
        <p:nvPicPr>
          <p:cNvPr id="195" name="Google Shape;195;p28"/>
          <p:cNvPicPr preferRelativeResize="0"/>
          <p:nvPr/>
        </p:nvPicPr>
        <p:blipFill rotWithShape="1">
          <a:blip r:embed="rId6">
            <a:alphaModFix/>
          </a:blip>
          <a:srcRect b="1960" l="0" r="0" t="1960"/>
          <a:stretch/>
        </p:blipFill>
        <p:spPr>
          <a:xfrm>
            <a:off x="6539400" y="1746823"/>
            <a:ext cx="1371600" cy="1371600"/>
          </a:xfrm>
          <a:prstGeom prst="rect">
            <a:avLst/>
          </a:prstGeom>
          <a:noFill/>
          <a:ln>
            <a:noFill/>
          </a:ln>
        </p:spPr>
      </p:pic>
      <p:sp>
        <p:nvSpPr>
          <p:cNvPr id="196" name="Google Shape;196;p28"/>
          <p:cNvSpPr txBox="1"/>
          <p:nvPr/>
        </p:nvSpPr>
        <p:spPr>
          <a:xfrm>
            <a:off x="545550" y="873775"/>
            <a:ext cx="8052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Prototyping</a:t>
            </a:r>
            <a:r>
              <a:rPr b="1" lang="en" sz="1800">
                <a:solidFill>
                  <a:srgbClr val="743673"/>
                </a:solidFill>
                <a:highlight>
                  <a:schemeClr val="lt1"/>
                </a:highlight>
                <a:latin typeface="Raleway"/>
                <a:ea typeface="Raleway"/>
                <a:cs typeface="Raleway"/>
                <a:sym typeface="Raleway"/>
              </a:rPr>
              <a:t> tools yang bisa kita gunakan: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2" name="Google Shape;202;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prototyping</a:t>
            </a:r>
            <a:endParaRPr/>
          </a:p>
        </p:txBody>
      </p:sp>
      <p:pic>
        <p:nvPicPr>
          <p:cNvPr id="203" name="Google Shape;203;p29"/>
          <p:cNvPicPr preferRelativeResize="0"/>
          <p:nvPr/>
        </p:nvPicPr>
        <p:blipFill rotWithShape="1">
          <a:blip r:embed="rId3">
            <a:alphaModFix/>
          </a:blip>
          <a:srcRect b="0" l="65832" r="0" t="0"/>
          <a:stretch/>
        </p:blipFill>
        <p:spPr>
          <a:xfrm>
            <a:off x="2133313" y="1746810"/>
            <a:ext cx="1371600" cy="1371600"/>
          </a:xfrm>
          <a:prstGeom prst="rect">
            <a:avLst/>
          </a:prstGeom>
          <a:noFill/>
          <a:ln>
            <a:noFill/>
          </a:ln>
        </p:spPr>
      </p:pic>
      <p:sp>
        <p:nvSpPr>
          <p:cNvPr id="204" name="Google Shape;204;p29"/>
          <p:cNvSpPr txBox="1"/>
          <p:nvPr/>
        </p:nvSpPr>
        <p:spPr>
          <a:xfrm>
            <a:off x="2294113" y="3270810"/>
            <a:ext cx="105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aleway"/>
                <a:ea typeface="Raleway"/>
                <a:cs typeface="Raleway"/>
                <a:sym typeface="Raleway"/>
              </a:rPr>
              <a:t>InVision</a:t>
            </a:r>
            <a:endParaRPr b="1" sz="1200">
              <a:latin typeface="Raleway"/>
              <a:ea typeface="Raleway"/>
              <a:cs typeface="Raleway"/>
              <a:sym typeface="Raleway"/>
            </a:endParaRPr>
          </a:p>
        </p:txBody>
      </p:sp>
      <p:pic>
        <p:nvPicPr>
          <p:cNvPr id="205" name="Google Shape;205;p29"/>
          <p:cNvPicPr preferRelativeResize="0"/>
          <p:nvPr/>
        </p:nvPicPr>
        <p:blipFill rotWithShape="1">
          <a:blip r:embed="rId4">
            <a:alphaModFix/>
          </a:blip>
          <a:srcRect b="18300" l="1672" r="1672" t="0"/>
          <a:stretch/>
        </p:blipFill>
        <p:spPr>
          <a:xfrm>
            <a:off x="3966600" y="1746810"/>
            <a:ext cx="1371601" cy="1371602"/>
          </a:xfrm>
          <a:prstGeom prst="rect">
            <a:avLst/>
          </a:prstGeom>
          <a:noFill/>
          <a:ln>
            <a:noFill/>
          </a:ln>
        </p:spPr>
      </p:pic>
      <p:sp>
        <p:nvSpPr>
          <p:cNvPr id="206" name="Google Shape;206;p29"/>
          <p:cNvSpPr txBox="1"/>
          <p:nvPr/>
        </p:nvSpPr>
        <p:spPr>
          <a:xfrm>
            <a:off x="4127400" y="3270810"/>
            <a:ext cx="105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aleway"/>
                <a:ea typeface="Raleway"/>
                <a:cs typeface="Raleway"/>
                <a:sym typeface="Raleway"/>
              </a:rPr>
              <a:t>Axure</a:t>
            </a:r>
            <a:endParaRPr b="1" sz="1200">
              <a:latin typeface="Raleway"/>
              <a:ea typeface="Raleway"/>
              <a:cs typeface="Raleway"/>
              <a:sym typeface="Raleway"/>
            </a:endParaRPr>
          </a:p>
        </p:txBody>
      </p:sp>
      <p:pic>
        <p:nvPicPr>
          <p:cNvPr id="207" name="Google Shape;207;p29"/>
          <p:cNvPicPr preferRelativeResize="0"/>
          <p:nvPr/>
        </p:nvPicPr>
        <p:blipFill rotWithShape="1">
          <a:blip r:embed="rId5">
            <a:alphaModFix/>
          </a:blip>
          <a:srcRect b="-19560" l="9002" r="9010" t="-19560"/>
          <a:stretch/>
        </p:blipFill>
        <p:spPr>
          <a:xfrm>
            <a:off x="5639088" y="1746810"/>
            <a:ext cx="1371599" cy="1371600"/>
          </a:xfrm>
          <a:prstGeom prst="rect">
            <a:avLst/>
          </a:prstGeom>
          <a:noFill/>
          <a:ln cap="flat" cmpd="sng" w="9525">
            <a:solidFill>
              <a:srgbClr val="FFFFFF"/>
            </a:solidFill>
            <a:prstDash val="solid"/>
            <a:round/>
            <a:headEnd len="sm" w="sm" type="none"/>
            <a:tailEnd len="sm" w="sm" type="none"/>
          </a:ln>
        </p:spPr>
      </p:pic>
      <p:sp>
        <p:nvSpPr>
          <p:cNvPr id="208" name="Google Shape;208;p29"/>
          <p:cNvSpPr txBox="1"/>
          <p:nvPr/>
        </p:nvSpPr>
        <p:spPr>
          <a:xfrm>
            <a:off x="5799888" y="3270810"/>
            <a:ext cx="105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aleway"/>
                <a:ea typeface="Raleway"/>
                <a:cs typeface="Raleway"/>
                <a:sym typeface="Raleway"/>
              </a:rPr>
              <a:t>Proto.io</a:t>
            </a:r>
            <a:endParaRPr b="1" sz="1200">
              <a:latin typeface="Raleway"/>
              <a:ea typeface="Raleway"/>
              <a:cs typeface="Raleway"/>
              <a:sym typeface="Ralew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Peralatan kolaborasi proyek</a:t>
            </a:r>
            <a:endParaRPr>
              <a:solidFill>
                <a:schemeClr val="accent1"/>
              </a:solidFill>
            </a:endParaRPr>
          </a:p>
        </p:txBody>
      </p:sp>
      <p:sp>
        <p:nvSpPr>
          <p:cNvPr id="214" name="Google Shape;214;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0" name="Google Shape;220;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221" name="Google Shape;221;p3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Manajemen proyek kolaboratif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Manajemen proyek kolaboratif adalah metode yang digunakan untuk merencanakan, mengoordinasikan, mengontrol, dan memantau proyek yang terdistribusi dan kompleks.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Hal ini memungkinkan tim proyek untuk berkolaborasi lintas departemen, perusahaan, dan batas-batas nasional dan untuk menguasai kompleksitas proyek yang berkembang.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22" name="Google Shape;222;p31">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8" name="Google Shape;228;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229" name="Google Shape;229;p3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Manajemen proyek kolaboratif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Jenis - jenis peralatan (tools) untuk manajemen proyek kolaboratif: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Communication tools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Collaboration and Tracking tools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Document sharing tools</a:t>
            </a:r>
            <a:endParaRPr sz="1200">
              <a:solidFill>
                <a:schemeClr val="dk1"/>
              </a:solidFill>
              <a:latin typeface="Raleway Medium"/>
              <a:ea typeface="Raleway Medium"/>
              <a:cs typeface="Raleway Medium"/>
              <a:sym typeface="Raleway Medium"/>
            </a:endParaRPr>
          </a:p>
        </p:txBody>
      </p:sp>
      <p:pic>
        <p:nvPicPr>
          <p:cNvPr id="230" name="Google Shape;230;p32">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33">
            <a:hlinkClick r:id="rId3"/>
          </p:cNvPr>
          <p:cNvPicPr preferRelativeResize="0"/>
          <p:nvPr/>
        </p:nvPicPr>
        <p:blipFill rotWithShape="1">
          <a:blip r:embed="rId4">
            <a:alphaModFix/>
          </a:blip>
          <a:srcRect b="10288" l="4101" r="3314" t="6467"/>
          <a:stretch/>
        </p:blipFill>
        <p:spPr>
          <a:xfrm>
            <a:off x="4038599" y="1280149"/>
            <a:ext cx="4572000" cy="2743206"/>
          </a:xfrm>
          <a:prstGeom prst="rect">
            <a:avLst/>
          </a:prstGeom>
          <a:noFill/>
          <a:ln>
            <a:noFill/>
          </a:ln>
        </p:spPr>
      </p:pic>
      <p:sp>
        <p:nvSpPr>
          <p:cNvPr id="236" name="Google Shape;236;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7" name="Google Shape;237;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238" name="Google Shape;238;p33"/>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Communication tool #1: Slack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Slack adalah alat kolaborasi yang menawarkan komunikasi waktu nyata, berbagi file, pengarsipan, dan fungsi pencarian antar anggota tim.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dapat membuat beberapa saluran untuk berbagai kategori atau departemen seperti desain UX, pengembangan web, manajemen proyek, dll.</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34">
            <a:hlinkClick r:id="rId3"/>
          </p:cNvPr>
          <p:cNvPicPr preferRelativeResize="0"/>
          <p:nvPr/>
        </p:nvPicPr>
        <p:blipFill rotWithShape="1">
          <a:blip r:embed="rId4">
            <a:alphaModFix/>
          </a:blip>
          <a:srcRect b="0" l="219" r="219" t="0"/>
          <a:stretch/>
        </p:blipFill>
        <p:spPr>
          <a:xfrm>
            <a:off x="4044599" y="1280149"/>
            <a:ext cx="4572001" cy="2743206"/>
          </a:xfrm>
          <a:prstGeom prst="rect">
            <a:avLst/>
          </a:prstGeom>
          <a:noFill/>
          <a:ln>
            <a:noFill/>
          </a:ln>
        </p:spPr>
      </p:pic>
      <p:sp>
        <p:nvSpPr>
          <p:cNvPr id="244" name="Google Shape;244;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5" name="Google Shape;245;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246" name="Google Shape;246;p34"/>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Communication tool #2: Yammer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Yammer menyatukan tim kecil, menengah, dan besar serta membantu perusahaan meningkatkan kolaborasi. Yang membuat Yammer unik adalah fokus yang kuat pada privasi—hanya orang dari domain yang sama yang dapat mengakses ruang.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Yammer membantu Anda membentuk komunitas tempat orang dapat berinteraksi satu sama lain berdasarkan minat mereka dan berbagi ide serta pendapat.</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35">
            <a:hlinkClick r:id="rId3"/>
          </p:cNvPr>
          <p:cNvPicPr preferRelativeResize="0"/>
          <p:nvPr/>
        </p:nvPicPr>
        <p:blipFill rotWithShape="1">
          <a:blip r:embed="rId4">
            <a:alphaModFix/>
          </a:blip>
          <a:srcRect b="0" l="-10595" r="0" t="0"/>
          <a:stretch/>
        </p:blipFill>
        <p:spPr>
          <a:xfrm>
            <a:off x="4094634" y="1236524"/>
            <a:ext cx="4571989" cy="2743200"/>
          </a:xfrm>
          <a:prstGeom prst="rect">
            <a:avLst/>
          </a:prstGeom>
          <a:noFill/>
          <a:ln>
            <a:noFill/>
          </a:ln>
        </p:spPr>
      </p:pic>
      <p:sp>
        <p:nvSpPr>
          <p:cNvPr id="252" name="Google Shape;252;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3" name="Google Shape;253;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254" name="Google Shape;254;p35"/>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Communication tool #3: Google Hangouts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Google Hangouts adalah aplikasi perpesanan instan gratis yang memungkinkan Anda mengobrol dan berbicara dengan kolega Anda kapan saja, di mana saja.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Keuntungan utama dari Hangouts adalah kesederhanaannya. Ini dapat diakses oleh pengguna dengan berbagai keterampilan teknologi</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36"/>
          <p:cNvPicPr preferRelativeResize="0"/>
          <p:nvPr/>
        </p:nvPicPr>
        <p:blipFill rotWithShape="1">
          <a:blip r:embed="rId3">
            <a:alphaModFix/>
          </a:blip>
          <a:srcRect b="0" l="0" r="6402" t="0"/>
          <a:stretch/>
        </p:blipFill>
        <p:spPr>
          <a:xfrm>
            <a:off x="4094624" y="1236524"/>
            <a:ext cx="4572001" cy="2743206"/>
          </a:xfrm>
          <a:prstGeom prst="rect">
            <a:avLst/>
          </a:prstGeom>
          <a:noFill/>
          <a:ln>
            <a:noFill/>
          </a:ln>
        </p:spPr>
      </p:pic>
      <p:sp>
        <p:nvSpPr>
          <p:cNvPr id="260" name="Google Shape;260;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1" name="Google Shape;261;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262" name="Google Shape;262;p36"/>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Collaboration and tracking</a:t>
            </a:r>
            <a:r>
              <a:rPr b="1" lang="en" sz="1800">
                <a:solidFill>
                  <a:srgbClr val="743673"/>
                </a:solidFill>
                <a:highlight>
                  <a:schemeClr val="lt1"/>
                </a:highlight>
                <a:latin typeface="Raleway"/>
                <a:ea typeface="Raleway"/>
                <a:cs typeface="Raleway"/>
                <a:sym typeface="Raleway"/>
              </a:rPr>
              <a:t> tool #1: Trello</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Trello saat ini adalah salah satu aplikasi manajemen kolaborasi paling populer. Ini memungkinkan anggota tim untuk membuat dan mendistribusikan proyek, serta mengkategorikan item melalui platform dengan cara yang sangat sederhana. Ini juga memungkinkan Anda untuk melacak kemajuan proyek kapan saja.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37"/>
          <p:cNvPicPr preferRelativeResize="0"/>
          <p:nvPr/>
        </p:nvPicPr>
        <p:blipFill rotWithShape="1">
          <a:blip r:embed="rId3">
            <a:alphaModFix/>
          </a:blip>
          <a:srcRect b="11509" l="0" r="0" t="-1567"/>
          <a:stretch/>
        </p:blipFill>
        <p:spPr>
          <a:xfrm>
            <a:off x="4094625" y="1236524"/>
            <a:ext cx="4572001" cy="2743206"/>
          </a:xfrm>
          <a:prstGeom prst="rect">
            <a:avLst/>
          </a:prstGeom>
          <a:noFill/>
          <a:ln>
            <a:noFill/>
          </a:ln>
        </p:spPr>
      </p:pic>
      <p:sp>
        <p:nvSpPr>
          <p:cNvPr id="268" name="Google Shape;268;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9" name="Google Shape;269;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270" name="Google Shape;270;p37"/>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Collaboration and tracking tool #2: Asana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Asana adalah salah satu alat manajemen kolaborasi proyek terkemuka saat ini. Ini adalah platform all-in-one termasuk email, dokumen kantor, dan komunikasi.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dapat mengatur semua proyek Anda dalam daftar atau papan. Anda dapat membuat tugas secara langsung dan mengundang anggota tim untuk bergabung dengan proyek. Anda dapat mengatur tenggat waktu agar tugas individu berjalan sesuai rencana.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38"/>
          <p:cNvPicPr preferRelativeResize="0"/>
          <p:nvPr/>
        </p:nvPicPr>
        <p:blipFill rotWithShape="1">
          <a:blip r:embed="rId3">
            <a:alphaModFix/>
          </a:blip>
          <a:srcRect b="-6675" l="0" r="0" t="-6664"/>
          <a:stretch/>
        </p:blipFill>
        <p:spPr>
          <a:xfrm>
            <a:off x="4094625" y="1236524"/>
            <a:ext cx="4572002" cy="2743207"/>
          </a:xfrm>
          <a:prstGeom prst="rect">
            <a:avLst/>
          </a:prstGeom>
          <a:noFill/>
          <a:ln>
            <a:noFill/>
          </a:ln>
        </p:spPr>
      </p:pic>
      <p:sp>
        <p:nvSpPr>
          <p:cNvPr id="276" name="Google Shape;276;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278" name="Google Shape;278;p38"/>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Collaboration and tracking tool #3: monday.com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monday.com adalah Sistem Operasi Kerja (Work OS) yang mendukung tim untuk menjalankan proyek dan alur kerja dengan mandiri.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Ini adalah OS Kerja yang sederhana dan intuitif, memudahkan tim untuk membentuk alur kerja, menyesuaikan dengan perubahan kebutuhan, menciptakan transparansi, terhubung secara kolaboratif.</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39">
            <a:hlinkClick r:id="rId3"/>
          </p:cNvPr>
          <p:cNvPicPr preferRelativeResize="0"/>
          <p:nvPr/>
        </p:nvPicPr>
        <p:blipFill rotWithShape="1">
          <a:blip r:embed="rId4">
            <a:alphaModFix/>
          </a:blip>
          <a:srcRect b="0" l="8826" r="8834" t="0"/>
          <a:stretch/>
        </p:blipFill>
        <p:spPr>
          <a:xfrm>
            <a:off x="4094624" y="1236524"/>
            <a:ext cx="4572001" cy="2743206"/>
          </a:xfrm>
          <a:prstGeom prst="rect">
            <a:avLst/>
          </a:prstGeom>
          <a:noFill/>
          <a:ln>
            <a:noFill/>
          </a:ln>
        </p:spPr>
      </p:pic>
      <p:sp>
        <p:nvSpPr>
          <p:cNvPr id="284" name="Google Shape;284;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5" name="Google Shape;285;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286" name="Google Shape;286;p39"/>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Document sharing </a:t>
            </a:r>
            <a:r>
              <a:rPr b="1" lang="en" sz="1800">
                <a:solidFill>
                  <a:srgbClr val="743673"/>
                </a:solidFill>
                <a:highlight>
                  <a:schemeClr val="lt1"/>
                </a:highlight>
                <a:latin typeface="Raleway"/>
                <a:ea typeface="Raleway"/>
                <a:cs typeface="Raleway"/>
                <a:sym typeface="Raleway"/>
              </a:rPr>
              <a:t>tool #1: Trello</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Google Documents adalah alat kantor kolaboratif online yang memungkinkan Anda membuat, mengedit, dan berkolaborasi pada dokumen kapan saja, di mana saja - dan gratis.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p40">
            <a:hlinkClick r:id="rId3"/>
          </p:cNvPr>
          <p:cNvPicPr preferRelativeResize="0"/>
          <p:nvPr/>
        </p:nvPicPr>
        <p:blipFill rotWithShape="1">
          <a:blip r:embed="rId4">
            <a:alphaModFix/>
          </a:blip>
          <a:srcRect b="0" l="9827" r="9819" t="0"/>
          <a:stretch/>
        </p:blipFill>
        <p:spPr>
          <a:xfrm>
            <a:off x="4094634" y="1236524"/>
            <a:ext cx="4571989" cy="2743200"/>
          </a:xfrm>
          <a:prstGeom prst="rect">
            <a:avLst/>
          </a:prstGeom>
          <a:noFill/>
          <a:ln>
            <a:noFill/>
          </a:ln>
        </p:spPr>
      </p:pic>
      <p:sp>
        <p:nvSpPr>
          <p:cNvPr id="292" name="Google Shape;292;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3" name="Google Shape;293;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294" name="Google Shape;294;p40"/>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Document sharing tool #2: Quip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Quip juga merupakan alat pemrosesan dokumen untuk kolaborasi tim, memungkinkan banyak orang mengedit dokumen secara bersamaan. Tidak seperti produk lain, Quip mendukung pesan instan, Anda bisa langsung berkomunikasi dengan anggota tim lainnya. Quip memungkinkan pengguna menyelesaikan pekerjaannya lebih cepat dengan mengurangi email dan rapat.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41">
            <a:hlinkClick r:id="rId3"/>
          </p:cNvPr>
          <p:cNvPicPr preferRelativeResize="0"/>
          <p:nvPr/>
        </p:nvPicPr>
        <p:blipFill rotWithShape="1">
          <a:blip r:embed="rId4">
            <a:alphaModFix/>
          </a:blip>
          <a:srcRect b="0" l="18473" r="0" t="0"/>
          <a:stretch/>
        </p:blipFill>
        <p:spPr>
          <a:xfrm>
            <a:off x="4094634" y="1236524"/>
            <a:ext cx="4571991" cy="2743201"/>
          </a:xfrm>
          <a:prstGeom prst="rect">
            <a:avLst/>
          </a:prstGeom>
          <a:noFill/>
          <a:ln>
            <a:noFill/>
          </a:ln>
        </p:spPr>
      </p:pic>
      <p:sp>
        <p:nvSpPr>
          <p:cNvPr id="300" name="Google Shape;300;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1" name="Google Shape;301;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kolaborasi proyek</a:t>
            </a:r>
            <a:endParaRPr/>
          </a:p>
        </p:txBody>
      </p:sp>
      <p:sp>
        <p:nvSpPr>
          <p:cNvPr id="302" name="Google Shape;302;p41"/>
          <p:cNvSpPr txBox="1"/>
          <p:nvPr/>
        </p:nvSpPr>
        <p:spPr>
          <a:xfrm>
            <a:off x="685800" y="1188725"/>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Document sharing tool #3: Dropbox Paper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Dropbox Paper adalah platform kolaborasi dokumen yang sempurna untuk tim desain yang membantu mereka membuat, mengedit, bertukar pikiran, dan meninjau desain, mengelola tugas, dan bahkan menjalankan rapat online dengan media yang kaya (termasuk teks, gambar, dan video, dll.).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Peralatan handoff</a:t>
            </a:r>
            <a:endParaRPr>
              <a:solidFill>
                <a:schemeClr val="accent1"/>
              </a:solidFill>
            </a:endParaRPr>
          </a:p>
        </p:txBody>
      </p:sp>
      <p:sp>
        <p:nvSpPr>
          <p:cNvPr id="308" name="Google Shape;308;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handoff</a:t>
            </a:r>
            <a:endParaRPr/>
          </a:p>
        </p:txBody>
      </p:sp>
      <p:sp>
        <p:nvSpPr>
          <p:cNvPr id="315" name="Google Shape;315;p4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Design handoff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Handoff desain adalah titik dalam proses pengembangan produk di mana developer mengimplementasikan desain yang sudah jadi.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Agar handoff berhasil, kolaborasi desainer-pengembang yang baik sangat penting.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16" name="Google Shape;316;p43">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2" name="Google Shape;322;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handoff</a:t>
            </a:r>
            <a:endParaRPr/>
          </a:p>
        </p:txBody>
      </p:sp>
      <p:sp>
        <p:nvSpPr>
          <p:cNvPr id="323" name="Google Shape;323;p4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Kita bisa memahami arti dari </a:t>
            </a:r>
            <a:r>
              <a:rPr b="1" lang="en" sz="1200">
                <a:solidFill>
                  <a:schemeClr val="dk1"/>
                </a:solidFill>
                <a:latin typeface="Raleway"/>
                <a:ea typeface="Raleway"/>
                <a:cs typeface="Raleway"/>
                <a:sym typeface="Raleway"/>
              </a:rPr>
              <a:t>design handoff</a:t>
            </a:r>
            <a:r>
              <a:rPr lang="en" sz="1200">
                <a:solidFill>
                  <a:schemeClr val="dk1"/>
                </a:solidFill>
                <a:latin typeface="Raleway Medium"/>
                <a:ea typeface="Raleway Medium"/>
                <a:cs typeface="Raleway Medium"/>
                <a:sym typeface="Raleway Medium"/>
              </a:rPr>
              <a:t> dari susunan katanya, yaitu </a:t>
            </a:r>
            <a:r>
              <a:rPr b="1" lang="en" sz="1200">
                <a:solidFill>
                  <a:schemeClr val="dk1"/>
                </a:solidFill>
                <a:latin typeface="Raleway"/>
                <a:ea typeface="Raleway"/>
                <a:cs typeface="Raleway"/>
                <a:sym typeface="Raleway"/>
              </a:rPr>
              <a:t>design </a:t>
            </a:r>
            <a:r>
              <a:rPr lang="en" sz="1200">
                <a:solidFill>
                  <a:schemeClr val="dk1"/>
                </a:solidFill>
                <a:latin typeface="Raleway Medium"/>
                <a:ea typeface="Raleway Medium"/>
                <a:cs typeface="Raleway Medium"/>
                <a:sym typeface="Raleway Medium"/>
              </a:rPr>
              <a:t>yang berarti rancangan, dan </a:t>
            </a:r>
            <a:r>
              <a:rPr b="1" lang="en" sz="1200">
                <a:solidFill>
                  <a:schemeClr val="dk1"/>
                </a:solidFill>
                <a:latin typeface="Raleway"/>
                <a:ea typeface="Raleway"/>
                <a:cs typeface="Raleway"/>
                <a:sym typeface="Raleway"/>
              </a:rPr>
              <a:t>handoff</a:t>
            </a:r>
            <a:r>
              <a:rPr lang="en" sz="1200">
                <a:solidFill>
                  <a:schemeClr val="dk1"/>
                </a:solidFill>
                <a:latin typeface="Raleway Medium"/>
                <a:ea typeface="Raleway Medium"/>
                <a:cs typeface="Raleway Medium"/>
                <a:sym typeface="Raleway Medium"/>
              </a:rPr>
              <a:t> yang bisa diartikan sebagai penyerahan.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Sederhananya, design handoff adalah </a:t>
            </a:r>
            <a:r>
              <a:rPr b="1" lang="en" sz="1200">
                <a:solidFill>
                  <a:schemeClr val="dk1"/>
                </a:solidFill>
                <a:latin typeface="Raleway"/>
                <a:ea typeface="Raleway"/>
                <a:cs typeface="Raleway"/>
                <a:sym typeface="Raleway"/>
              </a:rPr>
              <a:t>penyerahan rancangan</a:t>
            </a:r>
            <a:r>
              <a:rPr lang="en" sz="1200">
                <a:solidFill>
                  <a:schemeClr val="dk1"/>
                </a:solidFill>
                <a:latin typeface="Raleway Medium"/>
                <a:ea typeface="Raleway Medium"/>
                <a:cs typeface="Raleway Medium"/>
                <a:sym typeface="Raleway Medium"/>
              </a:rPr>
              <a:t> dari tim UX Design kepada tim developer untuk kemudian diubah menjadi produk~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Design handoff adalah proses akhir yang harus dijalankan UX Designer saat desain mereka sudah selesai dan diuji.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24" name="Google Shape;324;p44"/>
          <p:cNvPicPr preferRelativeResize="0"/>
          <p:nvPr/>
        </p:nvPicPr>
        <p:blipFill>
          <a:blip r:embed="rId3">
            <a:alphaModFix/>
          </a:blip>
          <a:stretch>
            <a:fillRect/>
          </a:stretch>
        </p:blipFill>
        <p:spPr>
          <a:xfrm>
            <a:off x="5108850" y="1412774"/>
            <a:ext cx="3606251" cy="2752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0" name="Google Shape;330;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handoff</a:t>
            </a:r>
            <a:endParaRPr/>
          </a:p>
        </p:txBody>
      </p:sp>
      <p:sp>
        <p:nvSpPr>
          <p:cNvPr id="331" name="Google Shape;331;p4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tahapan ini, UX Designer akan </a:t>
            </a:r>
            <a:r>
              <a:rPr b="1" lang="en" sz="1200">
                <a:solidFill>
                  <a:schemeClr val="dk1"/>
                </a:solidFill>
                <a:latin typeface="Raleway"/>
                <a:ea typeface="Raleway"/>
                <a:cs typeface="Raleway"/>
                <a:sym typeface="Raleway"/>
              </a:rPr>
              <a:t>menyerahkan dokumentasi desain</a:t>
            </a:r>
            <a:r>
              <a:rPr lang="en" sz="1200">
                <a:solidFill>
                  <a:schemeClr val="dk1"/>
                </a:solidFill>
                <a:latin typeface="Raleway Medium"/>
                <a:ea typeface="Raleway Medium"/>
                <a:cs typeface="Raleway Medium"/>
                <a:sym typeface="Raleway Medium"/>
              </a:rPr>
              <a:t> dari keseluruhan screen yang sudah dibuatnya.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Setelah itu, tiba waktunya seorang developer akan memulai proses implementasi desain yang dibuat ke dalam penulisan bahasa pemrograman.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32" name="Google Shape;332;p45"/>
          <p:cNvPicPr preferRelativeResize="0"/>
          <p:nvPr/>
        </p:nvPicPr>
        <p:blipFill>
          <a:blip r:embed="rId3">
            <a:alphaModFix/>
          </a:blip>
          <a:stretch>
            <a:fillRect/>
          </a:stretch>
        </p:blipFill>
        <p:spPr>
          <a:xfrm>
            <a:off x="5257800" y="1412774"/>
            <a:ext cx="3606251" cy="27523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8" name="Google Shape;338;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handoff</a:t>
            </a:r>
            <a:endParaRPr/>
          </a:p>
        </p:txBody>
      </p:sp>
      <p:sp>
        <p:nvSpPr>
          <p:cNvPr id="339" name="Google Shape;339;p4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Berikut ini tools yang umum dipakai~</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ini, ada banyak software yang memudahkan kita dalam proses design handoff bersama dengan tim.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Yang paling populer digunakan di antaranya adalah </a:t>
            </a:r>
            <a:r>
              <a:rPr b="1" lang="en" sz="1200">
                <a:solidFill>
                  <a:schemeClr val="dk1"/>
                </a:solidFill>
                <a:latin typeface="Raleway"/>
                <a:ea typeface="Raleway"/>
                <a:cs typeface="Raleway"/>
                <a:sym typeface="Raleway"/>
              </a:rPr>
              <a:t>Figma</a:t>
            </a:r>
            <a:r>
              <a:rPr lang="en" sz="1200">
                <a:solidFill>
                  <a:schemeClr val="dk1"/>
                </a:solidFill>
                <a:latin typeface="Raleway Medium"/>
                <a:ea typeface="Raleway Medium"/>
                <a:cs typeface="Raleway Medium"/>
                <a:sym typeface="Raleway Medium"/>
              </a:rPr>
              <a:t>, </a:t>
            </a:r>
            <a:r>
              <a:rPr b="1" lang="en" sz="1200">
                <a:solidFill>
                  <a:schemeClr val="dk1"/>
                </a:solidFill>
                <a:latin typeface="Raleway"/>
                <a:ea typeface="Raleway"/>
                <a:cs typeface="Raleway"/>
                <a:sym typeface="Raleway"/>
              </a:rPr>
              <a:t>Zeplin</a:t>
            </a:r>
            <a:r>
              <a:rPr lang="en" sz="1200">
                <a:solidFill>
                  <a:schemeClr val="dk1"/>
                </a:solidFill>
                <a:latin typeface="Raleway Medium"/>
                <a:ea typeface="Raleway Medium"/>
                <a:cs typeface="Raleway Medium"/>
                <a:sym typeface="Raleway Medium"/>
              </a:rPr>
              <a:t>, dan </a:t>
            </a:r>
            <a:r>
              <a:rPr b="1" lang="en" sz="1200">
                <a:solidFill>
                  <a:schemeClr val="dk1"/>
                </a:solidFill>
                <a:latin typeface="Raleway"/>
                <a:ea typeface="Raleway"/>
                <a:cs typeface="Raleway"/>
                <a:sym typeface="Raleway"/>
              </a:rPr>
              <a:t>Bit</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40" name="Google Shape;340;p46"/>
          <p:cNvPicPr preferRelativeResize="0"/>
          <p:nvPr/>
        </p:nvPicPr>
        <p:blipFill rotWithShape="1">
          <a:blip r:embed="rId3">
            <a:alphaModFix/>
          </a:blip>
          <a:srcRect b="0" l="0" r="31763" t="0"/>
          <a:stretch/>
        </p:blipFill>
        <p:spPr>
          <a:xfrm>
            <a:off x="4800600" y="1619100"/>
            <a:ext cx="2755775" cy="2339650"/>
          </a:xfrm>
          <a:prstGeom prst="rect">
            <a:avLst/>
          </a:prstGeom>
          <a:noFill/>
          <a:ln>
            <a:noFill/>
          </a:ln>
        </p:spPr>
      </p:pic>
      <p:pic>
        <p:nvPicPr>
          <p:cNvPr id="341" name="Google Shape;341;p46"/>
          <p:cNvPicPr preferRelativeResize="0"/>
          <p:nvPr/>
        </p:nvPicPr>
        <p:blipFill>
          <a:blip r:embed="rId4">
            <a:alphaModFix/>
          </a:blip>
          <a:stretch>
            <a:fillRect/>
          </a:stretch>
        </p:blipFill>
        <p:spPr>
          <a:xfrm>
            <a:off x="7556375" y="2147513"/>
            <a:ext cx="1282825" cy="12828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7" name="Google Shape;347;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handoff</a:t>
            </a:r>
            <a:endParaRPr/>
          </a:p>
        </p:txBody>
      </p:sp>
      <p:sp>
        <p:nvSpPr>
          <p:cNvPr id="348" name="Google Shape;348;p4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Melalui software tersebut, design screen yang kamu buat bisa di-inspect secara detail. Anatomi yang bisa dilihat dan dipelajari oleh developer meliputi spacing, HEX color, typography, ukuran objek, dan masih banyak lagi lainnya.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Dengan tahap ini, tim developer lebih mudah untuk menghasilkan tampilan produk yang mirip dengan desain yang sudah dibuat.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49" name="Google Shape;349;p47"/>
          <p:cNvPicPr preferRelativeResize="0"/>
          <p:nvPr/>
        </p:nvPicPr>
        <p:blipFill rotWithShape="1">
          <a:blip r:embed="rId3">
            <a:alphaModFix/>
          </a:blip>
          <a:srcRect b="0" l="0" r="31763" t="0"/>
          <a:stretch/>
        </p:blipFill>
        <p:spPr>
          <a:xfrm>
            <a:off x="5167550" y="1652150"/>
            <a:ext cx="2513075" cy="2133600"/>
          </a:xfrm>
          <a:prstGeom prst="rect">
            <a:avLst/>
          </a:prstGeom>
          <a:noFill/>
          <a:ln>
            <a:noFill/>
          </a:ln>
        </p:spPr>
      </p:pic>
      <p:pic>
        <p:nvPicPr>
          <p:cNvPr id="350" name="Google Shape;350;p47"/>
          <p:cNvPicPr preferRelativeResize="0"/>
          <p:nvPr/>
        </p:nvPicPr>
        <p:blipFill>
          <a:blip r:embed="rId4">
            <a:alphaModFix/>
          </a:blip>
          <a:stretch>
            <a:fillRect/>
          </a:stretch>
        </p:blipFill>
        <p:spPr>
          <a:xfrm>
            <a:off x="7770875" y="2131775"/>
            <a:ext cx="1174350" cy="1174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id="355" name="Google Shape;355;p48">
            <a:hlinkClick r:id="rId3"/>
          </p:cNvPr>
          <p:cNvPicPr preferRelativeResize="0"/>
          <p:nvPr/>
        </p:nvPicPr>
        <p:blipFill rotWithShape="1">
          <a:blip r:embed="rId4">
            <a:alphaModFix/>
          </a:blip>
          <a:srcRect b="3122" l="0" r="0" t="3122"/>
          <a:stretch/>
        </p:blipFill>
        <p:spPr>
          <a:xfrm>
            <a:off x="4094624" y="1230924"/>
            <a:ext cx="4572001" cy="2743206"/>
          </a:xfrm>
          <a:prstGeom prst="rect">
            <a:avLst/>
          </a:prstGeom>
          <a:noFill/>
          <a:ln>
            <a:noFill/>
          </a:ln>
        </p:spPr>
      </p:pic>
      <p:sp>
        <p:nvSpPr>
          <p:cNvPr id="356" name="Google Shape;356;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7" name="Google Shape;357;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handoff</a:t>
            </a:r>
            <a:endParaRPr/>
          </a:p>
        </p:txBody>
      </p:sp>
      <p:sp>
        <p:nvSpPr>
          <p:cNvPr id="358" name="Google Shape;358;p48"/>
          <p:cNvSpPr txBox="1"/>
          <p:nvPr/>
        </p:nvSpPr>
        <p:spPr>
          <a:xfrm>
            <a:off x="685800" y="1188720"/>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Handoff tool #1: Figma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banyak hal, Figma untuk desain UI seperti Bit untuk kode, karena ini adalah cara kolaboratif untuk membuat aplikasi modular dalam tumpukan web modern.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Fitur seperti inspeksi kode, pengukuran tata letak, dan gaya bersama menjadikan Figma sebagai senjata pilihan bagi banyak tim produk yang berorientasi pada kolaborasi.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49">
            <a:hlinkClick r:id="rId3"/>
          </p:cNvPr>
          <p:cNvPicPr preferRelativeResize="0"/>
          <p:nvPr/>
        </p:nvPicPr>
        <p:blipFill rotWithShape="1">
          <a:blip r:embed="rId4">
            <a:alphaModFix/>
          </a:blip>
          <a:srcRect b="10000" l="0" r="0" t="10000"/>
          <a:stretch/>
        </p:blipFill>
        <p:spPr>
          <a:xfrm>
            <a:off x="4094624" y="1230924"/>
            <a:ext cx="4572001" cy="2743206"/>
          </a:xfrm>
          <a:prstGeom prst="rect">
            <a:avLst/>
          </a:prstGeom>
          <a:noFill/>
          <a:ln>
            <a:noFill/>
          </a:ln>
        </p:spPr>
      </p:pic>
      <p:sp>
        <p:nvSpPr>
          <p:cNvPr id="364" name="Google Shape;364;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5" name="Google Shape;365;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handoff</a:t>
            </a:r>
            <a:endParaRPr/>
          </a:p>
        </p:txBody>
      </p:sp>
      <p:sp>
        <p:nvSpPr>
          <p:cNvPr id="366" name="Google Shape;366;p49"/>
          <p:cNvSpPr txBox="1"/>
          <p:nvPr/>
        </p:nvSpPr>
        <p:spPr>
          <a:xfrm>
            <a:off x="685800" y="1188720"/>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H</a:t>
            </a:r>
            <a:r>
              <a:rPr b="1" lang="en" sz="1800">
                <a:solidFill>
                  <a:srgbClr val="743673"/>
                </a:solidFill>
                <a:highlight>
                  <a:schemeClr val="lt1"/>
                </a:highlight>
                <a:latin typeface="Raleway"/>
                <a:ea typeface="Raleway"/>
                <a:cs typeface="Raleway"/>
                <a:sym typeface="Raleway"/>
              </a:rPr>
              <a:t>andoff tool #2: Zeplin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Zeplin memudahkan desainer untuk mengekspor file dalam satu klik menggunakan plugin Sketch, Figma, Adobe XD, Adobe Photoshop CC kami. Zeplin akan menghasilkan sebagian besar spesifikasi, aset, dan cuplikan kode yang disesuaikan untuk pengembang.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Fitur super lainnya dari Zeplin adalah Connected Components, memungkinkan semua orang mengakses komponen dalam basis kode Anda langsung pada desain.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50">
            <a:hlinkClick r:id="rId3"/>
          </p:cNvPr>
          <p:cNvPicPr preferRelativeResize="0"/>
          <p:nvPr/>
        </p:nvPicPr>
        <p:blipFill rotWithShape="1">
          <a:blip r:embed="rId4">
            <a:alphaModFix/>
          </a:blip>
          <a:srcRect b="0" l="6148" r="6139" t="0"/>
          <a:stretch/>
        </p:blipFill>
        <p:spPr>
          <a:xfrm>
            <a:off x="4094624" y="1230924"/>
            <a:ext cx="4572000" cy="2743205"/>
          </a:xfrm>
          <a:prstGeom prst="rect">
            <a:avLst/>
          </a:prstGeom>
          <a:noFill/>
          <a:ln>
            <a:noFill/>
          </a:ln>
        </p:spPr>
      </p:pic>
      <p:sp>
        <p:nvSpPr>
          <p:cNvPr id="372" name="Google Shape;372;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3" name="Google Shape;373;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handoff</a:t>
            </a:r>
            <a:endParaRPr/>
          </a:p>
        </p:txBody>
      </p:sp>
      <p:sp>
        <p:nvSpPr>
          <p:cNvPr id="374" name="Google Shape;374;p50"/>
          <p:cNvSpPr txBox="1"/>
          <p:nvPr/>
        </p:nvSpPr>
        <p:spPr>
          <a:xfrm>
            <a:off x="685800" y="1188720"/>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Handoff tool #3: Bit.dev</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Sebagian besar alat menangani handoff dari desain hingga pengembangan. Tapi, bagaimana dengan sebaliknya? Bagaimanapun, kode adalah apa yang pengguna dapatkan.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Bit adalah satu-satunya alat handoff pengembang-ke-perancang dalam daftar. Ini adalah pengubah permainan dalam cara desainer dapat berkolaborasi dalam pengembangan UI.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1"/>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Kita Mencoba </a:t>
            </a:r>
            <a:r>
              <a:rPr lang="en"/>
              <a:t>m</a:t>
            </a:r>
            <a:r>
              <a:rPr lang="en"/>
              <a:t>engenal plugin</a:t>
            </a:r>
            <a:endParaRPr>
              <a:solidFill>
                <a:schemeClr val="accent1"/>
              </a:solidFill>
            </a:endParaRPr>
          </a:p>
        </p:txBody>
      </p:sp>
      <p:sp>
        <p:nvSpPr>
          <p:cNvPr id="380" name="Google Shape;380;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6" name="Google Shape;386;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Mengenal plugin</a:t>
            </a:r>
            <a:endParaRPr/>
          </a:p>
        </p:txBody>
      </p:sp>
      <p:sp>
        <p:nvSpPr>
          <p:cNvPr id="387" name="Google Shape;387;p5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Plugin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komputasi, plug-in (atau plugin, add-in, addin, add-on, atau addon) adalah komponen perangkat lunak yang menambahkan fitur tertentu ke program komputer yang ada.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peralatan desain seperti Figma, Adobe XD, Sketch dan banyak lagi, terdapat berbagai macam plugin yang memudahkan para desainer untuk melakukan aktivitas desain dengan mudah dan cepat.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88" name="Google Shape;388;p52">
            <a:hlinkClick r:id="rId3"/>
          </p:cNvPr>
          <p:cNvPicPr preferRelativeResize="0"/>
          <p:nvPr/>
        </p:nvPicPr>
        <p:blipFill rotWithShape="1">
          <a:blip r:embed="rId4">
            <a:alphaModFix/>
          </a:blip>
          <a:srcRect b="0" l="16508" r="990" t="0"/>
          <a:stretch/>
        </p:blipFill>
        <p:spPr>
          <a:xfrm>
            <a:off x="5486400" y="1280150"/>
            <a:ext cx="3017523" cy="274319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4" name="Google Shape;394;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Mengenal</a:t>
            </a:r>
            <a:r>
              <a:rPr lang="en"/>
              <a:t> plugin</a:t>
            </a:r>
            <a:endParaRPr/>
          </a:p>
        </p:txBody>
      </p:sp>
      <p:sp>
        <p:nvSpPr>
          <p:cNvPr id="395" name="Google Shape;395;p5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dalam membuat wireframes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a:t>
            </a:r>
            <a:r>
              <a:rPr lang="en" sz="1200">
                <a:solidFill>
                  <a:schemeClr val="dk1"/>
                </a:solidFill>
                <a:latin typeface="Raleway Medium"/>
                <a:ea typeface="Raleway Medium"/>
                <a:cs typeface="Raleway Medium"/>
                <a:sym typeface="Raleway Medium"/>
              </a:rPr>
              <a:t>da beberapa plug-ins pada Adobe XD yang membuat proses wireframing lebih cepat: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hlink"/>
                </a:solidFill>
                <a:latin typeface="Raleway Medium"/>
                <a:ea typeface="Raleway Medium"/>
                <a:cs typeface="Raleway Medium"/>
                <a:sym typeface="Raleway Medium"/>
                <a:hlinkClick r:id="rId3"/>
              </a:rPr>
              <a:t>Wireframer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u="sng">
                <a:solidFill>
                  <a:schemeClr val="hlink"/>
                </a:solidFill>
                <a:latin typeface="Raleway Medium"/>
                <a:ea typeface="Raleway Medium"/>
                <a:cs typeface="Raleway Medium"/>
                <a:sym typeface="Raleway Medium"/>
                <a:hlinkClick r:id="rId4"/>
              </a:rPr>
              <a:t>QuickMockup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Silahkan klik untuk lihat video bagaimana kita bisa membuat wireframes dengan plugin - plugin tersebut.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96" name="Google Shape;396;p53"/>
          <p:cNvPicPr preferRelativeResize="0"/>
          <p:nvPr/>
        </p:nvPicPr>
        <p:blipFill rotWithShape="1">
          <a:blip r:embed="rId5">
            <a:alphaModFix/>
          </a:blip>
          <a:srcRect b="0" l="19652" r="19652" t="0"/>
          <a:stretch/>
        </p:blipFill>
        <p:spPr>
          <a:xfrm>
            <a:off x="5486400" y="1280150"/>
            <a:ext cx="3017523" cy="27431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402" name="Google Shape;402;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peralatan yang secara umum digunakan untuk brainstorming, kecuali…</a:t>
            </a:r>
            <a:endParaRPr sz="1200">
              <a:solidFill>
                <a:schemeClr val="lt1"/>
              </a:solidFill>
              <a:latin typeface="Raleway Medium"/>
              <a:ea typeface="Raleway Medium"/>
              <a:cs typeface="Raleway Medium"/>
              <a:sym typeface="Raleway Medium"/>
            </a:endParaRPr>
          </a:p>
        </p:txBody>
      </p:sp>
      <p:pic>
        <p:nvPicPr>
          <p:cNvPr id="408" name="Google Shape;408;p55"/>
          <p:cNvPicPr preferRelativeResize="0"/>
          <p:nvPr/>
        </p:nvPicPr>
        <p:blipFill rotWithShape="1">
          <a:blip r:embed="rId3">
            <a:alphaModFix/>
          </a:blip>
          <a:srcRect b="0" l="0" r="0" t="0"/>
          <a:stretch/>
        </p:blipFill>
        <p:spPr>
          <a:xfrm>
            <a:off x="1501275" y="2484125"/>
            <a:ext cx="1244800" cy="1244800"/>
          </a:xfrm>
          <a:prstGeom prst="rect">
            <a:avLst/>
          </a:prstGeom>
          <a:noFill/>
          <a:ln>
            <a:noFill/>
          </a:ln>
        </p:spPr>
      </p:pic>
      <p:sp>
        <p:nvSpPr>
          <p:cNvPr id="409" name="Google Shape;409;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0" name="Google Shape;410;p55"/>
          <p:cNvSpPr txBox="1"/>
          <p:nvPr/>
        </p:nvSpPr>
        <p:spPr>
          <a:xfrm>
            <a:off x="1562350" y="3835550"/>
            <a:ext cx="1183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Raleway"/>
                <a:ea typeface="Raleway"/>
                <a:cs typeface="Raleway"/>
                <a:sym typeface="Raleway"/>
              </a:rPr>
              <a:t>Adobe XD</a:t>
            </a:r>
            <a:endParaRPr b="1" sz="1200">
              <a:solidFill>
                <a:schemeClr val="lt1"/>
              </a:solidFill>
              <a:latin typeface="Raleway"/>
              <a:ea typeface="Raleway"/>
              <a:cs typeface="Raleway"/>
              <a:sym typeface="Raleway"/>
            </a:endParaRPr>
          </a:p>
        </p:txBody>
      </p:sp>
      <p:pic>
        <p:nvPicPr>
          <p:cNvPr id="411" name="Google Shape;411;p55"/>
          <p:cNvPicPr preferRelativeResize="0"/>
          <p:nvPr/>
        </p:nvPicPr>
        <p:blipFill rotWithShape="1">
          <a:blip r:embed="rId4">
            <a:alphaModFix/>
          </a:blip>
          <a:srcRect b="0" l="0" r="0" t="0"/>
          <a:stretch/>
        </p:blipFill>
        <p:spPr>
          <a:xfrm>
            <a:off x="3074253" y="2489617"/>
            <a:ext cx="1244805" cy="1211338"/>
          </a:xfrm>
          <a:prstGeom prst="rect">
            <a:avLst/>
          </a:prstGeom>
          <a:noFill/>
          <a:ln>
            <a:noFill/>
          </a:ln>
        </p:spPr>
      </p:pic>
      <p:sp>
        <p:nvSpPr>
          <p:cNvPr id="412" name="Google Shape;412;p55"/>
          <p:cNvSpPr txBox="1"/>
          <p:nvPr/>
        </p:nvSpPr>
        <p:spPr>
          <a:xfrm>
            <a:off x="3074250"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Raleway"/>
                <a:ea typeface="Raleway"/>
                <a:cs typeface="Raleway"/>
                <a:sym typeface="Raleway"/>
              </a:rPr>
              <a:t>LucidChart</a:t>
            </a:r>
            <a:endParaRPr b="1" sz="1200">
              <a:solidFill>
                <a:schemeClr val="lt1"/>
              </a:solidFill>
              <a:latin typeface="Raleway"/>
              <a:ea typeface="Raleway"/>
              <a:cs typeface="Raleway"/>
              <a:sym typeface="Raleway"/>
            </a:endParaRPr>
          </a:p>
        </p:txBody>
      </p:sp>
      <p:pic>
        <p:nvPicPr>
          <p:cNvPr id="413" name="Google Shape;413;p55"/>
          <p:cNvPicPr preferRelativeResize="0"/>
          <p:nvPr/>
        </p:nvPicPr>
        <p:blipFill rotWithShape="1">
          <a:blip r:embed="rId5">
            <a:alphaModFix/>
          </a:blip>
          <a:srcRect b="0" l="0" r="0" t="0"/>
          <a:stretch/>
        </p:blipFill>
        <p:spPr>
          <a:xfrm>
            <a:off x="4682966" y="2489617"/>
            <a:ext cx="1244805" cy="1211339"/>
          </a:xfrm>
          <a:prstGeom prst="rect">
            <a:avLst/>
          </a:prstGeom>
          <a:noFill/>
          <a:ln>
            <a:noFill/>
          </a:ln>
        </p:spPr>
      </p:pic>
      <p:sp>
        <p:nvSpPr>
          <p:cNvPr id="414" name="Google Shape;414;p55"/>
          <p:cNvSpPr txBox="1"/>
          <p:nvPr/>
        </p:nvSpPr>
        <p:spPr>
          <a:xfrm>
            <a:off x="4828901" y="3835549"/>
            <a:ext cx="952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Raleway"/>
                <a:ea typeface="Raleway"/>
                <a:cs typeface="Raleway"/>
                <a:sym typeface="Raleway"/>
              </a:rPr>
              <a:t>Coggle</a:t>
            </a:r>
            <a:endParaRPr b="1" sz="1200">
              <a:solidFill>
                <a:schemeClr val="lt1"/>
              </a:solidFill>
              <a:latin typeface="Raleway"/>
              <a:ea typeface="Raleway"/>
              <a:cs typeface="Raleway"/>
              <a:sym typeface="Raleway"/>
            </a:endParaRPr>
          </a:p>
        </p:txBody>
      </p:sp>
      <p:sp>
        <p:nvSpPr>
          <p:cNvPr id="415" name="Google Shape;415;p55"/>
          <p:cNvSpPr txBox="1"/>
          <p:nvPr/>
        </p:nvSpPr>
        <p:spPr>
          <a:xfrm>
            <a:off x="6291676"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Raleway"/>
                <a:ea typeface="Raleway"/>
                <a:cs typeface="Raleway"/>
                <a:sym typeface="Raleway"/>
              </a:rPr>
              <a:t>Google Docs</a:t>
            </a:r>
            <a:endParaRPr b="1" sz="1200">
              <a:solidFill>
                <a:schemeClr val="lt1"/>
              </a:solidFill>
              <a:latin typeface="Raleway"/>
              <a:ea typeface="Raleway"/>
              <a:cs typeface="Raleway"/>
              <a:sym typeface="Raleway"/>
            </a:endParaRPr>
          </a:p>
        </p:txBody>
      </p:sp>
      <p:pic>
        <p:nvPicPr>
          <p:cNvPr id="416" name="Google Shape;416;p55"/>
          <p:cNvPicPr preferRelativeResize="0"/>
          <p:nvPr/>
        </p:nvPicPr>
        <p:blipFill rotWithShape="1">
          <a:blip r:embed="rId6">
            <a:alphaModFix/>
          </a:blip>
          <a:srcRect b="0" l="18112" r="19921" t="0"/>
          <a:stretch/>
        </p:blipFill>
        <p:spPr>
          <a:xfrm>
            <a:off x="6317125" y="2489625"/>
            <a:ext cx="1183801" cy="12113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adalah peralatan yang secara umum digunakan untuk brainstorming, kecuali…</a:t>
            </a:r>
            <a:endParaRPr sz="1200">
              <a:solidFill>
                <a:schemeClr val="lt1"/>
              </a:solidFill>
              <a:latin typeface="Raleway Medium"/>
              <a:ea typeface="Raleway Medium"/>
              <a:cs typeface="Raleway Medium"/>
              <a:sym typeface="Raleway Medium"/>
            </a:endParaRPr>
          </a:p>
        </p:txBody>
      </p:sp>
      <p:pic>
        <p:nvPicPr>
          <p:cNvPr id="422" name="Google Shape;422;p56"/>
          <p:cNvPicPr preferRelativeResize="0"/>
          <p:nvPr/>
        </p:nvPicPr>
        <p:blipFill rotWithShape="1">
          <a:blip r:embed="rId3">
            <a:alphaModFix/>
          </a:blip>
          <a:srcRect b="0" l="0" r="0" t="0"/>
          <a:stretch/>
        </p:blipFill>
        <p:spPr>
          <a:xfrm>
            <a:off x="1501275" y="2484125"/>
            <a:ext cx="1244800" cy="1244800"/>
          </a:xfrm>
          <a:prstGeom prst="rect">
            <a:avLst/>
          </a:prstGeom>
          <a:noFill/>
          <a:ln>
            <a:noFill/>
          </a:ln>
        </p:spPr>
      </p:pic>
      <p:sp>
        <p:nvSpPr>
          <p:cNvPr id="423" name="Google Shape;423;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4" name="Google Shape;424;p56"/>
          <p:cNvSpPr txBox="1"/>
          <p:nvPr/>
        </p:nvSpPr>
        <p:spPr>
          <a:xfrm>
            <a:off x="1562350" y="3835550"/>
            <a:ext cx="1183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Raleway"/>
                <a:ea typeface="Raleway"/>
                <a:cs typeface="Raleway"/>
                <a:sym typeface="Raleway"/>
              </a:rPr>
              <a:t>Adobe XD</a:t>
            </a:r>
            <a:endParaRPr b="1" sz="1200">
              <a:solidFill>
                <a:schemeClr val="lt1"/>
              </a:solidFill>
              <a:latin typeface="Raleway"/>
              <a:ea typeface="Raleway"/>
              <a:cs typeface="Raleway"/>
              <a:sym typeface="Raleway"/>
            </a:endParaRPr>
          </a:p>
        </p:txBody>
      </p:sp>
      <p:pic>
        <p:nvPicPr>
          <p:cNvPr id="425" name="Google Shape;425;p56"/>
          <p:cNvPicPr preferRelativeResize="0"/>
          <p:nvPr/>
        </p:nvPicPr>
        <p:blipFill rotWithShape="1">
          <a:blip r:embed="rId4">
            <a:alphaModFix amt="18000"/>
          </a:blip>
          <a:srcRect b="0" l="0" r="0" t="0"/>
          <a:stretch/>
        </p:blipFill>
        <p:spPr>
          <a:xfrm>
            <a:off x="3074253" y="2489617"/>
            <a:ext cx="1244805" cy="1211338"/>
          </a:xfrm>
          <a:prstGeom prst="rect">
            <a:avLst/>
          </a:prstGeom>
          <a:noFill/>
          <a:ln>
            <a:noFill/>
          </a:ln>
        </p:spPr>
      </p:pic>
      <p:sp>
        <p:nvSpPr>
          <p:cNvPr id="426" name="Google Shape;426;p56"/>
          <p:cNvSpPr txBox="1"/>
          <p:nvPr/>
        </p:nvSpPr>
        <p:spPr>
          <a:xfrm>
            <a:off x="3074250"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A667A5"/>
                </a:solidFill>
                <a:latin typeface="Raleway"/>
                <a:ea typeface="Raleway"/>
                <a:cs typeface="Raleway"/>
                <a:sym typeface="Raleway"/>
              </a:rPr>
              <a:t>LucidChart</a:t>
            </a:r>
            <a:endParaRPr b="1" sz="1200">
              <a:solidFill>
                <a:srgbClr val="A667A5"/>
              </a:solidFill>
              <a:latin typeface="Raleway"/>
              <a:ea typeface="Raleway"/>
              <a:cs typeface="Raleway"/>
              <a:sym typeface="Raleway"/>
            </a:endParaRPr>
          </a:p>
        </p:txBody>
      </p:sp>
      <p:pic>
        <p:nvPicPr>
          <p:cNvPr id="427" name="Google Shape;427;p56"/>
          <p:cNvPicPr preferRelativeResize="0"/>
          <p:nvPr/>
        </p:nvPicPr>
        <p:blipFill rotWithShape="1">
          <a:blip r:embed="rId5">
            <a:alphaModFix amt="18000"/>
          </a:blip>
          <a:srcRect b="0" l="0" r="0" t="0"/>
          <a:stretch/>
        </p:blipFill>
        <p:spPr>
          <a:xfrm>
            <a:off x="4682966" y="2489617"/>
            <a:ext cx="1244805" cy="1211339"/>
          </a:xfrm>
          <a:prstGeom prst="rect">
            <a:avLst/>
          </a:prstGeom>
          <a:noFill/>
          <a:ln>
            <a:noFill/>
          </a:ln>
        </p:spPr>
      </p:pic>
      <p:sp>
        <p:nvSpPr>
          <p:cNvPr id="428" name="Google Shape;428;p56"/>
          <p:cNvSpPr txBox="1"/>
          <p:nvPr/>
        </p:nvSpPr>
        <p:spPr>
          <a:xfrm>
            <a:off x="4828901" y="3835549"/>
            <a:ext cx="952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A667A5"/>
                </a:solidFill>
                <a:latin typeface="Raleway"/>
                <a:ea typeface="Raleway"/>
                <a:cs typeface="Raleway"/>
                <a:sym typeface="Raleway"/>
              </a:rPr>
              <a:t>Coggle</a:t>
            </a:r>
            <a:endParaRPr b="1" sz="1200">
              <a:solidFill>
                <a:srgbClr val="A667A5"/>
              </a:solidFill>
              <a:latin typeface="Raleway"/>
              <a:ea typeface="Raleway"/>
              <a:cs typeface="Raleway"/>
              <a:sym typeface="Raleway"/>
            </a:endParaRPr>
          </a:p>
        </p:txBody>
      </p:sp>
      <p:sp>
        <p:nvSpPr>
          <p:cNvPr id="429" name="Google Shape;429;p56"/>
          <p:cNvSpPr txBox="1"/>
          <p:nvPr/>
        </p:nvSpPr>
        <p:spPr>
          <a:xfrm>
            <a:off x="6291676"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A667A5"/>
                </a:solidFill>
                <a:latin typeface="Raleway"/>
                <a:ea typeface="Raleway"/>
                <a:cs typeface="Raleway"/>
                <a:sym typeface="Raleway"/>
              </a:rPr>
              <a:t>Google Docs</a:t>
            </a:r>
            <a:endParaRPr b="1" sz="1200">
              <a:solidFill>
                <a:srgbClr val="A667A5"/>
              </a:solidFill>
              <a:latin typeface="Raleway"/>
              <a:ea typeface="Raleway"/>
              <a:cs typeface="Raleway"/>
              <a:sym typeface="Raleway"/>
            </a:endParaRPr>
          </a:p>
        </p:txBody>
      </p:sp>
      <p:pic>
        <p:nvPicPr>
          <p:cNvPr id="430" name="Google Shape;430;p56"/>
          <p:cNvPicPr preferRelativeResize="0"/>
          <p:nvPr/>
        </p:nvPicPr>
        <p:blipFill rotWithShape="1">
          <a:blip r:embed="rId6">
            <a:alphaModFix amt="18000"/>
          </a:blip>
          <a:srcRect b="0" l="18112" r="19921" t="0"/>
          <a:stretch/>
        </p:blipFill>
        <p:spPr>
          <a:xfrm>
            <a:off x="6317125" y="2489625"/>
            <a:ext cx="1183801" cy="12113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id="435" name="Google Shape;435;p57"/>
          <p:cNvPicPr preferRelativeResize="0"/>
          <p:nvPr/>
        </p:nvPicPr>
        <p:blipFill rotWithShape="1">
          <a:blip r:embed="rId3">
            <a:alphaModFix/>
          </a:blip>
          <a:srcRect b="0" l="17936" r="17936" t="0"/>
          <a:stretch/>
        </p:blipFill>
        <p:spPr>
          <a:xfrm>
            <a:off x="6309275" y="2489625"/>
            <a:ext cx="1244800" cy="1195971"/>
          </a:xfrm>
          <a:prstGeom prst="rect">
            <a:avLst/>
          </a:prstGeom>
          <a:noFill/>
          <a:ln>
            <a:noFill/>
          </a:ln>
        </p:spPr>
      </p:pic>
      <p:pic>
        <p:nvPicPr>
          <p:cNvPr id="436" name="Google Shape;436;p57"/>
          <p:cNvPicPr preferRelativeResize="0"/>
          <p:nvPr/>
        </p:nvPicPr>
        <p:blipFill rotWithShape="1">
          <a:blip r:embed="rId4">
            <a:alphaModFix/>
          </a:blip>
          <a:srcRect b="0" l="0" r="0" t="0"/>
          <a:stretch/>
        </p:blipFill>
        <p:spPr>
          <a:xfrm>
            <a:off x="3056674" y="2484125"/>
            <a:ext cx="1244800" cy="1244823"/>
          </a:xfrm>
          <a:prstGeom prst="rect">
            <a:avLst/>
          </a:prstGeom>
          <a:noFill/>
          <a:ln>
            <a:noFill/>
          </a:ln>
        </p:spPr>
      </p:pic>
      <p:pic>
        <p:nvPicPr>
          <p:cNvPr id="437" name="Google Shape;437;p57"/>
          <p:cNvPicPr preferRelativeResize="0"/>
          <p:nvPr/>
        </p:nvPicPr>
        <p:blipFill rotWithShape="1">
          <a:blip r:embed="rId5">
            <a:alphaModFix/>
          </a:blip>
          <a:srcRect b="39759" l="27382" r="23561" t="11184"/>
          <a:stretch/>
        </p:blipFill>
        <p:spPr>
          <a:xfrm>
            <a:off x="1501275" y="2484125"/>
            <a:ext cx="1244700" cy="1244700"/>
          </a:xfrm>
          <a:prstGeom prst="rect">
            <a:avLst/>
          </a:prstGeom>
          <a:noFill/>
          <a:ln>
            <a:noFill/>
          </a:ln>
        </p:spPr>
      </p:pic>
      <p:sp>
        <p:nvSpPr>
          <p:cNvPr id="438" name="Google Shape;438;p5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peralatan yang secara umum digunakan untuk wireframing, kecuali…</a:t>
            </a:r>
            <a:endParaRPr sz="1200">
              <a:solidFill>
                <a:schemeClr val="lt1"/>
              </a:solidFill>
              <a:latin typeface="Raleway Medium"/>
              <a:ea typeface="Raleway Medium"/>
              <a:cs typeface="Raleway Medium"/>
              <a:sym typeface="Raleway Medium"/>
            </a:endParaRPr>
          </a:p>
        </p:txBody>
      </p:sp>
      <p:sp>
        <p:nvSpPr>
          <p:cNvPr id="439" name="Google Shape;439;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40" name="Google Shape;440;p57"/>
          <p:cNvSpPr txBox="1"/>
          <p:nvPr/>
        </p:nvSpPr>
        <p:spPr>
          <a:xfrm>
            <a:off x="1562350" y="3835550"/>
            <a:ext cx="1183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Raleway"/>
                <a:ea typeface="Raleway"/>
                <a:cs typeface="Raleway"/>
                <a:sym typeface="Raleway"/>
              </a:rPr>
              <a:t>Balsamiq</a:t>
            </a:r>
            <a:endParaRPr b="1" sz="1200">
              <a:solidFill>
                <a:schemeClr val="lt1"/>
              </a:solidFill>
              <a:latin typeface="Raleway"/>
              <a:ea typeface="Raleway"/>
              <a:cs typeface="Raleway"/>
              <a:sym typeface="Raleway"/>
            </a:endParaRPr>
          </a:p>
        </p:txBody>
      </p:sp>
      <p:sp>
        <p:nvSpPr>
          <p:cNvPr id="441" name="Google Shape;441;p57"/>
          <p:cNvSpPr txBox="1"/>
          <p:nvPr/>
        </p:nvSpPr>
        <p:spPr>
          <a:xfrm>
            <a:off x="3074250"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Raleway"/>
                <a:ea typeface="Raleway"/>
                <a:cs typeface="Raleway"/>
                <a:sym typeface="Raleway"/>
              </a:rPr>
              <a:t>Mockplus</a:t>
            </a:r>
            <a:endParaRPr b="1" sz="1200">
              <a:solidFill>
                <a:schemeClr val="lt1"/>
              </a:solidFill>
              <a:latin typeface="Raleway"/>
              <a:ea typeface="Raleway"/>
              <a:cs typeface="Raleway"/>
              <a:sym typeface="Raleway"/>
            </a:endParaRPr>
          </a:p>
        </p:txBody>
      </p:sp>
      <p:pic>
        <p:nvPicPr>
          <p:cNvPr id="442" name="Google Shape;442;p57"/>
          <p:cNvPicPr preferRelativeResize="0"/>
          <p:nvPr/>
        </p:nvPicPr>
        <p:blipFill rotWithShape="1">
          <a:blip r:embed="rId6">
            <a:alphaModFix/>
          </a:blip>
          <a:srcRect b="1342" l="0" r="0" t="1342"/>
          <a:stretch/>
        </p:blipFill>
        <p:spPr>
          <a:xfrm>
            <a:off x="4682966" y="2489617"/>
            <a:ext cx="1244805" cy="1211339"/>
          </a:xfrm>
          <a:prstGeom prst="rect">
            <a:avLst/>
          </a:prstGeom>
          <a:noFill/>
          <a:ln>
            <a:noFill/>
          </a:ln>
        </p:spPr>
      </p:pic>
      <p:sp>
        <p:nvSpPr>
          <p:cNvPr id="443" name="Google Shape;443;p57"/>
          <p:cNvSpPr txBox="1"/>
          <p:nvPr/>
        </p:nvSpPr>
        <p:spPr>
          <a:xfrm>
            <a:off x="4828901" y="3835549"/>
            <a:ext cx="952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Raleway"/>
                <a:ea typeface="Raleway"/>
                <a:cs typeface="Raleway"/>
                <a:sym typeface="Raleway"/>
              </a:rPr>
              <a:t>Zeplin</a:t>
            </a:r>
            <a:endParaRPr b="1" sz="1200">
              <a:solidFill>
                <a:schemeClr val="lt1"/>
              </a:solidFill>
              <a:latin typeface="Raleway"/>
              <a:ea typeface="Raleway"/>
              <a:cs typeface="Raleway"/>
              <a:sym typeface="Raleway"/>
            </a:endParaRPr>
          </a:p>
        </p:txBody>
      </p:sp>
      <p:sp>
        <p:nvSpPr>
          <p:cNvPr id="444" name="Google Shape;444;p57"/>
          <p:cNvSpPr txBox="1"/>
          <p:nvPr/>
        </p:nvSpPr>
        <p:spPr>
          <a:xfrm>
            <a:off x="6291676"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Raleway"/>
                <a:ea typeface="Raleway"/>
                <a:cs typeface="Raleway"/>
                <a:sym typeface="Raleway"/>
              </a:rPr>
              <a:t>Just in mind</a:t>
            </a:r>
            <a:endParaRPr b="1" sz="1200">
              <a:solidFill>
                <a:schemeClr val="lt1"/>
              </a:solidFill>
              <a:latin typeface="Raleway"/>
              <a:ea typeface="Raleway"/>
              <a:cs typeface="Raleway"/>
              <a:sym typeface="Raleway"/>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Berikut adalah peralatan yang secara umum digunakan untuk wireframing, kecuali…</a:t>
            </a:r>
            <a:endParaRPr sz="1200">
              <a:solidFill>
                <a:schemeClr val="lt1"/>
              </a:solidFill>
              <a:latin typeface="Raleway Medium"/>
              <a:ea typeface="Raleway Medium"/>
              <a:cs typeface="Raleway Medium"/>
              <a:sym typeface="Raleway Medium"/>
            </a:endParaRPr>
          </a:p>
        </p:txBody>
      </p:sp>
      <p:pic>
        <p:nvPicPr>
          <p:cNvPr id="450" name="Google Shape;450;p58"/>
          <p:cNvPicPr preferRelativeResize="0"/>
          <p:nvPr/>
        </p:nvPicPr>
        <p:blipFill rotWithShape="1">
          <a:blip r:embed="rId3">
            <a:alphaModFix amt="22000"/>
          </a:blip>
          <a:srcRect b="0" l="17936" r="17936" t="0"/>
          <a:stretch/>
        </p:blipFill>
        <p:spPr>
          <a:xfrm>
            <a:off x="6309275" y="2489625"/>
            <a:ext cx="1244800" cy="1195971"/>
          </a:xfrm>
          <a:prstGeom prst="rect">
            <a:avLst/>
          </a:prstGeom>
          <a:noFill/>
          <a:ln>
            <a:noFill/>
          </a:ln>
        </p:spPr>
      </p:pic>
      <p:pic>
        <p:nvPicPr>
          <p:cNvPr id="451" name="Google Shape;451;p58"/>
          <p:cNvPicPr preferRelativeResize="0"/>
          <p:nvPr/>
        </p:nvPicPr>
        <p:blipFill rotWithShape="1">
          <a:blip r:embed="rId4">
            <a:alphaModFix amt="22000"/>
          </a:blip>
          <a:srcRect b="0" l="0" r="0" t="0"/>
          <a:stretch/>
        </p:blipFill>
        <p:spPr>
          <a:xfrm>
            <a:off x="3056674" y="2484125"/>
            <a:ext cx="1244800" cy="1244823"/>
          </a:xfrm>
          <a:prstGeom prst="rect">
            <a:avLst/>
          </a:prstGeom>
          <a:noFill/>
          <a:ln>
            <a:noFill/>
          </a:ln>
        </p:spPr>
      </p:pic>
      <p:pic>
        <p:nvPicPr>
          <p:cNvPr id="452" name="Google Shape;452;p58"/>
          <p:cNvPicPr preferRelativeResize="0"/>
          <p:nvPr/>
        </p:nvPicPr>
        <p:blipFill rotWithShape="1">
          <a:blip r:embed="rId5">
            <a:alphaModFix amt="22000"/>
          </a:blip>
          <a:srcRect b="39759" l="27382" r="23561" t="11184"/>
          <a:stretch/>
        </p:blipFill>
        <p:spPr>
          <a:xfrm>
            <a:off x="1501275" y="2484125"/>
            <a:ext cx="1244700" cy="1244700"/>
          </a:xfrm>
          <a:prstGeom prst="rect">
            <a:avLst/>
          </a:prstGeom>
          <a:noFill/>
          <a:ln>
            <a:noFill/>
          </a:ln>
        </p:spPr>
      </p:pic>
      <p:sp>
        <p:nvSpPr>
          <p:cNvPr id="453" name="Google Shape;453;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54" name="Google Shape;454;p58"/>
          <p:cNvSpPr txBox="1"/>
          <p:nvPr/>
        </p:nvSpPr>
        <p:spPr>
          <a:xfrm>
            <a:off x="1562350" y="3835550"/>
            <a:ext cx="1183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A667A5"/>
                </a:solidFill>
                <a:latin typeface="Raleway"/>
                <a:ea typeface="Raleway"/>
                <a:cs typeface="Raleway"/>
                <a:sym typeface="Raleway"/>
              </a:rPr>
              <a:t>Balsamiq</a:t>
            </a:r>
            <a:endParaRPr b="1" sz="1200">
              <a:solidFill>
                <a:srgbClr val="A667A5"/>
              </a:solidFill>
              <a:latin typeface="Raleway"/>
              <a:ea typeface="Raleway"/>
              <a:cs typeface="Raleway"/>
              <a:sym typeface="Raleway"/>
            </a:endParaRPr>
          </a:p>
        </p:txBody>
      </p:sp>
      <p:sp>
        <p:nvSpPr>
          <p:cNvPr id="455" name="Google Shape;455;p58"/>
          <p:cNvSpPr txBox="1"/>
          <p:nvPr/>
        </p:nvSpPr>
        <p:spPr>
          <a:xfrm>
            <a:off x="3074250"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A667A5"/>
                </a:solidFill>
                <a:latin typeface="Raleway"/>
                <a:ea typeface="Raleway"/>
                <a:cs typeface="Raleway"/>
                <a:sym typeface="Raleway"/>
              </a:rPr>
              <a:t>Mockplus</a:t>
            </a:r>
            <a:endParaRPr b="1" sz="1200">
              <a:solidFill>
                <a:srgbClr val="A667A5"/>
              </a:solidFill>
              <a:latin typeface="Raleway"/>
              <a:ea typeface="Raleway"/>
              <a:cs typeface="Raleway"/>
              <a:sym typeface="Raleway"/>
            </a:endParaRPr>
          </a:p>
        </p:txBody>
      </p:sp>
      <p:pic>
        <p:nvPicPr>
          <p:cNvPr id="456" name="Google Shape;456;p58"/>
          <p:cNvPicPr preferRelativeResize="0"/>
          <p:nvPr/>
        </p:nvPicPr>
        <p:blipFill rotWithShape="1">
          <a:blip r:embed="rId6">
            <a:alphaModFix/>
          </a:blip>
          <a:srcRect b="1342" l="0" r="0" t="1342"/>
          <a:stretch/>
        </p:blipFill>
        <p:spPr>
          <a:xfrm>
            <a:off x="4682966" y="2489617"/>
            <a:ext cx="1244805" cy="1211339"/>
          </a:xfrm>
          <a:prstGeom prst="rect">
            <a:avLst/>
          </a:prstGeom>
          <a:noFill/>
          <a:ln>
            <a:noFill/>
          </a:ln>
        </p:spPr>
      </p:pic>
      <p:sp>
        <p:nvSpPr>
          <p:cNvPr id="457" name="Google Shape;457;p58"/>
          <p:cNvSpPr txBox="1"/>
          <p:nvPr/>
        </p:nvSpPr>
        <p:spPr>
          <a:xfrm>
            <a:off x="4828901" y="3835549"/>
            <a:ext cx="952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Raleway"/>
                <a:ea typeface="Raleway"/>
                <a:cs typeface="Raleway"/>
                <a:sym typeface="Raleway"/>
              </a:rPr>
              <a:t>Zeplin</a:t>
            </a:r>
            <a:endParaRPr b="1" sz="1200">
              <a:solidFill>
                <a:schemeClr val="lt1"/>
              </a:solidFill>
              <a:latin typeface="Raleway"/>
              <a:ea typeface="Raleway"/>
              <a:cs typeface="Raleway"/>
              <a:sym typeface="Raleway"/>
            </a:endParaRPr>
          </a:p>
        </p:txBody>
      </p:sp>
      <p:sp>
        <p:nvSpPr>
          <p:cNvPr id="458" name="Google Shape;458;p58"/>
          <p:cNvSpPr txBox="1"/>
          <p:nvPr/>
        </p:nvSpPr>
        <p:spPr>
          <a:xfrm>
            <a:off x="6291676"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A667A5"/>
                </a:solidFill>
                <a:latin typeface="Raleway"/>
                <a:ea typeface="Raleway"/>
                <a:cs typeface="Raleway"/>
                <a:sym typeface="Raleway"/>
              </a:rPr>
              <a:t>Just in mind</a:t>
            </a:r>
            <a:endParaRPr b="1" sz="1200">
              <a:solidFill>
                <a:srgbClr val="A667A5"/>
              </a:solidFill>
              <a:latin typeface="Raleway"/>
              <a:ea typeface="Raleway"/>
              <a:cs typeface="Raleway"/>
              <a:sym typeface="Raleway"/>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64" name="Google Shape;464;p5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Prototipe </a:t>
            </a:r>
            <a:r>
              <a:rPr b="1" lang="en" sz="1800">
                <a:solidFill>
                  <a:schemeClr val="lt1"/>
                </a:solidFill>
                <a:latin typeface="Raleway"/>
                <a:ea typeface="Raleway"/>
                <a:cs typeface="Raleway"/>
                <a:sym typeface="Raleway"/>
              </a:rPr>
              <a:t>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sampel awal yang dibangun untuk menguji konsep atau proses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sampel awal yang dibangun untuk keseluruhan desain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sampel awal yang dibangun untuk menemukan ide</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70" name="Google Shape;470;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Prototipe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sampel awal yang dibangun untuk menguji konsep atau proses</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sampel awal yang dibangun untuk keseluruhan desain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sampel awal yang dibangun untuk menemukan ide</a:t>
            </a:r>
            <a:endParaRPr sz="1200">
              <a:solidFill>
                <a:srgbClr val="A667A5"/>
              </a:solidFill>
              <a:latin typeface="Raleway Medium"/>
              <a:ea typeface="Raleway Medium"/>
              <a:cs typeface="Raleway Medium"/>
              <a:sym typeface="Raleway Medium"/>
            </a:endParaRPr>
          </a:p>
        </p:txBody>
      </p:sp>
      <p:sp>
        <p:nvSpPr>
          <p:cNvPr id="471" name="Google Shape;471;p60"/>
          <p:cNvSpPr/>
          <p:nvPr/>
        </p:nvSpPr>
        <p:spPr>
          <a:xfrm>
            <a:off x="685800" y="29577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Prototipe adalah sampel awal yang dibangun untuk menguji konsep atau proses</a:t>
            </a:r>
            <a:endParaRPr b="1" sz="1000">
              <a:solidFill>
                <a:srgbClr val="733572"/>
              </a:solidFill>
              <a:latin typeface="Raleway"/>
              <a:ea typeface="Raleway"/>
              <a:cs typeface="Raleway"/>
              <a:sym typeface="Raleway"/>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77" name="Google Shape;477;p6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Handoff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Proses pengujian prototipe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Proses pembuatan prototipe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Proses penyerahan desain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Proses pengembangan produk</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83" name="Google Shape;483;p6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Handoff adalah…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Proses pengujian prototipe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Proses pembuatan prototipe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Proses penyerahan desain</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Proses pengembangan produk</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84" name="Google Shape;484;p62"/>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Handoff adalah proses penyerhan desain, umumnya dari desainer kepada developer.</a:t>
            </a:r>
            <a:endParaRPr b="1" sz="1000">
              <a:solidFill>
                <a:srgbClr val="733572"/>
              </a:solidFill>
              <a:latin typeface="Raleway"/>
              <a:ea typeface="Raleway"/>
              <a:cs typeface="Raleway"/>
              <a:sym typeface="Raleway"/>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90" name="Google Shape;490;p6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Masukkan peralatan di bawah pada bidang yang tepat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Slack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Trello</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Yammer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Google Hangouts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monday.com</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Asana</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96" name="Google Shape;496;p6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Masukkan peralatan di bawah pada bidang yang tepat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A667A5"/>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Slack</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Trello</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Yammer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Google Hangouts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monday.com</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Asana</a:t>
            </a:r>
            <a:endParaRPr b="1" sz="1800">
              <a:solidFill>
                <a:srgbClr val="A667A5"/>
              </a:solidFill>
              <a:latin typeface="Raleway"/>
              <a:ea typeface="Raleway"/>
              <a:cs typeface="Raleway"/>
              <a:sym typeface="Raleway"/>
            </a:endParaRPr>
          </a:p>
        </p:txBody>
      </p:sp>
      <p:sp>
        <p:nvSpPr>
          <p:cNvPr id="497" name="Google Shape;497;p64"/>
          <p:cNvSpPr/>
          <p:nvPr/>
        </p:nvSpPr>
        <p:spPr>
          <a:xfrm>
            <a:off x="4178450" y="1981416"/>
            <a:ext cx="4044900" cy="7920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Communication </a:t>
            </a:r>
            <a:r>
              <a:rPr b="1" lang="en" sz="1200">
                <a:solidFill>
                  <a:schemeClr val="dk1"/>
                </a:solidFill>
                <a:latin typeface="Raleway"/>
                <a:ea typeface="Raleway"/>
                <a:cs typeface="Raleway"/>
                <a:sym typeface="Raleway"/>
              </a:rPr>
              <a:t>Tools: Slack, Yammer, Google Hangouts</a:t>
            </a:r>
            <a:endParaRPr b="1" sz="1200">
              <a:solidFill>
                <a:schemeClr val="dk1"/>
              </a:solidFill>
              <a:latin typeface="Raleway"/>
              <a:ea typeface="Raleway"/>
              <a:cs typeface="Raleway"/>
              <a:sym typeface="Raleway"/>
            </a:endParaRPr>
          </a:p>
        </p:txBody>
      </p:sp>
      <p:sp>
        <p:nvSpPr>
          <p:cNvPr id="498" name="Google Shape;498;p64"/>
          <p:cNvSpPr/>
          <p:nvPr/>
        </p:nvSpPr>
        <p:spPr>
          <a:xfrm>
            <a:off x="4178450" y="2877350"/>
            <a:ext cx="4044900" cy="79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Collaboration &amp; Tracking</a:t>
            </a:r>
            <a:r>
              <a:rPr b="1" lang="en" sz="1200">
                <a:solidFill>
                  <a:schemeClr val="dk1"/>
                </a:solidFill>
                <a:latin typeface="Raleway"/>
                <a:ea typeface="Raleway"/>
                <a:cs typeface="Raleway"/>
                <a:sym typeface="Raleway"/>
              </a:rPr>
              <a:t> Tools: Trello, Asana, monday.com</a:t>
            </a:r>
            <a:endParaRPr b="1"/>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04" name="Google Shape;504;p6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Masukkan peralatan di bawah pada bidang yang tepat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Slack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Quip</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Yammer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Google Hangouts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Dropbox Paper</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10" name="Google Shape;510;p6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Masukkan peralatan di bawah pada bidang yang tepat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A667A5"/>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Slack</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Quip</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Yammer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Google Hangouts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Dropbox Paper</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rgbClr val="A667A5"/>
              </a:solidFill>
              <a:latin typeface="Raleway Medium"/>
              <a:ea typeface="Raleway Medium"/>
              <a:cs typeface="Raleway Medium"/>
              <a:sym typeface="Raleway Medium"/>
            </a:endParaRPr>
          </a:p>
        </p:txBody>
      </p:sp>
      <p:sp>
        <p:nvSpPr>
          <p:cNvPr id="511" name="Google Shape;511;p66"/>
          <p:cNvSpPr/>
          <p:nvPr/>
        </p:nvSpPr>
        <p:spPr>
          <a:xfrm>
            <a:off x="4178450" y="1981416"/>
            <a:ext cx="4044900" cy="7920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Collaboration &amp; Tracking Tools: Slack, Yammer, Google Hangouts</a:t>
            </a:r>
            <a:endParaRPr b="1" sz="1200">
              <a:solidFill>
                <a:schemeClr val="dk1"/>
              </a:solidFill>
              <a:latin typeface="Raleway"/>
              <a:ea typeface="Raleway"/>
              <a:cs typeface="Raleway"/>
              <a:sym typeface="Raleway"/>
            </a:endParaRPr>
          </a:p>
        </p:txBody>
      </p:sp>
      <p:sp>
        <p:nvSpPr>
          <p:cNvPr id="512" name="Google Shape;512;p66"/>
          <p:cNvSpPr/>
          <p:nvPr/>
        </p:nvSpPr>
        <p:spPr>
          <a:xfrm>
            <a:off x="4178450" y="2877350"/>
            <a:ext cx="4044900" cy="79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Document Sharing</a:t>
            </a:r>
            <a:r>
              <a:rPr b="1" lang="en" sz="1200">
                <a:solidFill>
                  <a:schemeClr val="dk1"/>
                </a:solidFill>
                <a:latin typeface="Raleway"/>
                <a:ea typeface="Raleway"/>
                <a:cs typeface="Raleway"/>
                <a:sym typeface="Raleway"/>
              </a:rPr>
              <a:t> Tools: Quip, Dropbox Paper</a:t>
            </a:r>
            <a:endParaRPr b="1"/>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8" name="Google Shape;518;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519" name="Google Shape;519;p67"/>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520" name="Google Shape;520;p67"/>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hlink"/>
                </a:solidFill>
                <a:latin typeface="Raleway Medium"/>
                <a:ea typeface="Raleway Medium"/>
                <a:cs typeface="Raleway Medium"/>
                <a:sym typeface="Raleway Medium"/>
                <a:hlinkClick r:id="rId4"/>
              </a:rPr>
              <a:t>22 Best Online Collaboration Tools for Design Teams in </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5"/>
              </a:rPr>
              <a:t>2020 by Mockplus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u="sng">
                <a:solidFill>
                  <a:schemeClr val="hlink"/>
                </a:solidFill>
                <a:latin typeface="Raleway Medium"/>
                <a:ea typeface="Raleway Medium"/>
                <a:cs typeface="Raleway Medium"/>
                <a:sym typeface="Raleway Medium"/>
                <a:hlinkClick r:id="rId6"/>
              </a:rPr>
              <a:t>What Figma Plugins Can And Can't Do by Design Files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u="sng">
                <a:solidFill>
                  <a:schemeClr val="hlink"/>
                </a:solidFill>
                <a:latin typeface="Raleway Medium"/>
                <a:ea typeface="Raleway Medium"/>
                <a:cs typeface="Raleway Medium"/>
                <a:sym typeface="Raleway Medium"/>
                <a:hlinkClick r:id="rId7"/>
              </a:rPr>
              <a:t>17 Designer Developer Collaboration and Handoff Tools </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8"/>
              </a:rPr>
              <a:t>For 2021 on medium</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524" name="Shape 524"/>
        <p:cNvGrpSpPr/>
        <p:nvPr/>
      </p:nvGrpSpPr>
      <p:grpSpPr>
        <a:xfrm>
          <a:off x="0" y="0"/>
          <a:ext cx="0" cy="0"/>
          <a:chOff x="0" y="0"/>
          <a:chExt cx="0" cy="0"/>
        </a:xfrm>
      </p:grpSpPr>
      <p:sp>
        <p:nvSpPr>
          <p:cNvPr id="525" name="Google Shape;525;p68"/>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26" name="Google Shape;526;p68"/>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27" name="Google Shape;527;p68"/>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28" name="Google Shape;528;p68"/>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29" name="Google Shape;529;p68"/>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530" name="Google Shape;530;p68"/>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531" name="Google Shape;531;p68"/>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532" name="Google Shape;532;p68"/>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