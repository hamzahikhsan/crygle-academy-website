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y="5143500" cx="9144000"/>
  <p:notesSz cx="6858000" cy="9144000"/>
  <p:embeddedFontLst>
    <p:embeddedFont>
      <p:font typeface="Raleway"/>
      <p:regular r:id="rId73"/>
      <p:bold r:id="rId74"/>
      <p:italic r:id="rId75"/>
      <p:boldItalic r:id="rId76"/>
    </p:embeddedFont>
    <p:embeddedFont>
      <p:font typeface="Montserrat"/>
      <p:regular r:id="rId77"/>
      <p:bold r:id="rId78"/>
      <p:italic r:id="rId79"/>
      <p:boldItalic r:id="rId80"/>
    </p:embeddedFont>
    <p:embeddedFont>
      <p:font typeface="Lato Black"/>
      <p:bold r:id="rId81"/>
      <p:boldItalic r:id="rId82"/>
    </p:embeddedFont>
    <p:embeddedFont>
      <p:font typeface="Raleway Medium"/>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alewayMedium-bold.fntdata"/><Relationship Id="rId83" Type="http://schemas.openxmlformats.org/officeDocument/2006/relationships/font" Target="fonts/RalewayMedium-regular.fntdata"/><Relationship Id="rId42" Type="http://schemas.openxmlformats.org/officeDocument/2006/relationships/slide" Target="slides/slide37.xml"/><Relationship Id="rId86" Type="http://schemas.openxmlformats.org/officeDocument/2006/relationships/font" Target="fonts/RalewayMedium-boldItalic.fntdata"/><Relationship Id="rId41" Type="http://schemas.openxmlformats.org/officeDocument/2006/relationships/slide" Target="slides/slide36.xml"/><Relationship Id="rId85" Type="http://schemas.openxmlformats.org/officeDocument/2006/relationships/font" Target="fonts/RalewayMedium-italic.fntdata"/><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Montserrat-boldItalic.fntdata"/><Relationship Id="rId82" Type="http://schemas.openxmlformats.org/officeDocument/2006/relationships/font" Target="fonts/LatoBlack-boldItalic.fntdata"/><Relationship Id="rId81" Type="http://schemas.openxmlformats.org/officeDocument/2006/relationships/font" Target="fonts/LatoBlac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regular.fntdata"/><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Raleway-italic.fntdata"/><Relationship Id="rId30" Type="http://schemas.openxmlformats.org/officeDocument/2006/relationships/slide" Target="slides/slide25.xml"/><Relationship Id="rId74" Type="http://schemas.openxmlformats.org/officeDocument/2006/relationships/font" Target="fonts/Raleway-bold.fntdata"/><Relationship Id="rId33" Type="http://schemas.openxmlformats.org/officeDocument/2006/relationships/slide" Target="slides/slide28.xml"/><Relationship Id="rId77" Type="http://schemas.openxmlformats.org/officeDocument/2006/relationships/font" Target="fonts/Montserrat-regular.fntdata"/><Relationship Id="rId32" Type="http://schemas.openxmlformats.org/officeDocument/2006/relationships/slide" Target="slides/slide27.xml"/><Relationship Id="rId76" Type="http://schemas.openxmlformats.org/officeDocument/2006/relationships/font" Target="fonts/Raleway-boldItalic.fntdata"/><Relationship Id="rId35" Type="http://schemas.openxmlformats.org/officeDocument/2006/relationships/slide" Target="slides/slide30.xml"/><Relationship Id="rId79" Type="http://schemas.openxmlformats.org/officeDocument/2006/relationships/font" Target="fonts/Montserrat-italic.fntdata"/><Relationship Id="rId34" Type="http://schemas.openxmlformats.org/officeDocument/2006/relationships/slide" Target="slides/slide29.xml"/><Relationship Id="rId78" Type="http://schemas.openxmlformats.org/officeDocument/2006/relationships/font" Target="fonts/Montserrat-bold.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wireframes-paper?utm_source=unsplash&amp;utm_medium=referral&amp;utm_content=creditCopyText" TargetMode="External"/><Relationship Id="rId5" Type="http://schemas.openxmlformats.org/officeDocument/2006/relationships/hyperlink" Target="https://unsplash.com/s/photos/wireframes-paper?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wireframes-paper?utm_source=unsplash&amp;utm_medium=referral&amp;utm_content=creditCopyText" TargetMode="External"/><Relationship Id="rId5" Type="http://schemas.openxmlformats.org/officeDocument/2006/relationships/hyperlink" Target="https://unsplash.com/s/photos/wireframes-paper?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13d6c8b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13d6c8b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68355756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68355756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174bdd19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174bdd19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https://xd.adobe.com/ideas/process/wireframing/wireframe-examples-websites-mobile-apps/</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174bdd19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174bdd19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https://www.nngroup.com/articles/draw-wireframe-even-if-you-cant-draw/</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174bdd19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174bdd19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https://www.nngroup.com/articles/draw-wireframe-even-if-you-cant-draw/</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174bdd19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174bdd19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https://www.nngroup.com/articles/draw-wireframe-even-if-you-cant-draw/</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174bdd19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174bdd19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https://www.nngroup.com/articles/draw-wireframe-even-if-you-cant-draw/</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174bdd19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174bdd19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https://www.nngroup.com/articles/draw-wireframe-even-if-you-cant-draw/</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174bdd19f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174bdd19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https://www.nngroup.com/articles/draw-wireframe-even-if-you-cant-draw/</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174bdd19f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174bdd19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https://uxplanet.org/getting-started-with-wireframing-8bf5eedd2d30</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1174bdd19f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1174bdd19f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https://blog.prototypr.io/how-paper-wireframing-will-make-you-a-better-designer-5a57db8dca13</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1174bdd19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1174bdd19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https://balsamiq.com/learn/articles/what-are-wireframes/</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1174bdd19f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1174bdd19f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https://www.nngroup.com/articles/draw-wireframe-even-if-you-cant-draw/</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1174bdd19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1174bdd19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https://www.justinmind.com/wireframe</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11421c87e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11421c87e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11421c87e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11421c87e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1174bdd19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1174bdd19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1174bdd19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1174bdd19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https://files.design/blog/figma-plugins-overview</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1174bdd19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1174bdd19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174bdd19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1174bdd19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1174bdd19f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1174bdd19f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168355756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168355756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68355756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68355756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68355756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68355756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168355756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168355756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168355756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168355756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168355756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168355756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68355756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68355756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1683557567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168355756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1683557567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1683557567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168355756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168355756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168355756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168355756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6835575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16835575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1174bdd19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1174bdd19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1174bdd19f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1174bdd19f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1683557567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1683557567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68355756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683557567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1683557567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1683557567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68355756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68355756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68355756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68355756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168355756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168355756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1174bdd19f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1174bdd19f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1174bdd19f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1174bdd19f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1174bdd19f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1174bdd19f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1174bdd19f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1174bdd19f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1174bdd19f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1174bdd19f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Images from https://app.uxcel.com/courses/designing-wireframes/what-are-wireflows-804</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174bdd19f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174bdd19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https://www.nngroup.com/articles/draw-wireframe-even-if-you-cant-draw/</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174bdd19f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174bdd19f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https://www.behance.net/gallery/38181179/UI-Wireflows</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174bdd19f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174bdd19f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https://www.nngroup.com/articles/wireflows/</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174bdd19f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174bdd19f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a:t>
            </a:r>
            <a:r>
              <a:rPr lang="en">
                <a:solidFill>
                  <a:schemeClr val="dk1"/>
                </a:solidFill>
              </a:rPr>
              <a:t> https://www.nngroup.com/articles/wireflows/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174bdd19f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1174bdd19f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https://www.grahamtodman.co.uk/blog/category/wireflow/</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1174bdd19f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1174bdd19f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1174bdd19f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1174bdd19f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1174bdd19f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1174bdd19f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1174bdd19f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1174bdd19f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1174bdd19f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11174bdd19f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12ce3ad86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12ce3ad86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12ce3ad86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12ce3ad86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174bdd19f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174bdd19f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1174bdd19f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1174bdd19f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2ce3ad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2ce3ad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image" Target="../media/image2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image" Target="../media/image2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xd.adobe.com/ideas/process/wireframing/wireframe-examples-websites-mobile-apps/"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nngroup.com/articles/draw-wireframe-even-if-you-cant-draw/" TargetMode="External"/><Relationship Id="rId4" Type="http://schemas.openxmlformats.org/officeDocument/2006/relationships/image" Target="../media/image2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nngroup.com/articles/draw-wireframe-even-if-you-cant-draw/" TargetMode="External"/><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nngroup.com/articles/draw-wireframe-even-if-you-cant-draw/" TargetMode="Externa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nngroup.com/articles/draw-wireframe-even-if-you-cant-draw/" TargetMode="External"/><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nngroup.com/articles/draw-wireframe-even-if-you-cant-draw/" TargetMode="External"/><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nngroup.com/articles/draw-wireframe-even-if-you-cant-draw/" TargetMode="External"/><Relationship Id="rId4" Type="http://schemas.openxmlformats.org/officeDocument/2006/relationships/image" Target="../media/image3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xplanet.org/getting-started-with-wireframing-8bf5eedd2d30" TargetMode="Externa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blog.prototypr.io/how-paper-wireframing-will-make-you-a-better-designer-5a57db8dca13" TargetMode="Externa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balsamiq.com/learn/articles/what-are-wireframes/" TargetMode="Externa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nngroup.com/articles/draw-wireframe-even-if-you-cant-draw/" TargetMode="External"/><Relationship Id="rId4"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justinmind.com/wireframe" TargetMode="Externa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files.design/blog/figma-plugins-overview" TargetMode="Externa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2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8.png"/><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hyperlink" Target="https://www.nngroup.com/articles/draw-wireframe-even-if-you-cant-draw/" TargetMode="External"/><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www.behance.net/gallery/38181179/UI-Wireflows" TargetMode="External"/><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www.nngroup.com/articles/wireflows/" TargetMode="Externa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www.nngroup.com/articles/wireflows/" TargetMode="External"/><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www.grahamtodman.co.uk/blog/category/wireflow/" TargetMode="External"/><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4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image" Target="../media/image46.png"/></Relationships>
</file>

<file path=ppt/slides/_rels/slide66.xml.rels><?xml version="1.0" encoding="UTF-8" standalone="yes"?><Relationships xmlns="http://schemas.openxmlformats.org/package/2006/relationships"><Relationship Id="rId11" Type="http://schemas.openxmlformats.org/officeDocument/2006/relationships/hyperlink" Target="https://uxplanet.org/getting-started-with-wireframing-8bf5eedd2d30" TargetMode="External"/><Relationship Id="rId10" Type="http://schemas.openxmlformats.org/officeDocument/2006/relationships/hyperlink" Target="https://www.nngroup.com/articles/draw-wireframe-even-if-you-cant-draw/" TargetMode="External"/><Relationship Id="rId12" Type="http://schemas.openxmlformats.org/officeDocument/2006/relationships/hyperlink" Target="https://app.uxcel.com/courses/designing-wireframes/what-are-wireflows-804" TargetMode="External"/><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www.nngroup.com/articles/draw-wireframe-even-if-you-cant-draw/"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article/5-stages-in-the-design-thinking-process" TargetMode="External"/><Relationship Id="rId7" Type="http://schemas.openxmlformats.org/officeDocument/2006/relationships/hyperlink" Target="https://www.interaction-design.org/literature/article/5-stages-in-the-design-thinking-process" TargetMode="External"/><Relationship Id="rId8" Type="http://schemas.openxmlformats.org/officeDocument/2006/relationships/hyperlink" Target="https://www.interaction-design.org/literature/topics/ideation"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 name="Shape 81"/>
        <p:cNvGrpSpPr/>
        <p:nvPr/>
      </p:nvGrpSpPr>
      <p:grpSpPr>
        <a:xfrm>
          <a:off x="0" y="0"/>
          <a:ext cx="0" cy="0"/>
          <a:chOff x="0" y="0"/>
          <a:chExt cx="0" cy="0"/>
        </a:xfrm>
      </p:grpSpPr>
      <p:sp>
        <p:nvSpPr>
          <p:cNvPr id="82" name="Google Shape;82;p16"/>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Ideate Pt 2</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3 - Topic 5</a:t>
            </a:r>
            <a:endParaRPr b="1">
              <a:solidFill>
                <a:srgbClr val="FFFFFF"/>
              </a:solidFill>
              <a:latin typeface="Raleway"/>
              <a:ea typeface="Raleway"/>
              <a:cs typeface="Raleway"/>
              <a:sym typeface="Raleway"/>
            </a:endParaRPr>
          </a:p>
        </p:txBody>
      </p:sp>
      <p:cxnSp>
        <p:nvCxnSpPr>
          <p:cNvPr id="83" name="Google Shape;83;p16"/>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4" name="Google Shape;84;p16"/>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5" name="Google Shape;85;p16"/>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 name="Google Shape;91;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92" name="Google Shape;92;p1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3" name="Google Shape;93;p17"/>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 Ideate Pt 2</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Menyusun wireframes</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Menggunakan peralatan wireframing</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Flowcharts vs wireflows vs wireframes</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4) Menyusun wireflows</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Menyusun wireframes</a:t>
            </a:r>
            <a:endParaRPr>
              <a:solidFill>
                <a:schemeClr val="accent1"/>
              </a:solidFill>
            </a:endParaRPr>
          </a:p>
        </p:txBody>
      </p:sp>
      <p:sp>
        <p:nvSpPr>
          <p:cNvPr id="99" name="Google Shape;99;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06" name="Google Shape;106;p1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Wireframing adalah proses pembuatan wireframe, yang pada umumnya dilakukan sebelum pembuatan produk tersebut dilakukan.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Wireframe adalah sebuah kerangka untuk menata suatu item di laman website atau aplikasi. </a:t>
            </a:r>
            <a:endParaRPr sz="1200">
              <a:solidFill>
                <a:schemeClr val="dk1"/>
              </a:solidFill>
              <a:latin typeface="Raleway Medium"/>
              <a:ea typeface="Raleway Medium"/>
              <a:cs typeface="Raleway Medium"/>
              <a:sym typeface="Raleway Medium"/>
            </a:endParaRPr>
          </a:p>
        </p:txBody>
      </p:sp>
      <p:pic>
        <p:nvPicPr>
          <p:cNvPr id="107" name="Google Shape;107;p19">
            <a:hlinkClick r:id="rId3"/>
          </p:cNvPr>
          <p:cNvPicPr preferRelativeResize="0"/>
          <p:nvPr/>
        </p:nvPicPr>
        <p:blipFill rotWithShape="1">
          <a:blip r:embed="rId4">
            <a:alphaModFix/>
          </a:blip>
          <a:srcRect b="0" l="8753" r="8745" t="0"/>
          <a:stretch/>
        </p:blipFill>
        <p:spPr>
          <a:xfrm>
            <a:off x="5486400" y="1280150"/>
            <a:ext cx="3017523"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14" name="Google Shape;114;p2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Membuat wireframes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komponen umum yang digunakan dalam wireframe.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tahu cara membuat sketsa dasar ini, Anda bisa fokus untuk mendapatkan ide Anda dengan benar daripada cara menggambar.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Berikut adalah panduan langkah demi langkah untuk membuat Anda membuat sketsa dengan cepat.</a:t>
            </a:r>
            <a:endParaRPr sz="1200">
              <a:solidFill>
                <a:schemeClr val="dk1"/>
              </a:solidFill>
              <a:latin typeface="Raleway Medium"/>
              <a:ea typeface="Raleway Medium"/>
              <a:cs typeface="Raleway Medium"/>
              <a:sym typeface="Raleway Medium"/>
            </a:endParaRPr>
          </a:p>
        </p:txBody>
      </p:sp>
      <p:pic>
        <p:nvPicPr>
          <p:cNvPr id="115" name="Google Shape;115;p20">
            <a:hlinkClick r:id="rId3"/>
          </p:cNvPr>
          <p:cNvPicPr preferRelativeResize="0"/>
          <p:nvPr/>
        </p:nvPicPr>
        <p:blipFill rotWithShape="1">
          <a:blip r:embed="rId4">
            <a:alphaModFix/>
          </a:blip>
          <a:srcRect b="0" l="8753" r="8745" t="0"/>
          <a:stretch/>
        </p:blipFill>
        <p:spPr>
          <a:xfrm>
            <a:off x="5486400" y="1280150"/>
            <a:ext cx="3017523"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22" name="Google Shape;122;p2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Langkah 1: Identifikasi </a:t>
            </a:r>
            <a:r>
              <a:rPr b="1" i="1" lang="en" sz="1800">
                <a:solidFill>
                  <a:srgbClr val="743673"/>
                </a:solidFill>
                <a:highlight>
                  <a:schemeClr val="lt1"/>
                </a:highlight>
                <a:latin typeface="Raleway"/>
                <a:ea typeface="Raleway"/>
                <a:cs typeface="Raleway"/>
                <a:sym typeface="Raleway"/>
              </a:rPr>
              <a:t>aspect ratio </a:t>
            </a:r>
            <a:r>
              <a:rPr b="1" lang="en" sz="1800">
                <a:solidFill>
                  <a:srgbClr val="743673"/>
                </a:solidFill>
                <a:highlight>
                  <a:schemeClr val="lt1"/>
                </a:highlight>
                <a:latin typeface="Raleway"/>
                <a:ea typeface="Raleway"/>
                <a:cs typeface="Raleway"/>
                <a:sym typeface="Raleway"/>
              </a:rPr>
              <a:t>jendela browser atau perangkat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Rasio ini tidak harus tepat terutama jika Anda membuat sketsa dengan tangan. Untuk wireframes dengan fidelitas yang lebih tinggi, berikut adalah beberapa dimensi awal: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Untuk web, dimensi yang umum adalah 1024x768 piksel dan 1920x1080 piksel.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Untuk seluler, dimensi akan berkisar berdasarkan perangkat tertentu (mis., tablet, ponsel dengan berbagai ukuran). Mulailah dengan mencari tahu perangkat apa yang harus Anda optimalkan.</a:t>
            </a:r>
            <a:endParaRPr sz="1200">
              <a:solidFill>
                <a:schemeClr val="dk1"/>
              </a:solidFill>
              <a:latin typeface="Raleway Medium"/>
              <a:ea typeface="Raleway Medium"/>
              <a:cs typeface="Raleway Medium"/>
              <a:sym typeface="Raleway Medium"/>
            </a:endParaRPr>
          </a:p>
        </p:txBody>
      </p:sp>
      <p:pic>
        <p:nvPicPr>
          <p:cNvPr id="123" name="Google Shape;123;p21">
            <a:hlinkClick r:id="rId3"/>
          </p:cNvPr>
          <p:cNvPicPr preferRelativeResize="0"/>
          <p:nvPr/>
        </p:nvPicPr>
        <p:blipFill rotWithShape="1">
          <a:blip r:embed="rId4">
            <a:alphaModFix/>
          </a:blip>
          <a:srcRect b="2502" l="47070" r="1306" t="7472"/>
          <a:stretch/>
        </p:blipFill>
        <p:spPr>
          <a:xfrm>
            <a:off x="5486400" y="1280150"/>
            <a:ext cx="3017522"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a:t>
            </a:r>
            <a:r>
              <a:rPr lang="en"/>
              <a:t> wireframes</a:t>
            </a:r>
            <a:endParaRPr/>
          </a:p>
        </p:txBody>
      </p:sp>
      <p:sp>
        <p:nvSpPr>
          <p:cNvPr id="130" name="Google Shape;130;p2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Langkah</a:t>
            </a:r>
            <a:r>
              <a:rPr b="1" lang="en" sz="1800">
                <a:solidFill>
                  <a:srgbClr val="743673"/>
                </a:solidFill>
                <a:highlight>
                  <a:schemeClr val="lt1"/>
                </a:highlight>
                <a:latin typeface="Raleway"/>
                <a:ea typeface="Raleway"/>
                <a:cs typeface="Raleway"/>
                <a:sym typeface="Raleway"/>
              </a:rPr>
              <a:t> 2: Identifikasi navigasi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Navigasi dan pencarian menambahkan konteks pada wireframes.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memulai dari awal, pikirkan tentang jenis navigasi yang mungkin berfungsi. (Ingat, Anda tidak perlu melakukannya dengan benar pertama kali.) Tunjukkan bilah navigasi (baik horizontal atau vertikal) dengan menggambar persegi panjang di posisi yang sesuai pada halaman.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ingin menunjukkan bahwa Anda berada di tautan navigasi tertentu, garis bawahi atau letakkan kotak di sekitar tautan itu.</a:t>
            </a:r>
            <a:endParaRPr sz="1200">
              <a:solidFill>
                <a:schemeClr val="dk1"/>
              </a:solidFill>
              <a:latin typeface="Raleway Medium"/>
              <a:ea typeface="Raleway Medium"/>
              <a:cs typeface="Raleway Medium"/>
              <a:sym typeface="Raleway Medium"/>
            </a:endParaRPr>
          </a:p>
        </p:txBody>
      </p:sp>
      <p:pic>
        <p:nvPicPr>
          <p:cNvPr id="131" name="Google Shape;131;p22">
            <a:hlinkClick r:id="rId3"/>
          </p:cNvPr>
          <p:cNvPicPr preferRelativeResize="0"/>
          <p:nvPr/>
        </p:nvPicPr>
        <p:blipFill rotWithShape="1">
          <a:blip r:embed="rId4">
            <a:alphaModFix/>
          </a:blip>
          <a:srcRect b="0" l="0" r="0" t="0"/>
          <a:stretch/>
        </p:blipFill>
        <p:spPr>
          <a:xfrm>
            <a:off x="5486400" y="1280150"/>
            <a:ext cx="3017526" cy="30729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38" name="Google Shape;138;p2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Langkah</a:t>
            </a:r>
            <a:r>
              <a:rPr b="1" lang="en" sz="1800">
                <a:solidFill>
                  <a:srgbClr val="743673"/>
                </a:solidFill>
                <a:highlight>
                  <a:schemeClr val="lt1"/>
                </a:highlight>
                <a:latin typeface="Raleway"/>
                <a:ea typeface="Raleway"/>
                <a:cs typeface="Raleway"/>
                <a:sym typeface="Raleway"/>
              </a:rPr>
              <a:t> 2: Identifikasi navigasi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Fitur pencarian dapat direpresentasikan melalui ikon pencarian dan kotak pencarian, seperti pada contoh di samping.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perlu, Anda dapat menampilkan saran pencarian dalam persegi panjang di bawah kotak pencarian.</a:t>
            </a:r>
            <a:endParaRPr sz="1200">
              <a:solidFill>
                <a:schemeClr val="dk1"/>
              </a:solidFill>
              <a:latin typeface="Raleway Medium"/>
              <a:ea typeface="Raleway Medium"/>
              <a:cs typeface="Raleway Medium"/>
              <a:sym typeface="Raleway Medium"/>
            </a:endParaRPr>
          </a:p>
        </p:txBody>
      </p:sp>
      <p:pic>
        <p:nvPicPr>
          <p:cNvPr id="139" name="Google Shape;139;p23">
            <a:hlinkClick r:id="rId3"/>
          </p:cNvPr>
          <p:cNvPicPr preferRelativeResize="0"/>
          <p:nvPr/>
        </p:nvPicPr>
        <p:blipFill rotWithShape="1">
          <a:blip r:embed="rId4">
            <a:alphaModFix/>
          </a:blip>
          <a:srcRect b="-112585" l="0" r="0" t="0"/>
          <a:stretch/>
        </p:blipFill>
        <p:spPr>
          <a:xfrm>
            <a:off x="5486400" y="1280150"/>
            <a:ext cx="3017523" cy="30729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46" name="Google Shape;146;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Langkah </a:t>
            </a:r>
            <a:r>
              <a:rPr b="1" lang="en" sz="1800">
                <a:solidFill>
                  <a:srgbClr val="743673"/>
                </a:solidFill>
                <a:highlight>
                  <a:schemeClr val="lt1"/>
                </a:highlight>
                <a:latin typeface="Raleway"/>
                <a:ea typeface="Raleway"/>
                <a:cs typeface="Raleway"/>
                <a:sym typeface="Raleway"/>
              </a:rPr>
              <a:t>3: </a:t>
            </a:r>
            <a:r>
              <a:rPr b="1" lang="en" sz="1800">
                <a:solidFill>
                  <a:srgbClr val="743673"/>
                </a:solidFill>
                <a:highlight>
                  <a:schemeClr val="lt1"/>
                </a:highlight>
                <a:latin typeface="Raleway"/>
                <a:ea typeface="Raleway"/>
                <a:cs typeface="Raleway"/>
                <a:sym typeface="Raleway"/>
              </a:rPr>
              <a:t>Identifikasi dan gambar elemen terbesar dalam desain Anda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Selanjutnya, fokuslah untuk menggambar bagian utama dari ide Anda — misalnya, header, spanduk besar dan gambar, atau bahkan bagian besar dari body copy. Berikut adalah beberapa konvensi wireframing umum: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Header diilustrasikan menggunakan garis yang tebal.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Teks isi dibuat sketsa menggunakan garis yang tipis.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Sebuah gambar direpresentasikan sebagai persegi panjang dengan x melaluinya.</a:t>
            </a:r>
            <a:endParaRPr sz="1200">
              <a:solidFill>
                <a:schemeClr val="dk1"/>
              </a:solidFill>
              <a:latin typeface="Raleway Medium"/>
              <a:ea typeface="Raleway Medium"/>
              <a:cs typeface="Raleway Medium"/>
              <a:sym typeface="Raleway Medium"/>
            </a:endParaRPr>
          </a:p>
        </p:txBody>
      </p:sp>
      <p:pic>
        <p:nvPicPr>
          <p:cNvPr id="147" name="Google Shape;147;p24">
            <a:hlinkClick r:id="rId3"/>
          </p:cNvPr>
          <p:cNvPicPr preferRelativeResize="0"/>
          <p:nvPr/>
        </p:nvPicPr>
        <p:blipFill rotWithShape="1">
          <a:blip r:embed="rId4">
            <a:alphaModFix/>
          </a:blip>
          <a:srcRect b="-57059" l="0" r="0" t="0"/>
          <a:stretch/>
        </p:blipFill>
        <p:spPr>
          <a:xfrm>
            <a:off x="5486400" y="1280150"/>
            <a:ext cx="3017523" cy="30729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54" name="Google Shape;154;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Langkah</a:t>
            </a:r>
            <a:r>
              <a:rPr b="1" lang="en" sz="1800">
                <a:solidFill>
                  <a:srgbClr val="743673"/>
                </a:solidFill>
                <a:highlight>
                  <a:schemeClr val="lt1"/>
                </a:highlight>
                <a:latin typeface="Raleway"/>
                <a:ea typeface="Raleway"/>
                <a:cs typeface="Raleway"/>
                <a:sym typeface="Raleway"/>
              </a:rPr>
              <a:t> 4: Isi rincian yang tersisa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Umumnya, detail ini adalah komponen kecil seperti tombol, dropdown, kotak centang, atau tombol rasio, tetapi juga dapat menyertakan bidang teks.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membingkai beberapa layar yang merupakan bagian dari alur pengalaman, Anda mungkin juga akan mencantumkan </a:t>
            </a:r>
            <a:r>
              <a:rPr i="1" lang="en" sz="1200">
                <a:solidFill>
                  <a:schemeClr val="dk1"/>
                </a:solidFill>
                <a:latin typeface="Raleway Medium"/>
                <a:ea typeface="Raleway Medium"/>
                <a:cs typeface="Raleway Medium"/>
                <a:sym typeface="Raleway Medium"/>
              </a:rPr>
              <a:t>progress bars </a:t>
            </a:r>
            <a:r>
              <a:rPr lang="en" sz="1200">
                <a:solidFill>
                  <a:schemeClr val="dk1"/>
                </a:solidFill>
                <a:latin typeface="Raleway Medium"/>
                <a:ea typeface="Raleway Medium"/>
                <a:cs typeface="Raleway Medium"/>
                <a:sym typeface="Raleway Medium"/>
              </a:rPr>
              <a:t>dan </a:t>
            </a:r>
            <a:r>
              <a:rPr i="1" lang="en" sz="1200">
                <a:solidFill>
                  <a:schemeClr val="dk1"/>
                </a:solidFill>
                <a:latin typeface="Raleway Medium"/>
                <a:ea typeface="Raleway Medium"/>
                <a:cs typeface="Raleway Medium"/>
                <a:sym typeface="Raleway Medium"/>
              </a:rPr>
              <a:t>dialogs.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Jangan lupa untuk menambahkan CTA atau </a:t>
            </a:r>
            <a:r>
              <a:rPr i="1" lang="en" sz="1200">
                <a:solidFill>
                  <a:schemeClr val="dk1"/>
                </a:solidFill>
                <a:latin typeface="Raleway Medium"/>
                <a:ea typeface="Raleway Medium"/>
                <a:cs typeface="Raleway Medium"/>
                <a:sym typeface="Raleway Medium"/>
              </a:rPr>
              <a:t>call-to-actions </a:t>
            </a:r>
            <a:r>
              <a:rPr lang="en" sz="1200">
                <a:solidFill>
                  <a:schemeClr val="dk1"/>
                </a:solidFill>
                <a:latin typeface="Raleway Medium"/>
                <a:ea typeface="Raleway Medium"/>
                <a:cs typeface="Raleway Medium"/>
                <a:sym typeface="Raleway Medium"/>
              </a:rPr>
              <a:t>dan menampilkan pilihan, karena detail ini membantu orang lain memahami ide desain Anda.</a:t>
            </a:r>
            <a:endParaRPr sz="1200">
              <a:solidFill>
                <a:schemeClr val="dk1"/>
              </a:solidFill>
              <a:latin typeface="Raleway Medium"/>
              <a:ea typeface="Raleway Medium"/>
              <a:cs typeface="Raleway Medium"/>
              <a:sym typeface="Raleway Medium"/>
            </a:endParaRPr>
          </a:p>
        </p:txBody>
      </p:sp>
      <p:pic>
        <p:nvPicPr>
          <p:cNvPr id="155" name="Google Shape;155;p25">
            <a:hlinkClick r:id="rId3"/>
          </p:cNvPr>
          <p:cNvPicPr preferRelativeResize="0"/>
          <p:nvPr/>
        </p:nvPicPr>
        <p:blipFill rotWithShape="1">
          <a:blip r:embed="rId4">
            <a:alphaModFix/>
          </a:blip>
          <a:srcRect b="53373" l="0" r="0" t="0"/>
          <a:stretch/>
        </p:blipFill>
        <p:spPr>
          <a:xfrm>
            <a:off x="5486400" y="1280151"/>
            <a:ext cx="3017523" cy="17733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62" name="Google Shape;162;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Langkah</a:t>
            </a:r>
            <a:r>
              <a:rPr b="1" lang="en" sz="1800">
                <a:solidFill>
                  <a:srgbClr val="743673"/>
                </a:solidFill>
                <a:highlight>
                  <a:schemeClr val="lt1"/>
                </a:highlight>
                <a:latin typeface="Raleway"/>
                <a:ea typeface="Raleway"/>
                <a:cs typeface="Raleway"/>
                <a:sym typeface="Raleway"/>
              </a:rPr>
              <a:t> 4: </a:t>
            </a:r>
            <a:r>
              <a:rPr b="1" lang="en" sz="1800">
                <a:solidFill>
                  <a:srgbClr val="743673"/>
                </a:solidFill>
                <a:highlight>
                  <a:schemeClr val="lt1"/>
                </a:highlight>
                <a:latin typeface="Raleway"/>
                <a:ea typeface="Raleway"/>
                <a:cs typeface="Raleway"/>
                <a:sym typeface="Raleway"/>
              </a:rPr>
              <a:t>Isi rincian yang tersisa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Dropdown terbuat dari persegi panjang dan caret</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Kotak centang dan tombol radio masing-masing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memiliki kotak atau lingkaran, dan garis untuk mewakili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teks. Untuk menampilkan pilihan, kotak centang harus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memiliki tanda centang dan tombol radio perlu diisi.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Tombol dapat direpresentasikan dalam berbagai cara.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Umumnya, persegi panjang dasar dengan garis atau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panah untuk menunjukkan bahwa elemen tersebut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membawa pengguna ke tempat lain.</a:t>
            </a:r>
            <a:endParaRPr sz="1200">
              <a:solidFill>
                <a:schemeClr val="dk1"/>
              </a:solidFill>
              <a:latin typeface="Raleway Medium"/>
              <a:ea typeface="Raleway Medium"/>
              <a:cs typeface="Raleway Medium"/>
              <a:sym typeface="Raleway Medium"/>
            </a:endParaRPr>
          </a:p>
        </p:txBody>
      </p:sp>
      <p:pic>
        <p:nvPicPr>
          <p:cNvPr id="163" name="Google Shape;163;p26">
            <a:hlinkClick r:id="rId3"/>
          </p:cNvPr>
          <p:cNvPicPr preferRelativeResize="0"/>
          <p:nvPr/>
        </p:nvPicPr>
        <p:blipFill rotWithShape="1">
          <a:blip r:embed="rId4">
            <a:alphaModFix/>
          </a:blip>
          <a:srcRect b="0" l="0" r="0" t="43104"/>
          <a:stretch/>
        </p:blipFill>
        <p:spPr>
          <a:xfrm>
            <a:off x="5486400" y="1280154"/>
            <a:ext cx="3017523" cy="21638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70" name="Google Shape;170;p2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Langkah</a:t>
            </a:r>
            <a:r>
              <a:rPr b="1" lang="en" sz="1800">
                <a:solidFill>
                  <a:srgbClr val="743673"/>
                </a:solidFill>
                <a:highlight>
                  <a:schemeClr val="lt1"/>
                </a:highlight>
                <a:latin typeface="Raleway"/>
                <a:ea typeface="Raleway"/>
                <a:cs typeface="Raleway"/>
                <a:sym typeface="Raleway"/>
              </a:rPr>
              <a:t> 4: Isi rincian yang tersisa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Header</a:t>
            </a:r>
            <a:r>
              <a:rPr lang="en" sz="1200">
                <a:solidFill>
                  <a:schemeClr val="dk1"/>
                </a:solidFill>
                <a:latin typeface="Raleway Medium"/>
                <a:ea typeface="Raleway Medium"/>
                <a:cs typeface="Raleway Medium"/>
                <a:sym typeface="Raleway Medium"/>
              </a:rPr>
              <a:t> memiliki satu atau dua baris teks, dengan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tombol terkait</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Dialog berisi header, 1-2 baris teks, 1-2 tombol, dan ikon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Batal.</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Indikator kemajuan (progress bars/progress indicator)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adalah persegi panjang bulat yang sebagian terisi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untuk menggambarkan waktu tunggu yang tersisa.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Ikon dapat direpresentasikan dengan cara yang sama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seperti gambar (dengan X).</a:t>
            </a:r>
            <a:endParaRPr sz="1200">
              <a:solidFill>
                <a:schemeClr val="dk1"/>
              </a:solidFill>
              <a:latin typeface="Raleway Medium"/>
              <a:ea typeface="Raleway Medium"/>
              <a:cs typeface="Raleway Medium"/>
              <a:sym typeface="Raleway Medium"/>
            </a:endParaRPr>
          </a:p>
        </p:txBody>
      </p:sp>
      <p:pic>
        <p:nvPicPr>
          <p:cNvPr id="171" name="Google Shape;171;p27">
            <a:hlinkClick r:id="rId3"/>
          </p:cNvPr>
          <p:cNvPicPr preferRelativeResize="0"/>
          <p:nvPr/>
        </p:nvPicPr>
        <p:blipFill rotWithShape="1">
          <a:blip r:embed="rId4">
            <a:alphaModFix/>
          </a:blip>
          <a:srcRect b="0" l="0" r="0" t="0"/>
          <a:stretch/>
        </p:blipFill>
        <p:spPr>
          <a:xfrm>
            <a:off x="5486400" y="1280150"/>
            <a:ext cx="3017523" cy="24723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78" name="Google Shape;178;p28"/>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wireframe</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#1</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pic>
        <p:nvPicPr>
          <p:cNvPr id="179" name="Google Shape;179;p28">
            <a:hlinkClick r:id="rId3"/>
          </p:cNvPr>
          <p:cNvPicPr preferRelativeResize="0"/>
          <p:nvPr/>
        </p:nvPicPr>
        <p:blipFill>
          <a:blip r:embed="rId4">
            <a:alphaModFix/>
          </a:blip>
          <a:stretch>
            <a:fillRect/>
          </a:stretch>
        </p:blipFill>
        <p:spPr>
          <a:xfrm>
            <a:off x="2377440" y="803800"/>
            <a:ext cx="3081951" cy="4074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9">
            <a:hlinkClick r:id="rId3"/>
          </p:cNvPr>
          <p:cNvPicPr preferRelativeResize="0"/>
          <p:nvPr/>
        </p:nvPicPr>
        <p:blipFill>
          <a:blip r:embed="rId4">
            <a:alphaModFix/>
          </a:blip>
          <a:stretch>
            <a:fillRect/>
          </a:stretch>
        </p:blipFill>
        <p:spPr>
          <a:xfrm>
            <a:off x="2377440" y="978700"/>
            <a:ext cx="5001763" cy="3724549"/>
          </a:xfrm>
          <a:prstGeom prst="rect">
            <a:avLst/>
          </a:prstGeom>
          <a:noFill/>
          <a:ln>
            <a:noFill/>
          </a:ln>
        </p:spPr>
      </p:pic>
      <p:sp>
        <p:nvSpPr>
          <p:cNvPr id="185" name="Google Shape;18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87" name="Google Shape;187;p29"/>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wireframe</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#2</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30">
            <a:hlinkClick r:id="rId3"/>
          </p:cNvPr>
          <p:cNvPicPr preferRelativeResize="0"/>
          <p:nvPr/>
        </p:nvPicPr>
        <p:blipFill rotWithShape="1">
          <a:blip r:embed="rId4">
            <a:alphaModFix/>
          </a:blip>
          <a:srcRect b="932" l="6006" r="-4151" t="922"/>
          <a:stretch/>
        </p:blipFill>
        <p:spPr>
          <a:xfrm>
            <a:off x="2377440" y="914399"/>
            <a:ext cx="6358676" cy="3941324"/>
          </a:xfrm>
          <a:prstGeom prst="rect">
            <a:avLst/>
          </a:prstGeom>
          <a:noFill/>
          <a:ln>
            <a:noFill/>
          </a:ln>
        </p:spPr>
      </p:pic>
      <p:sp>
        <p:nvSpPr>
          <p:cNvPr id="193" name="Google Shape;193;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4" name="Google Shape;194;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195" name="Google Shape;195;p30"/>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wireframe</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#3</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31">
            <a:hlinkClick r:id="rId3"/>
          </p:cNvPr>
          <p:cNvPicPr preferRelativeResize="0"/>
          <p:nvPr/>
        </p:nvPicPr>
        <p:blipFill rotWithShape="1">
          <a:blip r:embed="rId4">
            <a:alphaModFix/>
          </a:blip>
          <a:srcRect b="0" l="445" r="455" t="0"/>
          <a:stretch/>
        </p:blipFill>
        <p:spPr>
          <a:xfrm>
            <a:off x="2377440" y="1185675"/>
            <a:ext cx="5630275" cy="3489834"/>
          </a:xfrm>
          <a:prstGeom prst="rect">
            <a:avLst/>
          </a:prstGeom>
          <a:noFill/>
          <a:ln>
            <a:noFill/>
          </a:ln>
        </p:spPr>
      </p:pic>
      <p:sp>
        <p:nvSpPr>
          <p:cNvPr id="201" name="Google Shape;201;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2" name="Google Shape;202;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203" name="Google Shape;203;p31"/>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wireframe</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#4</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2">
            <a:hlinkClick r:id="rId3"/>
          </p:cNvPr>
          <p:cNvPicPr preferRelativeResize="0"/>
          <p:nvPr/>
        </p:nvPicPr>
        <p:blipFill rotWithShape="1">
          <a:blip r:embed="rId4">
            <a:alphaModFix/>
          </a:blip>
          <a:srcRect b="0" l="6985" r="6985" t="0"/>
          <a:stretch/>
        </p:blipFill>
        <p:spPr>
          <a:xfrm>
            <a:off x="2377451" y="1188725"/>
            <a:ext cx="5310922" cy="3954775"/>
          </a:xfrm>
          <a:prstGeom prst="rect">
            <a:avLst/>
          </a:prstGeom>
          <a:noFill/>
          <a:ln>
            <a:noFill/>
          </a:ln>
        </p:spPr>
      </p:pic>
      <p:sp>
        <p:nvSpPr>
          <p:cNvPr id="209" name="Google Shape;209;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211" name="Google Shape;211;p32"/>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wireframe</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#5</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Peralatan wireframing</a:t>
            </a:r>
            <a:endParaRPr>
              <a:solidFill>
                <a:schemeClr val="accent1"/>
              </a:solidFill>
            </a:endParaRPr>
          </a:p>
        </p:txBody>
      </p:sp>
      <p:sp>
        <p:nvSpPr>
          <p:cNvPr id="217" name="Google Shape;21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4"/>
          <p:cNvPicPr preferRelativeResize="0"/>
          <p:nvPr/>
        </p:nvPicPr>
        <p:blipFill rotWithShape="1">
          <a:blip r:embed="rId3">
            <a:alphaModFix/>
          </a:blip>
          <a:srcRect b="39759" l="27382" r="23561" t="11184"/>
          <a:stretch/>
        </p:blipFill>
        <p:spPr>
          <a:xfrm>
            <a:off x="5486400" y="2765820"/>
            <a:ext cx="1508762" cy="1501656"/>
          </a:xfrm>
          <a:prstGeom prst="rect">
            <a:avLst/>
          </a:prstGeom>
          <a:noFill/>
          <a:ln>
            <a:noFill/>
          </a:ln>
        </p:spPr>
      </p:pic>
      <p:pic>
        <p:nvPicPr>
          <p:cNvPr id="223" name="Google Shape;223;p34"/>
          <p:cNvPicPr preferRelativeResize="0"/>
          <p:nvPr/>
        </p:nvPicPr>
        <p:blipFill rotWithShape="1">
          <a:blip r:embed="rId4">
            <a:alphaModFix/>
          </a:blip>
          <a:srcRect b="0" l="0" r="0" t="0"/>
          <a:stretch/>
        </p:blipFill>
        <p:spPr>
          <a:xfrm>
            <a:off x="5486400" y="1293601"/>
            <a:ext cx="1508762" cy="1501656"/>
          </a:xfrm>
          <a:prstGeom prst="rect">
            <a:avLst/>
          </a:prstGeom>
          <a:noFill/>
          <a:ln>
            <a:noFill/>
          </a:ln>
        </p:spPr>
      </p:pic>
      <p:pic>
        <p:nvPicPr>
          <p:cNvPr id="224" name="Google Shape;224;p34"/>
          <p:cNvPicPr preferRelativeResize="0"/>
          <p:nvPr/>
        </p:nvPicPr>
        <p:blipFill rotWithShape="1">
          <a:blip r:embed="rId5">
            <a:alphaModFix/>
          </a:blip>
          <a:srcRect b="0" l="0" r="0" t="0"/>
          <a:stretch/>
        </p:blipFill>
        <p:spPr>
          <a:xfrm>
            <a:off x="6995163" y="1293615"/>
            <a:ext cx="1508761" cy="1501656"/>
          </a:xfrm>
          <a:prstGeom prst="rect">
            <a:avLst/>
          </a:prstGeom>
          <a:noFill/>
          <a:ln>
            <a:noFill/>
          </a:ln>
        </p:spPr>
      </p:pic>
      <p:pic>
        <p:nvPicPr>
          <p:cNvPr id="225" name="Google Shape;225;p34"/>
          <p:cNvPicPr preferRelativeResize="0"/>
          <p:nvPr/>
        </p:nvPicPr>
        <p:blipFill rotWithShape="1">
          <a:blip r:embed="rId6">
            <a:alphaModFix/>
          </a:blip>
          <a:srcRect b="0" l="17936" r="17936" t="0"/>
          <a:stretch/>
        </p:blipFill>
        <p:spPr>
          <a:xfrm>
            <a:off x="6995163" y="2795271"/>
            <a:ext cx="1508762" cy="1442755"/>
          </a:xfrm>
          <a:prstGeom prst="rect">
            <a:avLst/>
          </a:prstGeom>
          <a:noFill/>
          <a:ln>
            <a:noFill/>
          </a:ln>
        </p:spPr>
      </p:pic>
      <p:sp>
        <p:nvSpPr>
          <p:cNvPr id="226" name="Google Shape;226;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wireframing</a:t>
            </a:r>
            <a:endParaRPr/>
          </a:p>
        </p:txBody>
      </p:sp>
      <p:sp>
        <p:nvSpPr>
          <p:cNvPr id="228" name="Google Shape;228;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Peralatan wireframing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Seperti yang telah kita diskusikan sebelumnya, ada beberapa tools yang biasa digunakan untuk membuat wireframes yaitu: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Balsamiq</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MockPlus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UXPin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Justinmind</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wireframing</a:t>
            </a:r>
            <a:endParaRPr/>
          </a:p>
        </p:txBody>
      </p:sp>
      <p:sp>
        <p:nvSpPr>
          <p:cNvPr id="235" name="Google Shape;235;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a:t>
            </a:r>
            <a:r>
              <a:rPr b="1" lang="en" sz="1800">
                <a:solidFill>
                  <a:srgbClr val="743673"/>
                </a:solidFill>
                <a:highlight>
                  <a:schemeClr val="lt1"/>
                </a:highlight>
                <a:latin typeface="Raleway"/>
                <a:ea typeface="Raleway"/>
                <a:cs typeface="Raleway"/>
                <a:sym typeface="Raleway"/>
              </a:rPr>
              <a:t>ireframing dengan kertas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dengan tools yang disebutkan, kita juga dapat membuat wireframes sederhana hanya dengan pensil dan kertas.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Menggambar dikertas memungkin kan kita untuk mengumpulkan banyak ide dan membuat sketsa dengan lebih fleksibel.</a:t>
            </a:r>
            <a:endParaRPr sz="1200">
              <a:solidFill>
                <a:schemeClr val="dk1"/>
              </a:solidFill>
              <a:latin typeface="Raleway Medium"/>
              <a:ea typeface="Raleway Medium"/>
              <a:cs typeface="Raleway Medium"/>
              <a:sym typeface="Raleway Medium"/>
            </a:endParaRPr>
          </a:p>
        </p:txBody>
      </p:sp>
      <p:pic>
        <p:nvPicPr>
          <p:cNvPr id="236" name="Google Shape;236;p35">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Peralatan wireframing</a:t>
            </a:r>
            <a:endParaRPr/>
          </a:p>
        </p:txBody>
      </p:sp>
      <p:sp>
        <p:nvSpPr>
          <p:cNvPr id="243" name="Google Shape;243;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a:t>
            </a:r>
            <a:r>
              <a:rPr b="1" lang="en" sz="1800">
                <a:solidFill>
                  <a:srgbClr val="743673"/>
                </a:solidFill>
                <a:highlight>
                  <a:schemeClr val="lt1"/>
                </a:highlight>
                <a:latin typeface="Raleway"/>
                <a:ea typeface="Raleway"/>
                <a:cs typeface="Raleway"/>
                <a:sym typeface="Raleway"/>
              </a:rPr>
              <a:t>ireframing dengan plugins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itu, ada plug-ins pada Figma atau Adobe XD yang membuat proses wireframing lebih cepat diantaranya adalah: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Wireframer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QuickMockup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44" name="Google Shape;244;p36">
            <a:hlinkClick r:id="rId3"/>
          </p:cNvPr>
          <p:cNvPicPr preferRelativeResize="0"/>
          <p:nvPr/>
        </p:nvPicPr>
        <p:blipFill rotWithShape="1">
          <a:blip r:embed="rId4">
            <a:alphaModFix/>
          </a:blip>
          <a:srcRect b="0" l="16508" r="990" t="0"/>
          <a:stretch/>
        </p:blipFill>
        <p:spPr>
          <a:xfrm>
            <a:off x="5486400" y="1280150"/>
            <a:ext cx="3017523" cy="27431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Flowcharts vs wireflows vs wireframes</a:t>
            </a:r>
            <a:endParaRPr/>
          </a:p>
        </p:txBody>
      </p:sp>
      <p:sp>
        <p:nvSpPr>
          <p:cNvPr id="250" name="Google Shape;250;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257" name="Google Shape;257;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Flowcharts, wireflows, wireframes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Mungkin Anda pernah mendengar terminologi - terminologi diatas dan bertanya apa perbedaan diantaranya?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Seperti yang sudah didiskusikan sebelumnya, wireframes adalah rangka dari desain atau ide yang telah dikumpulkan.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Jika wireframes digabungkan dengan flowcharts maka akan terbentuklah wireflows.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58" name="Google Shape;258;p38">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265" name="Google Shape;265;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Flowcharts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Kalau kita coba pahami arti katanya, flow bisa diartikan sebagai alur, dan chart adalah bagan/diagram.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Sehingga, flowchart secara harfiah adalah diagram alur.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Secara sederhana, flowchart bisa kita pahami sebagai diagram yang menggambarkan alur dari sebuah proses tertentu.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66" name="Google Shape;266;p39"/>
          <p:cNvPicPr preferRelativeResize="0"/>
          <p:nvPr/>
        </p:nvPicPr>
        <p:blipFill>
          <a:blip r:embed="rId3">
            <a:alphaModFix/>
          </a:blip>
          <a:stretch>
            <a:fillRect/>
          </a:stretch>
        </p:blipFill>
        <p:spPr>
          <a:xfrm>
            <a:off x="5044050" y="1171225"/>
            <a:ext cx="3572557" cy="32354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273" name="Google Shape;273;p4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Flowcharts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Umumnya, flowchart terdiri dari beragam simbol yang berguna untuk menjelaskan urutan aktivitas secara lengkap.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itu, simbol-simbol ini juga berguna untuk menghubungkan penjelasan antara satu tahap ke tahap yang lain.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Belum kebayang? Tenang, nanti kita lihat contohnya bersama 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74" name="Google Shape;274;p40"/>
          <p:cNvPicPr preferRelativeResize="0"/>
          <p:nvPr/>
        </p:nvPicPr>
        <p:blipFill>
          <a:blip r:embed="rId3">
            <a:alphaModFix/>
          </a:blip>
          <a:stretch>
            <a:fillRect/>
          </a:stretch>
        </p:blipFill>
        <p:spPr>
          <a:xfrm>
            <a:off x="5044050" y="1171225"/>
            <a:ext cx="3572557" cy="32354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281" name="Google Shape;281;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Clr>
                <a:schemeClr val="dk1"/>
              </a:buClr>
              <a:buSzPts val="1100"/>
              <a:buFont typeface="Arial"/>
              <a:buNone/>
            </a:pPr>
            <a:r>
              <a:rPr b="1" lang="en" sz="1600">
                <a:solidFill>
                  <a:srgbClr val="652F67"/>
                </a:solidFill>
                <a:latin typeface="Montserrat"/>
                <a:ea typeface="Montserrat"/>
                <a:cs typeface="Montserrat"/>
                <a:sym typeface="Montserrat"/>
              </a:rPr>
              <a:t>Kenapa sih kita harus membuat flowchart?</a:t>
            </a:r>
            <a:endParaRPr b="1" sz="1600">
              <a:solidFill>
                <a:srgbClr val="652F67"/>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200">
                <a:solidFill>
                  <a:schemeClr val="dk1"/>
                </a:solidFill>
                <a:highlight>
                  <a:srgbClr val="FFFFFF"/>
                </a:highlight>
                <a:latin typeface="Montserrat"/>
                <a:ea typeface="Montserrat"/>
                <a:cs typeface="Montserrat"/>
                <a:sym typeface="Montserrat"/>
              </a:rPr>
              <a:t>Melalui flowchart, kita bisa </a:t>
            </a:r>
            <a:r>
              <a:rPr b="1" lang="en" sz="1200">
                <a:solidFill>
                  <a:schemeClr val="dk1"/>
                </a:solidFill>
                <a:highlight>
                  <a:srgbClr val="FFFFFF"/>
                </a:highlight>
                <a:latin typeface="Montserrat"/>
                <a:ea typeface="Montserrat"/>
                <a:cs typeface="Montserrat"/>
                <a:sym typeface="Montserrat"/>
              </a:rPr>
              <a:t>mengevaluasi</a:t>
            </a:r>
            <a:r>
              <a:rPr lang="en" sz="1200">
                <a:solidFill>
                  <a:schemeClr val="dk1"/>
                </a:solidFill>
                <a:highlight>
                  <a:srgbClr val="FFFFFF"/>
                </a:highlight>
                <a:latin typeface="Montserrat"/>
                <a:ea typeface="Montserrat"/>
                <a:cs typeface="Montserrat"/>
                <a:sym typeface="Montserrat"/>
              </a:rPr>
              <a:t> apakah rangkaian proses yang kita rencanakan nantinya dapat dilalui dengan mudah dan efisien.</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288" name="Google Shape;288;p4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Dengan menggunakan flowchart, setiap anggota bisa </a:t>
            </a:r>
            <a:r>
              <a:rPr b="1" lang="en" sz="1200">
                <a:solidFill>
                  <a:schemeClr val="dk1"/>
                </a:solidFill>
                <a:highlight>
                  <a:srgbClr val="FFFFFF"/>
                </a:highlight>
                <a:latin typeface="Montserrat"/>
                <a:ea typeface="Montserrat"/>
                <a:cs typeface="Montserrat"/>
                <a:sym typeface="Montserrat"/>
              </a:rPr>
              <a:t>memiliki pemahaman yang sama</a:t>
            </a:r>
            <a:r>
              <a:rPr lang="en" sz="1200">
                <a:solidFill>
                  <a:schemeClr val="dk1"/>
                </a:solidFill>
                <a:highlight>
                  <a:srgbClr val="FFFFFF"/>
                </a:highlight>
                <a:latin typeface="Montserrat"/>
                <a:ea typeface="Montserrat"/>
                <a:cs typeface="Montserrat"/>
                <a:sym typeface="Montserrat"/>
              </a:rPr>
              <a:t> akan bagaimana sebuah sistem bekerja, atau bagaimana alur proses yang harus dilalui user ketika menggunakan produk kita.</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Jadinya, setiap anggota tim bisa punya </a:t>
            </a:r>
            <a:r>
              <a:rPr b="1" lang="en" sz="1200">
                <a:solidFill>
                  <a:schemeClr val="dk1"/>
                </a:solidFill>
                <a:highlight>
                  <a:srgbClr val="FFFFFF"/>
                </a:highlight>
                <a:latin typeface="Montserrat"/>
                <a:ea typeface="Montserrat"/>
                <a:cs typeface="Montserrat"/>
                <a:sym typeface="Montserrat"/>
              </a:rPr>
              <a:t>mindset</a:t>
            </a:r>
            <a:r>
              <a:rPr lang="en" sz="1200">
                <a:solidFill>
                  <a:schemeClr val="dk1"/>
                </a:solidFill>
                <a:highlight>
                  <a:srgbClr val="FFFFFF"/>
                </a:highlight>
                <a:latin typeface="Montserrat"/>
                <a:ea typeface="Montserrat"/>
                <a:cs typeface="Montserrat"/>
                <a:sym typeface="Montserrat"/>
              </a:rPr>
              <a:t> dan gambaran alur produk yang sama deh!</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9" name="Google Shape;289;p42"/>
          <p:cNvPicPr preferRelativeResize="0"/>
          <p:nvPr/>
        </p:nvPicPr>
        <p:blipFill>
          <a:blip r:embed="rId3">
            <a:alphaModFix/>
          </a:blip>
          <a:stretch>
            <a:fillRect/>
          </a:stretch>
        </p:blipFill>
        <p:spPr>
          <a:xfrm>
            <a:off x="5407525" y="1575748"/>
            <a:ext cx="3209075" cy="2426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296" name="Google Shape;296;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Di awal proses UX Design, umumnya kita akan melakukan riset dalam bentuk </a:t>
            </a:r>
            <a:r>
              <a:rPr b="1" lang="en" sz="1200">
                <a:solidFill>
                  <a:schemeClr val="dk1"/>
                </a:solidFill>
                <a:highlight>
                  <a:srgbClr val="FFFFFF"/>
                </a:highlight>
                <a:latin typeface="Montserrat"/>
                <a:ea typeface="Montserrat"/>
                <a:cs typeface="Montserrat"/>
                <a:sym typeface="Montserrat"/>
              </a:rPr>
              <a:t>User Interview</a:t>
            </a:r>
            <a:r>
              <a:rPr lang="en" sz="1200">
                <a:solidFill>
                  <a:schemeClr val="dk1"/>
                </a:solidFill>
                <a:highlight>
                  <a:srgbClr val="FFFFFF"/>
                </a:highlight>
                <a:latin typeface="Montserrat"/>
                <a:ea typeface="Montserrat"/>
                <a:cs typeface="Montserrat"/>
                <a:sym typeface="Montserrat"/>
              </a:rPr>
              <a:t> dan membuat </a:t>
            </a:r>
            <a:r>
              <a:rPr b="1" lang="en" sz="1200">
                <a:solidFill>
                  <a:schemeClr val="dk1"/>
                </a:solidFill>
                <a:highlight>
                  <a:srgbClr val="FFFFFF"/>
                </a:highlight>
                <a:latin typeface="Montserrat"/>
                <a:ea typeface="Montserrat"/>
                <a:cs typeface="Montserrat"/>
                <a:sym typeface="Montserrat"/>
              </a:rPr>
              <a:t>User Persona</a:t>
            </a:r>
            <a:r>
              <a:rPr lang="en" sz="1200">
                <a:solidFill>
                  <a:schemeClr val="dk1"/>
                </a:solidFill>
                <a:highlight>
                  <a:srgbClr val="FFFFFF"/>
                </a:highlight>
                <a:latin typeface="Montserrat"/>
                <a:ea typeface="Montserrat"/>
                <a:cs typeface="Montserrat"/>
                <a:sym typeface="Montserrat"/>
              </a:rPr>
              <a:t>.</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Dengan dua metode itu, kita bisa mendapatkan gambaran awal mengenai user ideal yang nantinya akan menggunakan produk.</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97" name="Google Shape;297;p43"/>
          <p:cNvPicPr preferRelativeResize="0"/>
          <p:nvPr/>
        </p:nvPicPr>
        <p:blipFill>
          <a:blip r:embed="rId3">
            <a:alphaModFix/>
          </a:blip>
          <a:stretch>
            <a:fillRect/>
          </a:stretch>
        </p:blipFill>
        <p:spPr>
          <a:xfrm>
            <a:off x="5257800" y="1546273"/>
            <a:ext cx="3369424" cy="248531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04" name="Google Shape;304;p4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600">
                <a:solidFill>
                  <a:srgbClr val="652F67"/>
                </a:solidFill>
                <a:highlight>
                  <a:srgbClr val="FFFFFF"/>
                </a:highlight>
                <a:latin typeface="Montserrat"/>
                <a:ea typeface="Montserrat"/>
                <a:cs typeface="Montserrat"/>
                <a:sym typeface="Montserrat"/>
              </a:rPr>
              <a:t>Setelah punya gambaran tentang user, lalu langkah apa selanjutnya?</a:t>
            </a:r>
            <a:endParaRPr b="1" sz="1600">
              <a:solidFill>
                <a:srgbClr val="652F67"/>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Selanjutnya, kita mulai memikirkan:</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200">
                <a:solidFill>
                  <a:schemeClr val="dk1"/>
                </a:solidFill>
                <a:highlight>
                  <a:srgbClr val="FFFFFF"/>
                </a:highlight>
                <a:latin typeface="Montserrat"/>
                <a:ea typeface="Montserrat"/>
                <a:cs typeface="Montserrat"/>
                <a:sym typeface="Montserrat"/>
              </a:rPr>
              <a:t>“Bagaimana kira-kira user akan mengakses atau menggunakan produk kita?”</a:t>
            </a:r>
            <a:endParaRPr b="1"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11" name="Google Shape;311;p4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b="1" lang="en" sz="1600">
                <a:solidFill>
                  <a:srgbClr val="652F67"/>
                </a:solidFill>
                <a:highlight>
                  <a:srgbClr val="FFFFFF"/>
                </a:highlight>
                <a:latin typeface="Montserrat"/>
                <a:ea typeface="Montserrat"/>
                <a:cs typeface="Montserrat"/>
                <a:sym typeface="Montserrat"/>
              </a:rPr>
              <a:t>Pada tahap inilah flowchart memiliki peran penting!</a:t>
            </a:r>
            <a:endParaRPr b="1" sz="1600">
              <a:solidFill>
                <a:srgbClr val="652F67"/>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Untuk menjawab pertanyaan tadi, kita perlu melakukan pemetaan menggunakan </a:t>
            </a:r>
            <a:r>
              <a:rPr b="1" lang="en" sz="1200">
                <a:solidFill>
                  <a:schemeClr val="dk1"/>
                </a:solidFill>
                <a:highlight>
                  <a:srgbClr val="FFFFFF"/>
                </a:highlight>
                <a:latin typeface="Montserrat"/>
                <a:ea typeface="Montserrat"/>
                <a:cs typeface="Montserrat"/>
                <a:sym typeface="Montserrat"/>
              </a:rPr>
              <a:t>flowchart.</a:t>
            </a:r>
            <a:endParaRPr b="1"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Pemetaan ini dibuat dari awal interaksi </a:t>
            </a:r>
            <a:r>
              <a:rPr b="1" lang="en" sz="1200">
                <a:solidFill>
                  <a:schemeClr val="dk1"/>
                </a:solidFill>
                <a:highlight>
                  <a:srgbClr val="FFFFFF"/>
                </a:highlight>
                <a:latin typeface="Montserrat"/>
                <a:ea typeface="Montserrat"/>
                <a:cs typeface="Montserrat"/>
                <a:sym typeface="Montserrat"/>
              </a:rPr>
              <a:t>(entry point)</a:t>
            </a:r>
            <a:r>
              <a:rPr lang="en" sz="1200">
                <a:solidFill>
                  <a:schemeClr val="dk1"/>
                </a:solidFill>
                <a:highlight>
                  <a:srgbClr val="FFFFFF"/>
                </a:highlight>
                <a:latin typeface="Montserrat"/>
                <a:ea typeface="Montserrat"/>
                <a:cs typeface="Montserrat"/>
                <a:sym typeface="Montserrat"/>
              </a:rPr>
              <a:t> hingga proses interaksi atau tercapainya sebuah goal </a:t>
            </a:r>
            <a:r>
              <a:rPr b="1" lang="en" sz="1200">
                <a:solidFill>
                  <a:schemeClr val="dk1"/>
                </a:solidFill>
                <a:highlight>
                  <a:srgbClr val="FFFFFF"/>
                </a:highlight>
                <a:latin typeface="Montserrat"/>
                <a:ea typeface="Montserrat"/>
                <a:cs typeface="Montserrat"/>
                <a:sym typeface="Montserrat"/>
              </a:rPr>
              <a:t>(end point).</a:t>
            </a:r>
            <a:endParaRPr b="1"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18" name="Google Shape;318;p4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Oh iya! Dalam flowchart, ada beberapa jenis-jenis simbol yang paling sering dipakai dan harus kita pahami sebagai UX Designer.</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Apa aja tuh simbolnya?</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19" name="Google Shape;319;p46"/>
          <p:cNvPicPr preferRelativeResize="0"/>
          <p:nvPr/>
        </p:nvPicPr>
        <p:blipFill>
          <a:blip r:embed="rId3">
            <a:alphaModFix/>
          </a:blip>
          <a:stretch>
            <a:fillRect/>
          </a:stretch>
        </p:blipFill>
        <p:spPr>
          <a:xfrm>
            <a:off x="6048950" y="1061263"/>
            <a:ext cx="2333050" cy="345533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26" name="Google Shape;326;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000">
                <a:solidFill>
                  <a:schemeClr val="dk1"/>
                </a:solidFill>
                <a:latin typeface="Montserrat"/>
                <a:ea typeface="Montserrat"/>
                <a:cs typeface="Montserrat"/>
                <a:sym typeface="Montserrat"/>
              </a:rPr>
              <a:t>Simbol Terminator (Start / End Point) :</a:t>
            </a:r>
            <a:endParaRPr b="1"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Simbol ini digunakan untuk menandakan dimulainya sebuah proses (Start Point) hingga proses tersebut selesai (End Point).</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1000">
                <a:solidFill>
                  <a:schemeClr val="dk1"/>
                </a:solidFill>
                <a:latin typeface="Montserrat"/>
                <a:ea typeface="Montserrat"/>
                <a:cs typeface="Montserrat"/>
                <a:sym typeface="Montserrat"/>
              </a:rPr>
              <a:t>Simbol Process  :</a:t>
            </a:r>
            <a:endParaRPr b="1"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Simbol ini menunjukkan sebuah proses dari kegiatan atau aktivitas tertentu yang dilakukan oleh user.</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1000">
                <a:solidFill>
                  <a:schemeClr val="dk1"/>
                </a:solidFill>
                <a:latin typeface="Montserrat"/>
                <a:ea typeface="Montserrat"/>
                <a:cs typeface="Montserrat"/>
                <a:sym typeface="Montserrat"/>
              </a:rPr>
              <a:t>Simbol Flow (arus) :</a:t>
            </a:r>
            <a:endParaRPr b="1"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Simbol tanda panah ini digunakan sebagai penghubung simbol satu ke simbol lainnya. Juga sebagai penanda alur prosesnya.</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1000">
                <a:solidFill>
                  <a:schemeClr val="dk1"/>
                </a:solidFill>
                <a:latin typeface="Montserrat"/>
                <a:ea typeface="Montserrat"/>
                <a:cs typeface="Montserrat"/>
                <a:sym typeface="Montserrat"/>
              </a:rPr>
              <a:t>Simbol Decision (keputusan) :</a:t>
            </a:r>
            <a:endParaRPr b="1"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rPr lang="en" sz="1000">
                <a:solidFill>
                  <a:schemeClr val="dk1"/>
                </a:solidFill>
                <a:latin typeface="Montserrat"/>
                <a:ea typeface="Montserrat"/>
                <a:cs typeface="Montserrat"/>
                <a:sym typeface="Montserrat"/>
              </a:rPr>
              <a:t>Digunakan ketika ada proses yang membutuhkan keputusan sesuai dengan kondisi yang dialami user.</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27" name="Google Shape;327;p47"/>
          <p:cNvPicPr preferRelativeResize="0"/>
          <p:nvPr/>
        </p:nvPicPr>
        <p:blipFill>
          <a:blip r:embed="rId3">
            <a:alphaModFix/>
          </a:blip>
          <a:stretch>
            <a:fillRect/>
          </a:stretch>
        </p:blipFill>
        <p:spPr>
          <a:xfrm>
            <a:off x="6095325" y="1211275"/>
            <a:ext cx="1411400" cy="31553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3" name="Google Shape;33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34" name="Google Shape;334;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Biar lebih mudah memahami penggunaan simbol dalam flowchart, coba perhatikan pada gambar!</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Ini adalah contoh flowchart yang kita buat untuk aplikasi </a:t>
            </a:r>
            <a:r>
              <a:rPr b="1" lang="en" sz="1200">
                <a:solidFill>
                  <a:schemeClr val="dk1"/>
                </a:solidFill>
                <a:highlight>
                  <a:srgbClr val="FFFFFF"/>
                </a:highlight>
                <a:latin typeface="Montserrat"/>
                <a:ea typeface="Montserrat"/>
                <a:cs typeface="Montserrat"/>
                <a:sym typeface="Montserrat"/>
              </a:rPr>
              <a:t>BeliAja</a:t>
            </a:r>
            <a:r>
              <a:rPr lang="en" sz="1200">
                <a:solidFill>
                  <a:schemeClr val="dk1"/>
                </a:solidFill>
                <a:highlight>
                  <a:srgbClr val="FFFFFF"/>
                </a:highlight>
                <a:latin typeface="Montserrat"/>
                <a:ea typeface="Montserrat"/>
                <a:cs typeface="Montserrat"/>
                <a:sym typeface="Montserrat"/>
              </a:rPr>
              <a:t>.</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35" name="Google Shape;335;p48"/>
          <p:cNvPicPr preferRelativeResize="0"/>
          <p:nvPr/>
        </p:nvPicPr>
        <p:blipFill>
          <a:blip r:embed="rId3">
            <a:alphaModFix/>
          </a:blip>
          <a:stretch>
            <a:fillRect/>
          </a:stretch>
        </p:blipFill>
        <p:spPr>
          <a:xfrm>
            <a:off x="5946400" y="1115550"/>
            <a:ext cx="1977375" cy="3599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1" name="Google Shape;341;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42" name="Google Shape;342;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Dari flowchart ini, kita bisa melihat tahap-tahap yang dilalui oleh user mulai dari masuk ke aplikasi </a:t>
            </a:r>
            <a:r>
              <a:rPr b="1" lang="en" sz="1200">
                <a:solidFill>
                  <a:schemeClr val="dk1"/>
                </a:solidFill>
                <a:highlight>
                  <a:srgbClr val="FFFFFF"/>
                </a:highlight>
                <a:latin typeface="Montserrat"/>
                <a:ea typeface="Montserrat"/>
                <a:cs typeface="Montserrat"/>
                <a:sym typeface="Montserrat"/>
              </a:rPr>
              <a:t>(entry point)</a:t>
            </a:r>
            <a:r>
              <a:rPr lang="en" sz="1200">
                <a:solidFill>
                  <a:schemeClr val="dk1"/>
                </a:solidFill>
                <a:highlight>
                  <a:srgbClr val="FFFFFF"/>
                </a:highlight>
                <a:latin typeface="Montserrat"/>
                <a:ea typeface="Montserrat"/>
                <a:cs typeface="Montserrat"/>
                <a:sym typeface="Montserrat"/>
              </a:rPr>
              <a:t> hingga ke tahap akhir </a:t>
            </a:r>
            <a:r>
              <a:rPr b="1" lang="en" sz="1200">
                <a:solidFill>
                  <a:schemeClr val="dk1"/>
                </a:solidFill>
                <a:highlight>
                  <a:srgbClr val="FFFFFF"/>
                </a:highlight>
                <a:latin typeface="Montserrat"/>
                <a:ea typeface="Montserrat"/>
                <a:cs typeface="Montserrat"/>
                <a:sym typeface="Montserrat"/>
              </a:rPr>
              <a:t>(end point)</a:t>
            </a:r>
            <a:r>
              <a:rPr lang="en" sz="1200">
                <a:solidFill>
                  <a:schemeClr val="dk1"/>
                </a:solidFill>
                <a:highlight>
                  <a:srgbClr val="FFFFFF"/>
                </a:highlight>
                <a:latin typeface="Montserrat"/>
                <a:ea typeface="Montserrat"/>
                <a:cs typeface="Montserrat"/>
                <a:sym typeface="Montserrat"/>
              </a:rPr>
              <a:t>, yaitu pembayaran.</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rPr lang="en" sz="1200">
                <a:solidFill>
                  <a:schemeClr val="dk1"/>
                </a:solidFill>
                <a:highlight>
                  <a:srgbClr val="FFFFFF"/>
                </a:highlight>
                <a:latin typeface="Montserrat"/>
                <a:ea typeface="Montserrat"/>
                <a:cs typeface="Montserrat"/>
                <a:sym typeface="Montserrat"/>
              </a:rPr>
              <a:t>Jangan lupa perhatikan penggunaan simbol-simbol yang ada pada flowchart tersebut ya!</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b="1"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43" name="Google Shape;343;p49"/>
          <p:cNvPicPr preferRelativeResize="0"/>
          <p:nvPr/>
        </p:nvPicPr>
        <p:blipFill>
          <a:blip r:embed="rId3">
            <a:alphaModFix/>
          </a:blip>
          <a:stretch>
            <a:fillRect/>
          </a:stretch>
        </p:blipFill>
        <p:spPr>
          <a:xfrm>
            <a:off x="5257800" y="1130500"/>
            <a:ext cx="3643725" cy="33168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50" name="Google Shape;350;p5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Istilah-istilah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Task flows, user flows, and flowcharts: istilah - istilah ini menjelaskan diagram yang digunakan para desainer untuk mendokumentasikan interaksi pengguna dan menunjukkan alur terarah dan logika berbasis keputusan.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 yang membedakan task flows dari flowcharts adalah tingkat detail dan proses yang disertakan, dan istilah "user flows" sering digunakan secara bergantian dengan alur tugas dan bagan alur.</a:t>
            </a:r>
            <a:endParaRPr sz="1200">
              <a:solidFill>
                <a:schemeClr val="dk1"/>
              </a:solidFill>
              <a:latin typeface="Raleway Medium"/>
              <a:ea typeface="Raleway Medium"/>
              <a:cs typeface="Raleway Medium"/>
              <a:sym typeface="Raleway Medium"/>
            </a:endParaRPr>
          </a:p>
        </p:txBody>
      </p:sp>
      <p:pic>
        <p:nvPicPr>
          <p:cNvPr id="351" name="Google Shape;351;p50"/>
          <p:cNvPicPr preferRelativeResize="0"/>
          <p:nvPr/>
        </p:nvPicPr>
        <p:blipFill rotWithShape="1">
          <a:blip r:embed="rId3">
            <a:alphaModFix/>
          </a:blip>
          <a:srcRect b="-264298" l="0" r="0" t="0"/>
          <a:stretch/>
        </p:blipFill>
        <p:spPr>
          <a:xfrm>
            <a:off x="5486400" y="1280150"/>
            <a:ext cx="3017523" cy="2743199"/>
          </a:xfrm>
          <a:prstGeom prst="rect">
            <a:avLst/>
          </a:prstGeom>
          <a:noFill/>
          <a:ln>
            <a:noFill/>
          </a:ln>
        </p:spPr>
      </p:pic>
      <p:pic>
        <p:nvPicPr>
          <p:cNvPr id="352" name="Google Shape;352;p50"/>
          <p:cNvPicPr preferRelativeResize="0"/>
          <p:nvPr/>
        </p:nvPicPr>
        <p:blipFill rotWithShape="1">
          <a:blip r:embed="rId4">
            <a:alphaModFix/>
          </a:blip>
          <a:srcRect b="3034" l="0" r="0" t="0"/>
          <a:stretch/>
        </p:blipFill>
        <p:spPr>
          <a:xfrm>
            <a:off x="5486400" y="2286000"/>
            <a:ext cx="3017524" cy="1809601"/>
          </a:xfrm>
          <a:prstGeom prst="rect">
            <a:avLst/>
          </a:prstGeom>
          <a:noFill/>
          <a:ln>
            <a:noFill/>
          </a:ln>
        </p:spPr>
      </p:pic>
      <p:sp>
        <p:nvSpPr>
          <p:cNvPr id="353" name="Google Shape;353;p50"/>
          <p:cNvSpPr txBox="1"/>
          <p:nvPr/>
        </p:nvSpPr>
        <p:spPr>
          <a:xfrm>
            <a:off x="5531181" y="1980500"/>
            <a:ext cx="1139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000">
                <a:solidFill>
                  <a:srgbClr val="743673"/>
                </a:solidFill>
                <a:highlight>
                  <a:schemeClr val="lt1"/>
                </a:highlight>
                <a:latin typeface="Raleway"/>
                <a:ea typeface="Raleway"/>
                <a:cs typeface="Raleway"/>
                <a:sym typeface="Raleway"/>
              </a:rPr>
              <a:t>Task flows</a:t>
            </a:r>
            <a:endParaRPr sz="1000">
              <a:solidFill>
                <a:schemeClr val="dk1"/>
              </a:solidFill>
              <a:latin typeface="Raleway Medium"/>
              <a:ea typeface="Raleway Medium"/>
              <a:cs typeface="Raleway Medium"/>
              <a:sym typeface="Raleway Medium"/>
            </a:endParaRPr>
          </a:p>
        </p:txBody>
      </p:sp>
      <p:sp>
        <p:nvSpPr>
          <p:cNvPr id="354" name="Google Shape;354;p50"/>
          <p:cNvSpPr txBox="1"/>
          <p:nvPr/>
        </p:nvSpPr>
        <p:spPr>
          <a:xfrm>
            <a:off x="5531181" y="4095600"/>
            <a:ext cx="1139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000">
                <a:solidFill>
                  <a:srgbClr val="743673"/>
                </a:solidFill>
                <a:highlight>
                  <a:schemeClr val="lt1"/>
                </a:highlight>
                <a:latin typeface="Raleway"/>
                <a:ea typeface="Raleway"/>
                <a:cs typeface="Raleway"/>
                <a:sym typeface="Raleway"/>
              </a:rPr>
              <a:t>Flowcharts</a:t>
            </a:r>
            <a:endParaRPr sz="1000">
              <a:solidFill>
                <a:schemeClr val="dk1"/>
              </a:solidFill>
              <a:latin typeface="Raleway Medium"/>
              <a:ea typeface="Raleway Medium"/>
              <a:cs typeface="Raleway Medium"/>
              <a:sym typeface="Raleway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361" name="Google Shape;361;p5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000"/>
              </a:spcBef>
              <a:spcAft>
                <a:spcPts val="0"/>
              </a:spcAft>
              <a:buClr>
                <a:schemeClr val="dk1"/>
              </a:buClr>
              <a:buSzPts val="1100"/>
              <a:buFont typeface="Arial"/>
              <a:buNone/>
            </a:pPr>
            <a:r>
              <a:rPr b="1" lang="en" sz="1600">
                <a:solidFill>
                  <a:srgbClr val="652F67"/>
                </a:solidFill>
                <a:latin typeface="Montserrat"/>
                <a:ea typeface="Montserrat"/>
                <a:cs typeface="Montserrat"/>
                <a:sym typeface="Montserrat"/>
              </a:rPr>
              <a:t>Wireframe adalah rancangan sederhana (blueprint) dari sebuah produk</a:t>
            </a:r>
            <a:endParaRPr b="1" sz="1600">
              <a:solidFill>
                <a:srgbClr val="652F67"/>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Clr>
                <a:schemeClr val="dk1"/>
              </a:buClr>
              <a:buSzPts val="1100"/>
              <a:buFont typeface="Arial"/>
              <a:buNone/>
            </a:pPr>
            <a:r>
              <a:rPr lang="en" sz="1200">
                <a:solidFill>
                  <a:schemeClr val="dk1"/>
                </a:solidFill>
                <a:latin typeface="Montserrat"/>
                <a:ea typeface="Montserrat"/>
                <a:cs typeface="Montserrat"/>
                <a:sym typeface="Montserrat"/>
              </a:rPr>
              <a:t>Dengan membuat wireframe, kita bisa memastikan apakah konten dan fungsi dari sebuah halaman sudah diposisikan dengan benar berdasarkan kebutuhan user dan bisnis.</a:t>
            </a:r>
            <a:endParaRPr sz="12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200">
                <a:solidFill>
                  <a:schemeClr val="dk1"/>
                </a:solidFill>
                <a:latin typeface="Montserrat"/>
                <a:ea typeface="Montserrat"/>
                <a:cs typeface="Montserrat"/>
                <a:sym typeface="Montserrat"/>
              </a:rPr>
              <a:t>Kalau buat </a:t>
            </a:r>
            <a:r>
              <a:rPr b="1" lang="en" sz="1200">
                <a:solidFill>
                  <a:schemeClr val="dk1"/>
                </a:solidFill>
                <a:latin typeface="Montserrat"/>
                <a:ea typeface="Montserrat"/>
                <a:cs typeface="Montserrat"/>
                <a:sym typeface="Montserrat"/>
              </a:rPr>
              <a:t>BeliAja</a:t>
            </a:r>
            <a:r>
              <a:rPr lang="en" sz="1200">
                <a:solidFill>
                  <a:schemeClr val="dk1"/>
                </a:solidFill>
                <a:latin typeface="Montserrat"/>
                <a:ea typeface="Montserrat"/>
                <a:cs typeface="Montserrat"/>
                <a:sym typeface="Montserrat"/>
              </a:rPr>
              <a:t>, kita bisa bikin wireframenya kayak contoh pada gambar!</a:t>
            </a:r>
            <a:endParaRPr sz="12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62" name="Google Shape;362;p51"/>
          <p:cNvPicPr preferRelativeResize="0"/>
          <p:nvPr/>
        </p:nvPicPr>
        <p:blipFill>
          <a:blip r:embed="rId3">
            <a:alphaModFix/>
          </a:blip>
          <a:stretch>
            <a:fillRect/>
          </a:stretch>
        </p:blipFill>
        <p:spPr>
          <a:xfrm>
            <a:off x="5837150" y="1009325"/>
            <a:ext cx="2324900" cy="37912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wireframes</a:t>
            </a:r>
            <a:endParaRPr/>
          </a:p>
        </p:txBody>
      </p:sp>
      <p:sp>
        <p:nvSpPr>
          <p:cNvPr id="369" name="Google Shape;369;p5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Membuat wireframes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Perlu kita ingat bahwa wireframe hanya fokus pada bentuk rancangan secara struktural saja.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Maksudnya, bentuk visual dari wireframe hanya sebatas bagian-bagian utama dari layout, seperti contoh pada gambar.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itu, umumnya wireframe juga masih menggunakan warna monochrome/hitam putih.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70" name="Google Shape;370;p52"/>
          <p:cNvPicPr preferRelativeResize="0"/>
          <p:nvPr/>
        </p:nvPicPr>
        <p:blipFill>
          <a:blip r:embed="rId3">
            <a:alphaModFix/>
          </a:blip>
          <a:stretch>
            <a:fillRect/>
          </a:stretch>
        </p:blipFill>
        <p:spPr>
          <a:xfrm>
            <a:off x="4892100" y="943751"/>
            <a:ext cx="4038599" cy="369033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6" name="Google Shape;376;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77" name="Google Shape;377;p53"/>
          <p:cNvSpPr txBox="1"/>
          <p:nvPr/>
        </p:nvSpPr>
        <p:spPr>
          <a:xfrm>
            <a:off x="685800" y="914395"/>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Wireflows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selesai dengan Wireframe, langkah selanjutnya yaitu Wireflow.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Istilah 'wireflow' berasal dari kombinasi kata 'wireframe' dan 'flowchart', yang diciptakan oleh Nielsen Norman Group. Seperti namanya, wireflows menggabungkan manfaat dari wireframes dan flowcharts.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Wireflow adalah bentuk presentasi dari kumpulan Wireframe yang kamu buat yang sudah ditambahkan dengan flow atau alur penggunaan dan perpindahan screen satu ke screen lainnya.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Gampangnya, dalam pembuatannya, Wireflow merupakan gabungan dari Wireframe dan Flow Chart, seperti ini contoh dari tampilan Wireflow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78" name="Google Shape;378;p53"/>
          <p:cNvPicPr preferRelativeResize="0"/>
          <p:nvPr/>
        </p:nvPicPr>
        <p:blipFill>
          <a:blip r:embed="rId3">
            <a:alphaModFix/>
          </a:blip>
          <a:stretch>
            <a:fillRect/>
          </a:stretch>
        </p:blipFill>
        <p:spPr>
          <a:xfrm>
            <a:off x="4892100" y="1268488"/>
            <a:ext cx="4038600" cy="284630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85" name="Google Shape;385;p5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Wireflows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Wireflows menunjukkan perubahan UI visual saat pengguna berinteraksi dengan aplikasi atau situs web. Mereka juga dapat berisi anotasi untuk menunjukkan apa yang terjadi di back-end pada waktu tersebut. Pikirkan wireflow sebagai task flow dan flowchart yang diilustrasikan.</a:t>
            </a:r>
            <a:endParaRPr sz="1200">
              <a:solidFill>
                <a:schemeClr val="dk1"/>
              </a:solidFill>
              <a:latin typeface="Raleway Medium"/>
              <a:ea typeface="Raleway Medium"/>
              <a:cs typeface="Raleway Medium"/>
              <a:sym typeface="Raleway Medium"/>
            </a:endParaRPr>
          </a:p>
        </p:txBody>
      </p:sp>
      <p:pic>
        <p:nvPicPr>
          <p:cNvPr id="386" name="Google Shape;386;p54"/>
          <p:cNvPicPr preferRelativeResize="0"/>
          <p:nvPr/>
        </p:nvPicPr>
        <p:blipFill rotWithShape="1">
          <a:blip r:embed="rId3">
            <a:alphaModFix/>
          </a:blip>
          <a:srcRect b="-49120" l="-1480" r="1479" t="0"/>
          <a:stretch/>
        </p:blipFill>
        <p:spPr>
          <a:xfrm>
            <a:off x="5486400" y="1280150"/>
            <a:ext cx="3017521" cy="27431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393" name="Google Shape;393;p5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Bedanya apa nih sama wireframe?</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Kalau sederhananya sih, wireflow adalah gabungan antara wireframe dengan flowchart.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Kumpulan wireframe yang sudah kita rancang tadi kita satukan dan dihubungkan dalam bentuk alur, seperti halnya waktu kita membuat flowchart.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94" name="Google Shape;394;p55"/>
          <p:cNvPicPr preferRelativeResize="0"/>
          <p:nvPr/>
        </p:nvPicPr>
        <p:blipFill>
          <a:blip r:embed="rId3">
            <a:alphaModFix/>
          </a:blip>
          <a:stretch>
            <a:fillRect/>
          </a:stretch>
        </p:blipFill>
        <p:spPr>
          <a:xfrm>
            <a:off x="4800600" y="1112813"/>
            <a:ext cx="4038599" cy="335222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401" name="Google Shape;401;p5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Bedanya, kali ini kita sudah tidak menggunakan simbol-simbol untuk mewakili setiap tahapan!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Sebagai gantinya, kita langsung menggunakan wireframe sebagai contoh tampilan layar aplikasi pada setiap tahapan.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402" name="Google Shape;402;p56"/>
          <p:cNvPicPr preferRelativeResize="0"/>
          <p:nvPr/>
        </p:nvPicPr>
        <p:blipFill>
          <a:blip r:embed="rId3">
            <a:alphaModFix/>
          </a:blip>
          <a:stretch>
            <a:fillRect/>
          </a:stretch>
        </p:blipFill>
        <p:spPr>
          <a:xfrm>
            <a:off x="5469775" y="864875"/>
            <a:ext cx="2788863" cy="3848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8" name="Google Shape;408;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409" name="Google Shape;409;p5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Contohnya seperti yang ada di gambar!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Kalau buat kasusnya aplikasi </a:t>
            </a:r>
            <a:r>
              <a:rPr b="1" lang="en" sz="1200">
                <a:solidFill>
                  <a:schemeClr val="dk1"/>
                </a:solidFill>
                <a:latin typeface="Raleway"/>
                <a:ea typeface="Raleway"/>
                <a:cs typeface="Raleway"/>
                <a:sym typeface="Raleway"/>
              </a:rPr>
              <a:t>BeliAja</a:t>
            </a:r>
            <a:r>
              <a:rPr lang="en" sz="1200">
                <a:solidFill>
                  <a:schemeClr val="dk1"/>
                </a:solidFill>
                <a:latin typeface="Raleway Medium"/>
                <a:ea typeface="Raleway Medium"/>
                <a:cs typeface="Raleway Medium"/>
                <a:sym typeface="Raleway Medium"/>
              </a:rPr>
              <a:t> tadi, wireflow yang kita buat akan menjadi seperti itu~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410" name="Google Shape;410;p57"/>
          <p:cNvPicPr preferRelativeResize="0"/>
          <p:nvPr/>
        </p:nvPicPr>
        <p:blipFill>
          <a:blip r:embed="rId3">
            <a:alphaModFix/>
          </a:blip>
          <a:stretch>
            <a:fillRect/>
          </a:stretch>
        </p:blipFill>
        <p:spPr>
          <a:xfrm>
            <a:off x="4800600" y="1161625"/>
            <a:ext cx="4038600" cy="325459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417" name="Google Shape;417;p58"/>
          <p:cNvSpPr txBox="1"/>
          <p:nvPr/>
        </p:nvSpPr>
        <p:spPr>
          <a:xfrm>
            <a:off x="487625"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b="1" lang="en" sz="1600">
                <a:solidFill>
                  <a:srgbClr val="652F67"/>
                </a:solidFill>
                <a:latin typeface="Montserrat"/>
                <a:ea typeface="Montserrat"/>
                <a:cs typeface="Montserrat"/>
                <a:sym typeface="Montserrat"/>
              </a:rPr>
              <a:t>Kenapa kita harus membuat wireframe dan wireflow?</a:t>
            </a:r>
            <a:endParaRPr b="1" sz="1600">
              <a:solidFill>
                <a:srgbClr val="652F67"/>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200">
                <a:solidFill>
                  <a:schemeClr val="dk1"/>
                </a:solidFill>
                <a:latin typeface="Montserrat"/>
                <a:ea typeface="Montserrat"/>
                <a:cs typeface="Montserrat"/>
                <a:sym typeface="Montserrat"/>
              </a:rPr>
              <a:t>Dengan menggunakan wireframe dan wireflow, rancangan kita akan </a:t>
            </a:r>
            <a:r>
              <a:rPr b="1" lang="en" sz="1200">
                <a:solidFill>
                  <a:schemeClr val="dk1"/>
                </a:solidFill>
                <a:latin typeface="Montserrat"/>
                <a:ea typeface="Montserrat"/>
                <a:cs typeface="Montserrat"/>
                <a:sym typeface="Montserrat"/>
              </a:rPr>
              <a:t>lebih mudah dipelajari</a:t>
            </a:r>
            <a:r>
              <a:rPr lang="en" sz="1200">
                <a:solidFill>
                  <a:schemeClr val="dk1"/>
                </a:solidFill>
                <a:latin typeface="Montserrat"/>
                <a:ea typeface="Montserrat"/>
                <a:cs typeface="Montserrat"/>
                <a:sym typeface="Montserrat"/>
              </a:rPr>
              <a:t> oleh tim development dan membantu proses persetujuan dari stakeholders.</a:t>
            </a:r>
            <a:endParaRPr sz="12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200">
                <a:solidFill>
                  <a:schemeClr val="dk1"/>
                </a:solidFill>
                <a:latin typeface="Montserrat"/>
                <a:ea typeface="Montserrat"/>
                <a:cs typeface="Montserrat"/>
                <a:sym typeface="Montserrat"/>
              </a:rPr>
              <a:t>Untuk itu, pastikan penyusunannya sudah sesuai dengan rencana, terutama pada detail struktur alur yang dirancang di awal.</a:t>
            </a:r>
            <a:endParaRPr sz="1200">
              <a:solidFill>
                <a:schemeClr val="dk1"/>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418" name="Google Shape;418;p58"/>
          <p:cNvPicPr preferRelativeResize="0"/>
          <p:nvPr/>
        </p:nvPicPr>
        <p:blipFill>
          <a:blip r:embed="rId3">
            <a:alphaModFix/>
          </a:blip>
          <a:stretch>
            <a:fillRect/>
          </a:stretch>
        </p:blipFill>
        <p:spPr>
          <a:xfrm>
            <a:off x="5827250" y="958650"/>
            <a:ext cx="2644100" cy="366055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425" name="Google Shape;425;p59"/>
          <p:cNvSpPr txBox="1"/>
          <p:nvPr/>
        </p:nvSpPr>
        <p:spPr>
          <a:xfrm>
            <a:off x="487625"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1000"/>
              </a:spcBef>
              <a:spcAft>
                <a:spcPts val="0"/>
              </a:spcAft>
              <a:buNone/>
            </a:pPr>
            <a:r>
              <a:rPr lang="en" sz="1200">
                <a:solidFill>
                  <a:schemeClr val="dk1"/>
                </a:solidFill>
                <a:latin typeface="Raleway Medium"/>
                <a:ea typeface="Raleway Medium"/>
                <a:cs typeface="Raleway Medium"/>
                <a:sym typeface="Raleway Medium"/>
              </a:rPr>
              <a:t>Selain itu, wireframe dan wireflow juga </a:t>
            </a:r>
            <a:r>
              <a:rPr b="1" lang="en" sz="1200">
                <a:solidFill>
                  <a:schemeClr val="dk1"/>
                </a:solidFill>
                <a:latin typeface="Raleway"/>
                <a:ea typeface="Raleway"/>
                <a:cs typeface="Raleway"/>
                <a:sym typeface="Raleway"/>
              </a:rPr>
              <a:t>membantu proses analisa fitur dan layout konten</a:t>
            </a:r>
            <a:r>
              <a:rPr lang="en" sz="1200">
                <a:solidFill>
                  <a:schemeClr val="dk1"/>
                </a:solidFill>
                <a:latin typeface="Raleway Medium"/>
                <a:ea typeface="Raleway Medium"/>
                <a:cs typeface="Raleway Medium"/>
                <a:sym typeface="Raleway Medium"/>
              </a:rPr>
              <a:t> pada sebuah produk.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rPr lang="en" sz="1200">
                <a:solidFill>
                  <a:schemeClr val="dk1"/>
                </a:solidFill>
                <a:latin typeface="Raleway Medium"/>
                <a:ea typeface="Raleway Medium"/>
                <a:cs typeface="Raleway Medium"/>
                <a:sym typeface="Raleway Medium"/>
              </a:rPr>
              <a:t>Dengan begitu, proses review bisa dilakukan lebih efisien sebelum masuk ke tahapan selanjutnya!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00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426" name="Google Shape;426;p59"/>
          <p:cNvPicPr preferRelativeResize="0"/>
          <p:nvPr/>
        </p:nvPicPr>
        <p:blipFill>
          <a:blip r:embed="rId3">
            <a:alphaModFix/>
          </a:blip>
          <a:stretch>
            <a:fillRect/>
          </a:stretch>
        </p:blipFill>
        <p:spPr>
          <a:xfrm>
            <a:off x="5191725" y="1188725"/>
            <a:ext cx="3519426" cy="32004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Flowcharts vs wireflows vs wireframes</a:t>
            </a:r>
            <a:endParaRPr/>
          </a:p>
        </p:txBody>
      </p:sp>
      <p:sp>
        <p:nvSpPr>
          <p:cNvPr id="433" name="Google Shape;433;p6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Simplified wireflows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Simplified wireflows </a:t>
            </a:r>
            <a:r>
              <a:rPr lang="en" sz="1200">
                <a:solidFill>
                  <a:schemeClr val="dk1"/>
                </a:solidFill>
                <a:latin typeface="Raleway Medium"/>
                <a:ea typeface="Raleway Medium"/>
                <a:cs typeface="Raleway Medium"/>
                <a:sym typeface="Raleway Medium"/>
              </a:rPr>
              <a:t>memungkinkan Anda mengambil pendekatan yang lebih abstrak, membuat diagram alur menggunakan representasi layar yang lebih kecil.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Jenis wireflow yang disederhanakan ini adalah campuran antara task flow dan wireflow biasa. Pada dasarnya Anda membuat alur tugas yang diilustrasikan dengan simbol yang mewakili jenis layar yang berbeda.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Bagaimana kita bisa membuat wireflows yang baik?</a:t>
            </a:r>
            <a:endParaRPr sz="1200">
              <a:solidFill>
                <a:schemeClr val="dk1"/>
              </a:solidFill>
              <a:latin typeface="Raleway Medium"/>
              <a:ea typeface="Raleway Medium"/>
              <a:cs typeface="Raleway Medium"/>
              <a:sym typeface="Raleway Medium"/>
            </a:endParaRPr>
          </a:p>
        </p:txBody>
      </p:sp>
      <p:pic>
        <p:nvPicPr>
          <p:cNvPr id="434" name="Google Shape;434;p60"/>
          <p:cNvPicPr preferRelativeResize="0"/>
          <p:nvPr/>
        </p:nvPicPr>
        <p:blipFill rotWithShape="1">
          <a:blip r:embed="rId3">
            <a:alphaModFix/>
          </a:blip>
          <a:srcRect b="-47754" l="0" r="0" t="0"/>
          <a:stretch/>
        </p:blipFill>
        <p:spPr>
          <a:xfrm>
            <a:off x="5486400" y="1280150"/>
            <a:ext cx="3017520" cy="27431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Menyusun wireflows</a:t>
            </a:r>
            <a:endParaRPr/>
          </a:p>
        </p:txBody>
      </p:sp>
      <p:sp>
        <p:nvSpPr>
          <p:cNvPr id="440" name="Google Shape;440;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6" name="Google Shape;446;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a:t>
            </a:r>
            <a:endParaRPr/>
          </a:p>
        </p:txBody>
      </p:sp>
      <p:sp>
        <p:nvSpPr>
          <p:cNvPr id="447" name="Google Shape;447;p6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Menyusun</a:t>
            </a:r>
            <a:r>
              <a:rPr b="1" lang="en" sz="1800">
                <a:solidFill>
                  <a:srgbClr val="743673"/>
                </a:solidFill>
                <a:highlight>
                  <a:schemeClr val="lt1"/>
                </a:highlight>
                <a:latin typeface="Raleway"/>
                <a:ea typeface="Raleway"/>
                <a:cs typeface="Raleway"/>
                <a:sym typeface="Raleway"/>
              </a:rPr>
              <a:t> wireflows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Kasus penggunaan umum untuk wireflows adalah untuk mendokumentasikan perjalanan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Wireframes </a:t>
            </a:r>
            <a:r>
              <a:rPr lang="en" sz="1200">
                <a:solidFill>
                  <a:schemeClr val="dk1"/>
                </a:solidFill>
                <a:latin typeface="Raleway Medium"/>
                <a:ea typeface="Raleway Medium"/>
                <a:cs typeface="Raleway Medium"/>
                <a:sym typeface="Raleway Medium"/>
              </a:rPr>
              <a:t>menunjukkan layar yang tersedia untuk pengguna di setiap langkah dalam alur kerja. Panah menghubungkan komponen UI tertentu yang berinteraksi dengan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empat langkah yang sederhana untuk menyusun sebuah wireflow yang baik.</a:t>
            </a:r>
            <a:endParaRPr sz="1200">
              <a:solidFill>
                <a:schemeClr val="dk1"/>
              </a:solidFill>
              <a:latin typeface="Raleway Medium"/>
              <a:ea typeface="Raleway Medium"/>
              <a:cs typeface="Raleway Medium"/>
              <a:sym typeface="Raleway Medium"/>
            </a:endParaRPr>
          </a:p>
        </p:txBody>
      </p:sp>
      <p:pic>
        <p:nvPicPr>
          <p:cNvPr id="448" name="Google Shape;448;p62"/>
          <p:cNvPicPr preferRelativeResize="0"/>
          <p:nvPr/>
        </p:nvPicPr>
        <p:blipFill rotWithShape="1">
          <a:blip r:embed="rId3">
            <a:alphaModFix/>
          </a:blip>
          <a:srcRect b="-47754" l="0" r="0" t="0"/>
          <a:stretch/>
        </p:blipFill>
        <p:spPr>
          <a:xfrm>
            <a:off x="5486400" y="1280150"/>
            <a:ext cx="3017520" cy="274319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4" name="Google Shape;454;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wireflows</a:t>
            </a:r>
            <a:endParaRPr/>
          </a:p>
        </p:txBody>
      </p:sp>
      <p:grpSp>
        <p:nvGrpSpPr>
          <p:cNvPr id="455" name="Google Shape;455;p63"/>
          <p:cNvGrpSpPr/>
          <p:nvPr/>
        </p:nvGrpSpPr>
        <p:grpSpPr>
          <a:xfrm>
            <a:off x="0" y="1097494"/>
            <a:ext cx="2726700" cy="3482836"/>
            <a:chOff x="0" y="1189989"/>
            <a:chExt cx="2726700" cy="3482836"/>
          </a:xfrm>
        </p:grpSpPr>
        <p:sp>
          <p:nvSpPr>
            <p:cNvPr id="456" name="Google Shape;456;p63"/>
            <p:cNvSpPr/>
            <p:nvPr/>
          </p:nvSpPr>
          <p:spPr>
            <a:xfrm>
              <a:off x="0" y="1189989"/>
              <a:ext cx="27267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 #1 </a:t>
              </a:r>
              <a:endParaRPr>
                <a:solidFill>
                  <a:srgbClr val="FFFFFF"/>
                </a:solidFill>
                <a:latin typeface="Raleway Medium"/>
                <a:ea typeface="Raleway Medium"/>
                <a:cs typeface="Raleway Medium"/>
                <a:sym typeface="Raleway Medium"/>
              </a:endParaRPr>
            </a:p>
          </p:txBody>
        </p:sp>
        <p:sp>
          <p:nvSpPr>
            <p:cNvPr id="457" name="Google Shape;457;p63"/>
            <p:cNvSpPr txBox="1"/>
            <p:nvPr/>
          </p:nvSpPr>
          <p:spPr>
            <a:xfrm>
              <a:off x="410850"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Mulailah dengan menjelaskan kebutuhan dan masalah dalam cerita pengguna.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Misalnya, pendaftaran pengguna — nama pengguna, email, dan kata sandi.</a:t>
              </a:r>
              <a:endParaRPr sz="1200">
                <a:latin typeface="Raleway Medium"/>
                <a:ea typeface="Raleway Medium"/>
                <a:cs typeface="Raleway Medium"/>
                <a:sym typeface="Raleway Medium"/>
              </a:endParaRPr>
            </a:p>
          </p:txBody>
        </p:sp>
      </p:grpSp>
      <p:grpSp>
        <p:nvGrpSpPr>
          <p:cNvPr id="458" name="Google Shape;458;p63"/>
          <p:cNvGrpSpPr/>
          <p:nvPr/>
        </p:nvGrpSpPr>
        <p:grpSpPr>
          <a:xfrm>
            <a:off x="2263425" y="1097280"/>
            <a:ext cx="2541300" cy="3483050"/>
            <a:chOff x="2263425" y="1189775"/>
            <a:chExt cx="2541300" cy="3483050"/>
          </a:xfrm>
        </p:grpSpPr>
        <p:sp>
          <p:nvSpPr>
            <p:cNvPr id="459" name="Google Shape;459;p63"/>
            <p:cNvSpPr/>
            <p:nvPr/>
          </p:nvSpPr>
          <p:spPr>
            <a:xfrm>
              <a:off x="2263425" y="1189775"/>
              <a:ext cx="25413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a:t>
              </a:r>
              <a:r>
                <a:rPr lang="en">
                  <a:solidFill>
                    <a:srgbClr val="FFFFFF"/>
                  </a:solidFill>
                  <a:latin typeface="Raleway Medium"/>
                  <a:ea typeface="Raleway Medium"/>
                  <a:cs typeface="Raleway Medium"/>
                  <a:sym typeface="Raleway Medium"/>
                </a:rPr>
                <a:t> #2</a:t>
              </a:r>
              <a:endParaRPr>
                <a:solidFill>
                  <a:srgbClr val="FFFFFF"/>
                </a:solidFill>
                <a:latin typeface="Raleway Medium"/>
                <a:ea typeface="Raleway Medium"/>
                <a:cs typeface="Raleway Medium"/>
                <a:sym typeface="Raleway Medium"/>
              </a:endParaRPr>
            </a:p>
          </p:txBody>
        </p:sp>
        <p:sp>
          <p:nvSpPr>
            <p:cNvPr id="460" name="Google Shape;460;p63"/>
            <p:cNvSpPr txBox="1"/>
            <p:nvPr/>
          </p:nvSpPr>
          <p:spPr>
            <a:xfrm>
              <a:off x="2512202"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Identifikasi layar - layar kunci pada antarmuka.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Cara yang baik untuk melakukan ini adalah dengan memikirkan titik awal dan akhir. Misalnya, titik awal adalah halaman login, dan titik akhir adalah halaman selamat datang.</a:t>
              </a:r>
              <a:endParaRPr sz="1200">
                <a:latin typeface="Raleway Medium"/>
                <a:ea typeface="Raleway Medium"/>
                <a:cs typeface="Raleway Medium"/>
                <a:sym typeface="Raleway Medium"/>
              </a:endParaRPr>
            </a:p>
          </p:txBody>
        </p:sp>
      </p:grpSp>
      <p:grpSp>
        <p:nvGrpSpPr>
          <p:cNvPr id="461" name="Google Shape;461;p63"/>
          <p:cNvGrpSpPr/>
          <p:nvPr/>
        </p:nvGrpSpPr>
        <p:grpSpPr>
          <a:xfrm>
            <a:off x="4329974" y="1097280"/>
            <a:ext cx="2541300" cy="3483050"/>
            <a:chOff x="4329974" y="1189775"/>
            <a:chExt cx="2541300" cy="3483050"/>
          </a:xfrm>
        </p:grpSpPr>
        <p:sp>
          <p:nvSpPr>
            <p:cNvPr id="462" name="Google Shape;462;p63"/>
            <p:cNvSpPr/>
            <p:nvPr/>
          </p:nvSpPr>
          <p:spPr>
            <a:xfrm>
              <a:off x="4329974" y="1189775"/>
              <a:ext cx="25413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a:t>
              </a:r>
              <a:r>
                <a:rPr lang="en">
                  <a:solidFill>
                    <a:srgbClr val="FFFFFF"/>
                  </a:solidFill>
                  <a:latin typeface="Raleway Medium"/>
                  <a:ea typeface="Raleway Medium"/>
                  <a:cs typeface="Raleway Medium"/>
                  <a:sym typeface="Raleway Medium"/>
                </a:rPr>
                <a:t> #3</a:t>
              </a:r>
              <a:endParaRPr>
                <a:solidFill>
                  <a:srgbClr val="FFFFFF"/>
                </a:solidFill>
                <a:latin typeface="Raleway Medium"/>
                <a:ea typeface="Raleway Medium"/>
                <a:cs typeface="Raleway Medium"/>
                <a:sym typeface="Raleway Medium"/>
              </a:endParaRPr>
            </a:p>
          </p:txBody>
        </p:sp>
        <p:sp>
          <p:nvSpPr>
            <p:cNvPr id="463" name="Google Shape;463;p63"/>
            <p:cNvSpPr txBox="1"/>
            <p:nvPr/>
          </p:nvSpPr>
          <p:spPr>
            <a:xfrm>
              <a:off x="4613553"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Hubungkan layar dengan panah dengan </a:t>
              </a:r>
              <a:r>
                <a:rPr lang="en" sz="1200">
                  <a:latin typeface="Raleway Medium"/>
                  <a:ea typeface="Raleway Medium"/>
                  <a:cs typeface="Raleway Medium"/>
                  <a:sym typeface="Raleway Medium"/>
                </a:rPr>
                <a:t>urutan yang berasumsi bahwa</a:t>
              </a:r>
              <a:r>
                <a:rPr lang="en" sz="1200">
                  <a:latin typeface="Raleway Medium"/>
                  <a:ea typeface="Raleway Medium"/>
                  <a:cs typeface="Raleway Medium"/>
                  <a:sym typeface="Raleway Medium"/>
                </a:rPr>
                <a:t> pengguna akan bergerak maju.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p:txBody>
        </p:sp>
      </p:grpSp>
      <p:grpSp>
        <p:nvGrpSpPr>
          <p:cNvPr id="464" name="Google Shape;464;p63"/>
          <p:cNvGrpSpPr/>
          <p:nvPr/>
        </p:nvGrpSpPr>
        <p:grpSpPr>
          <a:xfrm>
            <a:off x="6396739" y="1097280"/>
            <a:ext cx="2541300" cy="3483050"/>
            <a:chOff x="6396739" y="1189775"/>
            <a:chExt cx="2541300" cy="3483050"/>
          </a:xfrm>
        </p:grpSpPr>
        <p:sp>
          <p:nvSpPr>
            <p:cNvPr id="465" name="Google Shape;465;p63"/>
            <p:cNvSpPr/>
            <p:nvPr/>
          </p:nvSpPr>
          <p:spPr>
            <a:xfrm>
              <a:off x="6396739" y="1189775"/>
              <a:ext cx="2541300" cy="669000"/>
            </a:xfrm>
            <a:prstGeom prst="chevron">
              <a:avLst>
                <a:gd fmla="val 50000" name="adj"/>
              </a:avLst>
            </a:prstGeom>
            <a:solidFill>
              <a:srgbClr val="5E2B62">
                <a:alpha val="439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Step</a:t>
              </a:r>
              <a:r>
                <a:rPr lang="en">
                  <a:solidFill>
                    <a:srgbClr val="FFFFFF"/>
                  </a:solidFill>
                  <a:latin typeface="Raleway Medium"/>
                  <a:ea typeface="Raleway Medium"/>
                  <a:cs typeface="Raleway Medium"/>
                  <a:sym typeface="Raleway Medium"/>
                </a:rPr>
                <a:t> #4</a:t>
              </a:r>
              <a:endParaRPr>
                <a:solidFill>
                  <a:srgbClr val="FFFFFF"/>
                </a:solidFill>
                <a:latin typeface="Raleway Medium"/>
                <a:ea typeface="Raleway Medium"/>
                <a:cs typeface="Raleway Medium"/>
                <a:sym typeface="Raleway Medium"/>
              </a:endParaRPr>
            </a:p>
          </p:txBody>
        </p:sp>
        <p:sp>
          <p:nvSpPr>
            <p:cNvPr id="466" name="Google Shape;466;p63"/>
            <p:cNvSpPr txBox="1"/>
            <p:nvPr/>
          </p:nvSpPr>
          <p:spPr>
            <a:xfrm>
              <a:off x="6714905" y="2057125"/>
              <a:ext cx="1905000" cy="261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Sertakan  poin - poin keputusan dan tunjukkan apa yang terjadi dalam kasus yang berbeda.</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latin typeface="Raleway Medium"/>
                  <a:ea typeface="Raleway Medium"/>
                  <a:cs typeface="Raleway Medium"/>
                  <a:sym typeface="Raleway Medium"/>
                </a:rPr>
                <a:t>Misalnya, jika pengguna lupa kata sandinya.</a:t>
              </a:r>
              <a:endParaRPr sz="1200">
                <a:latin typeface="Raleway Medium"/>
                <a:ea typeface="Raleway Medium"/>
                <a:cs typeface="Raleway Medium"/>
                <a:sym typeface="Raleway Medium"/>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wireflows</a:t>
            </a:r>
            <a:endParaRPr/>
          </a:p>
        </p:txBody>
      </p:sp>
      <p:pic>
        <p:nvPicPr>
          <p:cNvPr id="473" name="Google Shape;473;p64"/>
          <p:cNvPicPr preferRelativeResize="0"/>
          <p:nvPr/>
        </p:nvPicPr>
        <p:blipFill>
          <a:blip r:embed="rId3">
            <a:alphaModFix/>
          </a:blip>
          <a:stretch>
            <a:fillRect/>
          </a:stretch>
        </p:blipFill>
        <p:spPr>
          <a:xfrm>
            <a:off x="1472951" y="804500"/>
            <a:ext cx="6175876" cy="2079475"/>
          </a:xfrm>
          <a:prstGeom prst="rect">
            <a:avLst/>
          </a:prstGeom>
          <a:noFill/>
          <a:ln>
            <a:noFill/>
          </a:ln>
        </p:spPr>
      </p:pic>
      <p:pic>
        <p:nvPicPr>
          <p:cNvPr id="474" name="Google Shape;474;p64"/>
          <p:cNvPicPr preferRelativeResize="0"/>
          <p:nvPr/>
        </p:nvPicPr>
        <p:blipFill>
          <a:blip r:embed="rId4">
            <a:alphaModFix/>
          </a:blip>
          <a:stretch>
            <a:fillRect/>
          </a:stretch>
        </p:blipFill>
        <p:spPr>
          <a:xfrm>
            <a:off x="1472950" y="2818585"/>
            <a:ext cx="6175876" cy="214876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pic>
        <p:nvPicPr>
          <p:cNvPr id="479" name="Google Shape;479;p65">
            <a:hlinkClick r:id="rId3"/>
          </p:cNvPr>
          <p:cNvPicPr preferRelativeResize="0"/>
          <p:nvPr/>
        </p:nvPicPr>
        <p:blipFill rotWithShape="1">
          <a:blip r:embed="rId4">
            <a:alphaModFix/>
          </a:blip>
          <a:srcRect b="-16151" l="0" r="0" t="-1744"/>
          <a:stretch/>
        </p:blipFill>
        <p:spPr>
          <a:xfrm>
            <a:off x="2377451" y="1185675"/>
            <a:ext cx="6407798" cy="3489825"/>
          </a:xfrm>
          <a:prstGeom prst="rect">
            <a:avLst/>
          </a:prstGeom>
          <a:noFill/>
          <a:ln>
            <a:noFill/>
          </a:ln>
        </p:spPr>
      </p:pic>
      <p:sp>
        <p:nvSpPr>
          <p:cNvPr id="480" name="Google Shape;480;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wireflows</a:t>
            </a:r>
            <a:endParaRPr/>
          </a:p>
        </p:txBody>
      </p:sp>
      <p:sp>
        <p:nvSpPr>
          <p:cNvPr id="482" name="Google Shape;482;p65"/>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wireflow</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#1</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66">
            <a:hlinkClick r:id="rId3"/>
          </p:cNvPr>
          <p:cNvPicPr preferRelativeResize="0"/>
          <p:nvPr/>
        </p:nvPicPr>
        <p:blipFill rotWithShape="1">
          <a:blip r:embed="rId4">
            <a:alphaModFix/>
          </a:blip>
          <a:srcRect b="16577" l="0" r="0" t="6747"/>
          <a:stretch/>
        </p:blipFill>
        <p:spPr>
          <a:xfrm>
            <a:off x="2208800" y="842775"/>
            <a:ext cx="6407802" cy="3957826"/>
          </a:xfrm>
          <a:prstGeom prst="rect">
            <a:avLst/>
          </a:prstGeom>
          <a:noFill/>
          <a:ln>
            <a:noFill/>
          </a:ln>
        </p:spPr>
      </p:pic>
      <p:sp>
        <p:nvSpPr>
          <p:cNvPr id="488" name="Google Shape;488;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9" name="Google Shape;489;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wireflows</a:t>
            </a:r>
            <a:endParaRPr/>
          </a:p>
        </p:txBody>
      </p:sp>
      <p:sp>
        <p:nvSpPr>
          <p:cNvPr id="490" name="Google Shape;490;p66"/>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wireflow</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#2</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67">
            <a:hlinkClick r:id="rId3"/>
          </p:cNvPr>
          <p:cNvPicPr preferRelativeResize="0"/>
          <p:nvPr/>
        </p:nvPicPr>
        <p:blipFill rotWithShape="1">
          <a:blip r:embed="rId4">
            <a:alphaModFix/>
          </a:blip>
          <a:srcRect b="2830" l="0" r="0" t="7014"/>
          <a:stretch/>
        </p:blipFill>
        <p:spPr>
          <a:xfrm>
            <a:off x="2377450" y="823750"/>
            <a:ext cx="6407800" cy="4167349"/>
          </a:xfrm>
          <a:prstGeom prst="rect">
            <a:avLst/>
          </a:prstGeom>
          <a:noFill/>
          <a:ln>
            <a:noFill/>
          </a:ln>
        </p:spPr>
      </p:pic>
      <p:sp>
        <p:nvSpPr>
          <p:cNvPr id="496" name="Google Shape;496;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wireflows</a:t>
            </a:r>
            <a:endParaRPr/>
          </a:p>
        </p:txBody>
      </p:sp>
      <p:sp>
        <p:nvSpPr>
          <p:cNvPr id="498" name="Google Shape;498;p67"/>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wireflow</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#3</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pic>
        <p:nvPicPr>
          <p:cNvPr id="503" name="Google Shape;503;p68">
            <a:hlinkClick r:id="rId3"/>
          </p:cNvPr>
          <p:cNvPicPr preferRelativeResize="0"/>
          <p:nvPr/>
        </p:nvPicPr>
        <p:blipFill rotWithShape="1">
          <a:blip r:embed="rId4">
            <a:alphaModFix/>
          </a:blip>
          <a:srcRect b="0" l="0" r="-50082" t="0"/>
          <a:stretch/>
        </p:blipFill>
        <p:spPr>
          <a:xfrm>
            <a:off x="2377451" y="1185675"/>
            <a:ext cx="6407796" cy="3489826"/>
          </a:xfrm>
          <a:prstGeom prst="rect">
            <a:avLst/>
          </a:prstGeom>
          <a:noFill/>
          <a:ln>
            <a:noFill/>
          </a:ln>
        </p:spPr>
      </p:pic>
      <p:sp>
        <p:nvSpPr>
          <p:cNvPr id="504" name="Google Shape;504;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5" name="Google Shape;505;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wireflows</a:t>
            </a:r>
            <a:endParaRPr/>
          </a:p>
        </p:txBody>
      </p:sp>
      <p:sp>
        <p:nvSpPr>
          <p:cNvPr id="506" name="Google Shape;506;p68"/>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wireflow</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#4</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69">
            <a:hlinkClick r:id="rId3"/>
          </p:cNvPr>
          <p:cNvPicPr preferRelativeResize="0"/>
          <p:nvPr/>
        </p:nvPicPr>
        <p:blipFill rotWithShape="1">
          <a:blip r:embed="rId4">
            <a:alphaModFix/>
          </a:blip>
          <a:srcRect b="13593" l="0" r="0" t="13600"/>
          <a:stretch/>
        </p:blipFill>
        <p:spPr>
          <a:xfrm>
            <a:off x="2377451" y="1185675"/>
            <a:ext cx="6407798" cy="3489827"/>
          </a:xfrm>
          <a:prstGeom prst="rect">
            <a:avLst/>
          </a:prstGeom>
          <a:noFill/>
          <a:ln>
            <a:noFill/>
          </a:ln>
        </p:spPr>
      </p:pic>
      <p:sp>
        <p:nvSpPr>
          <p:cNvPr id="512" name="Google Shape;512;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3" name="Google Shape;513;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Menyusun wireflows</a:t>
            </a:r>
            <a:endParaRPr/>
          </a:p>
        </p:txBody>
      </p:sp>
      <p:sp>
        <p:nvSpPr>
          <p:cNvPr id="514" name="Google Shape;514;p69"/>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wireflow</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#5</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520" name="Google Shape;520;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26" name="Google Shape;526;p7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yang termasuk dari langkah - langkah menyusun sebuah wireframe,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Identifikasi aspect ratio jendela browser atau perangkat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Identifikasi dan gambar elemen terbesar dalam desain Anda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Masukkan gambar aktual pada halaman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Isi rincian yang tersisa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2" name="Google Shape;532;p7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yang termasuk dari langkah - langkah menyusun sebuah wireframe,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Identifikasi aspect ratio jendela browser atau perangkat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Identifikasi dan gambar elemen terbesar dalam desain Anda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Masukkan gambar aktual pada halaman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Isi rincian yang tersisa</a:t>
            </a:r>
            <a:endParaRPr sz="1200">
              <a:solidFill>
                <a:srgbClr val="A667A5"/>
              </a:solidFill>
              <a:latin typeface="Raleway Medium"/>
              <a:ea typeface="Raleway Medium"/>
              <a:cs typeface="Raleway Medium"/>
              <a:sym typeface="Raleway Medium"/>
            </a:endParaRPr>
          </a:p>
        </p:txBody>
      </p:sp>
      <p:sp>
        <p:nvSpPr>
          <p:cNvPr id="533" name="Google Shape;533;p72"/>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Tidak perlu memasukkan gambar sebenarnya pada saat membuat wireframes, gambar - gambar dapat direpresentasikan oleh sebuah bentuk dan coretan X.</a:t>
            </a:r>
            <a:endParaRPr b="1" sz="1000">
              <a:solidFill>
                <a:srgbClr val="733572"/>
              </a:solidFill>
              <a:latin typeface="Raleway"/>
              <a:ea typeface="Raleway"/>
              <a:cs typeface="Raleway"/>
              <a:sym typeface="Raleway"/>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9" name="Google Shape;539;p7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yang termasuk dari peralatan wireframing,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Balsamiq</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MockPlus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Zeplin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UXPin</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45" name="Google Shape;545;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yang termasuk dari peralatan wireframing,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Balsamiq</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MockPlus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Zeplin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UXPin</a:t>
            </a:r>
            <a:endParaRPr sz="1200">
              <a:solidFill>
                <a:srgbClr val="A667A5"/>
              </a:solidFill>
              <a:latin typeface="Raleway Medium"/>
              <a:ea typeface="Raleway Medium"/>
              <a:cs typeface="Raleway Medium"/>
              <a:sym typeface="Raleway Medium"/>
            </a:endParaRPr>
          </a:p>
        </p:txBody>
      </p:sp>
      <p:sp>
        <p:nvSpPr>
          <p:cNvPr id="546" name="Google Shape;546;p74"/>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Zeplin adalah sebuah peralatan handoff</a:t>
            </a:r>
            <a:endParaRPr b="1" sz="1000">
              <a:solidFill>
                <a:srgbClr val="733572"/>
              </a:solidFill>
              <a:latin typeface="Raleway"/>
              <a:ea typeface="Raleway"/>
              <a:cs typeface="Raleway"/>
              <a:sym typeface="Raleway"/>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52" name="Google Shape;552;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Apa yang membedakan task flows dari flowcharts adalah ______ ______ dan proses yang disertakan.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Tingkat gambar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Kemampuan gambar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Tingkat detail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Peralatan peralatan</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58" name="Google Shape;558;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Apa yang membedakan task flows dari flowcharts adalah ______ ______ dan proses yang disertakan.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Tingkat gambar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Kemampuan gambar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Tingkat detail</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Peralatan peralatan</a:t>
            </a:r>
            <a:endParaRPr sz="1200">
              <a:solidFill>
                <a:srgbClr val="A667A5"/>
              </a:solidFill>
              <a:latin typeface="Raleway Medium"/>
              <a:ea typeface="Raleway Medium"/>
              <a:cs typeface="Raleway Medium"/>
              <a:sym typeface="Raleway Medium"/>
            </a:endParaRPr>
          </a:p>
        </p:txBody>
      </p:sp>
      <p:sp>
        <p:nvSpPr>
          <p:cNvPr id="559" name="Google Shape;559;p76"/>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Apa yang membedakan task flows dari flow charts adalah tingkat detail dan proses yang disertakan.</a:t>
            </a:r>
            <a:endParaRPr b="1" sz="1000">
              <a:solidFill>
                <a:srgbClr val="733572"/>
              </a:solidFill>
              <a:latin typeface="Raleway"/>
              <a:ea typeface="Raleway"/>
              <a:cs typeface="Raleway"/>
              <a:sym typeface="Raleway"/>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65" name="Google Shape;565;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Apa salah satu cara untuk memulai menyusun wireflows</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Menghubungkan  layar dengan panah.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Menyertakan</a:t>
            </a:r>
            <a:r>
              <a:rPr lang="en" sz="1200">
                <a:solidFill>
                  <a:schemeClr val="lt1"/>
                </a:solidFill>
                <a:latin typeface="Raleway Medium"/>
                <a:ea typeface="Raleway Medium"/>
                <a:cs typeface="Raleway Medium"/>
                <a:sym typeface="Raleway Medium"/>
              </a:rPr>
              <a:t> poin - poin keputusan.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t>
            </a:r>
            <a:r>
              <a:rPr lang="en" sz="1200">
                <a:solidFill>
                  <a:schemeClr val="lt1"/>
                </a:solidFill>
                <a:latin typeface="Raleway Medium"/>
                <a:ea typeface="Raleway Medium"/>
                <a:cs typeface="Raleway Medium"/>
                <a:sym typeface="Raleway Medium"/>
              </a:rPr>
              <a:t>enjelaskan kebutuhan dan masalah dalam cerita pengguna.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Identifikasi layar - layar kunci pada antarmuka.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1" name="Google Shape;571;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Apa salah satu cara untuk memulai menyusun wireflows</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Menghubungkan  layar dengan panah.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Menyertakan poin - poin keputusan.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Menjelaskan kebutuhan dan masalah dalam cerita pengguna. </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Identifikasi layar - layar kunci pada antarmuka. </a:t>
            </a:r>
            <a:endParaRPr sz="1200">
              <a:solidFill>
                <a:srgbClr val="A667A5"/>
              </a:solidFill>
              <a:latin typeface="Raleway Medium"/>
              <a:ea typeface="Raleway Medium"/>
              <a:cs typeface="Raleway Medium"/>
              <a:sym typeface="Raleway Medium"/>
            </a:endParaRPr>
          </a:p>
        </p:txBody>
      </p:sp>
      <p:sp>
        <p:nvSpPr>
          <p:cNvPr id="572" name="Google Shape;572;p78"/>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Step 1 dari penyusunan wireflows adalah menjelaskan kebutuhan dan masalah pengguna.</a:t>
            </a:r>
            <a:endParaRPr b="1" sz="1000">
              <a:solidFill>
                <a:srgbClr val="733572"/>
              </a:solidFill>
              <a:latin typeface="Raleway"/>
              <a:ea typeface="Raleway"/>
              <a:cs typeface="Raleway"/>
              <a:sym typeface="Raleway"/>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8" name="Google Shape;578;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Diskusikan gambar berikut, apa yang membuat salah satu wireflow lebih baik daripada.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pic>
        <p:nvPicPr>
          <p:cNvPr id="579" name="Google Shape;579;p79"/>
          <p:cNvPicPr preferRelativeResize="0"/>
          <p:nvPr/>
        </p:nvPicPr>
        <p:blipFill>
          <a:blip r:embed="rId3">
            <a:alphaModFix/>
          </a:blip>
          <a:stretch>
            <a:fillRect/>
          </a:stretch>
        </p:blipFill>
        <p:spPr>
          <a:xfrm>
            <a:off x="2282326" y="2222050"/>
            <a:ext cx="6175876" cy="20794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Diskusikan gambar berikut, apa yang membuat salah satu wireflow lebih baik daripada.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pic>
        <p:nvPicPr>
          <p:cNvPr id="585" name="Google Shape;585;p80"/>
          <p:cNvPicPr preferRelativeResize="0"/>
          <p:nvPr/>
        </p:nvPicPr>
        <p:blipFill>
          <a:blip r:embed="rId3">
            <a:alphaModFix/>
          </a:blip>
          <a:stretch>
            <a:fillRect/>
          </a:stretch>
        </p:blipFill>
        <p:spPr>
          <a:xfrm>
            <a:off x="2282325" y="2263610"/>
            <a:ext cx="6175876" cy="2148765"/>
          </a:xfrm>
          <a:prstGeom prst="rect">
            <a:avLst/>
          </a:prstGeom>
          <a:noFill/>
          <a:ln>
            <a:noFill/>
          </a:ln>
        </p:spPr>
      </p:pic>
      <p:sp>
        <p:nvSpPr>
          <p:cNvPr id="586" name="Google Shape;586;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593" name="Google Shape;593;p8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94" name="Google Shape;594;p81"/>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accent5"/>
                </a:solidFill>
                <a:latin typeface="Raleway Medium"/>
                <a:ea typeface="Raleway Medium"/>
                <a:cs typeface="Raleway Medium"/>
                <a:sym typeface="Raleway Medium"/>
                <a:hlinkClick r:id="rId4">
                  <a:extLst>
                    <a:ext uri="{A12FA001-AC4F-418D-AE19-62706E023703}">
                      <ahyp:hlinkClr val="tx"/>
                    </a:ext>
                  </a:extLst>
                </a:hlinkClick>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accent5"/>
                </a:solidFill>
                <a:latin typeface="Raleway Medium"/>
                <a:ea typeface="Raleway Medium"/>
                <a:cs typeface="Raleway Medium"/>
                <a:sym typeface="Raleway Medium"/>
                <a:hlinkClick r:id="rId5">
                  <a:extLst>
                    <a:ext uri="{A12FA001-AC4F-418D-AE19-62706E023703}">
                      <ahyp:hlinkClr val="tx"/>
                    </a:ext>
                  </a:extLst>
                </a:hlinkClick>
              </a:rPr>
              <a:t>5 Stages in The Design Thinking Process by Interaction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accent5"/>
                </a:solidFill>
                <a:uFill>
                  <a:noFill/>
                </a:uFill>
                <a:latin typeface="Raleway Medium"/>
                <a:ea typeface="Raleway Medium"/>
                <a:cs typeface="Raleway Medium"/>
                <a:sym typeface="Raleway Medium"/>
                <a:hlinkClick r:id="rId6">
                  <a:extLst>
                    <a:ext uri="{A12FA001-AC4F-418D-AE19-62706E023703}">
                      <ahyp:hlinkClr val="tx"/>
                    </a:ext>
                  </a:extLst>
                </a:hlinkClick>
              </a:rPr>
              <a:t>    </a:t>
            </a:r>
            <a:r>
              <a:rPr lang="en" sz="1200" u="sng">
                <a:solidFill>
                  <a:schemeClr val="accent5"/>
                </a:solidFill>
                <a:latin typeface="Raleway Medium"/>
                <a:ea typeface="Raleway Medium"/>
                <a:cs typeface="Raleway Medium"/>
                <a:sym typeface="Raleway Medium"/>
                <a:hlinkClick r:id="rId7">
                  <a:extLst>
                    <a:ext uri="{A12FA001-AC4F-418D-AE19-62706E023703}">
                      <ahyp:hlinkClr val="tx"/>
                    </a:ext>
                  </a:extLst>
                </a:hlinkClick>
              </a:rPr>
              <a:t>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8"/>
              </a:rPr>
              <a:t>Ideation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9"/>
              </a:rPr>
              <a:t>How to Draw a Wireframe (Even if You Can’t Draw) by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10"/>
              </a:rPr>
              <a:t>Nielsen Norman Group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u="sng">
                <a:solidFill>
                  <a:schemeClr val="hlink"/>
                </a:solidFill>
                <a:latin typeface="Raleway Medium"/>
                <a:ea typeface="Raleway Medium"/>
                <a:cs typeface="Raleway Medium"/>
                <a:sym typeface="Raleway Medium"/>
                <a:hlinkClick r:id="rId11"/>
              </a:rPr>
              <a:t>Getting started with wireframing on medium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a:t>
            </a:r>
            <a:r>
              <a:rPr lang="en" sz="1200" u="sng">
                <a:solidFill>
                  <a:schemeClr val="hlink"/>
                </a:solidFill>
                <a:latin typeface="Raleway Medium"/>
                <a:ea typeface="Raleway Medium"/>
                <a:cs typeface="Raleway Medium"/>
                <a:sym typeface="Raleway Medium"/>
                <a:hlinkClick r:id="rId12"/>
              </a:rPr>
              <a:t>What are Wireflows? by uxcel</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98" name="Shape 598"/>
        <p:cNvGrpSpPr/>
        <p:nvPr/>
      </p:nvGrpSpPr>
      <p:grpSpPr>
        <a:xfrm>
          <a:off x="0" y="0"/>
          <a:ext cx="0" cy="0"/>
          <a:chOff x="0" y="0"/>
          <a:chExt cx="0" cy="0"/>
        </a:xfrm>
      </p:grpSpPr>
      <p:sp>
        <p:nvSpPr>
          <p:cNvPr id="599" name="Google Shape;599;p82"/>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0" name="Google Shape;600;p82"/>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1" name="Google Shape;601;p82"/>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2" name="Google Shape;602;p82"/>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03" name="Google Shape;603;p82"/>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604" name="Google Shape;604;p82"/>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605" name="Google Shape;605;p82"/>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606" name="Google Shape;606;p82"/>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