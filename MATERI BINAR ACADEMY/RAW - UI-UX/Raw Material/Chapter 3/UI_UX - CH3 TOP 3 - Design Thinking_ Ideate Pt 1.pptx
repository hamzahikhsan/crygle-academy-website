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Raleway"/>
      <p:regular r:id="rId50"/>
      <p:bold r:id="rId51"/>
      <p:italic r:id="rId52"/>
      <p:boldItalic r:id="rId53"/>
    </p:embeddedFont>
    <p:embeddedFont>
      <p:font typeface="Roboto"/>
      <p:regular r:id="rId54"/>
      <p:bold r:id="rId55"/>
      <p:italic r:id="rId56"/>
      <p:boldItalic r:id="rId57"/>
    </p:embeddedFont>
    <p:embeddedFont>
      <p:font typeface="Montserrat"/>
      <p:regular r:id="rId58"/>
      <p:bold r:id="rId59"/>
      <p:italic r:id="rId60"/>
      <p:boldItalic r:id="rId61"/>
    </p:embeddedFont>
    <p:embeddedFont>
      <p:font typeface="Lato Black"/>
      <p:bold r:id="rId62"/>
      <p:boldItalic r:id="rId63"/>
    </p:embeddedFont>
    <p:embeddedFont>
      <p:font typeface="Raleway Medium"/>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LatoBlack-bold.fntdata"/><Relationship Id="rId61" Type="http://schemas.openxmlformats.org/officeDocument/2006/relationships/font" Target="fonts/Montserrat-boldItalic.fntdata"/><Relationship Id="rId20" Type="http://schemas.openxmlformats.org/officeDocument/2006/relationships/slide" Target="slides/slide15.xml"/><Relationship Id="rId64" Type="http://schemas.openxmlformats.org/officeDocument/2006/relationships/font" Target="fonts/RalewayMedium-regular.fntdata"/><Relationship Id="rId63" Type="http://schemas.openxmlformats.org/officeDocument/2006/relationships/font" Target="fonts/LatoBlack-boldItalic.fntdata"/><Relationship Id="rId22" Type="http://schemas.openxmlformats.org/officeDocument/2006/relationships/slide" Target="slides/slide17.xml"/><Relationship Id="rId66" Type="http://schemas.openxmlformats.org/officeDocument/2006/relationships/font" Target="fonts/RalewayMedium-italic.fntdata"/><Relationship Id="rId21" Type="http://schemas.openxmlformats.org/officeDocument/2006/relationships/slide" Target="slides/slide16.xml"/><Relationship Id="rId65" Type="http://schemas.openxmlformats.org/officeDocument/2006/relationships/font" Target="fonts/RalewayMedium-bold.fntdata"/><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font" Target="fonts/RalewayMedium-boldItalic.fntdata"/><Relationship Id="rId60" Type="http://schemas.openxmlformats.org/officeDocument/2006/relationships/font" Target="fonts/Montserrat-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bold.fntdata"/><Relationship Id="rId50" Type="http://schemas.openxmlformats.org/officeDocument/2006/relationships/font" Target="fonts/Raleway-regular.fntdata"/><Relationship Id="rId53" Type="http://schemas.openxmlformats.org/officeDocument/2006/relationships/font" Target="fonts/Raleway-boldItalic.fntdata"/><Relationship Id="rId52" Type="http://schemas.openxmlformats.org/officeDocument/2006/relationships/font" Target="fonts/Raleway-italic.fntdata"/><Relationship Id="rId11" Type="http://schemas.openxmlformats.org/officeDocument/2006/relationships/slide" Target="slides/slide6.xml"/><Relationship Id="rId55" Type="http://schemas.openxmlformats.org/officeDocument/2006/relationships/font" Target="fonts/Roboto-bold.fntdata"/><Relationship Id="rId10" Type="http://schemas.openxmlformats.org/officeDocument/2006/relationships/slide" Target="slides/slide5.xml"/><Relationship Id="rId54" Type="http://schemas.openxmlformats.org/officeDocument/2006/relationships/font" Target="fonts/Roboto-regular.fntdata"/><Relationship Id="rId13" Type="http://schemas.openxmlformats.org/officeDocument/2006/relationships/slide" Target="slides/slide8.xml"/><Relationship Id="rId57" Type="http://schemas.openxmlformats.org/officeDocument/2006/relationships/font" Target="fonts/Roboto-boldItalic.fntdata"/><Relationship Id="rId12" Type="http://schemas.openxmlformats.org/officeDocument/2006/relationships/slide" Target="slides/slide7.xml"/><Relationship Id="rId56" Type="http://schemas.openxmlformats.org/officeDocument/2006/relationships/font" Target="fonts/Roboto-italic.fntdata"/><Relationship Id="rId15" Type="http://schemas.openxmlformats.org/officeDocument/2006/relationships/slide" Target="slides/slide10.xml"/><Relationship Id="rId59" Type="http://schemas.openxmlformats.org/officeDocument/2006/relationships/font" Target="fonts/Montserrat-bold.fntdata"/><Relationship Id="rId14" Type="http://schemas.openxmlformats.org/officeDocument/2006/relationships/slide" Target="slides/slide9.xml"/><Relationship Id="rId58" Type="http://schemas.openxmlformats.org/officeDocument/2006/relationships/font" Target="fonts/Montserrat-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vement_special?utm_source=unsplash&amp;utm_medium=referral&amp;utm_content=creditCopyText" TargetMode="External"/><Relationship Id="rId3" Type="http://schemas.openxmlformats.org/officeDocument/2006/relationships/hyperlink" Target="https://unsplash.com/@pavement_special?utm_source=unsplash&amp;utm_medium=referral&amp;utm_content=creditCopyText" TargetMode="External"/><Relationship Id="rId4" Type="http://schemas.openxmlformats.org/officeDocument/2006/relationships/hyperlink" Target="https://unsplash.com/s/photos/opportunity?utm_source=unsplash&amp;utm_medium=referral&amp;utm_content=creditCopyText" TargetMode="External"/><Relationship Id="rId5" Type="http://schemas.openxmlformats.org/officeDocument/2006/relationships/hyperlink" Target="https://unsplash.com/s/photos/opportunity?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ronvisuals?utm_source=unsplash&amp;utm_medium=referral&amp;utm_content=creditCopyText" TargetMode="External"/><Relationship Id="rId3" Type="http://schemas.openxmlformats.org/officeDocument/2006/relationships/hyperlink" Target="https://unsplash.com/@aronvisuals?utm_source=unsplash&amp;utm_medium=referral&amp;utm_content=creditCopyText" TargetMode="External"/><Relationship Id="rId4" Type="http://schemas.openxmlformats.org/officeDocument/2006/relationships/hyperlink" Target="https://unsplash.com/s/photos/time?utm_source=unsplash&amp;utm_medium=referral&amp;utm_content=creditCopyText" TargetMode="External"/><Relationship Id="rId5" Type="http://schemas.openxmlformats.org/officeDocument/2006/relationships/hyperlink" Target="https://unsplash.com/s/photos/time?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s/photos/time?utm_source=unsplash&amp;utm_medium=referral&amp;utm_content=creditCopyText" TargetMode="External"/><Relationship Id="rId4" Type="http://schemas.openxmlformats.org/officeDocument/2006/relationships/hyperlink" Target="https://unsplash.com/s/photos/time?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erloov?utm_source=unsplash&amp;utm_medium=referral&amp;utm_content=creditCopyText" TargetMode="External"/><Relationship Id="rId3" Type="http://schemas.openxmlformats.org/officeDocument/2006/relationships/hyperlink" Target="https://unsplash.com/@perloov?utm_source=unsplash&amp;utm_medium=referral&amp;utm_content=creditCopyText" TargetMode="External"/><Relationship Id="rId4" Type="http://schemas.openxmlformats.org/officeDocument/2006/relationships/hyperlink" Target="https://unsplash.com/s/photos/brainstorm?utm_source=unsplash&amp;utm_medium=referral&amp;utm_content=creditCopyText" TargetMode="External"/><Relationship Id="rId5" Type="http://schemas.openxmlformats.org/officeDocument/2006/relationships/hyperlink" Target="https://unsplash.com/s/photos/brainstorm?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 Id="rId5" Type="http://schemas.openxmlformats.org/officeDocument/2006/relationships/hyperlink" Target="https://unsplash.com/?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13d6c8b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113d6c8b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0f670bd1a_1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10f670bd1a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Riccardo Annandale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1127d2a467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1127d2a467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1127d2a46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1127d2a46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Aron Visuals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1127d2a467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1127d2a467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 </a:t>
            </a:r>
            <a:r>
              <a:rPr lang="en" u="sng">
                <a:solidFill>
                  <a:schemeClr val="hlink"/>
                </a:solidFill>
                <a:hlinkClick r:id="rId2"/>
              </a:rPr>
              <a:t>Kelly Sikkema</a:t>
            </a:r>
            <a:r>
              <a:rPr lang="en">
                <a:solidFill>
                  <a:schemeClr val="dk1"/>
                </a:solidFill>
              </a:rPr>
              <a:t> on</a:t>
            </a:r>
            <a:r>
              <a:rPr lang="en">
                <a:solidFill>
                  <a:schemeClr val="dk1"/>
                </a:solidFill>
                <a:uFill>
                  <a:noFill/>
                </a:uFill>
                <a:hlinkClick r:id="rId3">
                  <a:extLst>
                    <a:ext uri="{A12FA001-AC4F-418D-AE19-62706E023703}">
                      <ahyp:hlinkClr val="tx"/>
                    </a:ext>
                  </a:extLst>
                </a:hlinkClick>
              </a:rPr>
              <a:t> </a:t>
            </a:r>
            <a:r>
              <a:rPr lang="en" u="sng">
                <a:solidFill>
                  <a:schemeClr val="hlink"/>
                </a:solidFill>
                <a:hlinkClick r:id="rId4"/>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113d6c8b2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113d6c8b2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113d6c8b20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113d6c8b20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Per Lööv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0f7e777481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0f7e777481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0f8956bdba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0f8956bdba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0f8956bdba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0f8956bdba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113d6c8b20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113d6c8b20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13d6c8b20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13d6c8b20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Jason Goodman</a:t>
            </a:r>
            <a:r>
              <a:rPr lang="en">
                <a:solidFill>
                  <a:schemeClr val="dk1"/>
                </a:solidFill>
              </a:rPr>
              <a:t> on</a:t>
            </a:r>
            <a:r>
              <a:rPr lang="en">
                <a:solidFill>
                  <a:schemeClr val="dk1"/>
                </a:solidFill>
                <a:uFill>
                  <a:noFill/>
                </a:uFill>
                <a:hlinkClick r:id="rId3">
                  <a:extLst>
                    <a:ext uri="{A12FA001-AC4F-418D-AE19-62706E023703}">
                      <ahyp:hlinkClr val="tx"/>
                    </a:ext>
                  </a:extLst>
                </a:hlinkClick>
              </a:rPr>
              <a:t> </a:t>
            </a:r>
            <a:r>
              <a:rPr lang="en" u="sng">
                <a:solidFill>
                  <a:schemeClr val="hlink"/>
                </a:solidFill>
                <a:hlinkClick r:id="rId4"/>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17787d02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17787d02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Jason Goodman</a:t>
            </a:r>
            <a:r>
              <a:rPr lang="en">
                <a:solidFill>
                  <a:schemeClr val="dk1"/>
                </a:solidFill>
              </a:rPr>
              <a:t> on</a:t>
            </a:r>
            <a:r>
              <a:rPr lang="en">
                <a:solidFill>
                  <a:schemeClr val="dk1"/>
                </a:solidFill>
                <a:uFill>
                  <a:noFill/>
                </a:uFill>
                <a:hlinkClick r:id="rId3">
                  <a:extLst>
                    <a:ext uri="{A12FA001-AC4F-418D-AE19-62706E023703}">
                      <ahyp:hlinkClr val="tx"/>
                    </a:ext>
                  </a:extLst>
                </a:hlinkClick>
              </a:rPr>
              <a:t> </a:t>
            </a:r>
            <a:r>
              <a:rPr lang="en" u="sng">
                <a:solidFill>
                  <a:schemeClr val="hlink"/>
                </a:solidFill>
                <a:hlinkClick r:id="rId4"/>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17787d023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17787d023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Jason Goodman</a:t>
            </a:r>
            <a:r>
              <a:rPr lang="en">
                <a:solidFill>
                  <a:schemeClr val="dk1"/>
                </a:solidFill>
              </a:rPr>
              <a:t> on</a:t>
            </a:r>
            <a:r>
              <a:rPr lang="en">
                <a:solidFill>
                  <a:schemeClr val="dk1"/>
                </a:solidFill>
                <a:uFill>
                  <a:noFill/>
                </a:uFill>
                <a:hlinkClick r:id="rId3">
                  <a:extLst>
                    <a:ext uri="{A12FA001-AC4F-418D-AE19-62706E023703}">
                      <ahyp:hlinkClr val="tx"/>
                    </a:ext>
                  </a:extLst>
                </a:hlinkClick>
              </a:rPr>
              <a:t> </a:t>
            </a:r>
            <a:r>
              <a:rPr lang="en" u="sng">
                <a:solidFill>
                  <a:schemeClr val="hlink"/>
                </a:solidFill>
                <a:hlinkClick r:id="rId4"/>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7787d023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7787d023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Jason Goodman</a:t>
            </a:r>
            <a:r>
              <a:rPr lang="en">
                <a:solidFill>
                  <a:schemeClr val="dk1"/>
                </a:solidFill>
              </a:rPr>
              <a:t> on</a:t>
            </a:r>
            <a:r>
              <a:rPr lang="en">
                <a:solidFill>
                  <a:schemeClr val="dk1"/>
                </a:solidFill>
                <a:uFill>
                  <a:noFill/>
                </a:uFill>
                <a:hlinkClick r:id="rId3">
                  <a:extLst>
                    <a:ext uri="{A12FA001-AC4F-418D-AE19-62706E023703}">
                      <ahyp:hlinkClr val="tx"/>
                    </a:ext>
                  </a:extLst>
                </a:hlinkClick>
              </a:rPr>
              <a:t> </a:t>
            </a:r>
            <a:r>
              <a:rPr lang="en" u="sng">
                <a:solidFill>
                  <a:schemeClr val="hlink"/>
                </a:solidFill>
                <a:hlinkClick r:id="rId4"/>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17787d023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17787d023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Jason Goodman</a:t>
            </a:r>
            <a:r>
              <a:rPr lang="en">
                <a:solidFill>
                  <a:schemeClr val="dk1"/>
                </a:solidFill>
              </a:rPr>
              <a:t> on</a:t>
            </a:r>
            <a:r>
              <a:rPr lang="en">
                <a:solidFill>
                  <a:schemeClr val="dk1"/>
                </a:solidFill>
                <a:uFill>
                  <a:noFill/>
                </a:uFill>
                <a:hlinkClick r:id="rId3">
                  <a:extLst>
                    <a:ext uri="{A12FA001-AC4F-418D-AE19-62706E023703}">
                      <ahyp:hlinkClr val="tx"/>
                    </a:ext>
                  </a:extLst>
                </a:hlinkClick>
              </a:rPr>
              <a:t> </a:t>
            </a:r>
            <a:r>
              <a:rPr lang="en" u="sng">
                <a:solidFill>
                  <a:schemeClr val="hlink"/>
                </a:solidFill>
                <a:hlinkClick r:id="rId4"/>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113d6c8b20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113d6c8b20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Jason Goodman</a:t>
            </a:r>
            <a:r>
              <a:rPr lang="en">
                <a:solidFill>
                  <a:schemeClr val="dk1"/>
                </a:solidFill>
              </a:rPr>
              <a:t> on</a:t>
            </a:r>
            <a:r>
              <a:rPr lang="en">
                <a:solidFill>
                  <a:schemeClr val="dk1"/>
                </a:solidFill>
                <a:uFill>
                  <a:noFill/>
                </a:uFill>
                <a:hlinkClick r:id="rId3">
                  <a:extLst>
                    <a:ext uri="{A12FA001-AC4F-418D-AE19-62706E023703}">
                      <ahyp:hlinkClr val="tx"/>
                    </a:ext>
                  </a:extLst>
                </a:hlinkClick>
              </a:rPr>
              <a:t> </a:t>
            </a:r>
            <a:r>
              <a:rPr lang="en" u="sng">
                <a:solidFill>
                  <a:schemeClr val="hlink"/>
                </a:solidFill>
                <a:hlinkClick r:id="rId4"/>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113d6c8b20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113d6c8b20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17787d023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17787d023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Jason Goodman</a:t>
            </a:r>
            <a:r>
              <a:rPr lang="en">
                <a:solidFill>
                  <a:schemeClr val="dk1"/>
                </a:solidFill>
              </a:rPr>
              <a:t> on</a:t>
            </a:r>
            <a:r>
              <a:rPr lang="en">
                <a:solidFill>
                  <a:schemeClr val="dk1"/>
                </a:solidFill>
                <a:uFill>
                  <a:noFill/>
                </a:uFill>
                <a:hlinkClick r:id="rId3">
                  <a:extLst>
                    <a:ext uri="{A12FA001-AC4F-418D-AE19-62706E023703}">
                      <ahyp:hlinkClr val="tx"/>
                    </a:ext>
                  </a:extLst>
                </a:hlinkClick>
              </a:rPr>
              <a:t> </a:t>
            </a:r>
            <a:r>
              <a:rPr lang="en" u="sng">
                <a:solidFill>
                  <a:schemeClr val="hlink"/>
                </a:solidFill>
                <a:hlinkClick r:id="rId4"/>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17787d023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17787d023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Jason Goodman</a:t>
            </a:r>
            <a:r>
              <a:rPr lang="en">
                <a:solidFill>
                  <a:schemeClr val="dk1"/>
                </a:solidFill>
              </a:rPr>
              <a:t> on</a:t>
            </a:r>
            <a:r>
              <a:rPr lang="en">
                <a:solidFill>
                  <a:schemeClr val="dk1"/>
                </a:solidFill>
                <a:uFill>
                  <a:noFill/>
                </a:uFill>
                <a:hlinkClick r:id="rId3">
                  <a:extLst>
                    <a:ext uri="{A12FA001-AC4F-418D-AE19-62706E023703}">
                      <ahyp:hlinkClr val="tx"/>
                    </a:ext>
                  </a:extLst>
                </a:hlinkClick>
              </a:rPr>
              <a:t> </a:t>
            </a:r>
            <a:r>
              <a:rPr lang="en" u="sng">
                <a:solidFill>
                  <a:schemeClr val="hlink"/>
                </a:solidFill>
                <a:hlinkClick r:id="rId4"/>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17787d023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17787d023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Jason Goodman</a:t>
            </a:r>
            <a:r>
              <a:rPr lang="en">
                <a:solidFill>
                  <a:schemeClr val="dk1"/>
                </a:solidFill>
              </a:rPr>
              <a:t> on</a:t>
            </a:r>
            <a:r>
              <a:rPr lang="en">
                <a:solidFill>
                  <a:schemeClr val="dk1"/>
                </a:solidFill>
                <a:uFill>
                  <a:noFill/>
                </a:uFill>
                <a:hlinkClick r:id="rId3">
                  <a:extLst>
                    <a:ext uri="{A12FA001-AC4F-418D-AE19-62706E023703}">
                      <ahyp:hlinkClr val="tx"/>
                    </a:ext>
                  </a:extLst>
                </a:hlinkClick>
              </a:rPr>
              <a:t> </a:t>
            </a:r>
            <a:r>
              <a:rPr lang="en" u="sng">
                <a:solidFill>
                  <a:schemeClr val="hlink"/>
                </a:solidFill>
                <a:hlinkClick r:id="rId4"/>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17787d0236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17787d023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Jason Goodman</a:t>
            </a:r>
            <a:r>
              <a:rPr lang="en">
                <a:solidFill>
                  <a:schemeClr val="dk1"/>
                </a:solidFill>
              </a:rPr>
              <a:t> on</a:t>
            </a:r>
            <a:r>
              <a:rPr lang="en">
                <a:solidFill>
                  <a:schemeClr val="dk1"/>
                </a:solidFill>
                <a:uFill>
                  <a:noFill/>
                </a:uFill>
                <a:hlinkClick r:id="rId3">
                  <a:extLst>
                    <a:ext uri="{A12FA001-AC4F-418D-AE19-62706E023703}">
                      <ahyp:hlinkClr val="tx"/>
                    </a:ext>
                  </a:extLst>
                </a:hlinkClick>
              </a:rPr>
              <a:t> </a:t>
            </a:r>
            <a:r>
              <a:rPr lang="en" u="sng">
                <a:solidFill>
                  <a:schemeClr val="hlink"/>
                </a:solidFill>
                <a:hlinkClick r:id="rId4"/>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1127d2a467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1127d2a467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https://www.behance.net/queendychan</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113d6c8b20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113d6c8b20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https://blogs.library.duke.edu/blog/2013/03/20/information-architecture-plans-for-the-library-website/</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113d6c8b20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113d6c8b20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https://www.toptal.com/designers/ia/guide-to-information-architecture</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113d6c8b20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113d6c8b20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https://blog.hubspot.com/website/information-architecture</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1127d2a4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1127d2a4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113d6c8b20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113d6c8b20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113d6c8b20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113d6c8b20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113d6c8b20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113d6c8b20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113d6c8b20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113d6c8b20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113d6c8b20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113d6c8b20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113d6c8b20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113d6c8b20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113d6c8b20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113d6c8b20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113d6c8b20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113d6c8b20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113d6c8b20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113d6c8b20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12cd504989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12cd50498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12cd504989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12cd50498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12cd5049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12cd5049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unsplash.com/@pavement_special" TargetMode="External"/><Relationship Id="rId4" Type="http://schemas.openxmlformats.org/officeDocument/2006/relationships/image" Target="../media/image2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unsplash.com/@aronvisuals?utm_source=unsplash&amp;utm_medium=referral&amp;utm_content=creditCopyText" TargetMode="External"/><Relationship Id="rId4"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unsplash.com/@perloov?utm_source=unsplash&amp;utm_medium=referral&amp;utm_content=creditCopyText" TargetMode="External"/><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hyperlink" Target="https://boagworld.com/usability/card-sortin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uxdesign.cc/how-to-create-a-ux-sitemap-a-simple-guideline-8786c16f85c1" TargetMode="Externa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behance.net/queendychan" TargetMode="Externa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blogs.library.duke.edu/blog/2013/03/20/information-architecture-plans-for-the-library-website/" TargetMode="Externa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www.toptal.com/designers/ia/guide-to-information-architecture" TargetMode="Externa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www.google.com/url?sa=i&amp;url=https%3A%2F%2Fblog.hubspot.com%2Fwebsite%2Finformation-architecture&amp;psig=AOvVaw0AWdjZPW7FCuaW9gtpZ5e8&amp;ust=1643699151263000&amp;source=images&amp;cd=vfe&amp;ved=0CAsQjRxqFwoTCIiQwNK22_UCFQAAAAAdAAAAABAI" TargetMode="External"/><Relationship Id="rId4" Type="http://schemas.openxmlformats.org/officeDocument/2006/relationships/image" Target="../media/image1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1" Type="http://schemas.openxmlformats.org/officeDocument/2006/relationships/hyperlink" Target="https://xd.adobe.com/ideas/process/information-architecture/information-architecture-examples/" TargetMode="External"/><Relationship Id="rId10" Type="http://schemas.openxmlformats.org/officeDocument/2006/relationships/hyperlink" Target="https://www.altexsoft.com/blog/uxdesign/information-architecture/" TargetMode="External"/><Relationship Id="rId12" Type="http://schemas.openxmlformats.org/officeDocument/2006/relationships/hyperlink" Target="https://xd.adobe.com/ideas/process/information-architecture/information-architecture-examples/" TargetMode="External"/><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www.altexsoft.com/blog/uxdesign/information-architecture/"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www.interaction-design.org/literature/article/5-stages-in-the-design-thinking-process" TargetMode="External"/><Relationship Id="rId7" Type="http://schemas.openxmlformats.org/officeDocument/2006/relationships/hyperlink" Target="https://www.interaction-design.org/literature/article/5-stages-in-the-design-thinking-process" TargetMode="External"/><Relationship Id="rId8" Type="http://schemas.openxmlformats.org/officeDocument/2006/relationships/hyperlink" Target="https://www.interaction-design.org/literature/topics/ideation"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1" name="Shape 81"/>
        <p:cNvGrpSpPr/>
        <p:nvPr/>
      </p:nvGrpSpPr>
      <p:grpSpPr>
        <a:xfrm>
          <a:off x="0" y="0"/>
          <a:ext cx="0" cy="0"/>
          <a:chOff x="0" y="0"/>
          <a:chExt cx="0" cy="0"/>
        </a:xfrm>
      </p:grpSpPr>
      <p:sp>
        <p:nvSpPr>
          <p:cNvPr id="82" name="Google Shape;82;p16"/>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Thinking: Ideate Pt 1</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3 - Topic 3</a:t>
            </a:r>
            <a:endParaRPr b="1">
              <a:solidFill>
                <a:srgbClr val="FFFFFF"/>
              </a:solidFill>
              <a:latin typeface="Raleway"/>
              <a:ea typeface="Raleway"/>
              <a:cs typeface="Raleway"/>
              <a:sym typeface="Raleway"/>
            </a:endParaRPr>
          </a:p>
        </p:txBody>
      </p:sp>
      <p:cxnSp>
        <p:nvCxnSpPr>
          <p:cNvPr id="83" name="Google Shape;83;p16"/>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4" name="Google Shape;84;p16"/>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5" name="Google Shape;85;p16"/>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 name="Google Shape;91;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92" name="Google Shape;92;p1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93" name="Google Shape;93;p17"/>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 Ideate</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Ideation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Mengapa fase ideation penting?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Kegiatan pada fase ideation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Information architecture</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Ideation</a:t>
            </a:r>
            <a:endParaRPr>
              <a:solidFill>
                <a:schemeClr val="accent1"/>
              </a:solidFill>
            </a:endParaRPr>
          </a:p>
        </p:txBody>
      </p:sp>
      <p:sp>
        <p:nvSpPr>
          <p:cNvPr id="99" name="Google Shape;99;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 name="Google Shape;105;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Ideation</a:t>
            </a:r>
            <a:endParaRPr/>
          </a:p>
        </p:txBody>
      </p:sp>
      <p:sp>
        <p:nvSpPr>
          <p:cNvPr id="106" name="Google Shape;106;p1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tahap ideation, desainer siap untuk mulai menghasilkan ide. Anda dapat mulai "berpikir di luar kebiasaan" untuk mengidentifikasi solusi baru terhadap pernyataan masalah yang telah Anda buat, dan Anda dapat mulai mencari cara alternatif untuk melihat masalah tersebut.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kunci untuk pada ini adalah </a:t>
            </a:r>
            <a:r>
              <a:rPr b="1" lang="en" sz="1200">
                <a:solidFill>
                  <a:schemeClr val="dk1"/>
                </a:solidFill>
                <a:latin typeface="Raleway"/>
                <a:ea typeface="Raleway"/>
                <a:cs typeface="Raleway"/>
                <a:sym typeface="Raleway"/>
              </a:rPr>
              <a:t>menghasilkan ide</a:t>
            </a:r>
            <a:r>
              <a:rPr lang="en" sz="1200">
                <a:solidFill>
                  <a:schemeClr val="dk1"/>
                </a:solidFill>
                <a:latin typeface="Raleway Medium"/>
                <a:ea typeface="Raleway Medium"/>
                <a:cs typeface="Raleway Medium"/>
                <a:sym typeface="Raleway Medium"/>
              </a:rPr>
              <a:t>: telusuri solusi nyata untuk mendapatkan ide terobosan.</a:t>
            </a:r>
            <a:endParaRPr sz="1200">
              <a:solidFill>
                <a:schemeClr val="dk1"/>
              </a:solidFill>
              <a:latin typeface="Raleway Medium"/>
              <a:ea typeface="Raleway Medium"/>
              <a:cs typeface="Raleway Medium"/>
              <a:sym typeface="Raleway Medium"/>
            </a:endParaRPr>
          </a:p>
        </p:txBody>
      </p:sp>
      <p:pic>
        <p:nvPicPr>
          <p:cNvPr id="107" name="Google Shape;107;p19"/>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Ideation</a:t>
            </a:r>
            <a:endParaRPr/>
          </a:p>
        </p:txBody>
      </p:sp>
      <p:sp>
        <p:nvSpPr>
          <p:cNvPr id="114" name="Google Shape;114;p2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Ideation</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fase ideation, </a:t>
            </a:r>
            <a:r>
              <a:rPr lang="en" sz="1200">
                <a:solidFill>
                  <a:schemeClr val="dk1"/>
                </a:solidFill>
                <a:latin typeface="Raleway Medium"/>
                <a:ea typeface="Raleway Medium"/>
                <a:cs typeface="Raleway Medium"/>
                <a:sym typeface="Raleway Medium"/>
              </a:rPr>
              <a:t>masalahnya sudah jelas, saatnya untuk melakukan brainstorming cara-cara untuk mengatasi kebutuhan yang tidak terpenuhi tersebut.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mengumpulkan ide sebanyak mungkin di awal, sehingga pada akhirnya, tim Anda dapat menyelidiki dan mengujinya.</a:t>
            </a:r>
            <a:endParaRPr sz="1200">
              <a:solidFill>
                <a:schemeClr val="dk1"/>
              </a:solidFill>
              <a:latin typeface="Raleway Medium"/>
              <a:ea typeface="Raleway Medium"/>
              <a:cs typeface="Raleway Medium"/>
              <a:sym typeface="Raleway Medium"/>
            </a:endParaRPr>
          </a:p>
        </p:txBody>
      </p:sp>
      <p:pic>
        <p:nvPicPr>
          <p:cNvPr id="115" name="Google Shape;115;p20">
            <a:hlinkClick r:id="rId3"/>
          </p:cNvPr>
          <p:cNvPicPr preferRelativeResize="0"/>
          <p:nvPr/>
        </p:nvPicPr>
        <p:blipFill rotWithShape="1">
          <a:blip r:embed="rId4">
            <a:alphaModFix/>
          </a:blip>
          <a:srcRect b="0" l="5907" r="5916" t="0"/>
          <a:stretch/>
        </p:blipFill>
        <p:spPr>
          <a:xfrm>
            <a:off x="5486400" y="1280150"/>
            <a:ext cx="3017524" cy="27431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Mengapa fase </a:t>
            </a:r>
            <a:r>
              <a:rPr lang="en">
                <a:solidFill>
                  <a:srgbClr val="F2AB2F"/>
                </a:solidFill>
              </a:rPr>
              <a:t>ideation</a:t>
            </a:r>
            <a:r>
              <a:rPr lang="en"/>
              <a:t> penting?</a:t>
            </a:r>
            <a:endParaRPr/>
          </a:p>
        </p:txBody>
      </p:sp>
      <p:sp>
        <p:nvSpPr>
          <p:cNvPr id="121" name="Google Shape;121;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ideation penting?</a:t>
            </a:r>
            <a:endParaRPr/>
          </a:p>
        </p:txBody>
      </p:sp>
      <p:sp>
        <p:nvSpPr>
          <p:cNvPr id="128" name="Google Shape;128;p2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Bukanlah buang - buang waktu</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Menghabiskan waktu untuk memikirkan beberapa solusi yang memungkinkan sebelum mulai merancang dipandang oleh sebagian orang sebagai upaya yang sia-sia, terutama ketika menghadapi jadwal yang pendek dan anggaran yang terbatas.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Menurut para penentang ini, mengapa menciptakan banyak desain ketika hampir semuanya pada akhirnya akan ditolak demi satu desain? Jangan jatuh ke dalam perangkap ini! Manfaat desain paralel telah lama didokumentasikan: kita tidak boleh membatasi diri pada solusi desain tunggal dan membiarkan sebagian besar ruang desain tidak dijelajahi.</a:t>
            </a:r>
            <a:endParaRPr sz="1200">
              <a:solidFill>
                <a:schemeClr val="dk1"/>
              </a:solidFill>
              <a:latin typeface="Raleway Medium"/>
              <a:ea typeface="Raleway Medium"/>
              <a:cs typeface="Raleway Medium"/>
              <a:sym typeface="Raleway Medium"/>
            </a:endParaRPr>
          </a:p>
        </p:txBody>
      </p:sp>
      <p:pic>
        <p:nvPicPr>
          <p:cNvPr id="129" name="Google Shape;129;p22">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 name="Google Shape;135;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ideation penting?</a:t>
            </a:r>
            <a:endParaRPr/>
          </a:p>
        </p:txBody>
      </p:sp>
      <p:sp>
        <p:nvSpPr>
          <p:cNvPr id="136" name="Google Shape;136;p2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Eksplorasi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Proses ideation mencakup eksplorasi terhadap beberapa solusi (sebagai lawan dari satu solusi) dan memberi kita kesempatan yang lebih baik untuk mengungkap jalur desain yang optimal.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Janganlah puas dengan ide pertama Anda, atau pada ide yang diberikan kepada Anda oleh manajemen yang lebih tinggi. Ingat: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Probabilitas mencapai wilayah optimal dari ruang desain dengan hanya satu ide adalah rendah.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Probabilitas memiliki satu ide yang optimal dari banyak ide adalah tinggi.</a:t>
            </a:r>
            <a:endParaRPr sz="1200">
              <a:solidFill>
                <a:schemeClr val="dk1"/>
              </a:solidFill>
              <a:latin typeface="Raleway Medium"/>
              <a:ea typeface="Raleway Medium"/>
              <a:cs typeface="Raleway Medium"/>
              <a:sym typeface="Raleway Medium"/>
            </a:endParaRPr>
          </a:p>
        </p:txBody>
      </p:sp>
      <p:pic>
        <p:nvPicPr>
          <p:cNvPr id="137" name="Google Shape;137;p23">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Kegiatan pada fase ideation</a:t>
            </a:r>
            <a:endParaRPr/>
          </a:p>
        </p:txBody>
      </p:sp>
      <p:sp>
        <p:nvSpPr>
          <p:cNvPr id="143" name="Google Shape;143;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9" name="Google Shape;149;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ideation</a:t>
            </a:r>
            <a:endParaRPr/>
          </a:p>
        </p:txBody>
      </p:sp>
      <p:sp>
        <p:nvSpPr>
          <p:cNvPr id="150" name="Google Shape;150;p2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Kegiatan pada fase ideation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Kegiatan untuk eksplorasi  </a:t>
            </a:r>
            <a:r>
              <a:rPr lang="en" sz="1200">
                <a:solidFill>
                  <a:schemeClr val="dk1"/>
                </a:solidFill>
                <a:latin typeface="Raleway Medium"/>
                <a:ea typeface="Raleway Medium"/>
                <a:cs typeface="Raleway Medium"/>
                <a:sym typeface="Raleway Medium"/>
              </a:rPr>
              <a:t>ide dapat sangat bervariasi — banyak orang dapat terlibat dalam fase ini dan banyak teknik untuk digunakan.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Tahap ideation menandai transisi dari identifikasi masalah ke eksplorasi solusi. Salah satu kegiatan dari aktivitas ideation adalah brainstorming dan salah satu hasil dari proses ideation adalah sebuah information architecture.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51" name="Google Shape;151;p25">
            <a:hlinkClick r:id="rId3"/>
          </p:cNvPr>
          <p:cNvPicPr preferRelativeResize="0"/>
          <p:nvPr/>
        </p:nvPicPr>
        <p:blipFill rotWithShape="1">
          <a:blip r:embed="rId4">
            <a:alphaModFix/>
          </a:blip>
          <a:srcRect b="0" l="338" r="17050" t="0"/>
          <a:stretch/>
        </p:blipFill>
        <p:spPr>
          <a:xfrm>
            <a:off x="5486400" y="1280150"/>
            <a:ext cx="3017523"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a:hlinkClick r:id="rId3"/>
          </p:cNvPr>
          <p:cNvPicPr preferRelativeResize="0"/>
          <p:nvPr/>
        </p:nvPicPr>
        <p:blipFill rotWithShape="1">
          <a:blip r:embed="rId4">
            <a:alphaModFix/>
          </a:blip>
          <a:srcRect b="0" l="19063" r="19063" t="0"/>
          <a:stretch/>
        </p:blipFill>
        <p:spPr>
          <a:xfrm>
            <a:off x="5486400" y="1280150"/>
            <a:ext cx="3017523" cy="2743200"/>
          </a:xfrm>
          <a:prstGeom prst="rect">
            <a:avLst/>
          </a:prstGeom>
          <a:noFill/>
          <a:ln>
            <a:noFill/>
          </a:ln>
        </p:spPr>
      </p:pic>
      <p:sp>
        <p:nvSpPr>
          <p:cNvPr id="157" name="Google Shape;157;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8" name="Google Shape;158;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ideation</a:t>
            </a:r>
            <a:endParaRPr/>
          </a:p>
        </p:txBody>
      </p:sp>
      <p:sp>
        <p:nvSpPr>
          <p:cNvPr id="159" name="Google Shape;159;p2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Brainstorming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Brainstorming adalah metode yang digunakan tim desain untuk menghasilkan ide untuk memecahkan masalah desain yang didefinisikan dengan jelas.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kondisi terkendali dan lingkungan berpikir bebas, kita mendekati masalah dengan bertanya  "Bagaimana kita bisa…?" atau “How might we…?”.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Brainstorming mungkin tampak seperti aktivitas yang sangat bebas dan kurang kendala, tetapi setiap orang harus mematuhi </a:t>
            </a:r>
            <a:r>
              <a:rPr b="1" lang="en" sz="1200">
                <a:solidFill>
                  <a:srgbClr val="512252"/>
                </a:solidFill>
                <a:latin typeface="Raleway"/>
                <a:ea typeface="Raleway"/>
                <a:cs typeface="Raleway"/>
                <a:sym typeface="Raleway"/>
              </a:rPr>
              <a:t>delapan aturan</a:t>
            </a:r>
            <a:r>
              <a:rPr lang="en" sz="1200">
                <a:solidFill>
                  <a:schemeClr val="dk1"/>
                </a:solidFill>
                <a:latin typeface="Raleway Medium"/>
                <a:ea typeface="Raleway Medium"/>
                <a:cs typeface="Raleway Medium"/>
                <a:sym typeface="Raleway Medium"/>
              </a:rPr>
              <a:t> dan memiliki seseorang yang bertindak sebagai fasilitator.</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5" name="Google Shape;165;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ideation</a:t>
            </a:r>
            <a:endParaRPr/>
          </a:p>
        </p:txBody>
      </p:sp>
      <p:grpSp>
        <p:nvGrpSpPr>
          <p:cNvPr id="166" name="Google Shape;166;p27"/>
          <p:cNvGrpSpPr/>
          <p:nvPr/>
        </p:nvGrpSpPr>
        <p:grpSpPr>
          <a:xfrm>
            <a:off x="0" y="1097494"/>
            <a:ext cx="2726700" cy="3482836"/>
            <a:chOff x="0" y="1189989"/>
            <a:chExt cx="2726700" cy="3482836"/>
          </a:xfrm>
        </p:grpSpPr>
        <p:sp>
          <p:nvSpPr>
            <p:cNvPr id="167" name="Google Shape;167;p27"/>
            <p:cNvSpPr/>
            <p:nvPr/>
          </p:nvSpPr>
          <p:spPr>
            <a:xfrm>
              <a:off x="0" y="1189989"/>
              <a:ext cx="27267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Rule #1</a:t>
              </a:r>
              <a:endParaRPr>
                <a:solidFill>
                  <a:srgbClr val="FFFFFF"/>
                </a:solidFill>
                <a:latin typeface="Raleway Medium"/>
                <a:ea typeface="Raleway Medium"/>
                <a:cs typeface="Raleway Medium"/>
                <a:sym typeface="Raleway Medium"/>
              </a:endParaRPr>
            </a:p>
          </p:txBody>
        </p:sp>
        <p:sp>
          <p:nvSpPr>
            <p:cNvPr id="168" name="Google Shape;168;p27"/>
            <p:cNvSpPr txBox="1"/>
            <p:nvPr/>
          </p:nvSpPr>
          <p:spPr>
            <a:xfrm>
              <a:off x="410850"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Tetapkan batas waktu</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Tergantung pada kerumitan masalah, 15–60 menit adalah normal.</a:t>
              </a:r>
              <a:endParaRPr sz="1200">
                <a:latin typeface="Raleway Medium"/>
                <a:ea typeface="Raleway Medium"/>
                <a:cs typeface="Raleway Medium"/>
                <a:sym typeface="Raleway Medium"/>
              </a:endParaRPr>
            </a:p>
          </p:txBody>
        </p:sp>
      </p:grpSp>
      <p:grpSp>
        <p:nvGrpSpPr>
          <p:cNvPr id="169" name="Google Shape;169;p27"/>
          <p:cNvGrpSpPr/>
          <p:nvPr/>
        </p:nvGrpSpPr>
        <p:grpSpPr>
          <a:xfrm>
            <a:off x="2263425" y="1097280"/>
            <a:ext cx="2541300" cy="3483050"/>
            <a:chOff x="2263425" y="1189775"/>
            <a:chExt cx="2541300" cy="3483050"/>
          </a:xfrm>
        </p:grpSpPr>
        <p:sp>
          <p:nvSpPr>
            <p:cNvPr id="170" name="Google Shape;170;p27"/>
            <p:cNvSpPr/>
            <p:nvPr/>
          </p:nvSpPr>
          <p:spPr>
            <a:xfrm>
              <a:off x="2263425" y="1189775"/>
              <a:ext cx="25413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aleway Medium"/>
                  <a:ea typeface="Raleway Medium"/>
                  <a:cs typeface="Raleway Medium"/>
                  <a:sym typeface="Raleway Medium"/>
                </a:rPr>
                <a:t>Rule #2</a:t>
              </a:r>
              <a:endParaRPr>
                <a:solidFill>
                  <a:srgbClr val="FFFFFF"/>
                </a:solidFill>
                <a:latin typeface="Raleway Medium"/>
                <a:ea typeface="Raleway Medium"/>
                <a:cs typeface="Raleway Medium"/>
                <a:sym typeface="Raleway Medium"/>
              </a:endParaRPr>
            </a:p>
          </p:txBody>
        </p:sp>
        <p:sp>
          <p:nvSpPr>
            <p:cNvPr id="171" name="Google Shape;171;p27"/>
            <p:cNvSpPr txBox="1"/>
            <p:nvPr/>
          </p:nvSpPr>
          <p:spPr>
            <a:xfrm>
              <a:off x="2512202"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Mulailah dengan masalah/ringkasan target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Anggota harus mengacu pada pertanyaan, rencana, atau tujuan yang jelas dan tidak melenceng dari topik.</a:t>
              </a:r>
              <a:endParaRPr sz="1200">
                <a:latin typeface="Raleway Medium"/>
                <a:ea typeface="Raleway Medium"/>
                <a:cs typeface="Raleway Medium"/>
                <a:sym typeface="Raleway Medium"/>
              </a:endParaRPr>
            </a:p>
          </p:txBody>
        </p:sp>
      </p:grpSp>
      <p:grpSp>
        <p:nvGrpSpPr>
          <p:cNvPr id="172" name="Google Shape;172;p27"/>
          <p:cNvGrpSpPr/>
          <p:nvPr/>
        </p:nvGrpSpPr>
        <p:grpSpPr>
          <a:xfrm>
            <a:off x="4329974" y="1097280"/>
            <a:ext cx="2541300" cy="3483050"/>
            <a:chOff x="4329974" y="1189775"/>
            <a:chExt cx="2541300" cy="3483050"/>
          </a:xfrm>
        </p:grpSpPr>
        <p:sp>
          <p:nvSpPr>
            <p:cNvPr id="173" name="Google Shape;173;p27"/>
            <p:cNvSpPr/>
            <p:nvPr/>
          </p:nvSpPr>
          <p:spPr>
            <a:xfrm>
              <a:off x="4329974" y="1189775"/>
              <a:ext cx="25413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Rule #3</a:t>
              </a:r>
              <a:endParaRPr>
                <a:solidFill>
                  <a:srgbClr val="FFFFFF"/>
                </a:solidFill>
                <a:latin typeface="Raleway Medium"/>
                <a:ea typeface="Raleway Medium"/>
                <a:cs typeface="Raleway Medium"/>
                <a:sym typeface="Raleway Medium"/>
              </a:endParaRPr>
            </a:p>
          </p:txBody>
        </p:sp>
        <p:sp>
          <p:nvSpPr>
            <p:cNvPr id="174" name="Google Shape;174;p27"/>
            <p:cNvSpPr txBox="1"/>
            <p:nvPr/>
          </p:nvSpPr>
          <p:spPr>
            <a:xfrm>
              <a:off x="4613553"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Menahan diri dari penilaian / kritik</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Tidak seorang pun boleh negatif (termasuk melalui bahasa tubuh) tentang ide apa pun</a:t>
              </a:r>
              <a:endParaRPr sz="1200">
                <a:latin typeface="Raleway Medium"/>
                <a:ea typeface="Raleway Medium"/>
                <a:cs typeface="Raleway Medium"/>
                <a:sym typeface="Raleway Medium"/>
              </a:endParaRPr>
            </a:p>
          </p:txBody>
        </p:sp>
      </p:grpSp>
      <p:grpSp>
        <p:nvGrpSpPr>
          <p:cNvPr id="175" name="Google Shape;175;p27"/>
          <p:cNvGrpSpPr/>
          <p:nvPr/>
        </p:nvGrpSpPr>
        <p:grpSpPr>
          <a:xfrm>
            <a:off x="6396739" y="1097280"/>
            <a:ext cx="2541300" cy="3483050"/>
            <a:chOff x="6396739" y="1189775"/>
            <a:chExt cx="2541300" cy="3483050"/>
          </a:xfrm>
        </p:grpSpPr>
        <p:sp>
          <p:nvSpPr>
            <p:cNvPr id="176" name="Google Shape;176;p27"/>
            <p:cNvSpPr/>
            <p:nvPr/>
          </p:nvSpPr>
          <p:spPr>
            <a:xfrm>
              <a:off x="6396739" y="1189775"/>
              <a:ext cx="2541300" cy="669000"/>
            </a:xfrm>
            <a:prstGeom prst="chevron">
              <a:avLst>
                <a:gd fmla="val 50000" name="adj"/>
              </a:avLst>
            </a:prstGeom>
            <a:solidFill>
              <a:srgbClr val="5E2B62">
                <a:alpha val="439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Rule #4</a:t>
              </a:r>
              <a:endParaRPr>
                <a:solidFill>
                  <a:srgbClr val="FFFFFF"/>
                </a:solidFill>
                <a:latin typeface="Raleway Medium"/>
                <a:ea typeface="Raleway Medium"/>
                <a:cs typeface="Raleway Medium"/>
                <a:sym typeface="Raleway Medium"/>
              </a:endParaRPr>
            </a:p>
          </p:txBody>
        </p:sp>
        <p:sp>
          <p:nvSpPr>
            <p:cNvPr id="177" name="Google Shape;177;p27"/>
            <p:cNvSpPr txBox="1"/>
            <p:nvPr/>
          </p:nvSpPr>
          <p:spPr>
            <a:xfrm>
              <a:off x="6714905"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Dorong ide-ide aneh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Jangan ‘jual mahal”, tetap menjaga toleransi sehingga semua orang merasa bebas untuk melontarkan ide (asalkan sesuai topik).</a:t>
              </a:r>
              <a:endParaRPr sz="1200">
                <a:latin typeface="Raleway Medium"/>
                <a:ea typeface="Raleway Medium"/>
                <a:cs typeface="Raleway Medium"/>
                <a:sym typeface="Raleway Medium"/>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ideation</a:t>
            </a:r>
            <a:endParaRPr/>
          </a:p>
        </p:txBody>
      </p:sp>
      <p:grpSp>
        <p:nvGrpSpPr>
          <p:cNvPr id="184" name="Google Shape;184;p28"/>
          <p:cNvGrpSpPr/>
          <p:nvPr/>
        </p:nvGrpSpPr>
        <p:grpSpPr>
          <a:xfrm>
            <a:off x="0" y="1097494"/>
            <a:ext cx="2726700" cy="3482836"/>
            <a:chOff x="0" y="1189989"/>
            <a:chExt cx="2726700" cy="3482836"/>
          </a:xfrm>
        </p:grpSpPr>
        <p:sp>
          <p:nvSpPr>
            <p:cNvPr id="185" name="Google Shape;185;p28"/>
            <p:cNvSpPr/>
            <p:nvPr/>
          </p:nvSpPr>
          <p:spPr>
            <a:xfrm>
              <a:off x="0" y="1189989"/>
              <a:ext cx="27267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Rule #5</a:t>
              </a:r>
              <a:endParaRPr>
                <a:solidFill>
                  <a:srgbClr val="FFFFFF"/>
                </a:solidFill>
                <a:latin typeface="Roboto"/>
                <a:ea typeface="Roboto"/>
                <a:cs typeface="Roboto"/>
                <a:sym typeface="Roboto"/>
              </a:endParaRPr>
            </a:p>
          </p:txBody>
        </p:sp>
        <p:sp>
          <p:nvSpPr>
            <p:cNvPr id="186" name="Google Shape;186;p28"/>
            <p:cNvSpPr txBox="1"/>
            <p:nvPr/>
          </p:nvSpPr>
          <p:spPr>
            <a:xfrm>
              <a:off x="410850"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oboto"/>
                  <a:ea typeface="Roboto"/>
                  <a:cs typeface="Roboto"/>
                  <a:sym typeface="Roboto"/>
                </a:rPr>
                <a:t>Bertujuan pada kuantitas</a:t>
              </a:r>
              <a:endParaRPr sz="1200">
                <a:latin typeface="Roboto"/>
                <a:ea typeface="Roboto"/>
                <a:cs typeface="Roboto"/>
                <a:sym typeface="Roboto"/>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a:p>
              <a:pPr indent="0" lvl="0" marL="0" rtl="0" algn="l">
                <a:lnSpc>
                  <a:spcPct val="115000"/>
                </a:lnSpc>
                <a:spcBef>
                  <a:spcPts val="0"/>
                </a:spcBef>
                <a:spcAft>
                  <a:spcPts val="0"/>
                </a:spcAft>
                <a:buNone/>
              </a:pPr>
              <a:r>
                <a:rPr lang="en" sz="1200">
                  <a:latin typeface="Roboto"/>
                  <a:ea typeface="Roboto"/>
                  <a:cs typeface="Roboto"/>
                  <a:sym typeface="Roboto"/>
                </a:rPr>
                <a:t>Ingat, “kuantitas menghasilkan kualitas”. Proses penyaringan -dan-penyortiran bisa  datang kemudian.</a:t>
              </a:r>
              <a:endParaRPr sz="1200">
                <a:latin typeface="Roboto"/>
                <a:ea typeface="Roboto"/>
                <a:cs typeface="Roboto"/>
                <a:sym typeface="Roboto"/>
              </a:endParaRPr>
            </a:p>
          </p:txBody>
        </p:sp>
      </p:grpSp>
      <p:grpSp>
        <p:nvGrpSpPr>
          <p:cNvPr id="187" name="Google Shape;187;p28"/>
          <p:cNvGrpSpPr/>
          <p:nvPr/>
        </p:nvGrpSpPr>
        <p:grpSpPr>
          <a:xfrm>
            <a:off x="2263425" y="1097280"/>
            <a:ext cx="2541300" cy="3483050"/>
            <a:chOff x="2263425" y="1189775"/>
            <a:chExt cx="2541300" cy="3483050"/>
          </a:xfrm>
        </p:grpSpPr>
        <p:sp>
          <p:nvSpPr>
            <p:cNvPr id="188" name="Google Shape;188;p28"/>
            <p:cNvSpPr/>
            <p:nvPr/>
          </p:nvSpPr>
          <p:spPr>
            <a:xfrm>
              <a:off x="2263425" y="1189775"/>
              <a:ext cx="25413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Rule #6</a:t>
              </a:r>
              <a:endParaRPr>
                <a:solidFill>
                  <a:srgbClr val="FFFFFF"/>
                </a:solidFill>
                <a:latin typeface="Roboto"/>
                <a:ea typeface="Roboto"/>
                <a:cs typeface="Roboto"/>
                <a:sym typeface="Roboto"/>
              </a:endParaRPr>
            </a:p>
          </p:txBody>
        </p:sp>
        <p:sp>
          <p:nvSpPr>
            <p:cNvPr id="189" name="Google Shape;189;p28"/>
            <p:cNvSpPr txBox="1"/>
            <p:nvPr/>
          </p:nvSpPr>
          <p:spPr>
            <a:xfrm>
              <a:off x="2512202"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oboto"/>
                  <a:ea typeface="Roboto"/>
                  <a:cs typeface="Roboto"/>
                  <a:sym typeface="Roboto"/>
                </a:rPr>
                <a:t>Membangun gagasan orang lain</a:t>
              </a:r>
              <a:endParaRPr sz="1200">
                <a:latin typeface="Roboto"/>
                <a:ea typeface="Roboto"/>
                <a:cs typeface="Roboto"/>
                <a:sym typeface="Roboto"/>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a:p>
              <a:pPr indent="0" lvl="0" marL="0" rtl="0" algn="l">
                <a:lnSpc>
                  <a:spcPct val="115000"/>
                </a:lnSpc>
                <a:spcBef>
                  <a:spcPts val="0"/>
                </a:spcBef>
                <a:spcAft>
                  <a:spcPts val="0"/>
                </a:spcAft>
                <a:buNone/>
              </a:pPr>
              <a:r>
                <a:rPr lang="en" sz="1200">
                  <a:latin typeface="Roboto"/>
                  <a:ea typeface="Roboto"/>
                  <a:cs typeface="Roboto"/>
                  <a:sym typeface="Roboto"/>
                </a:rPr>
                <a:t>Ini adalah proses asosiasi di mana anggota memperluas gagasan orang lain dan mencapai wawasan baru, memungkinkan gagasan ini memicu gagasan mereka sendiri. </a:t>
              </a:r>
              <a:endParaRPr sz="1200">
                <a:latin typeface="Roboto"/>
                <a:ea typeface="Roboto"/>
                <a:cs typeface="Roboto"/>
                <a:sym typeface="Roboto"/>
              </a:endParaRPr>
            </a:p>
          </p:txBody>
        </p:sp>
      </p:grpSp>
      <p:grpSp>
        <p:nvGrpSpPr>
          <p:cNvPr id="190" name="Google Shape;190;p28"/>
          <p:cNvGrpSpPr/>
          <p:nvPr/>
        </p:nvGrpSpPr>
        <p:grpSpPr>
          <a:xfrm>
            <a:off x="4329974" y="1097280"/>
            <a:ext cx="2541300" cy="3483050"/>
            <a:chOff x="4329974" y="1189775"/>
            <a:chExt cx="2541300" cy="3483050"/>
          </a:xfrm>
        </p:grpSpPr>
        <p:sp>
          <p:nvSpPr>
            <p:cNvPr id="191" name="Google Shape;191;p28"/>
            <p:cNvSpPr/>
            <p:nvPr/>
          </p:nvSpPr>
          <p:spPr>
            <a:xfrm>
              <a:off x="4329974" y="1189775"/>
              <a:ext cx="25413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Rule #7</a:t>
              </a:r>
              <a:endParaRPr>
                <a:solidFill>
                  <a:srgbClr val="FFFFFF"/>
                </a:solidFill>
                <a:latin typeface="Roboto"/>
                <a:ea typeface="Roboto"/>
                <a:cs typeface="Roboto"/>
                <a:sym typeface="Roboto"/>
              </a:endParaRPr>
            </a:p>
          </p:txBody>
        </p:sp>
        <p:sp>
          <p:nvSpPr>
            <p:cNvPr id="192" name="Google Shape;192;p28"/>
            <p:cNvSpPr txBox="1"/>
            <p:nvPr/>
          </p:nvSpPr>
          <p:spPr>
            <a:xfrm>
              <a:off x="4613553"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oboto"/>
                  <a:ea typeface="Roboto"/>
                  <a:cs typeface="Roboto"/>
                  <a:sym typeface="Roboto"/>
                </a:rPr>
                <a:t>Tetap visual</a:t>
              </a:r>
              <a:endParaRPr sz="1200">
                <a:latin typeface="Roboto"/>
                <a:ea typeface="Roboto"/>
                <a:cs typeface="Roboto"/>
                <a:sym typeface="Roboto"/>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a:p>
              <a:pPr indent="0" lvl="0" marL="0" rtl="0" algn="l">
                <a:lnSpc>
                  <a:spcPct val="115000"/>
                </a:lnSpc>
                <a:spcBef>
                  <a:spcPts val="0"/>
                </a:spcBef>
                <a:spcAft>
                  <a:spcPts val="0"/>
                </a:spcAft>
                <a:buNone/>
              </a:pPr>
              <a:r>
                <a:rPr lang="en" sz="1200">
                  <a:latin typeface="Roboto"/>
                  <a:ea typeface="Roboto"/>
                  <a:cs typeface="Roboto"/>
                  <a:sym typeface="Roboto"/>
                </a:rPr>
                <a:t>Diagram dan Post-Its membantu menghidupkan ide dan membantu orang lain melihat sesuatu dengan cara yang berbeda.</a:t>
              </a:r>
              <a:endParaRPr sz="1200">
                <a:latin typeface="Roboto"/>
                <a:ea typeface="Roboto"/>
                <a:cs typeface="Roboto"/>
                <a:sym typeface="Roboto"/>
              </a:endParaRPr>
            </a:p>
          </p:txBody>
        </p:sp>
      </p:grpSp>
      <p:grpSp>
        <p:nvGrpSpPr>
          <p:cNvPr id="193" name="Google Shape;193;p28"/>
          <p:cNvGrpSpPr/>
          <p:nvPr/>
        </p:nvGrpSpPr>
        <p:grpSpPr>
          <a:xfrm>
            <a:off x="6396739" y="1097280"/>
            <a:ext cx="2541300" cy="3483050"/>
            <a:chOff x="6396739" y="1189775"/>
            <a:chExt cx="2541300" cy="3483050"/>
          </a:xfrm>
        </p:grpSpPr>
        <p:sp>
          <p:nvSpPr>
            <p:cNvPr id="194" name="Google Shape;194;p28"/>
            <p:cNvSpPr/>
            <p:nvPr/>
          </p:nvSpPr>
          <p:spPr>
            <a:xfrm>
              <a:off x="6396739" y="1189775"/>
              <a:ext cx="2541300" cy="669000"/>
            </a:xfrm>
            <a:prstGeom prst="chevron">
              <a:avLst>
                <a:gd fmla="val 50000" name="adj"/>
              </a:avLst>
            </a:prstGeom>
            <a:solidFill>
              <a:srgbClr val="5E2B62">
                <a:alpha val="439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Rule #8</a:t>
              </a:r>
              <a:endParaRPr>
                <a:solidFill>
                  <a:srgbClr val="FFFFFF"/>
                </a:solidFill>
                <a:latin typeface="Roboto"/>
                <a:ea typeface="Roboto"/>
                <a:cs typeface="Roboto"/>
                <a:sym typeface="Roboto"/>
              </a:endParaRPr>
            </a:p>
          </p:txBody>
        </p:sp>
        <p:sp>
          <p:nvSpPr>
            <p:cNvPr id="195" name="Google Shape;195;p28"/>
            <p:cNvSpPr txBox="1"/>
            <p:nvPr/>
          </p:nvSpPr>
          <p:spPr>
            <a:xfrm>
              <a:off x="6714905"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oboto"/>
                  <a:ea typeface="Roboto"/>
                  <a:cs typeface="Roboto"/>
                  <a:sym typeface="Roboto"/>
                </a:rPr>
                <a:t>Satu percakapan pada satu waktu</a:t>
              </a:r>
              <a:endParaRPr sz="1200">
                <a:latin typeface="Roboto"/>
                <a:ea typeface="Roboto"/>
                <a:cs typeface="Roboto"/>
                <a:sym typeface="Roboto"/>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a:p>
              <a:pPr indent="0" lvl="0" marL="0" rtl="0" algn="l">
                <a:lnSpc>
                  <a:spcPct val="115000"/>
                </a:lnSpc>
                <a:spcBef>
                  <a:spcPts val="0"/>
                </a:spcBef>
                <a:spcAft>
                  <a:spcPts val="0"/>
                </a:spcAft>
                <a:buNone/>
              </a:pPr>
              <a:r>
                <a:rPr lang="en" sz="1200">
                  <a:latin typeface="Roboto"/>
                  <a:ea typeface="Roboto"/>
                  <a:cs typeface="Roboto"/>
                  <a:sym typeface="Roboto"/>
                </a:rPr>
                <a:t>Untuk mencapai hasil nyata, penting untuk tetap berbicara bergantian dan menunjukkan rasa hormat terhadap ide semua orang.</a:t>
              </a:r>
              <a:endParaRPr sz="1200">
                <a:latin typeface="Roboto"/>
                <a:ea typeface="Roboto"/>
                <a:cs typeface="Roboto"/>
                <a:sym typeface="Roboto"/>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Information Architecture</a:t>
            </a:r>
            <a:endParaRPr/>
          </a:p>
        </p:txBody>
      </p:sp>
      <p:sp>
        <p:nvSpPr>
          <p:cNvPr id="201" name="Google Shape;201;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208" name="Google Shape;208;p3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Information Architecture itu apa sih?</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mengatur supaya informasi tersebut mudah diakses dan dipahami oleh user, maka kita perlu menata informasi tersebut sedemikian rupa dalam sebuah struktur.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Nah, struktur ini biasa dikenal dengan istilah Information Architecture.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09" name="Google Shape;209;p30"/>
          <p:cNvPicPr preferRelativeResize="0"/>
          <p:nvPr/>
        </p:nvPicPr>
        <p:blipFill>
          <a:blip r:embed="rId3">
            <a:alphaModFix/>
          </a:blip>
          <a:stretch>
            <a:fillRect/>
          </a:stretch>
        </p:blipFill>
        <p:spPr>
          <a:xfrm>
            <a:off x="4959475" y="1340338"/>
            <a:ext cx="4038600" cy="308872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1">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
        <p:nvSpPr>
          <p:cNvPr id="215" name="Google Shape;215;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6" name="Google Shape;216;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217" name="Google Shape;217;p3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Arsitektur informasi (IA) adalah gambaran suatu model atau konsep informasi yang digunakan dalam aktivitas-aktivitas yang membutuhkan detail eksplisit dari suatu sistem yang kompleks.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Arsitektur informasi berfokus pada pengorganisasian, penataan, dan pelabelan konten dengan cara yang efektif. Tujuannya adalah untuk membantu pengguna menemukan informasi dan menyelesaikan tugas.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Terdapat banyak cara (dan bagan) yang dapat menggambarkan sebuah arsitektur informasi</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224" name="Google Shape;224;p3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Analogi untuk memahami hal ini, kita bisa belajar dari sistem penataan barang yang sering kita temui di minimarket.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Kalau kamu amati, barang-barang di minimarket pasti akan ditata sesuai kategorinya kan? Misalnya rak produk makanan ringan, pasti akan dibedakan dengan rak produk mainan anak, dan sebagainya.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25" name="Google Shape;225;p32"/>
          <p:cNvPicPr preferRelativeResize="0"/>
          <p:nvPr/>
        </p:nvPicPr>
        <p:blipFill>
          <a:blip r:embed="rId3">
            <a:alphaModFix/>
          </a:blip>
          <a:stretch>
            <a:fillRect/>
          </a:stretch>
        </p:blipFill>
        <p:spPr>
          <a:xfrm>
            <a:off x="4843775" y="1419763"/>
            <a:ext cx="4038599" cy="240452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232" name="Google Shape;232;p33"/>
          <p:cNvSpPr txBox="1"/>
          <p:nvPr/>
        </p:nvSpPr>
        <p:spPr>
          <a:xfrm>
            <a:off x="487625" y="1185685"/>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produknya, setiap rak tadi juga pasti akan ditempatkan di lorong yang berbeda-beda sesuai kategori yang lebih umum.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Misalnya, rak makanan, snack, minuman, umumnya akan diletakkan berdekatan dan terpisah dengan rak kebutuhan rumah tangga seperti sabun cuci piring atau peralatan mandi.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33" name="Google Shape;233;p33"/>
          <p:cNvPicPr preferRelativeResize="0"/>
          <p:nvPr/>
        </p:nvPicPr>
        <p:blipFill>
          <a:blip r:embed="rId3">
            <a:alphaModFix/>
          </a:blip>
          <a:stretch>
            <a:fillRect/>
          </a:stretch>
        </p:blipFill>
        <p:spPr>
          <a:xfrm>
            <a:off x="4792800" y="1003575"/>
            <a:ext cx="4038600" cy="356458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240" name="Google Shape;240;p34"/>
          <p:cNvSpPr txBox="1"/>
          <p:nvPr/>
        </p:nvSpPr>
        <p:spPr>
          <a:xfrm>
            <a:off x="487625" y="1185685"/>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Dengan adanya struktur, akses jadi lebih mudah dan nggak bikin pusying~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Penataan semacam ini bisa memudahkan konsumen ketika berbelanja. Waktu untuk mencari barang yang dibutuhkan tentunya jadi semakin singkat dan praktis deh!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Kurang lebih mirip seperti penataan barang di minimarket, Information Architecture adalah struktur untuk mengklasifikasi dan menata informasi dalam aplikasi secara detail, sehingga user lebih mudah dalam mengakses aplikasi.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41" name="Google Shape;241;p34"/>
          <p:cNvPicPr preferRelativeResize="0"/>
          <p:nvPr/>
        </p:nvPicPr>
        <p:blipFill>
          <a:blip r:embed="rId3">
            <a:alphaModFix/>
          </a:blip>
          <a:stretch>
            <a:fillRect/>
          </a:stretch>
        </p:blipFill>
        <p:spPr>
          <a:xfrm>
            <a:off x="4637100" y="1149938"/>
            <a:ext cx="4236776" cy="349825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35">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
        <p:nvSpPr>
          <p:cNvPr id="247" name="Google Shape;247;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8" name="Google Shape;248;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249" name="Google Shape;249;p3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Menyusun sebuah information architecture (IA)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IA adalah cetak biru (blueprint) dari struktur desain yang dapat dibuat menjadi gambar rangka dan peta proyek. Desainer UX menggunakannya sebagai bahan dasar sehingga mereka dapat merencanakan sistem navigasi.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langkah yang bisa kita tempuh untuk menyusun information architecture</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5" name="Google Shape;255;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rgbClr val="000000"/>
              </a:buClr>
              <a:buSzPts val="1100"/>
              <a:buFont typeface="Arial"/>
              <a:buNone/>
            </a:pPr>
            <a:r>
              <a:rPr lang="en"/>
              <a:t>Information architecture</a:t>
            </a:r>
            <a:endParaRPr/>
          </a:p>
        </p:txBody>
      </p:sp>
      <p:grpSp>
        <p:nvGrpSpPr>
          <p:cNvPr id="256" name="Google Shape;256;p36"/>
          <p:cNvGrpSpPr/>
          <p:nvPr/>
        </p:nvGrpSpPr>
        <p:grpSpPr>
          <a:xfrm>
            <a:off x="0" y="961389"/>
            <a:ext cx="2726700" cy="3482836"/>
            <a:chOff x="0" y="1189989"/>
            <a:chExt cx="2726700" cy="3482836"/>
          </a:xfrm>
        </p:grpSpPr>
        <p:sp>
          <p:nvSpPr>
            <p:cNvPr id="257" name="Google Shape;257;p36"/>
            <p:cNvSpPr/>
            <p:nvPr/>
          </p:nvSpPr>
          <p:spPr>
            <a:xfrm>
              <a:off x="0" y="1189989"/>
              <a:ext cx="27267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a:ea typeface="Raleway"/>
                  <a:cs typeface="Raleway"/>
                  <a:sym typeface="Raleway"/>
                </a:rPr>
                <a:t>Lakukan Riset </a:t>
              </a:r>
              <a:endParaRPr>
                <a:solidFill>
                  <a:srgbClr val="FFFFFF"/>
                </a:solidFill>
                <a:latin typeface="Raleway"/>
                <a:ea typeface="Raleway"/>
                <a:cs typeface="Raleway"/>
                <a:sym typeface="Raleway"/>
              </a:endParaRPr>
            </a:p>
          </p:txBody>
        </p:sp>
        <p:sp>
          <p:nvSpPr>
            <p:cNvPr id="258" name="Google Shape;258;p36"/>
            <p:cNvSpPr txBox="1"/>
            <p:nvPr/>
          </p:nvSpPr>
          <p:spPr>
            <a:xfrm>
              <a:off x="410850"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a:ea typeface="Raleway"/>
                  <a:cs typeface="Raleway"/>
                  <a:sym typeface="Raleway"/>
                </a:rPr>
                <a:t>Tujuan dari tahap ini adalah untuk mempelajari tentang kebutuhan pengguna.</a:t>
              </a:r>
              <a:endParaRPr sz="1200">
                <a:latin typeface="Raleway"/>
                <a:ea typeface="Raleway"/>
                <a:cs typeface="Raleway"/>
                <a:sym typeface="Raleway"/>
              </a:endParaRPr>
            </a:p>
            <a:p>
              <a:pPr indent="0" lvl="0" marL="0" rtl="0" algn="l">
                <a:lnSpc>
                  <a:spcPct val="115000"/>
                </a:lnSpc>
                <a:spcBef>
                  <a:spcPts val="0"/>
                </a:spcBef>
                <a:spcAft>
                  <a:spcPts val="0"/>
                </a:spcAft>
                <a:buNone/>
              </a:pPr>
              <a:r>
                <a:t/>
              </a:r>
              <a:endParaRPr sz="1200">
                <a:latin typeface="Raleway"/>
                <a:ea typeface="Raleway"/>
                <a:cs typeface="Raleway"/>
                <a:sym typeface="Raleway"/>
              </a:endParaRPr>
            </a:p>
            <a:p>
              <a:pPr indent="0" lvl="0" marL="0" rtl="0" algn="l">
                <a:lnSpc>
                  <a:spcPct val="115000"/>
                </a:lnSpc>
                <a:spcBef>
                  <a:spcPts val="0"/>
                </a:spcBef>
                <a:spcAft>
                  <a:spcPts val="0"/>
                </a:spcAft>
                <a:buNone/>
              </a:pPr>
              <a:r>
                <a:rPr lang="en" sz="1200">
                  <a:latin typeface="Raleway"/>
                  <a:ea typeface="Raleway"/>
                  <a:cs typeface="Raleway"/>
                  <a:sym typeface="Raleway"/>
                </a:rPr>
                <a:t>Di akhir tahap ini, Anda akan mendapatkan profil pengguna (user profile) dan alur pengguna (user flow).</a:t>
              </a:r>
              <a:endParaRPr sz="1200">
                <a:latin typeface="Raleway"/>
                <a:ea typeface="Raleway"/>
                <a:cs typeface="Raleway"/>
                <a:sym typeface="Raleway"/>
              </a:endParaRPr>
            </a:p>
          </p:txBody>
        </p:sp>
      </p:grpSp>
      <p:grpSp>
        <p:nvGrpSpPr>
          <p:cNvPr id="259" name="Google Shape;259;p36"/>
          <p:cNvGrpSpPr/>
          <p:nvPr/>
        </p:nvGrpSpPr>
        <p:grpSpPr>
          <a:xfrm>
            <a:off x="2263425" y="961175"/>
            <a:ext cx="2541300" cy="3483050"/>
            <a:chOff x="2263425" y="1189775"/>
            <a:chExt cx="2541300" cy="3483050"/>
          </a:xfrm>
        </p:grpSpPr>
        <p:sp>
          <p:nvSpPr>
            <p:cNvPr id="260" name="Google Shape;260;p36"/>
            <p:cNvSpPr/>
            <p:nvPr/>
          </p:nvSpPr>
          <p:spPr>
            <a:xfrm>
              <a:off x="2263425" y="1189775"/>
              <a:ext cx="25413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a:ea typeface="Raleway"/>
                  <a:cs typeface="Raleway"/>
                  <a:sym typeface="Raleway"/>
                </a:rPr>
                <a:t>Perbaharui</a:t>
              </a:r>
              <a:r>
                <a:rPr lang="en">
                  <a:solidFill>
                    <a:srgbClr val="FFFFFF"/>
                  </a:solidFill>
                  <a:latin typeface="Raleway"/>
                  <a:ea typeface="Raleway"/>
                  <a:cs typeface="Raleway"/>
                  <a:sym typeface="Raleway"/>
                </a:rPr>
                <a:t> </a:t>
              </a:r>
              <a:endParaRPr>
                <a:solidFill>
                  <a:srgbClr val="FFFFFF"/>
                </a:solidFill>
                <a:latin typeface="Raleway"/>
                <a:ea typeface="Raleway"/>
                <a:cs typeface="Raleway"/>
                <a:sym typeface="Raleway"/>
              </a:endParaRPr>
            </a:p>
            <a:p>
              <a:pPr indent="0" lvl="0" marL="0" rtl="0" algn="ctr">
                <a:spcBef>
                  <a:spcPts val="0"/>
                </a:spcBef>
                <a:spcAft>
                  <a:spcPts val="0"/>
                </a:spcAft>
                <a:buNone/>
              </a:pPr>
              <a:r>
                <a:rPr lang="en">
                  <a:solidFill>
                    <a:srgbClr val="FFFFFF"/>
                  </a:solidFill>
                  <a:latin typeface="Raleway"/>
                  <a:ea typeface="Raleway"/>
                  <a:cs typeface="Raleway"/>
                  <a:sym typeface="Raleway"/>
                </a:rPr>
                <a:t>Konten</a:t>
              </a:r>
              <a:endParaRPr>
                <a:solidFill>
                  <a:srgbClr val="FFFFFF"/>
                </a:solidFill>
                <a:latin typeface="Raleway"/>
                <a:ea typeface="Raleway"/>
                <a:cs typeface="Raleway"/>
                <a:sym typeface="Raleway"/>
              </a:endParaRPr>
            </a:p>
          </p:txBody>
        </p:sp>
        <p:sp>
          <p:nvSpPr>
            <p:cNvPr id="261" name="Google Shape;261;p36"/>
            <p:cNvSpPr txBox="1"/>
            <p:nvPr/>
          </p:nvSpPr>
          <p:spPr>
            <a:xfrm>
              <a:off x="2512202"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a:ea typeface="Raleway"/>
                  <a:cs typeface="Raleway"/>
                  <a:sym typeface="Raleway"/>
                </a:rPr>
                <a:t>Saat Anda mengetahui apa yang diinginkan pengguna, Anda dapat memperbarui konten situs web yang ada.</a:t>
              </a:r>
              <a:endParaRPr sz="1200">
                <a:latin typeface="Raleway"/>
                <a:ea typeface="Raleway"/>
                <a:cs typeface="Raleway"/>
                <a:sym typeface="Raleway"/>
              </a:endParaRPr>
            </a:p>
            <a:p>
              <a:pPr indent="0" lvl="0" marL="0" rtl="0" algn="l">
                <a:lnSpc>
                  <a:spcPct val="115000"/>
                </a:lnSpc>
                <a:spcBef>
                  <a:spcPts val="0"/>
                </a:spcBef>
                <a:spcAft>
                  <a:spcPts val="0"/>
                </a:spcAft>
                <a:buNone/>
              </a:pPr>
              <a:r>
                <a:t/>
              </a:r>
              <a:endParaRPr sz="1200">
                <a:latin typeface="Raleway"/>
                <a:ea typeface="Raleway"/>
                <a:cs typeface="Raleway"/>
                <a:sym typeface="Raleway"/>
              </a:endParaRPr>
            </a:p>
            <a:p>
              <a:pPr indent="0" lvl="0" marL="0" rtl="0" algn="l">
                <a:lnSpc>
                  <a:spcPct val="115000"/>
                </a:lnSpc>
                <a:spcBef>
                  <a:spcPts val="0"/>
                </a:spcBef>
                <a:spcAft>
                  <a:spcPts val="0"/>
                </a:spcAft>
                <a:buNone/>
              </a:pPr>
              <a:r>
                <a:rPr lang="en" sz="1200">
                  <a:latin typeface="Raleway"/>
                  <a:ea typeface="Raleway"/>
                  <a:cs typeface="Raleway"/>
                  <a:sym typeface="Raleway"/>
                </a:rPr>
                <a:t>Kegiatan utama yang dilakukan pada tahap ini adalah inventarisasi konten dan audit konten.</a:t>
              </a:r>
              <a:endParaRPr sz="1200">
                <a:latin typeface="Raleway"/>
                <a:ea typeface="Raleway"/>
                <a:cs typeface="Raleway"/>
                <a:sym typeface="Raleway"/>
              </a:endParaRPr>
            </a:p>
          </p:txBody>
        </p:sp>
      </p:grpSp>
      <p:grpSp>
        <p:nvGrpSpPr>
          <p:cNvPr id="262" name="Google Shape;262;p36"/>
          <p:cNvGrpSpPr/>
          <p:nvPr/>
        </p:nvGrpSpPr>
        <p:grpSpPr>
          <a:xfrm>
            <a:off x="4329974" y="961175"/>
            <a:ext cx="2541300" cy="3483050"/>
            <a:chOff x="4329974" y="1189775"/>
            <a:chExt cx="2541300" cy="3483050"/>
          </a:xfrm>
        </p:grpSpPr>
        <p:sp>
          <p:nvSpPr>
            <p:cNvPr id="263" name="Google Shape;263;p36"/>
            <p:cNvSpPr/>
            <p:nvPr/>
          </p:nvSpPr>
          <p:spPr>
            <a:xfrm>
              <a:off x="4329974" y="1189775"/>
              <a:ext cx="25413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a:ea typeface="Raleway"/>
                  <a:cs typeface="Raleway"/>
                  <a:sym typeface="Raleway"/>
                </a:rPr>
                <a:t>Card Sorting</a:t>
              </a:r>
              <a:endParaRPr>
                <a:solidFill>
                  <a:srgbClr val="FFFFFF"/>
                </a:solidFill>
                <a:latin typeface="Raleway"/>
                <a:ea typeface="Raleway"/>
                <a:cs typeface="Raleway"/>
                <a:sym typeface="Raleway"/>
              </a:endParaRPr>
            </a:p>
          </p:txBody>
        </p:sp>
        <p:sp>
          <p:nvSpPr>
            <p:cNvPr id="264" name="Google Shape;264;p36"/>
            <p:cNvSpPr txBox="1"/>
            <p:nvPr/>
          </p:nvSpPr>
          <p:spPr>
            <a:xfrm>
              <a:off x="4613553"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a:ea typeface="Raleway"/>
                  <a:cs typeface="Raleway"/>
                  <a:sym typeface="Raleway"/>
                </a:rPr>
                <a:t>Terapkan penyortiran kartu untuk klasifikasi konten.</a:t>
              </a:r>
              <a:endParaRPr sz="1200">
                <a:latin typeface="Raleway"/>
                <a:ea typeface="Raleway"/>
                <a:cs typeface="Raleway"/>
                <a:sym typeface="Raleway"/>
              </a:endParaRPr>
            </a:p>
          </p:txBody>
        </p:sp>
      </p:grpSp>
      <p:grpSp>
        <p:nvGrpSpPr>
          <p:cNvPr id="265" name="Google Shape;265;p36"/>
          <p:cNvGrpSpPr/>
          <p:nvPr/>
        </p:nvGrpSpPr>
        <p:grpSpPr>
          <a:xfrm>
            <a:off x="6396739" y="961175"/>
            <a:ext cx="2541300" cy="3700550"/>
            <a:chOff x="6396739" y="1189775"/>
            <a:chExt cx="2541300" cy="3700550"/>
          </a:xfrm>
        </p:grpSpPr>
        <p:sp>
          <p:nvSpPr>
            <p:cNvPr id="266" name="Google Shape;266;p36"/>
            <p:cNvSpPr/>
            <p:nvPr/>
          </p:nvSpPr>
          <p:spPr>
            <a:xfrm>
              <a:off x="6396739" y="1189775"/>
              <a:ext cx="2541300" cy="669000"/>
            </a:xfrm>
            <a:prstGeom prst="chevron">
              <a:avLst>
                <a:gd fmla="val 50000" name="adj"/>
              </a:avLst>
            </a:prstGeom>
            <a:solidFill>
              <a:srgbClr val="5E2B62">
                <a:alpha val="439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a:ea typeface="Raleway"/>
                  <a:cs typeface="Raleway"/>
                  <a:sym typeface="Raleway"/>
                </a:rPr>
                <a:t>Bangun Hierarki</a:t>
              </a:r>
              <a:endParaRPr>
                <a:solidFill>
                  <a:srgbClr val="FFFFFF"/>
                </a:solidFill>
                <a:latin typeface="Raleway"/>
                <a:ea typeface="Raleway"/>
                <a:cs typeface="Raleway"/>
                <a:sym typeface="Raleway"/>
              </a:endParaRPr>
            </a:p>
          </p:txBody>
        </p:sp>
        <p:sp>
          <p:nvSpPr>
            <p:cNvPr id="267" name="Google Shape;267;p36"/>
            <p:cNvSpPr txBox="1"/>
            <p:nvPr/>
          </p:nvSpPr>
          <p:spPr>
            <a:xfrm>
              <a:off x="6714900" y="2057125"/>
              <a:ext cx="1905000" cy="283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a:ea typeface="Raleway"/>
                  <a:cs typeface="Raleway"/>
                  <a:sym typeface="Raleway"/>
                </a:rPr>
                <a:t>Setiap situs web atau aplikasi membutuhkan sistem navigasi yang solid.</a:t>
              </a:r>
              <a:endParaRPr sz="1200">
                <a:latin typeface="Raleway"/>
                <a:ea typeface="Raleway"/>
                <a:cs typeface="Raleway"/>
                <a:sym typeface="Raleway"/>
              </a:endParaRPr>
            </a:p>
            <a:p>
              <a:pPr indent="0" lvl="0" marL="0" rtl="0" algn="l">
                <a:lnSpc>
                  <a:spcPct val="115000"/>
                </a:lnSpc>
                <a:spcBef>
                  <a:spcPts val="0"/>
                </a:spcBef>
                <a:spcAft>
                  <a:spcPts val="0"/>
                </a:spcAft>
                <a:buNone/>
              </a:pPr>
              <a:r>
                <a:t/>
              </a:r>
              <a:endParaRPr sz="1200">
                <a:latin typeface="Raleway"/>
                <a:ea typeface="Raleway"/>
                <a:cs typeface="Raleway"/>
                <a:sym typeface="Raleway"/>
              </a:endParaRPr>
            </a:p>
            <a:p>
              <a:pPr indent="0" lvl="0" marL="0" rtl="0" algn="l">
                <a:lnSpc>
                  <a:spcPct val="115000"/>
                </a:lnSpc>
                <a:spcBef>
                  <a:spcPts val="0"/>
                </a:spcBef>
                <a:spcAft>
                  <a:spcPts val="0"/>
                </a:spcAft>
                <a:buNone/>
              </a:pPr>
              <a:r>
                <a:rPr lang="en" sz="1200">
                  <a:latin typeface="Raleway"/>
                  <a:ea typeface="Raleway"/>
                  <a:cs typeface="Raleway"/>
                  <a:sym typeface="Raleway"/>
                </a:rPr>
                <a:t>Setelah Anda mendapatkan hasil kegiatan penyortiran kartu, Anda akan memahami bagaimana mewujudkan dan mengklasifikasikan konten dalam kenyataan</a:t>
              </a:r>
              <a:endParaRPr sz="1200">
                <a:latin typeface="Raleway"/>
                <a:ea typeface="Raleway"/>
                <a:cs typeface="Raleway"/>
                <a:sym typeface="Raleway"/>
              </a:endParaRPr>
            </a:p>
          </p:txBody>
        </p:sp>
      </p:grpSp>
      <p:pic>
        <p:nvPicPr>
          <p:cNvPr id="268" name="Google Shape;268;p36"/>
          <p:cNvPicPr preferRelativeResize="0"/>
          <p:nvPr/>
        </p:nvPicPr>
        <p:blipFill>
          <a:blip r:embed="rId3">
            <a:alphaModFix/>
          </a:blip>
          <a:stretch>
            <a:fillRect/>
          </a:stretch>
        </p:blipFill>
        <p:spPr>
          <a:xfrm>
            <a:off x="4688250" y="2710224"/>
            <a:ext cx="1584824" cy="1850574"/>
          </a:xfrm>
          <a:prstGeom prst="rect">
            <a:avLst/>
          </a:prstGeom>
          <a:noFill/>
          <a:ln>
            <a:noFill/>
          </a:ln>
        </p:spPr>
      </p:pic>
      <p:sp>
        <p:nvSpPr>
          <p:cNvPr id="269" name="Google Shape;269;p36"/>
          <p:cNvSpPr txBox="1"/>
          <p:nvPr/>
        </p:nvSpPr>
        <p:spPr>
          <a:xfrm>
            <a:off x="4688248" y="4560800"/>
            <a:ext cx="1584900" cy="338700"/>
          </a:xfrm>
          <a:prstGeom prst="rect">
            <a:avLst/>
          </a:prstGeom>
          <a:noFill/>
          <a:ln>
            <a:noFill/>
          </a:ln>
        </p:spPr>
        <p:txBody>
          <a:bodyPr anchorCtr="0" anchor="t" bIns="91425" lIns="91425" spcFirstLastPara="1" rIns="91425" wrap="square" tIns="91425">
            <a:spAutoFit/>
          </a:bodyPr>
          <a:lstStyle/>
          <a:p>
            <a:pPr indent="0" lvl="0" marL="0" marR="38100" rtl="0" algn="r">
              <a:lnSpc>
                <a:spcPct val="128571"/>
              </a:lnSpc>
              <a:spcBef>
                <a:spcPts val="0"/>
              </a:spcBef>
              <a:spcAft>
                <a:spcPts val="0"/>
              </a:spcAft>
              <a:buNone/>
            </a:pPr>
            <a:r>
              <a:rPr b="1" lang="en" sz="1000">
                <a:solidFill>
                  <a:srgbClr val="733572"/>
                </a:solidFill>
                <a:highlight>
                  <a:srgbClr val="F5F5F5"/>
                </a:highlight>
                <a:uFill>
                  <a:noFill/>
                </a:uFill>
                <a:latin typeface="Roboto"/>
                <a:ea typeface="Roboto"/>
                <a:cs typeface="Roboto"/>
                <a:sym typeface="Roboto"/>
                <a:hlinkClick r:id="rId4">
                  <a:extLst>
                    <a:ext uri="{A12FA001-AC4F-418D-AE19-62706E023703}">
                      <ahyp:hlinkClr val="tx"/>
                    </a:ext>
                  </a:extLst>
                </a:hlinkClick>
              </a:rPr>
              <a:t>Boagworld.com</a:t>
            </a:r>
            <a:endParaRPr b="1" sz="1000">
              <a:solidFill>
                <a:srgbClr val="733572"/>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276" name="Google Shape;276;p3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Struktur informasi dalam UX bisa dipetakan dalam peta khusus yang disebut sitemap.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Sitemap adalah kerangka informasi terkait isi atau pilihan yang disediakan di dalam produk atau layanan. Hal ini berfungsi untuk memetakan hierarki dari setiap informasi yang disediakan.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Supaya kamu punya visualisasi dari sebuah information architecture dalam UX, mari kita lihat sitemap yang ada di JOOX berikut ini.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77" name="Google Shape;277;p37"/>
          <p:cNvPicPr preferRelativeResize="0"/>
          <p:nvPr/>
        </p:nvPicPr>
        <p:blipFill>
          <a:blip r:embed="rId3">
            <a:alphaModFix/>
          </a:blip>
          <a:stretch>
            <a:fillRect/>
          </a:stretch>
        </p:blipFill>
        <p:spPr>
          <a:xfrm>
            <a:off x="4959475" y="1340338"/>
            <a:ext cx="4038600" cy="308872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pic>
        <p:nvPicPr>
          <p:cNvPr id="284" name="Google Shape;284;p38"/>
          <p:cNvPicPr preferRelativeResize="0"/>
          <p:nvPr/>
        </p:nvPicPr>
        <p:blipFill>
          <a:blip r:embed="rId3">
            <a:alphaModFix/>
          </a:blip>
          <a:stretch>
            <a:fillRect/>
          </a:stretch>
        </p:blipFill>
        <p:spPr>
          <a:xfrm>
            <a:off x="2036375" y="705888"/>
            <a:ext cx="5071241" cy="433591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0" name="Google Shape;290;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291" name="Google Shape;291;p3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Secara sederhana, sitemap adalah gambaran alur informasi yang akan dihadapi user ketika mengakses produk atau layanan.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 sana akan digambarkan urutan atau tingkatan informasi apa saja yang akan ditampilkan dalam setiap tahapan ketika user menggunakan aplikasi.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92" name="Google Shape;292;p39"/>
          <p:cNvPicPr preferRelativeResize="0"/>
          <p:nvPr/>
        </p:nvPicPr>
        <p:blipFill>
          <a:blip r:embed="rId3">
            <a:alphaModFix/>
          </a:blip>
          <a:stretch>
            <a:fillRect/>
          </a:stretch>
        </p:blipFill>
        <p:spPr>
          <a:xfrm>
            <a:off x="4959475" y="1340338"/>
            <a:ext cx="4038600" cy="308872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8" name="Google Shape;298;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299" name="Google Shape;299;p4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Contohnya begini...</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Misalnya, sewaktu kita tap menu Home pada JOOX, maka akan ada informasi dalam bentuk sub-menu rekomendasi lagu, atau lagu-lagu yang baru saja kita putar sebelumnya.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Ketika kita tap pada sub-menu yang ada, maka kita akan dibawa ke halaman tampilan lain. Alur perjalanan semacam ini yang digambarkan dalam sebuah sitemap.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Detail mengenai sitemap bisa kamu cek di </a:t>
            </a:r>
            <a:r>
              <a:rPr lang="en" sz="1200" u="sng">
                <a:solidFill>
                  <a:schemeClr val="hlink"/>
                </a:solidFill>
                <a:latin typeface="Raleway Medium"/>
                <a:ea typeface="Raleway Medium"/>
                <a:cs typeface="Raleway Medium"/>
                <a:sym typeface="Raleway Medium"/>
                <a:hlinkClick r:id="rId3"/>
              </a:rPr>
              <a:t>sini</a:t>
            </a:r>
            <a:r>
              <a:rPr lang="en" sz="1200">
                <a:solidFill>
                  <a:schemeClr val="dk1"/>
                </a:solidFill>
                <a:latin typeface="Raleway Medium"/>
                <a:ea typeface="Raleway Medium"/>
                <a:cs typeface="Raleway Medium"/>
                <a:sym typeface="Raleway Medium"/>
              </a:rPr>
              <a:t> 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00" name="Google Shape;300;p40"/>
          <p:cNvPicPr preferRelativeResize="0"/>
          <p:nvPr/>
        </p:nvPicPr>
        <p:blipFill>
          <a:blip r:embed="rId4">
            <a:alphaModFix/>
          </a:blip>
          <a:stretch>
            <a:fillRect/>
          </a:stretch>
        </p:blipFill>
        <p:spPr>
          <a:xfrm>
            <a:off x="4992700" y="1605350"/>
            <a:ext cx="4038599" cy="236102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41">
            <a:hlinkClick r:id="rId3"/>
          </p:cNvPr>
          <p:cNvPicPr preferRelativeResize="0"/>
          <p:nvPr/>
        </p:nvPicPr>
        <p:blipFill rotWithShape="1">
          <a:blip r:embed="rId4">
            <a:alphaModFix/>
          </a:blip>
          <a:srcRect b="0" l="0" r="0" t="11676"/>
          <a:stretch/>
        </p:blipFill>
        <p:spPr>
          <a:xfrm>
            <a:off x="842481" y="914400"/>
            <a:ext cx="7971794" cy="3994249"/>
          </a:xfrm>
          <a:prstGeom prst="rect">
            <a:avLst/>
          </a:prstGeom>
          <a:noFill/>
          <a:ln>
            <a:noFill/>
          </a:ln>
        </p:spPr>
      </p:pic>
      <p:sp>
        <p:nvSpPr>
          <p:cNvPr id="306" name="Google Shape;306;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308" name="Google Shape;308;p41"/>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arsitektur informasi menggunakan flowchart #1</a:t>
            </a:r>
            <a:endParaRPr b="1" sz="1800">
              <a:solidFill>
                <a:srgbClr val="743673"/>
              </a:solidFill>
              <a:highlight>
                <a:schemeClr val="lt1"/>
              </a:highlight>
              <a:latin typeface="Raleway"/>
              <a:ea typeface="Raleway"/>
              <a:cs typeface="Raleway"/>
              <a:sym typeface="Raleway"/>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315" name="Google Shape;315;p42"/>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arsitektur informasi #2</a:t>
            </a:r>
            <a:endParaRPr b="1" sz="1800">
              <a:solidFill>
                <a:srgbClr val="743673"/>
              </a:solidFill>
              <a:highlight>
                <a:schemeClr val="lt1"/>
              </a:highlight>
              <a:latin typeface="Raleway"/>
              <a:ea typeface="Raleway"/>
              <a:cs typeface="Raleway"/>
              <a:sym typeface="Raleway"/>
            </a:endParaRPr>
          </a:p>
        </p:txBody>
      </p:sp>
      <p:pic>
        <p:nvPicPr>
          <p:cNvPr id="316" name="Google Shape;316;p42">
            <a:hlinkClick r:id="rId3"/>
          </p:cNvPr>
          <p:cNvPicPr preferRelativeResize="0"/>
          <p:nvPr/>
        </p:nvPicPr>
        <p:blipFill>
          <a:blip r:embed="rId4">
            <a:alphaModFix/>
          </a:blip>
          <a:stretch>
            <a:fillRect/>
          </a:stretch>
        </p:blipFill>
        <p:spPr>
          <a:xfrm>
            <a:off x="3434085" y="914400"/>
            <a:ext cx="5182514" cy="3994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2" name="Google Shape;322;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323" name="Google Shape;323;p43"/>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arsitektur informasi #3</a:t>
            </a:r>
            <a:endParaRPr b="1" sz="1800">
              <a:solidFill>
                <a:srgbClr val="743673"/>
              </a:solidFill>
              <a:highlight>
                <a:schemeClr val="lt1"/>
              </a:highlight>
              <a:latin typeface="Raleway"/>
              <a:ea typeface="Raleway"/>
              <a:cs typeface="Raleway"/>
              <a:sym typeface="Raleway"/>
            </a:endParaRPr>
          </a:p>
        </p:txBody>
      </p:sp>
      <p:pic>
        <p:nvPicPr>
          <p:cNvPr id="324" name="Google Shape;324;p43">
            <a:hlinkClick r:id="rId3"/>
          </p:cNvPr>
          <p:cNvPicPr preferRelativeResize="0"/>
          <p:nvPr/>
        </p:nvPicPr>
        <p:blipFill rotWithShape="1">
          <a:blip r:embed="rId4">
            <a:alphaModFix/>
          </a:blip>
          <a:srcRect b="0" l="12092" r="14443" t="10849"/>
          <a:stretch/>
        </p:blipFill>
        <p:spPr>
          <a:xfrm>
            <a:off x="2994600" y="1184151"/>
            <a:ext cx="5701473" cy="3256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0" name="Google Shape;330;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Information architecture</a:t>
            </a:r>
            <a:endParaRPr/>
          </a:p>
        </p:txBody>
      </p:sp>
      <p:sp>
        <p:nvSpPr>
          <p:cNvPr id="331" name="Google Shape;331;p44"/>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arsitektur informasi #4</a:t>
            </a:r>
            <a:endParaRPr b="1" sz="1800">
              <a:solidFill>
                <a:srgbClr val="743673"/>
              </a:solidFill>
              <a:highlight>
                <a:schemeClr val="lt1"/>
              </a:highlight>
              <a:latin typeface="Raleway"/>
              <a:ea typeface="Raleway"/>
              <a:cs typeface="Raleway"/>
              <a:sym typeface="Raleway"/>
            </a:endParaRPr>
          </a:p>
        </p:txBody>
      </p:sp>
      <p:pic>
        <p:nvPicPr>
          <p:cNvPr id="332" name="Google Shape;332;p44">
            <a:hlinkClick r:id="rId3"/>
          </p:cNvPr>
          <p:cNvPicPr preferRelativeResize="0"/>
          <p:nvPr/>
        </p:nvPicPr>
        <p:blipFill rotWithShape="1">
          <a:blip r:embed="rId4">
            <a:alphaModFix/>
          </a:blip>
          <a:srcRect b="13374" l="0" r="0" t="0"/>
          <a:stretch/>
        </p:blipFill>
        <p:spPr>
          <a:xfrm>
            <a:off x="3032150" y="947150"/>
            <a:ext cx="5701475" cy="37833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338" name="Google Shape;338;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44" name="Google Shape;344;p4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Pada fase ideation, Anda dapat mulai _______ untuk mengidentifikasi solusi baru terhadap pernyataan masalah yang telah Anda buat.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berpikir dan terbiasa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t>
            </a:r>
            <a:r>
              <a:rPr lang="en" sz="1200">
                <a:solidFill>
                  <a:schemeClr val="lt1"/>
                </a:solidFill>
                <a:latin typeface="Raleway Medium"/>
                <a:ea typeface="Raleway Medium"/>
                <a:cs typeface="Raleway Medium"/>
                <a:sym typeface="Raleway Medium"/>
              </a:rPr>
              <a:t>erpikir di dalam kotak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t>
            </a:r>
            <a:r>
              <a:rPr lang="en" sz="1200">
                <a:solidFill>
                  <a:schemeClr val="lt1"/>
                </a:solidFill>
                <a:latin typeface="Raleway Medium"/>
                <a:ea typeface="Raleway Medium"/>
                <a:cs typeface="Raleway Medium"/>
                <a:sym typeface="Raleway Medium"/>
              </a:rPr>
              <a:t>erpikir di dalam kebiasaan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berpikir diluar kebiasaan</a:t>
            </a:r>
            <a:endParaRPr sz="1200">
              <a:solidFill>
                <a:schemeClr val="lt1"/>
              </a:solidFill>
              <a:latin typeface="Raleway Medium"/>
              <a:ea typeface="Raleway Medium"/>
              <a:cs typeface="Raleway Medium"/>
              <a:sym typeface="Raleway Medium"/>
            </a:endParaRPr>
          </a:p>
        </p:txBody>
      </p:sp>
      <p:sp>
        <p:nvSpPr>
          <p:cNvPr id="345" name="Google Shape;345;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1" name="Google Shape;351;p4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Pada fase ideation, Anda dapat mulai _______ untuk mengidentifikasi solusi baru terhadap pernyataan masalah yang telah Anda buat.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berpikir dan terbiasa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berpikir di dalam kotak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berpikir di dalam kebiasaan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berpikir diluar kebiasaan</a:t>
            </a:r>
            <a:endParaRPr b="1" sz="1200">
              <a:solidFill>
                <a:schemeClr val="lt1"/>
              </a:solidFill>
              <a:latin typeface="Raleway"/>
              <a:ea typeface="Raleway"/>
              <a:cs typeface="Raleway"/>
              <a:sym typeface="Raleway"/>
            </a:endParaRPr>
          </a:p>
        </p:txBody>
      </p:sp>
      <p:sp>
        <p:nvSpPr>
          <p:cNvPr id="352" name="Google Shape;352;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3" name="Google Shape;353;p47"/>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Pada fase ideation, Anda dapat mulai berpikir diluar kebiasaan untuk mengidentifikasi solusi baru terhadap pernyataan masalah yang telah Anda buat.</a:t>
            </a:r>
            <a:endParaRPr b="1" sz="1000">
              <a:solidFill>
                <a:srgbClr val="733572"/>
              </a:solidFill>
              <a:latin typeface="Raleway"/>
              <a:ea typeface="Raleway"/>
              <a:cs typeface="Raleway"/>
              <a:sym typeface="Raleway"/>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9" name="Google Shape;359;p4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Pernyataan berikut sesuai dengan prinsip design thinking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Kita tidak boleh membatasi diri pada solusi desain tunggal dan membiarkan sebagian besar ruang desain tidak dijelajahi.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Pua</a:t>
            </a:r>
            <a:r>
              <a:rPr lang="en" sz="1200">
                <a:solidFill>
                  <a:schemeClr val="lt1"/>
                </a:solidFill>
                <a:latin typeface="Raleway Medium"/>
                <a:ea typeface="Raleway Medium"/>
                <a:cs typeface="Raleway Medium"/>
                <a:sym typeface="Raleway Medium"/>
              </a:rPr>
              <a:t>slah dengan ide pertama Anda, atau pada ide yang diberikan kepada Anda oleh manajemen yang lebih tinggi.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Menghabiskan waktu untuk memikirkan beberapa solusi yang memungkinkan sebelum mulai adalah sebuah upaya yang sia-sia.</a:t>
            </a:r>
            <a:endParaRPr sz="1200">
              <a:solidFill>
                <a:schemeClr val="lt1"/>
              </a:solidFill>
              <a:latin typeface="Raleway Medium"/>
              <a:ea typeface="Raleway Medium"/>
              <a:cs typeface="Raleway Medium"/>
              <a:sym typeface="Raleway Medium"/>
            </a:endParaRPr>
          </a:p>
        </p:txBody>
      </p:sp>
      <p:sp>
        <p:nvSpPr>
          <p:cNvPr id="360" name="Google Shape;360;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6" name="Google Shape;366;p4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Pernyataan berikut sesuai dengan prinsip design thinking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Kita tidak boleh membatasi diri pada solusi desain tunggal dan membiarkan sebagian besar ruang desain tidak dijelajahi.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Puaslah dengan ide pertama Anda, atau pada ide yang diberikan kepada Anda oleh manajemen yang lebih tinggi.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Menghabiskan waktu untuk memikirkan beberapa solusi yang memungkinkan sebelum mulai adalah sebuah upaya yang sia-sia.</a:t>
            </a:r>
            <a:endParaRPr b="1" sz="1200">
              <a:solidFill>
                <a:schemeClr val="lt1"/>
              </a:solidFill>
              <a:latin typeface="Raleway"/>
              <a:ea typeface="Raleway"/>
              <a:cs typeface="Raleway"/>
              <a:sym typeface="Raleway"/>
            </a:endParaRPr>
          </a:p>
        </p:txBody>
      </p:sp>
      <p:sp>
        <p:nvSpPr>
          <p:cNvPr id="367" name="Google Shape;367;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8" name="Google Shape;368;p49"/>
          <p:cNvSpPr/>
          <p:nvPr/>
        </p:nvSpPr>
        <p:spPr>
          <a:xfrm>
            <a:off x="685800" y="3612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Jangan jatuh ke dalam perangkap ini! Manfaat desain paralel telah lama didokumentasikan: kita tidak boleh membatasi diri pada solusi desain tunggal dan membiarkan sebagian besar ruang desain tidak dijelajahi.</a:t>
            </a:r>
            <a:endParaRPr b="1" sz="1000">
              <a:solidFill>
                <a:srgbClr val="733572"/>
              </a:solidFill>
              <a:latin typeface="Raleway"/>
              <a:ea typeface="Raleway"/>
              <a:cs typeface="Raleway"/>
              <a:sym typeface="Raleway"/>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4" name="Google Shape;374;p5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Pernyataan berikut sesuai dengan aturan - aturan brainstorming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Jangan ‘jual mahal”, tetap menjaga toleransi sehingga semua orang merasa bebas untuk melontarkan ide (asalkan sesuai topik).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Untuk mencapai hasil nyata, penting untuk tetap berbicara bergantian dan menunjukkan rasa hormat terhadap ide semua orang.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a:t>
            </a:r>
            <a:r>
              <a:rPr lang="en" sz="1200">
                <a:solidFill>
                  <a:schemeClr val="lt1"/>
                </a:solidFill>
                <a:latin typeface="Raleway Medium"/>
                <a:ea typeface="Raleway Medium"/>
                <a:cs typeface="Raleway Medium"/>
                <a:sym typeface="Raleway Medium"/>
              </a:rPr>
              <a:t>ualitas menghasilkan kuantitas”. Proses penyaringan -dan-penyortiran bisa  datang kemudian.</a:t>
            </a:r>
            <a:endParaRPr sz="1200">
              <a:solidFill>
                <a:schemeClr val="lt1"/>
              </a:solidFill>
              <a:latin typeface="Raleway Medium"/>
              <a:ea typeface="Raleway Medium"/>
              <a:cs typeface="Raleway Medium"/>
              <a:sym typeface="Raleway Medium"/>
            </a:endParaRPr>
          </a:p>
        </p:txBody>
      </p:sp>
      <p:sp>
        <p:nvSpPr>
          <p:cNvPr id="375" name="Google Shape;375;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1" name="Google Shape;381;p5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Pernyataan berikut sesuai dengan aturan - aturan brainstorming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Jangan ‘jual mahal”, tetap menjaga toleransi sehingga semua orang merasa bebas untuk melontarkan ide (asalkan sesuai topik).</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Untuk mencapai hasil nyata, penting untuk tetap berbicara bergantian dan menunjukkan rasa hormat terhadap ide semua orang.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“Kualitas menghasilkan kuantitas”. Proses penyaringan -dan-penyortiran bisa  datang kemudian.</a:t>
            </a:r>
            <a:endParaRPr b="1" sz="1200">
              <a:solidFill>
                <a:schemeClr val="lt1"/>
              </a:solidFill>
              <a:latin typeface="Raleway"/>
              <a:ea typeface="Raleway"/>
              <a:cs typeface="Raleway"/>
              <a:sym typeface="Raleway"/>
            </a:endParaRPr>
          </a:p>
        </p:txBody>
      </p:sp>
      <p:sp>
        <p:nvSpPr>
          <p:cNvPr id="382" name="Google Shape;382;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51"/>
          <p:cNvSpPr/>
          <p:nvPr/>
        </p:nvSpPr>
        <p:spPr>
          <a:xfrm>
            <a:off x="685800" y="3612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Terbalik, “kuantitas menghasilkan kualitas”. Proses penyaringan -dan-penyortiran bisa  datang kemudian.</a:t>
            </a:r>
            <a:endParaRPr b="1" sz="1000">
              <a:solidFill>
                <a:srgbClr val="733572"/>
              </a:solidFill>
              <a:latin typeface="Raleway"/>
              <a:ea typeface="Raleway"/>
              <a:cs typeface="Raleway"/>
              <a:sym typeface="Ralew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9" name="Google Shape;389;p5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 </a:t>
            </a:r>
            <a:r>
              <a:rPr b="1" lang="en" sz="1800">
                <a:solidFill>
                  <a:schemeClr val="lt1"/>
                </a:solidFill>
                <a:latin typeface="Raleway"/>
                <a:ea typeface="Raleway"/>
                <a:cs typeface="Raleway"/>
                <a:sym typeface="Raleway"/>
              </a:rPr>
              <a:t>IA adalah ______ dari struktur desain yang dapat dibuat menjadi gambar rangka dan peta proyek.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Blueprint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Road</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Phase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Map</a:t>
            </a:r>
            <a:endParaRPr sz="1200">
              <a:solidFill>
                <a:schemeClr val="lt1"/>
              </a:solidFill>
              <a:latin typeface="Raleway Medium"/>
              <a:ea typeface="Raleway Medium"/>
              <a:cs typeface="Raleway Medium"/>
              <a:sym typeface="Raleway Medium"/>
            </a:endParaRPr>
          </a:p>
        </p:txBody>
      </p:sp>
      <p:sp>
        <p:nvSpPr>
          <p:cNvPr id="390" name="Google Shape;390;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6" name="Google Shape;396;p5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 </a:t>
            </a:r>
            <a:r>
              <a:rPr b="1" lang="en" sz="1800">
                <a:solidFill>
                  <a:schemeClr val="lt1"/>
                </a:solidFill>
                <a:latin typeface="Raleway"/>
                <a:ea typeface="Raleway"/>
                <a:cs typeface="Raleway"/>
                <a:sym typeface="Raleway"/>
              </a:rPr>
              <a:t>IA adalah ______ dari struktur desain yang dapat dibuat menjadi gambar rangka dan peta proyek.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Blueprint</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Road</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Phase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Map</a:t>
            </a:r>
            <a:endParaRPr sz="1200">
              <a:solidFill>
                <a:srgbClr val="A667A5"/>
              </a:solidFill>
              <a:latin typeface="Raleway Medium"/>
              <a:ea typeface="Raleway Medium"/>
              <a:cs typeface="Raleway Medium"/>
              <a:sym typeface="Raleway Medium"/>
            </a:endParaRPr>
          </a:p>
        </p:txBody>
      </p:sp>
      <p:sp>
        <p:nvSpPr>
          <p:cNvPr id="397" name="Google Shape;397;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8" name="Google Shape;398;p53"/>
          <p:cNvSpPr/>
          <p:nvPr/>
        </p:nvSpPr>
        <p:spPr>
          <a:xfrm>
            <a:off x="685800" y="33841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IA adalah cetak biru (blueprint) dari struktur desain yang dapat dibuat menjadi gambar rangka dan peta proyek. Desainer UX menggunakannya sebagai bahan dasar sehingga mereka dapat merencanakan sistem navigasi.</a:t>
            </a:r>
            <a:endParaRPr b="1" sz="1000">
              <a:solidFill>
                <a:srgbClr val="733572"/>
              </a:solidFill>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4" name="Google Shape;404;p5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 </a:t>
            </a:r>
            <a:r>
              <a:rPr b="1" lang="en" sz="1800">
                <a:solidFill>
                  <a:schemeClr val="lt1"/>
                </a:solidFill>
                <a:latin typeface="Raleway"/>
                <a:ea typeface="Raleway"/>
                <a:cs typeface="Raleway"/>
                <a:sym typeface="Raleway"/>
              </a:rPr>
              <a:t>Tahap yang benar untuk menyusun sebuah IA adalah…</a:t>
            </a:r>
            <a:r>
              <a:rPr b="1" lang="en" sz="1800">
                <a:solidFill>
                  <a:schemeClr val="lt1"/>
                </a:solidFill>
                <a:latin typeface="Raleway"/>
                <a:ea typeface="Raleway"/>
                <a:cs typeface="Raleway"/>
                <a:sym typeface="Raleway"/>
              </a:rPr>
              <a:t>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Lakukan riset, perbaharui konten, bangun hierarki, card sorting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Lakukan riset, perbaharui konten, card sorting, bangun hierarki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Lakukan riset, card sorting, perbaharui konten, bangun hierarki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Lakukan riset, bangun hierarki, card sorting, perbaharui konten</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05" name="Google Shape;405;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1" name="Google Shape;411;p5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 </a:t>
            </a:r>
            <a:r>
              <a:rPr b="1" lang="en" sz="1800">
                <a:solidFill>
                  <a:schemeClr val="lt1"/>
                </a:solidFill>
                <a:latin typeface="Raleway"/>
                <a:ea typeface="Raleway"/>
                <a:cs typeface="Raleway"/>
                <a:sym typeface="Raleway"/>
              </a:rPr>
              <a:t>Tahap yang benar untuk menyusun sebuah IA adalah…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Lakukan riset, perbaharui konten, bangun hierarki, card sorting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Lakukan riset, perbaharui konten, card sorting, bangun hierarki</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Lakukan riset, card sorting, perbaharui konten, bangun hierarki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Lakukan riset, bangun hierarki, card sorting, perbaharui konten</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12" name="Google Shape;412;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3" name="Google Shape;413;p55"/>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Tahap yang benar untuk menyusun sebuah IA adalah: melakukan riset, memperbaharui konten, melaksanakan card sorting dan membangun hierarki.</a:t>
            </a:r>
            <a:endParaRPr b="1" sz="1000">
              <a:solidFill>
                <a:srgbClr val="733572"/>
              </a:solidFill>
              <a:latin typeface="Raleway"/>
              <a:ea typeface="Raleway"/>
              <a:cs typeface="Raleway"/>
              <a:sym typeface="Ralew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9" name="Google Shape;419;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 </a:t>
            </a:r>
            <a:r>
              <a:rPr b="1" lang="en" sz="1800">
                <a:solidFill>
                  <a:schemeClr val="lt1"/>
                </a:solidFill>
                <a:latin typeface="Raleway"/>
                <a:ea typeface="Raleway"/>
                <a:cs typeface="Raleway"/>
                <a:sym typeface="Raleway"/>
              </a:rPr>
              <a:t>Setiap situs web atau aplikasi membutuhkan sistem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transportasi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navigasi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sanitasi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separasi</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20" name="Google Shape;420;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6" name="Google Shape;426;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 </a:t>
            </a:r>
            <a:r>
              <a:rPr b="1" lang="en" sz="1800">
                <a:solidFill>
                  <a:schemeClr val="lt1"/>
                </a:solidFill>
                <a:latin typeface="Raleway"/>
                <a:ea typeface="Raleway"/>
                <a:cs typeface="Raleway"/>
                <a:sym typeface="Raleway"/>
              </a:rPr>
              <a:t>Setiap situs web atau aplikasi membutuhkan sistem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transportasi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navigasi</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sanitasi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separasi</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27" name="Google Shape;427;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57"/>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Setiap situs web atau aplikasi membutuhkan sistem navigasi. Sistem navigasi pada website adalah sebuah halaman web atau dokumen web yang buat yang mempunyai struktur yang jelas serta tersusun dengan teratur.</a:t>
            </a:r>
            <a:endParaRPr b="1" sz="1000">
              <a:solidFill>
                <a:srgbClr val="733572"/>
              </a:solidFill>
              <a:latin typeface="Raleway"/>
              <a:ea typeface="Raleway"/>
              <a:cs typeface="Raleway"/>
              <a:sym typeface="Raleway"/>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4" name="Google Shape;434;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35" name="Google Shape;435;p5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36" name="Google Shape;436;p58"/>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accent5"/>
                </a:solidFill>
                <a:latin typeface="Raleway Medium"/>
                <a:ea typeface="Raleway Medium"/>
                <a:cs typeface="Raleway Medium"/>
                <a:sym typeface="Raleway Medium"/>
                <a:hlinkClick r:id="rId4">
                  <a:extLst>
                    <a:ext uri="{A12FA001-AC4F-418D-AE19-62706E023703}">
                      <ahyp:hlinkClr val="tx"/>
                    </a:ext>
                  </a:extLst>
                </a:hlinkClick>
              </a:rPr>
              <a:t>Design Thinking by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accent5"/>
                </a:solidFill>
                <a:latin typeface="Raleway Medium"/>
                <a:ea typeface="Raleway Medium"/>
                <a:cs typeface="Raleway Medium"/>
                <a:sym typeface="Raleway Medium"/>
                <a:hlinkClick r:id="rId5">
                  <a:extLst>
                    <a:ext uri="{A12FA001-AC4F-418D-AE19-62706E023703}">
                      <ahyp:hlinkClr val="tx"/>
                    </a:ext>
                  </a:extLst>
                </a:hlinkClick>
              </a:rPr>
              <a:t>5 Stages in The Design Thinking Process by Interaction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accent5"/>
                </a:solidFill>
                <a:uFill>
                  <a:noFill/>
                </a:uFill>
                <a:latin typeface="Raleway Medium"/>
                <a:ea typeface="Raleway Medium"/>
                <a:cs typeface="Raleway Medium"/>
                <a:sym typeface="Raleway Medium"/>
                <a:hlinkClick r:id="rId6">
                  <a:extLst>
                    <a:ext uri="{A12FA001-AC4F-418D-AE19-62706E023703}">
                      <ahyp:hlinkClr val="tx"/>
                    </a:ext>
                  </a:extLst>
                </a:hlinkClick>
              </a:rPr>
              <a:t>    </a:t>
            </a:r>
            <a:r>
              <a:rPr lang="en" sz="1200" u="sng">
                <a:solidFill>
                  <a:schemeClr val="accent5"/>
                </a:solidFill>
                <a:latin typeface="Raleway Medium"/>
                <a:ea typeface="Raleway Medium"/>
                <a:cs typeface="Raleway Medium"/>
                <a:sym typeface="Raleway Medium"/>
                <a:hlinkClick r:id="rId7">
                  <a:extLst>
                    <a:ext uri="{A12FA001-AC4F-418D-AE19-62706E023703}">
                      <ahyp:hlinkClr val="tx"/>
                    </a:ext>
                  </a:extLst>
                </a:hlinkClick>
              </a:rPr>
              <a:t>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8"/>
              </a:rPr>
              <a:t>Ideation by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u="sng">
                <a:solidFill>
                  <a:schemeClr val="hlink"/>
                </a:solidFill>
                <a:latin typeface="Raleway Medium"/>
                <a:ea typeface="Raleway Medium"/>
                <a:cs typeface="Raleway Medium"/>
                <a:sym typeface="Raleway Medium"/>
                <a:hlinkClick r:id="rId9"/>
              </a:rPr>
              <a:t>How to Create Information Architecture for Web Design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10"/>
              </a:rPr>
              <a:t>by altexsoft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t>
            </a:r>
            <a:r>
              <a:rPr lang="en" sz="1200" u="sng">
                <a:solidFill>
                  <a:schemeClr val="hlink"/>
                </a:solidFill>
                <a:latin typeface="Raleway Medium"/>
                <a:ea typeface="Raleway Medium"/>
                <a:cs typeface="Raleway Medium"/>
                <a:sym typeface="Raleway Medium"/>
                <a:hlinkClick r:id="rId11"/>
              </a:rPr>
              <a:t>5 Examples of Effective Information Architecture by XD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12"/>
              </a:rPr>
              <a:t>Ideas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40" name="Shape 440"/>
        <p:cNvGrpSpPr/>
        <p:nvPr/>
      </p:nvGrpSpPr>
      <p:grpSpPr>
        <a:xfrm>
          <a:off x="0" y="0"/>
          <a:ext cx="0" cy="0"/>
          <a:chOff x="0" y="0"/>
          <a:chExt cx="0" cy="0"/>
        </a:xfrm>
      </p:grpSpPr>
      <p:sp>
        <p:nvSpPr>
          <p:cNvPr id="441" name="Google Shape;441;p59"/>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2" name="Google Shape;442;p59"/>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3" name="Google Shape;443;p59"/>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4" name="Google Shape;444;p59"/>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5" name="Google Shape;445;p59"/>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46" name="Google Shape;446;p59"/>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47" name="Google Shape;447;p59"/>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48" name="Google Shape;448;p59"/>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