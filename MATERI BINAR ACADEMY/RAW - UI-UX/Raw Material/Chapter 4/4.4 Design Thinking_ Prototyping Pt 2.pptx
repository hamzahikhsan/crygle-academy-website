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5143500" cx="9144000"/>
  <p:notesSz cx="6858000" cy="9144000"/>
  <p:embeddedFontLst>
    <p:embeddedFont>
      <p:font typeface="Raleway"/>
      <p:regular r:id="rId66"/>
      <p:bold r:id="rId67"/>
      <p:italic r:id="rId68"/>
      <p:boldItalic r:id="rId69"/>
    </p:embeddedFont>
    <p:embeddedFont>
      <p:font typeface="Montserrat"/>
      <p:regular r:id="rId70"/>
      <p:bold r:id="rId71"/>
      <p:italic r:id="rId72"/>
      <p:boldItalic r:id="rId73"/>
    </p:embeddedFont>
    <p:embeddedFont>
      <p:font typeface="Lato Black"/>
      <p:bold r:id="rId74"/>
      <p:boldItalic r:id="rId75"/>
    </p:embeddedFont>
    <p:embeddedFont>
      <p:font typeface="Raleway Medium"/>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Montserrat-boldItalic.fntdata"/><Relationship Id="rId72" Type="http://schemas.openxmlformats.org/officeDocument/2006/relationships/font" Target="fonts/Montserrat-italic.fntdata"/><Relationship Id="rId31" Type="http://schemas.openxmlformats.org/officeDocument/2006/relationships/slide" Target="slides/slide26.xml"/><Relationship Id="rId75" Type="http://schemas.openxmlformats.org/officeDocument/2006/relationships/font" Target="fonts/LatoBlack-boldItalic.fntdata"/><Relationship Id="rId30" Type="http://schemas.openxmlformats.org/officeDocument/2006/relationships/slide" Target="slides/slide25.xml"/><Relationship Id="rId74" Type="http://schemas.openxmlformats.org/officeDocument/2006/relationships/font" Target="fonts/LatoBlack-bold.fntdata"/><Relationship Id="rId33" Type="http://schemas.openxmlformats.org/officeDocument/2006/relationships/slide" Target="slides/slide28.xml"/><Relationship Id="rId77" Type="http://schemas.openxmlformats.org/officeDocument/2006/relationships/font" Target="fonts/RalewayMedium-bold.fntdata"/><Relationship Id="rId32" Type="http://schemas.openxmlformats.org/officeDocument/2006/relationships/slide" Target="slides/slide27.xml"/><Relationship Id="rId76" Type="http://schemas.openxmlformats.org/officeDocument/2006/relationships/font" Target="fonts/RalewayMedium-regular.fntdata"/><Relationship Id="rId35" Type="http://schemas.openxmlformats.org/officeDocument/2006/relationships/slide" Target="slides/slide30.xml"/><Relationship Id="rId79" Type="http://schemas.openxmlformats.org/officeDocument/2006/relationships/font" Target="fonts/RalewayMedium-boldItalic.fntdata"/><Relationship Id="rId34" Type="http://schemas.openxmlformats.org/officeDocument/2006/relationships/slide" Target="slides/slide29.xml"/><Relationship Id="rId78" Type="http://schemas.openxmlformats.org/officeDocument/2006/relationships/font" Target="fonts/RalewayMedium-italic.fntdata"/><Relationship Id="rId71" Type="http://schemas.openxmlformats.org/officeDocument/2006/relationships/font" Target="fonts/Montserrat-bold.fntdata"/><Relationship Id="rId70" Type="http://schemas.openxmlformats.org/officeDocument/2006/relationships/font" Target="fonts/Montserrat-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Raleway-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aleway-italic.fntdata"/><Relationship Id="rId23" Type="http://schemas.openxmlformats.org/officeDocument/2006/relationships/slide" Target="slides/slide18.xml"/><Relationship Id="rId67" Type="http://schemas.openxmlformats.org/officeDocument/2006/relationships/font" Target="fonts/Raleway-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irfocus?utm_source=unsplash&amp;utm_medium=referral&amp;utm_content=creditCopyText" TargetMode="Externa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hyperlink" Target="https://unsplash.com/s/photos/presenting?utm_source=unsplash&amp;utm_medium=referral&amp;utm_content=creditCopyText" TargetMode="External"/><Relationship Id="rId5" Type="http://schemas.openxmlformats.org/officeDocument/2006/relationships/hyperlink" Target="https://unsplash.com/s/photos/presenting?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esthmus?utm_source=unsplash&amp;utm_medium=referral&amp;utm_content=creditCopyText" TargetMode="External"/><Relationship Id="rId3" Type="http://schemas.openxmlformats.org/officeDocument/2006/relationships/hyperlink" Target="https://unsplash.com/@westhmus?utm_source=unsplash&amp;utm_medium=referral&amp;utm_content=creditCopyText" TargetMode="External"/><Relationship Id="rId4" Type="http://schemas.openxmlformats.org/officeDocument/2006/relationships/hyperlink" Target="https://unsplash.com/s/photos/audience?utm_source=unsplash&amp;utm_medium=referral&amp;utm_content=creditCopyText" TargetMode="External"/><Relationship Id="rId5" Type="http://schemas.openxmlformats.org/officeDocument/2006/relationships/hyperlink" Target="https://unsplash.com/s/photos/audience?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esthmus?utm_source=unsplash&amp;utm_medium=referral&amp;utm_content=creditCopyText" TargetMode="External"/><Relationship Id="rId3" Type="http://schemas.openxmlformats.org/officeDocument/2006/relationships/hyperlink" Target="https://unsplash.com/@westhmus?utm_source=unsplash&amp;utm_medium=referral&amp;utm_content=creditCopyText" TargetMode="External"/><Relationship Id="rId4" Type="http://schemas.openxmlformats.org/officeDocument/2006/relationships/hyperlink" Target="https://unsplash.com/s/photos/audience?utm_source=unsplash&amp;utm_medium=referral&amp;utm_content=creditCopyText" TargetMode="External"/><Relationship Id="rId5" Type="http://schemas.openxmlformats.org/officeDocument/2006/relationships/hyperlink" Target="https://unsplash.com/s/photos/audience?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hisisengineering?utm_source=unsplash&amp;utm_medium=referral&amp;utm_content=creditCopyText" TargetMode="External"/><Relationship Id="rId3" Type="http://schemas.openxmlformats.org/officeDocument/2006/relationships/hyperlink" Target="https://unsplash.com/@thisisengineering?utm_source=unsplash&amp;utm_medium=referral&amp;utm_content=creditCopyText" TargetMode="External"/><Relationship Id="rId4" Type="http://schemas.openxmlformats.org/officeDocument/2006/relationships/hyperlink" Target="https://unsplash.com/s/photos/presentation?utm_source=unsplash&amp;utm_medium=referral&amp;utm_content=creditCopyText" TargetMode="External"/><Relationship Id="rId5" Type="http://schemas.openxmlformats.org/officeDocument/2006/relationships/hyperlink" Target="https://unsplash.com/s/photos/presentation?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hisisengineering?utm_source=unsplash&amp;utm_medium=referral&amp;utm_content=creditCopyText" TargetMode="External"/><Relationship Id="rId3" Type="http://schemas.openxmlformats.org/officeDocument/2006/relationships/hyperlink" Target="https://unsplash.com/@thisisengineering?utm_source=unsplash&amp;utm_medium=referral&amp;utm_content=creditCopyText" TargetMode="External"/><Relationship Id="rId4" Type="http://schemas.openxmlformats.org/officeDocument/2006/relationships/hyperlink" Target="https://unsplash.com/s/photos/presentation?utm_source=unsplash&amp;utm_medium=referral&amp;utm_content=creditCopyText" TargetMode="External"/><Relationship Id="rId5" Type="http://schemas.openxmlformats.org/officeDocument/2006/relationships/hyperlink" Target="https://unsplash.com/s/photos/presentation?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ampaign_creators?utm_source=unsplash&amp;utm_medium=referral&amp;utm_content=creditCopyText" TargetMode="External"/><Relationship Id="rId3" Type="http://schemas.openxmlformats.org/officeDocument/2006/relationships/hyperlink" Target="https://unsplash.com/@campaign_creators?utm_source=unsplash&amp;utm_medium=referral&amp;utm_content=creditCopyText" TargetMode="External"/><Relationship Id="rId4" Type="http://schemas.openxmlformats.org/officeDocument/2006/relationships/hyperlink" Target="https://unsplash.com/s/photos/feedback-presentation?utm_source=unsplash&amp;utm_medium=referral&amp;utm_content=creditCopyText" TargetMode="External"/><Relationship Id="rId5" Type="http://schemas.openxmlformats.org/officeDocument/2006/relationships/hyperlink" Target="https://unsplash.com/s/photos/feedback-presentation?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ampaign_creators?utm_source=unsplash&amp;utm_medium=referral&amp;utm_content=creditCopyText" TargetMode="External"/><Relationship Id="rId3" Type="http://schemas.openxmlformats.org/officeDocument/2006/relationships/hyperlink" Target="https://unsplash.com/@campaign_creators?utm_source=unsplash&amp;utm_medium=referral&amp;utm_content=creditCopyText" TargetMode="External"/><Relationship Id="rId4" Type="http://schemas.openxmlformats.org/officeDocument/2006/relationships/hyperlink" Target="https://unsplash.com/s/photos/feedback-presentation?utm_source=unsplash&amp;utm_medium=referral&amp;utm_content=creditCopyText" TargetMode="External"/><Relationship Id="rId5" Type="http://schemas.openxmlformats.org/officeDocument/2006/relationships/hyperlink" Target="https://unsplash.com/s/photos/feedback-presentation?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ibby_penner?utm_source=unsplash&amp;utm_medium=referral&amp;utm_content=creditCopyText" TargetMode="External"/><Relationship Id="rId3" Type="http://schemas.openxmlformats.org/officeDocument/2006/relationships/hyperlink" Target="https://unsplash.com/@libby_penner?utm_source=unsplash&amp;utm_medium=referral&amp;utm_content=creditCopyText" TargetMode="External"/><Relationship Id="rId4" Type="http://schemas.openxmlformats.org/officeDocument/2006/relationships/hyperlink" Target="https://unsplash.com/s/photos/record-video?utm_source=unsplash&amp;utm_medium=referral&amp;utm_content=creditCopyText" TargetMode="External"/><Relationship Id="rId5" Type="http://schemas.openxmlformats.org/officeDocument/2006/relationships/hyperlink" Target="https://unsplash.com/s/photos/record-video?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ampaign_creators?utm_source=unsplash&amp;utm_medium=referral&amp;utm_content=creditCopyText" TargetMode="External"/><Relationship Id="rId3" Type="http://schemas.openxmlformats.org/officeDocument/2006/relationships/hyperlink" Target="https://unsplash.com/@campaign_creators?utm_source=unsplash&amp;utm_medium=referral&amp;utm_content=creditCopyText" TargetMode="External"/><Relationship Id="rId4" Type="http://schemas.openxmlformats.org/officeDocument/2006/relationships/hyperlink" Target="https://unsplash.com/s/photos/feedback-presentation?utm_source=unsplash&amp;utm_medium=referral&amp;utm_content=creditCopyText" TargetMode="External"/><Relationship Id="rId5" Type="http://schemas.openxmlformats.org/officeDocument/2006/relationships/hyperlink" Target="https://unsplash.com/s/photos/feedback-presentation?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lexandar_todov?utm_source=unsplash&amp;utm_medium=referral&amp;utm_content=creditCopyText" TargetMode="External"/><Relationship Id="rId3" Type="http://schemas.openxmlformats.org/officeDocument/2006/relationships/hyperlink" Target="https://unsplash.com/@alexandar_todov?utm_source=unsplash&amp;utm_medium=referral&amp;utm_content=creditCopyText" TargetMode="External"/><Relationship Id="rId4" Type="http://schemas.openxmlformats.org/officeDocument/2006/relationships/hyperlink" Target="https://unsplash.com/s/photos/timer?utm_source=unsplash&amp;utm_medium=referral&amp;utm_content=creditCopyText" TargetMode="External"/><Relationship Id="rId5" Type="http://schemas.openxmlformats.org/officeDocument/2006/relationships/hyperlink" Target="https://unsplash.com/s/photos/timer?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121a3dbb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121a3dbb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21a3dbb7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21a3dbb7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121a3dbb7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121a3dbb7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4f2f6a2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4f2f6a2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4f2f6a22c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4f2f6a22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https://files.design/blog/figma-plugins-overview</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14f2f6a22c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14f2f6a22c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https://uxplanet.org/20-figma-plugins-every-designer-must-have-9bd6f1733780</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4f2f6a22c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4f2f6a22c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https://www.figma.com/community/plugin/818203235789864127/Batch-Styler</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4f2f6a22c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4f2f6a22c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https://www.figma.com/community/plugin/834062945643616879/Dark-Mode-Magic</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4f2f6a22c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4f2f6a22c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https://uxplanet.org/20-figma-plugins-every-designer-must-have-9bd6f1733780</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14f2f6a22c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14f2f6a22c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https://www.figma.com/community/plugin/735098390272716381/Iconify</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4f2f6a22c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14f2f6a22c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4f2f6a22c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4f2f6a22c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https://usabilitygeek.com/microinteractions-enhance-ux-design/</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4f2f6a22c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4f2f6a22c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https://www.nngroup.com/articles/microinteractions/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14f2f6a22c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14f2f6a22c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https://files.design/blog/figma-plugins-overview</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14f2f6a22c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14f2f6a22c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https://uxdesign.cc/micro-interactions-why-when-and-how-to-use-them-to-boost-the-ux-17094b3baaa0</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4f2f6a22c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14f2f6a22c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https://help.figma.com/hc/en-us/articles/360040315773</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14f2f6a22c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14f2f6a22c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https://help.figma.com/hc/en-us/articles/360040315773</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14f2f6a22c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14f2f6a22c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https://designcode.io/figma-prototyping-and-interaction</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14f2f6a22c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14f2f6a22c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https://help.figma.com/hc/en-us/articles/360040315773#Adjust_the_animation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14f2f6a22c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14f2f6a22c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https://help.figma.com/hc/en-us/articles/360040315773#Adjust_the_animation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14f2f6a22c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14f2f6a22c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https://help.figma.com/hc/en-us/articles/360040315773#Adjust_the_animation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14f2f6a22c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14f2f6a22c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https://help.figma.com/hc/en-us/articles/360040315773#Adjust_the_animation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14f2f6a22c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14f2f6a22c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https://help.figma.com/hc/en-us/articles/360040315773#Adjust_the_animation</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14f2f6a22c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14f2f6a22c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4f2f6a22c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4f2f6a22c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https://codecondo.com/10-useful-ui-designing-tips-for-developers/responsive-design-3/</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5074b6a5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5074b6a5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https://tenor.com/view/responsive-web-design-gif-13156874</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15074b6a5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15074b6a5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https://dribbble.com/shots/1708084-Responsive-Design-Animation</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14f2f6a22c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14f2f6a22c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https://codecondo.com/10-useful-ui-designing-tips-for-developers/responsive-design-3/</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15074b6a5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15074b6a5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14f2f6a22c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14f2f6a22c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15074b6a5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15074b6a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https://dribbble.com/shots/14438280-Brandbook</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14f2f6a22c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14f2f6a22c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14f2f6a22c_1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14f2f6a22c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airfocus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14f2f6a22c_1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14f2f6a22c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wes lewis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14f2f6a22c_1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14f2f6a22c_1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wes lewis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12295a51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12295a51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ThisisEngineering RAEng</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12295a51f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12295a51f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ThisisEngineering RAEng</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12295a51f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12295a51f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Campaign Creators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12295a51f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12295a51f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Campaign Creators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12295a51f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12295a51f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Libby Penner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12295a51f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12295a51f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Campaign Creators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12295a51f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12295a51f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https://www.invisionapp.com/inside-design/how-to-present-design-work/</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12295a51f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12295a51f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https://www.invisionapp.com/inside-design/how-to-present-design-work/\</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12295a51f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12295a51f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Alexandar Todov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14f2f6a22c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14f2f6a22c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14f2f6a22c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14f2f6a22c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12295a51f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12295a51f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12295a51f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12295a51f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12295a51f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12295a51f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12295a51f9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112295a51f9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2295a51f9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2295a51f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12295a51f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12295a51f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12295a51f9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12295a51f9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12295a51f9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12295a51f9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112295a51f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112295a51f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12295a51f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112295a51f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12295a51f9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12295a51f9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2c66a92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12c66a92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files.design/blog/figma-plugins-overview" TargetMode="Externa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figma.com/community/plugin/733902567457592893/Autoflow" TargetMode="External"/><Relationship Id="rId4" Type="http://schemas.openxmlformats.org/officeDocument/2006/relationships/image" Target="../media/image1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figma.com/community/plugin/818203235789864127/Batch-Styler" TargetMode="Externa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figma.com/community/plugin/834062945643616879/Dark-Mode-Magic" TargetMode="Externa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figma.com/community/plugin/824289601590456356/Breakpoints" TargetMode="External"/><Relationship Id="rId4" Type="http://schemas.openxmlformats.org/officeDocument/2006/relationships/image" Target="../media/image12.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figma.com/community/plugin/735098390272716381/Iconify" TargetMode="Externa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sabilitygeek.com/microinteractions-enhance-ux-design/" TargetMode="Externa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nngroup.com/articles/microinteractions/" TargetMode="Externa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uxdesign.cc/micro-interactions-why-when-and-how-to-use-them-to-boost-the-ux-17094b3baaa0" TargetMode="Externa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help.figma.com/hc/en-us/articles/360040315773" TargetMode="Externa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help.figma.com/hc/en-us/articles/360040315773" TargetMode="Externa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designcode.io/figma-prototyping-and-interaction" TargetMode="External"/><Relationship Id="rId4"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help.figma.com/hc/en-us/articles/360040315773#Adjust_the_animation" TargetMode="External"/><Relationship Id="rId4" Type="http://schemas.openxmlformats.org/officeDocument/2006/relationships/image" Target="../media/image8.png"/><Relationship Id="rId5" Type="http://schemas.openxmlformats.org/officeDocument/2006/relationships/hyperlink" Target="https://help.figma.com/hc/en-us/articles/360040315773#Adjust_the_animation"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help.figma.com/hc/en-us/articles/360040315773#Adjust_the_animation" TargetMode="External"/><Relationship Id="rId4" Type="http://schemas.openxmlformats.org/officeDocument/2006/relationships/image" Target="../media/image8.png"/><Relationship Id="rId5" Type="http://schemas.openxmlformats.org/officeDocument/2006/relationships/hyperlink" Target="https://help.figma.com/hc/en-us/articles/360040315773#Adjust_the_animation"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help.figma.com/hc/en-us/articles/360040315773#Adjust_the_animation" TargetMode="External"/><Relationship Id="rId4" Type="http://schemas.openxmlformats.org/officeDocument/2006/relationships/image" Target="../media/image8.png"/><Relationship Id="rId5" Type="http://schemas.openxmlformats.org/officeDocument/2006/relationships/hyperlink" Target="https://help.figma.com/hc/en-us/articles/360040315773#Adjust_the_animation"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help.figma.com/hc/en-us/articles/360040315773#Adjust_the_animation" TargetMode="External"/><Relationship Id="rId4" Type="http://schemas.openxmlformats.org/officeDocument/2006/relationships/image" Target="../media/image8.png"/><Relationship Id="rId5" Type="http://schemas.openxmlformats.org/officeDocument/2006/relationships/hyperlink" Target="https://help.figma.com/hc/en-us/articles/360040315773#Adjust_the_animation"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help.figma.com/hc/en-us/articles/360040315773#Adjust_the_animation" TargetMode="Externa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codecondo.com/10-useful-ui-designing-tips-for-developers/responsive-design-3/" TargetMode="External"/><Relationship Id="rId4" Type="http://schemas.openxmlformats.org/officeDocument/2006/relationships/image" Target="../media/image1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5.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codecondo.com/10-useful-ui-designing-tips-for-developers/responsive-design-3/" TargetMode="External"/><Relationship Id="rId4" Type="http://schemas.openxmlformats.org/officeDocument/2006/relationships/image" Target="../media/image1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unsplash.com/@airfocus?utm_source=unsplash&amp;utm_medium=referral&amp;utm_content=creditCopyText" TargetMode="External"/><Relationship Id="rId4" Type="http://schemas.openxmlformats.org/officeDocument/2006/relationships/image" Target="../media/image2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unsplash.com/@westhmus?utm_source=unsplash&amp;utm_medium=referral&amp;utm_content=creditCopyText" TargetMode="External"/><Relationship Id="rId4" Type="http://schemas.openxmlformats.org/officeDocument/2006/relationships/image" Target="../media/image22.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unsplash.com/@westhmus?utm_source=unsplash&amp;utm_medium=referral&amp;utm_content=creditCopyText" TargetMode="External"/><Relationship Id="rId4" Type="http://schemas.openxmlformats.org/officeDocument/2006/relationships/image" Target="../media/image2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unsplash.com/@thisisengineering?utm_source=unsplash&amp;utm_medium=referral&amp;utm_content=creditCopyText" TargetMode="External"/><Relationship Id="rId4" Type="http://schemas.openxmlformats.org/officeDocument/2006/relationships/image" Target="../media/image2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unsplash.com/@thisisengineering?utm_source=unsplash&amp;utm_medium=referral&amp;utm_content=creditCopyText" TargetMode="External"/><Relationship Id="rId4" Type="http://schemas.openxmlformats.org/officeDocument/2006/relationships/image" Target="../media/image2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unsplash.com/@campaign_creators?utm_source=unsplash&amp;utm_medium=referral&amp;utm_content=creditCopyText" TargetMode="External"/><Relationship Id="rId4" Type="http://schemas.openxmlformats.org/officeDocument/2006/relationships/image" Target="../media/image2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unsplash.com/@campaign_creators?utm_source=unsplash&amp;utm_medium=referral&amp;utm_content=creditCopyText" TargetMode="External"/><Relationship Id="rId4" Type="http://schemas.openxmlformats.org/officeDocument/2006/relationships/image" Target="../media/image2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unsplash.com/@libby_penner?utm_source=unsplash&amp;utm_medium=referral&amp;utm_content=creditCopyText" TargetMode="External"/><Relationship Id="rId4" Type="http://schemas.openxmlformats.org/officeDocument/2006/relationships/image" Target="../media/image2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unsplash.com/@campaign_creators?utm_source=unsplash&amp;utm_medium=referral&amp;utm_content=creditCopyText" TargetMode="External"/><Relationship Id="rId4" Type="http://schemas.openxmlformats.org/officeDocument/2006/relationships/image" Target="../media/image2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www.invisionapp.com/inside-design/how-to-present-design-work/" TargetMode="External"/><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www.invisionapp.com/inside-design/how-to-present-design-work/" TargetMode="External"/><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unsplash.com/@libby_penner?utm_source=unshttps://unsplash.com/@alexandar_todov?utm_source=unsplash&amp;utm_medium=referral&amp;utm_content=creditCopyTextplash&amp;utm_medium=referral&amp;utm_content=creditCopyText" TargetMode="External"/><Relationship Id="rId4" Type="http://schemas.openxmlformats.org/officeDocument/2006/relationships/image" Target="../media/image29.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1" Type="http://schemas.openxmlformats.org/officeDocument/2006/relationships/hyperlink" Target="https://www.nngroup.com/articles/responsive-web-design-definition" TargetMode="External"/><Relationship Id="rId10" Type="http://schemas.openxmlformats.org/officeDocument/2006/relationships/hyperlink" Target="https://www.nngroup.com/articles/responsive-web-design-definition" TargetMode="External"/><Relationship Id="rId13" Type="http://schemas.openxmlformats.org/officeDocument/2006/relationships/hyperlink" Target="https://xd.adobe.com/ideas/guides/presenting-design-concepts/" TargetMode="External"/><Relationship Id="rId12" Type="http://schemas.openxmlformats.org/officeDocument/2006/relationships/hyperlink" Target="https://www.invisionapp.com/inside-design/how-to-present-design-work/" TargetMode="External"/><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png"/><Relationship Id="rId4" Type="http://schemas.openxmlformats.org/officeDocument/2006/relationships/hyperlink" Target="https://uxplanet.org/20-figma-plugins-every-designer-must-have-9bd6f1733780" TargetMode="External"/><Relationship Id="rId9" Type="http://schemas.openxmlformats.org/officeDocument/2006/relationships/hyperlink" Target="https://www.interaction-design.org/literature/topics/responsive-design" TargetMode="External"/><Relationship Id="rId14" Type="http://schemas.openxmlformats.org/officeDocument/2006/relationships/hyperlink" Target="https://xd.adobe.com/ideas/guides/presenting-design-concepts/" TargetMode="External"/><Relationship Id="rId5" Type="http://schemas.openxmlformats.org/officeDocument/2006/relationships/hyperlink" Target="https://uxplanet.org/20-figma-plugins-every-designer-must-have-9bd6f1733780" TargetMode="External"/><Relationship Id="rId6" Type="http://schemas.openxmlformats.org/officeDocument/2006/relationships/hyperlink" Target="https://designcode.io/figma-prototyping-and-interaction" TargetMode="External"/><Relationship Id="rId7" Type="http://schemas.openxmlformats.org/officeDocument/2006/relationships/hyperlink" Target="https://help.figma.com/hc/en-us/articles/360040315773" TargetMode="External"/><Relationship Id="rId8" Type="http://schemas.openxmlformats.org/officeDocument/2006/relationships/hyperlink" Target="https://www.nngroup.com/articles/microinteractions/"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1" name="Shape 81"/>
        <p:cNvGrpSpPr/>
        <p:nvPr/>
      </p:nvGrpSpPr>
      <p:grpSpPr>
        <a:xfrm>
          <a:off x="0" y="0"/>
          <a:ext cx="0" cy="0"/>
          <a:chOff x="0" y="0"/>
          <a:chExt cx="0" cy="0"/>
        </a:xfrm>
      </p:grpSpPr>
      <p:sp>
        <p:nvSpPr>
          <p:cNvPr id="82" name="Google Shape;82;p16"/>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 Prototyping Pt 2</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4 - Topic 4</a:t>
            </a:r>
            <a:endParaRPr b="1">
              <a:solidFill>
                <a:srgbClr val="FFFFFF"/>
              </a:solidFill>
              <a:latin typeface="Raleway"/>
              <a:ea typeface="Raleway"/>
              <a:cs typeface="Raleway"/>
              <a:sym typeface="Raleway"/>
            </a:endParaRPr>
          </a:p>
        </p:txBody>
      </p:sp>
      <p:cxnSp>
        <p:nvCxnSpPr>
          <p:cNvPr id="83" name="Google Shape;83;p16"/>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4" name="Google Shape;84;p16"/>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5" name="Google Shape;85;p16"/>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 name="Google Shape;91;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92" name="Google Shape;92;p1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93" name="Google Shape;93;p17"/>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 Prototype Pt 2</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Menggunakan plugins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dk1"/>
                </a:solidFill>
                <a:latin typeface="Raleway Medium"/>
                <a:ea typeface="Raleway Medium"/>
                <a:cs typeface="Raleway Medium"/>
                <a:sym typeface="Raleway Medium"/>
              </a:rPr>
              <a:t>Mengenal interaksi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a:solidFill>
                  <a:schemeClr val="dk1"/>
                </a:solidFill>
                <a:latin typeface="Raleway Medium"/>
                <a:ea typeface="Raleway Medium"/>
                <a:cs typeface="Raleway Medium"/>
                <a:sym typeface="Raleway Medium"/>
              </a:rPr>
              <a:t>Responsive design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a:solidFill>
                  <a:schemeClr val="dk1"/>
                </a:solidFill>
                <a:latin typeface="Raleway Medium"/>
                <a:ea typeface="Raleway Medium"/>
                <a:cs typeface="Raleway Medium"/>
                <a:sym typeface="Raleway Medium"/>
              </a:rPr>
              <a:t>Mempresentasikan design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9" name="Google Shape;99;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00" name="Google Shape;100;p1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Design Thinking menangani masalah kompleks dengan: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Empathizing: Memahami kebutuhan manusia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yang terlibat.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Defining: Membingkai ulang dan mendefinisikan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masalah dengan cara yang berpusat pada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Ideating: Menciptakan banyak ide dalam sesi ideation.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Prototyping: Mengadopsi pendekatan langsung dalam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pembuatan prototipe.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Testing / Pengujian: Mengembangkan prototipe atau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solusi yang dapat diuji untuk masalah tersebut.</a:t>
            </a:r>
            <a:endParaRPr sz="1200">
              <a:solidFill>
                <a:schemeClr val="dk1"/>
              </a:solidFill>
              <a:latin typeface="Raleway Medium"/>
              <a:ea typeface="Raleway Medium"/>
              <a:cs typeface="Raleway Medium"/>
              <a:sym typeface="Raleway Medium"/>
            </a:endParaRPr>
          </a:p>
        </p:txBody>
      </p:sp>
      <p:pic>
        <p:nvPicPr>
          <p:cNvPr id="101" name="Google Shape;101;p18"/>
          <p:cNvPicPr preferRelativeResize="0"/>
          <p:nvPr/>
        </p:nvPicPr>
        <p:blipFill rotWithShape="1">
          <a:blip r:embed="rId3">
            <a:alphaModFix/>
          </a:blip>
          <a:srcRect b="0" l="5476" r="5467" t="0"/>
          <a:stretch/>
        </p:blipFill>
        <p:spPr>
          <a:xfrm>
            <a:off x="5486400" y="1207587"/>
            <a:ext cx="3017518"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08" name="Google Shape;108;p1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tahap ini, tim desain akan mulai menghasilkan sejumlah versi prototipe, para praktisi dapat menyelidiki lebih lanjut solusi masalah yang ditemukan pada tahap tahap sebelumnya.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pada tahap ini adalah </a:t>
            </a:r>
            <a:r>
              <a:rPr b="1" lang="en" sz="1200">
                <a:solidFill>
                  <a:schemeClr val="dk1"/>
                </a:solidFill>
                <a:latin typeface="Raleway"/>
                <a:ea typeface="Raleway"/>
                <a:cs typeface="Raleway"/>
                <a:sym typeface="Raleway"/>
              </a:rPr>
              <a:t>menjadikan ide nyata</a:t>
            </a:r>
            <a:r>
              <a:rPr lang="en" sz="1200">
                <a:solidFill>
                  <a:schemeClr val="dk1"/>
                </a:solidFill>
                <a:latin typeface="Raleway Medium"/>
                <a:ea typeface="Raleway Medium"/>
                <a:cs typeface="Raleway Medium"/>
                <a:sym typeface="Raleway Medium"/>
              </a:rPr>
              <a:t>: buat prototipe kasar untuk mempelajari cara membuat ide menjadi lebih baik.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09" name="Google Shape;109;p19"/>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Menggunakan</a:t>
            </a:r>
            <a:r>
              <a:rPr lang="en"/>
              <a:t> plugins</a:t>
            </a:r>
            <a:endParaRPr/>
          </a:p>
        </p:txBody>
      </p:sp>
      <p:sp>
        <p:nvSpPr>
          <p:cNvPr id="115" name="Google Shape;115;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a:t>
            </a:r>
            <a:r>
              <a:rPr lang="en"/>
              <a:t> plugin</a:t>
            </a:r>
            <a:endParaRPr/>
          </a:p>
        </p:txBody>
      </p:sp>
      <p:sp>
        <p:nvSpPr>
          <p:cNvPr id="122" name="Google Shape;122;p2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komputasi, plug-in (atau plugin, add-in, addin, add-on, atau addon) adalah komponen perangkat lunak yang menambahkan fitur tertentu ke program komputer yang ada.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peralatan desain seperti Figma, Adobe XD, Sketch dan banyak lagi, terdapat berbagai macam plugin yang memudahkan para desainer untuk melakukan aktivitas desain dengan mudah dan cepat.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plugin yang perlu kita coba di Figma.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23" name="Google Shape;123;p21">
            <a:hlinkClick r:id="rId3"/>
          </p:cNvPr>
          <p:cNvPicPr preferRelativeResize="0"/>
          <p:nvPr/>
        </p:nvPicPr>
        <p:blipFill rotWithShape="1">
          <a:blip r:embed="rId4">
            <a:alphaModFix/>
          </a:blip>
          <a:srcRect b="0" l="16508" r="990" t="0"/>
          <a:stretch/>
        </p:blipFill>
        <p:spPr>
          <a:xfrm>
            <a:off x="5486400" y="1280150"/>
            <a:ext cx="3017523" cy="27431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plugin</a:t>
            </a:r>
            <a:endParaRPr/>
          </a:p>
        </p:txBody>
      </p:sp>
      <p:sp>
        <p:nvSpPr>
          <p:cNvPr id="130" name="Google Shape;130;p22"/>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Autoflow</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Autoflow adalah alat terbaik dan mudah untuk membuat user flow yang cepat.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bisa membuat user flow dalam waktu singkat hanya dengan membuat bentuk dan menghubungkannya.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31" name="Google Shape;131;p22">
            <a:hlinkClick r:id="rId3"/>
          </p:cNvPr>
          <p:cNvPicPr preferRelativeResize="0"/>
          <p:nvPr/>
        </p:nvPicPr>
        <p:blipFill rotWithShape="1">
          <a:blip r:embed="rId4">
            <a:alphaModFix/>
          </a:blip>
          <a:srcRect b="0" l="2561" r="2561" t="0"/>
          <a:stretch/>
        </p:blipFill>
        <p:spPr>
          <a:xfrm>
            <a:off x="3725200" y="1127750"/>
            <a:ext cx="5205499"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plugin</a:t>
            </a:r>
            <a:endParaRPr/>
          </a:p>
        </p:txBody>
      </p:sp>
      <p:sp>
        <p:nvSpPr>
          <p:cNvPr id="138" name="Google Shape;138;p23"/>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Batch Styler</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Batch Styler memungkinkan Anda mengubah banyak warna dan font sekaligus.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Plugin ini akan menghemat banyak waktu saat ingin mengubah keseluruhan sistem desain dengan satu klik.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39" name="Google Shape;139;p23">
            <a:hlinkClick r:id="rId3"/>
          </p:cNvPr>
          <p:cNvPicPr preferRelativeResize="0"/>
          <p:nvPr/>
        </p:nvPicPr>
        <p:blipFill rotWithShape="1">
          <a:blip r:embed="rId4">
            <a:alphaModFix/>
          </a:blip>
          <a:srcRect b="0" l="3323" r="3314" t="0"/>
          <a:stretch/>
        </p:blipFill>
        <p:spPr>
          <a:xfrm>
            <a:off x="3725200" y="1127750"/>
            <a:ext cx="5205498"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plugin</a:t>
            </a:r>
            <a:endParaRPr/>
          </a:p>
        </p:txBody>
      </p:sp>
      <p:sp>
        <p:nvSpPr>
          <p:cNvPr id="146" name="Google Shape;146;p24"/>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Dark Mode Magic</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Plugin yang satu ini dapat </a:t>
            </a:r>
            <a:r>
              <a:rPr lang="en" sz="1200">
                <a:solidFill>
                  <a:schemeClr val="dk1"/>
                </a:solidFill>
                <a:latin typeface="Raleway Medium"/>
                <a:ea typeface="Raleway Medium"/>
                <a:cs typeface="Raleway Medium"/>
                <a:sym typeface="Raleway Medium"/>
              </a:rPr>
              <a:t>mengubah desain light mode Anda menjadi dark mode hanya dengan beberapa klik.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Meskipun tidak mengoptimalkan semua warna, plugin ini akan banyak membantu Anda jika Anda mengubah desain tema terang menjadi tema gelap.</a:t>
            </a:r>
            <a:endParaRPr sz="1200">
              <a:solidFill>
                <a:schemeClr val="dk1"/>
              </a:solidFill>
              <a:latin typeface="Raleway Medium"/>
              <a:ea typeface="Raleway Medium"/>
              <a:cs typeface="Raleway Medium"/>
              <a:sym typeface="Raleway Medium"/>
            </a:endParaRPr>
          </a:p>
        </p:txBody>
      </p:sp>
      <p:pic>
        <p:nvPicPr>
          <p:cNvPr id="147" name="Google Shape;147;p24">
            <a:hlinkClick r:id="rId3"/>
          </p:cNvPr>
          <p:cNvPicPr preferRelativeResize="0"/>
          <p:nvPr/>
        </p:nvPicPr>
        <p:blipFill rotWithShape="1">
          <a:blip r:embed="rId4">
            <a:alphaModFix/>
          </a:blip>
          <a:srcRect b="0" l="2794" r="2794" t="0"/>
          <a:stretch/>
        </p:blipFill>
        <p:spPr>
          <a:xfrm>
            <a:off x="3725200" y="1127750"/>
            <a:ext cx="5205498" cy="2743199"/>
          </a:xfrm>
          <a:prstGeom prst="rect">
            <a:avLst/>
          </a:prstGeom>
          <a:noFill/>
          <a:ln cap="flat" cmpd="sng" w="19050">
            <a:solidFill>
              <a:srgbClr val="595959"/>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plugin</a:t>
            </a:r>
            <a:endParaRPr/>
          </a:p>
        </p:txBody>
      </p:sp>
      <p:sp>
        <p:nvSpPr>
          <p:cNvPr id="154" name="Google Shape;154;p25"/>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Breakpoints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dapat meninjau layout desain responsif di dalam sebuah bingkai Figma.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Siapa pun di tim Anda dapat mengubah ukuran bingkai tanpa menginstal plugin.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55" name="Google Shape;155;p25">
            <a:hlinkClick r:id="rId3"/>
          </p:cNvPr>
          <p:cNvPicPr preferRelativeResize="0"/>
          <p:nvPr/>
        </p:nvPicPr>
        <p:blipFill rotWithShape="1">
          <a:blip r:embed="rId4">
            <a:alphaModFix/>
          </a:blip>
          <a:srcRect b="0" l="2561" r="2561" t="0"/>
          <a:stretch/>
        </p:blipFill>
        <p:spPr>
          <a:xfrm>
            <a:off x="3725200" y="1127750"/>
            <a:ext cx="5205499" cy="274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1" name="Google Shape;161;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Menggunakan plugin</a:t>
            </a:r>
            <a:endParaRPr/>
          </a:p>
        </p:txBody>
      </p:sp>
      <p:sp>
        <p:nvSpPr>
          <p:cNvPr id="162" name="Google Shape;162;p26"/>
          <p:cNvSpPr txBox="1"/>
          <p:nvPr/>
        </p:nvSpPr>
        <p:spPr>
          <a:xfrm>
            <a:off x="685800" y="1185675"/>
            <a:ext cx="2643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Iconify</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Iconify memudahkan Anda mengimpor ikon-ikon dari Desain Material, FontAwesome, Ikon Jam, EmojiOne, Twitter Emoji, dan banyak ikon lainnya ke dokumen Figma dalam bentuk vektor.</a:t>
            </a:r>
            <a:endParaRPr sz="1200">
              <a:solidFill>
                <a:schemeClr val="dk1"/>
              </a:solidFill>
              <a:latin typeface="Raleway Medium"/>
              <a:ea typeface="Raleway Medium"/>
              <a:cs typeface="Raleway Medium"/>
              <a:sym typeface="Raleway Medium"/>
            </a:endParaRPr>
          </a:p>
        </p:txBody>
      </p:sp>
      <p:pic>
        <p:nvPicPr>
          <p:cNvPr id="163" name="Google Shape;163;p26">
            <a:hlinkClick r:id="rId3"/>
          </p:cNvPr>
          <p:cNvPicPr preferRelativeResize="0"/>
          <p:nvPr/>
        </p:nvPicPr>
        <p:blipFill rotWithShape="1">
          <a:blip r:embed="rId4">
            <a:alphaModFix/>
          </a:blip>
          <a:srcRect b="0" l="634" r="6082" t="0"/>
          <a:stretch/>
        </p:blipFill>
        <p:spPr>
          <a:xfrm>
            <a:off x="3725200" y="1127750"/>
            <a:ext cx="5205497" cy="2743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Mengenal interaksi</a:t>
            </a:r>
            <a:endParaRPr/>
          </a:p>
        </p:txBody>
      </p:sp>
      <p:sp>
        <p:nvSpPr>
          <p:cNvPr id="169" name="Google Shape;169;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176" name="Google Shape;176;p2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Interaksi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Interaksi adalah jenis tindakan yang terjadi karena dua atau lebih objek memiliki efek terhadap satu sama lain.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Interaksi dimulai dengan suatu peristiwa yang dihasilkan oleh pengguna melalui UI di browser. Jenis umum dari peristiwa tersebut adalah klik mouse, sentuhan, dan ketikan keyboard,</a:t>
            </a:r>
            <a:endParaRPr sz="1200">
              <a:solidFill>
                <a:schemeClr val="dk1"/>
              </a:solidFill>
              <a:latin typeface="Raleway Medium"/>
              <a:ea typeface="Raleway Medium"/>
              <a:cs typeface="Raleway Medium"/>
              <a:sym typeface="Raleway Medium"/>
            </a:endParaRPr>
          </a:p>
        </p:txBody>
      </p:sp>
      <p:pic>
        <p:nvPicPr>
          <p:cNvPr id="177" name="Google Shape;177;p28">
            <a:hlinkClick r:id="rId3"/>
          </p:cNvPr>
          <p:cNvPicPr preferRelativeResize="0"/>
          <p:nvPr/>
        </p:nvPicPr>
        <p:blipFill rotWithShape="1">
          <a:blip r:embed="rId4">
            <a:alphaModFix/>
          </a:blip>
          <a:srcRect b="0" l="19200" r="19200" t="0"/>
          <a:stretch/>
        </p:blipFill>
        <p:spPr>
          <a:xfrm>
            <a:off x="5486400" y="1280150"/>
            <a:ext cx="3017524"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184" name="Google Shape;184;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Mikro-interaksi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Banyak interaksi kita sehari-hari dengan sistem komputer berada di bawah payung besar interaksi mikro.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Interaksi mikro memberikan</a:t>
            </a:r>
            <a:r>
              <a:rPr i="1" lang="en" sz="1200">
                <a:solidFill>
                  <a:schemeClr val="dk1"/>
                </a:solidFill>
                <a:latin typeface="Raleway Medium"/>
                <a:ea typeface="Raleway Medium"/>
                <a:cs typeface="Raleway Medium"/>
                <a:sym typeface="Raleway Medium"/>
              </a:rPr>
              <a:t> feedback</a:t>
            </a:r>
            <a:r>
              <a:rPr lang="en" sz="1200">
                <a:solidFill>
                  <a:schemeClr val="dk1"/>
                </a:solidFill>
                <a:latin typeface="Raleway Medium"/>
                <a:ea typeface="Raleway Medium"/>
                <a:cs typeface="Raleway Medium"/>
                <a:sym typeface="Raleway Medium"/>
              </a:rPr>
              <a:t> kepada pengguna, seringkali melalui penyampaian status sistem atau membantu pengguna mencegah kesalahan.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Interaksi mikro turut digunakan sebagai sarana untuk branding.</a:t>
            </a:r>
            <a:endParaRPr sz="1200">
              <a:solidFill>
                <a:schemeClr val="dk1"/>
              </a:solidFill>
              <a:latin typeface="Raleway Medium"/>
              <a:ea typeface="Raleway Medium"/>
              <a:cs typeface="Raleway Medium"/>
              <a:sym typeface="Raleway Medium"/>
            </a:endParaRPr>
          </a:p>
        </p:txBody>
      </p:sp>
      <p:pic>
        <p:nvPicPr>
          <p:cNvPr id="185" name="Google Shape;185;p29">
            <a:hlinkClick r:id="rId3"/>
          </p:cNvPr>
          <p:cNvPicPr preferRelativeResize="0"/>
          <p:nvPr/>
        </p:nvPicPr>
        <p:blipFill rotWithShape="1">
          <a:blip r:embed="rId4">
            <a:alphaModFix/>
          </a:blip>
          <a:srcRect b="6483" l="0" r="0" t="1815"/>
          <a:stretch/>
        </p:blipFill>
        <p:spPr>
          <a:xfrm>
            <a:off x="5486400" y="1280150"/>
            <a:ext cx="3017524" cy="3368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pic>
        <p:nvPicPr>
          <p:cNvPr id="192" name="Google Shape;192;p30"/>
          <p:cNvPicPr preferRelativeResize="0"/>
          <p:nvPr/>
        </p:nvPicPr>
        <p:blipFill>
          <a:blip r:embed="rId3">
            <a:alphaModFix/>
          </a:blip>
          <a:stretch>
            <a:fillRect/>
          </a:stretch>
        </p:blipFill>
        <p:spPr>
          <a:xfrm>
            <a:off x="1810988" y="782776"/>
            <a:ext cx="5522026" cy="4094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8" name="Google Shape;198;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199" name="Google Shape;199;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Prototipe dan interaksi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merefleksikan bagaimana pengguna dapat berinteraksi dengan desain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dapat membuat </a:t>
            </a:r>
            <a:r>
              <a:rPr b="1" lang="en" sz="1200">
                <a:solidFill>
                  <a:schemeClr val="dk1"/>
                </a:solidFill>
                <a:latin typeface="Raleway"/>
                <a:ea typeface="Raleway"/>
                <a:cs typeface="Raleway"/>
                <a:sym typeface="Raleway"/>
              </a:rPr>
              <a:t>koneksi</a:t>
            </a:r>
            <a:r>
              <a:rPr lang="en" sz="1200">
                <a:solidFill>
                  <a:schemeClr val="dk1"/>
                </a:solidFill>
                <a:latin typeface="Raleway Medium"/>
                <a:ea typeface="Raleway Medium"/>
                <a:cs typeface="Raleway Medium"/>
                <a:sym typeface="Raleway Medium"/>
              </a:rPr>
              <a:t> antar frame untuk membuat aliran, atau jalur, untuk desain yang interaktif.</a:t>
            </a:r>
            <a:endParaRPr sz="1200">
              <a:solidFill>
                <a:schemeClr val="dk1"/>
              </a:solidFill>
              <a:latin typeface="Raleway Medium"/>
              <a:ea typeface="Raleway Medium"/>
              <a:cs typeface="Raleway Medium"/>
              <a:sym typeface="Raleway Medium"/>
            </a:endParaRPr>
          </a:p>
        </p:txBody>
      </p:sp>
      <p:pic>
        <p:nvPicPr>
          <p:cNvPr id="200" name="Google Shape;200;p31">
            <a:hlinkClick r:id="rId3"/>
          </p:cNvPr>
          <p:cNvPicPr preferRelativeResize="0"/>
          <p:nvPr/>
        </p:nvPicPr>
        <p:blipFill rotWithShape="1">
          <a:blip r:embed="rId4">
            <a:alphaModFix/>
          </a:blip>
          <a:srcRect b="0" l="15074" r="15074" t="0"/>
          <a:stretch/>
        </p:blipFill>
        <p:spPr>
          <a:xfrm>
            <a:off x="5486400" y="1280150"/>
            <a:ext cx="3017525" cy="27432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207" name="Google Shape;207;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Koneksi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Sebuah koneksi terdiri dari tiga bagian: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Hotspot: tempat berlangsungnya interaksi pengguna.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Hotspot dapat berupa frame itu sendiri, atau objek di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dalam frame. Anda dapat membuat hotspot pada apa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saja, seperti tombol, ikon, atau heading.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Connection: tanda panah yang menghubungkan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hotspot dengan tujuan. Baik tipe interaksi dan animasi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ditentukan melalui koneksi.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Tujuan: langkah selanjutnya dalam prototipe kita di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mana koneksi berakhir.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08" name="Google Shape;208;p32">
            <a:hlinkClick r:id="rId3"/>
          </p:cNvPr>
          <p:cNvPicPr preferRelativeResize="0"/>
          <p:nvPr/>
        </p:nvPicPr>
        <p:blipFill rotWithShape="1">
          <a:blip r:embed="rId4">
            <a:alphaModFix/>
          </a:blip>
          <a:srcRect b="0" l="10443" r="10443" t="0"/>
          <a:stretch/>
        </p:blipFill>
        <p:spPr>
          <a:xfrm>
            <a:off x="5486400" y="1280150"/>
            <a:ext cx="3017524" cy="27431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215" name="Google Shape;215;p3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Membuat koneksi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Buka tab Prototipe di bilah sisi kanan.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Pilih layer atau objek untuk hotspot koneksi.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contoh di samping, hotspot ada di </a:t>
            </a:r>
            <a:r>
              <a:rPr i="1" lang="en" sz="1200">
                <a:solidFill>
                  <a:schemeClr val="dk1"/>
                </a:solidFill>
                <a:latin typeface="Raleway Medium"/>
                <a:ea typeface="Raleway Medium"/>
                <a:cs typeface="Raleway Medium"/>
                <a:sym typeface="Raleway Medium"/>
              </a:rPr>
              <a:t>frame</a:t>
            </a:r>
            <a:r>
              <a:rPr lang="en" sz="1200">
                <a:solidFill>
                  <a:schemeClr val="dk1"/>
                </a:solidFill>
                <a:latin typeface="Raleway Medium"/>
                <a:ea typeface="Raleway Medium"/>
                <a:cs typeface="Raleway Medium"/>
                <a:sym typeface="Raleway Medium"/>
              </a:rPr>
              <a:t> sebelah kiri. Connection membawa kita ke tujuan, yaitu </a:t>
            </a:r>
            <a:r>
              <a:rPr i="1" lang="en" sz="1200">
                <a:solidFill>
                  <a:schemeClr val="dk1"/>
                </a:solidFill>
                <a:latin typeface="Raleway Medium"/>
                <a:ea typeface="Raleway Medium"/>
                <a:cs typeface="Raleway Medium"/>
                <a:sym typeface="Raleway Medium"/>
              </a:rPr>
              <a:t>frame</a:t>
            </a:r>
            <a:r>
              <a:rPr lang="en" sz="1200">
                <a:solidFill>
                  <a:schemeClr val="dk1"/>
                </a:solidFill>
                <a:latin typeface="Raleway Medium"/>
                <a:ea typeface="Raleway Medium"/>
                <a:cs typeface="Raleway Medium"/>
                <a:sym typeface="Raleway Medium"/>
              </a:rPr>
              <a:t> di sebelah kanan.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16" name="Google Shape;216;p33">
            <a:hlinkClick r:id="rId3"/>
          </p:cNvPr>
          <p:cNvPicPr preferRelativeResize="0"/>
          <p:nvPr/>
        </p:nvPicPr>
        <p:blipFill rotWithShape="1">
          <a:blip r:embed="rId4">
            <a:alphaModFix/>
          </a:blip>
          <a:srcRect b="0" l="10443" r="10443" t="0"/>
          <a:stretch/>
        </p:blipFill>
        <p:spPr>
          <a:xfrm>
            <a:off x="5486400" y="1280150"/>
            <a:ext cx="3017524" cy="27431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223" name="Google Shape;223;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Membuat interaksi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membuat koneksi, Anda dapat menentukan jenis interaksi yang dapat dirasakan pengguna dengan koneksi tersebut. Anda dapat membuat beberapa interaksi dari lapisan atau objek yang sama.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Gunakan panel Interaction Details untuk menyesuaikan trigger, action, and destination (tujuan).</a:t>
            </a:r>
            <a:endParaRPr sz="1200">
              <a:solidFill>
                <a:schemeClr val="dk1"/>
              </a:solidFill>
              <a:latin typeface="Raleway Medium"/>
              <a:ea typeface="Raleway Medium"/>
              <a:cs typeface="Raleway Medium"/>
              <a:sym typeface="Raleway Medium"/>
            </a:endParaRPr>
          </a:p>
        </p:txBody>
      </p:sp>
      <p:pic>
        <p:nvPicPr>
          <p:cNvPr id="224" name="Google Shape;224;p34">
            <a:hlinkClick r:id="rId3"/>
          </p:cNvPr>
          <p:cNvPicPr preferRelativeResize="0"/>
          <p:nvPr/>
        </p:nvPicPr>
        <p:blipFill rotWithShape="1">
          <a:blip r:embed="rId4">
            <a:alphaModFix/>
          </a:blip>
          <a:srcRect b="23047" l="52260" r="0" t="0"/>
          <a:stretch/>
        </p:blipFill>
        <p:spPr>
          <a:xfrm>
            <a:off x="5486400" y="1280150"/>
            <a:ext cx="3017523" cy="274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231" name="Google Shape;231;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Triggers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Trigger atau pemicu</a:t>
            </a:r>
            <a:r>
              <a:rPr lang="en" sz="1200">
                <a:solidFill>
                  <a:schemeClr val="dk1"/>
                </a:solidFill>
                <a:latin typeface="Raleway Medium"/>
                <a:ea typeface="Raleway Medium"/>
                <a:cs typeface="Raleway Medium"/>
                <a:sym typeface="Raleway Medium"/>
              </a:rPr>
              <a:t> menentukan jenis interaksi apa yang akan menyebabkan prototipe bergerak maju.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Triggers bisa berupa klik mouse, gerakan sentuh, atau waktu yang berlalu dalam </a:t>
            </a:r>
            <a:r>
              <a:rPr i="1" lang="en" sz="1200">
                <a:solidFill>
                  <a:schemeClr val="dk1"/>
                </a:solidFill>
                <a:latin typeface="Raleway Medium"/>
                <a:ea typeface="Raleway Medium"/>
                <a:cs typeface="Raleway Medium"/>
                <a:sym typeface="Raleway Medium"/>
              </a:rPr>
              <a:t>frame</a:t>
            </a:r>
            <a:r>
              <a:rPr lang="en" sz="1200">
                <a:solidFill>
                  <a:schemeClr val="dk1"/>
                </a:solidFill>
                <a:latin typeface="Raleway Medium"/>
                <a:ea typeface="Raleway Medium"/>
                <a:cs typeface="Raleway Medium"/>
                <a:sym typeface="Raleway Medium"/>
              </a:rPr>
              <a:t> yang sedang di </a:t>
            </a:r>
            <a:r>
              <a:rPr i="1" lang="en" sz="1200">
                <a:solidFill>
                  <a:schemeClr val="dk1"/>
                </a:solidFill>
                <a:latin typeface="Raleway Medium"/>
                <a:ea typeface="Raleway Medium"/>
                <a:cs typeface="Raleway Medium"/>
                <a:sym typeface="Raleway Medium"/>
              </a:rPr>
              <a:t>preview</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p:txBody>
      </p:sp>
      <p:pic>
        <p:nvPicPr>
          <p:cNvPr id="232" name="Google Shape;232;p35">
            <a:hlinkClick r:id="rId3"/>
          </p:cNvPr>
          <p:cNvPicPr preferRelativeResize="0"/>
          <p:nvPr/>
        </p:nvPicPr>
        <p:blipFill rotWithShape="1">
          <a:blip r:embed="rId4">
            <a:alphaModFix/>
          </a:blip>
          <a:srcRect b="661" l="0" r="0" t="670"/>
          <a:stretch/>
        </p:blipFill>
        <p:spPr>
          <a:xfrm>
            <a:off x="5486400" y="1280150"/>
            <a:ext cx="3017523" cy="2743198"/>
          </a:xfrm>
          <a:prstGeom prst="rect">
            <a:avLst/>
          </a:prstGeom>
          <a:noFill/>
          <a:ln>
            <a:noFill/>
          </a:ln>
        </p:spPr>
      </p:pic>
      <p:sp>
        <p:nvSpPr>
          <p:cNvPr id="233" name="Google Shape;233;p35">
            <a:hlinkClick r:id="rId5"/>
          </p:cNvPr>
          <p:cNvSpPr/>
          <p:nvPr/>
        </p:nvSpPr>
        <p:spPr>
          <a:xfrm>
            <a:off x="6316000" y="1827566"/>
            <a:ext cx="1349400" cy="177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240" name="Google Shape;240;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Figma menyediakan 10 triggers yang berbeda: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On Click / On Tap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On Drag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While Hovering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While Pressing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Key[board]/Gamepad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Mouse Enter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7) Mouse Leave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8) Mouse Down / Touch Press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9) Mouse Up / Touch Release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10) After Delay</a:t>
            </a:r>
            <a:endParaRPr sz="1200">
              <a:solidFill>
                <a:schemeClr val="dk1"/>
              </a:solidFill>
              <a:latin typeface="Raleway Medium"/>
              <a:ea typeface="Raleway Medium"/>
              <a:cs typeface="Raleway Medium"/>
              <a:sym typeface="Raleway Medium"/>
            </a:endParaRPr>
          </a:p>
        </p:txBody>
      </p:sp>
      <p:pic>
        <p:nvPicPr>
          <p:cNvPr id="241" name="Google Shape;241;p36">
            <a:hlinkClick r:id="rId3"/>
          </p:cNvPr>
          <p:cNvPicPr preferRelativeResize="0"/>
          <p:nvPr/>
        </p:nvPicPr>
        <p:blipFill rotWithShape="1">
          <a:blip r:embed="rId4">
            <a:alphaModFix/>
          </a:blip>
          <a:srcRect b="661" l="0" r="0" t="670"/>
          <a:stretch/>
        </p:blipFill>
        <p:spPr>
          <a:xfrm>
            <a:off x="5486400" y="1280150"/>
            <a:ext cx="3017523" cy="2743198"/>
          </a:xfrm>
          <a:prstGeom prst="rect">
            <a:avLst/>
          </a:prstGeom>
          <a:noFill/>
          <a:ln>
            <a:noFill/>
          </a:ln>
        </p:spPr>
      </p:pic>
      <p:sp>
        <p:nvSpPr>
          <p:cNvPr id="242" name="Google Shape;242;p36">
            <a:hlinkClick r:id="rId5"/>
          </p:cNvPr>
          <p:cNvSpPr/>
          <p:nvPr/>
        </p:nvSpPr>
        <p:spPr>
          <a:xfrm>
            <a:off x="6316000" y="1827566"/>
            <a:ext cx="1349400" cy="177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8" name="Google Shape;248;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249" name="Google Shape;249;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Actions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Action atau tindakan</a:t>
            </a:r>
            <a:r>
              <a:rPr lang="en" sz="1200">
                <a:solidFill>
                  <a:schemeClr val="dk1"/>
                </a:solidFill>
                <a:latin typeface="Raleway Medium"/>
                <a:ea typeface="Raleway Medium"/>
                <a:cs typeface="Raleway Medium"/>
                <a:sym typeface="Raleway Medium"/>
              </a:rPr>
              <a:t> mendefinisikan apa yang terjadi ketika pengguna berinteraksi dengan hotspot.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Tindakan bisa berarti pindah ke bingkai lain, melakukan overlay, atau membuka tautan.</a:t>
            </a:r>
            <a:endParaRPr sz="1200">
              <a:solidFill>
                <a:schemeClr val="dk1"/>
              </a:solidFill>
              <a:latin typeface="Raleway Medium"/>
              <a:ea typeface="Raleway Medium"/>
              <a:cs typeface="Raleway Medium"/>
              <a:sym typeface="Raleway Medium"/>
            </a:endParaRPr>
          </a:p>
        </p:txBody>
      </p:sp>
      <p:pic>
        <p:nvPicPr>
          <p:cNvPr id="250" name="Google Shape;250;p37">
            <a:hlinkClick r:id="rId3"/>
          </p:cNvPr>
          <p:cNvPicPr preferRelativeResize="0"/>
          <p:nvPr/>
        </p:nvPicPr>
        <p:blipFill rotWithShape="1">
          <a:blip r:embed="rId4">
            <a:alphaModFix/>
          </a:blip>
          <a:srcRect b="661" l="0" r="0" t="670"/>
          <a:stretch/>
        </p:blipFill>
        <p:spPr>
          <a:xfrm>
            <a:off x="5486400" y="1280150"/>
            <a:ext cx="3017523" cy="2743198"/>
          </a:xfrm>
          <a:prstGeom prst="rect">
            <a:avLst/>
          </a:prstGeom>
          <a:noFill/>
          <a:ln>
            <a:noFill/>
          </a:ln>
        </p:spPr>
      </p:pic>
      <p:sp>
        <p:nvSpPr>
          <p:cNvPr id="251" name="Google Shape;251;p37">
            <a:hlinkClick r:id="rId5"/>
          </p:cNvPr>
          <p:cNvSpPr/>
          <p:nvPr/>
        </p:nvSpPr>
        <p:spPr>
          <a:xfrm>
            <a:off x="6316000" y="2013150"/>
            <a:ext cx="1349400" cy="177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258" name="Google Shape;258;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Figma menyediakan 7 actions yang berbeda: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Navigate to</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Open overlay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Scroll to</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Swap with (overlay)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Back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Close overlay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7) Open URL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59" name="Google Shape;259;p38">
            <a:hlinkClick r:id="rId3"/>
          </p:cNvPr>
          <p:cNvPicPr preferRelativeResize="0"/>
          <p:nvPr/>
        </p:nvPicPr>
        <p:blipFill rotWithShape="1">
          <a:blip r:embed="rId4">
            <a:alphaModFix/>
          </a:blip>
          <a:srcRect b="661" l="0" r="0" t="670"/>
          <a:stretch/>
        </p:blipFill>
        <p:spPr>
          <a:xfrm>
            <a:off x="5486400" y="1280150"/>
            <a:ext cx="3017523" cy="2743198"/>
          </a:xfrm>
          <a:prstGeom prst="rect">
            <a:avLst/>
          </a:prstGeom>
          <a:noFill/>
          <a:ln>
            <a:noFill/>
          </a:ln>
        </p:spPr>
      </p:pic>
      <p:sp>
        <p:nvSpPr>
          <p:cNvPr id="260" name="Google Shape;260;p38">
            <a:hlinkClick r:id="rId5"/>
          </p:cNvPr>
          <p:cNvSpPr/>
          <p:nvPr/>
        </p:nvSpPr>
        <p:spPr>
          <a:xfrm>
            <a:off x="6316000" y="2013150"/>
            <a:ext cx="1349400" cy="177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Mengenal interaksi</a:t>
            </a:r>
            <a:endParaRPr/>
          </a:p>
        </p:txBody>
      </p:sp>
      <p:sp>
        <p:nvSpPr>
          <p:cNvPr id="267" name="Google Shape;267;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Animations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Pengaturan Animasi menentukan bagaimana prototipe bergerak dari satu Frame ke Frame lainnya.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Pilih jenis Transisi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Pilih Arah dari mana animasi akan datang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Sesuaikan easing animasi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Atur durasi animasi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Putuskan apakah akan Smart Animate layer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Lihat pratinjau (Preview) animasi</a:t>
            </a:r>
            <a:endParaRPr sz="1200">
              <a:solidFill>
                <a:schemeClr val="dk1"/>
              </a:solidFill>
              <a:latin typeface="Raleway Medium"/>
              <a:ea typeface="Raleway Medium"/>
              <a:cs typeface="Raleway Medium"/>
              <a:sym typeface="Raleway Medium"/>
            </a:endParaRPr>
          </a:p>
        </p:txBody>
      </p:sp>
      <p:pic>
        <p:nvPicPr>
          <p:cNvPr id="268" name="Google Shape;268;p39">
            <a:hlinkClick r:id="rId3"/>
          </p:cNvPr>
          <p:cNvPicPr preferRelativeResize="0"/>
          <p:nvPr/>
        </p:nvPicPr>
        <p:blipFill rotWithShape="1">
          <a:blip r:embed="rId4">
            <a:alphaModFix/>
          </a:blip>
          <a:srcRect b="661" l="0" r="0" t="670"/>
          <a:stretch/>
        </p:blipFill>
        <p:spPr>
          <a:xfrm>
            <a:off x="5486400" y="1280150"/>
            <a:ext cx="3017523" cy="274319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Responsive Design</a:t>
            </a:r>
            <a:endParaRPr/>
          </a:p>
        </p:txBody>
      </p:sp>
      <p:sp>
        <p:nvSpPr>
          <p:cNvPr id="274" name="Google Shape;274;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Responsive design</a:t>
            </a:r>
            <a:endParaRPr/>
          </a:p>
        </p:txBody>
      </p:sp>
      <p:sp>
        <p:nvSpPr>
          <p:cNvPr id="281" name="Google Shape;281;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Responsive design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awal 2010-an, desainer mulai merasakan fenomena dimana lebih banyak pengguna mulai mengakses materi web di perangkat genggam daripada di desktop.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dua pendekatan yang bisa menanggulangi fenomena tersebut: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Desainer dapat membuat beberapa versi dari satu desain dan membuat masing-masing memiliki dimensi tetap (pendekatan yang disebut </a:t>
            </a:r>
            <a:r>
              <a:rPr b="1" lang="en" sz="1200">
                <a:solidFill>
                  <a:schemeClr val="dk1"/>
                </a:solidFill>
                <a:latin typeface="Raleway"/>
                <a:ea typeface="Raleway"/>
                <a:cs typeface="Raleway"/>
                <a:sym typeface="Raleway"/>
              </a:rPr>
              <a:t>desain adaptif</a:t>
            </a:r>
            <a:r>
              <a:rPr lang="en" sz="1200">
                <a:solidFill>
                  <a:schemeClr val="dk1"/>
                </a:solidFill>
                <a:latin typeface="Raleway Medium"/>
                <a:ea typeface="Raleway Medium"/>
                <a:cs typeface="Raleway Medium"/>
                <a:sym typeface="Raleway Medium"/>
              </a:rPr>
              <a:t>).</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Desainer dapat mengerjakan satu desain fleksibel yang akan meregang atau menyusut agar sesuai dengan layar (</a:t>
            </a:r>
            <a:r>
              <a:rPr b="1" lang="en" sz="1200">
                <a:solidFill>
                  <a:schemeClr val="dk1"/>
                </a:solidFill>
                <a:latin typeface="Raleway"/>
                <a:ea typeface="Raleway"/>
                <a:cs typeface="Raleway"/>
                <a:sym typeface="Raleway"/>
              </a:rPr>
              <a:t>desain responsif</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p:txBody>
      </p:sp>
      <p:pic>
        <p:nvPicPr>
          <p:cNvPr id="282" name="Google Shape;282;p41">
            <a:hlinkClick r:id="rId3"/>
          </p:cNvPr>
          <p:cNvPicPr preferRelativeResize="0"/>
          <p:nvPr/>
        </p:nvPicPr>
        <p:blipFill rotWithShape="1">
          <a:blip r:embed="rId4">
            <a:alphaModFix/>
          </a:blip>
          <a:srcRect b="-16918" l="10215" r="16449" t="-16932"/>
          <a:stretch/>
        </p:blipFill>
        <p:spPr>
          <a:xfrm>
            <a:off x="5486400" y="1280150"/>
            <a:ext cx="3017524" cy="2743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Responsive design</a:t>
            </a:r>
            <a:endParaRPr/>
          </a:p>
        </p:txBody>
      </p:sp>
      <p:pic>
        <p:nvPicPr>
          <p:cNvPr id="289" name="Google Shape;289;p42"/>
          <p:cNvPicPr preferRelativeResize="0"/>
          <p:nvPr/>
        </p:nvPicPr>
        <p:blipFill rotWithShape="1">
          <a:blip r:embed="rId3">
            <a:alphaModFix/>
          </a:blip>
          <a:srcRect b="5004" l="0" r="0" t="19733"/>
          <a:stretch/>
        </p:blipFill>
        <p:spPr>
          <a:xfrm>
            <a:off x="1264550" y="990600"/>
            <a:ext cx="6614901" cy="3733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Responsive design</a:t>
            </a:r>
            <a:endParaRPr/>
          </a:p>
        </p:txBody>
      </p:sp>
      <p:pic>
        <p:nvPicPr>
          <p:cNvPr id="296" name="Google Shape;296;p43"/>
          <p:cNvPicPr preferRelativeResize="0"/>
          <p:nvPr/>
        </p:nvPicPr>
        <p:blipFill rotWithShape="1">
          <a:blip r:embed="rId3">
            <a:alphaModFix/>
          </a:blip>
          <a:srcRect b="12365" l="0" r="0" t="12372"/>
          <a:stretch/>
        </p:blipFill>
        <p:spPr>
          <a:xfrm>
            <a:off x="1264550" y="990600"/>
            <a:ext cx="6614900" cy="3733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2" name="Google Shape;302;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Responsive design</a:t>
            </a:r>
            <a:endParaRPr/>
          </a:p>
        </p:txBody>
      </p:sp>
      <p:sp>
        <p:nvSpPr>
          <p:cNvPr id="303" name="Google Shape;303;p4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Desain responsif tidak sempurna.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Namun, ia memiliki keuntungan yang signifikan dan daya tariknya telah berkembang dengan pesat. Banyak template desain responsif gratis yang Anda bisa temukan di Internet.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Desain responsif memiliki tiga prinsip inti.</a:t>
            </a:r>
            <a:endParaRPr sz="1200">
              <a:solidFill>
                <a:schemeClr val="dk1"/>
              </a:solidFill>
              <a:latin typeface="Raleway Medium"/>
              <a:ea typeface="Raleway Medium"/>
              <a:cs typeface="Raleway Medium"/>
              <a:sym typeface="Raleway Medium"/>
            </a:endParaRPr>
          </a:p>
        </p:txBody>
      </p:sp>
      <p:pic>
        <p:nvPicPr>
          <p:cNvPr id="304" name="Google Shape;304;p44">
            <a:hlinkClick r:id="rId3"/>
          </p:cNvPr>
          <p:cNvPicPr preferRelativeResize="0"/>
          <p:nvPr/>
        </p:nvPicPr>
        <p:blipFill rotWithShape="1">
          <a:blip r:embed="rId4">
            <a:alphaModFix/>
          </a:blip>
          <a:srcRect b="-16918" l="10215" r="16449" t="-16932"/>
          <a:stretch/>
        </p:blipFill>
        <p:spPr>
          <a:xfrm>
            <a:off x="5486400" y="1280150"/>
            <a:ext cx="3017524" cy="2743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0" name="Google Shape;310;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Responsive design</a:t>
            </a:r>
            <a:endParaRPr/>
          </a:p>
        </p:txBody>
      </p:sp>
      <p:grpSp>
        <p:nvGrpSpPr>
          <p:cNvPr id="311" name="Google Shape;311;p45"/>
          <p:cNvGrpSpPr/>
          <p:nvPr/>
        </p:nvGrpSpPr>
        <p:grpSpPr>
          <a:xfrm>
            <a:off x="762048" y="1099532"/>
            <a:ext cx="2390497" cy="3474780"/>
            <a:chOff x="1126863" y="2051662"/>
            <a:chExt cx="1944600" cy="1569600"/>
          </a:xfrm>
        </p:grpSpPr>
        <p:sp>
          <p:nvSpPr>
            <p:cNvPr id="312" name="Google Shape;312;p45"/>
            <p:cNvSpPr/>
            <p:nvPr/>
          </p:nvSpPr>
          <p:spPr>
            <a:xfrm>
              <a:off x="1126863" y="2051662"/>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313" name="Google Shape;313;p45"/>
            <p:cNvSpPr txBox="1"/>
            <p:nvPr/>
          </p:nvSpPr>
          <p:spPr>
            <a:xfrm>
              <a:off x="1351627" y="2124400"/>
              <a:ext cx="1451700" cy="15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Fluid Grid System</a:t>
              </a:r>
              <a:endParaRPr sz="1100">
                <a:solidFill>
                  <a:srgbClr val="FFFFFF"/>
                </a:solidFill>
                <a:latin typeface="Raleway"/>
                <a:ea typeface="Raleway"/>
                <a:cs typeface="Raleway"/>
                <a:sym typeface="Raleway"/>
              </a:endParaRPr>
            </a:p>
          </p:txBody>
        </p:sp>
        <p:sp>
          <p:nvSpPr>
            <p:cNvPr id="314" name="Google Shape;314;p45"/>
            <p:cNvSpPr txBox="1"/>
            <p:nvPr/>
          </p:nvSpPr>
          <p:spPr>
            <a:xfrm>
              <a:off x="1351625" y="2279059"/>
              <a:ext cx="1451700" cy="108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rgbClr val="FFFFFF"/>
                  </a:solidFill>
                  <a:latin typeface="Raleway"/>
                  <a:ea typeface="Raleway"/>
                  <a:cs typeface="Raleway"/>
                  <a:sym typeface="Raleway"/>
                </a:rPr>
                <a:t>Elemen menempati persentase ruang yang sama betapapun besar atau kecilnya layar. </a:t>
              </a:r>
              <a:endParaRPr sz="105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50">
                  <a:solidFill>
                    <a:srgbClr val="FFFFFF"/>
                  </a:solidFill>
                  <a:latin typeface="Raleway"/>
                  <a:ea typeface="Raleway"/>
                  <a:cs typeface="Raleway"/>
                  <a:sym typeface="Raleway"/>
                </a:rPr>
                <a:t>Ini berarti Anda memilih di mana piksel akan muncul dan menentukan ukuran layout sehingga elemen akan naik atau turun dengan cara yang tetap. </a:t>
              </a:r>
              <a:endParaRPr sz="1050">
                <a:solidFill>
                  <a:srgbClr val="FFFFFF"/>
                </a:solidFill>
                <a:latin typeface="Raleway"/>
                <a:ea typeface="Raleway"/>
                <a:cs typeface="Raleway"/>
                <a:sym typeface="Raleway"/>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Responsive design</a:t>
            </a:r>
            <a:endParaRPr/>
          </a:p>
        </p:txBody>
      </p:sp>
      <p:grpSp>
        <p:nvGrpSpPr>
          <p:cNvPr id="321" name="Google Shape;321;p46"/>
          <p:cNvGrpSpPr/>
          <p:nvPr/>
        </p:nvGrpSpPr>
        <p:grpSpPr>
          <a:xfrm>
            <a:off x="3150083" y="1099646"/>
            <a:ext cx="2183980" cy="3474780"/>
            <a:chOff x="3071457" y="2013875"/>
            <a:chExt cx="1944600" cy="1569600"/>
          </a:xfrm>
        </p:grpSpPr>
        <p:sp>
          <p:nvSpPr>
            <p:cNvPr id="322" name="Google Shape;322;p46"/>
            <p:cNvSpPr/>
            <p:nvPr/>
          </p:nvSpPr>
          <p:spPr>
            <a:xfrm flipH="1" rot="10800000">
              <a:off x="3071457" y="2013875"/>
              <a:ext cx="1944600" cy="1569600"/>
            </a:xfrm>
            <a:prstGeom prst="round2DiagRect">
              <a:avLst>
                <a:gd fmla="val 0" name="adj1"/>
                <a:gd fmla="val 17764" name="adj2"/>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323" name="Google Shape;323;p46"/>
            <p:cNvSpPr txBox="1"/>
            <p:nvPr/>
          </p:nvSpPr>
          <p:spPr>
            <a:xfrm>
              <a:off x="3316102" y="2088360"/>
              <a:ext cx="1451700" cy="1599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Fluid Image Use</a:t>
              </a:r>
              <a:endParaRPr b="1" sz="1100">
                <a:solidFill>
                  <a:srgbClr val="FFFFFF"/>
                </a:solidFill>
                <a:latin typeface="Raleway"/>
                <a:ea typeface="Raleway"/>
                <a:cs typeface="Raleway"/>
                <a:sym typeface="Raleway"/>
              </a:endParaRPr>
            </a:p>
          </p:txBody>
        </p:sp>
        <p:sp>
          <p:nvSpPr>
            <p:cNvPr id="324" name="Google Shape;324;p46"/>
            <p:cNvSpPr txBox="1"/>
            <p:nvPr/>
          </p:nvSpPr>
          <p:spPr>
            <a:xfrm>
              <a:off x="3316100" y="2244863"/>
              <a:ext cx="1451700" cy="12852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rgbClr val="FFFFFF"/>
                  </a:solidFill>
                  <a:latin typeface="Raleway"/>
                  <a:ea typeface="Raleway"/>
                  <a:cs typeface="Raleway"/>
                  <a:sym typeface="Raleway"/>
                </a:rPr>
                <a:t>Tidak seperti teks, gambar tidak cair secara alami. Mereka default ke ukuran dan konfigurasi yang sama dari satu layar perangkat ke layar berikutnya. </a:t>
              </a:r>
              <a:endParaRPr sz="100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00">
                  <a:solidFill>
                    <a:srgbClr val="FFFFFF"/>
                  </a:solidFill>
                  <a:latin typeface="Raleway"/>
                  <a:ea typeface="Raleway"/>
                  <a:cs typeface="Raleway"/>
                  <a:sym typeface="Raleway"/>
                </a:rPr>
                <a:t>Jadi, Anda perlu menerapkan perintah CSS—: img {max-width: 100%;}—untuk memastikan gambar menyusut untuk layar yang lebih kecil.</a:t>
              </a:r>
              <a:endParaRPr sz="1000">
                <a:solidFill>
                  <a:srgbClr val="FFFFFF"/>
                </a:solidFill>
                <a:latin typeface="Raleway"/>
                <a:ea typeface="Raleway"/>
                <a:cs typeface="Raleway"/>
                <a:sym typeface="Raleway"/>
              </a:endParaRPr>
            </a:p>
          </p:txBody>
        </p:sp>
      </p:grpSp>
      <p:grpSp>
        <p:nvGrpSpPr>
          <p:cNvPr id="325" name="Google Shape;325;p46"/>
          <p:cNvGrpSpPr/>
          <p:nvPr/>
        </p:nvGrpSpPr>
        <p:grpSpPr>
          <a:xfrm>
            <a:off x="762048" y="1099532"/>
            <a:ext cx="2390497" cy="3474780"/>
            <a:chOff x="1126863" y="2051662"/>
            <a:chExt cx="1944600" cy="1569600"/>
          </a:xfrm>
        </p:grpSpPr>
        <p:sp>
          <p:nvSpPr>
            <p:cNvPr id="326" name="Google Shape;326;p46"/>
            <p:cNvSpPr/>
            <p:nvPr/>
          </p:nvSpPr>
          <p:spPr>
            <a:xfrm>
              <a:off x="1126863" y="2051662"/>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327" name="Google Shape;327;p46"/>
            <p:cNvSpPr txBox="1"/>
            <p:nvPr/>
          </p:nvSpPr>
          <p:spPr>
            <a:xfrm>
              <a:off x="1351627" y="2124400"/>
              <a:ext cx="1451700" cy="15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Fluid Grid System</a:t>
              </a:r>
              <a:endParaRPr sz="1100">
                <a:solidFill>
                  <a:srgbClr val="FFFFFF"/>
                </a:solidFill>
                <a:latin typeface="Raleway"/>
                <a:ea typeface="Raleway"/>
                <a:cs typeface="Raleway"/>
                <a:sym typeface="Raleway"/>
              </a:endParaRPr>
            </a:p>
          </p:txBody>
        </p:sp>
        <p:sp>
          <p:nvSpPr>
            <p:cNvPr id="328" name="Google Shape;328;p46"/>
            <p:cNvSpPr txBox="1"/>
            <p:nvPr/>
          </p:nvSpPr>
          <p:spPr>
            <a:xfrm>
              <a:off x="1351625" y="2279059"/>
              <a:ext cx="1451700" cy="108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rgbClr val="FFFFFF"/>
                  </a:solidFill>
                  <a:latin typeface="Raleway"/>
                  <a:ea typeface="Raleway"/>
                  <a:cs typeface="Raleway"/>
                  <a:sym typeface="Raleway"/>
                </a:rPr>
                <a:t>Elemen menempati persentase ruang yang sama betapapun besar atau kecilnya layar. </a:t>
              </a:r>
              <a:endParaRPr sz="105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50">
                  <a:solidFill>
                    <a:srgbClr val="FFFFFF"/>
                  </a:solidFill>
                  <a:latin typeface="Raleway"/>
                  <a:ea typeface="Raleway"/>
                  <a:cs typeface="Raleway"/>
                  <a:sym typeface="Raleway"/>
                </a:rPr>
                <a:t>Ini berarti Anda memilih di mana piksel akan muncul dan menentukan ukuran layout sehingga elemen akan naik atau turun dengan cara yang tetap. </a:t>
              </a:r>
              <a:endParaRPr sz="1050">
                <a:solidFill>
                  <a:srgbClr val="FFFFFF"/>
                </a:solidFill>
                <a:latin typeface="Raleway"/>
                <a:ea typeface="Raleway"/>
                <a:cs typeface="Raleway"/>
                <a:sym typeface="Raleway"/>
              </a:endParaRPr>
            </a:p>
          </p:txBody>
        </p:sp>
      </p:grpSp>
      <p:sp>
        <p:nvSpPr>
          <p:cNvPr id="329" name="Google Shape;329;p46"/>
          <p:cNvSpPr/>
          <p:nvPr/>
        </p:nvSpPr>
        <p:spPr>
          <a:xfrm>
            <a:off x="3024478" y="1845248"/>
            <a:ext cx="260400" cy="282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330" name="Google Shape;330;p46"/>
          <p:cNvSpPr/>
          <p:nvPr/>
        </p:nvSpPr>
        <p:spPr>
          <a:xfrm>
            <a:off x="3029560" y="1941994"/>
            <a:ext cx="197700" cy="888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6" name="Google Shape;336;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Responsive design</a:t>
            </a:r>
            <a:endParaRPr/>
          </a:p>
        </p:txBody>
      </p:sp>
      <p:grpSp>
        <p:nvGrpSpPr>
          <p:cNvPr id="337" name="Google Shape;337;p47"/>
          <p:cNvGrpSpPr/>
          <p:nvPr/>
        </p:nvGrpSpPr>
        <p:grpSpPr>
          <a:xfrm>
            <a:off x="3150083" y="1099646"/>
            <a:ext cx="2183980" cy="3474780"/>
            <a:chOff x="3071457" y="2013875"/>
            <a:chExt cx="1944600" cy="1569600"/>
          </a:xfrm>
        </p:grpSpPr>
        <p:sp>
          <p:nvSpPr>
            <p:cNvPr id="338" name="Google Shape;338;p47"/>
            <p:cNvSpPr/>
            <p:nvPr/>
          </p:nvSpPr>
          <p:spPr>
            <a:xfrm flipH="1" rot="10800000">
              <a:off x="3071457" y="2013875"/>
              <a:ext cx="1944600" cy="1569600"/>
            </a:xfrm>
            <a:prstGeom prst="round2DiagRect">
              <a:avLst>
                <a:gd fmla="val 0" name="adj1"/>
                <a:gd fmla="val 17764" name="adj2"/>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339" name="Google Shape;339;p47"/>
            <p:cNvSpPr txBox="1"/>
            <p:nvPr/>
          </p:nvSpPr>
          <p:spPr>
            <a:xfrm>
              <a:off x="3316102" y="2088360"/>
              <a:ext cx="1451700" cy="1599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Fluid Image Use</a:t>
              </a:r>
              <a:endParaRPr b="1" sz="1100">
                <a:solidFill>
                  <a:srgbClr val="FFFFFF"/>
                </a:solidFill>
                <a:latin typeface="Raleway"/>
                <a:ea typeface="Raleway"/>
                <a:cs typeface="Raleway"/>
                <a:sym typeface="Raleway"/>
              </a:endParaRPr>
            </a:p>
          </p:txBody>
        </p:sp>
        <p:sp>
          <p:nvSpPr>
            <p:cNvPr id="340" name="Google Shape;340;p47"/>
            <p:cNvSpPr txBox="1"/>
            <p:nvPr/>
          </p:nvSpPr>
          <p:spPr>
            <a:xfrm>
              <a:off x="3316100" y="2244863"/>
              <a:ext cx="1451700" cy="1285200"/>
            </a:xfrm>
            <a:prstGeom prst="rect">
              <a:avLst/>
            </a:prstGeom>
            <a:solidFill>
              <a:srgbClr val="A667A5"/>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rgbClr val="FFFFFF"/>
                  </a:solidFill>
                  <a:latin typeface="Raleway"/>
                  <a:ea typeface="Raleway"/>
                  <a:cs typeface="Raleway"/>
                  <a:sym typeface="Raleway"/>
                </a:rPr>
                <a:t>Tidak seperti teks, gambar tidak cair secara alami. Mereka default ke ukuran dan konfigurasi yang sama dari satu layar perangkat ke layar berikutnya. </a:t>
              </a:r>
              <a:endParaRPr sz="100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00">
                  <a:solidFill>
                    <a:srgbClr val="FFFFFF"/>
                  </a:solidFill>
                  <a:latin typeface="Raleway"/>
                  <a:ea typeface="Raleway"/>
                  <a:cs typeface="Raleway"/>
                  <a:sym typeface="Raleway"/>
                </a:rPr>
                <a:t>Jadi, Anda perlu menerapkan perintah CSS—: img {max-width: 100%;}—untuk memastikan gambar menyusut untuk layar yang lebih kecil.</a:t>
              </a:r>
              <a:endParaRPr sz="1000">
                <a:solidFill>
                  <a:srgbClr val="FFFFFF"/>
                </a:solidFill>
                <a:latin typeface="Raleway"/>
                <a:ea typeface="Raleway"/>
                <a:cs typeface="Raleway"/>
                <a:sym typeface="Raleway"/>
              </a:endParaRPr>
            </a:p>
          </p:txBody>
        </p:sp>
      </p:grpSp>
      <p:grpSp>
        <p:nvGrpSpPr>
          <p:cNvPr id="341" name="Google Shape;341;p47"/>
          <p:cNvGrpSpPr/>
          <p:nvPr/>
        </p:nvGrpSpPr>
        <p:grpSpPr>
          <a:xfrm>
            <a:off x="762048" y="1099532"/>
            <a:ext cx="2390497" cy="3474780"/>
            <a:chOff x="1126863" y="2051662"/>
            <a:chExt cx="1944600" cy="1569600"/>
          </a:xfrm>
        </p:grpSpPr>
        <p:sp>
          <p:nvSpPr>
            <p:cNvPr id="342" name="Google Shape;342;p47"/>
            <p:cNvSpPr/>
            <p:nvPr/>
          </p:nvSpPr>
          <p:spPr>
            <a:xfrm>
              <a:off x="1126863" y="2051662"/>
              <a:ext cx="1944600" cy="1569600"/>
            </a:xfrm>
            <a:prstGeom prst="round2DiagRect">
              <a:avLst>
                <a:gd fmla="val 0" name="adj1"/>
                <a:gd fmla="val 17764" name="adj2"/>
              </a:avLst>
            </a:prstGeom>
            <a:solidFill>
              <a:srgbClr val="7436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343" name="Google Shape;343;p47"/>
            <p:cNvSpPr txBox="1"/>
            <p:nvPr/>
          </p:nvSpPr>
          <p:spPr>
            <a:xfrm>
              <a:off x="1351627" y="2124400"/>
              <a:ext cx="1451700" cy="15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Fluid Grid System</a:t>
              </a:r>
              <a:endParaRPr sz="1100">
                <a:solidFill>
                  <a:srgbClr val="FFFFFF"/>
                </a:solidFill>
                <a:latin typeface="Raleway"/>
                <a:ea typeface="Raleway"/>
                <a:cs typeface="Raleway"/>
                <a:sym typeface="Raleway"/>
              </a:endParaRPr>
            </a:p>
          </p:txBody>
        </p:sp>
        <p:sp>
          <p:nvSpPr>
            <p:cNvPr id="344" name="Google Shape;344;p47"/>
            <p:cNvSpPr txBox="1"/>
            <p:nvPr/>
          </p:nvSpPr>
          <p:spPr>
            <a:xfrm>
              <a:off x="1351625" y="2279059"/>
              <a:ext cx="1451700" cy="108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50">
                  <a:solidFill>
                    <a:srgbClr val="FFFFFF"/>
                  </a:solidFill>
                  <a:latin typeface="Raleway"/>
                  <a:ea typeface="Raleway"/>
                  <a:cs typeface="Raleway"/>
                  <a:sym typeface="Raleway"/>
                </a:rPr>
                <a:t>Elemen menempati persentase ruang yang sama betapapun besar atau kecilnya layar. </a:t>
              </a:r>
              <a:endParaRPr sz="105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50">
                  <a:solidFill>
                    <a:srgbClr val="FFFFFF"/>
                  </a:solidFill>
                  <a:latin typeface="Raleway"/>
                  <a:ea typeface="Raleway"/>
                  <a:cs typeface="Raleway"/>
                  <a:sym typeface="Raleway"/>
                </a:rPr>
                <a:t>Ini berarti Anda memilih di mana piksel akan muncul dan menentukan ukuran layout sehingga elemen akan naik atau turun dengan cara yang tetap. </a:t>
              </a:r>
              <a:endParaRPr sz="1050">
                <a:solidFill>
                  <a:srgbClr val="FFFFFF"/>
                </a:solidFill>
                <a:latin typeface="Raleway"/>
                <a:ea typeface="Raleway"/>
                <a:cs typeface="Raleway"/>
                <a:sym typeface="Raleway"/>
              </a:endParaRPr>
            </a:p>
          </p:txBody>
        </p:sp>
      </p:grpSp>
      <p:grpSp>
        <p:nvGrpSpPr>
          <p:cNvPr id="345" name="Google Shape;345;p47"/>
          <p:cNvGrpSpPr/>
          <p:nvPr/>
        </p:nvGrpSpPr>
        <p:grpSpPr>
          <a:xfrm>
            <a:off x="5326800" y="1099607"/>
            <a:ext cx="3001200" cy="3474780"/>
            <a:chOff x="5015938" y="2013875"/>
            <a:chExt cx="3001200" cy="1569600"/>
          </a:xfrm>
        </p:grpSpPr>
        <p:sp>
          <p:nvSpPr>
            <p:cNvPr id="346" name="Google Shape;346;p47"/>
            <p:cNvSpPr/>
            <p:nvPr/>
          </p:nvSpPr>
          <p:spPr>
            <a:xfrm>
              <a:off x="5015938" y="2013875"/>
              <a:ext cx="3001200" cy="1569600"/>
            </a:xfrm>
            <a:prstGeom prst="round2DiagRect">
              <a:avLst>
                <a:gd fmla="val 0" name="adj1"/>
                <a:gd fmla="val 17764" name="adj2"/>
              </a:avLst>
            </a:prstGeom>
            <a:solidFill>
              <a:srgbClr val="5E2B62">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p:txBody>
        </p:sp>
        <p:sp>
          <p:nvSpPr>
            <p:cNvPr id="347" name="Google Shape;347;p47"/>
            <p:cNvSpPr txBox="1"/>
            <p:nvPr/>
          </p:nvSpPr>
          <p:spPr>
            <a:xfrm>
              <a:off x="5360226" y="2088361"/>
              <a:ext cx="2417100" cy="15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FFFFFF"/>
                  </a:solidFill>
                  <a:latin typeface="Raleway"/>
                  <a:ea typeface="Raleway"/>
                  <a:cs typeface="Raleway"/>
                  <a:sym typeface="Raleway"/>
                </a:rPr>
                <a:t>Media Queries</a:t>
              </a:r>
              <a:endParaRPr b="1" sz="1100">
                <a:solidFill>
                  <a:srgbClr val="FFFFFF"/>
                </a:solidFill>
                <a:latin typeface="Raleway"/>
                <a:ea typeface="Raleway"/>
                <a:cs typeface="Raleway"/>
                <a:sym typeface="Raleway"/>
              </a:endParaRPr>
            </a:p>
          </p:txBody>
        </p:sp>
        <p:sp>
          <p:nvSpPr>
            <p:cNvPr id="348" name="Google Shape;348;p47"/>
            <p:cNvSpPr txBox="1"/>
            <p:nvPr/>
          </p:nvSpPr>
          <p:spPr>
            <a:xfrm>
              <a:off x="5360212" y="2244863"/>
              <a:ext cx="2492100" cy="5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FFFFFF"/>
                  </a:solidFill>
                  <a:latin typeface="Raleway"/>
                  <a:ea typeface="Raleway"/>
                  <a:cs typeface="Raleway"/>
                  <a:sym typeface="Raleway"/>
                </a:rPr>
                <a:t>Ini adalah filter yang Anda gunakan untuk mendeteksi dimensi perangkat dan membuat desain Anda muncul dengan tepat. </a:t>
              </a:r>
              <a:endParaRPr sz="1000">
                <a:solidFill>
                  <a:srgbClr val="FFFFFF"/>
                </a:solidFill>
                <a:latin typeface="Raleway"/>
                <a:ea typeface="Raleway"/>
                <a:cs typeface="Raleway"/>
                <a:sym typeface="Raleway"/>
              </a:endParaRPr>
            </a:p>
            <a:p>
              <a:pPr indent="0" lvl="0" marL="0" rtl="0" algn="l">
                <a:lnSpc>
                  <a:spcPct val="115000"/>
                </a:lnSpc>
                <a:spcBef>
                  <a:spcPts val="1600"/>
                </a:spcBef>
                <a:spcAft>
                  <a:spcPts val="1600"/>
                </a:spcAft>
                <a:buNone/>
              </a:pPr>
              <a:r>
                <a:rPr lang="en" sz="1000">
                  <a:solidFill>
                    <a:srgbClr val="FFFFFF"/>
                  </a:solidFill>
                  <a:latin typeface="Raleway"/>
                  <a:ea typeface="Raleway"/>
                  <a:cs typeface="Raleway"/>
                  <a:sym typeface="Raleway"/>
                </a:rPr>
                <a:t>Anda pretlu menentukan ukuran layar yang digunakan pengguna untuk melihat desain Anda. Jadi, berdasarkan lebar, tinggi, orientasi layar, dll., Anda dapat secara akurat menunjukkan bagaimana desain Anda akan di render untuk dilihat oleh pengguna yang berbeda.</a:t>
              </a:r>
              <a:endParaRPr sz="1000">
                <a:solidFill>
                  <a:srgbClr val="FFFFFF"/>
                </a:solidFill>
                <a:latin typeface="Raleway"/>
                <a:ea typeface="Raleway"/>
                <a:cs typeface="Raleway"/>
                <a:sym typeface="Raleway"/>
              </a:endParaRPr>
            </a:p>
          </p:txBody>
        </p:sp>
      </p:grpSp>
      <p:grpSp>
        <p:nvGrpSpPr>
          <p:cNvPr id="349" name="Google Shape;349;p47"/>
          <p:cNvGrpSpPr/>
          <p:nvPr/>
        </p:nvGrpSpPr>
        <p:grpSpPr>
          <a:xfrm>
            <a:off x="5196344" y="1845200"/>
            <a:ext cx="261571" cy="282492"/>
            <a:chOff x="4858109" y="2631368"/>
            <a:chExt cx="316442" cy="315000"/>
          </a:xfrm>
        </p:grpSpPr>
        <p:sp>
          <p:nvSpPr>
            <p:cNvPr id="350" name="Google Shape;350;p47"/>
            <p:cNvSpPr/>
            <p:nvPr/>
          </p:nvSpPr>
          <p:spPr>
            <a:xfrm>
              <a:off x="4859551" y="2631368"/>
              <a:ext cx="315000" cy="3150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351" name="Google Shape;351;p47"/>
            <p:cNvSpPr/>
            <p:nvPr/>
          </p:nvSpPr>
          <p:spPr>
            <a:xfrm>
              <a:off x="4858109" y="2739300"/>
              <a:ext cx="239100" cy="990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grpSp>
      <p:sp>
        <p:nvSpPr>
          <p:cNvPr id="352" name="Google Shape;352;p47"/>
          <p:cNvSpPr/>
          <p:nvPr/>
        </p:nvSpPr>
        <p:spPr>
          <a:xfrm>
            <a:off x="3024478" y="1845248"/>
            <a:ext cx="260400" cy="2826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353" name="Google Shape;353;p47"/>
          <p:cNvSpPr/>
          <p:nvPr/>
        </p:nvSpPr>
        <p:spPr>
          <a:xfrm>
            <a:off x="3029560" y="1941994"/>
            <a:ext cx="197700" cy="88800"/>
          </a:xfrm>
          <a:prstGeom prst="rightArrow">
            <a:avLst>
              <a:gd fmla="val 32020" name="adj1"/>
              <a:gd fmla="val 66970" name="adj2"/>
            </a:avLst>
          </a:prstGeom>
          <a:solidFill>
            <a:srgbClr val="73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br>
              <a:rPr lang="en">
                <a:latin typeface="Raleway"/>
                <a:ea typeface="Raleway"/>
                <a:cs typeface="Raleway"/>
                <a:sym typeface="Raleway"/>
              </a:rPr>
            </a:br>
            <a:endParaRPr>
              <a:latin typeface="Raleway"/>
              <a:ea typeface="Raleway"/>
              <a:cs typeface="Raleway"/>
              <a:sym typeface="Ralewa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Mempresentasikan</a:t>
            </a:r>
            <a:r>
              <a:rPr lang="en"/>
              <a:t> Design</a:t>
            </a:r>
            <a:endParaRPr/>
          </a:p>
        </p:txBody>
      </p:sp>
      <p:sp>
        <p:nvSpPr>
          <p:cNvPr id="359" name="Google Shape;359;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366" name="Google Shape;366;p4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Mempresentasikan desain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telah menyelesaikan desain Anda dan sekarang Anda diminta untuk mempresentasikannya kepada tim.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tidak sepenuhnya yakin bagaimana mempresentasikannya secara efektif. Apa yang perlu Anda kerjakan?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hal yang perlu kita pertimbangkan saat kita ingin mempresentasikan desain kita secara efektif.</a:t>
            </a:r>
            <a:endParaRPr sz="1200">
              <a:solidFill>
                <a:schemeClr val="dk1"/>
              </a:solidFill>
              <a:latin typeface="Raleway Medium"/>
              <a:ea typeface="Raleway Medium"/>
              <a:cs typeface="Raleway Medium"/>
              <a:sym typeface="Raleway Medium"/>
            </a:endParaRPr>
          </a:p>
        </p:txBody>
      </p:sp>
      <p:pic>
        <p:nvPicPr>
          <p:cNvPr id="367" name="Google Shape;367;p49">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374" name="Google Shape;374;p5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Ketahui audiens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Mengingat bahwa desain bersifat iteratif dan merupakan bagian dari siklus berkelanjutan yang melibatkan anggota tim, </a:t>
            </a:r>
            <a:r>
              <a:rPr i="1" lang="en" sz="1200">
                <a:solidFill>
                  <a:schemeClr val="dk1"/>
                </a:solidFill>
                <a:latin typeface="Raleway Medium"/>
                <a:ea typeface="Raleway Medium"/>
                <a:cs typeface="Raleway Medium"/>
                <a:sym typeface="Raleway Medium"/>
              </a:rPr>
              <a:t>stakeholders</a:t>
            </a:r>
            <a:r>
              <a:rPr lang="en" sz="1200">
                <a:solidFill>
                  <a:schemeClr val="dk1"/>
                </a:solidFill>
                <a:latin typeface="Raleway Medium"/>
                <a:ea typeface="Raleway Medium"/>
                <a:cs typeface="Raleway Medium"/>
                <a:sym typeface="Raleway Medium"/>
              </a:rPr>
              <a:t>, dan pengguna, komunikasi dan kolaborasi merupakan komponen penting dari proses ini.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Memahami audiens Anda adalah langkah pertama dalam menyampaikan presentasi yang efektif, yang meningkatkan peluang Anda untuk mendapatkan dukungan dari para pemangku kepentingan atau </a:t>
            </a:r>
            <a:r>
              <a:rPr i="1" lang="en" sz="1200">
                <a:solidFill>
                  <a:schemeClr val="dk1"/>
                </a:solidFill>
                <a:latin typeface="Raleway Medium"/>
                <a:ea typeface="Raleway Medium"/>
                <a:cs typeface="Raleway Medium"/>
                <a:sym typeface="Raleway Medium"/>
              </a:rPr>
              <a:t>stakeholders</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p:txBody>
      </p:sp>
      <p:pic>
        <p:nvPicPr>
          <p:cNvPr id="375" name="Google Shape;375;p50">
            <a:hlinkClick r:id="rId3"/>
          </p:cNvPr>
          <p:cNvPicPr preferRelativeResize="0"/>
          <p:nvPr/>
        </p:nvPicPr>
        <p:blipFill rotWithShape="1">
          <a:blip r:embed="rId4">
            <a:alphaModFix/>
          </a:blip>
          <a:srcRect b="0" l="21532" r="21532" t="0"/>
          <a:stretch/>
        </p:blipFill>
        <p:spPr>
          <a:xfrm>
            <a:off x="5486400" y="1280150"/>
            <a:ext cx="3017523" cy="2743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1" name="Google Shape;381;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382" name="Google Shape;382;p5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menyampaikan presentasi yang efektif, Anda perlu mempertimbangkan beberapa pertanyaan untuk menyiapkan diri: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Kepada siapa Anda presentasi?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Apakah mereka memiliki banyak pengetahuan desain?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Berapa banyak yang mereka ketahui tentang proyek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tersebut?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Apa yang mereka harapkan dari presentasi ini?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Apa yang mereka harapkan terhadap proyek tersebut?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83" name="Google Shape;383;p51">
            <a:hlinkClick r:id="rId3"/>
          </p:cNvPr>
          <p:cNvPicPr preferRelativeResize="0"/>
          <p:nvPr/>
        </p:nvPicPr>
        <p:blipFill rotWithShape="1">
          <a:blip r:embed="rId4">
            <a:alphaModFix/>
          </a:blip>
          <a:srcRect b="0" l="21532" r="21532" t="0"/>
          <a:stretch/>
        </p:blipFill>
        <p:spPr>
          <a:xfrm>
            <a:off x="5486400" y="1280150"/>
            <a:ext cx="3017523" cy="2743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390" name="Google Shape;390;p5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Susun presentasi Anda dengan cara yang sederhana dan menarik secara visual</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tidak punya banyak waktu untuk membuat kesan pada </a:t>
            </a:r>
            <a:r>
              <a:rPr i="1" lang="en" sz="1200">
                <a:solidFill>
                  <a:schemeClr val="dk1"/>
                </a:solidFill>
                <a:latin typeface="Raleway Medium"/>
                <a:ea typeface="Raleway Medium"/>
                <a:cs typeface="Raleway Medium"/>
                <a:sym typeface="Raleway Medium"/>
              </a:rPr>
              <a:t>staekholder.</a:t>
            </a:r>
            <a:r>
              <a:rPr lang="en" sz="1200">
                <a:solidFill>
                  <a:schemeClr val="dk1"/>
                </a:solidFill>
                <a:latin typeface="Raleway Medium"/>
                <a:ea typeface="Raleway Medium"/>
                <a:cs typeface="Raleway Medium"/>
                <a:sym typeface="Raleway Medium"/>
              </a:rPr>
              <a:t> Setiap anggota audiens Anda kemungkinan besar akan memiliki prioritas, persyaratan, dan beberapa pertimbangan yang berbeda.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t>
            </a:r>
            <a:r>
              <a:rPr lang="en" sz="1200">
                <a:solidFill>
                  <a:schemeClr val="dk1"/>
                </a:solidFill>
                <a:latin typeface="Raleway Medium"/>
                <a:ea typeface="Raleway Medium"/>
                <a:cs typeface="Raleway Medium"/>
                <a:sym typeface="Raleway Medium"/>
              </a:rPr>
              <a:t>eringkali audiens Anda tidak terlibat dalam proyek sejak awal, dan inilah mengapa penting untuk meringkas konteks, tujuan, dan keputusan Anda dengan cepat secara terstruktur dan visual.</a:t>
            </a:r>
            <a:endParaRPr sz="1200">
              <a:solidFill>
                <a:schemeClr val="dk1"/>
              </a:solidFill>
              <a:latin typeface="Raleway Medium"/>
              <a:ea typeface="Raleway Medium"/>
              <a:cs typeface="Raleway Medium"/>
              <a:sym typeface="Raleway Medium"/>
            </a:endParaRPr>
          </a:p>
        </p:txBody>
      </p:sp>
      <p:pic>
        <p:nvPicPr>
          <p:cNvPr id="391" name="Google Shape;391;p52">
            <a:hlinkClick r:id="rId3"/>
          </p:cNvPr>
          <p:cNvPicPr preferRelativeResize="0"/>
          <p:nvPr/>
        </p:nvPicPr>
        <p:blipFill rotWithShape="1">
          <a:blip r:embed="rId4">
            <a:alphaModFix/>
          </a:blip>
          <a:srcRect b="0" l="26309" r="322" t="0"/>
          <a:stretch/>
        </p:blipFill>
        <p:spPr>
          <a:xfrm>
            <a:off x="5486400" y="1280150"/>
            <a:ext cx="3017523" cy="27432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7" name="Google Shape;397;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398" name="Google Shape;398;p5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133350" lvl="0" marL="17145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Sertakan ringkasan — harus singkat, tidak terlalu teknis, dengan informasi yang cukup tentang konteks, tantangan, dan tujuan proyek.</a:t>
            </a:r>
            <a:endParaRPr sz="1200">
              <a:solidFill>
                <a:schemeClr val="dk1"/>
              </a:solidFill>
              <a:latin typeface="Raleway Medium"/>
              <a:ea typeface="Raleway Medium"/>
              <a:cs typeface="Raleway Medium"/>
              <a:sym typeface="Raleway Medium"/>
            </a:endParaRPr>
          </a:p>
          <a:p>
            <a:pPr indent="-133350" lvl="0" marL="17145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Susun presentasi Anda dengan cara yang logis — jelaskan apa yang akan Anda bahas selama sesi dan apa tujuan keseluruhannya.</a:t>
            </a:r>
            <a:endParaRPr sz="1200">
              <a:solidFill>
                <a:schemeClr val="dk1"/>
              </a:solidFill>
              <a:latin typeface="Raleway Medium"/>
              <a:ea typeface="Raleway Medium"/>
              <a:cs typeface="Raleway Medium"/>
              <a:sym typeface="Raleway Medium"/>
            </a:endParaRPr>
          </a:p>
          <a:p>
            <a:pPr indent="-133350" lvl="0" marL="17145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Hindari teks dalam jumlah besar — ​​sederhanakan, tambahkan visual, dan buat konten mudah dicerna dengan memecahnya menjadi beberapa slide.</a:t>
            </a:r>
            <a:endParaRPr sz="1200">
              <a:solidFill>
                <a:schemeClr val="dk1"/>
              </a:solidFill>
              <a:latin typeface="Raleway Medium"/>
              <a:ea typeface="Raleway Medium"/>
              <a:cs typeface="Raleway Medium"/>
              <a:sym typeface="Raleway Medium"/>
            </a:endParaRPr>
          </a:p>
          <a:p>
            <a:pPr indent="-133350" lvl="0" marL="171450" rtl="0" algn="l">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Selesaikan dengan </a:t>
            </a:r>
            <a:r>
              <a:rPr i="1" lang="en" sz="1200">
                <a:solidFill>
                  <a:schemeClr val="dk1"/>
                </a:solidFill>
                <a:latin typeface="Raleway Medium"/>
                <a:ea typeface="Raleway Medium"/>
                <a:cs typeface="Raleway Medium"/>
                <a:sym typeface="Raleway Medium"/>
              </a:rPr>
              <a:t>feedback</a:t>
            </a:r>
            <a:r>
              <a:rPr lang="en" sz="1200">
                <a:solidFill>
                  <a:schemeClr val="dk1"/>
                </a:solidFill>
                <a:latin typeface="Raleway Medium"/>
                <a:ea typeface="Raleway Medium"/>
                <a:cs typeface="Raleway Medium"/>
                <a:sym typeface="Raleway Medium"/>
              </a:rPr>
              <a:t>, pertanyaan, dan langkah - langkah yang perlu diambil selanjutnya.</a:t>
            </a:r>
            <a:endParaRPr sz="1200">
              <a:solidFill>
                <a:schemeClr val="dk1"/>
              </a:solidFill>
              <a:latin typeface="Raleway Medium"/>
              <a:ea typeface="Raleway Medium"/>
              <a:cs typeface="Raleway Medium"/>
              <a:sym typeface="Raleway Medium"/>
            </a:endParaRPr>
          </a:p>
        </p:txBody>
      </p:sp>
      <p:pic>
        <p:nvPicPr>
          <p:cNvPr id="399" name="Google Shape;399;p53">
            <a:hlinkClick r:id="rId3"/>
          </p:cNvPr>
          <p:cNvPicPr preferRelativeResize="0"/>
          <p:nvPr/>
        </p:nvPicPr>
        <p:blipFill rotWithShape="1">
          <a:blip r:embed="rId4">
            <a:alphaModFix/>
          </a:blip>
          <a:srcRect b="0" l="26309" r="322" t="0"/>
          <a:stretch/>
        </p:blipFill>
        <p:spPr>
          <a:xfrm>
            <a:off x="5486400" y="1280150"/>
            <a:ext cx="3017523" cy="27432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406" name="Google Shape;406;p5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Kumpulkan </a:t>
            </a:r>
            <a:r>
              <a:rPr b="1" i="1" lang="en" sz="1800">
                <a:solidFill>
                  <a:srgbClr val="743673"/>
                </a:solidFill>
                <a:highlight>
                  <a:schemeClr val="lt1"/>
                </a:highlight>
                <a:latin typeface="Raleway"/>
                <a:ea typeface="Raleway"/>
                <a:cs typeface="Raleway"/>
                <a:sym typeface="Raleway"/>
              </a:rPr>
              <a:t>feedback</a:t>
            </a:r>
            <a:endParaRPr b="1" i="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menerima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yang efektif yang menggerakkan proyek ke depan, Anda perlu memandu audiens Anda. Anda perlu mengajukan pertanyaan yang tepat dan selaras dengan tujuan proyek. Anda juga perlu memastikan bahwa Anda melacak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yang Anda terima; termasuk saran, kritik, dan catatan positif.</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Banyak konsep desain gagal bukan hanya karena konteks yang diberikan tidak cukup, tetapi karena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tidak terfokus pada tujuan proyek.</a:t>
            </a:r>
            <a:endParaRPr sz="1200">
              <a:solidFill>
                <a:schemeClr val="dk1"/>
              </a:solidFill>
              <a:latin typeface="Raleway Medium"/>
              <a:ea typeface="Raleway Medium"/>
              <a:cs typeface="Raleway Medium"/>
              <a:sym typeface="Raleway Medium"/>
            </a:endParaRPr>
          </a:p>
        </p:txBody>
      </p:sp>
      <p:pic>
        <p:nvPicPr>
          <p:cNvPr id="407" name="Google Shape;407;p54">
            <a:hlinkClick r:id="rId3"/>
          </p:cNvPr>
          <p:cNvPicPr preferRelativeResize="0"/>
          <p:nvPr/>
        </p:nvPicPr>
        <p:blipFill rotWithShape="1">
          <a:blip r:embed="rId4">
            <a:alphaModFix/>
          </a:blip>
          <a:srcRect b="0" l="359" r="26326" t="0"/>
          <a:stretch/>
        </p:blipFill>
        <p:spPr>
          <a:xfrm>
            <a:off x="5486400" y="1280150"/>
            <a:ext cx="3017523" cy="27432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414" name="Google Shape;414;p5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meminta umpan balik, Anda harus mempertimbangkan hal - hal  berikut: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Jangan meminta </a:t>
            </a:r>
            <a:r>
              <a:rPr i="1" lang="en" sz="1200">
                <a:solidFill>
                  <a:schemeClr val="dk1"/>
                </a:solidFill>
                <a:latin typeface="Raleway Medium"/>
                <a:ea typeface="Raleway Medium"/>
                <a:cs typeface="Raleway Medium"/>
                <a:sym typeface="Raleway Medium"/>
              </a:rPr>
              <a:t>feedback</a:t>
            </a:r>
            <a:r>
              <a:rPr lang="en" sz="1200">
                <a:solidFill>
                  <a:schemeClr val="dk1"/>
                </a:solidFill>
                <a:latin typeface="Raleway Medium"/>
                <a:ea typeface="Raleway Medium"/>
                <a:cs typeface="Raleway Medium"/>
                <a:sym typeface="Raleway Medium"/>
              </a:rPr>
              <a:t> sebelum Anda menjelaskan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keputusan desain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Ajukan pertanyaan yang mengarahkan audiens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pada tujuan proyek, contohnya “Menurut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bagaimana solusi ini memenuhi tujuan kami untuk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meningkatkan keterlibatan?”</a:t>
            </a:r>
            <a:endParaRPr sz="1200">
              <a:solidFill>
                <a:schemeClr val="dk1"/>
              </a:solidFill>
              <a:latin typeface="Raleway Medium"/>
              <a:ea typeface="Raleway Medium"/>
              <a:cs typeface="Raleway Medium"/>
              <a:sym typeface="Raleway Medium"/>
            </a:endParaRPr>
          </a:p>
        </p:txBody>
      </p:sp>
      <p:pic>
        <p:nvPicPr>
          <p:cNvPr id="415" name="Google Shape;415;p55">
            <a:hlinkClick r:id="rId3"/>
          </p:cNvPr>
          <p:cNvPicPr preferRelativeResize="0"/>
          <p:nvPr/>
        </p:nvPicPr>
        <p:blipFill rotWithShape="1">
          <a:blip r:embed="rId4">
            <a:alphaModFix/>
          </a:blip>
          <a:srcRect b="0" l="359" r="26326" t="0"/>
          <a:stretch/>
        </p:blipFill>
        <p:spPr>
          <a:xfrm>
            <a:off x="5486400" y="1280150"/>
            <a:ext cx="3017523" cy="2743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1" name="Google Shape;421;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422" name="Google Shape;422;p5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Rekam presentasi Anda</a:t>
            </a:r>
            <a:endParaRPr b="1" i="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Menyeimbangkan antara memberikan presentasi yang menarik secara visual dan menyediakan dokumen mandiri dengan semua informasi yang diperlukan bagi mereka yang tidak dapat hadir adalah sebuah tantangan.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menyertakan</a:t>
            </a:r>
            <a:r>
              <a:rPr lang="en" sz="1200">
                <a:solidFill>
                  <a:schemeClr val="dk1"/>
                </a:solidFill>
                <a:latin typeface="Raleway Medium"/>
                <a:ea typeface="Raleway Medium"/>
                <a:cs typeface="Raleway Medium"/>
                <a:sym typeface="Raleway Medium"/>
              </a:rPr>
              <a:t> terlalu banyak informasi di slide dan Anda berisiko membuat audiens Anda bosan dan akhirnya membaca semua paragraf panjang tanpa penjelasan lebih lanjut.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 sisi lain, jika Anda tidak memberikan informasi yang cukup, mereka yang menerima salinan slide Anda tanpa menghadiri sesi Anda tidak akan memahami alasan di balik desain Anda.</a:t>
            </a:r>
            <a:endParaRPr sz="1200">
              <a:solidFill>
                <a:schemeClr val="dk1"/>
              </a:solidFill>
              <a:latin typeface="Raleway Medium"/>
              <a:ea typeface="Raleway Medium"/>
              <a:cs typeface="Raleway Medium"/>
              <a:sym typeface="Raleway Medium"/>
            </a:endParaRPr>
          </a:p>
        </p:txBody>
      </p:sp>
      <p:pic>
        <p:nvPicPr>
          <p:cNvPr id="423" name="Google Shape;423;p56">
            <a:hlinkClick r:id="rId3"/>
          </p:cNvPr>
          <p:cNvPicPr preferRelativeResize="0"/>
          <p:nvPr/>
        </p:nvPicPr>
        <p:blipFill rotWithShape="1">
          <a:blip r:embed="rId4">
            <a:alphaModFix/>
          </a:blip>
          <a:srcRect b="0" l="13289" r="13289" t="0"/>
          <a:stretch/>
        </p:blipFill>
        <p:spPr>
          <a:xfrm>
            <a:off x="5486400" y="1280150"/>
            <a:ext cx="3017523" cy="2743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9" name="Google Shape;429;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430" name="Google Shape;430;p5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Merekam presentasi yang menarik akan memungkinkan Anda untuk: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Presentasikan konsep desain Anda bahkan ketika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tidak dapat bertemu secara serempak.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Komunikasikan keputusan Anda dengan jelas kepada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pemangku kepentingan yang tidak dapat menghadiri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sesi presentasi.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Izinkan semua orang, termasuk mereka yang hadir,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untuk meninjau ulang dan merenungkan informasi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yang Anda sajikan.</a:t>
            </a:r>
            <a:endParaRPr sz="1200">
              <a:solidFill>
                <a:schemeClr val="dk1"/>
              </a:solidFill>
              <a:latin typeface="Raleway Medium"/>
              <a:ea typeface="Raleway Medium"/>
              <a:cs typeface="Raleway Medium"/>
              <a:sym typeface="Raleway Medium"/>
            </a:endParaRPr>
          </a:p>
        </p:txBody>
      </p:sp>
      <p:pic>
        <p:nvPicPr>
          <p:cNvPr id="431" name="Google Shape;431;p57">
            <a:hlinkClick r:id="rId3"/>
          </p:cNvPr>
          <p:cNvPicPr preferRelativeResize="0"/>
          <p:nvPr/>
        </p:nvPicPr>
        <p:blipFill rotWithShape="1">
          <a:blip r:embed="rId4">
            <a:alphaModFix/>
          </a:blip>
          <a:srcRect b="0" l="359" r="26326" t="0"/>
          <a:stretch/>
        </p:blipFill>
        <p:spPr>
          <a:xfrm>
            <a:off x="5486400" y="1280150"/>
            <a:ext cx="3017523" cy="2743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7" name="Google Shape;437;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438" name="Google Shape;438;p5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 Buatlah presentasi Anda menarik dan interaktif</a:t>
            </a:r>
            <a:endParaRPr b="1" i="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Mendapatkan perhatian audiens Anda dengan penuh sangatlah penting. Seperti yang telah </a:t>
            </a:r>
            <a:r>
              <a:rPr lang="en" sz="1200">
                <a:solidFill>
                  <a:schemeClr val="dk1"/>
                </a:solidFill>
                <a:latin typeface="Raleway Medium"/>
                <a:ea typeface="Raleway Medium"/>
                <a:cs typeface="Raleway Medium"/>
                <a:sym typeface="Raleway Medium"/>
              </a:rPr>
              <a:t>disebutkan</a:t>
            </a:r>
            <a:r>
              <a:rPr lang="en" sz="1200">
                <a:solidFill>
                  <a:schemeClr val="dk1"/>
                </a:solidFill>
                <a:latin typeface="Raleway Medium"/>
                <a:ea typeface="Raleway Medium"/>
                <a:cs typeface="Raleway Medium"/>
                <a:sym typeface="Raleway Medium"/>
              </a:rPr>
              <a:t> sebelumnya, jika</a:t>
            </a:r>
            <a:r>
              <a:rPr i="1" lang="en" sz="1200">
                <a:solidFill>
                  <a:schemeClr val="dk1"/>
                </a:solidFill>
                <a:latin typeface="Raleway Medium"/>
                <a:ea typeface="Raleway Medium"/>
                <a:cs typeface="Raleway Medium"/>
                <a:sym typeface="Raleway Medium"/>
              </a:rPr>
              <a:t> stakeholder </a:t>
            </a:r>
            <a:r>
              <a:rPr lang="en" sz="1200">
                <a:solidFill>
                  <a:schemeClr val="dk1"/>
                </a:solidFill>
                <a:latin typeface="Raleway Medium"/>
                <a:ea typeface="Raleway Medium"/>
                <a:cs typeface="Raleway Medium"/>
                <a:sym typeface="Raleway Medium"/>
              </a:rPr>
              <a:t>tidak memahami dengan jelas alasan di balik keputusan desain Anda, mereka tidak akan dapat memberikan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yang berarti.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memastikan Anda mendapatkan perhatian penuh audiens Anda, Anda harus mencoba membuat presentasi Anda s-emenarik dan se-interaktif mungkin.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Berikut adalah beberapa cara untuk melakukannya:</a:t>
            </a:r>
            <a:endParaRPr sz="1200">
              <a:solidFill>
                <a:schemeClr val="dk1"/>
              </a:solidFill>
              <a:latin typeface="Raleway Medium"/>
              <a:ea typeface="Raleway Medium"/>
              <a:cs typeface="Raleway Medium"/>
              <a:sym typeface="Raleway Medium"/>
            </a:endParaRPr>
          </a:p>
        </p:txBody>
      </p:sp>
      <p:pic>
        <p:nvPicPr>
          <p:cNvPr id="439" name="Google Shape;439;p58">
            <a:hlinkClick r:id="rId3"/>
          </p:cNvPr>
          <p:cNvPicPr preferRelativeResize="0"/>
          <p:nvPr/>
        </p:nvPicPr>
        <p:blipFill rotWithShape="1">
          <a:blip r:embed="rId4">
            <a:alphaModFix/>
          </a:blip>
          <a:srcRect b="0" l="382" r="37873" t="0"/>
          <a:stretch/>
        </p:blipFill>
        <p:spPr>
          <a:xfrm>
            <a:off x="5486400" y="1280150"/>
            <a:ext cx="3017523" cy="2743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5" name="Google Shape;445;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446" name="Google Shape;446;p5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Tambahkan animasi dan gerakan. Animasi tidak hanya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dimaksudkan untuk membuat slide Anda mewah;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mereka dapat mengarahkan perhatian,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mengilustrasikan konsep tertentu, dan mengurangi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beban kognitif dengan memperkenalkan konten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secara progresif.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Buat presentasi Anda interaktif. Presentasi interaktif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adalah presentasi di mana setiap orang dapat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berpartisipasi dan merasa menjadi bagian darinya. Ini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dapat dicapai dengan pertanyaan, dan bahkan </a:t>
            </a:r>
            <a:r>
              <a:rPr i="1" lang="en" sz="1200">
                <a:solidFill>
                  <a:schemeClr val="dk1"/>
                </a:solidFill>
                <a:latin typeface="Raleway Medium"/>
                <a:ea typeface="Raleway Medium"/>
                <a:cs typeface="Raleway Medium"/>
                <a:sym typeface="Raleway Medium"/>
              </a:rPr>
              <a:t>ice </a:t>
            </a:r>
            <a:endParaRPr i="1"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    breaking</a:t>
            </a:r>
            <a:r>
              <a:rPr lang="en" sz="1200">
                <a:solidFill>
                  <a:schemeClr val="dk1"/>
                </a:solidFill>
                <a:latin typeface="Raleway Medium"/>
                <a:ea typeface="Raleway Medium"/>
                <a:cs typeface="Raleway Medium"/>
                <a:sym typeface="Raleway Medium"/>
              </a:rPr>
              <a:t> bila perlu.</a:t>
            </a:r>
            <a:endParaRPr sz="1200">
              <a:solidFill>
                <a:schemeClr val="dk1"/>
              </a:solidFill>
              <a:latin typeface="Raleway Medium"/>
              <a:ea typeface="Raleway Medium"/>
              <a:cs typeface="Raleway Medium"/>
              <a:sym typeface="Raleway Medium"/>
            </a:endParaRPr>
          </a:p>
        </p:txBody>
      </p:sp>
      <p:pic>
        <p:nvPicPr>
          <p:cNvPr id="447" name="Google Shape;447;p59">
            <a:hlinkClick r:id="rId3"/>
          </p:cNvPr>
          <p:cNvPicPr preferRelativeResize="0"/>
          <p:nvPr/>
        </p:nvPicPr>
        <p:blipFill rotWithShape="1">
          <a:blip r:embed="rId4">
            <a:alphaModFix/>
          </a:blip>
          <a:srcRect b="0" l="382" r="37873" t="0"/>
          <a:stretch/>
        </p:blipFill>
        <p:spPr>
          <a:xfrm>
            <a:off x="5486400" y="1280150"/>
            <a:ext cx="3017523" cy="2743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3" name="Google Shape;453;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Mempresentasikan desain</a:t>
            </a:r>
            <a:endParaRPr/>
          </a:p>
        </p:txBody>
      </p:sp>
      <p:sp>
        <p:nvSpPr>
          <p:cNvPr id="454" name="Google Shape;454;p6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a:t>
            </a:r>
            <a:r>
              <a:rPr b="1" lang="en" sz="1800">
                <a:solidFill>
                  <a:srgbClr val="743673"/>
                </a:solidFill>
                <a:highlight>
                  <a:schemeClr val="lt1"/>
                </a:highlight>
                <a:latin typeface="Raleway"/>
                <a:ea typeface="Raleway"/>
                <a:cs typeface="Raleway"/>
                <a:sym typeface="Raleway"/>
              </a:rPr>
              <a:t>) Kontrol kecepatan</a:t>
            </a:r>
            <a:endParaRPr b="1" i="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Minta audiens Anda untuk menahan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hingga akhir presentasi Anda selesai, setelah Anda memandu mereka melalui desain.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Luangkan waktu Anda untuk mempresentasikan, dan jangan terburu-buru. Berhati-hatilah dan baca ruangan—jika Anda melihat seseorang memeriksa waktu atau membaca email di ponsel mereka, maka Anda perlu  mempercepat jalannya presentasi.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klien telah melihat sesuatu sebelumnya atau setuju dengan rekomendasi desain Anda, mungkin aman untuk menelusuri bagian tersebut dengan cepat.</a:t>
            </a:r>
            <a:endParaRPr sz="1200">
              <a:solidFill>
                <a:schemeClr val="dk1"/>
              </a:solidFill>
              <a:latin typeface="Raleway Medium"/>
              <a:ea typeface="Raleway Medium"/>
              <a:cs typeface="Raleway Medium"/>
              <a:sym typeface="Raleway Medium"/>
            </a:endParaRPr>
          </a:p>
        </p:txBody>
      </p:sp>
      <p:pic>
        <p:nvPicPr>
          <p:cNvPr id="455" name="Google Shape;455;p60">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1"/>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461" name="Google Shape;461;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67" name="Google Shape;467;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adalah actions yang disediakan oleh Figma,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Navigate to</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Open overlay</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On Drag</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68" name="Google Shape;468;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74" name="Google Shape;474;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Berikut adalah actions yang disediakan oleh Figma,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Navigate to</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Open overlay</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On Drag</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75" name="Google Shape;475;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63"/>
          <p:cNvSpPr/>
          <p:nvPr/>
        </p:nvSpPr>
        <p:spPr>
          <a:xfrm>
            <a:off x="685800" y="2850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On Drag adalah sebuah trigger, bukan sebuah action.</a:t>
            </a:r>
            <a:endParaRPr b="1" sz="1000">
              <a:solidFill>
                <a:srgbClr val="733572"/>
              </a:solidFill>
              <a:latin typeface="Raleway"/>
              <a:ea typeface="Raleway"/>
              <a:cs typeface="Raleway"/>
              <a:sym typeface="Raleway"/>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82" name="Google Shape;482;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triggers yang disediakan oleh Figma,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Mouse Up</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Close overlay</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After Delay</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83" name="Google Shape;483;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89" name="Google Shape;489;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triggers yang disediakan oleh Figma,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Mouse Up</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Close overlay</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After Delay</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90" name="Google Shape;490;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1" name="Google Shape;491;p65"/>
          <p:cNvSpPr/>
          <p:nvPr/>
        </p:nvSpPr>
        <p:spPr>
          <a:xfrm>
            <a:off x="685800" y="2850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Close overlay</a:t>
            </a:r>
            <a:r>
              <a:rPr b="1" lang="en" sz="1000">
                <a:solidFill>
                  <a:srgbClr val="733572"/>
                </a:solidFill>
                <a:latin typeface="Raleway"/>
                <a:ea typeface="Raleway"/>
                <a:cs typeface="Raleway"/>
                <a:sym typeface="Raleway"/>
              </a:rPr>
              <a:t> adalah sebuah action, bukan sebuah trigger.</a:t>
            </a:r>
            <a:endParaRPr b="1" sz="1000">
              <a:solidFill>
                <a:srgbClr val="733572"/>
              </a:solidFill>
              <a:latin typeface="Raleway"/>
              <a:ea typeface="Raleway"/>
              <a:cs typeface="Raleway"/>
              <a:sym typeface="Raleway"/>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97" name="Google Shape;497;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Sebuah koneksi terdiri dari tiga bagian,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Hotspot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Shape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Tujuan / Destination</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98" name="Google Shape;498;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04" name="Google Shape;504;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Sebuah koneksi terdiri dari tiga bagian,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Hotspot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Shape</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Tujuan / Destination</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505" name="Google Shape;505;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67"/>
          <p:cNvSpPr/>
          <p:nvPr/>
        </p:nvSpPr>
        <p:spPr>
          <a:xfrm>
            <a:off x="685800" y="2850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Sebuah koneksi terdiri dari tiga bagian yaitu hotspot, </a:t>
            </a:r>
            <a:r>
              <a:rPr b="1" lang="en" sz="1000">
                <a:solidFill>
                  <a:srgbClr val="733572"/>
                </a:solidFill>
                <a:latin typeface="Raleway"/>
                <a:ea typeface="Raleway"/>
                <a:cs typeface="Raleway"/>
                <a:sym typeface="Raleway"/>
              </a:rPr>
              <a:t>sambungan </a:t>
            </a:r>
            <a:r>
              <a:rPr b="1" lang="en" sz="1000">
                <a:solidFill>
                  <a:srgbClr val="733572"/>
                </a:solidFill>
                <a:latin typeface="Raleway"/>
                <a:ea typeface="Raleway"/>
                <a:cs typeface="Raleway"/>
                <a:sym typeface="Raleway"/>
              </a:rPr>
              <a:t>/ </a:t>
            </a:r>
            <a:r>
              <a:rPr b="1" lang="en" sz="1000">
                <a:solidFill>
                  <a:srgbClr val="733572"/>
                </a:solidFill>
                <a:latin typeface="Raleway"/>
                <a:ea typeface="Raleway"/>
                <a:cs typeface="Raleway"/>
                <a:sym typeface="Raleway"/>
              </a:rPr>
              <a:t>connection</a:t>
            </a:r>
            <a:r>
              <a:rPr b="1" lang="en" sz="1000">
                <a:solidFill>
                  <a:srgbClr val="733572"/>
                </a:solidFill>
                <a:latin typeface="Raleway"/>
                <a:ea typeface="Raleway"/>
                <a:cs typeface="Raleway"/>
                <a:sym typeface="Raleway"/>
              </a:rPr>
              <a:t> dan tujuan / destination</a:t>
            </a:r>
            <a:endParaRPr b="1" sz="1000">
              <a:solidFill>
                <a:srgbClr val="733572"/>
              </a:solidFill>
              <a:latin typeface="Raleway"/>
              <a:ea typeface="Raleway"/>
              <a:cs typeface="Raleway"/>
              <a:sym typeface="Raleway"/>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12" name="Google Shape;512;p6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Desain responsif memiliki tiga prinsip inti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Fluid Grid System, Fluid Image Use, Media </a:t>
            </a:r>
            <a:r>
              <a:rPr lang="en" sz="1200">
                <a:solidFill>
                  <a:schemeClr val="lt1"/>
                </a:solidFill>
                <a:latin typeface="Raleway Medium"/>
                <a:ea typeface="Raleway Medium"/>
                <a:cs typeface="Raleway Medium"/>
                <a:sym typeface="Raleway Medium"/>
              </a:rPr>
              <a:t>Queries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Fluid Design System, Fluid Image Use, Media Queries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Fluid Design System, Fluid Image System, Media Queries</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513" name="Google Shape;513;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19" name="Google Shape;519;p6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Desain responsif memiliki tiga prinsip inti yaitu…</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Fluid Grid System, Fluid Image Use, Media Queries</a:t>
            </a:r>
            <a:endParaRPr b="1" sz="1200">
              <a:solidFill>
                <a:srgbClr val="A667A5"/>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Fluid Design System, Fluid Image Use, Media Queries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Fluid Design System, Fluid Image System, Media Queries</a:t>
            </a:r>
            <a:endParaRPr sz="1200">
              <a:solidFill>
                <a:srgbClr val="A667A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rgbClr val="A667A5"/>
              </a:solidFill>
              <a:latin typeface="Raleway Medium"/>
              <a:ea typeface="Raleway Medium"/>
              <a:cs typeface="Raleway Medium"/>
              <a:sym typeface="Raleway Medium"/>
            </a:endParaRPr>
          </a:p>
        </p:txBody>
      </p:sp>
      <p:sp>
        <p:nvSpPr>
          <p:cNvPr id="520" name="Google Shape;520;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69"/>
          <p:cNvSpPr/>
          <p:nvPr/>
        </p:nvSpPr>
        <p:spPr>
          <a:xfrm>
            <a:off x="685800" y="2850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Desain responsif memiliki tiga prinsip inti yaitu Fluid Grid System, Fluid Image Use dan Media Queries.</a:t>
            </a:r>
            <a:endParaRPr b="1" sz="1000">
              <a:solidFill>
                <a:srgbClr val="733572"/>
              </a:solidFill>
              <a:latin typeface="Raleway"/>
              <a:ea typeface="Raleway"/>
              <a:cs typeface="Raleway"/>
              <a:sym typeface="Raleway"/>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27" name="Google Shape;527;p7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Mengapa Anda perlu mengenal audiens Anda saat melakukan presentasi?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a:t>
            </a:r>
            <a:r>
              <a:rPr lang="en" sz="1200">
                <a:solidFill>
                  <a:schemeClr val="lt1"/>
                </a:solidFill>
                <a:latin typeface="Raleway Medium"/>
                <a:ea typeface="Raleway Medium"/>
                <a:cs typeface="Raleway Medium"/>
                <a:sym typeface="Raleway Medium"/>
              </a:rPr>
              <a:t>eningkatkan peluang untuk mendapatkan dukungan dari para stakeholders.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Supaya audiens tidak bosan.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Meningkatkan peluang untuk membuat prototipe dengan cepat.</a:t>
            </a:r>
            <a:endParaRPr sz="1200">
              <a:solidFill>
                <a:schemeClr val="lt1"/>
              </a:solidFill>
              <a:latin typeface="Raleway Medium"/>
              <a:ea typeface="Raleway Medium"/>
              <a:cs typeface="Raleway Medium"/>
              <a:sym typeface="Raleway Medium"/>
            </a:endParaRPr>
          </a:p>
        </p:txBody>
      </p:sp>
      <p:sp>
        <p:nvSpPr>
          <p:cNvPr id="528" name="Google Shape;528;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34" name="Google Shape;534;p7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Mengapa Anda perlu mengenal audiens Anda saat melakukan presentasi?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Meningkatkan peluang untuk mendapatkan dukungan dari para stakeholders.</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Supaya audiens tidak bosan.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Meningkatkan peluang untuk membuat prototipe dengan cepat.</a:t>
            </a:r>
            <a:endParaRPr sz="1200">
              <a:solidFill>
                <a:srgbClr val="A667A5"/>
              </a:solidFill>
              <a:latin typeface="Raleway Medium"/>
              <a:ea typeface="Raleway Medium"/>
              <a:cs typeface="Raleway Medium"/>
              <a:sym typeface="Raleway Medium"/>
            </a:endParaRPr>
          </a:p>
        </p:txBody>
      </p:sp>
      <p:sp>
        <p:nvSpPr>
          <p:cNvPr id="535" name="Google Shape;535;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6" name="Google Shape;536;p71"/>
          <p:cNvSpPr/>
          <p:nvPr/>
        </p:nvSpPr>
        <p:spPr>
          <a:xfrm>
            <a:off x="685800" y="3079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Anda perlu menciptakan presentasi yang interaktif dan visual untuk membuat audiens tidak bosan. Dan mengenal audiens Anda saat presentasi tidak meningkatkan peluang untuk membuat prototipe dengan cepat.</a:t>
            </a:r>
            <a:endParaRPr b="1" sz="1000">
              <a:solidFill>
                <a:srgbClr val="733572"/>
              </a:solidFill>
              <a:latin typeface="Raleway"/>
              <a:ea typeface="Raleway"/>
              <a:cs typeface="Raleway"/>
              <a:sym typeface="Raleway"/>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42" name="Google Shape;542;p7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Desain adaptif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t>
            </a:r>
            <a:r>
              <a:rPr lang="en" sz="1200">
                <a:solidFill>
                  <a:schemeClr val="lt1"/>
                </a:solidFill>
                <a:latin typeface="Raleway Medium"/>
                <a:ea typeface="Raleway Medium"/>
                <a:cs typeface="Raleway Medium"/>
                <a:sym typeface="Raleway Medium"/>
              </a:rPr>
              <a:t>eberapa versi dari satu desain, masing-masing memiliki dimensi tetap.</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Satu desain fleksibel yang akan meregang atau menyusut agar sesuai dengan layar.</a:t>
            </a:r>
            <a:endParaRPr sz="1200">
              <a:solidFill>
                <a:schemeClr val="lt1"/>
              </a:solidFill>
              <a:latin typeface="Raleway Medium"/>
              <a:ea typeface="Raleway Medium"/>
              <a:cs typeface="Raleway Medium"/>
              <a:sym typeface="Raleway Medium"/>
            </a:endParaRPr>
          </a:p>
        </p:txBody>
      </p:sp>
      <p:sp>
        <p:nvSpPr>
          <p:cNvPr id="543" name="Google Shape;543;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49" name="Google Shape;549;p7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Desain adaptif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Beberapa versi dari satu desain, masing-masing memiliki dimensi tetap.</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Satu desain fleksibel yang akan meregang atau menyusut agar sesuai dengan layar.</a:t>
            </a:r>
            <a:endParaRPr sz="1200">
              <a:solidFill>
                <a:srgbClr val="A667A5"/>
              </a:solidFill>
              <a:latin typeface="Raleway Medium"/>
              <a:ea typeface="Raleway Medium"/>
              <a:cs typeface="Raleway Medium"/>
              <a:sym typeface="Raleway Medium"/>
            </a:endParaRPr>
          </a:p>
        </p:txBody>
      </p:sp>
      <p:sp>
        <p:nvSpPr>
          <p:cNvPr id="550" name="Google Shape;550;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1" name="Google Shape;551;p73"/>
          <p:cNvSpPr/>
          <p:nvPr/>
        </p:nvSpPr>
        <p:spPr>
          <a:xfrm>
            <a:off x="685800" y="26221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Satu desain fleksibel yang akan meregang atau menyusut agar sesuai dengan layar adalah desain yang responsif.</a:t>
            </a:r>
            <a:endParaRPr b="1" sz="1000">
              <a:solidFill>
                <a:srgbClr val="733572"/>
              </a:solidFill>
              <a:latin typeface="Raleway"/>
              <a:ea typeface="Raleway"/>
              <a:cs typeface="Raleway"/>
              <a:sym typeface="Raleway"/>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7" name="Google Shape;557;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558" name="Google Shape;558;p7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59" name="Google Shape;559;p74"/>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20 figma plugins every designer must have by UX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5"/>
              </a:rPr>
              <a:t>Planet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6"/>
              </a:rPr>
              <a:t>Prototyping and Interaction by designcode.io</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7"/>
              </a:rPr>
              <a:t>Prototype interactions and animations by Figma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8"/>
              </a:rPr>
              <a:t>Microinteractions by Nielsen Norman Group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u="sng">
                <a:solidFill>
                  <a:schemeClr val="hlink"/>
                </a:solidFill>
                <a:latin typeface="Raleway Medium"/>
                <a:ea typeface="Raleway Medium"/>
                <a:cs typeface="Raleway Medium"/>
                <a:sym typeface="Raleway Medium"/>
                <a:hlinkClick r:id="rId9"/>
              </a:rPr>
              <a:t>Responsive Design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6) </a:t>
            </a:r>
            <a:r>
              <a:rPr lang="en" sz="1200" u="sng">
                <a:solidFill>
                  <a:schemeClr val="hlink"/>
                </a:solidFill>
                <a:latin typeface="Raleway Medium"/>
                <a:ea typeface="Raleway Medium"/>
                <a:cs typeface="Raleway Medium"/>
                <a:sym typeface="Raleway Medium"/>
                <a:hlinkClick r:id="rId10"/>
              </a:rPr>
              <a:t>Responsive Web Design (RWD) and User Experience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11"/>
              </a:rPr>
              <a:t>by Nielsen Norman Group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7) </a:t>
            </a:r>
            <a:r>
              <a:rPr lang="en" sz="1200" u="sng">
                <a:solidFill>
                  <a:schemeClr val="hlink"/>
                </a:solidFill>
                <a:latin typeface="Raleway Medium"/>
                <a:ea typeface="Raleway Medium"/>
                <a:cs typeface="Raleway Medium"/>
                <a:sym typeface="Raleway Medium"/>
                <a:hlinkClick r:id="rId12"/>
              </a:rPr>
              <a:t>The art of presenting creative work by InVision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8) </a:t>
            </a:r>
            <a:r>
              <a:rPr lang="en" sz="1200" u="sng">
                <a:solidFill>
                  <a:schemeClr val="hlink"/>
                </a:solidFill>
                <a:latin typeface="Raleway Medium"/>
                <a:ea typeface="Raleway Medium"/>
                <a:cs typeface="Raleway Medium"/>
                <a:sym typeface="Raleway Medium"/>
                <a:hlinkClick r:id="rId13"/>
              </a:rPr>
              <a:t>Best Practices for Presenting Design Concepts to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14"/>
              </a:rPr>
              <a:t>Stakeholders by XD Ideas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63" name="Shape 563"/>
        <p:cNvGrpSpPr/>
        <p:nvPr/>
      </p:nvGrpSpPr>
      <p:grpSpPr>
        <a:xfrm>
          <a:off x="0" y="0"/>
          <a:ext cx="0" cy="0"/>
          <a:chOff x="0" y="0"/>
          <a:chExt cx="0" cy="0"/>
        </a:xfrm>
      </p:grpSpPr>
      <p:sp>
        <p:nvSpPr>
          <p:cNvPr id="564" name="Google Shape;564;p75"/>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65" name="Google Shape;565;p75"/>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66" name="Google Shape;566;p75"/>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67" name="Google Shape;567;p75"/>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68" name="Google Shape;568;p75"/>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569" name="Google Shape;569;p75"/>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570" name="Google Shape;570;p75"/>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571" name="Google Shape;571;p75"/>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