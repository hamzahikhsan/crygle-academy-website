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Lst>
  <p:sldSz cy="5143500" cx="9144000"/>
  <p:notesSz cx="6858000" cy="9144000"/>
  <p:embeddedFontLst>
    <p:embeddedFont>
      <p:font typeface="Audiowide"/>
      <p:regular r:id="rId86"/>
    </p:embeddedFont>
    <p:embeddedFont>
      <p:font typeface="Raleway"/>
      <p:regular r:id="rId87"/>
      <p:bold r:id="rId88"/>
      <p:italic r:id="rId89"/>
      <p:boldItalic r:id="rId90"/>
    </p:embeddedFont>
    <p:embeddedFont>
      <p:font typeface="Montserrat"/>
      <p:regular r:id="rId91"/>
      <p:bold r:id="rId92"/>
      <p:italic r:id="rId93"/>
      <p:boldItalic r:id="rId94"/>
    </p:embeddedFont>
    <p:embeddedFont>
      <p:font typeface="Lato Black"/>
      <p:bold r:id="rId95"/>
      <p:boldItalic r:id="rId96"/>
    </p:embeddedFont>
    <p:embeddedFont>
      <p:font typeface="Raleway Medium"/>
      <p:regular r:id="rId97"/>
      <p:bold r:id="rId98"/>
      <p:italic r:id="rId99"/>
      <p:boldItalic r:id="rId10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0" Type="http://schemas.openxmlformats.org/officeDocument/2006/relationships/font" Target="fonts/RalewayMedium-boldItalic.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font" Target="fonts/LatoBlack-bold.fntdata"/><Relationship Id="rId94" Type="http://schemas.openxmlformats.org/officeDocument/2006/relationships/font" Target="fonts/Montserrat-boldItalic.fntdata"/><Relationship Id="rId97" Type="http://schemas.openxmlformats.org/officeDocument/2006/relationships/font" Target="fonts/RalewayMedium-regular.fntdata"/><Relationship Id="rId96" Type="http://schemas.openxmlformats.org/officeDocument/2006/relationships/font" Target="fonts/LatoBlack-boldItalic.fntdata"/><Relationship Id="rId11" Type="http://schemas.openxmlformats.org/officeDocument/2006/relationships/slide" Target="slides/slide6.xml"/><Relationship Id="rId99" Type="http://schemas.openxmlformats.org/officeDocument/2006/relationships/font" Target="fonts/RalewayMedium-italic.fntdata"/><Relationship Id="rId10" Type="http://schemas.openxmlformats.org/officeDocument/2006/relationships/slide" Target="slides/slide5.xml"/><Relationship Id="rId98" Type="http://schemas.openxmlformats.org/officeDocument/2006/relationships/font" Target="fonts/RalewayMedium-bold.fntdata"/><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font" Target="fonts/Montserrat-regular.fntdata"/><Relationship Id="rId90" Type="http://schemas.openxmlformats.org/officeDocument/2006/relationships/font" Target="fonts/Raleway-boldItalic.fntdata"/><Relationship Id="rId93" Type="http://schemas.openxmlformats.org/officeDocument/2006/relationships/font" Target="fonts/Montserrat-italic.fntdata"/><Relationship Id="rId92" Type="http://schemas.openxmlformats.org/officeDocument/2006/relationships/font" Target="fonts/Montserrat-bold.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font" Target="fonts/Audiowide-regular.fntdata"/><Relationship Id="rId85" Type="http://schemas.openxmlformats.org/officeDocument/2006/relationships/slide" Target="slides/slide80.xml"/><Relationship Id="rId88" Type="http://schemas.openxmlformats.org/officeDocument/2006/relationships/font" Target="fonts/Raleway-bold.fntdata"/><Relationship Id="rId87" Type="http://schemas.openxmlformats.org/officeDocument/2006/relationships/font" Target="fonts/Raleway-regular.fntdata"/><Relationship Id="rId89" Type="http://schemas.openxmlformats.org/officeDocument/2006/relationships/font" Target="fonts/Raleway-italic.fntdata"/><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10b12bec43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10b12bec43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0b12bec43e_0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0b12bec43e_0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12d223e636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12d223e636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https://dribbble.com/shots/14438280-Brandbook</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14d5361cc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114d5361cc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https://dribbble.com/shots/14438280-Brandbook</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14d8665379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14d8665379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https://dribbble.com/shots/14438280-Brandbook</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114d8665379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114d8665379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https://dribbble.com/shots/14438280-Brandbook</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114d8665379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114d8665379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https://dribbble.com/shots/14438280-Brandbook</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12d223e636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12d223e636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https://dribbble.com/shots/9092588-VisualEyes-Design-System</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111c9ae9e7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111c9ae9e7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https://dribbble.com/shots/9092588-VisualEyes-Design-System</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11c9ae9e70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11c9ae9e70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14d8665379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114d8665379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https://material.io/design/layout/understanding-layout.html#principles</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114d8665379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114d8665379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https://material.io/design/layout/understanding-layout.html#principles</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14d8665379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114d8665379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https://material.io/design/layout/understanding-layout.html#principles</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14d8665379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114d8665379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https://material.io/design/layout/understanding-layout.html#principles</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114d8665379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114d8665379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https://material.io/design/layout/understanding-layout.html#principles</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114d8665379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114d8665379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https://material.io/design/layout/understanding-layout.html#principles</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14d8665379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114d8665379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https://material.io/design/layout/understanding-layout.html#principles</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111c9ae9e70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111c9ae9e70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114d8665379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114d8665379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https://material.io/design/color/the-color-system.html#color-usage-and-palettes</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14d8665379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14d8665379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https://material.io/design/color/the-color-system.html#color-usage-and-palettes</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114d8665379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114d8665379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https://material.io/design/color/the-color-system.html#color-usage-and-palettes</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114d8665379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114d8665379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https://material.io/design/color/the-color-system.html#color-usage-and-palettes</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114d8665379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114d8665379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https://material.io/design/color/the-color-system.html#color-usage-and-palettes</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114d8665379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114d8665379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https://material.io/design/color/the-color-system.html#color-usage-and-palettes</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114d8665379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114d8665379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https://material.io/design/color/the-color-system.html#color-usage-and-palettes</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114d8665379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114d8665379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https://material.io/design/color/the-color-system.html#color-usage-and-palettes</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111c9ae9e70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111c9ae9e7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114d8665379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114d8665379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https://dribbble.com/shots/16437841-Man-and-the-machine</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114d8665379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114d8665379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https://material.io/design/typography/the-type-system.html#type-scale</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114d8665379_0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114d8665379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https://dribbble.com/shots/16437841-Man-and-the-machine</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114d8665379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114d8665379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https://dribbble.com/shots/16437841-Man-and-the-machine</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114d8665379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114d8665379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https://uxdesign.cc/a-better-way-to-create-typography-design-systems-689c851dc616</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d1eaf9238c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d1eaf9238c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https://material.io/design/typography/the-type-system.html#type-scale</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d1eaf9238c_2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d1eaf9238c_2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https://type-scale.com/</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d1eaf9238c_2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d1eaf9238c_2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https://fonts.google.com/</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d1eaf9238c_2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d1eaf9238c_2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https://www.fontfabric.com/</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d1eaf9238c_2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d1eaf9238c_2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https://www.layoutgridcalculator.com/typographic-scale/</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d1eaf9238c_2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d1eaf9238c_2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https://fontjoy.com/</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111c9ae9e7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111c9ae9e7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d1eaf9238c_2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d1eaf9238c_2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https://dribbble.com/shots/16437841-Man-and-the-machine</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d1eaf9238c_2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d1eaf9238c_2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https://material.io/design/typography/the-type-system.html#type-scale</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d1eaf9238c_2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d1eaf9238c_2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a:t>
            </a:r>
            <a:r>
              <a:rPr lang="en">
                <a:solidFill>
                  <a:schemeClr val="dk1"/>
                </a:solidFill>
              </a:rPr>
              <a:t>https://material.io/design/environment/elevation.html#elevation-in-material-design</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111c9ae9e70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111c9ae9e70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d1eaf9238c_2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d1eaf9238c_2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https://material.io/design/iconography/product-icons.html#specs</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d1eaf9238c_2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d1eaf9238c_2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 https://material.io/design/iconography/product-icons.html#specs</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d1eaf9238c_2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d1eaf9238c_2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https://material.io/design/iconography/system-icons.html#design-principles</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111c9ae9e70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111c9ae9e70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d1eaf9238c_2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d1eaf9238c_2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https://material.io/design/interaction/states.html#usage</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d1eaf9238c_2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d1eaf9238c_2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https://material.io/design/typography/the-type-system.html#type-scale</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d1eaf9238c_2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d1eaf9238c_2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fromhttps://material.io/design/environment/elevation.html#elevation-in-material-design</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111c9ae9e70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111c9ae9e70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d1eaf9238c_2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d1eaf9238c_2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https://material.io/design/layout/spacing-methods.html#spacing</a:t>
            </a:r>
            <a:endParaRPr>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d1eaf9238c_2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d1eaf9238c_2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https://material.io/design/layout/spacing-methods.html#spacing</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d1eaf9238c_2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d1eaf9238c_2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https://material.io/design/environment/elevation.html#elevation-in-material-design</a:t>
            </a:r>
            <a:endParaRPr>
              <a:solidFill>
                <a:schemeClr val="dk1"/>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111c9ae9e70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111c9ae9e70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d1eaf9238c_2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d1eaf9238c_2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https://material.io/components/buttons</a:t>
            </a:r>
            <a:endParaRPr>
              <a:solidFill>
                <a:schemeClr val="dk1"/>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d1eaf9238c_2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d1eaf9238c_2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https://material.io/components/buttons</a:t>
            </a:r>
            <a:endParaRPr>
              <a:solidFill>
                <a:schemeClr val="dk1"/>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d1eaf9238c_2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d1eaf9238c_2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https://material.io/components/cards#anatomy</a:t>
            </a:r>
            <a:endParaRPr>
              <a:solidFill>
                <a:schemeClr val="dk1"/>
              </a:solidFil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d1eaf9238c_2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d1eaf9238c_2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https://material.io/components/cards</a:t>
            </a:r>
            <a:endParaRPr>
              <a:solidFill>
                <a:schemeClr val="dk1"/>
              </a:solidFil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d1eaf9238c_2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d1eaf9238c_2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https://material.io/components/dividers#usage</a:t>
            </a:r>
            <a:endParaRPr>
              <a:solidFill>
                <a:schemeClr val="dk1"/>
              </a:solidFil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d1eaf9238c_2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d1eaf9238c_2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https://material.io/components/dividers#types</a:t>
            </a:r>
            <a:endParaRPr>
              <a:solidFill>
                <a:schemeClr val="dk1"/>
              </a:solidFil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d1eaf9238c_2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9" name="Google Shape;599;gd1eaf9238c_2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https://material.io/components/dividers#types</a:t>
            </a:r>
            <a:endParaRPr>
              <a:solidFill>
                <a:schemeClr val="dk1"/>
              </a:solidFil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11127d2a46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11127d2a46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10e8c3a84c0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10e8c3a84c0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d1eaf9238c_2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d1eaf9238c_2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d1eaf9238c_2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d1eaf9238c_2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d1eaf9238c_2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5" name="Google Shape;635;gd1eaf9238c_2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d1eaf9238c_2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d1eaf9238c_2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d1eaf9238c_2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d1eaf9238c_2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d1eaf9238c_2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8" name="Google Shape;658;gd1eaf9238c_2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d1eaf9238c_2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5" name="Google Shape;665;gd1eaf9238c_2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d1eaf9238c_2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3" name="Google Shape;673;gd1eaf9238c_2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d1eaf9238c_2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0" name="Google Shape;680;gd1eaf9238c_2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gd1eaf9238c_2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8" name="Google Shape;688;gd1eaf9238c_2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d1eaf9238c_2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5" name="Google Shape;695;gd1eaf9238c_2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d1eaf9238c_2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3" name="Google Shape;703;gd1eaf9238c_2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d1eaf9238c_2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0" name="Google Shape;710;gd1eaf9238c_2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112c66a922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8" name="Google Shape;718;g112c66a922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6" name="Google Shape;726;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dribbble.com/shots/15344343-Ninox-Design-System" TargetMode="External"/><Relationship Id="rId4" Type="http://schemas.openxmlformats.org/officeDocument/2006/relationships/image" Target="../media/image4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dribbble.com/shots/15344343-Ninox-Design-System" TargetMode="External"/><Relationship Id="rId4" Type="http://schemas.openxmlformats.org/officeDocument/2006/relationships/image" Target="../media/image4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dribbble.com/shots/9092588-VisualEyes-Design-System" TargetMode="Externa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dribbble.com/shots/9092588-VisualEyes-Design-System" TargetMode="Externa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material.io/design/layout/understanding-layout.html#principles" TargetMode="Externa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material.io/design/layout/understanding-layout.html#principles" TargetMode="Externa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material.io/design/layout/understanding-layout.html#principles" TargetMode="Externa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material.io/design/layout/understanding-layout.html#principles" TargetMode="Externa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material.io/design/layout/understanding-layout.html#principles" TargetMode="External"/><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material.io/design/layout/understanding-layout.html#principles" TargetMode="Externa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material.io/design/layout/understanding-layout.html#principles" TargetMode="Externa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material.io/design/color/the-color-system.html" TargetMode="Externa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material.io/design/layout/understanding-layout.html#principles" TargetMode="Externa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material.io/design/color/the-color-system.html" TargetMode="External"/><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s://dribbble.com/shots/16437841-Man-and-the-machine" TargetMode="External"/><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hyperlink" Target="https://material.io/design/typography/the-type-system.html#type-scale" TargetMode="External"/><Relationship Id="rId4" Type="http://schemas.openxmlformats.org/officeDocument/2006/relationships/image" Target="../media/image1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s://dribbble.com/shots/16437841-Man-and-the-machine" TargetMode="External"/><Relationship Id="rId4" Type="http://schemas.openxmlformats.org/officeDocument/2006/relationships/image" Target="../media/image17.png"/><Relationship Id="rId5" Type="http://schemas.openxmlformats.org/officeDocument/2006/relationships/hyperlink" Target="https://dribbble.com/shots/16437841-Man-and-the-machine"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s://uxdesign.cc/a-better-way-to-create-typography-design-systems-689c851dc616" TargetMode="External"/><Relationship Id="rId4" Type="http://schemas.openxmlformats.org/officeDocument/2006/relationships/image" Target="../media/image18.gi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https://material.io/design/typography/the-type-system.html#type-scale" TargetMode="External"/><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s://type-scale.com/" TargetMode="External"/><Relationship Id="rId4" Type="http://schemas.openxmlformats.org/officeDocument/2006/relationships/image" Target="../media/image1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hyperlink" Target="https://fonts.google.com/" TargetMode="External"/><Relationship Id="rId4" Type="http://schemas.openxmlformats.org/officeDocument/2006/relationships/image" Target="../media/image2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hyperlink" Target="https://www.fontfabric.com/" TargetMode="External"/><Relationship Id="rId4" Type="http://schemas.openxmlformats.org/officeDocument/2006/relationships/image" Target="../media/image2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hyperlink" Target="https://www.layoutgridcalculator.com/typographic-scale/" TargetMode="External"/><Relationship Id="rId4" Type="http://schemas.openxmlformats.org/officeDocument/2006/relationships/image" Target="../media/image2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hyperlink" Target="https://fontjoy.com/" TargetMode="External"/><Relationship Id="rId4"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hyperlink" Target="https://dribbble.com/shots/16437841-Man-and-the-machine" TargetMode="External"/><Relationship Id="rId4" Type="http://schemas.openxmlformats.org/officeDocument/2006/relationships/image" Target="../media/image3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hyperlink" Target="https://material.io/design/typography/the-type-system.html#type-scale" TargetMode="External"/><Relationship Id="rId4" Type="http://schemas.openxmlformats.org/officeDocument/2006/relationships/image" Target="../media/image30.gi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hyperlink" Target="https://material.io/design/environment/elevation.html#elevation-in-material-design" TargetMode="External"/><Relationship Id="rId4" Type="http://schemas.openxmlformats.org/officeDocument/2006/relationships/image" Target="../media/image2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hyperlink" Target="https://dribbble.com/shots/16437841-Man-and-the-machine" TargetMode="External"/><Relationship Id="rId4" Type="http://schemas.openxmlformats.org/officeDocument/2006/relationships/image" Target="../media/image2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hyperlink" Target="https://material.io/design/iconography/product-icons.html#specs" TargetMode="External"/><Relationship Id="rId4" Type="http://schemas.openxmlformats.org/officeDocument/2006/relationships/image" Target="../media/image3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hyperlink" Target="https://material.io/design/iconography/system-icons.html#design-principles" TargetMode="External"/><Relationship Id="rId4" Type="http://schemas.openxmlformats.org/officeDocument/2006/relationships/image" Target="../media/image4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hyperlink" Target="https://material.io/design/interaction/states.html#usage" TargetMode="External"/><Relationship Id="rId4" Type="http://schemas.openxmlformats.org/officeDocument/2006/relationships/image" Target="../media/image3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hyperlink" Target="https://material.io/design/typography/the-type-system.html#type-scale" TargetMode="External"/><Relationship Id="rId4" Type="http://schemas.openxmlformats.org/officeDocument/2006/relationships/image" Target="../media/image2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hyperlink" Target="https://material.io/design/environment/elevation.html#elevation-in-material-design" TargetMode="External"/><Relationship Id="rId4" Type="http://schemas.openxmlformats.org/officeDocument/2006/relationships/image" Target="../media/image32.png"/><Relationship Id="rId5" Type="http://schemas.openxmlformats.org/officeDocument/2006/relationships/hyperlink" Target="https://material.io/design/environment/elevation.html#elevation-in-material-design"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hyperlink" Target="https://material.io/design/layout/spacing-methods.html#spacing" TargetMode="External"/><Relationship Id="rId4" Type="http://schemas.openxmlformats.org/officeDocument/2006/relationships/image" Target="../media/image2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hyperlink" Target="https://material.io/design/layout/spacing-methods.html" TargetMode="External"/><Relationship Id="rId4" Type="http://schemas.openxmlformats.org/officeDocument/2006/relationships/image" Target="../media/image4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hyperlink" Target="https://material.io/design/layout/spacing-methods.html" TargetMode="External"/><Relationship Id="rId4" Type="http://schemas.openxmlformats.org/officeDocument/2006/relationships/image" Target="../media/image35.gif"/></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hyperlink" Target="https://material.io/components/buttons" TargetMode="External"/><Relationship Id="rId4" Type="http://schemas.openxmlformats.org/officeDocument/2006/relationships/image" Target="../media/image3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hyperlink" Target="https://material.io/components/buttons" TargetMode="External"/><Relationship Id="rId4" Type="http://schemas.openxmlformats.org/officeDocument/2006/relationships/image" Target="../media/image4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hyperlink" Target="https://material.io/components/cards#anatomy" TargetMode="External"/><Relationship Id="rId4" Type="http://schemas.openxmlformats.org/officeDocument/2006/relationships/image" Target="../media/image4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hyperlink" Target="https://material.io/components/cards" TargetMode="External"/><Relationship Id="rId4" Type="http://schemas.openxmlformats.org/officeDocument/2006/relationships/image" Target="../media/image4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hyperlink" Target="https://material.io/components/dividers#usage" TargetMode="External"/><Relationship Id="rId4" Type="http://schemas.openxmlformats.org/officeDocument/2006/relationships/image" Target="../media/image38.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hyperlink" Target="https://material.io/components/dividers#types" TargetMode="External"/><Relationship Id="rId4" Type="http://schemas.openxmlformats.org/officeDocument/2006/relationships/image" Target="../media/image4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hyperlink" Target="https://material.io/components/dividers#types" TargetMode="External"/><Relationship Id="rId4" Type="http://schemas.openxmlformats.org/officeDocument/2006/relationships/image" Target="../media/image4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0" Type="http://schemas.openxmlformats.org/officeDocument/2006/relationships/hyperlink" Target="https://material.io/components" TargetMode="External"/><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9.png"/><Relationship Id="rId4" Type="http://schemas.openxmlformats.org/officeDocument/2006/relationships/hyperlink" Target="https://uxdesign.cc/everything-you-need-to-know-about-design-systems-54b109851969" TargetMode="External"/><Relationship Id="rId9" Type="http://schemas.openxmlformats.org/officeDocument/2006/relationships/hyperlink" Target="https://material.io/design/introduction" TargetMode="External"/><Relationship Id="rId5" Type="http://schemas.openxmlformats.org/officeDocument/2006/relationships/hyperlink" Target="https://uxdesign.cc/everything-you-need-to-know-about-design-systems-54b109851969" TargetMode="External"/><Relationship Id="rId6" Type="http://schemas.openxmlformats.org/officeDocument/2006/relationships/hyperlink" Target="https://uxplanet.org/why-are-design-systems-so-important-dda6225be5d7" TargetMode="External"/><Relationship Id="rId7" Type="http://schemas.openxmlformats.org/officeDocument/2006/relationships/hyperlink" Target="https://uxdesign.cc/a-better-way-to-create-typography-design-systems-689c851dc616" TargetMode="External"/><Relationship Id="rId8" Type="http://schemas.openxmlformats.org/officeDocument/2006/relationships/hyperlink" Target="https://uxdesign.cc/a-better-way-to-create-typography-design-systems-689c851dc616"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0.xml"/><Relationship Id="rId3"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81" name="Shape 81"/>
        <p:cNvGrpSpPr/>
        <p:nvPr/>
      </p:nvGrpSpPr>
      <p:grpSpPr>
        <a:xfrm>
          <a:off x="0" y="0"/>
          <a:ext cx="0" cy="0"/>
          <a:chOff x="0" y="0"/>
          <a:chExt cx="0" cy="0"/>
        </a:xfrm>
      </p:grpSpPr>
      <p:sp>
        <p:nvSpPr>
          <p:cNvPr id="82" name="Google Shape;82;p16"/>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Raleway"/>
                <a:ea typeface="Raleway"/>
                <a:cs typeface="Raleway"/>
                <a:sym typeface="Raleway"/>
              </a:rPr>
              <a:t>Design System</a:t>
            </a:r>
            <a:endParaRPr b="1" sz="2400">
              <a:solidFill>
                <a:srgbClr val="FFFFFF"/>
              </a:solidFill>
              <a:latin typeface="Raleway"/>
              <a:ea typeface="Raleway"/>
              <a:cs typeface="Raleway"/>
              <a:sym typeface="Raleway"/>
            </a:endParaRPr>
          </a:p>
          <a:p>
            <a:pPr indent="0" lvl="0" marL="0" rtl="0" algn="l">
              <a:spcBef>
                <a:spcPts val="0"/>
              </a:spcBef>
              <a:spcAft>
                <a:spcPts val="0"/>
              </a:spcAft>
              <a:buClr>
                <a:schemeClr val="dk1"/>
              </a:buClr>
              <a:buSzPts val="1100"/>
              <a:buFont typeface="Arial"/>
              <a:buNone/>
            </a:pPr>
            <a:r>
              <a:rPr b="1" lang="en">
                <a:solidFill>
                  <a:schemeClr val="lt1"/>
                </a:solidFill>
                <a:latin typeface="Raleway"/>
                <a:ea typeface="Raleway"/>
                <a:cs typeface="Raleway"/>
                <a:sym typeface="Raleway"/>
              </a:rPr>
              <a:t>Chapter 4 - Topic 3</a:t>
            </a:r>
            <a:endParaRPr b="1">
              <a:solidFill>
                <a:srgbClr val="FFFFFF"/>
              </a:solidFill>
              <a:latin typeface="Raleway"/>
              <a:ea typeface="Raleway"/>
              <a:cs typeface="Raleway"/>
              <a:sym typeface="Raleway"/>
            </a:endParaRPr>
          </a:p>
        </p:txBody>
      </p:sp>
      <p:cxnSp>
        <p:nvCxnSpPr>
          <p:cNvPr id="83" name="Google Shape;83;p16"/>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84" name="Google Shape;84;p16"/>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85" name="Google Shape;85;p16"/>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1" name="Google Shape;91;p1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Agenda</a:t>
            </a:r>
            <a:endParaRPr/>
          </a:p>
        </p:txBody>
      </p:sp>
      <p:pic>
        <p:nvPicPr>
          <p:cNvPr id="92" name="Google Shape;92;p17"/>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93" name="Google Shape;93;p17"/>
          <p:cNvSpPr txBox="1"/>
          <p:nvPr/>
        </p:nvSpPr>
        <p:spPr>
          <a:xfrm>
            <a:off x="685800" y="1024128"/>
            <a:ext cx="4114800" cy="36576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Design System</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a:solidFill>
                  <a:schemeClr val="dk1"/>
                </a:solidFill>
                <a:latin typeface="Raleway Medium"/>
                <a:ea typeface="Raleway Medium"/>
                <a:cs typeface="Raleway Medium"/>
                <a:sym typeface="Raleway Medium"/>
              </a:rPr>
              <a:t>Mengapa design system penting?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Layouts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Colour system</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Type system</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5) </a:t>
            </a:r>
            <a:r>
              <a:rPr lang="en" sz="1200">
                <a:solidFill>
                  <a:schemeClr val="dk1"/>
                </a:solidFill>
                <a:latin typeface="Raleway Medium"/>
                <a:ea typeface="Raleway Medium"/>
                <a:cs typeface="Raleway Medium"/>
                <a:sym typeface="Raleway Medium"/>
              </a:rPr>
              <a:t>Elevation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6) </a:t>
            </a:r>
            <a:r>
              <a:rPr lang="en" sz="1200">
                <a:solidFill>
                  <a:schemeClr val="dk1"/>
                </a:solidFill>
                <a:latin typeface="Raleway Medium"/>
                <a:ea typeface="Raleway Medium"/>
                <a:cs typeface="Raleway Medium"/>
                <a:sym typeface="Raleway Medium"/>
              </a:rPr>
              <a:t>Product and system icons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7) States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8) Metode spacing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9) Buttons, cards dan dividers</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8"/>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Mengapa </a:t>
            </a:r>
            <a:r>
              <a:rPr lang="en">
                <a:solidFill>
                  <a:schemeClr val="accent1"/>
                </a:solidFill>
              </a:rPr>
              <a:t>design system</a:t>
            </a:r>
            <a:r>
              <a:rPr lang="en"/>
              <a:t> penting?</a:t>
            </a:r>
            <a:endParaRPr/>
          </a:p>
        </p:txBody>
      </p:sp>
      <p:sp>
        <p:nvSpPr>
          <p:cNvPr id="99" name="Google Shape;99;p1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5" name="Google Shape;105;p1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Mengapa design system penting?</a:t>
            </a:r>
            <a:endParaRPr/>
          </a:p>
        </p:txBody>
      </p:sp>
      <p:sp>
        <p:nvSpPr>
          <p:cNvPr id="106" name="Google Shape;106;p19"/>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Recap</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Sistem Desain adalah sebuah sumber atau kelompok elemen yang memungkinkan tim merancang, mewujudkan, dan mengembangkan produk.</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Sistem desain berisi komponen - komponen dan aset desain yang dapat digunakan pada produk dengan panduan tentang cara menggunakannya.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Tujuan dari sistem desain adalah untuk membantu tim mencapai efisiensi, konsistensi, dan skalabilitas yang lebih tinggi saat membangun sebuah produk digital.</a:t>
            </a:r>
            <a:endParaRPr sz="1200">
              <a:solidFill>
                <a:schemeClr val="dk1"/>
              </a:solidFill>
              <a:latin typeface="Raleway Medium"/>
              <a:ea typeface="Raleway Medium"/>
              <a:cs typeface="Raleway Medium"/>
              <a:sym typeface="Raleway Medium"/>
            </a:endParaRPr>
          </a:p>
        </p:txBody>
      </p:sp>
      <p:pic>
        <p:nvPicPr>
          <p:cNvPr id="107" name="Google Shape;107;p19">
            <a:hlinkClick r:id="rId3"/>
          </p:cNvPr>
          <p:cNvPicPr preferRelativeResize="0"/>
          <p:nvPr/>
        </p:nvPicPr>
        <p:blipFill rotWithShape="1">
          <a:blip r:embed="rId4">
            <a:alphaModFix/>
          </a:blip>
          <a:srcRect b="0" l="8766" r="8766" t="0"/>
          <a:stretch/>
        </p:blipFill>
        <p:spPr>
          <a:xfrm>
            <a:off x="5486400" y="1280150"/>
            <a:ext cx="3017524" cy="2743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3" name="Google Shape;113;p2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Mengapa design system penting?</a:t>
            </a:r>
            <a:endParaRPr/>
          </a:p>
        </p:txBody>
      </p:sp>
      <p:sp>
        <p:nvSpPr>
          <p:cNvPr id="114" name="Google Shape;114;p20"/>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Mengapa design system penting?</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Ada beberapa hal yang membuat sebuah sistem desain sangatlah penting.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Menghilangkan inkonsistensi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Mempercepat proses desain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a:t>
            </a:r>
            <a:r>
              <a:rPr lang="en" sz="1200">
                <a:solidFill>
                  <a:schemeClr val="dk1"/>
                </a:solidFill>
                <a:latin typeface="Raleway Medium"/>
                <a:ea typeface="Raleway Medium"/>
                <a:cs typeface="Raleway Medium"/>
                <a:sym typeface="Raleway Medium"/>
              </a:rPr>
              <a:t>Mengurangi beban kognitif</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Mari kita telusuri satu persatu.</a:t>
            </a:r>
            <a:endParaRPr sz="1200">
              <a:solidFill>
                <a:schemeClr val="dk1"/>
              </a:solidFill>
              <a:latin typeface="Raleway Medium"/>
              <a:ea typeface="Raleway Medium"/>
              <a:cs typeface="Raleway Medium"/>
              <a:sym typeface="Raleway Medium"/>
            </a:endParaRPr>
          </a:p>
        </p:txBody>
      </p:sp>
      <p:pic>
        <p:nvPicPr>
          <p:cNvPr id="115" name="Google Shape;115;p20">
            <a:hlinkClick r:id="rId3"/>
          </p:cNvPr>
          <p:cNvPicPr preferRelativeResize="0"/>
          <p:nvPr/>
        </p:nvPicPr>
        <p:blipFill rotWithShape="1">
          <a:blip r:embed="rId4">
            <a:alphaModFix/>
          </a:blip>
          <a:srcRect b="0" l="8766" r="8766" t="0"/>
          <a:stretch/>
        </p:blipFill>
        <p:spPr>
          <a:xfrm>
            <a:off x="5486400" y="1280150"/>
            <a:ext cx="3017524" cy="274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1" name="Google Shape;121;p2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Mengapa design system penting?</a:t>
            </a:r>
            <a:endParaRPr/>
          </a:p>
        </p:txBody>
      </p:sp>
      <p:grpSp>
        <p:nvGrpSpPr>
          <p:cNvPr id="122" name="Google Shape;122;p21"/>
          <p:cNvGrpSpPr/>
          <p:nvPr/>
        </p:nvGrpSpPr>
        <p:grpSpPr>
          <a:xfrm>
            <a:off x="762048" y="1099443"/>
            <a:ext cx="2390497" cy="3393161"/>
            <a:chOff x="1126863" y="2013875"/>
            <a:chExt cx="1944600" cy="1569600"/>
          </a:xfrm>
        </p:grpSpPr>
        <p:sp>
          <p:nvSpPr>
            <p:cNvPr id="123" name="Google Shape;123;p21"/>
            <p:cNvSpPr/>
            <p:nvPr/>
          </p:nvSpPr>
          <p:spPr>
            <a:xfrm>
              <a:off x="1126863" y="2013875"/>
              <a:ext cx="1944600" cy="1569600"/>
            </a:xfrm>
            <a:prstGeom prst="round2DiagRect">
              <a:avLst>
                <a:gd fmla="val 0" name="adj1"/>
                <a:gd fmla="val 17764" name="adj2"/>
              </a:avLst>
            </a:prstGeom>
            <a:solidFill>
              <a:srgbClr val="7436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p:txBody>
        </p:sp>
        <p:sp>
          <p:nvSpPr>
            <p:cNvPr id="124" name="Google Shape;124;p21"/>
            <p:cNvSpPr txBox="1"/>
            <p:nvPr/>
          </p:nvSpPr>
          <p:spPr>
            <a:xfrm>
              <a:off x="1351627" y="2124400"/>
              <a:ext cx="1451700" cy="24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rgbClr val="FFFFFF"/>
                  </a:solidFill>
                  <a:latin typeface="Raleway"/>
                  <a:ea typeface="Raleway"/>
                  <a:cs typeface="Raleway"/>
                  <a:sym typeface="Raleway"/>
                </a:rPr>
                <a:t>Menghilangkan inkonsistensi</a:t>
              </a:r>
              <a:endParaRPr sz="1100">
                <a:solidFill>
                  <a:srgbClr val="FFFFFF"/>
                </a:solidFill>
                <a:latin typeface="Raleway"/>
                <a:ea typeface="Raleway"/>
                <a:cs typeface="Raleway"/>
                <a:sym typeface="Raleway"/>
              </a:endParaRPr>
            </a:p>
          </p:txBody>
        </p:sp>
        <p:sp>
          <p:nvSpPr>
            <p:cNvPr id="125" name="Google Shape;125;p21"/>
            <p:cNvSpPr txBox="1"/>
            <p:nvPr/>
          </p:nvSpPr>
          <p:spPr>
            <a:xfrm>
              <a:off x="1351625" y="2349556"/>
              <a:ext cx="1451700" cy="1029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050">
                  <a:solidFill>
                    <a:srgbClr val="FFFFFF"/>
                  </a:solidFill>
                  <a:latin typeface="Raleway"/>
                  <a:ea typeface="Raleway"/>
                  <a:cs typeface="Raleway"/>
                  <a:sym typeface="Raleway"/>
                </a:rPr>
                <a:t>Desain perlu konsistensi untuk membuat pengguna mengerti maksud desain dengan baik cepat. </a:t>
              </a:r>
              <a:endParaRPr sz="1050">
                <a:solidFill>
                  <a:srgbClr val="FFFFFF"/>
                </a:solidFill>
                <a:latin typeface="Raleway"/>
                <a:ea typeface="Raleway"/>
                <a:cs typeface="Raleway"/>
                <a:sym typeface="Raleway"/>
              </a:endParaRPr>
            </a:p>
            <a:p>
              <a:pPr indent="0" lvl="0" marL="0" rtl="0" algn="l">
                <a:lnSpc>
                  <a:spcPct val="115000"/>
                </a:lnSpc>
                <a:spcBef>
                  <a:spcPts val="1600"/>
                </a:spcBef>
                <a:spcAft>
                  <a:spcPts val="1600"/>
                </a:spcAft>
                <a:buNone/>
              </a:pPr>
              <a:r>
                <a:rPr lang="en" sz="1050">
                  <a:solidFill>
                    <a:srgbClr val="FFFFFF"/>
                  </a:solidFill>
                  <a:latin typeface="Raleway"/>
                  <a:ea typeface="Raleway"/>
                  <a:cs typeface="Raleway"/>
                  <a:sym typeface="Raleway"/>
                </a:rPr>
                <a:t>Design system memberikan standar - standar pada elemen elemen dalam produk yang sedang dibuat.</a:t>
              </a:r>
              <a:endParaRPr sz="1050">
                <a:solidFill>
                  <a:srgbClr val="FFFFFF"/>
                </a:solidFill>
                <a:latin typeface="Raleway"/>
                <a:ea typeface="Raleway"/>
                <a:cs typeface="Raleway"/>
                <a:sym typeface="Raleway"/>
              </a:endParaRPr>
            </a:p>
          </p:txBody>
        </p:sp>
      </p:grpSp>
      <p:grpSp>
        <p:nvGrpSpPr>
          <p:cNvPr id="126" name="Google Shape;126;p21"/>
          <p:cNvGrpSpPr/>
          <p:nvPr/>
        </p:nvGrpSpPr>
        <p:grpSpPr>
          <a:xfrm>
            <a:off x="5671075" y="1335024"/>
            <a:ext cx="2492100" cy="1598432"/>
            <a:chOff x="5360212" y="2122782"/>
            <a:chExt cx="2492100" cy="739399"/>
          </a:xfrm>
        </p:grpSpPr>
        <p:sp>
          <p:nvSpPr>
            <p:cNvPr id="127" name="Google Shape;127;p21"/>
            <p:cNvSpPr txBox="1"/>
            <p:nvPr/>
          </p:nvSpPr>
          <p:spPr>
            <a:xfrm>
              <a:off x="5360226" y="2122782"/>
              <a:ext cx="2417100" cy="16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rgbClr val="FFFFFF"/>
                  </a:solidFill>
                  <a:latin typeface="Raleway"/>
                  <a:ea typeface="Raleway"/>
                  <a:cs typeface="Raleway"/>
                  <a:sym typeface="Raleway"/>
                </a:rPr>
                <a:t>Mengurangi beban kognitif</a:t>
              </a:r>
              <a:endParaRPr b="1" sz="1100">
                <a:solidFill>
                  <a:srgbClr val="FFFFFF"/>
                </a:solidFill>
                <a:latin typeface="Raleway"/>
                <a:ea typeface="Raleway"/>
                <a:cs typeface="Raleway"/>
                <a:sym typeface="Raleway"/>
              </a:endParaRPr>
            </a:p>
          </p:txBody>
        </p:sp>
        <p:sp>
          <p:nvSpPr>
            <p:cNvPr id="128" name="Google Shape;128;p21"/>
            <p:cNvSpPr txBox="1"/>
            <p:nvPr/>
          </p:nvSpPr>
          <p:spPr>
            <a:xfrm>
              <a:off x="5360212" y="2349780"/>
              <a:ext cx="2492100" cy="512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solidFill>
                    <a:srgbClr val="FFFFFF"/>
                  </a:solidFill>
                  <a:latin typeface="Raleway"/>
                  <a:ea typeface="Raleway"/>
                  <a:cs typeface="Raleway"/>
                  <a:sym typeface="Raleway"/>
                </a:rPr>
                <a:t>Dengan menciptakan pengalaman yang konsisten bagi pelanggan, kita dapat mengurangi beban kognitif mereka saat beralih dari pengalaman aplikasi seluler ke pengalaman browser desktop.</a:t>
              </a:r>
              <a:endParaRPr sz="1000">
                <a:solidFill>
                  <a:srgbClr val="FFFFFF"/>
                </a:solidFill>
                <a:latin typeface="Raleway"/>
                <a:ea typeface="Raleway"/>
                <a:cs typeface="Raleway"/>
                <a:sym typeface="Raleway"/>
              </a:endParaRPr>
            </a:p>
            <a:p>
              <a:pPr indent="0" lvl="0" marL="0" rtl="0" algn="l">
                <a:lnSpc>
                  <a:spcPct val="115000"/>
                </a:lnSpc>
                <a:spcBef>
                  <a:spcPts val="1600"/>
                </a:spcBef>
                <a:spcAft>
                  <a:spcPts val="1600"/>
                </a:spcAft>
                <a:buNone/>
              </a:pPr>
              <a:r>
                <a:rPr lang="en" sz="1000">
                  <a:solidFill>
                    <a:srgbClr val="FFFFFF"/>
                  </a:solidFill>
                  <a:latin typeface="Raleway"/>
                  <a:ea typeface="Raleway"/>
                  <a:cs typeface="Raleway"/>
                  <a:sym typeface="Raleway"/>
                </a:rPr>
                <a:t>Bayangkan jika Anda melihat Google Kalender di ponsel Anda, kemudian beberapa menit kemudian memeriksanya di browser. Jika mereka terlihat dan berperilaku berbeda, Anda mungkin akan bingung dan bahkan sedikit frustasi.</a:t>
              </a:r>
              <a:endParaRPr sz="1000">
                <a:solidFill>
                  <a:srgbClr val="FFFFFF"/>
                </a:solidFill>
                <a:latin typeface="Raleway"/>
                <a:ea typeface="Raleway"/>
                <a:cs typeface="Raleway"/>
                <a:sym typeface="Raleway"/>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4" name="Google Shape;134;p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Mengapa design system penting?</a:t>
            </a:r>
            <a:endParaRPr/>
          </a:p>
        </p:txBody>
      </p:sp>
      <p:grpSp>
        <p:nvGrpSpPr>
          <p:cNvPr id="135" name="Google Shape;135;p22"/>
          <p:cNvGrpSpPr/>
          <p:nvPr/>
        </p:nvGrpSpPr>
        <p:grpSpPr>
          <a:xfrm>
            <a:off x="3150108" y="1099591"/>
            <a:ext cx="2183980" cy="3393161"/>
            <a:chOff x="3071457" y="2013875"/>
            <a:chExt cx="1944600" cy="1569600"/>
          </a:xfrm>
        </p:grpSpPr>
        <p:sp>
          <p:nvSpPr>
            <p:cNvPr id="136" name="Google Shape;136;p22"/>
            <p:cNvSpPr/>
            <p:nvPr/>
          </p:nvSpPr>
          <p:spPr>
            <a:xfrm flipH="1" rot="10800000">
              <a:off x="3071457" y="2013875"/>
              <a:ext cx="1944600" cy="1569600"/>
            </a:xfrm>
            <a:prstGeom prst="round2DiagRect">
              <a:avLst>
                <a:gd fmla="val 0" name="adj1"/>
                <a:gd fmla="val 17764" name="adj2"/>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p:txBody>
        </p:sp>
        <p:sp>
          <p:nvSpPr>
            <p:cNvPr id="137" name="Google Shape;137;p22"/>
            <p:cNvSpPr txBox="1"/>
            <p:nvPr/>
          </p:nvSpPr>
          <p:spPr>
            <a:xfrm>
              <a:off x="3316102" y="2122781"/>
              <a:ext cx="1451700" cy="242100"/>
            </a:xfrm>
            <a:prstGeom prst="rect">
              <a:avLst/>
            </a:prstGeom>
            <a:solidFill>
              <a:srgbClr val="A667A5"/>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rgbClr val="FFFFFF"/>
                  </a:solidFill>
                  <a:latin typeface="Raleway"/>
                  <a:ea typeface="Raleway"/>
                  <a:cs typeface="Raleway"/>
                  <a:sym typeface="Raleway"/>
                </a:rPr>
                <a:t>Mempercepat proses desain</a:t>
              </a:r>
              <a:endParaRPr b="1" sz="1100">
                <a:solidFill>
                  <a:srgbClr val="FFFFFF"/>
                </a:solidFill>
                <a:latin typeface="Raleway"/>
                <a:ea typeface="Raleway"/>
                <a:cs typeface="Raleway"/>
                <a:sym typeface="Raleway"/>
              </a:endParaRPr>
            </a:p>
          </p:txBody>
        </p:sp>
        <p:sp>
          <p:nvSpPr>
            <p:cNvPr id="138" name="Google Shape;138;p22"/>
            <p:cNvSpPr txBox="1"/>
            <p:nvPr/>
          </p:nvSpPr>
          <p:spPr>
            <a:xfrm>
              <a:off x="3316100" y="2349781"/>
              <a:ext cx="1451700" cy="1139100"/>
            </a:xfrm>
            <a:prstGeom prst="rect">
              <a:avLst/>
            </a:prstGeom>
            <a:solidFill>
              <a:srgbClr val="A667A5"/>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None/>
              </a:pPr>
              <a:r>
                <a:rPr lang="en" sz="1000">
                  <a:solidFill>
                    <a:srgbClr val="FFFFFF"/>
                  </a:solidFill>
                  <a:latin typeface="Raleway"/>
                  <a:ea typeface="Raleway"/>
                  <a:cs typeface="Raleway"/>
                  <a:sym typeface="Raleway"/>
                </a:rPr>
                <a:t>Membuat sistem desain yang terpadu akan mempercepat proses desain sekaligus membantu membangun jembatan antara tim. Desain yang baik adalah sebuah bahasa, dan ketika semua orang berbicara dalam bahasa yang sama, saat itulah segala sesuatunya dilakukan dengan baik.</a:t>
              </a:r>
              <a:endParaRPr sz="1000">
                <a:solidFill>
                  <a:srgbClr val="FFFFFF"/>
                </a:solidFill>
                <a:latin typeface="Raleway"/>
                <a:ea typeface="Raleway"/>
                <a:cs typeface="Raleway"/>
                <a:sym typeface="Raleway"/>
              </a:endParaRPr>
            </a:p>
          </p:txBody>
        </p:sp>
      </p:grpSp>
      <p:grpSp>
        <p:nvGrpSpPr>
          <p:cNvPr id="139" name="Google Shape;139;p22"/>
          <p:cNvGrpSpPr/>
          <p:nvPr/>
        </p:nvGrpSpPr>
        <p:grpSpPr>
          <a:xfrm>
            <a:off x="762048" y="1099443"/>
            <a:ext cx="2390497" cy="3393161"/>
            <a:chOff x="1126863" y="2013875"/>
            <a:chExt cx="1944600" cy="1569600"/>
          </a:xfrm>
        </p:grpSpPr>
        <p:sp>
          <p:nvSpPr>
            <p:cNvPr id="140" name="Google Shape;140;p22"/>
            <p:cNvSpPr/>
            <p:nvPr/>
          </p:nvSpPr>
          <p:spPr>
            <a:xfrm>
              <a:off x="1126863" y="2013875"/>
              <a:ext cx="1944600" cy="1569600"/>
            </a:xfrm>
            <a:prstGeom prst="round2DiagRect">
              <a:avLst>
                <a:gd fmla="val 0" name="adj1"/>
                <a:gd fmla="val 17764" name="adj2"/>
              </a:avLst>
            </a:prstGeom>
            <a:solidFill>
              <a:srgbClr val="7436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p:txBody>
        </p:sp>
        <p:sp>
          <p:nvSpPr>
            <p:cNvPr id="141" name="Google Shape;141;p22"/>
            <p:cNvSpPr txBox="1"/>
            <p:nvPr/>
          </p:nvSpPr>
          <p:spPr>
            <a:xfrm>
              <a:off x="1351627" y="2124400"/>
              <a:ext cx="1451700" cy="24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rgbClr val="FFFFFF"/>
                  </a:solidFill>
                  <a:latin typeface="Raleway"/>
                  <a:ea typeface="Raleway"/>
                  <a:cs typeface="Raleway"/>
                  <a:sym typeface="Raleway"/>
                </a:rPr>
                <a:t>Menghilangkan inkonsistensi</a:t>
              </a:r>
              <a:endParaRPr sz="1100">
                <a:solidFill>
                  <a:srgbClr val="FFFFFF"/>
                </a:solidFill>
                <a:latin typeface="Raleway"/>
                <a:ea typeface="Raleway"/>
                <a:cs typeface="Raleway"/>
                <a:sym typeface="Raleway"/>
              </a:endParaRPr>
            </a:p>
          </p:txBody>
        </p:sp>
        <p:sp>
          <p:nvSpPr>
            <p:cNvPr id="142" name="Google Shape;142;p22"/>
            <p:cNvSpPr txBox="1"/>
            <p:nvPr/>
          </p:nvSpPr>
          <p:spPr>
            <a:xfrm>
              <a:off x="1351625" y="2349556"/>
              <a:ext cx="1451700" cy="1029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050">
                  <a:solidFill>
                    <a:srgbClr val="FFFFFF"/>
                  </a:solidFill>
                  <a:latin typeface="Raleway"/>
                  <a:ea typeface="Raleway"/>
                  <a:cs typeface="Raleway"/>
                  <a:sym typeface="Raleway"/>
                </a:rPr>
                <a:t>Desain perlu konsistensi untuk membuat pengguna mengerti maksud desain dengan baik cepat. </a:t>
              </a:r>
              <a:endParaRPr sz="1050">
                <a:solidFill>
                  <a:srgbClr val="FFFFFF"/>
                </a:solidFill>
                <a:latin typeface="Raleway"/>
                <a:ea typeface="Raleway"/>
                <a:cs typeface="Raleway"/>
                <a:sym typeface="Raleway"/>
              </a:endParaRPr>
            </a:p>
            <a:p>
              <a:pPr indent="0" lvl="0" marL="0" rtl="0" algn="l">
                <a:lnSpc>
                  <a:spcPct val="115000"/>
                </a:lnSpc>
                <a:spcBef>
                  <a:spcPts val="1600"/>
                </a:spcBef>
                <a:spcAft>
                  <a:spcPts val="1600"/>
                </a:spcAft>
                <a:buNone/>
              </a:pPr>
              <a:r>
                <a:rPr lang="en" sz="1050">
                  <a:solidFill>
                    <a:srgbClr val="FFFFFF"/>
                  </a:solidFill>
                  <a:latin typeface="Raleway"/>
                  <a:ea typeface="Raleway"/>
                  <a:cs typeface="Raleway"/>
                  <a:sym typeface="Raleway"/>
                </a:rPr>
                <a:t>Design system memberikan standar - standar pada elemen elemen dalam produk yang sedang dibuat.</a:t>
              </a:r>
              <a:endParaRPr sz="1050">
                <a:solidFill>
                  <a:srgbClr val="FFFFFF"/>
                </a:solidFill>
                <a:latin typeface="Raleway"/>
                <a:ea typeface="Raleway"/>
                <a:cs typeface="Raleway"/>
                <a:sym typeface="Raleway"/>
              </a:endParaRPr>
            </a:p>
          </p:txBody>
        </p:sp>
      </p:grpSp>
      <p:sp>
        <p:nvSpPr>
          <p:cNvPr id="143" name="Google Shape;143;p22"/>
          <p:cNvSpPr/>
          <p:nvPr/>
        </p:nvSpPr>
        <p:spPr>
          <a:xfrm>
            <a:off x="3024478" y="1845248"/>
            <a:ext cx="260400" cy="2826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p:txBody>
      </p:sp>
      <p:sp>
        <p:nvSpPr>
          <p:cNvPr id="144" name="Google Shape;144;p22"/>
          <p:cNvSpPr/>
          <p:nvPr/>
        </p:nvSpPr>
        <p:spPr>
          <a:xfrm>
            <a:off x="3029560" y="1941994"/>
            <a:ext cx="197700" cy="88800"/>
          </a:xfrm>
          <a:prstGeom prst="rightArrow">
            <a:avLst>
              <a:gd fmla="val 32020" name="adj1"/>
              <a:gd fmla="val 66970" name="adj2"/>
            </a:avLst>
          </a:prstGeom>
          <a:solidFill>
            <a:srgbClr val="7335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br>
              <a:rPr lang="en">
                <a:latin typeface="Raleway"/>
                <a:ea typeface="Raleway"/>
                <a:cs typeface="Raleway"/>
                <a:sym typeface="Raleway"/>
              </a:rPr>
            </a:br>
            <a:endParaRPr>
              <a:latin typeface="Raleway"/>
              <a:ea typeface="Raleway"/>
              <a:cs typeface="Raleway"/>
              <a:sym typeface="Raleway"/>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0" name="Google Shape;150;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Mengapa design system penting?</a:t>
            </a:r>
            <a:endParaRPr/>
          </a:p>
        </p:txBody>
      </p:sp>
      <p:grpSp>
        <p:nvGrpSpPr>
          <p:cNvPr id="151" name="Google Shape;151;p23"/>
          <p:cNvGrpSpPr/>
          <p:nvPr/>
        </p:nvGrpSpPr>
        <p:grpSpPr>
          <a:xfrm>
            <a:off x="3150108" y="1099591"/>
            <a:ext cx="2183980" cy="3393161"/>
            <a:chOff x="3071457" y="2013875"/>
            <a:chExt cx="1944600" cy="1569600"/>
          </a:xfrm>
        </p:grpSpPr>
        <p:sp>
          <p:nvSpPr>
            <p:cNvPr id="152" name="Google Shape;152;p23"/>
            <p:cNvSpPr/>
            <p:nvPr/>
          </p:nvSpPr>
          <p:spPr>
            <a:xfrm flipH="1" rot="10800000">
              <a:off x="3071457" y="2013875"/>
              <a:ext cx="1944600" cy="1569600"/>
            </a:xfrm>
            <a:prstGeom prst="round2DiagRect">
              <a:avLst>
                <a:gd fmla="val 0" name="adj1"/>
                <a:gd fmla="val 17764" name="adj2"/>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p:txBody>
        </p:sp>
        <p:sp>
          <p:nvSpPr>
            <p:cNvPr id="153" name="Google Shape;153;p23"/>
            <p:cNvSpPr txBox="1"/>
            <p:nvPr/>
          </p:nvSpPr>
          <p:spPr>
            <a:xfrm>
              <a:off x="3316102" y="2122781"/>
              <a:ext cx="1451700" cy="242100"/>
            </a:xfrm>
            <a:prstGeom prst="rect">
              <a:avLst/>
            </a:prstGeom>
            <a:solidFill>
              <a:srgbClr val="A667A5"/>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rgbClr val="FFFFFF"/>
                  </a:solidFill>
                  <a:latin typeface="Raleway"/>
                  <a:ea typeface="Raleway"/>
                  <a:cs typeface="Raleway"/>
                  <a:sym typeface="Raleway"/>
                </a:rPr>
                <a:t>Mempercepat proses desain</a:t>
              </a:r>
              <a:endParaRPr b="1" sz="1100">
                <a:solidFill>
                  <a:srgbClr val="FFFFFF"/>
                </a:solidFill>
                <a:latin typeface="Raleway"/>
                <a:ea typeface="Raleway"/>
                <a:cs typeface="Raleway"/>
                <a:sym typeface="Raleway"/>
              </a:endParaRPr>
            </a:p>
          </p:txBody>
        </p:sp>
        <p:sp>
          <p:nvSpPr>
            <p:cNvPr id="154" name="Google Shape;154;p23"/>
            <p:cNvSpPr txBox="1"/>
            <p:nvPr/>
          </p:nvSpPr>
          <p:spPr>
            <a:xfrm>
              <a:off x="3316100" y="2349781"/>
              <a:ext cx="1451700" cy="1139100"/>
            </a:xfrm>
            <a:prstGeom prst="rect">
              <a:avLst/>
            </a:prstGeom>
            <a:solidFill>
              <a:srgbClr val="A667A5"/>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None/>
              </a:pPr>
              <a:r>
                <a:rPr lang="en" sz="1000">
                  <a:solidFill>
                    <a:srgbClr val="FFFFFF"/>
                  </a:solidFill>
                  <a:latin typeface="Raleway"/>
                  <a:ea typeface="Raleway"/>
                  <a:cs typeface="Raleway"/>
                  <a:sym typeface="Raleway"/>
                </a:rPr>
                <a:t>Membuat sistem desain yang terpadu akan mempercepat proses desain sekaligus membantu membangun jembatan antara tim. Desain yang baik adalah sebuah bahasa, dan ketika semua orang berbicara dalam bahasa yang sama, saat itulah segala sesuatunya dilakukan dengan baik.</a:t>
              </a:r>
              <a:endParaRPr sz="1000">
                <a:solidFill>
                  <a:srgbClr val="FFFFFF"/>
                </a:solidFill>
                <a:latin typeface="Raleway"/>
                <a:ea typeface="Raleway"/>
                <a:cs typeface="Raleway"/>
                <a:sym typeface="Raleway"/>
              </a:endParaRPr>
            </a:p>
          </p:txBody>
        </p:sp>
      </p:grpSp>
      <p:grpSp>
        <p:nvGrpSpPr>
          <p:cNvPr id="155" name="Google Shape;155;p23"/>
          <p:cNvGrpSpPr/>
          <p:nvPr/>
        </p:nvGrpSpPr>
        <p:grpSpPr>
          <a:xfrm>
            <a:off x="762048" y="1099443"/>
            <a:ext cx="2390497" cy="3393161"/>
            <a:chOff x="1126863" y="2013875"/>
            <a:chExt cx="1944600" cy="1569600"/>
          </a:xfrm>
        </p:grpSpPr>
        <p:sp>
          <p:nvSpPr>
            <p:cNvPr id="156" name="Google Shape;156;p23"/>
            <p:cNvSpPr/>
            <p:nvPr/>
          </p:nvSpPr>
          <p:spPr>
            <a:xfrm>
              <a:off x="1126863" y="2013875"/>
              <a:ext cx="1944600" cy="1569600"/>
            </a:xfrm>
            <a:prstGeom prst="round2DiagRect">
              <a:avLst>
                <a:gd fmla="val 0" name="adj1"/>
                <a:gd fmla="val 17764" name="adj2"/>
              </a:avLst>
            </a:prstGeom>
            <a:solidFill>
              <a:srgbClr val="7436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p:txBody>
        </p:sp>
        <p:sp>
          <p:nvSpPr>
            <p:cNvPr id="157" name="Google Shape;157;p23"/>
            <p:cNvSpPr txBox="1"/>
            <p:nvPr/>
          </p:nvSpPr>
          <p:spPr>
            <a:xfrm>
              <a:off x="1351627" y="2124400"/>
              <a:ext cx="1451700" cy="24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rgbClr val="FFFFFF"/>
                  </a:solidFill>
                  <a:latin typeface="Raleway"/>
                  <a:ea typeface="Raleway"/>
                  <a:cs typeface="Raleway"/>
                  <a:sym typeface="Raleway"/>
                </a:rPr>
                <a:t>Menghilangkan inkonsistensi</a:t>
              </a:r>
              <a:endParaRPr sz="1100">
                <a:solidFill>
                  <a:srgbClr val="FFFFFF"/>
                </a:solidFill>
                <a:latin typeface="Raleway"/>
                <a:ea typeface="Raleway"/>
                <a:cs typeface="Raleway"/>
                <a:sym typeface="Raleway"/>
              </a:endParaRPr>
            </a:p>
          </p:txBody>
        </p:sp>
        <p:sp>
          <p:nvSpPr>
            <p:cNvPr id="158" name="Google Shape;158;p23"/>
            <p:cNvSpPr txBox="1"/>
            <p:nvPr/>
          </p:nvSpPr>
          <p:spPr>
            <a:xfrm>
              <a:off x="1351625" y="2349556"/>
              <a:ext cx="1451700" cy="1029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050">
                  <a:solidFill>
                    <a:srgbClr val="FFFFFF"/>
                  </a:solidFill>
                  <a:latin typeface="Raleway"/>
                  <a:ea typeface="Raleway"/>
                  <a:cs typeface="Raleway"/>
                  <a:sym typeface="Raleway"/>
                </a:rPr>
                <a:t>Desain perlu konsistensi untuk membuat pengguna mengerti maksud desain dengan baik cepat. </a:t>
              </a:r>
              <a:endParaRPr sz="1050">
                <a:solidFill>
                  <a:srgbClr val="FFFFFF"/>
                </a:solidFill>
                <a:latin typeface="Raleway"/>
                <a:ea typeface="Raleway"/>
                <a:cs typeface="Raleway"/>
                <a:sym typeface="Raleway"/>
              </a:endParaRPr>
            </a:p>
            <a:p>
              <a:pPr indent="0" lvl="0" marL="0" rtl="0" algn="l">
                <a:lnSpc>
                  <a:spcPct val="115000"/>
                </a:lnSpc>
                <a:spcBef>
                  <a:spcPts val="1600"/>
                </a:spcBef>
                <a:spcAft>
                  <a:spcPts val="1600"/>
                </a:spcAft>
                <a:buNone/>
              </a:pPr>
              <a:r>
                <a:rPr lang="en" sz="1050">
                  <a:solidFill>
                    <a:srgbClr val="FFFFFF"/>
                  </a:solidFill>
                  <a:latin typeface="Raleway"/>
                  <a:ea typeface="Raleway"/>
                  <a:cs typeface="Raleway"/>
                  <a:sym typeface="Raleway"/>
                </a:rPr>
                <a:t>Design system memberikan standar - standar pada elemen elemen dalam produk yang sedang dibuat.</a:t>
              </a:r>
              <a:endParaRPr sz="1050">
                <a:solidFill>
                  <a:srgbClr val="FFFFFF"/>
                </a:solidFill>
                <a:latin typeface="Raleway"/>
                <a:ea typeface="Raleway"/>
                <a:cs typeface="Raleway"/>
                <a:sym typeface="Raleway"/>
              </a:endParaRPr>
            </a:p>
          </p:txBody>
        </p:sp>
      </p:grpSp>
      <p:grpSp>
        <p:nvGrpSpPr>
          <p:cNvPr id="159" name="Google Shape;159;p23"/>
          <p:cNvGrpSpPr/>
          <p:nvPr/>
        </p:nvGrpSpPr>
        <p:grpSpPr>
          <a:xfrm>
            <a:off x="5326800" y="1099590"/>
            <a:ext cx="3001200" cy="3393161"/>
            <a:chOff x="5015938" y="2013875"/>
            <a:chExt cx="3001200" cy="1569600"/>
          </a:xfrm>
        </p:grpSpPr>
        <p:sp>
          <p:nvSpPr>
            <p:cNvPr id="160" name="Google Shape;160;p23"/>
            <p:cNvSpPr/>
            <p:nvPr/>
          </p:nvSpPr>
          <p:spPr>
            <a:xfrm>
              <a:off x="5015938" y="2013875"/>
              <a:ext cx="3001200" cy="1569600"/>
            </a:xfrm>
            <a:prstGeom prst="round2DiagRect">
              <a:avLst>
                <a:gd fmla="val 0" name="adj1"/>
                <a:gd fmla="val 17764" name="adj2"/>
              </a:avLst>
            </a:prstGeom>
            <a:solidFill>
              <a:srgbClr val="5E2B6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a:p>
              <a:pPr indent="0" lvl="0" marL="0" rtl="0" algn="l">
                <a:spcBef>
                  <a:spcPts val="0"/>
                </a:spcBef>
                <a:spcAft>
                  <a:spcPts val="0"/>
                </a:spcAft>
                <a:buNone/>
              </a:pPr>
              <a:r>
                <a:t/>
              </a:r>
              <a:endParaRPr>
                <a:latin typeface="Raleway"/>
                <a:ea typeface="Raleway"/>
                <a:cs typeface="Raleway"/>
                <a:sym typeface="Raleway"/>
              </a:endParaRPr>
            </a:p>
            <a:p>
              <a:pPr indent="0" lvl="0" marL="0" rtl="0" algn="l">
                <a:spcBef>
                  <a:spcPts val="0"/>
                </a:spcBef>
                <a:spcAft>
                  <a:spcPts val="0"/>
                </a:spcAft>
                <a:buNone/>
              </a:pPr>
              <a:r>
                <a:t/>
              </a:r>
              <a:endParaRPr>
                <a:latin typeface="Raleway"/>
                <a:ea typeface="Raleway"/>
                <a:cs typeface="Raleway"/>
                <a:sym typeface="Raleway"/>
              </a:endParaRPr>
            </a:p>
            <a:p>
              <a:pPr indent="0" lvl="0" marL="0" rtl="0" algn="l">
                <a:spcBef>
                  <a:spcPts val="0"/>
                </a:spcBef>
                <a:spcAft>
                  <a:spcPts val="0"/>
                </a:spcAft>
                <a:buNone/>
              </a:pPr>
              <a:r>
                <a:t/>
              </a:r>
              <a:endParaRPr>
                <a:latin typeface="Raleway"/>
                <a:ea typeface="Raleway"/>
                <a:cs typeface="Raleway"/>
                <a:sym typeface="Raleway"/>
              </a:endParaRPr>
            </a:p>
          </p:txBody>
        </p:sp>
        <p:sp>
          <p:nvSpPr>
            <p:cNvPr id="161" name="Google Shape;161;p23"/>
            <p:cNvSpPr txBox="1"/>
            <p:nvPr/>
          </p:nvSpPr>
          <p:spPr>
            <a:xfrm>
              <a:off x="5360226" y="2122782"/>
              <a:ext cx="2417100" cy="16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rgbClr val="FFFFFF"/>
                  </a:solidFill>
                  <a:latin typeface="Raleway"/>
                  <a:ea typeface="Raleway"/>
                  <a:cs typeface="Raleway"/>
                  <a:sym typeface="Raleway"/>
                </a:rPr>
                <a:t>Mengurangi beban kognitif</a:t>
              </a:r>
              <a:endParaRPr b="1" sz="1100">
                <a:solidFill>
                  <a:srgbClr val="FFFFFF"/>
                </a:solidFill>
                <a:latin typeface="Raleway"/>
                <a:ea typeface="Raleway"/>
                <a:cs typeface="Raleway"/>
                <a:sym typeface="Raleway"/>
              </a:endParaRPr>
            </a:p>
          </p:txBody>
        </p:sp>
        <p:sp>
          <p:nvSpPr>
            <p:cNvPr id="162" name="Google Shape;162;p23"/>
            <p:cNvSpPr txBox="1"/>
            <p:nvPr/>
          </p:nvSpPr>
          <p:spPr>
            <a:xfrm>
              <a:off x="5360212" y="2349780"/>
              <a:ext cx="2492100" cy="512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solidFill>
                    <a:srgbClr val="FFFFFF"/>
                  </a:solidFill>
                  <a:latin typeface="Raleway"/>
                  <a:ea typeface="Raleway"/>
                  <a:cs typeface="Raleway"/>
                  <a:sym typeface="Raleway"/>
                </a:rPr>
                <a:t>Dengan menciptakan pengalaman yang konsisten bagi pelanggan, kita dapat mengurangi beban kognitif mereka saat beralih dari pengalaman aplikasi seluler ke pengalaman browser desktop.</a:t>
              </a:r>
              <a:endParaRPr sz="1000">
                <a:solidFill>
                  <a:srgbClr val="FFFFFF"/>
                </a:solidFill>
                <a:latin typeface="Raleway"/>
                <a:ea typeface="Raleway"/>
                <a:cs typeface="Raleway"/>
                <a:sym typeface="Raleway"/>
              </a:endParaRPr>
            </a:p>
            <a:p>
              <a:pPr indent="0" lvl="0" marL="0" rtl="0" algn="l">
                <a:lnSpc>
                  <a:spcPct val="115000"/>
                </a:lnSpc>
                <a:spcBef>
                  <a:spcPts val="1600"/>
                </a:spcBef>
                <a:spcAft>
                  <a:spcPts val="1600"/>
                </a:spcAft>
                <a:buNone/>
              </a:pPr>
              <a:r>
                <a:rPr lang="en" sz="1000">
                  <a:solidFill>
                    <a:srgbClr val="FFFFFF"/>
                  </a:solidFill>
                  <a:latin typeface="Raleway"/>
                  <a:ea typeface="Raleway"/>
                  <a:cs typeface="Raleway"/>
                  <a:sym typeface="Raleway"/>
                </a:rPr>
                <a:t>Bayangkan jika Anda melihat Google Kalender di ponsel Anda, kemudian beberapa menit kemudian memeriksanya di browser. Jika mereka terlihat dan berperilaku berbeda, Anda mungkin akan bingung dan bahkan sedikit frustasi.</a:t>
              </a:r>
              <a:endParaRPr sz="1000">
                <a:solidFill>
                  <a:srgbClr val="FFFFFF"/>
                </a:solidFill>
                <a:latin typeface="Raleway"/>
                <a:ea typeface="Raleway"/>
                <a:cs typeface="Raleway"/>
                <a:sym typeface="Raleway"/>
              </a:endParaRPr>
            </a:p>
          </p:txBody>
        </p:sp>
      </p:grpSp>
      <p:grpSp>
        <p:nvGrpSpPr>
          <p:cNvPr id="163" name="Google Shape;163;p23"/>
          <p:cNvGrpSpPr/>
          <p:nvPr/>
        </p:nvGrpSpPr>
        <p:grpSpPr>
          <a:xfrm>
            <a:off x="5196344" y="1845200"/>
            <a:ext cx="261571" cy="282492"/>
            <a:chOff x="4858109" y="2631368"/>
            <a:chExt cx="316442" cy="315000"/>
          </a:xfrm>
        </p:grpSpPr>
        <p:sp>
          <p:nvSpPr>
            <p:cNvPr id="164" name="Google Shape;164;p23"/>
            <p:cNvSpPr/>
            <p:nvPr/>
          </p:nvSpPr>
          <p:spPr>
            <a:xfrm>
              <a:off x="4859551" y="2631368"/>
              <a:ext cx="315000" cy="3150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p:txBody>
        </p:sp>
        <p:sp>
          <p:nvSpPr>
            <p:cNvPr id="165" name="Google Shape;165;p23"/>
            <p:cNvSpPr/>
            <p:nvPr/>
          </p:nvSpPr>
          <p:spPr>
            <a:xfrm>
              <a:off x="4858109" y="2739300"/>
              <a:ext cx="239100" cy="99000"/>
            </a:xfrm>
            <a:prstGeom prst="rightArrow">
              <a:avLst>
                <a:gd fmla="val 32020" name="adj1"/>
                <a:gd fmla="val 66970" name="adj2"/>
              </a:avLst>
            </a:prstGeom>
            <a:solidFill>
              <a:srgbClr val="7335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br>
                <a:rPr lang="en">
                  <a:latin typeface="Raleway"/>
                  <a:ea typeface="Raleway"/>
                  <a:cs typeface="Raleway"/>
                  <a:sym typeface="Raleway"/>
                </a:rPr>
              </a:br>
              <a:endParaRPr>
                <a:latin typeface="Raleway"/>
                <a:ea typeface="Raleway"/>
                <a:cs typeface="Raleway"/>
                <a:sym typeface="Raleway"/>
              </a:endParaRPr>
            </a:p>
          </p:txBody>
        </p:sp>
      </p:grpSp>
      <p:sp>
        <p:nvSpPr>
          <p:cNvPr id="166" name="Google Shape;166;p23"/>
          <p:cNvSpPr/>
          <p:nvPr/>
        </p:nvSpPr>
        <p:spPr>
          <a:xfrm>
            <a:off x="3024478" y="1845248"/>
            <a:ext cx="260400" cy="2826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p:txBody>
      </p:sp>
      <p:sp>
        <p:nvSpPr>
          <p:cNvPr id="167" name="Google Shape;167;p23"/>
          <p:cNvSpPr/>
          <p:nvPr/>
        </p:nvSpPr>
        <p:spPr>
          <a:xfrm>
            <a:off x="3029560" y="1941994"/>
            <a:ext cx="197700" cy="88800"/>
          </a:xfrm>
          <a:prstGeom prst="rightArrow">
            <a:avLst>
              <a:gd fmla="val 32020" name="adj1"/>
              <a:gd fmla="val 66970" name="adj2"/>
            </a:avLst>
          </a:prstGeom>
          <a:solidFill>
            <a:srgbClr val="7335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br>
              <a:rPr lang="en">
                <a:latin typeface="Raleway"/>
                <a:ea typeface="Raleway"/>
                <a:cs typeface="Raleway"/>
                <a:sym typeface="Raleway"/>
              </a:rPr>
            </a:br>
            <a:endParaRPr>
              <a:latin typeface="Raleway"/>
              <a:ea typeface="Raleway"/>
              <a:cs typeface="Raleway"/>
              <a:sym typeface="Raleway"/>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3" name="Google Shape;173;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Design system</a:t>
            </a:r>
            <a:endParaRPr/>
          </a:p>
        </p:txBody>
      </p:sp>
      <p:sp>
        <p:nvSpPr>
          <p:cNvPr id="174" name="Google Shape;174;p24"/>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Design System terdiri dari</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Seperti yang telah dibahas pada topik sebelumnya, sebuah sistem terdiri dari elemen berwujud dan tidak berwujud yaitu</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a:solidFill>
                  <a:schemeClr val="dk1"/>
                </a:solidFill>
                <a:latin typeface="Raleway Medium"/>
                <a:ea typeface="Raleway Medium"/>
                <a:cs typeface="Raleway Medium"/>
                <a:sym typeface="Raleway Medium"/>
              </a:rPr>
              <a:t>Alat untuk desainer dan developer seperti komponen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dan pattern.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Elemen abstrak seperti nilai merek, cara kerja bersama,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pola pikir, keyakinan bersama.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Yang kedua seringkali lebih sulit untuk dikomunikasikan daripada yang pertama.</a:t>
            </a:r>
            <a:endParaRPr sz="1200">
              <a:solidFill>
                <a:schemeClr val="dk1"/>
              </a:solidFill>
              <a:latin typeface="Raleway Medium"/>
              <a:ea typeface="Raleway Medium"/>
              <a:cs typeface="Raleway Medium"/>
              <a:sym typeface="Raleway Medium"/>
            </a:endParaRPr>
          </a:p>
        </p:txBody>
      </p:sp>
      <p:pic>
        <p:nvPicPr>
          <p:cNvPr id="175" name="Google Shape;175;p24">
            <a:hlinkClick r:id="rId3"/>
          </p:cNvPr>
          <p:cNvPicPr preferRelativeResize="0"/>
          <p:nvPr/>
        </p:nvPicPr>
        <p:blipFill rotWithShape="1">
          <a:blip r:embed="rId4">
            <a:alphaModFix/>
          </a:blip>
          <a:srcRect b="0" l="8753" r="8745" t="0"/>
          <a:stretch/>
        </p:blipFill>
        <p:spPr>
          <a:xfrm>
            <a:off x="5486400" y="1280150"/>
            <a:ext cx="3017524" cy="2743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1" name="Google Shape;181;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Design system</a:t>
            </a:r>
            <a:endParaRPr/>
          </a:p>
        </p:txBody>
      </p:sp>
      <p:sp>
        <p:nvSpPr>
          <p:cNvPr id="182" name="Google Shape;182;p25"/>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Kita telah telaah isi dari sebuah design system guideline pada kelas sebelumnya</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Tujuan dan nilai-nilai bersama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Prinsip desain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Brand identity and language</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Components dan patterns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5) Best practices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Nah kali ini, akan kita gali lebih dalam elemen - elemen yang pada umumnya terdapat pada poin 3 dan 4.</a:t>
            </a:r>
            <a:endParaRPr sz="1200">
              <a:solidFill>
                <a:schemeClr val="dk1"/>
              </a:solidFill>
              <a:latin typeface="Raleway Medium"/>
              <a:ea typeface="Raleway Medium"/>
              <a:cs typeface="Raleway Medium"/>
              <a:sym typeface="Raleway Medium"/>
            </a:endParaRPr>
          </a:p>
        </p:txBody>
      </p:sp>
      <p:pic>
        <p:nvPicPr>
          <p:cNvPr id="183" name="Google Shape;183;p25">
            <a:hlinkClick r:id="rId3"/>
          </p:cNvPr>
          <p:cNvPicPr preferRelativeResize="0"/>
          <p:nvPr/>
        </p:nvPicPr>
        <p:blipFill rotWithShape="1">
          <a:blip r:embed="rId4">
            <a:alphaModFix/>
          </a:blip>
          <a:srcRect b="0" l="8753" r="8745" t="0"/>
          <a:stretch/>
        </p:blipFill>
        <p:spPr>
          <a:xfrm>
            <a:off x="5486400" y="1280150"/>
            <a:ext cx="3017524" cy="2743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6"/>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Layouts</a:t>
            </a:r>
            <a:endParaRPr/>
          </a:p>
        </p:txBody>
      </p:sp>
      <p:sp>
        <p:nvSpPr>
          <p:cNvPr id="189" name="Google Shape;189;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5" name="Google Shape;195;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Layouts</a:t>
            </a:r>
            <a:endParaRPr/>
          </a:p>
        </p:txBody>
      </p:sp>
      <p:sp>
        <p:nvSpPr>
          <p:cNvPr id="196" name="Google Shape;196;p27"/>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Layouts</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Sebuah layout atau tata letak adalah templat struktural yang mendukung konsistensi pada seluruh aplikasi dengan mendefinisikan </a:t>
            </a:r>
            <a:r>
              <a:rPr i="1" lang="en" sz="1200">
                <a:solidFill>
                  <a:schemeClr val="dk1"/>
                </a:solidFill>
                <a:latin typeface="Raleway Medium"/>
                <a:ea typeface="Raleway Medium"/>
                <a:cs typeface="Raleway Medium"/>
                <a:sym typeface="Raleway Medium"/>
              </a:rPr>
              <a:t>grids</a:t>
            </a:r>
            <a:r>
              <a:rPr lang="en" sz="1200">
                <a:solidFill>
                  <a:schemeClr val="dk1"/>
                </a:solidFill>
                <a:latin typeface="Raleway Medium"/>
                <a:ea typeface="Raleway Medium"/>
                <a:cs typeface="Raleway Medium"/>
                <a:sym typeface="Raleway Medium"/>
              </a:rPr>
              <a:t>, </a:t>
            </a:r>
            <a:r>
              <a:rPr i="1" lang="en" sz="1200">
                <a:solidFill>
                  <a:schemeClr val="dk1"/>
                </a:solidFill>
                <a:latin typeface="Raleway Medium"/>
                <a:ea typeface="Raleway Medium"/>
                <a:cs typeface="Raleway Medium"/>
                <a:sym typeface="Raleway Medium"/>
              </a:rPr>
              <a:t>spacings</a:t>
            </a:r>
            <a:r>
              <a:rPr lang="en" sz="1200">
                <a:solidFill>
                  <a:schemeClr val="dk1"/>
                </a:solidFill>
                <a:latin typeface="Raleway Medium"/>
                <a:ea typeface="Raleway Medium"/>
                <a:cs typeface="Raleway Medium"/>
                <a:sym typeface="Raleway Medium"/>
              </a:rPr>
              <a:t>, dan </a:t>
            </a:r>
            <a:r>
              <a:rPr i="1" lang="en" sz="1200">
                <a:solidFill>
                  <a:schemeClr val="dk1"/>
                </a:solidFill>
                <a:latin typeface="Raleway Medium"/>
                <a:ea typeface="Raleway Medium"/>
                <a:cs typeface="Raleway Medium"/>
                <a:sym typeface="Raleway Medium"/>
              </a:rPr>
              <a:t>sections</a:t>
            </a:r>
            <a:r>
              <a:rPr lang="en" sz="1200">
                <a:solidFill>
                  <a:schemeClr val="dk1"/>
                </a:solidFill>
                <a:latin typeface="Raleway Medium"/>
                <a:ea typeface="Raleway Medium"/>
                <a:cs typeface="Raleway Medium"/>
                <a:sym typeface="Raleway Medium"/>
              </a:rPr>
              <a:t>.</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Wilayah layout atau tata letak adalah dasar untuk pengalaman interaktif. </a:t>
            </a:r>
            <a:endParaRPr sz="1200">
              <a:solidFill>
                <a:schemeClr val="dk1"/>
              </a:solidFill>
              <a:latin typeface="Raleway Medium"/>
              <a:ea typeface="Raleway Medium"/>
              <a:cs typeface="Raleway Medium"/>
              <a:sym typeface="Raleway Medium"/>
            </a:endParaRPr>
          </a:p>
        </p:txBody>
      </p:sp>
      <p:pic>
        <p:nvPicPr>
          <p:cNvPr id="197" name="Google Shape;197;p27">
            <a:hlinkClick r:id="rId3"/>
          </p:cNvPr>
          <p:cNvPicPr preferRelativeResize="0"/>
          <p:nvPr/>
        </p:nvPicPr>
        <p:blipFill rotWithShape="1">
          <a:blip r:embed="rId4">
            <a:alphaModFix/>
          </a:blip>
          <a:srcRect b="4545" l="0" r="0" t="4545"/>
          <a:stretch/>
        </p:blipFill>
        <p:spPr>
          <a:xfrm>
            <a:off x="5486400" y="1280150"/>
            <a:ext cx="3017524" cy="2743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3" name="Google Shape;203;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Layouts</a:t>
            </a:r>
            <a:endParaRPr/>
          </a:p>
        </p:txBody>
      </p:sp>
      <p:sp>
        <p:nvSpPr>
          <p:cNvPr id="204" name="Google Shape;204;p28"/>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Tata letak layar memiliki 3 wilayah utama: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App bars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Navigasi</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Body</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Wilayah body digunakan untuk menampilkan sebagian besar konten dalam aplikasi, biasanya berisi komponen seperti daftar, </a:t>
            </a:r>
            <a:r>
              <a:rPr i="1" lang="en" sz="1200">
                <a:solidFill>
                  <a:schemeClr val="dk1"/>
                </a:solidFill>
                <a:latin typeface="Raleway Medium"/>
                <a:ea typeface="Raleway Medium"/>
                <a:cs typeface="Raleway Medium"/>
                <a:sym typeface="Raleway Medium"/>
              </a:rPr>
              <a:t>cards</a:t>
            </a:r>
            <a:r>
              <a:rPr lang="en" sz="1200">
                <a:solidFill>
                  <a:schemeClr val="dk1"/>
                </a:solidFill>
                <a:latin typeface="Raleway Medium"/>
                <a:ea typeface="Raleway Medium"/>
                <a:cs typeface="Raleway Medium"/>
                <a:sym typeface="Raleway Medium"/>
              </a:rPr>
              <a:t>, tombol, dan gambar.</a:t>
            </a:r>
            <a:endParaRPr sz="1200">
              <a:solidFill>
                <a:schemeClr val="dk1"/>
              </a:solidFill>
              <a:latin typeface="Raleway Medium"/>
              <a:ea typeface="Raleway Medium"/>
              <a:cs typeface="Raleway Medium"/>
              <a:sym typeface="Raleway Medium"/>
            </a:endParaRPr>
          </a:p>
        </p:txBody>
      </p:sp>
      <p:pic>
        <p:nvPicPr>
          <p:cNvPr id="205" name="Google Shape;205;p28">
            <a:hlinkClick r:id="rId3"/>
          </p:cNvPr>
          <p:cNvPicPr preferRelativeResize="0"/>
          <p:nvPr/>
        </p:nvPicPr>
        <p:blipFill rotWithShape="1">
          <a:blip r:embed="rId4">
            <a:alphaModFix/>
          </a:blip>
          <a:srcRect b="0" l="2754" r="12757" t="0"/>
          <a:stretch/>
        </p:blipFill>
        <p:spPr>
          <a:xfrm>
            <a:off x="3725200" y="1127750"/>
            <a:ext cx="4892775" cy="2743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1" name="Google Shape;211;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Layouts</a:t>
            </a:r>
            <a:endParaRPr/>
          </a:p>
        </p:txBody>
      </p:sp>
      <p:sp>
        <p:nvSpPr>
          <p:cNvPr id="212" name="Google Shape;212;p29"/>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Wilayah navigasi menampung komponen dan elemen navigasi.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Wilayah membantu pengguna menavigasi antara tujuan dalam aplikasi atau untuk mengakses tindakan penting</a:t>
            </a:r>
            <a:endParaRPr sz="1200">
              <a:solidFill>
                <a:schemeClr val="dk1"/>
              </a:solidFill>
              <a:latin typeface="Raleway Medium"/>
              <a:ea typeface="Raleway Medium"/>
              <a:cs typeface="Raleway Medium"/>
              <a:sym typeface="Raleway Medium"/>
            </a:endParaRPr>
          </a:p>
        </p:txBody>
      </p:sp>
      <p:pic>
        <p:nvPicPr>
          <p:cNvPr id="213" name="Google Shape;213;p29">
            <a:hlinkClick r:id="rId3"/>
          </p:cNvPr>
          <p:cNvPicPr preferRelativeResize="0"/>
          <p:nvPr/>
        </p:nvPicPr>
        <p:blipFill rotWithShape="1">
          <a:blip r:embed="rId4">
            <a:alphaModFix/>
          </a:blip>
          <a:srcRect b="0" l="7755" r="7755" t="0"/>
          <a:stretch/>
        </p:blipFill>
        <p:spPr>
          <a:xfrm>
            <a:off x="3725200" y="1127750"/>
            <a:ext cx="4892775" cy="2743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9" name="Google Shape;219;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Layouts</a:t>
            </a:r>
            <a:endParaRPr/>
          </a:p>
        </p:txBody>
      </p:sp>
      <p:sp>
        <p:nvSpPr>
          <p:cNvPr id="220" name="Google Shape;220;p30"/>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Langkah pertama untuk membuat tatanan dalam tata letak adalah </a:t>
            </a:r>
            <a:r>
              <a:rPr b="1" lang="en" sz="1200">
                <a:solidFill>
                  <a:schemeClr val="dk1"/>
                </a:solidFill>
                <a:latin typeface="Raleway"/>
                <a:ea typeface="Raleway"/>
                <a:cs typeface="Raleway"/>
                <a:sym typeface="Raleway"/>
              </a:rPr>
              <a:t>pengelompokan visual.</a:t>
            </a:r>
            <a:r>
              <a:rPr lang="en" sz="1200">
                <a:solidFill>
                  <a:schemeClr val="dk1"/>
                </a:solidFill>
                <a:latin typeface="Raleway Medium"/>
                <a:ea typeface="Raleway Medium"/>
                <a:cs typeface="Raleway Medium"/>
                <a:sym typeface="Raleway Medium"/>
              </a:rPr>
              <a:t>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Elemen dalam tata letak yang memiliki konten atau fungsi serupa dapat dikelompokkan bersama dan dipisahkan dari elemen lain.</a:t>
            </a:r>
            <a:endParaRPr sz="1200">
              <a:solidFill>
                <a:schemeClr val="dk1"/>
              </a:solidFill>
              <a:latin typeface="Raleway Medium"/>
              <a:ea typeface="Raleway Medium"/>
              <a:cs typeface="Raleway Medium"/>
              <a:sym typeface="Raleway Medium"/>
            </a:endParaRPr>
          </a:p>
        </p:txBody>
      </p:sp>
      <p:pic>
        <p:nvPicPr>
          <p:cNvPr id="221" name="Google Shape;221;p30">
            <a:hlinkClick r:id="rId3"/>
          </p:cNvPr>
          <p:cNvPicPr preferRelativeResize="0"/>
          <p:nvPr/>
        </p:nvPicPr>
        <p:blipFill rotWithShape="1">
          <a:blip r:embed="rId4">
            <a:alphaModFix/>
          </a:blip>
          <a:srcRect b="0" l="7755" r="7755" t="0"/>
          <a:stretch/>
        </p:blipFill>
        <p:spPr>
          <a:xfrm>
            <a:off x="3725200" y="1127750"/>
            <a:ext cx="4892775" cy="2743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7" name="Google Shape;227;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Layouts</a:t>
            </a:r>
            <a:endParaRPr/>
          </a:p>
        </p:txBody>
      </p:sp>
      <p:sp>
        <p:nvSpPr>
          <p:cNvPr id="228" name="Google Shape;228;p31"/>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Setelah </a:t>
            </a:r>
            <a:r>
              <a:rPr b="1" lang="en" sz="1200">
                <a:solidFill>
                  <a:schemeClr val="dk1"/>
                </a:solidFill>
                <a:latin typeface="Raleway"/>
                <a:ea typeface="Raleway"/>
                <a:cs typeface="Raleway"/>
                <a:sym typeface="Raleway"/>
              </a:rPr>
              <a:t>pengelompokan visual, </a:t>
            </a:r>
            <a:r>
              <a:rPr lang="en" sz="1200">
                <a:solidFill>
                  <a:schemeClr val="dk1"/>
                </a:solidFill>
                <a:latin typeface="Raleway Medium"/>
                <a:ea typeface="Raleway Medium"/>
                <a:cs typeface="Raleway Medium"/>
                <a:sym typeface="Raleway Medium"/>
              </a:rPr>
              <a:t>kelompok selanjutnya yang perlu dipertimbangkan adalah elemen apa saja yang terkait melalui konteks, seperti gambar dan keterangannya atau informasi pendukung.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Elemen-elemen yang terkait secara kontekstual ini dapat dikelompokkan menggunakan konsep </a:t>
            </a:r>
            <a:r>
              <a:rPr i="1" lang="en" sz="1200">
                <a:solidFill>
                  <a:schemeClr val="dk1"/>
                </a:solidFill>
                <a:latin typeface="Raleway Medium"/>
                <a:ea typeface="Raleway Medium"/>
                <a:cs typeface="Raleway Medium"/>
                <a:sym typeface="Raleway Medium"/>
              </a:rPr>
              <a:t>containment</a:t>
            </a:r>
            <a:r>
              <a:rPr lang="en" sz="1200">
                <a:solidFill>
                  <a:schemeClr val="dk1"/>
                </a:solidFill>
                <a:latin typeface="Raleway Medium"/>
                <a:ea typeface="Raleway Medium"/>
                <a:cs typeface="Raleway Medium"/>
                <a:sym typeface="Raleway Medium"/>
              </a:rPr>
              <a:t> atau </a:t>
            </a:r>
            <a:r>
              <a:rPr b="1" lang="en" sz="1200">
                <a:solidFill>
                  <a:schemeClr val="dk1"/>
                </a:solidFill>
                <a:latin typeface="Raleway"/>
                <a:ea typeface="Raleway"/>
                <a:cs typeface="Raleway"/>
                <a:sym typeface="Raleway"/>
              </a:rPr>
              <a:t>penahanan</a:t>
            </a:r>
            <a:r>
              <a:rPr lang="en" sz="1200">
                <a:solidFill>
                  <a:schemeClr val="dk1"/>
                </a:solidFill>
                <a:latin typeface="Raleway Medium"/>
                <a:ea typeface="Raleway Medium"/>
                <a:cs typeface="Raleway Medium"/>
                <a:sym typeface="Raleway Medium"/>
              </a:rPr>
              <a:t>.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Penahanan diterapkan melalui penciptaan batas-batas antar kelompok.</a:t>
            </a:r>
            <a:endParaRPr sz="1200">
              <a:solidFill>
                <a:schemeClr val="dk1"/>
              </a:solidFill>
              <a:latin typeface="Raleway Medium"/>
              <a:ea typeface="Raleway Medium"/>
              <a:cs typeface="Raleway Medium"/>
              <a:sym typeface="Raleway Medium"/>
            </a:endParaRPr>
          </a:p>
        </p:txBody>
      </p:sp>
      <p:pic>
        <p:nvPicPr>
          <p:cNvPr id="229" name="Google Shape;229;p31">
            <a:hlinkClick r:id="rId3"/>
          </p:cNvPr>
          <p:cNvPicPr preferRelativeResize="0"/>
          <p:nvPr/>
        </p:nvPicPr>
        <p:blipFill rotWithShape="1">
          <a:blip r:embed="rId4">
            <a:alphaModFix/>
          </a:blip>
          <a:srcRect b="-17384" l="0" r="0" t="0"/>
          <a:stretch/>
        </p:blipFill>
        <p:spPr>
          <a:xfrm>
            <a:off x="3725200" y="1127750"/>
            <a:ext cx="4892774" cy="27432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5" name="Google Shape;235;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Layouts</a:t>
            </a:r>
            <a:endParaRPr/>
          </a:p>
        </p:txBody>
      </p:sp>
      <p:sp>
        <p:nvSpPr>
          <p:cNvPr id="236" name="Google Shape;236;p32"/>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Ada dua metode penahanan yaitu.</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b="1" lang="en" sz="1200">
                <a:solidFill>
                  <a:schemeClr val="dk1"/>
                </a:solidFill>
                <a:latin typeface="Raleway"/>
                <a:ea typeface="Raleway"/>
                <a:cs typeface="Raleway"/>
                <a:sym typeface="Raleway"/>
              </a:rPr>
              <a:t>Metode 1: Implisit, gambar di kiri</a:t>
            </a:r>
            <a:endParaRPr b="1" sz="1200">
              <a:solidFill>
                <a:schemeClr val="dk1"/>
              </a:solidFill>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Penahanan implisit berarti mengurangi ruang terbuka di sekitar elemen terkait dengan mendekatkannya.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Pada saat yang sama, ruang di luar pengelompokan ini ditingkatkan untuk menciptakan batas konseptual yang berbeda.</a:t>
            </a:r>
            <a:endParaRPr sz="1200">
              <a:solidFill>
                <a:schemeClr val="dk1"/>
              </a:solidFill>
              <a:latin typeface="Raleway Medium"/>
              <a:ea typeface="Raleway Medium"/>
              <a:cs typeface="Raleway Medium"/>
              <a:sym typeface="Raleway Medium"/>
            </a:endParaRPr>
          </a:p>
        </p:txBody>
      </p:sp>
      <p:pic>
        <p:nvPicPr>
          <p:cNvPr id="237" name="Google Shape;237;p32">
            <a:hlinkClick r:id="rId3"/>
          </p:cNvPr>
          <p:cNvPicPr preferRelativeResize="0"/>
          <p:nvPr/>
        </p:nvPicPr>
        <p:blipFill rotWithShape="1">
          <a:blip r:embed="rId4">
            <a:alphaModFix/>
          </a:blip>
          <a:srcRect b="-17384" l="0" r="0" t="0"/>
          <a:stretch/>
        </p:blipFill>
        <p:spPr>
          <a:xfrm>
            <a:off x="3725200" y="1127750"/>
            <a:ext cx="4892774" cy="2743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3" name="Google Shape;243;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Layouts</a:t>
            </a:r>
            <a:endParaRPr/>
          </a:p>
        </p:txBody>
      </p:sp>
      <p:sp>
        <p:nvSpPr>
          <p:cNvPr id="244" name="Google Shape;244;p33"/>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Ada dua metode penahanan yaitu.</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b="1" lang="en" sz="1200">
                <a:solidFill>
                  <a:schemeClr val="dk1"/>
                </a:solidFill>
                <a:latin typeface="Raleway"/>
                <a:ea typeface="Raleway"/>
                <a:cs typeface="Raleway"/>
                <a:sym typeface="Raleway"/>
              </a:rPr>
              <a:t>Metode 2: Eksplisit, gambar di kanan</a:t>
            </a:r>
            <a:endParaRPr b="1" sz="1200">
              <a:solidFill>
                <a:schemeClr val="dk1"/>
              </a:solidFill>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Penahanan eksplisit dapat dibuat dengan menambahkan garis besar atau tingkat elevasi ke sekelompok elemen terkait.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Misalnya, membuat kartu dari gambar dan keterangannya.</a:t>
            </a:r>
            <a:endParaRPr sz="1200">
              <a:solidFill>
                <a:schemeClr val="dk1"/>
              </a:solidFill>
              <a:latin typeface="Raleway Medium"/>
              <a:ea typeface="Raleway Medium"/>
              <a:cs typeface="Raleway Medium"/>
              <a:sym typeface="Raleway Medium"/>
            </a:endParaRPr>
          </a:p>
        </p:txBody>
      </p:sp>
      <p:pic>
        <p:nvPicPr>
          <p:cNvPr id="245" name="Google Shape;245;p33">
            <a:hlinkClick r:id="rId3"/>
          </p:cNvPr>
          <p:cNvPicPr preferRelativeResize="0"/>
          <p:nvPr/>
        </p:nvPicPr>
        <p:blipFill rotWithShape="1">
          <a:blip r:embed="rId4">
            <a:alphaModFix/>
          </a:blip>
          <a:srcRect b="-17384" l="0" r="0" t="0"/>
          <a:stretch/>
        </p:blipFill>
        <p:spPr>
          <a:xfrm>
            <a:off x="3725200" y="1127750"/>
            <a:ext cx="4892774" cy="27432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4"/>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Colour System</a:t>
            </a:r>
            <a:endParaRPr/>
          </a:p>
        </p:txBody>
      </p:sp>
      <p:sp>
        <p:nvSpPr>
          <p:cNvPr id="251" name="Google Shape;251;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7" name="Google Shape;257;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Colour system</a:t>
            </a:r>
            <a:endParaRPr/>
          </a:p>
        </p:txBody>
      </p:sp>
      <p:sp>
        <p:nvSpPr>
          <p:cNvPr id="258" name="Google Shape;258;p35"/>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Colour system</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Colour system atau </a:t>
            </a:r>
            <a:r>
              <a:rPr lang="en" sz="1200">
                <a:solidFill>
                  <a:schemeClr val="dk1"/>
                </a:solidFill>
                <a:latin typeface="Raleway Medium"/>
                <a:ea typeface="Raleway Medium"/>
                <a:cs typeface="Raleway Medium"/>
                <a:sym typeface="Raleway Medium"/>
              </a:rPr>
              <a:t>sistem warna membantu Anda menerapkan warna ke UI Anda dengan standar yang sama.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Dalam sistem ini, Anda memilih warna primer dan sekunder untuk mewakili merek Anda. Varian gelap dan terang dari setiap warna juga kemudian dapat diterapkan ke UI Anda dengan cara yang dibedakan.</a:t>
            </a:r>
            <a:endParaRPr sz="1200">
              <a:solidFill>
                <a:schemeClr val="dk1"/>
              </a:solidFill>
              <a:latin typeface="Raleway Medium"/>
              <a:ea typeface="Raleway Medium"/>
              <a:cs typeface="Raleway Medium"/>
              <a:sym typeface="Raleway Medium"/>
            </a:endParaRPr>
          </a:p>
        </p:txBody>
      </p:sp>
      <p:pic>
        <p:nvPicPr>
          <p:cNvPr id="259" name="Google Shape;259;p35">
            <a:hlinkClick r:id="rId3"/>
          </p:cNvPr>
          <p:cNvPicPr preferRelativeResize="0"/>
          <p:nvPr/>
        </p:nvPicPr>
        <p:blipFill rotWithShape="1">
          <a:blip r:embed="rId4">
            <a:alphaModFix/>
          </a:blip>
          <a:srcRect b="4545" l="0" r="0" t="4545"/>
          <a:stretch/>
        </p:blipFill>
        <p:spPr>
          <a:xfrm>
            <a:off x="5486400" y="1280150"/>
            <a:ext cx="3017524" cy="274320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5" name="Google Shape;265;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Colour system</a:t>
            </a:r>
            <a:endParaRPr/>
          </a:p>
        </p:txBody>
      </p:sp>
      <p:sp>
        <p:nvSpPr>
          <p:cNvPr id="266" name="Google Shape;266;p36"/>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Tema warna dirancang agar harmonis, memastikan teks dapat diakses, dan membedakan elemen dan permukaan UI satu sama lain.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Contoh palet primer dan sekunder pada gambar.</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Warna primer</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Warna sekunder</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Varian terang dan gelap</a:t>
            </a:r>
            <a:endParaRPr sz="1200">
              <a:solidFill>
                <a:schemeClr val="dk1"/>
              </a:solidFill>
              <a:latin typeface="Raleway Medium"/>
              <a:ea typeface="Raleway Medium"/>
              <a:cs typeface="Raleway Medium"/>
              <a:sym typeface="Raleway Medium"/>
            </a:endParaRPr>
          </a:p>
        </p:txBody>
      </p:sp>
      <p:pic>
        <p:nvPicPr>
          <p:cNvPr id="267" name="Google Shape;267;p36">
            <a:hlinkClick r:id="rId3"/>
          </p:cNvPr>
          <p:cNvPicPr preferRelativeResize="0"/>
          <p:nvPr/>
        </p:nvPicPr>
        <p:blipFill rotWithShape="1">
          <a:blip r:embed="rId4">
            <a:alphaModFix/>
          </a:blip>
          <a:srcRect b="0" l="5413" r="5404" t="0"/>
          <a:stretch/>
        </p:blipFill>
        <p:spPr>
          <a:xfrm>
            <a:off x="3725200" y="1127750"/>
            <a:ext cx="4892775" cy="274320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3" name="Google Shape;273;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Colour system</a:t>
            </a:r>
            <a:endParaRPr/>
          </a:p>
        </p:txBody>
      </p:sp>
      <p:sp>
        <p:nvSpPr>
          <p:cNvPr id="274" name="Google Shape;274;p37"/>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Membuat colour system</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Pembuatan colour system tidaklah ribet, akan tetapi perlu disesuaikan dengan brand dan direksi yang telah ada dalam produk.</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Ada beberapa situs yang bisa Anda gunakan saat bermain dengan warna.</a:t>
            </a:r>
            <a:endParaRPr sz="1200">
              <a:solidFill>
                <a:schemeClr val="dk1"/>
              </a:solidFill>
              <a:latin typeface="Raleway Medium"/>
              <a:ea typeface="Raleway Medium"/>
              <a:cs typeface="Raleway Medium"/>
              <a:sym typeface="Raleway Medium"/>
            </a:endParaRPr>
          </a:p>
        </p:txBody>
      </p:sp>
      <p:pic>
        <p:nvPicPr>
          <p:cNvPr id="275" name="Google Shape;275;p37">
            <a:hlinkClick r:id="rId3"/>
          </p:cNvPr>
          <p:cNvPicPr preferRelativeResize="0"/>
          <p:nvPr/>
        </p:nvPicPr>
        <p:blipFill rotWithShape="1">
          <a:blip r:embed="rId4">
            <a:alphaModFix/>
          </a:blip>
          <a:srcRect b="4545" l="0" r="0" t="4545"/>
          <a:stretch/>
        </p:blipFill>
        <p:spPr>
          <a:xfrm>
            <a:off x="5486400" y="1280150"/>
            <a:ext cx="3017524" cy="274320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1" name="Google Shape;281;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Colour system</a:t>
            </a:r>
            <a:endParaRPr/>
          </a:p>
        </p:txBody>
      </p:sp>
      <p:sp>
        <p:nvSpPr>
          <p:cNvPr id="282" name="Google Shape;282;p38"/>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Clr>
                <a:schemeClr val="dk1"/>
              </a:buClr>
              <a:buSzPts val="1100"/>
              <a:buFont typeface="Arial"/>
              <a:buNone/>
            </a:pPr>
            <a:r>
              <a:rPr b="1" lang="en" sz="1800">
                <a:solidFill>
                  <a:srgbClr val="743673"/>
                </a:solidFill>
                <a:highlight>
                  <a:schemeClr val="lt1"/>
                </a:highlight>
                <a:latin typeface="Raleway"/>
                <a:ea typeface="Raleway"/>
                <a:cs typeface="Raleway"/>
                <a:sym typeface="Raleway"/>
              </a:rPr>
              <a:t>Coolors.co</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Coolors adalah generator skema warna berbasis web yang memungkinkan desainer untuk membuat, menyimpan, berbagi, dan mengekspor palet warna untuk desain UI/UX mereka.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Coolors memiliki kurva belajar yang sangat rendah untuk pengguna baru, terutama untuk beberapa pemula desain.</a:t>
            </a:r>
            <a:endParaRPr sz="1200">
              <a:solidFill>
                <a:schemeClr val="dk1"/>
              </a:solidFill>
              <a:latin typeface="Raleway Medium"/>
              <a:ea typeface="Raleway Medium"/>
              <a:cs typeface="Raleway Medium"/>
              <a:sym typeface="Raleway Medium"/>
            </a:endParaRPr>
          </a:p>
        </p:txBody>
      </p:sp>
      <p:pic>
        <p:nvPicPr>
          <p:cNvPr id="283" name="Google Shape;283;p38"/>
          <p:cNvPicPr preferRelativeResize="0"/>
          <p:nvPr/>
        </p:nvPicPr>
        <p:blipFill rotWithShape="1">
          <a:blip r:embed="rId3">
            <a:alphaModFix/>
          </a:blip>
          <a:srcRect b="0" l="-1098" r="292" t="0"/>
          <a:stretch/>
        </p:blipFill>
        <p:spPr>
          <a:xfrm>
            <a:off x="3725200" y="1127750"/>
            <a:ext cx="5205499" cy="274319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9" name="Google Shape;289;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Colour system</a:t>
            </a:r>
            <a:endParaRPr/>
          </a:p>
        </p:txBody>
      </p:sp>
      <p:sp>
        <p:nvSpPr>
          <p:cNvPr id="290" name="Google Shape;290;p39"/>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Canva color </a:t>
            </a:r>
            <a:r>
              <a:rPr b="1" lang="en" sz="1800">
                <a:solidFill>
                  <a:srgbClr val="743673"/>
                </a:solidFill>
                <a:highlight>
                  <a:schemeClr val="lt1"/>
                </a:highlight>
                <a:latin typeface="Raleway"/>
                <a:ea typeface="Raleway"/>
                <a:cs typeface="Raleway"/>
                <a:sym typeface="Raleway"/>
              </a:rPr>
              <a:t>palette</a:t>
            </a:r>
            <a:r>
              <a:rPr b="1" lang="en" sz="1800">
                <a:solidFill>
                  <a:srgbClr val="743673"/>
                </a:solidFill>
                <a:highlight>
                  <a:schemeClr val="lt1"/>
                </a:highlight>
                <a:latin typeface="Raleway"/>
                <a:ea typeface="Raleway"/>
                <a:cs typeface="Raleway"/>
                <a:sym typeface="Raleway"/>
              </a:rPr>
              <a:t> generator</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Ingin skema warna yang sangat cocok dengan gambar favorit Anda? Dengan pembuat palet warna Canva, Anda dapat membuat kombinasi warna dalam hitungan detik.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Cukup unggah foto, dan Canva akan menggunakan warna di foto Anda untuk membuat palet.</a:t>
            </a:r>
            <a:endParaRPr sz="1200">
              <a:solidFill>
                <a:schemeClr val="dk1"/>
              </a:solidFill>
              <a:latin typeface="Raleway Medium"/>
              <a:ea typeface="Raleway Medium"/>
              <a:cs typeface="Raleway Medium"/>
              <a:sym typeface="Raleway Medium"/>
            </a:endParaRPr>
          </a:p>
        </p:txBody>
      </p:sp>
      <p:pic>
        <p:nvPicPr>
          <p:cNvPr id="291" name="Google Shape;291;p39"/>
          <p:cNvPicPr preferRelativeResize="0"/>
          <p:nvPr/>
        </p:nvPicPr>
        <p:blipFill rotWithShape="1">
          <a:blip r:embed="rId3">
            <a:alphaModFix/>
          </a:blip>
          <a:srcRect b="364" l="-380" r="380" t="1074"/>
          <a:stretch/>
        </p:blipFill>
        <p:spPr>
          <a:xfrm>
            <a:off x="3725200" y="1127750"/>
            <a:ext cx="5205499" cy="274319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7" name="Google Shape;297;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Colour system</a:t>
            </a:r>
            <a:endParaRPr/>
          </a:p>
        </p:txBody>
      </p:sp>
      <p:sp>
        <p:nvSpPr>
          <p:cNvPr id="298" name="Google Shape;298;p40"/>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Color Hunt</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Color Hunt adalah platform pengambilan palet warna gratis yang memungkinkan desainer dan seniman memilih palet warna dari perpustakaan yang luas.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Ada beberapa filter (termasuk "Baru", "Trendi", "Populer", dan "Acak") dan bilah pencarian bagi desainer untuk memilih skema warna yang sesuai atau menemukan inspirasi desain warna dengan mudah.</a:t>
            </a:r>
            <a:endParaRPr sz="1200">
              <a:solidFill>
                <a:schemeClr val="dk1"/>
              </a:solidFill>
              <a:latin typeface="Raleway Medium"/>
              <a:ea typeface="Raleway Medium"/>
              <a:cs typeface="Raleway Medium"/>
              <a:sym typeface="Raleway Medium"/>
            </a:endParaRPr>
          </a:p>
        </p:txBody>
      </p:sp>
      <p:pic>
        <p:nvPicPr>
          <p:cNvPr id="299" name="Google Shape;299;p40"/>
          <p:cNvPicPr preferRelativeResize="0"/>
          <p:nvPr/>
        </p:nvPicPr>
        <p:blipFill rotWithShape="1">
          <a:blip r:embed="rId3">
            <a:alphaModFix/>
          </a:blip>
          <a:srcRect b="357" l="-380" r="380" t="357"/>
          <a:stretch/>
        </p:blipFill>
        <p:spPr>
          <a:xfrm>
            <a:off x="3725200" y="1127750"/>
            <a:ext cx="5205499" cy="274319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5" name="Google Shape;305;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Colour system</a:t>
            </a:r>
            <a:endParaRPr/>
          </a:p>
        </p:txBody>
      </p:sp>
      <p:sp>
        <p:nvSpPr>
          <p:cNvPr id="306" name="Google Shape;306;p41"/>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Colormind</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Colormind memungkinkan pengguna untuk melihat langsung demo dengan palet warna yang dipilih untuk menyederhanakan proses desain warna.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Tombol - tombol terkait, navigasi, tab, dan komponen UI lainnya akan ditampilkan dengan menerapkan palet warna yang telah dipilih.</a:t>
            </a:r>
            <a:endParaRPr sz="1200">
              <a:solidFill>
                <a:schemeClr val="dk1"/>
              </a:solidFill>
              <a:latin typeface="Raleway Medium"/>
              <a:ea typeface="Raleway Medium"/>
              <a:cs typeface="Raleway Medium"/>
              <a:sym typeface="Raleway Medium"/>
            </a:endParaRPr>
          </a:p>
        </p:txBody>
      </p:sp>
      <p:pic>
        <p:nvPicPr>
          <p:cNvPr id="307" name="Google Shape;307;p41"/>
          <p:cNvPicPr preferRelativeResize="0"/>
          <p:nvPr/>
        </p:nvPicPr>
        <p:blipFill rotWithShape="1">
          <a:blip r:embed="rId3">
            <a:alphaModFix/>
          </a:blip>
          <a:srcRect b="445" l="0" r="0" t="445"/>
          <a:stretch/>
        </p:blipFill>
        <p:spPr>
          <a:xfrm>
            <a:off x="3725200" y="1127750"/>
            <a:ext cx="5205499" cy="274319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3" name="Google Shape;313;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Colour system</a:t>
            </a:r>
            <a:endParaRPr/>
          </a:p>
        </p:txBody>
      </p:sp>
      <p:sp>
        <p:nvSpPr>
          <p:cNvPr id="314" name="Google Shape;314;p42"/>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WebAIM Contrast Checker</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Pemeriksa kontras membantu menentukan aksesibilitas ukuran teks, kontras warna, dan pemeriksaan elemen visual Anda.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Orang yang buta warna dan memiliki gangguan penglihatan dapat mengalami kepekaan dan seringkali rasa sakit fisik terhadap warna dan nuansa cahaya tertentu.</a:t>
            </a:r>
            <a:endParaRPr sz="1200">
              <a:solidFill>
                <a:schemeClr val="dk1"/>
              </a:solidFill>
              <a:latin typeface="Raleway Medium"/>
              <a:ea typeface="Raleway Medium"/>
              <a:cs typeface="Raleway Medium"/>
              <a:sym typeface="Raleway Medium"/>
            </a:endParaRPr>
          </a:p>
        </p:txBody>
      </p:sp>
      <p:pic>
        <p:nvPicPr>
          <p:cNvPr id="315" name="Google Shape;315;p42"/>
          <p:cNvPicPr preferRelativeResize="0"/>
          <p:nvPr/>
        </p:nvPicPr>
        <p:blipFill rotWithShape="1">
          <a:blip r:embed="rId3">
            <a:alphaModFix/>
          </a:blip>
          <a:srcRect b="227" l="-380" r="380" t="938"/>
          <a:stretch/>
        </p:blipFill>
        <p:spPr>
          <a:xfrm>
            <a:off x="3725200" y="1127750"/>
            <a:ext cx="5205499" cy="27432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Type</a:t>
            </a:r>
            <a:r>
              <a:rPr lang="en"/>
              <a:t> System</a:t>
            </a:r>
            <a:endParaRPr/>
          </a:p>
        </p:txBody>
      </p:sp>
      <p:sp>
        <p:nvSpPr>
          <p:cNvPr id="321" name="Google Shape;321;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7" name="Google Shape;327;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Type</a:t>
            </a:r>
            <a:r>
              <a:rPr lang="en"/>
              <a:t> system</a:t>
            </a:r>
            <a:endParaRPr/>
          </a:p>
        </p:txBody>
      </p:sp>
      <p:sp>
        <p:nvSpPr>
          <p:cNvPr id="328" name="Google Shape;328;p44"/>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Type</a:t>
            </a:r>
            <a:r>
              <a:rPr b="1" lang="en" sz="1800">
                <a:solidFill>
                  <a:srgbClr val="743673"/>
                </a:solidFill>
                <a:highlight>
                  <a:schemeClr val="lt1"/>
                </a:highlight>
                <a:latin typeface="Raleway"/>
                <a:ea typeface="Raleway"/>
                <a:cs typeface="Raleway"/>
                <a:sym typeface="Raleway"/>
              </a:rPr>
              <a:t> system</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Type system atau sistem tata huruf menggunakan</a:t>
            </a:r>
            <a:r>
              <a:rPr lang="en" sz="1200">
                <a:solidFill>
                  <a:schemeClr val="dk1"/>
                </a:solidFill>
                <a:latin typeface="Raleway Medium"/>
                <a:ea typeface="Raleway Medium"/>
                <a:cs typeface="Raleway Medium"/>
                <a:sym typeface="Raleway Medium"/>
              </a:rPr>
              <a:t> tipografi untuk mempresentasikan desain dan konten Anda sejelas dan seefisien mungkin.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Jika sebuah colour system membutuhkan serangkaian colour palette, type system membutuhkan sebuah type scale.</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29" name="Google Shape;329;p44">
            <a:hlinkClick r:id="rId3"/>
          </p:cNvPr>
          <p:cNvPicPr preferRelativeResize="0"/>
          <p:nvPr/>
        </p:nvPicPr>
        <p:blipFill rotWithShape="1">
          <a:blip r:embed="rId4">
            <a:alphaModFix/>
          </a:blip>
          <a:srcRect b="0" l="2491" r="15007" t="0"/>
          <a:stretch/>
        </p:blipFill>
        <p:spPr>
          <a:xfrm>
            <a:off x="5486400" y="1280150"/>
            <a:ext cx="3017524" cy="2743202"/>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5" name="Google Shape;335;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Type system</a:t>
            </a:r>
            <a:endParaRPr/>
          </a:p>
        </p:txBody>
      </p:sp>
      <p:sp>
        <p:nvSpPr>
          <p:cNvPr id="336" name="Google Shape;336;p45"/>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Contoh sebuah type scale</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Contoh ini menggunakan jenis huruf Roboto untuk semua judul, subjudul, isi, dan keterangan, menciptakan pengalaman tipografi yang kohesif.</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Hirarki dikomunikasikan melalui perbedaan berat font (light, regular, medium), ukuran, spasi huruf, dan huruf besar/kecil.</a:t>
            </a:r>
            <a:endParaRPr sz="1200">
              <a:solidFill>
                <a:schemeClr val="dk1"/>
              </a:solidFill>
              <a:latin typeface="Raleway Medium"/>
              <a:ea typeface="Raleway Medium"/>
              <a:cs typeface="Raleway Medium"/>
              <a:sym typeface="Raleway Medium"/>
            </a:endParaRPr>
          </a:p>
        </p:txBody>
      </p:sp>
      <p:pic>
        <p:nvPicPr>
          <p:cNvPr id="337" name="Google Shape;337;p45">
            <a:hlinkClick r:id="rId3"/>
          </p:cNvPr>
          <p:cNvPicPr preferRelativeResize="0"/>
          <p:nvPr/>
        </p:nvPicPr>
        <p:blipFill rotWithShape="1">
          <a:blip r:embed="rId4">
            <a:alphaModFix/>
          </a:blip>
          <a:srcRect b="41933" l="0" r="0" t="-133"/>
          <a:stretch/>
        </p:blipFill>
        <p:spPr>
          <a:xfrm>
            <a:off x="3725200" y="1127750"/>
            <a:ext cx="4892775" cy="27432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3" name="Google Shape;343;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Type system</a:t>
            </a:r>
            <a:endParaRPr/>
          </a:p>
        </p:txBody>
      </p:sp>
      <p:sp>
        <p:nvSpPr>
          <p:cNvPr id="344" name="Google Shape;344;p46"/>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Membuat type system</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Ada 3 langkah utama yang bisa Anda lakukan untuk membuat type system yang baik untuk desain Anda.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Aa pula beberapa situs yang bisa membantu Anda untuk mempermudah proses pembuatan sistem.</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45" name="Google Shape;345;p46">
            <a:hlinkClick r:id="rId3"/>
          </p:cNvPr>
          <p:cNvPicPr preferRelativeResize="0"/>
          <p:nvPr/>
        </p:nvPicPr>
        <p:blipFill rotWithShape="1">
          <a:blip r:embed="rId4">
            <a:alphaModFix/>
          </a:blip>
          <a:srcRect b="0" l="2491" r="15007" t="0"/>
          <a:stretch/>
        </p:blipFill>
        <p:spPr>
          <a:xfrm>
            <a:off x="5486400" y="1280150"/>
            <a:ext cx="3017524" cy="2743202"/>
          </a:xfrm>
          <a:prstGeom prst="rect">
            <a:avLst/>
          </a:prstGeom>
          <a:noFill/>
          <a:ln>
            <a:noFill/>
          </a:ln>
        </p:spPr>
      </p:pic>
      <p:pic>
        <p:nvPicPr>
          <p:cNvPr id="346" name="Google Shape;346;p46">
            <a:hlinkClick r:id="rId5"/>
          </p:cNvPr>
          <p:cNvPicPr preferRelativeResize="0"/>
          <p:nvPr/>
        </p:nvPicPr>
        <p:blipFill rotWithShape="1">
          <a:blip r:embed="rId4">
            <a:alphaModFix/>
          </a:blip>
          <a:srcRect b="0" l="2491" r="15007" t="0"/>
          <a:stretch/>
        </p:blipFill>
        <p:spPr>
          <a:xfrm>
            <a:off x="5486400" y="1280150"/>
            <a:ext cx="3017524" cy="2743202"/>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2" name="Google Shape;352;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Type system</a:t>
            </a:r>
            <a:endParaRPr/>
          </a:p>
        </p:txBody>
      </p:sp>
      <p:grpSp>
        <p:nvGrpSpPr>
          <p:cNvPr id="353" name="Google Shape;353;p47"/>
          <p:cNvGrpSpPr/>
          <p:nvPr/>
        </p:nvGrpSpPr>
        <p:grpSpPr>
          <a:xfrm>
            <a:off x="0" y="1097494"/>
            <a:ext cx="2726700" cy="3482836"/>
            <a:chOff x="0" y="1189989"/>
            <a:chExt cx="2726700" cy="3482836"/>
          </a:xfrm>
        </p:grpSpPr>
        <p:sp>
          <p:nvSpPr>
            <p:cNvPr id="354" name="Google Shape;354;p47"/>
            <p:cNvSpPr/>
            <p:nvPr/>
          </p:nvSpPr>
          <p:spPr>
            <a:xfrm>
              <a:off x="0" y="1189989"/>
              <a:ext cx="2726700" cy="669000"/>
            </a:xfrm>
            <a:prstGeom prst="homePlate">
              <a:avLst>
                <a:gd fmla="val 50000" name="adj"/>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Step #1 </a:t>
              </a:r>
              <a:endParaRPr>
                <a:solidFill>
                  <a:srgbClr val="FFFFFF"/>
                </a:solidFill>
                <a:latin typeface="Raleway Medium"/>
                <a:ea typeface="Raleway Medium"/>
                <a:cs typeface="Raleway Medium"/>
                <a:sym typeface="Raleway Medium"/>
              </a:endParaRPr>
            </a:p>
          </p:txBody>
        </p:sp>
        <p:sp>
          <p:nvSpPr>
            <p:cNvPr id="355" name="Google Shape;355;p47"/>
            <p:cNvSpPr txBox="1"/>
            <p:nvPr/>
          </p:nvSpPr>
          <p:spPr>
            <a:xfrm>
              <a:off x="410850" y="2057125"/>
              <a:ext cx="19050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Raleway Medium"/>
                  <a:ea typeface="Raleway Medium"/>
                  <a:cs typeface="Raleway Medium"/>
                  <a:sym typeface="Raleway Medium"/>
                </a:rPr>
                <a:t>Memilih Font</a:t>
              </a:r>
              <a:endParaRPr sz="1200">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latin typeface="Raleway Medium"/>
                  <a:ea typeface="Raleway Medium"/>
                  <a:cs typeface="Raleway Medium"/>
                  <a:sym typeface="Raleway Medium"/>
                </a:rPr>
                <a:t>Jika sudah ada font yang digunakan pada identitas merek produk, tidak perlu lagi memilih font.</a:t>
              </a:r>
              <a:endParaRPr sz="1200">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latin typeface="Raleway Medium"/>
                  <a:ea typeface="Raleway Medium"/>
                  <a:cs typeface="Raleway Medium"/>
                  <a:sym typeface="Raleway Medium"/>
                </a:rPr>
                <a:t>Jika belum ada, pada umumnya kita perlu memilih sepasang font.</a:t>
              </a:r>
              <a:endParaRPr sz="1200">
                <a:latin typeface="Raleway Medium"/>
                <a:ea typeface="Raleway Medium"/>
                <a:cs typeface="Raleway Medium"/>
                <a:sym typeface="Raleway Medium"/>
              </a:endParaRPr>
            </a:p>
          </p:txBody>
        </p:sp>
      </p:grpSp>
      <p:grpSp>
        <p:nvGrpSpPr>
          <p:cNvPr id="356" name="Google Shape;356;p47"/>
          <p:cNvGrpSpPr/>
          <p:nvPr/>
        </p:nvGrpSpPr>
        <p:grpSpPr>
          <a:xfrm>
            <a:off x="2263425" y="1097280"/>
            <a:ext cx="2541300" cy="3483050"/>
            <a:chOff x="2263425" y="1189775"/>
            <a:chExt cx="2541300" cy="3483050"/>
          </a:xfrm>
        </p:grpSpPr>
        <p:sp>
          <p:nvSpPr>
            <p:cNvPr id="357" name="Google Shape;357;p47"/>
            <p:cNvSpPr/>
            <p:nvPr/>
          </p:nvSpPr>
          <p:spPr>
            <a:xfrm>
              <a:off x="2263425" y="1189775"/>
              <a:ext cx="25413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Step #2</a:t>
              </a:r>
              <a:endParaRPr>
                <a:solidFill>
                  <a:srgbClr val="FFFFFF"/>
                </a:solidFill>
                <a:latin typeface="Raleway Medium"/>
                <a:ea typeface="Raleway Medium"/>
                <a:cs typeface="Raleway Medium"/>
                <a:sym typeface="Raleway Medium"/>
              </a:endParaRPr>
            </a:p>
          </p:txBody>
        </p:sp>
        <p:sp>
          <p:nvSpPr>
            <p:cNvPr id="358" name="Google Shape;358;p47"/>
            <p:cNvSpPr txBox="1"/>
            <p:nvPr/>
          </p:nvSpPr>
          <p:spPr>
            <a:xfrm>
              <a:off x="2512202" y="2057125"/>
              <a:ext cx="19050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Raleway Medium"/>
                  <a:ea typeface="Raleway Medium"/>
                  <a:cs typeface="Raleway Medium"/>
                  <a:sym typeface="Raleway Medium"/>
                </a:rPr>
                <a:t>Tentukan Ukuran dan Hirarki Visual</a:t>
              </a:r>
              <a:endParaRPr sz="1200">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latin typeface="Raleway Medium"/>
                  <a:ea typeface="Raleway Medium"/>
                  <a:cs typeface="Raleway Medium"/>
                  <a:sym typeface="Raleway Medium"/>
                </a:rPr>
                <a:t>Mulai membuat type scale. Tetapkan ukuran yang harmonis untuk berbagai elemen tipografi (H1, H2, paragraf dll) yang mungkin Anda gunakan dalam sebuah proyek.</a:t>
              </a:r>
              <a:endParaRPr sz="1200">
                <a:latin typeface="Raleway Medium"/>
                <a:ea typeface="Raleway Medium"/>
                <a:cs typeface="Raleway Medium"/>
                <a:sym typeface="Raleway Medium"/>
              </a:endParaRPr>
            </a:p>
          </p:txBody>
        </p:sp>
      </p:grpSp>
      <p:grpSp>
        <p:nvGrpSpPr>
          <p:cNvPr id="359" name="Google Shape;359;p47"/>
          <p:cNvGrpSpPr/>
          <p:nvPr/>
        </p:nvGrpSpPr>
        <p:grpSpPr>
          <a:xfrm>
            <a:off x="4329974" y="1097280"/>
            <a:ext cx="2541300" cy="3483045"/>
            <a:chOff x="4329974" y="1189775"/>
            <a:chExt cx="2541300" cy="3483045"/>
          </a:xfrm>
        </p:grpSpPr>
        <p:sp>
          <p:nvSpPr>
            <p:cNvPr id="360" name="Google Shape;360;p47"/>
            <p:cNvSpPr/>
            <p:nvPr/>
          </p:nvSpPr>
          <p:spPr>
            <a:xfrm>
              <a:off x="4329974" y="1189775"/>
              <a:ext cx="25413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Step #3</a:t>
              </a:r>
              <a:endParaRPr>
                <a:solidFill>
                  <a:srgbClr val="FFFFFF"/>
                </a:solidFill>
                <a:latin typeface="Raleway Medium"/>
                <a:ea typeface="Raleway Medium"/>
                <a:cs typeface="Raleway Medium"/>
                <a:sym typeface="Raleway Medium"/>
              </a:endParaRPr>
            </a:p>
          </p:txBody>
        </p:sp>
        <p:sp>
          <p:nvSpPr>
            <p:cNvPr id="361" name="Google Shape;361;p47"/>
            <p:cNvSpPr txBox="1"/>
            <p:nvPr/>
          </p:nvSpPr>
          <p:spPr>
            <a:xfrm>
              <a:off x="4613550" y="2057120"/>
              <a:ext cx="20343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Raleway Medium"/>
                  <a:ea typeface="Raleway Medium"/>
                  <a:cs typeface="Raleway Medium"/>
                  <a:sym typeface="Raleway Medium"/>
                </a:rPr>
                <a:t>Sesuaikan Spasi untuk Membuat Irama Vertikal</a:t>
              </a:r>
              <a:endParaRPr sz="1200">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latin typeface="Raleway Medium"/>
                  <a:ea typeface="Raleway Medium"/>
                  <a:cs typeface="Raleway Medium"/>
                  <a:sym typeface="Raleway Medium"/>
                </a:rPr>
                <a:t>Membangun ritme vertikal yang menyenangkan dilakukan dengan menyesuaikan jarak vertikal dan tinggi garis untuk semua elemen tipografi yang beragam agar mudah dibaca dan struktur kontennya jelas.</a:t>
              </a:r>
              <a:endParaRPr sz="1200">
                <a:latin typeface="Raleway Medium"/>
                <a:ea typeface="Raleway Medium"/>
                <a:cs typeface="Raleway Medium"/>
                <a:sym typeface="Raleway Medium"/>
              </a:endParaRPr>
            </a:p>
          </p:txBody>
        </p:sp>
      </p:grpSp>
      <p:grpSp>
        <p:nvGrpSpPr>
          <p:cNvPr id="362" name="Google Shape;362;p47"/>
          <p:cNvGrpSpPr/>
          <p:nvPr/>
        </p:nvGrpSpPr>
        <p:grpSpPr>
          <a:xfrm>
            <a:off x="6396739" y="1097280"/>
            <a:ext cx="2541300" cy="3483050"/>
            <a:chOff x="6396739" y="1189775"/>
            <a:chExt cx="2541300" cy="3483050"/>
          </a:xfrm>
        </p:grpSpPr>
        <p:sp>
          <p:nvSpPr>
            <p:cNvPr id="363" name="Google Shape;363;p47"/>
            <p:cNvSpPr/>
            <p:nvPr/>
          </p:nvSpPr>
          <p:spPr>
            <a:xfrm>
              <a:off x="6396739" y="1189775"/>
              <a:ext cx="2541300" cy="669000"/>
            </a:xfrm>
            <a:prstGeom prst="chevron">
              <a:avLst>
                <a:gd fmla="val 50000" name="adj"/>
              </a:avLst>
            </a:prstGeom>
            <a:solidFill>
              <a:srgbClr val="5E2B62">
                <a:alpha val="439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Step #4</a:t>
              </a:r>
              <a:endParaRPr>
                <a:solidFill>
                  <a:srgbClr val="FFFFFF"/>
                </a:solidFill>
                <a:latin typeface="Raleway Medium"/>
                <a:ea typeface="Raleway Medium"/>
                <a:cs typeface="Raleway Medium"/>
                <a:sym typeface="Raleway Medium"/>
              </a:endParaRPr>
            </a:p>
          </p:txBody>
        </p:sp>
        <p:sp>
          <p:nvSpPr>
            <p:cNvPr id="364" name="Google Shape;364;p47"/>
            <p:cNvSpPr txBox="1"/>
            <p:nvPr/>
          </p:nvSpPr>
          <p:spPr>
            <a:xfrm>
              <a:off x="6714905" y="2057125"/>
              <a:ext cx="19050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Raleway Medium"/>
                  <a:ea typeface="Raleway Medium"/>
                  <a:cs typeface="Raleway Medium"/>
                  <a:sym typeface="Raleway Medium"/>
                </a:rPr>
                <a:t>Sertakan  poin - poin penting yang tidak ada pada step 1 sampai 3 tetapi perlu diketahui oleh desainer.</a:t>
              </a:r>
              <a:endParaRPr sz="1200">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latin typeface="Raleway Medium"/>
                  <a:ea typeface="Raleway Medium"/>
                  <a:cs typeface="Raleway Medium"/>
                  <a:sym typeface="Raleway Medium"/>
                </a:rPr>
                <a:t>Contoh, gunakan </a:t>
              </a:r>
              <a:r>
                <a:rPr i="1" lang="en" sz="1200">
                  <a:latin typeface="Raleway Medium"/>
                  <a:ea typeface="Raleway Medium"/>
                  <a:cs typeface="Raleway Medium"/>
                  <a:sym typeface="Raleway Medium"/>
                </a:rPr>
                <a:t>all caps </a:t>
              </a:r>
              <a:r>
                <a:rPr lang="en" sz="1200">
                  <a:latin typeface="Raleway Medium"/>
                  <a:ea typeface="Raleway Medium"/>
                  <a:cs typeface="Raleway Medium"/>
                  <a:sym typeface="Raleway Medium"/>
                </a:rPr>
                <a:t>pada font </a:t>
              </a:r>
              <a:r>
                <a:rPr lang="en" sz="1200">
                  <a:latin typeface="Audiowide"/>
                  <a:ea typeface="Audiowide"/>
                  <a:cs typeface="Audiowide"/>
                  <a:sym typeface="Audiowide"/>
                </a:rPr>
                <a:t>Audiowide</a:t>
              </a:r>
              <a:r>
                <a:rPr lang="en" sz="1200">
                  <a:latin typeface="Raleway Medium"/>
                  <a:ea typeface="Raleway Medium"/>
                  <a:cs typeface="Raleway Medium"/>
                  <a:sym typeface="Raleway Medium"/>
                </a:rPr>
                <a:t> karena </a:t>
              </a:r>
              <a:r>
                <a:rPr i="1" lang="en" sz="1200">
                  <a:latin typeface="Raleway Medium"/>
                  <a:ea typeface="Raleway Medium"/>
                  <a:cs typeface="Raleway Medium"/>
                  <a:sym typeface="Raleway Medium"/>
                </a:rPr>
                <a:t>readability </a:t>
              </a:r>
              <a:r>
                <a:rPr lang="en" sz="1200">
                  <a:latin typeface="Raleway Medium"/>
                  <a:ea typeface="Raleway Medium"/>
                  <a:cs typeface="Raleway Medium"/>
                  <a:sym typeface="Raleway Medium"/>
                </a:rPr>
                <a:t>yang rendah jika menggunakan huruf kecil.</a:t>
              </a:r>
              <a:endParaRPr sz="1200">
                <a:latin typeface="Raleway Medium"/>
                <a:ea typeface="Raleway Medium"/>
                <a:cs typeface="Raleway Medium"/>
                <a:sym typeface="Raleway Medium"/>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0" name="Google Shape;370;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Type</a:t>
            </a:r>
            <a:r>
              <a:rPr lang="en"/>
              <a:t> system</a:t>
            </a:r>
            <a:endParaRPr/>
          </a:p>
        </p:txBody>
      </p:sp>
      <p:sp>
        <p:nvSpPr>
          <p:cNvPr id="371" name="Google Shape;371;p48"/>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Archetype</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Archetype membantu kita mencapai hal-hal berikut: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M</a:t>
            </a:r>
            <a:r>
              <a:rPr lang="en" sz="1200">
                <a:solidFill>
                  <a:schemeClr val="dk1"/>
                </a:solidFill>
                <a:latin typeface="Raleway Medium"/>
                <a:ea typeface="Raleway Medium"/>
                <a:cs typeface="Raleway Medium"/>
                <a:sym typeface="Raleway Medium"/>
              </a:rPr>
              <a:t>emilih pasangan font </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2) Menghemat waktu membuat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penataan gaya dan spasi berbasis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aturan untuk berbagai </a:t>
            </a:r>
            <a:r>
              <a:rPr lang="en" sz="1200">
                <a:solidFill>
                  <a:schemeClr val="dk1"/>
                </a:solidFill>
                <a:latin typeface="Raleway Medium"/>
                <a:ea typeface="Raleway Medium"/>
                <a:cs typeface="Raleway Medium"/>
                <a:sym typeface="Raleway Medium"/>
              </a:rPr>
              <a:t>elemen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tipografi yang diperlukan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pada sistem desain (sambil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melihat tampilannya di browser)</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Menghasilkan CSS </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4) Ekspor langsung ke Sketch untuk</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a:t>
            </a:r>
            <a:r>
              <a:rPr lang="en" sz="1200">
                <a:solidFill>
                  <a:schemeClr val="dk1"/>
                </a:solidFill>
                <a:latin typeface="Raleway Medium"/>
                <a:ea typeface="Raleway Medium"/>
                <a:cs typeface="Raleway Medium"/>
                <a:sym typeface="Raleway Medium"/>
              </a:rPr>
              <a:t>digunakan sebagai bagian dari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a:t>
            </a:r>
            <a:r>
              <a:rPr lang="en" sz="1200">
                <a:solidFill>
                  <a:schemeClr val="dk1"/>
                </a:solidFill>
                <a:latin typeface="Raleway Medium"/>
                <a:ea typeface="Raleway Medium"/>
                <a:cs typeface="Raleway Medium"/>
                <a:sym typeface="Raleway Medium"/>
              </a:rPr>
              <a:t>dokumen sistem desain Anda</a:t>
            </a:r>
            <a:endParaRPr sz="1200">
              <a:solidFill>
                <a:schemeClr val="dk1"/>
              </a:solidFill>
              <a:latin typeface="Raleway Medium"/>
              <a:ea typeface="Raleway Medium"/>
              <a:cs typeface="Raleway Medium"/>
              <a:sym typeface="Raleway Medium"/>
            </a:endParaRPr>
          </a:p>
        </p:txBody>
      </p:sp>
      <p:pic>
        <p:nvPicPr>
          <p:cNvPr id="372" name="Google Shape;372;p48">
            <a:hlinkClick r:id="rId3"/>
          </p:cNvPr>
          <p:cNvPicPr preferRelativeResize="0"/>
          <p:nvPr/>
        </p:nvPicPr>
        <p:blipFill rotWithShape="1">
          <a:blip r:embed="rId4">
            <a:alphaModFix/>
          </a:blip>
          <a:srcRect b="0" l="0" r="0" t="0"/>
          <a:stretch/>
        </p:blipFill>
        <p:spPr>
          <a:xfrm>
            <a:off x="3725200" y="1127750"/>
            <a:ext cx="5205499" cy="29758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8" name="Google Shape;378;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Type system</a:t>
            </a:r>
            <a:endParaRPr/>
          </a:p>
        </p:txBody>
      </p:sp>
      <p:sp>
        <p:nvSpPr>
          <p:cNvPr id="379" name="Google Shape;379;p49"/>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Type Scale Generator</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Didukung oleh Google Font, type scale generator adalah alat untuk membuat skala tipe dan kode yang sesuai.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Setiap font yang Anda pilih akan secara otomatis diubah ukurannya dan dioptimalkan berdasarkan panduan tipografi Material Design agar mudah dibaca.</a:t>
            </a:r>
            <a:endParaRPr sz="1200">
              <a:solidFill>
                <a:schemeClr val="dk1"/>
              </a:solidFill>
              <a:latin typeface="Raleway Medium"/>
              <a:ea typeface="Raleway Medium"/>
              <a:cs typeface="Raleway Medium"/>
              <a:sym typeface="Raleway Medium"/>
            </a:endParaRPr>
          </a:p>
        </p:txBody>
      </p:sp>
      <p:pic>
        <p:nvPicPr>
          <p:cNvPr id="380" name="Google Shape;380;p49">
            <a:hlinkClick r:id="rId3"/>
          </p:cNvPr>
          <p:cNvPicPr preferRelativeResize="0"/>
          <p:nvPr/>
        </p:nvPicPr>
        <p:blipFill rotWithShape="1">
          <a:blip r:embed="rId4">
            <a:alphaModFix/>
          </a:blip>
          <a:srcRect b="0" l="-810" r="14544" t="0"/>
          <a:stretch/>
        </p:blipFill>
        <p:spPr>
          <a:xfrm>
            <a:off x="3725200" y="1127750"/>
            <a:ext cx="5205499" cy="2975801"/>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6" name="Google Shape;386;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Type system</a:t>
            </a:r>
            <a:endParaRPr/>
          </a:p>
        </p:txBody>
      </p:sp>
      <p:sp>
        <p:nvSpPr>
          <p:cNvPr id="387" name="Google Shape;387;p50"/>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Type Scale Calculator</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Type Scale Calculator </a:t>
            </a:r>
            <a:r>
              <a:rPr lang="en" sz="1200">
                <a:solidFill>
                  <a:schemeClr val="dk1"/>
                </a:solidFill>
                <a:latin typeface="Raleway Medium"/>
                <a:ea typeface="Raleway Medium"/>
                <a:cs typeface="Raleway Medium"/>
                <a:sym typeface="Raleway Medium"/>
              </a:rPr>
              <a:t>memberi desainer kemampuan untuk menetapkan elemen tipografi yang berbeda (judul, subjudul, legenda, dll.) dalam urutan. </a:t>
            </a:r>
            <a:endParaRPr sz="1200">
              <a:solidFill>
                <a:schemeClr val="dk1"/>
              </a:solidFill>
              <a:latin typeface="Raleway Medium"/>
              <a:ea typeface="Raleway Medium"/>
              <a:cs typeface="Raleway Medium"/>
              <a:sym typeface="Raleway Medium"/>
            </a:endParaRPr>
          </a:p>
        </p:txBody>
      </p:sp>
      <p:pic>
        <p:nvPicPr>
          <p:cNvPr id="388" name="Google Shape;388;p50">
            <a:hlinkClick r:id="rId3"/>
          </p:cNvPr>
          <p:cNvPicPr preferRelativeResize="0"/>
          <p:nvPr/>
        </p:nvPicPr>
        <p:blipFill rotWithShape="1">
          <a:blip r:embed="rId4">
            <a:alphaModFix/>
          </a:blip>
          <a:srcRect b="0" l="3660" r="3669" t="0"/>
          <a:stretch/>
        </p:blipFill>
        <p:spPr>
          <a:xfrm>
            <a:off x="3725200" y="1127750"/>
            <a:ext cx="5205499" cy="29758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4" name="Google Shape;394;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Type system</a:t>
            </a:r>
            <a:endParaRPr/>
          </a:p>
        </p:txBody>
      </p:sp>
      <p:sp>
        <p:nvSpPr>
          <p:cNvPr id="395" name="Google Shape;395;p51"/>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Google Fonts</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Dengan </a:t>
            </a:r>
            <a:r>
              <a:rPr lang="en" sz="1200">
                <a:solidFill>
                  <a:schemeClr val="dk1"/>
                </a:solidFill>
                <a:latin typeface="Raleway Medium"/>
                <a:ea typeface="Raleway Medium"/>
                <a:cs typeface="Raleway Medium"/>
                <a:sym typeface="Raleway Medium"/>
              </a:rPr>
              <a:t>Google Fonts, Anda dapat berbagi dan mengintegrasikan tipografi ke dalam proyek desain apa pun dengan mulus di mana pun Anda berada.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Semua font dalam katalog Google Fonts gratis dan open-source. Mereka membantu dalam membuat tipografi yang indah dapat diakses oleh siapa saja.</a:t>
            </a:r>
            <a:endParaRPr sz="1200">
              <a:solidFill>
                <a:schemeClr val="dk1"/>
              </a:solidFill>
              <a:latin typeface="Raleway Medium"/>
              <a:ea typeface="Raleway Medium"/>
              <a:cs typeface="Raleway Medium"/>
              <a:sym typeface="Raleway Medium"/>
            </a:endParaRPr>
          </a:p>
        </p:txBody>
      </p:sp>
      <p:pic>
        <p:nvPicPr>
          <p:cNvPr id="396" name="Google Shape;396;p51">
            <a:hlinkClick r:id="rId3"/>
          </p:cNvPr>
          <p:cNvPicPr preferRelativeResize="0"/>
          <p:nvPr/>
        </p:nvPicPr>
        <p:blipFill rotWithShape="1">
          <a:blip r:embed="rId4">
            <a:alphaModFix/>
          </a:blip>
          <a:srcRect b="0" l="3916" r="3925" t="0"/>
          <a:stretch/>
        </p:blipFill>
        <p:spPr>
          <a:xfrm>
            <a:off x="3725200" y="1127750"/>
            <a:ext cx="5205499" cy="2975801"/>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2" name="Google Shape;402;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Type system</a:t>
            </a:r>
            <a:endParaRPr/>
          </a:p>
        </p:txBody>
      </p:sp>
      <p:sp>
        <p:nvSpPr>
          <p:cNvPr id="403" name="Google Shape;403;p52"/>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Font Fabric</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F</a:t>
            </a:r>
            <a:r>
              <a:rPr lang="en" sz="1200">
                <a:solidFill>
                  <a:schemeClr val="dk1"/>
                </a:solidFill>
                <a:latin typeface="Raleway Medium"/>
                <a:ea typeface="Raleway Medium"/>
                <a:cs typeface="Raleway Medium"/>
                <a:sym typeface="Raleway Medium"/>
              </a:rPr>
              <a:t>ont Fabric adalah koleksi font yang mengagumkan yang menawarkan berbagai gaya unik.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Klien mereka termasuk merek global terkenal seperti Nike, Lipton, Hyundai, CNET, Nestlé, Transavia, dan tim sepak bola nasional AS.</a:t>
            </a:r>
            <a:endParaRPr sz="1200">
              <a:solidFill>
                <a:schemeClr val="dk1"/>
              </a:solidFill>
              <a:latin typeface="Raleway Medium"/>
              <a:ea typeface="Raleway Medium"/>
              <a:cs typeface="Raleway Medium"/>
              <a:sym typeface="Raleway Medium"/>
            </a:endParaRPr>
          </a:p>
        </p:txBody>
      </p:sp>
      <p:pic>
        <p:nvPicPr>
          <p:cNvPr id="404" name="Google Shape;404;p52">
            <a:hlinkClick r:id="rId3"/>
          </p:cNvPr>
          <p:cNvPicPr preferRelativeResize="0"/>
          <p:nvPr/>
        </p:nvPicPr>
        <p:blipFill rotWithShape="1">
          <a:blip r:embed="rId4">
            <a:alphaModFix/>
          </a:blip>
          <a:srcRect b="0" l="3789" r="3789" t="0"/>
          <a:stretch/>
        </p:blipFill>
        <p:spPr>
          <a:xfrm>
            <a:off x="3725200" y="1127750"/>
            <a:ext cx="5205499" cy="29758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0" name="Google Shape;410;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Type system</a:t>
            </a:r>
            <a:endParaRPr/>
          </a:p>
        </p:txBody>
      </p:sp>
      <p:sp>
        <p:nvSpPr>
          <p:cNvPr id="411" name="Google Shape;411;p53"/>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Layout Grid Calculator</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Layout Grid Calculator adalah plugin Adobe InDesign yang membantu Anda membuat grid tipografi yang sempurna dan grid baseline yang sempurna.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Kalkulator ini  juga membantu Anda memilih ukuran font yang tepat dari type scale harmonis.</a:t>
            </a:r>
            <a:endParaRPr sz="1200">
              <a:solidFill>
                <a:schemeClr val="dk1"/>
              </a:solidFill>
              <a:latin typeface="Raleway Medium"/>
              <a:ea typeface="Raleway Medium"/>
              <a:cs typeface="Raleway Medium"/>
              <a:sym typeface="Raleway Medium"/>
            </a:endParaRPr>
          </a:p>
        </p:txBody>
      </p:sp>
      <p:pic>
        <p:nvPicPr>
          <p:cNvPr id="412" name="Google Shape;412;p53">
            <a:hlinkClick r:id="rId3"/>
          </p:cNvPr>
          <p:cNvPicPr preferRelativeResize="0"/>
          <p:nvPr/>
        </p:nvPicPr>
        <p:blipFill rotWithShape="1">
          <a:blip r:embed="rId4">
            <a:alphaModFix/>
          </a:blip>
          <a:srcRect b="0" l="3410" r="3401" t="0"/>
          <a:stretch/>
        </p:blipFill>
        <p:spPr>
          <a:xfrm>
            <a:off x="3725200" y="1127750"/>
            <a:ext cx="5205499" cy="2975801"/>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8" name="Google Shape;418;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Type system</a:t>
            </a:r>
            <a:endParaRPr/>
          </a:p>
        </p:txBody>
      </p:sp>
      <p:sp>
        <p:nvSpPr>
          <p:cNvPr id="419" name="Google Shape;419;p54"/>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Fontjoy</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Font Joy adalah alat tipografi yang harus disimpan oleh setiap desainer dalam perangkat kreatif mereka. </a:t>
            </a:r>
            <a:br>
              <a:rPr lang="en" sz="1200">
                <a:solidFill>
                  <a:schemeClr val="dk1"/>
                </a:solidFill>
                <a:latin typeface="Raleway Medium"/>
                <a:ea typeface="Raleway Medium"/>
                <a:cs typeface="Raleway Medium"/>
                <a:sym typeface="Raleway Medium"/>
              </a:rPr>
            </a:b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Menggunakan </a:t>
            </a:r>
            <a:r>
              <a:rPr i="1" lang="en" sz="1200">
                <a:solidFill>
                  <a:schemeClr val="dk1"/>
                </a:solidFill>
                <a:latin typeface="Raleway Medium"/>
                <a:ea typeface="Raleway Medium"/>
                <a:cs typeface="Raleway Medium"/>
                <a:sym typeface="Raleway Medium"/>
              </a:rPr>
              <a:t>machine learning,</a:t>
            </a:r>
            <a:r>
              <a:rPr lang="en" sz="1200">
                <a:solidFill>
                  <a:schemeClr val="dk1"/>
                </a:solidFill>
                <a:latin typeface="Raleway Medium"/>
                <a:ea typeface="Raleway Medium"/>
                <a:cs typeface="Raleway Medium"/>
                <a:sym typeface="Raleway Medium"/>
              </a:rPr>
              <a:t> alat ini memberi Anda kebebasan untuk bereksperimen dengan berbagai kombinasi font dan menemukan tipografi kontras terbaik yang saling melengkapi untuk meninggalkan kesan yang baik.</a:t>
            </a:r>
            <a:endParaRPr sz="1200">
              <a:solidFill>
                <a:schemeClr val="dk1"/>
              </a:solidFill>
              <a:latin typeface="Raleway Medium"/>
              <a:ea typeface="Raleway Medium"/>
              <a:cs typeface="Raleway Medium"/>
              <a:sym typeface="Raleway Medium"/>
            </a:endParaRPr>
          </a:p>
        </p:txBody>
      </p:sp>
      <p:pic>
        <p:nvPicPr>
          <p:cNvPr id="420" name="Google Shape;420;p54">
            <a:hlinkClick r:id="rId3"/>
          </p:cNvPr>
          <p:cNvPicPr preferRelativeResize="0"/>
          <p:nvPr/>
        </p:nvPicPr>
        <p:blipFill rotWithShape="1">
          <a:blip r:embed="rId4">
            <a:alphaModFix/>
          </a:blip>
          <a:srcRect b="0" l="3703" r="3703" t="0"/>
          <a:stretch/>
        </p:blipFill>
        <p:spPr>
          <a:xfrm>
            <a:off x="3725200" y="1127750"/>
            <a:ext cx="5205499" cy="29758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55"/>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Elevation</a:t>
            </a:r>
            <a:endParaRPr/>
          </a:p>
        </p:txBody>
      </p:sp>
      <p:sp>
        <p:nvSpPr>
          <p:cNvPr id="426" name="Google Shape;426;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2" name="Google Shape;432;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Elevation</a:t>
            </a:r>
            <a:endParaRPr/>
          </a:p>
        </p:txBody>
      </p:sp>
      <p:sp>
        <p:nvSpPr>
          <p:cNvPr id="433" name="Google Shape;433;p56"/>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Elevation</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Elevation adalah jarak relatif antara dua permukaan sepanjang sumbu z.</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Elevation dapat</a:t>
            </a:r>
            <a:r>
              <a:rPr lang="en" sz="1200">
                <a:solidFill>
                  <a:schemeClr val="dk1"/>
                </a:solidFill>
                <a:latin typeface="Raleway Medium"/>
                <a:ea typeface="Raleway Medium"/>
                <a:cs typeface="Raleway Medium"/>
                <a:sym typeface="Raleway Medium"/>
              </a:rPr>
              <a:t> direfleksikan menggunakan bayangan (</a:t>
            </a:r>
            <a:r>
              <a:rPr i="1" lang="en" sz="1200">
                <a:solidFill>
                  <a:schemeClr val="dk1"/>
                </a:solidFill>
                <a:latin typeface="Raleway Medium"/>
                <a:ea typeface="Raleway Medium"/>
                <a:cs typeface="Raleway Medium"/>
                <a:sym typeface="Raleway Medium"/>
              </a:rPr>
              <a:t>shadow</a:t>
            </a:r>
            <a:r>
              <a:rPr lang="en" sz="1200">
                <a:solidFill>
                  <a:schemeClr val="dk1"/>
                </a:solidFill>
                <a:latin typeface="Raleway Medium"/>
                <a:ea typeface="Raleway Medium"/>
                <a:cs typeface="Raleway Medium"/>
                <a:sym typeface="Raleway Medium"/>
              </a:rPr>
              <a:t>) atau isyarat visual lainnya, seperti isian permukaan (</a:t>
            </a:r>
            <a:r>
              <a:rPr i="1" lang="en" sz="1200">
                <a:solidFill>
                  <a:schemeClr val="dk1"/>
                </a:solidFill>
                <a:latin typeface="Raleway Medium"/>
                <a:ea typeface="Raleway Medium"/>
                <a:cs typeface="Raleway Medium"/>
                <a:sym typeface="Raleway Medium"/>
              </a:rPr>
              <a:t>surface fills</a:t>
            </a:r>
            <a:r>
              <a:rPr lang="en" sz="1200">
                <a:solidFill>
                  <a:schemeClr val="dk1"/>
                </a:solidFill>
                <a:latin typeface="Raleway Medium"/>
                <a:ea typeface="Raleway Medium"/>
                <a:cs typeface="Raleway Medium"/>
                <a:sym typeface="Raleway Medium"/>
              </a:rPr>
              <a:t>) atau opasitas (</a:t>
            </a:r>
            <a:r>
              <a:rPr i="1" lang="en" sz="1200">
                <a:solidFill>
                  <a:schemeClr val="dk1"/>
                </a:solidFill>
                <a:latin typeface="Raleway Medium"/>
                <a:ea typeface="Raleway Medium"/>
                <a:cs typeface="Raleway Medium"/>
                <a:sym typeface="Raleway Medium"/>
              </a:rPr>
              <a:t>opacity</a:t>
            </a:r>
            <a:r>
              <a:rPr lang="en" sz="1200">
                <a:solidFill>
                  <a:schemeClr val="dk1"/>
                </a:solidFill>
                <a:latin typeface="Raleway Medium"/>
                <a:ea typeface="Raleway Medium"/>
                <a:cs typeface="Raleway Medium"/>
                <a:sym typeface="Raleway Medium"/>
              </a:rPr>
              <a:t>).</a:t>
            </a:r>
            <a:endParaRPr sz="1200">
              <a:solidFill>
                <a:schemeClr val="dk1"/>
              </a:solidFill>
              <a:latin typeface="Raleway Medium"/>
              <a:ea typeface="Raleway Medium"/>
              <a:cs typeface="Raleway Medium"/>
              <a:sym typeface="Raleway Medium"/>
            </a:endParaRPr>
          </a:p>
        </p:txBody>
      </p:sp>
      <p:pic>
        <p:nvPicPr>
          <p:cNvPr id="434" name="Google Shape;434;p56">
            <a:hlinkClick r:id="rId3"/>
          </p:cNvPr>
          <p:cNvPicPr preferRelativeResize="0"/>
          <p:nvPr/>
        </p:nvPicPr>
        <p:blipFill rotWithShape="1">
          <a:blip r:embed="rId4">
            <a:alphaModFix/>
          </a:blip>
          <a:srcRect b="0" l="4103" r="30554" t="0"/>
          <a:stretch/>
        </p:blipFill>
        <p:spPr>
          <a:xfrm>
            <a:off x="5486400" y="1280150"/>
            <a:ext cx="3017523" cy="2743202"/>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0" name="Google Shape;440;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Elevation</a:t>
            </a:r>
            <a:endParaRPr/>
          </a:p>
        </p:txBody>
      </p:sp>
      <p:sp>
        <p:nvSpPr>
          <p:cNvPr id="441" name="Google Shape;441;p57"/>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Contoh elevation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Nilai pada komponen - komponen contoh disamping:</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Nav drawer: 16dp</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App bar: 4dp</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Card: 1dp to 8dp</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FAB: 6dp</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5. Button: 2dp to 8dp</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6. Dialog: 24dp</a:t>
            </a:r>
            <a:endParaRPr sz="1200">
              <a:solidFill>
                <a:schemeClr val="dk1"/>
              </a:solidFill>
              <a:latin typeface="Raleway Medium"/>
              <a:ea typeface="Raleway Medium"/>
              <a:cs typeface="Raleway Medium"/>
              <a:sym typeface="Raleway Medium"/>
            </a:endParaRPr>
          </a:p>
        </p:txBody>
      </p:sp>
      <p:pic>
        <p:nvPicPr>
          <p:cNvPr id="442" name="Google Shape;442;p57">
            <a:hlinkClick r:id="rId3"/>
          </p:cNvPr>
          <p:cNvPicPr preferRelativeResize="0"/>
          <p:nvPr/>
        </p:nvPicPr>
        <p:blipFill rotWithShape="1">
          <a:blip r:embed="rId4">
            <a:alphaModFix/>
          </a:blip>
          <a:srcRect b="5508" l="0" r="0" t="5499"/>
          <a:stretch/>
        </p:blipFill>
        <p:spPr>
          <a:xfrm>
            <a:off x="3725200" y="1127750"/>
            <a:ext cx="4892775" cy="27432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8" name="Google Shape;448;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Elevation</a:t>
            </a:r>
            <a:endParaRPr/>
          </a:p>
        </p:txBody>
      </p:sp>
      <p:sp>
        <p:nvSpPr>
          <p:cNvPr id="449" name="Google Shape;449;p58"/>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Permukaan pada ketinggian atau </a:t>
            </a:r>
            <a:r>
              <a:rPr i="1" lang="en" sz="1200">
                <a:solidFill>
                  <a:schemeClr val="dk1"/>
                </a:solidFill>
                <a:latin typeface="Raleway Medium"/>
                <a:ea typeface="Raleway Medium"/>
                <a:cs typeface="Raleway Medium"/>
                <a:sym typeface="Raleway Medium"/>
              </a:rPr>
              <a:t>elevation</a:t>
            </a:r>
            <a:r>
              <a:rPr lang="en" sz="1200">
                <a:solidFill>
                  <a:schemeClr val="dk1"/>
                </a:solidFill>
                <a:latin typeface="Raleway Medium"/>
                <a:ea typeface="Raleway Medium"/>
                <a:cs typeface="Raleway Medium"/>
                <a:sym typeface="Raleway Medium"/>
              </a:rPr>
              <a:t> yang sama dapat muncul secara berbeda ketika permukaan lain berada di belakangnya.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Kedua permukaan A dan B berada pada ketinggian 8 dp yang sama. Mereka memberikan bayangan yang berbeda karena Permukaan B berada di depan permukaan lain (C) yang sudah memiliki ketinggian.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Perbedaan ketinggian antara permukaan (A), (B), dan (C), jika dilihat dari samping.</a:t>
            </a:r>
            <a:endParaRPr sz="1200">
              <a:solidFill>
                <a:schemeClr val="dk1"/>
              </a:solidFill>
              <a:latin typeface="Raleway Medium"/>
              <a:ea typeface="Raleway Medium"/>
              <a:cs typeface="Raleway Medium"/>
              <a:sym typeface="Raleway Medium"/>
            </a:endParaRPr>
          </a:p>
        </p:txBody>
      </p:sp>
      <p:pic>
        <p:nvPicPr>
          <p:cNvPr id="450" name="Google Shape;450;p58">
            <a:hlinkClick r:id="rId3"/>
          </p:cNvPr>
          <p:cNvPicPr preferRelativeResize="0"/>
          <p:nvPr/>
        </p:nvPicPr>
        <p:blipFill rotWithShape="1">
          <a:blip r:embed="rId4">
            <a:alphaModFix/>
          </a:blip>
          <a:srcRect b="0" l="-151" r="10969" t="0"/>
          <a:stretch/>
        </p:blipFill>
        <p:spPr>
          <a:xfrm>
            <a:off x="3725200" y="1127750"/>
            <a:ext cx="4892775" cy="2743199"/>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59"/>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Product and System Icons</a:t>
            </a:r>
            <a:endParaRPr/>
          </a:p>
        </p:txBody>
      </p:sp>
      <p:sp>
        <p:nvSpPr>
          <p:cNvPr id="456" name="Google Shape;456;p5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6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2" name="Google Shape;462;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Product and system icons</a:t>
            </a:r>
            <a:endParaRPr/>
          </a:p>
        </p:txBody>
      </p:sp>
      <p:sp>
        <p:nvSpPr>
          <p:cNvPr id="463" name="Google Shape;463;p60"/>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Icons</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Ikon adalah, menurut definisi, representasi visual dari suatu objek, tindakan, atau ide</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Clr>
                <a:schemeClr val="dk1"/>
              </a:buClr>
              <a:buSzPts val="1100"/>
              <a:buFont typeface="Arial"/>
              <a:buNone/>
            </a:pPr>
            <a:r>
              <a:rPr b="1" lang="en" sz="1800">
                <a:solidFill>
                  <a:srgbClr val="743673"/>
                </a:solidFill>
                <a:highlight>
                  <a:schemeClr val="lt1"/>
                </a:highlight>
                <a:latin typeface="Raleway"/>
                <a:ea typeface="Raleway"/>
                <a:cs typeface="Raleway"/>
                <a:sym typeface="Raleway"/>
              </a:rPr>
              <a:t>Product vs system icons</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Ikon produk adalah ekspresi visual dari produk, layanan, dan alat merek.</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Ikon sistem melambangkan tindakan umum, file, perangkat, dan direktori.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464" name="Google Shape;464;p60">
            <a:hlinkClick r:id="rId3"/>
          </p:cNvPr>
          <p:cNvPicPr preferRelativeResize="0"/>
          <p:nvPr/>
        </p:nvPicPr>
        <p:blipFill rotWithShape="1">
          <a:blip r:embed="rId4">
            <a:alphaModFix/>
          </a:blip>
          <a:srcRect b="13961" l="0" r="5455" t="6077"/>
          <a:stretch/>
        </p:blipFill>
        <p:spPr>
          <a:xfrm>
            <a:off x="5486400" y="1280150"/>
            <a:ext cx="3017524" cy="2743202"/>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6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0" name="Google Shape;470;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Product and system icons</a:t>
            </a:r>
            <a:endParaRPr/>
          </a:p>
        </p:txBody>
      </p:sp>
      <p:sp>
        <p:nvSpPr>
          <p:cNvPr id="471" name="Google Shape;471;p61"/>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Contoh ikon produk</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Ikon produk adalah ekspresi visual dari merek dan produk, termasuk layanan dan alatnya.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Ikon mengomunikasikan ide inti dan maksud dari suatu produk dengan cara yang sederhana, berani, dan ramah. Meskipun setiap ikon berbeda secara visual, semua ikon produk untuk sebuah merek harus disatukan melalui konsep dan eksekusi</a:t>
            </a:r>
            <a:endParaRPr sz="1200">
              <a:solidFill>
                <a:schemeClr val="dk1"/>
              </a:solidFill>
              <a:latin typeface="Raleway Medium"/>
              <a:ea typeface="Raleway Medium"/>
              <a:cs typeface="Raleway Medium"/>
              <a:sym typeface="Raleway Medium"/>
            </a:endParaRPr>
          </a:p>
        </p:txBody>
      </p:sp>
      <p:pic>
        <p:nvPicPr>
          <p:cNvPr id="472" name="Google Shape;472;p61">
            <a:hlinkClick r:id="rId3"/>
          </p:cNvPr>
          <p:cNvPicPr preferRelativeResize="0"/>
          <p:nvPr/>
        </p:nvPicPr>
        <p:blipFill rotWithShape="1">
          <a:blip r:embed="rId4">
            <a:alphaModFix/>
          </a:blip>
          <a:srcRect b="0" l="7755" r="7755" t="0"/>
          <a:stretch/>
        </p:blipFill>
        <p:spPr>
          <a:xfrm>
            <a:off x="3725200" y="1127750"/>
            <a:ext cx="4892775" cy="27432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6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8" name="Google Shape;478;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Product and system icons</a:t>
            </a:r>
            <a:endParaRPr/>
          </a:p>
        </p:txBody>
      </p:sp>
      <p:sp>
        <p:nvSpPr>
          <p:cNvPr id="479" name="Google Shape;479;p62"/>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Contoh ikon sistem</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Ikon sistem dirancang sederhana, modern, ramah, dan terkadang unik.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Setiap ikon direduksi menjadi bentuk minimal, mengekspresikan karakteristik penting.</a:t>
            </a:r>
            <a:endParaRPr sz="1200">
              <a:solidFill>
                <a:schemeClr val="dk1"/>
              </a:solidFill>
              <a:latin typeface="Raleway Medium"/>
              <a:ea typeface="Raleway Medium"/>
              <a:cs typeface="Raleway Medium"/>
              <a:sym typeface="Raleway Medium"/>
            </a:endParaRPr>
          </a:p>
        </p:txBody>
      </p:sp>
      <p:pic>
        <p:nvPicPr>
          <p:cNvPr id="480" name="Google Shape;480;p62">
            <a:hlinkClick r:id="rId3"/>
          </p:cNvPr>
          <p:cNvPicPr preferRelativeResize="0"/>
          <p:nvPr/>
        </p:nvPicPr>
        <p:blipFill rotWithShape="1">
          <a:blip r:embed="rId4">
            <a:alphaModFix/>
          </a:blip>
          <a:srcRect b="0" l="2079" r="2089" t="0"/>
          <a:stretch/>
        </p:blipFill>
        <p:spPr>
          <a:xfrm>
            <a:off x="3725200" y="1127750"/>
            <a:ext cx="4892774" cy="2743201"/>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6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States</a:t>
            </a:r>
            <a:endParaRPr/>
          </a:p>
        </p:txBody>
      </p:sp>
      <p:sp>
        <p:nvSpPr>
          <p:cNvPr id="486" name="Google Shape;486;p6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6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2" name="Google Shape;492;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States</a:t>
            </a:r>
            <a:endParaRPr/>
          </a:p>
        </p:txBody>
      </p:sp>
      <p:sp>
        <p:nvSpPr>
          <p:cNvPr id="493" name="Google Shape;493;p64"/>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States</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States atau keadaan mengomunikasikan status elemen UI kepada pengguna.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Setiap keadaan harus serupa secara visual dan tidak secara drastis mengubah komponen, tetapi harus memiliki kemampuan yang jelas yang membedakannya dari keadaan lain dan tata letak sekitarnya.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494" name="Google Shape;494;p64">
            <a:hlinkClick r:id="rId3"/>
          </p:cNvPr>
          <p:cNvPicPr preferRelativeResize="0"/>
          <p:nvPr/>
        </p:nvPicPr>
        <p:blipFill rotWithShape="1">
          <a:blip r:embed="rId4">
            <a:alphaModFix/>
          </a:blip>
          <a:srcRect b="4545" l="0" r="0" t="4545"/>
          <a:stretch/>
        </p:blipFill>
        <p:spPr>
          <a:xfrm>
            <a:off x="5486400" y="1280150"/>
            <a:ext cx="3017524" cy="2743202"/>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6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0" name="Google Shape;500;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States</a:t>
            </a:r>
            <a:endParaRPr/>
          </a:p>
        </p:txBody>
      </p:sp>
      <p:sp>
        <p:nvSpPr>
          <p:cNvPr id="501" name="Google Shape;501;p65"/>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Contoh states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States harus</a:t>
            </a:r>
            <a:r>
              <a:rPr lang="en" sz="1200">
                <a:solidFill>
                  <a:schemeClr val="dk1"/>
                </a:solidFill>
                <a:latin typeface="Raleway Medium"/>
                <a:ea typeface="Raleway Medium"/>
                <a:cs typeface="Raleway Medium"/>
                <a:sym typeface="Raleway Medium"/>
              </a:rPr>
              <a:t> memiliki keterjangkauan yang jelas membedakan mereka dari satu sama lain dan UI sekitarnya, ditekankan sesuai dengan tingkat prioritas mereka.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States yang umum:</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Active, diasbled</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On, off</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Default, hovered, clicked, pressed</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Unselected, selected</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Default, focused, typing, filled in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502" name="Google Shape;502;p65">
            <a:hlinkClick r:id="rId3"/>
          </p:cNvPr>
          <p:cNvPicPr preferRelativeResize="0"/>
          <p:nvPr/>
        </p:nvPicPr>
        <p:blipFill rotWithShape="1">
          <a:blip r:embed="rId4">
            <a:alphaModFix/>
          </a:blip>
          <a:srcRect b="11954" l="0" r="0" t="11954"/>
          <a:stretch/>
        </p:blipFill>
        <p:spPr>
          <a:xfrm>
            <a:off x="3725200" y="1127750"/>
            <a:ext cx="4892775" cy="27432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6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8" name="Google Shape;508;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States</a:t>
            </a:r>
            <a:endParaRPr/>
          </a:p>
        </p:txBody>
      </p:sp>
      <p:sp>
        <p:nvSpPr>
          <p:cNvPr id="509" name="Google Shape;509;p66"/>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States dapat dikombinasikan.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Hover dapat dikombinasikan dengan state focused, active, selected, atau pressed.</a:t>
            </a:r>
            <a:endParaRPr sz="1200">
              <a:solidFill>
                <a:schemeClr val="dk1"/>
              </a:solidFill>
              <a:latin typeface="Raleway Medium"/>
              <a:ea typeface="Raleway Medium"/>
              <a:cs typeface="Raleway Medium"/>
              <a:sym typeface="Raleway Medium"/>
            </a:endParaRPr>
          </a:p>
        </p:txBody>
      </p:sp>
      <p:grpSp>
        <p:nvGrpSpPr>
          <p:cNvPr id="510" name="Google Shape;510;p66"/>
          <p:cNvGrpSpPr/>
          <p:nvPr/>
        </p:nvGrpSpPr>
        <p:grpSpPr>
          <a:xfrm>
            <a:off x="3725200" y="1127750"/>
            <a:ext cx="4892775" cy="2945524"/>
            <a:chOff x="3725200" y="1127750"/>
            <a:chExt cx="4892775" cy="2945524"/>
          </a:xfrm>
        </p:grpSpPr>
        <p:pic>
          <p:nvPicPr>
            <p:cNvPr id="511" name="Google Shape;511;p66">
              <a:hlinkClick r:id="rId3"/>
            </p:cNvPr>
            <p:cNvPicPr preferRelativeResize="0"/>
            <p:nvPr/>
          </p:nvPicPr>
          <p:blipFill rotWithShape="1">
            <a:blip r:embed="rId4">
              <a:alphaModFix/>
            </a:blip>
            <a:srcRect b="11954" l="0" r="0" t="11954"/>
            <a:stretch/>
          </p:blipFill>
          <p:spPr>
            <a:xfrm>
              <a:off x="3725200" y="1127750"/>
              <a:ext cx="4892775" cy="2743200"/>
            </a:xfrm>
            <a:prstGeom prst="rect">
              <a:avLst/>
            </a:prstGeom>
            <a:noFill/>
            <a:ln>
              <a:noFill/>
            </a:ln>
          </p:spPr>
        </p:pic>
        <p:pic>
          <p:nvPicPr>
            <p:cNvPr id="512" name="Google Shape;512;p66">
              <a:hlinkClick r:id="rId5"/>
            </p:cNvPr>
            <p:cNvPicPr preferRelativeResize="0"/>
            <p:nvPr/>
          </p:nvPicPr>
          <p:blipFill rotWithShape="1">
            <a:blip r:embed="rId4">
              <a:alphaModFix/>
            </a:blip>
            <a:srcRect b="0" l="0" r="0" t="59220"/>
            <a:stretch/>
          </p:blipFill>
          <p:spPr>
            <a:xfrm>
              <a:off x="3725200" y="2603100"/>
              <a:ext cx="4892775" cy="1470174"/>
            </a:xfrm>
            <a:prstGeom prst="rect">
              <a:avLst/>
            </a:prstGeom>
            <a:noFill/>
            <a:ln>
              <a:noFill/>
            </a:ln>
          </p:spPr>
        </p:pic>
      </p:gr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67"/>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Metode Spacing</a:t>
            </a:r>
            <a:endParaRPr/>
          </a:p>
        </p:txBody>
      </p:sp>
      <p:sp>
        <p:nvSpPr>
          <p:cNvPr id="518" name="Google Shape;518;p6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6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4" name="Google Shape;524;p6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spacing</a:t>
            </a:r>
            <a:endParaRPr/>
          </a:p>
        </p:txBody>
      </p:sp>
      <p:sp>
        <p:nvSpPr>
          <p:cNvPr id="525" name="Google Shape;525;p68"/>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Spacing</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Metode spacing menggunakan grids, keylines, padding, dan spasi tambahan untuk menyesuaikan rasio, wadah, dan target sentuh.</a:t>
            </a:r>
            <a:endParaRPr sz="1200">
              <a:solidFill>
                <a:schemeClr val="dk1"/>
              </a:solidFill>
              <a:latin typeface="Raleway Medium"/>
              <a:ea typeface="Raleway Medium"/>
              <a:cs typeface="Raleway Medium"/>
              <a:sym typeface="Raleway Medium"/>
            </a:endParaRPr>
          </a:p>
        </p:txBody>
      </p:sp>
      <p:pic>
        <p:nvPicPr>
          <p:cNvPr id="526" name="Google Shape;526;p68">
            <a:hlinkClick r:id="rId3"/>
          </p:cNvPr>
          <p:cNvPicPr preferRelativeResize="0"/>
          <p:nvPr/>
        </p:nvPicPr>
        <p:blipFill rotWithShape="1">
          <a:blip r:embed="rId4">
            <a:alphaModFix/>
          </a:blip>
          <a:srcRect b="0" l="31492" r="31496" t="0"/>
          <a:stretch/>
        </p:blipFill>
        <p:spPr>
          <a:xfrm>
            <a:off x="5486400" y="1280150"/>
            <a:ext cx="3017523" cy="2743202"/>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6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2" name="Google Shape;532;p6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spacing</a:t>
            </a:r>
            <a:endParaRPr/>
          </a:p>
        </p:txBody>
      </p:sp>
      <p:sp>
        <p:nvSpPr>
          <p:cNvPr id="533" name="Google Shape;533;p69"/>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Metode spacing lebih terperinci daripada grids dalam tata letak (</a:t>
            </a:r>
            <a:r>
              <a:rPr i="1" lang="en" sz="1200">
                <a:solidFill>
                  <a:schemeClr val="dk1"/>
                </a:solidFill>
                <a:latin typeface="Raleway Medium"/>
                <a:ea typeface="Raleway Medium"/>
                <a:cs typeface="Raleway Medium"/>
                <a:sym typeface="Raleway Medium"/>
              </a:rPr>
              <a:t>layout) </a:t>
            </a:r>
            <a:r>
              <a:rPr lang="en" sz="1200">
                <a:solidFill>
                  <a:schemeClr val="dk1"/>
                </a:solidFill>
                <a:latin typeface="Raleway Medium"/>
                <a:ea typeface="Raleway Medium"/>
                <a:cs typeface="Raleway Medium"/>
                <a:sym typeface="Raleway Medium"/>
              </a:rPr>
              <a:t>responsif.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Metode spacing adalah seperangkat aturan tentang bagaimana menempatkan elemen dalam tata letak dan komponen.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Ada tiga metode spacing yang paling umum digunakan yaitu padding, dimensions dan alignment.</a:t>
            </a:r>
            <a:endParaRPr sz="1200">
              <a:solidFill>
                <a:schemeClr val="dk1"/>
              </a:solidFill>
              <a:latin typeface="Raleway Medium"/>
              <a:ea typeface="Raleway Medium"/>
              <a:cs typeface="Raleway Medium"/>
              <a:sym typeface="Raleway Medium"/>
            </a:endParaRPr>
          </a:p>
        </p:txBody>
      </p:sp>
      <p:pic>
        <p:nvPicPr>
          <p:cNvPr id="534" name="Google Shape;534;p69">
            <a:hlinkClick r:id="rId3"/>
          </p:cNvPr>
          <p:cNvPicPr preferRelativeResize="0"/>
          <p:nvPr/>
        </p:nvPicPr>
        <p:blipFill rotWithShape="1">
          <a:blip r:embed="rId4">
            <a:alphaModFix/>
          </a:blip>
          <a:srcRect b="0" l="670" r="670" t="0"/>
          <a:stretch/>
        </p:blipFill>
        <p:spPr>
          <a:xfrm>
            <a:off x="3725200" y="1127750"/>
            <a:ext cx="4892776" cy="27432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7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40" name="Google Shape;540;p7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Metode spacing</a:t>
            </a:r>
            <a:endParaRPr/>
          </a:p>
        </p:txBody>
      </p:sp>
      <p:sp>
        <p:nvSpPr>
          <p:cNvPr id="541" name="Google Shape;541;p70"/>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Keylines adalah alat penyelarasan yang memungkinkan penempatan elemen yang konsisten di luar grids pada layout.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Mereka adalah garis vertikal yang menunjukkan di mana elemen ditempatkan ketika mereka tidak sejajar dengan grid.</a:t>
            </a:r>
            <a:endParaRPr sz="1200">
              <a:solidFill>
                <a:schemeClr val="dk1"/>
              </a:solidFill>
              <a:latin typeface="Raleway Medium"/>
              <a:ea typeface="Raleway Medium"/>
              <a:cs typeface="Raleway Medium"/>
              <a:sym typeface="Raleway Medium"/>
            </a:endParaRPr>
          </a:p>
        </p:txBody>
      </p:sp>
      <p:pic>
        <p:nvPicPr>
          <p:cNvPr id="542" name="Google Shape;542;p70">
            <a:hlinkClick r:id="rId3"/>
          </p:cNvPr>
          <p:cNvPicPr preferRelativeResize="0"/>
          <p:nvPr/>
        </p:nvPicPr>
        <p:blipFill rotWithShape="1">
          <a:blip r:embed="rId4">
            <a:alphaModFix/>
          </a:blip>
          <a:srcRect b="0" l="5413" r="5404" t="0"/>
          <a:stretch/>
        </p:blipFill>
        <p:spPr>
          <a:xfrm>
            <a:off x="3725200" y="1127750"/>
            <a:ext cx="4892775" cy="27432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71"/>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Buttons, Cards dan Dividers</a:t>
            </a:r>
            <a:endParaRPr/>
          </a:p>
        </p:txBody>
      </p:sp>
      <p:sp>
        <p:nvSpPr>
          <p:cNvPr id="548" name="Google Shape;548;p7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7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4" name="Google Shape;554;p7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Buttons, Cards dan Dividers</a:t>
            </a:r>
            <a:endParaRPr/>
          </a:p>
        </p:txBody>
      </p:sp>
      <p:sp>
        <p:nvSpPr>
          <p:cNvPr id="555" name="Google Shape;555;p72"/>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Buttons</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Button atau t</a:t>
            </a:r>
            <a:r>
              <a:rPr lang="en" sz="1200">
                <a:solidFill>
                  <a:schemeClr val="dk1"/>
                </a:solidFill>
                <a:latin typeface="Raleway Medium"/>
                <a:ea typeface="Raleway Medium"/>
                <a:cs typeface="Raleway Medium"/>
                <a:sym typeface="Raleway Medium"/>
              </a:rPr>
              <a:t>ombol memungkinkan pengguna untuk mengambil tindakan, dan membuat pilihan, dengan satu ketukan.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Tombol mengkomunikasikan tindakan yang dapat dilakukan pengguna. Mereka biasanya ditempatkan pada: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Dialog box</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Windows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Formulir</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Cards / Kartu-kartu</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5) Toolbar</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556" name="Google Shape;556;p72">
            <a:hlinkClick r:id="rId3"/>
          </p:cNvPr>
          <p:cNvPicPr preferRelativeResize="0"/>
          <p:nvPr/>
        </p:nvPicPr>
        <p:blipFill rotWithShape="1">
          <a:blip r:embed="rId4">
            <a:alphaModFix/>
          </a:blip>
          <a:srcRect b="7791" l="0" r="0" t="7791"/>
          <a:stretch/>
        </p:blipFill>
        <p:spPr>
          <a:xfrm>
            <a:off x="5486400" y="1280150"/>
            <a:ext cx="3017523" cy="2743201"/>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7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2" name="Google Shape;562;p7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Buttons, Cards dan Dividers</a:t>
            </a:r>
            <a:endParaRPr/>
          </a:p>
        </p:txBody>
      </p:sp>
      <p:sp>
        <p:nvSpPr>
          <p:cNvPr id="563" name="Google Shape;563;p73"/>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Mari kita mainkan demo berikut (klik link pada gambar)</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Demo tersebut memungkinkan Anda melihat pratinjau komponen tombol, variasinya, dan opsi konfigurasi. Setiap tab menampilkan jenis tombol yang berbeda.</a:t>
            </a:r>
            <a:endParaRPr sz="1200">
              <a:solidFill>
                <a:schemeClr val="dk1"/>
              </a:solidFill>
              <a:latin typeface="Raleway Medium"/>
              <a:ea typeface="Raleway Medium"/>
              <a:cs typeface="Raleway Medium"/>
              <a:sym typeface="Raleway Medium"/>
            </a:endParaRPr>
          </a:p>
        </p:txBody>
      </p:sp>
      <p:pic>
        <p:nvPicPr>
          <p:cNvPr id="564" name="Google Shape;564;p73">
            <a:hlinkClick r:id="rId3"/>
          </p:cNvPr>
          <p:cNvPicPr preferRelativeResize="0"/>
          <p:nvPr/>
        </p:nvPicPr>
        <p:blipFill rotWithShape="1">
          <a:blip r:embed="rId4">
            <a:alphaModFix/>
          </a:blip>
          <a:srcRect b="0" l="-171" r="25461" t="0"/>
          <a:stretch/>
        </p:blipFill>
        <p:spPr>
          <a:xfrm>
            <a:off x="3725200" y="1127750"/>
            <a:ext cx="4892776" cy="2743201"/>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7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70" name="Google Shape;570;p7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Buttons, Cards dan Dividers</a:t>
            </a:r>
            <a:endParaRPr/>
          </a:p>
        </p:txBody>
      </p:sp>
      <p:sp>
        <p:nvSpPr>
          <p:cNvPr id="571" name="Google Shape;571;p74"/>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Cards</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Card atau k</a:t>
            </a:r>
            <a:r>
              <a:rPr lang="en" sz="1200">
                <a:solidFill>
                  <a:schemeClr val="dk1"/>
                </a:solidFill>
                <a:latin typeface="Raleway Medium"/>
                <a:ea typeface="Raleway Medium"/>
                <a:cs typeface="Raleway Medium"/>
                <a:sym typeface="Raleway Medium"/>
              </a:rPr>
              <a:t>artu adalah permukaan yang menampilkan konten dan tindakan pada satu topik.</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Mereka harus mudah dipindai oleh pengguna untuk mendapatkan informasi yang relevan dan dapat ditindaklanjuti. Elemen, seperti teks dan gambar, harus ditempatkan di atasnya dengan cara yang secara jelas menunjukkan hierarki.</a:t>
            </a:r>
            <a:endParaRPr sz="1200">
              <a:solidFill>
                <a:schemeClr val="dk1"/>
              </a:solidFill>
              <a:latin typeface="Raleway Medium"/>
              <a:ea typeface="Raleway Medium"/>
              <a:cs typeface="Raleway Medium"/>
              <a:sym typeface="Raleway Medium"/>
            </a:endParaRPr>
          </a:p>
        </p:txBody>
      </p:sp>
      <p:pic>
        <p:nvPicPr>
          <p:cNvPr id="572" name="Google Shape;572;p74">
            <a:hlinkClick r:id="rId3"/>
          </p:cNvPr>
          <p:cNvPicPr preferRelativeResize="0"/>
          <p:nvPr/>
        </p:nvPicPr>
        <p:blipFill rotWithShape="1">
          <a:blip r:embed="rId4">
            <a:alphaModFix/>
          </a:blip>
          <a:srcRect b="0" l="6844" r="6844" t="0"/>
          <a:stretch/>
        </p:blipFill>
        <p:spPr>
          <a:xfrm>
            <a:off x="5486400" y="1280150"/>
            <a:ext cx="3017524" cy="2743202"/>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7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78" name="Google Shape;578;p7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Buttons, Cards dan Dividers</a:t>
            </a:r>
            <a:endParaRPr/>
          </a:p>
        </p:txBody>
      </p:sp>
      <p:sp>
        <p:nvSpPr>
          <p:cNvPr id="579" name="Google Shape;579;p75"/>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Mari kita mainkan demo berikut (klik link pada gambar)</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Demo ini memungkinkan Anda melihat pratinjau komponen kartu, variasinya, dan opsi konfigurasi. Setiap tab menampilkan jenis kartu yang berbeda.</a:t>
            </a:r>
            <a:endParaRPr sz="1200">
              <a:solidFill>
                <a:schemeClr val="dk1"/>
              </a:solidFill>
              <a:latin typeface="Raleway Medium"/>
              <a:ea typeface="Raleway Medium"/>
              <a:cs typeface="Raleway Medium"/>
              <a:sym typeface="Raleway Medium"/>
            </a:endParaRPr>
          </a:p>
        </p:txBody>
      </p:sp>
      <p:pic>
        <p:nvPicPr>
          <p:cNvPr id="580" name="Google Shape;580;p75">
            <a:hlinkClick r:id="rId3"/>
          </p:cNvPr>
          <p:cNvPicPr preferRelativeResize="0"/>
          <p:nvPr/>
        </p:nvPicPr>
        <p:blipFill rotWithShape="1">
          <a:blip r:embed="rId4">
            <a:alphaModFix/>
          </a:blip>
          <a:srcRect b="16971" l="0" r="0" t="-1911"/>
          <a:stretch/>
        </p:blipFill>
        <p:spPr>
          <a:xfrm>
            <a:off x="3725200" y="1127750"/>
            <a:ext cx="4892775" cy="2743201"/>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7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86" name="Google Shape;586;p7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Buttons, Cards dan Dividers</a:t>
            </a:r>
            <a:endParaRPr/>
          </a:p>
        </p:txBody>
      </p:sp>
      <p:sp>
        <p:nvSpPr>
          <p:cNvPr id="587" name="Google Shape;587;p76"/>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Dividers</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Dividers atau p</a:t>
            </a:r>
            <a:r>
              <a:rPr lang="en" sz="1200">
                <a:solidFill>
                  <a:schemeClr val="dk1"/>
                </a:solidFill>
                <a:latin typeface="Raleway Medium"/>
                <a:ea typeface="Raleway Medium"/>
                <a:cs typeface="Raleway Medium"/>
                <a:sym typeface="Raleway Medium"/>
              </a:rPr>
              <a:t>embagi adalah garis tipis yang mengelompokkan konten dalam sebuah daftar dan tata letak. Pembagi memisahkan konten ke dalam kelompok yang jelas.</a:t>
            </a:r>
            <a:endParaRPr sz="1200">
              <a:solidFill>
                <a:schemeClr val="dk1"/>
              </a:solidFill>
              <a:latin typeface="Raleway Medium"/>
              <a:ea typeface="Raleway Medium"/>
              <a:cs typeface="Raleway Medium"/>
              <a:sym typeface="Raleway Medium"/>
            </a:endParaRPr>
          </a:p>
        </p:txBody>
      </p:sp>
      <p:pic>
        <p:nvPicPr>
          <p:cNvPr id="588" name="Google Shape;588;p76">
            <a:hlinkClick r:id="rId3"/>
          </p:cNvPr>
          <p:cNvPicPr preferRelativeResize="0"/>
          <p:nvPr/>
        </p:nvPicPr>
        <p:blipFill rotWithShape="1">
          <a:blip r:embed="rId4">
            <a:alphaModFix/>
          </a:blip>
          <a:srcRect b="0" l="13300" r="13300" t="0"/>
          <a:stretch/>
        </p:blipFill>
        <p:spPr>
          <a:xfrm>
            <a:off x="5486400" y="1280150"/>
            <a:ext cx="3017523" cy="2743202"/>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7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94" name="Google Shape;594;p7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Buttons, Cards dan Dividers</a:t>
            </a:r>
            <a:endParaRPr/>
          </a:p>
        </p:txBody>
      </p:sp>
      <p:sp>
        <p:nvSpPr>
          <p:cNvPr id="595" name="Google Shape;595;p77"/>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Ada dua tipe pembagi yaitu:</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b="1" lang="en" sz="1200">
                <a:solidFill>
                  <a:schemeClr val="dk1"/>
                </a:solidFill>
                <a:latin typeface="Raleway"/>
                <a:ea typeface="Raleway"/>
                <a:cs typeface="Raleway"/>
                <a:sym typeface="Raleway"/>
              </a:rPr>
              <a:t>1) Full-bleed dividers</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Pembagi full-bleed memisahkan konten menjadi beberapa bagian, seperti: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Memisahkan daftar dan elemen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tata letak</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Menunjukkan di mana suatu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elemen dapat berkembang</a:t>
            </a:r>
            <a:endParaRPr sz="1200">
              <a:solidFill>
                <a:schemeClr val="dk1"/>
              </a:solidFill>
              <a:latin typeface="Raleway Medium"/>
              <a:ea typeface="Raleway Medium"/>
              <a:cs typeface="Raleway Medium"/>
              <a:sym typeface="Raleway Medium"/>
            </a:endParaRPr>
          </a:p>
        </p:txBody>
      </p:sp>
      <p:pic>
        <p:nvPicPr>
          <p:cNvPr id="596" name="Google Shape;596;p77">
            <a:hlinkClick r:id="rId3"/>
          </p:cNvPr>
          <p:cNvPicPr preferRelativeResize="0"/>
          <p:nvPr/>
        </p:nvPicPr>
        <p:blipFill rotWithShape="1">
          <a:blip r:embed="rId4">
            <a:alphaModFix/>
          </a:blip>
          <a:srcRect b="11866" l="0" r="0" t="11866"/>
          <a:stretch/>
        </p:blipFill>
        <p:spPr>
          <a:xfrm>
            <a:off x="3725200" y="1127750"/>
            <a:ext cx="4892776" cy="274320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7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02" name="Google Shape;602;p7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Buttons, Cards dan Dividers</a:t>
            </a:r>
            <a:endParaRPr/>
          </a:p>
        </p:txBody>
      </p:sp>
      <p:sp>
        <p:nvSpPr>
          <p:cNvPr id="603" name="Google Shape;603;p78"/>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200">
                <a:solidFill>
                  <a:schemeClr val="dk1"/>
                </a:solidFill>
                <a:latin typeface="Raleway"/>
                <a:ea typeface="Raleway"/>
                <a:cs typeface="Raleway"/>
                <a:sym typeface="Raleway"/>
              </a:rPr>
              <a:t>2</a:t>
            </a:r>
            <a:r>
              <a:rPr b="1" lang="en" sz="1200">
                <a:solidFill>
                  <a:schemeClr val="dk1"/>
                </a:solidFill>
                <a:latin typeface="Raleway"/>
                <a:ea typeface="Raleway"/>
                <a:cs typeface="Raleway"/>
                <a:sym typeface="Raleway"/>
              </a:rPr>
              <a:t>) Inset dividers</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Pembagi sisipan memisahkan konten terkait, seperti email di utas email.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Mereka perlu digunakan dengan elemen penahan seperti ikon atau avatar, dan rata kiri dengan judul pada app bar.</a:t>
            </a:r>
            <a:endParaRPr sz="1200">
              <a:solidFill>
                <a:schemeClr val="dk1"/>
              </a:solidFill>
              <a:latin typeface="Raleway Medium"/>
              <a:ea typeface="Raleway Medium"/>
              <a:cs typeface="Raleway Medium"/>
              <a:sym typeface="Raleway Medium"/>
            </a:endParaRPr>
          </a:p>
        </p:txBody>
      </p:sp>
      <p:pic>
        <p:nvPicPr>
          <p:cNvPr id="604" name="Google Shape;604;p78">
            <a:hlinkClick r:id="rId3"/>
          </p:cNvPr>
          <p:cNvPicPr preferRelativeResize="0"/>
          <p:nvPr/>
        </p:nvPicPr>
        <p:blipFill rotWithShape="1">
          <a:blip r:embed="rId4">
            <a:alphaModFix/>
          </a:blip>
          <a:srcRect b="8990" l="0" r="0" t="8982"/>
          <a:stretch/>
        </p:blipFill>
        <p:spPr>
          <a:xfrm>
            <a:off x="3725200" y="1127750"/>
            <a:ext cx="4892775" cy="2743201"/>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79"/>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Saatnya </a:t>
            </a:r>
            <a:r>
              <a:rPr lang="en">
                <a:solidFill>
                  <a:schemeClr val="accent1"/>
                </a:solidFill>
              </a:rPr>
              <a:t>Quiz</a:t>
            </a:r>
            <a:endParaRPr>
              <a:solidFill>
                <a:schemeClr val="accent1"/>
              </a:solidFill>
            </a:endParaRPr>
          </a:p>
        </p:txBody>
      </p:sp>
      <p:sp>
        <p:nvSpPr>
          <p:cNvPr id="610" name="Google Shape;610;p7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8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616" name="Google Shape;616;p8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Berikut adalah alasan - alasan mengapa design system penting,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Menghilangkan inkonsistensi</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Mempercepat proses desain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Menambah beban kognitif</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617" name="Google Shape;617;p8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8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623" name="Google Shape;623;p8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Berikut adalah alasan - alasan mengapa design system penting,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Menghilangkan inkonsistensi</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Mempercepat proses desain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Menambah beban kognitif</a:t>
            </a:r>
            <a:endParaRPr b="1" sz="12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624" name="Google Shape;624;p8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25" name="Google Shape;625;p81"/>
          <p:cNvSpPr/>
          <p:nvPr/>
        </p:nvSpPr>
        <p:spPr>
          <a:xfrm>
            <a:off x="685800" y="31555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Dengan adanya sebuah design system, beban kognitif pengguna berkurang bukan bertambah.</a:t>
            </a:r>
            <a:endParaRPr b="1" sz="1000">
              <a:solidFill>
                <a:srgbClr val="733572"/>
              </a:solidFill>
              <a:latin typeface="Raleway"/>
              <a:ea typeface="Raleway"/>
              <a:cs typeface="Raleway"/>
              <a:sym typeface="Raleway"/>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8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631" name="Google Shape;631;p8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1800">
                <a:solidFill>
                  <a:schemeClr val="lt1"/>
                </a:solidFill>
                <a:latin typeface="Raleway"/>
                <a:ea typeface="Raleway"/>
                <a:cs typeface="Raleway"/>
                <a:sym typeface="Raleway"/>
              </a:rPr>
              <a:t> Pengelompokkan visual adalah</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Elemen dalam tata letak yang memiliki konten atau fungsi serupa yang dikelompokkan bersama dan dipisahkan dari elemen lain.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Kelompok warna primer dan sekunder yang harmonis.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Garis tipis yang mengelompokkan konten dalam daftar dan tata letak.</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632" name="Google Shape;632;p8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8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638" name="Google Shape;638;p8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Pengelompokkan visual adalah</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Elemen dalam tata letak yang memiliki konten atau fungsi serupa yang dikelompokkan bersama dan dipisahkan dari elemen lain.</a:t>
            </a:r>
            <a:endParaRPr b="1" sz="1200">
              <a:solidFill>
                <a:srgbClr val="A667A5"/>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Kelompok warna primer dan sekunder yang harmonis.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G</a:t>
            </a:r>
            <a:r>
              <a:rPr lang="en" sz="1200">
                <a:solidFill>
                  <a:srgbClr val="A667A5"/>
                </a:solidFill>
                <a:latin typeface="Raleway Medium"/>
                <a:ea typeface="Raleway Medium"/>
                <a:cs typeface="Raleway Medium"/>
                <a:sym typeface="Raleway Medium"/>
              </a:rPr>
              <a:t>aris tipis yang mengelompokkan konten dalam daftar dan tata letak.</a:t>
            </a:r>
            <a:endParaRPr sz="1200">
              <a:solidFill>
                <a:srgbClr val="A667A5"/>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rgbClr val="A667A5"/>
              </a:solidFill>
              <a:latin typeface="Raleway Medium"/>
              <a:ea typeface="Raleway Medium"/>
              <a:cs typeface="Raleway Medium"/>
              <a:sym typeface="Raleway Medium"/>
            </a:endParaRPr>
          </a:p>
        </p:txBody>
      </p:sp>
      <p:sp>
        <p:nvSpPr>
          <p:cNvPr id="639" name="Google Shape;639;p8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40" name="Google Shape;640;p83"/>
          <p:cNvSpPr/>
          <p:nvPr/>
        </p:nvSpPr>
        <p:spPr>
          <a:xfrm>
            <a:off x="685800" y="30793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Opsi B adalah colour palette, dan opsi C adalah divider. Opsi A adalah definisi dari pengelompokkan visual.</a:t>
            </a:r>
            <a:endParaRPr b="1" sz="1000">
              <a:solidFill>
                <a:srgbClr val="733572"/>
              </a:solidFill>
              <a:latin typeface="Raleway"/>
              <a:ea typeface="Raleway"/>
              <a:cs typeface="Raleway"/>
              <a:sym typeface="Raleway"/>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8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646" name="Google Shape;646;p8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adalah beberapa alat yang dapat membantu membuat sebuah </a:t>
            </a:r>
            <a:r>
              <a:rPr b="1" lang="en" sz="1800">
                <a:solidFill>
                  <a:schemeClr val="lt1"/>
                </a:solidFill>
                <a:latin typeface="Raleway"/>
                <a:ea typeface="Raleway"/>
                <a:cs typeface="Raleway"/>
                <a:sym typeface="Raleway"/>
              </a:rPr>
              <a:t>colour</a:t>
            </a:r>
            <a:r>
              <a:rPr b="1" lang="en" sz="1800">
                <a:solidFill>
                  <a:schemeClr val="lt1"/>
                </a:solidFill>
                <a:latin typeface="Raleway"/>
                <a:ea typeface="Raleway"/>
                <a:cs typeface="Raleway"/>
                <a:sym typeface="Raleway"/>
              </a:rPr>
              <a:t> system,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Coolors.co</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Archetype</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Color Hunt</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647" name="Google Shape;647;p8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8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653" name="Google Shape;653;p8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1800">
                <a:solidFill>
                  <a:schemeClr val="lt1"/>
                </a:solidFill>
                <a:latin typeface="Raleway"/>
                <a:ea typeface="Raleway"/>
                <a:cs typeface="Raleway"/>
                <a:sym typeface="Raleway"/>
              </a:rPr>
              <a:t> Berikut adalah beberapa alat yang dapat membantu membuat sebuah colour system,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Coolors.co</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Archetype</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Color Hunt</a:t>
            </a:r>
            <a:endParaRPr sz="1200">
              <a:solidFill>
                <a:srgbClr val="A667A5"/>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654" name="Google Shape;654;p8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55" name="Google Shape;655;p85"/>
          <p:cNvSpPr/>
          <p:nvPr/>
        </p:nvSpPr>
        <p:spPr>
          <a:xfrm>
            <a:off x="685800" y="30793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Archetype dapat digunakan untuk memilih pasangan font.</a:t>
            </a:r>
            <a:endParaRPr b="1" sz="1000">
              <a:solidFill>
                <a:srgbClr val="733572"/>
              </a:solidFill>
              <a:latin typeface="Raleway"/>
              <a:ea typeface="Raleway"/>
              <a:cs typeface="Raleway"/>
              <a:sym typeface="Raleway"/>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8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661" name="Google Shape;661;p8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1800">
                <a:solidFill>
                  <a:schemeClr val="lt1"/>
                </a:solidFill>
                <a:latin typeface="Raleway"/>
                <a:ea typeface="Raleway"/>
                <a:cs typeface="Raleway"/>
                <a:sym typeface="Raleway"/>
              </a:rPr>
              <a:t> Berikut adalah beberapa alat yang dapat membantu membuat sebuah type system,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Font Fabric</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Layout Grid Calculator</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Contrast Checker</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662" name="Google Shape;662;p8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8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668" name="Google Shape;668;p8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1800">
                <a:solidFill>
                  <a:schemeClr val="lt1"/>
                </a:solidFill>
                <a:latin typeface="Raleway"/>
                <a:ea typeface="Raleway"/>
                <a:cs typeface="Raleway"/>
                <a:sym typeface="Raleway"/>
              </a:rPr>
              <a:t> Berikut adalah beberapa alat yang dapat membantu membuat sebuah type system,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Font Fabric</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Layout Grid Calculator</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Contrast Checker</a:t>
            </a:r>
            <a:endParaRPr b="1" sz="12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669" name="Google Shape;669;p8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70" name="Google Shape;670;p87"/>
          <p:cNvSpPr/>
          <p:nvPr/>
        </p:nvSpPr>
        <p:spPr>
          <a:xfrm>
            <a:off x="685800" y="30793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Contrast checker adalah alat yang mengukur dan menilai kontras dari sepasang warna.</a:t>
            </a:r>
            <a:endParaRPr b="1" sz="1000">
              <a:solidFill>
                <a:srgbClr val="733572"/>
              </a:solidFill>
              <a:latin typeface="Raleway"/>
              <a:ea typeface="Raleway"/>
              <a:cs typeface="Raleway"/>
              <a:sym typeface="Raleway"/>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8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676" name="Google Shape;676;p8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adalah</a:t>
            </a:r>
            <a:r>
              <a:rPr b="1" lang="en" sz="1800">
                <a:solidFill>
                  <a:schemeClr val="lt1"/>
                </a:solidFill>
                <a:latin typeface="Raleway"/>
                <a:ea typeface="Raleway"/>
                <a:cs typeface="Raleway"/>
                <a:sym typeface="Raleway"/>
              </a:rPr>
              <a:t> metode spacing yang umum digunakan,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Padding</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Alignment</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Placing</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677" name="Google Shape;677;p8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8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683" name="Google Shape;683;p8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1800">
                <a:solidFill>
                  <a:schemeClr val="lt1"/>
                </a:solidFill>
                <a:latin typeface="Raleway"/>
                <a:ea typeface="Raleway"/>
                <a:cs typeface="Raleway"/>
                <a:sym typeface="Raleway"/>
              </a:rPr>
              <a:t> Berikut adalah metode spacing yang umum digunakan,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Padding</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Alignment</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Placing</a:t>
            </a:r>
            <a:endParaRPr b="1" sz="12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684" name="Google Shape;684;p8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85" name="Google Shape;685;p89"/>
          <p:cNvSpPr/>
          <p:nvPr/>
        </p:nvSpPr>
        <p:spPr>
          <a:xfrm>
            <a:off x="685800" y="27745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Ada tiga metode spacing yang paling umum digunakan yaitu padding, dimensions dan alignment.</a:t>
            </a:r>
            <a:endParaRPr b="1" sz="1000">
              <a:solidFill>
                <a:srgbClr val="733572"/>
              </a:solidFill>
              <a:latin typeface="Raleway"/>
              <a:ea typeface="Raleway"/>
              <a:cs typeface="Raleway"/>
              <a:sym typeface="Raleway"/>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9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691" name="Google Shape;691;p9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Ada dua tipe dividers yaitu</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Inset dan Full Bleed</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Inbleed dan Full Bleed</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Inset dan Outset</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692" name="Google Shape;692;p9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9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698" name="Google Shape;698;p9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1800">
                <a:solidFill>
                  <a:schemeClr val="lt1"/>
                </a:solidFill>
                <a:latin typeface="Raleway"/>
                <a:ea typeface="Raleway"/>
                <a:cs typeface="Raleway"/>
                <a:sym typeface="Raleway"/>
              </a:rPr>
              <a:t> Ada dua tipe dividers yaitu</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Inset dan Full Bleed</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Inbleed dan Full Bleed</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Inset dan Outset</a:t>
            </a:r>
            <a:endParaRPr sz="1200">
              <a:solidFill>
                <a:srgbClr val="A667A5"/>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699" name="Google Shape;699;p9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00" name="Google Shape;700;p91"/>
          <p:cNvSpPr/>
          <p:nvPr/>
        </p:nvSpPr>
        <p:spPr>
          <a:xfrm>
            <a:off x="685800" y="27745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Ada dua tipe dividers yaitu full bleed dividers dan inset dividers.</a:t>
            </a:r>
            <a:endParaRPr b="1" sz="1000">
              <a:solidFill>
                <a:srgbClr val="733572"/>
              </a:solidFill>
              <a:latin typeface="Raleway"/>
              <a:ea typeface="Raleway"/>
              <a:cs typeface="Raleway"/>
              <a:sym typeface="Raleway"/>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9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706" name="Google Shape;706;p9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t>
            </a:r>
            <a:r>
              <a:rPr b="1" lang="en" sz="1800">
                <a:solidFill>
                  <a:schemeClr val="lt1"/>
                </a:solidFill>
                <a:latin typeface="Raleway"/>
                <a:ea typeface="Raleway"/>
                <a:cs typeface="Raleway"/>
                <a:sym typeface="Raleway"/>
              </a:rPr>
              <a:t>Ikon sistem adalah ekspresi visual dari merek dan produk, termasuk layanan dan alatnya.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Benar</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Salah</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707" name="Google Shape;707;p9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9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713" name="Google Shape;713;p9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a:t>
            </a:r>
            <a:r>
              <a:rPr b="1" lang="en" sz="1800">
                <a:solidFill>
                  <a:schemeClr val="lt1"/>
                </a:solidFill>
                <a:latin typeface="Raleway"/>
                <a:ea typeface="Raleway"/>
                <a:cs typeface="Raleway"/>
                <a:sym typeface="Raleway"/>
              </a:rPr>
              <a:t> Ikon sistem adalah ekspresi visual dari merek dan produk, termasuk layanan dan alatnya.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Benar</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Salah</a:t>
            </a:r>
            <a:endParaRPr b="1" sz="12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714" name="Google Shape;714;p9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15" name="Google Shape;715;p93"/>
          <p:cNvSpPr/>
          <p:nvPr/>
        </p:nvSpPr>
        <p:spPr>
          <a:xfrm>
            <a:off x="685800" y="28507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Ikon produk adalah ekspresi visual dari merek dan produk, termasuk layanan dan alatnya. </a:t>
            </a:r>
            <a:endParaRPr b="1" sz="1000">
              <a:solidFill>
                <a:srgbClr val="733572"/>
              </a:solidFill>
              <a:latin typeface="Raleway"/>
              <a:ea typeface="Raleway"/>
              <a:cs typeface="Raleway"/>
              <a:sym typeface="Raleway"/>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9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21" name="Google Shape;721;p9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Referensi dan bacaan lebih lanjut</a:t>
            </a:r>
            <a:endParaRPr/>
          </a:p>
        </p:txBody>
      </p:sp>
      <p:pic>
        <p:nvPicPr>
          <p:cNvPr id="722" name="Google Shape;722;p94"/>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723" name="Google Shape;723;p94"/>
          <p:cNvSpPr txBox="1"/>
          <p:nvPr/>
        </p:nvSpPr>
        <p:spPr>
          <a:xfrm>
            <a:off x="685800" y="1024128"/>
            <a:ext cx="4114800" cy="3657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Referensi dan bacaan lebih lanjut</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u="sng">
                <a:solidFill>
                  <a:schemeClr val="hlink"/>
                </a:solidFill>
                <a:latin typeface="Raleway Medium"/>
                <a:ea typeface="Raleway Medium"/>
                <a:cs typeface="Raleway Medium"/>
                <a:sym typeface="Raleway Medium"/>
                <a:hlinkClick r:id="rId4"/>
              </a:rPr>
              <a:t>Everything you need to know about Design Systems by </a:t>
            </a:r>
            <a:endParaRPr/>
          </a:p>
          <a:p>
            <a:pPr indent="0" lvl="0" marL="0" rtl="0" algn="l">
              <a:lnSpc>
                <a:spcPct val="115000"/>
              </a:lnSpc>
              <a:spcBef>
                <a:spcPts val="0"/>
              </a:spcBef>
              <a:spcAft>
                <a:spcPts val="0"/>
              </a:spcAft>
              <a:buNone/>
            </a:pPr>
            <a:r>
              <a:rPr lang="en"/>
              <a:t>   </a:t>
            </a:r>
            <a:r>
              <a:rPr lang="en" sz="1200" u="sng">
                <a:solidFill>
                  <a:schemeClr val="hlink"/>
                </a:solidFill>
                <a:latin typeface="Raleway Medium"/>
                <a:ea typeface="Raleway Medium"/>
                <a:cs typeface="Raleway Medium"/>
                <a:sym typeface="Raleway Medium"/>
                <a:hlinkClick r:id="rId5"/>
              </a:rPr>
              <a:t>UX Collective </a:t>
            </a:r>
            <a:endParaRPr sz="1200">
              <a:latin typeface="Raleway"/>
              <a:ea typeface="Raleway"/>
              <a:cs typeface="Raleway"/>
              <a:sym typeface="Raleway"/>
            </a:endParaRPr>
          </a:p>
          <a:p>
            <a:pPr indent="0" lvl="0" marL="0" rtl="0" algn="l">
              <a:lnSpc>
                <a:spcPct val="115000"/>
              </a:lnSpc>
              <a:spcBef>
                <a:spcPts val="0"/>
              </a:spcBef>
              <a:spcAft>
                <a:spcPts val="0"/>
              </a:spcAft>
              <a:buNone/>
            </a:pPr>
            <a:r>
              <a:rPr lang="en" sz="1200">
                <a:latin typeface="Raleway"/>
                <a:ea typeface="Raleway"/>
                <a:cs typeface="Raleway"/>
                <a:sym typeface="Raleway"/>
              </a:rPr>
              <a:t>2) </a:t>
            </a:r>
            <a:r>
              <a:rPr lang="en" sz="1200" u="sng">
                <a:solidFill>
                  <a:schemeClr val="hlink"/>
                </a:solidFill>
                <a:latin typeface="Raleway"/>
                <a:ea typeface="Raleway"/>
                <a:cs typeface="Raleway"/>
                <a:sym typeface="Raleway"/>
                <a:hlinkClick r:id="rId6"/>
              </a:rPr>
              <a:t>Why are Design Systems so Important? By UX Planet</a:t>
            </a:r>
            <a:endParaRPr sz="1200">
              <a:latin typeface="Raleway"/>
              <a:ea typeface="Raleway"/>
              <a:cs typeface="Raleway"/>
              <a:sym typeface="Raleway"/>
            </a:endParaRPr>
          </a:p>
          <a:p>
            <a:pPr indent="0" lvl="0" marL="0" rtl="0" algn="l">
              <a:lnSpc>
                <a:spcPct val="115000"/>
              </a:lnSpc>
              <a:spcBef>
                <a:spcPts val="0"/>
              </a:spcBef>
              <a:spcAft>
                <a:spcPts val="0"/>
              </a:spcAft>
              <a:buNone/>
            </a:pPr>
            <a:r>
              <a:rPr lang="en" sz="1200">
                <a:latin typeface="Raleway"/>
                <a:ea typeface="Raleway"/>
                <a:cs typeface="Raleway"/>
                <a:sym typeface="Raleway"/>
              </a:rPr>
              <a:t>3) </a:t>
            </a:r>
            <a:r>
              <a:rPr lang="en" sz="1200" u="sng">
                <a:solidFill>
                  <a:schemeClr val="hlink"/>
                </a:solidFill>
                <a:latin typeface="Raleway"/>
                <a:ea typeface="Raleway"/>
                <a:cs typeface="Raleway"/>
                <a:sym typeface="Raleway"/>
                <a:hlinkClick r:id="rId7"/>
              </a:rPr>
              <a:t>A better way to create typography design systems by </a:t>
            </a:r>
            <a:endParaRPr sz="1200">
              <a:latin typeface="Raleway"/>
              <a:ea typeface="Raleway"/>
              <a:cs typeface="Raleway"/>
              <a:sym typeface="Raleway"/>
            </a:endParaRPr>
          </a:p>
          <a:p>
            <a:pPr indent="0" lvl="0" marL="0" rtl="0" algn="l">
              <a:lnSpc>
                <a:spcPct val="115000"/>
              </a:lnSpc>
              <a:spcBef>
                <a:spcPts val="0"/>
              </a:spcBef>
              <a:spcAft>
                <a:spcPts val="0"/>
              </a:spcAft>
              <a:buNone/>
            </a:pPr>
            <a:r>
              <a:rPr lang="en" sz="1200">
                <a:latin typeface="Raleway"/>
                <a:ea typeface="Raleway"/>
                <a:cs typeface="Raleway"/>
                <a:sym typeface="Raleway"/>
              </a:rPr>
              <a:t>    </a:t>
            </a:r>
            <a:r>
              <a:rPr lang="en" sz="1200" u="sng">
                <a:solidFill>
                  <a:schemeClr val="hlink"/>
                </a:solidFill>
                <a:latin typeface="Raleway"/>
                <a:ea typeface="Raleway"/>
                <a:cs typeface="Raleway"/>
                <a:sym typeface="Raleway"/>
                <a:hlinkClick r:id="rId8"/>
              </a:rPr>
              <a:t>UX Collective </a:t>
            </a:r>
            <a:endParaRPr sz="1200">
              <a:latin typeface="Raleway"/>
              <a:ea typeface="Raleway"/>
              <a:cs typeface="Raleway"/>
              <a:sym typeface="Raleway"/>
            </a:endParaRPr>
          </a:p>
          <a:p>
            <a:pPr indent="0" lvl="0" marL="0" rtl="0" algn="l">
              <a:lnSpc>
                <a:spcPct val="115000"/>
              </a:lnSpc>
              <a:spcBef>
                <a:spcPts val="0"/>
              </a:spcBef>
              <a:spcAft>
                <a:spcPts val="0"/>
              </a:spcAft>
              <a:buNone/>
            </a:pPr>
            <a:r>
              <a:rPr lang="en" sz="1200">
                <a:latin typeface="Raleway"/>
                <a:ea typeface="Raleway"/>
                <a:cs typeface="Raleway"/>
                <a:sym typeface="Raleway"/>
              </a:rPr>
              <a:t>4) </a:t>
            </a:r>
            <a:r>
              <a:rPr lang="en" sz="1200" u="sng">
                <a:solidFill>
                  <a:schemeClr val="hlink"/>
                </a:solidFill>
                <a:latin typeface="Raleway"/>
                <a:ea typeface="Raleway"/>
                <a:cs typeface="Raleway"/>
                <a:sym typeface="Raleway"/>
                <a:hlinkClick r:id="rId9"/>
              </a:rPr>
              <a:t>Material Design </a:t>
            </a:r>
            <a:endParaRPr sz="1200">
              <a:latin typeface="Raleway"/>
              <a:ea typeface="Raleway"/>
              <a:cs typeface="Raleway"/>
              <a:sym typeface="Raleway"/>
            </a:endParaRPr>
          </a:p>
          <a:p>
            <a:pPr indent="0" lvl="0" marL="0" rtl="0" algn="l">
              <a:lnSpc>
                <a:spcPct val="115000"/>
              </a:lnSpc>
              <a:spcBef>
                <a:spcPts val="0"/>
              </a:spcBef>
              <a:spcAft>
                <a:spcPts val="0"/>
              </a:spcAft>
              <a:buNone/>
            </a:pPr>
            <a:r>
              <a:rPr lang="en" sz="1200">
                <a:latin typeface="Raleway"/>
                <a:ea typeface="Raleway"/>
                <a:cs typeface="Raleway"/>
                <a:sym typeface="Raleway"/>
              </a:rPr>
              <a:t>5) </a:t>
            </a:r>
            <a:r>
              <a:rPr lang="en" sz="1200" u="sng">
                <a:solidFill>
                  <a:schemeClr val="hlink"/>
                </a:solidFill>
                <a:latin typeface="Raleway"/>
                <a:ea typeface="Raleway"/>
                <a:cs typeface="Raleway"/>
                <a:sym typeface="Raleway"/>
                <a:hlinkClick r:id="rId10"/>
              </a:rPr>
              <a:t>Material Components</a:t>
            </a:r>
            <a:endParaRPr sz="1200">
              <a:latin typeface="Raleway"/>
              <a:ea typeface="Raleway"/>
              <a:cs typeface="Raleway"/>
              <a:sym typeface="Raleway"/>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727" name="Shape 727"/>
        <p:cNvGrpSpPr/>
        <p:nvPr/>
      </p:nvGrpSpPr>
      <p:grpSpPr>
        <a:xfrm>
          <a:off x="0" y="0"/>
          <a:ext cx="0" cy="0"/>
          <a:chOff x="0" y="0"/>
          <a:chExt cx="0" cy="0"/>
        </a:xfrm>
      </p:grpSpPr>
      <p:sp>
        <p:nvSpPr>
          <p:cNvPr id="728" name="Google Shape;728;p95"/>
          <p:cNvSpPr/>
          <p:nvPr/>
        </p:nvSpPr>
        <p:spPr>
          <a:xfrm>
            <a:off x="4031975" y="2179724"/>
            <a:ext cx="2448300" cy="24483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729" name="Google Shape;729;p95"/>
          <p:cNvSpPr/>
          <p:nvPr/>
        </p:nvSpPr>
        <p:spPr>
          <a:xfrm>
            <a:off x="2880172" y="732662"/>
            <a:ext cx="3058800" cy="30588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730" name="Google Shape;730;p95"/>
          <p:cNvSpPr/>
          <p:nvPr/>
        </p:nvSpPr>
        <p:spPr>
          <a:xfrm>
            <a:off x="1580031" y="515479"/>
            <a:ext cx="3493200" cy="34932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731" name="Google Shape;731;p95"/>
          <p:cNvSpPr/>
          <p:nvPr/>
        </p:nvSpPr>
        <p:spPr>
          <a:xfrm>
            <a:off x="4787172" y="1388640"/>
            <a:ext cx="2776800" cy="2776800"/>
          </a:xfrm>
          <a:prstGeom prst="ellipse">
            <a:avLst/>
          </a:prstGeom>
          <a:solidFill>
            <a:srgbClr val="5E2B62">
              <a:alpha val="6078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732" name="Google Shape;732;p95"/>
          <p:cNvSpPr/>
          <p:nvPr/>
        </p:nvSpPr>
        <p:spPr>
          <a:xfrm>
            <a:off x="1752271" y="1608981"/>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TERIMA</a:t>
            </a:r>
            <a:endParaRPr b="1" i="0" sz="3600" u="none" cap="none" strike="noStrike">
              <a:solidFill>
                <a:srgbClr val="F2AB2F"/>
              </a:solidFill>
              <a:latin typeface="Montserrat"/>
              <a:ea typeface="Montserrat"/>
              <a:cs typeface="Montserrat"/>
              <a:sym typeface="Montserrat"/>
            </a:endParaRPr>
          </a:p>
        </p:txBody>
      </p:sp>
      <p:sp>
        <p:nvSpPr>
          <p:cNvPr id="733" name="Google Shape;733;p95"/>
          <p:cNvSpPr/>
          <p:nvPr/>
        </p:nvSpPr>
        <p:spPr>
          <a:xfrm>
            <a:off x="1684821" y="2179714"/>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KASIH</a:t>
            </a:r>
            <a:endParaRPr sz="1100"/>
          </a:p>
        </p:txBody>
      </p:sp>
      <p:pic>
        <p:nvPicPr>
          <p:cNvPr id="734" name="Google Shape;734;p95"/>
          <p:cNvPicPr preferRelativeResize="0"/>
          <p:nvPr/>
        </p:nvPicPr>
        <p:blipFill rotWithShape="1">
          <a:blip r:embed="rId3">
            <a:alphaModFix/>
          </a:blip>
          <a:srcRect b="0" l="0" r="13247" t="0"/>
          <a:stretch/>
        </p:blipFill>
        <p:spPr>
          <a:xfrm>
            <a:off x="5450801" y="1946964"/>
            <a:ext cx="1440495" cy="1660396"/>
          </a:xfrm>
          <a:prstGeom prst="rect">
            <a:avLst/>
          </a:prstGeom>
          <a:noFill/>
          <a:ln>
            <a:noFill/>
          </a:ln>
        </p:spPr>
      </p:pic>
      <p:sp>
        <p:nvSpPr>
          <p:cNvPr id="735" name="Google Shape;735;p95"/>
          <p:cNvSpPr/>
          <p:nvPr/>
        </p:nvSpPr>
        <p:spPr>
          <a:xfrm>
            <a:off x="2000840" y="3114985"/>
            <a:ext cx="1341000" cy="13410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